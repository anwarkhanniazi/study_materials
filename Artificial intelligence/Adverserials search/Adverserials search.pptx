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0" r:id="rId14"/>
    <p:sldId id="274" r:id="rId15"/>
    <p:sldId id="275" r:id="rId16"/>
    <p:sldId id="276" r:id="rId17"/>
    <p:sldId id="277" r:id="rId18"/>
    <p:sldId id="278" r:id="rId19"/>
    <p:sldId id="268" r:id="rId20"/>
    <p:sldId id="269" r:id="rId21"/>
    <p:sldId id="270" r:id="rId22"/>
    <p:sldId id="271" r:id="rId23"/>
    <p:sldId id="272" r:id="rId24"/>
    <p:sldId id="281" r:id="rId25"/>
    <p:sldId id="282" r:id="rId26"/>
    <p:sldId id="283" r:id="rId27"/>
    <p:sldId id="284" r:id="rId28"/>
    <p:sldId id="285" r:id="rId2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44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1771" y="1057655"/>
            <a:ext cx="9212580" cy="1666239"/>
          </a:xfrm>
          <a:custGeom>
            <a:avLst/>
            <a:gdLst/>
            <a:ahLst/>
            <a:cxnLst/>
            <a:rect l="l" t="t" r="r" b="b"/>
            <a:pathLst>
              <a:path w="9212580" h="1666239">
                <a:moveTo>
                  <a:pt x="0" y="0"/>
                </a:moveTo>
                <a:lnTo>
                  <a:pt x="9212579" y="0"/>
                </a:lnTo>
                <a:lnTo>
                  <a:pt x="9212579" y="1665731"/>
                </a:lnTo>
                <a:lnTo>
                  <a:pt x="0" y="1665731"/>
                </a:lnTo>
                <a:lnTo>
                  <a:pt x="0" y="0"/>
                </a:lnTo>
                <a:close/>
              </a:path>
            </a:pathLst>
          </a:custGeom>
          <a:ln w="7619">
            <a:solidFill>
              <a:srgbClr val="E9E9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3004" y="1708403"/>
            <a:ext cx="105410" cy="581025"/>
          </a:xfrm>
          <a:custGeom>
            <a:avLst/>
            <a:gdLst/>
            <a:ahLst/>
            <a:cxnLst/>
            <a:rect l="l" t="t" r="r" b="b"/>
            <a:pathLst>
              <a:path w="105409" h="581025">
                <a:moveTo>
                  <a:pt x="105155" y="0"/>
                </a:moveTo>
                <a:lnTo>
                  <a:pt x="0" y="0"/>
                </a:lnTo>
                <a:lnTo>
                  <a:pt x="0" y="580644"/>
                </a:lnTo>
                <a:lnTo>
                  <a:pt x="105155" y="580644"/>
                </a:lnTo>
                <a:lnTo>
                  <a:pt x="105155" y="0"/>
                </a:lnTo>
                <a:close/>
              </a:path>
            </a:pathLst>
          </a:custGeom>
          <a:solidFill>
            <a:srgbClr val="F5A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1771" y="1057655"/>
            <a:ext cx="9212580" cy="1666239"/>
          </a:xfrm>
          <a:custGeom>
            <a:avLst/>
            <a:gdLst/>
            <a:ahLst/>
            <a:cxnLst/>
            <a:rect l="l" t="t" r="r" b="b"/>
            <a:pathLst>
              <a:path w="9212580" h="1666239">
                <a:moveTo>
                  <a:pt x="0" y="0"/>
                </a:moveTo>
                <a:lnTo>
                  <a:pt x="9212579" y="0"/>
                </a:lnTo>
                <a:lnTo>
                  <a:pt x="9212579" y="1665731"/>
                </a:lnTo>
                <a:lnTo>
                  <a:pt x="0" y="1665731"/>
                </a:lnTo>
                <a:lnTo>
                  <a:pt x="0" y="0"/>
                </a:lnTo>
                <a:close/>
              </a:path>
            </a:pathLst>
          </a:custGeom>
          <a:ln w="7619">
            <a:solidFill>
              <a:srgbClr val="E9E9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3004" y="1708403"/>
            <a:ext cx="105410" cy="581025"/>
          </a:xfrm>
          <a:custGeom>
            <a:avLst/>
            <a:gdLst/>
            <a:ahLst/>
            <a:cxnLst/>
            <a:rect l="l" t="t" r="r" b="b"/>
            <a:pathLst>
              <a:path w="105409" h="581025">
                <a:moveTo>
                  <a:pt x="105155" y="0"/>
                </a:moveTo>
                <a:lnTo>
                  <a:pt x="0" y="0"/>
                </a:lnTo>
                <a:lnTo>
                  <a:pt x="0" y="580644"/>
                </a:lnTo>
                <a:lnTo>
                  <a:pt x="105155" y="580644"/>
                </a:lnTo>
                <a:lnTo>
                  <a:pt x="105155" y="0"/>
                </a:lnTo>
                <a:close/>
              </a:path>
            </a:pathLst>
          </a:custGeom>
          <a:solidFill>
            <a:srgbClr val="F5A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2662" y="1514421"/>
            <a:ext cx="6860566" cy="885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2348" y="2545622"/>
            <a:ext cx="8149590" cy="3227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57275"/>
            <a:ext cx="10058400" cy="565785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76200"/>
            <a:ext cx="10058400" cy="78486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47"/>
              <a:ext cx="8035543" cy="26715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" y="2353054"/>
              <a:ext cx="7328789" cy="44660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0" y="2398395"/>
              <a:ext cx="11004550" cy="0"/>
            </a:xfrm>
            <a:custGeom>
              <a:avLst/>
              <a:gdLst/>
              <a:ahLst/>
              <a:cxnLst/>
              <a:rect l="l" t="t" r="r" b="b"/>
              <a:pathLst>
                <a:path w="11004550">
                  <a:moveTo>
                    <a:pt x="11004296" y="0"/>
                  </a:moveTo>
                  <a:lnTo>
                    <a:pt x="0" y="0"/>
                  </a:lnTo>
                </a:path>
              </a:pathLst>
            </a:custGeom>
            <a:ln w="1295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0365" y="964235"/>
            <a:ext cx="9717671" cy="577791"/>
          </a:xfrm>
          <a:prstGeom prst="rect">
            <a:avLst/>
          </a:prstGeom>
        </p:spPr>
        <p:txBody>
          <a:bodyPr vert="horz" wrap="square" lIns="0" tIns="169867" rIns="0" bIns="0" rtlCol="0">
            <a:spAutoFit/>
          </a:bodyPr>
          <a:lstStyle/>
          <a:p>
            <a:pPr marL="4440365" algn="ctr">
              <a:spcBef>
                <a:spcPts val="305"/>
              </a:spcBef>
            </a:pPr>
            <a:r>
              <a:rPr lang="en-US" sz="2640" dirty="0">
                <a:solidFill>
                  <a:srgbClr val="FFFFFF"/>
                </a:solidFill>
              </a:rPr>
              <a:t>Artificial Intelligence</a:t>
            </a:r>
            <a:endParaRPr sz="1650" dirty="0"/>
          </a:p>
        </p:txBody>
      </p:sp>
      <p:sp>
        <p:nvSpPr>
          <p:cNvPr id="10" name="object 10"/>
          <p:cNvSpPr txBox="1"/>
          <p:nvPr/>
        </p:nvSpPr>
        <p:spPr>
          <a:xfrm>
            <a:off x="6740804" y="2059972"/>
            <a:ext cx="1018413" cy="315279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980" b="1" spc="-8" dirty="0">
                <a:solidFill>
                  <a:srgbClr val="FFFFFF"/>
                </a:solidFill>
                <a:latin typeface="Calibri"/>
                <a:cs typeface="Calibri"/>
              </a:rPr>
              <a:t>Overview</a:t>
            </a:r>
            <a:endParaRPr sz="198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22391" y="3676441"/>
            <a:ext cx="3464909" cy="467629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>
              <a:spcBef>
                <a:spcPts val="37"/>
              </a:spcBef>
            </a:pPr>
            <a:r>
              <a:rPr lang="en-US" sz="1485" dirty="0">
                <a:solidFill>
                  <a:schemeClr val="bg1"/>
                </a:solidFill>
                <a:latin typeface="Cambria"/>
                <a:cs typeface="Cambria"/>
              </a:rPr>
              <a:t>ANWAR KHAN</a:t>
            </a:r>
            <a:endParaRPr sz="1485" dirty="0">
              <a:solidFill>
                <a:schemeClr val="bg1"/>
              </a:solidFill>
              <a:latin typeface="Cambria"/>
              <a:cs typeface="Cambria"/>
            </a:endParaRPr>
          </a:p>
          <a:p>
            <a:pPr marL="10478" marR="4191" indent="356758">
              <a:spcBef>
                <a:spcPts val="4"/>
              </a:spcBef>
            </a:pPr>
            <a:r>
              <a:rPr lang="en-US" sz="1485" dirty="0">
                <a:solidFill>
                  <a:srgbClr val="FFFFFF"/>
                </a:solidFill>
                <a:latin typeface="Cambria"/>
                <a:cs typeface="Cambria"/>
              </a:rPr>
              <a:t>University of </a:t>
            </a:r>
            <a:r>
              <a:rPr sz="1485" dirty="0">
                <a:solidFill>
                  <a:srgbClr val="FFFFFF"/>
                </a:solidFill>
                <a:latin typeface="Cambria"/>
                <a:cs typeface="Cambria"/>
              </a:rPr>
              <a:t>Lahore</a:t>
            </a:r>
            <a:r>
              <a:rPr sz="1485" spc="-4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endParaRPr sz="1485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8690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40" dirty="0">
                          <a:latin typeface="Tahoma"/>
                          <a:cs typeface="Tahoma"/>
                        </a:rPr>
                        <a:t>Adversarial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Search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089472"/>
            <a:ext cx="7832090" cy="2840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328930" indent="-187960">
              <a:lnSpc>
                <a:spcPct val="1104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55" dirty="0">
                <a:latin typeface="Tahoma"/>
                <a:cs typeface="Tahoma"/>
              </a:rPr>
              <a:t>Adversarial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search,</a:t>
            </a:r>
            <a:r>
              <a:rPr sz="2300" spc="-1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where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we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examine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the 	</a:t>
            </a:r>
            <a:r>
              <a:rPr sz="2300" spc="105" dirty="0">
                <a:latin typeface="Tahoma"/>
                <a:cs typeface="Tahoma"/>
              </a:rPr>
              <a:t>problem</a:t>
            </a:r>
            <a:r>
              <a:rPr sz="2300" spc="-15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which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arises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when</a:t>
            </a:r>
            <a:r>
              <a:rPr sz="2300" spc="-14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we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try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plan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ahead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the 	</a:t>
            </a:r>
            <a:r>
              <a:rPr sz="2300" spc="85" dirty="0">
                <a:latin typeface="Tahoma"/>
                <a:cs typeface="Tahoma"/>
              </a:rPr>
              <a:t>world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other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agents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are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planning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against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us.</a:t>
            </a:r>
            <a:endParaRPr sz="2300">
              <a:latin typeface="Tahoma"/>
              <a:cs typeface="Tahoma"/>
            </a:endParaRPr>
          </a:p>
          <a:p>
            <a:pPr marL="200025" marR="5080" indent="-187960">
              <a:lnSpc>
                <a:spcPct val="1104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-110" dirty="0">
                <a:latin typeface="Tahoma"/>
                <a:cs typeface="Tahoma"/>
              </a:rPr>
              <a:t>In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previous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topics,</a:t>
            </a:r>
            <a:r>
              <a:rPr sz="2300" spc="-15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we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have</a:t>
            </a:r>
            <a:r>
              <a:rPr sz="2300" spc="-30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studied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strategies 	</a:t>
            </a:r>
            <a:r>
              <a:rPr sz="2300" spc="50" dirty="0">
                <a:latin typeface="Tahoma"/>
                <a:cs typeface="Tahoma"/>
              </a:rPr>
              <a:t>which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are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only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associated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with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single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that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aims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25" dirty="0">
                <a:latin typeface="Tahoma"/>
                <a:cs typeface="Tahoma"/>
              </a:rPr>
              <a:t>to 	</a:t>
            </a:r>
            <a:r>
              <a:rPr sz="2300" spc="50" dirty="0">
                <a:latin typeface="Tahoma"/>
                <a:cs typeface="Tahoma"/>
              </a:rPr>
              <a:t>find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solution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which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often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expressed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form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5" dirty="0">
                <a:latin typeface="Tahoma"/>
                <a:cs typeface="Tahoma"/>
              </a:rPr>
              <a:t> </a:t>
            </a:r>
            <a:r>
              <a:rPr sz="2300" spc="-50" dirty="0">
                <a:latin typeface="Tahoma"/>
                <a:cs typeface="Tahoma"/>
              </a:rPr>
              <a:t>a 	</a:t>
            </a:r>
            <a:r>
              <a:rPr sz="2300" spc="80" dirty="0">
                <a:latin typeface="Tahoma"/>
                <a:cs typeface="Tahoma"/>
              </a:rPr>
              <a:t>sequence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actions.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40" dirty="0">
                          <a:latin typeface="Tahoma"/>
                          <a:cs typeface="Tahoma"/>
                        </a:rPr>
                        <a:t>Adversarial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Search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111531"/>
            <a:ext cx="8228965" cy="294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0025" marR="5080" indent="-187960">
              <a:lnSpc>
                <a:spcPct val="100400"/>
              </a:lnSpc>
              <a:spcBef>
                <a:spcPts val="10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dirty="0">
                <a:latin typeface="Tahoma"/>
                <a:cs typeface="Tahoma"/>
              </a:rPr>
              <a:t>But,</a:t>
            </a:r>
            <a:r>
              <a:rPr sz="2300" spc="-1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there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might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145" dirty="0">
                <a:latin typeface="Tahoma"/>
                <a:cs typeface="Tahoma"/>
              </a:rPr>
              <a:t>be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90" dirty="0">
                <a:latin typeface="Tahoma"/>
                <a:cs typeface="Tahoma"/>
              </a:rPr>
              <a:t>some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situations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where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more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than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one 	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searching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for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solution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same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40" dirty="0">
                <a:latin typeface="Tahoma"/>
                <a:cs typeface="Tahoma"/>
              </a:rPr>
              <a:t>space, 	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this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situation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usually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occurs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game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playing.</a:t>
            </a:r>
            <a:endParaRPr sz="2300">
              <a:latin typeface="Tahoma"/>
              <a:cs typeface="Tahoma"/>
            </a:endParaRPr>
          </a:p>
          <a:p>
            <a:pPr marL="200025" marR="73660" indent="-187960">
              <a:lnSpc>
                <a:spcPct val="1004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dirty="0">
                <a:latin typeface="Tahoma"/>
                <a:cs typeface="Tahoma"/>
              </a:rPr>
              <a:t>The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environment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with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more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than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100" dirty="0">
                <a:latin typeface="Tahoma"/>
                <a:cs typeface="Tahoma"/>
              </a:rPr>
              <a:t>one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termed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as 	</a:t>
            </a:r>
            <a:r>
              <a:rPr sz="2300" b="1" spc="-90" dirty="0">
                <a:latin typeface="Tahoma"/>
                <a:cs typeface="Tahoma"/>
              </a:rPr>
              <a:t>multi-</a:t>
            </a:r>
            <a:r>
              <a:rPr sz="2300" b="1" spc="-45" dirty="0">
                <a:latin typeface="Tahoma"/>
                <a:cs typeface="Tahoma"/>
              </a:rPr>
              <a:t>agent</a:t>
            </a:r>
            <a:r>
              <a:rPr sz="2300" b="1" spc="-90" dirty="0">
                <a:latin typeface="Tahoma"/>
                <a:cs typeface="Tahoma"/>
              </a:rPr>
              <a:t> </a:t>
            </a:r>
            <a:r>
              <a:rPr sz="2300" b="1" spc="-60" dirty="0">
                <a:latin typeface="Tahoma"/>
                <a:cs typeface="Tahoma"/>
              </a:rPr>
              <a:t>environment</a:t>
            </a:r>
            <a:r>
              <a:rPr sz="2300" spc="-60" dirty="0">
                <a:latin typeface="Tahoma"/>
                <a:cs typeface="Tahoma"/>
              </a:rPr>
              <a:t>,</a:t>
            </a:r>
            <a:r>
              <a:rPr sz="2300" spc="-22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which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each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an 	</a:t>
            </a:r>
            <a:r>
              <a:rPr sz="2300" spc="105" dirty="0">
                <a:latin typeface="Tahoma"/>
                <a:cs typeface="Tahoma"/>
              </a:rPr>
              <a:t>opponent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other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playing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against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each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other. 	</a:t>
            </a:r>
            <a:r>
              <a:rPr sz="2300" spc="60" dirty="0">
                <a:latin typeface="Tahoma"/>
                <a:cs typeface="Tahoma"/>
              </a:rPr>
              <a:t>Each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85" dirty="0">
                <a:latin typeface="Tahoma"/>
                <a:cs typeface="Tahoma"/>
              </a:rPr>
              <a:t>needs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consider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action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1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other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and 	</a:t>
            </a:r>
            <a:r>
              <a:rPr sz="2300" dirty="0">
                <a:latin typeface="Tahoma"/>
                <a:cs typeface="Tahoma"/>
              </a:rPr>
              <a:t>effect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3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that</a:t>
            </a:r>
            <a:r>
              <a:rPr sz="2300" spc="-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action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on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their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performance.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40" dirty="0">
                          <a:latin typeface="Tahoma"/>
                          <a:cs typeface="Tahoma"/>
                        </a:rPr>
                        <a:t>Adversarial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Search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586" y="3088643"/>
            <a:ext cx="8219440" cy="300101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00025" marR="5080" indent="-187960">
              <a:lnSpc>
                <a:spcPct val="90900"/>
              </a:lnSpc>
              <a:spcBef>
                <a:spcPts val="305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dirty="0">
                <a:latin typeface="Tahoma"/>
                <a:cs typeface="Tahoma"/>
              </a:rPr>
              <a:t>So,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Searches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which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two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or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more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players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with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conflicting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goals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 trying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to 	</a:t>
            </a:r>
            <a:r>
              <a:rPr sz="1800" spc="60" dirty="0">
                <a:latin typeface="Tahoma"/>
                <a:cs typeface="Tahoma"/>
              </a:rPr>
              <a:t>explore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same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search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space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solution,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called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adversarial 	</a:t>
            </a:r>
            <a:r>
              <a:rPr sz="1800" dirty="0">
                <a:latin typeface="Tahoma"/>
                <a:cs typeface="Tahoma"/>
              </a:rPr>
              <a:t>searches,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often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known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as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Games.</a:t>
            </a:r>
            <a:endParaRPr sz="1800">
              <a:latin typeface="Tahoma"/>
              <a:cs typeface="Tahoma"/>
            </a:endParaRPr>
          </a:p>
          <a:p>
            <a:pPr marL="200025" marR="220345" indent="-187960">
              <a:lnSpc>
                <a:spcPts val="1960"/>
              </a:lnSpc>
              <a:spcBef>
                <a:spcPts val="855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spc="10" dirty="0">
                <a:latin typeface="Tahoma"/>
                <a:cs typeface="Tahoma"/>
              </a:rPr>
              <a:t>Deterministic</a:t>
            </a:r>
            <a:r>
              <a:rPr sz="1800" spc="9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games:</a:t>
            </a:r>
            <a:r>
              <a:rPr sz="1800" spc="9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Deterministic</a:t>
            </a:r>
            <a:r>
              <a:rPr sz="1800" spc="9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games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are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those</a:t>
            </a:r>
            <a:r>
              <a:rPr sz="1800" spc="10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games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which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follow</a:t>
            </a:r>
            <a:r>
              <a:rPr sz="1800" spc="7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a 	</a:t>
            </a:r>
            <a:r>
              <a:rPr sz="1800" dirty="0">
                <a:latin typeface="Tahoma"/>
                <a:cs typeface="Tahoma"/>
              </a:rPr>
              <a:t>strict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pattern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rules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games,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there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90" dirty="0">
                <a:latin typeface="Tahoma"/>
                <a:cs typeface="Tahoma"/>
              </a:rPr>
              <a:t>no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40" dirty="0">
                <a:latin typeface="Tahoma"/>
                <a:cs typeface="Tahoma"/>
              </a:rPr>
              <a:t>randomness 	</a:t>
            </a:r>
            <a:r>
              <a:rPr sz="1800" dirty="0">
                <a:latin typeface="Tahoma"/>
                <a:cs typeface="Tahoma"/>
              </a:rPr>
              <a:t>associated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with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them.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Examples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chess,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Checkers,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Go,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tic-</a:t>
            </a:r>
            <a:r>
              <a:rPr sz="1800" spc="-10" dirty="0">
                <a:latin typeface="Tahoma"/>
                <a:cs typeface="Tahoma"/>
              </a:rPr>
              <a:t>tac-</a:t>
            </a:r>
            <a:r>
              <a:rPr sz="1800" dirty="0">
                <a:latin typeface="Tahoma"/>
                <a:cs typeface="Tahoma"/>
              </a:rPr>
              <a:t>toe,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etc.</a:t>
            </a:r>
            <a:endParaRPr sz="1800">
              <a:latin typeface="Tahoma"/>
              <a:cs typeface="Tahoma"/>
            </a:endParaRPr>
          </a:p>
          <a:p>
            <a:pPr marL="200025" marR="219075" indent="-187960">
              <a:lnSpc>
                <a:spcPct val="90700"/>
              </a:lnSpc>
              <a:spcBef>
                <a:spcPts val="800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spc="65" dirty="0">
                <a:latin typeface="Tahoma"/>
                <a:cs typeface="Tahoma"/>
              </a:rPr>
              <a:t>Non-</a:t>
            </a:r>
            <a:r>
              <a:rPr sz="1800" spc="10" dirty="0">
                <a:latin typeface="Tahoma"/>
                <a:cs typeface="Tahoma"/>
              </a:rPr>
              <a:t>deterministic</a:t>
            </a:r>
            <a:r>
              <a:rPr sz="1800" spc="13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games:</a:t>
            </a:r>
            <a:r>
              <a:rPr sz="1800" spc="10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Non-</a:t>
            </a:r>
            <a:r>
              <a:rPr sz="1800" spc="10" dirty="0">
                <a:latin typeface="Tahoma"/>
                <a:cs typeface="Tahoma"/>
              </a:rPr>
              <a:t>deterministic</a:t>
            </a:r>
            <a:r>
              <a:rPr sz="1800" spc="14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are</a:t>
            </a:r>
            <a:r>
              <a:rPr sz="1800" spc="10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those</a:t>
            </a:r>
            <a:r>
              <a:rPr sz="1800" spc="12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games</a:t>
            </a:r>
            <a:r>
              <a:rPr sz="1800" spc="11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which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have 	</a:t>
            </a:r>
            <a:r>
              <a:rPr sz="1800" dirty="0">
                <a:latin typeface="Tahoma"/>
                <a:cs typeface="Tahoma"/>
              </a:rPr>
              <a:t>various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unpredictable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factor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chance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or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luck.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This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factor 	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chance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or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luck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introduced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by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either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dice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or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cards.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These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random, 	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each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action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response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fixed.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Such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games</a:t>
            </a:r>
            <a:r>
              <a:rPr sz="1800" dirty="0">
                <a:latin typeface="Tahoma"/>
                <a:cs typeface="Tahoma"/>
              </a:rPr>
              <a:t> are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also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called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as 	</a:t>
            </a:r>
            <a:r>
              <a:rPr sz="1800" dirty="0">
                <a:latin typeface="Tahoma"/>
                <a:cs typeface="Tahoma"/>
              </a:rPr>
              <a:t>stochastic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games.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Example: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Backgammon,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Monopoly,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Poker,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etc.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14" dirty="0">
                          <a:latin typeface="Tahoma"/>
                          <a:cs typeface="Tahoma"/>
                        </a:rPr>
                        <a:t>Zero-</a:t>
                      </a:r>
                      <a:r>
                        <a:rPr sz="3300" b="1" spc="-130" dirty="0">
                          <a:latin typeface="Tahoma"/>
                          <a:cs typeface="Tahoma"/>
                        </a:rPr>
                        <a:t>Sum</a:t>
                      </a:r>
                      <a:r>
                        <a:rPr sz="3300" b="1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0" dirty="0">
                          <a:latin typeface="Tahoma"/>
                          <a:cs typeface="Tahoma"/>
                        </a:rPr>
                        <a:t>Game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459" y="3080975"/>
            <a:ext cx="7995284" cy="28308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01295" marR="436880" indent="-189230">
              <a:lnSpc>
                <a:spcPts val="2320"/>
              </a:lnSpc>
              <a:spcBef>
                <a:spcPts val="390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dirty="0">
                <a:latin typeface="Tahoma"/>
                <a:cs typeface="Tahoma"/>
              </a:rPr>
              <a:t>Zero-sum</a:t>
            </a:r>
            <a:r>
              <a:rPr sz="2150" spc="55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games</a:t>
            </a:r>
            <a:r>
              <a:rPr sz="2150" spc="2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are</a:t>
            </a:r>
            <a:r>
              <a:rPr sz="2150" spc="5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adversarial</a:t>
            </a:r>
            <a:r>
              <a:rPr sz="2150" spc="1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search</a:t>
            </a:r>
            <a:r>
              <a:rPr sz="2150" spc="3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which</a:t>
            </a:r>
            <a:r>
              <a:rPr sz="2150" spc="1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involves</a:t>
            </a:r>
            <a:r>
              <a:rPr sz="2150" spc="30" dirty="0">
                <a:latin typeface="Tahoma"/>
                <a:cs typeface="Tahoma"/>
              </a:rPr>
              <a:t> </a:t>
            </a:r>
            <a:r>
              <a:rPr sz="2150" spc="45" dirty="0">
                <a:latin typeface="Tahoma"/>
                <a:cs typeface="Tahoma"/>
              </a:rPr>
              <a:t>pure </a:t>
            </a:r>
            <a:r>
              <a:rPr sz="2150" spc="40" dirty="0">
                <a:latin typeface="Tahoma"/>
                <a:cs typeface="Tahoma"/>
              </a:rPr>
              <a:t>competition.</a:t>
            </a:r>
            <a:endParaRPr sz="2150">
              <a:latin typeface="Tahoma"/>
              <a:cs typeface="Tahoma"/>
            </a:endParaRPr>
          </a:p>
          <a:p>
            <a:pPr marL="201295" marR="162560" indent="-189230">
              <a:lnSpc>
                <a:spcPts val="232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spc="-105" dirty="0">
                <a:latin typeface="Tahoma"/>
                <a:cs typeface="Tahoma"/>
              </a:rPr>
              <a:t>In</a:t>
            </a:r>
            <a:r>
              <a:rPr sz="2150" spc="-5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Zero-sum</a:t>
            </a:r>
            <a:r>
              <a:rPr sz="2150" spc="-50" dirty="0">
                <a:latin typeface="Tahoma"/>
                <a:cs typeface="Tahoma"/>
              </a:rPr>
              <a:t> </a:t>
            </a:r>
            <a:r>
              <a:rPr sz="2150" spc="90" dirty="0">
                <a:latin typeface="Tahoma"/>
                <a:cs typeface="Tahoma"/>
              </a:rPr>
              <a:t>game</a:t>
            </a:r>
            <a:r>
              <a:rPr sz="2150" spc="-70" dirty="0">
                <a:latin typeface="Tahoma"/>
                <a:cs typeface="Tahoma"/>
              </a:rPr>
              <a:t> </a:t>
            </a:r>
            <a:r>
              <a:rPr sz="2150" spc="55" dirty="0">
                <a:latin typeface="Tahoma"/>
                <a:cs typeface="Tahoma"/>
              </a:rPr>
              <a:t>each</a:t>
            </a:r>
            <a:r>
              <a:rPr sz="2150" spc="-7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agent's</a:t>
            </a:r>
            <a:r>
              <a:rPr sz="2150" spc="-75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gain</a:t>
            </a:r>
            <a:r>
              <a:rPr sz="2150" spc="-80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or</a:t>
            </a:r>
            <a:r>
              <a:rPr sz="2150" spc="-5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loss</a:t>
            </a:r>
            <a:r>
              <a:rPr sz="2150" spc="-7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 utility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is</a:t>
            </a:r>
            <a:r>
              <a:rPr sz="2150" spc="-70" dirty="0">
                <a:latin typeface="Tahoma"/>
                <a:cs typeface="Tahoma"/>
              </a:rPr>
              <a:t> </a:t>
            </a:r>
            <a:r>
              <a:rPr sz="2150" spc="-10" dirty="0">
                <a:latin typeface="Tahoma"/>
                <a:cs typeface="Tahoma"/>
              </a:rPr>
              <a:t>exactly </a:t>
            </a:r>
            <a:r>
              <a:rPr sz="2150" spc="80" dirty="0">
                <a:latin typeface="Tahoma"/>
                <a:cs typeface="Tahoma"/>
              </a:rPr>
              <a:t>balanced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by</a:t>
            </a:r>
            <a:r>
              <a:rPr sz="2150" spc="-2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3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losses</a:t>
            </a:r>
            <a:r>
              <a:rPr sz="2150" spc="-20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or</a:t>
            </a:r>
            <a:r>
              <a:rPr sz="2150" spc="-2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gains</a:t>
            </a:r>
            <a:r>
              <a:rPr sz="2150" spc="-5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3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utility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2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another</a:t>
            </a:r>
            <a:r>
              <a:rPr sz="2150" spc="-45" dirty="0">
                <a:latin typeface="Tahoma"/>
                <a:cs typeface="Tahoma"/>
              </a:rPr>
              <a:t> </a:t>
            </a:r>
            <a:r>
              <a:rPr sz="2150" spc="-10" dirty="0">
                <a:latin typeface="Tahoma"/>
                <a:cs typeface="Tahoma"/>
              </a:rPr>
              <a:t>agent.</a:t>
            </a:r>
            <a:endParaRPr sz="2150">
              <a:latin typeface="Tahoma"/>
              <a:cs typeface="Tahoma"/>
            </a:endParaRPr>
          </a:p>
          <a:p>
            <a:pPr marL="201295" marR="5080" indent="-189230">
              <a:lnSpc>
                <a:spcPts val="232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spc="140" dirty="0">
                <a:latin typeface="Tahoma"/>
                <a:cs typeface="Tahoma"/>
              </a:rPr>
              <a:t>One</a:t>
            </a:r>
            <a:r>
              <a:rPr sz="2150" spc="-5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player</a:t>
            </a:r>
            <a:r>
              <a:rPr sz="2150" spc="-6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 the</a:t>
            </a:r>
            <a:r>
              <a:rPr sz="2150" spc="-45" dirty="0">
                <a:latin typeface="Tahoma"/>
                <a:cs typeface="Tahoma"/>
              </a:rPr>
              <a:t> </a:t>
            </a:r>
            <a:r>
              <a:rPr sz="2150" spc="90" dirty="0">
                <a:latin typeface="Tahoma"/>
                <a:cs typeface="Tahoma"/>
              </a:rPr>
              <a:t>game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spc="-35" dirty="0">
                <a:latin typeface="Tahoma"/>
                <a:cs typeface="Tahoma"/>
              </a:rPr>
              <a:t>try</a:t>
            </a:r>
            <a:r>
              <a:rPr sz="2150" spc="-5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to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maximize</a:t>
            </a:r>
            <a:r>
              <a:rPr sz="2150" spc="-55" dirty="0">
                <a:latin typeface="Tahoma"/>
                <a:cs typeface="Tahoma"/>
              </a:rPr>
              <a:t> </a:t>
            </a:r>
            <a:r>
              <a:rPr sz="2150" spc="90" dirty="0">
                <a:latin typeface="Tahoma"/>
                <a:cs typeface="Tahoma"/>
              </a:rPr>
              <a:t>one</a:t>
            </a:r>
            <a:r>
              <a:rPr sz="2150" spc="-55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single</a:t>
            </a:r>
            <a:r>
              <a:rPr sz="2150" spc="-6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value,</a:t>
            </a:r>
            <a:r>
              <a:rPr sz="2150" spc="-135" dirty="0">
                <a:latin typeface="Tahoma"/>
                <a:cs typeface="Tahoma"/>
              </a:rPr>
              <a:t> </a:t>
            </a:r>
            <a:r>
              <a:rPr sz="2150" spc="-10" dirty="0">
                <a:latin typeface="Tahoma"/>
                <a:cs typeface="Tahoma"/>
              </a:rPr>
              <a:t>while </a:t>
            </a:r>
            <a:r>
              <a:rPr sz="2150" dirty="0">
                <a:latin typeface="Tahoma"/>
                <a:cs typeface="Tahoma"/>
              </a:rPr>
              <a:t>other</a:t>
            </a:r>
            <a:r>
              <a:rPr sz="2150" spc="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player</a:t>
            </a:r>
            <a:r>
              <a:rPr sz="2150" spc="-2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tries</a:t>
            </a:r>
            <a:r>
              <a:rPr sz="2150" spc="-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to</a:t>
            </a:r>
            <a:r>
              <a:rPr sz="2150" spc="-15" dirty="0">
                <a:latin typeface="Tahoma"/>
                <a:cs typeface="Tahoma"/>
              </a:rPr>
              <a:t> </a:t>
            </a:r>
            <a:r>
              <a:rPr sz="2150" spc="55" dirty="0">
                <a:latin typeface="Tahoma"/>
                <a:cs typeface="Tahoma"/>
              </a:rPr>
              <a:t>minimize</a:t>
            </a:r>
            <a:r>
              <a:rPr sz="2150" spc="-10" dirty="0">
                <a:latin typeface="Tahoma"/>
                <a:cs typeface="Tahoma"/>
              </a:rPr>
              <a:t> </a:t>
            </a:r>
            <a:r>
              <a:rPr sz="2150" spc="-25" dirty="0">
                <a:latin typeface="Tahoma"/>
                <a:cs typeface="Tahoma"/>
              </a:rPr>
              <a:t>it.</a:t>
            </a:r>
            <a:endParaRPr sz="2150">
              <a:latin typeface="Tahoma"/>
              <a:cs typeface="Tahoma"/>
            </a:endParaRPr>
          </a:p>
          <a:p>
            <a:pPr marL="201295" indent="-188595">
              <a:lnSpc>
                <a:spcPct val="100000"/>
              </a:lnSpc>
              <a:spcBef>
                <a:spcPts val="515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spc="55" dirty="0">
                <a:latin typeface="Tahoma"/>
                <a:cs typeface="Tahoma"/>
              </a:rPr>
              <a:t>Each</a:t>
            </a:r>
            <a:r>
              <a:rPr sz="2150" spc="-125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move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by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90" dirty="0">
                <a:latin typeface="Tahoma"/>
                <a:cs typeface="Tahoma"/>
              </a:rPr>
              <a:t>one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player</a:t>
            </a:r>
            <a:r>
              <a:rPr sz="2150" spc="-11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in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spc="90" dirty="0">
                <a:latin typeface="Tahoma"/>
                <a:cs typeface="Tahoma"/>
              </a:rPr>
              <a:t>game</a:t>
            </a:r>
            <a:r>
              <a:rPr sz="2150" spc="-10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is</a:t>
            </a:r>
            <a:r>
              <a:rPr sz="2150" spc="-105" dirty="0">
                <a:latin typeface="Tahoma"/>
                <a:cs typeface="Tahoma"/>
              </a:rPr>
              <a:t> </a:t>
            </a:r>
            <a:r>
              <a:rPr sz="2150" spc="75" dirty="0">
                <a:latin typeface="Tahoma"/>
                <a:cs typeface="Tahoma"/>
              </a:rPr>
              <a:t>called</a:t>
            </a:r>
            <a:r>
              <a:rPr sz="2150" spc="-10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as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-20" dirty="0">
                <a:latin typeface="Tahoma"/>
                <a:cs typeface="Tahoma"/>
              </a:rPr>
              <a:t>ply.</a:t>
            </a:r>
            <a:endParaRPr sz="2150">
              <a:latin typeface="Tahoma"/>
              <a:cs typeface="Tahoma"/>
            </a:endParaRPr>
          </a:p>
          <a:p>
            <a:pPr marL="201295" indent="-188595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spc="70" dirty="0">
                <a:latin typeface="Tahoma"/>
                <a:cs typeface="Tahoma"/>
              </a:rPr>
              <a:t>Chess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75" dirty="0">
                <a:latin typeface="Tahoma"/>
                <a:cs typeface="Tahoma"/>
              </a:rPr>
              <a:t>and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spc="-10" dirty="0">
                <a:latin typeface="Tahoma"/>
                <a:cs typeface="Tahoma"/>
              </a:rPr>
              <a:t>tic-</a:t>
            </a:r>
            <a:r>
              <a:rPr sz="2150" spc="-20" dirty="0">
                <a:latin typeface="Tahoma"/>
                <a:cs typeface="Tahoma"/>
              </a:rPr>
              <a:t>tac-</a:t>
            </a:r>
            <a:r>
              <a:rPr sz="2150" spc="60" dirty="0">
                <a:latin typeface="Tahoma"/>
                <a:cs typeface="Tahoma"/>
              </a:rPr>
              <a:t>toe</a:t>
            </a:r>
            <a:r>
              <a:rPr sz="2150" spc="-9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are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50" dirty="0">
                <a:latin typeface="Tahoma"/>
                <a:cs typeface="Tahoma"/>
              </a:rPr>
              <a:t>examples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-4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Zero-sum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spc="-10" dirty="0">
                <a:latin typeface="Tahoma"/>
                <a:cs typeface="Tahoma"/>
              </a:rPr>
              <a:t>game.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14" dirty="0">
                          <a:latin typeface="Tahoma"/>
                          <a:cs typeface="Tahoma"/>
                        </a:rPr>
                        <a:t>Zero-</a:t>
                      </a:r>
                      <a:r>
                        <a:rPr sz="3300" b="1" spc="-130" dirty="0">
                          <a:latin typeface="Tahoma"/>
                          <a:cs typeface="Tahoma"/>
                        </a:rPr>
                        <a:t>Sum</a:t>
                      </a:r>
                      <a:r>
                        <a:rPr sz="3300" b="1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0" dirty="0">
                          <a:latin typeface="Tahoma"/>
                          <a:cs typeface="Tahoma"/>
                        </a:rPr>
                        <a:t>Game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578" y="3084052"/>
            <a:ext cx="8142605" cy="302514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00025" marR="5080" indent="-187960">
              <a:lnSpc>
                <a:spcPts val="2150"/>
              </a:lnSpc>
              <a:spcBef>
                <a:spcPts val="360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dirty="0">
                <a:latin typeface="Tahoma"/>
                <a:cs typeface="Tahoma"/>
              </a:rPr>
              <a:t>The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Zero-sum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spc="95" dirty="0">
                <a:latin typeface="Tahoma"/>
                <a:cs typeface="Tahoma"/>
              </a:rPr>
              <a:t>game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65" dirty="0">
                <a:latin typeface="Tahoma"/>
                <a:cs typeface="Tahoma"/>
              </a:rPr>
              <a:t>involved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spc="135" dirty="0">
                <a:latin typeface="Tahoma"/>
                <a:cs typeface="Tahoma"/>
              </a:rPr>
              <a:t>embedded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thinking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in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which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95" dirty="0">
                <a:latin typeface="Tahoma"/>
                <a:cs typeface="Tahoma"/>
              </a:rPr>
              <a:t>one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45" dirty="0">
                <a:latin typeface="Tahoma"/>
                <a:cs typeface="Tahoma"/>
              </a:rPr>
              <a:t>agent 	</a:t>
            </a:r>
            <a:r>
              <a:rPr sz="1950" spc="75" dirty="0">
                <a:latin typeface="Tahoma"/>
                <a:cs typeface="Tahoma"/>
              </a:rPr>
              <a:t>or</a:t>
            </a:r>
            <a:r>
              <a:rPr sz="1950" spc="-2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player</a:t>
            </a:r>
            <a:r>
              <a:rPr sz="1950" spc="-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is</a:t>
            </a:r>
            <a:r>
              <a:rPr sz="1950" spc="-3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trying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1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figure</a:t>
            </a:r>
            <a:r>
              <a:rPr sz="1950" spc="-20" dirty="0">
                <a:latin typeface="Tahoma"/>
                <a:cs typeface="Tahoma"/>
              </a:rPr>
              <a:t> out:</a:t>
            </a:r>
            <a:endParaRPr sz="19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00660" algn="l"/>
              </a:tabLst>
            </a:pPr>
            <a:r>
              <a:rPr sz="1950" dirty="0">
                <a:latin typeface="Tahoma"/>
                <a:cs typeface="Tahoma"/>
              </a:rPr>
              <a:t>What</a:t>
            </a:r>
            <a:r>
              <a:rPr sz="1950" spc="1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15" dirty="0">
                <a:latin typeface="Tahoma"/>
                <a:cs typeface="Tahoma"/>
              </a:rPr>
              <a:t> </a:t>
            </a:r>
            <a:r>
              <a:rPr sz="1950" spc="45" dirty="0">
                <a:latin typeface="Tahoma"/>
                <a:cs typeface="Tahoma"/>
              </a:rPr>
              <a:t>do.</a:t>
            </a:r>
            <a:endParaRPr sz="19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00660" algn="l"/>
              </a:tabLst>
            </a:pPr>
            <a:r>
              <a:rPr sz="1950" spc="85" dirty="0">
                <a:latin typeface="Tahoma"/>
                <a:cs typeface="Tahoma"/>
              </a:rPr>
              <a:t>How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20" dirty="0">
                <a:latin typeface="Tahoma"/>
                <a:cs typeface="Tahoma"/>
              </a:rPr>
              <a:t>decide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the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60" dirty="0">
                <a:latin typeface="Tahoma"/>
                <a:cs typeface="Tahoma"/>
              </a:rPr>
              <a:t>move</a:t>
            </a:r>
            <a:endParaRPr sz="19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00660" algn="l"/>
              </a:tabLst>
            </a:pPr>
            <a:r>
              <a:rPr sz="1950" spc="110" dirty="0">
                <a:latin typeface="Tahoma"/>
                <a:cs typeface="Tahoma"/>
              </a:rPr>
              <a:t>Needs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think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75" dirty="0">
                <a:latin typeface="Tahoma"/>
                <a:cs typeface="Tahoma"/>
              </a:rPr>
              <a:t>about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his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100" dirty="0">
                <a:latin typeface="Tahoma"/>
                <a:cs typeface="Tahoma"/>
              </a:rPr>
              <a:t>opponent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as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30" dirty="0">
                <a:latin typeface="Tahoma"/>
                <a:cs typeface="Tahoma"/>
              </a:rPr>
              <a:t>well</a:t>
            </a:r>
            <a:endParaRPr sz="19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0660" algn="l"/>
              </a:tabLst>
            </a:pPr>
            <a:r>
              <a:rPr sz="1950" dirty="0">
                <a:latin typeface="Tahoma"/>
                <a:cs typeface="Tahoma"/>
              </a:rPr>
              <a:t>The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100" dirty="0">
                <a:latin typeface="Tahoma"/>
                <a:cs typeface="Tahoma"/>
              </a:rPr>
              <a:t>opponent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also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thinks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what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spc="135" dirty="0">
                <a:latin typeface="Tahoma"/>
                <a:cs typeface="Tahoma"/>
              </a:rPr>
              <a:t>do</a:t>
            </a:r>
            <a:endParaRPr sz="1950">
              <a:latin typeface="Tahoma"/>
              <a:cs typeface="Tahoma"/>
            </a:endParaRPr>
          </a:p>
          <a:p>
            <a:pPr marL="200025" marR="109220" indent="-187960">
              <a:lnSpc>
                <a:spcPct val="915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spc="60" dirty="0">
                <a:latin typeface="Tahoma"/>
                <a:cs typeface="Tahoma"/>
              </a:rPr>
              <a:t>Each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of</a:t>
            </a:r>
            <a:r>
              <a:rPr sz="1950" spc="-1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the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45" dirty="0">
                <a:latin typeface="Tahoma"/>
                <a:cs typeface="Tahoma"/>
              </a:rPr>
              <a:t>players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is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trying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find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out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the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65" dirty="0">
                <a:latin typeface="Tahoma"/>
                <a:cs typeface="Tahoma"/>
              </a:rPr>
              <a:t>response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of</a:t>
            </a:r>
            <a:r>
              <a:rPr sz="1950" spc="-1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his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90" dirty="0">
                <a:latin typeface="Tahoma"/>
                <a:cs typeface="Tahoma"/>
              </a:rPr>
              <a:t>opponent 	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their</a:t>
            </a:r>
            <a:r>
              <a:rPr sz="1950" spc="-3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actions.</a:t>
            </a:r>
            <a:r>
              <a:rPr sz="1950" spc="-16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This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requires</a:t>
            </a:r>
            <a:r>
              <a:rPr sz="1950" spc="-35" dirty="0">
                <a:latin typeface="Tahoma"/>
                <a:cs typeface="Tahoma"/>
              </a:rPr>
              <a:t> </a:t>
            </a:r>
            <a:r>
              <a:rPr sz="1950" spc="135" dirty="0">
                <a:latin typeface="Tahoma"/>
                <a:cs typeface="Tahoma"/>
              </a:rPr>
              <a:t>embedded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thinking</a:t>
            </a:r>
            <a:r>
              <a:rPr sz="1950" spc="-25" dirty="0">
                <a:latin typeface="Tahoma"/>
                <a:cs typeface="Tahoma"/>
              </a:rPr>
              <a:t> </a:t>
            </a:r>
            <a:r>
              <a:rPr sz="1950" spc="75" dirty="0">
                <a:latin typeface="Tahoma"/>
                <a:cs typeface="Tahoma"/>
              </a:rPr>
              <a:t>or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backward 	</a:t>
            </a:r>
            <a:r>
              <a:rPr sz="1950" spc="55" dirty="0">
                <a:latin typeface="Tahoma"/>
                <a:cs typeface="Tahoma"/>
              </a:rPr>
              <a:t>reasoning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solve</a:t>
            </a:r>
            <a:r>
              <a:rPr sz="1950" spc="-8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the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95" dirty="0">
                <a:latin typeface="Tahoma"/>
                <a:cs typeface="Tahoma"/>
              </a:rPr>
              <a:t>game</a:t>
            </a:r>
            <a:r>
              <a:rPr sz="1950" spc="-85" dirty="0">
                <a:latin typeface="Tahoma"/>
                <a:cs typeface="Tahoma"/>
              </a:rPr>
              <a:t> </a:t>
            </a:r>
            <a:r>
              <a:rPr sz="1950" spc="85" dirty="0">
                <a:latin typeface="Tahoma"/>
                <a:cs typeface="Tahoma"/>
              </a:rPr>
              <a:t>problems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in</a:t>
            </a:r>
            <a:r>
              <a:rPr sz="1950" spc="-120" dirty="0">
                <a:latin typeface="Tahoma"/>
                <a:cs typeface="Tahoma"/>
              </a:rPr>
              <a:t> </a:t>
            </a:r>
            <a:r>
              <a:rPr sz="1950" spc="-25" dirty="0">
                <a:latin typeface="Tahoma"/>
                <a:cs typeface="Tahoma"/>
              </a:rPr>
              <a:t>AI.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75" dirty="0">
                          <a:latin typeface="Tahoma"/>
                          <a:cs typeface="Tahoma"/>
                        </a:rPr>
                        <a:t>Formalization</a:t>
                      </a:r>
                      <a:r>
                        <a:rPr sz="3300" b="1" spc="-1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3300" b="1" spc="-75" dirty="0">
                          <a:latin typeface="Tahoma"/>
                          <a:cs typeface="Tahoma"/>
                        </a:rPr>
                        <a:t> the</a:t>
                      </a:r>
                      <a:r>
                        <a:rPr sz="3300" b="1" spc="-1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problem: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586" y="2601470"/>
            <a:ext cx="8245475" cy="339217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00660" algn="l"/>
              </a:tabLst>
            </a:pPr>
            <a:r>
              <a:rPr sz="1800" b="1" spc="-80" dirty="0">
                <a:latin typeface="Tahoma"/>
                <a:cs typeface="Tahoma"/>
              </a:rPr>
              <a:t>Initial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spc="-70" dirty="0">
                <a:latin typeface="Tahoma"/>
                <a:cs typeface="Tahoma"/>
              </a:rPr>
              <a:t>state: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specifies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how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game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set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100" dirty="0">
                <a:latin typeface="Tahoma"/>
                <a:cs typeface="Tahoma"/>
              </a:rPr>
              <a:t>up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at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start.</a:t>
            </a:r>
            <a:endParaRPr sz="18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0660" algn="l"/>
              </a:tabLst>
            </a:pPr>
            <a:r>
              <a:rPr sz="1800" b="1" spc="-75" dirty="0">
                <a:latin typeface="Tahoma"/>
                <a:cs typeface="Tahoma"/>
              </a:rPr>
              <a:t>Player(s):</a:t>
            </a:r>
            <a:r>
              <a:rPr sz="1800" b="1" spc="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specifies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which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player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moved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state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space.</a:t>
            </a:r>
            <a:endParaRPr sz="18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00660" algn="l"/>
              </a:tabLst>
            </a:pPr>
            <a:r>
              <a:rPr sz="1800" b="1" spc="-70" dirty="0">
                <a:latin typeface="Tahoma"/>
                <a:cs typeface="Tahoma"/>
              </a:rPr>
              <a:t>Action(s):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returns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set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legal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moves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state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space.</a:t>
            </a:r>
            <a:endParaRPr sz="1800">
              <a:latin typeface="Tahoma"/>
              <a:cs typeface="Tahoma"/>
            </a:endParaRPr>
          </a:p>
          <a:p>
            <a:pPr marL="200025" marR="172720" indent="-187960">
              <a:lnSpc>
                <a:spcPts val="1970"/>
              </a:lnSpc>
              <a:spcBef>
                <a:spcPts val="850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spc="-75" dirty="0">
                <a:latin typeface="Tahoma"/>
                <a:cs typeface="Tahoma"/>
              </a:rPr>
              <a:t>Result(s,</a:t>
            </a:r>
            <a:r>
              <a:rPr sz="1800" b="1" spc="-6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a):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transition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model,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which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specifies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result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moves</a:t>
            </a:r>
            <a:r>
              <a:rPr sz="1800" spc="-25" dirty="0">
                <a:latin typeface="Tahoma"/>
                <a:cs typeface="Tahoma"/>
              </a:rPr>
              <a:t> in 	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state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space.</a:t>
            </a:r>
            <a:endParaRPr sz="1800">
              <a:latin typeface="Tahoma"/>
              <a:cs typeface="Tahoma"/>
            </a:endParaRPr>
          </a:p>
          <a:p>
            <a:pPr marL="200025" marR="5080" indent="-187960">
              <a:lnSpc>
                <a:spcPts val="196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spc="-100" dirty="0">
                <a:latin typeface="Tahoma"/>
                <a:cs typeface="Tahoma"/>
              </a:rPr>
              <a:t>Terminal-</a:t>
            </a:r>
            <a:r>
              <a:rPr sz="1800" b="1" spc="-120" dirty="0">
                <a:latin typeface="Tahoma"/>
                <a:cs typeface="Tahoma"/>
              </a:rPr>
              <a:t>Test(s):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Terminal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test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true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if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game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over,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else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false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at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any 	</a:t>
            </a:r>
            <a:r>
              <a:rPr sz="1800" dirty="0">
                <a:latin typeface="Tahoma"/>
                <a:cs typeface="Tahoma"/>
              </a:rPr>
              <a:t>case.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 state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where the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game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ends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called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terminal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states.</a:t>
            </a:r>
            <a:endParaRPr sz="1800">
              <a:latin typeface="Tahoma"/>
              <a:cs typeface="Tahoma"/>
            </a:endParaRPr>
          </a:p>
          <a:p>
            <a:pPr marL="200025" marR="193675" indent="-187960">
              <a:lnSpc>
                <a:spcPct val="90900"/>
              </a:lnSpc>
              <a:spcBef>
                <a:spcPts val="785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spc="-55" dirty="0">
                <a:latin typeface="Tahoma"/>
                <a:cs typeface="Tahoma"/>
              </a:rPr>
              <a:t>Utility(s,</a:t>
            </a:r>
            <a:r>
              <a:rPr sz="1800" b="1" spc="-70" dirty="0">
                <a:latin typeface="Tahoma"/>
                <a:cs typeface="Tahoma"/>
              </a:rPr>
              <a:t> </a:t>
            </a:r>
            <a:r>
              <a:rPr sz="1800" b="1" spc="-75" dirty="0">
                <a:latin typeface="Tahoma"/>
                <a:cs typeface="Tahoma"/>
              </a:rPr>
              <a:t>p):</a:t>
            </a:r>
            <a:r>
              <a:rPr sz="1800" b="1" spc="-20" dirty="0">
                <a:latin typeface="Tahoma"/>
                <a:cs typeface="Tahoma"/>
              </a:rPr>
              <a:t> </a:t>
            </a:r>
            <a:r>
              <a:rPr sz="1800" spc="190" dirty="0">
                <a:latin typeface="Tahoma"/>
                <a:cs typeface="Tahoma"/>
              </a:rPr>
              <a:t>A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utility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function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gives the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final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numeric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game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 	</a:t>
            </a:r>
            <a:r>
              <a:rPr sz="1800" spc="65" dirty="0">
                <a:latin typeface="Tahoma"/>
                <a:cs typeface="Tahoma"/>
              </a:rPr>
              <a:t>ends</a:t>
            </a:r>
            <a:r>
              <a:rPr sz="1800" dirty="0">
                <a:latin typeface="Tahoma"/>
                <a:cs typeface="Tahoma"/>
              </a:rPr>
              <a:t> in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terminal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states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player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p.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also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called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payoff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function.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For 	</a:t>
            </a:r>
            <a:r>
              <a:rPr sz="1800" dirty="0">
                <a:latin typeface="Tahoma"/>
                <a:cs typeface="Tahoma"/>
              </a:rPr>
              <a:t>Chess,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outcomes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win,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loss,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or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draw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payoff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+1,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0,</a:t>
            </a:r>
            <a:endParaRPr sz="1800">
              <a:latin typeface="Tahoma"/>
              <a:cs typeface="Tahoma"/>
            </a:endParaRPr>
          </a:p>
          <a:p>
            <a:pPr marL="201295">
              <a:lnSpc>
                <a:spcPts val="1955"/>
              </a:lnSpc>
            </a:pPr>
            <a:r>
              <a:rPr sz="1800" spc="-195" dirty="0">
                <a:latin typeface="Tahoma"/>
                <a:cs typeface="Tahoma"/>
              </a:rPr>
              <a:t>½.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125" dirty="0">
                <a:latin typeface="Tahoma"/>
                <a:cs typeface="Tahoma"/>
              </a:rPr>
              <a:t>And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tic-tac-toe,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utility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+1,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spc="-85" dirty="0">
                <a:latin typeface="Tahoma"/>
                <a:cs typeface="Tahoma"/>
              </a:rPr>
              <a:t>-</a:t>
            </a:r>
            <a:r>
              <a:rPr sz="1800" spc="-25" dirty="0">
                <a:latin typeface="Tahoma"/>
                <a:cs typeface="Tahoma"/>
              </a:rPr>
              <a:t>1,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0.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70" dirty="0">
                          <a:latin typeface="Tahoma"/>
                          <a:cs typeface="Tahoma"/>
                        </a:rPr>
                        <a:t>Mini-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Max</a:t>
                      </a:r>
                      <a:r>
                        <a:rPr sz="3300" b="1" spc="-1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089472"/>
            <a:ext cx="7873365" cy="2348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5080" indent="-187960">
              <a:lnSpc>
                <a:spcPct val="1104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dirty="0">
                <a:latin typeface="Tahoma"/>
                <a:cs typeface="Tahoma"/>
              </a:rPr>
              <a:t>The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minimax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algorithm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b="1" spc="-20" dirty="0">
                <a:latin typeface="Tahoma"/>
                <a:cs typeface="Tahoma"/>
              </a:rPr>
              <a:t>helps</a:t>
            </a:r>
            <a:r>
              <a:rPr sz="2300" b="1" spc="-50" dirty="0">
                <a:latin typeface="Tahoma"/>
                <a:cs typeface="Tahoma"/>
              </a:rPr>
              <a:t> </a:t>
            </a:r>
            <a:r>
              <a:rPr sz="2300" b="1" spc="-10" dirty="0">
                <a:latin typeface="Tahoma"/>
                <a:cs typeface="Tahoma"/>
              </a:rPr>
              <a:t>find</a:t>
            </a:r>
            <a:r>
              <a:rPr sz="2300" b="1" spc="-75" dirty="0">
                <a:latin typeface="Tahoma"/>
                <a:cs typeface="Tahoma"/>
              </a:rPr>
              <a:t> </a:t>
            </a:r>
            <a:r>
              <a:rPr sz="2300" b="1" spc="-50" dirty="0">
                <a:latin typeface="Tahoma"/>
                <a:cs typeface="Tahoma"/>
              </a:rPr>
              <a:t>the </a:t>
            </a:r>
            <a:r>
              <a:rPr sz="2300" b="1" spc="-20" dirty="0">
                <a:latin typeface="Tahoma"/>
                <a:cs typeface="Tahoma"/>
              </a:rPr>
              <a:t>best</a:t>
            </a:r>
            <a:r>
              <a:rPr sz="2300" b="1" spc="-55" dirty="0">
                <a:latin typeface="Tahoma"/>
                <a:cs typeface="Tahoma"/>
              </a:rPr>
              <a:t> </a:t>
            </a:r>
            <a:r>
              <a:rPr sz="2300" b="1" spc="-25" dirty="0">
                <a:latin typeface="Tahoma"/>
                <a:cs typeface="Tahoma"/>
              </a:rPr>
              <a:t>move,</a:t>
            </a:r>
            <a:r>
              <a:rPr sz="2300" b="1" spc="-125" dirty="0">
                <a:latin typeface="Tahoma"/>
                <a:cs typeface="Tahoma"/>
              </a:rPr>
              <a:t> </a:t>
            </a:r>
            <a:r>
              <a:rPr sz="2300" b="1" spc="-25" dirty="0">
                <a:latin typeface="Tahoma"/>
                <a:cs typeface="Tahoma"/>
              </a:rPr>
              <a:t>by 	</a:t>
            </a:r>
            <a:r>
              <a:rPr sz="2300" b="1" spc="-20" dirty="0">
                <a:latin typeface="Tahoma"/>
                <a:cs typeface="Tahoma"/>
              </a:rPr>
              <a:t>working</a:t>
            </a:r>
            <a:r>
              <a:rPr sz="2300" b="1" spc="-114" dirty="0">
                <a:latin typeface="Tahoma"/>
                <a:cs typeface="Tahoma"/>
              </a:rPr>
              <a:t> </a:t>
            </a:r>
            <a:r>
              <a:rPr sz="2300" b="1" spc="-40" dirty="0">
                <a:latin typeface="Tahoma"/>
                <a:cs typeface="Tahoma"/>
              </a:rPr>
              <a:t>backwards</a:t>
            </a:r>
            <a:r>
              <a:rPr sz="2300" b="1" spc="-100" dirty="0">
                <a:latin typeface="Tahoma"/>
                <a:cs typeface="Tahoma"/>
              </a:rPr>
              <a:t> </a:t>
            </a:r>
            <a:r>
              <a:rPr sz="2300" b="1" spc="-55" dirty="0">
                <a:latin typeface="Tahoma"/>
                <a:cs typeface="Tahoma"/>
              </a:rPr>
              <a:t>from</a:t>
            </a:r>
            <a:r>
              <a:rPr sz="2300" b="1" spc="-85" dirty="0">
                <a:latin typeface="Tahoma"/>
                <a:cs typeface="Tahoma"/>
              </a:rPr>
              <a:t> </a:t>
            </a:r>
            <a:r>
              <a:rPr sz="2300" b="1" spc="-60" dirty="0">
                <a:latin typeface="Tahoma"/>
                <a:cs typeface="Tahoma"/>
              </a:rPr>
              <a:t>the</a:t>
            </a:r>
            <a:r>
              <a:rPr sz="2300" b="1" spc="-95" dirty="0">
                <a:latin typeface="Tahoma"/>
                <a:cs typeface="Tahoma"/>
              </a:rPr>
              <a:t> </a:t>
            </a:r>
            <a:r>
              <a:rPr sz="2300" b="1" dirty="0">
                <a:latin typeface="Tahoma"/>
                <a:cs typeface="Tahoma"/>
              </a:rPr>
              <a:t>end</a:t>
            </a:r>
            <a:r>
              <a:rPr sz="2300" b="1" spc="-95" dirty="0">
                <a:latin typeface="Tahoma"/>
                <a:cs typeface="Tahoma"/>
              </a:rPr>
              <a:t> </a:t>
            </a:r>
            <a:r>
              <a:rPr sz="2300" b="1" dirty="0">
                <a:latin typeface="Tahoma"/>
                <a:cs typeface="Tahoma"/>
              </a:rPr>
              <a:t>of</a:t>
            </a:r>
            <a:r>
              <a:rPr sz="2300" b="1" spc="-25" dirty="0">
                <a:latin typeface="Tahoma"/>
                <a:cs typeface="Tahoma"/>
              </a:rPr>
              <a:t> </a:t>
            </a:r>
            <a:r>
              <a:rPr sz="2300" b="1" spc="-55" dirty="0">
                <a:latin typeface="Tahoma"/>
                <a:cs typeface="Tahoma"/>
              </a:rPr>
              <a:t>the</a:t>
            </a:r>
            <a:r>
              <a:rPr sz="2300" b="1" spc="-100" dirty="0">
                <a:latin typeface="Tahoma"/>
                <a:cs typeface="Tahoma"/>
              </a:rPr>
              <a:t> </a:t>
            </a:r>
            <a:r>
              <a:rPr sz="2300" b="1" spc="-40" dirty="0">
                <a:latin typeface="Tahoma"/>
                <a:cs typeface="Tahoma"/>
              </a:rPr>
              <a:t>game</a:t>
            </a:r>
            <a:r>
              <a:rPr sz="2300" spc="-40" dirty="0">
                <a:latin typeface="Tahoma"/>
                <a:cs typeface="Tahoma"/>
              </a:rPr>
              <a:t>.</a:t>
            </a:r>
            <a:r>
              <a:rPr sz="2300" spc="-250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At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each 	</a:t>
            </a:r>
            <a:r>
              <a:rPr sz="2300" spc="60" dirty="0">
                <a:latin typeface="Tahoma"/>
                <a:cs typeface="Tahoma"/>
              </a:rPr>
              <a:t>step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it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assumes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that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player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229" dirty="0">
                <a:latin typeface="Tahoma"/>
                <a:cs typeface="Tahoma"/>
              </a:rPr>
              <a:t>A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trying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maximize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the 	</a:t>
            </a:r>
            <a:r>
              <a:rPr sz="2300" spc="55" dirty="0">
                <a:latin typeface="Tahoma"/>
                <a:cs typeface="Tahoma"/>
              </a:rPr>
              <a:t>chances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229" dirty="0">
                <a:latin typeface="Tahoma"/>
                <a:cs typeface="Tahoma"/>
              </a:rPr>
              <a:t>A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winning,</a:t>
            </a:r>
            <a:r>
              <a:rPr sz="2300" spc="-16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while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on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next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turn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player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120" dirty="0">
                <a:latin typeface="Tahoma"/>
                <a:cs typeface="Tahoma"/>
              </a:rPr>
              <a:t>B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is 	</a:t>
            </a:r>
            <a:r>
              <a:rPr sz="2300" dirty="0">
                <a:latin typeface="Tahoma"/>
                <a:cs typeface="Tahoma"/>
              </a:rPr>
              <a:t>trying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minimize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chances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229" dirty="0">
                <a:latin typeface="Tahoma"/>
                <a:cs typeface="Tahoma"/>
              </a:rPr>
              <a:t>A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winning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-65" dirty="0">
                <a:latin typeface="Tahoma"/>
                <a:cs typeface="Tahoma"/>
              </a:rPr>
              <a:t>(i.e.,</a:t>
            </a:r>
            <a:r>
              <a:rPr sz="2300" spc="-170" dirty="0">
                <a:latin typeface="Tahoma"/>
                <a:cs typeface="Tahoma"/>
              </a:rPr>
              <a:t> </a:t>
            </a:r>
            <a:r>
              <a:rPr sz="2300" spc="35" dirty="0">
                <a:latin typeface="Tahoma"/>
                <a:cs typeface="Tahoma"/>
              </a:rPr>
              <a:t>to 	</a:t>
            </a:r>
            <a:r>
              <a:rPr sz="2300" dirty="0">
                <a:latin typeface="Tahoma"/>
                <a:cs typeface="Tahoma"/>
              </a:rPr>
              <a:t>maximize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B's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own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chances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1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winning).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70" dirty="0">
                          <a:latin typeface="Tahoma"/>
                          <a:cs typeface="Tahoma"/>
                        </a:rPr>
                        <a:t>Mini-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Max</a:t>
                      </a:r>
                      <a:r>
                        <a:rPr sz="3300" b="1" spc="-1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 marL="737235" indent="-187960">
                        <a:lnSpc>
                          <a:spcPct val="100000"/>
                        </a:lnSpc>
                        <a:spcBef>
                          <a:spcPts val="1010"/>
                        </a:spcBef>
                        <a:buFont typeface="Arial MT"/>
                        <a:buChar char="•"/>
                        <a:tabLst>
                          <a:tab pos="737235" algn="l"/>
                        </a:tabLst>
                      </a:pPr>
                      <a:r>
                        <a:rPr sz="1450" spc="50" dirty="0">
                          <a:latin typeface="Tahoma"/>
                          <a:cs typeface="Tahoma"/>
                        </a:rPr>
                        <a:t>Mini-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max</a:t>
                      </a:r>
                      <a:r>
                        <a:rPr sz="145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50" dirty="0">
                          <a:latin typeface="Tahoma"/>
                          <a:cs typeface="Tahoma"/>
                        </a:rPr>
                        <a:t>algorithm</a:t>
                      </a:r>
                      <a:r>
                        <a:rPr sz="14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is</a:t>
                      </a:r>
                      <a:r>
                        <a:rPr sz="145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4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recursive</a:t>
                      </a:r>
                      <a:r>
                        <a:rPr sz="145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65" dirty="0">
                          <a:latin typeface="Tahoma"/>
                          <a:cs typeface="Tahoma"/>
                        </a:rPr>
                        <a:t>or</a:t>
                      </a:r>
                      <a:r>
                        <a:rPr sz="145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backtracking</a:t>
                      </a:r>
                      <a:r>
                        <a:rPr sz="145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50" dirty="0">
                          <a:latin typeface="Tahoma"/>
                          <a:cs typeface="Tahoma"/>
                        </a:rPr>
                        <a:t>algorithm</a:t>
                      </a:r>
                      <a:r>
                        <a:rPr sz="145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which</a:t>
                      </a:r>
                      <a:r>
                        <a:rPr sz="145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is</a:t>
                      </a:r>
                      <a:r>
                        <a:rPr sz="14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60" dirty="0">
                          <a:latin typeface="Tahoma"/>
                          <a:cs typeface="Tahoma"/>
                        </a:rPr>
                        <a:t>used</a:t>
                      </a:r>
                      <a:r>
                        <a:rPr sz="145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14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decision-</a:t>
                      </a:r>
                      <a:r>
                        <a:rPr sz="1450" spc="45" dirty="0">
                          <a:latin typeface="Tahoma"/>
                          <a:cs typeface="Tahoma"/>
                        </a:rPr>
                        <a:t>making</a:t>
                      </a:r>
                      <a:endParaRPr sz="1450">
                        <a:latin typeface="Tahoma"/>
                        <a:cs typeface="Tahoma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171423" y="2604056"/>
            <a:ext cx="78898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65" dirty="0">
                <a:latin typeface="Tahoma"/>
                <a:cs typeface="Tahoma"/>
              </a:rPr>
              <a:t>and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spc="75" dirty="0">
                <a:latin typeface="Tahoma"/>
                <a:cs typeface="Tahoma"/>
              </a:rPr>
              <a:t>game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theory.</a:t>
            </a:r>
            <a:r>
              <a:rPr sz="1450" spc="-80" dirty="0">
                <a:latin typeface="Tahoma"/>
                <a:cs typeface="Tahoma"/>
              </a:rPr>
              <a:t> </a:t>
            </a:r>
            <a:r>
              <a:rPr sz="1450" spc="-95" dirty="0">
                <a:latin typeface="Tahoma"/>
                <a:cs typeface="Tahoma"/>
              </a:rPr>
              <a:t>It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provides</a:t>
            </a:r>
            <a:r>
              <a:rPr sz="1450" spc="-5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an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optimal</a:t>
            </a:r>
            <a:r>
              <a:rPr sz="1450" spc="-45" dirty="0">
                <a:latin typeface="Tahoma"/>
                <a:cs typeface="Tahoma"/>
              </a:rPr>
              <a:t> </a:t>
            </a:r>
            <a:r>
              <a:rPr sz="1450" spc="70" dirty="0">
                <a:latin typeface="Tahoma"/>
                <a:cs typeface="Tahoma"/>
              </a:rPr>
              <a:t>move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for</a:t>
            </a:r>
            <a:r>
              <a:rPr sz="1450" spc="-5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player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assuming</a:t>
            </a:r>
            <a:r>
              <a:rPr sz="1450" spc="-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that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85" dirty="0">
                <a:latin typeface="Tahoma"/>
                <a:cs typeface="Tahoma"/>
              </a:rPr>
              <a:t>opponent</a:t>
            </a:r>
            <a:r>
              <a:rPr sz="1450" spc="-5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-20" dirty="0">
                <a:latin typeface="Tahoma"/>
                <a:cs typeface="Tahoma"/>
              </a:rPr>
              <a:t> also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447" y="2724056"/>
            <a:ext cx="8237220" cy="3716654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785"/>
              </a:spcBef>
            </a:pPr>
            <a:r>
              <a:rPr sz="1450" spc="55" dirty="0">
                <a:latin typeface="Tahoma"/>
                <a:cs typeface="Tahoma"/>
              </a:rPr>
              <a:t>playing</a:t>
            </a:r>
            <a:r>
              <a:rPr sz="1450" spc="-60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optimally.</a:t>
            </a:r>
            <a:endParaRPr sz="14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00660" algn="l"/>
              </a:tabLst>
            </a:pPr>
            <a:r>
              <a:rPr sz="1450" spc="50" dirty="0">
                <a:latin typeface="Tahoma"/>
                <a:cs typeface="Tahoma"/>
              </a:rPr>
              <a:t>Mini-</a:t>
            </a:r>
            <a:r>
              <a:rPr sz="1450" spc="75" dirty="0">
                <a:latin typeface="Tahoma"/>
                <a:cs typeface="Tahoma"/>
              </a:rPr>
              <a:t>Max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algorithm</a:t>
            </a:r>
            <a:r>
              <a:rPr sz="1450" spc="-15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uses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recursion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to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search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through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the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game-</a:t>
            </a:r>
            <a:r>
              <a:rPr sz="1450" spc="-10" dirty="0">
                <a:latin typeface="Tahoma"/>
                <a:cs typeface="Tahoma"/>
              </a:rPr>
              <a:t>tree.</a:t>
            </a:r>
            <a:endParaRPr sz="1450">
              <a:latin typeface="Tahoma"/>
              <a:cs typeface="Tahoma"/>
            </a:endParaRPr>
          </a:p>
          <a:p>
            <a:pPr marL="200025" marR="5080" indent="-187960">
              <a:lnSpc>
                <a:spcPct val="9210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spc="50" dirty="0">
                <a:latin typeface="Tahoma"/>
                <a:cs typeface="Tahoma"/>
              </a:rPr>
              <a:t>Min-</a:t>
            </a:r>
            <a:r>
              <a:rPr sz="1450" spc="75" dirty="0">
                <a:latin typeface="Tahoma"/>
                <a:cs typeface="Tahoma"/>
              </a:rPr>
              <a:t>Max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algorithm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mostly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used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for </a:t>
            </a:r>
            <a:r>
              <a:rPr sz="1450" spc="80" dirty="0">
                <a:latin typeface="Tahoma"/>
                <a:cs typeface="Tahoma"/>
              </a:rPr>
              <a:t>game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playing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in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-20" dirty="0">
                <a:latin typeface="Tahoma"/>
                <a:cs typeface="Tahoma"/>
              </a:rPr>
              <a:t>AI.</a:t>
            </a:r>
            <a:r>
              <a:rPr sz="1450" spc="-4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Such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as</a:t>
            </a:r>
            <a:r>
              <a:rPr sz="1450" spc="4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Chess,</a:t>
            </a:r>
            <a:r>
              <a:rPr sz="1450" spc="-4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Checkers,</a:t>
            </a:r>
            <a:r>
              <a:rPr sz="1450" spc="-6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tic-tac-</a:t>
            </a:r>
            <a:r>
              <a:rPr sz="1450" spc="-20" dirty="0">
                <a:latin typeface="Tahoma"/>
                <a:cs typeface="Tahoma"/>
              </a:rPr>
              <a:t>toe, 	</a:t>
            </a:r>
            <a:r>
              <a:rPr sz="1450" spc="55" dirty="0">
                <a:latin typeface="Tahoma"/>
                <a:cs typeface="Tahoma"/>
              </a:rPr>
              <a:t>go,</a:t>
            </a:r>
            <a:r>
              <a:rPr sz="1450" spc="-65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and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various</a:t>
            </a:r>
            <a:r>
              <a:rPr sz="1450" spc="-5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two</a:t>
            </a:r>
            <a:r>
              <a:rPr sz="1450" spc="-5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player's</a:t>
            </a:r>
            <a:r>
              <a:rPr sz="1450" spc="-15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game.</a:t>
            </a:r>
            <a:r>
              <a:rPr sz="1450" spc="-110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This</a:t>
            </a:r>
            <a:r>
              <a:rPr sz="1450" spc="-50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Algorithm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computes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the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minimax </a:t>
            </a:r>
            <a:r>
              <a:rPr sz="1450" spc="60" dirty="0">
                <a:latin typeface="Tahoma"/>
                <a:cs typeface="Tahoma"/>
              </a:rPr>
              <a:t>decision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for</a:t>
            </a:r>
            <a:r>
              <a:rPr sz="1450" spc="-25" dirty="0">
                <a:latin typeface="Tahoma"/>
                <a:cs typeface="Tahoma"/>
              </a:rPr>
              <a:t> the 	</a:t>
            </a:r>
            <a:r>
              <a:rPr sz="1450" dirty="0">
                <a:latin typeface="Tahoma"/>
                <a:cs typeface="Tahoma"/>
              </a:rPr>
              <a:t>current</a:t>
            </a:r>
            <a:r>
              <a:rPr sz="1450" spc="130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state.</a:t>
            </a:r>
            <a:endParaRPr sz="14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00660" algn="l"/>
              </a:tabLst>
            </a:pPr>
            <a:r>
              <a:rPr sz="1450" spc="-65" dirty="0">
                <a:latin typeface="Tahoma"/>
                <a:cs typeface="Tahoma"/>
              </a:rPr>
              <a:t>In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this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algorithm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two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players</a:t>
            </a:r>
            <a:r>
              <a:rPr sz="1450" spc="-45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play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game,</a:t>
            </a:r>
            <a:r>
              <a:rPr sz="1450" spc="-85" dirty="0">
                <a:latin typeface="Tahoma"/>
                <a:cs typeface="Tahoma"/>
              </a:rPr>
              <a:t> </a:t>
            </a:r>
            <a:r>
              <a:rPr sz="1450" spc="85" dirty="0">
                <a:latin typeface="Tahoma"/>
                <a:cs typeface="Tahoma"/>
              </a:rPr>
              <a:t>one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called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spc="160" dirty="0">
                <a:latin typeface="Tahoma"/>
                <a:cs typeface="Tahoma"/>
              </a:rPr>
              <a:t>MAX</a:t>
            </a:r>
            <a:r>
              <a:rPr sz="1450" spc="-50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and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other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called</a:t>
            </a:r>
            <a:r>
              <a:rPr sz="1450" spc="-20" dirty="0">
                <a:latin typeface="Tahoma"/>
                <a:cs typeface="Tahoma"/>
              </a:rPr>
              <a:t> MIN.</a:t>
            </a:r>
            <a:endParaRPr sz="1450">
              <a:latin typeface="Tahoma"/>
              <a:cs typeface="Tahoma"/>
            </a:endParaRPr>
          </a:p>
          <a:p>
            <a:pPr marL="200025" marR="163195" indent="-187960">
              <a:lnSpc>
                <a:spcPts val="1610"/>
              </a:lnSpc>
              <a:spcBef>
                <a:spcPts val="844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spc="55" dirty="0">
                <a:latin typeface="Tahoma"/>
                <a:cs typeface="Tahoma"/>
              </a:rPr>
              <a:t>Both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players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fight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it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as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55" dirty="0">
                <a:latin typeface="Tahoma"/>
                <a:cs typeface="Tahoma"/>
              </a:rPr>
              <a:t> </a:t>
            </a:r>
            <a:r>
              <a:rPr sz="1450" spc="85" dirty="0">
                <a:latin typeface="Tahoma"/>
                <a:cs typeface="Tahoma"/>
              </a:rPr>
              <a:t>opponent</a:t>
            </a:r>
            <a:r>
              <a:rPr sz="1450" dirty="0">
                <a:latin typeface="Tahoma"/>
                <a:cs typeface="Tahoma"/>
              </a:rPr>
              <a:t> player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gets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minimum</a:t>
            </a:r>
            <a:r>
              <a:rPr sz="1450" spc="4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benefit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while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they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get</a:t>
            </a:r>
            <a:r>
              <a:rPr sz="1450" spc="45" dirty="0">
                <a:latin typeface="Tahoma"/>
                <a:cs typeface="Tahoma"/>
              </a:rPr>
              <a:t> </a:t>
            </a:r>
            <a:r>
              <a:rPr sz="1450" spc="-25" dirty="0">
                <a:latin typeface="Tahoma"/>
                <a:cs typeface="Tahoma"/>
              </a:rPr>
              <a:t>the 	</a:t>
            </a:r>
            <a:r>
              <a:rPr sz="1450" spc="50" dirty="0">
                <a:latin typeface="Tahoma"/>
                <a:cs typeface="Tahoma"/>
              </a:rPr>
              <a:t>maximum</a:t>
            </a:r>
            <a:r>
              <a:rPr sz="1450" spc="-60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benefit.</a:t>
            </a:r>
            <a:endParaRPr sz="1450">
              <a:latin typeface="Tahoma"/>
              <a:cs typeface="Tahoma"/>
            </a:endParaRPr>
          </a:p>
          <a:p>
            <a:pPr marL="200025" marR="210185" indent="-187960">
              <a:lnSpc>
                <a:spcPts val="1610"/>
              </a:lnSpc>
              <a:spcBef>
                <a:spcPts val="810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spc="55" dirty="0">
                <a:latin typeface="Tahoma"/>
                <a:cs typeface="Tahoma"/>
              </a:rPr>
              <a:t>Both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Players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of</a:t>
            </a:r>
            <a:r>
              <a:rPr sz="1450" spc="5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spc="80" dirty="0">
                <a:latin typeface="Tahoma"/>
                <a:cs typeface="Tahoma"/>
              </a:rPr>
              <a:t>game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are </a:t>
            </a:r>
            <a:r>
              <a:rPr sz="1450" spc="85" dirty="0">
                <a:latin typeface="Tahoma"/>
                <a:cs typeface="Tahoma"/>
              </a:rPr>
              <a:t>opponent</a:t>
            </a:r>
            <a:r>
              <a:rPr sz="1450" spc="-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of</a:t>
            </a:r>
            <a:r>
              <a:rPr sz="1450" spc="4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each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other,</a:t>
            </a:r>
            <a:r>
              <a:rPr sz="1450" spc="-5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where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spc="160" dirty="0">
                <a:latin typeface="Tahoma"/>
                <a:cs typeface="Tahoma"/>
              </a:rPr>
              <a:t>MAX</a:t>
            </a:r>
            <a:r>
              <a:rPr sz="1450" spc="-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will select</a:t>
            </a:r>
            <a:r>
              <a:rPr sz="1450" spc="-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40" dirty="0">
                <a:latin typeface="Tahoma"/>
                <a:cs typeface="Tahoma"/>
              </a:rPr>
              <a:t>maximized 	</a:t>
            </a:r>
            <a:r>
              <a:rPr sz="1450" dirty="0">
                <a:latin typeface="Tahoma"/>
                <a:cs typeface="Tahoma"/>
              </a:rPr>
              <a:t>value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and</a:t>
            </a:r>
            <a:r>
              <a:rPr sz="1450" spc="20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MIN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will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select the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minimized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value.</a:t>
            </a:r>
            <a:endParaRPr sz="1450">
              <a:latin typeface="Tahoma"/>
              <a:cs typeface="Tahoma"/>
            </a:endParaRPr>
          </a:p>
          <a:p>
            <a:pPr marL="200025" marR="461009" indent="-187960">
              <a:lnSpc>
                <a:spcPts val="1610"/>
              </a:lnSpc>
              <a:spcBef>
                <a:spcPts val="815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dirty="0">
                <a:latin typeface="Tahoma"/>
                <a:cs typeface="Tahoma"/>
              </a:rPr>
              <a:t>The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minimax</a:t>
            </a:r>
            <a:r>
              <a:rPr sz="1450" spc="50" dirty="0">
                <a:latin typeface="Tahoma"/>
                <a:cs typeface="Tahoma"/>
              </a:rPr>
              <a:t> algorithm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performs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</a:t>
            </a:r>
            <a:r>
              <a:rPr sz="1450" spc="45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depth-</a:t>
            </a:r>
            <a:r>
              <a:rPr sz="1450" dirty="0">
                <a:latin typeface="Tahoma"/>
                <a:cs typeface="Tahoma"/>
              </a:rPr>
              <a:t>first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search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algorithm</a:t>
            </a:r>
            <a:r>
              <a:rPr sz="1450" spc="6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for</a:t>
            </a:r>
            <a:r>
              <a:rPr sz="1450" spc="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5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exploration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of</a:t>
            </a:r>
            <a:r>
              <a:rPr sz="1450" spc="95" dirty="0">
                <a:latin typeface="Tahoma"/>
                <a:cs typeface="Tahoma"/>
              </a:rPr>
              <a:t> </a:t>
            </a:r>
            <a:r>
              <a:rPr sz="1450" spc="-25" dirty="0">
                <a:latin typeface="Tahoma"/>
                <a:cs typeface="Tahoma"/>
              </a:rPr>
              <a:t>the 	</a:t>
            </a:r>
            <a:r>
              <a:rPr sz="1450" spc="70" dirty="0">
                <a:latin typeface="Tahoma"/>
                <a:cs typeface="Tahoma"/>
              </a:rPr>
              <a:t>complete</a:t>
            </a:r>
            <a:r>
              <a:rPr sz="1450" spc="-95" dirty="0">
                <a:latin typeface="Tahoma"/>
                <a:cs typeface="Tahoma"/>
              </a:rPr>
              <a:t> </a:t>
            </a:r>
            <a:r>
              <a:rPr sz="1450" spc="80" dirty="0">
                <a:latin typeface="Tahoma"/>
                <a:cs typeface="Tahoma"/>
              </a:rPr>
              <a:t>game</a:t>
            </a:r>
            <a:r>
              <a:rPr sz="1450" spc="-65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tree.</a:t>
            </a:r>
            <a:endParaRPr sz="1450">
              <a:latin typeface="Tahoma"/>
              <a:cs typeface="Tahoma"/>
            </a:endParaRPr>
          </a:p>
          <a:p>
            <a:pPr marL="200025" marR="495934" indent="-187960">
              <a:lnSpc>
                <a:spcPts val="1610"/>
              </a:lnSpc>
              <a:spcBef>
                <a:spcPts val="810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dirty="0">
                <a:latin typeface="Tahoma"/>
                <a:cs typeface="Tahoma"/>
              </a:rPr>
              <a:t>The</a:t>
            </a:r>
            <a:r>
              <a:rPr sz="1450" spc="-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minimax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algorithm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spc="75" dirty="0">
                <a:latin typeface="Tahoma"/>
                <a:cs typeface="Tahoma"/>
              </a:rPr>
              <a:t>proceeds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all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way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80" dirty="0">
                <a:latin typeface="Tahoma"/>
                <a:cs typeface="Tahoma"/>
              </a:rPr>
              <a:t>down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to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terminal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90" dirty="0">
                <a:latin typeface="Tahoma"/>
                <a:cs typeface="Tahoma"/>
              </a:rPr>
              <a:t>node</a:t>
            </a:r>
            <a:r>
              <a:rPr sz="1450" dirty="0">
                <a:latin typeface="Tahoma"/>
                <a:cs typeface="Tahoma"/>
              </a:rPr>
              <a:t> of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tree,</a:t>
            </a:r>
            <a:r>
              <a:rPr sz="1450" spc="-65" dirty="0">
                <a:latin typeface="Tahoma"/>
                <a:cs typeface="Tahoma"/>
              </a:rPr>
              <a:t> </a:t>
            </a:r>
            <a:r>
              <a:rPr sz="1450" spc="-20" dirty="0">
                <a:latin typeface="Tahoma"/>
                <a:cs typeface="Tahoma"/>
              </a:rPr>
              <a:t>then 	</a:t>
            </a:r>
            <a:r>
              <a:rPr sz="1450" dirty="0">
                <a:latin typeface="Tahoma"/>
                <a:cs typeface="Tahoma"/>
              </a:rPr>
              <a:t>backtrack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6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tree</a:t>
            </a:r>
            <a:r>
              <a:rPr sz="1450" spc="5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as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65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recursion.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70" dirty="0">
                          <a:latin typeface="Tahoma"/>
                          <a:cs typeface="Tahoma"/>
                        </a:rPr>
                        <a:t>Mini-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Max</a:t>
                      </a:r>
                      <a:r>
                        <a:rPr sz="3300" b="1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35" dirty="0">
                          <a:latin typeface="Tahoma"/>
                          <a:cs typeface="Tahoma"/>
                        </a:rPr>
                        <a:t>Algorithm</a:t>
                      </a:r>
                      <a:r>
                        <a:rPr sz="3300" b="1" spc="-1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Solved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660" y="2849879"/>
            <a:ext cx="7456932" cy="32628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763081"/>
              </p:ext>
            </p:extLst>
          </p:nvPr>
        </p:nvGraphicFramePr>
        <p:xfrm>
          <a:off x="206854" y="-44197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70" dirty="0">
                          <a:latin typeface="Tahoma"/>
                          <a:cs typeface="Tahoma"/>
                        </a:rPr>
                        <a:t>Mini-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Max</a:t>
                      </a:r>
                      <a:r>
                        <a:rPr sz="3300" b="1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35" dirty="0">
                          <a:latin typeface="Tahoma"/>
                          <a:cs typeface="Tahoma"/>
                        </a:rPr>
                        <a:t>Algorithm</a:t>
                      </a:r>
                      <a:r>
                        <a:rPr sz="3300" b="1" spc="-1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Solved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208276" y="2717292"/>
            <a:ext cx="4695825" cy="3999229"/>
            <a:chOff x="2208276" y="2717292"/>
            <a:chExt cx="4695825" cy="39992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8276" y="2717292"/>
              <a:ext cx="4695444" cy="39989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2784" y="5237988"/>
              <a:ext cx="382524" cy="73304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923032" y="2933700"/>
            <a:ext cx="3816350" cy="3390900"/>
            <a:chOff x="2923032" y="2933700"/>
            <a:chExt cx="3816350" cy="33909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3032" y="2933700"/>
              <a:ext cx="3311652" cy="31546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69308" y="3057144"/>
              <a:ext cx="128015" cy="26974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692396" y="2991611"/>
              <a:ext cx="81280" cy="266700"/>
            </a:xfrm>
            <a:custGeom>
              <a:avLst/>
              <a:gdLst/>
              <a:ahLst/>
              <a:cxnLst/>
              <a:rect l="l" t="t" r="r" b="b"/>
              <a:pathLst>
                <a:path w="81279" h="266700">
                  <a:moveTo>
                    <a:pt x="44195" y="265175"/>
                  </a:moveTo>
                  <a:lnTo>
                    <a:pt x="36575" y="265175"/>
                  </a:lnTo>
                  <a:lnTo>
                    <a:pt x="39624" y="266700"/>
                  </a:lnTo>
                  <a:lnTo>
                    <a:pt x="41148" y="266700"/>
                  </a:lnTo>
                  <a:lnTo>
                    <a:pt x="44195" y="265175"/>
                  </a:lnTo>
                  <a:close/>
                </a:path>
                <a:path w="81279" h="266700">
                  <a:moveTo>
                    <a:pt x="56387" y="263651"/>
                  </a:moveTo>
                  <a:lnTo>
                    <a:pt x="24383" y="263651"/>
                  </a:lnTo>
                  <a:lnTo>
                    <a:pt x="25907" y="265175"/>
                  </a:lnTo>
                  <a:lnTo>
                    <a:pt x="53339" y="265175"/>
                  </a:lnTo>
                  <a:lnTo>
                    <a:pt x="56387" y="263651"/>
                  </a:lnTo>
                  <a:close/>
                </a:path>
                <a:path w="81279" h="266700">
                  <a:moveTo>
                    <a:pt x="62483" y="262127"/>
                  </a:moveTo>
                  <a:lnTo>
                    <a:pt x="18287" y="262127"/>
                  </a:lnTo>
                  <a:lnTo>
                    <a:pt x="19812" y="263651"/>
                  </a:lnTo>
                  <a:lnTo>
                    <a:pt x="59436" y="263651"/>
                  </a:lnTo>
                  <a:lnTo>
                    <a:pt x="62483" y="262127"/>
                  </a:lnTo>
                  <a:close/>
                </a:path>
                <a:path w="81279" h="266700">
                  <a:moveTo>
                    <a:pt x="65531" y="259079"/>
                  </a:moveTo>
                  <a:lnTo>
                    <a:pt x="13715" y="259079"/>
                  </a:lnTo>
                  <a:lnTo>
                    <a:pt x="13715" y="259841"/>
                  </a:lnTo>
                  <a:lnTo>
                    <a:pt x="15239" y="260603"/>
                  </a:lnTo>
                  <a:lnTo>
                    <a:pt x="13715" y="260603"/>
                  </a:lnTo>
                  <a:lnTo>
                    <a:pt x="15239" y="262127"/>
                  </a:lnTo>
                  <a:lnTo>
                    <a:pt x="64007" y="262127"/>
                  </a:lnTo>
                  <a:lnTo>
                    <a:pt x="65531" y="260603"/>
                  </a:lnTo>
                  <a:lnTo>
                    <a:pt x="15239" y="260603"/>
                  </a:lnTo>
                  <a:lnTo>
                    <a:pt x="13715" y="259841"/>
                  </a:lnTo>
                  <a:lnTo>
                    <a:pt x="65531" y="259841"/>
                  </a:lnTo>
                  <a:lnTo>
                    <a:pt x="65531" y="259079"/>
                  </a:lnTo>
                  <a:close/>
                </a:path>
                <a:path w="81279" h="266700">
                  <a:moveTo>
                    <a:pt x="12191" y="259079"/>
                  </a:moveTo>
                  <a:lnTo>
                    <a:pt x="13715" y="260603"/>
                  </a:lnTo>
                  <a:lnTo>
                    <a:pt x="13715" y="259841"/>
                  </a:lnTo>
                  <a:lnTo>
                    <a:pt x="12191" y="259079"/>
                  </a:lnTo>
                  <a:close/>
                </a:path>
                <a:path w="81279" h="266700">
                  <a:moveTo>
                    <a:pt x="74675" y="251460"/>
                  </a:moveTo>
                  <a:lnTo>
                    <a:pt x="6095" y="251460"/>
                  </a:lnTo>
                  <a:lnTo>
                    <a:pt x="7619" y="254508"/>
                  </a:lnTo>
                  <a:lnTo>
                    <a:pt x="9143" y="256032"/>
                  </a:lnTo>
                  <a:lnTo>
                    <a:pt x="9143" y="257555"/>
                  </a:lnTo>
                  <a:lnTo>
                    <a:pt x="12191" y="259079"/>
                  </a:lnTo>
                  <a:lnTo>
                    <a:pt x="10667" y="257555"/>
                  </a:lnTo>
                  <a:lnTo>
                    <a:pt x="70103" y="257555"/>
                  </a:lnTo>
                  <a:lnTo>
                    <a:pt x="70103" y="256032"/>
                  </a:lnTo>
                  <a:lnTo>
                    <a:pt x="71627" y="256032"/>
                  </a:lnTo>
                  <a:lnTo>
                    <a:pt x="71627" y="254508"/>
                  </a:lnTo>
                  <a:lnTo>
                    <a:pt x="73151" y="254508"/>
                  </a:lnTo>
                  <a:lnTo>
                    <a:pt x="73151" y="252984"/>
                  </a:lnTo>
                  <a:lnTo>
                    <a:pt x="74675" y="251460"/>
                  </a:lnTo>
                  <a:close/>
                </a:path>
                <a:path w="81279" h="266700">
                  <a:moveTo>
                    <a:pt x="68579" y="257555"/>
                  </a:moveTo>
                  <a:lnTo>
                    <a:pt x="10667" y="257555"/>
                  </a:lnTo>
                  <a:lnTo>
                    <a:pt x="12191" y="259079"/>
                  </a:lnTo>
                  <a:lnTo>
                    <a:pt x="67055" y="259079"/>
                  </a:lnTo>
                  <a:lnTo>
                    <a:pt x="68579" y="257555"/>
                  </a:lnTo>
                  <a:close/>
                </a:path>
                <a:path w="81279" h="266700">
                  <a:moveTo>
                    <a:pt x="6095" y="251460"/>
                  </a:moveTo>
                  <a:lnTo>
                    <a:pt x="6095" y="252984"/>
                  </a:lnTo>
                  <a:lnTo>
                    <a:pt x="7619" y="254508"/>
                  </a:lnTo>
                  <a:lnTo>
                    <a:pt x="6095" y="251460"/>
                  </a:lnTo>
                  <a:close/>
                </a:path>
                <a:path w="81279" h="266700">
                  <a:moveTo>
                    <a:pt x="24383" y="0"/>
                  </a:moveTo>
                  <a:lnTo>
                    <a:pt x="13715" y="0"/>
                  </a:lnTo>
                  <a:lnTo>
                    <a:pt x="9143" y="4572"/>
                  </a:lnTo>
                  <a:lnTo>
                    <a:pt x="9143" y="10667"/>
                  </a:lnTo>
                  <a:lnTo>
                    <a:pt x="3048" y="128015"/>
                  </a:lnTo>
                  <a:lnTo>
                    <a:pt x="1394" y="176784"/>
                  </a:lnTo>
                  <a:lnTo>
                    <a:pt x="1343" y="178308"/>
                  </a:lnTo>
                  <a:lnTo>
                    <a:pt x="1239" y="181355"/>
                  </a:lnTo>
                  <a:lnTo>
                    <a:pt x="1136" y="184403"/>
                  </a:lnTo>
                  <a:lnTo>
                    <a:pt x="671" y="198120"/>
                  </a:lnTo>
                  <a:lnTo>
                    <a:pt x="619" y="199643"/>
                  </a:lnTo>
                  <a:lnTo>
                    <a:pt x="516" y="202691"/>
                  </a:lnTo>
                  <a:lnTo>
                    <a:pt x="413" y="205739"/>
                  </a:lnTo>
                  <a:lnTo>
                    <a:pt x="309" y="208787"/>
                  </a:lnTo>
                  <a:lnTo>
                    <a:pt x="206" y="211836"/>
                  </a:lnTo>
                  <a:lnTo>
                    <a:pt x="103" y="214884"/>
                  </a:lnTo>
                  <a:lnTo>
                    <a:pt x="0" y="237743"/>
                  </a:lnTo>
                  <a:lnTo>
                    <a:pt x="1524" y="239267"/>
                  </a:lnTo>
                  <a:lnTo>
                    <a:pt x="1524" y="243839"/>
                  </a:lnTo>
                  <a:lnTo>
                    <a:pt x="3048" y="245363"/>
                  </a:lnTo>
                  <a:lnTo>
                    <a:pt x="4571" y="248412"/>
                  </a:lnTo>
                  <a:lnTo>
                    <a:pt x="4571" y="251460"/>
                  </a:lnTo>
                  <a:lnTo>
                    <a:pt x="6095" y="252984"/>
                  </a:lnTo>
                  <a:lnTo>
                    <a:pt x="6095" y="251460"/>
                  </a:lnTo>
                  <a:lnTo>
                    <a:pt x="74675" y="251460"/>
                  </a:lnTo>
                  <a:lnTo>
                    <a:pt x="74675" y="249936"/>
                  </a:lnTo>
                  <a:lnTo>
                    <a:pt x="76200" y="248412"/>
                  </a:lnTo>
                  <a:lnTo>
                    <a:pt x="76200" y="246887"/>
                  </a:lnTo>
                  <a:lnTo>
                    <a:pt x="77724" y="246887"/>
                  </a:lnTo>
                  <a:lnTo>
                    <a:pt x="77724" y="245363"/>
                  </a:lnTo>
                  <a:lnTo>
                    <a:pt x="27431" y="245363"/>
                  </a:lnTo>
                  <a:lnTo>
                    <a:pt x="26669" y="244601"/>
                  </a:lnTo>
                  <a:lnTo>
                    <a:pt x="24383" y="243839"/>
                  </a:lnTo>
                  <a:lnTo>
                    <a:pt x="24129" y="243331"/>
                  </a:lnTo>
                  <a:lnTo>
                    <a:pt x="24002" y="243077"/>
                  </a:lnTo>
                  <a:lnTo>
                    <a:pt x="23875" y="242824"/>
                  </a:lnTo>
                  <a:lnTo>
                    <a:pt x="22859" y="242315"/>
                  </a:lnTo>
                  <a:lnTo>
                    <a:pt x="22605" y="241807"/>
                  </a:lnTo>
                  <a:lnTo>
                    <a:pt x="22478" y="241553"/>
                  </a:lnTo>
                  <a:lnTo>
                    <a:pt x="22402" y="241401"/>
                  </a:lnTo>
                  <a:lnTo>
                    <a:pt x="22555" y="241401"/>
                  </a:lnTo>
                  <a:lnTo>
                    <a:pt x="21336" y="240791"/>
                  </a:lnTo>
                  <a:lnTo>
                    <a:pt x="21336" y="239267"/>
                  </a:lnTo>
                  <a:lnTo>
                    <a:pt x="21843" y="239267"/>
                  </a:lnTo>
                  <a:lnTo>
                    <a:pt x="21336" y="237743"/>
                  </a:lnTo>
                  <a:lnTo>
                    <a:pt x="21336" y="233172"/>
                  </a:lnTo>
                  <a:lnTo>
                    <a:pt x="19812" y="233172"/>
                  </a:lnTo>
                  <a:lnTo>
                    <a:pt x="19812" y="230124"/>
                  </a:lnTo>
                  <a:lnTo>
                    <a:pt x="21336" y="230124"/>
                  </a:lnTo>
                  <a:lnTo>
                    <a:pt x="21336" y="228600"/>
                  </a:lnTo>
                  <a:lnTo>
                    <a:pt x="19812" y="217932"/>
                  </a:lnTo>
                  <a:lnTo>
                    <a:pt x="24383" y="129539"/>
                  </a:lnTo>
                  <a:lnTo>
                    <a:pt x="28955" y="10667"/>
                  </a:lnTo>
                  <a:lnTo>
                    <a:pt x="28955" y="4572"/>
                  </a:lnTo>
                  <a:lnTo>
                    <a:pt x="24383" y="0"/>
                  </a:lnTo>
                  <a:close/>
                </a:path>
                <a:path w="81279" h="266700">
                  <a:moveTo>
                    <a:pt x="26669" y="244601"/>
                  </a:moveTo>
                  <a:lnTo>
                    <a:pt x="27431" y="245363"/>
                  </a:lnTo>
                  <a:lnTo>
                    <a:pt x="28955" y="245363"/>
                  </a:lnTo>
                  <a:lnTo>
                    <a:pt x="26669" y="244601"/>
                  </a:lnTo>
                  <a:close/>
                </a:path>
                <a:path w="81279" h="266700">
                  <a:moveTo>
                    <a:pt x="27431" y="243839"/>
                  </a:moveTo>
                  <a:lnTo>
                    <a:pt x="25907" y="243839"/>
                  </a:lnTo>
                  <a:lnTo>
                    <a:pt x="26669" y="244601"/>
                  </a:lnTo>
                  <a:lnTo>
                    <a:pt x="28955" y="245363"/>
                  </a:lnTo>
                  <a:lnTo>
                    <a:pt x="27431" y="243839"/>
                  </a:lnTo>
                  <a:close/>
                </a:path>
                <a:path w="81279" h="266700">
                  <a:moveTo>
                    <a:pt x="27431" y="243839"/>
                  </a:moveTo>
                  <a:lnTo>
                    <a:pt x="28955" y="245363"/>
                  </a:lnTo>
                  <a:lnTo>
                    <a:pt x="30479" y="245363"/>
                  </a:lnTo>
                  <a:lnTo>
                    <a:pt x="27431" y="243839"/>
                  </a:lnTo>
                  <a:close/>
                </a:path>
                <a:path w="81279" h="266700">
                  <a:moveTo>
                    <a:pt x="51815" y="243839"/>
                  </a:moveTo>
                  <a:lnTo>
                    <a:pt x="44195" y="245363"/>
                  </a:lnTo>
                  <a:lnTo>
                    <a:pt x="50291" y="245363"/>
                  </a:lnTo>
                  <a:lnTo>
                    <a:pt x="51815" y="243839"/>
                  </a:lnTo>
                  <a:close/>
                </a:path>
                <a:path w="81279" h="266700">
                  <a:moveTo>
                    <a:pt x="53339" y="243839"/>
                  </a:moveTo>
                  <a:lnTo>
                    <a:pt x="51815" y="243839"/>
                  </a:lnTo>
                  <a:lnTo>
                    <a:pt x="50291" y="245363"/>
                  </a:lnTo>
                  <a:lnTo>
                    <a:pt x="53339" y="243839"/>
                  </a:lnTo>
                  <a:close/>
                </a:path>
                <a:path w="81279" h="266700">
                  <a:moveTo>
                    <a:pt x="53339" y="243839"/>
                  </a:moveTo>
                  <a:lnTo>
                    <a:pt x="50291" y="245363"/>
                  </a:lnTo>
                  <a:lnTo>
                    <a:pt x="51815" y="245363"/>
                  </a:lnTo>
                  <a:lnTo>
                    <a:pt x="53339" y="243839"/>
                  </a:lnTo>
                  <a:close/>
                </a:path>
                <a:path w="81279" h="266700">
                  <a:moveTo>
                    <a:pt x="54863" y="242315"/>
                  </a:moveTo>
                  <a:lnTo>
                    <a:pt x="51815" y="245363"/>
                  </a:lnTo>
                  <a:lnTo>
                    <a:pt x="54863" y="243331"/>
                  </a:lnTo>
                  <a:lnTo>
                    <a:pt x="54863" y="242315"/>
                  </a:lnTo>
                  <a:close/>
                </a:path>
                <a:path w="81279" h="266700">
                  <a:moveTo>
                    <a:pt x="54863" y="243331"/>
                  </a:moveTo>
                  <a:lnTo>
                    <a:pt x="51815" y="245363"/>
                  </a:lnTo>
                  <a:lnTo>
                    <a:pt x="77724" y="245363"/>
                  </a:lnTo>
                  <a:lnTo>
                    <a:pt x="77724" y="243839"/>
                  </a:lnTo>
                  <a:lnTo>
                    <a:pt x="54863" y="243839"/>
                  </a:lnTo>
                  <a:lnTo>
                    <a:pt x="54863" y="243331"/>
                  </a:lnTo>
                  <a:close/>
                </a:path>
                <a:path w="81279" h="266700">
                  <a:moveTo>
                    <a:pt x="24383" y="243077"/>
                  </a:moveTo>
                  <a:lnTo>
                    <a:pt x="24383" y="243839"/>
                  </a:lnTo>
                  <a:lnTo>
                    <a:pt x="26669" y="244601"/>
                  </a:lnTo>
                  <a:lnTo>
                    <a:pt x="25907" y="243839"/>
                  </a:lnTo>
                  <a:lnTo>
                    <a:pt x="24383" y="243077"/>
                  </a:lnTo>
                  <a:close/>
                </a:path>
                <a:path w="81279" h="266700">
                  <a:moveTo>
                    <a:pt x="23875" y="242824"/>
                  </a:moveTo>
                  <a:lnTo>
                    <a:pt x="24383" y="243839"/>
                  </a:lnTo>
                  <a:lnTo>
                    <a:pt x="24383" y="243077"/>
                  </a:lnTo>
                  <a:lnTo>
                    <a:pt x="23875" y="242824"/>
                  </a:lnTo>
                  <a:close/>
                </a:path>
                <a:path w="81279" h="266700">
                  <a:moveTo>
                    <a:pt x="24383" y="242315"/>
                  </a:moveTo>
                  <a:lnTo>
                    <a:pt x="24383" y="243077"/>
                  </a:lnTo>
                  <a:lnTo>
                    <a:pt x="25907" y="243839"/>
                  </a:lnTo>
                  <a:lnTo>
                    <a:pt x="24383" y="242315"/>
                  </a:lnTo>
                  <a:close/>
                </a:path>
                <a:path w="81279" h="266700">
                  <a:moveTo>
                    <a:pt x="56387" y="242315"/>
                  </a:moveTo>
                  <a:lnTo>
                    <a:pt x="54863" y="243331"/>
                  </a:lnTo>
                  <a:lnTo>
                    <a:pt x="54863" y="243839"/>
                  </a:lnTo>
                  <a:lnTo>
                    <a:pt x="56387" y="242315"/>
                  </a:lnTo>
                  <a:close/>
                </a:path>
                <a:path w="81279" h="266700">
                  <a:moveTo>
                    <a:pt x="80771" y="216408"/>
                  </a:moveTo>
                  <a:lnTo>
                    <a:pt x="60959" y="216408"/>
                  </a:lnTo>
                  <a:lnTo>
                    <a:pt x="60959" y="230124"/>
                  </a:lnTo>
                  <a:lnTo>
                    <a:pt x="59436" y="230124"/>
                  </a:lnTo>
                  <a:lnTo>
                    <a:pt x="59436" y="237743"/>
                  </a:lnTo>
                  <a:lnTo>
                    <a:pt x="57912" y="239267"/>
                  </a:lnTo>
                  <a:lnTo>
                    <a:pt x="57912" y="240791"/>
                  </a:lnTo>
                  <a:lnTo>
                    <a:pt x="54863" y="243839"/>
                  </a:lnTo>
                  <a:lnTo>
                    <a:pt x="77724" y="243839"/>
                  </a:lnTo>
                  <a:lnTo>
                    <a:pt x="79248" y="242315"/>
                  </a:lnTo>
                  <a:lnTo>
                    <a:pt x="79248" y="239267"/>
                  </a:lnTo>
                  <a:lnTo>
                    <a:pt x="80771" y="236220"/>
                  </a:lnTo>
                  <a:lnTo>
                    <a:pt x="80771" y="216408"/>
                  </a:lnTo>
                  <a:close/>
                </a:path>
                <a:path w="81279" h="266700">
                  <a:moveTo>
                    <a:pt x="56387" y="242315"/>
                  </a:moveTo>
                  <a:lnTo>
                    <a:pt x="54863" y="242315"/>
                  </a:lnTo>
                  <a:lnTo>
                    <a:pt x="54863" y="243331"/>
                  </a:lnTo>
                  <a:lnTo>
                    <a:pt x="56387" y="242315"/>
                  </a:lnTo>
                  <a:close/>
                </a:path>
                <a:path w="81279" h="266700">
                  <a:moveTo>
                    <a:pt x="23367" y="241807"/>
                  </a:moveTo>
                  <a:lnTo>
                    <a:pt x="23875" y="242824"/>
                  </a:lnTo>
                  <a:lnTo>
                    <a:pt x="24383" y="243077"/>
                  </a:lnTo>
                  <a:lnTo>
                    <a:pt x="24383" y="242315"/>
                  </a:lnTo>
                  <a:lnTo>
                    <a:pt x="23367" y="241807"/>
                  </a:lnTo>
                  <a:close/>
                </a:path>
                <a:path w="81279" h="266700">
                  <a:moveTo>
                    <a:pt x="23621" y="242315"/>
                  </a:moveTo>
                  <a:lnTo>
                    <a:pt x="22859" y="242315"/>
                  </a:lnTo>
                  <a:lnTo>
                    <a:pt x="23875" y="242824"/>
                  </a:lnTo>
                  <a:lnTo>
                    <a:pt x="23621" y="242315"/>
                  </a:lnTo>
                  <a:close/>
                </a:path>
                <a:path w="81279" h="266700">
                  <a:moveTo>
                    <a:pt x="22555" y="241401"/>
                  </a:moveTo>
                  <a:lnTo>
                    <a:pt x="22859" y="242315"/>
                  </a:lnTo>
                  <a:lnTo>
                    <a:pt x="22859" y="241553"/>
                  </a:lnTo>
                  <a:lnTo>
                    <a:pt x="22555" y="241401"/>
                  </a:lnTo>
                  <a:close/>
                </a:path>
                <a:path w="81279" h="266700">
                  <a:moveTo>
                    <a:pt x="57912" y="239267"/>
                  </a:moveTo>
                  <a:lnTo>
                    <a:pt x="56387" y="240791"/>
                  </a:lnTo>
                  <a:lnTo>
                    <a:pt x="56387" y="242315"/>
                  </a:lnTo>
                  <a:lnTo>
                    <a:pt x="57912" y="240791"/>
                  </a:lnTo>
                  <a:lnTo>
                    <a:pt x="57912" y="239267"/>
                  </a:lnTo>
                  <a:close/>
                </a:path>
                <a:path w="81279" h="266700">
                  <a:moveTo>
                    <a:pt x="22859" y="240791"/>
                  </a:moveTo>
                  <a:lnTo>
                    <a:pt x="22859" y="241553"/>
                  </a:lnTo>
                  <a:lnTo>
                    <a:pt x="23367" y="241807"/>
                  </a:lnTo>
                  <a:lnTo>
                    <a:pt x="22859" y="240791"/>
                  </a:lnTo>
                  <a:close/>
                </a:path>
                <a:path w="81279" h="266700">
                  <a:moveTo>
                    <a:pt x="21843" y="239267"/>
                  </a:moveTo>
                  <a:lnTo>
                    <a:pt x="21336" y="239267"/>
                  </a:lnTo>
                  <a:lnTo>
                    <a:pt x="22402" y="241401"/>
                  </a:lnTo>
                  <a:lnTo>
                    <a:pt x="22478" y="241553"/>
                  </a:lnTo>
                  <a:lnTo>
                    <a:pt x="22555" y="241401"/>
                  </a:lnTo>
                  <a:lnTo>
                    <a:pt x="21843" y="239267"/>
                  </a:lnTo>
                  <a:close/>
                </a:path>
                <a:path w="81279" h="266700">
                  <a:moveTo>
                    <a:pt x="59436" y="237743"/>
                  </a:moveTo>
                  <a:lnTo>
                    <a:pt x="57912" y="237743"/>
                  </a:lnTo>
                  <a:lnTo>
                    <a:pt x="57912" y="239267"/>
                  </a:lnTo>
                  <a:lnTo>
                    <a:pt x="59436" y="237743"/>
                  </a:lnTo>
                  <a:close/>
                </a:path>
                <a:path w="81279" h="266700">
                  <a:moveTo>
                    <a:pt x="19812" y="230124"/>
                  </a:moveTo>
                  <a:lnTo>
                    <a:pt x="19812" y="233172"/>
                  </a:lnTo>
                  <a:lnTo>
                    <a:pt x="21336" y="231648"/>
                  </a:lnTo>
                  <a:lnTo>
                    <a:pt x="19812" y="230124"/>
                  </a:lnTo>
                  <a:close/>
                </a:path>
                <a:path w="81279" h="266700">
                  <a:moveTo>
                    <a:pt x="21336" y="231648"/>
                  </a:moveTo>
                  <a:lnTo>
                    <a:pt x="19812" y="233172"/>
                  </a:lnTo>
                  <a:lnTo>
                    <a:pt x="21336" y="233172"/>
                  </a:lnTo>
                  <a:lnTo>
                    <a:pt x="21336" y="231648"/>
                  </a:lnTo>
                  <a:close/>
                </a:path>
                <a:path w="81279" h="266700">
                  <a:moveTo>
                    <a:pt x="21336" y="230124"/>
                  </a:moveTo>
                  <a:lnTo>
                    <a:pt x="19812" y="230124"/>
                  </a:lnTo>
                  <a:lnTo>
                    <a:pt x="21336" y="231648"/>
                  </a:lnTo>
                  <a:lnTo>
                    <a:pt x="21336" y="230124"/>
                  </a:lnTo>
                  <a:close/>
                </a:path>
                <a:path w="81279" h="266700">
                  <a:moveTo>
                    <a:pt x="76200" y="198120"/>
                  </a:moveTo>
                  <a:lnTo>
                    <a:pt x="51815" y="198120"/>
                  </a:lnTo>
                  <a:lnTo>
                    <a:pt x="57912" y="204215"/>
                  </a:lnTo>
                  <a:lnTo>
                    <a:pt x="57912" y="205739"/>
                  </a:lnTo>
                  <a:lnTo>
                    <a:pt x="59436" y="207263"/>
                  </a:lnTo>
                  <a:lnTo>
                    <a:pt x="59436" y="210312"/>
                  </a:lnTo>
                  <a:lnTo>
                    <a:pt x="60959" y="217932"/>
                  </a:lnTo>
                  <a:lnTo>
                    <a:pt x="60959" y="216408"/>
                  </a:lnTo>
                  <a:lnTo>
                    <a:pt x="80771" y="216408"/>
                  </a:lnTo>
                  <a:lnTo>
                    <a:pt x="80771" y="214884"/>
                  </a:lnTo>
                  <a:lnTo>
                    <a:pt x="79248" y="207263"/>
                  </a:lnTo>
                  <a:lnTo>
                    <a:pt x="79248" y="202691"/>
                  </a:lnTo>
                  <a:lnTo>
                    <a:pt x="77724" y="201167"/>
                  </a:lnTo>
                  <a:lnTo>
                    <a:pt x="77724" y="199643"/>
                  </a:lnTo>
                  <a:lnTo>
                    <a:pt x="76200" y="198120"/>
                  </a:lnTo>
                  <a:close/>
                </a:path>
                <a:path w="81279" h="266700">
                  <a:moveTo>
                    <a:pt x="59436" y="207263"/>
                  </a:moveTo>
                  <a:lnTo>
                    <a:pt x="57912" y="207263"/>
                  </a:lnTo>
                  <a:lnTo>
                    <a:pt x="59436" y="208787"/>
                  </a:lnTo>
                  <a:lnTo>
                    <a:pt x="59436" y="207263"/>
                  </a:lnTo>
                  <a:close/>
                </a:path>
                <a:path w="81279" h="266700">
                  <a:moveTo>
                    <a:pt x="54863" y="201167"/>
                  </a:moveTo>
                  <a:lnTo>
                    <a:pt x="54863" y="202691"/>
                  </a:lnTo>
                  <a:lnTo>
                    <a:pt x="56387" y="204215"/>
                  </a:lnTo>
                  <a:lnTo>
                    <a:pt x="56387" y="202691"/>
                  </a:lnTo>
                  <a:lnTo>
                    <a:pt x="54863" y="201167"/>
                  </a:lnTo>
                  <a:close/>
                </a:path>
                <a:path w="81279" h="266700">
                  <a:moveTo>
                    <a:pt x="56387" y="202691"/>
                  </a:moveTo>
                  <a:lnTo>
                    <a:pt x="56387" y="204215"/>
                  </a:lnTo>
                  <a:lnTo>
                    <a:pt x="57912" y="204215"/>
                  </a:lnTo>
                  <a:lnTo>
                    <a:pt x="56387" y="202691"/>
                  </a:lnTo>
                  <a:close/>
                </a:path>
                <a:path w="81279" h="266700">
                  <a:moveTo>
                    <a:pt x="51815" y="198120"/>
                  </a:moveTo>
                  <a:lnTo>
                    <a:pt x="51815" y="199643"/>
                  </a:lnTo>
                  <a:lnTo>
                    <a:pt x="53339" y="201167"/>
                  </a:lnTo>
                  <a:lnTo>
                    <a:pt x="54863" y="201167"/>
                  </a:lnTo>
                  <a:lnTo>
                    <a:pt x="51815" y="198120"/>
                  </a:lnTo>
                  <a:close/>
                </a:path>
                <a:path w="81279" h="266700">
                  <a:moveTo>
                    <a:pt x="76200" y="195072"/>
                  </a:moveTo>
                  <a:lnTo>
                    <a:pt x="42671" y="195072"/>
                  </a:lnTo>
                  <a:lnTo>
                    <a:pt x="51815" y="199643"/>
                  </a:lnTo>
                  <a:lnTo>
                    <a:pt x="50291" y="198120"/>
                  </a:lnTo>
                  <a:lnTo>
                    <a:pt x="76200" y="198120"/>
                  </a:lnTo>
                  <a:lnTo>
                    <a:pt x="76200" y="195072"/>
                  </a:lnTo>
                  <a:close/>
                </a:path>
                <a:path w="81279" h="266700">
                  <a:moveTo>
                    <a:pt x="51815" y="198120"/>
                  </a:moveTo>
                  <a:lnTo>
                    <a:pt x="50291" y="198120"/>
                  </a:lnTo>
                  <a:lnTo>
                    <a:pt x="51815" y="199643"/>
                  </a:lnTo>
                  <a:lnTo>
                    <a:pt x="51815" y="198120"/>
                  </a:lnTo>
                  <a:close/>
                </a:path>
                <a:path w="81279" h="266700">
                  <a:moveTo>
                    <a:pt x="56387" y="178308"/>
                  </a:moveTo>
                  <a:lnTo>
                    <a:pt x="33527" y="178308"/>
                  </a:lnTo>
                  <a:lnTo>
                    <a:pt x="30479" y="184403"/>
                  </a:lnTo>
                  <a:lnTo>
                    <a:pt x="30479" y="187451"/>
                  </a:lnTo>
                  <a:lnTo>
                    <a:pt x="32003" y="190500"/>
                  </a:lnTo>
                  <a:lnTo>
                    <a:pt x="41148" y="195072"/>
                  </a:lnTo>
                  <a:lnTo>
                    <a:pt x="74675" y="195072"/>
                  </a:lnTo>
                  <a:lnTo>
                    <a:pt x="74675" y="193548"/>
                  </a:lnTo>
                  <a:lnTo>
                    <a:pt x="71627" y="190500"/>
                  </a:lnTo>
                  <a:lnTo>
                    <a:pt x="70103" y="187451"/>
                  </a:lnTo>
                  <a:lnTo>
                    <a:pt x="68579" y="185927"/>
                  </a:lnTo>
                  <a:lnTo>
                    <a:pt x="67055" y="185927"/>
                  </a:lnTo>
                  <a:lnTo>
                    <a:pt x="62483" y="181355"/>
                  </a:lnTo>
                  <a:lnTo>
                    <a:pt x="60959" y="181355"/>
                  </a:lnTo>
                  <a:lnTo>
                    <a:pt x="59436" y="179832"/>
                  </a:lnTo>
                  <a:lnTo>
                    <a:pt x="56387" y="178308"/>
                  </a:lnTo>
                  <a:close/>
                </a:path>
                <a:path w="81279" h="266700">
                  <a:moveTo>
                    <a:pt x="47243" y="176784"/>
                  </a:moveTo>
                  <a:lnTo>
                    <a:pt x="42671" y="176784"/>
                  </a:lnTo>
                  <a:lnTo>
                    <a:pt x="36575" y="178308"/>
                  </a:lnTo>
                  <a:lnTo>
                    <a:pt x="54863" y="178308"/>
                  </a:lnTo>
                  <a:lnTo>
                    <a:pt x="47243" y="176784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20639" y="4642104"/>
              <a:ext cx="76200" cy="17983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87112" y="5574791"/>
              <a:ext cx="850900" cy="426720"/>
            </a:xfrm>
            <a:custGeom>
              <a:avLst/>
              <a:gdLst/>
              <a:ahLst/>
              <a:cxnLst/>
              <a:rect l="l" t="t" r="r" b="b"/>
              <a:pathLst>
                <a:path w="850900" h="426720">
                  <a:moveTo>
                    <a:pt x="88392" y="208788"/>
                  </a:moveTo>
                  <a:lnTo>
                    <a:pt x="86868" y="205740"/>
                  </a:lnTo>
                  <a:lnTo>
                    <a:pt x="82296" y="205740"/>
                  </a:lnTo>
                  <a:lnTo>
                    <a:pt x="79248" y="204216"/>
                  </a:lnTo>
                  <a:lnTo>
                    <a:pt x="76200" y="205740"/>
                  </a:lnTo>
                  <a:lnTo>
                    <a:pt x="74676" y="208788"/>
                  </a:lnTo>
                  <a:lnTo>
                    <a:pt x="68580" y="219456"/>
                  </a:lnTo>
                  <a:lnTo>
                    <a:pt x="68580" y="222504"/>
                  </a:lnTo>
                  <a:lnTo>
                    <a:pt x="64008" y="239268"/>
                  </a:lnTo>
                  <a:lnTo>
                    <a:pt x="60960" y="260604"/>
                  </a:lnTo>
                  <a:lnTo>
                    <a:pt x="59702" y="279323"/>
                  </a:lnTo>
                  <a:lnTo>
                    <a:pt x="59651" y="278892"/>
                  </a:lnTo>
                  <a:lnTo>
                    <a:pt x="59436" y="277368"/>
                  </a:lnTo>
                  <a:lnTo>
                    <a:pt x="59436" y="275844"/>
                  </a:lnTo>
                  <a:lnTo>
                    <a:pt x="57912" y="268224"/>
                  </a:lnTo>
                  <a:lnTo>
                    <a:pt x="57912" y="266700"/>
                  </a:lnTo>
                  <a:lnTo>
                    <a:pt x="56388" y="257556"/>
                  </a:lnTo>
                  <a:lnTo>
                    <a:pt x="53848" y="249936"/>
                  </a:lnTo>
                  <a:lnTo>
                    <a:pt x="53340" y="248412"/>
                  </a:lnTo>
                  <a:lnTo>
                    <a:pt x="53340" y="249936"/>
                  </a:lnTo>
                  <a:lnTo>
                    <a:pt x="47561" y="222504"/>
                  </a:lnTo>
                  <a:lnTo>
                    <a:pt x="47244" y="220980"/>
                  </a:lnTo>
                  <a:lnTo>
                    <a:pt x="47244" y="222504"/>
                  </a:lnTo>
                  <a:lnTo>
                    <a:pt x="45720" y="211836"/>
                  </a:lnTo>
                  <a:lnTo>
                    <a:pt x="45720" y="210312"/>
                  </a:lnTo>
                  <a:lnTo>
                    <a:pt x="35496" y="140208"/>
                  </a:lnTo>
                  <a:lnTo>
                    <a:pt x="35052" y="137160"/>
                  </a:lnTo>
                  <a:lnTo>
                    <a:pt x="28956" y="105156"/>
                  </a:lnTo>
                  <a:lnTo>
                    <a:pt x="21501" y="36576"/>
                  </a:lnTo>
                  <a:lnTo>
                    <a:pt x="21323" y="35052"/>
                  </a:lnTo>
                  <a:lnTo>
                    <a:pt x="21336" y="36576"/>
                  </a:lnTo>
                  <a:lnTo>
                    <a:pt x="19888" y="10668"/>
                  </a:lnTo>
                  <a:lnTo>
                    <a:pt x="19812" y="4572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0" y="4572"/>
                  </a:lnTo>
                  <a:lnTo>
                    <a:pt x="0" y="10668"/>
                  </a:lnTo>
                  <a:lnTo>
                    <a:pt x="1257" y="33464"/>
                  </a:lnTo>
                  <a:lnTo>
                    <a:pt x="1346" y="35052"/>
                  </a:lnTo>
                  <a:lnTo>
                    <a:pt x="1435" y="36576"/>
                  </a:lnTo>
                  <a:lnTo>
                    <a:pt x="1524" y="38100"/>
                  </a:lnTo>
                  <a:lnTo>
                    <a:pt x="9144" y="106680"/>
                  </a:lnTo>
                  <a:lnTo>
                    <a:pt x="9144" y="108204"/>
                  </a:lnTo>
                  <a:lnTo>
                    <a:pt x="15240" y="141732"/>
                  </a:lnTo>
                  <a:lnTo>
                    <a:pt x="15240" y="140208"/>
                  </a:lnTo>
                  <a:lnTo>
                    <a:pt x="25908" y="213360"/>
                  </a:lnTo>
                  <a:lnTo>
                    <a:pt x="27432" y="225552"/>
                  </a:lnTo>
                  <a:lnTo>
                    <a:pt x="33528" y="254508"/>
                  </a:lnTo>
                  <a:lnTo>
                    <a:pt x="36576" y="263652"/>
                  </a:lnTo>
                  <a:lnTo>
                    <a:pt x="38100" y="271272"/>
                  </a:lnTo>
                  <a:lnTo>
                    <a:pt x="39624" y="280416"/>
                  </a:lnTo>
                  <a:lnTo>
                    <a:pt x="39624" y="278892"/>
                  </a:lnTo>
                  <a:lnTo>
                    <a:pt x="42672" y="300228"/>
                  </a:lnTo>
                  <a:lnTo>
                    <a:pt x="41148" y="368808"/>
                  </a:lnTo>
                  <a:lnTo>
                    <a:pt x="42672" y="409956"/>
                  </a:lnTo>
                  <a:lnTo>
                    <a:pt x="42672" y="413004"/>
                  </a:lnTo>
                  <a:lnTo>
                    <a:pt x="44196" y="420624"/>
                  </a:lnTo>
                  <a:lnTo>
                    <a:pt x="45720" y="423672"/>
                  </a:lnTo>
                  <a:lnTo>
                    <a:pt x="48768" y="426720"/>
                  </a:lnTo>
                  <a:lnTo>
                    <a:pt x="54864" y="426720"/>
                  </a:lnTo>
                  <a:lnTo>
                    <a:pt x="57912" y="423672"/>
                  </a:lnTo>
                  <a:lnTo>
                    <a:pt x="59436" y="420624"/>
                  </a:lnTo>
                  <a:lnTo>
                    <a:pt x="60960" y="413004"/>
                  </a:lnTo>
                  <a:lnTo>
                    <a:pt x="60960" y="409956"/>
                  </a:lnTo>
                  <a:lnTo>
                    <a:pt x="61861" y="385572"/>
                  </a:lnTo>
                  <a:lnTo>
                    <a:pt x="64008" y="385572"/>
                  </a:lnTo>
                  <a:lnTo>
                    <a:pt x="68580" y="384048"/>
                  </a:lnTo>
                  <a:lnTo>
                    <a:pt x="70104" y="379476"/>
                  </a:lnTo>
                  <a:lnTo>
                    <a:pt x="73152" y="371856"/>
                  </a:lnTo>
                  <a:lnTo>
                    <a:pt x="73152" y="368808"/>
                  </a:lnTo>
                  <a:lnTo>
                    <a:pt x="73825" y="365760"/>
                  </a:lnTo>
                  <a:lnTo>
                    <a:pt x="76200" y="355092"/>
                  </a:lnTo>
                  <a:lnTo>
                    <a:pt x="76314" y="352044"/>
                  </a:lnTo>
                  <a:lnTo>
                    <a:pt x="77724" y="333756"/>
                  </a:lnTo>
                  <a:lnTo>
                    <a:pt x="79248" y="309372"/>
                  </a:lnTo>
                  <a:lnTo>
                    <a:pt x="79349" y="283464"/>
                  </a:lnTo>
                  <a:lnTo>
                    <a:pt x="80581" y="264985"/>
                  </a:lnTo>
                  <a:lnTo>
                    <a:pt x="80670" y="263652"/>
                  </a:lnTo>
                  <a:lnTo>
                    <a:pt x="80772" y="262128"/>
                  </a:lnTo>
                  <a:lnTo>
                    <a:pt x="80772" y="262966"/>
                  </a:lnTo>
                  <a:lnTo>
                    <a:pt x="80987" y="262128"/>
                  </a:lnTo>
                  <a:lnTo>
                    <a:pt x="83820" y="242316"/>
                  </a:lnTo>
                  <a:lnTo>
                    <a:pt x="83820" y="243840"/>
                  </a:lnTo>
                  <a:lnTo>
                    <a:pt x="84226" y="242316"/>
                  </a:lnTo>
                  <a:lnTo>
                    <a:pt x="88392" y="227076"/>
                  </a:lnTo>
                  <a:lnTo>
                    <a:pt x="88392" y="208788"/>
                  </a:lnTo>
                  <a:close/>
                </a:path>
                <a:path w="850900" h="426720">
                  <a:moveTo>
                    <a:pt x="850392" y="64008"/>
                  </a:moveTo>
                  <a:lnTo>
                    <a:pt x="844296" y="57912"/>
                  </a:lnTo>
                  <a:lnTo>
                    <a:pt x="841248" y="56388"/>
                  </a:lnTo>
                  <a:lnTo>
                    <a:pt x="838200" y="56388"/>
                  </a:lnTo>
                  <a:lnTo>
                    <a:pt x="833628" y="57912"/>
                  </a:lnTo>
                  <a:lnTo>
                    <a:pt x="830580" y="60960"/>
                  </a:lnTo>
                  <a:lnTo>
                    <a:pt x="829056" y="64008"/>
                  </a:lnTo>
                  <a:lnTo>
                    <a:pt x="829056" y="67056"/>
                  </a:lnTo>
                  <a:lnTo>
                    <a:pt x="829056" y="379476"/>
                  </a:lnTo>
                  <a:lnTo>
                    <a:pt x="830580" y="382524"/>
                  </a:lnTo>
                  <a:lnTo>
                    <a:pt x="832104" y="388620"/>
                  </a:lnTo>
                  <a:lnTo>
                    <a:pt x="833628" y="391668"/>
                  </a:lnTo>
                  <a:lnTo>
                    <a:pt x="836676" y="393192"/>
                  </a:lnTo>
                  <a:lnTo>
                    <a:pt x="842772" y="393192"/>
                  </a:lnTo>
                  <a:lnTo>
                    <a:pt x="845820" y="391668"/>
                  </a:lnTo>
                  <a:lnTo>
                    <a:pt x="845820" y="388620"/>
                  </a:lnTo>
                  <a:lnTo>
                    <a:pt x="848868" y="382524"/>
                  </a:lnTo>
                  <a:lnTo>
                    <a:pt x="850392" y="64008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75020" y="5827776"/>
              <a:ext cx="108203" cy="1295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24372" y="4668011"/>
              <a:ext cx="714755" cy="13456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53840" y="3128771"/>
              <a:ext cx="934212" cy="3195828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D73C33E-C131-4013-AB64-274FB263E5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51" y="1219200"/>
            <a:ext cx="8695857" cy="15179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70" dirty="0">
                          <a:latin typeface="Tahoma"/>
                          <a:cs typeface="Tahoma"/>
                        </a:rPr>
                        <a:t>Mini-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Max</a:t>
                      </a:r>
                      <a:r>
                        <a:rPr sz="3300" b="1" spc="-1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089472"/>
            <a:ext cx="8182609" cy="2453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5080" indent="-187960">
              <a:lnSpc>
                <a:spcPct val="1105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dirty="0">
                <a:latin typeface="Tahoma"/>
                <a:cs typeface="Tahoma"/>
              </a:rPr>
              <a:t>Time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complexity-</a:t>
            </a:r>
            <a:r>
              <a:rPr sz="2300" spc="-170" dirty="0">
                <a:latin typeface="Tahoma"/>
                <a:cs typeface="Tahoma"/>
              </a:rPr>
              <a:t> </a:t>
            </a:r>
            <a:r>
              <a:rPr sz="2300" spc="120" dirty="0">
                <a:latin typeface="Tahoma"/>
                <a:cs typeface="Tahoma"/>
              </a:rPr>
              <a:t>As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it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performs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90" dirty="0">
                <a:latin typeface="Tahoma"/>
                <a:cs typeface="Tahoma"/>
              </a:rPr>
              <a:t>DFS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for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game-</a:t>
            </a:r>
            <a:r>
              <a:rPr sz="2300" dirty="0">
                <a:latin typeface="Tahoma"/>
                <a:cs typeface="Tahoma"/>
              </a:rPr>
              <a:t>tree,</a:t>
            </a:r>
            <a:r>
              <a:rPr sz="2300" spc="-16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so 	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time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complexity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1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Min-</a:t>
            </a:r>
            <a:r>
              <a:rPr sz="2300" spc="80" dirty="0">
                <a:latin typeface="Tahoma"/>
                <a:cs typeface="Tahoma"/>
              </a:rPr>
              <a:t>Max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algorithm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O(b^m),</a:t>
            </a:r>
            <a:r>
              <a:rPr sz="2300" spc="-18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where 	</a:t>
            </a:r>
            <a:r>
              <a:rPr sz="2300" spc="190" dirty="0">
                <a:latin typeface="Tahoma"/>
                <a:cs typeface="Tahoma"/>
              </a:rPr>
              <a:t>b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branching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factor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game-</a:t>
            </a:r>
            <a:r>
              <a:rPr sz="2300" dirty="0">
                <a:latin typeface="Tahoma"/>
                <a:cs typeface="Tahoma"/>
              </a:rPr>
              <a:t>tree,</a:t>
            </a:r>
            <a:r>
              <a:rPr sz="2300" spc="-16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m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the 	</a:t>
            </a:r>
            <a:r>
              <a:rPr sz="2300" spc="50" dirty="0">
                <a:latin typeface="Tahoma"/>
                <a:cs typeface="Tahoma"/>
              </a:rPr>
              <a:t>maximum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depth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tree.</a:t>
            </a:r>
            <a:endParaRPr sz="2300">
              <a:latin typeface="Tahoma"/>
              <a:cs typeface="Tahoma"/>
            </a:endParaRPr>
          </a:p>
          <a:p>
            <a:pPr marL="200025" marR="8255" indent="-187960">
              <a:lnSpc>
                <a:spcPct val="1104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80" dirty="0">
                <a:latin typeface="Tahoma"/>
                <a:cs typeface="Tahoma"/>
              </a:rPr>
              <a:t>Space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Complexity-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Space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complexity</a:t>
            </a:r>
            <a:r>
              <a:rPr sz="2300" spc="-1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Mini-</a:t>
            </a:r>
            <a:r>
              <a:rPr sz="2300" dirty="0">
                <a:latin typeface="Tahoma"/>
                <a:cs typeface="Tahoma"/>
              </a:rPr>
              <a:t>max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algorithm 	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also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similar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90" dirty="0">
                <a:latin typeface="Tahoma"/>
                <a:cs typeface="Tahoma"/>
              </a:rPr>
              <a:t>DFS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which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O(b^m).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529085" cy="466762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1527791">
              <a:spcBef>
                <a:spcPts val="100"/>
              </a:spcBef>
            </a:pPr>
            <a:r>
              <a:rPr dirty="0"/>
              <a:t>Examples</a:t>
            </a:r>
            <a:r>
              <a:rPr spc="2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adversarial</a:t>
            </a:r>
            <a:r>
              <a:rPr spc="15" dirty="0"/>
              <a:t> </a:t>
            </a:r>
            <a:r>
              <a:rPr spc="-10" dirty="0"/>
              <a:t>search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220382"/>
              </p:ext>
            </p:extLst>
          </p:nvPr>
        </p:nvGraphicFramePr>
        <p:xfrm>
          <a:off x="609600" y="1369256"/>
          <a:ext cx="6904065" cy="3213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4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2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7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31750">
                        <a:lnSpc>
                          <a:spcPts val="2210"/>
                        </a:lnSpc>
                      </a:pPr>
                      <a:r>
                        <a:rPr sz="2000" spc="-10" dirty="0">
                          <a:latin typeface="Microsoft Sans Serif"/>
                          <a:cs typeface="Microsoft Sans Serif"/>
                        </a:rPr>
                        <a:t>Chess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4659">
                        <a:lnSpc>
                          <a:spcPts val="2210"/>
                        </a:lnSpc>
                      </a:pPr>
                      <a:r>
                        <a:rPr sz="2000" spc="-10" dirty="0">
                          <a:latin typeface="Microsoft Sans Serif"/>
                          <a:cs typeface="Microsoft Sans Serif"/>
                        </a:rPr>
                        <a:t>Unsolved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9259">
                        <a:lnSpc>
                          <a:spcPts val="2210"/>
                        </a:lnSpc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~10^40</a:t>
                      </a:r>
                      <a:r>
                        <a:rPr sz="20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latin typeface="Microsoft Sans Serif"/>
                          <a:cs typeface="Microsoft Sans Serif"/>
                        </a:rPr>
                        <a:t>states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4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Microsoft Sans Serif"/>
                          <a:cs typeface="Microsoft Sans Serif"/>
                        </a:rPr>
                        <a:t>Checkers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43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454659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Microsoft Sans Serif"/>
                          <a:cs typeface="Microsoft Sans Serif"/>
                        </a:rPr>
                        <a:t>Solved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43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29259">
                        <a:lnSpc>
                          <a:spcPct val="100000"/>
                        </a:lnSpc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~10^20</a:t>
                      </a:r>
                      <a:r>
                        <a:rPr sz="20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latin typeface="Microsoft Sans Serif"/>
                          <a:cs typeface="Microsoft Sans Serif"/>
                        </a:rPr>
                        <a:t>states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43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000" spc="-30" dirty="0">
                          <a:latin typeface="Microsoft Sans Serif"/>
                          <a:cs typeface="Microsoft Sans Serif"/>
                        </a:rPr>
                        <a:t>Tic-</a:t>
                      </a:r>
                      <a:r>
                        <a:rPr sz="2000" spc="-10" dirty="0">
                          <a:latin typeface="Microsoft Sans Serif"/>
                          <a:cs typeface="Microsoft Sans Serif"/>
                        </a:rPr>
                        <a:t>tac-</a:t>
                      </a:r>
                      <a:r>
                        <a:rPr sz="2000" spc="-25" dirty="0">
                          <a:latin typeface="Microsoft Sans Serif"/>
                          <a:cs typeface="Microsoft Sans Serif"/>
                        </a:rPr>
                        <a:t>toe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6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54659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Microsoft Sans Serif"/>
                          <a:cs typeface="Microsoft Sans Serif"/>
                        </a:rPr>
                        <a:t>Solved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6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429259">
                        <a:lnSpc>
                          <a:spcPct val="100000"/>
                        </a:lnSpc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Less</a:t>
                      </a:r>
                      <a:r>
                        <a:rPr sz="20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than</a:t>
                      </a:r>
                      <a:r>
                        <a:rPr sz="20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9!=362k </a:t>
                      </a:r>
                      <a:r>
                        <a:rPr sz="2000" spc="-10" dirty="0">
                          <a:latin typeface="Microsoft Sans Serif"/>
                          <a:cs typeface="Microsoft Sans Serif"/>
                        </a:rPr>
                        <a:t>states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67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6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325"/>
                        </a:lnSpc>
                      </a:pPr>
                      <a:r>
                        <a:rPr sz="2000" spc="-25" dirty="0">
                          <a:latin typeface="Microsoft Sans Serif"/>
                          <a:cs typeface="Microsoft Sans Serif"/>
                        </a:rPr>
                        <a:t>Go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6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54659">
                        <a:lnSpc>
                          <a:spcPts val="2325"/>
                        </a:lnSpc>
                      </a:pPr>
                      <a:r>
                        <a:rPr sz="2000" spc="-10" dirty="0">
                          <a:latin typeface="Microsoft Sans Serif"/>
                          <a:cs typeface="Microsoft Sans Serif"/>
                        </a:rPr>
                        <a:t>Unsolved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6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429259">
                        <a:lnSpc>
                          <a:spcPts val="2325"/>
                        </a:lnSpc>
                      </a:pPr>
                      <a:r>
                        <a:rPr sz="2000" spc="-50" dirty="0">
                          <a:latin typeface="Microsoft Sans Serif"/>
                          <a:cs typeface="Microsoft Sans Serif"/>
                        </a:rPr>
                        <a:t>?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67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33941" y="5260679"/>
            <a:ext cx="3986623" cy="937433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458591" marR="5067" indent="-445922">
              <a:spcBef>
                <a:spcPts val="100"/>
              </a:spcBef>
            </a:pPr>
            <a:r>
              <a:rPr sz="1995" dirty="0">
                <a:latin typeface="Microsoft Sans Serif"/>
                <a:cs typeface="Microsoft Sans Serif"/>
              </a:rPr>
              <a:t>Outcome</a:t>
            </a:r>
            <a:r>
              <a:rPr sz="1995" spc="-5" dirty="0">
                <a:latin typeface="Microsoft Sans Serif"/>
                <a:cs typeface="Microsoft Sans Serif"/>
              </a:rPr>
              <a:t> </a:t>
            </a:r>
            <a:r>
              <a:rPr sz="1995" dirty="0">
                <a:latin typeface="Microsoft Sans Serif"/>
                <a:cs typeface="Microsoft Sans Serif"/>
              </a:rPr>
              <a:t>of</a:t>
            </a:r>
            <a:r>
              <a:rPr sz="1995" spc="-10" dirty="0">
                <a:latin typeface="Microsoft Sans Serif"/>
                <a:cs typeface="Microsoft Sans Serif"/>
              </a:rPr>
              <a:t> </a:t>
            </a:r>
            <a:r>
              <a:rPr sz="1995" dirty="0">
                <a:latin typeface="Microsoft Sans Serif"/>
                <a:cs typeface="Microsoft Sans Serif"/>
              </a:rPr>
              <a:t>game</a:t>
            </a:r>
            <a:r>
              <a:rPr sz="1995" spc="-5" dirty="0">
                <a:latin typeface="Microsoft Sans Serif"/>
                <a:cs typeface="Microsoft Sans Serif"/>
              </a:rPr>
              <a:t> </a:t>
            </a:r>
            <a:r>
              <a:rPr sz="1995" dirty="0">
                <a:latin typeface="Microsoft Sans Serif"/>
                <a:cs typeface="Microsoft Sans Serif"/>
              </a:rPr>
              <a:t>can</a:t>
            </a:r>
            <a:r>
              <a:rPr sz="1995" spc="-5" dirty="0">
                <a:latin typeface="Microsoft Sans Serif"/>
                <a:cs typeface="Microsoft Sans Serif"/>
              </a:rPr>
              <a:t> </a:t>
            </a:r>
            <a:r>
              <a:rPr sz="1995" dirty="0">
                <a:latin typeface="Microsoft Sans Serif"/>
                <a:cs typeface="Microsoft Sans Serif"/>
              </a:rPr>
              <a:t>be</a:t>
            </a:r>
            <a:r>
              <a:rPr sz="1995" spc="-5" dirty="0">
                <a:latin typeface="Microsoft Sans Serif"/>
                <a:cs typeface="Microsoft Sans Serif"/>
              </a:rPr>
              <a:t> </a:t>
            </a:r>
            <a:r>
              <a:rPr sz="1995" spc="-10" dirty="0">
                <a:latin typeface="Microsoft Sans Serif"/>
                <a:cs typeface="Microsoft Sans Serif"/>
              </a:rPr>
              <a:t>predicted </a:t>
            </a:r>
            <a:r>
              <a:rPr sz="1995" dirty="0">
                <a:latin typeface="Microsoft Sans Serif"/>
                <a:cs typeface="Microsoft Sans Serif"/>
              </a:rPr>
              <a:t>from</a:t>
            </a:r>
            <a:r>
              <a:rPr sz="1995" spc="-15" dirty="0">
                <a:latin typeface="Microsoft Sans Serif"/>
                <a:cs typeface="Microsoft Sans Serif"/>
              </a:rPr>
              <a:t> </a:t>
            </a:r>
            <a:r>
              <a:rPr sz="1995" dirty="0">
                <a:latin typeface="Microsoft Sans Serif"/>
                <a:cs typeface="Microsoft Sans Serif"/>
              </a:rPr>
              <a:t>any</a:t>
            </a:r>
            <a:r>
              <a:rPr sz="1995" spc="-5" dirty="0">
                <a:latin typeface="Microsoft Sans Serif"/>
                <a:cs typeface="Microsoft Sans Serif"/>
              </a:rPr>
              <a:t> </a:t>
            </a:r>
            <a:r>
              <a:rPr sz="1995" dirty="0">
                <a:latin typeface="Microsoft Sans Serif"/>
                <a:cs typeface="Microsoft Sans Serif"/>
              </a:rPr>
              <a:t>initial</a:t>
            </a:r>
            <a:r>
              <a:rPr sz="1995" spc="-10" dirty="0">
                <a:latin typeface="Microsoft Sans Serif"/>
                <a:cs typeface="Microsoft Sans Serif"/>
              </a:rPr>
              <a:t> </a:t>
            </a:r>
            <a:r>
              <a:rPr sz="1995" dirty="0">
                <a:latin typeface="Microsoft Sans Serif"/>
                <a:cs typeface="Microsoft Sans Serif"/>
              </a:rPr>
              <a:t>state</a:t>
            </a:r>
            <a:r>
              <a:rPr sz="1995" spc="-10" dirty="0">
                <a:latin typeface="Microsoft Sans Serif"/>
                <a:cs typeface="Microsoft Sans Serif"/>
              </a:rPr>
              <a:t> assuming</a:t>
            </a:r>
            <a:endParaRPr sz="1995">
              <a:latin typeface="Microsoft Sans Serif"/>
              <a:cs typeface="Microsoft Sans Serif"/>
            </a:endParaRPr>
          </a:p>
          <a:p>
            <a:pPr marL="688519"/>
            <a:r>
              <a:rPr sz="1995" dirty="0">
                <a:latin typeface="Microsoft Sans Serif"/>
                <a:cs typeface="Microsoft Sans Serif"/>
              </a:rPr>
              <a:t>both</a:t>
            </a:r>
            <a:r>
              <a:rPr sz="1995" spc="-20" dirty="0">
                <a:latin typeface="Microsoft Sans Serif"/>
                <a:cs typeface="Microsoft Sans Serif"/>
              </a:rPr>
              <a:t> </a:t>
            </a:r>
            <a:r>
              <a:rPr sz="1995" dirty="0">
                <a:latin typeface="Microsoft Sans Serif"/>
                <a:cs typeface="Microsoft Sans Serif"/>
              </a:rPr>
              <a:t>players</a:t>
            </a:r>
            <a:r>
              <a:rPr sz="1995" spc="-10" dirty="0">
                <a:latin typeface="Microsoft Sans Serif"/>
                <a:cs typeface="Microsoft Sans Serif"/>
              </a:rPr>
              <a:t> </a:t>
            </a:r>
            <a:r>
              <a:rPr sz="1995" dirty="0">
                <a:latin typeface="Microsoft Sans Serif"/>
                <a:cs typeface="Microsoft Sans Serif"/>
              </a:rPr>
              <a:t>play</a:t>
            </a:r>
            <a:r>
              <a:rPr sz="1995" spc="-15" dirty="0">
                <a:latin typeface="Microsoft Sans Serif"/>
                <a:cs typeface="Microsoft Sans Serif"/>
              </a:rPr>
              <a:t> </a:t>
            </a:r>
            <a:r>
              <a:rPr sz="1995" spc="-10" dirty="0">
                <a:latin typeface="Microsoft Sans Serif"/>
                <a:cs typeface="Microsoft Sans Serif"/>
              </a:rPr>
              <a:t>perfectly</a:t>
            </a:r>
            <a:endParaRPr sz="1995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05258" y="4580814"/>
            <a:ext cx="374340" cy="466816"/>
            <a:chOff x="3012847" y="4474617"/>
            <a:chExt cx="375285" cy="467995"/>
          </a:xfrm>
        </p:grpSpPr>
        <p:sp>
          <p:nvSpPr>
            <p:cNvPr id="6" name="object 6"/>
            <p:cNvSpPr/>
            <p:nvPr/>
          </p:nvSpPr>
          <p:spPr>
            <a:xfrm>
              <a:off x="3017520" y="4479289"/>
              <a:ext cx="365760" cy="458470"/>
            </a:xfrm>
            <a:custGeom>
              <a:avLst/>
              <a:gdLst/>
              <a:ahLst/>
              <a:cxnLst/>
              <a:rect l="l" t="t" r="r" b="b"/>
              <a:pathLst>
                <a:path w="365760" h="458470">
                  <a:moveTo>
                    <a:pt x="275590" y="270510"/>
                  </a:moveTo>
                  <a:lnTo>
                    <a:pt x="90169" y="270510"/>
                  </a:lnTo>
                  <a:lnTo>
                    <a:pt x="90169" y="458470"/>
                  </a:lnTo>
                  <a:lnTo>
                    <a:pt x="275590" y="458470"/>
                  </a:lnTo>
                  <a:lnTo>
                    <a:pt x="275590" y="270510"/>
                  </a:lnTo>
                  <a:close/>
                </a:path>
                <a:path w="365760" h="458470">
                  <a:moveTo>
                    <a:pt x="182880" y="0"/>
                  </a:moveTo>
                  <a:lnTo>
                    <a:pt x="0" y="270510"/>
                  </a:lnTo>
                  <a:lnTo>
                    <a:pt x="365759" y="270510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719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17520" y="4479289"/>
              <a:ext cx="365760" cy="458470"/>
            </a:xfrm>
            <a:custGeom>
              <a:avLst/>
              <a:gdLst/>
              <a:ahLst/>
              <a:cxnLst/>
              <a:rect l="l" t="t" r="r" b="b"/>
              <a:pathLst>
                <a:path w="365760" h="458470">
                  <a:moveTo>
                    <a:pt x="90169" y="458470"/>
                  </a:moveTo>
                  <a:lnTo>
                    <a:pt x="90169" y="270510"/>
                  </a:lnTo>
                  <a:lnTo>
                    <a:pt x="0" y="270510"/>
                  </a:lnTo>
                  <a:lnTo>
                    <a:pt x="182880" y="0"/>
                  </a:lnTo>
                  <a:lnTo>
                    <a:pt x="365759" y="270510"/>
                  </a:lnTo>
                  <a:lnTo>
                    <a:pt x="275590" y="270510"/>
                  </a:lnTo>
                  <a:lnTo>
                    <a:pt x="275590" y="458470"/>
                  </a:lnTo>
                  <a:lnTo>
                    <a:pt x="90169" y="458470"/>
                  </a:lnTo>
                  <a:close/>
                </a:path>
              </a:pathLst>
            </a:custGeom>
            <a:ln w="9344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12846" y="4474628"/>
              <a:ext cx="375285" cy="467995"/>
            </a:xfrm>
            <a:custGeom>
              <a:avLst/>
              <a:gdLst/>
              <a:ahLst/>
              <a:cxnLst/>
              <a:rect l="l" t="t" r="r" b="b"/>
              <a:pathLst>
                <a:path w="375285" h="467995">
                  <a:moveTo>
                    <a:pt x="9334" y="4660"/>
                  </a:moveTo>
                  <a:lnTo>
                    <a:pt x="7975" y="1358"/>
                  </a:lnTo>
                  <a:lnTo>
                    <a:pt x="4673" y="0"/>
                  </a:lnTo>
                  <a:lnTo>
                    <a:pt x="1358" y="1358"/>
                  </a:lnTo>
                  <a:lnTo>
                    <a:pt x="0" y="4660"/>
                  </a:lnTo>
                  <a:lnTo>
                    <a:pt x="1358" y="7975"/>
                  </a:lnTo>
                  <a:lnTo>
                    <a:pt x="4673" y="9334"/>
                  </a:lnTo>
                  <a:lnTo>
                    <a:pt x="7975" y="7975"/>
                  </a:lnTo>
                  <a:lnTo>
                    <a:pt x="9334" y="4660"/>
                  </a:lnTo>
                  <a:close/>
                </a:path>
                <a:path w="375285" h="467995">
                  <a:moveTo>
                    <a:pt x="375094" y="463130"/>
                  </a:moveTo>
                  <a:lnTo>
                    <a:pt x="373735" y="459828"/>
                  </a:lnTo>
                  <a:lnTo>
                    <a:pt x="370433" y="458470"/>
                  </a:lnTo>
                  <a:lnTo>
                    <a:pt x="367118" y="459828"/>
                  </a:lnTo>
                  <a:lnTo>
                    <a:pt x="365760" y="463130"/>
                  </a:lnTo>
                  <a:lnTo>
                    <a:pt x="367118" y="466445"/>
                  </a:lnTo>
                  <a:lnTo>
                    <a:pt x="370433" y="467804"/>
                  </a:lnTo>
                  <a:lnTo>
                    <a:pt x="373735" y="466445"/>
                  </a:lnTo>
                  <a:lnTo>
                    <a:pt x="375094" y="46313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402" y="1807838"/>
            <a:ext cx="7311844" cy="47138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3961" y="517003"/>
            <a:ext cx="7856639" cy="466762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1394774">
              <a:spcBef>
                <a:spcPts val="100"/>
              </a:spcBef>
            </a:pPr>
            <a:r>
              <a:rPr dirty="0"/>
              <a:t>This</a:t>
            </a:r>
            <a:r>
              <a:rPr spc="30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game</a:t>
            </a:r>
            <a:r>
              <a:rPr spc="40" dirty="0"/>
              <a:t> </a:t>
            </a:r>
            <a:r>
              <a:rPr dirty="0"/>
              <a:t>tree</a:t>
            </a:r>
            <a:r>
              <a:rPr spc="40" dirty="0"/>
              <a:t> </a:t>
            </a:r>
            <a:r>
              <a:rPr dirty="0"/>
              <a:t>for</a:t>
            </a:r>
            <a:r>
              <a:rPr spc="30" dirty="0"/>
              <a:t> </a:t>
            </a:r>
            <a:r>
              <a:rPr spc="-25" dirty="0"/>
              <a:t>tic-</a:t>
            </a:r>
            <a:r>
              <a:rPr spc="-10" dirty="0"/>
              <a:t>tac-</a:t>
            </a:r>
            <a:r>
              <a:rPr spc="-25" dirty="0"/>
              <a:t>toe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402" y="1807838"/>
            <a:ext cx="7311844" cy="47138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765148" y="533400"/>
            <a:ext cx="8528104" cy="465618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12668">
              <a:spcBef>
                <a:spcPts val="100"/>
              </a:spcBef>
            </a:pPr>
            <a:r>
              <a:rPr dirty="0"/>
              <a:t>This</a:t>
            </a:r>
            <a:r>
              <a:rPr spc="30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game</a:t>
            </a:r>
            <a:r>
              <a:rPr spc="40" dirty="0"/>
              <a:t> </a:t>
            </a:r>
            <a:r>
              <a:rPr dirty="0"/>
              <a:t>tree</a:t>
            </a:r>
            <a:r>
              <a:rPr spc="40" dirty="0"/>
              <a:t> </a:t>
            </a:r>
            <a:r>
              <a:rPr dirty="0"/>
              <a:t>for</a:t>
            </a:r>
            <a:r>
              <a:rPr spc="30" dirty="0"/>
              <a:t> </a:t>
            </a:r>
            <a:r>
              <a:rPr spc="-25" dirty="0"/>
              <a:t>tic-</a:t>
            </a:r>
            <a:r>
              <a:rPr spc="-10" dirty="0"/>
              <a:t>tac-</a:t>
            </a:r>
            <a:r>
              <a:rPr spc="-25" dirty="0"/>
              <a:t>toe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43461" y="1883387"/>
            <a:ext cx="451615" cy="329368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12668">
              <a:spcBef>
                <a:spcPts val="100"/>
              </a:spcBef>
            </a:pPr>
            <a:r>
              <a:rPr sz="1995" spc="-55" dirty="0">
                <a:latin typeface="Microsoft Sans Serif"/>
                <a:cs typeface="Microsoft Sans Serif"/>
              </a:rPr>
              <a:t>You</a:t>
            </a:r>
            <a:endParaRPr sz="1995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839371" y="1937000"/>
            <a:ext cx="556759" cy="281863"/>
            <a:chOff x="7859167" y="1824127"/>
            <a:chExt cx="558165" cy="282575"/>
          </a:xfrm>
        </p:grpSpPr>
        <p:sp>
          <p:nvSpPr>
            <p:cNvPr id="6" name="object 6"/>
            <p:cNvSpPr/>
            <p:nvPr/>
          </p:nvSpPr>
          <p:spPr>
            <a:xfrm>
              <a:off x="7863839" y="1828799"/>
              <a:ext cx="548640" cy="273050"/>
            </a:xfrm>
            <a:custGeom>
              <a:avLst/>
              <a:gdLst/>
              <a:ahLst/>
              <a:cxnLst/>
              <a:rect l="l" t="t" r="r" b="b"/>
              <a:pathLst>
                <a:path w="548640" h="273050">
                  <a:moveTo>
                    <a:pt x="137159" y="0"/>
                  </a:moveTo>
                  <a:lnTo>
                    <a:pt x="0" y="135889"/>
                  </a:lnTo>
                  <a:lnTo>
                    <a:pt x="137159" y="273050"/>
                  </a:lnTo>
                  <a:lnTo>
                    <a:pt x="137159" y="204470"/>
                  </a:lnTo>
                  <a:lnTo>
                    <a:pt x="548639" y="204470"/>
                  </a:lnTo>
                  <a:lnTo>
                    <a:pt x="548639" y="68579"/>
                  </a:lnTo>
                  <a:lnTo>
                    <a:pt x="137159" y="68579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719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63839" y="1828799"/>
              <a:ext cx="548640" cy="273050"/>
            </a:xfrm>
            <a:custGeom>
              <a:avLst/>
              <a:gdLst/>
              <a:ahLst/>
              <a:cxnLst/>
              <a:rect l="l" t="t" r="r" b="b"/>
              <a:pathLst>
                <a:path w="548640" h="273050">
                  <a:moveTo>
                    <a:pt x="548639" y="68579"/>
                  </a:moveTo>
                  <a:lnTo>
                    <a:pt x="137159" y="68579"/>
                  </a:lnTo>
                  <a:lnTo>
                    <a:pt x="137159" y="0"/>
                  </a:lnTo>
                  <a:lnTo>
                    <a:pt x="0" y="135889"/>
                  </a:lnTo>
                  <a:lnTo>
                    <a:pt x="137159" y="273050"/>
                  </a:lnTo>
                  <a:lnTo>
                    <a:pt x="137159" y="204470"/>
                  </a:lnTo>
                  <a:lnTo>
                    <a:pt x="548639" y="204470"/>
                  </a:lnTo>
                  <a:lnTo>
                    <a:pt x="548639" y="68579"/>
                  </a:lnTo>
                  <a:close/>
                </a:path>
              </a:pathLst>
            </a:custGeom>
            <a:ln w="9344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59166" y="1824138"/>
              <a:ext cx="558165" cy="282575"/>
            </a:xfrm>
            <a:custGeom>
              <a:avLst/>
              <a:gdLst/>
              <a:ahLst/>
              <a:cxnLst/>
              <a:rect l="l" t="t" r="r" b="b"/>
              <a:pathLst>
                <a:path w="558165" h="282575">
                  <a:moveTo>
                    <a:pt x="9334" y="4660"/>
                  </a:moveTo>
                  <a:lnTo>
                    <a:pt x="7975" y="1358"/>
                  </a:lnTo>
                  <a:lnTo>
                    <a:pt x="4673" y="0"/>
                  </a:lnTo>
                  <a:lnTo>
                    <a:pt x="1358" y="1358"/>
                  </a:lnTo>
                  <a:lnTo>
                    <a:pt x="0" y="4660"/>
                  </a:lnTo>
                  <a:lnTo>
                    <a:pt x="1358" y="7975"/>
                  </a:lnTo>
                  <a:lnTo>
                    <a:pt x="4673" y="9334"/>
                  </a:lnTo>
                  <a:lnTo>
                    <a:pt x="7975" y="7975"/>
                  </a:lnTo>
                  <a:lnTo>
                    <a:pt x="9334" y="4660"/>
                  </a:lnTo>
                  <a:close/>
                </a:path>
                <a:path w="558165" h="282575">
                  <a:moveTo>
                    <a:pt x="557974" y="277710"/>
                  </a:moveTo>
                  <a:lnTo>
                    <a:pt x="556615" y="274408"/>
                  </a:lnTo>
                  <a:lnTo>
                    <a:pt x="553313" y="273050"/>
                  </a:lnTo>
                  <a:lnTo>
                    <a:pt x="549998" y="274408"/>
                  </a:lnTo>
                  <a:lnTo>
                    <a:pt x="548640" y="277710"/>
                  </a:lnTo>
                  <a:lnTo>
                    <a:pt x="549998" y="281025"/>
                  </a:lnTo>
                  <a:lnTo>
                    <a:pt x="553313" y="282384"/>
                  </a:lnTo>
                  <a:lnTo>
                    <a:pt x="556615" y="281025"/>
                  </a:lnTo>
                  <a:lnTo>
                    <a:pt x="557974" y="27771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402" y="1807838"/>
            <a:ext cx="7311844" cy="47138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6047" y="335123"/>
            <a:ext cx="7728353" cy="466762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1394774">
              <a:spcBef>
                <a:spcPts val="100"/>
              </a:spcBef>
            </a:pPr>
            <a:r>
              <a:rPr dirty="0"/>
              <a:t>This</a:t>
            </a:r>
            <a:r>
              <a:rPr spc="30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game</a:t>
            </a:r>
            <a:r>
              <a:rPr spc="40" dirty="0"/>
              <a:t> </a:t>
            </a:r>
            <a:r>
              <a:rPr dirty="0"/>
              <a:t>tree</a:t>
            </a:r>
            <a:r>
              <a:rPr spc="40" dirty="0"/>
              <a:t> </a:t>
            </a:r>
            <a:r>
              <a:rPr dirty="0"/>
              <a:t>for</a:t>
            </a:r>
            <a:r>
              <a:rPr spc="30" dirty="0"/>
              <a:t> </a:t>
            </a:r>
            <a:r>
              <a:rPr spc="-25" dirty="0"/>
              <a:t>tic-</a:t>
            </a:r>
            <a:r>
              <a:rPr spc="-10" dirty="0"/>
              <a:t>tac-</a:t>
            </a:r>
            <a:r>
              <a:rPr spc="-25" dirty="0"/>
              <a:t>toe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43461" y="1883387"/>
            <a:ext cx="674572" cy="2063619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12668">
              <a:spcBef>
                <a:spcPts val="100"/>
              </a:spcBef>
            </a:pPr>
            <a:r>
              <a:rPr sz="1995" spc="-25" dirty="0">
                <a:latin typeface="Microsoft Sans Serif"/>
                <a:cs typeface="Microsoft Sans Serif"/>
              </a:rPr>
              <a:t>You</a:t>
            </a:r>
            <a:endParaRPr sz="1995">
              <a:latin typeface="Microsoft Sans Serif"/>
              <a:cs typeface="Microsoft Sans Serif"/>
            </a:endParaRPr>
          </a:p>
          <a:p>
            <a:pPr marL="12668" marR="5067">
              <a:lnSpc>
                <a:spcPts val="7182"/>
              </a:lnSpc>
              <a:spcBef>
                <a:spcPts val="130"/>
              </a:spcBef>
            </a:pPr>
            <a:r>
              <a:rPr sz="1995" spc="-20" dirty="0">
                <a:latin typeface="Microsoft Sans Serif"/>
                <a:cs typeface="Microsoft Sans Serif"/>
              </a:rPr>
              <a:t>Them </a:t>
            </a:r>
            <a:r>
              <a:rPr sz="1995" spc="-25" dirty="0">
                <a:latin typeface="Microsoft Sans Serif"/>
                <a:cs typeface="Microsoft Sans Serif"/>
              </a:rPr>
              <a:t>You</a:t>
            </a:r>
            <a:endParaRPr sz="1995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839371" y="1937000"/>
            <a:ext cx="556759" cy="281863"/>
            <a:chOff x="7859167" y="1824127"/>
            <a:chExt cx="558165" cy="282575"/>
          </a:xfrm>
        </p:grpSpPr>
        <p:sp>
          <p:nvSpPr>
            <p:cNvPr id="6" name="object 6"/>
            <p:cNvSpPr/>
            <p:nvPr/>
          </p:nvSpPr>
          <p:spPr>
            <a:xfrm>
              <a:off x="7863839" y="1828799"/>
              <a:ext cx="548640" cy="273050"/>
            </a:xfrm>
            <a:custGeom>
              <a:avLst/>
              <a:gdLst/>
              <a:ahLst/>
              <a:cxnLst/>
              <a:rect l="l" t="t" r="r" b="b"/>
              <a:pathLst>
                <a:path w="548640" h="273050">
                  <a:moveTo>
                    <a:pt x="137159" y="0"/>
                  </a:moveTo>
                  <a:lnTo>
                    <a:pt x="0" y="135889"/>
                  </a:lnTo>
                  <a:lnTo>
                    <a:pt x="137159" y="273050"/>
                  </a:lnTo>
                  <a:lnTo>
                    <a:pt x="137159" y="204470"/>
                  </a:lnTo>
                  <a:lnTo>
                    <a:pt x="548639" y="204470"/>
                  </a:lnTo>
                  <a:lnTo>
                    <a:pt x="548639" y="68579"/>
                  </a:lnTo>
                  <a:lnTo>
                    <a:pt x="137159" y="68579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719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63839" y="1828799"/>
              <a:ext cx="548640" cy="273050"/>
            </a:xfrm>
            <a:custGeom>
              <a:avLst/>
              <a:gdLst/>
              <a:ahLst/>
              <a:cxnLst/>
              <a:rect l="l" t="t" r="r" b="b"/>
              <a:pathLst>
                <a:path w="548640" h="273050">
                  <a:moveTo>
                    <a:pt x="548639" y="68579"/>
                  </a:moveTo>
                  <a:lnTo>
                    <a:pt x="137159" y="68579"/>
                  </a:lnTo>
                  <a:lnTo>
                    <a:pt x="137159" y="0"/>
                  </a:lnTo>
                  <a:lnTo>
                    <a:pt x="0" y="135889"/>
                  </a:lnTo>
                  <a:lnTo>
                    <a:pt x="137159" y="273050"/>
                  </a:lnTo>
                  <a:lnTo>
                    <a:pt x="137159" y="204470"/>
                  </a:lnTo>
                  <a:lnTo>
                    <a:pt x="548639" y="204470"/>
                  </a:lnTo>
                  <a:lnTo>
                    <a:pt x="548639" y="68579"/>
                  </a:lnTo>
                  <a:close/>
                </a:path>
              </a:pathLst>
            </a:custGeom>
            <a:ln w="9344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59166" y="1824138"/>
              <a:ext cx="558165" cy="282575"/>
            </a:xfrm>
            <a:custGeom>
              <a:avLst/>
              <a:gdLst/>
              <a:ahLst/>
              <a:cxnLst/>
              <a:rect l="l" t="t" r="r" b="b"/>
              <a:pathLst>
                <a:path w="558165" h="282575">
                  <a:moveTo>
                    <a:pt x="9334" y="4660"/>
                  </a:moveTo>
                  <a:lnTo>
                    <a:pt x="7975" y="1358"/>
                  </a:lnTo>
                  <a:lnTo>
                    <a:pt x="4673" y="0"/>
                  </a:lnTo>
                  <a:lnTo>
                    <a:pt x="1358" y="1358"/>
                  </a:lnTo>
                  <a:lnTo>
                    <a:pt x="0" y="4660"/>
                  </a:lnTo>
                  <a:lnTo>
                    <a:pt x="1358" y="7975"/>
                  </a:lnTo>
                  <a:lnTo>
                    <a:pt x="4673" y="9334"/>
                  </a:lnTo>
                  <a:lnTo>
                    <a:pt x="7975" y="7975"/>
                  </a:lnTo>
                  <a:lnTo>
                    <a:pt x="9334" y="4660"/>
                  </a:lnTo>
                  <a:close/>
                </a:path>
                <a:path w="558165" h="282575">
                  <a:moveTo>
                    <a:pt x="557974" y="277710"/>
                  </a:moveTo>
                  <a:lnTo>
                    <a:pt x="556615" y="274408"/>
                  </a:lnTo>
                  <a:lnTo>
                    <a:pt x="553313" y="273050"/>
                  </a:lnTo>
                  <a:lnTo>
                    <a:pt x="549998" y="274408"/>
                  </a:lnTo>
                  <a:lnTo>
                    <a:pt x="548640" y="277710"/>
                  </a:lnTo>
                  <a:lnTo>
                    <a:pt x="549998" y="281025"/>
                  </a:lnTo>
                  <a:lnTo>
                    <a:pt x="553313" y="282384"/>
                  </a:lnTo>
                  <a:lnTo>
                    <a:pt x="556615" y="281025"/>
                  </a:lnTo>
                  <a:lnTo>
                    <a:pt x="557974" y="27771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839371" y="2756620"/>
            <a:ext cx="556759" cy="283130"/>
            <a:chOff x="7859167" y="2645817"/>
            <a:chExt cx="558165" cy="283845"/>
          </a:xfrm>
        </p:grpSpPr>
        <p:sp>
          <p:nvSpPr>
            <p:cNvPr id="10" name="object 10"/>
            <p:cNvSpPr/>
            <p:nvPr/>
          </p:nvSpPr>
          <p:spPr>
            <a:xfrm>
              <a:off x="7863839" y="2650490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19">
                  <a:moveTo>
                    <a:pt x="137159" y="0"/>
                  </a:moveTo>
                  <a:lnTo>
                    <a:pt x="0" y="137160"/>
                  </a:lnTo>
                  <a:lnTo>
                    <a:pt x="137159" y="274320"/>
                  </a:lnTo>
                  <a:lnTo>
                    <a:pt x="137159" y="205739"/>
                  </a:lnTo>
                  <a:lnTo>
                    <a:pt x="548639" y="205739"/>
                  </a:lnTo>
                  <a:lnTo>
                    <a:pt x="548639" y="68580"/>
                  </a:lnTo>
                  <a:lnTo>
                    <a:pt x="137159" y="68580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719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63839" y="2650490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19">
                  <a:moveTo>
                    <a:pt x="548639" y="68580"/>
                  </a:moveTo>
                  <a:lnTo>
                    <a:pt x="137159" y="68580"/>
                  </a:lnTo>
                  <a:lnTo>
                    <a:pt x="137159" y="0"/>
                  </a:lnTo>
                  <a:lnTo>
                    <a:pt x="0" y="137160"/>
                  </a:lnTo>
                  <a:lnTo>
                    <a:pt x="137159" y="274320"/>
                  </a:lnTo>
                  <a:lnTo>
                    <a:pt x="137159" y="205739"/>
                  </a:lnTo>
                  <a:lnTo>
                    <a:pt x="548639" y="205739"/>
                  </a:lnTo>
                  <a:lnTo>
                    <a:pt x="548639" y="68580"/>
                  </a:lnTo>
                  <a:close/>
                </a:path>
              </a:pathLst>
            </a:custGeom>
            <a:ln w="9344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59166" y="2645828"/>
              <a:ext cx="558165" cy="283845"/>
            </a:xfrm>
            <a:custGeom>
              <a:avLst/>
              <a:gdLst/>
              <a:ahLst/>
              <a:cxnLst/>
              <a:rect l="l" t="t" r="r" b="b"/>
              <a:pathLst>
                <a:path w="558165" h="283844">
                  <a:moveTo>
                    <a:pt x="9334" y="4660"/>
                  </a:moveTo>
                  <a:lnTo>
                    <a:pt x="7975" y="1358"/>
                  </a:lnTo>
                  <a:lnTo>
                    <a:pt x="4673" y="0"/>
                  </a:lnTo>
                  <a:lnTo>
                    <a:pt x="1358" y="1358"/>
                  </a:lnTo>
                  <a:lnTo>
                    <a:pt x="0" y="4660"/>
                  </a:lnTo>
                  <a:lnTo>
                    <a:pt x="1358" y="7975"/>
                  </a:lnTo>
                  <a:lnTo>
                    <a:pt x="4673" y="9334"/>
                  </a:lnTo>
                  <a:lnTo>
                    <a:pt x="7975" y="7975"/>
                  </a:lnTo>
                  <a:lnTo>
                    <a:pt x="9334" y="4660"/>
                  </a:lnTo>
                  <a:close/>
                </a:path>
                <a:path w="558165" h="283844">
                  <a:moveTo>
                    <a:pt x="557974" y="278980"/>
                  </a:moveTo>
                  <a:lnTo>
                    <a:pt x="556615" y="275678"/>
                  </a:lnTo>
                  <a:lnTo>
                    <a:pt x="553313" y="274320"/>
                  </a:lnTo>
                  <a:lnTo>
                    <a:pt x="549998" y="275678"/>
                  </a:lnTo>
                  <a:lnTo>
                    <a:pt x="548640" y="278980"/>
                  </a:lnTo>
                  <a:lnTo>
                    <a:pt x="549998" y="282295"/>
                  </a:lnTo>
                  <a:lnTo>
                    <a:pt x="553313" y="283654"/>
                  </a:lnTo>
                  <a:lnTo>
                    <a:pt x="556615" y="282295"/>
                  </a:lnTo>
                  <a:lnTo>
                    <a:pt x="557974" y="27898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839371" y="3668717"/>
            <a:ext cx="556759" cy="283130"/>
            <a:chOff x="7859167" y="3560217"/>
            <a:chExt cx="558165" cy="283845"/>
          </a:xfrm>
        </p:grpSpPr>
        <p:sp>
          <p:nvSpPr>
            <p:cNvPr id="14" name="object 14"/>
            <p:cNvSpPr/>
            <p:nvPr/>
          </p:nvSpPr>
          <p:spPr>
            <a:xfrm>
              <a:off x="7863839" y="3564889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20">
                  <a:moveTo>
                    <a:pt x="137159" y="0"/>
                  </a:moveTo>
                  <a:lnTo>
                    <a:pt x="0" y="137160"/>
                  </a:lnTo>
                  <a:lnTo>
                    <a:pt x="137159" y="274320"/>
                  </a:lnTo>
                  <a:lnTo>
                    <a:pt x="137159" y="205739"/>
                  </a:lnTo>
                  <a:lnTo>
                    <a:pt x="548639" y="205739"/>
                  </a:lnTo>
                  <a:lnTo>
                    <a:pt x="548639" y="68580"/>
                  </a:lnTo>
                  <a:lnTo>
                    <a:pt x="137159" y="68580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719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63839" y="3564889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20">
                  <a:moveTo>
                    <a:pt x="548639" y="68580"/>
                  </a:moveTo>
                  <a:lnTo>
                    <a:pt x="137159" y="68580"/>
                  </a:lnTo>
                  <a:lnTo>
                    <a:pt x="137159" y="0"/>
                  </a:lnTo>
                  <a:lnTo>
                    <a:pt x="0" y="137160"/>
                  </a:lnTo>
                  <a:lnTo>
                    <a:pt x="137159" y="274320"/>
                  </a:lnTo>
                  <a:lnTo>
                    <a:pt x="137159" y="205739"/>
                  </a:lnTo>
                  <a:lnTo>
                    <a:pt x="548639" y="205739"/>
                  </a:lnTo>
                  <a:lnTo>
                    <a:pt x="548639" y="68580"/>
                  </a:lnTo>
                  <a:close/>
                </a:path>
              </a:pathLst>
            </a:custGeom>
            <a:ln w="9344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59166" y="3560228"/>
              <a:ext cx="558165" cy="283845"/>
            </a:xfrm>
            <a:custGeom>
              <a:avLst/>
              <a:gdLst/>
              <a:ahLst/>
              <a:cxnLst/>
              <a:rect l="l" t="t" r="r" b="b"/>
              <a:pathLst>
                <a:path w="558165" h="283845">
                  <a:moveTo>
                    <a:pt x="9334" y="4660"/>
                  </a:moveTo>
                  <a:lnTo>
                    <a:pt x="7975" y="1358"/>
                  </a:lnTo>
                  <a:lnTo>
                    <a:pt x="4673" y="0"/>
                  </a:lnTo>
                  <a:lnTo>
                    <a:pt x="1358" y="1358"/>
                  </a:lnTo>
                  <a:lnTo>
                    <a:pt x="0" y="4660"/>
                  </a:lnTo>
                  <a:lnTo>
                    <a:pt x="1358" y="7975"/>
                  </a:lnTo>
                  <a:lnTo>
                    <a:pt x="4673" y="9334"/>
                  </a:lnTo>
                  <a:lnTo>
                    <a:pt x="7975" y="7975"/>
                  </a:lnTo>
                  <a:lnTo>
                    <a:pt x="9334" y="4660"/>
                  </a:lnTo>
                  <a:close/>
                </a:path>
                <a:path w="558165" h="283845">
                  <a:moveTo>
                    <a:pt x="557974" y="278980"/>
                  </a:moveTo>
                  <a:lnTo>
                    <a:pt x="556615" y="275678"/>
                  </a:lnTo>
                  <a:lnTo>
                    <a:pt x="553313" y="274320"/>
                  </a:lnTo>
                  <a:lnTo>
                    <a:pt x="549998" y="275678"/>
                  </a:lnTo>
                  <a:lnTo>
                    <a:pt x="548640" y="278980"/>
                  </a:lnTo>
                  <a:lnTo>
                    <a:pt x="549998" y="282295"/>
                  </a:lnTo>
                  <a:lnTo>
                    <a:pt x="553313" y="283654"/>
                  </a:lnTo>
                  <a:lnTo>
                    <a:pt x="556615" y="282295"/>
                  </a:lnTo>
                  <a:lnTo>
                    <a:pt x="557974" y="27898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402" y="1807838"/>
            <a:ext cx="7311844" cy="47138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3960" y="152400"/>
            <a:ext cx="8237639" cy="466762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1394774">
              <a:spcBef>
                <a:spcPts val="100"/>
              </a:spcBef>
            </a:pPr>
            <a:r>
              <a:rPr dirty="0"/>
              <a:t>This</a:t>
            </a:r>
            <a:r>
              <a:rPr spc="30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game</a:t>
            </a:r>
            <a:r>
              <a:rPr spc="40" dirty="0"/>
              <a:t> </a:t>
            </a:r>
            <a:r>
              <a:rPr dirty="0"/>
              <a:t>tree</a:t>
            </a:r>
            <a:r>
              <a:rPr spc="40" dirty="0"/>
              <a:t> </a:t>
            </a:r>
            <a:r>
              <a:rPr dirty="0"/>
              <a:t>for</a:t>
            </a:r>
            <a:r>
              <a:rPr spc="30" dirty="0"/>
              <a:t> </a:t>
            </a:r>
            <a:r>
              <a:rPr spc="-25" dirty="0"/>
              <a:t>tic-</a:t>
            </a:r>
            <a:r>
              <a:rPr spc="-10" dirty="0"/>
              <a:t>tac-</a:t>
            </a:r>
            <a:r>
              <a:rPr spc="-25" dirty="0"/>
              <a:t>toe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43461" y="1883386"/>
            <a:ext cx="674572" cy="2683831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12668">
              <a:spcBef>
                <a:spcPts val="100"/>
              </a:spcBef>
            </a:pPr>
            <a:r>
              <a:rPr sz="1995" spc="-25" dirty="0">
                <a:latin typeface="Microsoft Sans Serif"/>
                <a:cs typeface="Microsoft Sans Serif"/>
              </a:rPr>
              <a:t>You</a:t>
            </a:r>
            <a:endParaRPr sz="1995">
              <a:latin typeface="Microsoft Sans Serif"/>
              <a:cs typeface="Microsoft Sans Serif"/>
            </a:endParaRPr>
          </a:p>
          <a:p>
            <a:pPr>
              <a:spcBef>
                <a:spcPts val="1820"/>
              </a:spcBef>
            </a:pPr>
            <a:endParaRPr sz="1995">
              <a:latin typeface="Microsoft Sans Serif"/>
              <a:cs typeface="Microsoft Sans Serif"/>
            </a:endParaRPr>
          </a:p>
          <a:p>
            <a:pPr marL="12668"/>
            <a:r>
              <a:rPr sz="1995" spc="-20" dirty="0">
                <a:latin typeface="Microsoft Sans Serif"/>
                <a:cs typeface="Microsoft Sans Serif"/>
              </a:rPr>
              <a:t>Them</a:t>
            </a:r>
            <a:endParaRPr sz="1995">
              <a:latin typeface="Microsoft Sans Serif"/>
              <a:cs typeface="Microsoft Sans Serif"/>
            </a:endParaRPr>
          </a:p>
          <a:p>
            <a:pPr marL="12668" marR="5067">
              <a:lnSpc>
                <a:spcPct val="240400"/>
              </a:lnSpc>
              <a:spcBef>
                <a:spcPts val="1426"/>
              </a:spcBef>
            </a:pPr>
            <a:r>
              <a:rPr sz="1995" spc="-25" dirty="0">
                <a:latin typeface="Microsoft Sans Serif"/>
                <a:cs typeface="Microsoft Sans Serif"/>
              </a:rPr>
              <a:t>You </a:t>
            </a:r>
            <a:r>
              <a:rPr sz="1995" spc="-20" dirty="0">
                <a:latin typeface="Microsoft Sans Serif"/>
                <a:cs typeface="Microsoft Sans Serif"/>
              </a:rPr>
              <a:t>Them</a:t>
            </a:r>
            <a:endParaRPr sz="1995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839371" y="1937000"/>
            <a:ext cx="556759" cy="281863"/>
            <a:chOff x="7859167" y="1824127"/>
            <a:chExt cx="558165" cy="282575"/>
          </a:xfrm>
        </p:grpSpPr>
        <p:sp>
          <p:nvSpPr>
            <p:cNvPr id="6" name="object 6"/>
            <p:cNvSpPr/>
            <p:nvPr/>
          </p:nvSpPr>
          <p:spPr>
            <a:xfrm>
              <a:off x="7863839" y="1828799"/>
              <a:ext cx="548640" cy="273050"/>
            </a:xfrm>
            <a:custGeom>
              <a:avLst/>
              <a:gdLst/>
              <a:ahLst/>
              <a:cxnLst/>
              <a:rect l="l" t="t" r="r" b="b"/>
              <a:pathLst>
                <a:path w="548640" h="273050">
                  <a:moveTo>
                    <a:pt x="137159" y="0"/>
                  </a:moveTo>
                  <a:lnTo>
                    <a:pt x="0" y="135889"/>
                  </a:lnTo>
                  <a:lnTo>
                    <a:pt x="137159" y="273050"/>
                  </a:lnTo>
                  <a:lnTo>
                    <a:pt x="137159" y="204470"/>
                  </a:lnTo>
                  <a:lnTo>
                    <a:pt x="548639" y="204470"/>
                  </a:lnTo>
                  <a:lnTo>
                    <a:pt x="548639" y="68579"/>
                  </a:lnTo>
                  <a:lnTo>
                    <a:pt x="137159" y="68579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719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63839" y="1828799"/>
              <a:ext cx="548640" cy="273050"/>
            </a:xfrm>
            <a:custGeom>
              <a:avLst/>
              <a:gdLst/>
              <a:ahLst/>
              <a:cxnLst/>
              <a:rect l="l" t="t" r="r" b="b"/>
              <a:pathLst>
                <a:path w="548640" h="273050">
                  <a:moveTo>
                    <a:pt x="548639" y="68579"/>
                  </a:moveTo>
                  <a:lnTo>
                    <a:pt x="137159" y="68579"/>
                  </a:lnTo>
                  <a:lnTo>
                    <a:pt x="137159" y="0"/>
                  </a:lnTo>
                  <a:lnTo>
                    <a:pt x="0" y="135889"/>
                  </a:lnTo>
                  <a:lnTo>
                    <a:pt x="137159" y="273050"/>
                  </a:lnTo>
                  <a:lnTo>
                    <a:pt x="137159" y="204470"/>
                  </a:lnTo>
                  <a:lnTo>
                    <a:pt x="548639" y="204470"/>
                  </a:lnTo>
                  <a:lnTo>
                    <a:pt x="548639" y="68579"/>
                  </a:lnTo>
                  <a:close/>
                </a:path>
              </a:pathLst>
            </a:custGeom>
            <a:ln w="9344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59166" y="1824138"/>
              <a:ext cx="558165" cy="282575"/>
            </a:xfrm>
            <a:custGeom>
              <a:avLst/>
              <a:gdLst/>
              <a:ahLst/>
              <a:cxnLst/>
              <a:rect l="l" t="t" r="r" b="b"/>
              <a:pathLst>
                <a:path w="558165" h="282575">
                  <a:moveTo>
                    <a:pt x="9334" y="4660"/>
                  </a:moveTo>
                  <a:lnTo>
                    <a:pt x="7975" y="1358"/>
                  </a:lnTo>
                  <a:lnTo>
                    <a:pt x="4673" y="0"/>
                  </a:lnTo>
                  <a:lnTo>
                    <a:pt x="1358" y="1358"/>
                  </a:lnTo>
                  <a:lnTo>
                    <a:pt x="0" y="4660"/>
                  </a:lnTo>
                  <a:lnTo>
                    <a:pt x="1358" y="7975"/>
                  </a:lnTo>
                  <a:lnTo>
                    <a:pt x="4673" y="9334"/>
                  </a:lnTo>
                  <a:lnTo>
                    <a:pt x="7975" y="7975"/>
                  </a:lnTo>
                  <a:lnTo>
                    <a:pt x="9334" y="4660"/>
                  </a:lnTo>
                  <a:close/>
                </a:path>
                <a:path w="558165" h="282575">
                  <a:moveTo>
                    <a:pt x="557974" y="277710"/>
                  </a:moveTo>
                  <a:lnTo>
                    <a:pt x="556615" y="274408"/>
                  </a:lnTo>
                  <a:lnTo>
                    <a:pt x="553313" y="273050"/>
                  </a:lnTo>
                  <a:lnTo>
                    <a:pt x="549998" y="274408"/>
                  </a:lnTo>
                  <a:lnTo>
                    <a:pt x="548640" y="277710"/>
                  </a:lnTo>
                  <a:lnTo>
                    <a:pt x="549998" y="281025"/>
                  </a:lnTo>
                  <a:lnTo>
                    <a:pt x="553313" y="282384"/>
                  </a:lnTo>
                  <a:lnTo>
                    <a:pt x="556615" y="281025"/>
                  </a:lnTo>
                  <a:lnTo>
                    <a:pt x="557974" y="27771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839371" y="2756620"/>
            <a:ext cx="556759" cy="283130"/>
            <a:chOff x="7859167" y="2645817"/>
            <a:chExt cx="558165" cy="283845"/>
          </a:xfrm>
        </p:grpSpPr>
        <p:sp>
          <p:nvSpPr>
            <p:cNvPr id="10" name="object 10"/>
            <p:cNvSpPr/>
            <p:nvPr/>
          </p:nvSpPr>
          <p:spPr>
            <a:xfrm>
              <a:off x="7863839" y="2650490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19">
                  <a:moveTo>
                    <a:pt x="137159" y="0"/>
                  </a:moveTo>
                  <a:lnTo>
                    <a:pt x="0" y="137160"/>
                  </a:lnTo>
                  <a:lnTo>
                    <a:pt x="137159" y="274320"/>
                  </a:lnTo>
                  <a:lnTo>
                    <a:pt x="137159" y="205739"/>
                  </a:lnTo>
                  <a:lnTo>
                    <a:pt x="548639" y="205739"/>
                  </a:lnTo>
                  <a:lnTo>
                    <a:pt x="548639" y="68580"/>
                  </a:lnTo>
                  <a:lnTo>
                    <a:pt x="137159" y="68580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719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63839" y="2650490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19">
                  <a:moveTo>
                    <a:pt x="548639" y="68580"/>
                  </a:moveTo>
                  <a:lnTo>
                    <a:pt x="137159" y="68580"/>
                  </a:lnTo>
                  <a:lnTo>
                    <a:pt x="137159" y="0"/>
                  </a:lnTo>
                  <a:lnTo>
                    <a:pt x="0" y="137160"/>
                  </a:lnTo>
                  <a:lnTo>
                    <a:pt x="137159" y="274320"/>
                  </a:lnTo>
                  <a:lnTo>
                    <a:pt x="137159" y="205739"/>
                  </a:lnTo>
                  <a:lnTo>
                    <a:pt x="548639" y="205739"/>
                  </a:lnTo>
                  <a:lnTo>
                    <a:pt x="548639" y="68580"/>
                  </a:lnTo>
                  <a:close/>
                </a:path>
              </a:pathLst>
            </a:custGeom>
            <a:ln w="9344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59166" y="2645828"/>
              <a:ext cx="558165" cy="283845"/>
            </a:xfrm>
            <a:custGeom>
              <a:avLst/>
              <a:gdLst/>
              <a:ahLst/>
              <a:cxnLst/>
              <a:rect l="l" t="t" r="r" b="b"/>
              <a:pathLst>
                <a:path w="558165" h="283844">
                  <a:moveTo>
                    <a:pt x="9334" y="4660"/>
                  </a:moveTo>
                  <a:lnTo>
                    <a:pt x="7975" y="1358"/>
                  </a:lnTo>
                  <a:lnTo>
                    <a:pt x="4673" y="0"/>
                  </a:lnTo>
                  <a:lnTo>
                    <a:pt x="1358" y="1358"/>
                  </a:lnTo>
                  <a:lnTo>
                    <a:pt x="0" y="4660"/>
                  </a:lnTo>
                  <a:lnTo>
                    <a:pt x="1358" y="7975"/>
                  </a:lnTo>
                  <a:lnTo>
                    <a:pt x="4673" y="9334"/>
                  </a:lnTo>
                  <a:lnTo>
                    <a:pt x="7975" y="7975"/>
                  </a:lnTo>
                  <a:lnTo>
                    <a:pt x="9334" y="4660"/>
                  </a:lnTo>
                  <a:close/>
                </a:path>
                <a:path w="558165" h="283844">
                  <a:moveTo>
                    <a:pt x="557974" y="278980"/>
                  </a:moveTo>
                  <a:lnTo>
                    <a:pt x="556615" y="275678"/>
                  </a:lnTo>
                  <a:lnTo>
                    <a:pt x="553313" y="274320"/>
                  </a:lnTo>
                  <a:lnTo>
                    <a:pt x="549998" y="275678"/>
                  </a:lnTo>
                  <a:lnTo>
                    <a:pt x="548640" y="278980"/>
                  </a:lnTo>
                  <a:lnTo>
                    <a:pt x="549998" y="282295"/>
                  </a:lnTo>
                  <a:lnTo>
                    <a:pt x="553313" y="283654"/>
                  </a:lnTo>
                  <a:lnTo>
                    <a:pt x="556615" y="282295"/>
                  </a:lnTo>
                  <a:lnTo>
                    <a:pt x="557974" y="27898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839371" y="4398394"/>
            <a:ext cx="556759" cy="283130"/>
            <a:chOff x="7859167" y="4291737"/>
            <a:chExt cx="558165" cy="283845"/>
          </a:xfrm>
        </p:grpSpPr>
        <p:sp>
          <p:nvSpPr>
            <p:cNvPr id="14" name="object 14"/>
            <p:cNvSpPr/>
            <p:nvPr/>
          </p:nvSpPr>
          <p:spPr>
            <a:xfrm>
              <a:off x="7863839" y="4296409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20">
                  <a:moveTo>
                    <a:pt x="137159" y="0"/>
                  </a:moveTo>
                  <a:lnTo>
                    <a:pt x="0" y="137159"/>
                  </a:lnTo>
                  <a:lnTo>
                    <a:pt x="137159" y="274319"/>
                  </a:lnTo>
                  <a:lnTo>
                    <a:pt x="137159" y="205739"/>
                  </a:lnTo>
                  <a:lnTo>
                    <a:pt x="548639" y="205739"/>
                  </a:lnTo>
                  <a:lnTo>
                    <a:pt x="548639" y="68579"/>
                  </a:lnTo>
                  <a:lnTo>
                    <a:pt x="137159" y="68579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719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63839" y="4296409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20">
                  <a:moveTo>
                    <a:pt x="548639" y="68579"/>
                  </a:moveTo>
                  <a:lnTo>
                    <a:pt x="137159" y="68579"/>
                  </a:lnTo>
                  <a:lnTo>
                    <a:pt x="137159" y="0"/>
                  </a:lnTo>
                  <a:lnTo>
                    <a:pt x="0" y="137159"/>
                  </a:lnTo>
                  <a:lnTo>
                    <a:pt x="137159" y="274319"/>
                  </a:lnTo>
                  <a:lnTo>
                    <a:pt x="137159" y="205739"/>
                  </a:lnTo>
                  <a:lnTo>
                    <a:pt x="548639" y="205739"/>
                  </a:lnTo>
                  <a:lnTo>
                    <a:pt x="548639" y="68579"/>
                  </a:lnTo>
                  <a:close/>
                </a:path>
              </a:pathLst>
            </a:custGeom>
            <a:ln w="9344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59166" y="4291748"/>
              <a:ext cx="558165" cy="283845"/>
            </a:xfrm>
            <a:custGeom>
              <a:avLst/>
              <a:gdLst/>
              <a:ahLst/>
              <a:cxnLst/>
              <a:rect l="l" t="t" r="r" b="b"/>
              <a:pathLst>
                <a:path w="558165" h="283845">
                  <a:moveTo>
                    <a:pt x="9334" y="4660"/>
                  </a:moveTo>
                  <a:lnTo>
                    <a:pt x="7975" y="1358"/>
                  </a:lnTo>
                  <a:lnTo>
                    <a:pt x="4673" y="0"/>
                  </a:lnTo>
                  <a:lnTo>
                    <a:pt x="1358" y="1358"/>
                  </a:lnTo>
                  <a:lnTo>
                    <a:pt x="0" y="4660"/>
                  </a:lnTo>
                  <a:lnTo>
                    <a:pt x="1358" y="7975"/>
                  </a:lnTo>
                  <a:lnTo>
                    <a:pt x="4673" y="9334"/>
                  </a:lnTo>
                  <a:lnTo>
                    <a:pt x="7975" y="7975"/>
                  </a:lnTo>
                  <a:lnTo>
                    <a:pt x="9334" y="4660"/>
                  </a:lnTo>
                  <a:close/>
                </a:path>
                <a:path w="558165" h="283845">
                  <a:moveTo>
                    <a:pt x="557974" y="278980"/>
                  </a:moveTo>
                  <a:lnTo>
                    <a:pt x="556615" y="275678"/>
                  </a:lnTo>
                  <a:lnTo>
                    <a:pt x="553313" y="274320"/>
                  </a:lnTo>
                  <a:lnTo>
                    <a:pt x="549998" y="275678"/>
                  </a:lnTo>
                  <a:lnTo>
                    <a:pt x="548640" y="278980"/>
                  </a:lnTo>
                  <a:lnTo>
                    <a:pt x="549998" y="282295"/>
                  </a:lnTo>
                  <a:lnTo>
                    <a:pt x="553313" y="283654"/>
                  </a:lnTo>
                  <a:lnTo>
                    <a:pt x="556615" y="282295"/>
                  </a:lnTo>
                  <a:lnTo>
                    <a:pt x="557974" y="27898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839371" y="3668717"/>
            <a:ext cx="556759" cy="283130"/>
            <a:chOff x="7859167" y="3560217"/>
            <a:chExt cx="558165" cy="283845"/>
          </a:xfrm>
        </p:grpSpPr>
        <p:sp>
          <p:nvSpPr>
            <p:cNvPr id="18" name="object 18"/>
            <p:cNvSpPr/>
            <p:nvPr/>
          </p:nvSpPr>
          <p:spPr>
            <a:xfrm>
              <a:off x="7863839" y="3564889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20">
                  <a:moveTo>
                    <a:pt x="137159" y="0"/>
                  </a:moveTo>
                  <a:lnTo>
                    <a:pt x="0" y="137160"/>
                  </a:lnTo>
                  <a:lnTo>
                    <a:pt x="137159" y="274320"/>
                  </a:lnTo>
                  <a:lnTo>
                    <a:pt x="137159" y="205739"/>
                  </a:lnTo>
                  <a:lnTo>
                    <a:pt x="548639" y="205739"/>
                  </a:lnTo>
                  <a:lnTo>
                    <a:pt x="548639" y="68580"/>
                  </a:lnTo>
                  <a:lnTo>
                    <a:pt x="137159" y="68580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719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63839" y="3564889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20">
                  <a:moveTo>
                    <a:pt x="548639" y="68580"/>
                  </a:moveTo>
                  <a:lnTo>
                    <a:pt x="137159" y="68580"/>
                  </a:lnTo>
                  <a:lnTo>
                    <a:pt x="137159" y="0"/>
                  </a:lnTo>
                  <a:lnTo>
                    <a:pt x="0" y="137160"/>
                  </a:lnTo>
                  <a:lnTo>
                    <a:pt x="137159" y="274320"/>
                  </a:lnTo>
                  <a:lnTo>
                    <a:pt x="137159" y="205739"/>
                  </a:lnTo>
                  <a:lnTo>
                    <a:pt x="548639" y="205739"/>
                  </a:lnTo>
                  <a:lnTo>
                    <a:pt x="548639" y="68580"/>
                  </a:lnTo>
                  <a:close/>
                </a:path>
              </a:pathLst>
            </a:custGeom>
            <a:ln w="9344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59166" y="3560228"/>
              <a:ext cx="558165" cy="283845"/>
            </a:xfrm>
            <a:custGeom>
              <a:avLst/>
              <a:gdLst/>
              <a:ahLst/>
              <a:cxnLst/>
              <a:rect l="l" t="t" r="r" b="b"/>
              <a:pathLst>
                <a:path w="558165" h="283845">
                  <a:moveTo>
                    <a:pt x="9334" y="4660"/>
                  </a:moveTo>
                  <a:lnTo>
                    <a:pt x="7975" y="1358"/>
                  </a:lnTo>
                  <a:lnTo>
                    <a:pt x="4673" y="0"/>
                  </a:lnTo>
                  <a:lnTo>
                    <a:pt x="1358" y="1358"/>
                  </a:lnTo>
                  <a:lnTo>
                    <a:pt x="0" y="4660"/>
                  </a:lnTo>
                  <a:lnTo>
                    <a:pt x="1358" y="7975"/>
                  </a:lnTo>
                  <a:lnTo>
                    <a:pt x="4673" y="9334"/>
                  </a:lnTo>
                  <a:lnTo>
                    <a:pt x="7975" y="7975"/>
                  </a:lnTo>
                  <a:lnTo>
                    <a:pt x="9334" y="4660"/>
                  </a:lnTo>
                  <a:close/>
                </a:path>
                <a:path w="558165" h="283845">
                  <a:moveTo>
                    <a:pt x="557974" y="278980"/>
                  </a:moveTo>
                  <a:lnTo>
                    <a:pt x="556615" y="275678"/>
                  </a:lnTo>
                  <a:lnTo>
                    <a:pt x="553313" y="274320"/>
                  </a:lnTo>
                  <a:lnTo>
                    <a:pt x="549998" y="275678"/>
                  </a:lnTo>
                  <a:lnTo>
                    <a:pt x="548640" y="278980"/>
                  </a:lnTo>
                  <a:lnTo>
                    <a:pt x="549998" y="282295"/>
                  </a:lnTo>
                  <a:lnTo>
                    <a:pt x="553313" y="283654"/>
                  </a:lnTo>
                  <a:lnTo>
                    <a:pt x="556615" y="282295"/>
                  </a:lnTo>
                  <a:lnTo>
                    <a:pt x="557974" y="27898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743461" y="5897879"/>
            <a:ext cx="644168" cy="329368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12668">
              <a:spcBef>
                <a:spcPts val="100"/>
              </a:spcBef>
            </a:pPr>
            <a:r>
              <a:rPr sz="1995" spc="-10" dirty="0">
                <a:latin typeface="Microsoft Sans Serif"/>
                <a:cs typeface="Microsoft Sans Serif"/>
              </a:rPr>
              <a:t>Utility</a:t>
            </a:r>
            <a:endParaRPr sz="1995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839371" y="5948959"/>
            <a:ext cx="556759" cy="283130"/>
            <a:chOff x="7859167" y="5846217"/>
            <a:chExt cx="558165" cy="283845"/>
          </a:xfrm>
        </p:grpSpPr>
        <p:sp>
          <p:nvSpPr>
            <p:cNvPr id="23" name="object 23"/>
            <p:cNvSpPr/>
            <p:nvPr/>
          </p:nvSpPr>
          <p:spPr>
            <a:xfrm>
              <a:off x="7863839" y="5850889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20">
                  <a:moveTo>
                    <a:pt x="137159" y="0"/>
                  </a:moveTo>
                  <a:lnTo>
                    <a:pt x="0" y="137160"/>
                  </a:lnTo>
                  <a:lnTo>
                    <a:pt x="137159" y="274320"/>
                  </a:lnTo>
                  <a:lnTo>
                    <a:pt x="137159" y="205740"/>
                  </a:lnTo>
                  <a:lnTo>
                    <a:pt x="548639" y="205740"/>
                  </a:lnTo>
                  <a:lnTo>
                    <a:pt x="548639" y="68580"/>
                  </a:lnTo>
                  <a:lnTo>
                    <a:pt x="137159" y="68580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719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863839" y="5850889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20">
                  <a:moveTo>
                    <a:pt x="548639" y="68580"/>
                  </a:moveTo>
                  <a:lnTo>
                    <a:pt x="137159" y="68580"/>
                  </a:lnTo>
                  <a:lnTo>
                    <a:pt x="137159" y="0"/>
                  </a:lnTo>
                  <a:lnTo>
                    <a:pt x="0" y="137160"/>
                  </a:lnTo>
                  <a:lnTo>
                    <a:pt x="137159" y="274320"/>
                  </a:lnTo>
                  <a:lnTo>
                    <a:pt x="137159" y="205740"/>
                  </a:lnTo>
                  <a:lnTo>
                    <a:pt x="548639" y="205740"/>
                  </a:lnTo>
                  <a:lnTo>
                    <a:pt x="548639" y="68580"/>
                  </a:lnTo>
                  <a:close/>
                </a:path>
              </a:pathLst>
            </a:custGeom>
            <a:ln w="9344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859166" y="5846228"/>
              <a:ext cx="558165" cy="283845"/>
            </a:xfrm>
            <a:custGeom>
              <a:avLst/>
              <a:gdLst/>
              <a:ahLst/>
              <a:cxnLst/>
              <a:rect l="l" t="t" r="r" b="b"/>
              <a:pathLst>
                <a:path w="558165" h="283845">
                  <a:moveTo>
                    <a:pt x="9334" y="4660"/>
                  </a:moveTo>
                  <a:lnTo>
                    <a:pt x="7975" y="1358"/>
                  </a:lnTo>
                  <a:lnTo>
                    <a:pt x="4673" y="0"/>
                  </a:lnTo>
                  <a:lnTo>
                    <a:pt x="1358" y="1358"/>
                  </a:lnTo>
                  <a:lnTo>
                    <a:pt x="0" y="4660"/>
                  </a:lnTo>
                  <a:lnTo>
                    <a:pt x="1358" y="7975"/>
                  </a:lnTo>
                  <a:lnTo>
                    <a:pt x="4673" y="9334"/>
                  </a:lnTo>
                  <a:lnTo>
                    <a:pt x="7975" y="7975"/>
                  </a:lnTo>
                  <a:lnTo>
                    <a:pt x="9334" y="4660"/>
                  </a:lnTo>
                  <a:close/>
                </a:path>
                <a:path w="558165" h="283845">
                  <a:moveTo>
                    <a:pt x="557974" y="278980"/>
                  </a:moveTo>
                  <a:lnTo>
                    <a:pt x="556615" y="275678"/>
                  </a:lnTo>
                  <a:lnTo>
                    <a:pt x="553313" y="274320"/>
                  </a:lnTo>
                  <a:lnTo>
                    <a:pt x="549998" y="275678"/>
                  </a:lnTo>
                  <a:lnTo>
                    <a:pt x="548640" y="278980"/>
                  </a:lnTo>
                  <a:lnTo>
                    <a:pt x="549998" y="282295"/>
                  </a:lnTo>
                  <a:lnTo>
                    <a:pt x="553313" y="283654"/>
                  </a:lnTo>
                  <a:lnTo>
                    <a:pt x="556615" y="282295"/>
                  </a:lnTo>
                  <a:lnTo>
                    <a:pt x="557974" y="27898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260658" y="179934"/>
            <a:ext cx="6843285" cy="465618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2762945">
              <a:spcBef>
                <a:spcPts val="100"/>
              </a:spcBef>
            </a:pPr>
            <a:r>
              <a:rPr dirty="0"/>
              <a:t>What</a:t>
            </a:r>
            <a:r>
              <a:rPr spc="1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-10" dirty="0"/>
              <a:t>Minimax?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9832" y="968757"/>
            <a:ext cx="4462307" cy="1292137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12668">
              <a:lnSpc>
                <a:spcPts val="2539"/>
              </a:lnSpc>
              <a:spcBef>
                <a:spcPts val="100"/>
              </a:spcBef>
            </a:pPr>
            <a:r>
              <a:rPr sz="2195" dirty="0">
                <a:latin typeface="Microsoft Sans Serif"/>
                <a:cs typeface="Microsoft Sans Serif"/>
              </a:rPr>
              <a:t>Consider</a:t>
            </a:r>
            <a:r>
              <a:rPr sz="2195" spc="-50" dirty="0">
                <a:latin typeface="Microsoft Sans Serif"/>
                <a:cs typeface="Microsoft Sans Serif"/>
              </a:rPr>
              <a:t> </a:t>
            </a:r>
            <a:r>
              <a:rPr sz="2195" dirty="0">
                <a:latin typeface="Microsoft Sans Serif"/>
                <a:cs typeface="Microsoft Sans Serif"/>
              </a:rPr>
              <a:t>a</a:t>
            </a:r>
            <a:r>
              <a:rPr sz="2195" spc="-40" dirty="0">
                <a:latin typeface="Microsoft Sans Serif"/>
                <a:cs typeface="Microsoft Sans Serif"/>
              </a:rPr>
              <a:t> </a:t>
            </a:r>
            <a:r>
              <a:rPr sz="2195" dirty="0">
                <a:latin typeface="Microsoft Sans Serif"/>
                <a:cs typeface="Microsoft Sans Serif"/>
              </a:rPr>
              <a:t>simple</a:t>
            </a:r>
            <a:r>
              <a:rPr sz="2195" spc="-45" dirty="0">
                <a:latin typeface="Microsoft Sans Serif"/>
                <a:cs typeface="Microsoft Sans Serif"/>
              </a:rPr>
              <a:t> </a:t>
            </a:r>
            <a:r>
              <a:rPr sz="2195" spc="-20" dirty="0">
                <a:latin typeface="Microsoft Sans Serif"/>
                <a:cs typeface="Microsoft Sans Serif"/>
              </a:rPr>
              <a:t>game:</a:t>
            </a:r>
            <a:endParaRPr sz="2195" dirty="0">
              <a:latin typeface="Microsoft Sans Serif"/>
              <a:cs typeface="Microsoft Sans Serif"/>
            </a:endParaRPr>
          </a:p>
          <a:p>
            <a:pPr marL="777831" indent="-309105">
              <a:lnSpc>
                <a:spcPts val="2444"/>
              </a:lnSpc>
              <a:buAutoNum type="arabicPeriod"/>
              <a:tabLst>
                <a:tab pos="777831" algn="l"/>
              </a:tabLst>
            </a:pPr>
            <a:r>
              <a:rPr sz="2195" dirty="0">
                <a:latin typeface="Microsoft Sans Serif"/>
                <a:cs typeface="Microsoft Sans Serif"/>
              </a:rPr>
              <a:t>you</a:t>
            </a:r>
            <a:r>
              <a:rPr sz="2195" spc="-5" dirty="0">
                <a:latin typeface="Microsoft Sans Serif"/>
                <a:cs typeface="Microsoft Sans Serif"/>
              </a:rPr>
              <a:t> </a:t>
            </a:r>
            <a:r>
              <a:rPr sz="2195" dirty="0">
                <a:latin typeface="Microsoft Sans Serif"/>
                <a:cs typeface="Microsoft Sans Serif"/>
              </a:rPr>
              <a:t>make</a:t>
            </a:r>
            <a:r>
              <a:rPr sz="2195" spc="-10" dirty="0">
                <a:latin typeface="Microsoft Sans Serif"/>
                <a:cs typeface="Microsoft Sans Serif"/>
              </a:rPr>
              <a:t> </a:t>
            </a:r>
            <a:r>
              <a:rPr sz="2195" dirty="0">
                <a:latin typeface="Microsoft Sans Serif"/>
                <a:cs typeface="Microsoft Sans Serif"/>
              </a:rPr>
              <a:t>a</a:t>
            </a:r>
            <a:r>
              <a:rPr sz="2195" spc="-5" dirty="0">
                <a:latin typeface="Microsoft Sans Serif"/>
                <a:cs typeface="Microsoft Sans Serif"/>
              </a:rPr>
              <a:t> </a:t>
            </a:r>
            <a:r>
              <a:rPr sz="2195" spc="-20" dirty="0">
                <a:latin typeface="Microsoft Sans Serif"/>
                <a:cs typeface="Microsoft Sans Serif"/>
              </a:rPr>
              <a:t>move</a:t>
            </a:r>
            <a:endParaRPr sz="2195" dirty="0">
              <a:latin typeface="Microsoft Sans Serif"/>
              <a:cs typeface="Microsoft Sans Serif"/>
            </a:endParaRPr>
          </a:p>
          <a:p>
            <a:pPr marL="777831" indent="-309105">
              <a:lnSpc>
                <a:spcPts val="2449"/>
              </a:lnSpc>
              <a:buAutoNum type="arabicPeriod"/>
              <a:tabLst>
                <a:tab pos="777831" algn="l"/>
              </a:tabLst>
            </a:pPr>
            <a:r>
              <a:rPr sz="2195" dirty="0">
                <a:latin typeface="Microsoft Sans Serif"/>
                <a:cs typeface="Microsoft Sans Serif"/>
              </a:rPr>
              <a:t>your</a:t>
            </a:r>
            <a:r>
              <a:rPr sz="2195" spc="-35" dirty="0">
                <a:latin typeface="Microsoft Sans Serif"/>
                <a:cs typeface="Microsoft Sans Serif"/>
              </a:rPr>
              <a:t> </a:t>
            </a:r>
            <a:r>
              <a:rPr sz="2195" dirty="0">
                <a:latin typeface="Microsoft Sans Serif"/>
                <a:cs typeface="Microsoft Sans Serif"/>
              </a:rPr>
              <a:t>opponent</a:t>
            </a:r>
            <a:r>
              <a:rPr sz="2195" spc="-35" dirty="0">
                <a:latin typeface="Microsoft Sans Serif"/>
                <a:cs typeface="Microsoft Sans Serif"/>
              </a:rPr>
              <a:t> </a:t>
            </a:r>
            <a:r>
              <a:rPr sz="2195" dirty="0">
                <a:latin typeface="Microsoft Sans Serif"/>
                <a:cs typeface="Microsoft Sans Serif"/>
              </a:rPr>
              <a:t>makes</a:t>
            </a:r>
            <a:r>
              <a:rPr sz="2195" spc="-30" dirty="0">
                <a:latin typeface="Microsoft Sans Serif"/>
                <a:cs typeface="Microsoft Sans Serif"/>
              </a:rPr>
              <a:t> </a:t>
            </a:r>
            <a:r>
              <a:rPr sz="2195" dirty="0">
                <a:latin typeface="Microsoft Sans Serif"/>
                <a:cs typeface="Microsoft Sans Serif"/>
              </a:rPr>
              <a:t>a</a:t>
            </a:r>
            <a:r>
              <a:rPr sz="2195" spc="-35" dirty="0">
                <a:latin typeface="Microsoft Sans Serif"/>
                <a:cs typeface="Microsoft Sans Serif"/>
              </a:rPr>
              <a:t> </a:t>
            </a:r>
            <a:r>
              <a:rPr sz="2195" spc="-20" dirty="0">
                <a:latin typeface="Microsoft Sans Serif"/>
                <a:cs typeface="Microsoft Sans Serif"/>
              </a:rPr>
              <a:t>move</a:t>
            </a:r>
            <a:endParaRPr sz="2195" dirty="0">
              <a:latin typeface="Microsoft Sans Serif"/>
              <a:cs typeface="Microsoft Sans Serif"/>
            </a:endParaRPr>
          </a:p>
          <a:p>
            <a:pPr marL="777831" indent="-309105">
              <a:lnSpc>
                <a:spcPts val="2544"/>
              </a:lnSpc>
              <a:buAutoNum type="arabicPeriod"/>
              <a:tabLst>
                <a:tab pos="777831" algn="l"/>
              </a:tabLst>
            </a:pPr>
            <a:r>
              <a:rPr sz="2195" dirty="0">
                <a:latin typeface="Microsoft Sans Serif"/>
                <a:cs typeface="Microsoft Sans Serif"/>
              </a:rPr>
              <a:t>game</a:t>
            </a:r>
            <a:r>
              <a:rPr sz="2195" spc="-55" dirty="0">
                <a:latin typeface="Microsoft Sans Serif"/>
                <a:cs typeface="Microsoft Sans Serif"/>
              </a:rPr>
              <a:t> </a:t>
            </a:r>
            <a:r>
              <a:rPr sz="2195" spc="-20" dirty="0">
                <a:latin typeface="Microsoft Sans Serif"/>
                <a:cs typeface="Microsoft Sans Serif"/>
              </a:rPr>
              <a:t>ends</a:t>
            </a:r>
            <a:endParaRPr sz="2195" dirty="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54217" y="889355"/>
            <a:ext cx="4206413" cy="1104017"/>
            <a:chOff x="5768747" y="773837"/>
            <a:chExt cx="4217035" cy="1106805"/>
          </a:xfrm>
        </p:grpSpPr>
        <p:sp>
          <p:nvSpPr>
            <p:cNvPr id="5" name="object 5"/>
            <p:cNvSpPr/>
            <p:nvPr/>
          </p:nvSpPr>
          <p:spPr>
            <a:xfrm>
              <a:off x="5773419" y="778509"/>
              <a:ext cx="4207510" cy="1097280"/>
            </a:xfrm>
            <a:custGeom>
              <a:avLst/>
              <a:gdLst/>
              <a:ahLst/>
              <a:cxnLst/>
              <a:rect l="l" t="t" r="r" b="b"/>
              <a:pathLst>
                <a:path w="4207509" h="1097280">
                  <a:moveTo>
                    <a:pt x="4024629" y="0"/>
                  </a:moveTo>
                  <a:lnTo>
                    <a:pt x="182879" y="0"/>
                  </a:lnTo>
                  <a:lnTo>
                    <a:pt x="137583" y="7196"/>
                  </a:lnTo>
                  <a:lnTo>
                    <a:pt x="94826" y="27093"/>
                  </a:lnTo>
                  <a:lnTo>
                    <a:pt x="57150" y="57150"/>
                  </a:lnTo>
                  <a:lnTo>
                    <a:pt x="27093" y="94826"/>
                  </a:lnTo>
                  <a:lnTo>
                    <a:pt x="7196" y="137583"/>
                  </a:lnTo>
                  <a:lnTo>
                    <a:pt x="0" y="182880"/>
                  </a:lnTo>
                  <a:lnTo>
                    <a:pt x="0" y="914400"/>
                  </a:lnTo>
                  <a:lnTo>
                    <a:pt x="7196" y="959696"/>
                  </a:lnTo>
                  <a:lnTo>
                    <a:pt x="27093" y="1002453"/>
                  </a:lnTo>
                  <a:lnTo>
                    <a:pt x="57150" y="1040130"/>
                  </a:lnTo>
                  <a:lnTo>
                    <a:pt x="94826" y="1070186"/>
                  </a:lnTo>
                  <a:lnTo>
                    <a:pt x="137583" y="1090083"/>
                  </a:lnTo>
                  <a:lnTo>
                    <a:pt x="182879" y="1097280"/>
                  </a:lnTo>
                  <a:lnTo>
                    <a:pt x="4024629" y="1097280"/>
                  </a:lnTo>
                  <a:lnTo>
                    <a:pt x="4069926" y="1090083"/>
                  </a:lnTo>
                  <a:lnTo>
                    <a:pt x="4112683" y="1070186"/>
                  </a:lnTo>
                  <a:lnTo>
                    <a:pt x="4150360" y="1040130"/>
                  </a:lnTo>
                  <a:lnTo>
                    <a:pt x="4180416" y="1002453"/>
                  </a:lnTo>
                  <a:lnTo>
                    <a:pt x="4200313" y="959696"/>
                  </a:lnTo>
                  <a:lnTo>
                    <a:pt x="4207509" y="914400"/>
                  </a:lnTo>
                  <a:lnTo>
                    <a:pt x="4207509" y="182880"/>
                  </a:lnTo>
                  <a:lnTo>
                    <a:pt x="4200313" y="137583"/>
                  </a:lnTo>
                  <a:lnTo>
                    <a:pt x="4180416" y="94826"/>
                  </a:lnTo>
                  <a:lnTo>
                    <a:pt x="4150360" y="57150"/>
                  </a:lnTo>
                  <a:lnTo>
                    <a:pt x="4112683" y="27093"/>
                  </a:lnTo>
                  <a:lnTo>
                    <a:pt x="4069926" y="7196"/>
                  </a:lnTo>
                  <a:lnTo>
                    <a:pt x="4024629" y="0"/>
                  </a:lnTo>
                  <a:close/>
                </a:path>
              </a:pathLst>
            </a:custGeom>
            <a:solidFill>
              <a:srgbClr val="719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73419" y="778509"/>
              <a:ext cx="4207510" cy="1097280"/>
            </a:xfrm>
            <a:custGeom>
              <a:avLst/>
              <a:gdLst/>
              <a:ahLst/>
              <a:cxnLst/>
              <a:rect l="l" t="t" r="r" b="b"/>
              <a:pathLst>
                <a:path w="4207509" h="1097280">
                  <a:moveTo>
                    <a:pt x="182879" y="0"/>
                  </a:moveTo>
                  <a:lnTo>
                    <a:pt x="137583" y="7196"/>
                  </a:lnTo>
                  <a:lnTo>
                    <a:pt x="94826" y="27093"/>
                  </a:lnTo>
                  <a:lnTo>
                    <a:pt x="57150" y="57150"/>
                  </a:lnTo>
                  <a:lnTo>
                    <a:pt x="27093" y="94826"/>
                  </a:lnTo>
                  <a:lnTo>
                    <a:pt x="7196" y="137583"/>
                  </a:lnTo>
                  <a:lnTo>
                    <a:pt x="0" y="182880"/>
                  </a:lnTo>
                  <a:lnTo>
                    <a:pt x="0" y="914400"/>
                  </a:lnTo>
                  <a:lnTo>
                    <a:pt x="7196" y="959696"/>
                  </a:lnTo>
                  <a:lnTo>
                    <a:pt x="27093" y="1002453"/>
                  </a:lnTo>
                  <a:lnTo>
                    <a:pt x="57150" y="1040130"/>
                  </a:lnTo>
                  <a:lnTo>
                    <a:pt x="94826" y="1070186"/>
                  </a:lnTo>
                  <a:lnTo>
                    <a:pt x="137583" y="1090083"/>
                  </a:lnTo>
                  <a:lnTo>
                    <a:pt x="182879" y="1097280"/>
                  </a:lnTo>
                  <a:lnTo>
                    <a:pt x="4024629" y="1097280"/>
                  </a:lnTo>
                  <a:lnTo>
                    <a:pt x="4069926" y="1090083"/>
                  </a:lnTo>
                  <a:lnTo>
                    <a:pt x="4112683" y="1070186"/>
                  </a:lnTo>
                  <a:lnTo>
                    <a:pt x="4150360" y="1040130"/>
                  </a:lnTo>
                  <a:lnTo>
                    <a:pt x="4180416" y="1002453"/>
                  </a:lnTo>
                  <a:lnTo>
                    <a:pt x="4200313" y="959696"/>
                  </a:lnTo>
                  <a:lnTo>
                    <a:pt x="4207509" y="914400"/>
                  </a:lnTo>
                  <a:lnTo>
                    <a:pt x="4207509" y="182880"/>
                  </a:lnTo>
                  <a:lnTo>
                    <a:pt x="4200313" y="137583"/>
                  </a:lnTo>
                  <a:lnTo>
                    <a:pt x="4180416" y="94826"/>
                  </a:lnTo>
                  <a:lnTo>
                    <a:pt x="4150360" y="57150"/>
                  </a:lnTo>
                  <a:lnTo>
                    <a:pt x="4112683" y="27093"/>
                  </a:lnTo>
                  <a:lnTo>
                    <a:pt x="4069926" y="7196"/>
                  </a:lnTo>
                  <a:lnTo>
                    <a:pt x="4024629" y="0"/>
                  </a:lnTo>
                  <a:lnTo>
                    <a:pt x="182879" y="0"/>
                  </a:lnTo>
                  <a:close/>
                </a:path>
              </a:pathLst>
            </a:custGeom>
            <a:ln w="9344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68746" y="773848"/>
              <a:ext cx="4217035" cy="1106805"/>
            </a:xfrm>
            <a:custGeom>
              <a:avLst/>
              <a:gdLst/>
              <a:ahLst/>
              <a:cxnLst/>
              <a:rect l="l" t="t" r="r" b="b"/>
              <a:pathLst>
                <a:path w="4217034" h="1106805">
                  <a:moveTo>
                    <a:pt x="9334" y="4660"/>
                  </a:moveTo>
                  <a:lnTo>
                    <a:pt x="7975" y="1358"/>
                  </a:lnTo>
                  <a:lnTo>
                    <a:pt x="4673" y="0"/>
                  </a:lnTo>
                  <a:lnTo>
                    <a:pt x="1358" y="1358"/>
                  </a:lnTo>
                  <a:lnTo>
                    <a:pt x="0" y="4660"/>
                  </a:lnTo>
                  <a:lnTo>
                    <a:pt x="1358" y="7975"/>
                  </a:lnTo>
                  <a:lnTo>
                    <a:pt x="4673" y="9334"/>
                  </a:lnTo>
                  <a:lnTo>
                    <a:pt x="7975" y="7975"/>
                  </a:lnTo>
                  <a:lnTo>
                    <a:pt x="9334" y="4660"/>
                  </a:lnTo>
                  <a:close/>
                </a:path>
                <a:path w="4217034" h="1106805">
                  <a:moveTo>
                    <a:pt x="4216844" y="1101940"/>
                  </a:moveTo>
                  <a:lnTo>
                    <a:pt x="4215485" y="1098638"/>
                  </a:lnTo>
                  <a:lnTo>
                    <a:pt x="4212183" y="1097280"/>
                  </a:lnTo>
                  <a:lnTo>
                    <a:pt x="4208869" y="1098638"/>
                  </a:lnTo>
                  <a:lnTo>
                    <a:pt x="4207510" y="1101940"/>
                  </a:lnTo>
                  <a:lnTo>
                    <a:pt x="4208869" y="1105255"/>
                  </a:lnTo>
                  <a:lnTo>
                    <a:pt x="4212183" y="1106614"/>
                  </a:lnTo>
                  <a:lnTo>
                    <a:pt x="4215485" y="1105255"/>
                  </a:lnTo>
                  <a:lnTo>
                    <a:pt x="4216844" y="110194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908359" y="1087837"/>
            <a:ext cx="3808636" cy="737907"/>
          </a:xfrm>
          <a:prstGeom prst="rect">
            <a:avLst/>
          </a:prstGeom>
        </p:spPr>
        <p:txBody>
          <a:bodyPr vert="horz" wrap="square" lIns="0" tIns="44971" rIns="0" bIns="0" rtlCol="0">
            <a:spAutoFit/>
          </a:bodyPr>
          <a:lstStyle/>
          <a:p>
            <a:pPr marL="514331" marR="5067" indent="-501663">
              <a:lnSpc>
                <a:spcPts val="2673"/>
              </a:lnSpc>
              <a:spcBef>
                <a:spcPts val="354"/>
              </a:spcBef>
            </a:pPr>
            <a:r>
              <a:rPr sz="2394" dirty="0">
                <a:latin typeface="Microsoft Sans Serif"/>
                <a:cs typeface="Microsoft Sans Serif"/>
              </a:rPr>
              <a:t>What</a:t>
            </a:r>
            <a:r>
              <a:rPr sz="2394" spc="-40" dirty="0">
                <a:latin typeface="Microsoft Sans Serif"/>
                <a:cs typeface="Microsoft Sans Serif"/>
              </a:rPr>
              <a:t> </a:t>
            </a:r>
            <a:r>
              <a:rPr sz="2394" dirty="0">
                <a:latin typeface="Microsoft Sans Serif"/>
                <a:cs typeface="Microsoft Sans Serif"/>
              </a:rPr>
              <a:t>does</a:t>
            </a:r>
            <a:r>
              <a:rPr sz="2394" spc="-40" dirty="0">
                <a:latin typeface="Microsoft Sans Serif"/>
                <a:cs typeface="Microsoft Sans Serif"/>
              </a:rPr>
              <a:t> </a:t>
            </a:r>
            <a:r>
              <a:rPr sz="2394" dirty="0">
                <a:latin typeface="Microsoft Sans Serif"/>
                <a:cs typeface="Microsoft Sans Serif"/>
              </a:rPr>
              <a:t>the</a:t>
            </a:r>
            <a:r>
              <a:rPr sz="2394" spc="-40" dirty="0">
                <a:latin typeface="Microsoft Sans Serif"/>
                <a:cs typeface="Microsoft Sans Serif"/>
              </a:rPr>
              <a:t> </a:t>
            </a:r>
            <a:r>
              <a:rPr sz="2394" dirty="0">
                <a:latin typeface="Microsoft Sans Serif"/>
                <a:cs typeface="Microsoft Sans Serif"/>
              </a:rPr>
              <a:t>minimax</a:t>
            </a:r>
            <a:r>
              <a:rPr sz="2394" spc="-30" dirty="0">
                <a:latin typeface="Microsoft Sans Serif"/>
                <a:cs typeface="Microsoft Sans Serif"/>
              </a:rPr>
              <a:t> </a:t>
            </a:r>
            <a:r>
              <a:rPr sz="2394" spc="-20" dirty="0">
                <a:latin typeface="Microsoft Sans Serif"/>
                <a:cs typeface="Microsoft Sans Serif"/>
              </a:rPr>
              <a:t>tree </a:t>
            </a:r>
            <a:r>
              <a:rPr sz="2394" dirty="0">
                <a:latin typeface="Microsoft Sans Serif"/>
                <a:cs typeface="Microsoft Sans Serif"/>
              </a:rPr>
              <a:t>look</a:t>
            </a:r>
            <a:r>
              <a:rPr sz="2394" spc="-35" dirty="0">
                <a:latin typeface="Microsoft Sans Serif"/>
                <a:cs typeface="Microsoft Sans Serif"/>
              </a:rPr>
              <a:t> </a:t>
            </a:r>
            <a:r>
              <a:rPr sz="2394" dirty="0">
                <a:latin typeface="Microsoft Sans Serif"/>
                <a:cs typeface="Microsoft Sans Serif"/>
              </a:rPr>
              <a:t>like</a:t>
            </a:r>
            <a:r>
              <a:rPr sz="2394" spc="-40" dirty="0">
                <a:latin typeface="Microsoft Sans Serif"/>
                <a:cs typeface="Microsoft Sans Serif"/>
              </a:rPr>
              <a:t> </a:t>
            </a:r>
            <a:r>
              <a:rPr sz="2394" dirty="0">
                <a:latin typeface="Microsoft Sans Serif"/>
                <a:cs typeface="Microsoft Sans Serif"/>
              </a:rPr>
              <a:t>in</a:t>
            </a:r>
            <a:r>
              <a:rPr sz="2394" spc="-40" dirty="0">
                <a:latin typeface="Microsoft Sans Serif"/>
                <a:cs typeface="Microsoft Sans Serif"/>
              </a:rPr>
              <a:t> </a:t>
            </a:r>
            <a:r>
              <a:rPr sz="2394" dirty="0">
                <a:latin typeface="Microsoft Sans Serif"/>
                <a:cs typeface="Microsoft Sans Serif"/>
              </a:rPr>
              <a:t>this</a:t>
            </a:r>
            <a:r>
              <a:rPr sz="2394" spc="-35" dirty="0">
                <a:latin typeface="Microsoft Sans Serif"/>
                <a:cs typeface="Microsoft Sans Serif"/>
              </a:rPr>
              <a:t> </a:t>
            </a:r>
            <a:r>
              <a:rPr sz="2394" spc="-10" dirty="0">
                <a:latin typeface="Microsoft Sans Serif"/>
                <a:cs typeface="Microsoft Sans Serif"/>
              </a:rPr>
              <a:t>case?</a:t>
            </a:r>
            <a:endParaRPr sz="2394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dirty="0">
                          <a:latin typeface="Tahoma"/>
                          <a:cs typeface="Tahoma"/>
                        </a:rPr>
                        <a:t>Alpha</a:t>
                      </a:r>
                      <a:r>
                        <a:rPr sz="3300" b="1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95" dirty="0">
                          <a:latin typeface="Tahoma"/>
                          <a:cs typeface="Tahoma"/>
                        </a:rPr>
                        <a:t>Beta</a:t>
                      </a:r>
                      <a:r>
                        <a:rPr sz="3300" b="1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Pruning</a:t>
                      </a:r>
                      <a:r>
                        <a:rPr sz="3300" b="1" spc="-1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 marL="737235" indent="-187960">
                        <a:lnSpc>
                          <a:spcPts val="1785"/>
                        </a:lnSpc>
                        <a:spcBef>
                          <a:spcPts val="1535"/>
                        </a:spcBef>
                        <a:buFont typeface="Arial MT"/>
                        <a:buChar char="•"/>
                        <a:tabLst>
                          <a:tab pos="737235" algn="l"/>
                        </a:tabLst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Alpha–beta</a:t>
                      </a:r>
                      <a:r>
                        <a:rPr sz="18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65" dirty="0">
                          <a:latin typeface="Tahoma"/>
                          <a:cs typeface="Tahoma"/>
                        </a:rPr>
                        <a:t>pruning</a:t>
                      </a:r>
                      <a:r>
                        <a:rPr sz="180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is</a:t>
                      </a:r>
                      <a:r>
                        <a:rPr sz="18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6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1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0" dirty="0">
                          <a:latin typeface="Tahoma"/>
                          <a:cs typeface="Tahoma"/>
                        </a:rPr>
                        <a:t>algorithm</a:t>
                      </a:r>
                      <a:r>
                        <a:rPr sz="1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80" dirty="0">
                          <a:latin typeface="Tahoma"/>
                          <a:cs typeface="Tahoma"/>
                        </a:rPr>
                        <a:t>that</a:t>
                      </a:r>
                      <a:r>
                        <a:rPr sz="1800" b="1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30" dirty="0">
                          <a:latin typeface="Tahoma"/>
                          <a:cs typeface="Tahoma"/>
                        </a:rPr>
                        <a:t>seeks</a:t>
                      </a:r>
                      <a:r>
                        <a:rPr sz="1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10" dirty="0">
                          <a:latin typeface="Tahoma"/>
                          <a:cs typeface="Tahoma"/>
                        </a:rPr>
                        <a:t>to</a:t>
                      </a:r>
                      <a:r>
                        <a:rPr sz="1800" b="1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5" dirty="0">
                          <a:latin typeface="Tahoma"/>
                          <a:cs typeface="Tahoma"/>
                        </a:rPr>
                        <a:t>decrease</a:t>
                      </a:r>
                      <a:r>
                        <a:rPr sz="1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5" dirty="0">
                          <a:latin typeface="Tahoma"/>
                          <a:cs typeface="Tahoma"/>
                        </a:rPr>
                        <a:t>the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94945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586" y="2718373"/>
            <a:ext cx="8241665" cy="289750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01295" marR="499109">
              <a:lnSpc>
                <a:spcPct val="90700"/>
              </a:lnSpc>
              <a:spcBef>
                <a:spcPts val="310"/>
              </a:spcBef>
            </a:pPr>
            <a:r>
              <a:rPr sz="1800" b="1" spc="-20" dirty="0">
                <a:latin typeface="Tahoma"/>
                <a:cs typeface="Tahoma"/>
              </a:rPr>
              <a:t>number</a:t>
            </a:r>
            <a:r>
              <a:rPr sz="1800" b="1" spc="-9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of</a:t>
            </a:r>
            <a:r>
              <a:rPr sz="1800" b="1" spc="-6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nodes</a:t>
            </a:r>
            <a:r>
              <a:rPr sz="1800" b="1" spc="-75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that</a:t>
            </a:r>
            <a:r>
              <a:rPr sz="1800" b="1" spc="-75" dirty="0">
                <a:latin typeface="Tahoma"/>
                <a:cs typeface="Tahoma"/>
              </a:rPr>
              <a:t> </a:t>
            </a:r>
            <a:r>
              <a:rPr sz="1800" b="1" spc="-40" dirty="0">
                <a:latin typeface="Tahoma"/>
                <a:cs typeface="Tahoma"/>
              </a:rPr>
              <a:t>are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evaluated</a:t>
            </a:r>
            <a:r>
              <a:rPr sz="1800" b="1" spc="-8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by</a:t>
            </a:r>
            <a:r>
              <a:rPr sz="1800" b="1" spc="-85" dirty="0">
                <a:latin typeface="Tahoma"/>
                <a:cs typeface="Tahoma"/>
              </a:rPr>
              <a:t> </a:t>
            </a:r>
            <a:r>
              <a:rPr sz="1800" b="1" spc="-40" dirty="0">
                <a:latin typeface="Tahoma"/>
                <a:cs typeface="Tahoma"/>
              </a:rPr>
              <a:t>the</a:t>
            </a:r>
            <a:r>
              <a:rPr sz="1800" b="1" spc="-9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minimax</a:t>
            </a:r>
            <a:r>
              <a:rPr sz="1800" b="1" spc="-55" dirty="0">
                <a:latin typeface="Tahoma"/>
                <a:cs typeface="Tahoma"/>
              </a:rPr>
              <a:t> </a:t>
            </a:r>
            <a:r>
              <a:rPr sz="1800" b="1" spc="-20" dirty="0">
                <a:latin typeface="Tahoma"/>
                <a:cs typeface="Tahoma"/>
              </a:rPr>
              <a:t>algorithm</a:t>
            </a:r>
            <a:r>
              <a:rPr sz="1800" b="1" spc="-6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in</a:t>
            </a:r>
            <a:r>
              <a:rPr sz="1800" b="1" spc="-9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its </a:t>
            </a:r>
            <a:r>
              <a:rPr sz="1800" b="1" spc="-60" dirty="0">
                <a:latin typeface="Tahoma"/>
                <a:cs typeface="Tahoma"/>
              </a:rPr>
              <a:t>search</a:t>
            </a:r>
            <a:r>
              <a:rPr sz="1800" b="1" spc="30" dirty="0">
                <a:latin typeface="Tahoma"/>
                <a:cs typeface="Tahoma"/>
              </a:rPr>
              <a:t> </a:t>
            </a:r>
            <a:r>
              <a:rPr sz="1800" b="1" spc="-60" dirty="0">
                <a:latin typeface="Tahoma"/>
                <a:cs typeface="Tahoma"/>
              </a:rPr>
              <a:t>tree</a:t>
            </a:r>
            <a:r>
              <a:rPr sz="1800" spc="-60" dirty="0">
                <a:latin typeface="Tahoma"/>
                <a:cs typeface="Tahoma"/>
              </a:rPr>
              <a:t>.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adversarial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search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algorithm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used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commonly</a:t>
            </a:r>
            <a:r>
              <a:rPr sz="1800" spc="-25" dirty="0">
                <a:latin typeface="Tahoma"/>
                <a:cs typeface="Tahoma"/>
              </a:rPr>
              <a:t> for </a:t>
            </a:r>
            <a:r>
              <a:rPr sz="1800" spc="55" dirty="0">
                <a:latin typeface="Tahoma"/>
                <a:cs typeface="Tahoma"/>
              </a:rPr>
              <a:t>machine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playing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two-player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combinatorial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games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(Tic-</a:t>
            </a:r>
            <a:r>
              <a:rPr sz="1800" dirty="0">
                <a:latin typeface="Tahoma"/>
                <a:cs typeface="Tahoma"/>
              </a:rPr>
              <a:t>tac-toe,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Chess, </a:t>
            </a:r>
            <a:r>
              <a:rPr sz="1800" spc="80" dirty="0">
                <a:latin typeface="Tahoma"/>
                <a:cs typeface="Tahoma"/>
              </a:rPr>
              <a:t>Connect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4,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etc.).</a:t>
            </a:r>
            <a:endParaRPr sz="1800">
              <a:latin typeface="Tahoma"/>
              <a:cs typeface="Tahoma"/>
            </a:endParaRPr>
          </a:p>
          <a:p>
            <a:pPr marL="200025" marR="5080" indent="-187960">
              <a:lnSpc>
                <a:spcPct val="908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spc="90" dirty="0">
                <a:latin typeface="Tahoma"/>
                <a:cs typeface="Tahoma"/>
              </a:rPr>
              <a:t>As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have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seen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minimax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search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algorithm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number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game 	</a:t>
            </a:r>
            <a:r>
              <a:rPr sz="1800" dirty="0">
                <a:latin typeface="Tahoma"/>
                <a:cs typeface="Tahoma"/>
              </a:rPr>
              <a:t>states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it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has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to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examine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are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exponential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in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depth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of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the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tree.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Since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we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cannot 	</a:t>
            </a:r>
            <a:r>
              <a:rPr sz="1800" dirty="0">
                <a:latin typeface="Tahoma"/>
                <a:cs typeface="Tahoma"/>
              </a:rPr>
              <a:t>eliminate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exponent,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but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we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can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cut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half.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Hence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there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technique 	</a:t>
            </a:r>
            <a:r>
              <a:rPr sz="1800" spc="65" dirty="0">
                <a:latin typeface="Tahoma"/>
                <a:cs typeface="Tahoma"/>
              </a:rPr>
              <a:t>by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which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without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checking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each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95" dirty="0">
                <a:latin typeface="Tahoma"/>
                <a:cs typeface="Tahoma"/>
              </a:rPr>
              <a:t>node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game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tree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can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compute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 	</a:t>
            </a:r>
            <a:r>
              <a:rPr sz="1800" dirty="0">
                <a:latin typeface="Tahoma"/>
                <a:cs typeface="Tahoma"/>
              </a:rPr>
              <a:t>correct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minimax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decision,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this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technique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called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b="1" spc="-30" dirty="0">
                <a:latin typeface="Tahoma"/>
                <a:cs typeface="Tahoma"/>
              </a:rPr>
              <a:t>pruning</a:t>
            </a:r>
            <a:r>
              <a:rPr sz="1800" spc="-30" dirty="0">
                <a:latin typeface="Tahoma"/>
                <a:cs typeface="Tahoma"/>
              </a:rPr>
              <a:t>.</a:t>
            </a:r>
            <a:r>
              <a:rPr sz="1800" spc="-1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This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involves 	</a:t>
            </a:r>
            <a:r>
              <a:rPr sz="1800" dirty="0">
                <a:latin typeface="Tahoma"/>
                <a:cs typeface="Tahoma"/>
              </a:rPr>
              <a:t>two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threshold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parameter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Alpha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beta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future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expansion,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so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called 	</a:t>
            </a:r>
            <a:r>
              <a:rPr sz="1800" b="1" spc="-60" dirty="0">
                <a:latin typeface="Tahoma"/>
                <a:cs typeface="Tahoma"/>
              </a:rPr>
              <a:t>alpha-</a:t>
            </a:r>
            <a:r>
              <a:rPr sz="1800" b="1" dirty="0">
                <a:latin typeface="Tahoma"/>
                <a:cs typeface="Tahoma"/>
              </a:rPr>
              <a:t>beta</a:t>
            </a:r>
            <a:r>
              <a:rPr sz="1800" b="1" spc="5" dirty="0">
                <a:latin typeface="Tahoma"/>
                <a:cs typeface="Tahoma"/>
              </a:rPr>
              <a:t> </a:t>
            </a:r>
            <a:r>
              <a:rPr sz="1800" b="1" spc="-30" dirty="0">
                <a:latin typeface="Tahoma"/>
                <a:cs typeface="Tahoma"/>
              </a:rPr>
              <a:t>pruning</a:t>
            </a:r>
            <a:r>
              <a:rPr sz="1800" spc="-30" dirty="0">
                <a:latin typeface="Tahoma"/>
                <a:cs typeface="Tahoma"/>
              </a:rPr>
              <a:t>.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also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called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b="1" spc="-35" dirty="0">
                <a:latin typeface="Tahoma"/>
                <a:cs typeface="Tahoma"/>
              </a:rPr>
              <a:t>Alpha-</a:t>
            </a:r>
            <a:r>
              <a:rPr sz="1800" b="1" spc="-55" dirty="0">
                <a:latin typeface="Tahoma"/>
                <a:cs typeface="Tahoma"/>
              </a:rPr>
              <a:t>Beta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Algorithm</a:t>
            </a:r>
            <a:r>
              <a:rPr sz="1800" spc="-10" dirty="0"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dirty="0">
                          <a:latin typeface="Tahoma"/>
                          <a:cs typeface="Tahoma"/>
                        </a:rPr>
                        <a:t>Alpha</a:t>
                      </a:r>
                      <a:r>
                        <a:rPr sz="3300" b="1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95" dirty="0">
                          <a:latin typeface="Tahoma"/>
                          <a:cs typeface="Tahoma"/>
                        </a:rPr>
                        <a:t>Beta</a:t>
                      </a:r>
                      <a:r>
                        <a:rPr sz="3300" b="1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Pruning</a:t>
                      </a:r>
                      <a:r>
                        <a:rPr sz="3300" b="1" spc="-1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459" y="3112893"/>
            <a:ext cx="8221345" cy="285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226060" indent="-189230">
              <a:lnSpc>
                <a:spcPct val="99800"/>
              </a:lnSpc>
              <a:spcBef>
                <a:spcPts val="100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spc="55" dirty="0">
                <a:latin typeface="Tahoma"/>
                <a:cs typeface="Tahoma"/>
              </a:rPr>
              <a:t>Alpha-</a:t>
            </a:r>
            <a:r>
              <a:rPr sz="2150" dirty="0">
                <a:latin typeface="Tahoma"/>
                <a:cs typeface="Tahoma"/>
              </a:rPr>
              <a:t>beta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pruning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can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125" dirty="0">
                <a:latin typeface="Tahoma"/>
                <a:cs typeface="Tahoma"/>
              </a:rPr>
              <a:t>be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spc="100" dirty="0">
                <a:latin typeface="Tahoma"/>
                <a:cs typeface="Tahoma"/>
              </a:rPr>
              <a:t>applied</a:t>
            </a:r>
            <a:r>
              <a:rPr sz="2150" spc="-105" dirty="0">
                <a:latin typeface="Tahoma"/>
                <a:cs typeface="Tahoma"/>
              </a:rPr>
              <a:t> </a:t>
            </a:r>
            <a:r>
              <a:rPr sz="2150" spc="-30" dirty="0">
                <a:latin typeface="Tahoma"/>
                <a:cs typeface="Tahoma"/>
              </a:rPr>
              <a:t>at</a:t>
            </a:r>
            <a:r>
              <a:rPr sz="2150" spc="-8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any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85" dirty="0">
                <a:latin typeface="Tahoma"/>
                <a:cs typeface="Tahoma"/>
              </a:rPr>
              <a:t>depth</a:t>
            </a:r>
            <a:r>
              <a:rPr sz="2150" spc="-8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-4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spc="-20" dirty="0">
                <a:latin typeface="Tahoma"/>
                <a:cs typeface="Tahoma"/>
              </a:rPr>
              <a:t>tree,</a:t>
            </a:r>
            <a:r>
              <a:rPr sz="2150" spc="-160" dirty="0">
                <a:latin typeface="Tahoma"/>
                <a:cs typeface="Tahoma"/>
              </a:rPr>
              <a:t> </a:t>
            </a:r>
            <a:r>
              <a:rPr sz="2150" spc="45" dirty="0">
                <a:latin typeface="Tahoma"/>
                <a:cs typeface="Tahoma"/>
              </a:rPr>
              <a:t>and </a:t>
            </a:r>
            <a:r>
              <a:rPr sz="2150" dirty="0">
                <a:latin typeface="Tahoma"/>
                <a:cs typeface="Tahoma"/>
              </a:rPr>
              <a:t>sometimes</a:t>
            </a:r>
            <a:r>
              <a:rPr sz="2150" spc="-1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it</a:t>
            </a:r>
            <a:r>
              <a:rPr sz="2150" spc="-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not</a:t>
            </a:r>
            <a:r>
              <a:rPr sz="2150" spc="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only</a:t>
            </a:r>
            <a:r>
              <a:rPr sz="2150" spc="-30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prune</a:t>
            </a:r>
            <a:r>
              <a:rPr sz="2150" spc="-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1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tree</a:t>
            </a:r>
            <a:r>
              <a:rPr sz="2150" spc="-1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leaves</a:t>
            </a:r>
            <a:r>
              <a:rPr sz="2150" spc="-25" dirty="0">
                <a:latin typeface="Tahoma"/>
                <a:cs typeface="Tahoma"/>
              </a:rPr>
              <a:t> </a:t>
            </a:r>
            <a:r>
              <a:rPr sz="2150" spc="50" dirty="0">
                <a:latin typeface="Tahoma"/>
                <a:cs typeface="Tahoma"/>
              </a:rPr>
              <a:t>but</a:t>
            </a:r>
            <a:r>
              <a:rPr sz="2150" spc="-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also</a:t>
            </a:r>
            <a:r>
              <a:rPr sz="2150" spc="-3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entire</a:t>
            </a:r>
            <a:r>
              <a:rPr sz="2150" spc="-5" dirty="0">
                <a:latin typeface="Tahoma"/>
                <a:cs typeface="Tahoma"/>
              </a:rPr>
              <a:t> </a:t>
            </a:r>
            <a:r>
              <a:rPr sz="2150" spc="-20" dirty="0">
                <a:latin typeface="Tahoma"/>
                <a:cs typeface="Tahoma"/>
              </a:rPr>
              <a:t>sub- </a:t>
            </a:r>
            <a:r>
              <a:rPr sz="2150" spc="-10" dirty="0">
                <a:latin typeface="Tahoma"/>
                <a:cs typeface="Tahoma"/>
              </a:rPr>
              <a:t>tree.</a:t>
            </a:r>
            <a:endParaRPr sz="2150">
              <a:latin typeface="Tahoma"/>
              <a:cs typeface="Tahoma"/>
            </a:endParaRPr>
          </a:p>
          <a:p>
            <a:pPr marL="201295" marR="201930" indent="-189230" algn="just">
              <a:lnSpc>
                <a:spcPct val="99700"/>
              </a:lnSpc>
              <a:spcBef>
                <a:spcPts val="840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b="1" spc="-10" dirty="0">
                <a:latin typeface="Tahoma"/>
                <a:cs typeface="Tahoma"/>
              </a:rPr>
              <a:t>Alpha:</a:t>
            </a:r>
            <a:r>
              <a:rPr sz="2150" b="1" spc="-3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best</a:t>
            </a:r>
            <a:r>
              <a:rPr sz="2150" spc="-70" dirty="0">
                <a:latin typeface="Tahoma"/>
                <a:cs typeface="Tahoma"/>
              </a:rPr>
              <a:t> </a:t>
            </a:r>
            <a:r>
              <a:rPr sz="2150" spc="-10" dirty="0">
                <a:latin typeface="Tahoma"/>
                <a:cs typeface="Tahoma"/>
              </a:rPr>
              <a:t>(highest-value)</a:t>
            </a:r>
            <a:r>
              <a:rPr sz="2150" spc="-114" dirty="0">
                <a:latin typeface="Tahoma"/>
                <a:cs typeface="Tahoma"/>
              </a:rPr>
              <a:t> </a:t>
            </a:r>
            <a:r>
              <a:rPr sz="2150" spc="80" dirty="0">
                <a:latin typeface="Tahoma"/>
                <a:cs typeface="Tahoma"/>
              </a:rPr>
              <a:t>choice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we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have</a:t>
            </a:r>
            <a:r>
              <a:rPr sz="2150" spc="-95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found</a:t>
            </a:r>
            <a:r>
              <a:rPr sz="2150" spc="-80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so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-20" dirty="0">
                <a:latin typeface="Tahoma"/>
                <a:cs typeface="Tahoma"/>
              </a:rPr>
              <a:t>far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spc="-25" dirty="0">
                <a:latin typeface="Tahoma"/>
                <a:cs typeface="Tahoma"/>
              </a:rPr>
              <a:t>at </a:t>
            </a:r>
            <a:r>
              <a:rPr sz="2150" dirty="0">
                <a:latin typeface="Tahoma"/>
                <a:cs typeface="Tahoma"/>
              </a:rPr>
              <a:t>any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point</a:t>
            </a:r>
            <a:r>
              <a:rPr sz="2150" spc="-25" dirty="0">
                <a:latin typeface="Tahoma"/>
                <a:cs typeface="Tahoma"/>
              </a:rPr>
              <a:t> </a:t>
            </a:r>
            <a:r>
              <a:rPr sz="2150" spc="80" dirty="0">
                <a:latin typeface="Tahoma"/>
                <a:cs typeface="Tahoma"/>
              </a:rPr>
              <a:t>along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2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path</a:t>
            </a:r>
            <a:r>
              <a:rPr sz="2150" spc="-5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3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Maximizer.</a:t>
            </a:r>
            <a:r>
              <a:rPr sz="2150" spc="-17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3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initial</a:t>
            </a:r>
            <a:r>
              <a:rPr sz="2150" spc="-5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value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25" dirty="0">
                <a:latin typeface="Tahoma"/>
                <a:cs typeface="Tahoma"/>
              </a:rPr>
              <a:t> </a:t>
            </a:r>
            <a:r>
              <a:rPr sz="2150" spc="45" dirty="0">
                <a:latin typeface="Tahoma"/>
                <a:cs typeface="Tahoma"/>
              </a:rPr>
              <a:t>alpha </a:t>
            </a:r>
            <a:r>
              <a:rPr sz="2150" dirty="0">
                <a:latin typeface="Tahoma"/>
                <a:cs typeface="Tahoma"/>
              </a:rPr>
              <a:t>is</a:t>
            </a:r>
            <a:r>
              <a:rPr sz="2150" spc="-114" dirty="0">
                <a:latin typeface="Tahoma"/>
                <a:cs typeface="Tahoma"/>
              </a:rPr>
              <a:t> </a:t>
            </a:r>
            <a:r>
              <a:rPr sz="2150" spc="-105" dirty="0">
                <a:latin typeface="Tahoma"/>
                <a:cs typeface="Tahoma"/>
              </a:rPr>
              <a:t>-</a:t>
            </a:r>
            <a:r>
              <a:rPr sz="2150" spc="-25" dirty="0">
                <a:latin typeface="Tahoma"/>
                <a:cs typeface="Tahoma"/>
              </a:rPr>
              <a:t>∞.</a:t>
            </a:r>
            <a:endParaRPr sz="2150">
              <a:latin typeface="Tahoma"/>
              <a:cs typeface="Tahoma"/>
            </a:endParaRPr>
          </a:p>
          <a:p>
            <a:pPr marL="201295" marR="5080" indent="-189230" algn="just">
              <a:lnSpc>
                <a:spcPts val="2570"/>
              </a:lnSpc>
              <a:spcBef>
                <a:spcPts val="910"/>
              </a:spcBef>
              <a:buFont typeface="Arial MT"/>
              <a:buChar char="•"/>
              <a:tabLst>
                <a:tab pos="201295" algn="l"/>
                <a:tab pos="269875" algn="l"/>
              </a:tabLst>
            </a:pPr>
            <a:r>
              <a:rPr sz="2150" dirty="0">
                <a:latin typeface="Tahoma"/>
                <a:cs typeface="Tahoma"/>
              </a:rPr>
              <a:t>	</a:t>
            </a:r>
            <a:r>
              <a:rPr sz="2150" b="1" spc="-70" dirty="0">
                <a:latin typeface="Tahoma"/>
                <a:cs typeface="Tahoma"/>
              </a:rPr>
              <a:t>Beta: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best</a:t>
            </a:r>
            <a:r>
              <a:rPr sz="2150" spc="-70" dirty="0">
                <a:latin typeface="Tahoma"/>
                <a:cs typeface="Tahoma"/>
              </a:rPr>
              <a:t> </a:t>
            </a:r>
            <a:r>
              <a:rPr sz="2150" spc="-20" dirty="0">
                <a:latin typeface="Tahoma"/>
                <a:cs typeface="Tahoma"/>
              </a:rPr>
              <a:t>(lowest-</a:t>
            </a:r>
            <a:r>
              <a:rPr sz="2150" spc="-10" dirty="0">
                <a:latin typeface="Tahoma"/>
                <a:cs typeface="Tahoma"/>
              </a:rPr>
              <a:t>value)</a:t>
            </a:r>
            <a:r>
              <a:rPr sz="2150" spc="-110" dirty="0">
                <a:latin typeface="Tahoma"/>
                <a:cs typeface="Tahoma"/>
              </a:rPr>
              <a:t> </a:t>
            </a:r>
            <a:r>
              <a:rPr sz="2150" spc="80" dirty="0">
                <a:latin typeface="Tahoma"/>
                <a:cs typeface="Tahoma"/>
              </a:rPr>
              <a:t>choice</a:t>
            </a:r>
            <a:r>
              <a:rPr sz="2150" spc="-9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we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have</a:t>
            </a:r>
            <a:r>
              <a:rPr sz="2150" spc="-95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found</a:t>
            </a:r>
            <a:r>
              <a:rPr sz="2150" spc="-80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so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spc="-20" dirty="0">
                <a:latin typeface="Tahoma"/>
                <a:cs typeface="Tahoma"/>
              </a:rPr>
              <a:t>far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spc="-30" dirty="0">
                <a:latin typeface="Tahoma"/>
                <a:cs typeface="Tahoma"/>
              </a:rPr>
              <a:t>at</a:t>
            </a:r>
            <a:r>
              <a:rPr sz="2150" spc="-75" dirty="0">
                <a:latin typeface="Tahoma"/>
                <a:cs typeface="Tahoma"/>
              </a:rPr>
              <a:t> </a:t>
            </a:r>
            <a:r>
              <a:rPr sz="2150" spc="-25" dirty="0">
                <a:latin typeface="Tahoma"/>
                <a:cs typeface="Tahoma"/>
              </a:rPr>
              <a:t>any </a:t>
            </a:r>
            <a:r>
              <a:rPr sz="2150" spc="65" dirty="0">
                <a:latin typeface="Tahoma"/>
                <a:cs typeface="Tahoma"/>
              </a:rPr>
              <a:t>point</a:t>
            </a:r>
            <a:r>
              <a:rPr sz="2150" spc="-10" dirty="0">
                <a:latin typeface="Tahoma"/>
                <a:cs typeface="Tahoma"/>
              </a:rPr>
              <a:t> </a:t>
            </a:r>
            <a:r>
              <a:rPr sz="2150" spc="80" dirty="0">
                <a:latin typeface="Tahoma"/>
                <a:cs typeface="Tahoma"/>
              </a:rPr>
              <a:t>along</a:t>
            </a:r>
            <a:r>
              <a:rPr sz="2150" spc="-4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1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path</a:t>
            </a:r>
            <a:r>
              <a:rPr sz="2150" spc="-3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5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Minimizer.</a:t>
            </a:r>
            <a:r>
              <a:rPr sz="2150" spc="-16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2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initial</a:t>
            </a:r>
            <a:r>
              <a:rPr sz="2150" spc="-5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value</a:t>
            </a:r>
            <a:r>
              <a:rPr sz="2150" spc="-3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5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beta</a:t>
            </a:r>
            <a:r>
              <a:rPr sz="2150" spc="-1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is</a:t>
            </a:r>
            <a:r>
              <a:rPr sz="2150" spc="-25" dirty="0">
                <a:latin typeface="Tahoma"/>
                <a:cs typeface="Tahoma"/>
              </a:rPr>
              <a:t> +∞.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4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/>
              <a:t>Alpha</a:t>
            </a:r>
            <a:r>
              <a:rPr sz="3300" spc="-125" dirty="0"/>
              <a:t> </a:t>
            </a:r>
            <a:r>
              <a:rPr sz="3300" spc="-95" dirty="0"/>
              <a:t>Beta</a:t>
            </a:r>
            <a:r>
              <a:rPr sz="3300" spc="-114" dirty="0"/>
              <a:t> </a:t>
            </a:r>
            <a:r>
              <a:rPr sz="3300" spc="-90" dirty="0"/>
              <a:t>Pruning</a:t>
            </a:r>
            <a:r>
              <a:rPr sz="3300" spc="-175" dirty="0"/>
              <a:t> </a:t>
            </a:r>
            <a:r>
              <a:rPr sz="3300" spc="-10" dirty="0"/>
              <a:t>Algorithm</a:t>
            </a:r>
            <a:endParaRPr sz="33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335915" indent="-187960" algn="just">
              <a:lnSpc>
                <a:spcPct val="1104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pc="75" dirty="0"/>
              <a:t>Alpha-</a:t>
            </a:r>
            <a:r>
              <a:rPr spc="65" dirty="0"/>
              <a:t>beta</a:t>
            </a:r>
            <a:r>
              <a:rPr spc="-95" dirty="0"/>
              <a:t> </a:t>
            </a:r>
            <a:r>
              <a:rPr spc="80" dirty="0"/>
              <a:t>pruning</a:t>
            </a:r>
            <a:r>
              <a:rPr spc="-85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95" dirty="0"/>
              <a:t>modified</a:t>
            </a:r>
            <a:r>
              <a:rPr spc="-65" dirty="0"/>
              <a:t> </a:t>
            </a:r>
            <a:r>
              <a:rPr dirty="0"/>
              <a:t>version</a:t>
            </a:r>
            <a:r>
              <a:rPr spc="-9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35" dirty="0"/>
              <a:t>minimax 	</a:t>
            </a:r>
            <a:r>
              <a:rPr dirty="0"/>
              <a:t>algorithm.</a:t>
            </a:r>
            <a:r>
              <a:rPr spc="-185" dirty="0"/>
              <a:t> </a:t>
            </a:r>
            <a:r>
              <a:rPr spc="-285" dirty="0"/>
              <a:t>It</a:t>
            </a:r>
            <a:r>
              <a:rPr spc="10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spc="55" dirty="0"/>
              <a:t>optimization</a:t>
            </a:r>
            <a:r>
              <a:rPr spc="-20" dirty="0"/>
              <a:t> </a:t>
            </a:r>
            <a:r>
              <a:rPr spc="70" dirty="0"/>
              <a:t>technique</a:t>
            </a:r>
            <a:r>
              <a:rPr spc="-3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35" dirty="0"/>
              <a:t>minimax 	</a:t>
            </a:r>
            <a:r>
              <a:rPr spc="-10" dirty="0"/>
              <a:t>algorithm.</a:t>
            </a:r>
          </a:p>
          <a:p>
            <a:pPr marL="200025" marR="5080" indent="-187960">
              <a:lnSpc>
                <a:spcPct val="1105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/>
              <a:t>The</a:t>
            </a:r>
            <a:r>
              <a:rPr spc="-130" dirty="0"/>
              <a:t> </a:t>
            </a:r>
            <a:r>
              <a:rPr spc="75" dirty="0"/>
              <a:t>Alpha-</a:t>
            </a:r>
            <a:r>
              <a:rPr spc="65" dirty="0"/>
              <a:t>beta</a:t>
            </a:r>
            <a:r>
              <a:rPr spc="-100" dirty="0"/>
              <a:t> </a:t>
            </a:r>
            <a:r>
              <a:rPr spc="80" dirty="0"/>
              <a:t>pruning</a:t>
            </a:r>
            <a:r>
              <a:rPr spc="-90" dirty="0"/>
              <a:t> </a:t>
            </a:r>
            <a:r>
              <a:rPr spc="60" dirty="0"/>
              <a:t>to</a:t>
            </a:r>
            <a:r>
              <a:rPr spc="-70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spc="45" dirty="0"/>
              <a:t>standard</a:t>
            </a:r>
            <a:r>
              <a:rPr spc="-90" dirty="0"/>
              <a:t> </a:t>
            </a:r>
            <a:r>
              <a:rPr dirty="0"/>
              <a:t>minimax</a:t>
            </a:r>
            <a:r>
              <a:rPr spc="-80" dirty="0"/>
              <a:t> </a:t>
            </a:r>
            <a:r>
              <a:rPr spc="55" dirty="0"/>
              <a:t>algorithm 	</a:t>
            </a:r>
            <a:r>
              <a:rPr dirty="0"/>
              <a:t>returns</a:t>
            </a:r>
            <a:r>
              <a:rPr spc="-10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spc="55" dirty="0"/>
              <a:t>same</a:t>
            </a:r>
            <a:r>
              <a:rPr spc="-100" dirty="0"/>
              <a:t> </a:t>
            </a:r>
            <a:r>
              <a:rPr spc="75" dirty="0"/>
              <a:t>move</a:t>
            </a:r>
            <a:r>
              <a:rPr spc="-110" dirty="0"/>
              <a:t> </a:t>
            </a:r>
            <a:r>
              <a:rPr dirty="0"/>
              <a:t>as</a:t>
            </a:r>
            <a:r>
              <a:rPr spc="-90" dirty="0"/>
              <a:t> </a:t>
            </a:r>
            <a:r>
              <a:rPr dirty="0"/>
              <a:t>the</a:t>
            </a:r>
            <a:r>
              <a:rPr spc="-110" dirty="0"/>
              <a:t> </a:t>
            </a:r>
            <a:r>
              <a:rPr spc="45" dirty="0"/>
              <a:t>standard</a:t>
            </a:r>
            <a:r>
              <a:rPr spc="-105" dirty="0"/>
              <a:t> </a:t>
            </a:r>
            <a:r>
              <a:rPr spc="65" dirty="0"/>
              <a:t>algorithm</a:t>
            </a:r>
            <a:r>
              <a:rPr spc="-90" dirty="0"/>
              <a:t> </a:t>
            </a:r>
            <a:r>
              <a:rPr spc="65" dirty="0"/>
              <a:t>does,</a:t>
            </a:r>
            <a:r>
              <a:rPr spc="-185" dirty="0"/>
              <a:t> </a:t>
            </a:r>
            <a:r>
              <a:rPr spc="40" dirty="0"/>
              <a:t>but 	</a:t>
            </a:r>
            <a:r>
              <a:rPr dirty="0"/>
              <a:t>it</a:t>
            </a:r>
            <a:r>
              <a:rPr spc="-70" dirty="0"/>
              <a:t> </a:t>
            </a:r>
            <a:r>
              <a:rPr spc="55" dirty="0"/>
              <a:t>removes</a:t>
            </a:r>
            <a:r>
              <a:rPr spc="-75" dirty="0"/>
              <a:t> </a:t>
            </a:r>
            <a:r>
              <a:rPr dirty="0"/>
              <a:t>all</a:t>
            </a:r>
            <a:r>
              <a:rPr spc="-7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95" dirty="0"/>
              <a:t>nodes</a:t>
            </a:r>
            <a:r>
              <a:rPr spc="-80" dirty="0"/>
              <a:t> </a:t>
            </a:r>
            <a:r>
              <a:rPr spc="50" dirty="0"/>
              <a:t>which</a:t>
            </a:r>
            <a:r>
              <a:rPr spc="-80" dirty="0"/>
              <a:t> </a:t>
            </a:r>
            <a:r>
              <a:rPr dirty="0"/>
              <a:t>are</a:t>
            </a:r>
            <a:r>
              <a:rPr spc="-65" dirty="0"/>
              <a:t> </a:t>
            </a:r>
            <a:r>
              <a:rPr spc="55" dirty="0"/>
              <a:t>not</a:t>
            </a:r>
            <a:r>
              <a:rPr spc="-60" dirty="0"/>
              <a:t> </a:t>
            </a:r>
            <a:r>
              <a:rPr dirty="0"/>
              <a:t>really</a:t>
            </a:r>
            <a:r>
              <a:rPr spc="-90" dirty="0"/>
              <a:t> </a:t>
            </a:r>
            <a:r>
              <a:rPr dirty="0"/>
              <a:t>affecting</a:t>
            </a:r>
            <a:r>
              <a:rPr spc="-80" dirty="0"/>
              <a:t> </a:t>
            </a:r>
            <a:r>
              <a:rPr spc="-25" dirty="0"/>
              <a:t>the 	</a:t>
            </a:r>
            <a:r>
              <a:rPr dirty="0"/>
              <a:t>final</a:t>
            </a:r>
            <a:r>
              <a:rPr spc="-125" dirty="0"/>
              <a:t> </a:t>
            </a:r>
            <a:r>
              <a:rPr spc="85" dirty="0"/>
              <a:t>decision</a:t>
            </a:r>
            <a:r>
              <a:rPr spc="-145" dirty="0"/>
              <a:t> </a:t>
            </a:r>
            <a:r>
              <a:rPr spc="65" dirty="0"/>
              <a:t>but</a:t>
            </a:r>
            <a:r>
              <a:rPr spc="-120" dirty="0"/>
              <a:t> </a:t>
            </a:r>
            <a:r>
              <a:rPr spc="65" dirty="0"/>
              <a:t>making</a:t>
            </a:r>
            <a:r>
              <a:rPr spc="-120" dirty="0"/>
              <a:t> </a:t>
            </a:r>
            <a:r>
              <a:rPr spc="65" dirty="0"/>
              <a:t>algorithm</a:t>
            </a:r>
            <a:r>
              <a:rPr spc="-105" dirty="0"/>
              <a:t> </a:t>
            </a:r>
            <a:r>
              <a:rPr dirty="0"/>
              <a:t>slow.</a:t>
            </a:r>
            <a:r>
              <a:rPr spc="-229" dirty="0"/>
              <a:t> </a:t>
            </a:r>
            <a:r>
              <a:rPr spc="85" dirty="0"/>
              <a:t>Hence</a:t>
            </a:r>
            <a:r>
              <a:rPr spc="-125" dirty="0"/>
              <a:t> </a:t>
            </a:r>
            <a:r>
              <a:rPr spc="80" dirty="0"/>
              <a:t>by</a:t>
            </a:r>
            <a:r>
              <a:rPr spc="-130" dirty="0"/>
              <a:t> </a:t>
            </a:r>
            <a:r>
              <a:rPr spc="70" dirty="0"/>
              <a:t>pruning 	</a:t>
            </a:r>
            <a:r>
              <a:rPr dirty="0"/>
              <a:t>these</a:t>
            </a:r>
            <a:r>
              <a:rPr spc="-65" dirty="0"/>
              <a:t> </a:t>
            </a:r>
            <a:r>
              <a:rPr spc="65" dirty="0"/>
              <a:t>nodes,</a:t>
            </a:r>
            <a:r>
              <a:rPr spc="-165" dirty="0"/>
              <a:t> </a:t>
            </a:r>
            <a:r>
              <a:rPr dirty="0"/>
              <a:t>it</a:t>
            </a:r>
            <a:r>
              <a:rPr spc="-35" dirty="0"/>
              <a:t> </a:t>
            </a:r>
            <a:r>
              <a:rPr dirty="0"/>
              <a:t>makes</a:t>
            </a:r>
            <a:r>
              <a:rPr spc="-6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65" dirty="0"/>
              <a:t>algorithm</a:t>
            </a:r>
            <a:r>
              <a:rPr spc="-40" dirty="0"/>
              <a:t> </a:t>
            </a:r>
            <a:r>
              <a:rPr spc="-10" dirty="0"/>
              <a:t>fast.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dirty="0">
                          <a:latin typeface="Tahoma"/>
                          <a:cs typeface="Tahoma"/>
                        </a:rPr>
                        <a:t>Key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60" dirty="0">
                          <a:latin typeface="Tahoma"/>
                          <a:cs typeface="Tahoma"/>
                        </a:rPr>
                        <a:t>points</a:t>
                      </a:r>
                      <a:r>
                        <a:rPr sz="3300" b="1" spc="-1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55" dirty="0">
                          <a:latin typeface="Tahoma"/>
                          <a:cs typeface="Tahoma"/>
                        </a:rPr>
                        <a:t>about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alpha-</a:t>
                      </a:r>
                      <a:r>
                        <a:rPr sz="3300" b="1" spc="-55" dirty="0">
                          <a:latin typeface="Tahoma"/>
                          <a:cs typeface="Tahoma"/>
                        </a:rPr>
                        <a:t>beta</a:t>
                      </a:r>
                      <a:r>
                        <a:rPr sz="3300" b="1" spc="-1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pruning: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2985643"/>
            <a:ext cx="8127365" cy="237934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dirty="0">
                <a:latin typeface="Tahoma"/>
                <a:cs typeface="Tahoma"/>
              </a:rPr>
              <a:t>The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Max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player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will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only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update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value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10" dirty="0">
                <a:latin typeface="Tahoma"/>
                <a:cs typeface="Tahoma"/>
              </a:rPr>
              <a:t> alpha.</a:t>
            </a:r>
            <a:endParaRPr sz="23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dirty="0">
                <a:latin typeface="Tahoma"/>
                <a:cs typeface="Tahoma"/>
              </a:rPr>
              <a:t>The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114" dirty="0">
                <a:latin typeface="Tahoma"/>
                <a:cs typeface="Tahoma"/>
              </a:rPr>
              <a:t>Min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player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will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only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update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value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5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beta.</a:t>
            </a:r>
            <a:endParaRPr sz="2300">
              <a:latin typeface="Tahoma"/>
              <a:cs typeface="Tahoma"/>
            </a:endParaRPr>
          </a:p>
          <a:p>
            <a:pPr marL="200025" marR="5080" indent="-187960">
              <a:lnSpc>
                <a:spcPct val="1104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85" dirty="0">
                <a:latin typeface="Tahoma"/>
                <a:cs typeface="Tahoma"/>
              </a:rPr>
              <a:t>While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backtracking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tree,</a:t>
            </a:r>
            <a:r>
              <a:rPr sz="2300" spc="-1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125" dirty="0">
                <a:latin typeface="Tahoma"/>
                <a:cs typeface="Tahoma"/>
              </a:rPr>
              <a:t>node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values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will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145" dirty="0">
                <a:latin typeface="Tahoma"/>
                <a:cs typeface="Tahoma"/>
              </a:rPr>
              <a:t>be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passed 	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105" dirty="0">
                <a:latin typeface="Tahoma"/>
                <a:cs typeface="Tahoma"/>
              </a:rPr>
              <a:t>upper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nodes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instead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values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alpha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beta.</a:t>
            </a:r>
            <a:endParaRPr sz="23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1115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spc="95" dirty="0">
                <a:latin typeface="Tahoma"/>
                <a:cs typeface="Tahoma"/>
              </a:rPr>
              <a:t>We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will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only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pass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alpha,</a:t>
            </a:r>
            <a:r>
              <a:rPr sz="2300" spc="-18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beta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values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85" dirty="0">
                <a:latin typeface="Tahoma"/>
                <a:cs typeface="Tahoma"/>
              </a:rPr>
              <a:t>child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nodes.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3970" marR="5080">
              <a:lnSpc>
                <a:spcPts val="3200"/>
              </a:lnSpc>
              <a:spcBef>
                <a:spcPts val="515"/>
              </a:spcBef>
            </a:pPr>
            <a:r>
              <a:rPr dirty="0"/>
              <a:t>Alpha</a:t>
            </a:r>
            <a:r>
              <a:rPr spc="-114" dirty="0"/>
              <a:t> </a:t>
            </a:r>
            <a:r>
              <a:rPr spc="-70" dirty="0"/>
              <a:t>Beta</a:t>
            </a:r>
            <a:r>
              <a:rPr spc="-120" dirty="0"/>
              <a:t> </a:t>
            </a:r>
            <a:r>
              <a:rPr spc="-60" dirty="0"/>
              <a:t>Pruning</a:t>
            </a:r>
            <a:r>
              <a:rPr spc="-175" dirty="0"/>
              <a:t> </a:t>
            </a:r>
            <a:r>
              <a:rPr spc="-10" dirty="0"/>
              <a:t>Algorithm</a:t>
            </a:r>
            <a:r>
              <a:rPr spc="-125" dirty="0"/>
              <a:t> </a:t>
            </a:r>
            <a:r>
              <a:rPr spc="-10" dirty="0"/>
              <a:t>Solved Example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5C9568A-46D1-4684-A15F-C87656316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895600"/>
            <a:ext cx="6744047" cy="36069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EA28AE-9AB4-4563-937E-9B8A211F8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052" y="2085882"/>
            <a:ext cx="6712295" cy="36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483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A38E2E-AEC3-4A2C-8D61-3A13230C1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103" y="1943000"/>
            <a:ext cx="6674193" cy="38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65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179653-B52E-4140-9B50-EEE9328F5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549" y="1990627"/>
            <a:ext cx="6839301" cy="379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09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98CBC2-BDB0-42E9-857F-BC0A8233D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307" y="2006503"/>
            <a:ext cx="6521785" cy="375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78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625058-50DF-4CB3-980A-79AB5A468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037" y="2057306"/>
            <a:ext cx="6350326" cy="365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24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Words>1524</Words>
  <Application>Microsoft Office PowerPoint</Application>
  <PresentationFormat>Custom</PresentationFormat>
  <Paragraphs>112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 MT</vt:lpstr>
      <vt:lpstr>Calibri</vt:lpstr>
      <vt:lpstr>Cambria</vt:lpstr>
      <vt:lpstr>Microsoft Sans Serif</vt:lpstr>
      <vt:lpstr>Tahoma</vt:lpstr>
      <vt:lpstr>Times New Roman</vt:lpstr>
      <vt:lpstr>Office Theme</vt:lpstr>
      <vt:lpstr>Artificial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 of adversarial search</vt:lpstr>
      <vt:lpstr>This is a game tree for tic-tac-toe</vt:lpstr>
      <vt:lpstr>This is a game tree for tic-tac-toe</vt:lpstr>
      <vt:lpstr>This is a game tree for tic-tac-toe</vt:lpstr>
      <vt:lpstr>This is a game tree for tic-tac-toe</vt:lpstr>
      <vt:lpstr>What is Minimax?</vt:lpstr>
      <vt:lpstr>PowerPoint Presentation</vt:lpstr>
      <vt:lpstr>PowerPoint Presentation</vt:lpstr>
      <vt:lpstr>Alpha Beta Pruning Algorithm</vt:lpstr>
      <vt:lpstr>PowerPoint Presentation</vt:lpstr>
      <vt:lpstr>Alpha Beta Pruning Algorithm Solved Example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cp:lastModifiedBy>anwar khan</cp:lastModifiedBy>
  <cp:revision>12</cp:revision>
  <dcterms:created xsi:type="dcterms:W3CDTF">2025-02-24T06:00:44Z</dcterms:created>
  <dcterms:modified xsi:type="dcterms:W3CDTF">2025-12-08T14:34:28Z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2024-04-24T00:00:00Z</vt:filetime>
  </property>
  <property fmtid="{D5CDD505-2E9C-101B-9397-08002B2CF9AE}" pid="3" name="LastSaved">
    <vt:filetime>2025-02-24T00:00:00Z</vt:filetime>
  </property>
  <property fmtid="{D5CDD505-2E9C-101B-9397-08002B2CF9AE}" pid="4" name="Producer">
    <vt:lpwstr>Foxit Reader PDF Printer Version 9.7.0.2220</vt:lpwstr>
  </property>
</Properties>
</file>