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2"/>
  </p:notesMasterIdLst>
  <p:sldIdLst>
    <p:sldId id="256" r:id="rId2"/>
    <p:sldId id="259" r:id="rId3"/>
    <p:sldId id="260" r:id="rId4"/>
    <p:sldId id="261" r:id="rId5"/>
    <p:sldId id="323" r:id="rId6"/>
    <p:sldId id="313" r:id="rId7"/>
    <p:sldId id="324" r:id="rId8"/>
    <p:sldId id="325" r:id="rId9"/>
    <p:sldId id="273" r:id="rId10"/>
    <p:sldId id="274" r:id="rId11"/>
    <p:sldId id="275" r:id="rId12"/>
    <p:sldId id="276" r:id="rId13"/>
    <p:sldId id="277" r:id="rId14"/>
    <p:sldId id="326" r:id="rId15"/>
    <p:sldId id="327" r:id="rId16"/>
    <p:sldId id="328" r:id="rId17"/>
    <p:sldId id="329" r:id="rId18"/>
    <p:sldId id="330" r:id="rId19"/>
    <p:sldId id="331" r:id="rId20"/>
    <p:sldId id="318" r:id="rId21"/>
    <p:sldId id="265" r:id="rId22"/>
    <p:sldId id="320" r:id="rId23"/>
    <p:sldId id="268" r:id="rId24"/>
    <p:sldId id="322" r:id="rId25"/>
    <p:sldId id="333" r:id="rId26"/>
    <p:sldId id="300" r:id="rId27"/>
    <p:sldId id="301" r:id="rId28"/>
    <p:sldId id="302" r:id="rId29"/>
    <p:sldId id="332" r:id="rId30"/>
    <p:sldId id="303" r:id="rId31"/>
    <p:sldId id="304" r:id="rId32"/>
    <p:sldId id="305" r:id="rId33"/>
    <p:sldId id="306" r:id="rId34"/>
    <p:sldId id="308" r:id="rId35"/>
    <p:sldId id="294" r:id="rId36"/>
    <p:sldId id="295" r:id="rId37"/>
    <p:sldId id="296" r:id="rId38"/>
    <p:sldId id="297" r:id="rId39"/>
    <p:sldId id="263" r:id="rId40"/>
    <p:sldId id="258" r:id="rId4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53" autoAdjust="0"/>
    <p:restoredTop sz="94660"/>
  </p:normalViewPr>
  <p:slideViewPr>
    <p:cSldViewPr>
      <p:cViewPr varScale="1">
        <p:scale>
          <a:sx n="62" d="100"/>
          <a:sy n="62" d="100"/>
        </p:scale>
        <p:origin x="1496" y="5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C7E27C8-C460-4681-802A-D2134B0C64B8}" type="datetimeFigureOut">
              <a:rPr lang="en-US" smtClean="0"/>
              <a:t>9/30/2025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7F29DAE7-2901-4CFF-BED8-6505A2E6D559}" type="slidenum">
              <a:rPr lang="en-US" smtClean="0"/>
              <a:t>‹#›</a:t>
            </a:fld>
            <a:endParaRPr lang="en-US"/>
          </a:p>
        </p:txBody>
      </p:sp>
    </p:spTree>
    <p:extLst>
      <p:ext uri="{BB962C8B-B14F-4D97-AF65-F5344CB8AC3E}">
        <p14:creationId xmlns:p14="http://schemas.microsoft.com/office/powerpoint/2010/main" val="29966617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Work of AI -&gt; McCulloch and Pitts</a:t>
            </a:r>
            <a:r>
              <a:rPr lang="en-US" baseline="0" dirty="0"/>
              <a:t>, 1943 -&gt; Artificial Neural Network</a:t>
            </a:r>
          </a:p>
          <a:p>
            <a:r>
              <a:rPr lang="en-US" baseline="0" dirty="0"/>
              <a:t>Donald </a:t>
            </a:r>
            <a:r>
              <a:rPr lang="en-US" baseline="0" dirty="0" err="1"/>
              <a:t>Hebb</a:t>
            </a:r>
            <a:r>
              <a:rPr lang="en-US" baseline="0" dirty="0"/>
              <a:t>, 1949 -&gt; Network updating rule</a:t>
            </a:r>
          </a:p>
          <a:p>
            <a:r>
              <a:rPr lang="en-US" baseline="0" dirty="0"/>
              <a:t>Marvin </a:t>
            </a:r>
            <a:r>
              <a:rPr lang="en-US" baseline="0" dirty="0" err="1"/>
              <a:t>Minsky</a:t>
            </a:r>
            <a:r>
              <a:rPr lang="en-US" baseline="0" dirty="0"/>
              <a:t>, 1951 -&gt; First NN</a:t>
            </a:r>
          </a:p>
          <a:p>
            <a:r>
              <a:rPr lang="en-US" baseline="0" dirty="0"/>
              <a:t>Alan Turing,1950  -&gt; Turing Test</a:t>
            </a:r>
          </a:p>
          <a:p>
            <a:r>
              <a:rPr lang="en-US" baseline="0" dirty="0"/>
              <a:t>McCarthy, 1956 -&gt; </a:t>
            </a:r>
            <a:r>
              <a:rPr lang="en-US" baseline="0" dirty="0" err="1"/>
              <a:t>Darthmouth</a:t>
            </a:r>
            <a:r>
              <a:rPr lang="en-US" baseline="0" dirty="0"/>
              <a:t> meeting -&gt; </a:t>
            </a:r>
            <a:r>
              <a:rPr lang="en-US" baseline="0" dirty="0" err="1"/>
              <a:t>Minsky</a:t>
            </a:r>
            <a:r>
              <a:rPr lang="en-US" baseline="0" dirty="0"/>
              <a:t>, Claude Shannon (father of information theory), </a:t>
            </a:r>
            <a:r>
              <a:rPr lang="en-US" baseline="0" dirty="0" err="1"/>
              <a:t>Arther</a:t>
            </a:r>
            <a:r>
              <a:rPr lang="en-US" baseline="0" dirty="0"/>
              <a:t> Samuel, Ray </a:t>
            </a:r>
            <a:r>
              <a:rPr lang="en-US" baseline="0" dirty="0" err="1"/>
              <a:t>Solomonoff</a:t>
            </a:r>
            <a:r>
              <a:rPr lang="en-US" baseline="0" dirty="0"/>
              <a:t> (inventor of algorithmic probability), Oliver </a:t>
            </a:r>
            <a:r>
              <a:rPr lang="en-US" baseline="0" dirty="0" err="1"/>
              <a:t>selfridge</a:t>
            </a:r>
            <a:r>
              <a:rPr lang="en-US" baseline="0" dirty="0"/>
              <a:t> (father of machine perception), Name AI was propose by McCarthy.</a:t>
            </a:r>
          </a:p>
          <a:p>
            <a:r>
              <a:rPr lang="en-US" baseline="0" dirty="0"/>
              <a:t>1952-1969 -&gt; Different success stories, GPS (Newell and Simon), Checker’s Game (Samuel), Herbert (Geometry </a:t>
            </a:r>
            <a:r>
              <a:rPr lang="en-US" baseline="0" dirty="0" err="1"/>
              <a:t>theorm</a:t>
            </a:r>
            <a:r>
              <a:rPr lang="en-US" baseline="0" dirty="0"/>
              <a:t> </a:t>
            </a:r>
            <a:r>
              <a:rPr lang="en-US" baseline="0" dirty="0" err="1"/>
              <a:t>prover</a:t>
            </a:r>
            <a:r>
              <a:rPr lang="en-US" baseline="0" dirty="0"/>
              <a:t>), McCarthy developed List in 1958, Windrow and </a:t>
            </a:r>
            <a:r>
              <a:rPr lang="en-US" baseline="0" dirty="0" err="1"/>
              <a:t>Rosenblatte</a:t>
            </a:r>
            <a:r>
              <a:rPr lang="en-US" baseline="0" dirty="0"/>
              <a:t> developed NN. </a:t>
            </a:r>
          </a:p>
          <a:p>
            <a:r>
              <a:rPr lang="en-US" baseline="0" dirty="0"/>
              <a:t>In 1966-73 -&gt; AI scientist discovery that the fact that a problem can find a solution in principle not means that the program contains any of mechanism needed to find it practical. Failed to come to solve combinatorial explosion was one of the main criticism contained in </a:t>
            </a:r>
            <a:r>
              <a:rPr lang="en-US" baseline="0" dirty="0" err="1"/>
              <a:t>Lighthill</a:t>
            </a:r>
            <a:r>
              <a:rPr lang="en-US" baseline="0" dirty="0"/>
              <a:t>, 1973 which formed the basis of decision that British </a:t>
            </a:r>
            <a:r>
              <a:rPr lang="en-US" baseline="0" dirty="0" err="1"/>
              <a:t>Govt</a:t>
            </a:r>
            <a:r>
              <a:rPr lang="en-US" baseline="0" dirty="0"/>
              <a:t> stopped supporting AI.</a:t>
            </a:r>
          </a:p>
          <a:p>
            <a:r>
              <a:rPr lang="en-US" dirty="0"/>
              <a:t>In 1969-79, Knowledge based systems are developed</a:t>
            </a:r>
            <a:r>
              <a:rPr lang="en-US" baseline="0" dirty="0"/>
              <a:t> now known as expert systems. Prominent examples are DENDRAL (Molecule substructure prediction) and </a:t>
            </a:r>
            <a:r>
              <a:rPr lang="en-US" baseline="0" dirty="0" err="1"/>
              <a:t>Mycin</a:t>
            </a:r>
            <a:r>
              <a:rPr lang="en-US" baseline="0" dirty="0"/>
              <a:t> (infectious </a:t>
            </a:r>
            <a:r>
              <a:rPr lang="en-US" baseline="0" dirty="0" err="1"/>
              <a:t>diseses</a:t>
            </a:r>
            <a:r>
              <a:rPr lang="en-US" baseline="0" dirty="0"/>
              <a:t>). People start working on heuristics. </a:t>
            </a:r>
          </a:p>
          <a:p>
            <a:r>
              <a:rPr lang="en-US" baseline="0" dirty="0"/>
              <a:t>In 1980- </a:t>
            </a:r>
            <a:r>
              <a:rPr lang="en-US" baseline="0" dirty="0" err="1"/>
              <a:t>todate</a:t>
            </a:r>
            <a:r>
              <a:rPr lang="en-US" baseline="0" dirty="0"/>
              <a:t>, AI became industry. The first commercial application of expert system was R1 deployed in 1986 at Digital Equipment Corporation. The program helped configure orders of new computer systems. It was saving 40 million dollar. Nearly every US corporation has its AI group either developing or investigating AI. </a:t>
            </a:r>
          </a:p>
          <a:p>
            <a:r>
              <a:rPr lang="en-US" baseline="0" dirty="0"/>
              <a:t>Return of Neural Network (1986-present), Physicists such as </a:t>
            </a:r>
            <a:r>
              <a:rPr lang="en-US" baseline="0" dirty="0" err="1"/>
              <a:t>Hopefield</a:t>
            </a:r>
            <a:r>
              <a:rPr lang="en-US" baseline="0" dirty="0"/>
              <a:t> used techniques from statistical theory to analyze optimization properties of network. </a:t>
            </a:r>
            <a:r>
              <a:rPr lang="en-US" baseline="0" dirty="0" err="1"/>
              <a:t>Rumelhart</a:t>
            </a:r>
            <a:r>
              <a:rPr lang="en-US" baseline="0" dirty="0"/>
              <a:t> and Hinton continued the study of neural network of memory. In mid nineteen, </a:t>
            </a:r>
            <a:r>
              <a:rPr lang="en-US" baseline="0" dirty="0" err="1"/>
              <a:t>backpropagaton</a:t>
            </a:r>
            <a:r>
              <a:rPr lang="en-US" baseline="0" dirty="0"/>
              <a:t> </a:t>
            </a:r>
            <a:r>
              <a:rPr lang="en-US" baseline="0" dirty="0" err="1"/>
              <a:t>algo</a:t>
            </a:r>
            <a:r>
              <a:rPr lang="en-US" baseline="0" dirty="0"/>
              <a:t> was invented. There so-called connectionist model of intelligence were seen by some as direct competitors of symbolic models promoted by Newell and Simon and </a:t>
            </a:r>
            <a:r>
              <a:rPr lang="en-US" baseline="0" dirty="0" err="1"/>
              <a:t>logicist</a:t>
            </a:r>
            <a:r>
              <a:rPr lang="en-US" baseline="0" dirty="0"/>
              <a:t> promoted by McCarthy. </a:t>
            </a:r>
          </a:p>
          <a:p>
            <a:r>
              <a:rPr lang="en-US" baseline="0" dirty="0"/>
              <a:t>AI become Science (1987-present): Recent years have seen a revolution in both content and methodology , it is now common to built on existing theories than to propose brand new ones, to base claims on rigorous theorems or hard experimental results, to show relevancy to real application than toy examples. In terms of methodology, AI comes under the scientific methods, To be accepted hypothesis must be subject to rigorous experiments, Through internet standard data repositories are built for experimentations. In speech recognition, handwritten AI approaches are used to build commercial applications. Recently several new technologies are developed like Data mining and probabilistic graphical models </a:t>
            </a:r>
            <a:endParaRPr lang="en-US" dirty="0"/>
          </a:p>
          <a:p>
            <a:r>
              <a:rPr lang="en-US" dirty="0"/>
              <a:t>Emergence of intelligent agents (1995_present). Perhaps by the progress of solving </a:t>
            </a:r>
            <a:r>
              <a:rPr lang="en-US" dirty="0" err="1"/>
              <a:t>subproblems</a:t>
            </a:r>
            <a:r>
              <a:rPr lang="en-US" baseline="0" dirty="0"/>
              <a:t> of AI, researchers have also started to look at “Whole agent” problem again. SOAR is best known example of complete agent architecture. The so-called situated movement aims to understand working of agents embedded in real environment. An important </a:t>
            </a:r>
            <a:r>
              <a:rPr lang="en-US" baseline="0" dirty="0" err="1"/>
              <a:t>envirnoment</a:t>
            </a:r>
            <a:r>
              <a:rPr lang="en-US" baseline="0" dirty="0"/>
              <a:t> for such agents is internet where these methods are used in searching, </a:t>
            </a:r>
            <a:r>
              <a:rPr lang="en-US" baseline="0" dirty="0" err="1"/>
              <a:t>recomendation</a:t>
            </a:r>
            <a:endParaRPr lang="en-US" dirty="0"/>
          </a:p>
        </p:txBody>
      </p:sp>
      <p:sp>
        <p:nvSpPr>
          <p:cNvPr id="4" name="Slide Number Placeholder 3"/>
          <p:cNvSpPr>
            <a:spLocks noGrp="1"/>
          </p:cNvSpPr>
          <p:nvPr>
            <p:ph type="sldNum" sz="quarter" idx="10"/>
          </p:nvPr>
        </p:nvSpPr>
        <p:spPr/>
        <p:txBody>
          <a:bodyPr/>
          <a:lstStyle/>
          <a:p>
            <a:fld id="{58B4AF67-1199-4FD3-BA7C-97964DAD8D07}" type="slidenum">
              <a:rPr lang="en-US" smtClean="0"/>
              <a:t>22</a:t>
            </a:fld>
            <a:endParaRPr lang="en-US"/>
          </a:p>
        </p:txBody>
      </p:sp>
    </p:spTree>
    <p:extLst>
      <p:ext uri="{BB962C8B-B14F-4D97-AF65-F5344CB8AC3E}">
        <p14:creationId xmlns:p14="http://schemas.microsoft.com/office/powerpoint/2010/main" val="70437003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Ai, It consists of a bunch of algorithms/</a:t>
            </a:r>
            <a:r>
              <a:rPr lang="en-US" baseline="0" dirty="0"/>
              <a:t> ideas that can solve certain types of problems which would not easily be dealt with otherwise. What is the essence of those applications: autonomy (freedom to act independently)</a:t>
            </a:r>
            <a:endParaRPr lang="en-US" dirty="0"/>
          </a:p>
        </p:txBody>
      </p:sp>
      <p:sp>
        <p:nvSpPr>
          <p:cNvPr id="4" name="Slide Number Placeholder 3"/>
          <p:cNvSpPr>
            <a:spLocks noGrp="1"/>
          </p:cNvSpPr>
          <p:nvPr>
            <p:ph type="sldNum" sz="quarter" idx="10"/>
          </p:nvPr>
        </p:nvSpPr>
        <p:spPr/>
        <p:txBody>
          <a:bodyPr/>
          <a:lstStyle/>
          <a:p>
            <a:fld id="{58B4AF67-1199-4FD3-BA7C-97964DAD8D07}" type="slidenum">
              <a:rPr lang="en-US" smtClean="0"/>
              <a:t>35</a:t>
            </a:fld>
            <a:endParaRPr lang="en-US"/>
          </a:p>
        </p:txBody>
      </p:sp>
    </p:spTree>
    <p:extLst>
      <p:ext uri="{BB962C8B-B14F-4D97-AF65-F5344CB8AC3E}">
        <p14:creationId xmlns:p14="http://schemas.microsoft.com/office/powerpoint/2010/main" val="30183388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8B4AF67-1199-4FD3-BA7C-97964DAD8D07}" type="slidenum">
              <a:rPr lang="en-US" smtClean="0"/>
              <a:t>38</a:t>
            </a:fld>
            <a:endParaRPr lang="en-US"/>
          </a:p>
        </p:txBody>
      </p:sp>
    </p:spTree>
    <p:extLst>
      <p:ext uri="{BB962C8B-B14F-4D97-AF65-F5344CB8AC3E}">
        <p14:creationId xmlns:p14="http://schemas.microsoft.com/office/powerpoint/2010/main" val="23886231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9/30/2025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9/30/2025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9/30/2025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9/30/2025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9/30/2025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9/30/2025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8" Type="http://schemas.openxmlformats.org/officeDocument/2006/relationships/hyperlink" Target="https://en.wikipedia.org/wiki/Audi" TargetMode="External"/><Relationship Id="rId3" Type="http://schemas.openxmlformats.org/officeDocument/2006/relationships/hyperlink" Target="https://en.wikipedia.org/wiki/General_Motors" TargetMode="External"/><Relationship Id="rId7" Type="http://schemas.openxmlformats.org/officeDocument/2006/relationships/hyperlink" Target="https://en.wikipedia.org/wiki/Toyota" TargetMode="External"/><Relationship Id="rId12" Type="http://schemas.openxmlformats.org/officeDocument/2006/relationships/hyperlink" Target="https://en.wikipedia.org/wiki/Oxford_University" TargetMode="External"/><Relationship Id="rId2" Type="http://schemas.openxmlformats.org/officeDocument/2006/relationships/hyperlink" Target="https://en.wikipedia.org/wiki/Mercedes-Benz" TargetMode="External"/><Relationship Id="rId1" Type="http://schemas.openxmlformats.org/officeDocument/2006/relationships/slideLayout" Target="../slideLayouts/slideLayout2.xml"/><Relationship Id="rId6" Type="http://schemas.openxmlformats.org/officeDocument/2006/relationships/hyperlink" Target="https://en.wikipedia.org/wiki/Nissan" TargetMode="External"/><Relationship Id="rId11" Type="http://schemas.openxmlformats.org/officeDocument/2006/relationships/hyperlink" Target="https://en.wikipedia.org/wiki/University_of_Parma" TargetMode="External"/><Relationship Id="rId5" Type="http://schemas.openxmlformats.org/officeDocument/2006/relationships/hyperlink" Target="https://en.wikipedia.org/wiki/Robert_Bosch_GmbH" TargetMode="External"/><Relationship Id="rId10" Type="http://schemas.openxmlformats.org/officeDocument/2006/relationships/hyperlink" Target="https://en.wikipedia.org/wiki/Vislab" TargetMode="External"/><Relationship Id="rId4" Type="http://schemas.openxmlformats.org/officeDocument/2006/relationships/hyperlink" Target="https://en.wikipedia.org/wiki/Continental_Automotive_Systems" TargetMode="External"/><Relationship Id="rId9" Type="http://schemas.openxmlformats.org/officeDocument/2006/relationships/hyperlink" Target="https://en.wikipedia.org/wiki/Volvo" TargetMode="External"/></Relationships>
</file>

<file path=ppt/slides/_rels/slide2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microsoft.com/office/2007/relationships/hdphoto" Target="../media/hdphoto5.wdp"/><Relationship Id="rId2" Type="http://schemas.openxmlformats.org/officeDocument/2006/relationships/image" Target="../media/image3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 Artificial Intelligence</a:t>
            </a:r>
          </a:p>
        </p:txBody>
      </p:sp>
      <p:sp>
        <p:nvSpPr>
          <p:cNvPr id="3" name="Subtitle 2"/>
          <p:cNvSpPr>
            <a:spLocks noGrp="1"/>
          </p:cNvSpPr>
          <p:nvPr>
            <p:ph type="subTitle" idx="1"/>
          </p:nvPr>
        </p:nvSpPr>
        <p:spPr>
          <a:xfrm>
            <a:off x="1371600" y="3886200"/>
            <a:ext cx="6400800" cy="685800"/>
          </a:xfrm>
        </p:spPr>
        <p:txBody>
          <a:bodyPr/>
          <a:lstStyle/>
          <a:p>
            <a:r>
              <a:rPr lang="en-US" dirty="0"/>
              <a:t>Lecture 1</a:t>
            </a:r>
          </a:p>
        </p:txBody>
      </p:sp>
      <p:sp>
        <p:nvSpPr>
          <p:cNvPr id="4" name="Subtitle 2"/>
          <p:cNvSpPr txBox="1">
            <a:spLocks/>
          </p:cNvSpPr>
          <p:nvPr/>
        </p:nvSpPr>
        <p:spPr>
          <a:xfrm>
            <a:off x="3124200" y="4495800"/>
            <a:ext cx="2819400" cy="457200"/>
          </a:xfrm>
          <a:prstGeom prst="rect">
            <a:avLst/>
          </a:prstGeom>
        </p:spPr>
        <p:txBody>
          <a:bodyPr vert="horz" lIns="91440" tIns="45720" rIns="91440" bIns="45720" rtlCol="0">
            <a:norm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z="2000" dirty="0"/>
              <a:t>Mr. Anwar Khan</a:t>
            </a:r>
          </a:p>
        </p:txBody>
      </p:sp>
    </p:spTree>
    <p:extLst>
      <p:ext uri="{BB962C8B-B14F-4D97-AF65-F5344CB8AC3E}">
        <p14:creationId xmlns:p14="http://schemas.microsoft.com/office/powerpoint/2010/main" val="2409269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MARKS DISTRIBUTION</a:t>
            </a:r>
          </a:p>
        </p:txBody>
      </p:sp>
      <p:sp>
        <p:nvSpPr>
          <p:cNvPr id="3" name="Content Placeholder 2"/>
          <p:cNvSpPr>
            <a:spLocks noGrp="1"/>
          </p:cNvSpPr>
          <p:nvPr>
            <p:ph idx="1"/>
          </p:nvPr>
        </p:nvSpPr>
        <p:spPr/>
        <p:txBody>
          <a:bodyPr>
            <a:normAutofit/>
          </a:bodyPr>
          <a:lstStyle/>
          <a:p>
            <a:r>
              <a:rPr lang="en-US" sz="2800" b="1" dirty="0"/>
              <a:t>Assignments             10  </a:t>
            </a:r>
          </a:p>
          <a:p>
            <a:r>
              <a:rPr lang="en-US" sz="2800" b="1" dirty="0"/>
              <a:t>Quiz                             5</a:t>
            </a:r>
          </a:p>
          <a:p>
            <a:r>
              <a:rPr lang="en-US" sz="2800" b="1" dirty="0"/>
              <a:t>Mid exams	       20</a:t>
            </a:r>
          </a:p>
          <a:p>
            <a:r>
              <a:rPr lang="en-US" sz="2800" b="1" dirty="0"/>
              <a:t>Project                        25   </a:t>
            </a:r>
          </a:p>
          <a:p>
            <a:r>
              <a:rPr lang="en-US" sz="2800" b="1" dirty="0"/>
              <a:t>Final		       50 </a:t>
            </a:r>
          </a:p>
        </p:txBody>
      </p:sp>
    </p:spTree>
    <p:extLst>
      <p:ext uri="{BB962C8B-B14F-4D97-AF65-F5344CB8AC3E}">
        <p14:creationId xmlns:p14="http://schemas.microsoft.com/office/powerpoint/2010/main" val="3498199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AGENDA</a:t>
            </a:r>
          </a:p>
        </p:txBody>
      </p:sp>
      <p:sp>
        <p:nvSpPr>
          <p:cNvPr id="3" name="Content Placeholder 2"/>
          <p:cNvSpPr>
            <a:spLocks noGrp="1"/>
          </p:cNvSpPr>
          <p:nvPr>
            <p:ph idx="1"/>
          </p:nvPr>
        </p:nvSpPr>
        <p:spPr>
          <a:xfrm>
            <a:off x="668898" y="1417638"/>
            <a:ext cx="7598569" cy="3725863"/>
          </a:xfrm>
        </p:spPr>
        <p:txBody>
          <a:bodyPr>
            <a:normAutofit/>
          </a:bodyPr>
          <a:lstStyle/>
          <a:p>
            <a:pPr marL="0" indent="0" eaLnBrk="0" fontAlgn="base" hangingPunct="0">
              <a:spcAft>
                <a:spcPct val="0"/>
              </a:spcAft>
              <a:buNone/>
            </a:pPr>
            <a:endParaRPr lang="en-US" altLang="en-US" sz="1800" kern="0" dirty="0">
              <a:latin typeface="Verdana"/>
            </a:endParaRPr>
          </a:p>
          <a:p>
            <a:pPr lvl="0" eaLnBrk="0" fontAlgn="base" hangingPunct="0">
              <a:spcAft>
                <a:spcPct val="0"/>
              </a:spcAft>
              <a:buFontTx/>
              <a:buChar char="•"/>
            </a:pPr>
            <a:r>
              <a:rPr lang="en-US" altLang="en-US" sz="1800" kern="0" dirty="0">
                <a:latin typeface="Verdana"/>
              </a:rPr>
              <a:t>Introduction to artificial intelligence?</a:t>
            </a:r>
          </a:p>
          <a:p>
            <a:pPr marL="0" indent="0" eaLnBrk="0" fontAlgn="base" hangingPunct="0">
              <a:spcAft>
                <a:spcPct val="0"/>
              </a:spcAft>
              <a:buNone/>
            </a:pPr>
            <a:endParaRPr lang="en-US" altLang="en-US" sz="1800" kern="0" dirty="0">
              <a:latin typeface="Verdana"/>
            </a:endParaRPr>
          </a:p>
          <a:p>
            <a:pPr lvl="0" eaLnBrk="0" fontAlgn="base" hangingPunct="0">
              <a:spcAft>
                <a:spcPct val="0"/>
              </a:spcAft>
              <a:buFontTx/>
              <a:buChar char="•"/>
            </a:pPr>
            <a:r>
              <a:rPr lang="en-US" altLang="en-US" sz="1800" kern="0" dirty="0">
                <a:latin typeface="Verdana"/>
              </a:rPr>
              <a:t>A very brief history of AI</a:t>
            </a:r>
          </a:p>
          <a:p>
            <a:pPr marL="342900" lvl="1" indent="0" eaLnBrk="0" fontAlgn="base" hangingPunct="0">
              <a:spcAft>
                <a:spcPct val="0"/>
              </a:spcAft>
              <a:buNone/>
            </a:pPr>
            <a:endParaRPr lang="en-US" altLang="en-US" sz="1800" kern="0" dirty="0">
              <a:latin typeface="Verdana"/>
            </a:endParaRPr>
          </a:p>
          <a:p>
            <a:pPr lvl="0" eaLnBrk="0" fontAlgn="base" hangingPunct="0">
              <a:spcAft>
                <a:spcPct val="0"/>
              </a:spcAft>
              <a:buFontTx/>
              <a:buChar char="•"/>
            </a:pPr>
            <a:r>
              <a:rPr lang="en-US" altLang="en-US" sz="1800" kern="0" dirty="0">
                <a:latin typeface="Verdana"/>
              </a:rPr>
              <a:t>Foundations of AI</a:t>
            </a:r>
          </a:p>
          <a:p>
            <a:pPr marL="0" indent="0" eaLnBrk="0" fontAlgn="base" hangingPunct="0">
              <a:spcAft>
                <a:spcPct val="0"/>
              </a:spcAft>
              <a:buNone/>
            </a:pPr>
            <a:endParaRPr lang="en-US" altLang="en-US" sz="1800" kern="0" dirty="0">
              <a:latin typeface="Verdana"/>
            </a:endParaRPr>
          </a:p>
          <a:p>
            <a:pPr lvl="0" eaLnBrk="0" fontAlgn="base" hangingPunct="0">
              <a:spcAft>
                <a:spcPct val="0"/>
              </a:spcAft>
              <a:buFontTx/>
              <a:buChar char="•"/>
            </a:pPr>
            <a:r>
              <a:rPr lang="en-US" altLang="en-US" sz="1800" kern="0" dirty="0">
                <a:latin typeface="Verdana"/>
              </a:rPr>
              <a:t>AI state of Art</a:t>
            </a:r>
          </a:p>
          <a:p>
            <a:pPr lvl="1" eaLnBrk="0" fontAlgn="base" hangingPunct="0">
              <a:spcAft>
                <a:spcPct val="0"/>
              </a:spcAft>
              <a:buFontTx/>
              <a:buChar char="–"/>
            </a:pPr>
            <a:r>
              <a:rPr lang="en-US" altLang="en-US" sz="1800" kern="0" dirty="0">
                <a:latin typeface="Verdana"/>
              </a:rPr>
              <a:t>How much progress has been made in different aspects of AI</a:t>
            </a:r>
          </a:p>
          <a:p>
            <a:endParaRPr lang="en-US" dirty="0"/>
          </a:p>
        </p:txBody>
      </p:sp>
    </p:spTree>
    <p:extLst>
      <p:ext uri="{BB962C8B-B14F-4D97-AF65-F5344CB8AC3E}">
        <p14:creationId xmlns:p14="http://schemas.microsoft.com/office/powerpoint/2010/main" val="1492932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rotWithShape="1">
          <a:blip r:embed="rId2" cstate="print">
            <a:clrChange>
              <a:clrFrom>
                <a:srgbClr val="000000">
                  <a:alpha val="0"/>
                </a:srgbClr>
              </a:clrFrom>
              <a:clrTo>
                <a:srgbClr val="000000">
                  <a:alpha val="0"/>
                </a:srgbClr>
              </a:clrTo>
            </a:clrChange>
            <a:extLst>
              <a:ext uri="{BEBA8EAE-BF5A-486C-A8C5-ECC9F3942E4B}">
                <a14:imgProps xmlns:a14="http://schemas.microsoft.com/office/drawing/2010/main">
                  <a14:imgLayer r:embed="rId3">
                    <a14:imgEffect>
                      <a14:backgroundRemoval t="0" b="67426" l="9910" r="87162">
                        <a14:foregroundMark x1="49550" y1="30068" x2="49550" y2="30068"/>
                        <a14:foregroundMark x1="51351" y1="5011" x2="51351" y2="5011"/>
                        <a14:foregroundMark x1="57883" y1="26651" x2="57883" y2="26651"/>
                        <a14:foregroundMark x1="47973" y1="26424" x2="47973" y2="26424"/>
                        <a14:backgroundMark x1="83559" y1="18679" x2="83559" y2="18679"/>
                        <a14:backgroundMark x1="88964" y1="20273" x2="88964" y2="20273"/>
                        <a14:backgroundMark x1="96847" y1="42597" x2="96847" y2="42597"/>
                        <a14:backgroundMark x1="4730" y1="41458" x2="4730" y2="41458"/>
                        <a14:backgroundMark x1="16216" y1="41002" x2="16216" y2="41002"/>
                        <a14:backgroundMark x1="13063" y1="22779" x2="13063" y2="22779"/>
                        <a14:backgroundMark x1="225" y1="16173" x2="225" y2="16173"/>
                        <a14:backgroundMark x1="15090" y1="10934" x2="15090" y2="10934"/>
                      </a14:backgroundRemoval>
                    </a14:imgEffect>
                    <a14:imgEffect>
                      <a14:sharpenSoften amount="25000"/>
                    </a14:imgEffect>
                  </a14:imgLayer>
                </a14:imgProps>
              </a:ext>
              <a:ext uri="{28A0092B-C50C-407E-A947-70E740481C1C}">
                <a14:useLocalDpi xmlns:a14="http://schemas.microsoft.com/office/drawing/2010/main" val="0"/>
              </a:ext>
            </a:extLst>
          </a:blip>
          <a:srcRect b="33053"/>
          <a:stretch/>
        </p:blipFill>
        <p:spPr>
          <a:xfrm>
            <a:off x="2082370" y="2623981"/>
            <a:ext cx="4051193" cy="3376769"/>
          </a:xfrm>
          <a:solidFill>
            <a:srgbClr val="002368"/>
          </a:solidFill>
          <a:ln>
            <a:solidFill>
              <a:srgbClr val="002060"/>
            </a:solidFill>
          </a:ln>
        </p:spPr>
      </p:pic>
      <p:sp>
        <p:nvSpPr>
          <p:cNvPr id="2" name="Title 1"/>
          <p:cNvSpPr>
            <a:spLocks noGrp="1"/>
          </p:cNvSpPr>
          <p:nvPr>
            <p:ph type="title"/>
          </p:nvPr>
        </p:nvSpPr>
        <p:spPr>
          <a:xfrm>
            <a:off x="457200" y="428303"/>
            <a:ext cx="7598569" cy="1092200"/>
          </a:xfrm>
        </p:spPr>
        <p:txBody>
          <a:bodyPr/>
          <a:lstStyle/>
          <a:p>
            <a:r>
              <a:rPr lang="en-US" b="1" dirty="0"/>
              <a:t>What makes human intelligent?</a:t>
            </a:r>
          </a:p>
        </p:txBody>
      </p:sp>
      <p:sp>
        <p:nvSpPr>
          <p:cNvPr id="5" name="Cloud 4"/>
          <p:cNvSpPr/>
          <p:nvPr/>
        </p:nvSpPr>
        <p:spPr>
          <a:xfrm>
            <a:off x="1390919" y="3031724"/>
            <a:ext cx="1545465" cy="961980"/>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spc="38" dirty="0">
                <a:ln w="0"/>
                <a:solidFill>
                  <a:schemeClr val="tx1"/>
                </a:solidFill>
                <a:effectLst>
                  <a:innerShdw blurRad="63500" dist="50800" dir="13500000">
                    <a:srgbClr val="000000">
                      <a:alpha val="50000"/>
                    </a:srgbClr>
                  </a:innerShdw>
                </a:effectLst>
              </a:rPr>
              <a:t>Think</a:t>
            </a:r>
          </a:p>
        </p:txBody>
      </p:sp>
      <p:sp>
        <p:nvSpPr>
          <p:cNvPr id="6" name="Cloud 5"/>
          <p:cNvSpPr/>
          <p:nvPr/>
        </p:nvSpPr>
        <p:spPr>
          <a:xfrm>
            <a:off x="3239841" y="1684127"/>
            <a:ext cx="1545465" cy="961980"/>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spc="38" dirty="0">
                <a:ln w="0"/>
                <a:solidFill>
                  <a:schemeClr val="tx1"/>
                </a:solidFill>
                <a:effectLst>
                  <a:innerShdw blurRad="63500" dist="50800" dir="13500000">
                    <a:srgbClr val="000000">
                      <a:alpha val="50000"/>
                    </a:srgbClr>
                  </a:innerShdw>
                </a:effectLst>
              </a:rPr>
              <a:t>Learn</a:t>
            </a:r>
          </a:p>
        </p:txBody>
      </p:sp>
      <p:sp>
        <p:nvSpPr>
          <p:cNvPr id="7" name="Cloud 6"/>
          <p:cNvSpPr/>
          <p:nvPr/>
        </p:nvSpPr>
        <p:spPr>
          <a:xfrm>
            <a:off x="5550794" y="3692534"/>
            <a:ext cx="1720152" cy="961980"/>
          </a:xfrm>
          <a:prstGeom prst="cloud">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b="1" spc="38" dirty="0">
                <a:ln w="0"/>
                <a:solidFill>
                  <a:schemeClr val="tx1"/>
                </a:solidFill>
                <a:effectLst>
                  <a:innerShdw blurRad="63500" dist="50800" dir="13500000">
                    <a:srgbClr val="000000">
                      <a:alpha val="50000"/>
                    </a:srgbClr>
                  </a:innerShdw>
                </a:effectLst>
              </a:rPr>
              <a:t>Make Decisions</a:t>
            </a:r>
          </a:p>
        </p:txBody>
      </p:sp>
      <p:sp>
        <p:nvSpPr>
          <p:cNvPr id="8" name="TextBox 7"/>
          <p:cNvSpPr txBox="1"/>
          <p:nvPr/>
        </p:nvSpPr>
        <p:spPr>
          <a:xfrm>
            <a:off x="213289" y="3358972"/>
            <a:ext cx="1177630" cy="923330"/>
          </a:xfrm>
          <a:prstGeom prst="rect">
            <a:avLst/>
          </a:prstGeom>
          <a:noFill/>
        </p:spPr>
        <p:txBody>
          <a:bodyPr wrap="square" rtlCol="0">
            <a:spAutoFit/>
          </a:bodyPr>
          <a:lstStyle/>
          <a:p>
            <a:pPr algn="ctr"/>
            <a:r>
              <a:rPr lang="en-US" sz="1350" dirty="0"/>
              <a:t>Problem solving </a:t>
            </a:r>
          </a:p>
          <a:p>
            <a:pPr algn="ctr"/>
            <a:r>
              <a:rPr lang="en-US" sz="1350" dirty="0"/>
              <a:t>(Game theory)</a:t>
            </a:r>
          </a:p>
        </p:txBody>
      </p:sp>
      <p:sp>
        <p:nvSpPr>
          <p:cNvPr id="9" name="TextBox 8"/>
          <p:cNvSpPr txBox="1"/>
          <p:nvPr/>
        </p:nvSpPr>
        <p:spPr>
          <a:xfrm>
            <a:off x="4894383" y="1692868"/>
            <a:ext cx="1516487" cy="923330"/>
          </a:xfrm>
          <a:prstGeom prst="rect">
            <a:avLst/>
          </a:prstGeom>
          <a:noFill/>
        </p:spPr>
        <p:txBody>
          <a:bodyPr wrap="square" rtlCol="0">
            <a:spAutoFit/>
          </a:bodyPr>
          <a:lstStyle/>
          <a:p>
            <a:r>
              <a:rPr lang="en-US" sz="1350" dirty="0"/>
              <a:t>Learning and Adapting by Experiences from Surroundings</a:t>
            </a:r>
          </a:p>
        </p:txBody>
      </p:sp>
      <p:sp>
        <p:nvSpPr>
          <p:cNvPr id="10" name="TextBox 9"/>
          <p:cNvSpPr txBox="1"/>
          <p:nvPr/>
        </p:nvSpPr>
        <p:spPr>
          <a:xfrm>
            <a:off x="7342190" y="3931150"/>
            <a:ext cx="939336" cy="300082"/>
          </a:xfrm>
          <a:prstGeom prst="rect">
            <a:avLst/>
          </a:prstGeom>
          <a:noFill/>
        </p:spPr>
        <p:txBody>
          <a:bodyPr wrap="square" rtlCol="0">
            <a:spAutoFit/>
          </a:bodyPr>
          <a:lstStyle/>
          <a:p>
            <a:pPr algn="ctr"/>
            <a:r>
              <a:rPr lang="en-US" sz="1350" dirty="0"/>
              <a:t>YES/NO</a:t>
            </a:r>
          </a:p>
        </p:txBody>
      </p:sp>
    </p:spTree>
    <p:extLst>
      <p:ext uri="{BB962C8B-B14F-4D97-AF65-F5344CB8AC3E}">
        <p14:creationId xmlns:p14="http://schemas.microsoft.com/office/powerpoint/2010/main" val="26989062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fade">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fade">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fade">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Artificial Intelligence</a:t>
            </a:r>
            <a:endParaRPr lang="en-US" dirty="0"/>
          </a:p>
        </p:txBody>
      </p:sp>
      <p:sp>
        <p:nvSpPr>
          <p:cNvPr id="3" name="Content Placeholder 2"/>
          <p:cNvSpPr>
            <a:spLocks noGrp="1"/>
          </p:cNvSpPr>
          <p:nvPr>
            <p:ph idx="1"/>
          </p:nvPr>
        </p:nvSpPr>
        <p:spPr/>
        <p:txBody>
          <a:bodyPr/>
          <a:lstStyle/>
          <a:p>
            <a:pPr algn="just"/>
            <a:r>
              <a:rPr lang="en-US" dirty="0"/>
              <a:t>Artificial intelligence is </a:t>
            </a:r>
            <a:r>
              <a:rPr lang="en-US" dirty="0">
                <a:solidFill>
                  <a:srgbClr val="FF0000"/>
                </a:solidFill>
              </a:rPr>
              <a:t>Branch </a:t>
            </a:r>
            <a:r>
              <a:rPr lang="en-US" dirty="0"/>
              <a:t>of</a:t>
            </a:r>
            <a:r>
              <a:rPr lang="en-US" dirty="0">
                <a:solidFill>
                  <a:srgbClr val="FF0000"/>
                </a:solidFill>
              </a:rPr>
              <a:t> computer </a:t>
            </a:r>
            <a:r>
              <a:rPr lang="en-US" dirty="0"/>
              <a:t>science concern with </a:t>
            </a:r>
            <a:r>
              <a:rPr lang="en-US" dirty="0">
                <a:solidFill>
                  <a:srgbClr val="FF0000"/>
                </a:solidFill>
              </a:rPr>
              <a:t>development of methods</a:t>
            </a:r>
            <a:r>
              <a:rPr lang="en-US" dirty="0"/>
              <a:t> that allow </a:t>
            </a:r>
            <a:r>
              <a:rPr lang="en-US" dirty="0">
                <a:solidFill>
                  <a:srgbClr val="FF0000"/>
                </a:solidFill>
              </a:rPr>
              <a:t>computer to learn without explicit programed.</a:t>
            </a:r>
          </a:p>
        </p:txBody>
      </p:sp>
    </p:spTree>
    <p:extLst>
      <p:ext uri="{BB962C8B-B14F-4D97-AF65-F5344CB8AC3E}">
        <p14:creationId xmlns:p14="http://schemas.microsoft.com/office/powerpoint/2010/main" val="30677571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What is AI?</a:t>
            </a:r>
          </a:p>
        </p:txBody>
      </p:sp>
      <p:sp>
        <p:nvSpPr>
          <p:cNvPr id="3" name="Content Placeholder 2"/>
          <p:cNvSpPr>
            <a:spLocks noGrp="1"/>
          </p:cNvSpPr>
          <p:nvPr>
            <p:ph idx="1"/>
          </p:nvPr>
        </p:nvSpPr>
        <p:spPr/>
        <p:txBody>
          <a:bodyPr/>
          <a:lstStyle/>
          <a:p>
            <a:pPr marL="0" indent="0" algn="ctr">
              <a:buNone/>
            </a:pPr>
            <a:r>
              <a:rPr lang="en-US" dirty="0"/>
              <a:t>The science of making machines that:</a:t>
            </a:r>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1088162648"/>
              </p:ext>
            </p:extLst>
          </p:nvPr>
        </p:nvGraphicFramePr>
        <p:xfrm>
          <a:off x="838200" y="2438400"/>
          <a:ext cx="7543800" cy="3962400"/>
        </p:xfrm>
        <a:graphic>
          <a:graphicData uri="http://schemas.openxmlformats.org/drawingml/2006/table">
            <a:tbl>
              <a:tblPr firstRow="1" bandRow="1">
                <a:tableStyleId>{5C22544A-7EE6-4342-B048-85BDC9FD1C3A}</a:tableStyleId>
              </a:tblPr>
              <a:tblGrid>
                <a:gridCol w="3771900">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tblGrid>
              <a:tr h="1981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Think like people</a:t>
                      </a:r>
                    </a:p>
                    <a:p>
                      <a:endParaRPr lang="en-US" dirty="0"/>
                    </a:p>
                  </a:txBody>
                  <a:tcPr>
                    <a:solidFill>
                      <a:schemeClr val="accent1"/>
                    </a:solidFill>
                  </a:tcPr>
                </a:tc>
                <a:tc>
                  <a:txBody>
                    <a:bodyPr/>
                    <a:lstStyle/>
                    <a:p>
                      <a:endParaRPr lang="en-US" dirty="0"/>
                    </a:p>
                    <a:p>
                      <a:endParaRPr lang="en-US" dirty="0"/>
                    </a:p>
                    <a:p>
                      <a:endParaRPr lang="en-US" dirty="0"/>
                    </a:p>
                    <a:p>
                      <a:r>
                        <a:rPr lang="en-US" dirty="0">
                          <a:solidFill>
                            <a:schemeClr val="tx1"/>
                          </a:solidFill>
                        </a:rPr>
                        <a:t>Think rationally </a:t>
                      </a:r>
                    </a:p>
                  </a:txBody>
                  <a:tcPr/>
                </a:tc>
                <a:extLst>
                  <a:ext uri="{0D108BD9-81ED-4DB2-BD59-A6C34878D82A}">
                    <a16:rowId xmlns:a16="http://schemas.microsoft.com/office/drawing/2014/main" val="10000"/>
                  </a:ext>
                </a:extLst>
              </a:tr>
              <a:tr h="19812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sz="2000" dirty="0">
                          <a:solidFill>
                            <a:schemeClr val="tx1"/>
                          </a:solidFill>
                        </a:rPr>
                        <a:t>Act like people</a:t>
                      </a:r>
                    </a:p>
                    <a:p>
                      <a:endParaRPr lang="en-US" dirty="0"/>
                    </a:p>
                  </a:txBody>
                  <a:tcPr/>
                </a:tc>
                <a:tc>
                  <a:txBody>
                    <a:bodyPr/>
                    <a:lstStyle/>
                    <a:p>
                      <a:endParaRPr lang="en-US" dirty="0"/>
                    </a:p>
                    <a:p>
                      <a:endParaRPr lang="en-US" dirty="0"/>
                    </a:p>
                    <a:p>
                      <a:r>
                        <a:rPr lang="en-US" dirty="0"/>
                        <a:t>Act </a:t>
                      </a:r>
                      <a:r>
                        <a:rPr lang="en-US" dirty="0">
                          <a:solidFill>
                            <a:schemeClr val="tx1"/>
                          </a:solidFill>
                        </a:rPr>
                        <a:t>rationally  </a:t>
                      </a:r>
                      <a:endParaRPr lang="en-US" dirty="0"/>
                    </a:p>
                  </a:txBody>
                  <a:tcPr/>
                </a:tc>
                <a:extLst>
                  <a:ext uri="{0D108BD9-81ED-4DB2-BD59-A6C34878D82A}">
                    <a16:rowId xmlns:a16="http://schemas.microsoft.com/office/drawing/2014/main" val="10001"/>
                  </a:ext>
                </a:extLst>
              </a:tr>
            </a:tbl>
          </a:graphicData>
        </a:graphic>
      </p:graphicFrame>
      <p:pic>
        <p:nvPicPr>
          <p:cNvPr id="7" name="Picture 2"/>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251863" y="2777490"/>
            <a:ext cx="1752600" cy="14897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19400" y="4585855"/>
            <a:ext cx="1752600" cy="1577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8" name="Picture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244936" y="4585855"/>
            <a:ext cx="1905000" cy="1577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099" name="Picture 3"/>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2895600" y="2712720"/>
            <a:ext cx="1600200" cy="170688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473277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76466"/>
            <a:ext cx="9144000" cy="5661837"/>
          </a:xfrm>
        </p:spPr>
      </p:pic>
    </p:spTree>
    <p:extLst>
      <p:ext uri="{BB962C8B-B14F-4D97-AF65-F5344CB8AC3E}">
        <p14:creationId xmlns:p14="http://schemas.microsoft.com/office/powerpoint/2010/main" val="486608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77" y="914400"/>
            <a:ext cx="9144000" cy="5280837"/>
          </a:xfrm>
          <a:prstGeom prst="rect">
            <a:avLst/>
          </a:prstGeom>
        </p:spPr>
      </p:pic>
    </p:spTree>
    <p:extLst>
      <p:ext uri="{BB962C8B-B14F-4D97-AF65-F5344CB8AC3E}">
        <p14:creationId xmlns:p14="http://schemas.microsoft.com/office/powerpoint/2010/main" val="3619604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8326" y="0"/>
            <a:ext cx="7598569" cy="1865738"/>
          </a:xfrm>
        </p:spPr>
        <p:txBody>
          <a:bodyPr>
            <a:normAutofit/>
          </a:bodyPr>
          <a:lstStyle/>
          <a:p>
            <a:r>
              <a:rPr lang="en-US" altLang="en-US" sz="2800" b="1" kern="0" dirty="0">
                <a:latin typeface="Verdana"/>
              </a:rPr>
              <a:t>Acting humanly: Turing test</a:t>
            </a:r>
            <a:endParaRPr lang="en-US" sz="2800" dirty="0"/>
          </a:p>
        </p:txBody>
      </p:sp>
      <p:sp>
        <p:nvSpPr>
          <p:cNvPr id="3" name="Content Placeholder 2"/>
          <p:cNvSpPr>
            <a:spLocks noGrp="1"/>
          </p:cNvSpPr>
          <p:nvPr>
            <p:ph idx="1"/>
          </p:nvPr>
        </p:nvSpPr>
        <p:spPr>
          <a:xfrm>
            <a:off x="272872" y="1101860"/>
            <a:ext cx="7598569" cy="2736850"/>
          </a:xfrm>
        </p:spPr>
        <p:txBody>
          <a:bodyPr>
            <a:normAutofit fontScale="62500" lnSpcReduction="20000"/>
          </a:bodyPr>
          <a:lstStyle/>
          <a:p>
            <a:pPr lvl="0" eaLnBrk="0" fontAlgn="base" hangingPunct="0">
              <a:lnSpc>
                <a:spcPct val="150000"/>
              </a:lnSpc>
              <a:spcAft>
                <a:spcPct val="0"/>
              </a:spcAft>
              <a:buFontTx/>
              <a:buChar char="•"/>
            </a:pPr>
            <a:r>
              <a:rPr lang="en-US" altLang="en-US" kern="0" dirty="0">
                <a:latin typeface="Verdana"/>
              </a:rPr>
              <a:t> Alan Turing (1950) "Computing machinery and intelligence“</a:t>
            </a:r>
          </a:p>
          <a:p>
            <a:pPr lvl="0" eaLnBrk="0" fontAlgn="base" hangingPunct="0">
              <a:lnSpc>
                <a:spcPct val="150000"/>
              </a:lnSpc>
              <a:spcAft>
                <a:spcPct val="0"/>
              </a:spcAft>
              <a:buFontTx/>
              <a:buChar char="•"/>
            </a:pPr>
            <a:r>
              <a:rPr lang="en-US" altLang="en-US" kern="0" dirty="0">
                <a:latin typeface="Verdana"/>
              </a:rPr>
              <a:t>"Can machines think?" </a:t>
            </a:r>
            <a:r>
              <a:rPr lang="en-US" altLang="en-US" kern="0" dirty="0">
                <a:latin typeface="Verdana"/>
                <a:sym typeface="Wingdings" pitchFamily="2" charset="2"/>
              </a:rPr>
              <a:t></a:t>
            </a:r>
            <a:r>
              <a:rPr lang="en-US" altLang="en-US" kern="0" dirty="0">
                <a:latin typeface="Verdana"/>
              </a:rPr>
              <a:t> "Can machines behave intelligently?“</a:t>
            </a:r>
          </a:p>
          <a:p>
            <a:pPr lvl="0" eaLnBrk="0" fontAlgn="base" hangingPunct="0">
              <a:lnSpc>
                <a:spcPct val="150000"/>
              </a:lnSpc>
              <a:spcAft>
                <a:spcPct val="0"/>
              </a:spcAft>
              <a:buFontTx/>
              <a:buChar char="•"/>
            </a:pPr>
            <a:r>
              <a:rPr lang="en-US" altLang="en-US" kern="0" dirty="0">
                <a:latin typeface="Verdana"/>
              </a:rPr>
              <a:t>Operational test for intelligent behavior: the Imitation Game</a:t>
            </a:r>
          </a:p>
          <a:p>
            <a:pPr marL="0" indent="0">
              <a:buNone/>
            </a:pPr>
            <a:endParaRPr lang="en-US" dirty="0"/>
          </a:p>
          <a:p>
            <a:pPr marL="0" indent="0">
              <a:buNone/>
            </a:pPr>
            <a:endParaRPr lang="en-US" dirty="0"/>
          </a:p>
        </p:txBody>
      </p:sp>
      <p:pic>
        <p:nvPicPr>
          <p:cNvPr id="4" name="Picture 4" descr="turing"/>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25000"/>
                    </a14:imgEffect>
                  </a14:imgLayer>
                </a14:imgProps>
              </a:ext>
              <a:ext uri="{28A0092B-C50C-407E-A947-70E740481C1C}">
                <a14:useLocalDpi xmlns:a14="http://schemas.microsoft.com/office/drawing/2010/main" val="0"/>
              </a:ext>
            </a:extLst>
          </a:blip>
          <a:srcRect/>
          <a:stretch>
            <a:fillRect/>
          </a:stretch>
        </p:blipFill>
        <p:spPr bwMode="auto">
          <a:xfrm>
            <a:off x="1752600" y="3733800"/>
            <a:ext cx="4000500" cy="857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tangle 4"/>
          <p:cNvSpPr/>
          <p:nvPr/>
        </p:nvSpPr>
        <p:spPr>
          <a:xfrm>
            <a:off x="533400" y="4740477"/>
            <a:ext cx="7112358" cy="1015663"/>
          </a:xfrm>
          <a:prstGeom prst="rect">
            <a:avLst/>
          </a:prstGeom>
        </p:spPr>
        <p:txBody>
          <a:bodyPr wrap="square">
            <a:spAutoFit/>
          </a:bodyPr>
          <a:lstStyle/>
          <a:p>
            <a:pPr algn="just"/>
            <a:r>
              <a:rPr lang="en-US" sz="1500" dirty="0">
                <a:latin typeface="Verdana" panose="020B0604030504040204" pitchFamily="34" charset="0"/>
                <a:ea typeface="Verdana" panose="020B0604030504040204" pitchFamily="34" charset="0"/>
                <a:cs typeface="Verdana" panose="020B0604030504040204" pitchFamily="34" charset="0"/>
              </a:rPr>
              <a:t>It was designed to provide a satisfactory operational definition of intelligence. A computer passes the test if a human interrogator, after posing some written questions, cannot tell whether the written responses come from a person or from a computer. </a:t>
            </a:r>
            <a:endParaRPr lang="en-US" altLang="en-US" sz="1050" kern="0"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278197333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800" b="1" dirty="0"/>
              <a:t>Thinking humanly: The cognitive modeling 					approach</a:t>
            </a:r>
            <a:endParaRPr lang="en-US" sz="2800" dirty="0"/>
          </a:p>
        </p:txBody>
      </p:sp>
      <p:sp>
        <p:nvSpPr>
          <p:cNvPr id="3" name="Content Placeholder 2"/>
          <p:cNvSpPr>
            <a:spLocks noGrp="1"/>
          </p:cNvSpPr>
          <p:nvPr>
            <p:ph idx="1"/>
          </p:nvPr>
        </p:nvSpPr>
        <p:spPr>
          <a:xfrm>
            <a:off x="514351" y="1417639"/>
            <a:ext cx="7598569" cy="3989074"/>
          </a:xfrm>
        </p:spPr>
        <p:txBody>
          <a:bodyPr>
            <a:normAutofit/>
          </a:bodyPr>
          <a:lstStyle/>
          <a:p>
            <a:endParaRPr lang="en-US" sz="1725" dirty="0">
              <a:latin typeface="Verdana" panose="020B0604030504040204" pitchFamily="34" charset="0"/>
              <a:ea typeface="Verdana" panose="020B0604030504040204" pitchFamily="34" charset="0"/>
              <a:cs typeface="Verdana" panose="020B0604030504040204" pitchFamily="34" charset="0"/>
            </a:endParaRPr>
          </a:p>
          <a:p>
            <a:pPr lvl="0" eaLnBrk="0" fontAlgn="base" hangingPunct="0">
              <a:spcAft>
                <a:spcPct val="0"/>
              </a:spcAft>
              <a:buFontTx/>
              <a:buChar char="•"/>
            </a:pPr>
            <a:r>
              <a:rPr lang="en-US" altLang="en-US" sz="1725" kern="0" dirty="0">
                <a:latin typeface="Verdana"/>
              </a:rPr>
              <a:t>Cognitive Science approach</a:t>
            </a:r>
          </a:p>
          <a:p>
            <a:pPr lvl="1" eaLnBrk="0" fontAlgn="base" hangingPunct="0">
              <a:spcAft>
                <a:spcPct val="0"/>
              </a:spcAft>
              <a:buFontTx/>
              <a:buChar char="–"/>
            </a:pPr>
            <a:r>
              <a:rPr lang="en-US" altLang="en-US" sz="1725" kern="0" dirty="0">
                <a:latin typeface="Verdana"/>
              </a:rPr>
              <a:t>Try to get “inside” our minds</a:t>
            </a:r>
          </a:p>
          <a:p>
            <a:pPr lvl="1" eaLnBrk="0" fontAlgn="base" hangingPunct="0">
              <a:spcAft>
                <a:spcPct val="0"/>
              </a:spcAft>
              <a:buFontTx/>
              <a:buChar char="–"/>
            </a:pPr>
            <a:r>
              <a:rPr lang="en-US" altLang="en-US" sz="1725" kern="0" dirty="0">
                <a:latin typeface="Verdana"/>
              </a:rPr>
              <a:t>E.g., conduct experiments with people to try to “reverse-engineer” how we reason, learning, remember, predict</a:t>
            </a:r>
          </a:p>
          <a:p>
            <a:pPr lvl="1" eaLnBrk="0" fontAlgn="base" hangingPunct="0">
              <a:spcAft>
                <a:spcPct val="0"/>
              </a:spcAft>
              <a:buFontTx/>
              <a:buChar char="–"/>
            </a:pPr>
            <a:endParaRPr lang="en-US" altLang="en-US" sz="1725" kern="0" dirty="0">
              <a:latin typeface="Verdana"/>
            </a:endParaRPr>
          </a:p>
          <a:p>
            <a:r>
              <a:rPr lang="en-US" sz="1725" dirty="0">
                <a:latin typeface="Verdana" panose="020B0604030504040204" pitchFamily="34" charset="0"/>
                <a:ea typeface="Verdana" panose="020B0604030504040204" pitchFamily="34" charset="0"/>
                <a:cs typeface="Verdana" panose="020B0604030504040204" pitchFamily="34" charset="0"/>
              </a:rPr>
              <a:t>So, we need to get </a:t>
            </a:r>
            <a:r>
              <a:rPr lang="en-US" sz="1725" i="1" dirty="0">
                <a:latin typeface="Verdana" panose="020B0604030504040204" pitchFamily="34" charset="0"/>
                <a:ea typeface="Verdana" panose="020B0604030504040204" pitchFamily="34" charset="0"/>
                <a:cs typeface="Verdana" panose="020B0604030504040204" pitchFamily="34" charset="0"/>
              </a:rPr>
              <a:t>inside </a:t>
            </a:r>
            <a:r>
              <a:rPr lang="en-US" sz="1725" dirty="0">
                <a:latin typeface="Verdana" panose="020B0604030504040204" pitchFamily="34" charset="0"/>
                <a:ea typeface="Verdana" panose="020B0604030504040204" pitchFamily="34" charset="0"/>
                <a:cs typeface="Verdana" panose="020B0604030504040204" pitchFamily="34" charset="0"/>
              </a:rPr>
              <a:t>the actual workings of human minds.</a:t>
            </a:r>
          </a:p>
          <a:p>
            <a:r>
              <a:rPr lang="en-US" sz="1725" dirty="0">
                <a:latin typeface="Verdana" panose="020B0604030504040204" pitchFamily="34" charset="0"/>
                <a:ea typeface="Verdana" panose="020B0604030504040204" pitchFamily="34" charset="0"/>
                <a:cs typeface="Verdana" panose="020B0604030504040204" pitchFamily="34" charset="0"/>
              </a:rPr>
              <a:t>There are three ways to do this: </a:t>
            </a:r>
          </a:p>
          <a:p>
            <a:r>
              <a:rPr lang="en-US" sz="1725" dirty="0">
                <a:latin typeface="Verdana" panose="020B0604030504040204" pitchFamily="34" charset="0"/>
                <a:ea typeface="Verdana" panose="020B0604030504040204" pitchFamily="34" charset="0"/>
                <a:cs typeface="Verdana" panose="020B0604030504040204" pitchFamily="34" charset="0"/>
              </a:rPr>
              <a:t>through </a:t>
            </a:r>
            <a:r>
              <a:rPr lang="en-US" sz="1725" dirty="0">
                <a:solidFill>
                  <a:schemeClr val="accent1"/>
                </a:solidFill>
                <a:latin typeface="Verdana" panose="020B0604030504040204" pitchFamily="34" charset="0"/>
                <a:ea typeface="Verdana" panose="020B0604030504040204" pitchFamily="34" charset="0"/>
                <a:cs typeface="Verdana" panose="020B0604030504040204" pitchFamily="34" charset="0"/>
              </a:rPr>
              <a:t>introspection</a:t>
            </a:r>
            <a:r>
              <a:rPr lang="en-US" sz="1725" dirty="0">
                <a:latin typeface="Verdana" panose="020B0604030504040204" pitchFamily="34" charset="0"/>
                <a:ea typeface="Verdana" panose="020B0604030504040204" pitchFamily="34" charset="0"/>
                <a:cs typeface="Verdana" panose="020B0604030504040204" pitchFamily="34" charset="0"/>
              </a:rPr>
              <a:t>—trying to catch our own thoughts as they go by; </a:t>
            </a:r>
          </a:p>
          <a:p>
            <a:r>
              <a:rPr lang="en-US" sz="1725" dirty="0">
                <a:latin typeface="Verdana" panose="020B0604030504040204" pitchFamily="34" charset="0"/>
                <a:ea typeface="Verdana" panose="020B0604030504040204" pitchFamily="34" charset="0"/>
                <a:cs typeface="Verdana" panose="020B0604030504040204" pitchFamily="34" charset="0"/>
              </a:rPr>
              <a:t>through </a:t>
            </a:r>
            <a:r>
              <a:rPr lang="en-US" sz="1725" dirty="0">
                <a:solidFill>
                  <a:schemeClr val="accent1"/>
                </a:solidFill>
                <a:latin typeface="Verdana" panose="020B0604030504040204" pitchFamily="34" charset="0"/>
                <a:ea typeface="Verdana" panose="020B0604030504040204" pitchFamily="34" charset="0"/>
                <a:cs typeface="Verdana" panose="020B0604030504040204" pitchFamily="34" charset="0"/>
              </a:rPr>
              <a:t>psychological experiments</a:t>
            </a:r>
            <a:r>
              <a:rPr lang="en-US" sz="1725" dirty="0">
                <a:latin typeface="Verdana" panose="020B0604030504040204" pitchFamily="34" charset="0"/>
                <a:ea typeface="Verdana" panose="020B0604030504040204" pitchFamily="34" charset="0"/>
                <a:cs typeface="Verdana" panose="020B0604030504040204" pitchFamily="34" charset="0"/>
              </a:rPr>
              <a:t>—observing a person in action; </a:t>
            </a:r>
          </a:p>
          <a:p>
            <a:r>
              <a:rPr lang="en-US" sz="1725" dirty="0">
                <a:latin typeface="Verdana" panose="020B0604030504040204" pitchFamily="34" charset="0"/>
                <a:ea typeface="Verdana" panose="020B0604030504040204" pitchFamily="34" charset="0"/>
                <a:cs typeface="Verdana" panose="020B0604030504040204" pitchFamily="34" charset="0"/>
              </a:rPr>
              <a:t>and through </a:t>
            </a:r>
            <a:r>
              <a:rPr lang="en-US" sz="1725" dirty="0">
                <a:solidFill>
                  <a:schemeClr val="accent1"/>
                </a:solidFill>
                <a:latin typeface="Verdana" panose="020B0604030504040204" pitchFamily="34" charset="0"/>
                <a:ea typeface="Verdana" panose="020B0604030504040204" pitchFamily="34" charset="0"/>
                <a:cs typeface="Verdana" panose="020B0604030504040204" pitchFamily="34" charset="0"/>
              </a:rPr>
              <a:t>brain imaging</a:t>
            </a:r>
            <a:r>
              <a:rPr lang="en-US" sz="1725" dirty="0">
                <a:latin typeface="Verdana" panose="020B0604030504040204" pitchFamily="34" charset="0"/>
                <a:ea typeface="Verdana" panose="020B0604030504040204" pitchFamily="34" charset="0"/>
                <a:cs typeface="Verdana" panose="020B0604030504040204" pitchFamily="34" charset="0"/>
              </a:rPr>
              <a:t>—observing the brain in action.</a:t>
            </a:r>
            <a:endParaRPr lang="en-US" altLang="en-US" sz="1725" kern="0" dirty="0">
              <a:latin typeface="Verdana" panose="020B0604030504040204" pitchFamily="34" charset="0"/>
              <a:ea typeface="Verdana" panose="020B0604030504040204" pitchFamily="34" charset="0"/>
              <a:cs typeface="Verdana" panose="020B0604030504040204" pitchFamily="34" charset="0"/>
            </a:endParaRPr>
          </a:p>
          <a:p>
            <a:endParaRPr lang="en-US" dirty="0"/>
          </a:p>
        </p:txBody>
      </p:sp>
    </p:spTree>
    <p:extLst>
      <p:ext uri="{BB962C8B-B14F-4D97-AF65-F5344CB8AC3E}">
        <p14:creationId xmlns:p14="http://schemas.microsoft.com/office/powerpoint/2010/main" val="24532075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altLang="en-US" b="1" dirty="0"/>
              <a:t>Thinking</a:t>
            </a:r>
            <a:r>
              <a:rPr lang="en-US" altLang="en-US" b="1" dirty="0">
                <a:solidFill>
                  <a:srgbClr val="FFFF00"/>
                </a:solidFill>
              </a:rPr>
              <a:t> </a:t>
            </a:r>
            <a:r>
              <a:rPr lang="en-US" altLang="en-US" b="1" dirty="0"/>
              <a:t>Rationally: Laws of Thought</a:t>
            </a:r>
            <a:endParaRPr lang="en-US" dirty="0"/>
          </a:p>
        </p:txBody>
      </p:sp>
      <p:sp>
        <p:nvSpPr>
          <p:cNvPr id="3" name="Content Placeholder 2"/>
          <p:cNvSpPr>
            <a:spLocks noGrp="1"/>
          </p:cNvSpPr>
          <p:nvPr>
            <p:ph idx="1"/>
          </p:nvPr>
        </p:nvSpPr>
        <p:spPr/>
        <p:txBody>
          <a:bodyPr>
            <a:normAutofit/>
          </a:bodyPr>
          <a:lstStyle/>
          <a:p>
            <a:r>
              <a:rPr lang="en-US" sz="2000" dirty="0">
                <a:latin typeface="Verdana" panose="020B0604030504040204" pitchFamily="34" charset="0"/>
                <a:ea typeface="Verdana" panose="020B0604030504040204" pitchFamily="34" charset="0"/>
                <a:cs typeface="Verdana" panose="020B0604030504040204" pitchFamily="34" charset="0"/>
              </a:rPr>
              <a:t>Formalize “correct” reasoning using a mathematical model (e.g. of deductive reasoning/logical conclusion).</a:t>
            </a:r>
          </a:p>
          <a:p>
            <a:endParaRPr lang="en-US" dirty="0">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3851795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9463" y="857251"/>
            <a:ext cx="7783937" cy="1092200"/>
          </a:xfrm>
        </p:spPr>
        <p:txBody>
          <a:bodyPr>
            <a:normAutofit fontScale="90000"/>
          </a:bodyPr>
          <a:lstStyle/>
          <a:p>
            <a:r>
              <a:rPr lang="en-US" altLang="en-US" b="1" dirty="0"/>
              <a:t>Acting Rationally: The Rational Agent</a:t>
            </a:r>
            <a:endParaRPr lang="en-US" dirty="0"/>
          </a:p>
        </p:txBody>
      </p:sp>
      <p:sp>
        <p:nvSpPr>
          <p:cNvPr id="3" name="Content Placeholder 2"/>
          <p:cNvSpPr>
            <a:spLocks noGrp="1"/>
          </p:cNvSpPr>
          <p:nvPr>
            <p:ph idx="1"/>
          </p:nvPr>
        </p:nvSpPr>
        <p:spPr>
          <a:xfrm>
            <a:off x="609600" y="2362200"/>
            <a:ext cx="7598569" cy="2736850"/>
          </a:xfrm>
        </p:spPr>
        <p:txBody>
          <a:bodyPr>
            <a:normAutofit fontScale="55000" lnSpcReduction="20000"/>
          </a:bodyPr>
          <a:lstStyle/>
          <a:p>
            <a:r>
              <a:rPr lang="en-US" dirty="0">
                <a:latin typeface="Verdana" panose="020B0604030504040204" pitchFamily="34" charset="0"/>
                <a:ea typeface="Verdana" panose="020B0604030504040204" pitchFamily="34" charset="0"/>
                <a:cs typeface="Verdana" panose="020B0604030504040204" pitchFamily="34" charset="0"/>
              </a:rPr>
              <a:t>An agent is an entity that perceives its environment and is able to execute actions to change it.</a:t>
            </a:r>
          </a:p>
          <a:p>
            <a:r>
              <a:rPr lang="en-US" dirty="0">
                <a:latin typeface="Verdana" panose="020B0604030504040204" pitchFamily="34" charset="0"/>
                <a:ea typeface="Verdana" panose="020B0604030504040204" pitchFamily="34" charset="0"/>
                <a:cs typeface="Verdana" panose="020B0604030504040204" pitchFamily="34" charset="0"/>
              </a:rPr>
              <a:t>Agents have inherent goals that they want to achieve (e.g. survive, reproduce).</a:t>
            </a:r>
          </a:p>
          <a:p>
            <a:r>
              <a:rPr lang="en-US" dirty="0">
                <a:latin typeface="Verdana" panose="020B0604030504040204" pitchFamily="34" charset="0"/>
                <a:ea typeface="Verdana" panose="020B0604030504040204" pitchFamily="34" charset="0"/>
                <a:cs typeface="Verdana" panose="020B0604030504040204" pitchFamily="34" charset="0"/>
              </a:rPr>
              <a:t>A rational agent acts in a way to maximize the achievement of its goals.</a:t>
            </a:r>
          </a:p>
          <a:p>
            <a:r>
              <a:rPr lang="en-US" dirty="0">
                <a:latin typeface="Verdana" panose="020B0604030504040204" pitchFamily="34" charset="0"/>
                <a:ea typeface="Verdana" panose="020B0604030504040204" pitchFamily="34" charset="0"/>
                <a:cs typeface="Verdana" panose="020B0604030504040204" pitchFamily="34" charset="0"/>
              </a:rPr>
              <a:t>True maximization of goals requires omniscience and unlimited computational abilities.</a:t>
            </a:r>
          </a:p>
          <a:p>
            <a:r>
              <a:rPr lang="en-US" dirty="0">
                <a:latin typeface="Verdana" panose="020B0604030504040204" pitchFamily="34" charset="0"/>
                <a:ea typeface="Verdana" panose="020B0604030504040204" pitchFamily="34" charset="0"/>
                <a:cs typeface="Verdana" panose="020B0604030504040204" pitchFamily="34" charset="0"/>
              </a:rPr>
              <a:t>Limited rationality involves maximizing goals within the computational and other resources available.</a:t>
            </a:r>
          </a:p>
          <a:p>
            <a:pPr marL="0" indent="0">
              <a:buNone/>
            </a:pPr>
            <a:endParaRPr lang="en-US" dirty="0"/>
          </a:p>
        </p:txBody>
      </p:sp>
    </p:spTree>
    <p:extLst>
      <p:ext uri="{BB962C8B-B14F-4D97-AF65-F5344CB8AC3E}">
        <p14:creationId xmlns:p14="http://schemas.microsoft.com/office/powerpoint/2010/main" val="30786853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190" y="857251"/>
            <a:ext cx="7598569" cy="1092200"/>
          </a:xfrm>
        </p:spPr>
        <p:txBody>
          <a:bodyPr/>
          <a:lstStyle/>
          <a:p>
            <a:r>
              <a:rPr lang="en-US" b="1" dirty="0"/>
              <a:t>AI Umbrella</a:t>
            </a:r>
          </a:p>
        </p:txBody>
      </p:sp>
      <p:pic>
        <p:nvPicPr>
          <p:cNvPr id="4" name="Content Placeholder 3"/>
          <p:cNvPicPr>
            <a:picLocks noGrp="1" noChangeAspect="1"/>
          </p:cNvPicPr>
          <p:nvPr>
            <p:ph idx="1"/>
          </p:nvPr>
        </p:nvPicPr>
        <p:blipFill>
          <a:blip r:embed="rId2" cstate="print">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492617" y="1861802"/>
            <a:ext cx="7872211" cy="3979572"/>
          </a:xfrm>
        </p:spPr>
      </p:pic>
    </p:spTree>
    <p:extLst>
      <p:ext uri="{BB962C8B-B14F-4D97-AF65-F5344CB8AC3E}">
        <p14:creationId xmlns:p14="http://schemas.microsoft.com/office/powerpoint/2010/main" val="35092538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90" y="1114306"/>
            <a:ext cx="9125419" cy="4629388"/>
          </a:xfrm>
          <a:prstGeom prst="rect">
            <a:avLst/>
          </a:prstGeom>
        </p:spPr>
      </p:pic>
    </p:spTree>
    <p:extLst>
      <p:ext uri="{BB962C8B-B14F-4D97-AF65-F5344CB8AC3E}">
        <p14:creationId xmlns:p14="http://schemas.microsoft.com/office/powerpoint/2010/main" val="6615047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7200"/>
            <a:ext cx="9144000" cy="5638800"/>
          </a:xfrm>
          <a:prstGeom prst="rect">
            <a:avLst/>
          </a:prstGeom>
        </p:spPr>
      </p:pic>
    </p:spTree>
    <p:extLst>
      <p:ext uri="{BB962C8B-B14F-4D97-AF65-F5344CB8AC3E}">
        <p14:creationId xmlns:p14="http://schemas.microsoft.com/office/powerpoint/2010/main" val="1630886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43" y="1158758"/>
            <a:ext cx="8064914" cy="4540483"/>
          </a:xfrm>
          <a:prstGeom prst="rect">
            <a:avLst/>
          </a:prstGeom>
        </p:spPr>
      </p:pic>
    </p:spTree>
    <p:extLst>
      <p:ext uri="{BB962C8B-B14F-4D97-AF65-F5344CB8AC3E}">
        <p14:creationId xmlns:p14="http://schemas.microsoft.com/office/powerpoint/2010/main" val="20778769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2243" y="1168284"/>
            <a:ext cx="8039513" cy="4521432"/>
          </a:xfrm>
          <a:prstGeom prst="rect">
            <a:avLst/>
          </a:prstGeom>
        </p:spPr>
      </p:pic>
    </p:spTree>
    <p:extLst>
      <p:ext uri="{BB962C8B-B14F-4D97-AF65-F5344CB8AC3E}">
        <p14:creationId xmlns:p14="http://schemas.microsoft.com/office/powerpoint/2010/main" val="14801261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0017" y="1161933"/>
            <a:ext cx="8083965" cy="4534133"/>
          </a:xfrm>
          <a:prstGeom prst="rect">
            <a:avLst/>
          </a:prstGeom>
        </p:spPr>
      </p:pic>
    </p:spTree>
    <p:extLst>
      <p:ext uri="{BB962C8B-B14F-4D97-AF65-F5344CB8AC3E}">
        <p14:creationId xmlns:p14="http://schemas.microsoft.com/office/powerpoint/2010/main" val="34811327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0492" y="1368319"/>
            <a:ext cx="8103016" cy="4121362"/>
          </a:xfrm>
          <a:prstGeom prst="rect">
            <a:avLst/>
          </a:prstGeom>
        </p:spPr>
      </p:pic>
    </p:spTree>
    <p:extLst>
      <p:ext uri="{BB962C8B-B14F-4D97-AF65-F5344CB8AC3E}">
        <p14:creationId xmlns:p14="http://schemas.microsoft.com/office/powerpoint/2010/main" val="42918139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Deep Learning in Artificial Intelligence</a:t>
            </a:r>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152830"/>
            <a:ext cx="9144000" cy="38171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7515204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600" y="304800"/>
            <a:ext cx="7598569" cy="1092200"/>
          </a:xfrm>
        </p:spPr>
        <p:txBody>
          <a:bodyPr>
            <a:normAutofit/>
          </a:bodyPr>
          <a:lstStyle/>
          <a:p>
            <a:r>
              <a:rPr lang="en-US" sz="3000" b="1" dirty="0"/>
              <a:t>Difference</a:t>
            </a:r>
          </a:p>
        </p:txBody>
      </p:sp>
      <p:pic>
        <p:nvPicPr>
          <p:cNvPr id="4" name="Content Placeholder 3"/>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359805" y="1143001"/>
            <a:ext cx="7598568" cy="5029200"/>
          </a:xfrm>
        </p:spPr>
      </p:pic>
    </p:spTree>
    <p:extLst>
      <p:ext uri="{BB962C8B-B14F-4D97-AF65-F5344CB8AC3E}">
        <p14:creationId xmlns:p14="http://schemas.microsoft.com/office/powerpoint/2010/main" val="351447252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lstStyle/>
          <a:p>
            <a:r>
              <a:rPr lang="en-US" dirty="0"/>
              <a:t>A (Short) History of AI</a:t>
            </a:r>
          </a:p>
        </p:txBody>
      </p:sp>
      <p:sp>
        <p:nvSpPr>
          <p:cNvPr id="14339" name="Rectangle 3"/>
          <p:cNvSpPr>
            <a:spLocks noGrp="1" noChangeArrowheads="1"/>
          </p:cNvSpPr>
          <p:nvPr>
            <p:ph type="body" idx="1"/>
          </p:nvPr>
        </p:nvSpPr>
        <p:spPr/>
        <p:txBody>
          <a:bodyPr/>
          <a:lstStyle/>
          <a:p>
            <a:pPr>
              <a:lnSpc>
                <a:spcPct val="80000"/>
              </a:lnSpc>
            </a:pPr>
            <a:r>
              <a:rPr lang="en-US" sz="2000" dirty="0"/>
              <a:t>1943     	McCulloch &amp; Pitts: Boolean circuit model of brain</a:t>
            </a:r>
          </a:p>
          <a:p>
            <a:pPr>
              <a:lnSpc>
                <a:spcPct val="80000"/>
              </a:lnSpc>
            </a:pPr>
            <a:r>
              <a:rPr lang="en-US" sz="2000" dirty="0"/>
              <a:t>1950     	Turing's "Computing Machinery and Intelligence"</a:t>
            </a:r>
          </a:p>
          <a:p>
            <a:pPr>
              <a:lnSpc>
                <a:spcPct val="80000"/>
              </a:lnSpc>
            </a:pPr>
            <a:r>
              <a:rPr lang="en-US" sz="2000" dirty="0">
                <a:solidFill>
                  <a:srgbClr val="FF0000"/>
                </a:solidFill>
              </a:rPr>
              <a:t>1956		</a:t>
            </a:r>
            <a:r>
              <a:rPr lang="en-US" sz="2000" dirty="0"/>
              <a:t>Dartmouth meeting: "Artificial Intelligence" adopted</a:t>
            </a:r>
          </a:p>
          <a:p>
            <a:pPr>
              <a:lnSpc>
                <a:spcPct val="80000"/>
              </a:lnSpc>
            </a:pPr>
            <a:r>
              <a:rPr lang="en-US" sz="2000" dirty="0"/>
              <a:t>1950s	Early AI programs, including Samuel's checkers</a:t>
            </a:r>
            <a:br>
              <a:rPr lang="en-US" sz="2000" dirty="0"/>
            </a:br>
            <a:r>
              <a:rPr lang="en-US" sz="2000" dirty="0"/>
              <a:t>		program, Newell &amp; Simon's Logic Theorist, </a:t>
            </a:r>
            <a:br>
              <a:rPr lang="en-US" sz="2000" dirty="0"/>
            </a:br>
            <a:r>
              <a:rPr lang="en-US" sz="2000" dirty="0"/>
              <a:t>		Gelernter's Geometry Engine</a:t>
            </a:r>
          </a:p>
          <a:p>
            <a:pPr>
              <a:lnSpc>
                <a:spcPct val="80000"/>
              </a:lnSpc>
            </a:pPr>
            <a:r>
              <a:rPr lang="en-US" sz="2000" dirty="0"/>
              <a:t>1965		Robinson's complete algorithm for logical reasoning</a:t>
            </a:r>
          </a:p>
          <a:p>
            <a:pPr>
              <a:lnSpc>
                <a:spcPct val="80000"/>
              </a:lnSpc>
            </a:pPr>
            <a:r>
              <a:rPr lang="en-US" sz="2000" dirty="0"/>
              <a:t>1966—73	AI discovers computational complexity</a:t>
            </a:r>
            <a:br>
              <a:rPr lang="en-US" sz="2000" dirty="0"/>
            </a:br>
            <a:r>
              <a:rPr lang="en-US" sz="2000" dirty="0"/>
              <a:t>		Neural network research almost disappears</a:t>
            </a:r>
          </a:p>
          <a:p>
            <a:pPr>
              <a:lnSpc>
                <a:spcPct val="80000"/>
              </a:lnSpc>
            </a:pPr>
            <a:r>
              <a:rPr lang="en-US" sz="2000" dirty="0"/>
              <a:t>1969—79	Early development of knowledge-based systems</a:t>
            </a:r>
          </a:p>
          <a:p>
            <a:pPr>
              <a:lnSpc>
                <a:spcPct val="80000"/>
              </a:lnSpc>
            </a:pPr>
            <a:r>
              <a:rPr lang="en-US" sz="2000" dirty="0"/>
              <a:t>1980-- 	AI becomes an industry </a:t>
            </a:r>
          </a:p>
          <a:p>
            <a:pPr>
              <a:lnSpc>
                <a:spcPct val="80000"/>
              </a:lnSpc>
            </a:pPr>
            <a:r>
              <a:rPr lang="en-US" sz="2000" dirty="0"/>
              <a:t>1986-- 	Neural networks return to popularity</a:t>
            </a:r>
          </a:p>
          <a:p>
            <a:pPr>
              <a:lnSpc>
                <a:spcPct val="80000"/>
              </a:lnSpc>
            </a:pPr>
            <a:r>
              <a:rPr lang="en-US" sz="2000" dirty="0"/>
              <a:t>1987--	AI becomes a science </a:t>
            </a:r>
          </a:p>
          <a:p>
            <a:pPr>
              <a:lnSpc>
                <a:spcPct val="80000"/>
              </a:lnSpc>
            </a:pPr>
            <a:r>
              <a:rPr lang="en-US" sz="2000" dirty="0"/>
              <a:t>1995--	The emergence of intelligent agents </a:t>
            </a:r>
          </a:p>
        </p:txBody>
      </p:sp>
    </p:spTree>
    <p:extLst>
      <p:ext uri="{BB962C8B-B14F-4D97-AF65-F5344CB8AC3E}">
        <p14:creationId xmlns:p14="http://schemas.microsoft.com/office/powerpoint/2010/main" val="30323921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534" y="304800"/>
            <a:ext cx="7598569" cy="1092200"/>
          </a:xfrm>
        </p:spPr>
        <p:txBody>
          <a:bodyPr>
            <a:normAutofit/>
          </a:bodyPr>
          <a:lstStyle/>
          <a:p>
            <a:r>
              <a:rPr lang="en-US" altLang="en-US" sz="3200" b="1" kern="0" dirty="0">
                <a:latin typeface="Verdana"/>
              </a:rPr>
              <a:t>History of AI</a:t>
            </a:r>
            <a:endParaRPr lang="en-US" sz="3200" dirty="0"/>
          </a:p>
        </p:txBody>
      </p:sp>
      <p:sp>
        <p:nvSpPr>
          <p:cNvPr id="3" name="Content Placeholder 2"/>
          <p:cNvSpPr>
            <a:spLocks noGrp="1"/>
          </p:cNvSpPr>
          <p:nvPr>
            <p:ph idx="1"/>
          </p:nvPr>
        </p:nvSpPr>
        <p:spPr>
          <a:xfrm>
            <a:off x="514350" y="1774870"/>
            <a:ext cx="7598569" cy="3931276"/>
          </a:xfrm>
        </p:spPr>
        <p:txBody>
          <a:bodyPr>
            <a:normAutofit fontScale="92500" lnSpcReduction="10000"/>
          </a:bodyPr>
          <a:lstStyle/>
          <a:p>
            <a:pPr lvl="0" eaLnBrk="0" fontAlgn="base" hangingPunct="0">
              <a:lnSpc>
                <a:spcPct val="80000"/>
              </a:lnSpc>
              <a:spcAft>
                <a:spcPct val="0"/>
              </a:spcAft>
              <a:buFontTx/>
              <a:buChar char="•"/>
            </a:pPr>
            <a:r>
              <a:rPr lang="en-US" altLang="en-US" sz="1500" kern="0" dirty="0">
                <a:latin typeface="Verdana"/>
              </a:rPr>
              <a:t>1950: Turing </a:t>
            </a:r>
          </a:p>
          <a:p>
            <a:pPr lvl="1" eaLnBrk="0" fontAlgn="base" hangingPunct="0">
              <a:lnSpc>
                <a:spcPct val="80000"/>
              </a:lnSpc>
              <a:spcAft>
                <a:spcPct val="0"/>
              </a:spcAft>
              <a:buFontTx/>
              <a:buChar char="–"/>
            </a:pPr>
            <a:r>
              <a:rPr lang="en-US" altLang="en-US" sz="1500" kern="0" dirty="0">
                <a:latin typeface="Verdana"/>
              </a:rPr>
              <a:t>Turing's "Computing Machinery and Intelligence“</a:t>
            </a:r>
          </a:p>
          <a:p>
            <a:pPr lvl="0" eaLnBrk="0" fontAlgn="base" hangingPunct="0">
              <a:lnSpc>
                <a:spcPct val="80000"/>
              </a:lnSpc>
              <a:spcAft>
                <a:spcPct val="0"/>
              </a:spcAft>
              <a:buFontTx/>
              <a:buChar char="•"/>
            </a:pPr>
            <a:endParaRPr lang="en-US" altLang="en-US" sz="1500" kern="0" dirty="0">
              <a:latin typeface="Verdana"/>
            </a:endParaRPr>
          </a:p>
          <a:p>
            <a:pPr lvl="0" eaLnBrk="0" fontAlgn="base" hangingPunct="0">
              <a:lnSpc>
                <a:spcPct val="80000"/>
              </a:lnSpc>
              <a:spcAft>
                <a:spcPct val="0"/>
              </a:spcAft>
              <a:buFontTx/>
              <a:buChar char="•"/>
            </a:pPr>
            <a:r>
              <a:rPr lang="en-US" altLang="en-US" sz="1500" kern="0" dirty="0">
                <a:solidFill>
                  <a:srgbClr val="FF0000"/>
                </a:solidFill>
                <a:latin typeface="Verdana"/>
              </a:rPr>
              <a:t>1956: birth of AI</a:t>
            </a:r>
          </a:p>
          <a:p>
            <a:pPr lvl="1" eaLnBrk="0" fontAlgn="base" hangingPunct="0">
              <a:lnSpc>
                <a:spcPct val="80000"/>
              </a:lnSpc>
              <a:spcAft>
                <a:spcPct val="0"/>
              </a:spcAft>
              <a:buFontTx/>
              <a:buChar char="–"/>
            </a:pPr>
            <a:r>
              <a:rPr lang="en-US" altLang="en-US" sz="1500" kern="0" dirty="0">
                <a:latin typeface="Verdana"/>
              </a:rPr>
              <a:t>Dartmouth meeting: "Artificial Intelligence“ name adopted</a:t>
            </a:r>
          </a:p>
          <a:p>
            <a:pPr marL="342900" lvl="1" indent="0" eaLnBrk="0" fontAlgn="base" hangingPunct="0">
              <a:lnSpc>
                <a:spcPct val="80000"/>
              </a:lnSpc>
              <a:spcAft>
                <a:spcPct val="0"/>
              </a:spcAft>
              <a:buNone/>
            </a:pPr>
            <a:endParaRPr lang="en-US" altLang="en-US" sz="1500" kern="0" dirty="0">
              <a:latin typeface="Verdana"/>
            </a:endParaRPr>
          </a:p>
          <a:p>
            <a:pPr lvl="0" eaLnBrk="0" fontAlgn="base" hangingPunct="0">
              <a:lnSpc>
                <a:spcPct val="80000"/>
              </a:lnSpc>
              <a:spcAft>
                <a:spcPct val="0"/>
              </a:spcAft>
              <a:buFontTx/>
              <a:buChar char="•"/>
            </a:pPr>
            <a:r>
              <a:rPr lang="en-US" altLang="en-US" sz="1500" kern="0" dirty="0">
                <a:latin typeface="Verdana"/>
              </a:rPr>
              <a:t>1950s: initial promise</a:t>
            </a:r>
          </a:p>
          <a:p>
            <a:pPr lvl="1" eaLnBrk="0" fontAlgn="base" hangingPunct="0">
              <a:lnSpc>
                <a:spcPct val="80000"/>
              </a:lnSpc>
              <a:spcAft>
                <a:spcPct val="0"/>
              </a:spcAft>
              <a:buFontTx/>
              <a:buChar char="–"/>
            </a:pPr>
            <a:r>
              <a:rPr lang="en-US" altLang="en-US" sz="1500" kern="0" dirty="0">
                <a:latin typeface="Verdana"/>
              </a:rPr>
              <a:t>Early AI programs, including </a:t>
            </a:r>
          </a:p>
          <a:p>
            <a:pPr lvl="1" eaLnBrk="0" fontAlgn="base" hangingPunct="0">
              <a:lnSpc>
                <a:spcPct val="80000"/>
              </a:lnSpc>
              <a:spcAft>
                <a:spcPct val="0"/>
              </a:spcAft>
              <a:buFontTx/>
              <a:buChar char="–"/>
            </a:pPr>
            <a:r>
              <a:rPr lang="en-US" altLang="en-US" sz="1500" kern="0" dirty="0">
                <a:latin typeface="Verdana"/>
              </a:rPr>
              <a:t>Samuel's checkers program  </a:t>
            </a:r>
          </a:p>
          <a:p>
            <a:pPr lvl="1" eaLnBrk="0" fontAlgn="base" hangingPunct="0">
              <a:lnSpc>
                <a:spcPct val="80000"/>
              </a:lnSpc>
              <a:spcAft>
                <a:spcPct val="0"/>
              </a:spcAft>
              <a:buFontTx/>
              <a:buChar char="–"/>
            </a:pPr>
            <a:r>
              <a:rPr lang="en-US" altLang="en-US" sz="1500" kern="0" dirty="0">
                <a:latin typeface="Verdana"/>
              </a:rPr>
              <a:t>Newell &amp; Simon's Logic Theory</a:t>
            </a:r>
          </a:p>
          <a:p>
            <a:pPr marL="342900" lvl="1" indent="0" eaLnBrk="0" fontAlgn="base" hangingPunct="0">
              <a:lnSpc>
                <a:spcPct val="80000"/>
              </a:lnSpc>
              <a:spcAft>
                <a:spcPct val="0"/>
              </a:spcAft>
              <a:buNone/>
            </a:pPr>
            <a:endParaRPr lang="en-US" altLang="en-US" sz="1500" kern="0" dirty="0">
              <a:latin typeface="Verdana"/>
            </a:endParaRPr>
          </a:p>
          <a:p>
            <a:pPr lvl="0" eaLnBrk="0" fontAlgn="base" hangingPunct="0">
              <a:lnSpc>
                <a:spcPct val="80000"/>
              </a:lnSpc>
              <a:spcAft>
                <a:spcPct val="0"/>
              </a:spcAft>
              <a:buFontTx/>
              <a:buChar char="•"/>
            </a:pPr>
            <a:r>
              <a:rPr lang="en-US" altLang="en-US" sz="1500" kern="0" dirty="0">
                <a:latin typeface="Verdana"/>
              </a:rPr>
              <a:t>1986--  Rise of machine learning</a:t>
            </a:r>
          </a:p>
          <a:p>
            <a:pPr lvl="1" eaLnBrk="0" fontAlgn="base" hangingPunct="0">
              <a:lnSpc>
                <a:spcPct val="80000"/>
              </a:lnSpc>
              <a:spcAft>
                <a:spcPct val="0"/>
              </a:spcAft>
              <a:buFontTx/>
              <a:buChar char="–"/>
            </a:pPr>
            <a:r>
              <a:rPr lang="en-US" altLang="en-US" sz="1500" kern="0" dirty="0">
                <a:latin typeface="Verdana"/>
              </a:rPr>
              <a:t> Neural networks return to popularity</a:t>
            </a:r>
          </a:p>
          <a:p>
            <a:pPr lvl="1" eaLnBrk="0" fontAlgn="base" hangingPunct="0">
              <a:lnSpc>
                <a:spcPct val="80000"/>
              </a:lnSpc>
              <a:spcAft>
                <a:spcPct val="0"/>
              </a:spcAft>
              <a:buFontTx/>
              <a:buChar char="–"/>
            </a:pPr>
            <a:r>
              <a:rPr lang="en-US" altLang="en-US" sz="1500" kern="0" dirty="0">
                <a:latin typeface="Verdana"/>
              </a:rPr>
              <a:t> Major advances in machine learning algorithms and applications</a:t>
            </a:r>
          </a:p>
          <a:p>
            <a:pPr lvl="0" eaLnBrk="0" fontAlgn="base" hangingPunct="0">
              <a:lnSpc>
                <a:spcPct val="80000"/>
              </a:lnSpc>
              <a:spcAft>
                <a:spcPct val="0"/>
              </a:spcAft>
              <a:buFontTx/>
              <a:buChar char="•"/>
            </a:pPr>
            <a:r>
              <a:rPr lang="en-US" altLang="en-US" sz="1500" kern="0" dirty="0">
                <a:latin typeface="Verdana"/>
              </a:rPr>
              <a:t>1990--  Role of uncertainty</a:t>
            </a:r>
          </a:p>
          <a:p>
            <a:pPr lvl="1" eaLnBrk="0" fontAlgn="base" hangingPunct="0">
              <a:lnSpc>
                <a:spcPct val="80000"/>
              </a:lnSpc>
              <a:spcAft>
                <a:spcPct val="0"/>
              </a:spcAft>
              <a:buFontTx/>
              <a:buChar char="–"/>
            </a:pPr>
            <a:r>
              <a:rPr lang="en-US" altLang="en-US" sz="1500" kern="0" dirty="0">
                <a:latin typeface="Verdana"/>
              </a:rPr>
              <a:t>Bayesian networks as a knowledge representation framework</a:t>
            </a:r>
          </a:p>
          <a:p>
            <a:pPr marL="342900" lvl="1" indent="0" eaLnBrk="0" fontAlgn="base" hangingPunct="0">
              <a:lnSpc>
                <a:spcPct val="80000"/>
              </a:lnSpc>
              <a:spcAft>
                <a:spcPct val="0"/>
              </a:spcAft>
              <a:buNone/>
            </a:pPr>
            <a:endParaRPr lang="en-US" altLang="en-US" sz="1500" kern="0" dirty="0">
              <a:latin typeface="Verdana"/>
            </a:endParaRPr>
          </a:p>
          <a:p>
            <a:pPr lvl="0" eaLnBrk="0" fontAlgn="base" hangingPunct="0">
              <a:lnSpc>
                <a:spcPct val="80000"/>
              </a:lnSpc>
              <a:spcAft>
                <a:spcPct val="0"/>
              </a:spcAft>
              <a:buFontTx/>
              <a:buChar char="•"/>
            </a:pPr>
            <a:r>
              <a:rPr lang="en-US" altLang="en-US" sz="1500" kern="0" dirty="0">
                <a:latin typeface="Verdana"/>
              </a:rPr>
              <a:t>1995-- AI as Science</a:t>
            </a:r>
          </a:p>
          <a:p>
            <a:pPr lvl="1" eaLnBrk="0" fontAlgn="base" hangingPunct="0">
              <a:lnSpc>
                <a:spcPct val="80000"/>
              </a:lnSpc>
              <a:spcAft>
                <a:spcPct val="0"/>
              </a:spcAft>
              <a:buFontTx/>
              <a:buChar char="–"/>
            </a:pPr>
            <a:r>
              <a:rPr lang="en-US" altLang="en-US" sz="1500" kern="0" dirty="0">
                <a:latin typeface="Verdana"/>
              </a:rPr>
              <a:t>Integration of learning, reasoning, knowledge representation</a:t>
            </a:r>
          </a:p>
          <a:p>
            <a:pPr lvl="1" eaLnBrk="0" fontAlgn="base" hangingPunct="0">
              <a:lnSpc>
                <a:spcPct val="80000"/>
              </a:lnSpc>
              <a:spcAft>
                <a:spcPct val="0"/>
              </a:spcAft>
              <a:buFontTx/>
              <a:buChar char="–"/>
            </a:pPr>
            <a:r>
              <a:rPr lang="en-US" altLang="en-US" sz="1500" kern="0" dirty="0">
                <a:latin typeface="Verdana"/>
              </a:rPr>
              <a:t>AI methods used in vision, language, data mining, </a:t>
            </a:r>
            <a:r>
              <a:rPr lang="en-US" altLang="en-US" sz="1500" kern="0" dirty="0" err="1">
                <a:latin typeface="Verdana"/>
              </a:rPr>
              <a:t>etc</a:t>
            </a:r>
            <a:endParaRPr lang="en-US" altLang="en-US" sz="1500" kern="0" dirty="0">
              <a:latin typeface="Verdana"/>
            </a:endParaRPr>
          </a:p>
          <a:p>
            <a:pPr marL="0" indent="0">
              <a:buNone/>
            </a:pPr>
            <a:endParaRPr lang="en-US" dirty="0"/>
          </a:p>
        </p:txBody>
      </p:sp>
    </p:spTree>
    <p:extLst>
      <p:ext uri="{BB962C8B-B14F-4D97-AF65-F5344CB8AC3E}">
        <p14:creationId xmlns:p14="http://schemas.microsoft.com/office/powerpoint/2010/main" val="127935664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State-of-art Artificial Intelligence</a:t>
            </a:r>
          </a:p>
        </p:txBody>
      </p:sp>
      <p:sp>
        <p:nvSpPr>
          <p:cNvPr id="3" name="Content Placeholder 2"/>
          <p:cNvSpPr>
            <a:spLocks noGrp="1"/>
          </p:cNvSpPr>
          <p:nvPr>
            <p:ph idx="1"/>
          </p:nvPr>
        </p:nvSpPr>
        <p:spPr/>
        <p:txBody>
          <a:bodyPr>
            <a:normAutofit fontScale="92500" lnSpcReduction="20000"/>
          </a:bodyPr>
          <a:lstStyle/>
          <a:p>
            <a:r>
              <a:rPr lang="en-US" dirty="0"/>
              <a:t>Self-driving cars (As of 2020)</a:t>
            </a:r>
          </a:p>
          <a:p>
            <a:pPr lvl="1"/>
            <a:r>
              <a:rPr lang="en-US" dirty="0"/>
              <a:t>Twenty-nine U.S. states have passed laws permitting autonomous cars.</a:t>
            </a:r>
            <a:r>
              <a:rPr lang="en-US" baseline="30000" dirty="0"/>
              <a:t> </a:t>
            </a:r>
            <a:r>
              <a:rPr lang="en-US" dirty="0"/>
              <a:t>In Europe, cities in Belgium, France, Italy and the UK are planning to operate transport systems for driverless cars,</a:t>
            </a:r>
            <a:r>
              <a:rPr lang="en-US" baseline="30000" dirty="0"/>
              <a:t> </a:t>
            </a:r>
            <a:r>
              <a:rPr lang="en-US" dirty="0"/>
              <a:t>and Germany, the Netherlands, and Spain have allowed testing robotic cars in traffic.</a:t>
            </a:r>
          </a:p>
          <a:p>
            <a:pPr lvl="1"/>
            <a:r>
              <a:rPr lang="en-US" dirty="0"/>
              <a:t>Numerous major companies have developed working autonomous vehicles including </a:t>
            </a:r>
            <a:r>
              <a:rPr lang="en-US" dirty="0">
                <a:hlinkClick r:id="rId2" tooltip="Mercedes-Benz"/>
              </a:rPr>
              <a:t>Mercedes-Benz</a:t>
            </a:r>
            <a:r>
              <a:rPr lang="en-US" dirty="0"/>
              <a:t>, </a:t>
            </a:r>
            <a:r>
              <a:rPr lang="en-US" dirty="0">
                <a:hlinkClick r:id="rId3" tooltip="General Motors"/>
              </a:rPr>
              <a:t>General Motors</a:t>
            </a:r>
            <a:r>
              <a:rPr lang="en-US" dirty="0"/>
              <a:t>, </a:t>
            </a:r>
            <a:r>
              <a:rPr lang="en-US" dirty="0">
                <a:hlinkClick r:id="rId4" tooltip="Continental Automotive Systems"/>
              </a:rPr>
              <a:t>Continental Automotive Systems</a:t>
            </a:r>
            <a:r>
              <a:rPr lang="en-US" dirty="0"/>
              <a:t>, </a:t>
            </a:r>
            <a:r>
              <a:rPr lang="en-US" dirty="0" err="1"/>
              <a:t>Uber</a:t>
            </a:r>
            <a:r>
              <a:rPr lang="en-US" dirty="0"/>
              <a:t>, </a:t>
            </a:r>
            <a:r>
              <a:rPr lang="en-US" dirty="0" err="1"/>
              <a:t>Tesla,</a:t>
            </a:r>
            <a:r>
              <a:rPr lang="en-US" dirty="0" err="1">
                <a:hlinkClick r:id="rId5" tooltip="Robert Bosch GmbH"/>
              </a:rPr>
              <a:t>Bosch</a:t>
            </a:r>
            <a:r>
              <a:rPr lang="en-US" dirty="0"/>
              <a:t>, </a:t>
            </a:r>
            <a:r>
              <a:rPr lang="en-US" dirty="0">
                <a:hlinkClick r:id="rId6" tooltip="Nissan"/>
              </a:rPr>
              <a:t>Nissan</a:t>
            </a:r>
            <a:r>
              <a:rPr lang="en-US" dirty="0"/>
              <a:t>, </a:t>
            </a:r>
            <a:r>
              <a:rPr lang="en-US" dirty="0">
                <a:hlinkClick r:id="rId7" tooltip="Toyota"/>
              </a:rPr>
              <a:t>Toyota</a:t>
            </a:r>
            <a:r>
              <a:rPr lang="en-US" dirty="0"/>
              <a:t>, </a:t>
            </a:r>
            <a:r>
              <a:rPr lang="en-US" dirty="0">
                <a:hlinkClick r:id="rId8" tooltip="Audi"/>
              </a:rPr>
              <a:t>Audi</a:t>
            </a:r>
            <a:r>
              <a:rPr lang="en-US" dirty="0"/>
              <a:t>, </a:t>
            </a:r>
            <a:r>
              <a:rPr lang="en-US" dirty="0">
                <a:hlinkClick r:id="rId9" tooltip="Volvo"/>
              </a:rPr>
              <a:t>Volvo</a:t>
            </a:r>
            <a:r>
              <a:rPr lang="en-US" dirty="0"/>
              <a:t>, </a:t>
            </a:r>
            <a:r>
              <a:rPr lang="en-US" dirty="0" err="1">
                <a:hlinkClick r:id="rId10" tooltip="Vislab"/>
              </a:rPr>
              <a:t>Vislab</a:t>
            </a:r>
            <a:r>
              <a:rPr lang="en-US" dirty="0"/>
              <a:t> from </a:t>
            </a:r>
            <a:r>
              <a:rPr lang="en-US" dirty="0">
                <a:hlinkClick r:id="rId11" tooltip="University of Parma"/>
              </a:rPr>
              <a:t>University of Parma</a:t>
            </a:r>
            <a:r>
              <a:rPr lang="en-US" dirty="0"/>
              <a:t>, </a:t>
            </a:r>
            <a:r>
              <a:rPr lang="en-US" dirty="0">
                <a:hlinkClick r:id="rId12" tooltip="Oxford University"/>
              </a:rPr>
              <a:t>Oxford University</a:t>
            </a:r>
            <a:r>
              <a:rPr lang="en-US" dirty="0"/>
              <a:t> and  </a:t>
            </a:r>
            <a:r>
              <a:rPr lang="en-US" dirty="0" err="1"/>
              <a:t>Waymo</a:t>
            </a:r>
            <a:r>
              <a:rPr lang="en-US" dirty="0"/>
              <a:t> , etc.</a:t>
            </a:r>
          </a:p>
        </p:txBody>
      </p:sp>
    </p:spTree>
    <p:extLst>
      <p:ext uri="{BB962C8B-B14F-4D97-AF65-F5344CB8AC3E}">
        <p14:creationId xmlns:p14="http://schemas.microsoft.com/office/powerpoint/2010/main" val="137487166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457200" y="381000"/>
            <a:ext cx="8141118" cy="5923862"/>
          </a:xfrm>
        </p:spPr>
      </p:pic>
    </p:spTree>
    <p:extLst>
      <p:ext uri="{BB962C8B-B14F-4D97-AF65-F5344CB8AC3E}">
        <p14:creationId xmlns:p14="http://schemas.microsoft.com/office/powerpoint/2010/main" val="29031082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Computer Vision: Object Recognition</a:t>
            </a:r>
          </a:p>
        </p:txBody>
      </p:sp>
      <p:sp>
        <p:nvSpPr>
          <p:cNvPr id="3" name="Content Placeholder 2"/>
          <p:cNvSpPr>
            <a:spLocks noGrp="1"/>
          </p:cNvSpPr>
          <p:nvPr>
            <p:ph idx="1"/>
          </p:nvPr>
        </p:nvSpPr>
        <p:spPr>
          <a:xfrm>
            <a:off x="457200" y="1600201"/>
            <a:ext cx="8229600" cy="685800"/>
          </a:xfrm>
        </p:spPr>
        <p:txBody>
          <a:bodyPr>
            <a:normAutofit fontScale="70000" lnSpcReduction="20000"/>
          </a:bodyPr>
          <a:lstStyle/>
          <a:p>
            <a:r>
              <a:rPr lang="en-US" dirty="0"/>
              <a:t>Image Classification:  </a:t>
            </a:r>
            <a:r>
              <a:rPr lang="en-US" dirty="0" err="1"/>
              <a:t>ImageNet</a:t>
            </a:r>
            <a:r>
              <a:rPr lang="en-US" dirty="0"/>
              <a:t> Large Scale Visual Recognition Challenge (ILSVRC)</a:t>
            </a:r>
          </a:p>
        </p:txBody>
      </p:sp>
      <p:pic>
        <p:nvPicPr>
          <p:cNvPr id="409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286000"/>
            <a:ext cx="6925634" cy="4572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486400" y="4313872"/>
            <a:ext cx="3581400" cy="1477328"/>
          </a:xfrm>
          <a:prstGeom prst="rect">
            <a:avLst/>
          </a:prstGeom>
          <a:noFill/>
        </p:spPr>
        <p:txBody>
          <a:bodyPr wrap="square" rtlCol="0">
            <a:spAutoFit/>
          </a:bodyPr>
          <a:lstStyle/>
          <a:p>
            <a:r>
              <a:rPr lang="en-US" dirty="0" err="1"/>
              <a:t>Szegedy</a:t>
            </a:r>
            <a:r>
              <a:rPr lang="en-US" dirty="0"/>
              <a:t>, C., </a:t>
            </a:r>
            <a:r>
              <a:rPr lang="en-US" dirty="0" err="1"/>
              <a:t>Ioffe</a:t>
            </a:r>
            <a:r>
              <a:rPr lang="en-US" dirty="0"/>
              <a:t>, S., </a:t>
            </a:r>
            <a:r>
              <a:rPr lang="en-US" dirty="0" err="1"/>
              <a:t>Vanhoucke</a:t>
            </a:r>
            <a:r>
              <a:rPr lang="en-US" dirty="0"/>
              <a:t>, V. and </a:t>
            </a:r>
            <a:r>
              <a:rPr lang="en-US" dirty="0" err="1"/>
              <a:t>Alemi</a:t>
            </a:r>
            <a:r>
              <a:rPr lang="en-US" dirty="0"/>
              <a:t>, A.A., 2017, February. Inception-v4, inception-</a:t>
            </a:r>
            <a:r>
              <a:rPr lang="en-US" dirty="0" err="1"/>
              <a:t>resnet</a:t>
            </a:r>
            <a:r>
              <a:rPr lang="en-US" dirty="0"/>
              <a:t> and the impact of residual connections on learning. In </a:t>
            </a:r>
            <a:r>
              <a:rPr lang="en-US" i="1" dirty="0"/>
              <a:t>AAAI</a:t>
            </a:r>
            <a:r>
              <a:rPr lang="en-US" dirty="0"/>
              <a:t> (Vol. 4, p. 12).</a:t>
            </a:r>
          </a:p>
        </p:txBody>
      </p:sp>
    </p:spTree>
    <p:extLst>
      <p:ext uri="{BB962C8B-B14F-4D97-AF65-F5344CB8AC3E}">
        <p14:creationId xmlns:p14="http://schemas.microsoft.com/office/powerpoint/2010/main" val="303164203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Computer Vision: Object Recognition</a:t>
            </a:r>
          </a:p>
        </p:txBody>
      </p:sp>
      <p:sp>
        <p:nvSpPr>
          <p:cNvPr id="3" name="Content Placeholder 2"/>
          <p:cNvSpPr>
            <a:spLocks noGrp="1"/>
          </p:cNvSpPr>
          <p:nvPr>
            <p:ph idx="1"/>
          </p:nvPr>
        </p:nvSpPr>
        <p:spPr>
          <a:xfrm>
            <a:off x="457200" y="1600201"/>
            <a:ext cx="8229600" cy="685800"/>
          </a:xfrm>
        </p:spPr>
        <p:txBody>
          <a:bodyPr>
            <a:normAutofit fontScale="70000" lnSpcReduction="20000"/>
          </a:bodyPr>
          <a:lstStyle/>
          <a:p>
            <a:r>
              <a:rPr lang="en-US" dirty="0"/>
              <a:t>Image Classification:  </a:t>
            </a:r>
            <a:r>
              <a:rPr lang="en-US" dirty="0" err="1"/>
              <a:t>ImageNet</a:t>
            </a:r>
            <a:r>
              <a:rPr lang="en-US" dirty="0"/>
              <a:t> Large Scale Visual Recognition Challenge (ILSVRC)</a:t>
            </a:r>
          </a:p>
        </p:txBody>
      </p:sp>
      <p:pic>
        <p:nvPicPr>
          <p:cNvPr id="4098"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286000"/>
            <a:ext cx="6925634" cy="45720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486400" y="4313872"/>
            <a:ext cx="3581400" cy="1477328"/>
          </a:xfrm>
          <a:prstGeom prst="rect">
            <a:avLst/>
          </a:prstGeom>
          <a:noFill/>
        </p:spPr>
        <p:txBody>
          <a:bodyPr wrap="square" rtlCol="0">
            <a:spAutoFit/>
          </a:bodyPr>
          <a:lstStyle/>
          <a:p>
            <a:r>
              <a:rPr lang="en-US" dirty="0" err="1"/>
              <a:t>Szegedy</a:t>
            </a:r>
            <a:r>
              <a:rPr lang="en-US" dirty="0"/>
              <a:t>, C., </a:t>
            </a:r>
            <a:r>
              <a:rPr lang="en-US" dirty="0" err="1"/>
              <a:t>Ioffe</a:t>
            </a:r>
            <a:r>
              <a:rPr lang="en-US" dirty="0"/>
              <a:t>, S., </a:t>
            </a:r>
            <a:r>
              <a:rPr lang="en-US" dirty="0" err="1"/>
              <a:t>Vanhoucke</a:t>
            </a:r>
            <a:r>
              <a:rPr lang="en-US" dirty="0"/>
              <a:t>, V. and </a:t>
            </a:r>
            <a:r>
              <a:rPr lang="en-US" dirty="0" err="1"/>
              <a:t>Alemi</a:t>
            </a:r>
            <a:r>
              <a:rPr lang="en-US" dirty="0"/>
              <a:t>, A.A., 2017, February. Inception-v4, inception-</a:t>
            </a:r>
            <a:r>
              <a:rPr lang="en-US" dirty="0" err="1"/>
              <a:t>resnet</a:t>
            </a:r>
            <a:r>
              <a:rPr lang="en-US" dirty="0"/>
              <a:t> and the impact of residual connections on learning. In </a:t>
            </a:r>
            <a:r>
              <a:rPr lang="en-US" i="1" dirty="0"/>
              <a:t>AAAI</a:t>
            </a:r>
            <a:r>
              <a:rPr lang="en-US" dirty="0"/>
              <a:t> (Vol. 4, p. 12).</a:t>
            </a:r>
          </a:p>
        </p:txBody>
      </p:sp>
      <p:pic>
        <p:nvPicPr>
          <p:cNvPr id="2050" name="Picture 2" descr="Image result for Find a cat"/>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342581" y="1981200"/>
            <a:ext cx="4496619" cy="236072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p:cNvSpPr txBox="1"/>
          <p:nvPr/>
        </p:nvSpPr>
        <p:spPr>
          <a:xfrm>
            <a:off x="2590800" y="2590800"/>
            <a:ext cx="1751781" cy="461665"/>
          </a:xfrm>
          <a:prstGeom prst="rect">
            <a:avLst/>
          </a:prstGeom>
          <a:noFill/>
        </p:spPr>
        <p:txBody>
          <a:bodyPr wrap="square" rtlCol="0">
            <a:spAutoFit/>
          </a:bodyPr>
          <a:lstStyle/>
          <a:p>
            <a:r>
              <a:rPr lang="en-US" sz="2400" b="1" dirty="0"/>
              <a:t>Find a cat</a:t>
            </a:r>
          </a:p>
        </p:txBody>
      </p:sp>
    </p:spTree>
    <p:extLst>
      <p:ext uri="{BB962C8B-B14F-4D97-AF65-F5344CB8AC3E}">
        <p14:creationId xmlns:p14="http://schemas.microsoft.com/office/powerpoint/2010/main" val="2471938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Computer Vision: Object Detection and Segmentation</a:t>
            </a:r>
          </a:p>
        </p:txBody>
      </p:sp>
      <p:pic>
        <p:nvPicPr>
          <p:cNvPr id="5122" name="Picture 2" descr="Image result for object detection and segmentation deep learning Mask RCNN"/>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015330"/>
            <a:ext cx="6477000" cy="4817269"/>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6629400" y="4272677"/>
            <a:ext cx="2438400" cy="2308324"/>
          </a:xfrm>
          <a:prstGeom prst="rect">
            <a:avLst/>
          </a:prstGeom>
          <a:noFill/>
        </p:spPr>
        <p:txBody>
          <a:bodyPr wrap="square" rtlCol="0">
            <a:spAutoFit/>
          </a:bodyPr>
          <a:lstStyle/>
          <a:p>
            <a:r>
              <a:rPr lang="en-US" dirty="0"/>
              <a:t>He, K., </a:t>
            </a:r>
            <a:r>
              <a:rPr lang="en-US" dirty="0" err="1"/>
              <a:t>Gkioxari</a:t>
            </a:r>
            <a:r>
              <a:rPr lang="en-US" dirty="0"/>
              <a:t>, G., </a:t>
            </a:r>
            <a:r>
              <a:rPr lang="en-US" dirty="0" err="1"/>
              <a:t>Dollár</a:t>
            </a:r>
            <a:r>
              <a:rPr lang="en-US" dirty="0"/>
              <a:t>, P. and </a:t>
            </a:r>
            <a:r>
              <a:rPr lang="en-US" dirty="0" err="1"/>
              <a:t>Girshick</a:t>
            </a:r>
            <a:r>
              <a:rPr lang="en-US" dirty="0"/>
              <a:t>, R., 2017, October. Mask r-</a:t>
            </a:r>
            <a:r>
              <a:rPr lang="en-US" dirty="0" err="1"/>
              <a:t>cnn</a:t>
            </a:r>
            <a:r>
              <a:rPr lang="en-US" dirty="0"/>
              <a:t>. In </a:t>
            </a:r>
            <a:r>
              <a:rPr lang="en-US" i="1" dirty="0"/>
              <a:t>Computer Vision (ICCV), 2017 IEEE International Conference on</a:t>
            </a:r>
            <a:r>
              <a:rPr lang="en-US" dirty="0"/>
              <a:t> (pp. 2980-2988). IEEE.</a:t>
            </a:r>
          </a:p>
        </p:txBody>
      </p:sp>
    </p:spTree>
    <p:extLst>
      <p:ext uri="{BB962C8B-B14F-4D97-AF65-F5344CB8AC3E}">
        <p14:creationId xmlns:p14="http://schemas.microsoft.com/office/powerpoint/2010/main" val="3954709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274638"/>
            <a:ext cx="9067801" cy="5706377"/>
          </a:xfrm>
        </p:spPr>
      </p:pic>
    </p:spTree>
    <p:extLst>
      <p:ext uri="{BB962C8B-B14F-4D97-AF65-F5344CB8AC3E}">
        <p14:creationId xmlns:p14="http://schemas.microsoft.com/office/powerpoint/2010/main" val="302422894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Computer Vision: Image Captioning and Question Answering</a:t>
            </a:r>
          </a:p>
        </p:txBody>
      </p:sp>
      <p:pic>
        <p:nvPicPr>
          <p:cNvPr id="614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324522"/>
            <a:ext cx="8458200" cy="54572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338689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991600" cy="1143000"/>
          </a:xfrm>
        </p:spPr>
        <p:txBody>
          <a:bodyPr>
            <a:normAutofit/>
          </a:bodyPr>
          <a:lstStyle/>
          <a:p>
            <a:r>
              <a:rPr lang="en-US" dirty="0"/>
              <a:t>Medical Image Diagnostic</a:t>
            </a:r>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5587014" cy="53451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638800" y="2438400"/>
            <a:ext cx="3352800" cy="1846659"/>
          </a:xfrm>
          <a:prstGeom prst="rect">
            <a:avLst/>
          </a:prstGeom>
          <a:noFill/>
        </p:spPr>
        <p:txBody>
          <a:bodyPr wrap="square" rtlCol="0">
            <a:spAutoFit/>
          </a:bodyPr>
          <a:lstStyle/>
          <a:p>
            <a:r>
              <a:rPr lang="en-US" sz="2400" dirty="0"/>
              <a:t>Deep Neural networks Perform Better Than Dermatologist for skin Cancer Detection</a:t>
            </a:r>
            <a:br>
              <a:rPr lang="en-US" dirty="0"/>
            </a:br>
            <a:endParaRPr lang="en-US" dirty="0"/>
          </a:p>
        </p:txBody>
      </p:sp>
      <p:sp>
        <p:nvSpPr>
          <p:cNvPr id="5" name="TextBox 4"/>
          <p:cNvSpPr txBox="1"/>
          <p:nvPr/>
        </p:nvSpPr>
        <p:spPr>
          <a:xfrm>
            <a:off x="6096000" y="4267200"/>
            <a:ext cx="2590800" cy="2585323"/>
          </a:xfrm>
          <a:prstGeom prst="rect">
            <a:avLst/>
          </a:prstGeom>
          <a:noFill/>
        </p:spPr>
        <p:txBody>
          <a:bodyPr wrap="square" rtlCol="0">
            <a:spAutoFit/>
          </a:bodyPr>
          <a:lstStyle/>
          <a:p>
            <a:r>
              <a:rPr lang="en-US" dirty="0" err="1"/>
              <a:t>Esteva</a:t>
            </a:r>
            <a:r>
              <a:rPr lang="en-US" dirty="0"/>
              <a:t>, A., </a:t>
            </a:r>
            <a:r>
              <a:rPr lang="en-US" dirty="0" err="1"/>
              <a:t>Kuprel</a:t>
            </a:r>
            <a:r>
              <a:rPr lang="en-US" dirty="0"/>
              <a:t>, B., </a:t>
            </a:r>
            <a:r>
              <a:rPr lang="en-US" dirty="0" err="1"/>
              <a:t>Novoa</a:t>
            </a:r>
            <a:r>
              <a:rPr lang="en-US" dirty="0"/>
              <a:t>, R.A., </a:t>
            </a:r>
            <a:r>
              <a:rPr lang="en-US" dirty="0" err="1"/>
              <a:t>Ko</a:t>
            </a:r>
            <a:r>
              <a:rPr lang="en-US" dirty="0"/>
              <a:t>, J., </a:t>
            </a:r>
            <a:r>
              <a:rPr lang="en-US" dirty="0" err="1"/>
              <a:t>Swetter</a:t>
            </a:r>
            <a:r>
              <a:rPr lang="en-US" dirty="0"/>
              <a:t>, S.M., </a:t>
            </a:r>
            <a:r>
              <a:rPr lang="en-US" dirty="0" err="1"/>
              <a:t>Blau</a:t>
            </a:r>
            <a:r>
              <a:rPr lang="en-US" dirty="0"/>
              <a:t>, H.M. and </a:t>
            </a:r>
            <a:r>
              <a:rPr lang="en-US" dirty="0" err="1"/>
              <a:t>Thrun</a:t>
            </a:r>
            <a:r>
              <a:rPr lang="en-US" dirty="0"/>
              <a:t>, S., 2017. Dermatologist-level classification of skin cancer with deep neural networks. </a:t>
            </a:r>
            <a:r>
              <a:rPr lang="en-US" i="1" dirty="0"/>
              <a:t>Nature</a:t>
            </a:r>
            <a:r>
              <a:rPr lang="en-US" dirty="0"/>
              <a:t>, </a:t>
            </a:r>
            <a:r>
              <a:rPr lang="en-US" i="1" dirty="0"/>
              <a:t>542</a:t>
            </a:r>
            <a:r>
              <a:rPr lang="en-US" dirty="0"/>
              <a:t>(7639), p.115.</a:t>
            </a:r>
          </a:p>
        </p:txBody>
      </p:sp>
    </p:spTree>
    <p:extLst>
      <p:ext uri="{BB962C8B-B14F-4D97-AF65-F5344CB8AC3E}">
        <p14:creationId xmlns:p14="http://schemas.microsoft.com/office/powerpoint/2010/main" val="380374771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991600" cy="1143000"/>
          </a:xfrm>
        </p:spPr>
        <p:txBody>
          <a:bodyPr>
            <a:normAutofit/>
          </a:bodyPr>
          <a:lstStyle/>
          <a:p>
            <a:r>
              <a:rPr lang="en-US" dirty="0"/>
              <a:t>Medical Image Diagnostic</a:t>
            </a:r>
          </a:p>
        </p:txBody>
      </p:sp>
      <p:pic>
        <p:nvPicPr>
          <p:cNvPr id="1026" name="Picture 2" descr="Related imag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4800" y="1447800"/>
            <a:ext cx="5587014" cy="5345127"/>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p:cNvSpPr txBox="1"/>
          <p:nvPr/>
        </p:nvSpPr>
        <p:spPr>
          <a:xfrm>
            <a:off x="5638800" y="2438400"/>
            <a:ext cx="3352800" cy="1846659"/>
          </a:xfrm>
          <a:prstGeom prst="rect">
            <a:avLst/>
          </a:prstGeom>
          <a:noFill/>
        </p:spPr>
        <p:txBody>
          <a:bodyPr wrap="square" rtlCol="0">
            <a:spAutoFit/>
          </a:bodyPr>
          <a:lstStyle/>
          <a:p>
            <a:r>
              <a:rPr lang="en-US" sz="2400" dirty="0"/>
              <a:t>Deep Neural networks Perform Better Than Dermatologist for skin Cancer Detection</a:t>
            </a:r>
            <a:br>
              <a:rPr lang="en-US" dirty="0"/>
            </a:br>
            <a:endParaRPr lang="en-US" dirty="0"/>
          </a:p>
        </p:txBody>
      </p:sp>
      <p:sp>
        <p:nvSpPr>
          <p:cNvPr id="5" name="TextBox 4"/>
          <p:cNvSpPr txBox="1"/>
          <p:nvPr/>
        </p:nvSpPr>
        <p:spPr>
          <a:xfrm>
            <a:off x="6096000" y="4267200"/>
            <a:ext cx="2590800" cy="2585323"/>
          </a:xfrm>
          <a:prstGeom prst="rect">
            <a:avLst/>
          </a:prstGeom>
          <a:noFill/>
        </p:spPr>
        <p:txBody>
          <a:bodyPr wrap="square" rtlCol="0">
            <a:spAutoFit/>
          </a:bodyPr>
          <a:lstStyle/>
          <a:p>
            <a:r>
              <a:rPr lang="en-US" dirty="0" err="1"/>
              <a:t>Esteva</a:t>
            </a:r>
            <a:r>
              <a:rPr lang="en-US" dirty="0"/>
              <a:t>, A., </a:t>
            </a:r>
            <a:r>
              <a:rPr lang="en-US" dirty="0" err="1"/>
              <a:t>Kuprel</a:t>
            </a:r>
            <a:r>
              <a:rPr lang="en-US" dirty="0"/>
              <a:t>, B., </a:t>
            </a:r>
            <a:r>
              <a:rPr lang="en-US" dirty="0" err="1"/>
              <a:t>Novoa</a:t>
            </a:r>
            <a:r>
              <a:rPr lang="en-US" dirty="0"/>
              <a:t>, R.A., </a:t>
            </a:r>
            <a:r>
              <a:rPr lang="en-US" dirty="0" err="1"/>
              <a:t>Ko</a:t>
            </a:r>
            <a:r>
              <a:rPr lang="en-US" dirty="0"/>
              <a:t>, J., </a:t>
            </a:r>
            <a:r>
              <a:rPr lang="en-US" dirty="0" err="1"/>
              <a:t>Swetter</a:t>
            </a:r>
            <a:r>
              <a:rPr lang="en-US" dirty="0"/>
              <a:t>, S.M., </a:t>
            </a:r>
            <a:r>
              <a:rPr lang="en-US" dirty="0" err="1"/>
              <a:t>Blau</a:t>
            </a:r>
            <a:r>
              <a:rPr lang="en-US" dirty="0"/>
              <a:t>, H.M. and </a:t>
            </a:r>
            <a:r>
              <a:rPr lang="en-US" dirty="0" err="1"/>
              <a:t>Thrun</a:t>
            </a:r>
            <a:r>
              <a:rPr lang="en-US" dirty="0"/>
              <a:t>, S., 2017. Dermatologist-level classification of skin cancer with deep neural networks. </a:t>
            </a:r>
            <a:r>
              <a:rPr lang="en-US" i="1" dirty="0"/>
              <a:t>Nature</a:t>
            </a:r>
            <a:r>
              <a:rPr lang="en-US" dirty="0"/>
              <a:t>, </a:t>
            </a:r>
            <a:r>
              <a:rPr lang="en-US" i="1" dirty="0"/>
              <a:t>542</a:t>
            </a:r>
            <a:r>
              <a:rPr lang="en-US" dirty="0"/>
              <a:t>(7639), p.115.</a:t>
            </a:r>
          </a:p>
        </p:txBody>
      </p:sp>
      <p:pic>
        <p:nvPicPr>
          <p:cNvPr id="3076" name="Picture 4" descr="Related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 y="3352800"/>
            <a:ext cx="6155939" cy="334387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706672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Natural Language Processing: Machine Translation</a:t>
            </a:r>
          </a:p>
        </p:txBody>
      </p:sp>
      <p:sp>
        <p:nvSpPr>
          <p:cNvPr id="3" name="Content Placeholder 2"/>
          <p:cNvSpPr>
            <a:spLocks noGrp="1"/>
          </p:cNvSpPr>
          <p:nvPr>
            <p:ph idx="1"/>
          </p:nvPr>
        </p:nvSpPr>
        <p:spPr>
          <a:xfrm>
            <a:off x="457200" y="1600201"/>
            <a:ext cx="8229600" cy="685800"/>
          </a:xfrm>
        </p:spPr>
        <p:txBody>
          <a:bodyPr/>
          <a:lstStyle/>
          <a:p>
            <a:r>
              <a:rPr lang="en-US" dirty="0"/>
              <a:t>Machine Translation</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4" y="2252339"/>
            <a:ext cx="8416103" cy="2624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2" descr="Image result for speech recognition deep learni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Image result for speech recognition deep learning"/>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TextBox 6"/>
          <p:cNvSpPr txBox="1"/>
          <p:nvPr/>
        </p:nvSpPr>
        <p:spPr>
          <a:xfrm>
            <a:off x="3581400" y="5162397"/>
            <a:ext cx="5562600" cy="1200329"/>
          </a:xfrm>
          <a:prstGeom prst="rect">
            <a:avLst/>
          </a:prstGeom>
          <a:noFill/>
        </p:spPr>
        <p:txBody>
          <a:bodyPr wrap="square" rtlCol="0">
            <a:spAutoFit/>
          </a:bodyPr>
          <a:lstStyle/>
          <a:p>
            <a:r>
              <a:rPr lang="en-US" dirty="0" err="1"/>
              <a:t>Vaswani</a:t>
            </a:r>
            <a:r>
              <a:rPr lang="en-US" dirty="0"/>
              <a:t>, A., </a:t>
            </a:r>
            <a:r>
              <a:rPr lang="en-US" dirty="0" err="1"/>
              <a:t>Shazeer</a:t>
            </a:r>
            <a:r>
              <a:rPr lang="en-US" dirty="0"/>
              <a:t>, N., </a:t>
            </a:r>
            <a:r>
              <a:rPr lang="en-US" dirty="0" err="1"/>
              <a:t>Parmar</a:t>
            </a:r>
            <a:r>
              <a:rPr lang="en-US" dirty="0"/>
              <a:t>, N., </a:t>
            </a:r>
            <a:r>
              <a:rPr lang="en-US" dirty="0" err="1"/>
              <a:t>Uszkoreit</a:t>
            </a:r>
            <a:r>
              <a:rPr lang="en-US" dirty="0"/>
              <a:t>, J., Jones, L., Gomez, A.N., Kaiser, Ł. and </a:t>
            </a:r>
            <a:r>
              <a:rPr lang="en-US" dirty="0" err="1"/>
              <a:t>Polosukhin</a:t>
            </a:r>
            <a:r>
              <a:rPr lang="en-US" dirty="0"/>
              <a:t>, I., 2017. Attention is all you need. In </a:t>
            </a:r>
            <a:r>
              <a:rPr lang="en-US" i="1" dirty="0"/>
              <a:t>Advances in Neural Information Processing Systems</a:t>
            </a:r>
            <a:r>
              <a:rPr lang="en-US" dirty="0"/>
              <a:t> (pp. 5998-6008).</a:t>
            </a:r>
          </a:p>
        </p:txBody>
      </p:sp>
      <p:pic>
        <p:nvPicPr>
          <p:cNvPr id="4098" name="Picture 2" descr="Image result for machine translation deep learning better than human"/>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974" y="2200752"/>
            <a:ext cx="8683625" cy="45238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00758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Natural Language Processing: Speech Recognition</a:t>
            </a:r>
          </a:p>
        </p:txBody>
      </p:sp>
      <p:pic>
        <p:nvPicPr>
          <p:cNvPr id="4"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4243421"/>
            <a:ext cx="8419234" cy="2399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884" y="1477910"/>
            <a:ext cx="2407516" cy="27655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6" name="TextBox 5"/>
          <p:cNvSpPr txBox="1"/>
          <p:nvPr/>
        </p:nvSpPr>
        <p:spPr>
          <a:xfrm>
            <a:off x="4955655" y="2438400"/>
            <a:ext cx="4112145" cy="1200329"/>
          </a:xfrm>
          <a:prstGeom prst="rect">
            <a:avLst/>
          </a:prstGeom>
          <a:noFill/>
        </p:spPr>
        <p:txBody>
          <a:bodyPr wrap="square" rtlCol="0">
            <a:spAutoFit/>
          </a:bodyPr>
          <a:lstStyle/>
          <a:p>
            <a:r>
              <a:rPr lang="en-US" dirty="0"/>
              <a:t>Chiu, Chung-Cheng, et al. "State-of-the-art speech recognition with sequence-to-sequence models." </a:t>
            </a:r>
            <a:r>
              <a:rPr lang="en-US" i="1" dirty="0" err="1"/>
              <a:t>arXiv</a:t>
            </a:r>
            <a:r>
              <a:rPr lang="en-US" i="1" dirty="0"/>
              <a:t> preprint arXiv:1712.01769</a:t>
            </a:r>
            <a:r>
              <a:rPr lang="en-US" dirty="0"/>
              <a:t> (2017).</a:t>
            </a:r>
          </a:p>
        </p:txBody>
      </p:sp>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76600" y="1497919"/>
            <a:ext cx="5676034" cy="33788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589664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AI?: Self Driving Cars</a:t>
            </a:r>
          </a:p>
        </p:txBody>
      </p:sp>
      <p:sp>
        <p:nvSpPr>
          <p:cNvPr id="3" name="Content Placeholder 2"/>
          <p:cNvSpPr>
            <a:spLocks noGrp="1"/>
          </p:cNvSpPr>
          <p:nvPr>
            <p:ph idx="1"/>
          </p:nvPr>
        </p:nvSpPr>
        <p:spPr>
          <a:xfrm>
            <a:off x="-76200" y="1600200"/>
            <a:ext cx="3733800" cy="6324600"/>
          </a:xfrm>
        </p:spPr>
        <p:txBody>
          <a:bodyPr/>
          <a:lstStyle/>
          <a:p>
            <a:r>
              <a:rPr lang="en-US" sz="2400" dirty="0"/>
              <a:t>In 2015, the US states of Nevada, Florida, California, Virginia, Washington D.C. allowed the testing of autonomous cars on public roads.</a:t>
            </a:r>
          </a:p>
          <a:p>
            <a:r>
              <a:rPr lang="en-US" sz="2400" dirty="0"/>
              <a:t>In 2017 Audi stated that its latest A8 would be autonomous at up to speeds of 60 km/h using its "Audi AI"</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52825" y="1645920"/>
            <a:ext cx="5621655" cy="4114800"/>
          </a:xfrm>
          <a:prstGeom prst="rect">
            <a:avLst/>
          </a:prstGeom>
        </p:spPr>
      </p:pic>
    </p:spTree>
    <p:extLst>
      <p:ext uri="{BB962C8B-B14F-4D97-AF65-F5344CB8AC3E}">
        <p14:creationId xmlns:p14="http://schemas.microsoft.com/office/powerpoint/2010/main" val="339113777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AI?: Games</a:t>
            </a:r>
          </a:p>
        </p:txBody>
      </p:sp>
      <p:sp>
        <p:nvSpPr>
          <p:cNvPr id="3" name="Content Placeholder 2"/>
          <p:cNvSpPr>
            <a:spLocks noGrp="1"/>
          </p:cNvSpPr>
          <p:nvPr>
            <p:ph idx="1"/>
          </p:nvPr>
        </p:nvSpPr>
        <p:spPr>
          <a:xfrm>
            <a:off x="457200" y="1600201"/>
            <a:ext cx="8229600" cy="2209800"/>
          </a:xfrm>
        </p:spPr>
        <p:txBody>
          <a:bodyPr/>
          <a:lstStyle/>
          <a:p>
            <a:r>
              <a:rPr lang="en-US" dirty="0"/>
              <a:t>It became the first </a:t>
            </a:r>
            <a:r>
              <a:rPr lang="en-US" dirty="0" err="1"/>
              <a:t>ComputerGo</a:t>
            </a:r>
            <a:r>
              <a:rPr lang="en-US" dirty="0"/>
              <a:t> program to beat a human professional player on a full-sized 19×19 board. In March 2016, it beat Lee </a:t>
            </a:r>
            <a:r>
              <a:rPr lang="en-US" dirty="0" err="1"/>
              <a:t>Sedol</a:t>
            </a:r>
            <a:r>
              <a:rPr lang="en-US" dirty="0"/>
              <a:t> in a five-game match. </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76400" y="3703320"/>
            <a:ext cx="6096000" cy="3048000"/>
          </a:xfrm>
          <a:prstGeom prst="rect">
            <a:avLst/>
          </a:prstGeom>
        </p:spPr>
      </p:pic>
    </p:spTree>
    <p:extLst>
      <p:ext uri="{BB962C8B-B14F-4D97-AF65-F5344CB8AC3E}">
        <p14:creationId xmlns:p14="http://schemas.microsoft.com/office/powerpoint/2010/main" val="3266136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AI?: Virtual Personal Assistant</a:t>
            </a:r>
          </a:p>
        </p:txBody>
      </p:sp>
      <p:sp>
        <p:nvSpPr>
          <p:cNvPr id="3" name="Content Placeholder 2"/>
          <p:cNvSpPr>
            <a:spLocks noGrp="1"/>
          </p:cNvSpPr>
          <p:nvPr>
            <p:ph idx="1"/>
          </p:nvPr>
        </p:nvSpPr>
        <p:spPr>
          <a:xfrm>
            <a:off x="381000" y="1600201"/>
            <a:ext cx="8229600" cy="2514600"/>
          </a:xfrm>
        </p:spPr>
        <p:txBody>
          <a:bodyPr/>
          <a:lstStyle/>
          <a:p>
            <a:r>
              <a:rPr lang="en-US" sz="2400" dirty="0" err="1"/>
              <a:t>Siri</a:t>
            </a:r>
            <a:r>
              <a:rPr lang="en-US" sz="2400" dirty="0"/>
              <a:t>, Google Now are intelligent digital personal assistants on various platforms (</a:t>
            </a:r>
            <a:r>
              <a:rPr lang="en-US" sz="2400" dirty="0" err="1"/>
              <a:t>iOS</a:t>
            </a:r>
            <a:r>
              <a:rPr lang="en-US" sz="2400" dirty="0"/>
              <a:t>, Android, and Windows Mobile). In short, they help find useful information when you ask for it using your voice; you can say “Where’s the nearest Chinese restaurant?”,</a:t>
            </a:r>
            <a:endParaRPr lang="en-US" sz="2000"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57800" y="3989434"/>
            <a:ext cx="3886200" cy="2906665"/>
          </a:xfrm>
          <a:prstGeom prst="rect">
            <a:avLst/>
          </a:prstGeom>
        </p:spPr>
      </p:pic>
      <p:sp>
        <p:nvSpPr>
          <p:cNvPr id="5" name="Content Placeholder 2"/>
          <p:cNvSpPr txBox="1">
            <a:spLocks/>
          </p:cNvSpPr>
          <p:nvPr/>
        </p:nvSpPr>
        <p:spPr bwMode="auto">
          <a:xfrm>
            <a:off x="762000" y="3581400"/>
            <a:ext cx="4343400" cy="2971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a:lstStyle>
          <a:p>
            <a:pPr marL="0" indent="0">
              <a:buNone/>
            </a:pPr>
            <a:r>
              <a:rPr lang="en-US" sz="2400" dirty="0"/>
              <a:t>“What’s on my schedule today?”, “Remind me to call Jerry at eight o’clock,” and the assistant will respond by finding information, relaying information from your phone, or sending commands to other apps</a:t>
            </a:r>
            <a:r>
              <a:rPr lang="en-US" sz="2000" dirty="0"/>
              <a:t>.</a:t>
            </a:r>
          </a:p>
        </p:txBody>
      </p:sp>
    </p:spTree>
    <p:extLst>
      <p:ext uri="{BB962C8B-B14F-4D97-AF65-F5344CB8AC3E}">
        <p14:creationId xmlns:p14="http://schemas.microsoft.com/office/powerpoint/2010/main" val="4000441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AI?</a:t>
            </a:r>
          </a:p>
        </p:txBody>
      </p:sp>
      <p:sp>
        <p:nvSpPr>
          <p:cNvPr id="3" name="Content Placeholder 2"/>
          <p:cNvSpPr>
            <a:spLocks noGrp="1"/>
          </p:cNvSpPr>
          <p:nvPr>
            <p:ph idx="1"/>
          </p:nvPr>
        </p:nvSpPr>
        <p:spPr>
          <a:xfrm>
            <a:off x="457200" y="1371600"/>
            <a:ext cx="8382000" cy="5715000"/>
          </a:xfrm>
        </p:spPr>
        <p:txBody>
          <a:bodyPr/>
          <a:lstStyle/>
          <a:p>
            <a:r>
              <a:rPr lang="en-US" sz="2800" dirty="0"/>
              <a:t>Medical : Many Surgeons now use robot assistants in microsurgery. E.g. </a:t>
            </a:r>
            <a:r>
              <a:rPr lang="en-US" sz="2800" dirty="0" err="1"/>
              <a:t>HipNav</a:t>
            </a:r>
            <a:endParaRPr lang="en-US" sz="2800" dirty="0"/>
          </a:p>
          <a:p>
            <a:r>
              <a:rPr lang="en-US" sz="2800" dirty="0" err="1"/>
              <a:t>Humaniod</a:t>
            </a:r>
            <a:r>
              <a:rPr lang="en-US" sz="2800" dirty="0"/>
              <a:t> Robot like ASIMO was designed to operate in real-world environments, with the ability to walk or run on two feet at speeds of up to 6 </a:t>
            </a:r>
            <a:r>
              <a:rPr lang="en-US" sz="2800" dirty="0" err="1"/>
              <a:t>kilometres</a:t>
            </a:r>
            <a:r>
              <a:rPr lang="en-US" sz="2800" dirty="0"/>
              <a:t> per hour (3.7 mph)</a:t>
            </a:r>
          </a:p>
          <a:p>
            <a:r>
              <a:rPr lang="en-US" sz="2800" dirty="0"/>
              <a:t>Information Retrieval: Search engines like Google and Yahoo uses AI for data retrieval</a:t>
            </a:r>
          </a:p>
          <a:p>
            <a:r>
              <a:rPr lang="en-US" sz="2800" dirty="0"/>
              <a:t>Computer Vision: OCR, face recognition (biometric, tracking)</a:t>
            </a:r>
          </a:p>
          <a:p>
            <a:endParaRPr lang="en-US" sz="2400" dirty="0"/>
          </a:p>
        </p:txBody>
      </p:sp>
    </p:spTree>
    <p:extLst>
      <p:ext uri="{BB962C8B-B14F-4D97-AF65-F5344CB8AC3E}">
        <p14:creationId xmlns:p14="http://schemas.microsoft.com/office/powerpoint/2010/main" val="11682143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Text Book and Course Material</a:t>
            </a:r>
          </a:p>
        </p:txBody>
      </p:sp>
      <p:sp>
        <p:nvSpPr>
          <p:cNvPr id="3" name="Content Placeholder 2"/>
          <p:cNvSpPr>
            <a:spLocks noGrp="1"/>
          </p:cNvSpPr>
          <p:nvPr>
            <p:ph idx="1"/>
          </p:nvPr>
        </p:nvSpPr>
        <p:spPr>
          <a:xfrm>
            <a:off x="457200" y="1600201"/>
            <a:ext cx="8229600" cy="4495800"/>
          </a:xfrm>
        </p:spPr>
        <p:txBody>
          <a:bodyPr/>
          <a:lstStyle/>
          <a:p>
            <a:r>
              <a:rPr lang="en-US" dirty="0"/>
              <a:t>Textbook: S. Russell and P. </a:t>
            </a:r>
            <a:r>
              <a:rPr lang="en-US" dirty="0" err="1"/>
              <a:t>Norvig</a:t>
            </a:r>
            <a:r>
              <a:rPr lang="en-US" dirty="0"/>
              <a:t> </a:t>
            </a:r>
            <a:r>
              <a:rPr lang="en-US" i="1" dirty="0"/>
              <a:t>Artificial Intelligence: A Modern Approach </a:t>
            </a:r>
            <a:r>
              <a:rPr lang="en-US" dirty="0"/>
              <a:t>Prentice Hall, 2003</a:t>
            </a:r>
          </a:p>
          <a:p>
            <a:r>
              <a:rPr lang="en-US" dirty="0">
                <a:solidFill>
                  <a:srgbClr val="FF0000"/>
                </a:solidFill>
              </a:rPr>
              <a:t>Handouts and references of reading text will be provided in the class or before the class.</a:t>
            </a:r>
          </a:p>
          <a:p>
            <a:endParaRPr lang="en-US" dirty="0"/>
          </a:p>
        </p:txBody>
      </p:sp>
    </p:spTree>
    <p:extLst>
      <p:ext uri="{BB962C8B-B14F-4D97-AF65-F5344CB8AC3E}">
        <p14:creationId xmlns:p14="http://schemas.microsoft.com/office/powerpoint/2010/main" val="257234390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Textbook</a:t>
            </a:r>
            <a:endParaRPr lang="en-US" dirty="0"/>
          </a:p>
        </p:txBody>
      </p:sp>
      <p:sp>
        <p:nvSpPr>
          <p:cNvPr id="3" name="Content Placeholder 2"/>
          <p:cNvSpPr>
            <a:spLocks noGrp="1"/>
          </p:cNvSpPr>
          <p:nvPr>
            <p:ph idx="1"/>
          </p:nvPr>
        </p:nvSpPr>
        <p:spPr/>
        <p:txBody>
          <a:bodyPr>
            <a:normAutofit lnSpcReduction="10000"/>
          </a:bodyPr>
          <a:lstStyle/>
          <a:p>
            <a:endParaRPr lang="en-US" dirty="0"/>
          </a:p>
          <a:p>
            <a:endParaRPr lang="en-US" dirty="0"/>
          </a:p>
          <a:p>
            <a:endParaRPr lang="en-US" dirty="0"/>
          </a:p>
          <a:p>
            <a:endParaRPr lang="en-US" dirty="0"/>
          </a:p>
          <a:p>
            <a:endParaRPr lang="en-US" dirty="0"/>
          </a:p>
          <a:p>
            <a:endParaRPr lang="en-US" dirty="0"/>
          </a:p>
          <a:p>
            <a:endParaRPr lang="en-US" dirty="0"/>
          </a:p>
          <a:p>
            <a:pPr marL="0" indent="0" algn="ctr">
              <a:buNone/>
            </a:pPr>
            <a:r>
              <a:rPr lang="en-US" sz="1800" dirty="0"/>
              <a:t>Artificial intelligence: A modern approach (3rd edition), Stuart Russell and Peter </a:t>
            </a:r>
            <a:r>
              <a:rPr lang="en-US" sz="1800" dirty="0" err="1"/>
              <a:t>Norvig</a:t>
            </a:r>
            <a:endParaRPr lang="en-US" sz="1800" dirty="0"/>
          </a:p>
        </p:txBody>
      </p:sp>
      <p:pic>
        <p:nvPicPr>
          <p:cNvPr id="4" name="Picture 3"/>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tretch>
            <a:fillRect/>
          </a:stretch>
        </p:blipFill>
        <p:spPr>
          <a:xfrm>
            <a:off x="3090930" y="1860550"/>
            <a:ext cx="2791496" cy="2704564"/>
          </a:xfrm>
          <a:prstGeom prst="rect">
            <a:avLst/>
          </a:prstGeom>
        </p:spPr>
      </p:pic>
    </p:spTree>
    <p:extLst>
      <p:ext uri="{BB962C8B-B14F-4D97-AF65-F5344CB8AC3E}">
        <p14:creationId xmlns:p14="http://schemas.microsoft.com/office/powerpoint/2010/main" val="30797075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3353</TotalTime>
  <Words>2126</Words>
  <Application>Microsoft Office PowerPoint</Application>
  <PresentationFormat>On-screen Show (4:3)</PresentationFormat>
  <Paragraphs>171</Paragraphs>
  <Slides>40</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40</vt:i4>
      </vt:variant>
    </vt:vector>
  </HeadingPairs>
  <TitlesOfParts>
    <vt:vector size="45" baseType="lpstr">
      <vt:lpstr>Arial</vt:lpstr>
      <vt:lpstr>Calibri</vt:lpstr>
      <vt:lpstr>Verdana</vt:lpstr>
      <vt:lpstr>Wingdings</vt:lpstr>
      <vt:lpstr>Office Theme</vt:lpstr>
      <vt:lpstr> Artificial Intelligence</vt:lpstr>
      <vt:lpstr>MARKS DISTRIBUTION</vt:lpstr>
      <vt:lpstr>AGENDA</vt:lpstr>
      <vt:lpstr>What makes human intelligent?</vt:lpstr>
      <vt:lpstr>Artificial Intelligence</vt:lpstr>
      <vt:lpstr>What is AI?</vt:lpstr>
      <vt:lpstr>PowerPoint Presentation</vt:lpstr>
      <vt:lpstr>PowerPoint Presentation</vt:lpstr>
      <vt:lpstr>Acting humanly: Turing test</vt:lpstr>
      <vt:lpstr>Thinking humanly: The cognitive modeling      approach</vt:lpstr>
      <vt:lpstr>Thinking Rationally: Laws of Thought</vt:lpstr>
      <vt:lpstr>Acting Rationally: The Rational Agent</vt:lpstr>
      <vt:lpstr>AI Umbrella</vt:lpstr>
      <vt:lpstr>PowerPoint Presentation</vt:lpstr>
      <vt:lpstr>PowerPoint Presentation</vt:lpstr>
      <vt:lpstr>PowerPoint Presentation</vt:lpstr>
      <vt:lpstr>PowerPoint Presentation</vt:lpstr>
      <vt:lpstr>PowerPoint Presentation</vt:lpstr>
      <vt:lpstr>PowerPoint Presentation</vt:lpstr>
      <vt:lpstr>Deep Learning in Artificial Intelligence</vt:lpstr>
      <vt:lpstr>Difference</vt:lpstr>
      <vt:lpstr>A (Short) History of AI</vt:lpstr>
      <vt:lpstr>History of AI</vt:lpstr>
      <vt:lpstr>State-of-art Artificial Intelligence</vt:lpstr>
      <vt:lpstr>PowerPoint Presentation</vt:lpstr>
      <vt:lpstr>Computer Vision: Object Recognition</vt:lpstr>
      <vt:lpstr>Computer Vision: Object Recognition</vt:lpstr>
      <vt:lpstr>Computer Vision: Object Detection and Segmentation</vt:lpstr>
      <vt:lpstr>PowerPoint Presentation</vt:lpstr>
      <vt:lpstr>Computer Vision: Image Captioning and Question Answering</vt:lpstr>
      <vt:lpstr>Medical Image Diagnostic</vt:lpstr>
      <vt:lpstr>Medical Image Diagnostic</vt:lpstr>
      <vt:lpstr>Natural Language Processing: Machine Translation</vt:lpstr>
      <vt:lpstr>Natural Language Processing: Speech Recognition</vt:lpstr>
      <vt:lpstr>Why AI?: Self Driving Cars</vt:lpstr>
      <vt:lpstr>Why AI?: Games</vt:lpstr>
      <vt:lpstr>Why AI?: Virtual Personal Assistant</vt:lpstr>
      <vt:lpstr>Why AI?</vt:lpstr>
      <vt:lpstr>Text Book and Course Material</vt:lpstr>
      <vt:lpstr>Textbook</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Advanced Topics in Artificial Intelligence</dc:title>
  <dc:creator>Tehseen-PC</dc:creator>
  <cp:lastModifiedBy>anwar khan</cp:lastModifiedBy>
  <cp:revision>147</cp:revision>
  <dcterms:created xsi:type="dcterms:W3CDTF">2006-08-16T00:00:00Z</dcterms:created>
  <dcterms:modified xsi:type="dcterms:W3CDTF">2025-09-30T07:07:51Z</dcterms:modified>
</cp:coreProperties>
</file>