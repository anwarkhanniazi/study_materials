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92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93" r:id="rId12"/>
    <p:sldId id="268" r:id="rId13"/>
    <p:sldId id="269" r:id="rId14"/>
    <p:sldId id="296" r:id="rId15"/>
    <p:sldId id="297" r:id="rId16"/>
    <p:sldId id="298" r:id="rId17"/>
    <p:sldId id="299" r:id="rId18"/>
    <p:sldId id="300" r:id="rId19"/>
    <p:sldId id="301" r:id="rId20"/>
    <p:sldId id="270" r:id="rId21"/>
    <p:sldId id="294" r:id="rId22"/>
    <p:sldId id="295" r:id="rId23"/>
    <p:sldId id="302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04510b0218625f80" providerId="LiveId" clId="{31D18CF4-CFD8-4B4C-A2E8-D1B4A9241D9A}"/>
    <pc:docChg chg="undo custSel addSld delSld modSld sldOrd">
      <pc:chgData name="" userId="04510b0218625f80" providerId="LiveId" clId="{31D18CF4-CFD8-4B4C-A2E8-D1B4A9241D9A}" dt="2025-12-10T04:27:26.937" v="156" actId="113"/>
      <pc:docMkLst>
        <pc:docMk/>
      </pc:docMkLst>
      <pc:sldChg chg="delSp modSp del">
        <pc:chgData name="" userId="04510b0218625f80" providerId="LiveId" clId="{31D18CF4-CFD8-4B4C-A2E8-D1B4A9241D9A}" dt="2025-12-10T04:15:16.118" v="57" actId="2696"/>
        <pc:sldMkLst>
          <pc:docMk/>
          <pc:sldMk cId="0" sldId="256"/>
        </pc:sldMkLst>
        <pc:spChg chg="del">
          <ac:chgData name="" userId="04510b0218625f80" providerId="LiveId" clId="{31D18CF4-CFD8-4B4C-A2E8-D1B4A9241D9A}" dt="2025-12-10T04:13:49.278" v="25"/>
          <ac:spMkLst>
            <pc:docMk/>
            <pc:sldMk cId="0" sldId="256"/>
            <ac:spMk id="3" creationId="{00000000-0000-0000-0000-000000000000}"/>
          </ac:spMkLst>
        </pc:spChg>
        <pc:spChg chg="del">
          <ac:chgData name="" userId="04510b0218625f80" providerId="LiveId" clId="{31D18CF4-CFD8-4B4C-A2E8-D1B4A9241D9A}" dt="2025-12-10T04:13:25.281" v="21"/>
          <ac:spMkLst>
            <pc:docMk/>
            <pc:sldMk cId="0" sldId="256"/>
            <ac:spMk id="20" creationId="{00000000-0000-0000-0000-000000000000}"/>
          </ac:spMkLst>
        </pc:spChg>
        <pc:spChg chg="mod">
          <ac:chgData name="" userId="04510b0218625f80" providerId="LiveId" clId="{31D18CF4-CFD8-4B4C-A2E8-D1B4A9241D9A}" dt="2025-12-10T04:13:30.206" v="22" actId="20577"/>
          <ac:spMkLst>
            <pc:docMk/>
            <pc:sldMk cId="0" sldId="256"/>
            <ac:spMk id="21" creationId="{00000000-0000-0000-0000-000000000000}"/>
          </ac:spMkLst>
        </pc:spChg>
        <pc:spChg chg="mod">
          <ac:chgData name="" userId="04510b0218625f80" providerId="LiveId" clId="{31D18CF4-CFD8-4B4C-A2E8-D1B4A9241D9A}" dt="2025-12-10T04:13:38.129" v="24" actId="20577"/>
          <ac:spMkLst>
            <pc:docMk/>
            <pc:sldMk cId="0" sldId="256"/>
            <ac:spMk id="22" creationId="{00000000-0000-0000-0000-000000000000}"/>
          </ac:spMkLst>
        </pc:spChg>
        <pc:picChg chg="mod">
          <ac:chgData name="" userId="04510b0218625f80" providerId="LiveId" clId="{31D18CF4-CFD8-4B4C-A2E8-D1B4A9241D9A}" dt="2025-12-10T04:13:34.259" v="23" actId="1036"/>
          <ac:picMkLst>
            <pc:docMk/>
            <pc:sldMk cId="0" sldId="256"/>
            <ac:picMk id="2" creationId="{00000000-0000-0000-0000-000000000000}"/>
          </ac:picMkLst>
        </pc:picChg>
        <pc:picChg chg="del">
          <ac:chgData name="" userId="04510b0218625f80" providerId="LiveId" clId="{31D18CF4-CFD8-4B4C-A2E8-D1B4A9241D9A}" dt="2025-12-10T04:13:22.532" v="20"/>
          <ac:picMkLst>
            <pc:docMk/>
            <pc:sldMk cId="0" sldId="256"/>
            <ac:picMk id="18" creationId="{00000000-0000-0000-0000-000000000000}"/>
          </ac:picMkLst>
        </pc:picChg>
      </pc:sldChg>
      <pc:sldChg chg="del">
        <pc:chgData name="" userId="04510b0218625f80" providerId="LiveId" clId="{31D18CF4-CFD8-4B4C-A2E8-D1B4A9241D9A}" dt="2025-12-10T04:12:47.373" v="2" actId="2696"/>
        <pc:sldMkLst>
          <pc:docMk/>
          <pc:sldMk cId="0" sldId="257"/>
        </pc:sldMkLst>
      </pc:sldChg>
      <pc:sldChg chg="delSp">
        <pc:chgData name="" userId="04510b0218625f80" providerId="LiveId" clId="{31D18CF4-CFD8-4B4C-A2E8-D1B4A9241D9A}" dt="2025-12-10T04:12:38.915" v="1"/>
        <pc:sldMkLst>
          <pc:docMk/>
          <pc:sldMk cId="0" sldId="258"/>
        </pc:sldMkLst>
        <pc:spChg chg="del">
          <ac:chgData name="" userId="04510b0218625f80" providerId="LiveId" clId="{31D18CF4-CFD8-4B4C-A2E8-D1B4A9241D9A}" dt="2025-12-10T04:12:33.122" v="0"/>
          <ac:spMkLst>
            <pc:docMk/>
            <pc:sldMk cId="0" sldId="258"/>
            <ac:spMk id="3" creationId="{00000000-0000-0000-0000-000000000000}"/>
          </ac:spMkLst>
        </pc:spChg>
        <pc:spChg chg="del">
          <ac:chgData name="" userId="04510b0218625f80" providerId="LiveId" clId="{31D18CF4-CFD8-4B4C-A2E8-D1B4A9241D9A}" dt="2025-12-10T04:12:38.915" v="1"/>
          <ac:spMkLst>
            <pc:docMk/>
            <pc:sldMk cId="0" sldId="258"/>
            <ac:spMk id="6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18:14.460" v="66" actId="113"/>
        <pc:sldMkLst>
          <pc:docMk/>
          <pc:sldMk cId="0" sldId="259"/>
        </pc:sldMkLst>
        <pc:spChg chg="mod">
          <ac:chgData name="" userId="04510b0218625f80" providerId="LiveId" clId="{31D18CF4-CFD8-4B4C-A2E8-D1B4A9241D9A}" dt="2025-12-10T04:18:14.460" v="66" actId="113"/>
          <ac:spMkLst>
            <pc:docMk/>
            <pc:sldMk cId="0" sldId="259"/>
            <ac:spMk id="2" creationId="{00000000-0000-0000-0000-000000000000}"/>
          </ac:spMkLst>
        </pc:spChg>
        <pc:spChg chg="del">
          <ac:chgData name="" userId="04510b0218625f80" providerId="LiveId" clId="{31D18CF4-CFD8-4B4C-A2E8-D1B4A9241D9A}" dt="2025-12-10T04:13:00.754" v="3"/>
          <ac:spMkLst>
            <pc:docMk/>
            <pc:sldMk cId="0" sldId="259"/>
            <ac:spMk id="7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19:10.328" v="69"/>
        <pc:sldMkLst>
          <pc:docMk/>
          <pc:sldMk cId="0" sldId="260"/>
        </pc:sldMkLst>
        <pc:spChg chg="mod">
          <ac:chgData name="" userId="04510b0218625f80" providerId="LiveId" clId="{31D18CF4-CFD8-4B4C-A2E8-D1B4A9241D9A}" dt="2025-12-10T04:18:33.687" v="68" actId="113"/>
          <ac:spMkLst>
            <pc:docMk/>
            <pc:sldMk cId="0" sldId="260"/>
            <ac:spMk id="2" creationId="{00000000-0000-0000-0000-000000000000}"/>
          </ac:spMkLst>
        </pc:spChg>
        <pc:spChg chg="del">
          <ac:chgData name="" userId="04510b0218625f80" providerId="LiveId" clId="{31D18CF4-CFD8-4B4C-A2E8-D1B4A9241D9A}" dt="2025-12-10T04:19:10.328" v="69"/>
          <ac:spMkLst>
            <pc:docMk/>
            <pc:sldMk cId="0" sldId="260"/>
            <ac:spMk id="5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19:26.734" v="72"/>
        <pc:sldMkLst>
          <pc:docMk/>
          <pc:sldMk cId="0" sldId="261"/>
        </pc:sldMkLst>
        <pc:spChg chg="mod">
          <ac:chgData name="" userId="04510b0218625f80" providerId="LiveId" clId="{31D18CF4-CFD8-4B4C-A2E8-D1B4A9241D9A}" dt="2025-12-10T04:19:22.360" v="71" actId="113"/>
          <ac:spMkLst>
            <pc:docMk/>
            <pc:sldMk cId="0" sldId="261"/>
            <ac:spMk id="2" creationId="{00000000-0000-0000-0000-000000000000}"/>
          </ac:spMkLst>
        </pc:spChg>
        <pc:spChg chg="del">
          <ac:chgData name="" userId="04510b0218625f80" providerId="LiveId" clId="{31D18CF4-CFD8-4B4C-A2E8-D1B4A9241D9A}" dt="2025-12-10T04:19:26.734" v="72"/>
          <ac:spMkLst>
            <pc:docMk/>
            <pc:sldMk cId="0" sldId="261"/>
            <ac:spMk id="6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0:13.721" v="74" actId="113"/>
        <pc:sldMkLst>
          <pc:docMk/>
          <pc:sldMk cId="0" sldId="262"/>
        </pc:sldMkLst>
        <pc:spChg chg="mod">
          <ac:chgData name="" userId="04510b0218625f80" providerId="LiveId" clId="{31D18CF4-CFD8-4B4C-A2E8-D1B4A9241D9A}" dt="2025-12-10T04:20:13.721" v="74" actId="113"/>
          <ac:spMkLst>
            <pc:docMk/>
            <pc:sldMk cId="0" sldId="262"/>
            <ac:spMk id="2" creationId="{00000000-0000-0000-0000-000000000000}"/>
          </ac:spMkLst>
        </pc:spChg>
        <pc:spChg chg="del">
          <ac:chgData name="" userId="04510b0218625f80" providerId="LiveId" clId="{31D18CF4-CFD8-4B4C-A2E8-D1B4A9241D9A}" dt="2025-12-10T04:20:04.328" v="73"/>
          <ac:spMkLst>
            <pc:docMk/>
            <pc:sldMk cId="0" sldId="262"/>
            <ac:spMk id="5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0:29.220" v="76" actId="113"/>
        <pc:sldMkLst>
          <pc:docMk/>
          <pc:sldMk cId="0" sldId="263"/>
        </pc:sldMkLst>
        <pc:spChg chg="mod">
          <ac:chgData name="" userId="04510b0218625f80" providerId="LiveId" clId="{31D18CF4-CFD8-4B4C-A2E8-D1B4A9241D9A}" dt="2025-12-10T04:20:29.220" v="76" actId="113"/>
          <ac:spMkLst>
            <pc:docMk/>
            <pc:sldMk cId="0" sldId="263"/>
            <ac:spMk id="2" creationId="{00000000-0000-0000-0000-000000000000}"/>
          </ac:spMkLst>
        </pc:spChg>
        <pc:spChg chg="del">
          <ac:chgData name="" userId="04510b0218625f80" providerId="LiveId" clId="{31D18CF4-CFD8-4B4C-A2E8-D1B4A9241D9A}" dt="2025-12-10T04:20:23.304" v="75"/>
          <ac:spMkLst>
            <pc:docMk/>
            <pc:sldMk cId="0" sldId="263"/>
            <ac:spMk id="5" creationId="{00000000-0000-0000-0000-000000000000}"/>
          </ac:spMkLst>
        </pc:spChg>
      </pc:sldChg>
      <pc:sldChg chg="delSp">
        <pc:chgData name="" userId="04510b0218625f80" providerId="LiveId" clId="{31D18CF4-CFD8-4B4C-A2E8-D1B4A9241D9A}" dt="2025-12-10T04:21:32.938" v="82"/>
        <pc:sldMkLst>
          <pc:docMk/>
          <pc:sldMk cId="0" sldId="264"/>
        </pc:sldMkLst>
        <pc:spChg chg="del">
          <ac:chgData name="" userId="04510b0218625f80" providerId="LiveId" clId="{31D18CF4-CFD8-4B4C-A2E8-D1B4A9241D9A}" dt="2025-12-10T04:20:37.226" v="77"/>
          <ac:spMkLst>
            <pc:docMk/>
            <pc:sldMk cId="0" sldId="264"/>
            <ac:spMk id="3" creationId="{00000000-0000-0000-0000-000000000000}"/>
          </ac:spMkLst>
        </pc:spChg>
        <pc:spChg chg="del">
          <ac:chgData name="" userId="04510b0218625f80" providerId="LiveId" clId="{31D18CF4-CFD8-4B4C-A2E8-D1B4A9241D9A}" dt="2025-12-10T04:21:32.938" v="82"/>
          <ac:spMkLst>
            <pc:docMk/>
            <pc:sldMk cId="0" sldId="264"/>
            <ac:spMk id="6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1:23.725" v="81"/>
        <pc:sldMkLst>
          <pc:docMk/>
          <pc:sldMk cId="0" sldId="265"/>
        </pc:sldMkLst>
        <pc:spChg chg="mod">
          <ac:chgData name="" userId="04510b0218625f80" providerId="LiveId" clId="{31D18CF4-CFD8-4B4C-A2E8-D1B4A9241D9A}" dt="2025-12-10T04:21:09.486" v="80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" userId="04510b0218625f80" providerId="LiveId" clId="{31D18CF4-CFD8-4B4C-A2E8-D1B4A9241D9A}" dt="2025-12-10T04:21:23.725" v="81"/>
          <ac:spMkLst>
            <pc:docMk/>
            <pc:sldMk cId="0" sldId="265"/>
            <ac:spMk id="7" creationId="{00000000-0000-0000-0000-000000000000}"/>
          </ac:spMkLst>
        </pc:spChg>
      </pc:sldChg>
      <pc:sldChg chg="delSp">
        <pc:chgData name="" userId="04510b0218625f80" providerId="LiveId" clId="{31D18CF4-CFD8-4B4C-A2E8-D1B4A9241D9A}" dt="2025-12-10T04:21:44.891" v="84"/>
        <pc:sldMkLst>
          <pc:docMk/>
          <pc:sldMk cId="0" sldId="266"/>
        </pc:sldMkLst>
        <pc:spChg chg="del">
          <ac:chgData name="" userId="04510b0218625f80" providerId="LiveId" clId="{31D18CF4-CFD8-4B4C-A2E8-D1B4A9241D9A}" dt="2025-12-10T04:21:44.891" v="84"/>
          <ac:spMkLst>
            <pc:docMk/>
            <pc:sldMk cId="0" sldId="266"/>
            <ac:spMk id="5" creationId="{00000000-0000-0000-0000-000000000000}"/>
          </ac:spMkLst>
        </pc:spChg>
        <pc:spChg chg="del">
          <ac:chgData name="" userId="04510b0218625f80" providerId="LiveId" clId="{31D18CF4-CFD8-4B4C-A2E8-D1B4A9241D9A}" dt="2025-12-10T04:21:41.219" v="83"/>
          <ac:spMkLst>
            <pc:docMk/>
            <pc:sldMk cId="0" sldId="266"/>
            <ac:spMk id="7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2:13.860" v="90" actId="1076"/>
        <pc:sldMkLst>
          <pc:docMk/>
          <pc:sldMk cId="0" sldId="267"/>
        </pc:sldMkLst>
        <pc:spChg chg="mod">
          <ac:chgData name="" userId="04510b0218625f80" providerId="LiveId" clId="{31D18CF4-CFD8-4B4C-A2E8-D1B4A9241D9A}" dt="2025-12-10T04:22:13.860" v="90" actId="1076"/>
          <ac:spMkLst>
            <pc:docMk/>
            <pc:sldMk cId="0" sldId="267"/>
            <ac:spMk id="2" creationId="{00000000-0000-0000-0000-000000000000}"/>
          </ac:spMkLst>
        </pc:spChg>
        <pc:spChg chg="del">
          <ac:chgData name="" userId="04510b0218625f80" providerId="LiveId" clId="{31D18CF4-CFD8-4B4C-A2E8-D1B4A9241D9A}" dt="2025-12-10T04:21:58.141" v="85"/>
          <ac:spMkLst>
            <pc:docMk/>
            <pc:sldMk cId="0" sldId="267"/>
            <ac:spMk id="6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2:29.166" v="92"/>
        <pc:sldMkLst>
          <pc:docMk/>
          <pc:sldMk cId="0" sldId="268"/>
        </pc:sldMkLst>
        <pc:spChg chg="mod">
          <ac:chgData name="" userId="04510b0218625f80" providerId="LiveId" clId="{31D18CF4-CFD8-4B4C-A2E8-D1B4A9241D9A}" dt="2025-12-10T04:22:23.922" v="91" actId="113"/>
          <ac:spMkLst>
            <pc:docMk/>
            <pc:sldMk cId="0" sldId="268"/>
            <ac:spMk id="2" creationId="{00000000-0000-0000-0000-000000000000}"/>
          </ac:spMkLst>
        </pc:spChg>
        <pc:spChg chg="del">
          <ac:chgData name="" userId="04510b0218625f80" providerId="LiveId" clId="{31D18CF4-CFD8-4B4C-A2E8-D1B4A9241D9A}" dt="2025-12-10T04:22:29.166" v="92"/>
          <ac:spMkLst>
            <pc:docMk/>
            <pc:sldMk cId="0" sldId="268"/>
            <ac:spMk id="9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2:40.790" v="94"/>
        <pc:sldMkLst>
          <pc:docMk/>
          <pc:sldMk cId="0" sldId="269"/>
        </pc:sldMkLst>
        <pc:spChg chg="mod">
          <ac:chgData name="" userId="04510b0218625f80" providerId="LiveId" clId="{31D18CF4-CFD8-4B4C-A2E8-D1B4A9241D9A}" dt="2025-12-10T04:22:36.921" v="93" actId="113"/>
          <ac:spMkLst>
            <pc:docMk/>
            <pc:sldMk cId="0" sldId="269"/>
            <ac:spMk id="2" creationId="{00000000-0000-0000-0000-000000000000}"/>
          </ac:spMkLst>
        </pc:spChg>
        <pc:spChg chg="del">
          <ac:chgData name="" userId="04510b0218625f80" providerId="LiveId" clId="{31D18CF4-CFD8-4B4C-A2E8-D1B4A9241D9A}" dt="2025-12-10T04:22:40.790" v="94"/>
          <ac:spMkLst>
            <pc:docMk/>
            <pc:sldMk cId="0" sldId="269"/>
            <ac:spMk id="6" creationId="{00000000-0000-0000-0000-000000000000}"/>
          </ac:spMkLst>
        </pc:spChg>
      </pc:sldChg>
      <pc:sldChg chg="delSp">
        <pc:chgData name="" userId="04510b0218625f80" providerId="LiveId" clId="{31D18CF4-CFD8-4B4C-A2E8-D1B4A9241D9A}" dt="2025-12-10T04:22:51.843" v="96"/>
        <pc:sldMkLst>
          <pc:docMk/>
          <pc:sldMk cId="0" sldId="270"/>
        </pc:sldMkLst>
        <pc:spChg chg="del">
          <ac:chgData name="" userId="04510b0218625f80" providerId="LiveId" clId="{31D18CF4-CFD8-4B4C-A2E8-D1B4A9241D9A}" dt="2025-12-10T04:22:48.776" v="95"/>
          <ac:spMkLst>
            <pc:docMk/>
            <pc:sldMk cId="0" sldId="270"/>
            <ac:spMk id="3" creationId="{00000000-0000-0000-0000-000000000000}"/>
          </ac:spMkLst>
        </pc:spChg>
        <pc:spChg chg="del">
          <ac:chgData name="" userId="04510b0218625f80" providerId="LiveId" clId="{31D18CF4-CFD8-4B4C-A2E8-D1B4A9241D9A}" dt="2025-12-10T04:22:51.843" v="96"/>
          <ac:spMkLst>
            <pc:docMk/>
            <pc:sldMk cId="0" sldId="270"/>
            <ac:spMk id="6" creationId="{00000000-0000-0000-0000-000000000000}"/>
          </ac:spMkLst>
        </pc:spChg>
      </pc:sldChg>
      <pc:sldChg chg="delSp">
        <pc:chgData name="" userId="04510b0218625f80" providerId="LiveId" clId="{31D18CF4-CFD8-4B4C-A2E8-D1B4A9241D9A}" dt="2025-12-10T04:23:02.461" v="98"/>
        <pc:sldMkLst>
          <pc:docMk/>
          <pc:sldMk cId="0" sldId="271"/>
        </pc:sldMkLst>
        <pc:spChg chg="del">
          <ac:chgData name="" userId="04510b0218625f80" providerId="LiveId" clId="{31D18CF4-CFD8-4B4C-A2E8-D1B4A9241D9A}" dt="2025-12-10T04:23:02.461" v="98"/>
          <ac:spMkLst>
            <pc:docMk/>
            <pc:sldMk cId="0" sldId="271"/>
            <ac:spMk id="4" creationId="{00000000-0000-0000-0000-000000000000}"/>
          </ac:spMkLst>
        </pc:spChg>
        <pc:spChg chg="del">
          <ac:chgData name="" userId="04510b0218625f80" providerId="LiveId" clId="{31D18CF4-CFD8-4B4C-A2E8-D1B4A9241D9A}" dt="2025-12-10T04:22:59.876" v="97"/>
          <ac:spMkLst>
            <pc:docMk/>
            <pc:sldMk cId="0" sldId="271"/>
            <ac:spMk id="7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3:18.096" v="101"/>
        <pc:sldMkLst>
          <pc:docMk/>
          <pc:sldMk cId="0" sldId="272"/>
        </pc:sldMkLst>
        <pc:spChg chg="del mod">
          <ac:chgData name="" userId="04510b0218625f80" providerId="LiveId" clId="{31D18CF4-CFD8-4B4C-A2E8-D1B4A9241D9A}" dt="2025-12-10T04:23:13.172" v="100"/>
          <ac:spMkLst>
            <pc:docMk/>
            <pc:sldMk cId="0" sldId="272"/>
            <ac:spMk id="5" creationId="{00000000-0000-0000-0000-000000000000}"/>
          </ac:spMkLst>
        </pc:spChg>
        <pc:spChg chg="del">
          <ac:chgData name="" userId="04510b0218625f80" providerId="LiveId" clId="{31D18CF4-CFD8-4B4C-A2E8-D1B4A9241D9A}" dt="2025-12-10T04:23:18.096" v="101"/>
          <ac:spMkLst>
            <pc:docMk/>
            <pc:sldMk cId="0" sldId="272"/>
            <ac:spMk id="7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3:33.559" v="103" actId="113"/>
        <pc:sldMkLst>
          <pc:docMk/>
          <pc:sldMk cId="0" sldId="273"/>
        </pc:sldMkLst>
        <pc:spChg chg="mod">
          <ac:chgData name="" userId="04510b0218625f80" providerId="LiveId" clId="{31D18CF4-CFD8-4B4C-A2E8-D1B4A9241D9A}" dt="2025-12-10T04:23:33.559" v="103" actId="113"/>
          <ac:spMkLst>
            <pc:docMk/>
            <pc:sldMk cId="0" sldId="273"/>
            <ac:spMk id="2" creationId="{00000000-0000-0000-0000-000000000000}"/>
          </ac:spMkLst>
        </pc:spChg>
        <pc:spChg chg="del">
          <ac:chgData name="" userId="04510b0218625f80" providerId="LiveId" clId="{31D18CF4-CFD8-4B4C-A2E8-D1B4A9241D9A}" dt="2025-12-10T04:23:24.891" v="102"/>
          <ac:spMkLst>
            <pc:docMk/>
            <pc:sldMk cId="0" sldId="273"/>
            <ac:spMk id="5" creationId="{00000000-0000-0000-0000-000000000000}"/>
          </ac:spMkLst>
        </pc:spChg>
      </pc:sldChg>
      <pc:sldChg chg="delSp">
        <pc:chgData name="" userId="04510b0218625f80" providerId="LiveId" clId="{31D18CF4-CFD8-4B4C-A2E8-D1B4A9241D9A}" dt="2025-12-10T04:23:42.935" v="105"/>
        <pc:sldMkLst>
          <pc:docMk/>
          <pc:sldMk cId="0" sldId="274"/>
        </pc:sldMkLst>
        <pc:spChg chg="del">
          <ac:chgData name="" userId="04510b0218625f80" providerId="LiveId" clId="{31D18CF4-CFD8-4B4C-A2E8-D1B4A9241D9A}" dt="2025-12-10T04:23:39.094" v="104"/>
          <ac:spMkLst>
            <pc:docMk/>
            <pc:sldMk cId="0" sldId="274"/>
            <ac:spMk id="3" creationId="{00000000-0000-0000-0000-000000000000}"/>
          </ac:spMkLst>
        </pc:spChg>
        <pc:spChg chg="del">
          <ac:chgData name="" userId="04510b0218625f80" providerId="LiveId" clId="{31D18CF4-CFD8-4B4C-A2E8-D1B4A9241D9A}" dt="2025-12-10T04:23:42.935" v="105"/>
          <ac:spMkLst>
            <pc:docMk/>
            <pc:sldMk cId="0" sldId="274"/>
            <ac:spMk id="6" creationId="{00000000-0000-0000-0000-000000000000}"/>
          </ac:spMkLst>
        </pc:spChg>
      </pc:sldChg>
      <pc:sldChg chg="delSp">
        <pc:chgData name="" userId="04510b0218625f80" providerId="LiveId" clId="{31D18CF4-CFD8-4B4C-A2E8-D1B4A9241D9A}" dt="2025-12-10T04:23:47.781" v="106"/>
        <pc:sldMkLst>
          <pc:docMk/>
          <pc:sldMk cId="0" sldId="275"/>
        </pc:sldMkLst>
        <pc:spChg chg="del">
          <ac:chgData name="" userId="04510b0218625f80" providerId="LiveId" clId="{31D18CF4-CFD8-4B4C-A2E8-D1B4A9241D9A}" dt="2025-12-10T04:23:47.781" v="106"/>
          <ac:spMkLst>
            <pc:docMk/>
            <pc:sldMk cId="0" sldId="275"/>
            <ac:spMk id="5" creationId="{00000000-0000-0000-0000-000000000000}"/>
          </ac:spMkLst>
        </pc:spChg>
      </pc:sldChg>
      <pc:sldChg chg="delSp">
        <pc:chgData name="" userId="04510b0218625f80" providerId="LiveId" clId="{31D18CF4-CFD8-4B4C-A2E8-D1B4A9241D9A}" dt="2025-12-10T04:23:52.472" v="107"/>
        <pc:sldMkLst>
          <pc:docMk/>
          <pc:sldMk cId="0" sldId="276"/>
        </pc:sldMkLst>
        <pc:spChg chg="del">
          <ac:chgData name="" userId="04510b0218625f80" providerId="LiveId" clId="{31D18CF4-CFD8-4B4C-A2E8-D1B4A9241D9A}" dt="2025-12-10T04:23:52.472" v="107"/>
          <ac:spMkLst>
            <pc:docMk/>
            <pc:sldMk cId="0" sldId="276"/>
            <ac:spMk id="5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4:43.204" v="113" actId="113"/>
        <pc:sldMkLst>
          <pc:docMk/>
          <pc:sldMk cId="0" sldId="277"/>
        </pc:sldMkLst>
        <pc:spChg chg="mod">
          <ac:chgData name="" userId="04510b0218625f80" providerId="LiveId" clId="{31D18CF4-CFD8-4B4C-A2E8-D1B4A9241D9A}" dt="2025-12-10T04:24:43.204" v="113" actId="113"/>
          <ac:spMkLst>
            <pc:docMk/>
            <pc:sldMk cId="0" sldId="277"/>
            <ac:spMk id="2" creationId="{00000000-0000-0000-0000-000000000000}"/>
          </ac:spMkLst>
        </pc:spChg>
        <pc:spChg chg="del mod">
          <ac:chgData name="" userId="04510b0218625f80" providerId="LiveId" clId="{31D18CF4-CFD8-4B4C-A2E8-D1B4A9241D9A}" dt="2025-12-10T04:24:21.315" v="109"/>
          <ac:spMkLst>
            <pc:docMk/>
            <pc:sldMk cId="0" sldId="277"/>
            <ac:spMk id="6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5:00.815" v="116" actId="1076"/>
        <pc:sldMkLst>
          <pc:docMk/>
          <pc:sldMk cId="0" sldId="278"/>
        </pc:sldMkLst>
        <pc:spChg chg="mod">
          <ac:chgData name="" userId="04510b0218625f80" providerId="LiveId" clId="{31D18CF4-CFD8-4B4C-A2E8-D1B4A9241D9A}" dt="2025-12-10T04:25:00.815" v="116" actId="1076"/>
          <ac:spMkLst>
            <pc:docMk/>
            <pc:sldMk cId="0" sldId="278"/>
            <ac:spMk id="2" creationId="{00000000-0000-0000-0000-000000000000}"/>
          </ac:spMkLst>
        </pc:spChg>
        <pc:spChg chg="del">
          <ac:chgData name="" userId="04510b0218625f80" providerId="LiveId" clId="{31D18CF4-CFD8-4B4C-A2E8-D1B4A9241D9A}" dt="2025-12-10T04:24:49.610" v="114"/>
          <ac:spMkLst>
            <pc:docMk/>
            <pc:sldMk cId="0" sldId="278"/>
            <ac:spMk id="6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7:26.937" v="156" actId="113"/>
        <pc:sldMkLst>
          <pc:docMk/>
          <pc:sldMk cId="0" sldId="279"/>
        </pc:sldMkLst>
        <pc:spChg chg="mod">
          <ac:chgData name="" userId="04510b0218625f80" providerId="LiveId" clId="{31D18CF4-CFD8-4B4C-A2E8-D1B4A9241D9A}" dt="2025-12-10T04:27:26.937" v="156" actId="113"/>
          <ac:spMkLst>
            <pc:docMk/>
            <pc:sldMk cId="0" sldId="279"/>
            <ac:spMk id="2" creationId="{00000000-0000-0000-0000-000000000000}"/>
          </ac:spMkLst>
        </pc:spChg>
        <pc:spChg chg="del mod">
          <ac:chgData name="" userId="04510b0218625f80" providerId="LiveId" clId="{31D18CF4-CFD8-4B4C-A2E8-D1B4A9241D9A}" dt="2025-12-10T04:25:13.001" v="119"/>
          <ac:spMkLst>
            <pc:docMk/>
            <pc:sldMk cId="0" sldId="279"/>
            <ac:spMk id="20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5:56.109" v="135" actId="1076"/>
        <pc:sldMkLst>
          <pc:docMk/>
          <pc:sldMk cId="0" sldId="280"/>
        </pc:sldMkLst>
        <pc:spChg chg="mod">
          <ac:chgData name="" userId="04510b0218625f80" providerId="LiveId" clId="{31D18CF4-CFD8-4B4C-A2E8-D1B4A9241D9A}" dt="2025-12-10T04:25:56.109" v="135" actId="1076"/>
          <ac:spMkLst>
            <pc:docMk/>
            <pc:sldMk cId="0" sldId="280"/>
            <ac:spMk id="2" creationId="{00000000-0000-0000-0000-000000000000}"/>
          </ac:spMkLst>
        </pc:spChg>
        <pc:spChg chg="del">
          <ac:chgData name="" userId="04510b0218625f80" providerId="LiveId" clId="{31D18CF4-CFD8-4B4C-A2E8-D1B4A9241D9A}" dt="2025-12-10T04:25:17.829" v="120"/>
          <ac:spMkLst>
            <pc:docMk/>
            <pc:sldMk cId="0" sldId="280"/>
            <ac:spMk id="23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7:18.937" v="155"/>
        <pc:sldMkLst>
          <pc:docMk/>
          <pc:sldMk cId="0" sldId="281"/>
        </pc:sldMkLst>
        <pc:spChg chg="mod">
          <ac:chgData name="" userId="04510b0218625f80" providerId="LiveId" clId="{31D18CF4-CFD8-4B4C-A2E8-D1B4A9241D9A}" dt="2025-12-10T04:27:13.375" v="154" actId="113"/>
          <ac:spMkLst>
            <pc:docMk/>
            <pc:sldMk cId="0" sldId="281"/>
            <ac:spMk id="2" creationId="{00000000-0000-0000-0000-000000000000}"/>
          </ac:spMkLst>
        </pc:spChg>
        <pc:spChg chg="mod">
          <ac:chgData name="" userId="04510b0218625f80" providerId="LiveId" clId="{31D18CF4-CFD8-4B4C-A2E8-D1B4A9241D9A}" dt="2025-12-10T04:25:47.485" v="132" actId="14100"/>
          <ac:spMkLst>
            <pc:docMk/>
            <pc:sldMk cId="0" sldId="281"/>
            <ac:spMk id="9" creationId="{00000000-0000-0000-0000-000000000000}"/>
          </ac:spMkLst>
        </pc:spChg>
        <pc:spChg chg="del">
          <ac:chgData name="" userId="04510b0218625f80" providerId="LiveId" clId="{31D18CF4-CFD8-4B4C-A2E8-D1B4A9241D9A}" dt="2025-12-10T04:27:18.937" v="155"/>
          <ac:spMkLst>
            <pc:docMk/>
            <pc:sldMk cId="0" sldId="281"/>
            <ac:spMk id="26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7:00.618" v="150" actId="113"/>
        <pc:sldMkLst>
          <pc:docMk/>
          <pc:sldMk cId="0" sldId="282"/>
        </pc:sldMkLst>
        <pc:spChg chg="mod">
          <ac:chgData name="" userId="04510b0218625f80" providerId="LiveId" clId="{31D18CF4-CFD8-4B4C-A2E8-D1B4A9241D9A}" dt="2025-12-10T04:27:00.618" v="150" actId="113"/>
          <ac:spMkLst>
            <pc:docMk/>
            <pc:sldMk cId="0" sldId="282"/>
            <ac:spMk id="2" creationId="{00000000-0000-0000-0000-000000000000}"/>
          </ac:spMkLst>
        </pc:spChg>
        <pc:spChg chg="mod">
          <ac:chgData name="" userId="04510b0218625f80" providerId="LiveId" clId="{31D18CF4-CFD8-4B4C-A2E8-D1B4A9241D9A}" dt="2025-12-10T04:26:50.056" v="147" actId="1076"/>
          <ac:spMkLst>
            <pc:docMk/>
            <pc:sldMk cId="0" sldId="282"/>
            <ac:spMk id="8" creationId="{00000000-0000-0000-0000-000000000000}"/>
          </ac:spMkLst>
        </pc:spChg>
        <pc:spChg chg="del">
          <ac:chgData name="" userId="04510b0218625f80" providerId="LiveId" clId="{31D18CF4-CFD8-4B4C-A2E8-D1B4A9241D9A}" dt="2025-12-10T04:26:42.625" v="144"/>
          <ac:spMkLst>
            <pc:docMk/>
            <pc:sldMk cId="0" sldId="282"/>
            <ac:spMk id="31" creationId="{00000000-0000-0000-0000-000000000000}"/>
          </ac:spMkLst>
        </pc:spChg>
      </pc:sldChg>
      <pc:sldChg chg="modSp">
        <pc:chgData name="" userId="04510b0218625f80" providerId="LiveId" clId="{31D18CF4-CFD8-4B4C-A2E8-D1B4A9241D9A}" dt="2025-12-10T04:26:33.422" v="143" actId="113"/>
        <pc:sldMkLst>
          <pc:docMk/>
          <pc:sldMk cId="0" sldId="283"/>
        </pc:sldMkLst>
        <pc:spChg chg="mod">
          <ac:chgData name="" userId="04510b0218625f80" providerId="LiveId" clId="{31D18CF4-CFD8-4B4C-A2E8-D1B4A9241D9A}" dt="2025-12-10T04:26:33.422" v="143" actId="113"/>
          <ac:spMkLst>
            <pc:docMk/>
            <pc:sldMk cId="0" sldId="283"/>
            <ac:spMk id="2" creationId="{00000000-0000-0000-0000-000000000000}"/>
          </ac:spMkLst>
        </pc:spChg>
      </pc:sldChg>
      <pc:sldChg chg="delSp modSp">
        <pc:chgData name="" userId="04510b0218625f80" providerId="LiveId" clId="{31D18CF4-CFD8-4B4C-A2E8-D1B4A9241D9A}" dt="2025-12-10T04:26:20.829" v="140" actId="113"/>
        <pc:sldMkLst>
          <pc:docMk/>
          <pc:sldMk cId="0" sldId="284"/>
        </pc:sldMkLst>
        <pc:spChg chg="mod">
          <ac:chgData name="" userId="04510b0218625f80" providerId="LiveId" clId="{31D18CF4-CFD8-4B4C-A2E8-D1B4A9241D9A}" dt="2025-12-10T04:26:20.829" v="140" actId="113"/>
          <ac:spMkLst>
            <pc:docMk/>
            <pc:sldMk cId="0" sldId="284"/>
            <ac:spMk id="2" creationId="{00000000-0000-0000-0000-000000000000}"/>
          </ac:spMkLst>
        </pc:spChg>
        <pc:spChg chg="del">
          <ac:chgData name="" userId="04510b0218625f80" providerId="LiveId" clId="{31D18CF4-CFD8-4B4C-A2E8-D1B4A9241D9A}" dt="2025-12-10T04:26:08.573" v="137"/>
          <ac:spMkLst>
            <pc:docMk/>
            <pc:sldMk cId="0" sldId="284"/>
            <ac:spMk id="75" creationId="{00000000-0000-0000-0000-000000000000}"/>
          </ac:spMkLst>
        </pc:spChg>
      </pc:sldChg>
      <pc:sldChg chg="del">
        <pc:chgData name="" userId="04510b0218625f80" providerId="LiveId" clId="{31D18CF4-CFD8-4B4C-A2E8-D1B4A9241D9A}" dt="2025-12-10T04:26:03.266" v="136" actId="2696"/>
        <pc:sldMkLst>
          <pc:docMk/>
          <pc:sldMk cId="0" sldId="285"/>
        </pc:sldMkLst>
      </pc:sldChg>
      <pc:sldChg chg="addSp delSp modSp add ord">
        <pc:chgData name="" userId="04510b0218625f80" providerId="LiveId" clId="{31D18CF4-CFD8-4B4C-A2E8-D1B4A9241D9A}" dt="2025-12-10T04:15:44.644" v="64" actId="14100"/>
        <pc:sldMkLst>
          <pc:docMk/>
          <pc:sldMk cId="1857209712" sldId="292"/>
        </pc:sldMkLst>
        <pc:spChg chg="del mod">
          <ac:chgData name="" userId="04510b0218625f80" providerId="LiveId" clId="{31D18CF4-CFD8-4B4C-A2E8-D1B4A9241D9A}" dt="2025-12-10T04:15:36.880" v="62"/>
          <ac:spMkLst>
            <pc:docMk/>
            <pc:sldMk cId="1857209712" sldId="292"/>
            <ac:spMk id="2" creationId="{00000000-0000-0000-0000-000000000000}"/>
          </ac:spMkLst>
        </pc:spChg>
        <pc:spChg chg="mod">
          <ac:chgData name="" userId="04510b0218625f80" providerId="LiveId" clId="{31D18CF4-CFD8-4B4C-A2E8-D1B4A9241D9A}" dt="2025-12-10T04:15:03.378" v="53" actId="255"/>
          <ac:spMkLst>
            <pc:docMk/>
            <pc:sldMk cId="1857209712" sldId="292"/>
            <ac:spMk id="10" creationId="{00000000-0000-0000-0000-000000000000}"/>
          </ac:spMkLst>
        </pc:spChg>
        <pc:grpChg chg="mod">
          <ac:chgData name="" userId="04510b0218625f80" providerId="LiveId" clId="{31D18CF4-CFD8-4B4C-A2E8-D1B4A9241D9A}" dt="2025-12-10T04:15:44.644" v="64" actId="14100"/>
          <ac:grpSpMkLst>
            <pc:docMk/>
            <pc:sldMk cId="1857209712" sldId="292"/>
            <ac:grpSpMk id="3" creationId="{00000000-0000-0000-0000-000000000000}"/>
          </ac:grpSpMkLst>
        </pc:grpChg>
        <pc:graphicFrameChg chg="add del mod modGraphic">
          <ac:chgData name="" userId="04510b0218625f80" providerId="LiveId" clId="{31D18CF4-CFD8-4B4C-A2E8-D1B4A9241D9A}" dt="2025-12-10T04:15:21.643" v="59"/>
          <ac:graphicFrameMkLst>
            <pc:docMk/>
            <pc:sldMk cId="1857209712" sldId="292"/>
            <ac:graphicFrameMk id="12" creationId="{14721B34-0455-41DC-923F-6EA43DAA991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28D0-E0A1-4F97-8C1A-172BB212D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FEEEB-ABBD-408C-9647-EEAC0FD7C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20407-7967-4A02-812F-DA410DDD7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A466-47FA-4D98-AE39-77127562E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r>
              <a:rPr lang="en-US"/>
              <a:t>Jarrar</a:t>
            </a:r>
            <a:r>
              <a:rPr lang="en-US" spc="-30"/>
              <a:t> </a:t>
            </a:r>
            <a:r>
              <a:rPr lang="en-US"/>
              <a:t>©</a:t>
            </a:r>
            <a:r>
              <a:rPr lang="en-US" spc="-20"/>
              <a:t> 2020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CFD8C-48A0-426B-86FD-4ED9F8AC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5"/>
              <a:t>  </a:t>
            </a:r>
            <a:fld id="{81D60167-4931-47E6-BA6A-407CBD079E47}" type="slidenum">
              <a:rPr spc="-60" smtClean="0"/>
              <a:t>‹#›</a:t>
            </a:fld>
            <a: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0558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DF98-6680-44DC-B670-866FFBE1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21762-51CF-4104-8BC2-304CCE190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89203-7962-4198-84D7-F97AAAA7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8686E-F319-4942-83DC-66EEBC31E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r>
              <a:rPr lang="en-US"/>
              <a:t>Jarrar</a:t>
            </a:r>
            <a:r>
              <a:rPr lang="en-US" spc="-30"/>
              <a:t> </a:t>
            </a:r>
            <a:r>
              <a:rPr lang="en-US"/>
              <a:t>©</a:t>
            </a:r>
            <a:r>
              <a:rPr lang="en-US" spc="-20"/>
              <a:t> 2020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889F0-CFF4-4B6F-BB8E-D176666A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5"/>
              <a:t>  </a:t>
            </a:r>
            <a:fld id="{81D60167-4931-47E6-BA6A-407CBD079E47}" type="slidenum">
              <a:rPr spc="-60" smtClean="0"/>
              <a:t>‹#›</a:t>
            </a:fld>
            <a: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009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C710F-6E91-4C7F-ABFD-9BA18A63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FAD9-0FB4-462C-844E-B2EC483D5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1C86B-0DCB-420C-9697-04E04C757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B05D8-ADC3-46BC-BDA3-BD538B8EA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r>
              <a:rPr lang="en-US"/>
              <a:t>Jarrar</a:t>
            </a:r>
            <a:r>
              <a:rPr lang="en-US" spc="-30"/>
              <a:t> </a:t>
            </a:r>
            <a:r>
              <a:rPr lang="en-US"/>
              <a:t>©</a:t>
            </a:r>
            <a:r>
              <a:rPr lang="en-US" spc="-20"/>
              <a:t> 2020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023EB-C4EE-46D7-9A95-854224268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5"/>
              <a:t>  </a:t>
            </a:r>
            <a:fld id="{81D60167-4931-47E6-BA6A-407CBD079E47}" type="slidenum">
              <a:rPr spc="-60" smtClean="0"/>
              <a:t>‹#›</a:t>
            </a:fld>
            <a: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4901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6EDDE-6AF9-4DDC-8392-257BFCB8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B4BC3-A55B-4A2D-A685-EEC554A62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58EEA-4DFF-4001-BB13-E800F0B78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252CD-54E2-4E5D-8A87-E0CE111CA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5E3EF-8B43-4149-960C-86001DA74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r>
              <a:rPr lang="en-US"/>
              <a:t>Jarrar</a:t>
            </a:r>
            <a:r>
              <a:rPr lang="en-US" spc="-30"/>
              <a:t> </a:t>
            </a:r>
            <a:r>
              <a:rPr lang="en-US"/>
              <a:t>©</a:t>
            </a:r>
            <a:r>
              <a:rPr lang="en-US" spc="-20"/>
              <a:t> 2020</a:t>
            </a:r>
            <a:endParaRPr lang="en-US" spc="-2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5F289-4834-43D7-9738-5963CB4E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5"/>
              <a:t>  </a:t>
            </a:r>
            <a:fld id="{81D60167-4931-47E6-BA6A-407CBD079E47}" type="slidenum">
              <a:rPr spc="-60" smtClean="0"/>
              <a:t>‹#›</a:t>
            </a:fld>
            <a: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9763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D6BE3-38EA-4EED-8D45-9C555AA89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B296B-A07F-47CE-983E-11652EC3F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79E6F-A0E0-4EEF-B14C-E3CFF2BEE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C0418D-56B6-4617-8111-1B95D65CB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187FB-144F-44D3-B3F9-07664E62A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2632E6-8F03-415F-8179-F11B8D582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304872-9C33-4E60-B29F-54C06ABEF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r>
              <a:rPr lang="en-US"/>
              <a:t>Jarrar</a:t>
            </a:r>
            <a:r>
              <a:rPr lang="en-US" spc="-30"/>
              <a:t> </a:t>
            </a:r>
            <a:r>
              <a:rPr lang="en-US"/>
              <a:t>©</a:t>
            </a:r>
            <a:r>
              <a:rPr lang="en-US" spc="-20"/>
              <a:t> 2020</a:t>
            </a:r>
            <a:endParaRPr lang="en-US" spc="-2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99F9E7-0142-4368-8E80-5CDBCD99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5"/>
              <a:t>  </a:t>
            </a:r>
            <a:fld id="{81D60167-4931-47E6-BA6A-407CBD079E47}" type="slidenum">
              <a:rPr spc="-60" smtClean="0"/>
              <a:t>‹#›</a:t>
            </a:fld>
            <a: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9853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1A086-DE1E-423B-9243-60BF0897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1DC66-4A7F-4F60-BD8C-2320CFCF4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577A5-5E7E-4960-A086-CA3A8FBB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r>
              <a:rPr lang="en-US"/>
              <a:t>Jarrar</a:t>
            </a:r>
            <a:r>
              <a:rPr lang="en-US" spc="-30"/>
              <a:t> </a:t>
            </a:r>
            <a:r>
              <a:rPr lang="en-US"/>
              <a:t>©</a:t>
            </a:r>
            <a:r>
              <a:rPr lang="en-US" spc="-20"/>
              <a:t> 2020</a:t>
            </a:r>
            <a:endParaRPr lang="en-US" spc="-2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D5928A-0370-4B11-ADBC-E8C4C61A4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5"/>
              <a:t>  </a:t>
            </a:r>
            <a:fld id="{81D60167-4931-47E6-BA6A-407CBD079E47}" type="slidenum">
              <a:rPr spc="-60" smtClean="0"/>
              <a:t>‹#›</a:t>
            </a:fld>
            <a: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4265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8C4A57-6BCD-4796-BD26-9BBE1D27B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923AE1-276D-4C68-B257-2C989042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r>
              <a:rPr lang="en-US"/>
              <a:t>Jarrar</a:t>
            </a:r>
            <a:r>
              <a:rPr lang="en-US" spc="-30"/>
              <a:t> </a:t>
            </a:r>
            <a:r>
              <a:rPr lang="en-US"/>
              <a:t>©</a:t>
            </a:r>
            <a:r>
              <a:rPr lang="en-US" spc="-20"/>
              <a:t> 2020</a:t>
            </a:r>
            <a:endParaRPr lang="en-US" spc="-2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7F38F-18C8-4258-9B83-72A0CEC00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5"/>
              <a:t>  </a:t>
            </a:r>
            <a:fld id="{81D60167-4931-47E6-BA6A-407CBD079E47}" type="slidenum">
              <a:rPr spc="-60" smtClean="0"/>
              <a:t>‹#›</a:t>
            </a:fld>
            <a: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0747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8BEC-6600-45D2-93AC-51A319020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F74C5-AB74-41BA-BF6E-CE5E97B5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E970D-489A-4C12-B8A3-9A2FD0526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2EE4-E25D-416D-8CE1-25B544FB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9491C-7FC4-47E6-8894-82E6C9535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r>
              <a:rPr lang="en-US"/>
              <a:t>Jarrar</a:t>
            </a:r>
            <a:r>
              <a:rPr lang="en-US" spc="-30"/>
              <a:t> </a:t>
            </a:r>
            <a:r>
              <a:rPr lang="en-US"/>
              <a:t>©</a:t>
            </a:r>
            <a:r>
              <a:rPr lang="en-US" spc="-20"/>
              <a:t> 2020</a:t>
            </a:r>
            <a:endParaRPr lang="en-US" spc="-2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BFC4E-DF30-4613-BE15-2059D8FB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5"/>
              <a:t>  </a:t>
            </a:r>
            <a:fld id="{81D60167-4931-47E6-BA6A-407CBD079E47}" type="slidenum">
              <a:rPr spc="-60" smtClean="0"/>
              <a:t>‹#›</a:t>
            </a:fld>
            <a: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5074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2EE36-FE1F-45A5-B7CB-09B36F778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040432-858E-4D7E-96B0-60925C79D8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A3025-2BC8-417D-ADE2-0C859FBA7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4256A-EB49-4B01-A080-136C93BF1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2105B-E1C3-44F0-9864-95430C9C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r>
              <a:rPr lang="en-US"/>
              <a:t>Jarrar</a:t>
            </a:r>
            <a:r>
              <a:rPr lang="en-US" spc="-30"/>
              <a:t> </a:t>
            </a:r>
            <a:r>
              <a:rPr lang="en-US"/>
              <a:t>©</a:t>
            </a:r>
            <a:r>
              <a:rPr lang="en-US" spc="-20"/>
              <a:t> 2020</a:t>
            </a:r>
            <a:endParaRPr lang="en-US" spc="-2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879E4-0808-4A33-A9EC-434AA106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5"/>
              <a:t>  </a:t>
            </a:r>
            <a:fld id="{81D60167-4931-47E6-BA6A-407CBD079E47}" type="slidenum">
              <a:rPr spc="-60" smtClean="0"/>
              <a:t>‹#›</a:t>
            </a:fld>
            <a: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9403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87888-EEB3-4A1A-BC3B-5C2B1D73D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005E5-A46D-4B89-8BD8-3F99ECBDF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615F6-2733-45A2-80FA-401299EEB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E6568-3CD7-4165-BB08-569F08342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r>
              <a:rPr lang="en-US"/>
              <a:t>Jarrar</a:t>
            </a:r>
            <a:r>
              <a:rPr lang="en-US" spc="-30"/>
              <a:t> </a:t>
            </a:r>
            <a:r>
              <a:rPr lang="en-US"/>
              <a:t>©</a:t>
            </a:r>
            <a:r>
              <a:rPr lang="en-US" spc="-20"/>
              <a:t> 2020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76B01-A085-478B-9803-204D4DBC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5"/>
              <a:t>  </a:t>
            </a:r>
            <a:fld id="{81D60167-4931-47E6-BA6A-407CBD079E47}" type="slidenum">
              <a:rPr spc="-60" smtClean="0"/>
              <a:t>‹#›</a:t>
            </a:fld>
            <a: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8934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AD4BF-80A1-4A28-A71B-45DC16608E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A6BE6-40BD-48EC-BA20-A871B908D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81987-81DB-4758-B5EA-03DED1C8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FA36D-2173-4F89-B0EA-AD8BEB338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r>
              <a:rPr lang="en-US"/>
              <a:t>Jarrar</a:t>
            </a:r>
            <a:r>
              <a:rPr lang="en-US" spc="-30"/>
              <a:t> </a:t>
            </a:r>
            <a:r>
              <a:rPr lang="en-US"/>
              <a:t>©</a:t>
            </a:r>
            <a:r>
              <a:rPr lang="en-US" spc="-20"/>
              <a:t> 2020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2B0DE-48F0-4419-9DDE-EF7EE020A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5"/>
              <a:t>  </a:t>
            </a:r>
            <a:fld id="{81D60167-4931-47E6-BA6A-407CBD079E47}" type="slidenum">
              <a:rPr spc="-60" smtClean="0"/>
              <a:t>‹#›</a:t>
            </a:fld>
            <a: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55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982B66-1717-4069-90AD-2E498B28F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E47CC-909E-435E-8811-2AEC44A90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1B6B4-8B56-4A0B-8459-739D376C2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D65DC-981A-48A2-BC1D-EF9F851E0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645"/>
              </a:lnSpc>
            </a:pPr>
            <a:r>
              <a:rPr lang="en-US"/>
              <a:t>Jarrar</a:t>
            </a:r>
            <a:r>
              <a:rPr lang="en-US" spc="-30"/>
              <a:t> </a:t>
            </a:r>
            <a:r>
              <a:rPr lang="en-US"/>
              <a:t>©</a:t>
            </a:r>
            <a:r>
              <a:rPr lang="en-US" spc="-20"/>
              <a:t> 2020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08051-B83C-4254-90DE-E9D928437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5"/>
              <a:t>  </a:t>
            </a:r>
            <a:fld id="{81D60167-4931-47E6-BA6A-407CBD079E47}" type="slidenum">
              <a:rPr spc="-60" smtClean="0"/>
              <a:t>‹#›</a:t>
            </a:fld>
            <a: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6917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2535" y="0"/>
            <a:ext cx="9111465" cy="6925235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47"/>
              <a:ext cx="8035543" cy="26715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" y="2353054"/>
              <a:ext cx="7328789" cy="44660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0" y="2398395"/>
              <a:ext cx="11004550" cy="0"/>
            </a:xfrm>
            <a:custGeom>
              <a:avLst/>
              <a:gdLst/>
              <a:ahLst/>
              <a:cxnLst/>
              <a:rect l="l" t="t" r="r" b="b"/>
              <a:pathLst>
                <a:path w="11004550">
                  <a:moveTo>
                    <a:pt x="11004296" y="0"/>
                  </a:moveTo>
                  <a:lnTo>
                    <a:pt x="0" y="0"/>
                  </a:lnTo>
                </a:path>
              </a:pathLst>
            </a:custGeom>
            <a:ln w="1295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84793" y="850796"/>
            <a:ext cx="8574416" cy="509906"/>
          </a:xfrm>
          <a:prstGeom prst="rect">
            <a:avLst/>
          </a:prstGeom>
        </p:spPr>
        <p:txBody>
          <a:bodyPr vert="horz" wrap="square" lIns="0" tIns="149883" rIns="0" bIns="0" rtlCol="0">
            <a:spAutoFit/>
          </a:bodyPr>
          <a:lstStyle/>
          <a:p>
            <a:pPr marL="3918178" algn="ctr">
              <a:spcBef>
                <a:spcPts val="269"/>
              </a:spcBef>
            </a:pPr>
            <a:r>
              <a:rPr lang="en-US" sz="2330" dirty="0">
                <a:solidFill>
                  <a:srgbClr val="FFFFFF"/>
                </a:solidFill>
              </a:rPr>
              <a:t>Artificial Intelligence</a:t>
            </a:r>
            <a:endParaRPr sz="1456" dirty="0"/>
          </a:p>
        </p:txBody>
      </p:sp>
      <p:sp>
        <p:nvSpPr>
          <p:cNvPr id="10" name="object 10"/>
          <p:cNvSpPr txBox="1"/>
          <p:nvPr/>
        </p:nvSpPr>
        <p:spPr>
          <a:xfrm>
            <a:off x="5849403" y="1831919"/>
            <a:ext cx="2637439" cy="378667"/>
          </a:xfrm>
          <a:prstGeom prst="rect">
            <a:avLst/>
          </a:prstGeom>
        </p:spPr>
        <p:txBody>
          <a:bodyPr vert="horz" wrap="square" lIns="0" tIns="9245" rIns="0" bIns="0" rtlCol="0">
            <a:spAutoFit/>
          </a:bodyPr>
          <a:lstStyle/>
          <a:p>
            <a:pPr marL="9246">
              <a:spcBef>
                <a:spcPts val="73"/>
              </a:spcBef>
            </a:pP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Local Search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83639" y="3243919"/>
            <a:ext cx="3057273" cy="412523"/>
          </a:xfrm>
          <a:prstGeom prst="rect">
            <a:avLst/>
          </a:prstGeom>
        </p:spPr>
        <p:txBody>
          <a:bodyPr vert="horz" wrap="square" lIns="0" tIns="9245" rIns="0" bIns="0" rtlCol="0">
            <a:spAutoFit/>
          </a:bodyPr>
          <a:lstStyle/>
          <a:p>
            <a:pPr>
              <a:spcBef>
                <a:spcPts val="33"/>
              </a:spcBef>
            </a:pPr>
            <a:r>
              <a:rPr lang="en-US" sz="1310" dirty="0">
                <a:solidFill>
                  <a:schemeClr val="bg1"/>
                </a:solidFill>
                <a:latin typeface="Cambria"/>
                <a:cs typeface="Cambria"/>
              </a:rPr>
              <a:t>ANWAR KHAN</a:t>
            </a:r>
            <a:endParaRPr sz="1310" dirty="0">
              <a:solidFill>
                <a:schemeClr val="bg1"/>
              </a:solidFill>
              <a:latin typeface="Cambria"/>
              <a:cs typeface="Cambria"/>
            </a:endParaRPr>
          </a:p>
          <a:p>
            <a:pPr marL="9246" marR="3698" indent="314803">
              <a:spcBef>
                <a:spcPts val="4"/>
              </a:spcBef>
            </a:pPr>
            <a:r>
              <a:rPr lang="en-US" sz="1310" dirty="0">
                <a:solidFill>
                  <a:srgbClr val="FFFFFF"/>
                </a:solidFill>
                <a:latin typeface="Cambria"/>
                <a:cs typeface="Cambria"/>
              </a:rPr>
              <a:t>University of </a:t>
            </a:r>
            <a:r>
              <a:rPr sz="1310" dirty="0">
                <a:solidFill>
                  <a:srgbClr val="FFFFFF"/>
                </a:solidFill>
                <a:latin typeface="Cambria"/>
                <a:cs typeface="Cambria"/>
              </a:rPr>
              <a:t>Lahore</a:t>
            </a:r>
            <a:r>
              <a:rPr sz="1310" spc="-36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endParaRPr sz="131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857209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9250" y="1984755"/>
            <a:ext cx="6122670" cy="403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167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Local</a:t>
            </a:r>
            <a:r>
              <a:rPr sz="2800" b="1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Search</a:t>
            </a:r>
            <a:r>
              <a:rPr sz="2800" b="1" spc="-1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660066"/>
                </a:solidFill>
                <a:latin typeface="Arial"/>
                <a:cs typeface="Arial"/>
              </a:rPr>
              <a:t>Algorithms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In</a:t>
            </a:r>
            <a:r>
              <a:rPr sz="2400" spc="-3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this</a:t>
            </a:r>
            <a:r>
              <a:rPr sz="2400" spc="-2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lecture:</a:t>
            </a:r>
            <a:endParaRPr sz="2400">
              <a:latin typeface="Arial MT"/>
              <a:cs typeface="Arial MT"/>
            </a:endParaRPr>
          </a:p>
          <a:p>
            <a:pPr marL="1130935" indent="-334645">
              <a:lnSpc>
                <a:spcPct val="100000"/>
              </a:lnSpc>
              <a:spcBef>
                <a:spcPts val="1639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5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1:</a:t>
            </a:r>
            <a:r>
              <a:rPr sz="2000" b="1" spc="-45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What/Why</a:t>
            </a:r>
            <a:r>
              <a:rPr sz="28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Local</a:t>
            </a:r>
            <a:r>
              <a:rPr sz="28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Search</a:t>
            </a:r>
            <a:endParaRPr sz="2800">
              <a:latin typeface="Arial"/>
              <a:cs typeface="Arial"/>
            </a:endParaRPr>
          </a:p>
          <a:p>
            <a:pPr marL="1130935" indent="-334645">
              <a:lnSpc>
                <a:spcPct val="100000"/>
              </a:lnSpc>
              <a:spcBef>
                <a:spcPts val="1525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6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2:</a:t>
            </a:r>
            <a:r>
              <a:rPr sz="2000" b="1" spc="-5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Hill-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Climbing</a:t>
            </a:r>
            <a:r>
              <a:rPr sz="24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Search</a:t>
            </a:r>
            <a:endParaRPr sz="2400">
              <a:latin typeface="Arial MT"/>
              <a:cs typeface="Arial MT"/>
            </a:endParaRPr>
          </a:p>
          <a:p>
            <a:pPr marL="1130935" indent="-334645">
              <a:lnSpc>
                <a:spcPct val="100000"/>
              </a:lnSpc>
              <a:spcBef>
                <a:spcPts val="1420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7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3:</a:t>
            </a:r>
            <a:r>
              <a:rPr sz="2000" b="1" spc="-45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Simulated</a:t>
            </a:r>
            <a:r>
              <a:rPr sz="2400" spc="-1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Annealing</a:t>
            </a:r>
            <a:r>
              <a:rPr sz="24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Search</a:t>
            </a:r>
            <a:endParaRPr sz="2400">
              <a:latin typeface="Arial MT"/>
              <a:cs typeface="Arial MT"/>
            </a:endParaRPr>
          </a:p>
          <a:p>
            <a:pPr marL="1130935" indent="-334645">
              <a:lnSpc>
                <a:spcPct val="100000"/>
              </a:lnSpc>
              <a:spcBef>
                <a:spcPts val="1415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3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4:</a:t>
            </a:r>
            <a:r>
              <a:rPr sz="2000" b="1" spc="-2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Genetic</a:t>
            </a:r>
            <a:r>
              <a:rPr sz="2400" spc="-1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Algorithms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07535"/>
            <a:ext cx="1679448" cy="6187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  </a:t>
            </a:r>
            <a:fld id="{81D60167-4931-47E6-BA6A-407CBD079E47}" type="slidenum">
              <a:rPr spc="-60" dirty="0"/>
              <a:t>2</a:t>
            </a:fld>
            <a:r>
              <a:rPr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027" y="399029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Local</a:t>
            </a:r>
            <a:r>
              <a:rPr b="1" spc="-85" dirty="0"/>
              <a:t> </a:t>
            </a:r>
            <a:r>
              <a:rPr b="1" dirty="0"/>
              <a:t>Search</a:t>
            </a:r>
            <a:r>
              <a:rPr b="1" spc="-170" dirty="0"/>
              <a:t> </a:t>
            </a:r>
            <a:r>
              <a:rPr b="1" spc="-10" dirty="0"/>
              <a:t>Algorithms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  </a:t>
            </a:r>
            <a:fld id="{81D60167-4931-47E6-BA6A-407CBD079E47}" type="slidenum">
              <a:rPr spc="-60" dirty="0"/>
              <a:t>3</a:t>
            </a:fld>
            <a:r>
              <a:rPr dirty="0"/>
              <a:t>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4106" y="1073403"/>
            <a:ext cx="8423275" cy="54267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50"/>
              </a:spcBef>
            </a:pP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In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many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optimization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problems,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path</a:t>
            </a:r>
            <a:r>
              <a:rPr sz="22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goal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irrelevant;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0090"/>
                </a:solidFill>
                <a:latin typeface="Arial MT"/>
                <a:cs typeface="Arial MT"/>
              </a:rPr>
              <a:t>the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goal</a:t>
            </a:r>
            <a:r>
              <a:rPr sz="22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state</a:t>
            </a:r>
            <a:r>
              <a:rPr sz="22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itself</a:t>
            </a:r>
            <a:r>
              <a:rPr sz="22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2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2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0090"/>
                </a:solidFill>
                <a:latin typeface="Arial MT"/>
                <a:cs typeface="Arial MT"/>
              </a:rPr>
              <a:t>solution.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solidFill>
                  <a:srgbClr val="000090"/>
                </a:solidFill>
                <a:latin typeface="Arial MT"/>
                <a:cs typeface="Arial MT"/>
              </a:rPr>
              <a:t>ِExamples:</a:t>
            </a:r>
            <a:endParaRPr sz="2200">
              <a:latin typeface="Arial MT"/>
              <a:cs typeface="Arial MT"/>
            </a:endParaRPr>
          </a:p>
          <a:p>
            <a:pPr marL="755650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</a:tabLst>
            </a:pP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2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reduce</a:t>
            </a:r>
            <a:r>
              <a:rPr sz="22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cost,</a:t>
            </a:r>
            <a:r>
              <a:rPr sz="22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as</a:t>
            </a:r>
            <a:r>
              <a:rPr sz="22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in</a:t>
            </a:r>
            <a:r>
              <a:rPr sz="22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cost</a:t>
            </a:r>
            <a:r>
              <a:rPr sz="22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0090"/>
                </a:solidFill>
                <a:latin typeface="Arial MT"/>
                <a:cs typeface="Arial MT"/>
              </a:rPr>
              <a:t>functions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10"/>
              </a:spcBef>
              <a:buClr>
                <a:srgbClr val="000090"/>
              </a:buClr>
              <a:buFont typeface="Arial MT"/>
              <a:buChar char="–"/>
            </a:pPr>
            <a:endParaRPr sz="2200">
              <a:latin typeface="Arial MT"/>
              <a:cs typeface="Arial MT"/>
            </a:endParaRPr>
          </a:p>
          <a:p>
            <a:pPr marL="755650" indent="-285750">
              <a:lnSpc>
                <a:spcPct val="100000"/>
              </a:lnSpc>
              <a:buChar char="–"/>
              <a:tabLst>
                <a:tab pos="755650" algn="l"/>
              </a:tabLst>
            </a:pP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2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reduce</a:t>
            </a:r>
            <a:r>
              <a:rPr sz="22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conflicts,</a:t>
            </a:r>
            <a:r>
              <a:rPr sz="22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as</a:t>
            </a:r>
            <a:r>
              <a:rPr sz="22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in</a:t>
            </a:r>
            <a:r>
              <a:rPr sz="22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i="1" spc="-10" dirty="0">
                <a:solidFill>
                  <a:srgbClr val="000090"/>
                </a:solidFill>
                <a:latin typeface="Arial"/>
                <a:cs typeface="Arial"/>
              </a:rPr>
              <a:t>n</a:t>
            </a:r>
            <a:r>
              <a:rPr sz="2200" spc="-10" dirty="0">
                <a:solidFill>
                  <a:srgbClr val="000090"/>
                </a:solidFill>
                <a:latin typeface="Arial MT"/>
                <a:cs typeface="Arial MT"/>
              </a:rPr>
              <a:t>-queens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40"/>
              </a:spcBef>
              <a:buClr>
                <a:srgbClr val="000090"/>
              </a:buClr>
              <a:buFont typeface="Arial MT"/>
              <a:buChar char="–"/>
            </a:pPr>
            <a:endParaRPr sz="2200">
              <a:latin typeface="Arial MT"/>
              <a:cs typeface="Arial MT"/>
            </a:endParaRPr>
          </a:p>
          <a:p>
            <a:pPr marL="12700" marR="9525">
              <a:lnSpc>
                <a:spcPts val="2620"/>
              </a:lnSpc>
            </a:pP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idea:</a:t>
            </a:r>
            <a:r>
              <a:rPr sz="22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keep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2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single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"current"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state,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try</a:t>
            </a:r>
            <a:r>
              <a:rPr sz="22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improve</a:t>
            </a:r>
            <a:r>
              <a:rPr sz="22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it</a:t>
            </a:r>
            <a:r>
              <a:rPr sz="22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according</a:t>
            </a:r>
            <a:r>
              <a:rPr sz="2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0090"/>
                </a:solidFill>
                <a:latin typeface="Arial MT"/>
                <a:cs typeface="Arial MT"/>
              </a:rPr>
              <a:t>to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an</a:t>
            </a:r>
            <a:r>
              <a:rPr sz="22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objective</a:t>
            </a:r>
            <a:r>
              <a:rPr sz="22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0090"/>
                </a:solidFill>
                <a:latin typeface="Arial MT"/>
                <a:cs typeface="Arial MT"/>
              </a:rPr>
              <a:t>function.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Local</a:t>
            </a:r>
            <a:r>
              <a:rPr sz="22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search</a:t>
            </a:r>
            <a:r>
              <a:rPr sz="22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0090"/>
                </a:solidFill>
                <a:latin typeface="Arial MT"/>
                <a:cs typeface="Arial MT"/>
              </a:rPr>
              <a:t>algorithms:</a:t>
            </a:r>
            <a:endParaRPr sz="2200">
              <a:latin typeface="Arial MT"/>
              <a:cs typeface="Arial MT"/>
            </a:endParaRPr>
          </a:p>
          <a:p>
            <a:pPr marL="755650" indent="-285750">
              <a:lnSpc>
                <a:spcPct val="100000"/>
              </a:lnSpc>
              <a:spcBef>
                <a:spcPts val="75"/>
              </a:spcBef>
              <a:buChar char="–"/>
              <a:tabLst>
                <a:tab pos="755650" algn="l"/>
              </a:tabLst>
            </a:pP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Use</a:t>
            </a:r>
            <a:r>
              <a:rPr sz="22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little</a:t>
            </a:r>
            <a:r>
              <a:rPr sz="22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0090"/>
                </a:solidFill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  <a:p>
            <a:pPr marL="755650" indent="-285750">
              <a:lnSpc>
                <a:spcPct val="100000"/>
              </a:lnSpc>
              <a:spcBef>
                <a:spcPts val="45"/>
              </a:spcBef>
              <a:buChar char="–"/>
              <a:tabLst>
                <a:tab pos="755650" algn="l"/>
              </a:tabLst>
            </a:pP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Find</a:t>
            </a:r>
            <a:r>
              <a:rPr sz="22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reasonable</a:t>
            </a:r>
            <a:r>
              <a:rPr sz="22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solutions</a:t>
            </a:r>
            <a:r>
              <a:rPr sz="22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in</a:t>
            </a:r>
            <a:r>
              <a:rPr sz="22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large</a:t>
            </a:r>
            <a:r>
              <a:rPr sz="22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0090"/>
                </a:solidFill>
                <a:latin typeface="Arial MT"/>
                <a:cs typeface="Arial MT"/>
              </a:rPr>
              <a:t>infinite</a:t>
            </a:r>
            <a:r>
              <a:rPr sz="22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0090"/>
                </a:solidFill>
                <a:latin typeface="Arial MT"/>
                <a:cs typeface="Arial MT"/>
              </a:rPr>
              <a:t>spaces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97402" y="2509557"/>
            <a:ext cx="1584325" cy="361315"/>
          </a:xfrm>
          <a:custGeom>
            <a:avLst/>
            <a:gdLst/>
            <a:ahLst/>
            <a:cxnLst/>
            <a:rect l="l" t="t" r="r" b="b"/>
            <a:pathLst>
              <a:path w="1584325" h="361314">
                <a:moveTo>
                  <a:pt x="0" y="330595"/>
                </a:moveTo>
                <a:lnTo>
                  <a:pt x="51727" y="323710"/>
                </a:lnTo>
                <a:lnTo>
                  <a:pt x="96852" y="316672"/>
                </a:lnTo>
                <a:lnTo>
                  <a:pt x="143902" y="306326"/>
                </a:lnTo>
                <a:lnTo>
                  <a:pt x="190815" y="290311"/>
                </a:lnTo>
                <a:lnTo>
                  <a:pt x="231383" y="271129"/>
                </a:lnTo>
                <a:lnTo>
                  <a:pt x="265157" y="245625"/>
                </a:lnTo>
                <a:lnTo>
                  <a:pt x="293050" y="212725"/>
                </a:lnTo>
                <a:lnTo>
                  <a:pt x="299499" y="199148"/>
                </a:lnTo>
                <a:lnTo>
                  <a:pt x="308080" y="186390"/>
                </a:lnTo>
                <a:lnTo>
                  <a:pt x="321373" y="177445"/>
                </a:lnTo>
                <a:lnTo>
                  <a:pt x="343110" y="174713"/>
                </a:lnTo>
                <a:lnTo>
                  <a:pt x="370900" y="176063"/>
                </a:lnTo>
                <a:lnTo>
                  <a:pt x="398140" y="177695"/>
                </a:lnTo>
                <a:lnTo>
                  <a:pt x="418226" y="175807"/>
                </a:lnTo>
                <a:lnTo>
                  <a:pt x="427890" y="169710"/>
                </a:lnTo>
                <a:lnTo>
                  <a:pt x="431158" y="161322"/>
                </a:lnTo>
                <a:lnTo>
                  <a:pt x="432361" y="150758"/>
                </a:lnTo>
                <a:lnTo>
                  <a:pt x="435835" y="138134"/>
                </a:lnTo>
                <a:lnTo>
                  <a:pt x="442920" y="121915"/>
                </a:lnTo>
                <a:lnTo>
                  <a:pt x="451243" y="102560"/>
                </a:lnTo>
                <a:lnTo>
                  <a:pt x="459567" y="83179"/>
                </a:lnTo>
                <a:lnTo>
                  <a:pt x="466652" y="66883"/>
                </a:lnTo>
                <a:lnTo>
                  <a:pt x="471983" y="54496"/>
                </a:lnTo>
                <a:lnTo>
                  <a:pt x="476282" y="44361"/>
                </a:lnTo>
                <a:lnTo>
                  <a:pt x="480169" y="35864"/>
                </a:lnTo>
                <a:lnTo>
                  <a:pt x="501871" y="9554"/>
                </a:lnTo>
                <a:lnTo>
                  <a:pt x="506640" y="5050"/>
                </a:lnTo>
                <a:lnTo>
                  <a:pt x="507741" y="2730"/>
                </a:lnTo>
                <a:lnTo>
                  <a:pt x="512877" y="1365"/>
                </a:lnTo>
                <a:lnTo>
                  <a:pt x="518013" y="0"/>
                </a:lnTo>
                <a:lnTo>
                  <a:pt x="532687" y="1365"/>
                </a:lnTo>
                <a:lnTo>
                  <a:pt x="538190" y="2183"/>
                </a:lnTo>
                <a:lnTo>
                  <a:pt x="545895" y="6278"/>
                </a:lnTo>
                <a:lnTo>
                  <a:pt x="549563" y="7780"/>
                </a:lnTo>
                <a:lnTo>
                  <a:pt x="551397" y="6415"/>
                </a:lnTo>
                <a:lnTo>
                  <a:pt x="554699" y="10373"/>
                </a:lnTo>
                <a:lnTo>
                  <a:pt x="558001" y="14332"/>
                </a:lnTo>
                <a:lnTo>
                  <a:pt x="560569" y="20611"/>
                </a:lnTo>
                <a:lnTo>
                  <a:pt x="565705" y="30029"/>
                </a:lnTo>
                <a:lnTo>
                  <a:pt x="569833" y="37246"/>
                </a:lnTo>
                <a:lnTo>
                  <a:pt x="574510" y="45282"/>
                </a:lnTo>
                <a:lnTo>
                  <a:pt x="579738" y="54905"/>
                </a:lnTo>
                <a:lnTo>
                  <a:pt x="599549" y="100103"/>
                </a:lnTo>
                <a:lnTo>
                  <a:pt x="614131" y="137315"/>
                </a:lnTo>
                <a:lnTo>
                  <a:pt x="626650" y="173504"/>
                </a:lnTo>
                <a:lnTo>
                  <a:pt x="632549" y="190850"/>
                </a:lnTo>
                <a:lnTo>
                  <a:pt x="638345" y="206110"/>
                </a:lnTo>
                <a:lnTo>
                  <a:pt x="643951" y="218414"/>
                </a:lnTo>
                <a:lnTo>
                  <a:pt x="649350" y="228580"/>
                </a:lnTo>
                <a:lnTo>
                  <a:pt x="654750" y="237954"/>
                </a:lnTo>
                <a:lnTo>
                  <a:pt x="660356" y="247878"/>
                </a:lnTo>
                <a:lnTo>
                  <a:pt x="666049" y="259017"/>
                </a:lnTo>
                <a:lnTo>
                  <a:pt x="671775" y="270553"/>
                </a:lnTo>
                <a:lnTo>
                  <a:pt x="677846" y="281603"/>
                </a:lnTo>
                <a:lnTo>
                  <a:pt x="709436" y="311918"/>
                </a:lnTo>
                <a:lnTo>
                  <a:pt x="717587" y="317491"/>
                </a:lnTo>
                <a:lnTo>
                  <a:pt x="724689" y="322725"/>
                </a:lnTo>
                <a:lnTo>
                  <a:pt x="768352" y="341958"/>
                </a:lnTo>
                <a:lnTo>
                  <a:pt x="780098" y="344607"/>
                </a:lnTo>
                <a:lnTo>
                  <a:pt x="790227" y="346974"/>
                </a:lnTo>
                <a:lnTo>
                  <a:pt x="797862" y="348958"/>
                </a:lnTo>
                <a:lnTo>
                  <a:pt x="803984" y="350557"/>
                </a:lnTo>
                <a:lnTo>
                  <a:pt x="809831" y="352003"/>
                </a:lnTo>
                <a:lnTo>
                  <a:pt x="851860" y="360078"/>
                </a:lnTo>
                <a:lnTo>
                  <a:pt x="866993" y="360794"/>
                </a:lnTo>
                <a:lnTo>
                  <a:pt x="873941" y="360577"/>
                </a:lnTo>
                <a:lnTo>
                  <a:pt x="880475" y="360078"/>
                </a:lnTo>
                <a:lnTo>
                  <a:pt x="888914" y="359259"/>
                </a:lnTo>
                <a:lnTo>
                  <a:pt x="892949" y="358030"/>
                </a:lnTo>
                <a:lnTo>
                  <a:pt x="902487" y="355164"/>
                </a:lnTo>
                <a:lnTo>
                  <a:pt x="910157" y="353552"/>
                </a:lnTo>
                <a:lnTo>
                  <a:pt x="918721" y="351990"/>
                </a:lnTo>
                <a:lnTo>
                  <a:pt x="927973" y="348945"/>
                </a:lnTo>
                <a:lnTo>
                  <a:pt x="960406" y="318207"/>
                </a:lnTo>
                <a:lnTo>
                  <a:pt x="988867" y="280387"/>
                </a:lnTo>
                <a:lnTo>
                  <a:pt x="999426" y="263150"/>
                </a:lnTo>
                <a:lnTo>
                  <a:pt x="1005944" y="253610"/>
                </a:lnTo>
                <a:lnTo>
                  <a:pt x="1035711" y="216065"/>
                </a:lnTo>
                <a:lnTo>
                  <a:pt x="1051068" y="197920"/>
                </a:lnTo>
                <a:lnTo>
                  <a:pt x="1048133" y="201332"/>
                </a:lnTo>
                <a:lnTo>
                  <a:pt x="1052169" y="199558"/>
                </a:lnTo>
                <a:lnTo>
                  <a:pt x="1056204" y="197783"/>
                </a:lnTo>
                <a:lnTo>
                  <a:pt x="1062074" y="196828"/>
                </a:lnTo>
                <a:lnTo>
                  <a:pt x="1067577" y="196282"/>
                </a:lnTo>
                <a:lnTo>
                  <a:pt x="1073080" y="195736"/>
                </a:lnTo>
                <a:lnTo>
                  <a:pt x="1078216" y="195053"/>
                </a:lnTo>
                <a:lnTo>
                  <a:pt x="1085186" y="196282"/>
                </a:lnTo>
                <a:lnTo>
                  <a:pt x="1121093" y="210614"/>
                </a:lnTo>
                <a:lnTo>
                  <a:pt x="1139116" y="231771"/>
                </a:lnTo>
                <a:lnTo>
                  <a:pt x="1144619" y="239688"/>
                </a:lnTo>
                <a:lnTo>
                  <a:pt x="1149106" y="245715"/>
                </a:lnTo>
                <a:lnTo>
                  <a:pt x="1154111" y="252075"/>
                </a:lnTo>
                <a:lnTo>
                  <a:pt x="1159321" y="258998"/>
                </a:lnTo>
                <a:lnTo>
                  <a:pt x="1164429" y="266714"/>
                </a:lnTo>
                <a:lnTo>
                  <a:pt x="1169330" y="276049"/>
                </a:lnTo>
                <a:lnTo>
                  <a:pt x="1174196" y="286626"/>
                </a:lnTo>
                <a:lnTo>
                  <a:pt x="1179132" y="296869"/>
                </a:lnTo>
                <a:lnTo>
                  <a:pt x="1184240" y="305206"/>
                </a:lnTo>
                <a:lnTo>
                  <a:pt x="1189949" y="311067"/>
                </a:lnTo>
                <a:lnTo>
                  <a:pt x="1196071" y="315341"/>
                </a:lnTo>
                <a:lnTo>
                  <a:pt x="1201781" y="318643"/>
                </a:lnTo>
                <a:lnTo>
                  <a:pt x="1206252" y="321586"/>
                </a:lnTo>
                <a:lnTo>
                  <a:pt x="1211021" y="325544"/>
                </a:lnTo>
                <a:lnTo>
                  <a:pt x="1212855" y="328957"/>
                </a:lnTo>
                <a:lnTo>
                  <a:pt x="1216157" y="329639"/>
                </a:lnTo>
                <a:lnTo>
                  <a:pt x="1220926" y="328138"/>
                </a:lnTo>
                <a:lnTo>
                  <a:pt x="1226062" y="325681"/>
                </a:lnTo>
                <a:lnTo>
                  <a:pt x="1231199" y="323224"/>
                </a:lnTo>
                <a:lnTo>
                  <a:pt x="1237069" y="320630"/>
                </a:lnTo>
                <a:lnTo>
                  <a:pt x="1243672" y="314215"/>
                </a:lnTo>
                <a:lnTo>
                  <a:pt x="1248762" y="308380"/>
                </a:lnTo>
                <a:lnTo>
                  <a:pt x="1254127" y="301214"/>
                </a:lnTo>
                <a:lnTo>
                  <a:pt x="1259768" y="293792"/>
                </a:lnTo>
                <a:lnTo>
                  <a:pt x="1292098" y="267533"/>
                </a:lnTo>
                <a:lnTo>
                  <a:pt x="1295210" y="264948"/>
                </a:lnTo>
                <a:lnTo>
                  <a:pt x="1359234" y="261135"/>
                </a:lnTo>
                <a:lnTo>
                  <a:pt x="1387815" y="261704"/>
                </a:lnTo>
                <a:lnTo>
                  <a:pt x="1408761" y="263438"/>
                </a:lnTo>
                <a:lnTo>
                  <a:pt x="1418374" y="266292"/>
                </a:lnTo>
                <a:lnTo>
                  <a:pt x="1421280" y="270092"/>
                </a:lnTo>
                <a:lnTo>
                  <a:pt x="1422329" y="275070"/>
                </a:lnTo>
                <a:lnTo>
                  <a:pt x="1426370" y="281456"/>
                </a:lnTo>
                <a:lnTo>
                  <a:pt x="1434231" y="290525"/>
                </a:lnTo>
                <a:lnTo>
                  <a:pt x="1443481" y="301749"/>
                </a:lnTo>
                <a:lnTo>
                  <a:pt x="1454081" y="312655"/>
                </a:lnTo>
                <a:lnTo>
                  <a:pt x="1465992" y="320767"/>
                </a:lnTo>
                <a:lnTo>
                  <a:pt x="1479782" y="325045"/>
                </a:lnTo>
                <a:lnTo>
                  <a:pt x="1495281" y="326935"/>
                </a:lnTo>
                <a:lnTo>
                  <a:pt x="1511334" y="327694"/>
                </a:lnTo>
                <a:lnTo>
                  <a:pt x="1526790" y="328576"/>
                </a:lnTo>
                <a:lnTo>
                  <a:pt x="1538365" y="329440"/>
                </a:lnTo>
                <a:lnTo>
                  <a:pt x="1547667" y="329775"/>
                </a:lnTo>
                <a:lnTo>
                  <a:pt x="1560876" y="330283"/>
                </a:lnTo>
                <a:lnTo>
                  <a:pt x="1584176" y="331661"/>
                </a:lnTo>
              </a:path>
            </a:pathLst>
          </a:custGeom>
          <a:ln w="2857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2279" y="3010644"/>
            <a:ext cx="994420" cy="9944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198" y="26380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Local</a:t>
            </a:r>
            <a:r>
              <a:rPr b="1" spc="-85" dirty="0"/>
              <a:t> </a:t>
            </a:r>
            <a:r>
              <a:rPr b="1" dirty="0"/>
              <a:t>Search</a:t>
            </a:r>
            <a:r>
              <a:rPr b="1" spc="-170" dirty="0"/>
              <a:t> </a:t>
            </a:r>
            <a:r>
              <a:rPr b="1" spc="-10" dirty="0"/>
              <a:t>Algorithms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93102" y="1074420"/>
            <a:ext cx="825754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Terminate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on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time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bound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or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if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situation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not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improved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after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number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steps.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 MT"/>
              <a:cs typeface="Arial MT"/>
            </a:endParaRPr>
          </a:p>
          <a:p>
            <a:pPr marL="12700" marR="175260">
              <a:lnSpc>
                <a:spcPct val="100000"/>
              </a:lnSpc>
            </a:pPr>
            <a:r>
              <a:rPr sz="2000" b="1" dirty="0">
                <a:solidFill>
                  <a:srgbClr val="000090"/>
                </a:solidFill>
                <a:latin typeface="Arial"/>
                <a:cs typeface="Arial"/>
              </a:rPr>
              <a:t>Local</a:t>
            </a:r>
            <a:r>
              <a:rPr sz="2000" b="1" spc="-7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0"/>
                </a:solidFill>
                <a:latin typeface="Arial"/>
                <a:cs typeface="Arial"/>
              </a:rPr>
              <a:t>search</a:t>
            </a:r>
            <a:r>
              <a:rPr sz="2000" b="1" spc="-6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0"/>
                </a:solidFill>
                <a:latin typeface="Arial"/>
                <a:cs typeface="Arial"/>
              </a:rPr>
              <a:t>algorithms</a:t>
            </a:r>
            <a:r>
              <a:rPr sz="2000" b="1" spc="-6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0"/>
                </a:solidFill>
                <a:latin typeface="Arial"/>
                <a:cs typeface="Arial"/>
              </a:rPr>
              <a:t>are</a:t>
            </a:r>
            <a:r>
              <a:rPr sz="2000" b="1" spc="-6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0"/>
                </a:solidFill>
                <a:latin typeface="Arial"/>
                <a:cs typeface="Arial"/>
              </a:rPr>
              <a:t>typically</a:t>
            </a:r>
            <a:r>
              <a:rPr sz="2000" b="1" spc="-6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0"/>
                </a:solidFill>
                <a:latin typeface="Arial"/>
                <a:cs typeface="Arial"/>
              </a:rPr>
              <a:t>incomplete</a:t>
            </a:r>
            <a:r>
              <a:rPr sz="2000" b="1" spc="-6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90"/>
                </a:solidFill>
                <a:latin typeface="Arial"/>
                <a:cs typeface="Arial"/>
              </a:rPr>
              <a:t>algorithms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,</a:t>
            </a:r>
            <a:r>
              <a:rPr sz="20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as</a:t>
            </a:r>
            <a:r>
              <a:rPr sz="20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search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may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stop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even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if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best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solution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found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by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algorithm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not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optimal.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1720" y="3212975"/>
            <a:ext cx="5795953" cy="31208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340" y="185696"/>
            <a:ext cx="6119495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7245" algn="l"/>
              </a:tabLst>
            </a:pPr>
            <a:r>
              <a:rPr b="1" dirty="0"/>
              <a:t>Search</a:t>
            </a:r>
            <a:r>
              <a:rPr b="1" spc="-90" dirty="0"/>
              <a:t> </a:t>
            </a:r>
            <a:r>
              <a:rPr b="1" spc="-10" dirty="0"/>
              <a:t>Landscape</a:t>
            </a:r>
            <a:r>
              <a:rPr b="1" dirty="0"/>
              <a:t>	</a:t>
            </a:r>
            <a:r>
              <a:rPr b="1" spc="-20" dirty="0"/>
              <a:t>(</a:t>
            </a:r>
            <a:r>
              <a:rPr b="1" spc="-20" dirty="0">
                <a:solidFill>
                  <a:srgbClr val="13146E"/>
                </a:solidFill>
              </a:rPr>
              <a:t>two-</a:t>
            </a:r>
            <a:r>
              <a:rPr b="1" spc="-10" dirty="0">
                <a:solidFill>
                  <a:srgbClr val="13146E"/>
                </a:solidFill>
              </a:rPr>
              <a:t>dimension</a:t>
            </a:r>
            <a:r>
              <a:rPr spc="-10" dirty="0"/>
              <a:t>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711" y="1692258"/>
            <a:ext cx="5976663" cy="33757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7245" algn="l"/>
              </a:tabLst>
            </a:pPr>
            <a:r>
              <a:rPr b="1" dirty="0"/>
              <a:t>Search</a:t>
            </a:r>
            <a:r>
              <a:rPr b="1" spc="-90" dirty="0"/>
              <a:t> </a:t>
            </a:r>
            <a:r>
              <a:rPr b="1" spc="-10" dirty="0"/>
              <a:t>Landscape</a:t>
            </a:r>
            <a:r>
              <a:rPr b="1" dirty="0"/>
              <a:t>	</a:t>
            </a:r>
            <a:r>
              <a:rPr b="1" spc="-20" dirty="0"/>
              <a:t>(</a:t>
            </a:r>
            <a:r>
              <a:rPr b="1" spc="-20" dirty="0">
                <a:solidFill>
                  <a:srgbClr val="13146E"/>
                </a:solidFill>
              </a:rPr>
              <a:t>three-</a:t>
            </a:r>
            <a:r>
              <a:rPr b="1" spc="-10" dirty="0">
                <a:solidFill>
                  <a:srgbClr val="13146E"/>
                </a:solidFill>
              </a:rPr>
              <a:t>dimensions</a:t>
            </a:r>
            <a:r>
              <a:rPr b="1" spc="-10" dirty="0"/>
              <a:t>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8927" y="1554479"/>
            <a:ext cx="7062216" cy="45293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9250" y="1984755"/>
            <a:ext cx="6783070" cy="3782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167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Local</a:t>
            </a:r>
            <a:r>
              <a:rPr sz="2800" b="1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Search</a:t>
            </a:r>
            <a:r>
              <a:rPr sz="2800" b="1" spc="-1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660066"/>
                </a:solidFill>
                <a:latin typeface="Arial"/>
                <a:cs typeface="Arial"/>
              </a:rPr>
              <a:t>Algorithms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000080"/>
                </a:solidFill>
                <a:latin typeface="Arial MT"/>
                <a:cs typeface="Arial MT"/>
              </a:rPr>
              <a:t>In</a:t>
            </a:r>
            <a:r>
              <a:rPr sz="2800" spc="-2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0"/>
                </a:solidFill>
                <a:latin typeface="Arial MT"/>
                <a:cs typeface="Arial MT"/>
              </a:rPr>
              <a:t>this</a:t>
            </a:r>
            <a:r>
              <a:rPr sz="2800" spc="-2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0"/>
                </a:solidFill>
                <a:latin typeface="Arial MT"/>
                <a:cs typeface="Arial MT"/>
              </a:rPr>
              <a:t>lecture:</a:t>
            </a:r>
            <a:endParaRPr sz="2800">
              <a:latin typeface="Arial MT"/>
              <a:cs typeface="Arial MT"/>
            </a:endParaRPr>
          </a:p>
          <a:p>
            <a:pPr marL="1130935" indent="-334645">
              <a:lnSpc>
                <a:spcPct val="100000"/>
              </a:lnSpc>
              <a:spcBef>
                <a:spcPts val="1555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65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1:</a:t>
            </a:r>
            <a:r>
              <a:rPr sz="2000" b="1" spc="-4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What/Why</a:t>
            </a:r>
            <a:r>
              <a:rPr sz="24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Local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Search</a:t>
            </a:r>
            <a:r>
              <a:rPr sz="2400" spc="-1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Algorithms</a:t>
            </a:r>
            <a:endParaRPr sz="2400">
              <a:latin typeface="Arial MT"/>
              <a:cs typeface="Arial MT"/>
            </a:endParaRPr>
          </a:p>
          <a:p>
            <a:pPr marL="1130935" indent="-334645">
              <a:lnSpc>
                <a:spcPct val="100000"/>
              </a:lnSpc>
              <a:spcBef>
                <a:spcPts val="1520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45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2:</a:t>
            </a:r>
            <a:r>
              <a:rPr sz="2000" b="1" spc="-4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Hill-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Climbing</a:t>
            </a:r>
            <a:r>
              <a:rPr sz="28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Search</a:t>
            </a:r>
            <a:endParaRPr sz="2800">
              <a:latin typeface="Arial"/>
              <a:cs typeface="Arial"/>
            </a:endParaRPr>
          </a:p>
          <a:p>
            <a:pPr marL="1130935" indent="-334645">
              <a:lnSpc>
                <a:spcPct val="100000"/>
              </a:lnSpc>
              <a:spcBef>
                <a:spcPts val="1525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7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3:</a:t>
            </a:r>
            <a:r>
              <a:rPr sz="2000" b="1" spc="-45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Simulated</a:t>
            </a:r>
            <a:r>
              <a:rPr sz="2400" spc="-1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Annealing</a:t>
            </a:r>
            <a:r>
              <a:rPr sz="24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Search</a:t>
            </a:r>
            <a:endParaRPr sz="2400">
              <a:latin typeface="Arial MT"/>
              <a:cs typeface="Arial MT"/>
            </a:endParaRPr>
          </a:p>
          <a:p>
            <a:pPr marL="1130935" indent="-334645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55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4:</a:t>
            </a:r>
            <a:r>
              <a:rPr sz="2000" b="1" spc="-35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Genetic</a:t>
            </a:r>
            <a:r>
              <a:rPr sz="2400" spc="-1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Algorithms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in</a:t>
            </a:r>
            <a:r>
              <a:rPr sz="2400" spc="-3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nutshell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184903"/>
            <a:ext cx="1667256" cy="6187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905" y="181018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/>
              <a:t>Hill-</a:t>
            </a:r>
            <a:r>
              <a:rPr b="1" dirty="0"/>
              <a:t>Climbing</a:t>
            </a:r>
            <a:r>
              <a:rPr b="1" spc="-55" dirty="0"/>
              <a:t> </a:t>
            </a:r>
            <a:r>
              <a:rPr b="1" spc="-10" dirty="0"/>
              <a:t>Search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18293" y="5113020"/>
            <a:ext cx="7527925" cy="137287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000090"/>
                </a:solidFill>
                <a:latin typeface="Arial"/>
                <a:cs typeface="Arial"/>
              </a:rPr>
              <a:t>Problem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: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can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get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stuck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in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0000E5"/>
                </a:solidFill>
                <a:latin typeface="Arial"/>
                <a:cs typeface="Arial"/>
              </a:rPr>
              <a:t>local</a:t>
            </a:r>
            <a:r>
              <a:rPr sz="2000" i="1" spc="-30" dirty="0">
                <a:solidFill>
                  <a:srgbClr val="0000E5"/>
                </a:solidFill>
                <a:latin typeface="Arial"/>
                <a:cs typeface="Arial"/>
              </a:rPr>
              <a:t> </a:t>
            </a:r>
            <a:r>
              <a:rPr sz="2000" i="1" spc="-10" dirty="0">
                <a:solidFill>
                  <a:srgbClr val="0000E5"/>
                </a:solidFill>
                <a:latin typeface="Arial"/>
                <a:cs typeface="Arial"/>
              </a:rPr>
              <a:t>maxima</a:t>
            </a:r>
            <a:r>
              <a:rPr sz="2000" spc="-10" dirty="0">
                <a:solidFill>
                  <a:srgbClr val="13146E"/>
                </a:solidFill>
                <a:latin typeface="Arial MT"/>
                <a:cs typeface="Arial MT"/>
              </a:rPr>
              <a:t>,</a:t>
            </a:r>
            <a:endParaRPr sz="2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00"/>
              </a:spcBef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Its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success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depends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very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much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on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shape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state-space land-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scape: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if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there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are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few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local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maxima,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E5"/>
                </a:solidFill>
                <a:latin typeface="Arial MT"/>
                <a:cs typeface="Arial MT"/>
              </a:rPr>
              <a:t>random-</a:t>
            </a:r>
            <a:r>
              <a:rPr sz="2000" dirty="0">
                <a:solidFill>
                  <a:srgbClr val="0000E5"/>
                </a:solidFill>
                <a:latin typeface="Arial MT"/>
                <a:cs typeface="Arial MT"/>
              </a:rPr>
              <a:t>restart</a:t>
            </a:r>
            <a:r>
              <a:rPr sz="2000" spc="-50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0090"/>
                </a:solidFill>
                <a:latin typeface="Arial MT"/>
                <a:cs typeface="Arial MT"/>
              </a:rPr>
              <a:t>hill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climbing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will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find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“good”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solution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very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quickly.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293" y="937259"/>
            <a:ext cx="8359140" cy="28511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3840" indent="-231140">
              <a:lnSpc>
                <a:spcPct val="100000"/>
              </a:lnSpc>
              <a:spcBef>
                <a:spcPts val="605"/>
              </a:spcBef>
              <a:buChar char="•"/>
              <a:tabLst>
                <a:tab pos="243840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Continually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moves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in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direction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increasing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value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(i.e.,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uphill).</a:t>
            </a:r>
            <a:endParaRPr sz="2000" dirty="0">
              <a:latin typeface="Arial MT"/>
              <a:cs typeface="Arial MT"/>
            </a:endParaRPr>
          </a:p>
          <a:p>
            <a:pPr marL="243840" indent="-231140">
              <a:lnSpc>
                <a:spcPct val="100000"/>
              </a:lnSpc>
              <a:spcBef>
                <a:spcPts val="500"/>
              </a:spcBef>
              <a:buChar char="•"/>
              <a:tabLst>
                <a:tab pos="243840" algn="l"/>
              </a:tabLst>
            </a:pP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Terminates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when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it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reaches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“peak”,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no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neighbor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has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higher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value.</a:t>
            </a:r>
            <a:endParaRPr sz="2000" dirty="0">
              <a:latin typeface="Arial MT"/>
              <a:cs typeface="Arial MT"/>
            </a:endParaRPr>
          </a:p>
          <a:p>
            <a:pPr marL="243840" indent="-231140">
              <a:lnSpc>
                <a:spcPct val="100000"/>
              </a:lnSpc>
              <a:spcBef>
                <a:spcPts val="505"/>
              </a:spcBef>
              <a:buChar char="•"/>
              <a:tabLst>
                <a:tab pos="243840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Only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records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state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and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its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objective</a:t>
            </a:r>
            <a:r>
              <a:rPr sz="20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function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value.</a:t>
            </a:r>
            <a:endParaRPr sz="2000" dirty="0">
              <a:latin typeface="Arial MT"/>
              <a:cs typeface="Arial MT"/>
            </a:endParaRPr>
          </a:p>
          <a:p>
            <a:pPr marL="243840" indent="-231140">
              <a:lnSpc>
                <a:spcPct val="100000"/>
              </a:lnSpc>
              <a:spcBef>
                <a:spcPts val="480"/>
              </a:spcBef>
              <a:buChar char="•"/>
              <a:tabLst>
                <a:tab pos="243840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Does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not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look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ahead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beyond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immediate.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000" dirty="0">
              <a:latin typeface="Arial MT"/>
              <a:cs typeface="Arial MT"/>
            </a:endParaRPr>
          </a:p>
          <a:p>
            <a:pPr marL="5962015" marR="5080" indent="189230">
              <a:lnSpc>
                <a:spcPct val="121000"/>
              </a:lnSpc>
            </a:pPr>
            <a:r>
              <a:rPr sz="2000" dirty="0">
                <a:solidFill>
                  <a:srgbClr val="13146E"/>
                </a:solidFill>
                <a:latin typeface="Arial MT"/>
                <a:cs typeface="Arial MT"/>
              </a:rPr>
              <a:t>Sometimes</a:t>
            </a:r>
            <a:r>
              <a:rPr sz="2000" spc="-80" dirty="0">
                <a:solidFill>
                  <a:srgbClr val="13146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3146E"/>
                </a:solidFill>
                <a:latin typeface="Arial MT"/>
                <a:cs typeface="Arial MT"/>
              </a:rPr>
              <a:t>called </a:t>
            </a:r>
            <a:r>
              <a:rPr sz="2000" dirty="0">
                <a:solidFill>
                  <a:srgbClr val="0000E5"/>
                </a:solidFill>
                <a:latin typeface="Arial MT"/>
                <a:cs typeface="Arial MT"/>
              </a:rPr>
              <a:t>Greedy</a:t>
            </a:r>
            <a:r>
              <a:rPr sz="2000" spc="-65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E5"/>
                </a:solidFill>
                <a:latin typeface="Arial MT"/>
                <a:cs typeface="Arial MT"/>
              </a:rPr>
              <a:t>Local</a:t>
            </a:r>
            <a:r>
              <a:rPr sz="2000" spc="-55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E5"/>
                </a:solidFill>
                <a:latin typeface="Arial MT"/>
                <a:cs typeface="Arial MT"/>
              </a:rPr>
              <a:t>Search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3688" y="2671145"/>
            <a:ext cx="4176463" cy="2248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Hill-</a:t>
            </a:r>
            <a:r>
              <a:rPr dirty="0"/>
              <a:t>Climbing</a:t>
            </a:r>
            <a:r>
              <a:rPr spc="-65" dirty="0"/>
              <a:t> </a:t>
            </a:r>
            <a:r>
              <a:rPr dirty="0"/>
              <a:t>Search</a:t>
            </a:r>
            <a:r>
              <a:rPr spc="-15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567" y="1484783"/>
            <a:ext cx="7776417" cy="20906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2307" y="4083811"/>
            <a:ext cx="7907655" cy="1851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99800"/>
              </a:lnSpc>
              <a:spcBef>
                <a:spcPts val="105"/>
              </a:spcBef>
            </a:pP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The</a:t>
            </a:r>
            <a:r>
              <a:rPr sz="2400" spc="5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Times New Roman"/>
                <a:cs typeface="Times New Roman"/>
              </a:rPr>
              <a:t>hill-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climbing</a:t>
            </a:r>
            <a:r>
              <a:rPr sz="2400" spc="5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search</a:t>
            </a:r>
            <a:r>
              <a:rPr sz="2400" spc="5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algorithm,</a:t>
            </a:r>
            <a:r>
              <a:rPr sz="2400" spc="5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which</a:t>
            </a:r>
            <a:r>
              <a:rPr sz="2400" spc="5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is</a:t>
            </a:r>
            <a:r>
              <a:rPr sz="2400" spc="53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the</a:t>
            </a:r>
            <a:r>
              <a:rPr sz="2400" spc="5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80"/>
                </a:solidFill>
                <a:latin typeface="Times New Roman"/>
                <a:cs typeface="Times New Roman"/>
              </a:rPr>
              <a:t>most</a:t>
            </a:r>
            <a:r>
              <a:rPr sz="2400" b="1" spc="53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80"/>
                </a:solidFill>
                <a:latin typeface="Times New Roman"/>
                <a:cs typeface="Times New Roman"/>
              </a:rPr>
              <a:t>basic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local</a:t>
            </a:r>
            <a:r>
              <a:rPr sz="2400" spc="3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search</a:t>
            </a:r>
            <a:r>
              <a:rPr sz="2400" spc="4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technique.</a:t>
            </a:r>
            <a:r>
              <a:rPr sz="2400" spc="4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At</a:t>
            </a:r>
            <a:r>
              <a:rPr sz="2400" spc="4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each</a:t>
            </a:r>
            <a:r>
              <a:rPr sz="2400" spc="4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step</a:t>
            </a:r>
            <a:r>
              <a:rPr sz="2400" spc="4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the</a:t>
            </a:r>
            <a:r>
              <a:rPr sz="2400" spc="4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current</a:t>
            </a:r>
            <a:r>
              <a:rPr sz="2400" spc="4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node</a:t>
            </a:r>
            <a:r>
              <a:rPr sz="2400" spc="4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is</a:t>
            </a:r>
            <a:r>
              <a:rPr sz="2400" spc="4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Times New Roman"/>
                <a:cs typeface="Times New Roman"/>
              </a:rPr>
              <a:t>replaced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by</a:t>
            </a:r>
            <a:r>
              <a:rPr sz="2400" spc="3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the</a:t>
            </a:r>
            <a:r>
              <a:rPr sz="2400" spc="3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best</a:t>
            </a:r>
            <a:r>
              <a:rPr sz="2400" spc="32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neighbor;</a:t>
            </a:r>
            <a:r>
              <a:rPr sz="2400" spc="32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in</a:t>
            </a:r>
            <a:r>
              <a:rPr sz="2400" spc="3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this</a:t>
            </a:r>
            <a:r>
              <a:rPr sz="2400" spc="33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version,</a:t>
            </a:r>
            <a:r>
              <a:rPr sz="2400" spc="3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that</a:t>
            </a:r>
            <a:r>
              <a:rPr sz="2400" spc="3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means</a:t>
            </a:r>
            <a:r>
              <a:rPr sz="2400" spc="33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the</a:t>
            </a:r>
            <a:r>
              <a:rPr sz="2400" spc="3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Times New Roman"/>
                <a:cs typeface="Times New Roman"/>
              </a:rPr>
              <a:t>neighbor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with</a:t>
            </a:r>
            <a:r>
              <a:rPr sz="2400" spc="-1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highest</a:t>
            </a:r>
            <a:r>
              <a:rPr sz="2400" spc="-2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V</a:t>
            </a:r>
            <a:r>
              <a:rPr sz="1800" dirty="0">
                <a:solidFill>
                  <a:srgbClr val="000080"/>
                </a:solidFill>
                <a:latin typeface="Times New Roman"/>
                <a:cs typeface="Times New Roman"/>
              </a:rPr>
              <a:t>ALUE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but</a:t>
            </a:r>
            <a:r>
              <a:rPr sz="2400" spc="-2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if</a:t>
            </a:r>
            <a:r>
              <a:rPr sz="2400" spc="-1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a</a:t>
            </a:r>
            <a:r>
              <a:rPr sz="2400" spc="-1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heuristic</a:t>
            </a:r>
            <a:r>
              <a:rPr sz="2400" spc="-2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cost</a:t>
            </a:r>
            <a:r>
              <a:rPr sz="2400" spc="-1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estimate</a:t>
            </a:r>
            <a:r>
              <a:rPr sz="2400" spc="-1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0080"/>
                </a:solidFill>
                <a:latin typeface="Times New Roman"/>
                <a:cs typeface="Times New Roman"/>
              </a:rPr>
              <a:t>h</a:t>
            </a:r>
            <a:r>
              <a:rPr sz="2400" i="1" spc="-1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is</a:t>
            </a:r>
            <a:r>
              <a:rPr sz="2400" spc="-10" dirty="0">
                <a:solidFill>
                  <a:srgbClr val="000080"/>
                </a:solidFill>
                <a:latin typeface="Times New Roman"/>
                <a:cs typeface="Times New Roman"/>
              </a:rPr>
              <a:t> used,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we</a:t>
            </a:r>
            <a:r>
              <a:rPr sz="2400" spc="-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would</a:t>
            </a:r>
            <a:r>
              <a:rPr sz="2400" spc="-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find</a:t>
            </a:r>
            <a:r>
              <a:rPr sz="2400" spc="-2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neighbor</a:t>
            </a:r>
            <a:r>
              <a:rPr sz="2400" spc="-2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with</a:t>
            </a:r>
            <a:r>
              <a:rPr sz="2400" spc="-2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lowest</a:t>
            </a:r>
            <a:r>
              <a:rPr sz="2400" spc="-3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i="1" spc="-25" dirty="0">
                <a:solidFill>
                  <a:srgbClr val="000080"/>
                </a:solidFill>
                <a:latin typeface="Times New Roman"/>
                <a:cs typeface="Times New Roman"/>
              </a:rPr>
              <a:t>h</a:t>
            </a:r>
            <a:r>
              <a:rPr sz="2400" spc="-25" dirty="0">
                <a:solidFill>
                  <a:srgbClr val="00008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122" y="384767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Example:</a:t>
            </a:r>
            <a:r>
              <a:rPr b="1" spc="-80" dirty="0"/>
              <a:t> </a:t>
            </a:r>
            <a:r>
              <a:rPr b="1" i="1" spc="-20" dirty="0">
                <a:latin typeface="Arial"/>
                <a:cs typeface="Arial"/>
              </a:rPr>
              <a:t>n</a:t>
            </a:r>
            <a:r>
              <a:rPr b="1" spc="-20" dirty="0"/>
              <a:t>-</a:t>
            </a:r>
            <a:r>
              <a:rPr b="1" spc="-10" dirty="0"/>
              <a:t>queens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21677" y="1307084"/>
            <a:ext cx="7764145" cy="16351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Put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n</a:t>
            </a:r>
            <a:r>
              <a:rPr sz="2400" i="1" spc="-4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queens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on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an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n×n</a:t>
            </a:r>
            <a:r>
              <a:rPr sz="2400" i="1" spc="-4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board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with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no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two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queens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on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same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row,</a:t>
            </a:r>
            <a:r>
              <a:rPr sz="2400" spc="-8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column,</a:t>
            </a:r>
            <a:r>
              <a:rPr sz="2400" spc="-8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or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diagonal.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Move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queen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reduce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number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conflicts.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937" y="3331465"/>
            <a:ext cx="7961510" cy="23628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B3BEA95-ADAB-4FCD-B0E7-F3A984E0D3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371600"/>
            <a:ext cx="6991349" cy="3547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Key Rules &amp; Objectives: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Board: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 standard 8x8 chessboard.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Pieces: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Eight queens.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Place all eight queens on the 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Constraints: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No Shared Rows: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Each queen must be in a different row.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No Shared Columns: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Each queen must be in a different column.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No Shared Diagonals: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No two queens can be on the same diagonal line (up-left, up-right, down-left, down-right).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AD0C0C3-68E5-4579-9157-F2CE59B01C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Example:</a:t>
            </a:r>
            <a:r>
              <a:rPr b="1" spc="-100" dirty="0"/>
              <a:t> </a:t>
            </a:r>
            <a:r>
              <a:rPr b="1" spc="-10" dirty="0"/>
              <a:t>8-queens</a:t>
            </a:r>
          </a:p>
        </p:txBody>
      </p:sp>
    </p:spTree>
    <p:extLst>
      <p:ext uri="{BB962C8B-B14F-4D97-AF65-F5344CB8AC3E}">
        <p14:creationId xmlns:p14="http://schemas.microsoft.com/office/powerpoint/2010/main" val="640538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Example:</a:t>
            </a:r>
            <a:r>
              <a:rPr b="1" spc="-100" dirty="0"/>
              <a:t> </a:t>
            </a:r>
            <a:r>
              <a:rPr b="1" spc="-10" dirty="0"/>
              <a:t>8-queens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18292" y="5461508"/>
            <a:ext cx="81006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h</a:t>
            </a:r>
            <a:r>
              <a:rPr sz="2400" i="1" spc="-5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=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number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pairs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queens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that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are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attacking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each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other,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either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directly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or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indirectly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(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h</a:t>
            </a:r>
            <a:r>
              <a:rPr sz="2400" i="1" spc="-4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=</a:t>
            </a:r>
            <a:r>
              <a:rPr sz="2400" i="1" spc="-5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17</a:t>
            </a:r>
            <a:r>
              <a:rPr sz="2400" i="1" spc="-4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for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above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state)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13932" y="1124743"/>
            <a:ext cx="6092190" cy="3733800"/>
            <a:chOff x="2213932" y="1124743"/>
            <a:chExt cx="6092190" cy="37338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124743"/>
              <a:ext cx="3733800" cy="37338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13932" y="2240067"/>
              <a:ext cx="2663190" cy="388620"/>
            </a:xfrm>
            <a:custGeom>
              <a:avLst/>
              <a:gdLst/>
              <a:ahLst/>
              <a:cxnLst/>
              <a:rect l="l" t="t" r="r" b="b"/>
              <a:pathLst>
                <a:path w="2663190" h="388619">
                  <a:moveTo>
                    <a:pt x="2586707" y="33044"/>
                  </a:moveTo>
                  <a:lnTo>
                    <a:pt x="0" y="378555"/>
                  </a:lnTo>
                  <a:lnTo>
                    <a:pt x="1261" y="387996"/>
                  </a:lnTo>
                  <a:lnTo>
                    <a:pt x="2587968" y="42485"/>
                  </a:lnTo>
                  <a:lnTo>
                    <a:pt x="2586707" y="33044"/>
                  </a:lnTo>
                  <a:close/>
                </a:path>
                <a:path w="2663190" h="388619">
                  <a:moveTo>
                    <a:pt x="2657437" y="31362"/>
                  </a:moveTo>
                  <a:lnTo>
                    <a:pt x="2599297" y="31362"/>
                  </a:lnTo>
                  <a:lnTo>
                    <a:pt x="2600558" y="40803"/>
                  </a:lnTo>
                  <a:lnTo>
                    <a:pt x="2587968" y="42485"/>
                  </a:lnTo>
                  <a:lnTo>
                    <a:pt x="2592382" y="75529"/>
                  </a:lnTo>
                  <a:lnTo>
                    <a:pt x="2657437" y="31362"/>
                  </a:lnTo>
                  <a:close/>
                </a:path>
                <a:path w="2663190" h="388619">
                  <a:moveTo>
                    <a:pt x="2599297" y="31362"/>
                  </a:moveTo>
                  <a:lnTo>
                    <a:pt x="2586707" y="33044"/>
                  </a:lnTo>
                  <a:lnTo>
                    <a:pt x="2587968" y="42485"/>
                  </a:lnTo>
                  <a:lnTo>
                    <a:pt x="2600558" y="40803"/>
                  </a:lnTo>
                  <a:lnTo>
                    <a:pt x="2599297" y="31362"/>
                  </a:lnTo>
                  <a:close/>
                </a:path>
                <a:path w="2663190" h="388619">
                  <a:moveTo>
                    <a:pt x="2582293" y="0"/>
                  </a:moveTo>
                  <a:lnTo>
                    <a:pt x="2586707" y="33044"/>
                  </a:lnTo>
                  <a:lnTo>
                    <a:pt x="2599297" y="31362"/>
                  </a:lnTo>
                  <a:lnTo>
                    <a:pt x="2657437" y="31362"/>
                  </a:lnTo>
                  <a:lnTo>
                    <a:pt x="2662867" y="27675"/>
                  </a:lnTo>
                  <a:lnTo>
                    <a:pt x="258229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62307" y="2656332"/>
            <a:ext cx="30632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spc="65" dirty="0">
                <a:solidFill>
                  <a:srgbClr val="FF0000"/>
                </a:solidFill>
                <a:latin typeface="Arial MT"/>
                <a:cs typeface="Arial MT"/>
              </a:rPr>
              <a:t>Each</a:t>
            </a: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110" dirty="0">
                <a:solidFill>
                  <a:srgbClr val="FF0000"/>
                </a:solidFill>
                <a:latin typeface="Arial MT"/>
                <a:cs typeface="Arial MT"/>
              </a:rPr>
              <a:t>number</a:t>
            </a:r>
            <a:r>
              <a:rPr sz="20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95" dirty="0">
                <a:solidFill>
                  <a:srgbClr val="FF0000"/>
                </a:solidFill>
                <a:latin typeface="Arial MT"/>
                <a:cs typeface="Arial MT"/>
              </a:rPr>
              <a:t>indicates</a:t>
            </a: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35" dirty="0">
                <a:solidFill>
                  <a:srgbClr val="FF0000"/>
                </a:solidFill>
                <a:latin typeface="Arial MT"/>
                <a:cs typeface="Arial MT"/>
              </a:rPr>
              <a:t>h </a:t>
            </a:r>
            <a:r>
              <a:rPr sz="2000" spc="100" dirty="0">
                <a:solidFill>
                  <a:srgbClr val="FF0000"/>
                </a:solidFill>
                <a:latin typeface="Arial MT"/>
                <a:cs typeface="Arial MT"/>
              </a:rPr>
              <a:t>if</a:t>
            </a:r>
            <a:r>
              <a:rPr sz="2000" spc="1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105" dirty="0">
                <a:solidFill>
                  <a:srgbClr val="FF0000"/>
                </a:solidFill>
                <a:latin typeface="Arial MT"/>
                <a:cs typeface="Arial MT"/>
              </a:rPr>
              <a:t>we</a:t>
            </a:r>
            <a:r>
              <a:rPr sz="20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70" dirty="0">
                <a:solidFill>
                  <a:srgbClr val="FF0000"/>
                </a:solidFill>
                <a:latin typeface="Arial MT"/>
                <a:cs typeface="Arial MT"/>
              </a:rPr>
              <a:t>move</a:t>
            </a:r>
            <a:r>
              <a:rPr sz="20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65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0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85" dirty="0">
                <a:solidFill>
                  <a:srgbClr val="FF0000"/>
                </a:solidFill>
                <a:latin typeface="Arial MT"/>
                <a:cs typeface="Arial MT"/>
              </a:rPr>
              <a:t>queen</a:t>
            </a: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85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80" dirty="0">
                <a:solidFill>
                  <a:srgbClr val="FF0000"/>
                </a:solidFill>
                <a:latin typeface="Arial MT"/>
                <a:cs typeface="Arial MT"/>
              </a:rPr>
              <a:t>its </a:t>
            </a:r>
            <a:r>
              <a:rPr sz="2000" spc="110" dirty="0">
                <a:solidFill>
                  <a:srgbClr val="FF0000"/>
                </a:solidFill>
                <a:latin typeface="Arial MT"/>
                <a:cs typeface="Arial MT"/>
              </a:rPr>
              <a:t>corresponding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95" dirty="0">
                <a:solidFill>
                  <a:srgbClr val="FF0000"/>
                </a:solidFill>
                <a:latin typeface="Arial MT"/>
                <a:cs typeface="Arial MT"/>
              </a:rPr>
              <a:t>column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Example:</a:t>
            </a:r>
            <a:r>
              <a:rPr b="1" spc="-80" dirty="0"/>
              <a:t> </a:t>
            </a:r>
            <a:r>
              <a:rPr b="1" i="1" spc="-20" dirty="0">
                <a:latin typeface="Arial"/>
                <a:cs typeface="Arial"/>
              </a:rPr>
              <a:t>n</a:t>
            </a:r>
            <a:r>
              <a:rPr b="1" spc="-20" dirty="0"/>
              <a:t>-</a:t>
            </a:r>
            <a:r>
              <a:rPr b="1" spc="-10" dirty="0"/>
              <a:t>queens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0" y="1785937"/>
            <a:ext cx="2852737" cy="28527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46483" y="5321300"/>
            <a:ext cx="3644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C1"/>
                </a:solidFill>
                <a:latin typeface="Arial MT"/>
                <a:cs typeface="Arial MT"/>
              </a:rPr>
              <a:t>A</a:t>
            </a:r>
            <a:r>
              <a:rPr sz="2400" spc="-170" dirty="0">
                <a:solidFill>
                  <a:srgbClr val="0000C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C1"/>
                </a:solidFill>
                <a:latin typeface="Arial MT"/>
                <a:cs typeface="Arial MT"/>
              </a:rPr>
              <a:t>local</a:t>
            </a:r>
            <a:r>
              <a:rPr sz="2400" spc="-35" dirty="0">
                <a:solidFill>
                  <a:srgbClr val="0000C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C1"/>
                </a:solidFill>
                <a:latin typeface="Arial MT"/>
                <a:cs typeface="Arial MT"/>
              </a:rPr>
              <a:t>minimum</a:t>
            </a:r>
            <a:r>
              <a:rPr sz="2400" spc="-40" dirty="0">
                <a:solidFill>
                  <a:srgbClr val="0000C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C1"/>
                </a:solidFill>
                <a:latin typeface="Arial MT"/>
                <a:cs typeface="Arial MT"/>
              </a:rPr>
              <a:t>with</a:t>
            </a:r>
            <a:r>
              <a:rPr sz="2400" spc="-45" dirty="0">
                <a:solidFill>
                  <a:srgbClr val="0000C1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00C1"/>
                </a:solidFill>
                <a:latin typeface="Arial"/>
                <a:cs typeface="Arial"/>
              </a:rPr>
              <a:t>h</a:t>
            </a:r>
            <a:r>
              <a:rPr sz="2400" i="1" spc="-40" dirty="0">
                <a:solidFill>
                  <a:srgbClr val="0000C1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C1"/>
                </a:solidFill>
                <a:latin typeface="Arial"/>
                <a:cs typeface="Arial"/>
              </a:rPr>
              <a:t>=</a:t>
            </a:r>
            <a:r>
              <a:rPr sz="2400" i="1" spc="-45" dirty="0">
                <a:solidFill>
                  <a:srgbClr val="0000C1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0000C1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10" dirty="0"/>
              <a:t> </a:t>
            </a:r>
            <a:r>
              <a:rPr spc="70" dirty="0"/>
              <a:t>in</a:t>
            </a:r>
            <a:r>
              <a:rPr spc="-5" dirty="0"/>
              <a:t> </a:t>
            </a:r>
            <a:r>
              <a:rPr spc="75" dirty="0"/>
              <a:t>Hill</a:t>
            </a:r>
            <a:r>
              <a:rPr spc="5" dirty="0"/>
              <a:t> </a:t>
            </a:r>
            <a:r>
              <a:rPr dirty="0"/>
              <a:t>Climbing</a:t>
            </a:r>
            <a:r>
              <a:rPr spc="-5" dirty="0"/>
              <a:t> </a:t>
            </a:r>
            <a:r>
              <a:rPr spc="114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30322"/>
            <a:ext cx="7672705" cy="425831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795"/>
              </a:spcBef>
              <a:buAutoNum type="arabicPeriod"/>
              <a:tabLst>
                <a:tab pos="353695" algn="l"/>
              </a:tabLst>
            </a:pPr>
            <a:r>
              <a:rPr sz="2600" spc="-10" dirty="0">
                <a:latin typeface="Microsoft Sans Serif"/>
                <a:cs typeface="Microsoft Sans Serif"/>
              </a:rPr>
              <a:t>Local</a:t>
            </a:r>
            <a:r>
              <a:rPr sz="2600" spc="-14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Maximum:</a:t>
            </a:r>
            <a:endParaRPr sz="2600">
              <a:latin typeface="Microsoft Sans Serif"/>
              <a:cs typeface="Microsoft Sans Serif"/>
            </a:endParaRPr>
          </a:p>
          <a:p>
            <a:pPr marL="412115" marR="5080" lvl="1" indent="-286385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412115" algn="l"/>
              </a:tabLst>
            </a:pP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local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maximum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peak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state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in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landscape </a:t>
            </a:r>
            <a:r>
              <a:rPr sz="2600" dirty="0">
                <a:latin typeface="Microsoft Sans Serif"/>
                <a:cs typeface="Microsoft Sans Serif"/>
              </a:rPr>
              <a:t>which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better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than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each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its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neighboring </a:t>
            </a:r>
            <a:r>
              <a:rPr sz="2600" dirty="0">
                <a:latin typeface="Microsoft Sans Serif"/>
                <a:cs typeface="Microsoft Sans Serif"/>
              </a:rPr>
              <a:t>states,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40" dirty="0">
                <a:latin typeface="Microsoft Sans Serif"/>
                <a:cs typeface="Microsoft Sans Serif"/>
              </a:rPr>
              <a:t>but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90" dirty="0">
                <a:latin typeface="Microsoft Sans Serif"/>
                <a:cs typeface="Microsoft Sans Serif"/>
              </a:rPr>
              <a:t>there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another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state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also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present </a:t>
            </a:r>
            <a:r>
              <a:rPr sz="2600" dirty="0">
                <a:latin typeface="Microsoft Sans Serif"/>
                <a:cs typeface="Microsoft Sans Serif"/>
              </a:rPr>
              <a:t>which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higher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than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local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maximum.</a:t>
            </a:r>
            <a:endParaRPr sz="2600">
              <a:latin typeface="Microsoft Sans Serif"/>
              <a:cs typeface="Microsoft Sans Serif"/>
            </a:endParaRPr>
          </a:p>
          <a:p>
            <a:pPr marL="412115" marR="75565" lvl="1" indent="-286385">
              <a:lnSpc>
                <a:spcPct val="100200"/>
              </a:lnSpc>
              <a:spcBef>
                <a:spcPts val="705"/>
              </a:spcBef>
              <a:buClr>
                <a:srgbClr val="6697CC"/>
              </a:buClr>
              <a:buFont typeface="Arial MT"/>
              <a:buChar char="–"/>
              <a:tabLst>
                <a:tab pos="412115" algn="l"/>
              </a:tabLst>
            </a:pPr>
            <a:r>
              <a:rPr sz="2600" dirty="0">
                <a:latin typeface="Microsoft Sans Serif"/>
                <a:cs typeface="Microsoft Sans Serif"/>
              </a:rPr>
              <a:t>Solution: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Backtracking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technique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45" dirty="0">
                <a:latin typeface="Microsoft Sans Serif"/>
                <a:cs typeface="Microsoft Sans Serif"/>
              </a:rPr>
              <a:t>can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be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a </a:t>
            </a:r>
            <a:r>
              <a:rPr sz="2600" spc="65" dirty="0">
                <a:latin typeface="Microsoft Sans Serif"/>
                <a:cs typeface="Microsoft Sans Serif"/>
              </a:rPr>
              <a:t>solution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of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local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maximum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in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state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space </a:t>
            </a:r>
            <a:r>
              <a:rPr sz="2600" spc="-25" dirty="0">
                <a:latin typeface="Microsoft Sans Serif"/>
                <a:cs typeface="Microsoft Sans Serif"/>
              </a:rPr>
              <a:t>landscape.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Create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list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of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promising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path</a:t>
            </a:r>
            <a:r>
              <a:rPr sz="2600" spc="-25" dirty="0">
                <a:latin typeface="Microsoft Sans Serif"/>
                <a:cs typeface="Microsoft Sans Serif"/>
              </a:rPr>
              <a:t> so </a:t>
            </a:r>
            <a:r>
              <a:rPr sz="2600" spc="135" dirty="0">
                <a:latin typeface="Microsoft Sans Serif"/>
                <a:cs typeface="Microsoft Sans Serif"/>
              </a:rPr>
              <a:t>that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algorithm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-45" dirty="0">
                <a:latin typeface="Microsoft Sans Serif"/>
                <a:cs typeface="Microsoft Sans Serif"/>
              </a:rPr>
              <a:t>can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backtrack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search </a:t>
            </a:r>
            <a:r>
              <a:rPr sz="2600" spc="-60" dirty="0">
                <a:latin typeface="Microsoft Sans Serif"/>
                <a:cs typeface="Microsoft Sans Serif"/>
              </a:rPr>
              <a:t>space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explore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other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paths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130" dirty="0">
                <a:latin typeface="Microsoft Sans Serif"/>
                <a:cs typeface="Microsoft Sans Serif"/>
              </a:rPr>
              <a:t>as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well.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10" dirty="0"/>
              <a:t> </a:t>
            </a:r>
            <a:r>
              <a:rPr spc="70" dirty="0"/>
              <a:t>in</a:t>
            </a:r>
            <a:r>
              <a:rPr spc="-5" dirty="0"/>
              <a:t> </a:t>
            </a:r>
            <a:r>
              <a:rPr spc="75" dirty="0"/>
              <a:t>Hill</a:t>
            </a:r>
            <a:r>
              <a:rPr spc="5" dirty="0"/>
              <a:t> </a:t>
            </a:r>
            <a:r>
              <a:rPr dirty="0"/>
              <a:t>Climbing</a:t>
            </a:r>
            <a:r>
              <a:rPr spc="-5" dirty="0"/>
              <a:t> </a:t>
            </a:r>
            <a:r>
              <a:rPr spc="114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72" y="2215438"/>
            <a:ext cx="7056966" cy="28418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10" dirty="0"/>
              <a:t> </a:t>
            </a:r>
            <a:r>
              <a:rPr spc="70" dirty="0"/>
              <a:t>in</a:t>
            </a:r>
            <a:r>
              <a:rPr spc="-5" dirty="0"/>
              <a:t> </a:t>
            </a:r>
            <a:r>
              <a:rPr spc="75" dirty="0"/>
              <a:t>Hill</a:t>
            </a:r>
            <a:r>
              <a:rPr spc="5" dirty="0"/>
              <a:t> </a:t>
            </a:r>
            <a:r>
              <a:rPr dirty="0"/>
              <a:t>Climbing</a:t>
            </a:r>
            <a:r>
              <a:rPr spc="-5" dirty="0"/>
              <a:t> </a:t>
            </a:r>
            <a:r>
              <a:rPr spc="114" dirty="0"/>
              <a:t>Algorithm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835" marR="60960" indent="-318770">
              <a:lnSpc>
                <a:spcPct val="999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30835" algn="l"/>
              </a:tabLst>
            </a:pPr>
            <a:r>
              <a:rPr sz="2600" spc="-10" dirty="0"/>
              <a:t>2.</a:t>
            </a:r>
            <a:r>
              <a:rPr sz="2600" spc="-85" dirty="0"/>
              <a:t> </a:t>
            </a:r>
            <a:r>
              <a:rPr sz="2600" dirty="0"/>
              <a:t>Plateau:</a:t>
            </a:r>
            <a:r>
              <a:rPr sz="2600" spc="-80" dirty="0"/>
              <a:t> </a:t>
            </a:r>
            <a:r>
              <a:rPr sz="2600" dirty="0"/>
              <a:t>A</a:t>
            </a:r>
            <a:r>
              <a:rPr sz="2600" spc="-85" dirty="0"/>
              <a:t> </a:t>
            </a:r>
            <a:r>
              <a:rPr sz="2600" dirty="0"/>
              <a:t>plateau</a:t>
            </a:r>
            <a:r>
              <a:rPr sz="2600" spc="-90" dirty="0"/>
              <a:t> </a:t>
            </a:r>
            <a:r>
              <a:rPr sz="2600" dirty="0"/>
              <a:t>is</a:t>
            </a:r>
            <a:r>
              <a:rPr sz="2600" spc="-85" dirty="0"/>
              <a:t> </a:t>
            </a:r>
            <a:r>
              <a:rPr sz="2600" spc="105" dirty="0"/>
              <a:t>the</a:t>
            </a:r>
            <a:r>
              <a:rPr sz="2600" spc="-80" dirty="0"/>
              <a:t> </a:t>
            </a:r>
            <a:r>
              <a:rPr sz="2600" spc="150" dirty="0"/>
              <a:t>flat</a:t>
            </a:r>
            <a:r>
              <a:rPr sz="2600" spc="-75" dirty="0"/>
              <a:t> </a:t>
            </a:r>
            <a:r>
              <a:rPr sz="2600" spc="-10" dirty="0"/>
              <a:t>area</a:t>
            </a:r>
            <a:r>
              <a:rPr sz="2600" spc="-85" dirty="0"/>
              <a:t> </a:t>
            </a:r>
            <a:r>
              <a:rPr sz="2600" spc="165" dirty="0"/>
              <a:t>of</a:t>
            </a:r>
            <a:r>
              <a:rPr sz="2600" spc="-80" dirty="0"/>
              <a:t> </a:t>
            </a:r>
            <a:r>
              <a:rPr sz="2600" spc="105" dirty="0"/>
              <a:t>the</a:t>
            </a:r>
            <a:r>
              <a:rPr sz="2600" spc="-85" dirty="0"/>
              <a:t> </a:t>
            </a:r>
            <a:r>
              <a:rPr sz="2600" spc="-10" dirty="0"/>
              <a:t>search </a:t>
            </a:r>
            <a:r>
              <a:rPr sz="2600" spc="-65" dirty="0"/>
              <a:t>space</a:t>
            </a:r>
            <a:r>
              <a:rPr sz="2600" spc="-40" dirty="0"/>
              <a:t> </a:t>
            </a:r>
            <a:r>
              <a:rPr sz="2600" spc="50" dirty="0"/>
              <a:t>in</a:t>
            </a:r>
            <a:r>
              <a:rPr sz="2600" spc="-35" dirty="0"/>
              <a:t> </a:t>
            </a:r>
            <a:r>
              <a:rPr sz="2600" dirty="0"/>
              <a:t>which</a:t>
            </a:r>
            <a:r>
              <a:rPr sz="2600" spc="-40" dirty="0"/>
              <a:t> </a:t>
            </a:r>
            <a:r>
              <a:rPr sz="2600" dirty="0"/>
              <a:t>all</a:t>
            </a:r>
            <a:r>
              <a:rPr sz="2600" spc="-35" dirty="0"/>
              <a:t> </a:t>
            </a:r>
            <a:r>
              <a:rPr sz="2600" spc="105" dirty="0"/>
              <a:t>the</a:t>
            </a:r>
            <a:r>
              <a:rPr sz="2600" spc="-35" dirty="0"/>
              <a:t> </a:t>
            </a:r>
            <a:r>
              <a:rPr sz="2600" spc="50" dirty="0"/>
              <a:t>neighbor</a:t>
            </a:r>
            <a:r>
              <a:rPr sz="2600" spc="-45" dirty="0"/>
              <a:t> </a:t>
            </a:r>
            <a:r>
              <a:rPr sz="2600" dirty="0"/>
              <a:t>states</a:t>
            </a:r>
            <a:r>
              <a:rPr sz="2600" spc="-45" dirty="0"/>
              <a:t> </a:t>
            </a:r>
            <a:r>
              <a:rPr sz="2600" spc="165" dirty="0"/>
              <a:t>of</a:t>
            </a:r>
            <a:r>
              <a:rPr sz="2600" spc="-50" dirty="0"/>
              <a:t> </a:t>
            </a:r>
            <a:r>
              <a:rPr sz="2600" spc="105" dirty="0"/>
              <a:t>the</a:t>
            </a:r>
            <a:r>
              <a:rPr sz="2600" spc="-40" dirty="0"/>
              <a:t> </a:t>
            </a:r>
            <a:r>
              <a:rPr sz="2600" spc="65" dirty="0"/>
              <a:t>current </a:t>
            </a:r>
            <a:r>
              <a:rPr sz="2600" spc="70" dirty="0"/>
              <a:t>state</a:t>
            </a:r>
            <a:r>
              <a:rPr sz="2600" spc="-75" dirty="0"/>
              <a:t> </a:t>
            </a:r>
            <a:r>
              <a:rPr sz="2600" dirty="0"/>
              <a:t>contains</a:t>
            </a:r>
            <a:r>
              <a:rPr sz="2600" spc="-95" dirty="0"/>
              <a:t> </a:t>
            </a:r>
            <a:r>
              <a:rPr sz="2600" spc="105" dirty="0"/>
              <a:t>the</a:t>
            </a:r>
            <a:r>
              <a:rPr sz="2600" spc="-80" dirty="0"/>
              <a:t> </a:t>
            </a:r>
            <a:r>
              <a:rPr sz="2600" spc="-50" dirty="0"/>
              <a:t>same</a:t>
            </a:r>
            <a:r>
              <a:rPr sz="2600" spc="-85" dirty="0"/>
              <a:t> </a:t>
            </a:r>
            <a:r>
              <a:rPr sz="2600" dirty="0"/>
              <a:t>value,</a:t>
            </a:r>
            <a:r>
              <a:rPr sz="2600" spc="-80" dirty="0"/>
              <a:t> </a:t>
            </a:r>
            <a:r>
              <a:rPr sz="2600" spc="-35" dirty="0"/>
              <a:t>because</a:t>
            </a:r>
            <a:r>
              <a:rPr sz="2600" spc="-85" dirty="0"/>
              <a:t> </a:t>
            </a:r>
            <a:r>
              <a:rPr sz="2600" spc="165" dirty="0"/>
              <a:t>of</a:t>
            </a:r>
            <a:r>
              <a:rPr sz="2600" spc="-90" dirty="0"/>
              <a:t> </a:t>
            </a:r>
            <a:r>
              <a:rPr sz="2600" spc="40" dirty="0"/>
              <a:t>this </a:t>
            </a:r>
            <a:r>
              <a:rPr sz="2600" spc="75" dirty="0"/>
              <a:t>algorithm</a:t>
            </a:r>
            <a:r>
              <a:rPr sz="2600" spc="-105" dirty="0"/>
              <a:t> </a:t>
            </a:r>
            <a:r>
              <a:rPr sz="2600" dirty="0"/>
              <a:t>does</a:t>
            </a:r>
            <a:r>
              <a:rPr sz="2600" spc="-105" dirty="0"/>
              <a:t> </a:t>
            </a:r>
            <a:r>
              <a:rPr sz="2600" spc="130" dirty="0"/>
              <a:t>not</a:t>
            </a:r>
            <a:r>
              <a:rPr sz="2600" spc="-100" dirty="0"/>
              <a:t> </a:t>
            </a:r>
            <a:r>
              <a:rPr sz="2600" spc="110" dirty="0"/>
              <a:t>find</a:t>
            </a:r>
            <a:r>
              <a:rPr sz="2600" spc="-105" dirty="0"/>
              <a:t> </a:t>
            </a:r>
            <a:r>
              <a:rPr sz="2600" spc="-10" dirty="0"/>
              <a:t>any</a:t>
            </a:r>
            <a:r>
              <a:rPr sz="2600" spc="-100" dirty="0"/>
              <a:t> </a:t>
            </a:r>
            <a:r>
              <a:rPr sz="2600" spc="55" dirty="0"/>
              <a:t>best</a:t>
            </a:r>
            <a:r>
              <a:rPr sz="2600" spc="-100" dirty="0"/>
              <a:t> </a:t>
            </a:r>
            <a:r>
              <a:rPr sz="2600" spc="65" dirty="0"/>
              <a:t>direction</a:t>
            </a:r>
            <a:r>
              <a:rPr sz="2600" spc="-95" dirty="0"/>
              <a:t> </a:t>
            </a:r>
            <a:r>
              <a:rPr sz="2600" spc="190" dirty="0"/>
              <a:t>to</a:t>
            </a:r>
            <a:r>
              <a:rPr sz="2600" spc="-100" dirty="0"/>
              <a:t> </a:t>
            </a:r>
            <a:r>
              <a:rPr sz="2600" spc="-10" dirty="0"/>
              <a:t>move. </a:t>
            </a:r>
            <a:r>
              <a:rPr sz="2600" dirty="0"/>
              <a:t>A</a:t>
            </a:r>
            <a:r>
              <a:rPr sz="2600" spc="-80" dirty="0"/>
              <a:t> </a:t>
            </a:r>
            <a:r>
              <a:rPr sz="2600" dirty="0"/>
              <a:t>hill-</a:t>
            </a:r>
            <a:r>
              <a:rPr sz="2600" spc="55" dirty="0"/>
              <a:t>climbing</a:t>
            </a:r>
            <a:r>
              <a:rPr sz="2600" spc="-70" dirty="0"/>
              <a:t> </a:t>
            </a:r>
            <a:r>
              <a:rPr sz="2600" spc="-35" dirty="0"/>
              <a:t>search</a:t>
            </a:r>
            <a:r>
              <a:rPr sz="2600" spc="-85" dirty="0"/>
              <a:t> </a:t>
            </a:r>
            <a:r>
              <a:rPr sz="2600" spc="100" dirty="0"/>
              <a:t>might</a:t>
            </a:r>
            <a:r>
              <a:rPr sz="2600" spc="-75" dirty="0"/>
              <a:t> </a:t>
            </a:r>
            <a:r>
              <a:rPr sz="2600" dirty="0"/>
              <a:t>be</a:t>
            </a:r>
            <a:r>
              <a:rPr sz="2600" spc="-70" dirty="0"/>
              <a:t> </a:t>
            </a:r>
            <a:r>
              <a:rPr sz="2600" spc="85" dirty="0"/>
              <a:t>lost</a:t>
            </a:r>
            <a:r>
              <a:rPr sz="2600" spc="-65" dirty="0"/>
              <a:t> </a:t>
            </a:r>
            <a:r>
              <a:rPr sz="2600" spc="50" dirty="0"/>
              <a:t>in</a:t>
            </a:r>
            <a:r>
              <a:rPr sz="2600" spc="-75" dirty="0"/>
              <a:t> </a:t>
            </a:r>
            <a:r>
              <a:rPr sz="2600" spc="105" dirty="0"/>
              <a:t>the</a:t>
            </a:r>
            <a:r>
              <a:rPr sz="2600" spc="-65" dirty="0"/>
              <a:t> </a:t>
            </a:r>
            <a:r>
              <a:rPr sz="2600" spc="-10" dirty="0"/>
              <a:t>plateau area.</a:t>
            </a:r>
            <a:endParaRPr sz="2600"/>
          </a:p>
          <a:p>
            <a:pPr marL="330835" marR="5080" indent="-318770">
              <a:lnSpc>
                <a:spcPct val="99800"/>
              </a:lnSpc>
              <a:spcBef>
                <a:spcPts val="740"/>
              </a:spcBef>
              <a:buClr>
                <a:srgbClr val="6697CC"/>
              </a:buClr>
              <a:buFont typeface="Arial MT"/>
              <a:buChar char="•"/>
              <a:tabLst>
                <a:tab pos="330835" algn="l"/>
              </a:tabLst>
            </a:pPr>
            <a:r>
              <a:rPr sz="2600" dirty="0"/>
              <a:t>Solution:</a:t>
            </a:r>
            <a:r>
              <a:rPr sz="2600" spc="-55" dirty="0"/>
              <a:t> </a:t>
            </a:r>
            <a:r>
              <a:rPr sz="2600" spc="-30" dirty="0"/>
              <a:t>The</a:t>
            </a:r>
            <a:r>
              <a:rPr sz="2600" spc="-40" dirty="0"/>
              <a:t> </a:t>
            </a:r>
            <a:r>
              <a:rPr sz="2600" spc="65" dirty="0"/>
              <a:t>solution</a:t>
            </a:r>
            <a:r>
              <a:rPr sz="2600" spc="-40" dirty="0"/>
              <a:t> </a:t>
            </a:r>
            <a:r>
              <a:rPr sz="2600" spc="155" dirty="0"/>
              <a:t>for</a:t>
            </a:r>
            <a:r>
              <a:rPr sz="2600" spc="-40" dirty="0"/>
              <a:t> </a:t>
            </a:r>
            <a:r>
              <a:rPr sz="2600" spc="105" dirty="0"/>
              <a:t>the</a:t>
            </a:r>
            <a:r>
              <a:rPr sz="2600" spc="-45" dirty="0"/>
              <a:t> </a:t>
            </a:r>
            <a:r>
              <a:rPr sz="2600" dirty="0"/>
              <a:t>plateau</a:t>
            </a:r>
            <a:r>
              <a:rPr sz="2600" spc="-40" dirty="0"/>
              <a:t> </a:t>
            </a:r>
            <a:r>
              <a:rPr sz="2600" spc="-10" dirty="0"/>
              <a:t>is</a:t>
            </a:r>
            <a:r>
              <a:rPr sz="2600" spc="-50" dirty="0"/>
              <a:t> </a:t>
            </a:r>
            <a:r>
              <a:rPr sz="2600" spc="190" dirty="0"/>
              <a:t>to</a:t>
            </a:r>
            <a:r>
              <a:rPr sz="2600" spc="-50" dirty="0"/>
              <a:t> </a:t>
            </a:r>
            <a:r>
              <a:rPr sz="2600" spc="60" dirty="0"/>
              <a:t>take</a:t>
            </a:r>
            <a:r>
              <a:rPr sz="2600" spc="-30" dirty="0"/>
              <a:t> </a:t>
            </a:r>
            <a:r>
              <a:rPr sz="2600" spc="30" dirty="0"/>
              <a:t>big </a:t>
            </a:r>
            <a:r>
              <a:rPr sz="2600" dirty="0"/>
              <a:t>steps</a:t>
            </a:r>
            <a:r>
              <a:rPr sz="2600" spc="-70" dirty="0"/>
              <a:t> </a:t>
            </a:r>
            <a:r>
              <a:rPr sz="2600" spc="100" dirty="0"/>
              <a:t>or</a:t>
            </a:r>
            <a:r>
              <a:rPr sz="2600" spc="-70" dirty="0"/>
              <a:t> </a:t>
            </a:r>
            <a:r>
              <a:rPr sz="2600" dirty="0"/>
              <a:t>very</a:t>
            </a:r>
            <a:r>
              <a:rPr sz="2600" spc="-70" dirty="0"/>
              <a:t> </a:t>
            </a:r>
            <a:r>
              <a:rPr sz="2600" spc="150" dirty="0"/>
              <a:t>little</a:t>
            </a:r>
            <a:r>
              <a:rPr sz="2600" spc="-55" dirty="0"/>
              <a:t> </a:t>
            </a:r>
            <a:r>
              <a:rPr sz="2600" dirty="0"/>
              <a:t>steps</a:t>
            </a:r>
            <a:r>
              <a:rPr sz="2600" spc="-70" dirty="0"/>
              <a:t> </a:t>
            </a:r>
            <a:r>
              <a:rPr sz="2600" spc="65" dirty="0"/>
              <a:t>while</a:t>
            </a:r>
            <a:r>
              <a:rPr sz="2600" spc="-55" dirty="0"/>
              <a:t> </a:t>
            </a:r>
            <a:r>
              <a:rPr sz="2600" spc="-20" dirty="0"/>
              <a:t>searching,</a:t>
            </a:r>
            <a:r>
              <a:rPr sz="2600" spc="-60" dirty="0"/>
              <a:t> </a:t>
            </a:r>
            <a:r>
              <a:rPr sz="2600" spc="190" dirty="0"/>
              <a:t>to</a:t>
            </a:r>
            <a:r>
              <a:rPr sz="2600" spc="-65" dirty="0"/>
              <a:t> </a:t>
            </a:r>
            <a:r>
              <a:rPr sz="2600" spc="-10" dirty="0"/>
              <a:t>solve </a:t>
            </a:r>
            <a:r>
              <a:rPr sz="2600" spc="105" dirty="0"/>
              <a:t>the</a:t>
            </a:r>
            <a:r>
              <a:rPr sz="2600" spc="-65" dirty="0"/>
              <a:t> </a:t>
            </a:r>
            <a:r>
              <a:rPr sz="2600" spc="45" dirty="0"/>
              <a:t>problem.</a:t>
            </a:r>
            <a:r>
              <a:rPr sz="2600" spc="-65" dirty="0"/>
              <a:t> </a:t>
            </a:r>
            <a:r>
              <a:rPr sz="2600" dirty="0"/>
              <a:t>Randomly</a:t>
            </a:r>
            <a:r>
              <a:rPr sz="2600" spc="-70" dirty="0"/>
              <a:t> </a:t>
            </a:r>
            <a:r>
              <a:rPr sz="2600" dirty="0"/>
              <a:t>select</a:t>
            </a:r>
            <a:r>
              <a:rPr sz="2600" spc="-70" dirty="0"/>
              <a:t> </a:t>
            </a:r>
            <a:r>
              <a:rPr sz="2600" spc="-110" dirty="0"/>
              <a:t>a</a:t>
            </a:r>
            <a:r>
              <a:rPr sz="2600" spc="-65" dirty="0"/>
              <a:t> </a:t>
            </a:r>
            <a:r>
              <a:rPr sz="2600" spc="70" dirty="0"/>
              <a:t>state</a:t>
            </a:r>
            <a:r>
              <a:rPr sz="2600" spc="-55" dirty="0"/>
              <a:t> </a:t>
            </a:r>
            <a:r>
              <a:rPr sz="2600" dirty="0"/>
              <a:t>which</a:t>
            </a:r>
            <a:r>
              <a:rPr sz="2600" spc="-80" dirty="0"/>
              <a:t> </a:t>
            </a:r>
            <a:r>
              <a:rPr sz="2600" dirty="0"/>
              <a:t>is</a:t>
            </a:r>
            <a:r>
              <a:rPr sz="2600" spc="-60" dirty="0"/>
              <a:t> </a:t>
            </a:r>
            <a:r>
              <a:rPr sz="2600" spc="75" dirty="0"/>
              <a:t>far </a:t>
            </a:r>
            <a:r>
              <a:rPr sz="2600" spc="-20" dirty="0"/>
              <a:t>away</a:t>
            </a:r>
            <a:r>
              <a:rPr sz="2600" spc="-110" dirty="0"/>
              <a:t> </a:t>
            </a:r>
            <a:r>
              <a:rPr sz="2600" spc="130" dirty="0"/>
              <a:t>from</a:t>
            </a:r>
            <a:r>
              <a:rPr sz="2600" spc="-105" dirty="0"/>
              <a:t> </a:t>
            </a:r>
            <a:r>
              <a:rPr sz="2600" spc="105" dirty="0"/>
              <a:t>the</a:t>
            </a:r>
            <a:r>
              <a:rPr sz="2600" spc="-95" dirty="0"/>
              <a:t> </a:t>
            </a:r>
            <a:r>
              <a:rPr sz="2600" spc="70" dirty="0"/>
              <a:t>current</a:t>
            </a:r>
            <a:r>
              <a:rPr sz="2600" spc="-105" dirty="0"/>
              <a:t> </a:t>
            </a:r>
            <a:r>
              <a:rPr sz="2600" spc="70" dirty="0"/>
              <a:t>state</a:t>
            </a:r>
            <a:r>
              <a:rPr sz="2600" spc="-95" dirty="0"/>
              <a:t> </a:t>
            </a:r>
            <a:r>
              <a:rPr sz="2600" spc="-20" dirty="0"/>
              <a:t>so</a:t>
            </a:r>
            <a:r>
              <a:rPr sz="2600" spc="-110" dirty="0"/>
              <a:t> </a:t>
            </a:r>
            <a:r>
              <a:rPr sz="2600" spc="190" dirty="0"/>
              <a:t>it</a:t>
            </a:r>
            <a:r>
              <a:rPr sz="2600" spc="-105" dirty="0"/>
              <a:t> </a:t>
            </a:r>
            <a:r>
              <a:rPr sz="2600" dirty="0"/>
              <a:t>is</a:t>
            </a:r>
            <a:r>
              <a:rPr sz="2600" spc="-95" dirty="0"/>
              <a:t> </a:t>
            </a:r>
            <a:r>
              <a:rPr sz="2600" dirty="0"/>
              <a:t>possible</a:t>
            </a:r>
            <a:r>
              <a:rPr sz="2600" spc="-100" dirty="0"/>
              <a:t> </a:t>
            </a:r>
            <a:r>
              <a:rPr sz="2600" spc="135" dirty="0"/>
              <a:t>that</a:t>
            </a:r>
            <a:r>
              <a:rPr sz="2600" spc="-100" dirty="0"/>
              <a:t> </a:t>
            </a:r>
            <a:r>
              <a:rPr sz="2600" spc="80" dirty="0"/>
              <a:t>the </a:t>
            </a:r>
            <a:r>
              <a:rPr sz="2600" spc="75" dirty="0"/>
              <a:t>algorithm</a:t>
            </a:r>
            <a:r>
              <a:rPr sz="2600" spc="20" dirty="0"/>
              <a:t> </a:t>
            </a:r>
            <a:r>
              <a:rPr sz="2600" dirty="0"/>
              <a:t>could</a:t>
            </a:r>
            <a:r>
              <a:rPr sz="2600" spc="20" dirty="0"/>
              <a:t> </a:t>
            </a:r>
            <a:r>
              <a:rPr sz="2600" spc="110" dirty="0"/>
              <a:t>find</a:t>
            </a:r>
            <a:r>
              <a:rPr sz="2600" spc="20" dirty="0"/>
              <a:t> </a:t>
            </a:r>
            <a:r>
              <a:rPr sz="2600" dirty="0"/>
              <a:t>non-plateau</a:t>
            </a:r>
            <a:r>
              <a:rPr sz="2600" spc="35" dirty="0"/>
              <a:t> </a:t>
            </a:r>
            <a:r>
              <a:rPr sz="2600" spc="-10" dirty="0"/>
              <a:t>region.</a:t>
            </a:r>
            <a:endParaRPr sz="2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10" dirty="0"/>
              <a:t> </a:t>
            </a:r>
            <a:r>
              <a:rPr spc="70" dirty="0"/>
              <a:t>in</a:t>
            </a:r>
            <a:r>
              <a:rPr spc="-5" dirty="0"/>
              <a:t> </a:t>
            </a:r>
            <a:r>
              <a:rPr spc="75" dirty="0"/>
              <a:t>Hill</a:t>
            </a:r>
            <a:r>
              <a:rPr spc="5" dirty="0"/>
              <a:t> </a:t>
            </a:r>
            <a:r>
              <a:rPr dirty="0"/>
              <a:t>Climbing</a:t>
            </a:r>
            <a:r>
              <a:rPr spc="-5" dirty="0"/>
              <a:t> </a:t>
            </a:r>
            <a:r>
              <a:rPr spc="114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499" y="2538615"/>
            <a:ext cx="5656801" cy="21209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10" dirty="0"/>
              <a:t> </a:t>
            </a:r>
            <a:r>
              <a:rPr spc="70" dirty="0"/>
              <a:t>in</a:t>
            </a:r>
            <a:r>
              <a:rPr spc="-5" dirty="0"/>
              <a:t> </a:t>
            </a:r>
            <a:r>
              <a:rPr spc="75" dirty="0"/>
              <a:t>Hill</a:t>
            </a:r>
            <a:r>
              <a:rPr spc="5" dirty="0"/>
              <a:t> </a:t>
            </a:r>
            <a:r>
              <a:rPr dirty="0"/>
              <a:t>Climbing</a:t>
            </a:r>
            <a:r>
              <a:rPr spc="-5" dirty="0"/>
              <a:t> </a:t>
            </a:r>
            <a:r>
              <a:rPr spc="114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95615" cy="3109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97790" indent="-343535">
              <a:lnSpc>
                <a:spcPct val="998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3.</a:t>
            </a:r>
            <a:r>
              <a:rPr sz="2800" spc="-145" dirty="0">
                <a:latin typeface="Microsoft Sans Serif"/>
                <a:cs typeface="Microsoft Sans Serif"/>
              </a:rPr>
              <a:t> </a:t>
            </a:r>
            <a:r>
              <a:rPr sz="2800" spc="-55" dirty="0">
                <a:latin typeface="Microsoft Sans Serif"/>
                <a:cs typeface="Microsoft Sans Serif"/>
              </a:rPr>
              <a:t>Ridges: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</a:t>
            </a:r>
            <a:r>
              <a:rPr sz="2800" spc="-130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ridge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is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special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135" dirty="0">
                <a:latin typeface="Microsoft Sans Serif"/>
                <a:cs typeface="Microsoft Sans Serif"/>
              </a:rPr>
              <a:t>form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3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local </a:t>
            </a:r>
            <a:r>
              <a:rPr sz="2800" dirty="0">
                <a:latin typeface="Microsoft Sans Serif"/>
                <a:cs typeface="Microsoft Sans Serif"/>
              </a:rPr>
              <a:t>maximum.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60" dirty="0">
                <a:latin typeface="Microsoft Sans Serif"/>
                <a:cs typeface="Microsoft Sans Serif"/>
              </a:rPr>
              <a:t>It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85" dirty="0">
                <a:latin typeface="Microsoft Sans Serif"/>
                <a:cs typeface="Microsoft Sans Serif"/>
              </a:rPr>
              <a:t>has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area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which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is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higher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than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its </a:t>
            </a:r>
            <a:r>
              <a:rPr sz="2800" spc="45" dirty="0">
                <a:latin typeface="Microsoft Sans Serif"/>
                <a:cs typeface="Microsoft Sans Serif"/>
              </a:rPr>
              <a:t>surrounding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areas,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50" dirty="0">
                <a:latin typeface="Microsoft Sans Serif"/>
                <a:cs typeface="Microsoft Sans Serif"/>
              </a:rPr>
              <a:t>but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105" dirty="0">
                <a:latin typeface="Microsoft Sans Serif"/>
                <a:cs typeface="Microsoft Sans Serif"/>
              </a:rPr>
              <a:t>itself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80" dirty="0">
                <a:latin typeface="Microsoft Sans Serif"/>
                <a:cs typeface="Microsoft Sans Serif"/>
              </a:rPr>
              <a:t>has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slope,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and </a:t>
            </a:r>
            <a:r>
              <a:rPr sz="2800" dirty="0">
                <a:latin typeface="Microsoft Sans Serif"/>
                <a:cs typeface="Microsoft Sans Serif"/>
              </a:rPr>
              <a:t>cannot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reached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in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single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move.</a:t>
            </a:r>
            <a:endParaRPr sz="280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Solution: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With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35" dirty="0">
                <a:latin typeface="Microsoft Sans Serif"/>
                <a:cs typeface="Microsoft Sans Serif"/>
              </a:rPr>
              <a:t>use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bidirectional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search,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or </a:t>
            </a:r>
            <a:r>
              <a:rPr sz="2800" dirty="0">
                <a:latin typeface="Microsoft Sans Serif"/>
                <a:cs typeface="Microsoft Sans Serif"/>
              </a:rPr>
              <a:t>by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moving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in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spc="135" dirty="0">
                <a:latin typeface="Microsoft Sans Serif"/>
                <a:cs typeface="Microsoft Sans Serif"/>
              </a:rPr>
              <a:t>different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directions,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we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can </a:t>
            </a:r>
            <a:r>
              <a:rPr sz="2800" spc="60" dirty="0">
                <a:latin typeface="Microsoft Sans Serif"/>
                <a:cs typeface="Microsoft Sans Serif"/>
              </a:rPr>
              <a:t>improve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this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problem.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10" dirty="0"/>
              <a:t> </a:t>
            </a:r>
            <a:r>
              <a:rPr spc="70" dirty="0"/>
              <a:t>in</a:t>
            </a:r>
            <a:r>
              <a:rPr spc="-5" dirty="0"/>
              <a:t> </a:t>
            </a:r>
            <a:r>
              <a:rPr spc="75" dirty="0"/>
              <a:t>Hill</a:t>
            </a:r>
            <a:r>
              <a:rPr spc="5" dirty="0"/>
              <a:t> </a:t>
            </a:r>
            <a:r>
              <a:rPr dirty="0"/>
              <a:t>Climbing</a:t>
            </a:r>
            <a:r>
              <a:rPr spc="-5" dirty="0"/>
              <a:t> </a:t>
            </a:r>
            <a:r>
              <a:rPr spc="114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000" y="2213653"/>
            <a:ext cx="5459399" cy="271685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9250" y="1984755"/>
            <a:ext cx="6795770" cy="367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167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Local</a:t>
            </a:r>
            <a:r>
              <a:rPr sz="2800" b="1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Search</a:t>
            </a:r>
            <a:r>
              <a:rPr sz="2800" b="1" spc="-1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660066"/>
                </a:solidFill>
                <a:latin typeface="Arial"/>
                <a:cs typeface="Arial"/>
              </a:rPr>
              <a:t>Algorithms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In</a:t>
            </a:r>
            <a:r>
              <a:rPr sz="2400" spc="-3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this</a:t>
            </a:r>
            <a:r>
              <a:rPr sz="2400" spc="-2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lecture:</a:t>
            </a:r>
            <a:endParaRPr sz="2400">
              <a:latin typeface="Arial MT"/>
              <a:cs typeface="Arial MT"/>
            </a:endParaRPr>
          </a:p>
          <a:p>
            <a:pPr marL="1130935" indent="-334645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65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1:</a:t>
            </a:r>
            <a:r>
              <a:rPr sz="2000" b="1" spc="-4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What/Why</a:t>
            </a:r>
            <a:r>
              <a:rPr sz="24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Local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Search</a:t>
            </a:r>
            <a:r>
              <a:rPr sz="2400" spc="-1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Algorithms</a:t>
            </a:r>
            <a:endParaRPr sz="2400">
              <a:latin typeface="Arial MT"/>
              <a:cs typeface="Arial MT"/>
            </a:endParaRPr>
          </a:p>
          <a:p>
            <a:pPr marL="1130935" indent="-334645">
              <a:lnSpc>
                <a:spcPct val="100000"/>
              </a:lnSpc>
              <a:spcBef>
                <a:spcPts val="1415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6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2:</a:t>
            </a:r>
            <a:r>
              <a:rPr sz="2000" b="1" spc="-5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Hill-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Climbing</a:t>
            </a:r>
            <a:r>
              <a:rPr sz="24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Search</a:t>
            </a:r>
            <a:endParaRPr sz="2400">
              <a:latin typeface="Arial MT"/>
              <a:cs typeface="Arial MT"/>
            </a:endParaRPr>
          </a:p>
          <a:p>
            <a:pPr marL="1130935" indent="-334645">
              <a:lnSpc>
                <a:spcPct val="100000"/>
              </a:lnSpc>
              <a:spcBef>
                <a:spcPts val="1520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7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3:</a:t>
            </a:r>
            <a:r>
              <a:rPr sz="2000" b="1" spc="-65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Simulated</a:t>
            </a:r>
            <a:r>
              <a:rPr sz="2800" b="1" spc="-1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Annealing</a:t>
            </a:r>
            <a:r>
              <a:rPr sz="2800" b="1" spc="-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Search</a:t>
            </a:r>
            <a:endParaRPr sz="2800">
              <a:latin typeface="Arial"/>
              <a:cs typeface="Arial"/>
            </a:endParaRPr>
          </a:p>
          <a:p>
            <a:pPr marL="1130935" indent="-334645">
              <a:lnSpc>
                <a:spcPct val="100000"/>
              </a:lnSpc>
              <a:spcBef>
                <a:spcPts val="1525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55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4:</a:t>
            </a:r>
            <a:r>
              <a:rPr sz="2000" b="1" spc="-35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Genetic</a:t>
            </a:r>
            <a:r>
              <a:rPr sz="2400" spc="-1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Algorithms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in</a:t>
            </a:r>
            <a:r>
              <a:rPr sz="2400" spc="-3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nutshell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629911"/>
            <a:ext cx="1667256" cy="6187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F0AC9-3560-47A2-AC64-83F63E1F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</a:t>
            </a:r>
            <a:r>
              <a:rPr lang="en-US" spc="195" dirty="0"/>
              <a:t> </a:t>
            </a:r>
            <a:r>
              <a:rPr lang="en-US" spc="-10" dirty="0"/>
              <a:t>Annealing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FCABE-8813-48F3-8496-123A8302B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330" marR="5080" indent="-342265" algn="just">
              <a:lnSpc>
                <a:spcPct val="998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lang="en-US" sz="2400" spc="-20" dirty="0">
                <a:latin typeface="Microsoft Sans Serif"/>
                <a:cs typeface="Microsoft Sans Serif"/>
              </a:rPr>
              <a:t>A</a:t>
            </a:r>
            <a:r>
              <a:rPr lang="en-US" sz="2400" spc="-105" dirty="0">
                <a:latin typeface="Microsoft Sans Serif"/>
                <a:cs typeface="Microsoft Sans Serif"/>
              </a:rPr>
              <a:t> </a:t>
            </a:r>
            <a:r>
              <a:rPr lang="en-US" sz="2400" spc="45" dirty="0">
                <a:latin typeface="Microsoft Sans Serif"/>
                <a:cs typeface="Microsoft Sans Serif"/>
              </a:rPr>
              <a:t>hill-climbing</a:t>
            </a:r>
            <a:r>
              <a:rPr lang="en-US" sz="2400" spc="-100" dirty="0">
                <a:latin typeface="Microsoft Sans Serif"/>
                <a:cs typeface="Microsoft Sans Serif"/>
              </a:rPr>
              <a:t> </a:t>
            </a:r>
            <a:r>
              <a:rPr lang="en-US" sz="2400" spc="85" dirty="0">
                <a:latin typeface="Microsoft Sans Serif"/>
                <a:cs typeface="Microsoft Sans Serif"/>
              </a:rPr>
              <a:t>algorithm</a:t>
            </a:r>
            <a:r>
              <a:rPr lang="en-US" sz="2400" spc="-95" dirty="0">
                <a:latin typeface="Microsoft Sans Serif"/>
                <a:cs typeface="Microsoft Sans Serif"/>
              </a:rPr>
              <a:t> </a:t>
            </a:r>
            <a:r>
              <a:rPr lang="en-US" sz="2400" spc="25" dirty="0">
                <a:latin typeface="Microsoft Sans Serif"/>
                <a:cs typeface="Microsoft Sans Serif"/>
              </a:rPr>
              <a:t>which</a:t>
            </a:r>
            <a:r>
              <a:rPr lang="en-US" sz="2400" spc="-110" dirty="0">
                <a:latin typeface="Microsoft Sans Serif"/>
                <a:cs typeface="Microsoft Sans Serif"/>
              </a:rPr>
              <a:t> </a:t>
            </a:r>
            <a:r>
              <a:rPr lang="en-US" sz="2400" spc="25" dirty="0">
                <a:latin typeface="Microsoft Sans Serif"/>
                <a:cs typeface="Microsoft Sans Serif"/>
              </a:rPr>
              <a:t>never</a:t>
            </a:r>
            <a:r>
              <a:rPr lang="en-US" sz="2400" spc="-100" dirty="0">
                <a:latin typeface="Microsoft Sans Serif"/>
                <a:cs typeface="Microsoft Sans Serif"/>
              </a:rPr>
              <a:t> </a:t>
            </a:r>
            <a:r>
              <a:rPr lang="en-US" sz="2400" spc="-30" dirty="0">
                <a:latin typeface="Microsoft Sans Serif"/>
                <a:cs typeface="Microsoft Sans Serif"/>
              </a:rPr>
              <a:t>makes</a:t>
            </a:r>
            <a:r>
              <a:rPr lang="en-US" sz="2400" spc="-100" dirty="0">
                <a:latin typeface="Microsoft Sans Serif"/>
                <a:cs typeface="Microsoft Sans Serif"/>
              </a:rPr>
              <a:t>  </a:t>
            </a:r>
            <a:r>
              <a:rPr lang="en-US" sz="2400" spc="-110" dirty="0">
                <a:latin typeface="Microsoft Sans Serif"/>
                <a:cs typeface="Microsoft Sans Serif"/>
              </a:rPr>
              <a:t>a</a:t>
            </a:r>
            <a:r>
              <a:rPr lang="en-US" sz="2400" spc="-55" dirty="0">
                <a:latin typeface="Microsoft Sans Serif"/>
                <a:cs typeface="Microsoft Sans Serif"/>
              </a:rPr>
              <a:t> 	</a:t>
            </a:r>
            <a:r>
              <a:rPr lang="en-US" sz="2400" spc="35" dirty="0">
                <a:latin typeface="Microsoft Sans Serif"/>
                <a:cs typeface="Microsoft Sans Serif"/>
              </a:rPr>
              <a:t>move</a:t>
            </a:r>
            <a:r>
              <a:rPr lang="en-US" sz="2400" spc="-105" dirty="0">
                <a:latin typeface="Microsoft Sans Serif"/>
                <a:cs typeface="Microsoft Sans Serif"/>
              </a:rPr>
              <a:t> </a:t>
            </a:r>
            <a:r>
              <a:rPr lang="en-US" sz="2400" spc="70" dirty="0">
                <a:latin typeface="Microsoft Sans Serif"/>
                <a:cs typeface="Microsoft Sans Serif"/>
              </a:rPr>
              <a:t>towards</a:t>
            </a:r>
            <a:r>
              <a:rPr lang="en-US" sz="2400" spc="-100" dirty="0">
                <a:latin typeface="Microsoft Sans Serif"/>
                <a:cs typeface="Microsoft Sans Serif"/>
              </a:rPr>
              <a:t> </a:t>
            </a:r>
            <a:r>
              <a:rPr lang="en-US" sz="2400" spc="-110" dirty="0">
                <a:latin typeface="Microsoft Sans Serif"/>
                <a:cs typeface="Microsoft Sans Serif"/>
              </a:rPr>
              <a:t>a</a:t>
            </a:r>
            <a:r>
              <a:rPr lang="en-US" sz="2400" spc="-100" dirty="0">
                <a:latin typeface="Microsoft Sans Serif"/>
                <a:cs typeface="Microsoft Sans Serif"/>
              </a:rPr>
              <a:t> </a:t>
            </a:r>
            <a:r>
              <a:rPr lang="en-US" sz="2400" spc="85" dirty="0">
                <a:latin typeface="Microsoft Sans Serif"/>
                <a:cs typeface="Microsoft Sans Serif"/>
              </a:rPr>
              <a:t>lower</a:t>
            </a:r>
            <a:r>
              <a:rPr lang="en-US" sz="2400" spc="-100" dirty="0">
                <a:latin typeface="Microsoft Sans Serif"/>
                <a:cs typeface="Microsoft Sans Serif"/>
              </a:rPr>
              <a:t> </a:t>
            </a:r>
            <a:r>
              <a:rPr lang="en-US" sz="2400" spc="5" dirty="0">
                <a:latin typeface="Microsoft Sans Serif"/>
                <a:cs typeface="Microsoft Sans Serif"/>
              </a:rPr>
              <a:t>value</a:t>
            </a:r>
            <a:r>
              <a:rPr lang="en-US" sz="2400" spc="-105" dirty="0">
                <a:latin typeface="Microsoft Sans Serif"/>
                <a:cs typeface="Microsoft Sans Serif"/>
              </a:rPr>
              <a:t> </a:t>
            </a:r>
            <a:r>
              <a:rPr lang="en-US" sz="2400" spc="40" dirty="0">
                <a:latin typeface="Microsoft Sans Serif"/>
                <a:cs typeface="Microsoft Sans Serif"/>
              </a:rPr>
              <a:t>guaranteed</a:t>
            </a:r>
            <a:r>
              <a:rPr lang="en-US" sz="2400" spc="-100" dirty="0">
                <a:latin typeface="Microsoft Sans Serif"/>
                <a:cs typeface="Microsoft Sans Serif"/>
              </a:rPr>
              <a:t> </a:t>
            </a:r>
            <a:r>
              <a:rPr lang="en-US" sz="2400" spc="204" dirty="0">
                <a:latin typeface="Microsoft Sans Serif"/>
                <a:cs typeface="Microsoft Sans Serif"/>
              </a:rPr>
              <a:t>to</a:t>
            </a:r>
            <a:r>
              <a:rPr lang="en-US" sz="2400" spc="-110" dirty="0">
                <a:latin typeface="Microsoft Sans Serif"/>
                <a:cs typeface="Microsoft Sans Serif"/>
              </a:rPr>
              <a:t> </a:t>
            </a:r>
            <a:r>
              <a:rPr lang="en-US" sz="2400" spc="30" dirty="0">
                <a:latin typeface="Microsoft Sans Serif"/>
                <a:cs typeface="Microsoft Sans Serif"/>
              </a:rPr>
              <a:t>be</a:t>
            </a:r>
            <a:r>
              <a:rPr lang="en-US" sz="2400" spc="15" dirty="0">
                <a:latin typeface="Microsoft Sans Serif"/>
                <a:cs typeface="Microsoft Sans Serif"/>
              </a:rPr>
              <a:t> 	</a:t>
            </a:r>
            <a:r>
              <a:rPr lang="en-US" sz="2400" spc="65" dirty="0">
                <a:latin typeface="Microsoft Sans Serif"/>
                <a:cs typeface="Microsoft Sans Serif"/>
              </a:rPr>
              <a:t>incomplete</a:t>
            </a:r>
            <a:r>
              <a:rPr lang="en-US" sz="2400" spc="-110" dirty="0">
                <a:latin typeface="Microsoft Sans Serif"/>
                <a:cs typeface="Microsoft Sans Serif"/>
              </a:rPr>
              <a:t> </a:t>
            </a:r>
            <a:r>
              <a:rPr lang="en-US" sz="2400" spc="-45" dirty="0">
                <a:latin typeface="Microsoft Sans Serif"/>
                <a:cs typeface="Microsoft Sans Serif"/>
              </a:rPr>
              <a:t>because</a:t>
            </a:r>
            <a:r>
              <a:rPr lang="en-US" sz="2400" spc="-114" dirty="0">
                <a:latin typeface="Microsoft Sans Serif"/>
                <a:cs typeface="Microsoft Sans Serif"/>
              </a:rPr>
              <a:t> </a:t>
            </a:r>
            <a:r>
              <a:rPr lang="en-US" sz="2400" spc="200" dirty="0">
                <a:latin typeface="Microsoft Sans Serif"/>
                <a:cs typeface="Microsoft Sans Serif"/>
              </a:rPr>
              <a:t>it</a:t>
            </a:r>
            <a:r>
              <a:rPr lang="en-US" sz="2400" spc="-95" dirty="0">
                <a:latin typeface="Microsoft Sans Serif"/>
                <a:cs typeface="Microsoft Sans Serif"/>
              </a:rPr>
              <a:t> </a:t>
            </a:r>
            <a:r>
              <a:rPr lang="en-US" sz="2400" spc="-65" dirty="0">
                <a:latin typeface="Microsoft Sans Serif"/>
                <a:cs typeface="Microsoft Sans Serif"/>
              </a:rPr>
              <a:t>can</a:t>
            </a:r>
            <a:r>
              <a:rPr lang="en-US" sz="2400" spc="-110" dirty="0">
                <a:latin typeface="Microsoft Sans Serif"/>
                <a:cs typeface="Microsoft Sans Serif"/>
              </a:rPr>
              <a:t> </a:t>
            </a:r>
            <a:r>
              <a:rPr lang="en-US" sz="2400" spc="120" dirty="0">
                <a:latin typeface="Microsoft Sans Serif"/>
                <a:cs typeface="Microsoft Sans Serif"/>
              </a:rPr>
              <a:t>get</a:t>
            </a:r>
            <a:r>
              <a:rPr lang="en-US" sz="2400" spc="-95" dirty="0">
                <a:latin typeface="Microsoft Sans Serif"/>
                <a:cs typeface="Microsoft Sans Serif"/>
              </a:rPr>
              <a:t> </a:t>
            </a:r>
            <a:r>
              <a:rPr lang="en-US" sz="2400" spc="35" dirty="0">
                <a:latin typeface="Microsoft Sans Serif"/>
                <a:cs typeface="Microsoft Sans Serif"/>
              </a:rPr>
              <a:t>stuck</a:t>
            </a:r>
            <a:r>
              <a:rPr lang="en-US" sz="2400" spc="-100" dirty="0">
                <a:latin typeface="Microsoft Sans Serif"/>
                <a:cs typeface="Microsoft Sans Serif"/>
              </a:rPr>
              <a:t> </a:t>
            </a:r>
            <a:r>
              <a:rPr lang="en-US" sz="2400" spc="50" dirty="0">
                <a:latin typeface="Microsoft Sans Serif"/>
                <a:cs typeface="Microsoft Sans Serif"/>
              </a:rPr>
              <a:t>on</a:t>
            </a:r>
            <a:r>
              <a:rPr lang="en-US" sz="2400" spc="-110" dirty="0">
                <a:latin typeface="Microsoft Sans Serif"/>
                <a:cs typeface="Microsoft Sans Serif"/>
              </a:rPr>
              <a:t> a</a:t>
            </a:r>
            <a:r>
              <a:rPr lang="en-US" sz="2400" spc="-100" dirty="0">
                <a:latin typeface="Microsoft Sans Serif"/>
                <a:cs typeface="Microsoft Sans Serif"/>
              </a:rPr>
              <a:t> </a:t>
            </a:r>
            <a:r>
              <a:rPr lang="en-US" sz="2400" spc="15" dirty="0">
                <a:latin typeface="Microsoft Sans Serif"/>
                <a:cs typeface="Microsoft Sans Serif"/>
              </a:rPr>
              <a:t>local</a:t>
            </a:r>
            <a:r>
              <a:rPr lang="en-US" sz="2400" spc="140" dirty="0">
                <a:latin typeface="Microsoft Sans Serif"/>
                <a:cs typeface="Microsoft Sans Serif"/>
              </a:rPr>
              <a:t> 	</a:t>
            </a:r>
            <a:r>
              <a:rPr lang="en-US" sz="2400" spc="15" dirty="0">
                <a:latin typeface="Microsoft Sans Serif"/>
                <a:cs typeface="Microsoft Sans Serif"/>
              </a:rPr>
              <a:t>maximum.</a:t>
            </a:r>
            <a:endParaRPr lang="en-US" sz="2400" dirty="0">
              <a:latin typeface="Microsoft Sans Serif"/>
              <a:cs typeface="Microsoft Sans Serif"/>
            </a:endParaRPr>
          </a:p>
          <a:p>
            <a:pPr marL="355600" marR="6096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lang="en-US" sz="2400" dirty="0">
                <a:latin typeface="Microsoft Sans Serif"/>
                <a:cs typeface="Microsoft Sans Serif"/>
              </a:rPr>
              <a:t>And</a:t>
            </a:r>
            <a:r>
              <a:rPr lang="en-US" sz="2400" spc="-25" dirty="0">
                <a:latin typeface="Microsoft Sans Serif"/>
                <a:cs typeface="Microsoft Sans Serif"/>
              </a:rPr>
              <a:t> </a:t>
            </a:r>
            <a:r>
              <a:rPr lang="en-US" sz="2400" spc="180" dirty="0">
                <a:latin typeface="Microsoft Sans Serif"/>
                <a:cs typeface="Microsoft Sans Serif"/>
              </a:rPr>
              <a:t>if</a:t>
            </a:r>
            <a:r>
              <a:rPr lang="en-US" sz="2400" spc="-35" dirty="0">
                <a:latin typeface="Microsoft Sans Serif"/>
                <a:cs typeface="Microsoft Sans Serif"/>
              </a:rPr>
              <a:t> </a:t>
            </a:r>
            <a:r>
              <a:rPr lang="en-US" sz="2400" spc="85" dirty="0">
                <a:latin typeface="Microsoft Sans Serif"/>
                <a:cs typeface="Microsoft Sans Serif"/>
              </a:rPr>
              <a:t>algorithm</a:t>
            </a:r>
            <a:r>
              <a:rPr lang="en-US" sz="2400" spc="-2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applies</a:t>
            </a:r>
            <a:r>
              <a:rPr lang="en-US" sz="2400" spc="-20" dirty="0">
                <a:latin typeface="Microsoft Sans Serif"/>
                <a:cs typeface="Microsoft Sans Serif"/>
              </a:rPr>
              <a:t> </a:t>
            </a:r>
            <a:r>
              <a:rPr lang="en-US" sz="2400" spc="-110" dirty="0">
                <a:latin typeface="Microsoft Sans Serif"/>
                <a:cs typeface="Microsoft Sans Serif"/>
              </a:rPr>
              <a:t>a</a:t>
            </a:r>
            <a:r>
              <a:rPr lang="en-US" sz="2400" spc="-2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random</a:t>
            </a:r>
            <a:r>
              <a:rPr lang="en-US" sz="2400" spc="-2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walk,</a:t>
            </a:r>
            <a:r>
              <a:rPr lang="en-US" sz="2400" spc="-25" dirty="0">
                <a:latin typeface="Microsoft Sans Serif"/>
                <a:cs typeface="Microsoft Sans Serif"/>
              </a:rPr>
              <a:t> by </a:t>
            </a:r>
            <a:r>
              <a:rPr lang="en-US" sz="2400" dirty="0">
                <a:latin typeface="Microsoft Sans Serif"/>
                <a:cs typeface="Microsoft Sans Serif"/>
              </a:rPr>
              <a:t>moving</a:t>
            </a:r>
            <a:r>
              <a:rPr lang="en-US" sz="2400" spc="-65" dirty="0">
                <a:latin typeface="Microsoft Sans Serif"/>
                <a:cs typeface="Microsoft Sans Serif"/>
              </a:rPr>
              <a:t> </a:t>
            </a:r>
            <a:r>
              <a:rPr lang="en-US" sz="2400" spc="-110" dirty="0">
                <a:latin typeface="Microsoft Sans Serif"/>
                <a:cs typeface="Microsoft Sans Serif"/>
              </a:rPr>
              <a:t>a</a:t>
            </a:r>
            <a:r>
              <a:rPr lang="en-US" sz="2400" spc="-70" dirty="0">
                <a:latin typeface="Microsoft Sans Serif"/>
                <a:cs typeface="Microsoft Sans Serif"/>
              </a:rPr>
              <a:t> </a:t>
            </a:r>
            <a:r>
              <a:rPr lang="en-US" sz="2400" spc="-50" dirty="0">
                <a:latin typeface="Microsoft Sans Serif"/>
                <a:cs typeface="Microsoft Sans Serif"/>
              </a:rPr>
              <a:t>successor,</a:t>
            </a:r>
            <a:r>
              <a:rPr lang="en-US" sz="2400" spc="-75" dirty="0">
                <a:latin typeface="Microsoft Sans Serif"/>
                <a:cs typeface="Microsoft Sans Serif"/>
              </a:rPr>
              <a:t> </a:t>
            </a:r>
            <a:r>
              <a:rPr lang="en-US" sz="2400" spc="100" dirty="0">
                <a:latin typeface="Microsoft Sans Serif"/>
                <a:cs typeface="Microsoft Sans Serif"/>
              </a:rPr>
              <a:t>then</a:t>
            </a:r>
            <a:r>
              <a:rPr lang="en-US" sz="2400" spc="-70" dirty="0">
                <a:latin typeface="Microsoft Sans Serif"/>
                <a:cs typeface="Microsoft Sans Serif"/>
              </a:rPr>
              <a:t> </a:t>
            </a:r>
            <a:r>
              <a:rPr lang="en-US" sz="2400" spc="200" dirty="0">
                <a:latin typeface="Microsoft Sans Serif"/>
                <a:cs typeface="Microsoft Sans Serif"/>
              </a:rPr>
              <a:t>it</a:t>
            </a:r>
            <a:r>
              <a:rPr lang="en-US" sz="2400" spc="-6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may</a:t>
            </a:r>
            <a:r>
              <a:rPr lang="en-US" sz="2400" spc="-65" dirty="0">
                <a:latin typeface="Microsoft Sans Serif"/>
                <a:cs typeface="Microsoft Sans Serif"/>
              </a:rPr>
              <a:t> </a:t>
            </a:r>
            <a:r>
              <a:rPr lang="en-US" sz="2400" spc="70" dirty="0">
                <a:latin typeface="Microsoft Sans Serif"/>
                <a:cs typeface="Microsoft Sans Serif"/>
              </a:rPr>
              <a:t>complete</a:t>
            </a:r>
            <a:r>
              <a:rPr lang="en-US" sz="2400" spc="-75" dirty="0">
                <a:latin typeface="Microsoft Sans Serif"/>
                <a:cs typeface="Microsoft Sans Serif"/>
              </a:rPr>
              <a:t> </a:t>
            </a:r>
            <a:r>
              <a:rPr lang="en-US" sz="2400" spc="120" dirty="0">
                <a:latin typeface="Microsoft Sans Serif"/>
                <a:cs typeface="Microsoft Sans Serif"/>
              </a:rPr>
              <a:t>but </a:t>
            </a:r>
            <a:r>
              <a:rPr lang="en-US" sz="2400" spc="150" dirty="0">
                <a:latin typeface="Microsoft Sans Serif"/>
                <a:cs typeface="Microsoft Sans Serif"/>
              </a:rPr>
              <a:t>not</a:t>
            </a:r>
            <a:r>
              <a:rPr lang="en-US" sz="2400" spc="-90" dirty="0">
                <a:latin typeface="Microsoft Sans Serif"/>
                <a:cs typeface="Microsoft Sans Serif"/>
              </a:rPr>
              <a:t> </a:t>
            </a:r>
            <a:r>
              <a:rPr lang="en-US" sz="2400" spc="80" dirty="0">
                <a:latin typeface="Microsoft Sans Serif"/>
                <a:cs typeface="Microsoft Sans Serif"/>
              </a:rPr>
              <a:t>efficient.</a:t>
            </a:r>
            <a:endParaRPr lang="en-US" sz="2400" dirty="0">
              <a:latin typeface="Microsoft Sans Serif"/>
              <a:cs typeface="Microsoft Sans Serif"/>
            </a:endParaRPr>
          </a:p>
          <a:p>
            <a:pPr marL="355600" marR="579755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lang="en-US" sz="2400" dirty="0">
                <a:latin typeface="Microsoft Sans Serif"/>
                <a:cs typeface="Microsoft Sans Serif"/>
              </a:rPr>
              <a:t>Simulated</a:t>
            </a:r>
            <a:r>
              <a:rPr lang="en-US" sz="2400" spc="-6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Annealing</a:t>
            </a:r>
            <a:r>
              <a:rPr lang="en-US" sz="2400" spc="-45" dirty="0">
                <a:latin typeface="Microsoft Sans Serif"/>
                <a:cs typeface="Microsoft Sans Serif"/>
              </a:rPr>
              <a:t> </a:t>
            </a:r>
            <a:r>
              <a:rPr lang="en-US" sz="2400" spc="-10" dirty="0">
                <a:latin typeface="Microsoft Sans Serif"/>
                <a:cs typeface="Microsoft Sans Serif"/>
              </a:rPr>
              <a:t>is</a:t>
            </a:r>
            <a:r>
              <a:rPr lang="en-US" sz="2400" spc="-4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an</a:t>
            </a:r>
            <a:r>
              <a:rPr lang="en-US" sz="2400" spc="-60" dirty="0">
                <a:latin typeface="Microsoft Sans Serif"/>
                <a:cs typeface="Microsoft Sans Serif"/>
              </a:rPr>
              <a:t> </a:t>
            </a:r>
            <a:r>
              <a:rPr lang="en-US" sz="2400" spc="80" dirty="0">
                <a:latin typeface="Microsoft Sans Serif"/>
                <a:cs typeface="Microsoft Sans Serif"/>
              </a:rPr>
              <a:t>algorithm</a:t>
            </a:r>
            <a:r>
              <a:rPr lang="en-US" sz="2400" spc="-45" dirty="0">
                <a:latin typeface="Microsoft Sans Serif"/>
                <a:cs typeface="Microsoft Sans Serif"/>
              </a:rPr>
              <a:t> </a:t>
            </a:r>
            <a:r>
              <a:rPr lang="en-US" sz="2400" spc="-10" dirty="0">
                <a:latin typeface="Microsoft Sans Serif"/>
                <a:cs typeface="Microsoft Sans Serif"/>
              </a:rPr>
              <a:t>which </a:t>
            </a:r>
            <a:r>
              <a:rPr lang="en-US" sz="2400" dirty="0">
                <a:latin typeface="Microsoft Sans Serif"/>
                <a:cs typeface="Microsoft Sans Serif"/>
              </a:rPr>
              <a:t>yields</a:t>
            </a:r>
            <a:r>
              <a:rPr lang="en-US" sz="2400" spc="-80" dirty="0">
                <a:latin typeface="Microsoft Sans Serif"/>
                <a:cs typeface="Microsoft Sans Serif"/>
              </a:rPr>
              <a:t> </a:t>
            </a:r>
            <a:r>
              <a:rPr lang="en-US" sz="2400" spc="125" dirty="0">
                <a:latin typeface="Microsoft Sans Serif"/>
                <a:cs typeface="Microsoft Sans Serif"/>
              </a:rPr>
              <a:t>both</a:t>
            </a:r>
            <a:r>
              <a:rPr lang="en-US" sz="2400" spc="-75" dirty="0">
                <a:latin typeface="Microsoft Sans Serif"/>
                <a:cs typeface="Microsoft Sans Serif"/>
              </a:rPr>
              <a:t> </a:t>
            </a:r>
            <a:r>
              <a:rPr lang="en-US" sz="2400" spc="55" dirty="0">
                <a:latin typeface="Microsoft Sans Serif"/>
                <a:cs typeface="Microsoft Sans Serif"/>
              </a:rPr>
              <a:t>efficiency</a:t>
            </a:r>
            <a:r>
              <a:rPr lang="en-US" sz="2400" spc="-7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and</a:t>
            </a:r>
            <a:r>
              <a:rPr lang="en-US" sz="2400" spc="-90" dirty="0">
                <a:latin typeface="Microsoft Sans Serif"/>
                <a:cs typeface="Microsoft Sans Serif"/>
              </a:rPr>
              <a:t> </a:t>
            </a:r>
            <a:r>
              <a:rPr lang="en-US" sz="2400" spc="-10" dirty="0">
                <a:latin typeface="Microsoft Sans Serif"/>
                <a:cs typeface="Microsoft Sans Serif"/>
              </a:rPr>
              <a:t>completeness.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236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0A31E-B84E-4985-AFCD-50F69AEA3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</a:t>
            </a:r>
            <a:r>
              <a:rPr lang="en-US" spc="195" dirty="0"/>
              <a:t> </a:t>
            </a:r>
            <a:r>
              <a:rPr lang="en-US" spc="-10" dirty="0"/>
              <a:t>Annealing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E9BDB-0A1B-49AE-A08F-76AE8A0C0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3215" marR="453390" indent="-311150" algn="just">
              <a:lnSpc>
                <a:spcPct val="996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23215" algn="l"/>
              </a:tabLst>
            </a:pPr>
            <a:r>
              <a:rPr lang="en-US" sz="2400" dirty="0">
                <a:latin typeface="Microsoft Sans Serif"/>
                <a:cs typeface="Microsoft Sans Serif"/>
              </a:rPr>
              <a:t>In</a:t>
            </a:r>
            <a:r>
              <a:rPr lang="en-US" sz="2400" spc="-8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mechanical</a:t>
            </a:r>
            <a:r>
              <a:rPr lang="en-US" sz="2400" spc="-85" dirty="0">
                <a:latin typeface="Microsoft Sans Serif"/>
                <a:cs typeface="Microsoft Sans Serif"/>
              </a:rPr>
              <a:t> </a:t>
            </a:r>
            <a:r>
              <a:rPr lang="en-US" sz="2400" spc="120" dirty="0">
                <a:latin typeface="Microsoft Sans Serif"/>
                <a:cs typeface="Microsoft Sans Serif"/>
              </a:rPr>
              <a:t>term</a:t>
            </a:r>
            <a:r>
              <a:rPr lang="en-US" sz="2400" spc="-8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Annealing</a:t>
            </a:r>
            <a:r>
              <a:rPr lang="en-US" sz="2400" spc="-80" dirty="0">
                <a:latin typeface="Microsoft Sans Serif"/>
                <a:cs typeface="Microsoft Sans Serif"/>
              </a:rPr>
              <a:t> </a:t>
            </a:r>
            <a:r>
              <a:rPr lang="en-US" sz="2400" spc="-10" dirty="0">
                <a:latin typeface="Microsoft Sans Serif"/>
                <a:cs typeface="Microsoft Sans Serif"/>
              </a:rPr>
              <a:t>is</a:t>
            </a:r>
            <a:r>
              <a:rPr lang="en-US" sz="2400" spc="-75" dirty="0">
                <a:latin typeface="Microsoft Sans Serif"/>
                <a:cs typeface="Microsoft Sans Serif"/>
              </a:rPr>
              <a:t> </a:t>
            </a:r>
            <a:r>
              <a:rPr lang="en-US" sz="2400" spc="-90" dirty="0">
                <a:latin typeface="Microsoft Sans Serif"/>
                <a:cs typeface="Microsoft Sans Serif"/>
              </a:rPr>
              <a:t>a</a:t>
            </a:r>
            <a:r>
              <a:rPr lang="en-US" sz="2400" spc="-75" dirty="0">
                <a:latin typeface="Microsoft Sans Serif"/>
                <a:cs typeface="Microsoft Sans Serif"/>
              </a:rPr>
              <a:t> </a:t>
            </a:r>
            <a:r>
              <a:rPr lang="en-US" sz="2400" spc="-10" dirty="0">
                <a:latin typeface="Microsoft Sans Serif"/>
                <a:cs typeface="Microsoft Sans Serif"/>
              </a:rPr>
              <a:t>process</a:t>
            </a:r>
            <a:r>
              <a:rPr lang="en-US" sz="2400" spc="-75" dirty="0">
                <a:latin typeface="Microsoft Sans Serif"/>
                <a:cs typeface="Microsoft Sans Serif"/>
              </a:rPr>
              <a:t> </a:t>
            </a:r>
            <a:r>
              <a:rPr lang="en-US" sz="2400" spc="145" dirty="0">
                <a:latin typeface="Microsoft Sans Serif"/>
                <a:cs typeface="Microsoft Sans Serif"/>
              </a:rPr>
              <a:t>of </a:t>
            </a:r>
            <a:r>
              <a:rPr lang="en-US" sz="2400" dirty="0">
                <a:latin typeface="Microsoft Sans Serif"/>
                <a:cs typeface="Microsoft Sans Serif"/>
              </a:rPr>
              <a:t>hardening</a:t>
            </a:r>
            <a:r>
              <a:rPr lang="en-US" sz="2400" spc="-35" dirty="0">
                <a:latin typeface="Microsoft Sans Serif"/>
                <a:cs typeface="Microsoft Sans Serif"/>
              </a:rPr>
              <a:t> </a:t>
            </a:r>
            <a:r>
              <a:rPr lang="en-US" sz="2400" spc="-90" dirty="0">
                <a:latin typeface="Microsoft Sans Serif"/>
                <a:cs typeface="Microsoft Sans Serif"/>
              </a:rPr>
              <a:t>a</a:t>
            </a:r>
            <a:r>
              <a:rPr lang="en-US" sz="2400" spc="-25" dirty="0">
                <a:latin typeface="Microsoft Sans Serif"/>
                <a:cs typeface="Microsoft Sans Serif"/>
              </a:rPr>
              <a:t> </a:t>
            </a:r>
            <a:r>
              <a:rPr lang="en-US" sz="2400" spc="75" dirty="0">
                <a:latin typeface="Microsoft Sans Serif"/>
                <a:cs typeface="Microsoft Sans Serif"/>
              </a:rPr>
              <a:t>metal</a:t>
            </a:r>
            <a:r>
              <a:rPr lang="en-US" sz="2400" spc="-30" dirty="0">
                <a:latin typeface="Microsoft Sans Serif"/>
                <a:cs typeface="Microsoft Sans Serif"/>
              </a:rPr>
              <a:t> </a:t>
            </a:r>
            <a:r>
              <a:rPr lang="en-US" sz="2400" spc="100" dirty="0">
                <a:latin typeface="Microsoft Sans Serif"/>
                <a:cs typeface="Microsoft Sans Serif"/>
              </a:rPr>
              <a:t>or</a:t>
            </a:r>
            <a:r>
              <a:rPr lang="en-US" sz="2400" spc="-35" dirty="0">
                <a:latin typeface="Microsoft Sans Serif"/>
                <a:cs typeface="Microsoft Sans Serif"/>
              </a:rPr>
              <a:t> glass</a:t>
            </a:r>
            <a:r>
              <a:rPr lang="en-US" sz="2400" spc="-40" dirty="0">
                <a:latin typeface="Microsoft Sans Serif"/>
                <a:cs typeface="Microsoft Sans Serif"/>
              </a:rPr>
              <a:t> </a:t>
            </a:r>
            <a:r>
              <a:rPr lang="en-US" sz="2400" spc="195" dirty="0">
                <a:latin typeface="Microsoft Sans Serif"/>
                <a:cs typeface="Microsoft Sans Serif"/>
              </a:rPr>
              <a:t>to</a:t>
            </a:r>
            <a:r>
              <a:rPr lang="en-US" sz="2400" spc="-40" dirty="0">
                <a:latin typeface="Microsoft Sans Serif"/>
                <a:cs typeface="Microsoft Sans Serif"/>
              </a:rPr>
              <a:t> </a:t>
            </a:r>
            <a:r>
              <a:rPr lang="en-US" sz="2400" spc="-90" dirty="0">
                <a:latin typeface="Microsoft Sans Serif"/>
                <a:cs typeface="Microsoft Sans Serif"/>
              </a:rPr>
              <a:t>a</a:t>
            </a:r>
            <a:r>
              <a:rPr lang="en-US" sz="2400" spc="-2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high</a:t>
            </a:r>
            <a:r>
              <a:rPr lang="en-US" sz="2400" spc="-30" dirty="0">
                <a:latin typeface="Microsoft Sans Serif"/>
                <a:cs typeface="Microsoft Sans Serif"/>
              </a:rPr>
              <a:t> </a:t>
            </a:r>
            <a:r>
              <a:rPr lang="en-US" sz="2400" spc="70" dirty="0">
                <a:latin typeface="Microsoft Sans Serif"/>
                <a:cs typeface="Microsoft Sans Serif"/>
              </a:rPr>
              <a:t>temperature </a:t>
            </a:r>
            <a:r>
              <a:rPr lang="en-US" sz="2400" spc="95" dirty="0">
                <a:latin typeface="Microsoft Sans Serif"/>
                <a:cs typeface="Microsoft Sans Serif"/>
              </a:rPr>
              <a:t>then</a:t>
            </a:r>
            <a:r>
              <a:rPr lang="en-US" sz="2400" spc="-1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cooling</a:t>
            </a:r>
            <a:r>
              <a:rPr lang="en-US" sz="2400" spc="-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gradually,</a:t>
            </a:r>
            <a:r>
              <a:rPr lang="en-US" sz="2400" spc="-1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so</a:t>
            </a:r>
            <a:r>
              <a:rPr lang="en-US" sz="2400" spc="-10" dirty="0">
                <a:latin typeface="Microsoft Sans Serif"/>
                <a:cs typeface="Microsoft Sans Serif"/>
              </a:rPr>
              <a:t> </a:t>
            </a:r>
            <a:r>
              <a:rPr lang="en-US" sz="2400" spc="60" dirty="0">
                <a:latin typeface="Microsoft Sans Serif"/>
                <a:cs typeface="Microsoft Sans Serif"/>
              </a:rPr>
              <a:t>this</a:t>
            </a:r>
            <a:r>
              <a:rPr lang="en-US" sz="2400" spc="-1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allows</a:t>
            </a:r>
            <a:r>
              <a:rPr lang="en-US" sz="2400" spc="-5" dirty="0">
                <a:latin typeface="Microsoft Sans Serif"/>
                <a:cs typeface="Microsoft Sans Serif"/>
              </a:rPr>
              <a:t> </a:t>
            </a:r>
            <a:r>
              <a:rPr lang="en-US" sz="2400" spc="105" dirty="0">
                <a:latin typeface="Microsoft Sans Serif"/>
                <a:cs typeface="Microsoft Sans Serif"/>
              </a:rPr>
              <a:t>the</a:t>
            </a:r>
            <a:r>
              <a:rPr lang="en-US" sz="2400" spc="-5" dirty="0">
                <a:latin typeface="Microsoft Sans Serif"/>
                <a:cs typeface="Microsoft Sans Serif"/>
              </a:rPr>
              <a:t> </a:t>
            </a:r>
            <a:r>
              <a:rPr lang="en-US" sz="2400" spc="70" dirty="0">
                <a:latin typeface="Microsoft Sans Serif"/>
                <a:cs typeface="Microsoft Sans Serif"/>
              </a:rPr>
              <a:t>metal</a:t>
            </a:r>
            <a:r>
              <a:rPr lang="en-US" sz="2400" spc="-15" dirty="0">
                <a:latin typeface="Microsoft Sans Serif"/>
                <a:cs typeface="Microsoft Sans Serif"/>
              </a:rPr>
              <a:t> </a:t>
            </a:r>
            <a:r>
              <a:rPr lang="en-US" sz="2400" spc="170" dirty="0">
                <a:latin typeface="Microsoft Sans Serif"/>
                <a:cs typeface="Microsoft Sans Serif"/>
              </a:rPr>
              <a:t>to </a:t>
            </a:r>
            <a:r>
              <a:rPr lang="en-US" sz="2400" dirty="0">
                <a:latin typeface="Microsoft Sans Serif"/>
                <a:cs typeface="Microsoft Sans Serif"/>
              </a:rPr>
              <a:t>reach</a:t>
            </a:r>
            <a:r>
              <a:rPr lang="en-US" sz="2400" spc="90" dirty="0">
                <a:latin typeface="Microsoft Sans Serif"/>
                <a:cs typeface="Microsoft Sans Serif"/>
              </a:rPr>
              <a:t> </a:t>
            </a:r>
            <a:r>
              <a:rPr lang="en-US" sz="2400" spc="-90" dirty="0">
                <a:latin typeface="Microsoft Sans Serif"/>
                <a:cs typeface="Microsoft Sans Serif"/>
              </a:rPr>
              <a:t>a</a:t>
            </a:r>
            <a:r>
              <a:rPr lang="en-US" sz="2400" spc="9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low-energy</a:t>
            </a:r>
            <a:r>
              <a:rPr lang="en-US" sz="2400" spc="8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crystalline</a:t>
            </a:r>
            <a:r>
              <a:rPr lang="en-US" sz="2400" spc="95" dirty="0">
                <a:latin typeface="Microsoft Sans Serif"/>
                <a:cs typeface="Microsoft Sans Serif"/>
              </a:rPr>
              <a:t> </a:t>
            </a:r>
            <a:r>
              <a:rPr lang="en-US" sz="2400" spc="-10" dirty="0">
                <a:latin typeface="Microsoft Sans Serif"/>
                <a:cs typeface="Microsoft Sans Serif"/>
              </a:rPr>
              <a:t>state.</a:t>
            </a:r>
            <a:endParaRPr lang="en-US" sz="2400" dirty="0">
              <a:latin typeface="Microsoft Sans Serif"/>
              <a:cs typeface="Microsoft Sans Serif"/>
            </a:endParaRPr>
          </a:p>
          <a:p>
            <a:pPr marL="323215" marR="5080" indent="-311150" algn="just">
              <a:lnSpc>
                <a:spcPct val="100000"/>
              </a:lnSpc>
              <a:spcBef>
                <a:spcPts val="710"/>
              </a:spcBef>
              <a:buClr>
                <a:srgbClr val="6697CC"/>
              </a:buClr>
              <a:buFont typeface="Arial MT"/>
              <a:buChar char="•"/>
              <a:tabLst>
                <a:tab pos="323215" algn="l"/>
              </a:tabLst>
            </a:pPr>
            <a:r>
              <a:rPr lang="en-US" sz="2400" spc="-10" dirty="0">
                <a:latin typeface="Microsoft Sans Serif"/>
                <a:cs typeface="Microsoft Sans Serif"/>
              </a:rPr>
              <a:t>The</a:t>
            </a:r>
            <a:r>
              <a:rPr lang="en-US" sz="2400" spc="-40" dirty="0">
                <a:latin typeface="Microsoft Sans Serif"/>
                <a:cs typeface="Microsoft Sans Serif"/>
              </a:rPr>
              <a:t> </a:t>
            </a:r>
            <a:r>
              <a:rPr lang="en-US" sz="2400" spc="-35" dirty="0">
                <a:latin typeface="Microsoft Sans Serif"/>
                <a:cs typeface="Microsoft Sans Serif"/>
              </a:rPr>
              <a:t>same </a:t>
            </a:r>
            <a:r>
              <a:rPr lang="en-US" sz="2400" spc="-10" dirty="0">
                <a:latin typeface="Microsoft Sans Serif"/>
                <a:cs typeface="Microsoft Sans Serif"/>
              </a:rPr>
              <a:t>process</a:t>
            </a:r>
            <a:r>
              <a:rPr lang="en-US" sz="2400" spc="-35" dirty="0">
                <a:latin typeface="Microsoft Sans Serif"/>
                <a:cs typeface="Microsoft Sans Serif"/>
              </a:rPr>
              <a:t> </a:t>
            </a:r>
            <a:r>
              <a:rPr lang="en-US" sz="2400" spc="-20" dirty="0">
                <a:latin typeface="Microsoft Sans Serif"/>
                <a:cs typeface="Microsoft Sans Serif"/>
              </a:rPr>
              <a:t>is</a:t>
            </a:r>
            <a:r>
              <a:rPr lang="en-US" sz="2400" spc="-3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used</a:t>
            </a:r>
            <a:r>
              <a:rPr lang="en-US" sz="2400" spc="-4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in</a:t>
            </a:r>
            <a:r>
              <a:rPr lang="en-US" sz="2400" spc="-4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simulated</a:t>
            </a:r>
            <a:r>
              <a:rPr lang="en-US" sz="2400" spc="-4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annealing</a:t>
            </a:r>
            <a:r>
              <a:rPr lang="en-US" sz="2400" spc="-45" dirty="0">
                <a:latin typeface="Microsoft Sans Serif"/>
                <a:cs typeface="Microsoft Sans Serif"/>
              </a:rPr>
              <a:t> </a:t>
            </a:r>
            <a:r>
              <a:rPr lang="en-US" sz="2400" spc="-25" dirty="0">
                <a:latin typeface="Microsoft Sans Serif"/>
                <a:cs typeface="Microsoft Sans Serif"/>
              </a:rPr>
              <a:t>in </a:t>
            </a:r>
            <a:r>
              <a:rPr lang="en-US" sz="2400" dirty="0">
                <a:latin typeface="Microsoft Sans Serif"/>
                <a:cs typeface="Microsoft Sans Serif"/>
              </a:rPr>
              <a:t>which</a:t>
            </a:r>
            <a:r>
              <a:rPr lang="en-US" sz="2400" spc="-15" dirty="0">
                <a:latin typeface="Microsoft Sans Serif"/>
                <a:cs typeface="Microsoft Sans Serif"/>
              </a:rPr>
              <a:t> </a:t>
            </a:r>
            <a:r>
              <a:rPr lang="en-US" sz="2400" spc="105" dirty="0">
                <a:latin typeface="Microsoft Sans Serif"/>
                <a:cs typeface="Microsoft Sans Serif"/>
              </a:rPr>
              <a:t>the</a:t>
            </a:r>
            <a:r>
              <a:rPr lang="en-US" sz="2400" dirty="0">
                <a:latin typeface="Microsoft Sans Serif"/>
                <a:cs typeface="Microsoft Sans Serif"/>
              </a:rPr>
              <a:t> </a:t>
            </a:r>
            <a:r>
              <a:rPr lang="en-US" sz="2400" spc="75" dirty="0">
                <a:latin typeface="Microsoft Sans Serif"/>
                <a:cs typeface="Microsoft Sans Serif"/>
              </a:rPr>
              <a:t>algorithm</a:t>
            </a:r>
            <a:r>
              <a:rPr lang="en-US" sz="2400" spc="-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picks</a:t>
            </a:r>
            <a:r>
              <a:rPr lang="en-US" sz="2400" spc="5" dirty="0">
                <a:latin typeface="Microsoft Sans Serif"/>
                <a:cs typeface="Microsoft Sans Serif"/>
              </a:rPr>
              <a:t> </a:t>
            </a:r>
            <a:r>
              <a:rPr lang="en-US" sz="2400" spc="-90" dirty="0">
                <a:latin typeface="Microsoft Sans Serif"/>
                <a:cs typeface="Microsoft Sans Serif"/>
              </a:rPr>
              <a:t>a</a:t>
            </a:r>
            <a:r>
              <a:rPr lang="en-US" sz="2400" dirty="0">
                <a:latin typeface="Microsoft Sans Serif"/>
                <a:cs typeface="Microsoft Sans Serif"/>
              </a:rPr>
              <a:t> random</a:t>
            </a:r>
            <a:r>
              <a:rPr lang="en-US" sz="2400" spc="-1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move,</a:t>
            </a:r>
            <a:r>
              <a:rPr lang="en-US" sz="2400" spc="-1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instead</a:t>
            </a:r>
            <a:r>
              <a:rPr lang="en-US" sz="2400" spc="-5" dirty="0">
                <a:latin typeface="Microsoft Sans Serif"/>
                <a:cs typeface="Microsoft Sans Serif"/>
              </a:rPr>
              <a:t> </a:t>
            </a:r>
            <a:r>
              <a:rPr lang="en-US" sz="2400" spc="145" dirty="0">
                <a:latin typeface="Microsoft Sans Serif"/>
                <a:cs typeface="Microsoft Sans Serif"/>
              </a:rPr>
              <a:t>of </a:t>
            </a:r>
            <a:r>
              <a:rPr lang="en-US" sz="2400" dirty="0">
                <a:latin typeface="Microsoft Sans Serif"/>
                <a:cs typeface="Microsoft Sans Serif"/>
              </a:rPr>
              <a:t>picking</a:t>
            </a:r>
            <a:r>
              <a:rPr lang="en-US" sz="2400" spc="-5" dirty="0">
                <a:latin typeface="Microsoft Sans Serif"/>
                <a:cs typeface="Microsoft Sans Serif"/>
              </a:rPr>
              <a:t> </a:t>
            </a:r>
            <a:r>
              <a:rPr lang="en-US" sz="2400" spc="105" dirty="0">
                <a:latin typeface="Microsoft Sans Serif"/>
                <a:cs typeface="Microsoft Sans Serif"/>
              </a:rPr>
              <a:t>the</a:t>
            </a:r>
            <a:r>
              <a:rPr lang="en-US" sz="2400" dirty="0">
                <a:latin typeface="Microsoft Sans Serif"/>
                <a:cs typeface="Microsoft Sans Serif"/>
              </a:rPr>
              <a:t> </a:t>
            </a:r>
            <a:r>
              <a:rPr lang="en-US" sz="2400" spc="55" dirty="0">
                <a:latin typeface="Microsoft Sans Serif"/>
                <a:cs typeface="Microsoft Sans Serif"/>
              </a:rPr>
              <a:t>best</a:t>
            </a:r>
            <a:r>
              <a:rPr lang="en-US" sz="2400" dirty="0">
                <a:latin typeface="Microsoft Sans Serif"/>
                <a:cs typeface="Microsoft Sans Serif"/>
              </a:rPr>
              <a:t> </a:t>
            </a:r>
            <a:r>
              <a:rPr lang="en-US" sz="2400" spc="-10" dirty="0">
                <a:latin typeface="Microsoft Sans Serif"/>
                <a:cs typeface="Microsoft Sans Serif"/>
              </a:rPr>
              <a:t>move.</a:t>
            </a:r>
            <a:endParaRPr lang="en-US" sz="2400" dirty="0">
              <a:latin typeface="Microsoft Sans Serif"/>
              <a:cs typeface="Microsoft Sans Serif"/>
            </a:endParaRPr>
          </a:p>
          <a:p>
            <a:pPr marL="323215" marR="139700" indent="-311150" algn="just">
              <a:lnSpc>
                <a:spcPct val="100000"/>
              </a:lnSpc>
              <a:spcBef>
                <a:spcPts val="705"/>
              </a:spcBef>
              <a:buClr>
                <a:srgbClr val="6697CC"/>
              </a:buClr>
              <a:buFont typeface="Arial MT"/>
              <a:buChar char="•"/>
              <a:tabLst>
                <a:tab pos="323215" algn="l"/>
              </a:tabLst>
            </a:pPr>
            <a:r>
              <a:rPr lang="en-US" sz="2400" spc="120" dirty="0">
                <a:latin typeface="Microsoft Sans Serif"/>
                <a:cs typeface="Microsoft Sans Serif"/>
              </a:rPr>
              <a:t>If</a:t>
            </a:r>
            <a:r>
              <a:rPr lang="en-US" sz="2400" spc="20" dirty="0">
                <a:latin typeface="Microsoft Sans Serif"/>
                <a:cs typeface="Microsoft Sans Serif"/>
              </a:rPr>
              <a:t> </a:t>
            </a:r>
            <a:r>
              <a:rPr lang="en-US" sz="2400" spc="105" dirty="0">
                <a:latin typeface="Microsoft Sans Serif"/>
                <a:cs typeface="Microsoft Sans Serif"/>
              </a:rPr>
              <a:t>the</a:t>
            </a:r>
            <a:r>
              <a:rPr lang="en-US" sz="2400" spc="2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random</a:t>
            </a:r>
            <a:r>
              <a:rPr lang="en-US" sz="2400" spc="1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move</a:t>
            </a:r>
            <a:r>
              <a:rPr lang="en-US" sz="2400" spc="3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improves</a:t>
            </a:r>
            <a:r>
              <a:rPr lang="en-US" sz="2400" spc="25" dirty="0">
                <a:latin typeface="Microsoft Sans Serif"/>
                <a:cs typeface="Microsoft Sans Serif"/>
              </a:rPr>
              <a:t> </a:t>
            </a:r>
            <a:r>
              <a:rPr lang="en-US" sz="2400" spc="110" dirty="0">
                <a:latin typeface="Microsoft Sans Serif"/>
                <a:cs typeface="Microsoft Sans Serif"/>
              </a:rPr>
              <a:t>the</a:t>
            </a:r>
            <a:r>
              <a:rPr lang="en-US" sz="2400" spc="2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state,</a:t>
            </a:r>
            <a:r>
              <a:rPr lang="en-US" sz="2400" spc="15" dirty="0">
                <a:latin typeface="Microsoft Sans Serif"/>
                <a:cs typeface="Microsoft Sans Serif"/>
              </a:rPr>
              <a:t> </a:t>
            </a:r>
            <a:r>
              <a:rPr lang="en-US" sz="2400" spc="90" dirty="0">
                <a:latin typeface="Microsoft Sans Serif"/>
                <a:cs typeface="Microsoft Sans Serif"/>
              </a:rPr>
              <a:t>then</a:t>
            </a:r>
            <a:r>
              <a:rPr lang="en-US" sz="2400" spc="25" dirty="0">
                <a:latin typeface="Microsoft Sans Serif"/>
                <a:cs typeface="Microsoft Sans Serif"/>
              </a:rPr>
              <a:t> </a:t>
            </a:r>
            <a:r>
              <a:rPr lang="en-US" sz="2400" spc="145" dirty="0">
                <a:latin typeface="Microsoft Sans Serif"/>
                <a:cs typeface="Microsoft Sans Serif"/>
              </a:rPr>
              <a:t>it </a:t>
            </a:r>
            <a:r>
              <a:rPr lang="en-US" sz="2400" spc="85" dirty="0">
                <a:latin typeface="Microsoft Sans Serif"/>
                <a:cs typeface="Microsoft Sans Serif"/>
              </a:rPr>
              <a:t>follows</a:t>
            </a:r>
            <a:r>
              <a:rPr lang="en-US" sz="2400" spc="15" dirty="0">
                <a:latin typeface="Microsoft Sans Serif"/>
                <a:cs typeface="Microsoft Sans Serif"/>
              </a:rPr>
              <a:t> </a:t>
            </a:r>
            <a:r>
              <a:rPr lang="en-US" sz="2400" spc="105" dirty="0">
                <a:latin typeface="Microsoft Sans Serif"/>
                <a:cs typeface="Microsoft Sans Serif"/>
              </a:rPr>
              <a:t>the</a:t>
            </a:r>
            <a:r>
              <a:rPr lang="en-US" sz="2400" spc="15" dirty="0">
                <a:latin typeface="Microsoft Sans Serif"/>
                <a:cs typeface="Microsoft Sans Serif"/>
              </a:rPr>
              <a:t> </a:t>
            </a:r>
            <a:r>
              <a:rPr lang="en-US" sz="2400" spc="-45" dirty="0">
                <a:latin typeface="Microsoft Sans Serif"/>
                <a:cs typeface="Microsoft Sans Serif"/>
              </a:rPr>
              <a:t>same</a:t>
            </a:r>
            <a:r>
              <a:rPr lang="en-US" sz="2400" spc="1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path.</a:t>
            </a:r>
            <a:r>
              <a:rPr lang="en-US" sz="2400" spc="15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Otherwise, </a:t>
            </a:r>
            <a:r>
              <a:rPr lang="en-US" sz="2400" spc="105" dirty="0">
                <a:latin typeface="Microsoft Sans Serif"/>
                <a:cs typeface="Microsoft Sans Serif"/>
              </a:rPr>
              <a:t>the</a:t>
            </a:r>
            <a:r>
              <a:rPr lang="en-US" sz="2400" spc="15" dirty="0">
                <a:latin typeface="Microsoft Sans Serif"/>
                <a:cs typeface="Microsoft Sans Serif"/>
              </a:rPr>
              <a:t> </a:t>
            </a:r>
            <a:r>
              <a:rPr lang="en-US" sz="2400" spc="65" dirty="0">
                <a:latin typeface="Microsoft Sans Serif"/>
                <a:cs typeface="Microsoft Sans Serif"/>
              </a:rPr>
              <a:t>algorithm </a:t>
            </a:r>
            <a:r>
              <a:rPr lang="en-US" sz="2400" spc="85" dirty="0">
                <a:latin typeface="Microsoft Sans Serif"/>
                <a:cs typeface="Microsoft Sans Serif"/>
              </a:rPr>
              <a:t>follows</a:t>
            </a:r>
            <a:r>
              <a:rPr lang="en-US" sz="2400" spc="-65" dirty="0">
                <a:latin typeface="Microsoft Sans Serif"/>
                <a:cs typeface="Microsoft Sans Serif"/>
              </a:rPr>
              <a:t> </a:t>
            </a:r>
            <a:r>
              <a:rPr lang="en-US" sz="2400" spc="105" dirty="0">
                <a:latin typeface="Microsoft Sans Serif"/>
                <a:cs typeface="Microsoft Sans Serif"/>
              </a:rPr>
              <a:t>the</a:t>
            </a:r>
            <a:r>
              <a:rPr lang="en-US" sz="2400" spc="-65" dirty="0">
                <a:latin typeface="Microsoft Sans Serif"/>
                <a:cs typeface="Microsoft Sans Serif"/>
              </a:rPr>
              <a:t> </a:t>
            </a:r>
            <a:r>
              <a:rPr lang="en-US" sz="2400" spc="80" dirty="0">
                <a:latin typeface="Microsoft Sans Serif"/>
                <a:cs typeface="Microsoft Sans Serif"/>
              </a:rPr>
              <a:t>path</a:t>
            </a:r>
            <a:r>
              <a:rPr lang="en-US" sz="2400" spc="-7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which</a:t>
            </a:r>
            <a:r>
              <a:rPr lang="en-US" sz="2400" spc="-70" dirty="0">
                <a:latin typeface="Microsoft Sans Serif"/>
                <a:cs typeface="Microsoft Sans Serif"/>
              </a:rPr>
              <a:t> </a:t>
            </a:r>
            <a:r>
              <a:rPr lang="en-US" sz="2400" spc="-75" dirty="0">
                <a:latin typeface="Microsoft Sans Serif"/>
                <a:cs typeface="Microsoft Sans Serif"/>
              </a:rPr>
              <a:t>has</a:t>
            </a:r>
            <a:r>
              <a:rPr lang="en-US" sz="2400" spc="-65" dirty="0">
                <a:latin typeface="Microsoft Sans Serif"/>
                <a:cs typeface="Microsoft Sans Serif"/>
              </a:rPr>
              <a:t> </a:t>
            </a:r>
            <a:r>
              <a:rPr lang="en-US" sz="2400" spc="-90" dirty="0">
                <a:latin typeface="Microsoft Sans Serif"/>
                <a:cs typeface="Microsoft Sans Serif"/>
              </a:rPr>
              <a:t>a</a:t>
            </a:r>
            <a:r>
              <a:rPr lang="en-US" sz="2400" spc="-65" dirty="0">
                <a:latin typeface="Microsoft Sans Serif"/>
                <a:cs typeface="Microsoft Sans Serif"/>
              </a:rPr>
              <a:t> </a:t>
            </a:r>
            <a:r>
              <a:rPr lang="en-US" sz="2400" spc="75" dirty="0">
                <a:latin typeface="Microsoft Sans Serif"/>
                <a:cs typeface="Microsoft Sans Serif"/>
              </a:rPr>
              <a:t>probability</a:t>
            </a:r>
            <a:r>
              <a:rPr lang="en-US" sz="2400" spc="-75" dirty="0">
                <a:latin typeface="Microsoft Sans Serif"/>
                <a:cs typeface="Microsoft Sans Serif"/>
              </a:rPr>
              <a:t> </a:t>
            </a:r>
            <a:r>
              <a:rPr lang="en-US" sz="2400" spc="165" dirty="0">
                <a:latin typeface="Microsoft Sans Serif"/>
                <a:cs typeface="Microsoft Sans Serif"/>
              </a:rPr>
              <a:t>of</a:t>
            </a:r>
            <a:r>
              <a:rPr lang="en-US" sz="2400" spc="-65" dirty="0">
                <a:latin typeface="Microsoft Sans Serif"/>
                <a:cs typeface="Microsoft Sans Serif"/>
              </a:rPr>
              <a:t> </a:t>
            </a:r>
            <a:r>
              <a:rPr lang="en-US" sz="2400" spc="-45" dirty="0">
                <a:latin typeface="Microsoft Sans Serif"/>
                <a:cs typeface="Microsoft Sans Serif"/>
              </a:rPr>
              <a:t>less</a:t>
            </a:r>
            <a:r>
              <a:rPr lang="en-US" sz="2400" spc="-65" dirty="0">
                <a:latin typeface="Microsoft Sans Serif"/>
                <a:cs typeface="Microsoft Sans Serif"/>
              </a:rPr>
              <a:t> </a:t>
            </a:r>
            <a:r>
              <a:rPr lang="en-US" sz="2400" spc="45" dirty="0">
                <a:latin typeface="Microsoft Sans Serif"/>
                <a:cs typeface="Microsoft Sans Serif"/>
              </a:rPr>
              <a:t>than </a:t>
            </a:r>
            <a:r>
              <a:rPr lang="en-US" sz="2400" dirty="0">
                <a:latin typeface="Microsoft Sans Serif"/>
                <a:cs typeface="Microsoft Sans Serif"/>
              </a:rPr>
              <a:t>1</a:t>
            </a:r>
            <a:r>
              <a:rPr lang="en-US" sz="2400" spc="-90" dirty="0">
                <a:latin typeface="Microsoft Sans Serif"/>
                <a:cs typeface="Microsoft Sans Serif"/>
              </a:rPr>
              <a:t> </a:t>
            </a:r>
            <a:r>
              <a:rPr lang="en-US" sz="2400" spc="100" dirty="0">
                <a:latin typeface="Microsoft Sans Serif"/>
                <a:cs typeface="Microsoft Sans Serif"/>
              </a:rPr>
              <a:t>or</a:t>
            </a:r>
            <a:r>
              <a:rPr lang="en-US" sz="2400" spc="-95" dirty="0">
                <a:latin typeface="Microsoft Sans Serif"/>
                <a:cs typeface="Microsoft Sans Serif"/>
              </a:rPr>
              <a:t> </a:t>
            </a:r>
            <a:r>
              <a:rPr lang="en-US" sz="2400" spc="175" dirty="0">
                <a:latin typeface="Microsoft Sans Serif"/>
                <a:cs typeface="Microsoft Sans Serif"/>
              </a:rPr>
              <a:t>it</a:t>
            </a:r>
            <a:r>
              <a:rPr lang="en-US" sz="2400" spc="-9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moves</a:t>
            </a:r>
            <a:r>
              <a:rPr lang="en-US" sz="2400" spc="-100" dirty="0">
                <a:latin typeface="Microsoft Sans Serif"/>
                <a:cs typeface="Microsoft Sans Serif"/>
              </a:rPr>
              <a:t> </a:t>
            </a:r>
            <a:r>
              <a:rPr lang="en-US" sz="2400" spc="75" dirty="0">
                <a:latin typeface="Microsoft Sans Serif"/>
                <a:cs typeface="Microsoft Sans Serif"/>
              </a:rPr>
              <a:t>downhill</a:t>
            </a:r>
            <a:r>
              <a:rPr lang="en-US" sz="2400" spc="-90" dirty="0">
                <a:latin typeface="Microsoft Sans Serif"/>
                <a:cs typeface="Microsoft Sans Serif"/>
              </a:rPr>
              <a:t> </a:t>
            </a:r>
            <a:r>
              <a:rPr lang="en-US" sz="2400" dirty="0">
                <a:latin typeface="Microsoft Sans Serif"/>
                <a:cs typeface="Microsoft Sans Serif"/>
              </a:rPr>
              <a:t>and</a:t>
            </a:r>
            <a:r>
              <a:rPr lang="en-US" sz="2400" spc="-90" dirty="0">
                <a:latin typeface="Microsoft Sans Serif"/>
                <a:cs typeface="Microsoft Sans Serif"/>
              </a:rPr>
              <a:t> </a:t>
            </a:r>
            <a:r>
              <a:rPr lang="en-US" sz="2400" spc="-20" dirty="0">
                <a:latin typeface="Microsoft Sans Serif"/>
                <a:cs typeface="Microsoft Sans Serif"/>
              </a:rPr>
              <a:t>chooses</a:t>
            </a:r>
            <a:r>
              <a:rPr lang="en-US" sz="2400" spc="-90" dirty="0">
                <a:latin typeface="Microsoft Sans Serif"/>
                <a:cs typeface="Microsoft Sans Serif"/>
              </a:rPr>
              <a:t> </a:t>
            </a:r>
            <a:r>
              <a:rPr lang="en-US" sz="2400" spc="65" dirty="0">
                <a:latin typeface="Microsoft Sans Serif"/>
                <a:cs typeface="Microsoft Sans Serif"/>
              </a:rPr>
              <a:t>another</a:t>
            </a:r>
            <a:r>
              <a:rPr lang="en-US" sz="2400" spc="-85" dirty="0">
                <a:latin typeface="Microsoft Sans Serif"/>
                <a:cs typeface="Microsoft Sans Serif"/>
              </a:rPr>
              <a:t> </a:t>
            </a:r>
            <a:r>
              <a:rPr lang="en-US" sz="2400" spc="-10" dirty="0">
                <a:latin typeface="Microsoft Sans Serif"/>
                <a:cs typeface="Microsoft Sans Serif"/>
              </a:rPr>
              <a:t>path.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746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63D88-BCE9-4A83-858C-5E3452CD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Simulated Annealing does differently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D0B48-C7AF-4083-BB39-0414C1D07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Simulated Annealing </a:t>
            </a:r>
            <a:r>
              <a:rPr lang="en-US" b="1" dirty="0"/>
              <a:t>sometimes accepts worse solutions</a:t>
            </a:r>
            <a:r>
              <a:rPr lang="en-US" dirty="0"/>
              <a:t>, especially at the beginning.</a:t>
            </a:r>
          </a:p>
          <a:p>
            <a:pPr marL="0" indent="0">
              <a:buNone/>
            </a:pPr>
            <a:r>
              <a:rPr lang="en-US" dirty="0"/>
              <a:t>It uses a </a:t>
            </a:r>
            <a:r>
              <a:rPr lang="en-US" b="1" dirty="0"/>
              <a:t>probability rule</a:t>
            </a:r>
            <a:r>
              <a:rPr lang="en-US" dirty="0"/>
              <a:t>:</a:t>
            </a:r>
          </a:p>
          <a:p>
            <a:pPr marL="1371600" lvl="4" indent="0">
              <a:buNone/>
            </a:pPr>
            <a:r>
              <a:rPr lang="en-US" sz="2000" dirty="0"/>
              <a:t>P=</a:t>
            </a:r>
            <a:r>
              <a:rPr lang="en-US" sz="1600" dirty="0"/>
              <a:t>e</a:t>
            </a:r>
            <a:r>
              <a:rPr lang="en-US" sz="1800" dirty="0"/>
              <a:t>−</a:t>
            </a:r>
            <a:r>
              <a:rPr lang="el-GR" sz="1800" dirty="0"/>
              <a:t>Δ</a:t>
            </a:r>
            <a:r>
              <a:rPr lang="en-US" sz="1800" dirty="0"/>
              <a:t>E/T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l-GR" dirty="0"/>
              <a:t>Δ</a:t>
            </a:r>
            <a:r>
              <a:rPr lang="en-US" dirty="0"/>
              <a:t>E = increase in cost (worse solution)</a:t>
            </a:r>
          </a:p>
          <a:p>
            <a:pPr marL="0" indent="0">
              <a:buNone/>
            </a:pPr>
            <a:r>
              <a:rPr lang="en-US" dirty="0"/>
              <a:t>T = temperature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444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Simulated</a:t>
            </a:r>
            <a:r>
              <a:rPr spc="-195" dirty="0"/>
              <a:t> </a:t>
            </a:r>
            <a:r>
              <a:rPr dirty="0"/>
              <a:t>Annealing</a:t>
            </a:r>
            <a:r>
              <a:rPr spc="-120" dirty="0"/>
              <a:t> </a:t>
            </a:r>
            <a:r>
              <a:rPr spc="-10" dirty="0"/>
              <a:t>Search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04148" y="3666235"/>
            <a:ext cx="8091805" cy="14947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80"/>
              </a:spcBef>
            </a:pPr>
            <a:r>
              <a:rPr sz="2400" spc="-125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avoid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being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stuck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in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local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maxima,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it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tries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randomly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(using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u="heavy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Arial MT"/>
                <a:cs typeface="Arial MT"/>
              </a:rPr>
              <a:t>probability</a:t>
            </a:r>
            <a:r>
              <a:rPr sz="2400" u="heavy" spc="-50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Arial MT"/>
                <a:cs typeface="Arial MT"/>
              </a:rPr>
              <a:t>function)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move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another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state,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if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90"/>
                </a:solidFill>
                <a:latin typeface="Arial MT"/>
                <a:cs typeface="Arial MT"/>
              </a:rPr>
              <a:t>this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new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state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better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it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moves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into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it,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otherwise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try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another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move…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so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on.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7711" y="1380744"/>
            <a:ext cx="4553712" cy="193547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Simulated</a:t>
            </a:r>
            <a:r>
              <a:rPr spc="-195" dirty="0"/>
              <a:t> </a:t>
            </a:r>
            <a:r>
              <a:rPr dirty="0"/>
              <a:t>Annealing</a:t>
            </a:r>
            <a:r>
              <a:rPr spc="-120" dirty="0"/>
              <a:t> </a:t>
            </a:r>
            <a:r>
              <a:rPr spc="-10" dirty="0"/>
              <a:t>Search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46284" y="3663188"/>
            <a:ext cx="8007984" cy="234076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spc="-30" dirty="0">
                <a:solidFill>
                  <a:srgbClr val="000090"/>
                </a:solidFill>
                <a:latin typeface="Arial MT"/>
                <a:cs typeface="Arial MT"/>
              </a:rPr>
              <a:t>Terminates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when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finding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an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acceptably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good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solution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in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a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fixed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amount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time,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rather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than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best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possible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solution.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2400" dirty="0">
              <a:latin typeface="Arial MT"/>
              <a:cs typeface="Arial MT"/>
            </a:endParaRPr>
          </a:p>
          <a:p>
            <a:pPr marL="12700" marR="153035">
              <a:lnSpc>
                <a:spcPts val="2780"/>
              </a:lnSpc>
              <a:spcBef>
                <a:spcPts val="5"/>
              </a:spcBef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Locating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good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approximation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global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minimum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a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given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function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in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large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search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space.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r>
              <a:rPr sz="2400" spc="-20" dirty="0">
                <a:solidFill>
                  <a:srgbClr val="000090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7711" y="1380744"/>
            <a:ext cx="4553712" cy="193547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340" y="185696"/>
            <a:ext cx="7112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Properties</a:t>
            </a:r>
            <a:r>
              <a:rPr b="1" spc="-85" dirty="0"/>
              <a:t> </a:t>
            </a:r>
            <a:r>
              <a:rPr b="1" dirty="0"/>
              <a:t>of</a:t>
            </a:r>
            <a:r>
              <a:rPr b="1" spc="-85" dirty="0"/>
              <a:t> </a:t>
            </a:r>
            <a:r>
              <a:rPr b="1" dirty="0"/>
              <a:t>Simulated</a:t>
            </a:r>
            <a:r>
              <a:rPr b="1" spc="-185" dirty="0"/>
              <a:t> </a:t>
            </a:r>
            <a:r>
              <a:rPr b="1" dirty="0"/>
              <a:t>Annealing</a:t>
            </a:r>
            <a:r>
              <a:rPr b="1" spc="-90" dirty="0"/>
              <a:t> </a:t>
            </a:r>
            <a:r>
              <a:rPr b="1" spc="-10" dirty="0"/>
              <a:t>Search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34315" y="1288796"/>
            <a:ext cx="7984490" cy="39852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0600"/>
              </a:lnSpc>
              <a:spcBef>
                <a:spcPts val="80"/>
              </a:spcBef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1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problem</a:t>
            </a:r>
            <a:r>
              <a:rPr sz="2400" spc="1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with</a:t>
            </a:r>
            <a:r>
              <a:rPr sz="2400" spc="1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this</a:t>
            </a:r>
            <a:r>
              <a:rPr sz="2400" spc="1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approach</a:t>
            </a:r>
            <a:r>
              <a:rPr sz="2400" spc="1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400" spc="1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that</a:t>
            </a:r>
            <a:r>
              <a:rPr sz="2400" spc="1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1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E5"/>
                </a:solidFill>
                <a:latin typeface="Arial MT"/>
                <a:cs typeface="Arial MT"/>
              </a:rPr>
              <a:t>neighbors</a:t>
            </a:r>
            <a:r>
              <a:rPr sz="2400" spc="165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E5"/>
                </a:solidFill>
                <a:latin typeface="Arial MT"/>
                <a:cs typeface="Arial MT"/>
              </a:rPr>
              <a:t>of</a:t>
            </a:r>
            <a:r>
              <a:rPr sz="2400" spc="170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00E5"/>
                </a:solidFill>
                <a:latin typeface="Arial MT"/>
                <a:cs typeface="Arial MT"/>
              </a:rPr>
              <a:t>a </a:t>
            </a:r>
            <a:r>
              <a:rPr sz="2400" dirty="0">
                <a:solidFill>
                  <a:srgbClr val="0000E5"/>
                </a:solidFill>
                <a:latin typeface="Arial MT"/>
                <a:cs typeface="Arial MT"/>
              </a:rPr>
              <a:t>state</a:t>
            </a:r>
            <a:r>
              <a:rPr sz="2400" spc="545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E5"/>
                </a:solidFill>
                <a:latin typeface="Arial MT"/>
                <a:cs typeface="Arial MT"/>
              </a:rPr>
              <a:t>are</a:t>
            </a:r>
            <a:r>
              <a:rPr sz="2400" spc="545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E5"/>
                </a:solidFill>
                <a:latin typeface="Arial MT"/>
                <a:cs typeface="Arial MT"/>
              </a:rPr>
              <a:t>not</a:t>
            </a:r>
            <a:r>
              <a:rPr sz="2400" spc="540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E5"/>
                </a:solidFill>
                <a:latin typeface="Arial MT"/>
                <a:cs typeface="Arial MT"/>
              </a:rPr>
              <a:t>guaranteed</a:t>
            </a:r>
            <a:r>
              <a:rPr sz="2400" spc="540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E5"/>
                </a:solidFill>
                <a:latin typeface="Arial MT"/>
                <a:cs typeface="Arial MT"/>
              </a:rPr>
              <a:t>to</a:t>
            </a:r>
            <a:r>
              <a:rPr sz="2400" spc="550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E5"/>
                </a:solidFill>
                <a:latin typeface="Arial MT"/>
                <a:cs typeface="Arial MT"/>
              </a:rPr>
              <a:t>contain</a:t>
            </a:r>
            <a:r>
              <a:rPr sz="2400" spc="545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E5"/>
                </a:solidFill>
                <a:latin typeface="Arial MT"/>
                <a:cs typeface="Arial MT"/>
              </a:rPr>
              <a:t>any</a:t>
            </a:r>
            <a:r>
              <a:rPr sz="2400" spc="545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E5"/>
                </a:solidFill>
                <a:latin typeface="Arial MT"/>
                <a:cs typeface="Arial MT"/>
              </a:rPr>
              <a:t>of</a:t>
            </a:r>
            <a:r>
              <a:rPr sz="2400" spc="535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E5"/>
                </a:solidFill>
                <a:latin typeface="Arial MT"/>
                <a:cs typeface="Arial MT"/>
              </a:rPr>
              <a:t>the</a:t>
            </a:r>
            <a:r>
              <a:rPr sz="2400" spc="550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E5"/>
                </a:solidFill>
                <a:latin typeface="Arial MT"/>
                <a:cs typeface="Arial MT"/>
              </a:rPr>
              <a:t>existing </a:t>
            </a:r>
            <a:r>
              <a:rPr sz="2400" dirty="0">
                <a:solidFill>
                  <a:srgbClr val="0000E5"/>
                </a:solidFill>
                <a:latin typeface="Arial MT"/>
                <a:cs typeface="Arial MT"/>
              </a:rPr>
              <a:t>better</a:t>
            </a:r>
            <a:r>
              <a:rPr sz="2400" spc="360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E5"/>
                </a:solidFill>
                <a:latin typeface="Arial MT"/>
                <a:cs typeface="Arial MT"/>
              </a:rPr>
              <a:t>solutions</a:t>
            </a:r>
            <a:r>
              <a:rPr sz="2400" spc="365" dirty="0">
                <a:solidFill>
                  <a:srgbClr val="0000E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which</a:t>
            </a:r>
            <a:r>
              <a:rPr sz="2400" spc="3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means</a:t>
            </a:r>
            <a:r>
              <a:rPr sz="2400" spc="3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that</a:t>
            </a:r>
            <a:r>
              <a:rPr sz="2400" spc="3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failure</a:t>
            </a:r>
            <a:r>
              <a:rPr sz="2400" spc="3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400" spc="3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find</a:t>
            </a:r>
            <a:r>
              <a:rPr sz="2400" spc="3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3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better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solution</a:t>
            </a:r>
            <a:r>
              <a:rPr sz="2400" spc="4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among</a:t>
            </a:r>
            <a:r>
              <a:rPr sz="2400" spc="459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them</a:t>
            </a:r>
            <a:r>
              <a:rPr sz="2400" spc="459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does</a:t>
            </a:r>
            <a:r>
              <a:rPr sz="2400" spc="4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not</a:t>
            </a:r>
            <a:r>
              <a:rPr sz="2400" spc="4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guarantee</a:t>
            </a:r>
            <a:r>
              <a:rPr sz="2400" spc="4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that</a:t>
            </a:r>
            <a:r>
              <a:rPr sz="2400" spc="4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no</a:t>
            </a:r>
            <a:r>
              <a:rPr sz="2400" spc="459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better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solution</a:t>
            </a:r>
            <a:r>
              <a:rPr sz="2400" spc="-9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exists.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It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will</a:t>
            </a:r>
            <a:r>
              <a:rPr sz="24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not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get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stuck</a:t>
            </a:r>
            <a:r>
              <a:rPr sz="24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4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local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optimum.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2400" dirty="0">
              <a:latin typeface="Arial MT"/>
              <a:cs typeface="Arial MT"/>
            </a:endParaRPr>
          </a:p>
          <a:p>
            <a:pPr marL="12700" marR="5080" algn="just">
              <a:lnSpc>
                <a:spcPct val="100800"/>
              </a:lnSpc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If</a:t>
            </a:r>
            <a:r>
              <a:rPr sz="2400" spc="9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it</a:t>
            </a:r>
            <a:r>
              <a:rPr sz="2400" spc="10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runs</a:t>
            </a:r>
            <a:r>
              <a:rPr sz="2400" spc="10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for</a:t>
            </a:r>
            <a:r>
              <a:rPr sz="2400" spc="11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an</a:t>
            </a:r>
            <a:r>
              <a:rPr sz="2400" spc="10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infinite</a:t>
            </a:r>
            <a:r>
              <a:rPr sz="2400" spc="11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amount</a:t>
            </a:r>
            <a:r>
              <a:rPr sz="2400" spc="10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400" spc="10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time,</a:t>
            </a:r>
            <a:r>
              <a:rPr sz="2400" spc="10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10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global</a:t>
            </a:r>
            <a:r>
              <a:rPr sz="2400" spc="11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optimum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will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be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found.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9250" y="1984755"/>
            <a:ext cx="7152005" cy="353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167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Local</a:t>
            </a:r>
            <a:r>
              <a:rPr sz="2800" b="1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Search</a:t>
            </a:r>
            <a:r>
              <a:rPr sz="2800" b="1" spc="-1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660066"/>
                </a:solidFill>
                <a:latin typeface="Arial"/>
                <a:cs typeface="Arial"/>
              </a:rPr>
              <a:t>Algorithms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In</a:t>
            </a:r>
            <a:r>
              <a:rPr sz="2400" spc="-3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this</a:t>
            </a:r>
            <a:r>
              <a:rPr sz="2400" spc="-2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lecture:</a:t>
            </a:r>
            <a:endParaRPr sz="2400" dirty="0">
              <a:latin typeface="Arial MT"/>
              <a:cs typeface="Arial MT"/>
            </a:endParaRPr>
          </a:p>
          <a:p>
            <a:pPr marL="1130935" indent="-334645">
              <a:lnSpc>
                <a:spcPct val="100000"/>
              </a:lnSpc>
              <a:spcBef>
                <a:spcPts val="1510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65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1:</a:t>
            </a:r>
            <a:r>
              <a:rPr sz="2000" b="1" spc="-4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What/Why</a:t>
            </a:r>
            <a:r>
              <a:rPr sz="24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Local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Search</a:t>
            </a:r>
            <a:r>
              <a:rPr sz="2400" spc="-1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Algorithms</a:t>
            </a:r>
            <a:endParaRPr sz="2400" dirty="0">
              <a:latin typeface="Arial MT"/>
              <a:cs typeface="Arial MT"/>
            </a:endParaRPr>
          </a:p>
          <a:p>
            <a:pPr marL="1130935" indent="-33464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6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2:</a:t>
            </a:r>
            <a:r>
              <a:rPr sz="2000" b="1" spc="-5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Hill-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Climbing</a:t>
            </a:r>
            <a:r>
              <a:rPr sz="24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Search</a:t>
            </a:r>
            <a:endParaRPr sz="2400" dirty="0">
              <a:latin typeface="Arial MT"/>
              <a:cs typeface="Arial MT"/>
            </a:endParaRPr>
          </a:p>
          <a:p>
            <a:pPr marL="1130935" indent="-334645">
              <a:lnSpc>
                <a:spcPct val="100000"/>
              </a:lnSpc>
              <a:spcBef>
                <a:spcPts val="1415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7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3:</a:t>
            </a:r>
            <a:r>
              <a:rPr sz="2000" b="1" spc="-45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Simulated</a:t>
            </a:r>
            <a:r>
              <a:rPr sz="2400" spc="-1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Annealing</a:t>
            </a:r>
            <a:r>
              <a:rPr sz="24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Search</a:t>
            </a:r>
            <a:endParaRPr sz="2400" dirty="0">
              <a:latin typeface="Arial MT"/>
              <a:cs typeface="Arial MT"/>
            </a:endParaRPr>
          </a:p>
          <a:p>
            <a:pPr marL="1130935" indent="-334645">
              <a:lnSpc>
                <a:spcPct val="100000"/>
              </a:lnSpc>
              <a:spcBef>
                <a:spcPts val="1620"/>
              </a:spcBef>
              <a:buFont typeface="Wingdings"/>
              <a:buChar char=""/>
              <a:tabLst>
                <a:tab pos="1130935" algn="l"/>
              </a:tabLst>
            </a:pP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Part</a:t>
            </a:r>
            <a:r>
              <a:rPr sz="2000" b="1" spc="-5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9B99"/>
                </a:solidFill>
                <a:latin typeface="Arial"/>
                <a:cs typeface="Arial"/>
              </a:rPr>
              <a:t>4:</a:t>
            </a:r>
            <a:r>
              <a:rPr sz="2000" b="1" spc="-40" dirty="0">
                <a:solidFill>
                  <a:srgbClr val="999B99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Genetic</a:t>
            </a:r>
            <a:r>
              <a:rPr sz="2800" b="1" spc="-1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Algorithms</a:t>
            </a:r>
            <a:r>
              <a:rPr sz="28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sz="28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nutshell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59679"/>
            <a:ext cx="1667256" cy="6187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Genetic</a:t>
            </a:r>
            <a:r>
              <a:rPr spc="-145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34315" y="1325371"/>
            <a:ext cx="7628890" cy="41249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5600" marR="5080" indent="-342900">
              <a:lnSpc>
                <a:spcPct val="100800"/>
              </a:lnSpc>
              <a:spcBef>
                <a:spcPts val="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Inspired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by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evolutionary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biology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natural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selection,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such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as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inheritance.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000090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Evolves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toward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better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solutions.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45"/>
              </a:spcBef>
              <a:buClr>
                <a:srgbClr val="000090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5600" marR="671830" indent="-342900">
              <a:lnSpc>
                <a:spcPct val="1008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1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successor</a:t>
            </a:r>
            <a:r>
              <a:rPr sz="2400" spc="-8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state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generated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by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combining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two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parent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states,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rather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by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modifying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single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state.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  <a:buClr>
                <a:srgbClr val="000090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5600" marR="298450" indent="-342900">
              <a:lnSpc>
                <a:spcPct val="1008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Start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with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0090"/>
                </a:solidFill>
                <a:latin typeface="Times New Roman"/>
                <a:cs typeface="Times New Roman"/>
              </a:rPr>
              <a:t>k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randomly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generated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states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(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population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),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Each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state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an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individual.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Genetic</a:t>
            </a:r>
            <a:r>
              <a:rPr spc="-145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21677" y="1145540"/>
            <a:ext cx="7824470" cy="46069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4965" marR="5080" indent="-342900">
              <a:lnSpc>
                <a:spcPct val="100800"/>
              </a:lnSpc>
              <a:spcBef>
                <a:spcPts val="75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1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state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represented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as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0090"/>
                </a:solidFill>
                <a:latin typeface="Arial"/>
                <a:cs typeface="Arial"/>
              </a:rPr>
              <a:t>string</a:t>
            </a:r>
            <a:r>
              <a:rPr sz="2400" b="1" spc="-4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over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finite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alphabet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(often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string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0s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and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1s)</a:t>
            </a:r>
            <a:endParaRPr sz="2400">
              <a:latin typeface="Arial MT"/>
              <a:cs typeface="Arial MT"/>
            </a:endParaRPr>
          </a:p>
          <a:p>
            <a:pPr marL="354965" marR="86995" indent="-342900">
              <a:lnSpc>
                <a:spcPct val="100000"/>
              </a:lnSpc>
              <a:spcBef>
                <a:spcPts val="2425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Evaluation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function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(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fitness</a:t>
            </a:r>
            <a:r>
              <a:rPr sz="24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).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Higher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values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for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better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states.</a:t>
            </a:r>
            <a:endParaRPr sz="2400">
              <a:latin typeface="Arial MT"/>
              <a:cs typeface="Arial MT"/>
            </a:endParaRPr>
          </a:p>
          <a:p>
            <a:pPr marL="354965" marR="613410" indent="-342900">
              <a:lnSpc>
                <a:spcPts val="2810"/>
              </a:lnSpc>
              <a:spcBef>
                <a:spcPts val="2575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Produce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next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generation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states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by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selection, </a:t>
            </a:r>
            <a:r>
              <a:rPr sz="2400" spc="-20" dirty="0">
                <a:solidFill>
                  <a:srgbClr val="000090"/>
                </a:solidFill>
                <a:latin typeface="Arial MT"/>
                <a:cs typeface="Arial MT"/>
              </a:rPr>
              <a:t>crossover,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mutation.</a:t>
            </a:r>
            <a:endParaRPr sz="2400">
              <a:latin typeface="Arial MT"/>
              <a:cs typeface="Arial MT"/>
            </a:endParaRPr>
          </a:p>
          <a:p>
            <a:pPr marL="354965" marR="157480" indent="-342900">
              <a:lnSpc>
                <a:spcPct val="100600"/>
              </a:lnSpc>
              <a:spcBef>
                <a:spcPts val="2325"/>
              </a:spcBef>
              <a:buChar char="•"/>
              <a:tabLst>
                <a:tab pos="354965" algn="l"/>
              </a:tabLst>
            </a:pPr>
            <a:r>
              <a:rPr sz="2400" spc="-20" dirty="0">
                <a:solidFill>
                  <a:srgbClr val="000090"/>
                </a:solidFill>
                <a:latin typeface="Arial MT"/>
                <a:cs typeface="Arial MT"/>
              </a:rPr>
              <a:t>Commonly,</a:t>
            </a:r>
            <a:r>
              <a:rPr sz="2400" spc="-8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algorithm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terminates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when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either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a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maximum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number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generations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has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been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produced,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or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satisfactory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fitness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level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has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been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reached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for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the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population.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833" y="326254"/>
            <a:ext cx="7395767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/>
              <a:t>Genetic</a:t>
            </a:r>
            <a:r>
              <a:rPr b="1" spc="-145" dirty="0"/>
              <a:t> </a:t>
            </a:r>
            <a:r>
              <a:rPr b="1" spc="-10" dirty="0"/>
              <a:t>Algorithms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84" y="980728"/>
            <a:ext cx="7560839" cy="39604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241" y="5018172"/>
            <a:ext cx="6633044" cy="150939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45574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The</a:t>
            </a:r>
            <a:r>
              <a:rPr b="1" spc="-65" dirty="0"/>
              <a:t> </a:t>
            </a:r>
            <a:r>
              <a:rPr b="1" spc="-10" dirty="0"/>
              <a:t>8-</a:t>
            </a:r>
            <a:r>
              <a:rPr b="1" dirty="0"/>
              <a:t>queen</a:t>
            </a:r>
            <a:r>
              <a:rPr b="1" spc="-70" dirty="0"/>
              <a:t> </a:t>
            </a:r>
            <a:r>
              <a:rPr b="1" spc="-10" dirty="0"/>
              <a:t>Problem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9246" y="3452914"/>
            <a:ext cx="7378740" cy="21602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2307" y="1215644"/>
            <a:ext cx="8201659" cy="18878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Try</a:t>
            </a:r>
            <a:r>
              <a:rPr sz="24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to</a:t>
            </a:r>
            <a:r>
              <a:rPr sz="24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better</a:t>
            </a:r>
            <a:r>
              <a:rPr sz="24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position</a:t>
            </a:r>
            <a:r>
              <a:rPr sz="24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queens</a:t>
            </a:r>
            <a:r>
              <a:rPr sz="24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using</a:t>
            </a:r>
            <a:r>
              <a:rPr sz="24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genetic</a:t>
            </a:r>
            <a:r>
              <a:rPr sz="24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algorithm.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A</a:t>
            </a:r>
            <a:r>
              <a:rPr sz="2400" spc="-17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better</a:t>
            </a:r>
            <a:r>
              <a:rPr sz="24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state</a:t>
            </a:r>
            <a:r>
              <a:rPr sz="24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is</a:t>
            </a:r>
            <a:r>
              <a:rPr sz="24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generated</a:t>
            </a:r>
            <a:r>
              <a:rPr sz="24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by</a:t>
            </a:r>
            <a:r>
              <a:rPr sz="24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combining</a:t>
            </a:r>
            <a:r>
              <a:rPr sz="24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two</a:t>
            </a:r>
            <a:r>
              <a:rPr sz="24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parent</a:t>
            </a:r>
            <a:r>
              <a:rPr sz="24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states.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400">
              <a:latin typeface="Arial MT"/>
              <a:cs typeface="Arial MT"/>
            </a:endParaRPr>
          </a:p>
          <a:p>
            <a:pPr marL="12700" marR="367665">
              <a:lnSpc>
                <a:spcPct val="100000"/>
              </a:lnSpc>
            </a:pP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good</a:t>
            </a:r>
            <a:r>
              <a:rPr sz="24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genes</a:t>
            </a:r>
            <a:r>
              <a:rPr sz="24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(features)</a:t>
            </a:r>
            <a:r>
              <a:rPr sz="24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parents</a:t>
            </a:r>
            <a:r>
              <a:rPr sz="24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are</a:t>
            </a:r>
            <a:r>
              <a:rPr sz="24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passed</a:t>
            </a:r>
            <a:r>
              <a:rPr sz="24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80"/>
                </a:solidFill>
                <a:latin typeface="Arial MT"/>
                <a:cs typeface="Arial MT"/>
              </a:rPr>
              <a:t>onto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children.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7001" y="428381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The</a:t>
            </a:r>
            <a:r>
              <a:rPr b="1" spc="-65" dirty="0"/>
              <a:t> </a:t>
            </a:r>
            <a:r>
              <a:rPr b="1" spc="-10" dirty="0"/>
              <a:t>8-</a:t>
            </a:r>
            <a:r>
              <a:rPr b="1" dirty="0"/>
              <a:t>queen</a:t>
            </a:r>
            <a:r>
              <a:rPr b="1" spc="-70" dirty="0"/>
              <a:t> </a:t>
            </a:r>
            <a:r>
              <a:rPr b="1" spc="-10" dirty="0"/>
              <a:t>Problem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90299" y="849884"/>
            <a:ext cx="8058150" cy="143065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400" b="1" dirty="0">
                <a:solidFill>
                  <a:srgbClr val="000080"/>
                </a:solidFill>
                <a:latin typeface="Arial"/>
                <a:cs typeface="Arial"/>
              </a:rPr>
              <a:t>Represent</a:t>
            </a:r>
            <a:r>
              <a:rPr sz="2400" b="1" spc="-8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80"/>
                </a:solidFill>
                <a:latin typeface="Arial"/>
                <a:cs typeface="Arial"/>
              </a:rPr>
              <a:t>individuals</a:t>
            </a:r>
            <a:r>
              <a:rPr sz="2400" b="1" spc="-7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(chromosomes)</a:t>
            </a:r>
            <a:r>
              <a:rPr sz="2400" spc="-8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0080"/>
                </a:solidFill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800"/>
              </a:lnSpc>
              <a:spcBef>
                <a:spcPts val="1175"/>
              </a:spcBef>
            </a:pP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Can</a:t>
            </a:r>
            <a:r>
              <a:rPr sz="24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be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represented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by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a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string</a:t>
            </a:r>
            <a:r>
              <a:rPr sz="24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digits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1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to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8,</a:t>
            </a:r>
            <a:r>
              <a:rPr sz="24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that</a:t>
            </a:r>
            <a:r>
              <a:rPr sz="24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represents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position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of</a:t>
            </a:r>
            <a:r>
              <a:rPr sz="24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8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queens</a:t>
            </a:r>
            <a:r>
              <a:rPr sz="2400" spc="-3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in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0"/>
                </a:solidFill>
                <a:latin typeface="Arial MT"/>
                <a:cs typeface="Arial MT"/>
              </a:rPr>
              <a:t>8</a:t>
            </a:r>
            <a:r>
              <a:rPr sz="24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columns.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9131" y="5147900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5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24415124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34369" y="5935225"/>
            <a:ext cx="1181735" cy="348615"/>
            <a:chOff x="2234369" y="5935225"/>
            <a:chExt cx="1181735" cy="348615"/>
          </a:xfrm>
        </p:grpSpPr>
        <p:sp>
          <p:nvSpPr>
            <p:cNvPr id="6" name="object 6"/>
            <p:cNvSpPr/>
            <p:nvPr/>
          </p:nvSpPr>
          <p:spPr>
            <a:xfrm>
              <a:off x="2239131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1172116" y="0"/>
                  </a:moveTo>
                  <a:lnTo>
                    <a:pt x="0" y="0"/>
                  </a:lnTo>
                  <a:lnTo>
                    <a:pt x="0" y="338553"/>
                  </a:lnTo>
                  <a:lnTo>
                    <a:pt x="1172116" y="338553"/>
                  </a:lnTo>
                  <a:lnTo>
                    <a:pt x="117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39131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0" y="0"/>
                  </a:moveTo>
                  <a:lnTo>
                    <a:pt x="1172116" y="0"/>
                  </a:lnTo>
                  <a:lnTo>
                    <a:pt x="1172116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6306" y="5071364"/>
            <a:ext cx="121285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45"/>
              </a:lnSpc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5318" y="5198507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4"/>
                </a:lnTo>
                <a:lnTo>
                  <a:pt x="0" y="59334"/>
                </a:lnTo>
                <a:lnTo>
                  <a:pt x="0" y="178003"/>
                </a:lnTo>
                <a:lnTo>
                  <a:pt x="169363" y="178003"/>
                </a:lnTo>
                <a:lnTo>
                  <a:pt x="169363" y="237337"/>
                </a:lnTo>
                <a:lnTo>
                  <a:pt x="288032" y="118668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65318" y="5990595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4"/>
                </a:lnTo>
                <a:lnTo>
                  <a:pt x="0" y="59334"/>
                </a:lnTo>
                <a:lnTo>
                  <a:pt x="0" y="178002"/>
                </a:lnTo>
                <a:lnTo>
                  <a:pt x="169363" y="178002"/>
                </a:lnTo>
                <a:lnTo>
                  <a:pt x="169363" y="237336"/>
                </a:lnTo>
                <a:lnTo>
                  <a:pt x="288032" y="118668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551" y="3858681"/>
            <a:ext cx="1172673" cy="115449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239130" y="4217367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32752411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03695" y="4279727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3"/>
                </a:lnTo>
                <a:lnTo>
                  <a:pt x="0" y="59333"/>
                </a:lnTo>
                <a:lnTo>
                  <a:pt x="0" y="178001"/>
                </a:lnTo>
                <a:lnTo>
                  <a:pt x="169363" y="178001"/>
                </a:lnTo>
                <a:lnTo>
                  <a:pt x="169363" y="237336"/>
                </a:lnTo>
                <a:lnTo>
                  <a:pt x="288032" y="118667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175" y="2420887"/>
            <a:ext cx="1193410" cy="119918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247756" y="2851513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24748552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73943" y="2901812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4" y="0"/>
                </a:moveTo>
                <a:lnTo>
                  <a:pt x="169364" y="59334"/>
                </a:lnTo>
                <a:lnTo>
                  <a:pt x="0" y="59334"/>
                </a:lnTo>
                <a:lnTo>
                  <a:pt x="0" y="178003"/>
                </a:lnTo>
                <a:lnTo>
                  <a:pt x="169364" y="178003"/>
                </a:lnTo>
                <a:lnTo>
                  <a:pt x="169364" y="237337"/>
                </a:lnTo>
                <a:lnTo>
                  <a:pt x="288032" y="118668"/>
                </a:lnTo>
                <a:lnTo>
                  <a:pt x="169364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86306" y="5813159"/>
            <a:ext cx="121285" cy="37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50"/>
              </a:lnSpc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23539" y="5997162"/>
            <a:ext cx="100393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32543213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175" y="279717"/>
            <a:ext cx="760095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8-</a:t>
            </a:r>
            <a:r>
              <a:rPr dirty="0"/>
              <a:t>queen</a:t>
            </a:r>
            <a:r>
              <a:rPr spc="-7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239131" y="5147900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5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24415124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34369" y="5935225"/>
            <a:ext cx="1181735" cy="348615"/>
            <a:chOff x="2234369" y="5935225"/>
            <a:chExt cx="1181735" cy="348615"/>
          </a:xfrm>
        </p:grpSpPr>
        <p:sp>
          <p:nvSpPr>
            <p:cNvPr id="5" name="object 5"/>
            <p:cNvSpPr/>
            <p:nvPr/>
          </p:nvSpPr>
          <p:spPr>
            <a:xfrm>
              <a:off x="2239131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1172116" y="0"/>
                  </a:moveTo>
                  <a:lnTo>
                    <a:pt x="0" y="0"/>
                  </a:lnTo>
                  <a:lnTo>
                    <a:pt x="0" y="338553"/>
                  </a:lnTo>
                  <a:lnTo>
                    <a:pt x="1172116" y="338553"/>
                  </a:lnTo>
                  <a:lnTo>
                    <a:pt x="117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39131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0" y="0"/>
                  </a:moveTo>
                  <a:lnTo>
                    <a:pt x="1172116" y="0"/>
                  </a:lnTo>
                  <a:lnTo>
                    <a:pt x="1172116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86306" y="5071364"/>
            <a:ext cx="121285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45"/>
              </a:lnSpc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37909" y="4862067"/>
            <a:ext cx="2508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6953" y="5660644"/>
            <a:ext cx="2235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0" dirty="0">
                <a:solidFill>
                  <a:srgbClr val="000080"/>
                </a:solidFill>
                <a:latin typeface="Arial MT"/>
                <a:cs typeface="Arial MT"/>
              </a:rPr>
              <a:t>11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65318" y="5198507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4"/>
                </a:lnTo>
                <a:lnTo>
                  <a:pt x="0" y="59334"/>
                </a:lnTo>
                <a:lnTo>
                  <a:pt x="0" y="178003"/>
                </a:lnTo>
                <a:lnTo>
                  <a:pt x="169363" y="178003"/>
                </a:lnTo>
                <a:lnTo>
                  <a:pt x="169363" y="237337"/>
                </a:lnTo>
                <a:lnTo>
                  <a:pt x="288032" y="118668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65318" y="5990595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4"/>
                </a:lnTo>
                <a:lnTo>
                  <a:pt x="0" y="59334"/>
                </a:lnTo>
                <a:lnTo>
                  <a:pt x="0" y="178002"/>
                </a:lnTo>
                <a:lnTo>
                  <a:pt x="169363" y="178002"/>
                </a:lnTo>
                <a:lnTo>
                  <a:pt x="169363" y="237336"/>
                </a:lnTo>
                <a:lnTo>
                  <a:pt x="288032" y="118668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551" y="3858681"/>
            <a:ext cx="1172673" cy="115449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239130" y="4217367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32752411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03695" y="4279727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3"/>
                </a:lnTo>
                <a:lnTo>
                  <a:pt x="0" y="59333"/>
                </a:lnTo>
                <a:lnTo>
                  <a:pt x="0" y="178001"/>
                </a:lnTo>
                <a:lnTo>
                  <a:pt x="169363" y="178001"/>
                </a:lnTo>
                <a:lnTo>
                  <a:pt x="169363" y="237336"/>
                </a:lnTo>
                <a:lnTo>
                  <a:pt x="288032" y="118667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175" y="2420887"/>
            <a:ext cx="1193410" cy="119918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247756" y="2851513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24748552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73943" y="2901812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4" y="0"/>
                </a:moveTo>
                <a:lnTo>
                  <a:pt x="169364" y="59334"/>
                </a:lnTo>
                <a:lnTo>
                  <a:pt x="0" y="59334"/>
                </a:lnTo>
                <a:lnTo>
                  <a:pt x="0" y="178003"/>
                </a:lnTo>
                <a:lnTo>
                  <a:pt x="169364" y="178003"/>
                </a:lnTo>
                <a:lnTo>
                  <a:pt x="169364" y="237337"/>
                </a:lnTo>
                <a:lnTo>
                  <a:pt x="288032" y="118668"/>
                </a:lnTo>
                <a:lnTo>
                  <a:pt x="169364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90299" y="816965"/>
            <a:ext cx="8107045" cy="2007235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400" b="1" dirty="0">
                <a:solidFill>
                  <a:srgbClr val="000080"/>
                </a:solidFill>
                <a:latin typeface="Arial"/>
                <a:cs typeface="Arial"/>
              </a:rPr>
              <a:t>Fitness</a:t>
            </a:r>
            <a:r>
              <a:rPr sz="2400" b="1" spc="-4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80"/>
                </a:solidFill>
                <a:latin typeface="Arial"/>
                <a:cs typeface="Arial"/>
              </a:rPr>
              <a:t>Function</a:t>
            </a:r>
            <a:r>
              <a:rPr sz="2400" b="1" spc="-4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000080"/>
                </a:solidFill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215"/>
              </a:spcBef>
            </a:pP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Possible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fitness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function</a:t>
            </a:r>
            <a:r>
              <a:rPr sz="20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is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number</a:t>
            </a:r>
            <a:r>
              <a:rPr sz="20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of</a:t>
            </a:r>
            <a:r>
              <a:rPr sz="20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80"/>
                </a:solidFill>
                <a:latin typeface="Arial MT"/>
                <a:cs typeface="Arial MT"/>
              </a:rPr>
              <a:t>non-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attacking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pairs</a:t>
            </a:r>
            <a:r>
              <a:rPr sz="20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of</a:t>
            </a:r>
            <a:r>
              <a:rPr sz="20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80"/>
                </a:solidFill>
                <a:latin typeface="Arial MT"/>
                <a:cs typeface="Arial MT"/>
              </a:rPr>
              <a:t>queens.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(min</a:t>
            </a:r>
            <a:r>
              <a:rPr sz="2000" spc="-2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=</a:t>
            </a:r>
            <a:r>
              <a:rPr sz="2000" spc="-2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0,</a:t>
            </a:r>
            <a:r>
              <a:rPr sz="2000" spc="-2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max</a:t>
            </a:r>
            <a:r>
              <a:rPr sz="2000" spc="-2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=</a:t>
            </a:r>
            <a:r>
              <a:rPr sz="2000" spc="-2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8</a:t>
            </a:r>
            <a:r>
              <a:rPr sz="2000" spc="-2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×</a:t>
            </a:r>
            <a:r>
              <a:rPr sz="2000" spc="-2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7/2</a:t>
            </a:r>
            <a:r>
              <a:rPr sz="2000" spc="-1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=</a:t>
            </a:r>
            <a:r>
              <a:rPr sz="2000" spc="-2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0080"/>
                </a:solidFill>
                <a:latin typeface="Arial MT"/>
                <a:cs typeface="Arial MT"/>
              </a:rPr>
              <a:t>28)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2000">
              <a:latin typeface="Arial MT"/>
              <a:cs typeface="Arial MT"/>
            </a:endParaRPr>
          </a:p>
          <a:p>
            <a:pPr marL="2480310">
              <a:lnSpc>
                <a:spcPct val="100000"/>
              </a:lnSpc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24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86306" y="5813159"/>
            <a:ext cx="121285" cy="37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50"/>
              </a:lnSpc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23539" y="5997162"/>
            <a:ext cx="100393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32543213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57974" y="3914140"/>
            <a:ext cx="2508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23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4032" y="415359"/>
            <a:ext cx="760095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The</a:t>
            </a:r>
            <a:r>
              <a:rPr b="1" spc="-65" dirty="0"/>
              <a:t> </a:t>
            </a:r>
            <a:r>
              <a:rPr b="1" spc="-10" dirty="0"/>
              <a:t>8-</a:t>
            </a:r>
            <a:r>
              <a:rPr b="1" dirty="0"/>
              <a:t>queen</a:t>
            </a:r>
            <a:r>
              <a:rPr b="1" spc="-70" dirty="0"/>
              <a:t> </a:t>
            </a:r>
            <a:r>
              <a:rPr b="1" spc="-10" dirty="0"/>
              <a:t>Problem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2234369" y="5143138"/>
            <a:ext cx="1181735" cy="348615"/>
            <a:chOff x="2234369" y="5143138"/>
            <a:chExt cx="1181735" cy="348615"/>
          </a:xfrm>
        </p:grpSpPr>
        <p:sp>
          <p:nvSpPr>
            <p:cNvPr id="4" name="object 4"/>
            <p:cNvSpPr/>
            <p:nvPr/>
          </p:nvSpPr>
          <p:spPr>
            <a:xfrm>
              <a:off x="2239131" y="5147900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1172116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1172116" y="338554"/>
                  </a:lnTo>
                  <a:lnTo>
                    <a:pt x="117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9131" y="5147900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0" y="0"/>
                  </a:moveTo>
                  <a:lnTo>
                    <a:pt x="1172116" y="0"/>
                  </a:lnTo>
                  <a:lnTo>
                    <a:pt x="1172116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234369" y="5935225"/>
            <a:ext cx="1181735" cy="348615"/>
            <a:chOff x="2234369" y="5935225"/>
            <a:chExt cx="1181735" cy="348615"/>
          </a:xfrm>
        </p:grpSpPr>
        <p:sp>
          <p:nvSpPr>
            <p:cNvPr id="7" name="object 7"/>
            <p:cNvSpPr/>
            <p:nvPr/>
          </p:nvSpPr>
          <p:spPr>
            <a:xfrm>
              <a:off x="2239131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1172116" y="0"/>
                  </a:moveTo>
                  <a:lnTo>
                    <a:pt x="0" y="0"/>
                  </a:lnTo>
                  <a:lnTo>
                    <a:pt x="0" y="338553"/>
                  </a:lnTo>
                  <a:lnTo>
                    <a:pt x="1172116" y="338553"/>
                  </a:lnTo>
                  <a:lnTo>
                    <a:pt x="117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39131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0" y="0"/>
                  </a:moveTo>
                  <a:lnTo>
                    <a:pt x="1172116" y="0"/>
                  </a:lnTo>
                  <a:lnTo>
                    <a:pt x="1172116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0299" y="908405"/>
            <a:ext cx="7757159" cy="1928733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400" b="1" dirty="0">
                <a:solidFill>
                  <a:srgbClr val="000080"/>
                </a:solidFill>
                <a:latin typeface="Arial"/>
                <a:cs typeface="Arial"/>
              </a:rPr>
              <a:t>Fitness</a:t>
            </a:r>
            <a:r>
              <a:rPr sz="2400" b="1" spc="-4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80"/>
                </a:solidFill>
                <a:latin typeface="Arial"/>
                <a:cs typeface="Arial"/>
              </a:rPr>
              <a:t>Function</a:t>
            </a:r>
            <a:r>
              <a:rPr sz="2400" b="1" spc="-4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000080"/>
                </a:solidFill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615"/>
              </a:spcBef>
            </a:pP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Calculate</a:t>
            </a:r>
            <a:r>
              <a:rPr sz="20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20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probability</a:t>
            </a:r>
            <a:r>
              <a:rPr sz="20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of</a:t>
            </a:r>
            <a:r>
              <a:rPr sz="20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being</a:t>
            </a:r>
            <a:r>
              <a:rPr sz="20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regenerated</a:t>
            </a:r>
            <a:r>
              <a:rPr sz="20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in</a:t>
            </a:r>
            <a:r>
              <a:rPr sz="20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next</a:t>
            </a:r>
            <a:r>
              <a:rPr sz="20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generation.</a:t>
            </a:r>
            <a:r>
              <a:rPr sz="2000" spc="-7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0080"/>
                </a:solidFill>
                <a:latin typeface="Arial MT"/>
                <a:cs typeface="Arial MT"/>
              </a:rPr>
              <a:t>For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example:</a:t>
            </a:r>
            <a:r>
              <a:rPr sz="2000" spc="-2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0080"/>
                </a:solidFill>
                <a:latin typeface="Arial MT"/>
                <a:cs typeface="Arial MT"/>
              </a:rPr>
              <a:t>24/(24+23+20+11)</a:t>
            </a:r>
            <a:r>
              <a:rPr sz="2000" spc="-1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=</a:t>
            </a:r>
            <a:r>
              <a:rPr sz="2000" spc="-2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31%</a:t>
            </a:r>
            <a:r>
              <a:rPr sz="2000" spc="-2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,</a:t>
            </a:r>
            <a:r>
              <a:rPr sz="2000" spc="-20" dirty="0">
                <a:solidFill>
                  <a:srgbClr val="000080"/>
                </a:solidFill>
                <a:latin typeface="Arial MT"/>
                <a:cs typeface="Arial MT"/>
              </a:rPr>
              <a:t> 23/(24+23+20+11)</a:t>
            </a:r>
            <a:r>
              <a:rPr sz="2000" spc="-1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=</a:t>
            </a:r>
            <a:r>
              <a:rPr sz="2000" spc="-2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29%</a:t>
            </a:r>
            <a:r>
              <a:rPr sz="2000" spc="-1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,</a:t>
            </a:r>
            <a:r>
              <a:rPr sz="2000" spc="-20" dirty="0">
                <a:solidFill>
                  <a:srgbClr val="000080"/>
                </a:solidFill>
                <a:latin typeface="Arial MT"/>
                <a:cs typeface="Arial MT"/>
              </a:rPr>
              <a:t> etc.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2000" dirty="0">
              <a:latin typeface="Arial MT"/>
              <a:cs typeface="Arial MT"/>
            </a:endParaRPr>
          </a:p>
          <a:p>
            <a:pPr marL="2480310">
              <a:lnSpc>
                <a:spcPct val="100000"/>
              </a:lnSpc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24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57974" y="3914140"/>
            <a:ext cx="2508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85736" y="2819908"/>
            <a:ext cx="431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31%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2125" y="4182364"/>
            <a:ext cx="431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29%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5318" y="5198507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4"/>
                </a:lnTo>
                <a:lnTo>
                  <a:pt x="0" y="59334"/>
                </a:lnTo>
                <a:lnTo>
                  <a:pt x="0" y="178003"/>
                </a:lnTo>
                <a:lnTo>
                  <a:pt x="169363" y="178003"/>
                </a:lnTo>
                <a:lnTo>
                  <a:pt x="169363" y="237337"/>
                </a:lnTo>
                <a:lnTo>
                  <a:pt x="288032" y="118668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65318" y="5990595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4"/>
                </a:lnTo>
                <a:lnTo>
                  <a:pt x="0" y="59334"/>
                </a:lnTo>
                <a:lnTo>
                  <a:pt x="0" y="178002"/>
                </a:lnTo>
                <a:lnTo>
                  <a:pt x="169363" y="178002"/>
                </a:lnTo>
                <a:lnTo>
                  <a:pt x="169363" y="237336"/>
                </a:lnTo>
                <a:lnTo>
                  <a:pt x="288032" y="118668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551" y="3858681"/>
            <a:ext cx="1172673" cy="115449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239130" y="4217367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32752411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03695" y="4279727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3"/>
                </a:lnTo>
                <a:lnTo>
                  <a:pt x="0" y="59333"/>
                </a:lnTo>
                <a:lnTo>
                  <a:pt x="0" y="178001"/>
                </a:lnTo>
                <a:lnTo>
                  <a:pt x="169363" y="178001"/>
                </a:lnTo>
                <a:lnTo>
                  <a:pt x="169363" y="237336"/>
                </a:lnTo>
                <a:lnTo>
                  <a:pt x="288032" y="118667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175" y="2420887"/>
            <a:ext cx="1193410" cy="119918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247756" y="2851513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24748552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73943" y="2901812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4" y="0"/>
                </a:moveTo>
                <a:lnTo>
                  <a:pt x="169364" y="59334"/>
                </a:lnTo>
                <a:lnTo>
                  <a:pt x="0" y="59334"/>
                </a:lnTo>
                <a:lnTo>
                  <a:pt x="0" y="178003"/>
                </a:lnTo>
                <a:lnTo>
                  <a:pt x="169364" y="178003"/>
                </a:lnTo>
                <a:lnTo>
                  <a:pt x="169364" y="237337"/>
                </a:lnTo>
                <a:lnTo>
                  <a:pt x="288032" y="118668"/>
                </a:lnTo>
                <a:lnTo>
                  <a:pt x="169364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23539" y="4881316"/>
            <a:ext cx="1065530" cy="552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1870"/>
              </a:lnSpc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20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24415124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86306" y="5087735"/>
            <a:ext cx="121285" cy="1103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15"/>
              </a:lnSpc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45"/>
              </a:lnSpc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56553" y="5094676"/>
            <a:ext cx="43180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26%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23539" y="5679892"/>
            <a:ext cx="1521460" cy="546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5819">
              <a:lnSpc>
                <a:spcPts val="1870"/>
              </a:lnSpc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11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600" dirty="0">
                <a:solidFill>
                  <a:srgbClr val="141514"/>
                </a:solidFill>
                <a:latin typeface="Courier New"/>
                <a:cs typeface="Courier New"/>
              </a:rPr>
              <a:t>32543213</a:t>
            </a:r>
            <a:r>
              <a:rPr sz="1600" spc="-155" dirty="0">
                <a:solidFill>
                  <a:srgbClr val="141514"/>
                </a:solidFill>
                <a:latin typeface="Courier New"/>
                <a:cs typeface="Courier New"/>
              </a:rPr>
              <a:t> </a:t>
            </a:r>
            <a:r>
              <a:rPr sz="2400" spc="-37" baseline="1736" dirty="0">
                <a:solidFill>
                  <a:srgbClr val="000080"/>
                </a:solidFill>
                <a:latin typeface="Arial MT"/>
                <a:cs typeface="Arial MT"/>
              </a:rPr>
              <a:t>14%</a:t>
            </a:r>
            <a:endParaRPr sz="2400" baseline="1736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7931" y="406307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The</a:t>
            </a:r>
            <a:r>
              <a:rPr b="1" spc="-65" dirty="0"/>
              <a:t> </a:t>
            </a:r>
            <a:r>
              <a:rPr b="1" spc="-10" dirty="0"/>
              <a:t>8-</a:t>
            </a:r>
            <a:r>
              <a:rPr b="1" dirty="0"/>
              <a:t>queen</a:t>
            </a:r>
            <a:r>
              <a:rPr b="1" spc="-70" dirty="0"/>
              <a:t> </a:t>
            </a:r>
            <a:r>
              <a:rPr b="1" spc="-10" dirty="0"/>
              <a:t>Problem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2234369" y="5143138"/>
            <a:ext cx="1181735" cy="1140460"/>
            <a:chOff x="2234369" y="5143138"/>
            <a:chExt cx="1181735" cy="1140460"/>
          </a:xfrm>
        </p:grpSpPr>
        <p:sp>
          <p:nvSpPr>
            <p:cNvPr id="4" name="object 4"/>
            <p:cNvSpPr/>
            <p:nvPr/>
          </p:nvSpPr>
          <p:spPr>
            <a:xfrm>
              <a:off x="2239131" y="5147900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1172116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1172116" y="338554"/>
                  </a:lnTo>
                  <a:lnTo>
                    <a:pt x="117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9131" y="5147900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0" y="0"/>
                  </a:moveTo>
                  <a:lnTo>
                    <a:pt x="1172116" y="0"/>
                  </a:lnTo>
                  <a:lnTo>
                    <a:pt x="1172116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39131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1172116" y="0"/>
                  </a:moveTo>
                  <a:lnTo>
                    <a:pt x="0" y="0"/>
                  </a:lnTo>
                  <a:lnTo>
                    <a:pt x="0" y="338553"/>
                  </a:lnTo>
                  <a:lnTo>
                    <a:pt x="1172116" y="338553"/>
                  </a:lnTo>
                  <a:lnTo>
                    <a:pt x="117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39131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0" y="0"/>
                  </a:moveTo>
                  <a:lnTo>
                    <a:pt x="1172116" y="0"/>
                  </a:lnTo>
                  <a:lnTo>
                    <a:pt x="1172116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0299" y="908405"/>
            <a:ext cx="7934959" cy="191579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400" b="1" spc="-10" dirty="0">
                <a:solidFill>
                  <a:srgbClr val="000080"/>
                </a:solidFill>
                <a:latin typeface="Arial"/>
                <a:cs typeface="Arial"/>
              </a:rPr>
              <a:t>Selection</a:t>
            </a:r>
            <a:r>
              <a:rPr sz="2400" spc="-10" dirty="0">
                <a:solidFill>
                  <a:srgbClr val="000080"/>
                </a:solidFill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615"/>
              </a:spcBef>
            </a:pP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Pairs</a:t>
            </a:r>
            <a:r>
              <a:rPr sz="20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of</a:t>
            </a:r>
            <a:r>
              <a:rPr sz="20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individuals</a:t>
            </a:r>
            <a:r>
              <a:rPr sz="20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are</a:t>
            </a:r>
            <a:r>
              <a:rPr sz="20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selected</a:t>
            </a:r>
            <a:r>
              <a:rPr sz="20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at</a:t>
            </a:r>
            <a:r>
              <a:rPr sz="20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random</a:t>
            </a:r>
            <a:r>
              <a:rPr sz="20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for</a:t>
            </a:r>
            <a:r>
              <a:rPr sz="20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A1AFF"/>
                </a:solidFill>
                <a:latin typeface="Arial MT"/>
                <a:cs typeface="Arial MT"/>
              </a:rPr>
              <a:t>reproduction</a:t>
            </a:r>
            <a:r>
              <a:rPr sz="2000" spc="-55" dirty="0">
                <a:solidFill>
                  <a:srgbClr val="1A1AFF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0080"/>
                </a:solidFill>
                <a:latin typeface="Arial MT"/>
                <a:cs typeface="Arial MT"/>
              </a:rPr>
              <a:t>w.r.t.</a:t>
            </a:r>
            <a:r>
              <a:rPr sz="20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0080"/>
                </a:solidFill>
                <a:latin typeface="Arial MT"/>
                <a:cs typeface="Arial MT"/>
              </a:rPr>
              <a:t>some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probabilities.</a:t>
            </a:r>
            <a:r>
              <a:rPr sz="20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Pick</a:t>
            </a:r>
            <a:r>
              <a:rPr sz="20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a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crossover</a:t>
            </a:r>
            <a:r>
              <a:rPr sz="20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point</a:t>
            </a:r>
            <a:r>
              <a:rPr sz="20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per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80"/>
                </a:solidFill>
                <a:latin typeface="Arial MT"/>
                <a:cs typeface="Arial MT"/>
              </a:rPr>
              <a:t>pair.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2000" dirty="0">
              <a:latin typeface="Arial MT"/>
              <a:cs typeface="Arial MT"/>
            </a:endParaRPr>
          </a:p>
          <a:p>
            <a:pPr marL="2480310">
              <a:lnSpc>
                <a:spcPct val="100000"/>
              </a:lnSpc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24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7974" y="3914140"/>
            <a:ext cx="2508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85736" y="2819908"/>
            <a:ext cx="431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31%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2125" y="4182364"/>
            <a:ext cx="431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29%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02380" y="3010297"/>
            <a:ext cx="1009015" cy="1329690"/>
          </a:xfrm>
          <a:custGeom>
            <a:avLst/>
            <a:gdLst/>
            <a:ahLst/>
            <a:cxnLst/>
            <a:rect l="l" t="t" r="r" b="b"/>
            <a:pathLst>
              <a:path w="1009014" h="1329689">
                <a:moveTo>
                  <a:pt x="881185" y="1266499"/>
                </a:moveTo>
                <a:lnTo>
                  <a:pt x="1008411" y="1329545"/>
                </a:lnTo>
                <a:lnTo>
                  <a:pt x="998376" y="1275448"/>
                </a:lnTo>
                <a:lnTo>
                  <a:pt x="953607" y="1275448"/>
                </a:lnTo>
                <a:lnTo>
                  <a:pt x="948248" y="1268355"/>
                </a:lnTo>
                <a:lnTo>
                  <a:pt x="881185" y="1266499"/>
                </a:lnTo>
                <a:close/>
              </a:path>
              <a:path w="1009014" h="1329689">
                <a:moveTo>
                  <a:pt x="948248" y="1268355"/>
                </a:moveTo>
                <a:lnTo>
                  <a:pt x="953607" y="1275448"/>
                </a:lnTo>
                <a:lnTo>
                  <a:pt x="962473" y="1268749"/>
                </a:lnTo>
                <a:lnTo>
                  <a:pt x="948248" y="1268355"/>
                </a:lnTo>
                <a:close/>
              </a:path>
              <a:path w="1009014" h="1329689">
                <a:moveTo>
                  <a:pt x="982512" y="1189936"/>
                </a:moveTo>
                <a:lnTo>
                  <a:pt x="965981" y="1254957"/>
                </a:lnTo>
                <a:lnTo>
                  <a:pt x="971340" y="1262049"/>
                </a:lnTo>
                <a:lnTo>
                  <a:pt x="953607" y="1275448"/>
                </a:lnTo>
                <a:lnTo>
                  <a:pt x="998376" y="1275448"/>
                </a:lnTo>
                <a:lnTo>
                  <a:pt x="982512" y="1189936"/>
                </a:lnTo>
                <a:close/>
              </a:path>
              <a:path w="1009014" h="1329689">
                <a:moveTo>
                  <a:pt x="17731" y="0"/>
                </a:moveTo>
                <a:lnTo>
                  <a:pt x="0" y="13398"/>
                </a:lnTo>
                <a:lnTo>
                  <a:pt x="948248" y="1268355"/>
                </a:lnTo>
                <a:lnTo>
                  <a:pt x="962474" y="1268749"/>
                </a:lnTo>
                <a:lnTo>
                  <a:pt x="965981" y="1254957"/>
                </a:lnTo>
                <a:lnTo>
                  <a:pt x="17731" y="0"/>
                </a:lnTo>
                <a:close/>
              </a:path>
              <a:path w="1009014" h="1329689">
                <a:moveTo>
                  <a:pt x="965981" y="1254957"/>
                </a:moveTo>
                <a:lnTo>
                  <a:pt x="962574" y="1268355"/>
                </a:lnTo>
                <a:lnTo>
                  <a:pt x="962474" y="1268749"/>
                </a:lnTo>
                <a:lnTo>
                  <a:pt x="971340" y="1262049"/>
                </a:lnTo>
                <a:lnTo>
                  <a:pt x="965981" y="1254957"/>
                </a:lnTo>
                <a:close/>
              </a:path>
            </a:pathLst>
          </a:custGeom>
          <a:solidFill>
            <a:srgbClr val="14151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397468" y="2848173"/>
          <a:ext cx="1308735" cy="1762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45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2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3275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9525">
                      <a:solidFill>
                        <a:srgbClr val="141514"/>
                      </a:solidFill>
                      <a:prstDash val="solid"/>
                    </a:lnL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CDCECD"/>
                    </a:solidFill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2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2411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80"/>
                      </a:solidFill>
                      <a:prstDash val="sysDash"/>
                    </a:lnL>
                    <a:lnR w="9525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CDCE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535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80"/>
                      </a:solidFill>
                      <a:prstDash val="sysDash"/>
                    </a:lnL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spc="-2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2474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L w="9525">
                      <a:solidFill>
                        <a:srgbClr val="141514"/>
                      </a:solidFill>
                      <a:prstDash val="solid"/>
                    </a:lnL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spc="-2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8552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L w="9525">
                      <a:solidFill>
                        <a:srgbClr val="000080"/>
                      </a:solidFill>
                      <a:prstDash val="sysDash"/>
                    </a:lnL>
                    <a:lnR w="9525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314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80"/>
                      </a:solidFill>
                      <a:prstDash val="sysDash"/>
                    </a:lnL>
                    <a:lnT w="9525">
                      <a:solidFill>
                        <a:srgbClr val="14151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397468" y="5152429"/>
          <a:ext cx="1309370" cy="1223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3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455"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1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327524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9525">
                      <a:solidFill>
                        <a:srgbClr val="141514"/>
                      </a:solidFill>
                      <a:prstDash val="solid"/>
                    </a:lnL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CDCECD"/>
                    </a:solidFill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25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80"/>
                      </a:solidFill>
                      <a:prstDash val="sysDash"/>
                    </a:lnL>
                    <a:lnR w="9525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CDCE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80"/>
                      </a:solidFill>
                      <a:prstDash val="sysDash"/>
                    </a:lnL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spc="-1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244151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9525">
                      <a:solidFill>
                        <a:srgbClr val="141514"/>
                      </a:solidFill>
                      <a:prstDash val="solid"/>
                    </a:lnL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spc="-25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24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9525">
                      <a:solidFill>
                        <a:srgbClr val="000080"/>
                      </a:solidFill>
                      <a:prstDash val="sysDash"/>
                    </a:lnL>
                    <a:lnR w="9525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10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80"/>
                      </a:solidFill>
                      <a:prstDash val="sysDash"/>
                    </a:lnL>
                    <a:lnT w="9525">
                      <a:solidFill>
                        <a:srgbClr val="14151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3402266" y="3022218"/>
            <a:ext cx="1009015" cy="3046095"/>
          </a:xfrm>
          <a:custGeom>
            <a:avLst/>
            <a:gdLst/>
            <a:ahLst/>
            <a:cxnLst/>
            <a:rect l="l" t="t" r="r" b="b"/>
            <a:pathLst>
              <a:path w="1009014" h="3046095">
                <a:moveTo>
                  <a:pt x="999959" y="0"/>
                </a:moveTo>
                <a:lnTo>
                  <a:pt x="873823" y="65189"/>
                </a:lnTo>
                <a:lnTo>
                  <a:pt x="940841" y="62204"/>
                </a:lnTo>
                <a:lnTo>
                  <a:pt x="955052" y="61569"/>
                </a:lnTo>
                <a:lnTo>
                  <a:pt x="940841" y="62204"/>
                </a:lnTo>
                <a:lnTo>
                  <a:pt x="0" y="1352308"/>
                </a:lnTo>
                <a:lnTo>
                  <a:pt x="8978" y="1358861"/>
                </a:lnTo>
                <a:lnTo>
                  <a:pt x="1308" y="1366901"/>
                </a:lnTo>
                <a:lnTo>
                  <a:pt x="930719" y="2253564"/>
                </a:lnTo>
                <a:lnTo>
                  <a:pt x="864235" y="2262543"/>
                </a:lnTo>
                <a:lnTo>
                  <a:pt x="999959" y="2304250"/>
                </a:lnTo>
                <a:lnTo>
                  <a:pt x="983932" y="2259698"/>
                </a:lnTo>
                <a:lnTo>
                  <a:pt x="951903" y="2170646"/>
                </a:lnTo>
                <a:lnTo>
                  <a:pt x="946061" y="2237486"/>
                </a:lnTo>
                <a:lnTo>
                  <a:pt x="944829" y="2251659"/>
                </a:lnTo>
                <a:lnTo>
                  <a:pt x="937158" y="2259698"/>
                </a:lnTo>
                <a:lnTo>
                  <a:pt x="944816" y="2251659"/>
                </a:lnTo>
                <a:lnTo>
                  <a:pt x="946061" y="2237486"/>
                </a:lnTo>
                <a:lnTo>
                  <a:pt x="23685" y="1357541"/>
                </a:lnTo>
                <a:lnTo>
                  <a:pt x="958799" y="75298"/>
                </a:lnTo>
                <a:lnTo>
                  <a:pt x="976439" y="140030"/>
                </a:lnTo>
                <a:lnTo>
                  <a:pt x="990714" y="55016"/>
                </a:lnTo>
                <a:lnTo>
                  <a:pt x="999959" y="0"/>
                </a:lnTo>
                <a:close/>
              </a:path>
              <a:path w="1009014" h="3046095">
                <a:moveTo>
                  <a:pt x="1008519" y="3045828"/>
                </a:moveTo>
                <a:lnTo>
                  <a:pt x="990117" y="3008934"/>
                </a:lnTo>
                <a:lnTo>
                  <a:pt x="945121" y="2918777"/>
                </a:lnTo>
                <a:lnTo>
                  <a:pt x="947166" y="2985833"/>
                </a:lnTo>
                <a:lnTo>
                  <a:pt x="15646" y="2286076"/>
                </a:lnTo>
                <a:lnTo>
                  <a:pt x="2298" y="2303843"/>
                </a:lnTo>
                <a:lnTo>
                  <a:pt x="933818" y="3003600"/>
                </a:lnTo>
                <a:lnTo>
                  <a:pt x="868845" y="3020314"/>
                </a:lnTo>
                <a:lnTo>
                  <a:pt x="1008519" y="3045828"/>
                </a:lnTo>
                <a:close/>
              </a:path>
            </a:pathLst>
          </a:custGeom>
          <a:solidFill>
            <a:srgbClr val="1415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65318" y="5198507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4"/>
                </a:lnTo>
                <a:lnTo>
                  <a:pt x="0" y="59334"/>
                </a:lnTo>
                <a:lnTo>
                  <a:pt x="0" y="178003"/>
                </a:lnTo>
                <a:lnTo>
                  <a:pt x="169363" y="178003"/>
                </a:lnTo>
                <a:lnTo>
                  <a:pt x="169363" y="237337"/>
                </a:lnTo>
                <a:lnTo>
                  <a:pt x="288032" y="118668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65318" y="5990595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4"/>
                </a:lnTo>
                <a:lnTo>
                  <a:pt x="0" y="59334"/>
                </a:lnTo>
                <a:lnTo>
                  <a:pt x="0" y="178002"/>
                </a:lnTo>
                <a:lnTo>
                  <a:pt x="169363" y="178002"/>
                </a:lnTo>
                <a:lnTo>
                  <a:pt x="169363" y="237336"/>
                </a:lnTo>
                <a:lnTo>
                  <a:pt x="288032" y="118668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60032" y="2780927"/>
            <a:ext cx="0" cy="1836420"/>
          </a:xfrm>
          <a:custGeom>
            <a:avLst/>
            <a:gdLst/>
            <a:ahLst/>
            <a:cxnLst/>
            <a:rect l="l" t="t" r="r" b="b"/>
            <a:pathLst>
              <a:path h="1836420">
                <a:moveTo>
                  <a:pt x="0" y="0"/>
                </a:moveTo>
                <a:lnTo>
                  <a:pt x="1" y="1836000"/>
                </a:lnTo>
              </a:path>
            </a:pathLst>
          </a:custGeom>
          <a:ln w="95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113087" y="5085327"/>
            <a:ext cx="0" cy="1296035"/>
          </a:xfrm>
          <a:custGeom>
            <a:avLst/>
            <a:gdLst/>
            <a:ahLst/>
            <a:cxnLst/>
            <a:rect l="l" t="t" r="r" b="b"/>
            <a:pathLst>
              <a:path h="1296035">
                <a:moveTo>
                  <a:pt x="0" y="0"/>
                </a:moveTo>
                <a:lnTo>
                  <a:pt x="1" y="1296000"/>
                </a:lnTo>
              </a:path>
            </a:pathLst>
          </a:custGeom>
          <a:ln w="95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551" y="3858681"/>
            <a:ext cx="1172673" cy="115449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239130" y="4217367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32752411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803695" y="4279727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3"/>
                </a:lnTo>
                <a:lnTo>
                  <a:pt x="0" y="59333"/>
                </a:lnTo>
                <a:lnTo>
                  <a:pt x="0" y="178001"/>
                </a:lnTo>
                <a:lnTo>
                  <a:pt x="169363" y="178001"/>
                </a:lnTo>
                <a:lnTo>
                  <a:pt x="169363" y="237336"/>
                </a:lnTo>
                <a:lnTo>
                  <a:pt x="288032" y="118667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175" y="2420887"/>
            <a:ext cx="1193410" cy="1199187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247756" y="2851513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24748552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73943" y="2901812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4" y="0"/>
                </a:moveTo>
                <a:lnTo>
                  <a:pt x="169364" y="59334"/>
                </a:lnTo>
                <a:lnTo>
                  <a:pt x="0" y="59334"/>
                </a:lnTo>
                <a:lnTo>
                  <a:pt x="0" y="178003"/>
                </a:lnTo>
                <a:lnTo>
                  <a:pt x="169364" y="178003"/>
                </a:lnTo>
                <a:lnTo>
                  <a:pt x="169364" y="237337"/>
                </a:lnTo>
                <a:lnTo>
                  <a:pt x="288032" y="118668"/>
                </a:lnTo>
                <a:lnTo>
                  <a:pt x="169364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323539" y="4881316"/>
            <a:ext cx="1065530" cy="552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1870"/>
              </a:lnSpc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20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24415124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86306" y="5087735"/>
            <a:ext cx="121285" cy="1103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15"/>
              </a:lnSpc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45"/>
              </a:lnSpc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56553" y="5094676"/>
            <a:ext cx="43180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26%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23539" y="5679892"/>
            <a:ext cx="1521460" cy="546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5819">
              <a:lnSpc>
                <a:spcPts val="1870"/>
              </a:lnSpc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11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600" dirty="0">
                <a:solidFill>
                  <a:srgbClr val="141514"/>
                </a:solidFill>
                <a:latin typeface="Courier New"/>
                <a:cs typeface="Courier New"/>
              </a:rPr>
              <a:t>32543213</a:t>
            </a:r>
            <a:r>
              <a:rPr sz="1600" spc="-155" dirty="0">
                <a:solidFill>
                  <a:srgbClr val="141514"/>
                </a:solidFill>
                <a:latin typeface="Courier New"/>
                <a:cs typeface="Courier New"/>
              </a:rPr>
              <a:t> </a:t>
            </a:r>
            <a:r>
              <a:rPr sz="2400" spc="-37" baseline="1736" dirty="0">
                <a:solidFill>
                  <a:srgbClr val="000080"/>
                </a:solidFill>
                <a:latin typeface="Arial MT"/>
                <a:cs typeface="Arial MT"/>
              </a:rPr>
              <a:t>14%</a:t>
            </a:r>
            <a:endParaRPr sz="2400" baseline="1736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760" y="222233"/>
            <a:ext cx="6915147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The</a:t>
            </a:r>
            <a:r>
              <a:rPr b="1" spc="-65" dirty="0"/>
              <a:t> </a:t>
            </a:r>
            <a:r>
              <a:rPr b="1" spc="-10" dirty="0"/>
              <a:t>8-</a:t>
            </a:r>
            <a:r>
              <a:rPr b="1" dirty="0"/>
              <a:t>queen</a:t>
            </a:r>
            <a:r>
              <a:rPr b="1" spc="-70" dirty="0"/>
              <a:t> </a:t>
            </a:r>
            <a:r>
              <a:rPr b="1" spc="-10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34369" y="5143138"/>
            <a:ext cx="1181735" cy="348615"/>
            <a:chOff x="2234369" y="5143138"/>
            <a:chExt cx="1181735" cy="348615"/>
          </a:xfrm>
        </p:grpSpPr>
        <p:sp>
          <p:nvSpPr>
            <p:cNvPr id="4" name="object 4"/>
            <p:cNvSpPr/>
            <p:nvPr/>
          </p:nvSpPr>
          <p:spPr>
            <a:xfrm>
              <a:off x="2239131" y="5147900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1172116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1172116" y="338554"/>
                  </a:lnTo>
                  <a:lnTo>
                    <a:pt x="117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9131" y="5147900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0" y="0"/>
                  </a:moveTo>
                  <a:lnTo>
                    <a:pt x="1172116" y="0"/>
                  </a:lnTo>
                  <a:lnTo>
                    <a:pt x="1172116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23539" y="5154676"/>
            <a:ext cx="10039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24415124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34369" y="5935225"/>
            <a:ext cx="1181735" cy="348615"/>
            <a:chOff x="2234369" y="5935225"/>
            <a:chExt cx="1181735" cy="348615"/>
          </a:xfrm>
        </p:grpSpPr>
        <p:sp>
          <p:nvSpPr>
            <p:cNvPr id="8" name="object 8"/>
            <p:cNvSpPr/>
            <p:nvPr/>
          </p:nvSpPr>
          <p:spPr>
            <a:xfrm>
              <a:off x="2239131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1172116" y="0"/>
                  </a:moveTo>
                  <a:lnTo>
                    <a:pt x="0" y="0"/>
                  </a:lnTo>
                  <a:lnTo>
                    <a:pt x="0" y="338553"/>
                  </a:lnTo>
                  <a:lnTo>
                    <a:pt x="1172116" y="338553"/>
                  </a:lnTo>
                  <a:lnTo>
                    <a:pt x="117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39131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10" h="339089">
                  <a:moveTo>
                    <a:pt x="0" y="0"/>
                  </a:moveTo>
                  <a:lnTo>
                    <a:pt x="1172116" y="0"/>
                  </a:lnTo>
                  <a:lnTo>
                    <a:pt x="1172116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86306" y="5071364"/>
            <a:ext cx="121285" cy="111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45"/>
              </a:lnSpc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57974" y="3914140"/>
            <a:ext cx="2508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37909" y="4862067"/>
            <a:ext cx="2508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56953" y="5660644"/>
            <a:ext cx="2235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0" dirty="0">
                <a:solidFill>
                  <a:srgbClr val="000080"/>
                </a:solidFill>
                <a:latin typeface="Arial MT"/>
                <a:cs typeface="Arial MT"/>
              </a:rPr>
              <a:t>11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85736" y="2819908"/>
            <a:ext cx="431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31%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12125" y="4182364"/>
            <a:ext cx="431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29%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56553" y="5075428"/>
            <a:ext cx="431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26%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23539" y="5947155"/>
            <a:ext cx="152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41514"/>
                </a:solidFill>
                <a:latin typeface="Courier New"/>
                <a:cs typeface="Courier New"/>
              </a:rPr>
              <a:t>32543213</a:t>
            </a:r>
            <a:r>
              <a:rPr sz="1600" spc="-155" dirty="0">
                <a:solidFill>
                  <a:srgbClr val="141514"/>
                </a:solidFill>
                <a:latin typeface="Courier New"/>
                <a:cs typeface="Courier New"/>
              </a:rPr>
              <a:t> </a:t>
            </a:r>
            <a:r>
              <a:rPr sz="2400" spc="-37" baseline="1736" dirty="0">
                <a:solidFill>
                  <a:srgbClr val="000080"/>
                </a:solidFill>
                <a:latin typeface="Arial MT"/>
                <a:cs typeface="Arial MT"/>
              </a:rPr>
              <a:t>14%</a:t>
            </a:r>
            <a:endParaRPr sz="2400" baseline="1736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402380" y="3010297"/>
            <a:ext cx="1009015" cy="1329690"/>
          </a:xfrm>
          <a:custGeom>
            <a:avLst/>
            <a:gdLst/>
            <a:ahLst/>
            <a:cxnLst/>
            <a:rect l="l" t="t" r="r" b="b"/>
            <a:pathLst>
              <a:path w="1009014" h="1329689">
                <a:moveTo>
                  <a:pt x="881185" y="1266499"/>
                </a:moveTo>
                <a:lnTo>
                  <a:pt x="1008411" y="1329545"/>
                </a:lnTo>
                <a:lnTo>
                  <a:pt x="998376" y="1275448"/>
                </a:lnTo>
                <a:lnTo>
                  <a:pt x="953607" y="1275448"/>
                </a:lnTo>
                <a:lnTo>
                  <a:pt x="948248" y="1268355"/>
                </a:lnTo>
                <a:lnTo>
                  <a:pt x="881185" y="1266499"/>
                </a:lnTo>
                <a:close/>
              </a:path>
              <a:path w="1009014" h="1329689">
                <a:moveTo>
                  <a:pt x="948248" y="1268355"/>
                </a:moveTo>
                <a:lnTo>
                  <a:pt x="953607" y="1275448"/>
                </a:lnTo>
                <a:lnTo>
                  <a:pt x="962473" y="1268749"/>
                </a:lnTo>
                <a:lnTo>
                  <a:pt x="948248" y="1268355"/>
                </a:lnTo>
                <a:close/>
              </a:path>
              <a:path w="1009014" h="1329689">
                <a:moveTo>
                  <a:pt x="982512" y="1189936"/>
                </a:moveTo>
                <a:lnTo>
                  <a:pt x="965981" y="1254957"/>
                </a:lnTo>
                <a:lnTo>
                  <a:pt x="971340" y="1262049"/>
                </a:lnTo>
                <a:lnTo>
                  <a:pt x="953607" y="1275448"/>
                </a:lnTo>
                <a:lnTo>
                  <a:pt x="998376" y="1275448"/>
                </a:lnTo>
                <a:lnTo>
                  <a:pt x="982512" y="1189936"/>
                </a:lnTo>
                <a:close/>
              </a:path>
              <a:path w="1009014" h="1329689">
                <a:moveTo>
                  <a:pt x="17731" y="0"/>
                </a:moveTo>
                <a:lnTo>
                  <a:pt x="0" y="13398"/>
                </a:lnTo>
                <a:lnTo>
                  <a:pt x="948248" y="1268355"/>
                </a:lnTo>
                <a:lnTo>
                  <a:pt x="962474" y="1268749"/>
                </a:lnTo>
                <a:lnTo>
                  <a:pt x="965981" y="1254957"/>
                </a:lnTo>
                <a:lnTo>
                  <a:pt x="17731" y="0"/>
                </a:lnTo>
                <a:close/>
              </a:path>
              <a:path w="1009014" h="1329689">
                <a:moveTo>
                  <a:pt x="965981" y="1254957"/>
                </a:moveTo>
                <a:lnTo>
                  <a:pt x="962574" y="1268355"/>
                </a:lnTo>
                <a:lnTo>
                  <a:pt x="962474" y="1268749"/>
                </a:lnTo>
                <a:lnTo>
                  <a:pt x="971340" y="1262049"/>
                </a:lnTo>
                <a:lnTo>
                  <a:pt x="965981" y="1254957"/>
                </a:lnTo>
                <a:close/>
              </a:path>
            </a:pathLst>
          </a:custGeom>
          <a:solidFill>
            <a:srgbClr val="14151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397468" y="2848173"/>
          <a:ext cx="1308735" cy="1762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45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2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3275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9525">
                      <a:solidFill>
                        <a:srgbClr val="141514"/>
                      </a:solidFill>
                      <a:prstDash val="solid"/>
                    </a:lnL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CDCECD"/>
                    </a:solidFill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2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2411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80"/>
                      </a:solidFill>
                      <a:prstDash val="sysDash"/>
                    </a:lnL>
                    <a:lnR w="9525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CDCE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535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80"/>
                      </a:solidFill>
                      <a:prstDash val="sysDash"/>
                    </a:lnL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spc="-2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2474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L w="9525">
                      <a:solidFill>
                        <a:srgbClr val="141514"/>
                      </a:solidFill>
                      <a:prstDash val="solid"/>
                    </a:lnL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spc="-2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8552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L w="9525">
                      <a:solidFill>
                        <a:srgbClr val="000080"/>
                      </a:solidFill>
                      <a:prstDash val="sysDash"/>
                    </a:lnL>
                    <a:lnR w="9525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314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80"/>
                      </a:solidFill>
                      <a:prstDash val="sysDash"/>
                    </a:lnL>
                    <a:lnT w="9525">
                      <a:solidFill>
                        <a:srgbClr val="14151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4397468" y="5152429"/>
          <a:ext cx="1309370" cy="1223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3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455"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1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327524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9525">
                      <a:solidFill>
                        <a:srgbClr val="141514"/>
                      </a:solidFill>
                      <a:prstDash val="solid"/>
                    </a:lnL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CDCECD"/>
                    </a:solidFill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25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80"/>
                      </a:solidFill>
                      <a:prstDash val="sysDash"/>
                    </a:lnL>
                    <a:lnR w="9525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CDCE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80"/>
                      </a:solidFill>
                      <a:prstDash val="sysDash"/>
                    </a:lnL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spc="-1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244151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9525">
                      <a:solidFill>
                        <a:srgbClr val="141514"/>
                      </a:solidFill>
                      <a:prstDash val="solid"/>
                    </a:lnL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spc="-25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24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9525">
                      <a:solidFill>
                        <a:srgbClr val="000080"/>
                      </a:solidFill>
                      <a:prstDash val="sysDash"/>
                    </a:lnL>
                    <a:lnR w="9525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10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80"/>
                      </a:solidFill>
                      <a:prstDash val="sysDash"/>
                    </a:lnL>
                    <a:lnT w="9525">
                      <a:solidFill>
                        <a:srgbClr val="14151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3402266" y="3022218"/>
            <a:ext cx="1009015" cy="3046095"/>
          </a:xfrm>
          <a:custGeom>
            <a:avLst/>
            <a:gdLst/>
            <a:ahLst/>
            <a:cxnLst/>
            <a:rect l="l" t="t" r="r" b="b"/>
            <a:pathLst>
              <a:path w="1009014" h="3046095">
                <a:moveTo>
                  <a:pt x="999959" y="0"/>
                </a:moveTo>
                <a:lnTo>
                  <a:pt x="873823" y="65189"/>
                </a:lnTo>
                <a:lnTo>
                  <a:pt x="940841" y="62204"/>
                </a:lnTo>
                <a:lnTo>
                  <a:pt x="955052" y="61569"/>
                </a:lnTo>
                <a:lnTo>
                  <a:pt x="940841" y="62204"/>
                </a:lnTo>
                <a:lnTo>
                  <a:pt x="0" y="1352308"/>
                </a:lnTo>
                <a:lnTo>
                  <a:pt x="8978" y="1358861"/>
                </a:lnTo>
                <a:lnTo>
                  <a:pt x="1308" y="1366901"/>
                </a:lnTo>
                <a:lnTo>
                  <a:pt x="930719" y="2253564"/>
                </a:lnTo>
                <a:lnTo>
                  <a:pt x="864235" y="2262543"/>
                </a:lnTo>
                <a:lnTo>
                  <a:pt x="999959" y="2304250"/>
                </a:lnTo>
                <a:lnTo>
                  <a:pt x="983932" y="2259698"/>
                </a:lnTo>
                <a:lnTo>
                  <a:pt x="951903" y="2170646"/>
                </a:lnTo>
                <a:lnTo>
                  <a:pt x="946061" y="2237486"/>
                </a:lnTo>
                <a:lnTo>
                  <a:pt x="944829" y="2251659"/>
                </a:lnTo>
                <a:lnTo>
                  <a:pt x="937158" y="2259698"/>
                </a:lnTo>
                <a:lnTo>
                  <a:pt x="944816" y="2251659"/>
                </a:lnTo>
                <a:lnTo>
                  <a:pt x="946061" y="2237486"/>
                </a:lnTo>
                <a:lnTo>
                  <a:pt x="23685" y="1357541"/>
                </a:lnTo>
                <a:lnTo>
                  <a:pt x="958799" y="75298"/>
                </a:lnTo>
                <a:lnTo>
                  <a:pt x="976439" y="140030"/>
                </a:lnTo>
                <a:lnTo>
                  <a:pt x="990714" y="55016"/>
                </a:lnTo>
                <a:lnTo>
                  <a:pt x="999959" y="0"/>
                </a:lnTo>
                <a:close/>
              </a:path>
              <a:path w="1009014" h="3046095">
                <a:moveTo>
                  <a:pt x="1008519" y="3045828"/>
                </a:moveTo>
                <a:lnTo>
                  <a:pt x="990117" y="3008934"/>
                </a:lnTo>
                <a:lnTo>
                  <a:pt x="945121" y="2918777"/>
                </a:lnTo>
                <a:lnTo>
                  <a:pt x="947166" y="2985833"/>
                </a:lnTo>
                <a:lnTo>
                  <a:pt x="15646" y="2286076"/>
                </a:lnTo>
                <a:lnTo>
                  <a:pt x="2298" y="2303843"/>
                </a:lnTo>
                <a:lnTo>
                  <a:pt x="933818" y="3003600"/>
                </a:lnTo>
                <a:lnTo>
                  <a:pt x="868845" y="3020314"/>
                </a:lnTo>
                <a:lnTo>
                  <a:pt x="1008519" y="3045828"/>
                </a:lnTo>
                <a:close/>
              </a:path>
            </a:pathLst>
          </a:custGeom>
          <a:solidFill>
            <a:srgbClr val="14151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6175571" y="2842957"/>
            <a:ext cx="1181735" cy="348615"/>
            <a:chOff x="6175571" y="2842957"/>
            <a:chExt cx="1181735" cy="348615"/>
          </a:xfrm>
        </p:grpSpPr>
        <p:sp>
          <p:nvSpPr>
            <p:cNvPr id="23" name="object 23"/>
            <p:cNvSpPr/>
            <p:nvPr/>
          </p:nvSpPr>
          <p:spPr>
            <a:xfrm>
              <a:off x="6180334" y="2847719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1172117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1172117" y="338554"/>
                  </a:lnTo>
                  <a:lnTo>
                    <a:pt x="11721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80334" y="2847719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0" y="0"/>
                  </a:moveTo>
                  <a:lnTo>
                    <a:pt x="1172117" y="0"/>
                  </a:lnTo>
                  <a:lnTo>
                    <a:pt x="1172117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264742" y="2856484"/>
            <a:ext cx="10039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32748552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184132" y="4207033"/>
            <a:ext cx="1181735" cy="348615"/>
            <a:chOff x="6184132" y="4207033"/>
            <a:chExt cx="1181735" cy="348615"/>
          </a:xfrm>
        </p:grpSpPr>
        <p:sp>
          <p:nvSpPr>
            <p:cNvPr id="27" name="object 27"/>
            <p:cNvSpPr/>
            <p:nvPr/>
          </p:nvSpPr>
          <p:spPr>
            <a:xfrm>
              <a:off x="6188895" y="4211796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1172116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1172116" y="338554"/>
                  </a:lnTo>
                  <a:lnTo>
                    <a:pt x="117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88895" y="4211796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0" y="0"/>
                  </a:moveTo>
                  <a:lnTo>
                    <a:pt x="1172117" y="0"/>
                  </a:lnTo>
                  <a:lnTo>
                    <a:pt x="1172117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273301" y="4218940"/>
            <a:ext cx="10039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24752411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175570" y="5143138"/>
            <a:ext cx="1181735" cy="348615"/>
            <a:chOff x="6175570" y="5143138"/>
            <a:chExt cx="1181735" cy="348615"/>
          </a:xfrm>
        </p:grpSpPr>
        <p:sp>
          <p:nvSpPr>
            <p:cNvPr id="31" name="object 31"/>
            <p:cNvSpPr/>
            <p:nvPr/>
          </p:nvSpPr>
          <p:spPr>
            <a:xfrm>
              <a:off x="6180333" y="5147900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1172117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1172117" y="338554"/>
                  </a:lnTo>
                  <a:lnTo>
                    <a:pt x="11721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80333" y="5147900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0" y="0"/>
                  </a:moveTo>
                  <a:lnTo>
                    <a:pt x="1172117" y="0"/>
                  </a:lnTo>
                  <a:lnTo>
                    <a:pt x="1172117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264742" y="5154676"/>
            <a:ext cx="10039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32752124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184132" y="5935225"/>
            <a:ext cx="1181735" cy="348615"/>
            <a:chOff x="6184132" y="5935225"/>
            <a:chExt cx="1181735" cy="348615"/>
          </a:xfrm>
        </p:grpSpPr>
        <p:sp>
          <p:nvSpPr>
            <p:cNvPr id="35" name="object 35"/>
            <p:cNvSpPr/>
            <p:nvPr/>
          </p:nvSpPr>
          <p:spPr>
            <a:xfrm>
              <a:off x="6188895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1172116" y="0"/>
                  </a:moveTo>
                  <a:lnTo>
                    <a:pt x="0" y="0"/>
                  </a:lnTo>
                  <a:lnTo>
                    <a:pt x="0" y="338553"/>
                  </a:lnTo>
                  <a:lnTo>
                    <a:pt x="1172116" y="338553"/>
                  </a:lnTo>
                  <a:lnTo>
                    <a:pt x="117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188895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0" y="0"/>
                  </a:moveTo>
                  <a:lnTo>
                    <a:pt x="1172117" y="0"/>
                  </a:lnTo>
                  <a:lnTo>
                    <a:pt x="1172117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273301" y="5947155"/>
            <a:ext cx="10039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24415411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865318" y="5198507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4"/>
                </a:lnTo>
                <a:lnTo>
                  <a:pt x="0" y="59334"/>
                </a:lnTo>
                <a:lnTo>
                  <a:pt x="0" y="178003"/>
                </a:lnTo>
                <a:lnTo>
                  <a:pt x="169363" y="178003"/>
                </a:lnTo>
                <a:lnTo>
                  <a:pt x="169363" y="237337"/>
                </a:lnTo>
                <a:lnTo>
                  <a:pt x="288032" y="118668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65318" y="5990595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4"/>
                </a:lnTo>
                <a:lnTo>
                  <a:pt x="0" y="59334"/>
                </a:lnTo>
                <a:lnTo>
                  <a:pt x="0" y="178002"/>
                </a:lnTo>
                <a:lnTo>
                  <a:pt x="169363" y="178002"/>
                </a:lnTo>
                <a:lnTo>
                  <a:pt x="169363" y="237336"/>
                </a:lnTo>
                <a:lnTo>
                  <a:pt x="288032" y="118668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860032" y="2780927"/>
            <a:ext cx="0" cy="1836420"/>
          </a:xfrm>
          <a:custGeom>
            <a:avLst/>
            <a:gdLst/>
            <a:ahLst/>
            <a:cxnLst/>
            <a:rect l="l" t="t" r="r" b="b"/>
            <a:pathLst>
              <a:path h="1836420">
                <a:moveTo>
                  <a:pt x="0" y="0"/>
                </a:moveTo>
                <a:lnTo>
                  <a:pt x="1" y="1836000"/>
                </a:lnTo>
              </a:path>
            </a:pathLst>
          </a:custGeom>
          <a:ln w="95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113087" y="5085327"/>
            <a:ext cx="0" cy="1296035"/>
          </a:xfrm>
          <a:custGeom>
            <a:avLst/>
            <a:gdLst/>
            <a:ahLst/>
            <a:cxnLst/>
            <a:rect l="l" t="t" r="r" b="b"/>
            <a:pathLst>
              <a:path h="1296035">
                <a:moveTo>
                  <a:pt x="0" y="0"/>
                </a:moveTo>
                <a:lnTo>
                  <a:pt x="1" y="1296000"/>
                </a:lnTo>
              </a:path>
            </a:pathLst>
          </a:custGeom>
          <a:ln w="95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5563236" y="2828544"/>
            <a:ext cx="1819275" cy="1786255"/>
            <a:chOff x="5563236" y="2828544"/>
            <a:chExt cx="1819275" cy="1786255"/>
          </a:xfrm>
        </p:grpSpPr>
        <p:sp>
          <p:nvSpPr>
            <p:cNvPr id="43" name="object 43"/>
            <p:cNvSpPr/>
            <p:nvPr/>
          </p:nvSpPr>
          <p:spPr>
            <a:xfrm>
              <a:off x="5933662" y="3016996"/>
              <a:ext cx="262890" cy="650240"/>
            </a:xfrm>
            <a:custGeom>
              <a:avLst/>
              <a:gdLst/>
              <a:ahLst/>
              <a:cxnLst/>
              <a:rect l="l" t="t" r="r" b="b"/>
              <a:pathLst>
                <a:path w="262889" h="650239">
                  <a:moveTo>
                    <a:pt x="220502" y="71565"/>
                  </a:moveTo>
                  <a:lnTo>
                    <a:pt x="207013" y="76098"/>
                  </a:lnTo>
                  <a:lnTo>
                    <a:pt x="0" y="642211"/>
                  </a:lnTo>
                  <a:lnTo>
                    <a:pt x="20873" y="649843"/>
                  </a:lnTo>
                  <a:lnTo>
                    <a:pt x="227886" y="83731"/>
                  </a:lnTo>
                  <a:lnTo>
                    <a:pt x="220502" y="71565"/>
                  </a:lnTo>
                  <a:close/>
                </a:path>
                <a:path w="262889" h="650239">
                  <a:moveTo>
                    <a:pt x="254366" y="67749"/>
                  </a:moveTo>
                  <a:lnTo>
                    <a:pt x="210066" y="67749"/>
                  </a:lnTo>
                  <a:lnTo>
                    <a:pt x="230939" y="75382"/>
                  </a:lnTo>
                  <a:lnTo>
                    <a:pt x="227886" y="83731"/>
                  </a:lnTo>
                  <a:lnTo>
                    <a:pt x="262694" y="141084"/>
                  </a:lnTo>
                  <a:lnTo>
                    <a:pt x="254366" y="67749"/>
                  </a:lnTo>
                  <a:close/>
                </a:path>
                <a:path w="262889" h="650239">
                  <a:moveTo>
                    <a:pt x="246672" y="0"/>
                  </a:moveTo>
                  <a:lnTo>
                    <a:pt x="143418" y="97467"/>
                  </a:lnTo>
                  <a:lnTo>
                    <a:pt x="207013" y="76098"/>
                  </a:lnTo>
                  <a:lnTo>
                    <a:pt x="210066" y="67749"/>
                  </a:lnTo>
                  <a:lnTo>
                    <a:pt x="254366" y="67749"/>
                  </a:lnTo>
                  <a:lnTo>
                    <a:pt x="246672" y="0"/>
                  </a:lnTo>
                  <a:close/>
                </a:path>
                <a:path w="262889" h="650239">
                  <a:moveTo>
                    <a:pt x="220503" y="71565"/>
                  </a:moveTo>
                  <a:lnTo>
                    <a:pt x="227886" y="83731"/>
                  </a:lnTo>
                  <a:lnTo>
                    <a:pt x="230939" y="75382"/>
                  </a:lnTo>
                  <a:lnTo>
                    <a:pt x="220503" y="71565"/>
                  </a:lnTo>
                  <a:close/>
                </a:path>
                <a:path w="262889" h="650239">
                  <a:moveTo>
                    <a:pt x="210066" y="67749"/>
                  </a:moveTo>
                  <a:lnTo>
                    <a:pt x="207013" y="76098"/>
                  </a:lnTo>
                  <a:lnTo>
                    <a:pt x="220502" y="71565"/>
                  </a:lnTo>
                  <a:lnTo>
                    <a:pt x="210066" y="67749"/>
                  </a:lnTo>
                  <a:close/>
                </a:path>
              </a:pathLst>
            </a:custGeom>
            <a:solidFill>
              <a:srgbClr val="1415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574348" y="3022212"/>
              <a:ext cx="226060" cy="641350"/>
            </a:xfrm>
            <a:custGeom>
              <a:avLst/>
              <a:gdLst/>
              <a:ahLst/>
              <a:cxnLst/>
              <a:rect l="l" t="t" r="r" b="b"/>
              <a:pathLst>
                <a:path w="226060" h="641350">
                  <a:moveTo>
                    <a:pt x="0" y="0"/>
                  </a:moveTo>
                  <a:lnTo>
                    <a:pt x="225750" y="640811"/>
                  </a:lnTo>
                </a:path>
              </a:pathLst>
            </a:custGeom>
            <a:ln w="222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582909" y="3663023"/>
              <a:ext cx="217804" cy="676910"/>
            </a:xfrm>
            <a:custGeom>
              <a:avLst/>
              <a:gdLst/>
              <a:ahLst/>
              <a:cxnLst/>
              <a:rect l="l" t="t" r="r" b="b"/>
              <a:pathLst>
                <a:path w="217804" h="676910">
                  <a:moveTo>
                    <a:pt x="0" y="676819"/>
                  </a:moveTo>
                  <a:lnTo>
                    <a:pt x="217189" y="0"/>
                  </a:lnTo>
                </a:path>
              </a:pathLst>
            </a:custGeom>
            <a:ln w="222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00090" y="3645026"/>
              <a:ext cx="408305" cy="736600"/>
            </a:xfrm>
            <a:custGeom>
              <a:avLst/>
              <a:gdLst/>
              <a:ahLst/>
              <a:cxnLst/>
              <a:rect l="l" t="t" r="r" b="b"/>
              <a:pathLst>
                <a:path w="408304" h="736600">
                  <a:moveTo>
                    <a:pt x="407924" y="595350"/>
                  </a:moveTo>
                  <a:lnTo>
                    <a:pt x="371856" y="651929"/>
                  </a:lnTo>
                  <a:lnTo>
                    <a:pt x="154520" y="14414"/>
                  </a:lnTo>
                  <a:lnTo>
                    <a:pt x="144005" y="18008"/>
                  </a:lnTo>
                  <a:lnTo>
                    <a:pt x="144005" y="0"/>
                  </a:lnTo>
                  <a:lnTo>
                    <a:pt x="0" y="0"/>
                  </a:lnTo>
                  <a:lnTo>
                    <a:pt x="0" y="36004"/>
                  </a:lnTo>
                  <a:lnTo>
                    <a:pt x="138391" y="36004"/>
                  </a:lnTo>
                  <a:lnTo>
                    <a:pt x="350824" y="659104"/>
                  </a:lnTo>
                  <a:lnTo>
                    <a:pt x="287718" y="636333"/>
                  </a:lnTo>
                  <a:lnTo>
                    <a:pt x="388797" y="736053"/>
                  </a:lnTo>
                  <a:lnTo>
                    <a:pt x="398119" y="667512"/>
                  </a:lnTo>
                  <a:lnTo>
                    <a:pt x="407924" y="595350"/>
                  </a:lnTo>
                  <a:close/>
                </a:path>
              </a:pathLst>
            </a:custGeom>
            <a:solidFill>
              <a:srgbClr val="1415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7816" y="2828544"/>
              <a:ext cx="554736" cy="42367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188895" y="2847719"/>
              <a:ext cx="471805" cy="339090"/>
            </a:xfrm>
            <a:custGeom>
              <a:avLst/>
              <a:gdLst/>
              <a:ahLst/>
              <a:cxnLst/>
              <a:rect l="l" t="t" r="r" b="b"/>
              <a:pathLst>
                <a:path w="471804" h="339089">
                  <a:moveTo>
                    <a:pt x="471336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471336" y="338554"/>
                  </a:lnTo>
                  <a:lnTo>
                    <a:pt x="471336" y="0"/>
                  </a:lnTo>
                  <a:close/>
                </a:path>
              </a:pathLst>
            </a:custGeom>
            <a:solidFill>
              <a:srgbClr val="B8BAB8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7208" y="4194047"/>
              <a:ext cx="765048" cy="42062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660231" y="4211796"/>
              <a:ext cx="681990" cy="339090"/>
            </a:xfrm>
            <a:custGeom>
              <a:avLst/>
              <a:gdLst/>
              <a:ahLst/>
              <a:cxnLst/>
              <a:rect l="l" t="t" r="r" b="b"/>
              <a:pathLst>
                <a:path w="681990" h="339089">
                  <a:moveTo>
                    <a:pt x="681796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681796" y="338554"/>
                  </a:lnTo>
                  <a:lnTo>
                    <a:pt x="681796" y="0"/>
                  </a:lnTo>
                  <a:close/>
                </a:path>
              </a:pathLst>
            </a:custGeom>
            <a:solidFill>
              <a:srgbClr val="B8BAB8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5563236" y="5117591"/>
            <a:ext cx="1819275" cy="1225550"/>
            <a:chOff x="5563236" y="5117591"/>
            <a:chExt cx="1819275" cy="1225550"/>
          </a:xfrm>
        </p:grpSpPr>
        <p:sp>
          <p:nvSpPr>
            <p:cNvPr id="52" name="object 52"/>
            <p:cNvSpPr/>
            <p:nvPr/>
          </p:nvSpPr>
          <p:spPr>
            <a:xfrm>
              <a:off x="5934581" y="5317176"/>
              <a:ext cx="246379" cy="398145"/>
            </a:xfrm>
            <a:custGeom>
              <a:avLst/>
              <a:gdLst/>
              <a:ahLst/>
              <a:cxnLst/>
              <a:rect l="l" t="t" r="r" b="b"/>
              <a:pathLst>
                <a:path w="246379" h="398145">
                  <a:moveTo>
                    <a:pt x="206408" y="65257"/>
                  </a:moveTo>
                  <a:lnTo>
                    <a:pt x="192301" y="67133"/>
                  </a:lnTo>
                  <a:lnTo>
                    <a:pt x="0" y="386088"/>
                  </a:lnTo>
                  <a:lnTo>
                    <a:pt x="19033" y="397564"/>
                  </a:lnTo>
                  <a:lnTo>
                    <a:pt x="211334" y="78608"/>
                  </a:lnTo>
                  <a:lnTo>
                    <a:pt x="206408" y="65257"/>
                  </a:lnTo>
                  <a:close/>
                </a:path>
                <a:path w="246379" h="398145">
                  <a:moveTo>
                    <a:pt x="241046" y="59519"/>
                  </a:moveTo>
                  <a:lnTo>
                    <a:pt x="196891" y="59519"/>
                  </a:lnTo>
                  <a:lnTo>
                    <a:pt x="215924" y="70995"/>
                  </a:lnTo>
                  <a:lnTo>
                    <a:pt x="211334" y="78608"/>
                  </a:lnTo>
                  <a:lnTo>
                    <a:pt x="234560" y="141549"/>
                  </a:lnTo>
                  <a:lnTo>
                    <a:pt x="241046" y="59519"/>
                  </a:lnTo>
                  <a:close/>
                </a:path>
                <a:path w="246379" h="398145">
                  <a:moveTo>
                    <a:pt x="206408" y="65257"/>
                  </a:moveTo>
                  <a:lnTo>
                    <a:pt x="211334" y="78608"/>
                  </a:lnTo>
                  <a:lnTo>
                    <a:pt x="215924" y="70995"/>
                  </a:lnTo>
                  <a:lnTo>
                    <a:pt x="206408" y="65257"/>
                  </a:lnTo>
                  <a:close/>
                </a:path>
                <a:path w="246379" h="398145">
                  <a:moveTo>
                    <a:pt x="245752" y="0"/>
                  </a:moveTo>
                  <a:lnTo>
                    <a:pt x="125797" y="75975"/>
                  </a:lnTo>
                  <a:lnTo>
                    <a:pt x="192301" y="67133"/>
                  </a:lnTo>
                  <a:lnTo>
                    <a:pt x="196891" y="59519"/>
                  </a:lnTo>
                  <a:lnTo>
                    <a:pt x="241046" y="59519"/>
                  </a:lnTo>
                  <a:lnTo>
                    <a:pt x="245752" y="0"/>
                  </a:lnTo>
                  <a:close/>
                </a:path>
                <a:path w="246379" h="398145">
                  <a:moveTo>
                    <a:pt x="196891" y="59519"/>
                  </a:moveTo>
                  <a:lnTo>
                    <a:pt x="192301" y="67133"/>
                  </a:lnTo>
                  <a:lnTo>
                    <a:pt x="206408" y="65257"/>
                  </a:lnTo>
                  <a:lnTo>
                    <a:pt x="196891" y="59519"/>
                  </a:lnTo>
                  <a:close/>
                </a:path>
              </a:pathLst>
            </a:custGeom>
            <a:solidFill>
              <a:srgbClr val="1415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574348" y="5326468"/>
              <a:ext cx="226060" cy="382905"/>
            </a:xfrm>
            <a:custGeom>
              <a:avLst/>
              <a:gdLst/>
              <a:ahLst/>
              <a:cxnLst/>
              <a:rect l="l" t="t" r="r" b="b"/>
              <a:pathLst>
                <a:path w="226060" h="382904">
                  <a:moveTo>
                    <a:pt x="0" y="0"/>
                  </a:moveTo>
                  <a:lnTo>
                    <a:pt x="225750" y="382534"/>
                  </a:lnTo>
                </a:path>
              </a:pathLst>
            </a:custGeom>
            <a:ln w="222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582909" y="5709002"/>
              <a:ext cx="217804" cy="359410"/>
            </a:xfrm>
            <a:custGeom>
              <a:avLst/>
              <a:gdLst/>
              <a:ahLst/>
              <a:cxnLst/>
              <a:rect l="l" t="t" r="r" b="b"/>
              <a:pathLst>
                <a:path w="217804" h="359410">
                  <a:moveTo>
                    <a:pt x="0" y="359032"/>
                  </a:moveTo>
                  <a:lnTo>
                    <a:pt x="217189" y="0"/>
                  </a:lnTo>
                </a:path>
              </a:pathLst>
            </a:custGeom>
            <a:ln w="222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00090" y="5691009"/>
              <a:ext cx="389255" cy="418465"/>
            </a:xfrm>
            <a:custGeom>
              <a:avLst/>
              <a:gdLst/>
              <a:ahLst/>
              <a:cxnLst/>
              <a:rect l="l" t="t" r="r" b="b"/>
              <a:pathLst>
                <a:path w="389254" h="418464">
                  <a:moveTo>
                    <a:pt x="388797" y="418261"/>
                  </a:moveTo>
                  <a:lnTo>
                    <a:pt x="383743" y="359054"/>
                  </a:lnTo>
                  <a:lnTo>
                    <a:pt x="376707" y="276783"/>
                  </a:lnTo>
                  <a:lnTo>
                    <a:pt x="353885" y="339877"/>
                  </a:lnTo>
                  <a:lnTo>
                    <a:pt x="153479" y="12204"/>
                  </a:lnTo>
                  <a:lnTo>
                    <a:pt x="144005" y="18008"/>
                  </a:lnTo>
                  <a:lnTo>
                    <a:pt x="144005" y="0"/>
                  </a:lnTo>
                  <a:lnTo>
                    <a:pt x="0" y="0"/>
                  </a:lnTo>
                  <a:lnTo>
                    <a:pt x="0" y="36004"/>
                  </a:lnTo>
                  <a:lnTo>
                    <a:pt x="141973" y="36004"/>
                  </a:lnTo>
                  <a:lnTo>
                    <a:pt x="334924" y="351472"/>
                  </a:lnTo>
                  <a:lnTo>
                    <a:pt x="268363" y="343052"/>
                  </a:lnTo>
                  <a:lnTo>
                    <a:pt x="388797" y="418261"/>
                  </a:lnTo>
                  <a:close/>
                </a:path>
              </a:pathLst>
            </a:custGeom>
            <a:solidFill>
              <a:srgbClr val="1415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9152" y="5117591"/>
              <a:ext cx="765048" cy="42367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211900" y="5136853"/>
              <a:ext cx="681990" cy="339090"/>
            </a:xfrm>
            <a:custGeom>
              <a:avLst/>
              <a:gdLst/>
              <a:ahLst/>
              <a:cxnLst/>
              <a:rect l="l" t="t" r="r" b="b"/>
              <a:pathLst>
                <a:path w="681990" h="339089">
                  <a:moveTo>
                    <a:pt x="681796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681796" y="338554"/>
                  </a:lnTo>
                  <a:lnTo>
                    <a:pt x="681796" y="0"/>
                  </a:lnTo>
                  <a:close/>
                </a:path>
              </a:pathLst>
            </a:custGeom>
            <a:solidFill>
              <a:srgbClr val="B8BAB8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27520" y="5922263"/>
              <a:ext cx="554735" cy="420623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869687" y="5940148"/>
              <a:ext cx="471805" cy="339090"/>
            </a:xfrm>
            <a:custGeom>
              <a:avLst/>
              <a:gdLst/>
              <a:ahLst/>
              <a:cxnLst/>
              <a:rect l="l" t="t" r="r" b="b"/>
              <a:pathLst>
                <a:path w="471804" h="339089">
                  <a:moveTo>
                    <a:pt x="471336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471336" y="338554"/>
                  </a:lnTo>
                  <a:lnTo>
                    <a:pt x="471336" y="0"/>
                  </a:lnTo>
                  <a:close/>
                </a:path>
              </a:pathLst>
            </a:custGeom>
            <a:solidFill>
              <a:srgbClr val="B8BAB8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90299" y="1002284"/>
            <a:ext cx="7442834" cy="1821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80"/>
                </a:solidFill>
                <a:latin typeface="Arial"/>
                <a:cs typeface="Arial"/>
              </a:rPr>
              <a:t>Crossover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814"/>
              </a:spcBef>
            </a:pP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A</a:t>
            </a:r>
            <a:r>
              <a:rPr sz="2000" spc="-1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000080"/>
                </a:solidFill>
                <a:latin typeface="Arial"/>
                <a:cs typeface="Arial"/>
              </a:rPr>
              <a:t>crossover</a:t>
            </a:r>
            <a:r>
              <a:rPr sz="2000" b="1" spc="-5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point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is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chosen</a:t>
            </a:r>
            <a:r>
              <a:rPr sz="20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randomly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in</a:t>
            </a:r>
            <a:r>
              <a:rPr sz="20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string.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000080"/>
                </a:solidFill>
                <a:latin typeface="Arial"/>
                <a:cs typeface="Arial"/>
              </a:rPr>
              <a:t>Offspring</a:t>
            </a:r>
            <a:r>
              <a:rPr sz="2000" b="1" spc="-4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00080"/>
                </a:solidFill>
                <a:latin typeface="Arial MT"/>
                <a:cs typeface="Arial MT"/>
              </a:rPr>
              <a:t>are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created</a:t>
            </a:r>
            <a:r>
              <a:rPr sz="20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by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crossing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parents</a:t>
            </a:r>
            <a:r>
              <a:rPr sz="20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at</a:t>
            </a:r>
            <a:r>
              <a:rPr sz="20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crossover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80"/>
                </a:solidFill>
                <a:latin typeface="Arial MT"/>
                <a:cs typeface="Arial MT"/>
              </a:rPr>
              <a:t>point.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000">
              <a:latin typeface="Arial MT"/>
              <a:cs typeface="Arial MT"/>
            </a:endParaRPr>
          </a:p>
          <a:p>
            <a:pPr marL="2480310">
              <a:lnSpc>
                <a:spcPct val="100000"/>
              </a:lnSpc>
              <a:spcBef>
                <a:spcPts val="5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24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61" name="object 6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9551" y="3858681"/>
            <a:ext cx="1172673" cy="1154494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2239130" y="4217367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32752411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803695" y="4279727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3"/>
                </a:lnTo>
                <a:lnTo>
                  <a:pt x="0" y="59333"/>
                </a:lnTo>
                <a:lnTo>
                  <a:pt x="0" y="178001"/>
                </a:lnTo>
                <a:lnTo>
                  <a:pt x="169363" y="178001"/>
                </a:lnTo>
                <a:lnTo>
                  <a:pt x="169363" y="237336"/>
                </a:lnTo>
                <a:lnTo>
                  <a:pt x="288032" y="118667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object 6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8175" y="2420887"/>
            <a:ext cx="1193410" cy="1199187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2247756" y="2851513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24748552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873943" y="2901812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4" y="0"/>
                </a:moveTo>
                <a:lnTo>
                  <a:pt x="169364" y="59334"/>
                </a:lnTo>
                <a:lnTo>
                  <a:pt x="0" y="59334"/>
                </a:lnTo>
                <a:lnTo>
                  <a:pt x="0" y="178003"/>
                </a:lnTo>
                <a:lnTo>
                  <a:pt x="169364" y="178003"/>
                </a:lnTo>
                <a:lnTo>
                  <a:pt x="169364" y="237337"/>
                </a:lnTo>
                <a:lnTo>
                  <a:pt x="288032" y="118668"/>
                </a:lnTo>
                <a:lnTo>
                  <a:pt x="169364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8661401" y="6450400"/>
            <a:ext cx="351155" cy="28638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750" b="1" u="sng" spc="-20" dirty="0">
                <a:solidFill>
                  <a:srgbClr val="999B99"/>
                </a:solidFill>
                <a:uFill>
                  <a:solidFill>
                    <a:srgbClr val="FBC190"/>
                  </a:solidFill>
                </a:uFill>
                <a:latin typeface="Trebuchet MS"/>
                <a:cs typeface="Trebuchet MS"/>
              </a:rPr>
              <a:t> </a:t>
            </a:r>
            <a:r>
              <a:rPr sz="1750" b="1" u="sng" spc="-25" dirty="0">
                <a:solidFill>
                  <a:srgbClr val="999B99"/>
                </a:solidFill>
                <a:uFill>
                  <a:solidFill>
                    <a:srgbClr val="FBC190"/>
                  </a:solidFill>
                </a:uFill>
                <a:latin typeface="Trebuchet MS"/>
                <a:cs typeface="Trebuchet MS"/>
              </a:rPr>
              <a:t>28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551" y="389502"/>
            <a:ext cx="7067545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The</a:t>
            </a:r>
            <a:r>
              <a:rPr b="1" spc="-65" dirty="0"/>
              <a:t> </a:t>
            </a:r>
            <a:r>
              <a:rPr b="1" spc="-10" dirty="0"/>
              <a:t>8-</a:t>
            </a:r>
            <a:r>
              <a:rPr b="1" dirty="0"/>
              <a:t>queen</a:t>
            </a:r>
            <a:r>
              <a:rPr b="1" spc="-70" dirty="0"/>
              <a:t> </a:t>
            </a:r>
            <a:r>
              <a:rPr b="1" spc="-10" dirty="0"/>
              <a:t>Problem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 </a:t>
            </a: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239131" y="5147900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5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24415124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9131" y="5939987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55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32543213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6306" y="5071364"/>
            <a:ext cx="121285" cy="111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45"/>
              </a:lnSpc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spc="35" dirty="0">
                <a:solidFill>
                  <a:srgbClr val="660066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299" y="1002284"/>
            <a:ext cx="8035290" cy="1821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5" dirty="0">
                <a:solidFill>
                  <a:srgbClr val="000080"/>
                </a:solidFill>
                <a:latin typeface="Arial"/>
                <a:cs typeface="Arial"/>
              </a:rPr>
              <a:t>M</a:t>
            </a:r>
            <a:r>
              <a:rPr sz="2400" spc="85" dirty="0">
                <a:solidFill>
                  <a:srgbClr val="000080"/>
                </a:solidFill>
                <a:latin typeface="Arial MT"/>
                <a:cs typeface="Arial MT"/>
              </a:rPr>
              <a:t>utation</a:t>
            </a:r>
            <a:endParaRPr sz="24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814"/>
              </a:spcBef>
            </a:pP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Each</a:t>
            </a:r>
            <a:r>
              <a:rPr sz="20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element</a:t>
            </a:r>
            <a:r>
              <a:rPr sz="20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in</a:t>
            </a:r>
            <a:r>
              <a:rPr sz="20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string</a:t>
            </a:r>
            <a:r>
              <a:rPr sz="20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is</a:t>
            </a:r>
            <a:r>
              <a:rPr sz="20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also</a:t>
            </a:r>
            <a:r>
              <a:rPr sz="20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subject</a:t>
            </a:r>
            <a:r>
              <a:rPr sz="20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to</a:t>
            </a:r>
            <a:r>
              <a:rPr sz="20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some</a:t>
            </a:r>
            <a:r>
              <a:rPr sz="20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mutation</a:t>
            </a:r>
            <a:r>
              <a:rPr sz="20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with</a:t>
            </a:r>
            <a:r>
              <a:rPr sz="20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80"/>
                </a:solidFill>
                <a:latin typeface="Arial MT"/>
                <a:cs typeface="Arial MT"/>
              </a:rPr>
              <a:t>a</a:t>
            </a:r>
            <a:r>
              <a:rPr sz="20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80"/>
                </a:solidFill>
                <a:latin typeface="Arial MT"/>
                <a:cs typeface="Arial MT"/>
              </a:rPr>
              <a:t>small probability.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000" dirty="0">
              <a:latin typeface="Arial MT"/>
              <a:cs typeface="Arial MT"/>
            </a:endParaRPr>
          </a:p>
          <a:p>
            <a:pPr marL="2480310">
              <a:lnSpc>
                <a:spcPct val="100000"/>
              </a:lnSpc>
              <a:spcBef>
                <a:spcPts val="5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24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57974" y="3914140"/>
            <a:ext cx="2508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37909" y="4862067"/>
            <a:ext cx="2508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6953" y="5660644"/>
            <a:ext cx="2235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0" dirty="0">
                <a:solidFill>
                  <a:srgbClr val="000080"/>
                </a:solidFill>
                <a:latin typeface="Arial MT"/>
                <a:cs typeface="Arial MT"/>
              </a:rPr>
              <a:t>11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85736" y="2819908"/>
            <a:ext cx="431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31%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2125" y="4182364"/>
            <a:ext cx="431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29%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56553" y="5075428"/>
            <a:ext cx="431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26%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13793" y="5941059"/>
            <a:ext cx="431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14%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10987" y="3014115"/>
            <a:ext cx="1000125" cy="1325880"/>
          </a:xfrm>
          <a:custGeom>
            <a:avLst/>
            <a:gdLst/>
            <a:ahLst/>
            <a:cxnLst/>
            <a:rect l="l" t="t" r="r" b="b"/>
            <a:pathLst>
              <a:path w="1000125" h="1325879">
                <a:moveTo>
                  <a:pt x="872755" y="1262327"/>
                </a:moveTo>
                <a:lnTo>
                  <a:pt x="999804" y="1325727"/>
                </a:lnTo>
                <a:lnTo>
                  <a:pt x="989897" y="1271479"/>
                </a:lnTo>
                <a:lnTo>
                  <a:pt x="945153" y="1271479"/>
                </a:lnTo>
                <a:lnTo>
                  <a:pt x="939812" y="1264371"/>
                </a:lnTo>
                <a:lnTo>
                  <a:pt x="872755" y="1262327"/>
                </a:lnTo>
                <a:close/>
              </a:path>
              <a:path w="1000125" h="1325879">
                <a:moveTo>
                  <a:pt x="939812" y="1264371"/>
                </a:moveTo>
                <a:lnTo>
                  <a:pt x="945153" y="1271479"/>
                </a:lnTo>
                <a:lnTo>
                  <a:pt x="954036" y="1264806"/>
                </a:lnTo>
                <a:lnTo>
                  <a:pt x="939812" y="1264371"/>
                </a:lnTo>
                <a:close/>
              </a:path>
              <a:path w="1000125" h="1325879">
                <a:moveTo>
                  <a:pt x="974294" y="1186047"/>
                </a:moveTo>
                <a:lnTo>
                  <a:pt x="957582" y="1251021"/>
                </a:lnTo>
                <a:lnTo>
                  <a:pt x="962922" y="1258130"/>
                </a:lnTo>
                <a:lnTo>
                  <a:pt x="945153" y="1271479"/>
                </a:lnTo>
                <a:lnTo>
                  <a:pt x="989897" y="1271479"/>
                </a:lnTo>
                <a:lnTo>
                  <a:pt x="974294" y="1186047"/>
                </a:lnTo>
                <a:close/>
              </a:path>
              <a:path w="1000125" h="1325879">
                <a:moveTo>
                  <a:pt x="17768" y="0"/>
                </a:moveTo>
                <a:lnTo>
                  <a:pt x="0" y="13348"/>
                </a:lnTo>
                <a:lnTo>
                  <a:pt x="939812" y="1264371"/>
                </a:lnTo>
                <a:lnTo>
                  <a:pt x="954101" y="1264806"/>
                </a:lnTo>
                <a:lnTo>
                  <a:pt x="954148" y="1264371"/>
                </a:lnTo>
                <a:lnTo>
                  <a:pt x="957582" y="1251021"/>
                </a:lnTo>
                <a:lnTo>
                  <a:pt x="17768" y="0"/>
                </a:lnTo>
                <a:close/>
              </a:path>
              <a:path w="1000125" h="1325879">
                <a:moveTo>
                  <a:pt x="957582" y="1251021"/>
                </a:moveTo>
                <a:lnTo>
                  <a:pt x="954148" y="1264371"/>
                </a:lnTo>
                <a:lnTo>
                  <a:pt x="954036" y="1264806"/>
                </a:lnTo>
                <a:lnTo>
                  <a:pt x="962922" y="1258130"/>
                </a:lnTo>
                <a:lnTo>
                  <a:pt x="957582" y="1251021"/>
                </a:lnTo>
                <a:close/>
              </a:path>
            </a:pathLst>
          </a:custGeom>
          <a:solidFill>
            <a:srgbClr val="14151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397468" y="2848173"/>
          <a:ext cx="1308735" cy="1762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45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2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3275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9525">
                      <a:solidFill>
                        <a:srgbClr val="141514"/>
                      </a:solidFill>
                      <a:prstDash val="solid"/>
                    </a:lnL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CDCECD"/>
                    </a:solidFill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2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2411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80"/>
                      </a:solidFill>
                      <a:prstDash val="sysDash"/>
                    </a:lnL>
                    <a:lnR w="9525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CDCE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535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80"/>
                      </a:solidFill>
                      <a:prstDash val="sysDash"/>
                    </a:lnL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spc="-2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2474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L w="9525">
                      <a:solidFill>
                        <a:srgbClr val="141514"/>
                      </a:solidFill>
                      <a:prstDash val="solid"/>
                    </a:lnL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spc="-2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8552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L w="9525">
                      <a:solidFill>
                        <a:srgbClr val="000080"/>
                      </a:solidFill>
                      <a:prstDash val="sysDash"/>
                    </a:lnL>
                    <a:lnR w="9525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314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80"/>
                      </a:solidFill>
                      <a:prstDash val="sysDash"/>
                    </a:lnL>
                    <a:lnT w="9525">
                      <a:solidFill>
                        <a:srgbClr val="14151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397468" y="5152429"/>
          <a:ext cx="1309370" cy="1223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3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455"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1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327524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9525">
                      <a:solidFill>
                        <a:srgbClr val="141514"/>
                      </a:solidFill>
                      <a:prstDash val="solid"/>
                    </a:lnL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CDCECD"/>
                    </a:solidFill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25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80"/>
                      </a:solidFill>
                      <a:prstDash val="sysDash"/>
                    </a:lnL>
                    <a:lnR w="9525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CDCE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80"/>
                      </a:solidFill>
                      <a:prstDash val="sysDash"/>
                    </a:lnL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spc="-1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244151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9525">
                      <a:solidFill>
                        <a:srgbClr val="141514"/>
                      </a:solidFill>
                      <a:prstDash val="solid"/>
                    </a:lnL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spc="-25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24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9525">
                      <a:solidFill>
                        <a:srgbClr val="000080"/>
                      </a:solidFill>
                      <a:prstDash val="sysDash"/>
                    </a:lnL>
                    <a:lnR w="9525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10">
                <a:tc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80"/>
                      </a:solidFill>
                      <a:prstDash val="sysDash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80"/>
                      </a:solidFill>
                      <a:prstDash val="sysDash"/>
                    </a:lnL>
                    <a:lnT w="9525">
                      <a:solidFill>
                        <a:srgbClr val="14151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3402253" y="3022218"/>
            <a:ext cx="1009015" cy="3046095"/>
          </a:xfrm>
          <a:custGeom>
            <a:avLst/>
            <a:gdLst/>
            <a:ahLst/>
            <a:cxnLst/>
            <a:rect l="l" t="t" r="r" b="b"/>
            <a:pathLst>
              <a:path w="1009014" h="3046095">
                <a:moveTo>
                  <a:pt x="999972" y="2304250"/>
                </a:moveTo>
                <a:lnTo>
                  <a:pt x="983869" y="2259888"/>
                </a:lnTo>
                <a:lnTo>
                  <a:pt x="951522" y="2170785"/>
                </a:lnTo>
                <a:lnTo>
                  <a:pt x="945883" y="2237638"/>
                </a:lnTo>
                <a:lnTo>
                  <a:pt x="944676" y="2251824"/>
                </a:lnTo>
                <a:lnTo>
                  <a:pt x="930579" y="2253767"/>
                </a:lnTo>
                <a:lnTo>
                  <a:pt x="864120" y="2262936"/>
                </a:lnTo>
                <a:lnTo>
                  <a:pt x="999972" y="2304250"/>
                </a:lnTo>
                <a:close/>
              </a:path>
              <a:path w="1009014" h="3046095">
                <a:moveTo>
                  <a:pt x="999972" y="0"/>
                </a:moveTo>
                <a:lnTo>
                  <a:pt x="873963" y="65443"/>
                </a:lnTo>
                <a:lnTo>
                  <a:pt x="940981" y="62318"/>
                </a:lnTo>
                <a:lnTo>
                  <a:pt x="0" y="1357896"/>
                </a:lnTo>
                <a:lnTo>
                  <a:pt x="8991" y="1364437"/>
                </a:lnTo>
                <a:lnTo>
                  <a:pt x="1346" y="1372489"/>
                </a:lnTo>
                <a:lnTo>
                  <a:pt x="930579" y="2253767"/>
                </a:lnTo>
                <a:lnTo>
                  <a:pt x="944664" y="2251824"/>
                </a:lnTo>
                <a:lnTo>
                  <a:pt x="945883" y="2237638"/>
                </a:lnTo>
                <a:lnTo>
                  <a:pt x="23698" y="1363091"/>
                </a:lnTo>
                <a:lnTo>
                  <a:pt x="958964" y="75374"/>
                </a:lnTo>
                <a:lnTo>
                  <a:pt x="976718" y="140068"/>
                </a:lnTo>
                <a:lnTo>
                  <a:pt x="990815" y="55118"/>
                </a:lnTo>
                <a:lnTo>
                  <a:pt x="999972" y="0"/>
                </a:lnTo>
                <a:close/>
              </a:path>
              <a:path w="1009014" h="3046095">
                <a:moveTo>
                  <a:pt x="1008532" y="3045828"/>
                </a:moveTo>
                <a:lnTo>
                  <a:pt x="990130" y="3008934"/>
                </a:lnTo>
                <a:lnTo>
                  <a:pt x="945134" y="2918777"/>
                </a:lnTo>
                <a:lnTo>
                  <a:pt x="947178" y="2985833"/>
                </a:lnTo>
                <a:lnTo>
                  <a:pt x="15659" y="2286076"/>
                </a:lnTo>
                <a:lnTo>
                  <a:pt x="2311" y="2303843"/>
                </a:lnTo>
                <a:lnTo>
                  <a:pt x="933831" y="3003600"/>
                </a:lnTo>
                <a:lnTo>
                  <a:pt x="868857" y="3020314"/>
                </a:lnTo>
                <a:lnTo>
                  <a:pt x="1008532" y="3045828"/>
                </a:lnTo>
                <a:close/>
              </a:path>
            </a:pathLst>
          </a:custGeom>
          <a:solidFill>
            <a:srgbClr val="14151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6175571" y="2842957"/>
            <a:ext cx="1181735" cy="348615"/>
            <a:chOff x="6175571" y="2842957"/>
            <a:chExt cx="1181735" cy="348615"/>
          </a:xfrm>
        </p:grpSpPr>
        <p:sp>
          <p:nvSpPr>
            <p:cNvPr id="19" name="object 19"/>
            <p:cNvSpPr/>
            <p:nvPr/>
          </p:nvSpPr>
          <p:spPr>
            <a:xfrm>
              <a:off x="6180334" y="2847719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1172117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1172117" y="338554"/>
                  </a:lnTo>
                  <a:lnTo>
                    <a:pt x="11721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80334" y="2847719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0" y="0"/>
                  </a:moveTo>
                  <a:lnTo>
                    <a:pt x="1172117" y="0"/>
                  </a:lnTo>
                  <a:lnTo>
                    <a:pt x="1172117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64742" y="2856484"/>
            <a:ext cx="10039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32748552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84132" y="4207033"/>
            <a:ext cx="1181735" cy="348615"/>
            <a:chOff x="6184132" y="4207033"/>
            <a:chExt cx="1181735" cy="348615"/>
          </a:xfrm>
        </p:grpSpPr>
        <p:sp>
          <p:nvSpPr>
            <p:cNvPr id="23" name="object 23"/>
            <p:cNvSpPr/>
            <p:nvPr/>
          </p:nvSpPr>
          <p:spPr>
            <a:xfrm>
              <a:off x="6188895" y="4211796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1172116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1172116" y="338554"/>
                  </a:lnTo>
                  <a:lnTo>
                    <a:pt x="117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88895" y="4211796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0" y="0"/>
                  </a:moveTo>
                  <a:lnTo>
                    <a:pt x="1172117" y="0"/>
                  </a:lnTo>
                  <a:lnTo>
                    <a:pt x="1172117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273301" y="4218940"/>
            <a:ext cx="10039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24752411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175570" y="5143138"/>
            <a:ext cx="1181735" cy="348615"/>
            <a:chOff x="6175570" y="5143138"/>
            <a:chExt cx="1181735" cy="348615"/>
          </a:xfrm>
        </p:grpSpPr>
        <p:sp>
          <p:nvSpPr>
            <p:cNvPr id="27" name="object 27"/>
            <p:cNvSpPr/>
            <p:nvPr/>
          </p:nvSpPr>
          <p:spPr>
            <a:xfrm>
              <a:off x="6180333" y="5147900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1172117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1172117" y="338554"/>
                  </a:lnTo>
                  <a:lnTo>
                    <a:pt x="11721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80333" y="5147900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0" y="0"/>
                  </a:moveTo>
                  <a:lnTo>
                    <a:pt x="1172117" y="0"/>
                  </a:lnTo>
                  <a:lnTo>
                    <a:pt x="1172117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264742" y="5154676"/>
            <a:ext cx="10039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32752124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184132" y="5935225"/>
            <a:ext cx="1181735" cy="348615"/>
            <a:chOff x="6184132" y="5935225"/>
            <a:chExt cx="1181735" cy="348615"/>
          </a:xfrm>
        </p:grpSpPr>
        <p:sp>
          <p:nvSpPr>
            <p:cNvPr id="31" name="object 31"/>
            <p:cNvSpPr/>
            <p:nvPr/>
          </p:nvSpPr>
          <p:spPr>
            <a:xfrm>
              <a:off x="6188895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1172116" y="0"/>
                  </a:moveTo>
                  <a:lnTo>
                    <a:pt x="0" y="0"/>
                  </a:lnTo>
                  <a:lnTo>
                    <a:pt x="0" y="338553"/>
                  </a:lnTo>
                  <a:lnTo>
                    <a:pt x="1172116" y="338553"/>
                  </a:lnTo>
                  <a:lnTo>
                    <a:pt x="117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88895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0" y="0"/>
                  </a:moveTo>
                  <a:lnTo>
                    <a:pt x="1172117" y="0"/>
                  </a:lnTo>
                  <a:lnTo>
                    <a:pt x="1172117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273301" y="5947155"/>
            <a:ext cx="10039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24415411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563236" y="5254107"/>
            <a:ext cx="2229485" cy="919480"/>
            <a:chOff x="5563236" y="5254107"/>
            <a:chExt cx="2229485" cy="919480"/>
          </a:xfrm>
        </p:grpSpPr>
        <p:sp>
          <p:nvSpPr>
            <p:cNvPr id="35" name="object 35"/>
            <p:cNvSpPr/>
            <p:nvPr/>
          </p:nvSpPr>
          <p:spPr>
            <a:xfrm>
              <a:off x="7352411" y="5254116"/>
              <a:ext cx="440055" cy="919480"/>
            </a:xfrm>
            <a:custGeom>
              <a:avLst/>
              <a:gdLst/>
              <a:ahLst/>
              <a:cxnLst/>
              <a:rect l="l" t="t" r="r" b="b"/>
              <a:pathLst>
                <a:path w="440054" h="919479">
                  <a:moveTo>
                    <a:pt x="439953" y="855154"/>
                  </a:moveTo>
                  <a:lnTo>
                    <a:pt x="418325" y="844473"/>
                  </a:lnTo>
                  <a:lnTo>
                    <a:pt x="312635" y="792302"/>
                  </a:lnTo>
                  <a:lnTo>
                    <a:pt x="354799" y="844486"/>
                  </a:lnTo>
                  <a:lnTo>
                    <a:pt x="8534" y="846264"/>
                  </a:lnTo>
                  <a:lnTo>
                    <a:pt x="8648" y="868489"/>
                  </a:lnTo>
                  <a:lnTo>
                    <a:pt x="354914" y="866711"/>
                  </a:lnTo>
                  <a:lnTo>
                    <a:pt x="313283" y="919302"/>
                  </a:lnTo>
                  <a:lnTo>
                    <a:pt x="417144" y="866698"/>
                  </a:lnTo>
                  <a:lnTo>
                    <a:pt x="439953" y="855154"/>
                  </a:lnTo>
                  <a:close/>
                </a:path>
                <a:path w="440054" h="919479">
                  <a:moveTo>
                    <a:pt x="439953" y="63068"/>
                  </a:moveTo>
                  <a:lnTo>
                    <a:pt x="418122" y="52247"/>
                  </a:lnTo>
                  <a:lnTo>
                    <a:pt x="312737" y="0"/>
                  </a:lnTo>
                  <a:lnTo>
                    <a:pt x="354825" y="52247"/>
                  </a:lnTo>
                  <a:lnTo>
                    <a:pt x="0" y="53441"/>
                  </a:lnTo>
                  <a:lnTo>
                    <a:pt x="76" y="75666"/>
                  </a:lnTo>
                  <a:lnTo>
                    <a:pt x="354888" y="74485"/>
                  </a:lnTo>
                  <a:lnTo>
                    <a:pt x="313169" y="127000"/>
                  </a:lnTo>
                  <a:lnTo>
                    <a:pt x="417347" y="74472"/>
                  </a:lnTo>
                  <a:lnTo>
                    <a:pt x="439953" y="63068"/>
                  </a:lnTo>
                  <a:close/>
                </a:path>
              </a:pathLst>
            </a:custGeom>
            <a:solidFill>
              <a:srgbClr val="1415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34581" y="5317176"/>
              <a:ext cx="246379" cy="398145"/>
            </a:xfrm>
            <a:custGeom>
              <a:avLst/>
              <a:gdLst/>
              <a:ahLst/>
              <a:cxnLst/>
              <a:rect l="l" t="t" r="r" b="b"/>
              <a:pathLst>
                <a:path w="246379" h="398145">
                  <a:moveTo>
                    <a:pt x="206408" y="65257"/>
                  </a:moveTo>
                  <a:lnTo>
                    <a:pt x="192301" y="67133"/>
                  </a:lnTo>
                  <a:lnTo>
                    <a:pt x="0" y="386088"/>
                  </a:lnTo>
                  <a:lnTo>
                    <a:pt x="19033" y="397564"/>
                  </a:lnTo>
                  <a:lnTo>
                    <a:pt x="211334" y="78608"/>
                  </a:lnTo>
                  <a:lnTo>
                    <a:pt x="206408" y="65257"/>
                  </a:lnTo>
                  <a:close/>
                </a:path>
                <a:path w="246379" h="398145">
                  <a:moveTo>
                    <a:pt x="241046" y="59519"/>
                  </a:moveTo>
                  <a:lnTo>
                    <a:pt x="196891" y="59519"/>
                  </a:lnTo>
                  <a:lnTo>
                    <a:pt x="215924" y="70995"/>
                  </a:lnTo>
                  <a:lnTo>
                    <a:pt x="211334" y="78608"/>
                  </a:lnTo>
                  <a:lnTo>
                    <a:pt x="234560" y="141549"/>
                  </a:lnTo>
                  <a:lnTo>
                    <a:pt x="241046" y="59519"/>
                  </a:lnTo>
                  <a:close/>
                </a:path>
                <a:path w="246379" h="398145">
                  <a:moveTo>
                    <a:pt x="206408" y="65257"/>
                  </a:moveTo>
                  <a:lnTo>
                    <a:pt x="211334" y="78608"/>
                  </a:lnTo>
                  <a:lnTo>
                    <a:pt x="215924" y="70995"/>
                  </a:lnTo>
                  <a:lnTo>
                    <a:pt x="206408" y="65257"/>
                  </a:lnTo>
                  <a:close/>
                </a:path>
                <a:path w="246379" h="398145">
                  <a:moveTo>
                    <a:pt x="245752" y="0"/>
                  </a:moveTo>
                  <a:lnTo>
                    <a:pt x="125797" y="75975"/>
                  </a:lnTo>
                  <a:lnTo>
                    <a:pt x="192301" y="67133"/>
                  </a:lnTo>
                  <a:lnTo>
                    <a:pt x="196891" y="59519"/>
                  </a:lnTo>
                  <a:lnTo>
                    <a:pt x="241046" y="59519"/>
                  </a:lnTo>
                  <a:lnTo>
                    <a:pt x="245752" y="0"/>
                  </a:lnTo>
                  <a:close/>
                </a:path>
                <a:path w="246379" h="398145">
                  <a:moveTo>
                    <a:pt x="196891" y="59519"/>
                  </a:moveTo>
                  <a:lnTo>
                    <a:pt x="192301" y="67133"/>
                  </a:lnTo>
                  <a:lnTo>
                    <a:pt x="206408" y="65257"/>
                  </a:lnTo>
                  <a:lnTo>
                    <a:pt x="196891" y="59519"/>
                  </a:lnTo>
                  <a:close/>
                </a:path>
              </a:pathLst>
            </a:custGeom>
            <a:solidFill>
              <a:srgbClr val="1415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574348" y="5326468"/>
              <a:ext cx="226060" cy="382905"/>
            </a:xfrm>
            <a:custGeom>
              <a:avLst/>
              <a:gdLst/>
              <a:ahLst/>
              <a:cxnLst/>
              <a:rect l="l" t="t" r="r" b="b"/>
              <a:pathLst>
                <a:path w="226060" h="382904">
                  <a:moveTo>
                    <a:pt x="0" y="0"/>
                  </a:moveTo>
                  <a:lnTo>
                    <a:pt x="225750" y="382534"/>
                  </a:lnTo>
                </a:path>
              </a:pathLst>
            </a:custGeom>
            <a:ln w="222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582909" y="5709002"/>
              <a:ext cx="217804" cy="359410"/>
            </a:xfrm>
            <a:custGeom>
              <a:avLst/>
              <a:gdLst/>
              <a:ahLst/>
              <a:cxnLst/>
              <a:rect l="l" t="t" r="r" b="b"/>
              <a:pathLst>
                <a:path w="217804" h="359410">
                  <a:moveTo>
                    <a:pt x="0" y="359032"/>
                  </a:moveTo>
                  <a:lnTo>
                    <a:pt x="217189" y="0"/>
                  </a:lnTo>
                </a:path>
              </a:pathLst>
            </a:custGeom>
            <a:ln w="222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00090" y="5691009"/>
              <a:ext cx="389255" cy="418465"/>
            </a:xfrm>
            <a:custGeom>
              <a:avLst/>
              <a:gdLst/>
              <a:ahLst/>
              <a:cxnLst/>
              <a:rect l="l" t="t" r="r" b="b"/>
              <a:pathLst>
                <a:path w="389254" h="418464">
                  <a:moveTo>
                    <a:pt x="388797" y="418261"/>
                  </a:moveTo>
                  <a:lnTo>
                    <a:pt x="383743" y="359054"/>
                  </a:lnTo>
                  <a:lnTo>
                    <a:pt x="376707" y="276783"/>
                  </a:lnTo>
                  <a:lnTo>
                    <a:pt x="353885" y="339877"/>
                  </a:lnTo>
                  <a:lnTo>
                    <a:pt x="153479" y="12204"/>
                  </a:lnTo>
                  <a:lnTo>
                    <a:pt x="144005" y="18008"/>
                  </a:lnTo>
                  <a:lnTo>
                    <a:pt x="144005" y="0"/>
                  </a:lnTo>
                  <a:lnTo>
                    <a:pt x="0" y="0"/>
                  </a:lnTo>
                  <a:lnTo>
                    <a:pt x="0" y="36004"/>
                  </a:lnTo>
                  <a:lnTo>
                    <a:pt x="141973" y="36004"/>
                  </a:lnTo>
                  <a:lnTo>
                    <a:pt x="334924" y="351472"/>
                  </a:lnTo>
                  <a:lnTo>
                    <a:pt x="268363" y="343052"/>
                  </a:lnTo>
                  <a:lnTo>
                    <a:pt x="388797" y="418261"/>
                  </a:lnTo>
                  <a:close/>
                </a:path>
              </a:pathLst>
            </a:custGeom>
            <a:solidFill>
              <a:srgbClr val="1415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563236" y="3011100"/>
            <a:ext cx="2220595" cy="1433830"/>
            <a:chOff x="5563236" y="3011100"/>
            <a:chExt cx="2220595" cy="1433830"/>
          </a:xfrm>
        </p:grpSpPr>
        <p:sp>
          <p:nvSpPr>
            <p:cNvPr id="41" name="object 41"/>
            <p:cNvSpPr/>
            <p:nvPr/>
          </p:nvSpPr>
          <p:spPr>
            <a:xfrm>
              <a:off x="5933656" y="3016999"/>
              <a:ext cx="1850389" cy="1428115"/>
            </a:xfrm>
            <a:custGeom>
              <a:avLst/>
              <a:gdLst/>
              <a:ahLst/>
              <a:cxnLst/>
              <a:rect l="l" t="t" r="r" b="b"/>
              <a:pathLst>
                <a:path w="1850390" h="1428114">
                  <a:moveTo>
                    <a:pt x="262699" y="141084"/>
                  </a:moveTo>
                  <a:lnTo>
                    <a:pt x="254368" y="67754"/>
                  </a:lnTo>
                  <a:lnTo>
                    <a:pt x="246672" y="0"/>
                  </a:lnTo>
                  <a:lnTo>
                    <a:pt x="143421" y="97472"/>
                  </a:lnTo>
                  <a:lnTo>
                    <a:pt x="207010" y="76098"/>
                  </a:lnTo>
                  <a:lnTo>
                    <a:pt x="0" y="642213"/>
                  </a:lnTo>
                  <a:lnTo>
                    <a:pt x="20878" y="649846"/>
                  </a:lnTo>
                  <a:lnTo>
                    <a:pt x="227888" y="83731"/>
                  </a:lnTo>
                  <a:lnTo>
                    <a:pt x="262699" y="141084"/>
                  </a:lnTo>
                  <a:close/>
                </a:path>
                <a:path w="1850390" h="1428114">
                  <a:moveTo>
                    <a:pt x="1850148" y="1364081"/>
                  </a:moveTo>
                  <a:lnTo>
                    <a:pt x="1827923" y="1352969"/>
                  </a:lnTo>
                  <a:lnTo>
                    <a:pt x="1723148" y="1300581"/>
                  </a:lnTo>
                  <a:lnTo>
                    <a:pt x="1765058" y="1352969"/>
                  </a:lnTo>
                  <a:lnTo>
                    <a:pt x="1427353" y="1352969"/>
                  </a:lnTo>
                  <a:lnTo>
                    <a:pt x="1427353" y="1375194"/>
                  </a:lnTo>
                  <a:lnTo>
                    <a:pt x="1765058" y="1375194"/>
                  </a:lnTo>
                  <a:lnTo>
                    <a:pt x="1723148" y="1427581"/>
                  </a:lnTo>
                  <a:lnTo>
                    <a:pt x="1827923" y="1375194"/>
                  </a:lnTo>
                  <a:lnTo>
                    <a:pt x="1850148" y="1364081"/>
                  </a:lnTo>
                  <a:close/>
                </a:path>
              </a:pathLst>
            </a:custGeom>
            <a:solidFill>
              <a:srgbClr val="1415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574348" y="3022212"/>
              <a:ext cx="226060" cy="641350"/>
            </a:xfrm>
            <a:custGeom>
              <a:avLst/>
              <a:gdLst/>
              <a:ahLst/>
              <a:cxnLst/>
              <a:rect l="l" t="t" r="r" b="b"/>
              <a:pathLst>
                <a:path w="226060" h="641350">
                  <a:moveTo>
                    <a:pt x="0" y="0"/>
                  </a:moveTo>
                  <a:lnTo>
                    <a:pt x="225750" y="640811"/>
                  </a:lnTo>
                </a:path>
              </a:pathLst>
            </a:custGeom>
            <a:ln w="222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82909" y="3663023"/>
              <a:ext cx="217804" cy="676910"/>
            </a:xfrm>
            <a:custGeom>
              <a:avLst/>
              <a:gdLst/>
              <a:ahLst/>
              <a:cxnLst/>
              <a:rect l="l" t="t" r="r" b="b"/>
              <a:pathLst>
                <a:path w="217804" h="676910">
                  <a:moveTo>
                    <a:pt x="0" y="676819"/>
                  </a:moveTo>
                  <a:lnTo>
                    <a:pt x="217189" y="0"/>
                  </a:lnTo>
                </a:path>
              </a:pathLst>
            </a:custGeom>
            <a:ln w="222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800090" y="3645026"/>
              <a:ext cx="408305" cy="736600"/>
            </a:xfrm>
            <a:custGeom>
              <a:avLst/>
              <a:gdLst/>
              <a:ahLst/>
              <a:cxnLst/>
              <a:rect l="l" t="t" r="r" b="b"/>
              <a:pathLst>
                <a:path w="408304" h="736600">
                  <a:moveTo>
                    <a:pt x="407924" y="595350"/>
                  </a:moveTo>
                  <a:lnTo>
                    <a:pt x="371856" y="651929"/>
                  </a:lnTo>
                  <a:lnTo>
                    <a:pt x="154520" y="14414"/>
                  </a:lnTo>
                  <a:lnTo>
                    <a:pt x="144005" y="18008"/>
                  </a:lnTo>
                  <a:lnTo>
                    <a:pt x="144005" y="0"/>
                  </a:lnTo>
                  <a:lnTo>
                    <a:pt x="0" y="0"/>
                  </a:lnTo>
                  <a:lnTo>
                    <a:pt x="0" y="36004"/>
                  </a:lnTo>
                  <a:lnTo>
                    <a:pt x="138391" y="36004"/>
                  </a:lnTo>
                  <a:lnTo>
                    <a:pt x="350824" y="659104"/>
                  </a:lnTo>
                  <a:lnTo>
                    <a:pt x="287718" y="636333"/>
                  </a:lnTo>
                  <a:lnTo>
                    <a:pt x="388797" y="736053"/>
                  </a:lnTo>
                  <a:lnTo>
                    <a:pt x="398119" y="667512"/>
                  </a:lnTo>
                  <a:lnTo>
                    <a:pt x="407924" y="595350"/>
                  </a:lnTo>
                  <a:close/>
                </a:path>
              </a:pathLst>
            </a:custGeom>
            <a:solidFill>
              <a:srgbClr val="1415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6147815" y="2828544"/>
            <a:ext cx="1644650" cy="1786255"/>
            <a:chOff x="6147815" y="2828544"/>
            <a:chExt cx="1644650" cy="1786255"/>
          </a:xfrm>
        </p:grpSpPr>
        <p:sp>
          <p:nvSpPr>
            <p:cNvPr id="46" name="object 46"/>
            <p:cNvSpPr/>
            <p:nvPr/>
          </p:nvSpPr>
          <p:spPr>
            <a:xfrm>
              <a:off x="7352450" y="2953498"/>
              <a:ext cx="440055" cy="127000"/>
            </a:xfrm>
            <a:custGeom>
              <a:avLst/>
              <a:gdLst/>
              <a:ahLst/>
              <a:cxnLst/>
              <a:rect l="l" t="t" r="r" b="b"/>
              <a:pathLst>
                <a:path w="440054" h="127000">
                  <a:moveTo>
                    <a:pt x="363721" y="63500"/>
                  </a:moveTo>
                  <a:lnTo>
                    <a:pt x="312921" y="127000"/>
                  </a:lnTo>
                  <a:lnTo>
                    <a:pt x="417696" y="74612"/>
                  </a:lnTo>
                  <a:lnTo>
                    <a:pt x="363721" y="74612"/>
                  </a:lnTo>
                  <a:lnTo>
                    <a:pt x="363721" y="63500"/>
                  </a:lnTo>
                  <a:close/>
                </a:path>
                <a:path w="440054" h="127000">
                  <a:moveTo>
                    <a:pt x="354831" y="52387"/>
                  </a:moveTo>
                  <a:lnTo>
                    <a:pt x="0" y="52387"/>
                  </a:lnTo>
                  <a:lnTo>
                    <a:pt x="0" y="74612"/>
                  </a:lnTo>
                  <a:lnTo>
                    <a:pt x="354831" y="74612"/>
                  </a:lnTo>
                  <a:lnTo>
                    <a:pt x="363721" y="63500"/>
                  </a:lnTo>
                  <a:lnTo>
                    <a:pt x="354831" y="52387"/>
                  </a:lnTo>
                  <a:close/>
                </a:path>
                <a:path w="440054" h="127000">
                  <a:moveTo>
                    <a:pt x="417696" y="52387"/>
                  </a:moveTo>
                  <a:lnTo>
                    <a:pt x="363721" y="52387"/>
                  </a:lnTo>
                  <a:lnTo>
                    <a:pt x="363721" y="74612"/>
                  </a:lnTo>
                  <a:lnTo>
                    <a:pt x="417696" y="74612"/>
                  </a:lnTo>
                  <a:lnTo>
                    <a:pt x="439921" y="63500"/>
                  </a:lnTo>
                  <a:lnTo>
                    <a:pt x="417696" y="52387"/>
                  </a:lnTo>
                  <a:close/>
                </a:path>
                <a:path w="440054" h="127000">
                  <a:moveTo>
                    <a:pt x="312921" y="0"/>
                  </a:moveTo>
                  <a:lnTo>
                    <a:pt x="363721" y="63500"/>
                  </a:lnTo>
                  <a:lnTo>
                    <a:pt x="363721" y="52387"/>
                  </a:lnTo>
                  <a:lnTo>
                    <a:pt x="417696" y="52387"/>
                  </a:lnTo>
                  <a:lnTo>
                    <a:pt x="312921" y="0"/>
                  </a:lnTo>
                  <a:close/>
                </a:path>
              </a:pathLst>
            </a:custGeom>
            <a:solidFill>
              <a:srgbClr val="1415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7815" y="2828544"/>
              <a:ext cx="554736" cy="42367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188895" y="2847719"/>
              <a:ext cx="471805" cy="339090"/>
            </a:xfrm>
            <a:custGeom>
              <a:avLst/>
              <a:gdLst/>
              <a:ahLst/>
              <a:cxnLst/>
              <a:rect l="l" t="t" r="r" b="b"/>
              <a:pathLst>
                <a:path w="471804" h="339089">
                  <a:moveTo>
                    <a:pt x="471336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471336" y="338554"/>
                  </a:lnTo>
                  <a:lnTo>
                    <a:pt x="471336" y="0"/>
                  </a:lnTo>
                  <a:close/>
                </a:path>
              </a:pathLst>
            </a:custGeom>
            <a:solidFill>
              <a:srgbClr val="B8BAB8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7207" y="4194047"/>
              <a:ext cx="765048" cy="42062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660231" y="4211796"/>
              <a:ext cx="681990" cy="339090"/>
            </a:xfrm>
            <a:custGeom>
              <a:avLst/>
              <a:gdLst/>
              <a:ahLst/>
              <a:cxnLst/>
              <a:rect l="l" t="t" r="r" b="b"/>
              <a:pathLst>
                <a:path w="681990" h="339089">
                  <a:moveTo>
                    <a:pt x="681796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681796" y="338554"/>
                  </a:lnTo>
                  <a:lnTo>
                    <a:pt x="681796" y="0"/>
                  </a:lnTo>
                  <a:close/>
                </a:path>
              </a:pathLst>
            </a:custGeom>
            <a:solidFill>
              <a:srgbClr val="B8BAB8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7787609" y="2842957"/>
          <a:ext cx="1309370" cy="338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45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spc="-1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327481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9525">
                      <a:solidFill>
                        <a:srgbClr val="141514"/>
                      </a:solidFill>
                      <a:prstDash val="solid"/>
                    </a:lnL>
                    <a:lnR w="19050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141514"/>
                      </a:solidFill>
                      <a:prstDash val="solid"/>
                    </a:lnL>
                    <a:lnR w="19050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spc="-25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52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141514"/>
                      </a:solidFill>
                      <a:prstDash val="solid"/>
                    </a:lnL>
                    <a:lnR w="9525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object 52"/>
          <p:cNvSpPr txBox="1"/>
          <p:nvPr/>
        </p:nvSpPr>
        <p:spPr>
          <a:xfrm>
            <a:off x="7783810" y="4211796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55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24752411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7787609" y="5143138"/>
          <a:ext cx="1329054" cy="338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45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25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32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9525">
                      <a:solidFill>
                        <a:srgbClr val="141514"/>
                      </a:solidFill>
                      <a:prstDash val="solid"/>
                    </a:lnL>
                    <a:lnR w="19050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25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25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141514"/>
                      </a:solidFill>
                      <a:prstDash val="solid"/>
                    </a:lnL>
                    <a:lnR w="19050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spc="-20" dirty="0">
                          <a:solidFill>
                            <a:srgbClr val="141514"/>
                          </a:solidFill>
                          <a:latin typeface="Courier New"/>
                          <a:cs typeface="Courier New"/>
                        </a:rPr>
                        <a:t>2124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141514"/>
                      </a:solidFill>
                      <a:prstDash val="solid"/>
                    </a:lnL>
                    <a:lnR w="9525">
                      <a:solidFill>
                        <a:srgbClr val="141514"/>
                      </a:solidFill>
                      <a:prstDash val="solid"/>
                    </a:lnR>
                    <a:lnT w="9525">
                      <a:solidFill>
                        <a:srgbClr val="141514"/>
                      </a:solidFill>
                      <a:prstDash val="solid"/>
                    </a:lnT>
                    <a:lnB w="9525">
                      <a:solidFill>
                        <a:srgbClr val="14151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7787609" y="5935225"/>
            <a:ext cx="1181735" cy="348615"/>
            <a:chOff x="7787609" y="5935225"/>
            <a:chExt cx="1181735" cy="348615"/>
          </a:xfrm>
        </p:grpSpPr>
        <p:sp>
          <p:nvSpPr>
            <p:cNvPr id="55" name="object 55"/>
            <p:cNvSpPr/>
            <p:nvPr/>
          </p:nvSpPr>
          <p:spPr>
            <a:xfrm>
              <a:off x="7792371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1172116" y="0"/>
                  </a:moveTo>
                  <a:lnTo>
                    <a:pt x="0" y="0"/>
                  </a:lnTo>
                  <a:lnTo>
                    <a:pt x="0" y="338553"/>
                  </a:lnTo>
                  <a:lnTo>
                    <a:pt x="1172116" y="338553"/>
                  </a:lnTo>
                  <a:lnTo>
                    <a:pt x="1172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792371" y="5939987"/>
              <a:ext cx="1172210" cy="339090"/>
            </a:xfrm>
            <a:custGeom>
              <a:avLst/>
              <a:gdLst/>
              <a:ahLst/>
              <a:cxnLst/>
              <a:rect l="l" t="t" r="r" b="b"/>
              <a:pathLst>
                <a:path w="1172209" h="339089">
                  <a:moveTo>
                    <a:pt x="0" y="0"/>
                  </a:moveTo>
                  <a:lnTo>
                    <a:pt x="1172116" y="0"/>
                  </a:lnTo>
                  <a:lnTo>
                    <a:pt x="1172116" y="338554"/>
                  </a:lnTo>
                  <a:lnTo>
                    <a:pt x="0" y="3385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876778" y="5947155"/>
            <a:ext cx="10039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24415417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865318" y="5198507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4"/>
                </a:lnTo>
                <a:lnTo>
                  <a:pt x="0" y="59334"/>
                </a:lnTo>
                <a:lnTo>
                  <a:pt x="0" y="178003"/>
                </a:lnTo>
                <a:lnTo>
                  <a:pt x="169363" y="178003"/>
                </a:lnTo>
                <a:lnTo>
                  <a:pt x="169363" y="237337"/>
                </a:lnTo>
                <a:lnTo>
                  <a:pt x="288032" y="118668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865318" y="5990595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4"/>
                </a:lnTo>
                <a:lnTo>
                  <a:pt x="0" y="59334"/>
                </a:lnTo>
                <a:lnTo>
                  <a:pt x="0" y="178002"/>
                </a:lnTo>
                <a:lnTo>
                  <a:pt x="169363" y="178002"/>
                </a:lnTo>
                <a:lnTo>
                  <a:pt x="169363" y="237336"/>
                </a:lnTo>
                <a:lnTo>
                  <a:pt x="288032" y="118668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860032" y="2780927"/>
            <a:ext cx="0" cy="1836420"/>
          </a:xfrm>
          <a:custGeom>
            <a:avLst/>
            <a:gdLst/>
            <a:ahLst/>
            <a:cxnLst/>
            <a:rect l="l" t="t" r="r" b="b"/>
            <a:pathLst>
              <a:path h="1836420">
                <a:moveTo>
                  <a:pt x="0" y="0"/>
                </a:moveTo>
                <a:lnTo>
                  <a:pt x="1" y="1836000"/>
                </a:lnTo>
              </a:path>
            </a:pathLst>
          </a:custGeom>
          <a:ln w="95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113087" y="5085327"/>
            <a:ext cx="0" cy="1296035"/>
          </a:xfrm>
          <a:custGeom>
            <a:avLst/>
            <a:gdLst/>
            <a:ahLst/>
            <a:cxnLst/>
            <a:rect l="l" t="t" r="r" b="b"/>
            <a:pathLst>
              <a:path h="1296035">
                <a:moveTo>
                  <a:pt x="0" y="0"/>
                </a:moveTo>
                <a:lnTo>
                  <a:pt x="1" y="1296000"/>
                </a:lnTo>
              </a:path>
            </a:pathLst>
          </a:custGeom>
          <a:ln w="95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2" name="object 62"/>
          <p:cNvGrpSpPr/>
          <p:nvPr/>
        </p:nvGrpSpPr>
        <p:grpSpPr>
          <a:xfrm>
            <a:off x="6169152" y="5117591"/>
            <a:ext cx="2731770" cy="1225550"/>
            <a:chOff x="6169152" y="5117591"/>
            <a:chExt cx="2731770" cy="1225550"/>
          </a:xfrm>
        </p:grpSpPr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9152" y="5117591"/>
              <a:ext cx="765048" cy="423672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211900" y="5136853"/>
              <a:ext cx="681990" cy="339090"/>
            </a:xfrm>
            <a:custGeom>
              <a:avLst/>
              <a:gdLst/>
              <a:ahLst/>
              <a:cxnLst/>
              <a:rect l="l" t="t" r="r" b="b"/>
              <a:pathLst>
                <a:path w="681990" h="339089">
                  <a:moveTo>
                    <a:pt x="681796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681796" y="338554"/>
                  </a:lnTo>
                  <a:lnTo>
                    <a:pt x="681796" y="0"/>
                  </a:lnTo>
                  <a:close/>
                </a:path>
              </a:pathLst>
            </a:custGeom>
            <a:solidFill>
              <a:srgbClr val="B8BAB8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27520" y="5922263"/>
              <a:ext cx="554735" cy="420623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869687" y="5940148"/>
              <a:ext cx="471805" cy="339090"/>
            </a:xfrm>
            <a:custGeom>
              <a:avLst/>
              <a:gdLst/>
              <a:ahLst/>
              <a:cxnLst/>
              <a:rect l="l" t="t" r="r" b="b"/>
              <a:pathLst>
                <a:path w="471804" h="339089">
                  <a:moveTo>
                    <a:pt x="471336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471336" y="338554"/>
                  </a:lnTo>
                  <a:lnTo>
                    <a:pt x="471336" y="0"/>
                  </a:lnTo>
                  <a:close/>
                </a:path>
              </a:pathLst>
            </a:custGeom>
            <a:solidFill>
              <a:srgbClr val="B8BAB8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748480" y="5966672"/>
              <a:ext cx="144145" cy="288290"/>
            </a:xfrm>
            <a:custGeom>
              <a:avLst/>
              <a:gdLst/>
              <a:ahLst/>
              <a:cxnLst/>
              <a:rect l="l" t="t" r="r" b="b"/>
              <a:pathLst>
                <a:path w="144145" h="288289">
                  <a:moveTo>
                    <a:pt x="0" y="0"/>
                  </a:moveTo>
                  <a:lnTo>
                    <a:pt x="144000" y="0"/>
                  </a:lnTo>
                  <a:lnTo>
                    <a:pt x="144000" y="287943"/>
                  </a:lnTo>
                  <a:lnTo>
                    <a:pt x="0" y="287943"/>
                  </a:lnTo>
                  <a:lnTo>
                    <a:pt x="0" y="0"/>
                  </a:lnTo>
                  <a:close/>
                </a:path>
              </a:pathLst>
            </a:custGeom>
            <a:ln w="15875">
              <a:solidFill>
                <a:srgbClr val="1415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8" name="object 6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9551" y="3858681"/>
            <a:ext cx="1172673" cy="1154494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2239130" y="4217367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32752411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803695" y="4279727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3" y="0"/>
                </a:moveTo>
                <a:lnTo>
                  <a:pt x="169363" y="59333"/>
                </a:lnTo>
                <a:lnTo>
                  <a:pt x="0" y="59333"/>
                </a:lnTo>
                <a:lnTo>
                  <a:pt x="0" y="178001"/>
                </a:lnTo>
                <a:lnTo>
                  <a:pt x="169363" y="178001"/>
                </a:lnTo>
                <a:lnTo>
                  <a:pt x="169363" y="237336"/>
                </a:lnTo>
                <a:lnTo>
                  <a:pt x="288032" y="118667"/>
                </a:lnTo>
                <a:lnTo>
                  <a:pt x="169363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1" name="object 7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8175" y="2420887"/>
            <a:ext cx="1193410" cy="1199187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2247756" y="2851513"/>
            <a:ext cx="1172210" cy="339090"/>
          </a:xfrm>
          <a:prstGeom prst="rect">
            <a:avLst/>
          </a:prstGeom>
          <a:solidFill>
            <a:srgbClr val="FFFFFF"/>
          </a:solidFill>
          <a:ln w="9525">
            <a:solidFill>
              <a:srgbClr val="14151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sz="1600" spc="-10" dirty="0">
                <a:solidFill>
                  <a:srgbClr val="141514"/>
                </a:solidFill>
                <a:latin typeface="Courier New"/>
                <a:cs typeface="Courier New"/>
              </a:rPr>
              <a:t>24748552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873943" y="2901812"/>
            <a:ext cx="288290" cy="237490"/>
          </a:xfrm>
          <a:custGeom>
            <a:avLst/>
            <a:gdLst/>
            <a:ahLst/>
            <a:cxnLst/>
            <a:rect l="l" t="t" r="r" b="b"/>
            <a:pathLst>
              <a:path w="288289" h="237489">
                <a:moveTo>
                  <a:pt x="169364" y="0"/>
                </a:moveTo>
                <a:lnTo>
                  <a:pt x="169364" y="59334"/>
                </a:lnTo>
                <a:lnTo>
                  <a:pt x="0" y="59334"/>
                </a:lnTo>
                <a:lnTo>
                  <a:pt x="0" y="178003"/>
                </a:lnTo>
                <a:lnTo>
                  <a:pt x="169364" y="178003"/>
                </a:lnTo>
                <a:lnTo>
                  <a:pt x="169364" y="237337"/>
                </a:lnTo>
                <a:lnTo>
                  <a:pt x="288032" y="118668"/>
                </a:lnTo>
                <a:lnTo>
                  <a:pt x="169364" y="0"/>
                </a:lnTo>
                <a:close/>
              </a:path>
            </a:pathLst>
          </a:custGeom>
          <a:solidFill>
            <a:srgbClr val="999B9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</TotalTime>
  <Words>1789</Words>
  <Application>Microsoft Office PowerPoint</Application>
  <PresentationFormat>On-screen Show (4:3)</PresentationFormat>
  <Paragraphs>304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Arial</vt:lpstr>
      <vt:lpstr>Arial MT</vt:lpstr>
      <vt:lpstr>Calibri</vt:lpstr>
      <vt:lpstr>Calibri Light</vt:lpstr>
      <vt:lpstr>Cambria</vt:lpstr>
      <vt:lpstr>Courier New</vt:lpstr>
      <vt:lpstr>Google Sans</vt:lpstr>
      <vt:lpstr>Microsoft Sans Serif</vt:lpstr>
      <vt:lpstr>Times New Roman</vt:lpstr>
      <vt:lpstr>Trebuchet MS</vt:lpstr>
      <vt:lpstr>Wingdings</vt:lpstr>
      <vt:lpstr>Office Theme</vt:lpstr>
      <vt:lpstr>Artificial Intelligence</vt:lpstr>
      <vt:lpstr>PowerPoint Presentation</vt:lpstr>
      <vt:lpstr>Local Search Algorithms</vt:lpstr>
      <vt:lpstr>Local Search Algorithms</vt:lpstr>
      <vt:lpstr>Search Landscape (two-dimension)</vt:lpstr>
      <vt:lpstr>Search Landscape (three-dimensions)</vt:lpstr>
      <vt:lpstr>PowerPoint Presentation</vt:lpstr>
      <vt:lpstr>Hill-Climbing Search</vt:lpstr>
      <vt:lpstr>Hill-Climbing Search Algorithm</vt:lpstr>
      <vt:lpstr>Example: n-queens</vt:lpstr>
      <vt:lpstr>Example: 8-queens</vt:lpstr>
      <vt:lpstr>Example: 8-queens</vt:lpstr>
      <vt:lpstr>Example: n-queens</vt:lpstr>
      <vt:lpstr>Problems in Hill Climbing Algorithm</vt:lpstr>
      <vt:lpstr>Problems in Hill Climbing Algorithm</vt:lpstr>
      <vt:lpstr>Problems in Hill Climbing Algorithm</vt:lpstr>
      <vt:lpstr>Problems in Hill Climbing Algorithm</vt:lpstr>
      <vt:lpstr>Problems in Hill Climbing Algorithm</vt:lpstr>
      <vt:lpstr>Problems in Hill Climbing Algorithm</vt:lpstr>
      <vt:lpstr>PowerPoint Presentation</vt:lpstr>
      <vt:lpstr>Simulated Annealing</vt:lpstr>
      <vt:lpstr>Simulated Annealing</vt:lpstr>
      <vt:lpstr>What Simulated Annealing does differently </vt:lpstr>
      <vt:lpstr>Simulated Annealing Search</vt:lpstr>
      <vt:lpstr>Simulated Annealing Search</vt:lpstr>
      <vt:lpstr>Properties of Simulated Annealing Search</vt:lpstr>
      <vt:lpstr>PowerPoint Presentation</vt:lpstr>
      <vt:lpstr>Genetic Algorithms</vt:lpstr>
      <vt:lpstr>Genetic Algorithms</vt:lpstr>
      <vt:lpstr>Genetic Algorithms</vt:lpstr>
      <vt:lpstr>The 8-queen Problem</vt:lpstr>
      <vt:lpstr>The 8-queen Problem</vt:lpstr>
      <vt:lpstr>The 8-queen Problem</vt:lpstr>
      <vt:lpstr>The 8-queen Problem</vt:lpstr>
      <vt:lpstr>The 8-queen Problem</vt:lpstr>
      <vt:lpstr>The 8-queen Problem</vt:lpstr>
      <vt:lpstr>The 8-queen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Notes on Local Search Algorithms</dc:title>
  <dc:subject>Mustafa Jarrar: Lecture Notes on Local Search Algorithms.
Birzeit University, Palestine. 2020</dc:subject>
  <dc:creator>Mustafa Jarrar</dc:creator>
  <cp:keywords>Mustafa Jarrar, Birzeit University, Palestine Course, Lecture, artificial intelligence, Local Search Algorithms, Hill-Climbing, Simulated Annealing, Genetic Algorithms, n-queen, Local maximum, local maxima, global maximum, global maxima, Greedy Local Search, probability function, fitness function, chromosomes, reproduction, Selection, Crossover, Offspring, Mutation,مصطفى جرار , ذكاء اصطناعي, خوارزميات جينية</cp:keywords>
  <cp:lastModifiedBy>anwar khan</cp:lastModifiedBy>
  <cp:revision>21</cp:revision>
  <dcterms:created xsi:type="dcterms:W3CDTF">2025-12-10T04:09:45Z</dcterms:created>
  <dcterms:modified xsi:type="dcterms:W3CDTF">2025-12-18T03:13:14Z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2020-10-10T00:00:00Z</vt:filetime>
  </property>
  <property fmtid="{D5CDD505-2E9C-101B-9397-08002B2CF9AE}" pid="3" name="LastSaved">
    <vt:filetime>2025-12-10T00:00:00Z</vt:filetime>
  </property>
  <property fmtid="{D5CDD505-2E9C-101B-9397-08002B2CF9AE}" pid="4" name="Producer">
    <vt:lpwstr>macOS Version 10.15.7 (Build 19H2) Quartz PDFContext</vt:lpwstr>
  </property>
</Properties>
</file>