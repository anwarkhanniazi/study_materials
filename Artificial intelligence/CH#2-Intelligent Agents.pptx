
<file path=[Content_Types].xml><?xml version="1.0" encoding="utf-8"?>
<Types xmlns="http://schemas.openxmlformats.org/package/2006/content-types">
  <Default Extension="png" ContentType="image/png"/>
  <Default Extension="webp" ContentType="image/webp"/>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media/image52.jpg" ContentType="image/jpeg"/>
  <Override PartName="/ppt/notesSlides/notesSlide7.xml" ContentType="application/vnd.openxmlformats-officedocument.presentationml.notesSlide+xml"/>
  <Override PartName="/ppt/media/image58.jp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5"/>
  </p:notesMasterIdLst>
  <p:sldIdLst>
    <p:sldId id="294" r:id="rId2"/>
    <p:sldId id="295" r:id="rId3"/>
    <p:sldId id="257" r:id="rId4"/>
    <p:sldId id="258" r:id="rId5"/>
    <p:sldId id="259" r:id="rId6"/>
    <p:sldId id="260" r:id="rId7"/>
    <p:sldId id="261" r:id="rId8"/>
    <p:sldId id="296"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98" r:id="rId24"/>
    <p:sldId id="299" r:id="rId25"/>
    <p:sldId id="300" r:id="rId26"/>
    <p:sldId id="301" r:id="rId27"/>
    <p:sldId id="302" r:id="rId28"/>
    <p:sldId id="303" r:id="rId29"/>
    <p:sldId id="304" r:id="rId30"/>
    <p:sldId id="305" r:id="rId31"/>
    <p:sldId id="306" r:id="rId32"/>
    <p:sldId id="277" r:id="rId33"/>
    <p:sldId id="281" r:id="rId34"/>
    <p:sldId id="282" r:id="rId35"/>
    <p:sldId id="314" r:id="rId36"/>
    <p:sldId id="283" r:id="rId37"/>
    <p:sldId id="284" r:id="rId38"/>
    <p:sldId id="309" r:id="rId39"/>
    <p:sldId id="313" r:id="rId40"/>
    <p:sldId id="285" r:id="rId41"/>
    <p:sldId id="286" r:id="rId42"/>
    <p:sldId id="311" r:id="rId43"/>
    <p:sldId id="287" r:id="rId44"/>
    <p:sldId id="288" r:id="rId45"/>
    <p:sldId id="289" r:id="rId46"/>
    <p:sldId id="315" r:id="rId47"/>
    <p:sldId id="290" r:id="rId48"/>
    <p:sldId id="291" r:id="rId49"/>
    <p:sldId id="292" r:id="rId50"/>
    <p:sldId id="316" r:id="rId51"/>
    <p:sldId id="317" r:id="rId52"/>
    <p:sldId id="312" r:id="rId53"/>
    <p:sldId id="293" r:id="rId54"/>
  </p:sldIdLst>
  <p:sldSz cx="10058400" cy="7772400"/>
  <p:notesSz cx="10058400" cy="77724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5" d="100"/>
          <a:sy n="55" d="100"/>
        </p:scale>
        <p:origin x="1440" y="4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1C3A8BFA-DD51-408C-8900-DB1BB8229F2E}" type="datetimeFigureOut">
              <a:rPr lang="en-US" smtClean="0"/>
              <a:t>10/22/2025</a:t>
            </a:fld>
            <a:endParaRPr lang="en-US"/>
          </a:p>
        </p:txBody>
      </p:sp>
      <p:sp>
        <p:nvSpPr>
          <p:cNvPr id="4" name="Slide Image Placeholder 3"/>
          <p:cNvSpPr>
            <a:spLocks noGrp="1" noRot="1" noChangeAspect="1"/>
          </p:cNvSpPr>
          <p:nvPr>
            <p:ph type="sldImg" idx="2"/>
          </p:nvPr>
        </p:nvSpPr>
        <p:spPr>
          <a:xfrm>
            <a:off x="3332163" y="971550"/>
            <a:ext cx="3394075" cy="26225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77026C19-B005-49FC-81C3-6153C3878174}" type="slidenum">
              <a:rPr lang="en-US" smtClean="0"/>
              <a:t>‹#›</a:t>
            </a:fld>
            <a:endParaRPr lang="en-US"/>
          </a:p>
        </p:txBody>
      </p:sp>
    </p:spTree>
    <p:extLst>
      <p:ext uri="{BB962C8B-B14F-4D97-AF65-F5344CB8AC3E}">
        <p14:creationId xmlns:p14="http://schemas.microsoft.com/office/powerpoint/2010/main" val="18711026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Distinguish</a:t>
            </a:r>
            <a:r>
              <a:rPr lang="en-US" baseline="0" dirty="0"/>
              <a:t> between agent and ordinary computer program:  Autonomous control, perceiving environment, adapting to changes, being able to take on another goal. </a:t>
            </a:r>
            <a:endParaRPr lang="en-US" dirty="0"/>
          </a:p>
        </p:txBody>
      </p:sp>
      <p:sp>
        <p:nvSpPr>
          <p:cNvPr id="4" name="Slide Number Placeholder 3"/>
          <p:cNvSpPr>
            <a:spLocks noGrp="1"/>
          </p:cNvSpPr>
          <p:nvPr>
            <p:ph type="sldNum" sz="quarter" idx="10"/>
          </p:nvPr>
        </p:nvSpPr>
        <p:spPr/>
        <p:txBody>
          <a:bodyPr/>
          <a:lstStyle/>
          <a:p>
            <a:fld id="{58B4AF67-1199-4FD3-BA7C-97964DAD8D07}" type="slidenum">
              <a:rPr lang="en-US" smtClean="0"/>
              <a:t>8</a:t>
            </a:fld>
            <a:endParaRPr lang="en-US"/>
          </a:p>
        </p:txBody>
      </p:sp>
    </p:spTree>
    <p:extLst>
      <p:ext uri="{BB962C8B-B14F-4D97-AF65-F5344CB8AC3E}">
        <p14:creationId xmlns:p14="http://schemas.microsoft.com/office/powerpoint/2010/main" val="13027709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Fully observable: chess game, </a:t>
            </a:r>
            <a:r>
              <a:rPr lang="en-US" dirty="0" err="1"/>
              <a:t>cheker</a:t>
            </a:r>
            <a:r>
              <a:rPr lang="en-US" dirty="0"/>
              <a:t> game, </a:t>
            </a:r>
            <a:r>
              <a:rPr lang="en-US" dirty="0" err="1"/>
              <a:t>Tik</a:t>
            </a:r>
            <a:r>
              <a:rPr lang="en-US" baseline="0" dirty="0"/>
              <a:t> tack game</a:t>
            </a:r>
            <a:endParaRPr lang="en-US" dirty="0"/>
          </a:p>
          <a:p>
            <a:r>
              <a:rPr lang="en-US" dirty="0"/>
              <a:t>Partially</a:t>
            </a:r>
            <a:r>
              <a:rPr lang="en-US" baseline="0" dirty="0"/>
              <a:t> observable: card game</a:t>
            </a:r>
            <a:endParaRPr lang="en-US" dirty="0"/>
          </a:p>
        </p:txBody>
      </p:sp>
      <p:sp>
        <p:nvSpPr>
          <p:cNvPr id="4" name="Slide Number Placeholder 3"/>
          <p:cNvSpPr>
            <a:spLocks noGrp="1"/>
          </p:cNvSpPr>
          <p:nvPr>
            <p:ph type="sldNum" sz="quarter" idx="10"/>
          </p:nvPr>
        </p:nvSpPr>
        <p:spPr/>
        <p:txBody>
          <a:bodyPr/>
          <a:lstStyle/>
          <a:p>
            <a:fld id="{77026C19-B005-49FC-81C3-6153C3878174}" type="slidenum">
              <a:rPr lang="en-US" smtClean="0"/>
              <a:t>15</a:t>
            </a:fld>
            <a:endParaRPr lang="en-US"/>
          </a:p>
        </p:txBody>
      </p:sp>
    </p:spTree>
    <p:extLst>
      <p:ext uri="{BB962C8B-B14F-4D97-AF65-F5344CB8AC3E}">
        <p14:creationId xmlns:p14="http://schemas.microsoft.com/office/powerpoint/2010/main" val="1379083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Dice</a:t>
            </a:r>
            <a:r>
              <a:rPr lang="en-US" baseline="0" dirty="0"/>
              <a:t> in Ludo game is stochastic</a:t>
            </a:r>
            <a:endParaRPr lang="en-US" dirty="0"/>
          </a:p>
        </p:txBody>
      </p:sp>
      <p:sp>
        <p:nvSpPr>
          <p:cNvPr id="4" name="Slide Number Placeholder 3"/>
          <p:cNvSpPr>
            <a:spLocks noGrp="1"/>
          </p:cNvSpPr>
          <p:nvPr>
            <p:ph type="sldNum" sz="quarter" idx="10"/>
          </p:nvPr>
        </p:nvSpPr>
        <p:spPr/>
        <p:txBody>
          <a:bodyPr/>
          <a:lstStyle/>
          <a:p>
            <a:fld id="{77026C19-B005-49FC-81C3-6153C3878174}" type="slidenum">
              <a:rPr lang="en-US" smtClean="0"/>
              <a:t>17</a:t>
            </a:fld>
            <a:endParaRPr lang="en-US"/>
          </a:p>
        </p:txBody>
      </p:sp>
    </p:spTree>
    <p:extLst>
      <p:ext uri="{BB962C8B-B14F-4D97-AF65-F5344CB8AC3E}">
        <p14:creationId xmlns:p14="http://schemas.microsoft.com/office/powerpoint/2010/main" val="9655357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Chess game is sequential</a:t>
            </a:r>
          </a:p>
        </p:txBody>
      </p:sp>
      <p:sp>
        <p:nvSpPr>
          <p:cNvPr id="4" name="Slide Number Placeholder 3"/>
          <p:cNvSpPr>
            <a:spLocks noGrp="1"/>
          </p:cNvSpPr>
          <p:nvPr>
            <p:ph type="sldNum" sz="quarter" idx="10"/>
          </p:nvPr>
        </p:nvSpPr>
        <p:spPr/>
        <p:txBody>
          <a:bodyPr/>
          <a:lstStyle/>
          <a:p>
            <a:fld id="{77026C19-B005-49FC-81C3-6153C3878174}" type="slidenum">
              <a:rPr lang="en-US" smtClean="0"/>
              <a:t>18</a:t>
            </a:fld>
            <a:endParaRPr lang="en-US"/>
          </a:p>
        </p:txBody>
      </p:sp>
    </p:spTree>
    <p:extLst>
      <p:ext uri="{BB962C8B-B14F-4D97-AF65-F5344CB8AC3E}">
        <p14:creationId xmlns:p14="http://schemas.microsoft.com/office/powerpoint/2010/main" val="33220894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Maze game is</a:t>
            </a:r>
            <a:r>
              <a:rPr lang="en-US" baseline="0" dirty="0"/>
              <a:t> single agent</a:t>
            </a:r>
          </a:p>
          <a:p>
            <a:r>
              <a:rPr lang="en-US" baseline="0" dirty="0"/>
              <a:t>Football game  is </a:t>
            </a:r>
            <a:r>
              <a:rPr lang="en-US" baseline="0"/>
              <a:t>multi agent</a:t>
            </a:r>
            <a:endParaRPr lang="en-US" dirty="0"/>
          </a:p>
        </p:txBody>
      </p:sp>
      <p:sp>
        <p:nvSpPr>
          <p:cNvPr id="4" name="Slide Number Placeholder 3"/>
          <p:cNvSpPr>
            <a:spLocks noGrp="1"/>
          </p:cNvSpPr>
          <p:nvPr>
            <p:ph type="sldNum" sz="quarter" idx="10"/>
          </p:nvPr>
        </p:nvSpPr>
        <p:spPr/>
        <p:txBody>
          <a:bodyPr/>
          <a:lstStyle/>
          <a:p>
            <a:fld id="{77026C19-B005-49FC-81C3-6153C3878174}" type="slidenum">
              <a:rPr lang="en-US" smtClean="0"/>
              <a:t>19</a:t>
            </a:fld>
            <a:endParaRPr lang="en-US"/>
          </a:p>
        </p:txBody>
      </p:sp>
    </p:spTree>
    <p:extLst>
      <p:ext uri="{BB962C8B-B14F-4D97-AF65-F5344CB8AC3E}">
        <p14:creationId xmlns:p14="http://schemas.microsoft.com/office/powerpoint/2010/main" val="29464222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7026C19-B005-49FC-81C3-6153C3878174}" type="slidenum">
              <a:rPr lang="en-US" smtClean="0"/>
              <a:t>20</a:t>
            </a:fld>
            <a:endParaRPr lang="en-US"/>
          </a:p>
        </p:txBody>
      </p:sp>
    </p:spTree>
    <p:extLst>
      <p:ext uri="{BB962C8B-B14F-4D97-AF65-F5344CB8AC3E}">
        <p14:creationId xmlns:p14="http://schemas.microsoft.com/office/powerpoint/2010/main" val="22843912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040C28"/>
                </a:solidFill>
                <a:effectLst/>
                <a:latin typeface="Google Sans"/>
              </a:rPr>
              <a:t>A spam filter that learns from user feedback</a:t>
            </a:r>
            <a:endParaRPr lang="en-US"/>
          </a:p>
        </p:txBody>
      </p:sp>
      <p:sp>
        <p:nvSpPr>
          <p:cNvPr id="4" name="Slide Number Placeholder 3"/>
          <p:cNvSpPr>
            <a:spLocks noGrp="1"/>
          </p:cNvSpPr>
          <p:nvPr>
            <p:ph type="sldNum" sz="quarter" idx="5"/>
          </p:nvPr>
        </p:nvSpPr>
        <p:spPr/>
        <p:txBody>
          <a:bodyPr/>
          <a:lstStyle/>
          <a:p>
            <a:fld id="{77026C19-B005-49FC-81C3-6153C3878174}" type="slidenum">
              <a:rPr lang="en-US" smtClean="0"/>
              <a:t>48</a:t>
            </a:fld>
            <a:endParaRPr lang="en-US"/>
          </a:p>
        </p:txBody>
      </p:sp>
    </p:spTree>
    <p:extLst>
      <p:ext uri="{BB962C8B-B14F-4D97-AF65-F5344CB8AC3E}">
        <p14:creationId xmlns:p14="http://schemas.microsoft.com/office/powerpoint/2010/main" val="28884996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sz="3300" b="1" i="0">
                <a:solidFill>
                  <a:schemeClr val="tx1"/>
                </a:solidFill>
                <a:latin typeface="Tahoma"/>
                <a:cs typeface="Tahoma"/>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sz="1800" b="0" i="0">
                <a:solidFill>
                  <a:schemeClr val="tx1"/>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61771" y="1057655"/>
            <a:ext cx="9212580" cy="1666239"/>
          </a:xfrm>
          <a:custGeom>
            <a:avLst/>
            <a:gdLst/>
            <a:ahLst/>
            <a:cxnLst/>
            <a:rect l="l" t="t" r="r" b="b"/>
            <a:pathLst>
              <a:path w="9212580" h="1666239">
                <a:moveTo>
                  <a:pt x="0" y="0"/>
                </a:moveTo>
                <a:lnTo>
                  <a:pt x="9212579" y="0"/>
                </a:lnTo>
                <a:lnTo>
                  <a:pt x="9212579" y="1665731"/>
                </a:lnTo>
                <a:lnTo>
                  <a:pt x="0" y="1665731"/>
                </a:lnTo>
                <a:lnTo>
                  <a:pt x="0" y="0"/>
                </a:lnTo>
                <a:close/>
              </a:path>
            </a:pathLst>
          </a:custGeom>
          <a:ln w="7619">
            <a:solidFill>
              <a:srgbClr val="E9E9E9"/>
            </a:solidFill>
          </a:ln>
        </p:spPr>
        <p:txBody>
          <a:bodyPr wrap="square" lIns="0" tIns="0" rIns="0" bIns="0" rtlCol="0"/>
          <a:lstStyle/>
          <a:p>
            <a:endParaRPr/>
          </a:p>
        </p:txBody>
      </p:sp>
      <p:sp>
        <p:nvSpPr>
          <p:cNvPr id="17" name="bg object 17"/>
          <p:cNvSpPr/>
          <p:nvPr/>
        </p:nvSpPr>
        <p:spPr>
          <a:xfrm>
            <a:off x="413004" y="1708403"/>
            <a:ext cx="105410" cy="581025"/>
          </a:xfrm>
          <a:custGeom>
            <a:avLst/>
            <a:gdLst/>
            <a:ahLst/>
            <a:cxnLst/>
            <a:rect l="l" t="t" r="r" b="b"/>
            <a:pathLst>
              <a:path w="105409" h="581025">
                <a:moveTo>
                  <a:pt x="105155" y="0"/>
                </a:moveTo>
                <a:lnTo>
                  <a:pt x="0" y="0"/>
                </a:lnTo>
                <a:lnTo>
                  <a:pt x="0" y="580644"/>
                </a:lnTo>
                <a:lnTo>
                  <a:pt x="105155" y="580644"/>
                </a:lnTo>
                <a:lnTo>
                  <a:pt x="105155" y="0"/>
                </a:lnTo>
                <a:close/>
              </a:path>
            </a:pathLst>
          </a:custGeom>
          <a:solidFill>
            <a:srgbClr val="F5A700"/>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3300" b="1" i="0">
                <a:solidFill>
                  <a:schemeClr val="tx1"/>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sz="1800" b="0" i="0">
                <a:solidFill>
                  <a:schemeClr val="tx1"/>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61771" y="1057655"/>
            <a:ext cx="9212580" cy="1666239"/>
          </a:xfrm>
          <a:custGeom>
            <a:avLst/>
            <a:gdLst/>
            <a:ahLst/>
            <a:cxnLst/>
            <a:rect l="l" t="t" r="r" b="b"/>
            <a:pathLst>
              <a:path w="9212580" h="1666239">
                <a:moveTo>
                  <a:pt x="0" y="0"/>
                </a:moveTo>
                <a:lnTo>
                  <a:pt x="9212579" y="0"/>
                </a:lnTo>
                <a:lnTo>
                  <a:pt x="9212579" y="1665731"/>
                </a:lnTo>
                <a:lnTo>
                  <a:pt x="0" y="1665731"/>
                </a:lnTo>
                <a:lnTo>
                  <a:pt x="0" y="0"/>
                </a:lnTo>
                <a:close/>
              </a:path>
            </a:pathLst>
          </a:custGeom>
          <a:ln w="7619">
            <a:solidFill>
              <a:srgbClr val="E9E9E9"/>
            </a:solidFill>
          </a:ln>
        </p:spPr>
        <p:txBody>
          <a:bodyPr wrap="square" lIns="0" tIns="0" rIns="0" bIns="0" rtlCol="0"/>
          <a:lstStyle/>
          <a:p>
            <a:endParaRPr/>
          </a:p>
        </p:txBody>
      </p:sp>
      <p:sp>
        <p:nvSpPr>
          <p:cNvPr id="17" name="bg object 17"/>
          <p:cNvSpPr/>
          <p:nvPr/>
        </p:nvSpPr>
        <p:spPr>
          <a:xfrm>
            <a:off x="413004" y="1708403"/>
            <a:ext cx="105410" cy="581025"/>
          </a:xfrm>
          <a:custGeom>
            <a:avLst/>
            <a:gdLst/>
            <a:ahLst/>
            <a:cxnLst/>
            <a:rect l="l" t="t" r="r" b="b"/>
            <a:pathLst>
              <a:path w="105409" h="581025">
                <a:moveTo>
                  <a:pt x="105155" y="0"/>
                </a:moveTo>
                <a:lnTo>
                  <a:pt x="0" y="0"/>
                </a:lnTo>
                <a:lnTo>
                  <a:pt x="0" y="580644"/>
                </a:lnTo>
                <a:lnTo>
                  <a:pt x="105155" y="580644"/>
                </a:lnTo>
                <a:lnTo>
                  <a:pt x="105155" y="0"/>
                </a:lnTo>
                <a:close/>
              </a:path>
            </a:pathLst>
          </a:custGeom>
          <a:solidFill>
            <a:srgbClr val="F5A700"/>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3300" b="1" i="0">
                <a:solidFill>
                  <a:schemeClr val="tx1"/>
                </a:solidFill>
                <a:latin typeface="Tahoma"/>
                <a:cs typeface="Tahoma"/>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461771" y="1057655"/>
            <a:ext cx="9212580" cy="1666239"/>
          </a:xfrm>
          <a:custGeom>
            <a:avLst/>
            <a:gdLst/>
            <a:ahLst/>
            <a:cxnLst/>
            <a:rect l="l" t="t" r="r" b="b"/>
            <a:pathLst>
              <a:path w="9212580" h="1666239">
                <a:moveTo>
                  <a:pt x="0" y="0"/>
                </a:moveTo>
                <a:lnTo>
                  <a:pt x="9212579" y="0"/>
                </a:lnTo>
                <a:lnTo>
                  <a:pt x="9212579" y="1665731"/>
                </a:lnTo>
                <a:lnTo>
                  <a:pt x="0" y="1665731"/>
                </a:lnTo>
                <a:lnTo>
                  <a:pt x="0" y="0"/>
                </a:lnTo>
                <a:close/>
              </a:path>
            </a:pathLst>
          </a:custGeom>
          <a:ln w="7619">
            <a:solidFill>
              <a:srgbClr val="E9E9E9"/>
            </a:solidFill>
          </a:ln>
        </p:spPr>
        <p:txBody>
          <a:bodyPr wrap="square" lIns="0" tIns="0" rIns="0" bIns="0" rtlCol="0"/>
          <a:lstStyle/>
          <a:p>
            <a:endParaRPr/>
          </a:p>
        </p:txBody>
      </p:sp>
      <p:sp>
        <p:nvSpPr>
          <p:cNvPr id="17" name="bg object 17"/>
          <p:cNvSpPr/>
          <p:nvPr/>
        </p:nvSpPr>
        <p:spPr>
          <a:xfrm>
            <a:off x="413004" y="1708403"/>
            <a:ext cx="105410" cy="581025"/>
          </a:xfrm>
          <a:custGeom>
            <a:avLst/>
            <a:gdLst/>
            <a:ahLst/>
            <a:cxnLst/>
            <a:rect l="l" t="t" r="r" b="b"/>
            <a:pathLst>
              <a:path w="105409" h="581025">
                <a:moveTo>
                  <a:pt x="105155" y="0"/>
                </a:moveTo>
                <a:lnTo>
                  <a:pt x="0" y="0"/>
                </a:lnTo>
                <a:lnTo>
                  <a:pt x="0" y="580644"/>
                </a:lnTo>
                <a:lnTo>
                  <a:pt x="105155" y="580644"/>
                </a:lnTo>
                <a:lnTo>
                  <a:pt x="105155" y="0"/>
                </a:lnTo>
                <a:close/>
              </a:path>
            </a:pathLst>
          </a:custGeom>
          <a:solidFill>
            <a:srgbClr val="F5A700"/>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3300" b="1" i="0">
                <a:solidFill>
                  <a:schemeClr val="tx1"/>
                </a:solidFill>
                <a:latin typeface="Tahoma"/>
                <a:cs typeface="Tahom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982662" y="1688198"/>
            <a:ext cx="7908951" cy="529577"/>
          </a:xfrm>
          <a:prstGeom prst="rect">
            <a:avLst/>
          </a:prstGeom>
        </p:spPr>
        <p:txBody>
          <a:bodyPr wrap="square" lIns="0" tIns="0" rIns="0" bIns="0">
            <a:spAutoFit/>
          </a:bodyPr>
          <a:lstStyle>
            <a:lvl1pPr>
              <a:defRPr sz="3300" b="1" i="0">
                <a:solidFill>
                  <a:schemeClr val="tx1"/>
                </a:solidFill>
                <a:latin typeface="Tahoma"/>
                <a:cs typeface="Tahoma"/>
              </a:defRPr>
            </a:lvl1pPr>
          </a:lstStyle>
          <a:p>
            <a:endParaRPr/>
          </a:p>
        </p:txBody>
      </p:sp>
      <p:sp>
        <p:nvSpPr>
          <p:cNvPr id="3" name="Holder 3"/>
          <p:cNvSpPr>
            <a:spLocks noGrp="1"/>
          </p:cNvSpPr>
          <p:nvPr>
            <p:ph type="body" idx="1"/>
          </p:nvPr>
        </p:nvSpPr>
        <p:spPr>
          <a:xfrm>
            <a:off x="959878" y="2326702"/>
            <a:ext cx="8138642" cy="3602990"/>
          </a:xfrm>
          <a:prstGeom prst="rect">
            <a:avLst/>
          </a:prstGeom>
        </p:spPr>
        <p:txBody>
          <a:bodyPr wrap="square" lIns="0" tIns="0" rIns="0" bIns="0">
            <a:spAutoFit/>
          </a:bodyPr>
          <a:lstStyle>
            <a:lvl1pPr>
              <a:defRPr sz="1800" b="0" i="0">
                <a:solidFill>
                  <a:schemeClr val="tx1"/>
                </a:solidFill>
                <a:latin typeface="Tahoma"/>
                <a:cs typeface="Tahoma"/>
              </a:defRPr>
            </a:lvl1pPr>
          </a:lstStyle>
          <a:p>
            <a:endParaRPr/>
          </a:p>
        </p:txBody>
      </p:sp>
      <p:sp>
        <p:nvSpPr>
          <p:cNvPr id="4" name="Holder 4"/>
          <p:cNvSpPr>
            <a:spLocks noGrp="1"/>
          </p:cNvSpPr>
          <p:nvPr>
            <p:ph type="ftr" sz="quarter" idx="5"/>
          </p:nvPr>
        </p:nvSpPr>
        <p:spPr>
          <a:xfrm>
            <a:off x="3419856" y="7228332"/>
            <a:ext cx="3218688" cy="38862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10/22/2025</a:t>
            </a:fld>
            <a:endParaRPr lang="en-US"/>
          </a:p>
        </p:txBody>
      </p:sp>
      <p:sp>
        <p:nvSpPr>
          <p:cNvPr id="6" name="Holder 6"/>
          <p:cNvSpPr>
            <a:spLocks noGrp="1"/>
          </p:cNvSpPr>
          <p:nvPr>
            <p:ph type="sldNum" sz="quarter" idx="7"/>
          </p:nvPr>
        </p:nvSpPr>
        <p:spPr>
          <a:xfrm>
            <a:off x="7242048" y="7228332"/>
            <a:ext cx="2313432" cy="3886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jp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portals.au.edu.pk/imc/)" TargetMode="External"/><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31.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12" Type="http://schemas.openxmlformats.org/officeDocument/2006/relationships/image" Target="../media/image35.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9.png"/><Relationship Id="rId11" Type="http://schemas.openxmlformats.org/officeDocument/2006/relationships/image" Target="../media/image34.png"/><Relationship Id="rId5" Type="http://schemas.openxmlformats.org/officeDocument/2006/relationships/image" Target="../media/image28.png"/><Relationship Id="rId10" Type="http://schemas.openxmlformats.org/officeDocument/2006/relationships/image" Target="../media/image33.png"/><Relationship Id="rId4" Type="http://schemas.openxmlformats.org/officeDocument/2006/relationships/image" Target="../media/image27.png"/><Relationship Id="rId9" Type="http://schemas.openxmlformats.org/officeDocument/2006/relationships/image" Target="../media/image32.png"/></Relationships>
</file>

<file path=ppt/slides/_rels/slide32.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png"/><Relationship Id="rId7" Type="http://schemas.openxmlformats.org/officeDocument/2006/relationships/image" Target="../media/image40.png"/><Relationship Id="rId12" Type="http://schemas.openxmlformats.org/officeDocument/2006/relationships/image" Target="../media/image45.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39.png"/><Relationship Id="rId11" Type="http://schemas.openxmlformats.org/officeDocument/2006/relationships/image" Target="../media/image44.png"/><Relationship Id="rId5" Type="http://schemas.openxmlformats.org/officeDocument/2006/relationships/image" Target="../media/image38.png"/><Relationship Id="rId10" Type="http://schemas.openxmlformats.org/officeDocument/2006/relationships/image" Target="../media/image43.png"/><Relationship Id="rId4" Type="http://schemas.openxmlformats.org/officeDocument/2006/relationships/image" Target="../media/image37.png"/><Relationship Id="rId9" Type="http://schemas.openxmlformats.org/officeDocument/2006/relationships/image" Target="../media/image42.png"/></Relationships>
</file>

<file path=ppt/slides/_rels/slide33.xml.rels><?xml version="1.0" encoding="UTF-8" standalone="yes"?>
<Relationships xmlns="http://schemas.openxmlformats.org/package/2006/relationships"><Relationship Id="rId2" Type="http://schemas.openxmlformats.org/officeDocument/2006/relationships/image" Target="../media/image46.jp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image" Target="../media/image52.jp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webp"/><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hyperlink" Target="https://www.geeksforgeeks.org/ml-types-learning-supervised-learning/" TargetMode="External"/><Relationship Id="rId2" Type="http://schemas.openxmlformats.org/officeDocument/2006/relationships/hyperlink" Target="https://www.geeksforgeeks.org/what-is-reinforcement-learning/" TargetMode="Externa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8.jpg"/><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8" Type="http://schemas.openxmlformats.org/officeDocument/2006/relationships/image" Target="../media/image65.jpg"/><Relationship Id="rId3" Type="http://schemas.openxmlformats.org/officeDocument/2006/relationships/image" Target="../media/image60.png"/><Relationship Id="rId7" Type="http://schemas.openxmlformats.org/officeDocument/2006/relationships/image" Target="../media/image64.jpg"/><Relationship Id="rId2" Type="http://schemas.openxmlformats.org/officeDocument/2006/relationships/image" Target="../media/image59.png"/><Relationship Id="rId1" Type="http://schemas.openxmlformats.org/officeDocument/2006/relationships/slideLayout" Target="../slideLayouts/slideLayout4.xml"/><Relationship Id="rId6" Type="http://schemas.openxmlformats.org/officeDocument/2006/relationships/image" Target="../media/image63.png"/><Relationship Id="rId11" Type="http://schemas.openxmlformats.org/officeDocument/2006/relationships/image" Target="../media/image68.jpg"/><Relationship Id="rId5" Type="http://schemas.openxmlformats.org/officeDocument/2006/relationships/image" Target="../media/image62.jpg"/><Relationship Id="rId10" Type="http://schemas.openxmlformats.org/officeDocument/2006/relationships/image" Target="../media/image67.png"/><Relationship Id="rId4" Type="http://schemas.openxmlformats.org/officeDocument/2006/relationships/image" Target="../media/image61.jpg"/><Relationship Id="rId9" Type="http://schemas.openxmlformats.org/officeDocument/2006/relationships/image" Target="../media/image66.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1057275"/>
            <a:ext cx="10058400" cy="565785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0D0D0D"/>
          </a:solidFill>
        </p:spPr>
        <p:txBody>
          <a:bodyPr wrap="square" lIns="0" tIns="0" rIns="0" bIns="0" rtlCol="0"/>
          <a:lstStyle/>
          <a:p>
            <a:endParaRPr/>
          </a:p>
        </p:txBody>
      </p:sp>
      <p:grpSp>
        <p:nvGrpSpPr>
          <p:cNvPr id="3" name="object 3"/>
          <p:cNvGrpSpPr/>
          <p:nvPr/>
        </p:nvGrpSpPr>
        <p:grpSpPr>
          <a:xfrm>
            <a:off x="0" y="-76200"/>
            <a:ext cx="10058400" cy="7848600"/>
            <a:chOff x="0" y="0"/>
            <a:chExt cx="12192000" cy="6858000"/>
          </a:xfrm>
        </p:grpSpPr>
        <p:pic>
          <p:nvPicPr>
            <p:cNvPr id="4" name="object 4"/>
            <p:cNvPicPr/>
            <p:nvPr/>
          </p:nvPicPr>
          <p:blipFill>
            <a:blip r:embed="rId2" cstate="print"/>
            <a:stretch>
              <a:fillRect/>
            </a:stretch>
          </p:blipFill>
          <p:spPr>
            <a:xfrm>
              <a:off x="0" y="3047"/>
              <a:ext cx="8035543" cy="2671572"/>
            </a:xfrm>
            <a:prstGeom prst="rect">
              <a:avLst/>
            </a:prstGeom>
          </p:spPr>
        </p:pic>
        <p:pic>
          <p:nvPicPr>
            <p:cNvPr id="5" name="object 5"/>
            <p:cNvPicPr/>
            <p:nvPr/>
          </p:nvPicPr>
          <p:blipFill>
            <a:blip r:embed="rId3" cstate="print"/>
            <a:stretch>
              <a:fillRect/>
            </a:stretch>
          </p:blipFill>
          <p:spPr>
            <a:xfrm>
              <a:off x="6096" y="2353054"/>
              <a:ext cx="7328789" cy="4466082"/>
            </a:xfrm>
            <a:prstGeom prst="rect">
              <a:avLst/>
            </a:prstGeom>
          </p:spPr>
        </p:pic>
        <p:pic>
          <p:nvPicPr>
            <p:cNvPr id="6" name="object 6"/>
            <p:cNvPicPr/>
            <p:nvPr/>
          </p:nvPicPr>
          <p:blipFill>
            <a:blip r:embed="rId4" cstate="print"/>
            <a:stretch>
              <a:fillRect/>
            </a:stretch>
          </p:blipFill>
          <p:spPr>
            <a:xfrm>
              <a:off x="0" y="0"/>
              <a:ext cx="12192000" cy="6858000"/>
            </a:xfrm>
            <a:prstGeom prst="rect">
              <a:avLst/>
            </a:prstGeom>
          </p:spPr>
        </p:pic>
        <p:sp>
          <p:nvSpPr>
            <p:cNvPr id="7" name="object 7"/>
            <p:cNvSpPr/>
            <p:nvPr/>
          </p:nvSpPr>
          <p:spPr>
            <a:xfrm>
              <a:off x="380" y="2398395"/>
              <a:ext cx="11004550" cy="0"/>
            </a:xfrm>
            <a:custGeom>
              <a:avLst/>
              <a:gdLst/>
              <a:ahLst/>
              <a:cxnLst/>
              <a:rect l="l" t="t" r="r" b="b"/>
              <a:pathLst>
                <a:path w="11004550">
                  <a:moveTo>
                    <a:pt x="11004296" y="0"/>
                  </a:moveTo>
                  <a:lnTo>
                    <a:pt x="0" y="0"/>
                  </a:lnTo>
                </a:path>
              </a:pathLst>
            </a:custGeom>
            <a:ln w="12954">
              <a:solidFill>
                <a:srgbClr val="EC7C30"/>
              </a:solidFill>
            </a:ln>
          </p:spPr>
          <p:txBody>
            <a:bodyPr wrap="square" lIns="0" tIns="0" rIns="0" bIns="0" rtlCol="0"/>
            <a:lstStyle/>
            <a:p>
              <a:endParaRPr/>
            </a:p>
          </p:txBody>
        </p:sp>
      </p:grpSp>
      <p:sp>
        <p:nvSpPr>
          <p:cNvPr id="9" name="object 9"/>
          <p:cNvSpPr txBox="1">
            <a:spLocks noGrp="1"/>
          </p:cNvSpPr>
          <p:nvPr>
            <p:ph type="title"/>
          </p:nvPr>
        </p:nvSpPr>
        <p:spPr>
          <a:xfrm>
            <a:off x="170365" y="964235"/>
            <a:ext cx="9717671" cy="577791"/>
          </a:xfrm>
          <a:prstGeom prst="rect">
            <a:avLst/>
          </a:prstGeom>
        </p:spPr>
        <p:txBody>
          <a:bodyPr vert="horz" wrap="square" lIns="0" tIns="169867" rIns="0" bIns="0" rtlCol="0">
            <a:spAutoFit/>
          </a:bodyPr>
          <a:lstStyle/>
          <a:p>
            <a:pPr marL="4440365" algn="ctr">
              <a:spcBef>
                <a:spcPts val="305"/>
              </a:spcBef>
            </a:pPr>
            <a:r>
              <a:rPr lang="en-US" sz="2640" dirty="0">
                <a:solidFill>
                  <a:srgbClr val="FFFFFF"/>
                </a:solidFill>
              </a:rPr>
              <a:t>Artificial Intelligence</a:t>
            </a:r>
            <a:endParaRPr sz="1650" dirty="0"/>
          </a:p>
        </p:txBody>
      </p:sp>
      <p:sp>
        <p:nvSpPr>
          <p:cNvPr id="10" name="object 10"/>
          <p:cNvSpPr txBox="1"/>
          <p:nvPr/>
        </p:nvSpPr>
        <p:spPr>
          <a:xfrm>
            <a:off x="6740804" y="2059972"/>
            <a:ext cx="1018413" cy="315279"/>
          </a:xfrm>
          <a:prstGeom prst="rect">
            <a:avLst/>
          </a:prstGeom>
        </p:spPr>
        <p:txBody>
          <a:bodyPr vert="horz" wrap="square" lIns="0" tIns="10478" rIns="0" bIns="0" rtlCol="0">
            <a:spAutoFit/>
          </a:bodyPr>
          <a:lstStyle/>
          <a:p>
            <a:pPr marL="10478">
              <a:spcBef>
                <a:spcPts val="83"/>
              </a:spcBef>
            </a:pPr>
            <a:r>
              <a:rPr sz="1980" b="1" spc="-8" dirty="0">
                <a:solidFill>
                  <a:srgbClr val="FFFFFF"/>
                </a:solidFill>
                <a:latin typeface="Calibri"/>
                <a:cs typeface="Calibri"/>
              </a:rPr>
              <a:t>Overview</a:t>
            </a:r>
            <a:endParaRPr sz="1980" dirty="0">
              <a:latin typeface="Calibri"/>
              <a:cs typeface="Calibri"/>
            </a:endParaRPr>
          </a:p>
        </p:txBody>
      </p:sp>
      <p:sp>
        <p:nvSpPr>
          <p:cNvPr id="11" name="object 11"/>
          <p:cNvSpPr txBox="1"/>
          <p:nvPr/>
        </p:nvSpPr>
        <p:spPr>
          <a:xfrm>
            <a:off x="5722391" y="3676441"/>
            <a:ext cx="3464909" cy="467629"/>
          </a:xfrm>
          <a:prstGeom prst="rect">
            <a:avLst/>
          </a:prstGeom>
        </p:spPr>
        <p:txBody>
          <a:bodyPr vert="horz" wrap="square" lIns="0" tIns="10478" rIns="0" bIns="0" rtlCol="0">
            <a:spAutoFit/>
          </a:bodyPr>
          <a:lstStyle/>
          <a:p>
            <a:pPr>
              <a:spcBef>
                <a:spcPts val="37"/>
              </a:spcBef>
            </a:pPr>
            <a:r>
              <a:rPr lang="en-US" sz="1485" dirty="0">
                <a:solidFill>
                  <a:schemeClr val="bg1"/>
                </a:solidFill>
                <a:latin typeface="Cambria"/>
                <a:cs typeface="Cambria"/>
              </a:rPr>
              <a:t>ANWAR KHAN</a:t>
            </a:r>
            <a:endParaRPr sz="1485" dirty="0">
              <a:solidFill>
                <a:schemeClr val="bg1"/>
              </a:solidFill>
              <a:latin typeface="Cambria"/>
              <a:cs typeface="Cambria"/>
            </a:endParaRPr>
          </a:p>
          <a:p>
            <a:pPr marL="10478" marR="4191" indent="356758">
              <a:spcBef>
                <a:spcPts val="4"/>
              </a:spcBef>
            </a:pPr>
            <a:r>
              <a:rPr lang="en-US" sz="1485" dirty="0">
                <a:solidFill>
                  <a:srgbClr val="FFFFFF"/>
                </a:solidFill>
                <a:latin typeface="Cambria"/>
                <a:cs typeface="Cambria"/>
              </a:rPr>
              <a:t>University of </a:t>
            </a:r>
            <a:r>
              <a:rPr sz="1485" dirty="0">
                <a:solidFill>
                  <a:srgbClr val="FFFFFF"/>
                </a:solidFill>
                <a:latin typeface="Cambria"/>
                <a:cs typeface="Cambria"/>
              </a:rPr>
              <a:t>Lahore</a:t>
            </a:r>
            <a:r>
              <a:rPr sz="1485" spc="-41" dirty="0">
                <a:solidFill>
                  <a:srgbClr val="FFFFFF"/>
                </a:solidFill>
                <a:latin typeface="Cambria"/>
                <a:cs typeface="Cambria"/>
              </a:rPr>
              <a:t> </a:t>
            </a:r>
            <a:endParaRPr sz="1485" dirty="0">
              <a:latin typeface="Cambria"/>
              <a:cs typeface="Cambria"/>
            </a:endParaRPr>
          </a:p>
        </p:txBody>
      </p:sp>
    </p:spTree>
    <p:extLst>
      <p:ext uri="{BB962C8B-B14F-4D97-AF65-F5344CB8AC3E}">
        <p14:creationId xmlns:p14="http://schemas.microsoft.com/office/powerpoint/2010/main" val="32399097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662" y="1688198"/>
            <a:ext cx="7908951" cy="1015663"/>
          </a:xfrm>
        </p:spPr>
        <p:txBody>
          <a:bodyPr/>
          <a:lstStyle/>
          <a:p>
            <a:r>
              <a:rPr lang="en-US" dirty="0"/>
              <a:t>Reinforcement learning</a:t>
            </a:r>
            <a:br>
              <a:rPr lang="en-US" dirty="0"/>
            </a:b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2438400"/>
            <a:ext cx="8763000" cy="4419600"/>
          </a:xfrm>
          <a:prstGeom prst="rect">
            <a:avLst/>
          </a:prstGeom>
        </p:spPr>
      </p:pic>
    </p:spTree>
    <p:extLst>
      <p:ext uri="{BB962C8B-B14F-4D97-AF65-F5344CB8AC3E}">
        <p14:creationId xmlns:p14="http://schemas.microsoft.com/office/powerpoint/2010/main" val="1601797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409193" y="1053845"/>
          <a:ext cx="9228455" cy="1664335"/>
        </p:xfrm>
        <a:graphic>
          <a:graphicData uri="http://schemas.openxmlformats.org/drawingml/2006/table">
            <a:tbl>
              <a:tblPr firstRow="1" bandRow="1">
                <a:tableStyleId>{2D5ABB26-0587-4C30-8999-92F81FD0307C}</a:tableStyleId>
              </a:tblPr>
              <a:tblGrid>
                <a:gridCol w="72390">
                  <a:extLst>
                    <a:ext uri="{9D8B030D-6E8A-4147-A177-3AD203B41FA5}">
                      <a16:colId xmlns:a16="http://schemas.microsoft.com/office/drawing/2014/main" val="20000"/>
                    </a:ext>
                  </a:extLst>
                </a:gridCol>
                <a:gridCol w="9156065">
                  <a:extLst>
                    <a:ext uri="{9D8B030D-6E8A-4147-A177-3AD203B41FA5}">
                      <a16:colId xmlns:a16="http://schemas.microsoft.com/office/drawing/2014/main" val="20001"/>
                    </a:ext>
                  </a:extLst>
                </a:gridCol>
              </a:tblGrid>
              <a:tr h="650240">
                <a:tc gridSpan="2">
                  <a:txBody>
                    <a:bodyPr/>
                    <a:lstStyle/>
                    <a:p>
                      <a:pPr>
                        <a:lnSpc>
                          <a:spcPct val="100000"/>
                        </a:lnSpc>
                      </a:pPr>
                      <a:endParaRPr sz="1800">
                        <a:latin typeface="Times New Roman"/>
                        <a:cs typeface="Times New Roman"/>
                      </a:endParaRPr>
                    </a:p>
                  </a:txBody>
                  <a:tcPr marL="0" marR="0" marT="0" marB="0">
                    <a:lnL w="9525">
                      <a:solidFill>
                        <a:srgbClr val="E9E9E9"/>
                      </a:solidFill>
                      <a:prstDash val="solid"/>
                    </a:lnL>
                    <a:lnR w="9525">
                      <a:solidFill>
                        <a:srgbClr val="E9E9E9"/>
                      </a:solidFill>
                      <a:prstDash val="solid"/>
                    </a:lnR>
                    <a:lnT w="9525">
                      <a:solidFill>
                        <a:srgbClr val="E9E9E9"/>
                      </a:solidFill>
                      <a:prstDash val="solid"/>
                    </a:lnT>
                  </a:tcPr>
                </a:tc>
                <a:tc hMerge="1">
                  <a:txBody>
                    <a:bodyPr/>
                    <a:lstStyle/>
                    <a:p>
                      <a:endParaRPr/>
                    </a:p>
                  </a:txBody>
                  <a:tcPr marL="0" marR="0" marT="0" marB="0"/>
                </a:tc>
                <a:extLst>
                  <a:ext uri="{0D108BD9-81ED-4DB2-BD59-A6C34878D82A}">
                    <a16:rowId xmlns:a16="http://schemas.microsoft.com/office/drawing/2014/main" val="10000"/>
                  </a:ext>
                </a:extLst>
              </a:tr>
              <a:tr h="580390">
                <a:tc>
                  <a:txBody>
                    <a:bodyPr/>
                    <a:lstStyle/>
                    <a:p>
                      <a:pPr>
                        <a:lnSpc>
                          <a:spcPct val="100000"/>
                        </a:lnSpc>
                      </a:pPr>
                      <a:endParaRPr sz="1800">
                        <a:latin typeface="Times New Roman"/>
                        <a:cs typeface="Times New Roman"/>
                      </a:endParaRPr>
                    </a:p>
                  </a:txBody>
                  <a:tcPr marL="0" marR="0" marT="0" marB="0">
                    <a:lnL w="9525">
                      <a:solidFill>
                        <a:srgbClr val="E9E9E9"/>
                      </a:solidFill>
                      <a:prstDash val="solid"/>
                    </a:lnL>
                    <a:solidFill>
                      <a:srgbClr val="F5A700"/>
                    </a:solidFill>
                  </a:tcPr>
                </a:tc>
                <a:tc>
                  <a:txBody>
                    <a:bodyPr/>
                    <a:lstStyle/>
                    <a:p>
                      <a:pPr marL="476884">
                        <a:lnSpc>
                          <a:spcPts val="3900"/>
                        </a:lnSpc>
                      </a:pPr>
                      <a:r>
                        <a:rPr sz="3300" b="1" spc="-105" dirty="0">
                          <a:latin typeface="Tahoma"/>
                          <a:cs typeface="Tahoma"/>
                        </a:rPr>
                        <a:t>What</a:t>
                      </a:r>
                      <a:r>
                        <a:rPr sz="3300" b="1" spc="-135" dirty="0">
                          <a:latin typeface="Tahoma"/>
                          <a:cs typeface="Tahoma"/>
                        </a:rPr>
                        <a:t> </a:t>
                      </a:r>
                      <a:r>
                        <a:rPr sz="3300" b="1" spc="-100" dirty="0">
                          <a:latin typeface="Tahoma"/>
                          <a:cs typeface="Tahoma"/>
                        </a:rPr>
                        <a:t>is</a:t>
                      </a:r>
                      <a:r>
                        <a:rPr sz="3300" b="1" spc="-135" dirty="0">
                          <a:latin typeface="Tahoma"/>
                          <a:cs typeface="Tahoma"/>
                        </a:rPr>
                        <a:t> </a:t>
                      </a:r>
                      <a:r>
                        <a:rPr sz="3300" b="1" spc="-110" dirty="0">
                          <a:latin typeface="Tahoma"/>
                          <a:cs typeface="Tahoma"/>
                        </a:rPr>
                        <a:t>an</a:t>
                      </a:r>
                      <a:r>
                        <a:rPr sz="3300" b="1" spc="-195" dirty="0">
                          <a:latin typeface="Tahoma"/>
                          <a:cs typeface="Tahoma"/>
                        </a:rPr>
                        <a:t> </a:t>
                      </a:r>
                      <a:r>
                        <a:rPr sz="3300" b="1" spc="-10" dirty="0">
                          <a:latin typeface="Tahoma"/>
                          <a:cs typeface="Tahoma"/>
                        </a:rPr>
                        <a:t>Agent?</a:t>
                      </a:r>
                      <a:endParaRPr sz="3300">
                        <a:latin typeface="Tahoma"/>
                        <a:cs typeface="Tahoma"/>
                      </a:endParaRPr>
                    </a:p>
                  </a:txBody>
                  <a:tcPr marL="0" marR="0" marT="0" marB="0">
                    <a:lnR w="9525">
                      <a:solidFill>
                        <a:srgbClr val="E9E9E9"/>
                      </a:solidFill>
                      <a:prstDash val="solid"/>
                    </a:lnR>
                  </a:tcPr>
                </a:tc>
                <a:extLst>
                  <a:ext uri="{0D108BD9-81ED-4DB2-BD59-A6C34878D82A}">
                    <a16:rowId xmlns:a16="http://schemas.microsoft.com/office/drawing/2014/main" val="10001"/>
                  </a:ext>
                </a:extLst>
              </a:tr>
              <a:tr h="433705">
                <a:tc gridSpan="2">
                  <a:txBody>
                    <a:bodyPr/>
                    <a:lstStyle/>
                    <a:p>
                      <a:pPr>
                        <a:lnSpc>
                          <a:spcPct val="100000"/>
                        </a:lnSpc>
                      </a:pPr>
                      <a:endParaRPr sz="1800">
                        <a:latin typeface="Times New Roman"/>
                        <a:cs typeface="Times New Roman"/>
                      </a:endParaRPr>
                    </a:p>
                  </a:txBody>
                  <a:tcPr marL="0" marR="0" marT="0" marB="0">
                    <a:lnL w="9525">
                      <a:solidFill>
                        <a:srgbClr val="E9E9E9"/>
                      </a:solidFill>
                      <a:prstDash val="solid"/>
                    </a:lnL>
                    <a:lnR w="9525">
                      <a:solidFill>
                        <a:srgbClr val="E9E9E9"/>
                      </a:solidFill>
                      <a:prstDash val="solid"/>
                    </a:lnR>
                    <a:lnB w="9525">
                      <a:solidFill>
                        <a:srgbClr val="E9E9E9"/>
                      </a:solidFill>
                      <a:prstDash val="solid"/>
                    </a:lnB>
                  </a:tcPr>
                </a:tc>
                <a:tc hMerge="1">
                  <a:txBody>
                    <a:bodyPr/>
                    <a:lstStyle/>
                    <a:p>
                      <a:endParaRPr/>
                    </a:p>
                  </a:txBody>
                  <a:tcPr marL="0" marR="0" marT="0" marB="0"/>
                </a:tc>
                <a:extLst>
                  <a:ext uri="{0D108BD9-81ED-4DB2-BD59-A6C34878D82A}">
                    <a16:rowId xmlns:a16="http://schemas.microsoft.com/office/drawing/2014/main" val="10002"/>
                  </a:ext>
                </a:extLst>
              </a:tr>
            </a:tbl>
          </a:graphicData>
        </a:graphic>
      </p:graphicFrame>
      <p:sp>
        <p:nvSpPr>
          <p:cNvPr id="3" name="object 3"/>
          <p:cNvSpPr txBox="1"/>
          <p:nvPr/>
        </p:nvSpPr>
        <p:spPr>
          <a:xfrm>
            <a:off x="982586" y="2855527"/>
            <a:ext cx="8233409" cy="2961005"/>
          </a:xfrm>
          <a:prstGeom prst="rect">
            <a:avLst/>
          </a:prstGeom>
        </p:spPr>
        <p:txBody>
          <a:bodyPr vert="horz" wrap="square" lIns="0" tIns="39370" rIns="0" bIns="0" rtlCol="0">
            <a:spAutoFit/>
          </a:bodyPr>
          <a:lstStyle/>
          <a:p>
            <a:pPr marL="200025" marR="5080" indent="-187960">
              <a:lnSpc>
                <a:spcPct val="90800"/>
              </a:lnSpc>
              <a:spcBef>
                <a:spcPts val="310"/>
              </a:spcBef>
              <a:buFont typeface="Arial MT"/>
              <a:buChar char="•"/>
              <a:tabLst>
                <a:tab pos="201295" algn="l"/>
              </a:tabLst>
            </a:pPr>
            <a:r>
              <a:rPr sz="1800" spc="110" dirty="0">
                <a:latin typeface="Tahoma"/>
                <a:cs typeface="Tahoma"/>
              </a:rPr>
              <a:t>An</a:t>
            </a:r>
            <a:r>
              <a:rPr sz="1800" spc="-10" dirty="0">
                <a:latin typeface="Tahoma"/>
                <a:cs typeface="Tahoma"/>
              </a:rPr>
              <a:t> </a:t>
            </a:r>
            <a:r>
              <a:rPr sz="1800" spc="50" dirty="0">
                <a:latin typeface="Tahoma"/>
                <a:cs typeface="Tahoma"/>
              </a:rPr>
              <a:t>agent</a:t>
            </a:r>
            <a:r>
              <a:rPr sz="1800" spc="20" dirty="0">
                <a:latin typeface="Tahoma"/>
                <a:cs typeface="Tahoma"/>
              </a:rPr>
              <a:t> </a:t>
            </a:r>
            <a:r>
              <a:rPr sz="1800" dirty="0">
                <a:latin typeface="Tahoma"/>
                <a:cs typeface="Tahoma"/>
              </a:rPr>
              <a:t>can</a:t>
            </a:r>
            <a:r>
              <a:rPr sz="1800" spc="-5" dirty="0">
                <a:latin typeface="Tahoma"/>
                <a:cs typeface="Tahoma"/>
              </a:rPr>
              <a:t> </a:t>
            </a:r>
            <a:r>
              <a:rPr sz="1800" spc="114" dirty="0">
                <a:latin typeface="Tahoma"/>
                <a:cs typeface="Tahoma"/>
              </a:rPr>
              <a:t>be</a:t>
            </a:r>
            <a:r>
              <a:rPr sz="1800" spc="-15" dirty="0">
                <a:latin typeface="Tahoma"/>
                <a:cs typeface="Tahoma"/>
              </a:rPr>
              <a:t> </a:t>
            </a:r>
            <a:r>
              <a:rPr sz="1800" dirty="0">
                <a:latin typeface="Tahoma"/>
                <a:cs typeface="Tahoma"/>
              </a:rPr>
              <a:t>anything that </a:t>
            </a:r>
            <a:r>
              <a:rPr sz="1800" spc="55" dirty="0">
                <a:latin typeface="Tahoma"/>
                <a:cs typeface="Tahoma"/>
              </a:rPr>
              <a:t>perceive</a:t>
            </a:r>
            <a:r>
              <a:rPr sz="1800" spc="25" dirty="0">
                <a:latin typeface="Tahoma"/>
                <a:cs typeface="Tahoma"/>
              </a:rPr>
              <a:t> </a:t>
            </a:r>
            <a:r>
              <a:rPr sz="1800" dirty="0">
                <a:latin typeface="Tahoma"/>
                <a:cs typeface="Tahoma"/>
              </a:rPr>
              <a:t>its</a:t>
            </a:r>
            <a:r>
              <a:rPr sz="1800" spc="5" dirty="0">
                <a:latin typeface="Tahoma"/>
                <a:cs typeface="Tahoma"/>
              </a:rPr>
              <a:t> </a:t>
            </a:r>
            <a:r>
              <a:rPr sz="1800" dirty="0">
                <a:latin typeface="Tahoma"/>
                <a:cs typeface="Tahoma"/>
              </a:rPr>
              <a:t>environment</a:t>
            </a:r>
            <a:r>
              <a:rPr sz="1800" spc="40" dirty="0">
                <a:latin typeface="Tahoma"/>
                <a:cs typeface="Tahoma"/>
              </a:rPr>
              <a:t> </a:t>
            </a:r>
            <a:r>
              <a:rPr sz="1800" spc="45" dirty="0">
                <a:latin typeface="Tahoma"/>
                <a:cs typeface="Tahoma"/>
              </a:rPr>
              <a:t>through</a:t>
            </a:r>
            <a:r>
              <a:rPr sz="1800" spc="25" dirty="0">
                <a:latin typeface="Tahoma"/>
                <a:cs typeface="Tahoma"/>
              </a:rPr>
              <a:t> </a:t>
            </a:r>
            <a:r>
              <a:rPr sz="1800" dirty="0">
                <a:latin typeface="Tahoma"/>
                <a:cs typeface="Tahoma"/>
              </a:rPr>
              <a:t>sensors</a:t>
            </a:r>
            <a:r>
              <a:rPr sz="1800" spc="15" dirty="0">
                <a:latin typeface="Tahoma"/>
                <a:cs typeface="Tahoma"/>
              </a:rPr>
              <a:t> </a:t>
            </a:r>
            <a:r>
              <a:rPr sz="1800" spc="40" dirty="0">
                <a:latin typeface="Tahoma"/>
                <a:cs typeface="Tahoma"/>
              </a:rPr>
              <a:t>and 	</a:t>
            </a:r>
            <a:r>
              <a:rPr sz="1800" dirty="0">
                <a:latin typeface="Tahoma"/>
                <a:cs typeface="Tahoma"/>
              </a:rPr>
              <a:t>act</a:t>
            </a:r>
            <a:r>
              <a:rPr sz="1800" spc="-35" dirty="0">
                <a:latin typeface="Tahoma"/>
                <a:cs typeface="Tahoma"/>
              </a:rPr>
              <a:t> </a:t>
            </a:r>
            <a:r>
              <a:rPr sz="1800" spc="85" dirty="0">
                <a:latin typeface="Tahoma"/>
                <a:cs typeface="Tahoma"/>
              </a:rPr>
              <a:t>upon</a:t>
            </a:r>
            <a:r>
              <a:rPr sz="1800" dirty="0">
                <a:latin typeface="Tahoma"/>
                <a:cs typeface="Tahoma"/>
              </a:rPr>
              <a:t> </a:t>
            </a:r>
            <a:r>
              <a:rPr sz="1800" spc="-10" dirty="0">
                <a:latin typeface="Tahoma"/>
                <a:cs typeface="Tahoma"/>
              </a:rPr>
              <a:t>that</a:t>
            </a:r>
            <a:r>
              <a:rPr sz="1800" spc="-35" dirty="0">
                <a:latin typeface="Tahoma"/>
                <a:cs typeface="Tahoma"/>
              </a:rPr>
              <a:t> </a:t>
            </a:r>
            <a:r>
              <a:rPr sz="1800" dirty="0">
                <a:latin typeface="Tahoma"/>
                <a:cs typeface="Tahoma"/>
              </a:rPr>
              <a:t>environment</a:t>
            </a:r>
            <a:r>
              <a:rPr sz="1800" spc="15" dirty="0">
                <a:latin typeface="Tahoma"/>
                <a:cs typeface="Tahoma"/>
              </a:rPr>
              <a:t> </a:t>
            </a:r>
            <a:r>
              <a:rPr sz="1800" spc="45" dirty="0">
                <a:latin typeface="Tahoma"/>
                <a:cs typeface="Tahoma"/>
              </a:rPr>
              <a:t>through</a:t>
            </a:r>
            <a:r>
              <a:rPr sz="1800" spc="5" dirty="0">
                <a:latin typeface="Tahoma"/>
                <a:cs typeface="Tahoma"/>
              </a:rPr>
              <a:t> </a:t>
            </a:r>
            <a:r>
              <a:rPr sz="1800" dirty="0">
                <a:latin typeface="Tahoma"/>
                <a:cs typeface="Tahoma"/>
              </a:rPr>
              <a:t>actuators.</a:t>
            </a:r>
            <a:r>
              <a:rPr sz="1800" spc="-125" dirty="0">
                <a:latin typeface="Tahoma"/>
                <a:cs typeface="Tahoma"/>
              </a:rPr>
              <a:t> </a:t>
            </a:r>
            <a:r>
              <a:rPr sz="1800" spc="110" dirty="0">
                <a:latin typeface="Tahoma"/>
                <a:cs typeface="Tahoma"/>
              </a:rPr>
              <a:t>An</a:t>
            </a:r>
            <a:r>
              <a:rPr sz="1800" spc="-55" dirty="0">
                <a:latin typeface="Tahoma"/>
                <a:cs typeface="Tahoma"/>
              </a:rPr>
              <a:t> </a:t>
            </a:r>
            <a:r>
              <a:rPr sz="1800" spc="85" dirty="0">
                <a:latin typeface="Tahoma"/>
                <a:cs typeface="Tahoma"/>
              </a:rPr>
              <a:t>Agent</a:t>
            </a:r>
            <a:r>
              <a:rPr sz="1800" spc="-20" dirty="0">
                <a:latin typeface="Tahoma"/>
                <a:cs typeface="Tahoma"/>
              </a:rPr>
              <a:t> </a:t>
            </a:r>
            <a:r>
              <a:rPr sz="1800" dirty="0">
                <a:latin typeface="Tahoma"/>
                <a:cs typeface="Tahoma"/>
              </a:rPr>
              <a:t>runs</a:t>
            </a:r>
            <a:r>
              <a:rPr sz="1800" spc="-30" dirty="0">
                <a:latin typeface="Tahoma"/>
                <a:cs typeface="Tahoma"/>
              </a:rPr>
              <a:t> </a:t>
            </a:r>
            <a:r>
              <a:rPr sz="1800" dirty="0">
                <a:latin typeface="Tahoma"/>
                <a:cs typeface="Tahoma"/>
              </a:rPr>
              <a:t>in</a:t>
            </a:r>
            <a:r>
              <a:rPr sz="1800" spc="-20" dirty="0">
                <a:latin typeface="Tahoma"/>
                <a:cs typeface="Tahoma"/>
              </a:rPr>
              <a:t> </a:t>
            </a:r>
            <a:r>
              <a:rPr sz="1800" dirty="0">
                <a:latin typeface="Tahoma"/>
                <a:cs typeface="Tahoma"/>
              </a:rPr>
              <a:t>the </a:t>
            </a:r>
            <a:r>
              <a:rPr sz="1800" spc="50" dirty="0">
                <a:latin typeface="Tahoma"/>
                <a:cs typeface="Tahoma"/>
              </a:rPr>
              <a:t>cycle</a:t>
            </a:r>
            <a:r>
              <a:rPr sz="1800" spc="-35" dirty="0">
                <a:latin typeface="Tahoma"/>
                <a:cs typeface="Tahoma"/>
              </a:rPr>
              <a:t> </a:t>
            </a:r>
            <a:r>
              <a:rPr sz="1800" spc="-25" dirty="0">
                <a:latin typeface="Tahoma"/>
                <a:cs typeface="Tahoma"/>
              </a:rPr>
              <a:t>of 	</a:t>
            </a:r>
            <a:r>
              <a:rPr sz="1800" b="1" spc="-25" dirty="0">
                <a:latin typeface="Tahoma"/>
                <a:cs typeface="Tahoma"/>
              </a:rPr>
              <a:t>perceiving</a:t>
            </a:r>
            <a:r>
              <a:rPr sz="1800" spc="-25" dirty="0">
                <a:latin typeface="Tahoma"/>
                <a:cs typeface="Tahoma"/>
              </a:rPr>
              <a:t>,</a:t>
            </a:r>
            <a:r>
              <a:rPr sz="1800" spc="-90" dirty="0">
                <a:latin typeface="Tahoma"/>
                <a:cs typeface="Tahoma"/>
              </a:rPr>
              <a:t> </a:t>
            </a:r>
            <a:r>
              <a:rPr sz="1800" b="1" spc="-35" dirty="0">
                <a:latin typeface="Tahoma"/>
                <a:cs typeface="Tahoma"/>
              </a:rPr>
              <a:t>thinking</a:t>
            </a:r>
            <a:r>
              <a:rPr sz="1800" spc="-35" dirty="0">
                <a:latin typeface="Tahoma"/>
                <a:cs typeface="Tahoma"/>
              </a:rPr>
              <a:t>,</a:t>
            </a:r>
            <a:r>
              <a:rPr sz="1800" spc="-114" dirty="0">
                <a:latin typeface="Tahoma"/>
                <a:cs typeface="Tahoma"/>
              </a:rPr>
              <a:t> </a:t>
            </a:r>
            <a:r>
              <a:rPr sz="1800" spc="65" dirty="0">
                <a:latin typeface="Tahoma"/>
                <a:cs typeface="Tahoma"/>
              </a:rPr>
              <a:t>and</a:t>
            </a:r>
            <a:r>
              <a:rPr sz="1800" spc="-60" dirty="0">
                <a:latin typeface="Tahoma"/>
                <a:cs typeface="Tahoma"/>
              </a:rPr>
              <a:t> </a:t>
            </a:r>
            <a:r>
              <a:rPr sz="1800" b="1" spc="-45" dirty="0">
                <a:latin typeface="Tahoma"/>
                <a:cs typeface="Tahoma"/>
              </a:rPr>
              <a:t>acting</a:t>
            </a:r>
            <a:r>
              <a:rPr sz="1800" spc="-45" dirty="0">
                <a:latin typeface="Tahoma"/>
                <a:cs typeface="Tahoma"/>
              </a:rPr>
              <a:t>.</a:t>
            </a:r>
            <a:r>
              <a:rPr sz="1800" spc="-145" dirty="0">
                <a:latin typeface="Tahoma"/>
                <a:cs typeface="Tahoma"/>
              </a:rPr>
              <a:t> </a:t>
            </a:r>
            <a:r>
              <a:rPr sz="1800" spc="110" dirty="0">
                <a:latin typeface="Tahoma"/>
                <a:cs typeface="Tahoma"/>
              </a:rPr>
              <a:t>An</a:t>
            </a:r>
            <a:r>
              <a:rPr sz="1800" spc="-65" dirty="0">
                <a:latin typeface="Tahoma"/>
                <a:cs typeface="Tahoma"/>
              </a:rPr>
              <a:t> </a:t>
            </a:r>
            <a:r>
              <a:rPr sz="1800" spc="50" dirty="0">
                <a:latin typeface="Tahoma"/>
                <a:cs typeface="Tahoma"/>
              </a:rPr>
              <a:t>agent</a:t>
            </a:r>
            <a:r>
              <a:rPr sz="1800" spc="-45" dirty="0">
                <a:latin typeface="Tahoma"/>
                <a:cs typeface="Tahoma"/>
              </a:rPr>
              <a:t> </a:t>
            </a:r>
            <a:r>
              <a:rPr sz="1800" dirty="0">
                <a:latin typeface="Tahoma"/>
                <a:cs typeface="Tahoma"/>
              </a:rPr>
              <a:t>can</a:t>
            </a:r>
            <a:r>
              <a:rPr sz="1800" spc="-60" dirty="0">
                <a:latin typeface="Tahoma"/>
                <a:cs typeface="Tahoma"/>
              </a:rPr>
              <a:t> </a:t>
            </a:r>
            <a:r>
              <a:rPr sz="1800" spc="-25" dirty="0">
                <a:latin typeface="Tahoma"/>
                <a:cs typeface="Tahoma"/>
              </a:rPr>
              <a:t>be:</a:t>
            </a:r>
            <a:endParaRPr sz="1800">
              <a:latin typeface="Tahoma"/>
              <a:cs typeface="Tahoma"/>
            </a:endParaRPr>
          </a:p>
          <a:p>
            <a:pPr>
              <a:lnSpc>
                <a:spcPct val="100000"/>
              </a:lnSpc>
              <a:spcBef>
                <a:spcPts val="1465"/>
              </a:spcBef>
              <a:buFont typeface="Arial MT"/>
              <a:buChar char="•"/>
            </a:pPr>
            <a:endParaRPr sz="1800">
              <a:latin typeface="Tahoma"/>
              <a:cs typeface="Tahoma"/>
            </a:endParaRPr>
          </a:p>
          <a:p>
            <a:pPr marL="200025" marR="60960" indent="-187960">
              <a:lnSpc>
                <a:spcPts val="1960"/>
              </a:lnSpc>
              <a:buFont typeface="Arial MT"/>
              <a:buChar char="•"/>
              <a:tabLst>
                <a:tab pos="201295" algn="l"/>
              </a:tabLst>
            </a:pPr>
            <a:r>
              <a:rPr sz="1800" b="1" spc="-65" dirty="0">
                <a:latin typeface="Tahoma"/>
                <a:cs typeface="Tahoma"/>
              </a:rPr>
              <a:t>Human-</a:t>
            </a:r>
            <a:r>
              <a:rPr sz="1800" b="1" spc="-10" dirty="0">
                <a:latin typeface="Tahoma"/>
                <a:cs typeface="Tahoma"/>
              </a:rPr>
              <a:t>Agent:</a:t>
            </a:r>
            <a:r>
              <a:rPr sz="1800" b="1" spc="5" dirty="0">
                <a:latin typeface="Tahoma"/>
                <a:cs typeface="Tahoma"/>
              </a:rPr>
              <a:t> </a:t>
            </a:r>
            <a:r>
              <a:rPr sz="1800" spc="190" dirty="0">
                <a:latin typeface="Tahoma"/>
                <a:cs typeface="Tahoma"/>
              </a:rPr>
              <a:t>A</a:t>
            </a:r>
            <a:r>
              <a:rPr sz="1800" spc="-55" dirty="0">
                <a:latin typeface="Tahoma"/>
                <a:cs typeface="Tahoma"/>
              </a:rPr>
              <a:t> </a:t>
            </a:r>
            <a:r>
              <a:rPr sz="1800" dirty="0">
                <a:latin typeface="Tahoma"/>
                <a:cs typeface="Tahoma"/>
              </a:rPr>
              <a:t>human</a:t>
            </a:r>
            <a:r>
              <a:rPr sz="1800" spc="-5" dirty="0">
                <a:latin typeface="Tahoma"/>
                <a:cs typeface="Tahoma"/>
              </a:rPr>
              <a:t> </a:t>
            </a:r>
            <a:r>
              <a:rPr sz="1800" dirty="0">
                <a:latin typeface="Tahoma"/>
                <a:cs typeface="Tahoma"/>
              </a:rPr>
              <a:t>agent</a:t>
            </a:r>
            <a:r>
              <a:rPr sz="1800" spc="5" dirty="0">
                <a:latin typeface="Tahoma"/>
                <a:cs typeface="Tahoma"/>
              </a:rPr>
              <a:t> </a:t>
            </a:r>
            <a:r>
              <a:rPr sz="1800" dirty="0">
                <a:latin typeface="Tahoma"/>
                <a:cs typeface="Tahoma"/>
              </a:rPr>
              <a:t>has eyes,</a:t>
            </a:r>
            <a:r>
              <a:rPr sz="1800" spc="-65" dirty="0">
                <a:latin typeface="Tahoma"/>
                <a:cs typeface="Tahoma"/>
              </a:rPr>
              <a:t> </a:t>
            </a:r>
            <a:r>
              <a:rPr sz="1800" dirty="0">
                <a:latin typeface="Tahoma"/>
                <a:cs typeface="Tahoma"/>
              </a:rPr>
              <a:t>ears,</a:t>
            </a:r>
            <a:r>
              <a:rPr sz="1800" spc="-60" dirty="0">
                <a:latin typeface="Tahoma"/>
                <a:cs typeface="Tahoma"/>
              </a:rPr>
              <a:t> </a:t>
            </a:r>
            <a:r>
              <a:rPr sz="1800" spc="65" dirty="0">
                <a:latin typeface="Tahoma"/>
                <a:cs typeface="Tahoma"/>
              </a:rPr>
              <a:t>and</a:t>
            </a:r>
            <a:r>
              <a:rPr sz="1800" spc="-10" dirty="0">
                <a:latin typeface="Tahoma"/>
                <a:cs typeface="Tahoma"/>
              </a:rPr>
              <a:t> </a:t>
            </a:r>
            <a:r>
              <a:rPr sz="1800" spc="50" dirty="0">
                <a:latin typeface="Tahoma"/>
                <a:cs typeface="Tahoma"/>
              </a:rPr>
              <a:t>other</a:t>
            </a:r>
            <a:r>
              <a:rPr sz="1800" spc="10" dirty="0">
                <a:latin typeface="Tahoma"/>
                <a:cs typeface="Tahoma"/>
              </a:rPr>
              <a:t> </a:t>
            </a:r>
            <a:r>
              <a:rPr sz="1800" dirty="0">
                <a:latin typeface="Tahoma"/>
                <a:cs typeface="Tahoma"/>
              </a:rPr>
              <a:t>organs</a:t>
            </a:r>
            <a:r>
              <a:rPr sz="1800" spc="10" dirty="0">
                <a:latin typeface="Tahoma"/>
                <a:cs typeface="Tahoma"/>
              </a:rPr>
              <a:t> </a:t>
            </a:r>
            <a:r>
              <a:rPr sz="1800" dirty="0">
                <a:latin typeface="Tahoma"/>
                <a:cs typeface="Tahoma"/>
              </a:rPr>
              <a:t>which</a:t>
            </a:r>
            <a:r>
              <a:rPr sz="1800" spc="-5" dirty="0">
                <a:latin typeface="Tahoma"/>
                <a:cs typeface="Tahoma"/>
              </a:rPr>
              <a:t> </a:t>
            </a:r>
            <a:r>
              <a:rPr sz="1800" spc="-20" dirty="0">
                <a:latin typeface="Tahoma"/>
                <a:cs typeface="Tahoma"/>
              </a:rPr>
              <a:t>work 	</a:t>
            </a:r>
            <a:r>
              <a:rPr sz="1800" dirty="0">
                <a:latin typeface="Tahoma"/>
                <a:cs typeface="Tahoma"/>
              </a:rPr>
              <a:t>for</a:t>
            </a:r>
            <a:r>
              <a:rPr sz="1800" spc="25" dirty="0">
                <a:latin typeface="Tahoma"/>
                <a:cs typeface="Tahoma"/>
              </a:rPr>
              <a:t> </a:t>
            </a:r>
            <a:r>
              <a:rPr sz="1800" dirty="0">
                <a:latin typeface="Tahoma"/>
                <a:cs typeface="Tahoma"/>
              </a:rPr>
              <a:t>sensors</a:t>
            </a:r>
            <a:r>
              <a:rPr sz="1800" spc="55" dirty="0">
                <a:latin typeface="Tahoma"/>
                <a:cs typeface="Tahoma"/>
              </a:rPr>
              <a:t> </a:t>
            </a:r>
            <a:r>
              <a:rPr sz="1800" spc="65" dirty="0">
                <a:latin typeface="Tahoma"/>
                <a:cs typeface="Tahoma"/>
              </a:rPr>
              <a:t>and</a:t>
            </a:r>
            <a:r>
              <a:rPr sz="1800" spc="10" dirty="0">
                <a:latin typeface="Tahoma"/>
                <a:cs typeface="Tahoma"/>
              </a:rPr>
              <a:t> </a:t>
            </a:r>
            <a:r>
              <a:rPr sz="1800" dirty="0">
                <a:latin typeface="Tahoma"/>
                <a:cs typeface="Tahoma"/>
              </a:rPr>
              <a:t>hand,</a:t>
            </a:r>
            <a:r>
              <a:rPr sz="1800" spc="-40" dirty="0">
                <a:latin typeface="Tahoma"/>
                <a:cs typeface="Tahoma"/>
              </a:rPr>
              <a:t> </a:t>
            </a:r>
            <a:r>
              <a:rPr sz="1800" dirty="0">
                <a:latin typeface="Tahoma"/>
                <a:cs typeface="Tahoma"/>
              </a:rPr>
              <a:t>legs,</a:t>
            </a:r>
            <a:r>
              <a:rPr sz="1800" spc="-25" dirty="0">
                <a:latin typeface="Tahoma"/>
                <a:cs typeface="Tahoma"/>
              </a:rPr>
              <a:t> </a:t>
            </a:r>
            <a:r>
              <a:rPr sz="1800" dirty="0">
                <a:latin typeface="Tahoma"/>
                <a:cs typeface="Tahoma"/>
              </a:rPr>
              <a:t>vocal</a:t>
            </a:r>
            <a:r>
              <a:rPr sz="1800" spc="30" dirty="0">
                <a:latin typeface="Tahoma"/>
                <a:cs typeface="Tahoma"/>
              </a:rPr>
              <a:t> </a:t>
            </a:r>
            <a:r>
              <a:rPr sz="1800" dirty="0">
                <a:latin typeface="Tahoma"/>
                <a:cs typeface="Tahoma"/>
              </a:rPr>
              <a:t>tract</a:t>
            </a:r>
            <a:r>
              <a:rPr sz="1800" spc="25" dirty="0">
                <a:latin typeface="Tahoma"/>
                <a:cs typeface="Tahoma"/>
              </a:rPr>
              <a:t> </a:t>
            </a:r>
            <a:r>
              <a:rPr sz="1800" dirty="0">
                <a:latin typeface="Tahoma"/>
                <a:cs typeface="Tahoma"/>
              </a:rPr>
              <a:t>work</a:t>
            </a:r>
            <a:r>
              <a:rPr sz="1800" spc="25" dirty="0">
                <a:latin typeface="Tahoma"/>
                <a:cs typeface="Tahoma"/>
              </a:rPr>
              <a:t> </a:t>
            </a:r>
            <a:r>
              <a:rPr sz="1800" dirty="0">
                <a:latin typeface="Tahoma"/>
                <a:cs typeface="Tahoma"/>
              </a:rPr>
              <a:t>for</a:t>
            </a:r>
            <a:r>
              <a:rPr sz="1800" spc="35" dirty="0">
                <a:latin typeface="Tahoma"/>
                <a:cs typeface="Tahoma"/>
              </a:rPr>
              <a:t> </a:t>
            </a:r>
            <a:r>
              <a:rPr sz="1800" spc="-10" dirty="0">
                <a:latin typeface="Tahoma"/>
                <a:cs typeface="Tahoma"/>
              </a:rPr>
              <a:t>actuators.</a:t>
            </a:r>
            <a:endParaRPr sz="1800">
              <a:latin typeface="Tahoma"/>
              <a:cs typeface="Tahoma"/>
            </a:endParaRPr>
          </a:p>
          <a:p>
            <a:pPr marL="200025" marR="405765" indent="-187960">
              <a:lnSpc>
                <a:spcPts val="1970"/>
              </a:lnSpc>
              <a:spcBef>
                <a:spcPts val="815"/>
              </a:spcBef>
              <a:buFont typeface="Arial MT"/>
              <a:buChar char="•"/>
              <a:tabLst>
                <a:tab pos="201295" algn="l"/>
              </a:tabLst>
            </a:pPr>
            <a:r>
              <a:rPr sz="1800" b="1" spc="-30" dirty="0">
                <a:latin typeface="Tahoma"/>
                <a:cs typeface="Tahoma"/>
              </a:rPr>
              <a:t>Robotic</a:t>
            </a:r>
            <a:r>
              <a:rPr sz="1800" b="1" dirty="0">
                <a:latin typeface="Tahoma"/>
                <a:cs typeface="Tahoma"/>
              </a:rPr>
              <a:t> </a:t>
            </a:r>
            <a:r>
              <a:rPr sz="1800" b="1" spc="-20" dirty="0">
                <a:latin typeface="Tahoma"/>
                <a:cs typeface="Tahoma"/>
              </a:rPr>
              <a:t>Agent:</a:t>
            </a:r>
            <a:r>
              <a:rPr sz="1800" b="1" spc="-25" dirty="0">
                <a:latin typeface="Tahoma"/>
                <a:cs typeface="Tahoma"/>
              </a:rPr>
              <a:t> </a:t>
            </a:r>
            <a:r>
              <a:rPr sz="1800" spc="190" dirty="0">
                <a:latin typeface="Tahoma"/>
                <a:cs typeface="Tahoma"/>
              </a:rPr>
              <a:t>A</a:t>
            </a:r>
            <a:r>
              <a:rPr sz="1800" spc="-55" dirty="0">
                <a:latin typeface="Tahoma"/>
                <a:cs typeface="Tahoma"/>
              </a:rPr>
              <a:t> </a:t>
            </a:r>
            <a:r>
              <a:rPr sz="1800" spc="65" dirty="0">
                <a:latin typeface="Tahoma"/>
                <a:cs typeface="Tahoma"/>
              </a:rPr>
              <a:t>robotic</a:t>
            </a:r>
            <a:r>
              <a:rPr sz="1800" spc="35" dirty="0">
                <a:latin typeface="Tahoma"/>
                <a:cs typeface="Tahoma"/>
              </a:rPr>
              <a:t> </a:t>
            </a:r>
            <a:r>
              <a:rPr sz="1800" spc="50" dirty="0">
                <a:latin typeface="Tahoma"/>
                <a:cs typeface="Tahoma"/>
              </a:rPr>
              <a:t>agent</a:t>
            </a:r>
            <a:r>
              <a:rPr sz="1800" spc="-10" dirty="0">
                <a:latin typeface="Tahoma"/>
                <a:cs typeface="Tahoma"/>
              </a:rPr>
              <a:t> </a:t>
            </a:r>
            <a:r>
              <a:rPr sz="1800" dirty="0">
                <a:latin typeface="Tahoma"/>
                <a:cs typeface="Tahoma"/>
              </a:rPr>
              <a:t>can</a:t>
            </a:r>
            <a:r>
              <a:rPr sz="1800" spc="-20" dirty="0">
                <a:latin typeface="Tahoma"/>
                <a:cs typeface="Tahoma"/>
              </a:rPr>
              <a:t> </a:t>
            </a:r>
            <a:r>
              <a:rPr sz="1800" dirty="0">
                <a:latin typeface="Tahoma"/>
                <a:cs typeface="Tahoma"/>
              </a:rPr>
              <a:t>have</a:t>
            </a:r>
            <a:r>
              <a:rPr sz="1800" spc="5" dirty="0">
                <a:latin typeface="Tahoma"/>
                <a:cs typeface="Tahoma"/>
              </a:rPr>
              <a:t> </a:t>
            </a:r>
            <a:r>
              <a:rPr sz="1800" dirty="0">
                <a:latin typeface="Tahoma"/>
                <a:cs typeface="Tahoma"/>
              </a:rPr>
              <a:t>cameras,</a:t>
            </a:r>
            <a:r>
              <a:rPr sz="1800" spc="-65" dirty="0">
                <a:latin typeface="Tahoma"/>
                <a:cs typeface="Tahoma"/>
              </a:rPr>
              <a:t> </a:t>
            </a:r>
            <a:r>
              <a:rPr sz="1800" dirty="0">
                <a:latin typeface="Tahoma"/>
                <a:cs typeface="Tahoma"/>
              </a:rPr>
              <a:t>infrared</a:t>
            </a:r>
            <a:r>
              <a:rPr sz="1800" spc="-5" dirty="0">
                <a:latin typeface="Tahoma"/>
                <a:cs typeface="Tahoma"/>
              </a:rPr>
              <a:t> </a:t>
            </a:r>
            <a:r>
              <a:rPr sz="1800" dirty="0">
                <a:latin typeface="Tahoma"/>
                <a:cs typeface="Tahoma"/>
              </a:rPr>
              <a:t>range</a:t>
            </a:r>
            <a:r>
              <a:rPr sz="1800" spc="-5" dirty="0">
                <a:latin typeface="Tahoma"/>
                <a:cs typeface="Tahoma"/>
              </a:rPr>
              <a:t> </a:t>
            </a:r>
            <a:r>
              <a:rPr sz="1800" spc="-10" dirty="0">
                <a:latin typeface="Tahoma"/>
                <a:cs typeface="Tahoma"/>
              </a:rPr>
              <a:t>finder, 	</a:t>
            </a:r>
            <a:r>
              <a:rPr sz="1800" spc="75" dirty="0">
                <a:latin typeface="Tahoma"/>
                <a:cs typeface="Tahoma"/>
              </a:rPr>
              <a:t>NLP</a:t>
            </a:r>
            <a:r>
              <a:rPr sz="1800" spc="-15" dirty="0">
                <a:latin typeface="Tahoma"/>
                <a:cs typeface="Tahoma"/>
              </a:rPr>
              <a:t> </a:t>
            </a:r>
            <a:r>
              <a:rPr sz="1800" dirty="0">
                <a:latin typeface="Tahoma"/>
                <a:cs typeface="Tahoma"/>
              </a:rPr>
              <a:t>for</a:t>
            </a:r>
            <a:r>
              <a:rPr sz="1800" spc="-20" dirty="0">
                <a:latin typeface="Tahoma"/>
                <a:cs typeface="Tahoma"/>
              </a:rPr>
              <a:t> </a:t>
            </a:r>
            <a:r>
              <a:rPr sz="1800" dirty="0">
                <a:latin typeface="Tahoma"/>
                <a:cs typeface="Tahoma"/>
              </a:rPr>
              <a:t>sensors</a:t>
            </a:r>
            <a:r>
              <a:rPr sz="1800" spc="15" dirty="0">
                <a:latin typeface="Tahoma"/>
                <a:cs typeface="Tahoma"/>
              </a:rPr>
              <a:t> </a:t>
            </a:r>
            <a:r>
              <a:rPr sz="1800" spc="65" dirty="0">
                <a:latin typeface="Tahoma"/>
                <a:cs typeface="Tahoma"/>
              </a:rPr>
              <a:t>and</a:t>
            </a:r>
            <a:r>
              <a:rPr sz="1800" spc="-30" dirty="0">
                <a:latin typeface="Tahoma"/>
                <a:cs typeface="Tahoma"/>
              </a:rPr>
              <a:t> </a:t>
            </a:r>
            <a:r>
              <a:rPr sz="1800" dirty="0">
                <a:latin typeface="Tahoma"/>
                <a:cs typeface="Tahoma"/>
              </a:rPr>
              <a:t>various</a:t>
            </a:r>
            <a:r>
              <a:rPr sz="1800" spc="-10" dirty="0">
                <a:latin typeface="Tahoma"/>
                <a:cs typeface="Tahoma"/>
              </a:rPr>
              <a:t> </a:t>
            </a:r>
            <a:r>
              <a:rPr sz="1800" spc="50" dirty="0">
                <a:latin typeface="Tahoma"/>
                <a:cs typeface="Tahoma"/>
              </a:rPr>
              <a:t>motors</a:t>
            </a:r>
            <a:r>
              <a:rPr sz="1800" spc="15" dirty="0">
                <a:latin typeface="Tahoma"/>
                <a:cs typeface="Tahoma"/>
              </a:rPr>
              <a:t> </a:t>
            </a:r>
            <a:r>
              <a:rPr sz="1800" dirty="0">
                <a:latin typeface="Tahoma"/>
                <a:cs typeface="Tahoma"/>
              </a:rPr>
              <a:t>for </a:t>
            </a:r>
            <a:r>
              <a:rPr sz="1800" spc="-10" dirty="0">
                <a:latin typeface="Tahoma"/>
                <a:cs typeface="Tahoma"/>
              </a:rPr>
              <a:t>actuators.</a:t>
            </a:r>
            <a:endParaRPr sz="1800">
              <a:latin typeface="Tahoma"/>
              <a:cs typeface="Tahoma"/>
            </a:endParaRPr>
          </a:p>
          <a:p>
            <a:pPr marL="200025" marR="540385" indent="-187960">
              <a:lnSpc>
                <a:spcPts val="1960"/>
              </a:lnSpc>
              <a:spcBef>
                <a:spcPts val="819"/>
              </a:spcBef>
              <a:buFont typeface="Arial MT"/>
              <a:buChar char="•"/>
              <a:tabLst>
                <a:tab pos="201295" algn="l"/>
              </a:tabLst>
            </a:pPr>
            <a:r>
              <a:rPr sz="1800" b="1" spc="-50" dirty="0">
                <a:latin typeface="Tahoma"/>
                <a:cs typeface="Tahoma"/>
              </a:rPr>
              <a:t>Software</a:t>
            </a:r>
            <a:r>
              <a:rPr sz="1800" b="1" spc="15" dirty="0">
                <a:latin typeface="Tahoma"/>
                <a:cs typeface="Tahoma"/>
              </a:rPr>
              <a:t> </a:t>
            </a:r>
            <a:r>
              <a:rPr sz="1800" b="1" spc="-10" dirty="0">
                <a:latin typeface="Tahoma"/>
                <a:cs typeface="Tahoma"/>
              </a:rPr>
              <a:t>Agent:</a:t>
            </a:r>
            <a:r>
              <a:rPr sz="1800" b="1" spc="30" dirty="0">
                <a:latin typeface="Tahoma"/>
                <a:cs typeface="Tahoma"/>
              </a:rPr>
              <a:t> </a:t>
            </a:r>
            <a:r>
              <a:rPr sz="1800" dirty="0">
                <a:latin typeface="Tahoma"/>
                <a:cs typeface="Tahoma"/>
              </a:rPr>
              <a:t>Software</a:t>
            </a:r>
            <a:r>
              <a:rPr sz="1800" spc="10" dirty="0">
                <a:latin typeface="Tahoma"/>
                <a:cs typeface="Tahoma"/>
              </a:rPr>
              <a:t> </a:t>
            </a:r>
            <a:r>
              <a:rPr sz="1800" spc="50" dirty="0">
                <a:latin typeface="Tahoma"/>
                <a:cs typeface="Tahoma"/>
              </a:rPr>
              <a:t>agent</a:t>
            </a:r>
            <a:r>
              <a:rPr sz="1800" spc="15" dirty="0">
                <a:latin typeface="Tahoma"/>
                <a:cs typeface="Tahoma"/>
              </a:rPr>
              <a:t> </a:t>
            </a:r>
            <a:r>
              <a:rPr sz="1800" dirty="0">
                <a:latin typeface="Tahoma"/>
                <a:cs typeface="Tahoma"/>
              </a:rPr>
              <a:t>can</a:t>
            </a:r>
            <a:r>
              <a:rPr sz="1800" spc="-5" dirty="0">
                <a:latin typeface="Tahoma"/>
                <a:cs typeface="Tahoma"/>
              </a:rPr>
              <a:t> </a:t>
            </a:r>
            <a:r>
              <a:rPr sz="1800" dirty="0">
                <a:latin typeface="Tahoma"/>
                <a:cs typeface="Tahoma"/>
              </a:rPr>
              <a:t>have</a:t>
            </a:r>
            <a:r>
              <a:rPr sz="1800" spc="-5" dirty="0">
                <a:latin typeface="Tahoma"/>
                <a:cs typeface="Tahoma"/>
              </a:rPr>
              <a:t> </a:t>
            </a:r>
            <a:r>
              <a:rPr sz="1800" dirty="0">
                <a:latin typeface="Tahoma"/>
                <a:cs typeface="Tahoma"/>
              </a:rPr>
              <a:t>keystrokes,</a:t>
            </a:r>
            <a:r>
              <a:rPr sz="1800" spc="-25" dirty="0">
                <a:latin typeface="Tahoma"/>
                <a:cs typeface="Tahoma"/>
              </a:rPr>
              <a:t> </a:t>
            </a:r>
            <a:r>
              <a:rPr sz="1800" dirty="0">
                <a:latin typeface="Tahoma"/>
                <a:cs typeface="Tahoma"/>
              </a:rPr>
              <a:t>file contents</a:t>
            </a:r>
            <a:r>
              <a:rPr sz="1800" spc="20" dirty="0">
                <a:latin typeface="Tahoma"/>
                <a:cs typeface="Tahoma"/>
              </a:rPr>
              <a:t> </a:t>
            </a:r>
            <a:r>
              <a:rPr sz="1800" spc="-25" dirty="0">
                <a:latin typeface="Tahoma"/>
                <a:cs typeface="Tahoma"/>
              </a:rPr>
              <a:t>as 	</a:t>
            </a:r>
            <a:r>
              <a:rPr sz="1800" dirty="0">
                <a:latin typeface="Tahoma"/>
                <a:cs typeface="Tahoma"/>
              </a:rPr>
              <a:t>sensory</a:t>
            </a:r>
            <a:r>
              <a:rPr sz="1800" spc="25" dirty="0">
                <a:latin typeface="Tahoma"/>
                <a:cs typeface="Tahoma"/>
              </a:rPr>
              <a:t> </a:t>
            </a:r>
            <a:r>
              <a:rPr sz="1800" dirty="0">
                <a:latin typeface="Tahoma"/>
                <a:cs typeface="Tahoma"/>
              </a:rPr>
              <a:t>input</a:t>
            </a:r>
            <a:r>
              <a:rPr sz="1800" spc="15" dirty="0">
                <a:latin typeface="Tahoma"/>
                <a:cs typeface="Tahoma"/>
              </a:rPr>
              <a:t> </a:t>
            </a:r>
            <a:r>
              <a:rPr sz="1800" spc="65" dirty="0">
                <a:latin typeface="Tahoma"/>
                <a:cs typeface="Tahoma"/>
              </a:rPr>
              <a:t>and</a:t>
            </a:r>
            <a:r>
              <a:rPr sz="1800" spc="-5" dirty="0">
                <a:latin typeface="Tahoma"/>
                <a:cs typeface="Tahoma"/>
              </a:rPr>
              <a:t> </a:t>
            </a:r>
            <a:r>
              <a:rPr sz="1800" dirty="0">
                <a:latin typeface="Tahoma"/>
                <a:cs typeface="Tahoma"/>
              </a:rPr>
              <a:t>act </a:t>
            </a:r>
            <a:r>
              <a:rPr sz="1800" spc="85" dirty="0">
                <a:latin typeface="Tahoma"/>
                <a:cs typeface="Tahoma"/>
              </a:rPr>
              <a:t>on</a:t>
            </a:r>
            <a:r>
              <a:rPr sz="1800" spc="25" dirty="0">
                <a:latin typeface="Tahoma"/>
                <a:cs typeface="Tahoma"/>
              </a:rPr>
              <a:t> </a:t>
            </a:r>
            <a:r>
              <a:rPr sz="1800" dirty="0">
                <a:latin typeface="Tahoma"/>
                <a:cs typeface="Tahoma"/>
              </a:rPr>
              <a:t>those</a:t>
            </a:r>
            <a:r>
              <a:rPr sz="1800" spc="35" dirty="0">
                <a:latin typeface="Tahoma"/>
                <a:cs typeface="Tahoma"/>
              </a:rPr>
              <a:t> </a:t>
            </a:r>
            <a:r>
              <a:rPr sz="1800" dirty="0">
                <a:latin typeface="Tahoma"/>
                <a:cs typeface="Tahoma"/>
              </a:rPr>
              <a:t>inputs </a:t>
            </a:r>
            <a:r>
              <a:rPr sz="1800" spc="65" dirty="0">
                <a:latin typeface="Tahoma"/>
                <a:cs typeface="Tahoma"/>
              </a:rPr>
              <a:t>and</a:t>
            </a:r>
            <a:r>
              <a:rPr sz="1800" spc="5" dirty="0">
                <a:latin typeface="Tahoma"/>
                <a:cs typeface="Tahoma"/>
              </a:rPr>
              <a:t> </a:t>
            </a:r>
            <a:r>
              <a:rPr sz="1800" spc="45" dirty="0">
                <a:latin typeface="Tahoma"/>
                <a:cs typeface="Tahoma"/>
              </a:rPr>
              <a:t>display</a:t>
            </a:r>
            <a:r>
              <a:rPr sz="1800" spc="10" dirty="0">
                <a:latin typeface="Tahoma"/>
                <a:cs typeface="Tahoma"/>
              </a:rPr>
              <a:t> </a:t>
            </a:r>
            <a:r>
              <a:rPr sz="1800" dirty="0">
                <a:latin typeface="Tahoma"/>
                <a:cs typeface="Tahoma"/>
              </a:rPr>
              <a:t>output</a:t>
            </a:r>
            <a:r>
              <a:rPr sz="1800" spc="35" dirty="0">
                <a:latin typeface="Tahoma"/>
                <a:cs typeface="Tahoma"/>
              </a:rPr>
              <a:t> </a:t>
            </a:r>
            <a:r>
              <a:rPr sz="1800" spc="85" dirty="0">
                <a:latin typeface="Tahoma"/>
                <a:cs typeface="Tahoma"/>
              </a:rPr>
              <a:t>on</a:t>
            </a:r>
            <a:r>
              <a:rPr sz="1800" spc="10" dirty="0">
                <a:latin typeface="Tahoma"/>
                <a:cs typeface="Tahoma"/>
              </a:rPr>
              <a:t> </a:t>
            </a:r>
            <a:r>
              <a:rPr sz="1800" dirty="0">
                <a:latin typeface="Tahoma"/>
                <a:cs typeface="Tahoma"/>
              </a:rPr>
              <a:t>the</a:t>
            </a:r>
            <a:r>
              <a:rPr sz="1800" spc="25" dirty="0">
                <a:latin typeface="Tahoma"/>
                <a:cs typeface="Tahoma"/>
              </a:rPr>
              <a:t> </a:t>
            </a:r>
            <a:r>
              <a:rPr sz="1800" spc="-10" dirty="0">
                <a:latin typeface="Tahoma"/>
                <a:cs typeface="Tahoma"/>
              </a:rPr>
              <a:t>screen.</a:t>
            </a:r>
            <a:endParaRPr sz="1800">
              <a:latin typeface="Tahoma"/>
              <a:cs typeface="Tahom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409193" y="1053845"/>
          <a:ext cx="9228455" cy="1664335"/>
        </p:xfrm>
        <a:graphic>
          <a:graphicData uri="http://schemas.openxmlformats.org/drawingml/2006/table">
            <a:tbl>
              <a:tblPr firstRow="1" bandRow="1">
                <a:tableStyleId>{2D5ABB26-0587-4C30-8999-92F81FD0307C}</a:tableStyleId>
              </a:tblPr>
              <a:tblGrid>
                <a:gridCol w="72390">
                  <a:extLst>
                    <a:ext uri="{9D8B030D-6E8A-4147-A177-3AD203B41FA5}">
                      <a16:colId xmlns:a16="http://schemas.microsoft.com/office/drawing/2014/main" val="20000"/>
                    </a:ext>
                  </a:extLst>
                </a:gridCol>
                <a:gridCol w="9156065">
                  <a:extLst>
                    <a:ext uri="{9D8B030D-6E8A-4147-A177-3AD203B41FA5}">
                      <a16:colId xmlns:a16="http://schemas.microsoft.com/office/drawing/2014/main" val="20001"/>
                    </a:ext>
                  </a:extLst>
                </a:gridCol>
              </a:tblGrid>
              <a:tr h="650240">
                <a:tc gridSpan="2">
                  <a:txBody>
                    <a:bodyPr/>
                    <a:lstStyle/>
                    <a:p>
                      <a:pPr>
                        <a:lnSpc>
                          <a:spcPct val="100000"/>
                        </a:lnSpc>
                      </a:pPr>
                      <a:endParaRPr sz="2400">
                        <a:latin typeface="Times New Roman"/>
                        <a:cs typeface="Times New Roman"/>
                      </a:endParaRPr>
                    </a:p>
                  </a:txBody>
                  <a:tcPr marL="0" marR="0" marT="0" marB="0">
                    <a:lnL w="9525">
                      <a:solidFill>
                        <a:srgbClr val="E9E9E9"/>
                      </a:solidFill>
                      <a:prstDash val="solid"/>
                    </a:lnL>
                    <a:lnR w="9525">
                      <a:solidFill>
                        <a:srgbClr val="E9E9E9"/>
                      </a:solidFill>
                      <a:prstDash val="solid"/>
                    </a:lnR>
                    <a:lnT w="9525">
                      <a:solidFill>
                        <a:srgbClr val="E9E9E9"/>
                      </a:solidFill>
                      <a:prstDash val="solid"/>
                    </a:lnT>
                  </a:tcPr>
                </a:tc>
                <a:tc hMerge="1">
                  <a:txBody>
                    <a:bodyPr/>
                    <a:lstStyle/>
                    <a:p>
                      <a:endParaRPr/>
                    </a:p>
                  </a:txBody>
                  <a:tcPr marL="0" marR="0" marT="0" marB="0"/>
                </a:tc>
                <a:extLst>
                  <a:ext uri="{0D108BD9-81ED-4DB2-BD59-A6C34878D82A}">
                    <a16:rowId xmlns:a16="http://schemas.microsoft.com/office/drawing/2014/main" val="10000"/>
                  </a:ext>
                </a:extLst>
              </a:tr>
              <a:tr h="580390">
                <a:tc>
                  <a:txBody>
                    <a:bodyPr/>
                    <a:lstStyle/>
                    <a:p>
                      <a:pPr>
                        <a:lnSpc>
                          <a:spcPct val="100000"/>
                        </a:lnSpc>
                      </a:pPr>
                      <a:endParaRPr sz="2400">
                        <a:latin typeface="Times New Roman"/>
                        <a:cs typeface="Times New Roman"/>
                      </a:endParaRPr>
                    </a:p>
                  </a:txBody>
                  <a:tcPr marL="0" marR="0" marT="0" marB="0">
                    <a:lnL w="9525">
                      <a:solidFill>
                        <a:srgbClr val="E9E9E9"/>
                      </a:solidFill>
                      <a:prstDash val="solid"/>
                    </a:lnL>
                    <a:solidFill>
                      <a:srgbClr val="F5A700"/>
                    </a:solidFill>
                  </a:tcPr>
                </a:tc>
                <a:tc>
                  <a:txBody>
                    <a:bodyPr/>
                    <a:lstStyle/>
                    <a:p>
                      <a:pPr marL="476884">
                        <a:lnSpc>
                          <a:spcPts val="3900"/>
                        </a:lnSpc>
                      </a:pPr>
                      <a:r>
                        <a:rPr sz="3300" b="1" spc="-105" dirty="0">
                          <a:latin typeface="Tahoma"/>
                          <a:cs typeface="Tahoma"/>
                        </a:rPr>
                        <a:t>What</a:t>
                      </a:r>
                      <a:r>
                        <a:rPr sz="3300" b="1" spc="-135" dirty="0">
                          <a:latin typeface="Tahoma"/>
                          <a:cs typeface="Tahoma"/>
                        </a:rPr>
                        <a:t> </a:t>
                      </a:r>
                      <a:r>
                        <a:rPr sz="3300" b="1" spc="-100" dirty="0">
                          <a:latin typeface="Tahoma"/>
                          <a:cs typeface="Tahoma"/>
                        </a:rPr>
                        <a:t>is</a:t>
                      </a:r>
                      <a:r>
                        <a:rPr sz="3300" b="1" spc="-135" dirty="0">
                          <a:latin typeface="Tahoma"/>
                          <a:cs typeface="Tahoma"/>
                        </a:rPr>
                        <a:t> </a:t>
                      </a:r>
                      <a:r>
                        <a:rPr sz="3300" b="1" spc="-110" dirty="0">
                          <a:latin typeface="Tahoma"/>
                          <a:cs typeface="Tahoma"/>
                        </a:rPr>
                        <a:t>an</a:t>
                      </a:r>
                      <a:r>
                        <a:rPr sz="3300" b="1" spc="-195" dirty="0">
                          <a:latin typeface="Tahoma"/>
                          <a:cs typeface="Tahoma"/>
                        </a:rPr>
                        <a:t> </a:t>
                      </a:r>
                      <a:r>
                        <a:rPr sz="3300" b="1" spc="-10" dirty="0">
                          <a:latin typeface="Tahoma"/>
                          <a:cs typeface="Tahoma"/>
                        </a:rPr>
                        <a:t>Agent?</a:t>
                      </a:r>
                      <a:endParaRPr sz="3300">
                        <a:latin typeface="Tahoma"/>
                        <a:cs typeface="Tahoma"/>
                      </a:endParaRPr>
                    </a:p>
                  </a:txBody>
                  <a:tcPr marL="0" marR="0" marT="0" marB="0">
                    <a:lnR w="9525">
                      <a:solidFill>
                        <a:srgbClr val="E9E9E9"/>
                      </a:solidFill>
                      <a:prstDash val="solid"/>
                    </a:lnR>
                  </a:tcPr>
                </a:tc>
                <a:extLst>
                  <a:ext uri="{0D108BD9-81ED-4DB2-BD59-A6C34878D82A}">
                    <a16:rowId xmlns:a16="http://schemas.microsoft.com/office/drawing/2014/main" val="10001"/>
                  </a:ext>
                </a:extLst>
              </a:tr>
              <a:tr h="433705">
                <a:tc gridSpan="2">
                  <a:txBody>
                    <a:bodyPr/>
                    <a:lstStyle/>
                    <a:p>
                      <a:pPr>
                        <a:lnSpc>
                          <a:spcPct val="100000"/>
                        </a:lnSpc>
                      </a:pPr>
                      <a:endParaRPr sz="2400">
                        <a:latin typeface="Times New Roman"/>
                        <a:cs typeface="Times New Roman"/>
                      </a:endParaRPr>
                    </a:p>
                  </a:txBody>
                  <a:tcPr marL="0" marR="0" marT="0" marB="0">
                    <a:lnL w="9525">
                      <a:solidFill>
                        <a:srgbClr val="E9E9E9"/>
                      </a:solidFill>
                      <a:prstDash val="solid"/>
                    </a:lnL>
                    <a:lnR w="9525">
                      <a:solidFill>
                        <a:srgbClr val="E9E9E9"/>
                      </a:solidFill>
                      <a:prstDash val="solid"/>
                    </a:lnR>
                    <a:lnB w="9525">
                      <a:solidFill>
                        <a:srgbClr val="E9E9E9"/>
                      </a:solidFill>
                      <a:prstDash val="solid"/>
                    </a:lnB>
                  </a:tcPr>
                </a:tc>
                <a:tc hMerge="1">
                  <a:txBody>
                    <a:bodyPr/>
                    <a:lstStyle/>
                    <a:p>
                      <a:endParaRPr/>
                    </a:p>
                  </a:txBody>
                  <a:tcPr marL="0" marR="0" marT="0" marB="0"/>
                </a:tc>
                <a:extLst>
                  <a:ext uri="{0D108BD9-81ED-4DB2-BD59-A6C34878D82A}">
                    <a16:rowId xmlns:a16="http://schemas.microsoft.com/office/drawing/2014/main" val="10002"/>
                  </a:ext>
                </a:extLst>
              </a:tr>
            </a:tbl>
          </a:graphicData>
        </a:graphic>
      </p:graphicFrame>
      <p:sp>
        <p:nvSpPr>
          <p:cNvPr id="3" name="object 3"/>
          <p:cNvSpPr txBox="1"/>
          <p:nvPr/>
        </p:nvSpPr>
        <p:spPr>
          <a:xfrm>
            <a:off x="982348" y="3098590"/>
            <a:ext cx="7220584" cy="1187450"/>
          </a:xfrm>
          <a:prstGeom prst="rect">
            <a:avLst/>
          </a:prstGeom>
        </p:spPr>
        <p:txBody>
          <a:bodyPr vert="horz" wrap="square" lIns="0" tIns="12065" rIns="0" bIns="0" rtlCol="0">
            <a:spAutoFit/>
          </a:bodyPr>
          <a:lstStyle/>
          <a:p>
            <a:pPr marL="200025" marR="5080" indent="-187960">
              <a:lnSpc>
                <a:spcPct val="110500"/>
              </a:lnSpc>
              <a:spcBef>
                <a:spcPts val="95"/>
              </a:spcBef>
              <a:buFont typeface="Arial MT"/>
              <a:buChar char="•"/>
              <a:tabLst>
                <a:tab pos="201295" algn="l"/>
              </a:tabLst>
            </a:pPr>
            <a:r>
              <a:rPr sz="2300" spc="85" dirty="0">
                <a:latin typeface="Tahoma"/>
                <a:cs typeface="Tahoma"/>
              </a:rPr>
              <a:t>Hence</a:t>
            </a:r>
            <a:r>
              <a:rPr sz="2300" spc="-80" dirty="0">
                <a:latin typeface="Tahoma"/>
                <a:cs typeface="Tahoma"/>
              </a:rPr>
              <a:t> </a:t>
            </a:r>
            <a:r>
              <a:rPr sz="2300" dirty="0">
                <a:latin typeface="Tahoma"/>
                <a:cs typeface="Tahoma"/>
              </a:rPr>
              <a:t>the</a:t>
            </a:r>
            <a:r>
              <a:rPr sz="2300" spc="-50" dirty="0">
                <a:latin typeface="Tahoma"/>
                <a:cs typeface="Tahoma"/>
              </a:rPr>
              <a:t> </a:t>
            </a:r>
            <a:r>
              <a:rPr sz="2300" spc="75" dirty="0">
                <a:latin typeface="Tahoma"/>
                <a:cs typeface="Tahoma"/>
              </a:rPr>
              <a:t>world</a:t>
            </a:r>
            <a:r>
              <a:rPr sz="2300" spc="-60" dirty="0">
                <a:latin typeface="Tahoma"/>
                <a:cs typeface="Tahoma"/>
              </a:rPr>
              <a:t> </a:t>
            </a:r>
            <a:r>
              <a:rPr sz="2300" spc="65" dirty="0">
                <a:latin typeface="Tahoma"/>
                <a:cs typeface="Tahoma"/>
              </a:rPr>
              <a:t>around</a:t>
            </a:r>
            <a:r>
              <a:rPr sz="2300" spc="-50" dirty="0">
                <a:latin typeface="Tahoma"/>
                <a:cs typeface="Tahoma"/>
              </a:rPr>
              <a:t> </a:t>
            </a:r>
            <a:r>
              <a:rPr sz="2300" dirty="0">
                <a:latin typeface="Tahoma"/>
                <a:cs typeface="Tahoma"/>
              </a:rPr>
              <a:t>us</a:t>
            </a:r>
            <a:r>
              <a:rPr sz="2300" spc="-65" dirty="0">
                <a:latin typeface="Tahoma"/>
                <a:cs typeface="Tahoma"/>
              </a:rPr>
              <a:t> </a:t>
            </a:r>
            <a:r>
              <a:rPr sz="2300" dirty="0">
                <a:latin typeface="Tahoma"/>
                <a:cs typeface="Tahoma"/>
              </a:rPr>
              <a:t>is</a:t>
            </a:r>
            <a:r>
              <a:rPr sz="2300" spc="-60" dirty="0">
                <a:latin typeface="Tahoma"/>
                <a:cs typeface="Tahoma"/>
              </a:rPr>
              <a:t> </a:t>
            </a:r>
            <a:r>
              <a:rPr sz="2300" dirty="0">
                <a:latin typeface="Tahoma"/>
                <a:cs typeface="Tahoma"/>
              </a:rPr>
              <a:t>full</a:t>
            </a:r>
            <a:r>
              <a:rPr sz="2300" spc="-70" dirty="0">
                <a:latin typeface="Tahoma"/>
                <a:cs typeface="Tahoma"/>
              </a:rPr>
              <a:t> </a:t>
            </a:r>
            <a:r>
              <a:rPr sz="2300" dirty="0">
                <a:latin typeface="Tahoma"/>
                <a:cs typeface="Tahoma"/>
              </a:rPr>
              <a:t>of</a:t>
            </a:r>
            <a:r>
              <a:rPr sz="2300" spc="5" dirty="0">
                <a:latin typeface="Tahoma"/>
                <a:cs typeface="Tahoma"/>
              </a:rPr>
              <a:t> </a:t>
            </a:r>
            <a:r>
              <a:rPr sz="2300" dirty="0">
                <a:latin typeface="Tahoma"/>
                <a:cs typeface="Tahoma"/>
              </a:rPr>
              <a:t>agents</a:t>
            </a:r>
            <a:r>
              <a:rPr sz="2300" spc="-60" dirty="0">
                <a:latin typeface="Tahoma"/>
                <a:cs typeface="Tahoma"/>
              </a:rPr>
              <a:t> </a:t>
            </a:r>
            <a:r>
              <a:rPr sz="2300" dirty="0">
                <a:latin typeface="Tahoma"/>
                <a:cs typeface="Tahoma"/>
              </a:rPr>
              <a:t>such</a:t>
            </a:r>
            <a:r>
              <a:rPr sz="2300" spc="-75" dirty="0">
                <a:latin typeface="Tahoma"/>
                <a:cs typeface="Tahoma"/>
              </a:rPr>
              <a:t> </a:t>
            </a:r>
            <a:r>
              <a:rPr sz="2300" spc="-25" dirty="0">
                <a:latin typeface="Tahoma"/>
                <a:cs typeface="Tahoma"/>
              </a:rPr>
              <a:t>as 	</a:t>
            </a:r>
            <a:r>
              <a:rPr sz="2300" dirty="0">
                <a:latin typeface="Tahoma"/>
                <a:cs typeface="Tahoma"/>
              </a:rPr>
              <a:t>thermostat,</a:t>
            </a:r>
            <a:r>
              <a:rPr sz="2300" spc="-155" dirty="0">
                <a:latin typeface="Tahoma"/>
                <a:cs typeface="Tahoma"/>
              </a:rPr>
              <a:t> </a:t>
            </a:r>
            <a:r>
              <a:rPr sz="2300" spc="70" dirty="0">
                <a:latin typeface="Tahoma"/>
                <a:cs typeface="Tahoma"/>
              </a:rPr>
              <a:t>cellphone,</a:t>
            </a:r>
            <a:r>
              <a:rPr sz="2300" spc="-200" dirty="0">
                <a:latin typeface="Tahoma"/>
                <a:cs typeface="Tahoma"/>
              </a:rPr>
              <a:t> </a:t>
            </a:r>
            <a:r>
              <a:rPr sz="2300" dirty="0">
                <a:latin typeface="Tahoma"/>
                <a:cs typeface="Tahoma"/>
              </a:rPr>
              <a:t>camera,</a:t>
            </a:r>
            <a:r>
              <a:rPr sz="2300" spc="-140" dirty="0">
                <a:latin typeface="Tahoma"/>
                <a:cs typeface="Tahoma"/>
              </a:rPr>
              <a:t> </a:t>
            </a:r>
            <a:r>
              <a:rPr sz="2300" spc="80" dirty="0">
                <a:latin typeface="Tahoma"/>
                <a:cs typeface="Tahoma"/>
              </a:rPr>
              <a:t>and</a:t>
            </a:r>
            <a:r>
              <a:rPr sz="2300" spc="-85" dirty="0">
                <a:latin typeface="Tahoma"/>
                <a:cs typeface="Tahoma"/>
              </a:rPr>
              <a:t> </a:t>
            </a:r>
            <a:r>
              <a:rPr sz="2300" spc="50" dirty="0">
                <a:latin typeface="Tahoma"/>
                <a:cs typeface="Tahoma"/>
              </a:rPr>
              <a:t>even</a:t>
            </a:r>
            <a:r>
              <a:rPr sz="2300" spc="-75" dirty="0">
                <a:latin typeface="Tahoma"/>
                <a:cs typeface="Tahoma"/>
              </a:rPr>
              <a:t> </a:t>
            </a:r>
            <a:r>
              <a:rPr sz="2300" spc="55" dirty="0">
                <a:latin typeface="Tahoma"/>
                <a:cs typeface="Tahoma"/>
              </a:rPr>
              <a:t>we</a:t>
            </a:r>
            <a:r>
              <a:rPr sz="2300" spc="-75" dirty="0">
                <a:latin typeface="Tahoma"/>
                <a:cs typeface="Tahoma"/>
              </a:rPr>
              <a:t> </a:t>
            </a:r>
            <a:r>
              <a:rPr sz="2300" dirty="0">
                <a:latin typeface="Tahoma"/>
                <a:cs typeface="Tahoma"/>
              </a:rPr>
              <a:t>are</a:t>
            </a:r>
            <a:r>
              <a:rPr sz="2300" spc="-70" dirty="0">
                <a:latin typeface="Tahoma"/>
                <a:cs typeface="Tahoma"/>
              </a:rPr>
              <a:t> </a:t>
            </a:r>
            <a:r>
              <a:rPr sz="2300" spc="40" dirty="0">
                <a:latin typeface="Tahoma"/>
                <a:cs typeface="Tahoma"/>
              </a:rPr>
              <a:t>also 	</a:t>
            </a:r>
            <a:r>
              <a:rPr sz="2300" spc="-10" dirty="0">
                <a:latin typeface="Tahoma"/>
                <a:cs typeface="Tahoma"/>
              </a:rPr>
              <a:t>agents.</a:t>
            </a:r>
            <a:endParaRPr sz="2300">
              <a:latin typeface="Tahoma"/>
              <a:cs typeface="Tahom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409193" y="1053845"/>
          <a:ext cx="9228455" cy="1664335"/>
        </p:xfrm>
        <a:graphic>
          <a:graphicData uri="http://schemas.openxmlformats.org/drawingml/2006/table">
            <a:tbl>
              <a:tblPr firstRow="1" bandRow="1">
                <a:tableStyleId>{2D5ABB26-0587-4C30-8999-92F81FD0307C}</a:tableStyleId>
              </a:tblPr>
              <a:tblGrid>
                <a:gridCol w="72390">
                  <a:extLst>
                    <a:ext uri="{9D8B030D-6E8A-4147-A177-3AD203B41FA5}">
                      <a16:colId xmlns:a16="http://schemas.microsoft.com/office/drawing/2014/main" val="20000"/>
                    </a:ext>
                  </a:extLst>
                </a:gridCol>
                <a:gridCol w="9156065">
                  <a:extLst>
                    <a:ext uri="{9D8B030D-6E8A-4147-A177-3AD203B41FA5}">
                      <a16:colId xmlns:a16="http://schemas.microsoft.com/office/drawing/2014/main" val="20001"/>
                    </a:ext>
                  </a:extLst>
                </a:gridCol>
              </a:tblGrid>
              <a:tr h="650240">
                <a:tc gridSpan="2">
                  <a:txBody>
                    <a:bodyPr/>
                    <a:lstStyle/>
                    <a:p>
                      <a:pPr>
                        <a:lnSpc>
                          <a:spcPct val="100000"/>
                        </a:lnSpc>
                      </a:pPr>
                      <a:endParaRPr sz="2000">
                        <a:latin typeface="Times New Roman"/>
                        <a:cs typeface="Times New Roman"/>
                      </a:endParaRPr>
                    </a:p>
                  </a:txBody>
                  <a:tcPr marL="0" marR="0" marT="0" marB="0">
                    <a:lnL w="9525">
                      <a:solidFill>
                        <a:srgbClr val="E9E9E9"/>
                      </a:solidFill>
                      <a:prstDash val="solid"/>
                    </a:lnL>
                    <a:lnR w="9525">
                      <a:solidFill>
                        <a:srgbClr val="E9E9E9"/>
                      </a:solidFill>
                      <a:prstDash val="solid"/>
                    </a:lnR>
                    <a:lnT w="9525">
                      <a:solidFill>
                        <a:srgbClr val="E9E9E9"/>
                      </a:solidFill>
                      <a:prstDash val="solid"/>
                    </a:lnT>
                  </a:tcPr>
                </a:tc>
                <a:tc hMerge="1">
                  <a:txBody>
                    <a:bodyPr/>
                    <a:lstStyle/>
                    <a:p>
                      <a:endParaRPr/>
                    </a:p>
                  </a:txBody>
                  <a:tcPr marL="0" marR="0" marT="0" marB="0"/>
                </a:tc>
                <a:extLst>
                  <a:ext uri="{0D108BD9-81ED-4DB2-BD59-A6C34878D82A}">
                    <a16:rowId xmlns:a16="http://schemas.microsoft.com/office/drawing/2014/main" val="10000"/>
                  </a:ext>
                </a:extLst>
              </a:tr>
              <a:tr h="580390">
                <a:tc>
                  <a:txBody>
                    <a:bodyPr/>
                    <a:lstStyle/>
                    <a:p>
                      <a:pPr>
                        <a:lnSpc>
                          <a:spcPct val="100000"/>
                        </a:lnSpc>
                      </a:pPr>
                      <a:endParaRPr sz="2000">
                        <a:latin typeface="Times New Roman"/>
                        <a:cs typeface="Times New Roman"/>
                      </a:endParaRPr>
                    </a:p>
                  </a:txBody>
                  <a:tcPr marL="0" marR="0" marT="0" marB="0">
                    <a:lnL w="9525">
                      <a:solidFill>
                        <a:srgbClr val="E9E9E9"/>
                      </a:solidFill>
                      <a:prstDash val="solid"/>
                    </a:lnL>
                    <a:solidFill>
                      <a:srgbClr val="F5A700"/>
                    </a:solidFill>
                  </a:tcPr>
                </a:tc>
                <a:tc>
                  <a:txBody>
                    <a:bodyPr/>
                    <a:lstStyle/>
                    <a:p>
                      <a:pPr marL="476884">
                        <a:lnSpc>
                          <a:spcPts val="3900"/>
                        </a:lnSpc>
                      </a:pPr>
                      <a:r>
                        <a:rPr sz="3300" b="1" spc="-105" dirty="0">
                          <a:latin typeface="Tahoma"/>
                          <a:cs typeface="Tahoma"/>
                        </a:rPr>
                        <a:t>What</a:t>
                      </a:r>
                      <a:r>
                        <a:rPr sz="3300" b="1" spc="-135" dirty="0">
                          <a:latin typeface="Tahoma"/>
                          <a:cs typeface="Tahoma"/>
                        </a:rPr>
                        <a:t> </a:t>
                      </a:r>
                      <a:r>
                        <a:rPr sz="3300" b="1" spc="-100" dirty="0">
                          <a:latin typeface="Tahoma"/>
                          <a:cs typeface="Tahoma"/>
                        </a:rPr>
                        <a:t>is</a:t>
                      </a:r>
                      <a:r>
                        <a:rPr sz="3300" b="1" spc="-135" dirty="0">
                          <a:latin typeface="Tahoma"/>
                          <a:cs typeface="Tahoma"/>
                        </a:rPr>
                        <a:t> </a:t>
                      </a:r>
                      <a:r>
                        <a:rPr sz="3300" b="1" spc="-110" dirty="0">
                          <a:latin typeface="Tahoma"/>
                          <a:cs typeface="Tahoma"/>
                        </a:rPr>
                        <a:t>an</a:t>
                      </a:r>
                      <a:r>
                        <a:rPr sz="3300" b="1" spc="-195" dirty="0">
                          <a:latin typeface="Tahoma"/>
                          <a:cs typeface="Tahoma"/>
                        </a:rPr>
                        <a:t> </a:t>
                      </a:r>
                      <a:r>
                        <a:rPr sz="3300" b="1" spc="-10" dirty="0">
                          <a:latin typeface="Tahoma"/>
                          <a:cs typeface="Tahoma"/>
                        </a:rPr>
                        <a:t>Agent?</a:t>
                      </a:r>
                      <a:endParaRPr sz="3300">
                        <a:latin typeface="Tahoma"/>
                        <a:cs typeface="Tahoma"/>
                      </a:endParaRPr>
                    </a:p>
                  </a:txBody>
                  <a:tcPr marL="0" marR="0" marT="0" marB="0">
                    <a:lnR w="9525">
                      <a:solidFill>
                        <a:srgbClr val="E9E9E9"/>
                      </a:solidFill>
                      <a:prstDash val="solid"/>
                    </a:lnR>
                  </a:tcPr>
                </a:tc>
                <a:extLst>
                  <a:ext uri="{0D108BD9-81ED-4DB2-BD59-A6C34878D82A}">
                    <a16:rowId xmlns:a16="http://schemas.microsoft.com/office/drawing/2014/main" val="10001"/>
                  </a:ext>
                </a:extLst>
              </a:tr>
              <a:tr h="433705">
                <a:tc gridSpan="2">
                  <a:txBody>
                    <a:bodyPr/>
                    <a:lstStyle/>
                    <a:p>
                      <a:pPr>
                        <a:lnSpc>
                          <a:spcPct val="100000"/>
                        </a:lnSpc>
                      </a:pPr>
                      <a:endParaRPr sz="2000">
                        <a:latin typeface="Times New Roman"/>
                        <a:cs typeface="Times New Roman"/>
                      </a:endParaRPr>
                    </a:p>
                  </a:txBody>
                  <a:tcPr marL="0" marR="0" marT="0" marB="0">
                    <a:lnL w="9525">
                      <a:solidFill>
                        <a:srgbClr val="E9E9E9"/>
                      </a:solidFill>
                      <a:prstDash val="solid"/>
                    </a:lnL>
                    <a:lnR w="9525">
                      <a:solidFill>
                        <a:srgbClr val="E9E9E9"/>
                      </a:solidFill>
                      <a:prstDash val="solid"/>
                    </a:lnR>
                    <a:lnB w="9525">
                      <a:solidFill>
                        <a:srgbClr val="E9E9E9"/>
                      </a:solidFill>
                      <a:prstDash val="solid"/>
                    </a:lnB>
                  </a:tcPr>
                </a:tc>
                <a:tc hMerge="1">
                  <a:txBody>
                    <a:bodyPr/>
                    <a:lstStyle/>
                    <a:p>
                      <a:endParaRPr/>
                    </a:p>
                  </a:txBody>
                  <a:tcPr marL="0" marR="0" marT="0" marB="0"/>
                </a:tc>
                <a:extLst>
                  <a:ext uri="{0D108BD9-81ED-4DB2-BD59-A6C34878D82A}">
                    <a16:rowId xmlns:a16="http://schemas.microsoft.com/office/drawing/2014/main" val="10002"/>
                  </a:ext>
                </a:extLst>
              </a:tr>
            </a:tbl>
          </a:graphicData>
        </a:graphic>
      </p:graphicFrame>
      <p:sp>
        <p:nvSpPr>
          <p:cNvPr id="3" name="object 3"/>
          <p:cNvSpPr txBox="1"/>
          <p:nvPr/>
        </p:nvSpPr>
        <p:spPr>
          <a:xfrm>
            <a:off x="982578" y="3084052"/>
            <a:ext cx="8259445" cy="2982595"/>
          </a:xfrm>
          <a:prstGeom prst="rect">
            <a:avLst/>
          </a:prstGeom>
        </p:spPr>
        <p:txBody>
          <a:bodyPr vert="horz" wrap="square" lIns="0" tIns="41275" rIns="0" bIns="0" rtlCol="0">
            <a:spAutoFit/>
          </a:bodyPr>
          <a:lstStyle/>
          <a:p>
            <a:pPr marL="200025" marR="367030" indent="-187960">
              <a:lnSpc>
                <a:spcPct val="91600"/>
              </a:lnSpc>
              <a:spcBef>
                <a:spcPts val="325"/>
              </a:spcBef>
              <a:buFont typeface="Arial MT"/>
              <a:buChar char="•"/>
              <a:tabLst>
                <a:tab pos="201295" algn="l"/>
              </a:tabLst>
            </a:pPr>
            <a:r>
              <a:rPr sz="1950" b="1" spc="-40" dirty="0">
                <a:latin typeface="Tahoma"/>
                <a:cs typeface="Tahoma"/>
              </a:rPr>
              <a:t>Sensor:</a:t>
            </a:r>
            <a:r>
              <a:rPr sz="1950" b="1" spc="-60" dirty="0">
                <a:latin typeface="Tahoma"/>
                <a:cs typeface="Tahoma"/>
              </a:rPr>
              <a:t> </a:t>
            </a:r>
            <a:r>
              <a:rPr sz="1950" spc="50" dirty="0">
                <a:latin typeface="Tahoma"/>
                <a:cs typeface="Tahoma"/>
              </a:rPr>
              <a:t>Sensor</a:t>
            </a:r>
            <a:r>
              <a:rPr sz="1950" spc="-85" dirty="0">
                <a:latin typeface="Tahoma"/>
                <a:cs typeface="Tahoma"/>
              </a:rPr>
              <a:t> </a:t>
            </a:r>
            <a:r>
              <a:rPr sz="1950" dirty="0">
                <a:latin typeface="Tahoma"/>
                <a:cs typeface="Tahoma"/>
              </a:rPr>
              <a:t>is</a:t>
            </a:r>
            <a:r>
              <a:rPr sz="1950" spc="-85" dirty="0">
                <a:latin typeface="Tahoma"/>
                <a:cs typeface="Tahoma"/>
              </a:rPr>
              <a:t> </a:t>
            </a:r>
            <a:r>
              <a:rPr sz="1950" dirty="0">
                <a:latin typeface="Tahoma"/>
                <a:cs typeface="Tahoma"/>
              </a:rPr>
              <a:t>a</a:t>
            </a:r>
            <a:r>
              <a:rPr sz="1950" spc="-90" dirty="0">
                <a:latin typeface="Tahoma"/>
                <a:cs typeface="Tahoma"/>
              </a:rPr>
              <a:t> </a:t>
            </a:r>
            <a:r>
              <a:rPr sz="1950" spc="80" dirty="0">
                <a:latin typeface="Tahoma"/>
                <a:cs typeface="Tahoma"/>
              </a:rPr>
              <a:t>device</a:t>
            </a:r>
            <a:r>
              <a:rPr sz="1950" spc="-65" dirty="0">
                <a:latin typeface="Tahoma"/>
                <a:cs typeface="Tahoma"/>
              </a:rPr>
              <a:t> </a:t>
            </a:r>
            <a:r>
              <a:rPr sz="1950" spc="50" dirty="0">
                <a:latin typeface="Tahoma"/>
                <a:cs typeface="Tahoma"/>
              </a:rPr>
              <a:t>which</a:t>
            </a:r>
            <a:r>
              <a:rPr sz="1950" spc="-90" dirty="0">
                <a:latin typeface="Tahoma"/>
                <a:cs typeface="Tahoma"/>
              </a:rPr>
              <a:t> </a:t>
            </a:r>
            <a:r>
              <a:rPr sz="1950" spc="55" dirty="0">
                <a:latin typeface="Tahoma"/>
                <a:cs typeface="Tahoma"/>
              </a:rPr>
              <a:t>detects</a:t>
            </a:r>
            <a:r>
              <a:rPr sz="1950" spc="-70" dirty="0">
                <a:latin typeface="Tahoma"/>
                <a:cs typeface="Tahoma"/>
              </a:rPr>
              <a:t> </a:t>
            </a:r>
            <a:r>
              <a:rPr sz="1950" dirty="0">
                <a:latin typeface="Tahoma"/>
                <a:cs typeface="Tahoma"/>
              </a:rPr>
              <a:t>the</a:t>
            </a:r>
            <a:r>
              <a:rPr sz="1950" spc="-95" dirty="0">
                <a:latin typeface="Tahoma"/>
                <a:cs typeface="Tahoma"/>
              </a:rPr>
              <a:t> </a:t>
            </a:r>
            <a:r>
              <a:rPr sz="1950" spc="85" dirty="0">
                <a:latin typeface="Tahoma"/>
                <a:cs typeface="Tahoma"/>
              </a:rPr>
              <a:t>change</a:t>
            </a:r>
            <a:r>
              <a:rPr sz="1950" spc="-80" dirty="0">
                <a:latin typeface="Tahoma"/>
                <a:cs typeface="Tahoma"/>
              </a:rPr>
              <a:t> </a:t>
            </a:r>
            <a:r>
              <a:rPr sz="1950" spc="50" dirty="0">
                <a:latin typeface="Tahoma"/>
                <a:cs typeface="Tahoma"/>
              </a:rPr>
              <a:t>in</a:t>
            </a:r>
            <a:r>
              <a:rPr sz="1950" spc="-85" dirty="0">
                <a:latin typeface="Tahoma"/>
                <a:cs typeface="Tahoma"/>
              </a:rPr>
              <a:t> </a:t>
            </a:r>
            <a:r>
              <a:rPr sz="1950" spc="-25" dirty="0">
                <a:latin typeface="Tahoma"/>
                <a:cs typeface="Tahoma"/>
              </a:rPr>
              <a:t>the 	</a:t>
            </a:r>
            <a:r>
              <a:rPr sz="1950" spc="50" dirty="0">
                <a:latin typeface="Tahoma"/>
                <a:cs typeface="Tahoma"/>
              </a:rPr>
              <a:t>environment</a:t>
            </a:r>
            <a:r>
              <a:rPr sz="1950" spc="-5" dirty="0">
                <a:latin typeface="Tahoma"/>
                <a:cs typeface="Tahoma"/>
              </a:rPr>
              <a:t> </a:t>
            </a:r>
            <a:r>
              <a:rPr sz="1950" spc="80" dirty="0">
                <a:latin typeface="Tahoma"/>
                <a:cs typeface="Tahoma"/>
              </a:rPr>
              <a:t>and</a:t>
            </a:r>
            <a:r>
              <a:rPr sz="1950" spc="-25" dirty="0">
                <a:latin typeface="Tahoma"/>
                <a:cs typeface="Tahoma"/>
              </a:rPr>
              <a:t> </a:t>
            </a:r>
            <a:r>
              <a:rPr sz="1950" spc="65" dirty="0">
                <a:latin typeface="Tahoma"/>
                <a:cs typeface="Tahoma"/>
              </a:rPr>
              <a:t>sends</a:t>
            </a:r>
            <a:r>
              <a:rPr sz="1950" spc="-25" dirty="0">
                <a:latin typeface="Tahoma"/>
                <a:cs typeface="Tahoma"/>
              </a:rPr>
              <a:t> </a:t>
            </a:r>
            <a:r>
              <a:rPr sz="1950" dirty="0">
                <a:latin typeface="Tahoma"/>
                <a:cs typeface="Tahoma"/>
              </a:rPr>
              <a:t>the</a:t>
            </a:r>
            <a:r>
              <a:rPr sz="1950" spc="-15" dirty="0">
                <a:latin typeface="Tahoma"/>
                <a:cs typeface="Tahoma"/>
              </a:rPr>
              <a:t> </a:t>
            </a:r>
            <a:r>
              <a:rPr sz="1950" dirty="0">
                <a:latin typeface="Tahoma"/>
                <a:cs typeface="Tahoma"/>
              </a:rPr>
              <a:t>information </a:t>
            </a:r>
            <a:r>
              <a:rPr sz="1950" spc="55" dirty="0">
                <a:latin typeface="Tahoma"/>
                <a:cs typeface="Tahoma"/>
              </a:rPr>
              <a:t>to</a:t>
            </a:r>
            <a:r>
              <a:rPr sz="1950" spc="-30" dirty="0">
                <a:latin typeface="Tahoma"/>
                <a:cs typeface="Tahoma"/>
              </a:rPr>
              <a:t> </a:t>
            </a:r>
            <a:r>
              <a:rPr sz="1950" spc="50" dirty="0">
                <a:latin typeface="Tahoma"/>
                <a:cs typeface="Tahoma"/>
              </a:rPr>
              <a:t>other</a:t>
            </a:r>
            <a:r>
              <a:rPr sz="1950" spc="-30" dirty="0">
                <a:latin typeface="Tahoma"/>
                <a:cs typeface="Tahoma"/>
              </a:rPr>
              <a:t> </a:t>
            </a:r>
            <a:r>
              <a:rPr sz="1950" spc="60" dirty="0">
                <a:latin typeface="Tahoma"/>
                <a:cs typeface="Tahoma"/>
              </a:rPr>
              <a:t>electronic</a:t>
            </a:r>
            <a:r>
              <a:rPr sz="1950" spc="-15" dirty="0">
                <a:latin typeface="Tahoma"/>
                <a:cs typeface="Tahoma"/>
              </a:rPr>
              <a:t> </a:t>
            </a:r>
            <a:r>
              <a:rPr sz="1950" spc="40" dirty="0">
                <a:latin typeface="Tahoma"/>
                <a:cs typeface="Tahoma"/>
              </a:rPr>
              <a:t>devices. 	</a:t>
            </a:r>
            <a:r>
              <a:rPr sz="1950" spc="130" dirty="0">
                <a:latin typeface="Tahoma"/>
                <a:cs typeface="Tahoma"/>
              </a:rPr>
              <a:t>An</a:t>
            </a:r>
            <a:r>
              <a:rPr sz="1950" spc="-95" dirty="0">
                <a:latin typeface="Tahoma"/>
                <a:cs typeface="Tahoma"/>
              </a:rPr>
              <a:t> </a:t>
            </a:r>
            <a:r>
              <a:rPr sz="1950" spc="60" dirty="0">
                <a:latin typeface="Tahoma"/>
                <a:cs typeface="Tahoma"/>
              </a:rPr>
              <a:t>agent</a:t>
            </a:r>
            <a:r>
              <a:rPr sz="1950" spc="-85" dirty="0">
                <a:latin typeface="Tahoma"/>
                <a:cs typeface="Tahoma"/>
              </a:rPr>
              <a:t> </a:t>
            </a:r>
            <a:r>
              <a:rPr sz="1950" spc="60" dirty="0">
                <a:latin typeface="Tahoma"/>
                <a:cs typeface="Tahoma"/>
              </a:rPr>
              <a:t>observes</a:t>
            </a:r>
            <a:r>
              <a:rPr sz="1950" spc="-95" dirty="0">
                <a:latin typeface="Tahoma"/>
                <a:cs typeface="Tahoma"/>
              </a:rPr>
              <a:t> </a:t>
            </a:r>
            <a:r>
              <a:rPr sz="1950" dirty="0">
                <a:latin typeface="Tahoma"/>
                <a:cs typeface="Tahoma"/>
              </a:rPr>
              <a:t>its</a:t>
            </a:r>
            <a:r>
              <a:rPr sz="1950" spc="-100" dirty="0">
                <a:latin typeface="Tahoma"/>
                <a:cs typeface="Tahoma"/>
              </a:rPr>
              <a:t> </a:t>
            </a:r>
            <a:r>
              <a:rPr sz="1950" spc="50" dirty="0">
                <a:latin typeface="Tahoma"/>
                <a:cs typeface="Tahoma"/>
              </a:rPr>
              <a:t>environment</a:t>
            </a:r>
            <a:r>
              <a:rPr sz="1950" spc="-60" dirty="0">
                <a:latin typeface="Tahoma"/>
                <a:cs typeface="Tahoma"/>
              </a:rPr>
              <a:t> </a:t>
            </a:r>
            <a:r>
              <a:rPr sz="1950" spc="60" dirty="0">
                <a:latin typeface="Tahoma"/>
                <a:cs typeface="Tahoma"/>
              </a:rPr>
              <a:t>through</a:t>
            </a:r>
            <a:r>
              <a:rPr sz="1950" spc="-95" dirty="0">
                <a:latin typeface="Tahoma"/>
                <a:cs typeface="Tahoma"/>
              </a:rPr>
              <a:t> </a:t>
            </a:r>
            <a:r>
              <a:rPr sz="1950" spc="-10" dirty="0">
                <a:latin typeface="Tahoma"/>
                <a:cs typeface="Tahoma"/>
              </a:rPr>
              <a:t>sensors.</a:t>
            </a:r>
            <a:endParaRPr sz="1950">
              <a:latin typeface="Tahoma"/>
              <a:cs typeface="Tahoma"/>
            </a:endParaRPr>
          </a:p>
          <a:p>
            <a:pPr marL="200025" marR="5080" indent="-187960">
              <a:lnSpc>
                <a:spcPct val="91300"/>
              </a:lnSpc>
              <a:spcBef>
                <a:spcPts val="830"/>
              </a:spcBef>
              <a:buFont typeface="Arial MT"/>
              <a:buChar char="•"/>
              <a:tabLst>
                <a:tab pos="201295" algn="l"/>
              </a:tabLst>
            </a:pPr>
            <a:r>
              <a:rPr sz="1950" b="1" spc="-45" dirty="0">
                <a:latin typeface="Tahoma"/>
                <a:cs typeface="Tahoma"/>
              </a:rPr>
              <a:t>Actuators:</a:t>
            </a:r>
            <a:r>
              <a:rPr sz="1950" b="1" dirty="0">
                <a:latin typeface="Tahoma"/>
                <a:cs typeface="Tahoma"/>
              </a:rPr>
              <a:t> </a:t>
            </a:r>
            <a:r>
              <a:rPr sz="1950" dirty="0">
                <a:latin typeface="Tahoma"/>
                <a:cs typeface="Tahoma"/>
              </a:rPr>
              <a:t>Actuators</a:t>
            </a:r>
            <a:r>
              <a:rPr sz="1950" spc="-30" dirty="0">
                <a:latin typeface="Tahoma"/>
                <a:cs typeface="Tahoma"/>
              </a:rPr>
              <a:t> </a:t>
            </a:r>
            <a:r>
              <a:rPr sz="1950" dirty="0">
                <a:latin typeface="Tahoma"/>
                <a:cs typeface="Tahoma"/>
              </a:rPr>
              <a:t>are</a:t>
            </a:r>
            <a:r>
              <a:rPr sz="1950" spc="-30" dirty="0">
                <a:latin typeface="Tahoma"/>
                <a:cs typeface="Tahoma"/>
              </a:rPr>
              <a:t> </a:t>
            </a:r>
            <a:r>
              <a:rPr sz="1950" dirty="0">
                <a:latin typeface="Tahoma"/>
                <a:cs typeface="Tahoma"/>
              </a:rPr>
              <a:t>the</a:t>
            </a:r>
            <a:r>
              <a:rPr sz="1950" spc="-15" dirty="0">
                <a:latin typeface="Tahoma"/>
                <a:cs typeface="Tahoma"/>
              </a:rPr>
              <a:t> </a:t>
            </a:r>
            <a:r>
              <a:rPr sz="1950" spc="95" dirty="0">
                <a:latin typeface="Tahoma"/>
                <a:cs typeface="Tahoma"/>
              </a:rPr>
              <a:t>component</a:t>
            </a:r>
            <a:r>
              <a:rPr sz="1950" spc="-30" dirty="0">
                <a:latin typeface="Tahoma"/>
                <a:cs typeface="Tahoma"/>
              </a:rPr>
              <a:t> </a:t>
            </a:r>
            <a:r>
              <a:rPr sz="1950" spc="50" dirty="0">
                <a:latin typeface="Tahoma"/>
                <a:cs typeface="Tahoma"/>
              </a:rPr>
              <a:t>of</a:t>
            </a:r>
            <a:r>
              <a:rPr sz="1950" spc="20" dirty="0">
                <a:latin typeface="Tahoma"/>
                <a:cs typeface="Tahoma"/>
              </a:rPr>
              <a:t> </a:t>
            </a:r>
            <a:r>
              <a:rPr sz="1950" spc="60" dirty="0">
                <a:latin typeface="Tahoma"/>
                <a:cs typeface="Tahoma"/>
              </a:rPr>
              <a:t>machines</a:t>
            </a:r>
            <a:r>
              <a:rPr sz="1950" spc="-30" dirty="0">
                <a:latin typeface="Tahoma"/>
                <a:cs typeface="Tahoma"/>
              </a:rPr>
              <a:t> </a:t>
            </a:r>
            <a:r>
              <a:rPr sz="1950" dirty="0">
                <a:latin typeface="Tahoma"/>
                <a:cs typeface="Tahoma"/>
              </a:rPr>
              <a:t>that</a:t>
            </a:r>
            <a:r>
              <a:rPr sz="1950" spc="5" dirty="0">
                <a:latin typeface="Tahoma"/>
                <a:cs typeface="Tahoma"/>
              </a:rPr>
              <a:t> </a:t>
            </a:r>
            <a:r>
              <a:rPr sz="1950" spc="-10" dirty="0">
                <a:latin typeface="Tahoma"/>
                <a:cs typeface="Tahoma"/>
              </a:rPr>
              <a:t>converts 	</a:t>
            </a:r>
            <a:r>
              <a:rPr sz="1950" spc="60" dirty="0">
                <a:latin typeface="Tahoma"/>
                <a:cs typeface="Tahoma"/>
              </a:rPr>
              <a:t>energy</a:t>
            </a:r>
            <a:r>
              <a:rPr sz="1950" spc="-30" dirty="0">
                <a:latin typeface="Tahoma"/>
                <a:cs typeface="Tahoma"/>
              </a:rPr>
              <a:t> </a:t>
            </a:r>
            <a:r>
              <a:rPr sz="1950" spc="55" dirty="0">
                <a:latin typeface="Tahoma"/>
                <a:cs typeface="Tahoma"/>
              </a:rPr>
              <a:t>into</a:t>
            </a:r>
            <a:r>
              <a:rPr sz="1950" spc="-45" dirty="0">
                <a:latin typeface="Tahoma"/>
                <a:cs typeface="Tahoma"/>
              </a:rPr>
              <a:t> </a:t>
            </a:r>
            <a:r>
              <a:rPr sz="1950" spc="50" dirty="0">
                <a:latin typeface="Tahoma"/>
                <a:cs typeface="Tahoma"/>
              </a:rPr>
              <a:t>motion.</a:t>
            </a:r>
            <a:r>
              <a:rPr sz="1950" spc="-160" dirty="0">
                <a:latin typeface="Tahoma"/>
                <a:cs typeface="Tahoma"/>
              </a:rPr>
              <a:t> </a:t>
            </a:r>
            <a:r>
              <a:rPr sz="1950" dirty="0">
                <a:latin typeface="Tahoma"/>
                <a:cs typeface="Tahoma"/>
              </a:rPr>
              <a:t>The</a:t>
            </a:r>
            <a:r>
              <a:rPr sz="1950" spc="-45" dirty="0">
                <a:latin typeface="Tahoma"/>
                <a:cs typeface="Tahoma"/>
              </a:rPr>
              <a:t> </a:t>
            </a:r>
            <a:r>
              <a:rPr sz="1950" dirty="0">
                <a:latin typeface="Tahoma"/>
                <a:cs typeface="Tahoma"/>
              </a:rPr>
              <a:t>actuators</a:t>
            </a:r>
            <a:r>
              <a:rPr sz="1950" spc="-35" dirty="0">
                <a:latin typeface="Tahoma"/>
                <a:cs typeface="Tahoma"/>
              </a:rPr>
              <a:t> </a:t>
            </a:r>
            <a:r>
              <a:rPr sz="1950" dirty="0">
                <a:latin typeface="Tahoma"/>
                <a:cs typeface="Tahoma"/>
              </a:rPr>
              <a:t>are</a:t>
            </a:r>
            <a:r>
              <a:rPr sz="1950" spc="-45" dirty="0">
                <a:latin typeface="Tahoma"/>
                <a:cs typeface="Tahoma"/>
              </a:rPr>
              <a:t> </a:t>
            </a:r>
            <a:r>
              <a:rPr sz="1950" spc="60" dirty="0">
                <a:latin typeface="Tahoma"/>
                <a:cs typeface="Tahoma"/>
              </a:rPr>
              <a:t>only</a:t>
            </a:r>
            <a:r>
              <a:rPr sz="1950" spc="-60" dirty="0">
                <a:latin typeface="Tahoma"/>
                <a:cs typeface="Tahoma"/>
              </a:rPr>
              <a:t> </a:t>
            </a:r>
            <a:r>
              <a:rPr sz="1950" spc="70" dirty="0">
                <a:latin typeface="Tahoma"/>
                <a:cs typeface="Tahoma"/>
              </a:rPr>
              <a:t>responsible</a:t>
            </a:r>
            <a:r>
              <a:rPr sz="1950" spc="-45" dirty="0">
                <a:latin typeface="Tahoma"/>
                <a:cs typeface="Tahoma"/>
              </a:rPr>
              <a:t> </a:t>
            </a:r>
            <a:r>
              <a:rPr sz="1950" dirty="0">
                <a:latin typeface="Tahoma"/>
                <a:cs typeface="Tahoma"/>
              </a:rPr>
              <a:t>for</a:t>
            </a:r>
            <a:r>
              <a:rPr sz="1950" spc="-60" dirty="0">
                <a:latin typeface="Tahoma"/>
                <a:cs typeface="Tahoma"/>
              </a:rPr>
              <a:t> </a:t>
            </a:r>
            <a:r>
              <a:rPr sz="1950" spc="80" dirty="0">
                <a:latin typeface="Tahoma"/>
                <a:cs typeface="Tahoma"/>
              </a:rPr>
              <a:t>moving</a:t>
            </a:r>
            <a:r>
              <a:rPr sz="1950" spc="-45" dirty="0">
                <a:latin typeface="Tahoma"/>
                <a:cs typeface="Tahoma"/>
              </a:rPr>
              <a:t> </a:t>
            </a:r>
            <a:r>
              <a:rPr sz="1950" spc="55" dirty="0">
                <a:latin typeface="Tahoma"/>
                <a:cs typeface="Tahoma"/>
              </a:rPr>
              <a:t>and 	</a:t>
            </a:r>
            <a:r>
              <a:rPr sz="1950" spc="65" dirty="0">
                <a:latin typeface="Tahoma"/>
                <a:cs typeface="Tahoma"/>
              </a:rPr>
              <a:t>controlling</a:t>
            </a:r>
            <a:r>
              <a:rPr sz="1950" spc="-50" dirty="0">
                <a:latin typeface="Tahoma"/>
                <a:cs typeface="Tahoma"/>
              </a:rPr>
              <a:t> </a:t>
            </a:r>
            <a:r>
              <a:rPr sz="1950" dirty="0">
                <a:latin typeface="Tahoma"/>
                <a:cs typeface="Tahoma"/>
              </a:rPr>
              <a:t>a</a:t>
            </a:r>
            <a:r>
              <a:rPr sz="1950" spc="-30" dirty="0">
                <a:latin typeface="Tahoma"/>
                <a:cs typeface="Tahoma"/>
              </a:rPr>
              <a:t> </a:t>
            </a:r>
            <a:r>
              <a:rPr sz="1950" dirty="0">
                <a:latin typeface="Tahoma"/>
                <a:cs typeface="Tahoma"/>
              </a:rPr>
              <a:t>system.</a:t>
            </a:r>
            <a:r>
              <a:rPr sz="1950" spc="-120" dirty="0">
                <a:latin typeface="Tahoma"/>
                <a:cs typeface="Tahoma"/>
              </a:rPr>
              <a:t> </a:t>
            </a:r>
            <a:r>
              <a:rPr sz="1950" spc="125" dirty="0">
                <a:latin typeface="Tahoma"/>
                <a:cs typeface="Tahoma"/>
              </a:rPr>
              <a:t>An</a:t>
            </a:r>
            <a:r>
              <a:rPr sz="1950" spc="-50" dirty="0">
                <a:latin typeface="Tahoma"/>
                <a:cs typeface="Tahoma"/>
              </a:rPr>
              <a:t> </a:t>
            </a:r>
            <a:r>
              <a:rPr sz="1950" dirty="0">
                <a:latin typeface="Tahoma"/>
                <a:cs typeface="Tahoma"/>
              </a:rPr>
              <a:t>actuator </a:t>
            </a:r>
            <a:r>
              <a:rPr sz="1950" spc="55" dirty="0">
                <a:latin typeface="Tahoma"/>
                <a:cs typeface="Tahoma"/>
              </a:rPr>
              <a:t>can</a:t>
            </a:r>
            <a:r>
              <a:rPr sz="1950" spc="-35" dirty="0">
                <a:latin typeface="Tahoma"/>
                <a:cs typeface="Tahoma"/>
              </a:rPr>
              <a:t> </a:t>
            </a:r>
            <a:r>
              <a:rPr sz="1950" spc="135" dirty="0">
                <a:latin typeface="Tahoma"/>
                <a:cs typeface="Tahoma"/>
              </a:rPr>
              <a:t>be</a:t>
            </a:r>
            <a:r>
              <a:rPr sz="1950" spc="-30" dirty="0">
                <a:latin typeface="Tahoma"/>
                <a:cs typeface="Tahoma"/>
              </a:rPr>
              <a:t> </a:t>
            </a:r>
            <a:r>
              <a:rPr sz="1950" dirty="0">
                <a:latin typeface="Tahoma"/>
                <a:cs typeface="Tahoma"/>
              </a:rPr>
              <a:t>an</a:t>
            </a:r>
            <a:r>
              <a:rPr sz="1950" spc="-25" dirty="0">
                <a:latin typeface="Tahoma"/>
                <a:cs typeface="Tahoma"/>
              </a:rPr>
              <a:t> </a:t>
            </a:r>
            <a:r>
              <a:rPr sz="1950" spc="55" dirty="0">
                <a:latin typeface="Tahoma"/>
                <a:cs typeface="Tahoma"/>
              </a:rPr>
              <a:t>electric</a:t>
            </a:r>
            <a:r>
              <a:rPr sz="1950" spc="-35" dirty="0">
                <a:latin typeface="Tahoma"/>
                <a:cs typeface="Tahoma"/>
              </a:rPr>
              <a:t> </a:t>
            </a:r>
            <a:r>
              <a:rPr sz="1950" dirty="0">
                <a:latin typeface="Tahoma"/>
                <a:cs typeface="Tahoma"/>
              </a:rPr>
              <a:t>motor,</a:t>
            </a:r>
            <a:r>
              <a:rPr sz="1950" spc="-90" dirty="0">
                <a:latin typeface="Tahoma"/>
                <a:cs typeface="Tahoma"/>
              </a:rPr>
              <a:t> </a:t>
            </a:r>
            <a:r>
              <a:rPr sz="1950" dirty="0">
                <a:latin typeface="Tahoma"/>
                <a:cs typeface="Tahoma"/>
              </a:rPr>
              <a:t>gears,</a:t>
            </a:r>
            <a:r>
              <a:rPr sz="1950" spc="-95" dirty="0">
                <a:latin typeface="Tahoma"/>
                <a:cs typeface="Tahoma"/>
              </a:rPr>
              <a:t> </a:t>
            </a:r>
            <a:r>
              <a:rPr sz="1950" spc="-10" dirty="0">
                <a:latin typeface="Tahoma"/>
                <a:cs typeface="Tahoma"/>
              </a:rPr>
              <a:t>rails, 	</a:t>
            </a:r>
            <a:r>
              <a:rPr sz="1950" spc="-20" dirty="0">
                <a:latin typeface="Tahoma"/>
                <a:cs typeface="Tahoma"/>
              </a:rPr>
              <a:t>etc.</a:t>
            </a:r>
            <a:endParaRPr sz="1950">
              <a:latin typeface="Tahoma"/>
              <a:cs typeface="Tahoma"/>
            </a:endParaRPr>
          </a:p>
          <a:p>
            <a:pPr marL="200025" marR="423545" indent="-187960">
              <a:lnSpc>
                <a:spcPct val="91600"/>
              </a:lnSpc>
              <a:spcBef>
                <a:spcPts val="820"/>
              </a:spcBef>
              <a:buFont typeface="Arial MT"/>
              <a:buChar char="•"/>
              <a:tabLst>
                <a:tab pos="201295" algn="l"/>
              </a:tabLst>
            </a:pPr>
            <a:r>
              <a:rPr sz="1950" b="1" spc="-45" dirty="0">
                <a:latin typeface="Tahoma"/>
                <a:cs typeface="Tahoma"/>
              </a:rPr>
              <a:t>Effectors:</a:t>
            </a:r>
            <a:r>
              <a:rPr sz="1950" b="1" spc="75" dirty="0">
                <a:latin typeface="Tahoma"/>
                <a:cs typeface="Tahoma"/>
              </a:rPr>
              <a:t> </a:t>
            </a:r>
            <a:r>
              <a:rPr sz="1950" dirty="0">
                <a:latin typeface="Tahoma"/>
                <a:cs typeface="Tahoma"/>
              </a:rPr>
              <a:t>Effectors</a:t>
            </a:r>
            <a:r>
              <a:rPr sz="1950" spc="5" dirty="0">
                <a:latin typeface="Tahoma"/>
                <a:cs typeface="Tahoma"/>
              </a:rPr>
              <a:t> </a:t>
            </a:r>
            <a:r>
              <a:rPr sz="1950" dirty="0">
                <a:latin typeface="Tahoma"/>
                <a:cs typeface="Tahoma"/>
              </a:rPr>
              <a:t>are</a:t>
            </a:r>
            <a:r>
              <a:rPr sz="1950" spc="10" dirty="0">
                <a:latin typeface="Tahoma"/>
                <a:cs typeface="Tahoma"/>
              </a:rPr>
              <a:t> </a:t>
            </a:r>
            <a:r>
              <a:rPr sz="1950" dirty="0">
                <a:latin typeface="Tahoma"/>
                <a:cs typeface="Tahoma"/>
              </a:rPr>
              <a:t>the</a:t>
            </a:r>
            <a:r>
              <a:rPr sz="1950" spc="30" dirty="0">
                <a:latin typeface="Tahoma"/>
                <a:cs typeface="Tahoma"/>
              </a:rPr>
              <a:t> </a:t>
            </a:r>
            <a:r>
              <a:rPr sz="1950" spc="65" dirty="0">
                <a:latin typeface="Tahoma"/>
                <a:cs typeface="Tahoma"/>
              </a:rPr>
              <a:t>devices</a:t>
            </a:r>
            <a:r>
              <a:rPr sz="1950" spc="10" dirty="0">
                <a:latin typeface="Tahoma"/>
                <a:cs typeface="Tahoma"/>
              </a:rPr>
              <a:t> </a:t>
            </a:r>
            <a:r>
              <a:rPr sz="1950" dirty="0">
                <a:latin typeface="Tahoma"/>
                <a:cs typeface="Tahoma"/>
              </a:rPr>
              <a:t>which</a:t>
            </a:r>
            <a:r>
              <a:rPr sz="1950" spc="20" dirty="0">
                <a:latin typeface="Tahoma"/>
                <a:cs typeface="Tahoma"/>
              </a:rPr>
              <a:t> </a:t>
            </a:r>
            <a:r>
              <a:rPr sz="1950" dirty="0">
                <a:latin typeface="Tahoma"/>
                <a:cs typeface="Tahoma"/>
              </a:rPr>
              <a:t>affect</a:t>
            </a:r>
            <a:r>
              <a:rPr sz="1950" spc="25" dirty="0">
                <a:latin typeface="Tahoma"/>
                <a:cs typeface="Tahoma"/>
              </a:rPr>
              <a:t> </a:t>
            </a:r>
            <a:r>
              <a:rPr sz="1950" dirty="0">
                <a:latin typeface="Tahoma"/>
                <a:cs typeface="Tahoma"/>
              </a:rPr>
              <a:t>the</a:t>
            </a:r>
            <a:r>
              <a:rPr sz="1950" spc="5" dirty="0">
                <a:latin typeface="Tahoma"/>
                <a:cs typeface="Tahoma"/>
              </a:rPr>
              <a:t> </a:t>
            </a:r>
            <a:r>
              <a:rPr sz="1950" spc="-10" dirty="0">
                <a:latin typeface="Tahoma"/>
                <a:cs typeface="Tahoma"/>
              </a:rPr>
              <a:t>environment. 	</a:t>
            </a:r>
            <a:r>
              <a:rPr sz="1950" dirty="0">
                <a:latin typeface="Tahoma"/>
                <a:cs typeface="Tahoma"/>
              </a:rPr>
              <a:t>Effectors</a:t>
            </a:r>
            <a:r>
              <a:rPr sz="1950" spc="20" dirty="0">
                <a:latin typeface="Tahoma"/>
                <a:cs typeface="Tahoma"/>
              </a:rPr>
              <a:t> </a:t>
            </a:r>
            <a:r>
              <a:rPr sz="1950" spc="55" dirty="0">
                <a:latin typeface="Tahoma"/>
                <a:cs typeface="Tahoma"/>
              </a:rPr>
              <a:t>can</a:t>
            </a:r>
            <a:r>
              <a:rPr sz="1950" spc="25" dirty="0">
                <a:latin typeface="Tahoma"/>
                <a:cs typeface="Tahoma"/>
              </a:rPr>
              <a:t> </a:t>
            </a:r>
            <a:r>
              <a:rPr sz="1950" spc="135" dirty="0">
                <a:latin typeface="Tahoma"/>
                <a:cs typeface="Tahoma"/>
              </a:rPr>
              <a:t>be</a:t>
            </a:r>
            <a:r>
              <a:rPr sz="1950" spc="25" dirty="0">
                <a:latin typeface="Tahoma"/>
                <a:cs typeface="Tahoma"/>
              </a:rPr>
              <a:t> </a:t>
            </a:r>
            <a:r>
              <a:rPr sz="1950" dirty="0">
                <a:latin typeface="Tahoma"/>
                <a:cs typeface="Tahoma"/>
              </a:rPr>
              <a:t>legs,</a:t>
            </a:r>
            <a:r>
              <a:rPr sz="1950" spc="-55" dirty="0">
                <a:latin typeface="Tahoma"/>
                <a:cs typeface="Tahoma"/>
              </a:rPr>
              <a:t> </a:t>
            </a:r>
            <a:r>
              <a:rPr sz="1950" dirty="0">
                <a:latin typeface="Tahoma"/>
                <a:cs typeface="Tahoma"/>
              </a:rPr>
              <a:t>wheels,</a:t>
            </a:r>
            <a:r>
              <a:rPr sz="1950" spc="-40" dirty="0">
                <a:latin typeface="Tahoma"/>
                <a:cs typeface="Tahoma"/>
              </a:rPr>
              <a:t> </a:t>
            </a:r>
            <a:r>
              <a:rPr sz="1950" dirty="0">
                <a:latin typeface="Tahoma"/>
                <a:cs typeface="Tahoma"/>
              </a:rPr>
              <a:t>arms,</a:t>
            </a:r>
            <a:r>
              <a:rPr sz="1950" spc="-40" dirty="0">
                <a:latin typeface="Tahoma"/>
                <a:cs typeface="Tahoma"/>
              </a:rPr>
              <a:t> </a:t>
            </a:r>
            <a:r>
              <a:rPr sz="1950" dirty="0">
                <a:latin typeface="Tahoma"/>
                <a:cs typeface="Tahoma"/>
              </a:rPr>
              <a:t>fingers,</a:t>
            </a:r>
            <a:r>
              <a:rPr sz="1950" spc="-25" dirty="0">
                <a:latin typeface="Tahoma"/>
                <a:cs typeface="Tahoma"/>
              </a:rPr>
              <a:t> </a:t>
            </a:r>
            <a:r>
              <a:rPr sz="1950" dirty="0">
                <a:latin typeface="Tahoma"/>
                <a:cs typeface="Tahoma"/>
              </a:rPr>
              <a:t>wings,</a:t>
            </a:r>
            <a:r>
              <a:rPr sz="1950" spc="-55" dirty="0">
                <a:latin typeface="Tahoma"/>
                <a:cs typeface="Tahoma"/>
              </a:rPr>
              <a:t> </a:t>
            </a:r>
            <a:r>
              <a:rPr sz="1950" spc="-10" dirty="0">
                <a:latin typeface="Tahoma"/>
                <a:cs typeface="Tahoma"/>
              </a:rPr>
              <a:t>fins,</a:t>
            </a:r>
            <a:r>
              <a:rPr sz="1950" spc="-45" dirty="0">
                <a:latin typeface="Tahoma"/>
                <a:cs typeface="Tahoma"/>
              </a:rPr>
              <a:t> </a:t>
            </a:r>
            <a:r>
              <a:rPr sz="1950" spc="80" dirty="0">
                <a:latin typeface="Tahoma"/>
                <a:cs typeface="Tahoma"/>
              </a:rPr>
              <a:t>and</a:t>
            </a:r>
            <a:r>
              <a:rPr sz="1950" spc="30" dirty="0">
                <a:latin typeface="Tahoma"/>
                <a:cs typeface="Tahoma"/>
              </a:rPr>
              <a:t> </a:t>
            </a:r>
            <a:r>
              <a:rPr sz="1950" spc="55" dirty="0">
                <a:latin typeface="Tahoma"/>
                <a:cs typeface="Tahoma"/>
              </a:rPr>
              <a:t>display 	</a:t>
            </a:r>
            <a:r>
              <a:rPr sz="1950" spc="-10" dirty="0">
                <a:latin typeface="Tahoma"/>
                <a:cs typeface="Tahoma"/>
              </a:rPr>
              <a:t>screen.</a:t>
            </a:r>
            <a:endParaRPr sz="1950">
              <a:latin typeface="Tahoma"/>
              <a:cs typeface="Tahom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409193" y="1053845"/>
          <a:ext cx="9228455" cy="1664335"/>
        </p:xfrm>
        <a:graphic>
          <a:graphicData uri="http://schemas.openxmlformats.org/drawingml/2006/table">
            <a:tbl>
              <a:tblPr firstRow="1" bandRow="1">
                <a:tableStyleId>{2D5ABB26-0587-4C30-8999-92F81FD0307C}</a:tableStyleId>
              </a:tblPr>
              <a:tblGrid>
                <a:gridCol w="72390">
                  <a:extLst>
                    <a:ext uri="{9D8B030D-6E8A-4147-A177-3AD203B41FA5}">
                      <a16:colId xmlns:a16="http://schemas.microsoft.com/office/drawing/2014/main" val="20000"/>
                    </a:ext>
                  </a:extLst>
                </a:gridCol>
                <a:gridCol w="9156065">
                  <a:extLst>
                    <a:ext uri="{9D8B030D-6E8A-4147-A177-3AD203B41FA5}">
                      <a16:colId xmlns:a16="http://schemas.microsoft.com/office/drawing/2014/main" val="20001"/>
                    </a:ext>
                  </a:extLst>
                </a:gridCol>
              </a:tblGrid>
              <a:tr h="650240">
                <a:tc gridSpan="2">
                  <a:txBody>
                    <a:bodyPr/>
                    <a:lstStyle/>
                    <a:p>
                      <a:pPr>
                        <a:lnSpc>
                          <a:spcPct val="100000"/>
                        </a:lnSpc>
                      </a:pPr>
                      <a:endParaRPr sz="3300">
                        <a:latin typeface="Times New Roman"/>
                        <a:cs typeface="Times New Roman"/>
                      </a:endParaRPr>
                    </a:p>
                  </a:txBody>
                  <a:tcPr marL="0" marR="0" marT="0" marB="0">
                    <a:lnL w="9525">
                      <a:solidFill>
                        <a:srgbClr val="E9E9E9"/>
                      </a:solidFill>
                      <a:prstDash val="solid"/>
                    </a:lnL>
                    <a:lnR w="9525">
                      <a:solidFill>
                        <a:srgbClr val="E9E9E9"/>
                      </a:solidFill>
                      <a:prstDash val="solid"/>
                    </a:lnR>
                    <a:lnT w="9525">
                      <a:solidFill>
                        <a:srgbClr val="E9E9E9"/>
                      </a:solidFill>
                      <a:prstDash val="solid"/>
                    </a:lnT>
                  </a:tcPr>
                </a:tc>
                <a:tc hMerge="1">
                  <a:txBody>
                    <a:bodyPr/>
                    <a:lstStyle/>
                    <a:p>
                      <a:endParaRPr/>
                    </a:p>
                  </a:txBody>
                  <a:tcPr marL="0" marR="0" marT="0" marB="0"/>
                </a:tc>
                <a:extLst>
                  <a:ext uri="{0D108BD9-81ED-4DB2-BD59-A6C34878D82A}">
                    <a16:rowId xmlns:a16="http://schemas.microsoft.com/office/drawing/2014/main" val="10000"/>
                  </a:ext>
                </a:extLst>
              </a:tr>
              <a:tr h="580390">
                <a:tc>
                  <a:txBody>
                    <a:bodyPr/>
                    <a:lstStyle/>
                    <a:p>
                      <a:pPr>
                        <a:lnSpc>
                          <a:spcPct val="100000"/>
                        </a:lnSpc>
                      </a:pPr>
                      <a:endParaRPr sz="3300">
                        <a:latin typeface="Times New Roman"/>
                        <a:cs typeface="Times New Roman"/>
                      </a:endParaRPr>
                    </a:p>
                  </a:txBody>
                  <a:tcPr marL="0" marR="0" marT="0" marB="0">
                    <a:lnL w="9525">
                      <a:solidFill>
                        <a:srgbClr val="E9E9E9"/>
                      </a:solidFill>
                      <a:prstDash val="solid"/>
                    </a:lnL>
                    <a:solidFill>
                      <a:srgbClr val="F5A700"/>
                    </a:solidFill>
                  </a:tcPr>
                </a:tc>
                <a:tc>
                  <a:txBody>
                    <a:bodyPr/>
                    <a:lstStyle/>
                    <a:p>
                      <a:pPr marL="478155">
                        <a:lnSpc>
                          <a:spcPts val="3910"/>
                        </a:lnSpc>
                      </a:pPr>
                      <a:r>
                        <a:rPr sz="3300" b="1" spc="-105" dirty="0">
                          <a:latin typeface="Tahoma"/>
                          <a:cs typeface="Tahoma"/>
                        </a:rPr>
                        <a:t>What</a:t>
                      </a:r>
                      <a:r>
                        <a:rPr sz="3300" b="1" spc="-135" dirty="0">
                          <a:latin typeface="Tahoma"/>
                          <a:cs typeface="Tahoma"/>
                        </a:rPr>
                        <a:t> </a:t>
                      </a:r>
                      <a:r>
                        <a:rPr sz="3300" b="1" spc="-100" dirty="0">
                          <a:latin typeface="Tahoma"/>
                          <a:cs typeface="Tahoma"/>
                        </a:rPr>
                        <a:t>is</a:t>
                      </a:r>
                      <a:r>
                        <a:rPr sz="3300" b="1" spc="-135" dirty="0">
                          <a:latin typeface="Tahoma"/>
                          <a:cs typeface="Tahoma"/>
                        </a:rPr>
                        <a:t> </a:t>
                      </a:r>
                      <a:r>
                        <a:rPr sz="3300" b="1" spc="-110" dirty="0">
                          <a:latin typeface="Tahoma"/>
                          <a:cs typeface="Tahoma"/>
                        </a:rPr>
                        <a:t>an</a:t>
                      </a:r>
                      <a:r>
                        <a:rPr sz="3300" b="1" spc="-195" dirty="0">
                          <a:latin typeface="Tahoma"/>
                          <a:cs typeface="Tahoma"/>
                        </a:rPr>
                        <a:t> </a:t>
                      </a:r>
                      <a:r>
                        <a:rPr sz="3300" b="1" spc="-10" dirty="0">
                          <a:latin typeface="Tahoma"/>
                          <a:cs typeface="Tahoma"/>
                        </a:rPr>
                        <a:t>Agent?</a:t>
                      </a:r>
                      <a:endParaRPr sz="3300">
                        <a:latin typeface="Tahoma"/>
                        <a:cs typeface="Tahoma"/>
                      </a:endParaRPr>
                    </a:p>
                  </a:txBody>
                  <a:tcPr marL="0" marR="0" marT="0" marB="0">
                    <a:lnR w="9525">
                      <a:solidFill>
                        <a:srgbClr val="E9E9E9"/>
                      </a:solidFill>
                      <a:prstDash val="solid"/>
                    </a:lnR>
                  </a:tcPr>
                </a:tc>
                <a:extLst>
                  <a:ext uri="{0D108BD9-81ED-4DB2-BD59-A6C34878D82A}">
                    <a16:rowId xmlns:a16="http://schemas.microsoft.com/office/drawing/2014/main" val="10001"/>
                  </a:ext>
                </a:extLst>
              </a:tr>
              <a:tr h="433705">
                <a:tc gridSpan="2">
                  <a:txBody>
                    <a:bodyPr/>
                    <a:lstStyle/>
                    <a:p>
                      <a:pPr>
                        <a:lnSpc>
                          <a:spcPct val="100000"/>
                        </a:lnSpc>
                      </a:pPr>
                      <a:endParaRPr sz="2800">
                        <a:latin typeface="Times New Roman"/>
                        <a:cs typeface="Times New Roman"/>
                      </a:endParaRPr>
                    </a:p>
                  </a:txBody>
                  <a:tcPr marL="0" marR="0" marT="0" marB="0">
                    <a:lnL w="9525">
                      <a:solidFill>
                        <a:srgbClr val="E9E9E9"/>
                      </a:solidFill>
                      <a:prstDash val="solid"/>
                    </a:lnL>
                    <a:lnR w="9525">
                      <a:solidFill>
                        <a:srgbClr val="E9E9E9"/>
                      </a:solidFill>
                      <a:prstDash val="solid"/>
                    </a:lnR>
                    <a:lnB w="9525">
                      <a:solidFill>
                        <a:srgbClr val="E9E9E9"/>
                      </a:solidFill>
                      <a:prstDash val="solid"/>
                    </a:lnB>
                  </a:tcPr>
                </a:tc>
                <a:tc hMerge="1">
                  <a:txBody>
                    <a:bodyPr/>
                    <a:lstStyle/>
                    <a:p>
                      <a:endParaRPr/>
                    </a:p>
                  </a:txBody>
                  <a:tcPr marL="0" marR="0" marT="0" marB="0"/>
                </a:tc>
                <a:extLst>
                  <a:ext uri="{0D108BD9-81ED-4DB2-BD59-A6C34878D82A}">
                    <a16:rowId xmlns:a16="http://schemas.microsoft.com/office/drawing/2014/main" val="10002"/>
                  </a:ext>
                </a:extLst>
              </a:tr>
            </a:tbl>
          </a:graphicData>
        </a:graphic>
      </p:graphicFrame>
      <p:pic>
        <p:nvPicPr>
          <p:cNvPr id="3" name="object 3"/>
          <p:cNvPicPr/>
          <p:nvPr/>
        </p:nvPicPr>
        <p:blipFill>
          <a:blip r:embed="rId2" cstate="print"/>
          <a:stretch>
            <a:fillRect/>
          </a:stretch>
        </p:blipFill>
        <p:spPr>
          <a:xfrm>
            <a:off x="690372" y="3061716"/>
            <a:ext cx="8516112" cy="30464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5" dirty="0"/>
              <a:t>Intelligent</a:t>
            </a:r>
            <a:r>
              <a:rPr spc="-170" dirty="0"/>
              <a:t> </a:t>
            </a:r>
            <a:r>
              <a:rPr spc="-25" dirty="0"/>
              <a:t>Agents:</a:t>
            </a:r>
          </a:p>
        </p:txBody>
      </p:sp>
      <p:sp>
        <p:nvSpPr>
          <p:cNvPr id="3" name="object 3"/>
          <p:cNvSpPr txBox="1"/>
          <p:nvPr/>
        </p:nvSpPr>
        <p:spPr>
          <a:xfrm>
            <a:off x="982578" y="2587167"/>
            <a:ext cx="8251190" cy="3302058"/>
          </a:xfrm>
          <a:prstGeom prst="rect">
            <a:avLst/>
          </a:prstGeom>
        </p:spPr>
        <p:txBody>
          <a:bodyPr vert="horz" wrap="square" lIns="0" tIns="12065" rIns="0" bIns="0" rtlCol="0">
            <a:spAutoFit/>
          </a:bodyPr>
          <a:lstStyle/>
          <a:p>
            <a:pPr marL="200025" marR="601980" indent="-187960">
              <a:lnSpc>
                <a:spcPct val="101499"/>
              </a:lnSpc>
              <a:spcBef>
                <a:spcPts val="95"/>
              </a:spcBef>
              <a:buFont typeface="Arial MT"/>
              <a:buChar char="•"/>
              <a:tabLst>
                <a:tab pos="201295" algn="l"/>
              </a:tabLst>
            </a:pPr>
            <a:r>
              <a:rPr sz="1950" spc="130" dirty="0">
                <a:latin typeface="Tahoma"/>
                <a:cs typeface="Tahoma"/>
              </a:rPr>
              <a:t>An</a:t>
            </a:r>
            <a:r>
              <a:rPr sz="1950" spc="-75" dirty="0">
                <a:latin typeface="Tahoma"/>
                <a:cs typeface="Tahoma"/>
              </a:rPr>
              <a:t> </a:t>
            </a:r>
            <a:r>
              <a:rPr sz="1950" spc="55" dirty="0">
                <a:latin typeface="Tahoma"/>
                <a:cs typeface="Tahoma"/>
              </a:rPr>
              <a:t>intelligent</a:t>
            </a:r>
            <a:r>
              <a:rPr sz="1950" spc="-75" dirty="0">
                <a:latin typeface="Tahoma"/>
                <a:cs typeface="Tahoma"/>
              </a:rPr>
              <a:t> </a:t>
            </a:r>
            <a:r>
              <a:rPr sz="1950" spc="65" dirty="0">
                <a:latin typeface="Tahoma"/>
                <a:cs typeface="Tahoma"/>
              </a:rPr>
              <a:t>agent</a:t>
            </a:r>
            <a:r>
              <a:rPr sz="1950" spc="-65" dirty="0">
                <a:latin typeface="Tahoma"/>
                <a:cs typeface="Tahoma"/>
              </a:rPr>
              <a:t> </a:t>
            </a:r>
            <a:r>
              <a:rPr sz="1950" dirty="0">
                <a:latin typeface="Tahoma"/>
                <a:cs typeface="Tahoma"/>
              </a:rPr>
              <a:t>is</a:t>
            </a:r>
            <a:r>
              <a:rPr sz="1950" spc="-75" dirty="0">
                <a:latin typeface="Tahoma"/>
                <a:cs typeface="Tahoma"/>
              </a:rPr>
              <a:t> </a:t>
            </a:r>
            <a:r>
              <a:rPr sz="1950" dirty="0">
                <a:latin typeface="Tahoma"/>
                <a:cs typeface="Tahoma"/>
              </a:rPr>
              <a:t>an</a:t>
            </a:r>
            <a:r>
              <a:rPr sz="1950" spc="-70" dirty="0">
                <a:latin typeface="Tahoma"/>
                <a:cs typeface="Tahoma"/>
              </a:rPr>
              <a:t> </a:t>
            </a:r>
            <a:r>
              <a:rPr sz="1950" spc="75" dirty="0">
                <a:latin typeface="Tahoma"/>
                <a:cs typeface="Tahoma"/>
              </a:rPr>
              <a:t>autonomous</a:t>
            </a:r>
            <a:r>
              <a:rPr sz="1950" spc="-70" dirty="0">
                <a:latin typeface="Tahoma"/>
                <a:cs typeface="Tahoma"/>
              </a:rPr>
              <a:t> </a:t>
            </a:r>
            <a:r>
              <a:rPr sz="1950" dirty="0">
                <a:latin typeface="Tahoma"/>
                <a:cs typeface="Tahoma"/>
              </a:rPr>
              <a:t>entity</a:t>
            </a:r>
            <a:r>
              <a:rPr sz="1950" spc="-60" dirty="0">
                <a:latin typeface="Tahoma"/>
                <a:cs typeface="Tahoma"/>
              </a:rPr>
              <a:t> </a:t>
            </a:r>
            <a:r>
              <a:rPr sz="1950" spc="50" dirty="0">
                <a:latin typeface="Tahoma"/>
                <a:cs typeface="Tahoma"/>
              </a:rPr>
              <a:t>which</a:t>
            </a:r>
            <a:r>
              <a:rPr sz="1950" spc="-70" dirty="0">
                <a:latin typeface="Tahoma"/>
                <a:cs typeface="Tahoma"/>
              </a:rPr>
              <a:t> </a:t>
            </a:r>
            <a:r>
              <a:rPr sz="1950" dirty="0">
                <a:latin typeface="Tahoma"/>
                <a:cs typeface="Tahoma"/>
              </a:rPr>
              <a:t>act</a:t>
            </a:r>
            <a:r>
              <a:rPr sz="1950" spc="-70" dirty="0">
                <a:latin typeface="Tahoma"/>
                <a:cs typeface="Tahoma"/>
              </a:rPr>
              <a:t> </a:t>
            </a:r>
            <a:r>
              <a:rPr sz="1950" spc="110" dirty="0">
                <a:latin typeface="Tahoma"/>
                <a:cs typeface="Tahoma"/>
              </a:rPr>
              <a:t>upon</a:t>
            </a:r>
            <a:r>
              <a:rPr sz="1950" spc="-75" dirty="0">
                <a:latin typeface="Tahoma"/>
                <a:cs typeface="Tahoma"/>
              </a:rPr>
              <a:t> </a:t>
            </a:r>
            <a:r>
              <a:rPr sz="1950" spc="-25" dirty="0">
                <a:latin typeface="Tahoma"/>
                <a:cs typeface="Tahoma"/>
              </a:rPr>
              <a:t>an 	</a:t>
            </a:r>
            <a:r>
              <a:rPr sz="1950" spc="50" dirty="0">
                <a:latin typeface="Tahoma"/>
                <a:cs typeface="Tahoma"/>
              </a:rPr>
              <a:t>environment</a:t>
            </a:r>
            <a:r>
              <a:rPr sz="1950" spc="10" dirty="0">
                <a:latin typeface="Tahoma"/>
                <a:cs typeface="Tahoma"/>
              </a:rPr>
              <a:t> </a:t>
            </a:r>
            <a:r>
              <a:rPr sz="1950" spc="60" dirty="0">
                <a:latin typeface="Tahoma"/>
                <a:cs typeface="Tahoma"/>
              </a:rPr>
              <a:t>using</a:t>
            </a:r>
            <a:r>
              <a:rPr sz="1950" spc="-15" dirty="0">
                <a:latin typeface="Tahoma"/>
                <a:cs typeface="Tahoma"/>
              </a:rPr>
              <a:t> </a:t>
            </a:r>
            <a:r>
              <a:rPr sz="1950" dirty="0">
                <a:latin typeface="Tahoma"/>
                <a:cs typeface="Tahoma"/>
              </a:rPr>
              <a:t>sensors </a:t>
            </a:r>
            <a:r>
              <a:rPr sz="1950" spc="80" dirty="0">
                <a:latin typeface="Tahoma"/>
                <a:cs typeface="Tahoma"/>
              </a:rPr>
              <a:t>and</a:t>
            </a:r>
            <a:r>
              <a:rPr sz="1950" spc="-15" dirty="0">
                <a:latin typeface="Tahoma"/>
                <a:cs typeface="Tahoma"/>
              </a:rPr>
              <a:t> </a:t>
            </a:r>
            <a:r>
              <a:rPr sz="1950" dirty="0">
                <a:latin typeface="Tahoma"/>
                <a:cs typeface="Tahoma"/>
              </a:rPr>
              <a:t>actuators</a:t>
            </a:r>
            <a:r>
              <a:rPr sz="1950" spc="20" dirty="0">
                <a:latin typeface="Tahoma"/>
                <a:cs typeface="Tahoma"/>
              </a:rPr>
              <a:t> </a:t>
            </a:r>
            <a:r>
              <a:rPr sz="1950" dirty="0">
                <a:latin typeface="Tahoma"/>
                <a:cs typeface="Tahoma"/>
              </a:rPr>
              <a:t>for</a:t>
            </a:r>
            <a:r>
              <a:rPr sz="1950" spc="-25" dirty="0">
                <a:latin typeface="Tahoma"/>
                <a:cs typeface="Tahoma"/>
              </a:rPr>
              <a:t> </a:t>
            </a:r>
            <a:r>
              <a:rPr sz="1950" spc="60" dirty="0">
                <a:latin typeface="Tahoma"/>
                <a:cs typeface="Tahoma"/>
              </a:rPr>
              <a:t>achieving</a:t>
            </a:r>
            <a:r>
              <a:rPr sz="1950" dirty="0">
                <a:latin typeface="Tahoma"/>
                <a:cs typeface="Tahoma"/>
              </a:rPr>
              <a:t> </a:t>
            </a:r>
            <a:r>
              <a:rPr sz="1950" spc="50" dirty="0">
                <a:latin typeface="Tahoma"/>
                <a:cs typeface="Tahoma"/>
              </a:rPr>
              <a:t>goals.</a:t>
            </a:r>
            <a:r>
              <a:rPr sz="1950" spc="-135" dirty="0">
                <a:latin typeface="Tahoma"/>
                <a:cs typeface="Tahoma"/>
              </a:rPr>
              <a:t> </a:t>
            </a:r>
            <a:r>
              <a:rPr sz="1950" spc="105" dirty="0">
                <a:latin typeface="Tahoma"/>
                <a:cs typeface="Tahoma"/>
              </a:rPr>
              <a:t>An 	</a:t>
            </a:r>
            <a:r>
              <a:rPr sz="1950" spc="50" dirty="0">
                <a:latin typeface="Tahoma"/>
                <a:cs typeface="Tahoma"/>
              </a:rPr>
              <a:t>intelligent</a:t>
            </a:r>
            <a:r>
              <a:rPr sz="1950" spc="-15" dirty="0">
                <a:latin typeface="Tahoma"/>
                <a:cs typeface="Tahoma"/>
              </a:rPr>
              <a:t> </a:t>
            </a:r>
            <a:r>
              <a:rPr sz="1950" spc="65" dirty="0">
                <a:latin typeface="Tahoma"/>
                <a:cs typeface="Tahoma"/>
              </a:rPr>
              <a:t>agent</a:t>
            </a:r>
            <a:r>
              <a:rPr sz="1950" spc="-15" dirty="0">
                <a:latin typeface="Tahoma"/>
                <a:cs typeface="Tahoma"/>
              </a:rPr>
              <a:t> </a:t>
            </a:r>
            <a:r>
              <a:rPr sz="1950" dirty="0">
                <a:latin typeface="Tahoma"/>
                <a:cs typeface="Tahoma"/>
              </a:rPr>
              <a:t>may</a:t>
            </a:r>
            <a:r>
              <a:rPr sz="1950" spc="-30" dirty="0">
                <a:latin typeface="Tahoma"/>
                <a:cs typeface="Tahoma"/>
              </a:rPr>
              <a:t> </a:t>
            </a:r>
            <a:r>
              <a:rPr sz="1950" dirty="0">
                <a:latin typeface="Tahoma"/>
                <a:cs typeface="Tahoma"/>
              </a:rPr>
              <a:t>learn</a:t>
            </a:r>
            <a:r>
              <a:rPr sz="1950" spc="-20" dirty="0">
                <a:latin typeface="Tahoma"/>
                <a:cs typeface="Tahoma"/>
              </a:rPr>
              <a:t> </a:t>
            </a:r>
            <a:r>
              <a:rPr sz="1950" dirty="0">
                <a:latin typeface="Tahoma"/>
                <a:cs typeface="Tahoma"/>
              </a:rPr>
              <a:t>from</a:t>
            </a:r>
            <a:r>
              <a:rPr sz="1950" spc="-10" dirty="0">
                <a:latin typeface="Tahoma"/>
                <a:cs typeface="Tahoma"/>
              </a:rPr>
              <a:t> </a:t>
            </a:r>
            <a:r>
              <a:rPr sz="1950" dirty="0">
                <a:latin typeface="Tahoma"/>
                <a:cs typeface="Tahoma"/>
              </a:rPr>
              <a:t>the</a:t>
            </a:r>
            <a:r>
              <a:rPr sz="1950" spc="-40" dirty="0">
                <a:latin typeface="Tahoma"/>
                <a:cs typeface="Tahoma"/>
              </a:rPr>
              <a:t> </a:t>
            </a:r>
            <a:r>
              <a:rPr sz="1950" spc="50" dirty="0">
                <a:latin typeface="Tahoma"/>
                <a:cs typeface="Tahoma"/>
              </a:rPr>
              <a:t>environment</a:t>
            </a:r>
            <a:r>
              <a:rPr sz="1950" dirty="0">
                <a:latin typeface="Tahoma"/>
                <a:cs typeface="Tahoma"/>
              </a:rPr>
              <a:t> </a:t>
            </a:r>
            <a:r>
              <a:rPr sz="1950" spc="55" dirty="0">
                <a:latin typeface="Tahoma"/>
                <a:cs typeface="Tahoma"/>
              </a:rPr>
              <a:t>to</a:t>
            </a:r>
            <a:r>
              <a:rPr sz="1950" spc="-25" dirty="0">
                <a:latin typeface="Tahoma"/>
                <a:cs typeface="Tahoma"/>
              </a:rPr>
              <a:t> </a:t>
            </a:r>
            <a:r>
              <a:rPr sz="1950" spc="55" dirty="0">
                <a:latin typeface="Tahoma"/>
                <a:cs typeface="Tahoma"/>
              </a:rPr>
              <a:t>achieve</a:t>
            </a:r>
            <a:r>
              <a:rPr sz="1950" spc="-15" dirty="0">
                <a:latin typeface="Tahoma"/>
                <a:cs typeface="Tahoma"/>
              </a:rPr>
              <a:t> </a:t>
            </a:r>
            <a:r>
              <a:rPr sz="1950" spc="-10" dirty="0">
                <a:latin typeface="Tahoma"/>
                <a:cs typeface="Tahoma"/>
              </a:rPr>
              <a:t>their 	</a:t>
            </a:r>
            <a:r>
              <a:rPr sz="1950" spc="50" dirty="0">
                <a:latin typeface="Tahoma"/>
                <a:cs typeface="Tahoma"/>
              </a:rPr>
              <a:t>goals.</a:t>
            </a:r>
            <a:r>
              <a:rPr sz="1950" spc="-165" dirty="0">
                <a:latin typeface="Tahoma"/>
                <a:cs typeface="Tahoma"/>
              </a:rPr>
              <a:t> </a:t>
            </a:r>
            <a:r>
              <a:rPr sz="1950" spc="195" dirty="0">
                <a:latin typeface="Tahoma"/>
                <a:cs typeface="Tahoma"/>
              </a:rPr>
              <a:t>A</a:t>
            </a:r>
            <a:r>
              <a:rPr sz="1950" spc="-100" dirty="0">
                <a:latin typeface="Tahoma"/>
                <a:cs typeface="Tahoma"/>
              </a:rPr>
              <a:t> </a:t>
            </a:r>
            <a:r>
              <a:rPr sz="1950" dirty="0">
                <a:solidFill>
                  <a:srgbClr val="FF0000"/>
                </a:solidFill>
                <a:latin typeface="Tahoma"/>
                <a:cs typeface="Tahoma"/>
              </a:rPr>
              <a:t>thermostat</a:t>
            </a:r>
            <a:r>
              <a:rPr sz="1950" spc="-15" dirty="0">
                <a:latin typeface="Tahoma"/>
                <a:cs typeface="Tahoma"/>
              </a:rPr>
              <a:t> </a:t>
            </a:r>
            <a:r>
              <a:rPr sz="1950" dirty="0">
                <a:latin typeface="Tahoma"/>
                <a:cs typeface="Tahoma"/>
              </a:rPr>
              <a:t>is</a:t>
            </a:r>
            <a:r>
              <a:rPr sz="1950" spc="-50" dirty="0">
                <a:latin typeface="Tahoma"/>
                <a:cs typeface="Tahoma"/>
              </a:rPr>
              <a:t> </a:t>
            </a:r>
            <a:r>
              <a:rPr sz="1950" dirty="0">
                <a:latin typeface="Tahoma"/>
                <a:cs typeface="Tahoma"/>
              </a:rPr>
              <a:t>an</a:t>
            </a:r>
            <a:r>
              <a:rPr sz="1950" spc="-45" dirty="0">
                <a:latin typeface="Tahoma"/>
                <a:cs typeface="Tahoma"/>
              </a:rPr>
              <a:t> </a:t>
            </a:r>
            <a:r>
              <a:rPr sz="1950" spc="70" dirty="0">
                <a:latin typeface="Tahoma"/>
                <a:cs typeface="Tahoma"/>
              </a:rPr>
              <a:t>example</a:t>
            </a:r>
            <a:r>
              <a:rPr sz="1950" spc="-40" dirty="0">
                <a:latin typeface="Tahoma"/>
                <a:cs typeface="Tahoma"/>
              </a:rPr>
              <a:t> </a:t>
            </a:r>
            <a:r>
              <a:rPr sz="1950" spc="50" dirty="0">
                <a:latin typeface="Tahoma"/>
                <a:cs typeface="Tahoma"/>
              </a:rPr>
              <a:t>of</a:t>
            </a:r>
            <a:r>
              <a:rPr sz="1950" spc="10" dirty="0">
                <a:latin typeface="Tahoma"/>
                <a:cs typeface="Tahoma"/>
              </a:rPr>
              <a:t> </a:t>
            </a:r>
            <a:r>
              <a:rPr sz="1950" dirty="0">
                <a:latin typeface="Tahoma"/>
                <a:cs typeface="Tahoma"/>
              </a:rPr>
              <a:t>an</a:t>
            </a:r>
            <a:r>
              <a:rPr sz="1950" spc="-45" dirty="0">
                <a:latin typeface="Tahoma"/>
                <a:cs typeface="Tahoma"/>
              </a:rPr>
              <a:t> </a:t>
            </a:r>
            <a:r>
              <a:rPr sz="1950" spc="50" dirty="0">
                <a:latin typeface="Tahoma"/>
                <a:cs typeface="Tahoma"/>
              </a:rPr>
              <a:t>intelligent</a:t>
            </a:r>
            <a:r>
              <a:rPr sz="1950" spc="-50" dirty="0">
                <a:latin typeface="Tahoma"/>
                <a:cs typeface="Tahoma"/>
              </a:rPr>
              <a:t> </a:t>
            </a:r>
            <a:r>
              <a:rPr sz="1950" spc="-10" dirty="0">
                <a:latin typeface="Tahoma"/>
                <a:cs typeface="Tahoma"/>
              </a:rPr>
              <a:t>agent.</a:t>
            </a:r>
            <a:endParaRPr sz="1950" dirty="0">
              <a:latin typeface="Tahoma"/>
              <a:cs typeface="Tahoma"/>
            </a:endParaRPr>
          </a:p>
          <a:p>
            <a:pPr marL="200660" indent="-187960">
              <a:lnSpc>
                <a:spcPct val="100000"/>
              </a:lnSpc>
              <a:spcBef>
                <a:spcPts val="860"/>
              </a:spcBef>
              <a:buFont typeface="Arial MT"/>
              <a:buChar char="•"/>
              <a:tabLst>
                <a:tab pos="200660" algn="l"/>
              </a:tabLst>
            </a:pPr>
            <a:r>
              <a:rPr sz="1950" spc="70" dirty="0">
                <a:latin typeface="Tahoma"/>
                <a:cs typeface="Tahoma"/>
              </a:rPr>
              <a:t>Following</a:t>
            </a:r>
            <a:r>
              <a:rPr sz="1950" spc="-65" dirty="0">
                <a:latin typeface="Tahoma"/>
                <a:cs typeface="Tahoma"/>
              </a:rPr>
              <a:t> </a:t>
            </a:r>
            <a:r>
              <a:rPr sz="1950" dirty="0">
                <a:latin typeface="Tahoma"/>
                <a:cs typeface="Tahoma"/>
              </a:rPr>
              <a:t>are</a:t>
            </a:r>
            <a:r>
              <a:rPr sz="1950" spc="-5" dirty="0">
                <a:latin typeface="Tahoma"/>
                <a:cs typeface="Tahoma"/>
              </a:rPr>
              <a:t> </a:t>
            </a:r>
            <a:r>
              <a:rPr sz="1950" dirty="0">
                <a:latin typeface="Tahoma"/>
                <a:cs typeface="Tahoma"/>
              </a:rPr>
              <a:t>the</a:t>
            </a:r>
            <a:r>
              <a:rPr sz="1950" spc="-25" dirty="0">
                <a:latin typeface="Tahoma"/>
                <a:cs typeface="Tahoma"/>
              </a:rPr>
              <a:t> </a:t>
            </a:r>
            <a:r>
              <a:rPr sz="1950" spc="55" dirty="0">
                <a:latin typeface="Tahoma"/>
                <a:cs typeface="Tahoma"/>
              </a:rPr>
              <a:t>main</a:t>
            </a:r>
            <a:r>
              <a:rPr sz="1950" spc="-5" dirty="0">
                <a:latin typeface="Tahoma"/>
                <a:cs typeface="Tahoma"/>
              </a:rPr>
              <a:t> </a:t>
            </a:r>
            <a:r>
              <a:rPr sz="1950" dirty="0">
                <a:latin typeface="Tahoma"/>
                <a:cs typeface="Tahoma"/>
              </a:rPr>
              <a:t>four</a:t>
            </a:r>
            <a:r>
              <a:rPr sz="1950" spc="-35" dirty="0">
                <a:latin typeface="Tahoma"/>
                <a:cs typeface="Tahoma"/>
              </a:rPr>
              <a:t> </a:t>
            </a:r>
            <a:r>
              <a:rPr sz="1950" dirty="0">
                <a:latin typeface="Tahoma"/>
                <a:cs typeface="Tahoma"/>
              </a:rPr>
              <a:t>rules</a:t>
            </a:r>
            <a:r>
              <a:rPr sz="1950" spc="-30" dirty="0">
                <a:latin typeface="Tahoma"/>
                <a:cs typeface="Tahoma"/>
              </a:rPr>
              <a:t> </a:t>
            </a:r>
            <a:r>
              <a:rPr sz="1950" dirty="0">
                <a:latin typeface="Tahoma"/>
                <a:cs typeface="Tahoma"/>
              </a:rPr>
              <a:t>for</a:t>
            </a:r>
            <a:r>
              <a:rPr sz="1950" spc="-25" dirty="0">
                <a:latin typeface="Tahoma"/>
                <a:cs typeface="Tahoma"/>
              </a:rPr>
              <a:t> </a:t>
            </a:r>
            <a:r>
              <a:rPr sz="1950" dirty="0">
                <a:latin typeface="Tahoma"/>
                <a:cs typeface="Tahoma"/>
              </a:rPr>
              <a:t>an</a:t>
            </a:r>
            <a:r>
              <a:rPr sz="1950" spc="-50" dirty="0">
                <a:latin typeface="Tahoma"/>
                <a:cs typeface="Tahoma"/>
              </a:rPr>
              <a:t> </a:t>
            </a:r>
            <a:r>
              <a:rPr sz="1950" dirty="0">
                <a:latin typeface="Tahoma"/>
                <a:cs typeface="Tahoma"/>
              </a:rPr>
              <a:t>AI</a:t>
            </a:r>
            <a:r>
              <a:rPr sz="1950" spc="-35" dirty="0">
                <a:latin typeface="Tahoma"/>
                <a:cs typeface="Tahoma"/>
              </a:rPr>
              <a:t> </a:t>
            </a:r>
            <a:r>
              <a:rPr sz="1950" spc="-10" dirty="0">
                <a:latin typeface="Tahoma"/>
                <a:cs typeface="Tahoma"/>
              </a:rPr>
              <a:t>agent:</a:t>
            </a:r>
            <a:endParaRPr sz="1950" dirty="0">
              <a:latin typeface="Tahoma"/>
              <a:cs typeface="Tahoma"/>
            </a:endParaRPr>
          </a:p>
          <a:p>
            <a:pPr marL="200660" indent="-187960">
              <a:lnSpc>
                <a:spcPct val="100000"/>
              </a:lnSpc>
              <a:spcBef>
                <a:spcPts val="870"/>
              </a:spcBef>
              <a:buFont typeface="Arial MT"/>
              <a:buChar char="•"/>
              <a:tabLst>
                <a:tab pos="200660" algn="l"/>
              </a:tabLst>
            </a:pPr>
            <a:r>
              <a:rPr sz="1950" b="1" spc="-45" dirty="0">
                <a:latin typeface="Tahoma"/>
                <a:cs typeface="Tahoma"/>
              </a:rPr>
              <a:t>Rule</a:t>
            </a:r>
            <a:r>
              <a:rPr sz="1950" b="1" spc="-10" dirty="0">
                <a:latin typeface="Tahoma"/>
                <a:cs typeface="Tahoma"/>
              </a:rPr>
              <a:t> </a:t>
            </a:r>
            <a:r>
              <a:rPr sz="1950" b="1" dirty="0">
                <a:latin typeface="Tahoma"/>
                <a:cs typeface="Tahoma"/>
              </a:rPr>
              <a:t>1:</a:t>
            </a:r>
            <a:r>
              <a:rPr sz="1950" b="1" spc="-40" dirty="0">
                <a:latin typeface="Tahoma"/>
                <a:cs typeface="Tahoma"/>
              </a:rPr>
              <a:t> </a:t>
            </a:r>
            <a:r>
              <a:rPr sz="1950" spc="125" dirty="0">
                <a:latin typeface="Tahoma"/>
                <a:cs typeface="Tahoma"/>
              </a:rPr>
              <a:t>An</a:t>
            </a:r>
            <a:r>
              <a:rPr sz="1950" spc="-100" dirty="0">
                <a:latin typeface="Tahoma"/>
                <a:cs typeface="Tahoma"/>
              </a:rPr>
              <a:t> </a:t>
            </a:r>
            <a:r>
              <a:rPr sz="1950" dirty="0">
                <a:latin typeface="Tahoma"/>
                <a:cs typeface="Tahoma"/>
              </a:rPr>
              <a:t>AI</a:t>
            </a:r>
            <a:r>
              <a:rPr sz="1950" spc="-40" dirty="0">
                <a:latin typeface="Tahoma"/>
                <a:cs typeface="Tahoma"/>
              </a:rPr>
              <a:t> </a:t>
            </a:r>
            <a:r>
              <a:rPr sz="1950" spc="60" dirty="0">
                <a:latin typeface="Tahoma"/>
                <a:cs typeface="Tahoma"/>
              </a:rPr>
              <a:t>agent</a:t>
            </a:r>
            <a:r>
              <a:rPr sz="1950" spc="-25" dirty="0">
                <a:latin typeface="Tahoma"/>
                <a:cs typeface="Tahoma"/>
              </a:rPr>
              <a:t> </a:t>
            </a:r>
            <a:r>
              <a:rPr sz="1950" dirty="0">
                <a:latin typeface="Tahoma"/>
                <a:cs typeface="Tahoma"/>
              </a:rPr>
              <a:t>must</a:t>
            </a:r>
            <a:r>
              <a:rPr sz="1950" spc="-40" dirty="0">
                <a:latin typeface="Tahoma"/>
                <a:cs typeface="Tahoma"/>
              </a:rPr>
              <a:t> </a:t>
            </a:r>
            <a:r>
              <a:rPr sz="1950" dirty="0">
                <a:latin typeface="Tahoma"/>
                <a:cs typeface="Tahoma"/>
              </a:rPr>
              <a:t>have</a:t>
            </a:r>
            <a:r>
              <a:rPr sz="1950" spc="-25" dirty="0">
                <a:latin typeface="Tahoma"/>
                <a:cs typeface="Tahoma"/>
              </a:rPr>
              <a:t> </a:t>
            </a:r>
            <a:r>
              <a:rPr sz="1950" dirty="0">
                <a:latin typeface="Tahoma"/>
                <a:cs typeface="Tahoma"/>
              </a:rPr>
              <a:t>the</a:t>
            </a:r>
            <a:r>
              <a:rPr sz="1950" spc="-40" dirty="0">
                <a:latin typeface="Tahoma"/>
                <a:cs typeface="Tahoma"/>
              </a:rPr>
              <a:t> </a:t>
            </a:r>
            <a:r>
              <a:rPr sz="1950" dirty="0">
                <a:latin typeface="Tahoma"/>
                <a:cs typeface="Tahoma"/>
              </a:rPr>
              <a:t>ability</a:t>
            </a:r>
            <a:r>
              <a:rPr sz="1950" spc="-30" dirty="0">
                <a:latin typeface="Tahoma"/>
                <a:cs typeface="Tahoma"/>
              </a:rPr>
              <a:t> </a:t>
            </a:r>
            <a:r>
              <a:rPr sz="1950" spc="55" dirty="0">
                <a:latin typeface="Tahoma"/>
                <a:cs typeface="Tahoma"/>
              </a:rPr>
              <a:t>to</a:t>
            </a:r>
            <a:r>
              <a:rPr sz="1950" spc="-40" dirty="0">
                <a:latin typeface="Tahoma"/>
                <a:cs typeface="Tahoma"/>
              </a:rPr>
              <a:t> </a:t>
            </a:r>
            <a:r>
              <a:rPr sz="1950" spc="60" dirty="0">
                <a:latin typeface="Tahoma"/>
                <a:cs typeface="Tahoma"/>
              </a:rPr>
              <a:t>perceive</a:t>
            </a:r>
            <a:r>
              <a:rPr sz="1950" spc="-15" dirty="0">
                <a:latin typeface="Tahoma"/>
                <a:cs typeface="Tahoma"/>
              </a:rPr>
              <a:t> </a:t>
            </a:r>
            <a:r>
              <a:rPr sz="1950" dirty="0">
                <a:latin typeface="Tahoma"/>
                <a:cs typeface="Tahoma"/>
              </a:rPr>
              <a:t>the</a:t>
            </a:r>
            <a:r>
              <a:rPr sz="1950" spc="-40" dirty="0">
                <a:latin typeface="Tahoma"/>
                <a:cs typeface="Tahoma"/>
              </a:rPr>
              <a:t> </a:t>
            </a:r>
            <a:r>
              <a:rPr sz="1950" spc="-10" dirty="0">
                <a:latin typeface="Tahoma"/>
                <a:cs typeface="Tahoma"/>
              </a:rPr>
              <a:t>environment.</a:t>
            </a:r>
            <a:endParaRPr sz="1950" dirty="0">
              <a:latin typeface="Tahoma"/>
              <a:cs typeface="Tahoma"/>
            </a:endParaRPr>
          </a:p>
          <a:p>
            <a:pPr marL="200660" indent="-187960">
              <a:lnSpc>
                <a:spcPct val="100000"/>
              </a:lnSpc>
              <a:spcBef>
                <a:spcPts val="850"/>
              </a:spcBef>
              <a:buFont typeface="Arial MT"/>
              <a:buChar char="•"/>
              <a:tabLst>
                <a:tab pos="200660" algn="l"/>
              </a:tabLst>
            </a:pPr>
            <a:r>
              <a:rPr sz="1950" b="1" spc="-45" dirty="0">
                <a:latin typeface="Tahoma"/>
                <a:cs typeface="Tahoma"/>
              </a:rPr>
              <a:t>Rule</a:t>
            </a:r>
            <a:r>
              <a:rPr sz="1950" b="1" spc="-50" dirty="0">
                <a:latin typeface="Tahoma"/>
                <a:cs typeface="Tahoma"/>
              </a:rPr>
              <a:t> </a:t>
            </a:r>
            <a:r>
              <a:rPr sz="1950" b="1" spc="-10" dirty="0">
                <a:latin typeface="Tahoma"/>
                <a:cs typeface="Tahoma"/>
              </a:rPr>
              <a:t>2:</a:t>
            </a:r>
            <a:r>
              <a:rPr sz="1950" b="1" spc="-90" dirty="0">
                <a:latin typeface="Tahoma"/>
                <a:cs typeface="Tahoma"/>
              </a:rPr>
              <a:t> </a:t>
            </a:r>
            <a:r>
              <a:rPr sz="1950" dirty="0">
                <a:latin typeface="Tahoma"/>
                <a:cs typeface="Tahoma"/>
              </a:rPr>
              <a:t>The</a:t>
            </a:r>
            <a:r>
              <a:rPr sz="1950" spc="-95" dirty="0">
                <a:latin typeface="Tahoma"/>
                <a:cs typeface="Tahoma"/>
              </a:rPr>
              <a:t> </a:t>
            </a:r>
            <a:r>
              <a:rPr sz="1950" spc="55" dirty="0">
                <a:latin typeface="Tahoma"/>
                <a:cs typeface="Tahoma"/>
              </a:rPr>
              <a:t>observation</a:t>
            </a:r>
            <a:r>
              <a:rPr sz="1950" spc="-45" dirty="0">
                <a:latin typeface="Tahoma"/>
                <a:cs typeface="Tahoma"/>
              </a:rPr>
              <a:t> </a:t>
            </a:r>
            <a:r>
              <a:rPr sz="1950" dirty="0">
                <a:latin typeface="Tahoma"/>
                <a:cs typeface="Tahoma"/>
              </a:rPr>
              <a:t>must</a:t>
            </a:r>
            <a:r>
              <a:rPr sz="1950" spc="-75" dirty="0">
                <a:latin typeface="Tahoma"/>
                <a:cs typeface="Tahoma"/>
              </a:rPr>
              <a:t> </a:t>
            </a:r>
            <a:r>
              <a:rPr sz="1950" spc="135" dirty="0">
                <a:latin typeface="Tahoma"/>
                <a:cs typeface="Tahoma"/>
              </a:rPr>
              <a:t>be</a:t>
            </a:r>
            <a:r>
              <a:rPr sz="1950" spc="-85" dirty="0">
                <a:latin typeface="Tahoma"/>
                <a:cs typeface="Tahoma"/>
              </a:rPr>
              <a:t> </a:t>
            </a:r>
            <a:r>
              <a:rPr sz="1950" spc="75" dirty="0">
                <a:latin typeface="Tahoma"/>
                <a:cs typeface="Tahoma"/>
              </a:rPr>
              <a:t>used</a:t>
            </a:r>
            <a:r>
              <a:rPr sz="1950" spc="-85" dirty="0">
                <a:latin typeface="Tahoma"/>
                <a:cs typeface="Tahoma"/>
              </a:rPr>
              <a:t> </a:t>
            </a:r>
            <a:r>
              <a:rPr sz="1950" spc="55" dirty="0">
                <a:latin typeface="Tahoma"/>
                <a:cs typeface="Tahoma"/>
              </a:rPr>
              <a:t>to</a:t>
            </a:r>
            <a:r>
              <a:rPr sz="1950" spc="-80" dirty="0">
                <a:latin typeface="Tahoma"/>
                <a:cs typeface="Tahoma"/>
              </a:rPr>
              <a:t> </a:t>
            </a:r>
            <a:r>
              <a:rPr sz="1950" spc="50" dirty="0">
                <a:latin typeface="Tahoma"/>
                <a:cs typeface="Tahoma"/>
              </a:rPr>
              <a:t>make</a:t>
            </a:r>
            <a:r>
              <a:rPr sz="1950" spc="-85" dirty="0">
                <a:latin typeface="Tahoma"/>
                <a:cs typeface="Tahoma"/>
              </a:rPr>
              <a:t> </a:t>
            </a:r>
            <a:r>
              <a:rPr sz="1950" spc="45" dirty="0">
                <a:latin typeface="Tahoma"/>
                <a:cs typeface="Tahoma"/>
              </a:rPr>
              <a:t>decisions.</a:t>
            </a:r>
            <a:endParaRPr sz="1950" dirty="0">
              <a:latin typeface="Tahoma"/>
              <a:cs typeface="Tahoma"/>
            </a:endParaRPr>
          </a:p>
          <a:p>
            <a:pPr marL="200660" indent="-187960">
              <a:lnSpc>
                <a:spcPct val="100000"/>
              </a:lnSpc>
              <a:spcBef>
                <a:spcPts val="865"/>
              </a:spcBef>
              <a:buFont typeface="Arial MT"/>
              <a:buChar char="•"/>
              <a:tabLst>
                <a:tab pos="200660" algn="l"/>
              </a:tabLst>
            </a:pPr>
            <a:r>
              <a:rPr sz="1950" b="1" spc="-45" dirty="0">
                <a:latin typeface="Tahoma"/>
                <a:cs typeface="Tahoma"/>
              </a:rPr>
              <a:t>Rule</a:t>
            </a:r>
            <a:r>
              <a:rPr sz="1950" b="1" spc="-50" dirty="0">
                <a:latin typeface="Tahoma"/>
                <a:cs typeface="Tahoma"/>
              </a:rPr>
              <a:t> </a:t>
            </a:r>
            <a:r>
              <a:rPr sz="1950" b="1" dirty="0">
                <a:latin typeface="Tahoma"/>
                <a:cs typeface="Tahoma"/>
              </a:rPr>
              <a:t>3:</a:t>
            </a:r>
            <a:r>
              <a:rPr sz="1950" b="1" spc="-45" dirty="0">
                <a:latin typeface="Tahoma"/>
                <a:cs typeface="Tahoma"/>
              </a:rPr>
              <a:t> </a:t>
            </a:r>
            <a:r>
              <a:rPr sz="1950" spc="75" dirty="0">
                <a:latin typeface="Tahoma"/>
                <a:cs typeface="Tahoma"/>
              </a:rPr>
              <a:t>Decision</a:t>
            </a:r>
            <a:r>
              <a:rPr sz="1950" spc="-85" dirty="0">
                <a:latin typeface="Tahoma"/>
                <a:cs typeface="Tahoma"/>
              </a:rPr>
              <a:t> </a:t>
            </a:r>
            <a:r>
              <a:rPr sz="1950" spc="80" dirty="0">
                <a:latin typeface="Tahoma"/>
                <a:cs typeface="Tahoma"/>
              </a:rPr>
              <a:t>should</a:t>
            </a:r>
            <a:r>
              <a:rPr sz="1950" spc="-95" dirty="0">
                <a:latin typeface="Tahoma"/>
                <a:cs typeface="Tahoma"/>
              </a:rPr>
              <a:t> </a:t>
            </a:r>
            <a:r>
              <a:rPr sz="1950" dirty="0">
                <a:latin typeface="Tahoma"/>
                <a:cs typeface="Tahoma"/>
              </a:rPr>
              <a:t>result</a:t>
            </a:r>
            <a:r>
              <a:rPr sz="1950" spc="-85" dirty="0">
                <a:latin typeface="Tahoma"/>
                <a:cs typeface="Tahoma"/>
              </a:rPr>
              <a:t> </a:t>
            </a:r>
            <a:r>
              <a:rPr sz="1950" spc="50" dirty="0">
                <a:latin typeface="Tahoma"/>
                <a:cs typeface="Tahoma"/>
              </a:rPr>
              <a:t>in</a:t>
            </a:r>
            <a:r>
              <a:rPr sz="1950" spc="-75" dirty="0">
                <a:latin typeface="Tahoma"/>
                <a:cs typeface="Tahoma"/>
              </a:rPr>
              <a:t> </a:t>
            </a:r>
            <a:r>
              <a:rPr sz="1950" dirty="0">
                <a:latin typeface="Tahoma"/>
                <a:cs typeface="Tahoma"/>
              </a:rPr>
              <a:t>an</a:t>
            </a:r>
            <a:r>
              <a:rPr sz="1950" spc="-75" dirty="0">
                <a:latin typeface="Tahoma"/>
                <a:cs typeface="Tahoma"/>
              </a:rPr>
              <a:t> </a:t>
            </a:r>
            <a:r>
              <a:rPr sz="1950" spc="-10" dirty="0">
                <a:latin typeface="Tahoma"/>
                <a:cs typeface="Tahoma"/>
              </a:rPr>
              <a:t>action.</a:t>
            </a:r>
            <a:endParaRPr sz="1950" dirty="0">
              <a:latin typeface="Tahoma"/>
              <a:cs typeface="Tahoma"/>
            </a:endParaRPr>
          </a:p>
          <a:p>
            <a:pPr marL="200660" indent="-187960">
              <a:lnSpc>
                <a:spcPct val="100000"/>
              </a:lnSpc>
              <a:spcBef>
                <a:spcPts val="860"/>
              </a:spcBef>
              <a:buFont typeface="Arial MT"/>
              <a:buChar char="•"/>
              <a:tabLst>
                <a:tab pos="200660" algn="l"/>
              </a:tabLst>
            </a:pPr>
            <a:r>
              <a:rPr sz="1950" b="1" spc="-45" dirty="0">
                <a:latin typeface="Tahoma"/>
                <a:cs typeface="Tahoma"/>
              </a:rPr>
              <a:t>Rule</a:t>
            </a:r>
            <a:r>
              <a:rPr sz="1950" b="1" dirty="0">
                <a:latin typeface="Tahoma"/>
                <a:cs typeface="Tahoma"/>
              </a:rPr>
              <a:t> </a:t>
            </a:r>
            <a:r>
              <a:rPr sz="1950" b="1" spc="-10" dirty="0">
                <a:latin typeface="Tahoma"/>
                <a:cs typeface="Tahoma"/>
              </a:rPr>
              <a:t>4:</a:t>
            </a:r>
            <a:r>
              <a:rPr sz="1950" b="1" spc="-45" dirty="0">
                <a:latin typeface="Tahoma"/>
                <a:cs typeface="Tahoma"/>
              </a:rPr>
              <a:t> </a:t>
            </a:r>
            <a:r>
              <a:rPr sz="1950" dirty="0">
                <a:latin typeface="Tahoma"/>
                <a:cs typeface="Tahoma"/>
              </a:rPr>
              <a:t>The</a:t>
            </a:r>
            <a:r>
              <a:rPr sz="1950" spc="-45" dirty="0">
                <a:latin typeface="Tahoma"/>
                <a:cs typeface="Tahoma"/>
              </a:rPr>
              <a:t> </a:t>
            </a:r>
            <a:r>
              <a:rPr sz="1950" dirty="0">
                <a:latin typeface="Tahoma"/>
                <a:cs typeface="Tahoma"/>
              </a:rPr>
              <a:t>action</a:t>
            </a:r>
            <a:r>
              <a:rPr sz="1950" spc="-25" dirty="0">
                <a:latin typeface="Tahoma"/>
                <a:cs typeface="Tahoma"/>
              </a:rPr>
              <a:t> </a:t>
            </a:r>
            <a:r>
              <a:rPr sz="1950" dirty="0">
                <a:latin typeface="Tahoma"/>
                <a:cs typeface="Tahoma"/>
              </a:rPr>
              <a:t>taken</a:t>
            </a:r>
            <a:r>
              <a:rPr sz="1950" spc="-15" dirty="0">
                <a:latin typeface="Tahoma"/>
                <a:cs typeface="Tahoma"/>
              </a:rPr>
              <a:t> </a:t>
            </a:r>
            <a:r>
              <a:rPr sz="1950" spc="80" dirty="0">
                <a:latin typeface="Tahoma"/>
                <a:cs typeface="Tahoma"/>
              </a:rPr>
              <a:t>by</a:t>
            </a:r>
            <a:r>
              <a:rPr sz="1950" spc="-35" dirty="0">
                <a:latin typeface="Tahoma"/>
                <a:cs typeface="Tahoma"/>
              </a:rPr>
              <a:t> </a:t>
            </a:r>
            <a:r>
              <a:rPr sz="1950" dirty="0">
                <a:latin typeface="Tahoma"/>
                <a:cs typeface="Tahoma"/>
              </a:rPr>
              <a:t>an</a:t>
            </a:r>
            <a:r>
              <a:rPr sz="1950" spc="-65" dirty="0">
                <a:latin typeface="Tahoma"/>
                <a:cs typeface="Tahoma"/>
              </a:rPr>
              <a:t> </a:t>
            </a:r>
            <a:r>
              <a:rPr sz="1950" dirty="0">
                <a:latin typeface="Tahoma"/>
                <a:cs typeface="Tahoma"/>
              </a:rPr>
              <a:t>AI</a:t>
            </a:r>
            <a:r>
              <a:rPr sz="1950" spc="-30" dirty="0">
                <a:latin typeface="Tahoma"/>
                <a:cs typeface="Tahoma"/>
              </a:rPr>
              <a:t> </a:t>
            </a:r>
            <a:r>
              <a:rPr sz="1950" spc="60" dirty="0">
                <a:latin typeface="Tahoma"/>
                <a:cs typeface="Tahoma"/>
              </a:rPr>
              <a:t>agent</a:t>
            </a:r>
            <a:r>
              <a:rPr sz="1950" spc="-35" dirty="0">
                <a:latin typeface="Tahoma"/>
                <a:cs typeface="Tahoma"/>
              </a:rPr>
              <a:t> </a:t>
            </a:r>
            <a:r>
              <a:rPr sz="1950" dirty="0">
                <a:latin typeface="Tahoma"/>
                <a:cs typeface="Tahoma"/>
              </a:rPr>
              <a:t>must</a:t>
            </a:r>
            <a:r>
              <a:rPr sz="1950" spc="-10" dirty="0">
                <a:latin typeface="Tahoma"/>
                <a:cs typeface="Tahoma"/>
              </a:rPr>
              <a:t> </a:t>
            </a:r>
            <a:r>
              <a:rPr sz="1950" spc="135" dirty="0">
                <a:latin typeface="Tahoma"/>
                <a:cs typeface="Tahoma"/>
              </a:rPr>
              <a:t>be</a:t>
            </a:r>
            <a:r>
              <a:rPr sz="1950" spc="-45" dirty="0">
                <a:latin typeface="Tahoma"/>
                <a:cs typeface="Tahoma"/>
              </a:rPr>
              <a:t> </a:t>
            </a:r>
            <a:r>
              <a:rPr sz="1950" dirty="0">
                <a:latin typeface="Tahoma"/>
                <a:cs typeface="Tahoma"/>
              </a:rPr>
              <a:t>a</a:t>
            </a:r>
            <a:r>
              <a:rPr sz="1950" spc="-25" dirty="0">
                <a:latin typeface="Tahoma"/>
                <a:cs typeface="Tahoma"/>
              </a:rPr>
              <a:t> </a:t>
            </a:r>
            <a:r>
              <a:rPr sz="1950" dirty="0">
                <a:latin typeface="Tahoma"/>
                <a:cs typeface="Tahoma"/>
              </a:rPr>
              <a:t>rational </a:t>
            </a:r>
            <a:r>
              <a:rPr sz="1950" spc="-10" dirty="0">
                <a:latin typeface="Tahoma"/>
                <a:cs typeface="Tahoma"/>
              </a:rPr>
              <a:t>action.</a:t>
            </a:r>
            <a:endParaRPr sz="1950" dirty="0">
              <a:latin typeface="Tahoma"/>
              <a:cs typeface="Tahom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685800" y="1674796"/>
            <a:ext cx="7908951" cy="507831"/>
          </a:xfrm>
        </p:spPr>
        <p:txBody>
          <a:bodyPr/>
          <a:lstStyle/>
          <a:p>
            <a:r>
              <a:rPr lang="en-US" dirty="0"/>
              <a:t>Rational agents</a:t>
            </a:r>
          </a:p>
        </p:txBody>
      </p:sp>
      <p:sp>
        <p:nvSpPr>
          <p:cNvPr id="12291" name="Rectangle 3"/>
          <p:cNvSpPr>
            <a:spLocks noGrp="1" noChangeArrowheads="1"/>
          </p:cNvSpPr>
          <p:nvPr>
            <p:ph type="body" idx="1"/>
          </p:nvPr>
        </p:nvSpPr>
        <p:spPr>
          <a:xfrm>
            <a:off x="628174" y="2819400"/>
            <a:ext cx="4762500" cy="4732020"/>
          </a:xfrm>
        </p:spPr>
        <p:txBody>
          <a:bodyPr>
            <a:normAutofit/>
          </a:bodyPr>
          <a:lstStyle/>
          <a:p>
            <a:pPr>
              <a:lnSpc>
                <a:spcPct val="80000"/>
              </a:lnSpc>
            </a:pPr>
            <a:r>
              <a:rPr lang="en-US" sz="2400" dirty="0"/>
              <a:t>The goal of AI is to build rational agents</a:t>
            </a:r>
          </a:p>
          <a:p>
            <a:pPr>
              <a:lnSpc>
                <a:spcPct val="80000"/>
              </a:lnSpc>
            </a:pPr>
            <a:endParaRPr lang="en-US" sz="2400" dirty="0"/>
          </a:p>
          <a:p>
            <a:pPr>
              <a:lnSpc>
                <a:spcPct val="80000"/>
              </a:lnSpc>
            </a:pPr>
            <a:r>
              <a:rPr lang="en-US" sz="2400" dirty="0"/>
              <a:t>An </a:t>
            </a:r>
            <a:r>
              <a:rPr lang="en-US" sz="2400" dirty="0">
                <a:solidFill>
                  <a:srgbClr val="FF0000"/>
                </a:solidFill>
              </a:rPr>
              <a:t>agent</a:t>
            </a:r>
            <a:r>
              <a:rPr lang="en-US" sz="2400" dirty="0"/>
              <a:t> is an entity that perceives and acts</a:t>
            </a:r>
          </a:p>
          <a:p>
            <a:pPr>
              <a:lnSpc>
                <a:spcPct val="80000"/>
              </a:lnSpc>
            </a:pPr>
            <a:r>
              <a:rPr lang="en-US" sz="2400" dirty="0"/>
              <a:t>An agent is a function from percept histories to actions:</a:t>
            </a:r>
          </a:p>
          <a:p>
            <a:pPr algn="ctr">
              <a:lnSpc>
                <a:spcPct val="80000"/>
              </a:lnSpc>
              <a:buFontTx/>
              <a:buNone/>
            </a:pPr>
            <a:r>
              <a:rPr lang="en-US" sz="2400" dirty="0"/>
              <a:t>[</a:t>
            </a:r>
            <a:r>
              <a:rPr lang="en-US" sz="2400" i="1" dirty="0"/>
              <a:t>f</a:t>
            </a:r>
            <a:r>
              <a:rPr lang="en-US" sz="2400" dirty="0"/>
              <a:t>: </a:t>
            </a:r>
            <a:r>
              <a:rPr lang="en-US" sz="2400" dirty="0">
                <a:latin typeface="Monotype Corsiva" pitchFamily="66" charset="0"/>
              </a:rPr>
              <a:t>P*</a:t>
            </a:r>
            <a:r>
              <a:rPr lang="en-US" sz="2400" dirty="0"/>
              <a:t> </a:t>
            </a:r>
            <a:r>
              <a:rPr lang="en-US" sz="2400" dirty="0">
                <a:sym typeface="Wingdings" pitchFamily="2" charset="2"/>
              </a:rPr>
              <a:t></a:t>
            </a:r>
            <a:r>
              <a:rPr lang="en-US" sz="2400" dirty="0"/>
              <a:t> </a:t>
            </a:r>
            <a:r>
              <a:rPr lang="en-US" sz="2400" dirty="0">
                <a:latin typeface="Monotype Corsiva" pitchFamily="66" charset="0"/>
              </a:rPr>
              <a:t>A</a:t>
            </a:r>
            <a:r>
              <a:rPr lang="en-US" sz="2400" dirty="0"/>
              <a:t>]
</a:t>
            </a:r>
          </a:p>
          <a:p>
            <a:pPr>
              <a:lnSpc>
                <a:spcPct val="80000"/>
              </a:lnSpc>
            </a:pPr>
            <a:r>
              <a:rPr lang="en-US" sz="2400" dirty="0"/>
              <a:t>For any given class of environments and tasks, we seek the agent (or class of agents) with the best performance</a:t>
            </a:r>
          </a:p>
          <a:p>
            <a:pPr>
              <a:lnSpc>
                <a:spcPct val="80000"/>
              </a:lnSpc>
            </a:pPr>
            <a:endParaRPr lang="en-US" sz="2640"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3048" y="1706880"/>
            <a:ext cx="4725353" cy="54168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283357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409193" y="1053845"/>
          <a:ext cx="9228455" cy="1664335"/>
        </p:xfrm>
        <a:graphic>
          <a:graphicData uri="http://schemas.openxmlformats.org/drawingml/2006/table">
            <a:tbl>
              <a:tblPr firstRow="1" bandRow="1">
                <a:tableStyleId>{2D5ABB26-0587-4C30-8999-92F81FD0307C}</a:tableStyleId>
              </a:tblPr>
              <a:tblGrid>
                <a:gridCol w="72390">
                  <a:extLst>
                    <a:ext uri="{9D8B030D-6E8A-4147-A177-3AD203B41FA5}">
                      <a16:colId xmlns:a16="http://schemas.microsoft.com/office/drawing/2014/main" val="20000"/>
                    </a:ext>
                  </a:extLst>
                </a:gridCol>
                <a:gridCol w="9156065">
                  <a:extLst>
                    <a:ext uri="{9D8B030D-6E8A-4147-A177-3AD203B41FA5}">
                      <a16:colId xmlns:a16="http://schemas.microsoft.com/office/drawing/2014/main" val="20001"/>
                    </a:ext>
                  </a:extLst>
                </a:gridCol>
              </a:tblGrid>
              <a:tr h="650240">
                <a:tc gridSpan="2">
                  <a:txBody>
                    <a:bodyPr/>
                    <a:lstStyle/>
                    <a:p>
                      <a:pPr>
                        <a:lnSpc>
                          <a:spcPct val="100000"/>
                        </a:lnSpc>
                      </a:pPr>
                      <a:endParaRPr sz="2200">
                        <a:latin typeface="Times New Roman"/>
                        <a:cs typeface="Times New Roman"/>
                      </a:endParaRPr>
                    </a:p>
                  </a:txBody>
                  <a:tcPr marL="0" marR="0" marT="0" marB="0">
                    <a:lnL w="9525">
                      <a:solidFill>
                        <a:srgbClr val="E9E9E9"/>
                      </a:solidFill>
                      <a:prstDash val="solid"/>
                    </a:lnL>
                    <a:lnR w="9525">
                      <a:solidFill>
                        <a:srgbClr val="E9E9E9"/>
                      </a:solidFill>
                      <a:prstDash val="solid"/>
                    </a:lnR>
                    <a:lnT w="9525">
                      <a:solidFill>
                        <a:srgbClr val="E9E9E9"/>
                      </a:solidFill>
                      <a:prstDash val="solid"/>
                    </a:lnT>
                  </a:tcPr>
                </a:tc>
                <a:tc hMerge="1">
                  <a:txBody>
                    <a:bodyPr/>
                    <a:lstStyle/>
                    <a:p>
                      <a:endParaRPr/>
                    </a:p>
                  </a:txBody>
                  <a:tcPr marL="0" marR="0" marT="0" marB="0"/>
                </a:tc>
                <a:extLst>
                  <a:ext uri="{0D108BD9-81ED-4DB2-BD59-A6C34878D82A}">
                    <a16:rowId xmlns:a16="http://schemas.microsoft.com/office/drawing/2014/main" val="10000"/>
                  </a:ext>
                </a:extLst>
              </a:tr>
              <a:tr h="580390">
                <a:tc>
                  <a:txBody>
                    <a:bodyPr/>
                    <a:lstStyle/>
                    <a:p>
                      <a:pPr>
                        <a:lnSpc>
                          <a:spcPct val="100000"/>
                        </a:lnSpc>
                      </a:pPr>
                      <a:endParaRPr sz="2200">
                        <a:latin typeface="Times New Roman"/>
                        <a:cs typeface="Times New Roman"/>
                      </a:endParaRPr>
                    </a:p>
                  </a:txBody>
                  <a:tcPr marL="0" marR="0" marT="0" marB="0">
                    <a:lnL w="9525">
                      <a:solidFill>
                        <a:srgbClr val="E9E9E9"/>
                      </a:solidFill>
                      <a:prstDash val="solid"/>
                    </a:lnL>
                    <a:solidFill>
                      <a:srgbClr val="F5A700"/>
                    </a:solidFill>
                  </a:tcPr>
                </a:tc>
                <a:tc>
                  <a:txBody>
                    <a:bodyPr/>
                    <a:lstStyle/>
                    <a:p>
                      <a:pPr marL="476884">
                        <a:lnSpc>
                          <a:spcPts val="3900"/>
                        </a:lnSpc>
                      </a:pPr>
                      <a:r>
                        <a:rPr sz="3300" b="1" dirty="0">
                          <a:latin typeface="Tahoma"/>
                          <a:cs typeface="Tahoma"/>
                        </a:rPr>
                        <a:t>PEAS</a:t>
                      </a:r>
                      <a:r>
                        <a:rPr sz="3300" b="1" spc="-245" dirty="0">
                          <a:latin typeface="Tahoma"/>
                          <a:cs typeface="Tahoma"/>
                        </a:rPr>
                        <a:t> </a:t>
                      </a:r>
                      <a:r>
                        <a:rPr sz="3300" b="1" spc="-20" dirty="0">
                          <a:latin typeface="Tahoma"/>
                          <a:cs typeface="Tahoma"/>
                        </a:rPr>
                        <a:t>Representation</a:t>
                      </a:r>
                      <a:endParaRPr sz="3300">
                        <a:latin typeface="Tahoma"/>
                        <a:cs typeface="Tahoma"/>
                      </a:endParaRPr>
                    </a:p>
                  </a:txBody>
                  <a:tcPr marL="0" marR="0" marT="0" marB="0">
                    <a:lnR w="9525">
                      <a:solidFill>
                        <a:srgbClr val="E9E9E9"/>
                      </a:solidFill>
                      <a:prstDash val="solid"/>
                    </a:lnR>
                  </a:tcPr>
                </a:tc>
                <a:extLst>
                  <a:ext uri="{0D108BD9-81ED-4DB2-BD59-A6C34878D82A}">
                    <a16:rowId xmlns:a16="http://schemas.microsoft.com/office/drawing/2014/main" val="10001"/>
                  </a:ext>
                </a:extLst>
              </a:tr>
              <a:tr h="433705">
                <a:tc gridSpan="2">
                  <a:txBody>
                    <a:bodyPr/>
                    <a:lstStyle/>
                    <a:p>
                      <a:pPr>
                        <a:lnSpc>
                          <a:spcPct val="100000"/>
                        </a:lnSpc>
                      </a:pPr>
                      <a:endParaRPr sz="2200">
                        <a:latin typeface="Times New Roman"/>
                        <a:cs typeface="Times New Roman"/>
                      </a:endParaRPr>
                    </a:p>
                  </a:txBody>
                  <a:tcPr marL="0" marR="0" marT="0" marB="0">
                    <a:lnL w="9525">
                      <a:solidFill>
                        <a:srgbClr val="E9E9E9"/>
                      </a:solidFill>
                      <a:prstDash val="solid"/>
                    </a:lnL>
                    <a:lnR w="9525">
                      <a:solidFill>
                        <a:srgbClr val="E9E9E9"/>
                      </a:solidFill>
                      <a:prstDash val="solid"/>
                    </a:lnR>
                    <a:lnB w="9525">
                      <a:solidFill>
                        <a:srgbClr val="E9E9E9"/>
                      </a:solidFill>
                      <a:prstDash val="solid"/>
                    </a:lnB>
                  </a:tcPr>
                </a:tc>
                <a:tc hMerge="1">
                  <a:txBody>
                    <a:bodyPr/>
                    <a:lstStyle/>
                    <a:p>
                      <a:endParaRPr/>
                    </a:p>
                  </a:txBody>
                  <a:tcPr marL="0" marR="0" marT="0" marB="0"/>
                </a:tc>
                <a:extLst>
                  <a:ext uri="{0D108BD9-81ED-4DB2-BD59-A6C34878D82A}">
                    <a16:rowId xmlns:a16="http://schemas.microsoft.com/office/drawing/2014/main" val="10002"/>
                  </a:ext>
                </a:extLst>
              </a:tr>
            </a:tbl>
          </a:graphicData>
        </a:graphic>
      </p:graphicFrame>
      <p:sp>
        <p:nvSpPr>
          <p:cNvPr id="3" name="object 3"/>
          <p:cNvSpPr txBox="1"/>
          <p:nvPr/>
        </p:nvSpPr>
        <p:spPr>
          <a:xfrm>
            <a:off x="982459" y="3080975"/>
            <a:ext cx="8210550" cy="2830830"/>
          </a:xfrm>
          <a:prstGeom prst="rect">
            <a:avLst/>
          </a:prstGeom>
        </p:spPr>
        <p:txBody>
          <a:bodyPr vert="horz" wrap="square" lIns="0" tIns="45720" rIns="0" bIns="0" rtlCol="0">
            <a:spAutoFit/>
          </a:bodyPr>
          <a:lstStyle/>
          <a:p>
            <a:pPr marL="201295" marR="5080" indent="-189230">
              <a:lnSpc>
                <a:spcPct val="89800"/>
              </a:lnSpc>
              <a:spcBef>
                <a:spcPts val="360"/>
              </a:spcBef>
              <a:buFont typeface="Arial MT"/>
              <a:buChar char="•"/>
              <a:tabLst>
                <a:tab pos="201295" algn="l"/>
              </a:tabLst>
            </a:pPr>
            <a:r>
              <a:rPr sz="2150" spc="85" dirty="0">
                <a:latin typeface="Tahoma"/>
                <a:cs typeface="Tahoma"/>
              </a:rPr>
              <a:t>PEAS</a:t>
            </a:r>
            <a:r>
              <a:rPr sz="2150" spc="-90" dirty="0">
                <a:latin typeface="Tahoma"/>
                <a:cs typeface="Tahoma"/>
              </a:rPr>
              <a:t> </a:t>
            </a:r>
            <a:r>
              <a:rPr sz="2150" dirty="0">
                <a:latin typeface="Tahoma"/>
                <a:cs typeface="Tahoma"/>
              </a:rPr>
              <a:t>is</a:t>
            </a:r>
            <a:r>
              <a:rPr sz="2150" spc="-75" dirty="0">
                <a:latin typeface="Tahoma"/>
                <a:cs typeface="Tahoma"/>
              </a:rPr>
              <a:t> </a:t>
            </a:r>
            <a:r>
              <a:rPr sz="2150" dirty="0">
                <a:latin typeface="Tahoma"/>
                <a:cs typeface="Tahoma"/>
              </a:rPr>
              <a:t>a</a:t>
            </a:r>
            <a:r>
              <a:rPr sz="2150" spc="-80" dirty="0">
                <a:latin typeface="Tahoma"/>
                <a:cs typeface="Tahoma"/>
              </a:rPr>
              <a:t> </a:t>
            </a:r>
            <a:r>
              <a:rPr sz="2150" dirty="0">
                <a:latin typeface="Tahoma"/>
                <a:cs typeface="Tahoma"/>
              </a:rPr>
              <a:t>type</a:t>
            </a:r>
            <a:r>
              <a:rPr sz="2150" spc="-95" dirty="0">
                <a:latin typeface="Tahoma"/>
                <a:cs typeface="Tahoma"/>
              </a:rPr>
              <a:t> </a:t>
            </a:r>
            <a:r>
              <a:rPr sz="2150" dirty="0">
                <a:latin typeface="Tahoma"/>
                <a:cs typeface="Tahoma"/>
              </a:rPr>
              <a:t>of</a:t>
            </a:r>
            <a:r>
              <a:rPr sz="2150" spc="-35" dirty="0">
                <a:latin typeface="Tahoma"/>
                <a:cs typeface="Tahoma"/>
              </a:rPr>
              <a:t> </a:t>
            </a:r>
            <a:r>
              <a:rPr sz="2150" spc="100" dirty="0">
                <a:latin typeface="Tahoma"/>
                <a:cs typeface="Tahoma"/>
              </a:rPr>
              <a:t>model</a:t>
            </a:r>
            <a:r>
              <a:rPr sz="2150" spc="-65" dirty="0">
                <a:latin typeface="Tahoma"/>
                <a:cs typeface="Tahoma"/>
              </a:rPr>
              <a:t> </a:t>
            </a:r>
            <a:r>
              <a:rPr sz="2150" spc="90" dirty="0">
                <a:latin typeface="Tahoma"/>
                <a:cs typeface="Tahoma"/>
              </a:rPr>
              <a:t>on</a:t>
            </a:r>
            <a:r>
              <a:rPr sz="2150" spc="-95" dirty="0">
                <a:latin typeface="Tahoma"/>
                <a:cs typeface="Tahoma"/>
              </a:rPr>
              <a:t> </a:t>
            </a:r>
            <a:r>
              <a:rPr sz="2150" dirty="0">
                <a:latin typeface="Tahoma"/>
                <a:cs typeface="Tahoma"/>
              </a:rPr>
              <a:t>which</a:t>
            </a:r>
            <a:r>
              <a:rPr sz="2150" spc="-110" dirty="0">
                <a:latin typeface="Tahoma"/>
                <a:cs typeface="Tahoma"/>
              </a:rPr>
              <a:t> </a:t>
            </a:r>
            <a:r>
              <a:rPr sz="2150" dirty="0">
                <a:latin typeface="Tahoma"/>
                <a:cs typeface="Tahoma"/>
              </a:rPr>
              <a:t>an</a:t>
            </a:r>
            <a:r>
              <a:rPr sz="2150" spc="-120" dirty="0">
                <a:latin typeface="Tahoma"/>
                <a:cs typeface="Tahoma"/>
              </a:rPr>
              <a:t> </a:t>
            </a:r>
            <a:r>
              <a:rPr sz="2150" spc="-10" dirty="0">
                <a:latin typeface="Tahoma"/>
                <a:cs typeface="Tahoma"/>
              </a:rPr>
              <a:t>AI</a:t>
            </a:r>
            <a:r>
              <a:rPr sz="2150" spc="-70" dirty="0">
                <a:latin typeface="Tahoma"/>
                <a:cs typeface="Tahoma"/>
              </a:rPr>
              <a:t> </a:t>
            </a:r>
            <a:r>
              <a:rPr sz="2150" spc="50" dirty="0">
                <a:latin typeface="Tahoma"/>
                <a:cs typeface="Tahoma"/>
              </a:rPr>
              <a:t>agent</a:t>
            </a:r>
            <a:r>
              <a:rPr sz="2150" spc="-100" dirty="0">
                <a:latin typeface="Tahoma"/>
                <a:cs typeface="Tahoma"/>
              </a:rPr>
              <a:t> </a:t>
            </a:r>
            <a:r>
              <a:rPr sz="2150" dirty="0">
                <a:latin typeface="Tahoma"/>
                <a:cs typeface="Tahoma"/>
              </a:rPr>
              <a:t>works</a:t>
            </a:r>
            <a:r>
              <a:rPr sz="2150" spc="-75" dirty="0">
                <a:latin typeface="Tahoma"/>
                <a:cs typeface="Tahoma"/>
              </a:rPr>
              <a:t> </a:t>
            </a:r>
            <a:r>
              <a:rPr sz="2150" spc="60" dirty="0">
                <a:latin typeface="Tahoma"/>
                <a:cs typeface="Tahoma"/>
              </a:rPr>
              <a:t>upon.</a:t>
            </a:r>
            <a:r>
              <a:rPr sz="2150" spc="-190" dirty="0">
                <a:latin typeface="Tahoma"/>
                <a:cs typeface="Tahoma"/>
              </a:rPr>
              <a:t> </a:t>
            </a:r>
            <a:r>
              <a:rPr sz="2150" spc="50" dirty="0">
                <a:latin typeface="Tahoma"/>
                <a:cs typeface="Tahoma"/>
              </a:rPr>
              <a:t>When </a:t>
            </a:r>
            <a:r>
              <a:rPr sz="2150" dirty="0">
                <a:latin typeface="Tahoma"/>
                <a:cs typeface="Tahoma"/>
              </a:rPr>
              <a:t>we</a:t>
            </a:r>
            <a:r>
              <a:rPr sz="2150" spc="-70" dirty="0">
                <a:latin typeface="Tahoma"/>
                <a:cs typeface="Tahoma"/>
              </a:rPr>
              <a:t> </a:t>
            </a:r>
            <a:r>
              <a:rPr sz="2150" spc="55" dirty="0">
                <a:latin typeface="Tahoma"/>
                <a:cs typeface="Tahoma"/>
              </a:rPr>
              <a:t>define</a:t>
            </a:r>
            <a:r>
              <a:rPr sz="2150" spc="-55" dirty="0">
                <a:latin typeface="Tahoma"/>
                <a:cs typeface="Tahoma"/>
              </a:rPr>
              <a:t> </a:t>
            </a:r>
            <a:r>
              <a:rPr sz="2150" dirty="0">
                <a:latin typeface="Tahoma"/>
                <a:cs typeface="Tahoma"/>
              </a:rPr>
              <a:t>an</a:t>
            </a:r>
            <a:r>
              <a:rPr sz="2150" spc="-110" dirty="0">
                <a:latin typeface="Tahoma"/>
                <a:cs typeface="Tahoma"/>
              </a:rPr>
              <a:t> </a:t>
            </a:r>
            <a:r>
              <a:rPr sz="2150" spc="-20" dirty="0">
                <a:latin typeface="Tahoma"/>
                <a:cs typeface="Tahoma"/>
              </a:rPr>
              <a:t>AI</a:t>
            </a:r>
            <a:r>
              <a:rPr sz="2150" spc="-70" dirty="0">
                <a:latin typeface="Tahoma"/>
                <a:cs typeface="Tahoma"/>
              </a:rPr>
              <a:t> </a:t>
            </a:r>
            <a:r>
              <a:rPr sz="2150" spc="50" dirty="0">
                <a:latin typeface="Tahoma"/>
                <a:cs typeface="Tahoma"/>
              </a:rPr>
              <a:t>agent</a:t>
            </a:r>
            <a:r>
              <a:rPr sz="2150" spc="-55" dirty="0">
                <a:latin typeface="Tahoma"/>
                <a:cs typeface="Tahoma"/>
              </a:rPr>
              <a:t> </a:t>
            </a:r>
            <a:r>
              <a:rPr sz="2150" spc="60" dirty="0">
                <a:latin typeface="Tahoma"/>
                <a:cs typeface="Tahoma"/>
              </a:rPr>
              <a:t>or</a:t>
            </a:r>
            <a:r>
              <a:rPr sz="2150" spc="-55" dirty="0">
                <a:latin typeface="Tahoma"/>
                <a:cs typeface="Tahoma"/>
              </a:rPr>
              <a:t> </a:t>
            </a:r>
            <a:r>
              <a:rPr sz="2150" dirty="0">
                <a:latin typeface="Tahoma"/>
                <a:cs typeface="Tahoma"/>
              </a:rPr>
              <a:t>rational</a:t>
            </a:r>
            <a:r>
              <a:rPr sz="2150" spc="-85" dirty="0">
                <a:latin typeface="Tahoma"/>
                <a:cs typeface="Tahoma"/>
              </a:rPr>
              <a:t> </a:t>
            </a:r>
            <a:r>
              <a:rPr sz="2150" dirty="0">
                <a:latin typeface="Tahoma"/>
                <a:cs typeface="Tahoma"/>
              </a:rPr>
              <a:t>agent,</a:t>
            </a:r>
            <a:r>
              <a:rPr sz="2150" spc="-145" dirty="0">
                <a:latin typeface="Tahoma"/>
                <a:cs typeface="Tahoma"/>
              </a:rPr>
              <a:t> </a:t>
            </a:r>
            <a:r>
              <a:rPr sz="2150" dirty="0">
                <a:latin typeface="Tahoma"/>
                <a:cs typeface="Tahoma"/>
              </a:rPr>
              <a:t>then</a:t>
            </a:r>
            <a:r>
              <a:rPr sz="2150" spc="-55" dirty="0">
                <a:latin typeface="Tahoma"/>
                <a:cs typeface="Tahoma"/>
              </a:rPr>
              <a:t> </a:t>
            </a:r>
            <a:r>
              <a:rPr sz="2150" dirty="0">
                <a:latin typeface="Tahoma"/>
                <a:cs typeface="Tahoma"/>
              </a:rPr>
              <a:t>we</a:t>
            </a:r>
            <a:r>
              <a:rPr sz="2150" spc="-75" dirty="0">
                <a:latin typeface="Tahoma"/>
                <a:cs typeface="Tahoma"/>
              </a:rPr>
              <a:t> </a:t>
            </a:r>
            <a:r>
              <a:rPr sz="2150" dirty="0">
                <a:latin typeface="Tahoma"/>
                <a:cs typeface="Tahoma"/>
              </a:rPr>
              <a:t>can</a:t>
            </a:r>
            <a:r>
              <a:rPr sz="2150" spc="-75" dirty="0">
                <a:latin typeface="Tahoma"/>
                <a:cs typeface="Tahoma"/>
              </a:rPr>
              <a:t> </a:t>
            </a:r>
            <a:r>
              <a:rPr sz="2150" spc="90" dirty="0">
                <a:latin typeface="Tahoma"/>
                <a:cs typeface="Tahoma"/>
              </a:rPr>
              <a:t>group</a:t>
            </a:r>
            <a:r>
              <a:rPr sz="2150" spc="-70" dirty="0">
                <a:latin typeface="Tahoma"/>
                <a:cs typeface="Tahoma"/>
              </a:rPr>
              <a:t> </a:t>
            </a:r>
            <a:r>
              <a:rPr sz="2150" spc="-25" dirty="0">
                <a:latin typeface="Tahoma"/>
                <a:cs typeface="Tahoma"/>
              </a:rPr>
              <a:t>its </a:t>
            </a:r>
            <a:r>
              <a:rPr sz="2150" spc="50" dirty="0">
                <a:latin typeface="Tahoma"/>
                <a:cs typeface="Tahoma"/>
              </a:rPr>
              <a:t>properties</a:t>
            </a:r>
            <a:r>
              <a:rPr sz="2150" spc="-100" dirty="0">
                <a:latin typeface="Tahoma"/>
                <a:cs typeface="Tahoma"/>
              </a:rPr>
              <a:t> </a:t>
            </a:r>
            <a:r>
              <a:rPr sz="2150" spc="65" dirty="0">
                <a:latin typeface="Tahoma"/>
                <a:cs typeface="Tahoma"/>
              </a:rPr>
              <a:t>under</a:t>
            </a:r>
            <a:r>
              <a:rPr sz="2150" spc="-65" dirty="0">
                <a:latin typeface="Tahoma"/>
                <a:cs typeface="Tahoma"/>
              </a:rPr>
              <a:t> </a:t>
            </a:r>
            <a:r>
              <a:rPr sz="2150" spc="85" dirty="0">
                <a:latin typeface="Tahoma"/>
                <a:cs typeface="Tahoma"/>
              </a:rPr>
              <a:t>PEAS</a:t>
            </a:r>
            <a:r>
              <a:rPr sz="2150" spc="-85" dirty="0">
                <a:latin typeface="Tahoma"/>
                <a:cs typeface="Tahoma"/>
              </a:rPr>
              <a:t> </a:t>
            </a:r>
            <a:r>
              <a:rPr sz="2150" dirty="0">
                <a:latin typeface="Tahoma"/>
                <a:cs typeface="Tahoma"/>
              </a:rPr>
              <a:t>representation</a:t>
            </a:r>
            <a:r>
              <a:rPr sz="2150" spc="-75" dirty="0">
                <a:latin typeface="Tahoma"/>
                <a:cs typeface="Tahoma"/>
              </a:rPr>
              <a:t> </a:t>
            </a:r>
            <a:r>
              <a:rPr sz="2150" spc="70" dirty="0">
                <a:latin typeface="Tahoma"/>
                <a:cs typeface="Tahoma"/>
              </a:rPr>
              <a:t>model.</a:t>
            </a:r>
            <a:r>
              <a:rPr sz="2150" spc="-155" dirty="0">
                <a:latin typeface="Tahoma"/>
                <a:cs typeface="Tahoma"/>
              </a:rPr>
              <a:t> </a:t>
            </a:r>
            <a:r>
              <a:rPr sz="2150" spc="-150" dirty="0">
                <a:latin typeface="Tahoma"/>
                <a:cs typeface="Tahoma"/>
              </a:rPr>
              <a:t>It</a:t>
            </a:r>
            <a:r>
              <a:rPr sz="2150" spc="-70" dirty="0">
                <a:latin typeface="Tahoma"/>
                <a:cs typeface="Tahoma"/>
              </a:rPr>
              <a:t> </a:t>
            </a:r>
            <a:r>
              <a:rPr sz="2150" dirty="0">
                <a:latin typeface="Tahoma"/>
                <a:cs typeface="Tahoma"/>
              </a:rPr>
              <a:t>is</a:t>
            </a:r>
            <a:r>
              <a:rPr sz="2150" spc="-85" dirty="0">
                <a:latin typeface="Tahoma"/>
                <a:cs typeface="Tahoma"/>
              </a:rPr>
              <a:t> </a:t>
            </a:r>
            <a:r>
              <a:rPr sz="2150" spc="90" dirty="0">
                <a:latin typeface="Tahoma"/>
                <a:cs typeface="Tahoma"/>
              </a:rPr>
              <a:t>made</a:t>
            </a:r>
            <a:r>
              <a:rPr sz="2150" spc="-75" dirty="0">
                <a:latin typeface="Tahoma"/>
                <a:cs typeface="Tahoma"/>
              </a:rPr>
              <a:t> </a:t>
            </a:r>
            <a:r>
              <a:rPr sz="2150" spc="105" dirty="0">
                <a:latin typeface="Tahoma"/>
                <a:cs typeface="Tahoma"/>
              </a:rPr>
              <a:t>up</a:t>
            </a:r>
            <a:r>
              <a:rPr sz="2150" spc="-80" dirty="0">
                <a:latin typeface="Tahoma"/>
                <a:cs typeface="Tahoma"/>
              </a:rPr>
              <a:t> </a:t>
            </a:r>
            <a:r>
              <a:rPr sz="2150" spc="-25" dirty="0">
                <a:latin typeface="Tahoma"/>
                <a:cs typeface="Tahoma"/>
              </a:rPr>
              <a:t>of </a:t>
            </a:r>
            <a:r>
              <a:rPr sz="2150" dirty="0">
                <a:latin typeface="Tahoma"/>
                <a:cs typeface="Tahoma"/>
              </a:rPr>
              <a:t>four</a:t>
            </a:r>
            <a:r>
              <a:rPr sz="2150" spc="-35" dirty="0">
                <a:latin typeface="Tahoma"/>
                <a:cs typeface="Tahoma"/>
              </a:rPr>
              <a:t> </a:t>
            </a:r>
            <a:r>
              <a:rPr sz="2150" spc="-10" dirty="0">
                <a:latin typeface="Tahoma"/>
                <a:cs typeface="Tahoma"/>
              </a:rPr>
              <a:t>words:</a:t>
            </a:r>
            <a:endParaRPr sz="2150" dirty="0">
              <a:latin typeface="Tahoma"/>
              <a:cs typeface="Tahoma"/>
            </a:endParaRPr>
          </a:p>
          <a:p>
            <a:pPr marL="201295" indent="-188595">
              <a:lnSpc>
                <a:spcPct val="100000"/>
              </a:lnSpc>
              <a:spcBef>
                <a:spcPts val="560"/>
              </a:spcBef>
              <a:buFont typeface="Arial MT"/>
              <a:buChar char="•"/>
              <a:tabLst>
                <a:tab pos="201295" algn="l"/>
              </a:tabLst>
            </a:pPr>
            <a:r>
              <a:rPr sz="2150" b="1" spc="-95" dirty="0">
                <a:latin typeface="Tahoma"/>
                <a:cs typeface="Tahoma"/>
              </a:rPr>
              <a:t>P:</a:t>
            </a:r>
            <a:r>
              <a:rPr sz="2150" b="1" spc="45" dirty="0">
                <a:latin typeface="Tahoma"/>
                <a:cs typeface="Tahoma"/>
              </a:rPr>
              <a:t> </a:t>
            </a:r>
            <a:r>
              <a:rPr sz="2150" dirty="0">
                <a:latin typeface="Tahoma"/>
                <a:cs typeface="Tahoma"/>
              </a:rPr>
              <a:t>Performance</a:t>
            </a:r>
            <a:r>
              <a:rPr sz="2150" spc="35" dirty="0">
                <a:latin typeface="Tahoma"/>
                <a:cs typeface="Tahoma"/>
              </a:rPr>
              <a:t> </a:t>
            </a:r>
            <a:r>
              <a:rPr sz="2150" spc="-10" dirty="0">
                <a:latin typeface="Tahoma"/>
                <a:cs typeface="Tahoma"/>
              </a:rPr>
              <a:t>measure</a:t>
            </a:r>
            <a:endParaRPr sz="2150" dirty="0">
              <a:latin typeface="Tahoma"/>
              <a:cs typeface="Tahoma"/>
            </a:endParaRPr>
          </a:p>
          <a:p>
            <a:pPr marL="201295" indent="-188595">
              <a:lnSpc>
                <a:spcPct val="100000"/>
              </a:lnSpc>
              <a:spcBef>
                <a:spcPts val="565"/>
              </a:spcBef>
              <a:buFont typeface="Arial MT"/>
              <a:buChar char="•"/>
              <a:tabLst>
                <a:tab pos="201295" algn="l"/>
              </a:tabLst>
            </a:pPr>
            <a:r>
              <a:rPr sz="2150" b="1" spc="-45" dirty="0">
                <a:latin typeface="Tahoma"/>
                <a:cs typeface="Tahoma"/>
              </a:rPr>
              <a:t>E:</a:t>
            </a:r>
            <a:r>
              <a:rPr sz="2150" b="1" spc="-105" dirty="0">
                <a:latin typeface="Tahoma"/>
                <a:cs typeface="Tahoma"/>
              </a:rPr>
              <a:t> </a:t>
            </a:r>
            <a:r>
              <a:rPr sz="2150" spc="-10" dirty="0">
                <a:latin typeface="Tahoma"/>
                <a:cs typeface="Tahoma"/>
              </a:rPr>
              <a:t>Environment</a:t>
            </a:r>
            <a:endParaRPr sz="2150" dirty="0">
              <a:latin typeface="Tahoma"/>
              <a:cs typeface="Tahoma"/>
            </a:endParaRPr>
          </a:p>
          <a:p>
            <a:pPr marL="201295" indent="-188595">
              <a:lnSpc>
                <a:spcPct val="100000"/>
              </a:lnSpc>
              <a:spcBef>
                <a:spcPts val="555"/>
              </a:spcBef>
              <a:buFont typeface="Arial MT"/>
              <a:buChar char="•"/>
              <a:tabLst>
                <a:tab pos="201295" algn="l"/>
              </a:tabLst>
            </a:pPr>
            <a:r>
              <a:rPr sz="2150" b="1" dirty="0">
                <a:latin typeface="Tahoma"/>
                <a:cs typeface="Tahoma"/>
              </a:rPr>
              <a:t>A:</a:t>
            </a:r>
            <a:r>
              <a:rPr sz="2150" b="1" spc="-125" dirty="0">
                <a:latin typeface="Tahoma"/>
                <a:cs typeface="Tahoma"/>
              </a:rPr>
              <a:t> </a:t>
            </a:r>
            <a:r>
              <a:rPr sz="2150" spc="-10" dirty="0">
                <a:latin typeface="Tahoma"/>
                <a:cs typeface="Tahoma"/>
              </a:rPr>
              <a:t>Actuators</a:t>
            </a:r>
            <a:endParaRPr sz="2150" dirty="0">
              <a:latin typeface="Tahoma"/>
              <a:cs typeface="Tahoma"/>
            </a:endParaRPr>
          </a:p>
          <a:p>
            <a:pPr marL="201295" indent="-188595">
              <a:lnSpc>
                <a:spcPct val="100000"/>
              </a:lnSpc>
              <a:spcBef>
                <a:spcPts val="565"/>
              </a:spcBef>
              <a:buFont typeface="Arial MT"/>
              <a:buChar char="•"/>
              <a:tabLst>
                <a:tab pos="201295" algn="l"/>
              </a:tabLst>
            </a:pPr>
            <a:r>
              <a:rPr sz="2150" b="1" spc="-90" dirty="0">
                <a:latin typeface="Tahoma"/>
                <a:cs typeface="Tahoma"/>
              </a:rPr>
              <a:t>S:</a:t>
            </a:r>
            <a:r>
              <a:rPr sz="2150" b="1" spc="-95" dirty="0">
                <a:latin typeface="Tahoma"/>
                <a:cs typeface="Tahoma"/>
              </a:rPr>
              <a:t> </a:t>
            </a:r>
            <a:r>
              <a:rPr sz="2150" spc="-10" dirty="0">
                <a:latin typeface="Tahoma"/>
                <a:cs typeface="Tahoma"/>
              </a:rPr>
              <a:t>Sensors</a:t>
            </a:r>
            <a:endParaRPr sz="2150" dirty="0">
              <a:latin typeface="Tahoma"/>
              <a:cs typeface="Tahom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409193" y="1053845"/>
          <a:ext cx="9228455" cy="1664335"/>
        </p:xfrm>
        <a:graphic>
          <a:graphicData uri="http://schemas.openxmlformats.org/drawingml/2006/table">
            <a:tbl>
              <a:tblPr firstRow="1" bandRow="1">
                <a:tableStyleId>{2D5ABB26-0587-4C30-8999-92F81FD0307C}</a:tableStyleId>
              </a:tblPr>
              <a:tblGrid>
                <a:gridCol w="72390">
                  <a:extLst>
                    <a:ext uri="{9D8B030D-6E8A-4147-A177-3AD203B41FA5}">
                      <a16:colId xmlns:a16="http://schemas.microsoft.com/office/drawing/2014/main" val="20000"/>
                    </a:ext>
                  </a:extLst>
                </a:gridCol>
                <a:gridCol w="9156065">
                  <a:extLst>
                    <a:ext uri="{9D8B030D-6E8A-4147-A177-3AD203B41FA5}">
                      <a16:colId xmlns:a16="http://schemas.microsoft.com/office/drawing/2014/main" val="20001"/>
                    </a:ext>
                  </a:extLst>
                </a:gridCol>
              </a:tblGrid>
              <a:tr h="650240">
                <a:tc gridSpan="2">
                  <a:txBody>
                    <a:bodyPr/>
                    <a:lstStyle/>
                    <a:p>
                      <a:pPr marL="549275">
                        <a:lnSpc>
                          <a:spcPts val="3729"/>
                        </a:lnSpc>
                        <a:spcBef>
                          <a:spcPts val="1295"/>
                        </a:spcBef>
                      </a:pPr>
                      <a:r>
                        <a:rPr sz="3300" b="1" dirty="0">
                          <a:latin typeface="Tahoma"/>
                          <a:cs typeface="Tahoma"/>
                        </a:rPr>
                        <a:t>PEAS</a:t>
                      </a:r>
                      <a:r>
                        <a:rPr sz="3300" b="1" spc="-225" dirty="0">
                          <a:latin typeface="Tahoma"/>
                          <a:cs typeface="Tahoma"/>
                        </a:rPr>
                        <a:t> </a:t>
                      </a:r>
                      <a:r>
                        <a:rPr sz="3300" b="1" spc="-25" dirty="0">
                          <a:latin typeface="Tahoma"/>
                          <a:cs typeface="Tahoma"/>
                        </a:rPr>
                        <a:t>for</a:t>
                      </a:r>
                      <a:r>
                        <a:rPr sz="3300" b="1" spc="-210" dirty="0">
                          <a:latin typeface="Tahoma"/>
                          <a:cs typeface="Tahoma"/>
                        </a:rPr>
                        <a:t> </a:t>
                      </a:r>
                      <a:r>
                        <a:rPr sz="3300" b="1" spc="-130" dirty="0">
                          <a:latin typeface="Tahoma"/>
                          <a:cs typeface="Tahoma"/>
                        </a:rPr>
                        <a:t>self-</a:t>
                      </a:r>
                      <a:r>
                        <a:rPr sz="3300" b="1" spc="-10" dirty="0">
                          <a:latin typeface="Tahoma"/>
                          <a:cs typeface="Tahoma"/>
                        </a:rPr>
                        <a:t>driving</a:t>
                      </a:r>
                      <a:r>
                        <a:rPr sz="3300" b="1" spc="-200" dirty="0">
                          <a:latin typeface="Tahoma"/>
                          <a:cs typeface="Tahoma"/>
                        </a:rPr>
                        <a:t> </a:t>
                      </a:r>
                      <a:r>
                        <a:rPr sz="3300" b="1" spc="-10" dirty="0">
                          <a:latin typeface="Tahoma"/>
                          <a:cs typeface="Tahoma"/>
                        </a:rPr>
                        <a:t>cars:</a:t>
                      </a:r>
                      <a:endParaRPr sz="3300">
                        <a:latin typeface="Tahoma"/>
                        <a:cs typeface="Tahoma"/>
                      </a:endParaRPr>
                    </a:p>
                  </a:txBody>
                  <a:tcPr marL="0" marR="0" marT="164465" marB="0">
                    <a:lnL w="9525">
                      <a:solidFill>
                        <a:srgbClr val="E9E9E9"/>
                      </a:solidFill>
                      <a:prstDash val="solid"/>
                    </a:lnL>
                    <a:lnR w="9525">
                      <a:solidFill>
                        <a:srgbClr val="E9E9E9"/>
                      </a:solidFill>
                      <a:prstDash val="solid"/>
                    </a:lnR>
                    <a:lnT w="9525">
                      <a:solidFill>
                        <a:srgbClr val="E9E9E9"/>
                      </a:solidFill>
                      <a:prstDash val="solid"/>
                    </a:lnT>
                  </a:tcPr>
                </a:tc>
                <a:tc hMerge="1">
                  <a:txBody>
                    <a:bodyPr/>
                    <a:lstStyle/>
                    <a:p>
                      <a:endParaRPr/>
                    </a:p>
                  </a:txBody>
                  <a:tcPr marL="0" marR="0" marT="0" marB="0"/>
                </a:tc>
                <a:extLst>
                  <a:ext uri="{0D108BD9-81ED-4DB2-BD59-A6C34878D82A}">
                    <a16:rowId xmlns:a16="http://schemas.microsoft.com/office/drawing/2014/main" val="10000"/>
                  </a:ext>
                </a:extLst>
              </a:tr>
              <a:tr h="580390">
                <a:tc>
                  <a:txBody>
                    <a:bodyPr/>
                    <a:lstStyle/>
                    <a:p>
                      <a:pPr>
                        <a:lnSpc>
                          <a:spcPct val="100000"/>
                        </a:lnSpc>
                      </a:pPr>
                      <a:endParaRPr sz="2400">
                        <a:latin typeface="Times New Roman"/>
                        <a:cs typeface="Times New Roman"/>
                      </a:endParaRPr>
                    </a:p>
                  </a:txBody>
                  <a:tcPr marL="0" marR="0" marT="0" marB="0">
                    <a:lnL w="9525">
                      <a:solidFill>
                        <a:srgbClr val="E9E9E9"/>
                      </a:solidFill>
                      <a:prstDash val="solid"/>
                    </a:lnL>
                    <a:solidFill>
                      <a:srgbClr val="F5A700"/>
                    </a:solidFill>
                  </a:tcPr>
                </a:tc>
                <a:tc>
                  <a:txBody>
                    <a:bodyPr/>
                    <a:lstStyle/>
                    <a:p>
                      <a:pPr marL="664845" indent="-187960">
                        <a:lnSpc>
                          <a:spcPts val="2510"/>
                        </a:lnSpc>
                        <a:spcBef>
                          <a:spcPts val="1960"/>
                        </a:spcBef>
                        <a:buFont typeface="Arial MT"/>
                        <a:buChar char="•"/>
                        <a:tabLst>
                          <a:tab pos="664845" algn="l"/>
                        </a:tabLst>
                      </a:pPr>
                      <a:r>
                        <a:rPr sz="2300" dirty="0">
                          <a:latin typeface="Tahoma"/>
                          <a:cs typeface="Tahoma"/>
                        </a:rPr>
                        <a:t>Let's</a:t>
                      </a:r>
                      <a:r>
                        <a:rPr sz="2300" spc="-85" dirty="0">
                          <a:latin typeface="Tahoma"/>
                          <a:cs typeface="Tahoma"/>
                        </a:rPr>
                        <a:t> </a:t>
                      </a:r>
                      <a:r>
                        <a:rPr sz="2300" spc="95" dirty="0">
                          <a:latin typeface="Tahoma"/>
                          <a:cs typeface="Tahoma"/>
                        </a:rPr>
                        <a:t>suppose</a:t>
                      </a:r>
                      <a:r>
                        <a:rPr sz="2300" spc="-120" dirty="0">
                          <a:latin typeface="Tahoma"/>
                          <a:cs typeface="Tahoma"/>
                        </a:rPr>
                        <a:t> </a:t>
                      </a:r>
                      <a:r>
                        <a:rPr sz="2300" dirty="0">
                          <a:latin typeface="Tahoma"/>
                          <a:cs typeface="Tahoma"/>
                        </a:rPr>
                        <a:t>a</a:t>
                      </a:r>
                      <a:r>
                        <a:rPr sz="2300" spc="-60" dirty="0">
                          <a:latin typeface="Tahoma"/>
                          <a:cs typeface="Tahoma"/>
                        </a:rPr>
                        <a:t> </a:t>
                      </a:r>
                      <a:r>
                        <a:rPr sz="2300" dirty="0">
                          <a:latin typeface="Tahoma"/>
                          <a:cs typeface="Tahoma"/>
                        </a:rPr>
                        <a:t>self-</a:t>
                      </a:r>
                      <a:r>
                        <a:rPr sz="2300" spc="70" dirty="0">
                          <a:latin typeface="Tahoma"/>
                          <a:cs typeface="Tahoma"/>
                        </a:rPr>
                        <a:t>driving</a:t>
                      </a:r>
                      <a:r>
                        <a:rPr sz="2300" spc="-100" dirty="0">
                          <a:latin typeface="Tahoma"/>
                          <a:cs typeface="Tahoma"/>
                        </a:rPr>
                        <a:t> </a:t>
                      </a:r>
                      <a:r>
                        <a:rPr sz="2300" dirty="0">
                          <a:latin typeface="Tahoma"/>
                          <a:cs typeface="Tahoma"/>
                        </a:rPr>
                        <a:t>car</a:t>
                      </a:r>
                      <a:r>
                        <a:rPr sz="2300" spc="-80" dirty="0">
                          <a:latin typeface="Tahoma"/>
                          <a:cs typeface="Tahoma"/>
                        </a:rPr>
                        <a:t> </a:t>
                      </a:r>
                      <a:r>
                        <a:rPr sz="2300" dirty="0">
                          <a:latin typeface="Tahoma"/>
                          <a:cs typeface="Tahoma"/>
                        </a:rPr>
                        <a:t>then</a:t>
                      </a:r>
                      <a:r>
                        <a:rPr sz="2300" spc="-95" dirty="0">
                          <a:latin typeface="Tahoma"/>
                          <a:cs typeface="Tahoma"/>
                        </a:rPr>
                        <a:t> </a:t>
                      </a:r>
                      <a:r>
                        <a:rPr sz="2300" spc="100" dirty="0">
                          <a:latin typeface="Tahoma"/>
                          <a:cs typeface="Tahoma"/>
                        </a:rPr>
                        <a:t>PEAS</a:t>
                      </a:r>
                      <a:r>
                        <a:rPr sz="2300" spc="-65" dirty="0">
                          <a:latin typeface="Tahoma"/>
                          <a:cs typeface="Tahoma"/>
                        </a:rPr>
                        <a:t> </a:t>
                      </a:r>
                      <a:r>
                        <a:rPr sz="2300" spc="-10" dirty="0">
                          <a:latin typeface="Tahoma"/>
                          <a:cs typeface="Tahoma"/>
                        </a:rPr>
                        <a:t>representation</a:t>
                      </a:r>
                      <a:endParaRPr sz="2300">
                        <a:latin typeface="Tahoma"/>
                        <a:cs typeface="Tahoma"/>
                      </a:endParaRPr>
                    </a:p>
                  </a:txBody>
                  <a:tcPr marL="0" marR="0" marT="248920" marB="0">
                    <a:lnR w="9525">
                      <a:solidFill>
                        <a:srgbClr val="E9E9E9"/>
                      </a:solidFill>
                      <a:prstDash val="solid"/>
                    </a:lnR>
                  </a:tcPr>
                </a:tc>
                <a:extLst>
                  <a:ext uri="{0D108BD9-81ED-4DB2-BD59-A6C34878D82A}">
                    <a16:rowId xmlns:a16="http://schemas.microsoft.com/office/drawing/2014/main" val="10001"/>
                  </a:ext>
                </a:extLst>
              </a:tr>
              <a:tr h="433705">
                <a:tc gridSpan="2">
                  <a:txBody>
                    <a:bodyPr/>
                    <a:lstStyle/>
                    <a:p>
                      <a:pPr marL="738505">
                        <a:lnSpc>
                          <a:spcPct val="100000"/>
                        </a:lnSpc>
                        <a:spcBef>
                          <a:spcPts val="434"/>
                        </a:spcBef>
                      </a:pPr>
                      <a:r>
                        <a:rPr sz="2300" dirty="0">
                          <a:latin typeface="Tahoma"/>
                          <a:cs typeface="Tahoma"/>
                        </a:rPr>
                        <a:t>will</a:t>
                      </a:r>
                      <a:r>
                        <a:rPr sz="2300" spc="-5" dirty="0">
                          <a:latin typeface="Tahoma"/>
                          <a:cs typeface="Tahoma"/>
                        </a:rPr>
                        <a:t> </a:t>
                      </a:r>
                      <a:r>
                        <a:rPr sz="2300" spc="30" dirty="0">
                          <a:latin typeface="Tahoma"/>
                          <a:cs typeface="Tahoma"/>
                        </a:rPr>
                        <a:t>be:</a:t>
                      </a:r>
                      <a:endParaRPr sz="2300">
                        <a:latin typeface="Tahoma"/>
                        <a:cs typeface="Tahoma"/>
                      </a:endParaRPr>
                    </a:p>
                  </a:txBody>
                  <a:tcPr marL="0" marR="0" marT="55244" marB="0">
                    <a:lnL w="9525">
                      <a:solidFill>
                        <a:srgbClr val="E9E9E9"/>
                      </a:solidFill>
                      <a:prstDash val="solid"/>
                    </a:lnL>
                    <a:lnR w="9525">
                      <a:solidFill>
                        <a:srgbClr val="E9E9E9"/>
                      </a:solidFill>
                      <a:prstDash val="solid"/>
                    </a:lnR>
                    <a:lnB w="9525">
                      <a:solidFill>
                        <a:srgbClr val="E9E9E9"/>
                      </a:solidFill>
                      <a:prstDash val="solid"/>
                    </a:lnB>
                  </a:tcPr>
                </a:tc>
                <a:tc hMerge="1">
                  <a:txBody>
                    <a:bodyPr/>
                    <a:lstStyle/>
                    <a:p>
                      <a:endParaRPr/>
                    </a:p>
                  </a:txBody>
                  <a:tcPr marL="0" marR="0" marT="0" marB="0"/>
                </a:tc>
                <a:extLst>
                  <a:ext uri="{0D108BD9-81ED-4DB2-BD59-A6C34878D82A}">
                    <a16:rowId xmlns:a16="http://schemas.microsoft.com/office/drawing/2014/main" val="10002"/>
                  </a:ext>
                </a:extLst>
              </a:tr>
            </a:tbl>
          </a:graphicData>
        </a:graphic>
      </p:graphicFrame>
      <p:sp>
        <p:nvSpPr>
          <p:cNvPr id="3" name="object 3"/>
          <p:cNvSpPr txBox="1"/>
          <p:nvPr/>
        </p:nvSpPr>
        <p:spPr>
          <a:xfrm>
            <a:off x="982348" y="2683863"/>
            <a:ext cx="8147050" cy="1991995"/>
          </a:xfrm>
          <a:prstGeom prst="rect">
            <a:avLst/>
          </a:prstGeom>
        </p:spPr>
        <p:txBody>
          <a:bodyPr vert="horz" wrap="square" lIns="0" tIns="152400" rIns="0" bIns="0" rtlCol="0">
            <a:spAutoFit/>
          </a:bodyPr>
          <a:lstStyle/>
          <a:p>
            <a:pPr marL="200660" indent="-187960">
              <a:lnSpc>
                <a:spcPct val="100000"/>
              </a:lnSpc>
              <a:spcBef>
                <a:spcPts val="1200"/>
              </a:spcBef>
              <a:buFont typeface="Arial MT"/>
              <a:buChar char="•"/>
              <a:tabLst>
                <a:tab pos="200660" algn="l"/>
              </a:tabLst>
            </a:pPr>
            <a:r>
              <a:rPr sz="2300" b="1" spc="-60" dirty="0">
                <a:latin typeface="Tahoma"/>
                <a:cs typeface="Tahoma"/>
              </a:rPr>
              <a:t>Performance:</a:t>
            </a:r>
            <a:r>
              <a:rPr sz="2300" b="1" spc="-30" dirty="0">
                <a:latin typeface="Tahoma"/>
                <a:cs typeface="Tahoma"/>
              </a:rPr>
              <a:t> </a:t>
            </a:r>
            <a:r>
              <a:rPr sz="2300" spc="-35" dirty="0">
                <a:latin typeface="Tahoma"/>
                <a:cs typeface="Tahoma"/>
              </a:rPr>
              <a:t>Safety,</a:t>
            </a:r>
            <a:r>
              <a:rPr sz="2300" spc="-160" dirty="0">
                <a:latin typeface="Tahoma"/>
                <a:cs typeface="Tahoma"/>
              </a:rPr>
              <a:t> </a:t>
            </a:r>
            <a:r>
              <a:rPr sz="2300" dirty="0">
                <a:latin typeface="Tahoma"/>
                <a:cs typeface="Tahoma"/>
              </a:rPr>
              <a:t>time,</a:t>
            </a:r>
            <a:r>
              <a:rPr sz="2300" spc="-150" dirty="0">
                <a:latin typeface="Tahoma"/>
                <a:cs typeface="Tahoma"/>
              </a:rPr>
              <a:t> </a:t>
            </a:r>
            <a:r>
              <a:rPr sz="2300" spc="85" dirty="0">
                <a:latin typeface="Tahoma"/>
                <a:cs typeface="Tahoma"/>
              </a:rPr>
              <a:t>legal</a:t>
            </a:r>
            <a:r>
              <a:rPr sz="2300" spc="-75" dirty="0">
                <a:latin typeface="Tahoma"/>
                <a:cs typeface="Tahoma"/>
              </a:rPr>
              <a:t> </a:t>
            </a:r>
            <a:r>
              <a:rPr sz="2300" dirty="0">
                <a:latin typeface="Tahoma"/>
                <a:cs typeface="Tahoma"/>
              </a:rPr>
              <a:t>drive,</a:t>
            </a:r>
            <a:r>
              <a:rPr sz="2300" spc="-140" dirty="0">
                <a:latin typeface="Tahoma"/>
                <a:cs typeface="Tahoma"/>
              </a:rPr>
              <a:t> </a:t>
            </a:r>
            <a:r>
              <a:rPr sz="2300" spc="35" dirty="0">
                <a:latin typeface="Tahoma"/>
                <a:cs typeface="Tahoma"/>
              </a:rPr>
              <a:t>comfort</a:t>
            </a:r>
            <a:endParaRPr sz="2300" dirty="0">
              <a:latin typeface="Tahoma"/>
              <a:cs typeface="Tahoma"/>
            </a:endParaRPr>
          </a:p>
          <a:p>
            <a:pPr marL="200660" indent="-187960">
              <a:lnSpc>
                <a:spcPct val="100000"/>
              </a:lnSpc>
              <a:spcBef>
                <a:spcPts val="1105"/>
              </a:spcBef>
              <a:buFont typeface="Arial MT"/>
              <a:buChar char="•"/>
              <a:tabLst>
                <a:tab pos="200660" algn="l"/>
              </a:tabLst>
            </a:pPr>
            <a:r>
              <a:rPr sz="2300" b="1" spc="-55" dirty="0">
                <a:latin typeface="Tahoma"/>
                <a:cs typeface="Tahoma"/>
              </a:rPr>
              <a:t>Environment:</a:t>
            </a:r>
            <a:r>
              <a:rPr sz="2300" b="1" spc="15" dirty="0">
                <a:latin typeface="Tahoma"/>
                <a:cs typeface="Tahoma"/>
              </a:rPr>
              <a:t> </a:t>
            </a:r>
            <a:r>
              <a:rPr sz="2300" dirty="0">
                <a:latin typeface="Tahoma"/>
                <a:cs typeface="Tahoma"/>
              </a:rPr>
              <a:t>Roads,</a:t>
            </a:r>
            <a:r>
              <a:rPr sz="2300" spc="-114" dirty="0">
                <a:latin typeface="Tahoma"/>
                <a:cs typeface="Tahoma"/>
              </a:rPr>
              <a:t> </a:t>
            </a:r>
            <a:r>
              <a:rPr sz="2300" spc="50" dirty="0">
                <a:latin typeface="Tahoma"/>
                <a:cs typeface="Tahoma"/>
              </a:rPr>
              <a:t>other</a:t>
            </a:r>
            <a:r>
              <a:rPr sz="2300" spc="-10" dirty="0">
                <a:latin typeface="Tahoma"/>
                <a:cs typeface="Tahoma"/>
              </a:rPr>
              <a:t> </a:t>
            </a:r>
            <a:r>
              <a:rPr sz="2300" dirty="0">
                <a:latin typeface="Tahoma"/>
                <a:cs typeface="Tahoma"/>
              </a:rPr>
              <a:t>vehicles,</a:t>
            </a:r>
            <a:r>
              <a:rPr sz="2300" spc="-130" dirty="0">
                <a:latin typeface="Tahoma"/>
                <a:cs typeface="Tahoma"/>
              </a:rPr>
              <a:t> </a:t>
            </a:r>
            <a:r>
              <a:rPr sz="2300" spc="80" dirty="0">
                <a:latin typeface="Tahoma"/>
                <a:cs typeface="Tahoma"/>
              </a:rPr>
              <a:t>road</a:t>
            </a:r>
            <a:r>
              <a:rPr sz="2300" dirty="0">
                <a:latin typeface="Tahoma"/>
                <a:cs typeface="Tahoma"/>
              </a:rPr>
              <a:t> signs,</a:t>
            </a:r>
            <a:r>
              <a:rPr sz="2300" spc="-120" dirty="0">
                <a:latin typeface="Tahoma"/>
                <a:cs typeface="Tahoma"/>
              </a:rPr>
              <a:t> </a:t>
            </a:r>
            <a:r>
              <a:rPr sz="2300" spc="50" dirty="0">
                <a:latin typeface="Tahoma"/>
                <a:cs typeface="Tahoma"/>
              </a:rPr>
              <a:t>pedestrian</a:t>
            </a:r>
            <a:endParaRPr sz="2300" dirty="0">
              <a:latin typeface="Tahoma"/>
              <a:cs typeface="Tahoma"/>
            </a:endParaRPr>
          </a:p>
          <a:p>
            <a:pPr marL="200660" indent="-187960">
              <a:lnSpc>
                <a:spcPct val="100000"/>
              </a:lnSpc>
              <a:spcBef>
                <a:spcPts val="1115"/>
              </a:spcBef>
              <a:buFont typeface="Arial MT"/>
              <a:buChar char="•"/>
              <a:tabLst>
                <a:tab pos="200660" algn="l"/>
              </a:tabLst>
            </a:pPr>
            <a:r>
              <a:rPr sz="2300" b="1" spc="-60" dirty="0">
                <a:latin typeface="Tahoma"/>
                <a:cs typeface="Tahoma"/>
              </a:rPr>
              <a:t>Actuators:</a:t>
            </a:r>
            <a:r>
              <a:rPr sz="2300" b="1" spc="105" dirty="0">
                <a:latin typeface="Tahoma"/>
                <a:cs typeface="Tahoma"/>
              </a:rPr>
              <a:t> </a:t>
            </a:r>
            <a:r>
              <a:rPr sz="2300" dirty="0">
                <a:latin typeface="Tahoma"/>
                <a:cs typeface="Tahoma"/>
              </a:rPr>
              <a:t>Steering,</a:t>
            </a:r>
            <a:r>
              <a:rPr sz="2300" spc="5" dirty="0">
                <a:latin typeface="Tahoma"/>
                <a:cs typeface="Tahoma"/>
              </a:rPr>
              <a:t> </a:t>
            </a:r>
            <a:r>
              <a:rPr sz="2300" dirty="0">
                <a:latin typeface="Tahoma"/>
                <a:cs typeface="Tahoma"/>
              </a:rPr>
              <a:t>accelerator,</a:t>
            </a:r>
            <a:r>
              <a:rPr sz="2300" spc="-10" dirty="0">
                <a:latin typeface="Tahoma"/>
                <a:cs typeface="Tahoma"/>
              </a:rPr>
              <a:t> </a:t>
            </a:r>
            <a:r>
              <a:rPr sz="2300" dirty="0">
                <a:latin typeface="Tahoma"/>
                <a:cs typeface="Tahoma"/>
              </a:rPr>
              <a:t>brake, signal,</a:t>
            </a:r>
            <a:r>
              <a:rPr sz="2300" spc="-35" dirty="0">
                <a:latin typeface="Tahoma"/>
                <a:cs typeface="Tahoma"/>
              </a:rPr>
              <a:t> </a:t>
            </a:r>
            <a:r>
              <a:rPr sz="2300" spc="45" dirty="0">
                <a:latin typeface="Tahoma"/>
                <a:cs typeface="Tahoma"/>
              </a:rPr>
              <a:t>horn</a:t>
            </a:r>
            <a:endParaRPr sz="2300" dirty="0">
              <a:latin typeface="Tahoma"/>
              <a:cs typeface="Tahoma"/>
            </a:endParaRPr>
          </a:p>
          <a:p>
            <a:pPr marL="200660" indent="-187960">
              <a:lnSpc>
                <a:spcPct val="100000"/>
              </a:lnSpc>
              <a:spcBef>
                <a:spcPts val="1120"/>
              </a:spcBef>
              <a:buFont typeface="Arial MT"/>
              <a:buChar char="•"/>
              <a:tabLst>
                <a:tab pos="200660" algn="l"/>
              </a:tabLst>
            </a:pPr>
            <a:r>
              <a:rPr sz="2300" b="1" spc="-60" dirty="0">
                <a:latin typeface="Tahoma"/>
                <a:cs typeface="Tahoma"/>
              </a:rPr>
              <a:t>Sensors:</a:t>
            </a:r>
            <a:r>
              <a:rPr sz="2300" b="1" spc="35" dirty="0">
                <a:latin typeface="Tahoma"/>
                <a:cs typeface="Tahoma"/>
              </a:rPr>
              <a:t> </a:t>
            </a:r>
            <a:r>
              <a:rPr sz="2300" dirty="0">
                <a:latin typeface="Tahoma"/>
                <a:cs typeface="Tahoma"/>
              </a:rPr>
              <a:t>Camera,</a:t>
            </a:r>
            <a:r>
              <a:rPr sz="2300" spc="-114" dirty="0">
                <a:latin typeface="Tahoma"/>
                <a:cs typeface="Tahoma"/>
              </a:rPr>
              <a:t> </a:t>
            </a:r>
            <a:r>
              <a:rPr sz="2300" spc="55" dirty="0">
                <a:latin typeface="Tahoma"/>
                <a:cs typeface="Tahoma"/>
              </a:rPr>
              <a:t>GPS,</a:t>
            </a:r>
            <a:r>
              <a:rPr sz="2300" spc="-114" dirty="0">
                <a:latin typeface="Tahoma"/>
                <a:cs typeface="Tahoma"/>
              </a:rPr>
              <a:t> </a:t>
            </a:r>
            <a:r>
              <a:rPr sz="2300" spc="55" dirty="0">
                <a:latin typeface="Tahoma"/>
                <a:cs typeface="Tahoma"/>
              </a:rPr>
              <a:t>speedometer.</a:t>
            </a:r>
            <a:endParaRPr sz="2300" dirty="0">
              <a:latin typeface="Tahoma"/>
              <a:cs typeface="Tahom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409193" y="1053845"/>
          <a:ext cx="9228455" cy="1664335"/>
        </p:xfrm>
        <a:graphic>
          <a:graphicData uri="http://schemas.openxmlformats.org/drawingml/2006/table">
            <a:tbl>
              <a:tblPr firstRow="1" bandRow="1">
                <a:tableStyleId>{2D5ABB26-0587-4C30-8999-92F81FD0307C}</a:tableStyleId>
              </a:tblPr>
              <a:tblGrid>
                <a:gridCol w="72390">
                  <a:extLst>
                    <a:ext uri="{9D8B030D-6E8A-4147-A177-3AD203B41FA5}">
                      <a16:colId xmlns:a16="http://schemas.microsoft.com/office/drawing/2014/main" val="20000"/>
                    </a:ext>
                  </a:extLst>
                </a:gridCol>
                <a:gridCol w="9156065">
                  <a:extLst>
                    <a:ext uri="{9D8B030D-6E8A-4147-A177-3AD203B41FA5}">
                      <a16:colId xmlns:a16="http://schemas.microsoft.com/office/drawing/2014/main" val="20001"/>
                    </a:ext>
                  </a:extLst>
                </a:gridCol>
              </a:tblGrid>
              <a:tr h="650240">
                <a:tc gridSpan="2">
                  <a:txBody>
                    <a:bodyPr/>
                    <a:lstStyle/>
                    <a:p>
                      <a:pPr>
                        <a:lnSpc>
                          <a:spcPct val="100000"/>
                        </a:lnSpc>
                      </a:pPr>
                      <a:endParaRPr sz="3300">
                        <a:latin typeface="Times New Roman"/>
                        <a:cs typeface="Times New Roman"/>
                      </a:endParaRPr>
                    </a:p>
                  </a:txBody>
                  <a:tcPr marL="0" marR="0" marT="0" marB="0">
                    <a:lnL w="9525">
                      <a:solidFill>
                        <a:srgbClr val="E9E9E9"/>
                      </a:solidFill>
                      <a:prstDash val="solid"/>
                    </a:lnL>
                    <a:lnR w="9525">
                      <a:solidFill>
                        <a:srgbClr val="E9E9E9"/>
                      </a:solidFill>
                      <a:prstDash val="solid"/>
                    </a:lnR>
                    <a:lnT w="9525">
                      <a:solidFill>
                        <a:srgbClr val="E9E9E9"/>
                      </a:solidFill>
                      <a:prstDash val="solid"/>
                    </a:lnT>
                  </a:tcPr>
                </a:tc>
                <a:tc hMerge="1">
                  <a:txBody>
                    <a:bodyPr/>
                    <a:lstStyle/>
                    <a:p>
                      <a:endParaRPr/>
                    </a:p>
                  </a:txBody>
                  <a:tcPr marL="0" marR="0" marT="0" marB="0"/>
                </a:tc>
                <a:extLst>
                  <a:ext uri="{0D108BD9-81ED-4DB2-BD59-A6C34878D82A}">
                    <a16:rowId xmlns:a16="http://schemas.microsoft.com/office/drawing/2014/main" val="10000"/>
                  </a:ext>
                </a:extLst>
              </a:tr>
              <a:tr h="580390">
                <a:tc>
                  <a:txBody>
                    <a:bodyPr/>
                    <a:lstStyle/>
                    <a:p>
                      <a:pPr>
                        <a:lnSpc>
                          <a:spcPct val="100000"/>
                        </a:lnSpc>
                      </a:pPr>
                      <a:endParaRPr sz="3300">
                        <a:latin typeface="Times New Roman"/>
                        <a:cs typeface="Times New Roman"/>
                      </a:endParaRPr>
                    </a:p>
                  </a:txBody>
                  <a:tcPr marL="0" marR="0" marT="0" marB="0">
                    <a:lnL w="9525">
                      <a:solidFill>
                        <a:srgbClr val="E9E9E9"/>
                      </a:solidFill>
                      <a:prstDash val="solid"/>
                    </a:lnL>
                    <a:solidFill>
                      <a:srgbClr val="F5A700"/>
                    </a:solidFill>
                  </a:tcPr>
                </a:tc>
                <a:tc>
                  <a:txBody>
                    <a:bodyPr/>
                    <a:lstStyle/>
                    <a:p>
                      <a:pPr marL="487680">
                        <a:lnSpc>
                          <a:spcPts val="3900"/>
                        </a:lnSpc>
                      </a:pPr>
                      <a:r>
                        <a:rPr sz="3300" b="1" dirty="0">
                          <a:latin typeface="Tahoma"/>
                          <a:cs typeface="Tahoma"/>
                        </a:rPr>
                        <a:t>PEAS</a:t>
                      </a:r>
                      <a:r>
                        <a:rPr sz="3300" b="1" spc="-229" dirty="0">
                          <a:latin typeface="Tahoma"/>
                          <a:cs typeface="Tahoma"/>
                        </a:rPr>
                        <a:t> </a:t>
                      </a:r>
                      <a:r>
                        <a:rPr sz="3300" b="1" spc="-25" dirty="0">
                          <a:latin typeface="Tahoma"/>
                          <a:cs typeface="Tahoma"/>
                        </a:rPr>
                        <a:t>for</a:t>
                      </a:r>
                      <a:r>
                        <a:rPr sz="3300" b="1" spc="-215" dirty="0">
                          <a:latin typeface="Tahoma"/>
                          <a:cs typeface="Tahoma"/>
                        </a:rPr>
                        <a:t> </a:t>
                      </a:r>
                      <a:r>
                        <a:rPr sz="3300" b="1" spc="-125" dirty="0">
                          <a:latin typeface="Tahoma"/>
                          <a:cs typeface="Tahoma"/>
                        </a:rPr>
                        <a:t>self-</a:t>
                      </a:r>
                      <a:r>
                        <a:rPr sz="3300" b="1" spc="-10" dirty="0">
                          <a:latin typeface="Tahoma"/>
                          <a:cs typeface="Tahoma"/>
                        </a:rPr>
                        <a:t>driving</a:t>
                      </a:r>
                      <a:r>
                        <a:rPr sz="3300" b="1" spc="-210" dirty="0">
                          <a:latin typeface="Tahoma"/>
                          <a:cs typeface="Tahoma"/>
                        </a:rPr>
                        <a:t> </a:t>
                      </a:r>
                      <a:r>
                        <a:rPr sz="3300" b="1" spc="-10" dirty="0">
                          <a:latin typeface="Tahoma"/>
                          <a:cs typeface="Tahoma"/>
                        </a:rPr>
                        <a:t>cars:</a:t>
                      </a:r>
                      <a:endParaRPr sz="3300">
                        <a:latin typeface="Tahoma"/>
                        <a:cs typeface="Tahoma"/>
                      </a:endParaRPr>
                    </a:p>
                  </a:txBody>
                  <a:tcPr marL="0" marR="0" marT="0" marB="0">
                    <a:lnR w="9525">
                      <a:solidFill>
                        <a:srgbClr val="E9E9E9"/>
                      </a:solidFill>
                      <a:prstDash val="solid"/>
                    </a:lnR>
                  </a:tcPr>
                </a:tc>
                <a:extLst>
                  <a:ext uri="{0D108BD9-81ED-4DB2-BD59-A6C34878D82A}">
                    <a16:rowId xmlns:a16="http://schemas.microsoft.com/office/drawing/2014/main" val="10001"/>
                  </a:ext>
                </a:extLst>
              </a:tr>
              <a:tr h="433705">
                <a:tc gridSpan="2">
                  <a:txBody>
                    <a:bodyPr/>
                    <a:lstStyle/>
                    <a:p>
                      <a:pPr>
                        <a:lnSpc>
                          <a:spcPct val="100000"/>
                        </a:lnSpc>
                      </a:pPr>
                      <a:endParaRPr sz="2800">
                        <a:latin typeface="Times New Roman"/>
                        <a:cs typeface="Times New Roman"/>
                      </a:endParaRPr>
                    </a:p>
                  </a:txBody>
                  <a:tcPr marL="0" marR="0" marT="0" marB="0">
                    <a:lnL w="9525">
                      <a:solidFill>
                        <a:srgbClr val="E9E9E9"/>
                      </a:solidFill>
                      <a:prstDash val="solid"/>
                    </a:lnL>
                    <a:lnR w="9525">
                      <a:solidFill>
                        <a:srgbClr val="E9E9E9"/>
                      </a:solidFill>
                      <a:prstDash val="solid"/>
                    </a:lnR>
                    <a:lnB w="9525">
                      <a:solidFill>
                        <a:srgbClr val="E9E9E9"/>
                      </a:solidFill>
                      <a:prstDash val="solid"/>
                    </a:lnB>
                  </a:tcPr>
                </a:tc>
                <a:tc hMerge="1">
                  <a:txBody>
                    <a:bodyPr/>
                    <a:lstStyle/>
                    <a:p>
                      <a:endParaRPr/>
                    </a:p>
                  </a:txBody>
                  <a:tcPr marL="0" marR="0" marT="0" marB="0"/>
                </a:tc>
                <a:extLst>
                  <a:ext uri="{0D108BD9-81ED-4DB2-BD59-A6C34878D82A}">
                    <a16:rowId xmlns:a16="http://schemas.microsoft.com/office/drawing/2014/main" val="10002"/>
                  </a:ext>
                </a:extLst>
              </a:tr>
            </a:tbl>
          </a:graphicData>
        </a:graphic>
      </p:graphicFrame>
      <p:pic>
        <p:nvPicPr>
          <p:cNvPr id="3" name="object 3"/>
          <p:cNvPicPr/>
          <p:nvPr/>
        </p:nvPicPr>
        <p:blipFill>
          <a:blip r:embed="rId2" cstate="print"/>
          <a:stretch>
            <a:fillRect/>
          </a:stretch>
        </p:blipFill>
        <p:spPr>
          <a:xfrm>
            <a:off x="1089660" y="2197607"/>
            <a:ext cx="7447788" cy="436016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409193" y="1053845"/>
          <a:ext cx="9228455" cy="1664335"/>
        </p:xfrm>
        <a:graphic>
          <a:graphicData uri="http://schemas.openxmlformats.org/drawingml/2006/table">
            <a:tbl>
              <a:tblPr firstRow="1" bandRow="1">
                <a:tableStyleId>{2D5ABB26-0587-4C30-8999-92F81FD0307C}</a:tableStyleId>
              </a:tblPr>
              <a:tblGrid>
                <a:gridCol w="72390">
                  <a:extLst>
                    <a:ext uri="{9D8B030D-6E8A-4147-A177-3AD203B41FA5}">
                      <a16:colId xmlns:a16="http://schemas.microsoft.com/office/drawing/2014/main" val="20000"/>
                    </a:ext>
                  </a:extLst>
                </a:gridCol>
                <a:gridCol w="9156065">
                  <a:extLst>
                    <a:ext uri="{9D8B030D-6E8A-4147-A177-3AD203B41FA5}">
                      <a16:colId xmlns:a16="http://schemas.microsoft.com/office/drawing/2014/main" val="20001"/>
                    </a:ext>
                  </a:extLst>
                </a:gridCol>
              </a:tblGrid>
              <a:tr h="650240">
                <a:tc gridSpan="2">
                  <a:txBody>
                    <a:bodyPr/>
                    <a:lstStyle/>
                    <a:p>
                      <a:pPr marL="550545">
                        <a:lnSpc>
                          <a:spcPct val="100000"/>
                        </a:lnSpc>
                        <a:spcBef>
                          <a:spcPts val="935"/>
                        </a:spcBef>
                      </a:pPr>
                      <a:r>
                        <a:rPr sz="3300" b="1" spc="-40" dirty="0">
                          <a:latin typeface="Tahoma"/>
                          <a:cs typeface="Tahoma"/>
                        </a:rPr>
                        <a:t>Example</a:t>
                      </a:r>
                      <a:r>
                        <a:rPr sz="3300" b="1" spc="-195" dirty="0">
                          <a:latin typeface="Tahoma"/>
                          <a:cs typeface="Tahoma"/>
                        </a:rPr>
                        <a:t> </a:t>
                      </a:r>
                      <a:r>
                        <a:rPr sz="3300" b="1" dirty="0">
                          <a:latin typeface="Tahoma"/>
                          <a:cs typeface="Tahoma"/>
                        </a:rPr>
                        <a:t>of</a:t>
                      </a:r>
                      <a:r>
                        <a:rPr sz="3300" b="1" spc="-155" dirty="0">
                          <a:latin typeface="Tahoma"/>
                          <a:cs typeface="Tahoma"/>
                        </a:rPr>
                        <a:t> </a:t>
                      </a:r>
                      <a:r>
                        <a:rPr sz="3300" b="1" spc="-40" dirty="0">
                          <a:latin typeface="Tahoma"/>
                          <a:cs typeface="Tahoma"/>
                        </a:rPr>
                        <a:t>Agents</a:t>
                      </a:r>
                      <a:r>
                        <a:rPr sz="3300" b="1" spc="-155" dirty="0">
                          <a:latin typeface="Tahoma"/>
                          <a:cs typeface="Tahoma"/>
                        </a:rPr>
                        <a:t> </a:t>
                      </a:r>
                      <a:r>
                        <a:rPr sz="3300" b="1" spc="-100" dirty="0">
                          <a:latin typeface="Tahoma"/>
                          <a:cs typeface="Tahoma"/>
                        </a:rPr>
                        <a:t>with</a:t>
                      </a:r>
                      <a:r>
                        <a:rPr sz="3300" b="1" spc="-145" dirty="0">
                          <a:latin typeface="Tahoma"/>
                          <a:cs typeface="Tahoma"/>
                        </a:rPr>
                        <a:t> </a:t>
                      </a:r>
                      <a:r>
                        <a:rPr sz="3300" b="1" spc="-75" dirty="0">
                          <a:latin typeface="Tahoma"/>
                          <a:cs typeface="Tahoma"/>
                        </a:rPr>
                        <a:t>their</a:t>
                      </a:r>
                      <a:r>
                        <a:rPr sz="3300" b="1" spc="-155" dirty="0">
                          <a:latin typeface="Tahoma"/>
                          <a:cs typeface="Tahoma"/>
                        </a:rPr>
                        <a:t> </a:t>
                      </a:r>
                      <a:r>
                        <a:rPr sz="3300" b="1" spc="-20" dirty="0">
                          <a:latin typeface="Tahoma"/>
                          <a:cs typeface="Tahoma"/>
                        </a:rPr>
                        <a:t>PEAS</a:t>
                      </a:r>
                      <a:endParaRPr sz="3300">
                        <a:latin typeface="Tahoma"/>
                        <a:cs typeface="Tahoma"/>
                      </a:endParaRPr>
                    </a:p>
                  </a:txBody>
                  <a:tcPr marL="0" marR="0" marT="118745" marB="0">
                    <a:lnL w="9525">
                      <a:solidFill>
                        <a:srgbClr val="E9E9E9"/>
                      </a:solidFill>
                      <a:prstDash val="solid"/>
                    </a:lnL>
                    <a:lnR w="9525">
                      <a:solidFill>
                        <a:srgbClr val="E9E9E9"/>
                      </a:solidFill>
                      <a:prstDash val="solid"/>
                    </a:lnR>
                    <a:lnT w="9525">
                      <a:solidFill>
                        <a:srgbClr val="E9E9E9"/>
                      </a:solidFill>
                      <a:prstDash val="solid"/>
                    </a:lnT>
                  </a:tcPr>
                </a:tc>
                <a:tc hMerge="1">
                  <a:txBody>
                    <a:bodyPr/>
                    <a:lstStyle/>
                    <a:p>
                      <a:endParaRPr/>
                    </a:p>
                  </a:txBody>
                  <a:tcPr marL="0" marR="0" marT="0" marB="0"/>
                </a:tc>
                <a:extLst>
                  <a:ext uri="{0D108BD9-81ED-4DB2-BD59-A6C34878D82A}">
                    <a16:rowId xmlns:a16="http://schemas.microsoft.com/office/drawing/2014/main" val="10000"/>
                  </a:ext>
                </a:extLst>
              </a:tr>
              <a:tr h="580390">
                <a:tc>
                  <a:txBody>
                    <a:bodyPr/>
                    <a:lstStyle/>
                    <a:p>
                      <a:pPr>
                        <a:lnSpc>
                          <a:spcPct val="100000"/>
                        </a:lnSpc>
                      </a:pPr>
                      <a:endParaRPr sz="3300">
                        <a:latin typeface="Times New Roman"/>
                        <a:cs typeface="Times New Roman"/>
                      </a:endParaRPr>
                    </a:p>
                  </a:txBody>
                  <a:tcPr marL="0" marR="0" marT="0" marB="0">
                    <a:lnL w="9525">
                      <a:solidFill>
                        <a:srgbClr val="E9E9E9"/>
                      </a:solidFill>
                      <a:prstDash val="solid"/>
                    </a:lnL>
                    <a:solidFill>
                      <a:srgbClr val="F5A700"/>
                    </a:solidFill>
                  </a:tcPr>
                </a:tc>
                <a:tc>
                  <a:txBody>
                    <a:bodyPr/>
                    <a:lstStyle/>
                    <a:p>
                      <a:pPr>
                        <a:lnSpc>
                          <a:spcPct val="100000"/>
                        </a:lnSpc>
                      </a:pPr>
                      <a:endParaRPr sz="3300">
                        <a:latin typeface="Times New Roman"/>
                        <a:cs typeface="Times New Roman"/>
                      </a:endParaRPr>
                    </a:p>
                  </a:txBody>
                  <a:tcPr marL="0" marR="0" marT="0" marB="0">
                    <a:lnR w="9525">
                      <a:solidFill>
                        <a:srgbClr val="E9E9E9"/>
                      </a:solidFill>
                      <a:prstDash val="solid"/>
                    </a:lnR>
                  </a:tcPr>
                </a:tc>
                <a:extLst>
                  <a:ext uri="{0D108BD9-81ED-4DB2-BD59-A6C34878D82A}">
                    <a16:rowId xmlns:a16="http://schemas.microsoft.com/office/drawing/2014/main" val="10001"/>
                  </a:ext>
                </a:extLst>
              </a:tr>
              <a:tr h="433705">
                <a:tc gridSpan="2">
                  <a:txBody>
                    <a:bodyPr/>
                    <a:lstStyle/>
                    <a:p>
                      <a:pPr>
                        <a:lnSpc>
                          <a:spcPct val="100000"/>
                        </a:lnSpc>
                      </a:pPr>
                      <a:endParaRPr sz="2800">
                        <a:latin typeface="Times New Roman"/>
                        <a:cs typeface="Times New Roman"/>
                      </a:endParaRPr>
                    </a:p>
                  </a:txBody>
                  <a:tcPr marL="0" marR="0" marT="0" marB="0">
                    <a:lnL w="9525">
                      <a:solidFill>
                        <a:srgbClr val="E9E9E9"/>
                      </a:solidFill>
                      <a:prstDash val="solid"/>
                    </a:lnL>
                    <a:lnR w="9525">
                      <a:solidFill>
                        <a:srgbClr val="E9E9E9"/>
                      </a:solidFill>
                      <a:prstDash val="solid"/>
                    </a:lnR>
                    <a:lnB w="9525">
                      <a:solidFill>
                        <a:srgbClr val="E9E9E9"/>
                      </a:solidFill>
                      <a:prstDash val="solid"/>
                    </a:lnB>
                  </a:tcPr>
                </a:tc>
                <a:tc hMerge="1">
                  <a:txBody>
                    <a:bodyPr/>
                    <a:lstStyle/>
                    <a:p>
                      <a:endParaRPr/>
                    </a:p>
                  </a:txBody>
                  <a:tcPr marL="0" marR="0" marT="0" marB="0"/>
                </a:tc>
                <a:extLst>
                  <a:ext uri="{0D108BD9-81ED-4DB2-BD59-A6C34878D82A}">
                    <a16:rowId xmlns:a16="http://schemas.microsoft.com/office/drawing/2014/main" val="10002"/>
                  </a:ext>
                </a:extLst>
              </a:tr>
            </a:tbl>
          </a:graphicData>
        </a:graphic>
      </p:graphicFrame>
      <p:pic>
        <p:nvPicPr>
          <p:cNvPr id="3" name="object 3"/>
          <p:cNvPicPr/>
          <p:nvPr/>
        </p:nvPicPr>
        <p:blipFill>
          <a:blip r:embed="rId2" cstate="print"/>
          <a:stretch>
            <a:fillRect/>
          </a:stretch>
        </p:blipFill>
        <p:spPr>
          <a:xfrm>
            <a:off x="877824" y="1743455"/>
            <a:ext cx="8474964" cy="463905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409193" y="1053845"/>
          <a:ext cx="9228455" cy="1664335"/>
        </p:xfrm>
        <a:graphic>
          <a:graphicData uri="http://schemas.openxmlformats.org/drawingml/2006/table">
            <a:tbl>
              <a:tblPr firstRow="1" bandRow="1">
                <a:tableStyleId>{2D5ABB26-0587-4C30-8999-92F81FD0307C}</a:tableStyleId>
              </a:tblPr>
              <a:tblGrid>
                <a:gridCol w="72390">
                  <a:extLst>
                    <a:ext uri="{9D8B030D-6E8A-4147-A177-3AD203B41FA5}">
                      <a16:colId xmlns:a16="http://schemas.microsoft.com/office/drawing/2014/main" val="20000"/>
                    </a:ext>
                  </a:extLst>
                </a:gridCol>
                <a:gridCol w="9156065">
                  <a:extLst>
                    <a:ext uri="{9D8B030D-6E8A-4147-A177-3AD203B41FA5}">
                      <a16:colId xmlns:a16="http://schemas.microsoft.com/office/drawing/2014/main" val="20001"/>
                    </a:ext>
                  </a:extLst>
                </a:gridCol>
              </a:tblGrid>
              <a:tr h="650240">
                <a:tc gridSpan="2">
                  <a:txBody>
                    <a:bodyPr/>
                    <a:lstStyle/>
                    <a:p>
                      <a:pPr>
                        <a:lnSpc>
                          <a:spcPct val="100000"/>
                        </a:lnSpc>
                      </a:pPr>
                      <a:endParaRPr sz="2500">
                        <a:latin typeface="Times New Roman"/>
                        <a:cs typeface="Times New Roman"/>
                      </a:endParaRPr>
                    </a:p>
                  </a:txBody>
                  <a:tcPr marL="0" marR="0" marT="0" marB="0">
                    <a:lnL w="9525">
                      <a:solidFill>
                        <a:srgbClr val="E9E9E9"/>
                      </a:solidFill>
                      <a:prstDash val="solid"/>
                    </a:lnL>
                    <a:lnR w="9525">
                      <a:solidFill>
                        <a:srgbClr val="E9E9E9"/>
                      </a:solidFill>
                      <a:prstDash val="solid"/>
                    </a:lnR>
                    <a:lnT w="9525">
                      <a:solidFill>
                        <a:srgbClr val="E9E9E9"/>
                      </a:solidFill>
                      <a:prstDash val="solid"/>
                    </a:lnT>
                  </a:tcPr>
                </a:tc>
                <a:tc hMerge="1">
                  <a:txBody>
                    <a:bodyPr/>
                    <a:lstStyle/>
                    <a:p>
                      <a:endParaRPr/>
                    </a:p>
                  </a:txBody>
                  <a:tcPr marL="0" marR="0" marT="0" marB="0"/>
                </a:tc>
                <a:extLst>
                  <a:ext uri="{0D108BD9-81ED-4DB2-BD59-A6C34878D82A}">
                    <a16:rowId xmlns:a16="http://schemas.microsoft.com/office/drawing/2014/main" val="10000"/>
                  </a:ext>
                </a:extLst>
              </a:tr>
              <a:tr h="580390">
                <a:tc>
                  <a:txBody>
                    <a:bodyPr/>
                    <a:lstStyle/>
                    <a:p>
                      <a:pPr>
                        <a:lnSpc>
                          <a:spcPct val="100000"/>
                        </a:lnSpc>
                      </a:pPr>
                      <a:endParaRPr sz="2500">
                        <a:latin typeface="Times New Roman"/>
                        <a:cs typeface="Times New Roman"/>
                      </a:endParaRPr>
                    </a:p>
                  </a:txBody>
                  <a:tcPr marL="0" marR="0" marT="0" marB="0">
                    <a:lnL w="9525">
                      <a:solidFill>
                        <a:srgbClr val="E9E9E9"/>
                      </a:solidFill>
                      <a:prstDash val="solid"/>
                    </a:lnL>
                    <a:solidFill>
                      <a:srgbClr val="F5A700"/>
                    </a:solidFill>
                  </a:tcPr>
                </a:tc>
                <a:tc>
                  <a:txBody>
                    <a:bodyPr/>
                    <a:lstStyle/>
                    <a:p>
                      <a:pPr marL="476884">
                        <a:lnSpc>
                          <a:spcPts val="3900"/>
                        </a:lnSpc>
                      </a:pPr>
                      <a:r>
                        <a:rPr sz="3300" b="1" spc="-10" dirty="0">
                          <a:latin typeface="Tahoma"/>
                          <a:cs typeface="Tahoma"/>
                        </a:rPr>
                        <a:t>Agent</a:t>
                      </a:r>
                      <a:r>
                        <a:rPr sz="3300" b="1" spc="-204" dirty="0">
                          <a:latin typeface="Tahoma"/>
                          <a:cs typeface="Tahoma"/>
                        </a:rPr>
                        <a:t> </a:t>
                      </a:r>
                      <a:r>
                        <a:rPr sz="3300" b="1" spc="-75" dirty="0">
                          <a:latin typeface="Tahoma"/>
                          <a:cs typeface="Tahoma"/>
                        </a:rPr>
                        <a:t>Environment</a:t>
                      </a:r>
                      <a:r>
                        <a:rPr sz="3300" b="1" spc="-155" dirty="0">
                          <a:latin typeface="Tahoma"/>
                          <a:cs typeface="Tahoma"/>
                        </a:rPr>
                        <a:t> </a:t>
                      </a:r>
                      <a:r>
                        <a:rPr sz="3300" b="1" spc="-70" dirty="0">
                          <a:latin typeface="Tahoma"/>
                          <a:cs typeface="Tahoma"/>
                        </a:rPr>
                        <a:t>in</a:t>
                      </a:r>
                      <a:r>
                        <a:rPr sz="3300" b="1" spc="-210" dirty="0">
                          <a:latin typeface="Tahoma"/>
                          <a:cs typeface="Tahoma"/>
                        </a:rPr>
                        <a:t> </a:t>
                      </a:r>
                      <a:r>
                        <a:rPr sz="3300" b="1" spc="-25" dirty="0">
                          <a:latin typeface="Tahoma"/>
                          <a:cs typeface="Tahoma"/>
                        </a:rPr>
                        <a:t>AI</a:t>
                      </a:r>
                      <a:endParaRPr sz="3300">
                        <a:latin typeface="Tahoma"/>
                        <a:cs typeface="Tahoma"/>
                      </a:endParaRPr>
                    </a:p>
                  </a:txBody>
                  <a:tcPr marL="0" marR="0" marT="0" marB="0">
                    <a:lnR w="9525">
                      <a:solidFill>
                        <a:srgbClr val="E9E9E9"/>
                      </a:solidFill>
                      <a:prstDash val="solid"/>
                    </a:lnR>
                  </a:tcPr>
                </a:tc>
                <a:extLst>
                  <a:ext uri="{0D108BD9-81ED-4DB2-BD59-A6C34878D82A}">
                    <a16:rowId xmlns:a16="http://schemas.microsoft.com/office/drawing/2014/main" val="10001"/>
                  </a:ext>
                </a:extLst>
              </a:tr>
              <a:tr h="433705">
                <a:tc gridSpan="2">
                  <a:txBody>
                    <a:bodyPr/>
                    <a:lstStyle/>
                    <a:p>
                      <a:pPr>
                        <a:lnSpc>
                          <a:spcPct val="100000"/>
                        </a:lnSpc>
                      </a:pPr>
                      <a:endParaRPr sz="2500">
                        <a:latin typeface="Times New Roman"/>
                        <a:cs typeface="Times New Roman"/>
                      </a:endParaRPr>
                    </a:p>
                  </a:txBody>
                  <a:tcPr marL="0" marR="0" marT="0" marB="0">
                    <a:lnL w="9525">
                      <a:solidFill>
                        <a:srgbClr val="E9E9E9"/>
                      </a:solidFill>
                      <a:prstDash val="solid"/>
                    </a:lnL>
                    <a:lnR w="9525">
                      <a:solidFill>
                        <a:srgbClr val="E9E9E9"/>
                      </a:solidFill>
                      <a:prstDash val="solid"/>
                    </a:lnR>
                    <a:lnB w="9525">
                      <a:solidFill>
                        <a:srgbClr val="E9E9E9"/>
                      </a:solidFill>
                      <a:prstDash val="solid"/>
                    </a:lnB>
                  </a:tcPr>
                </a:tc>
                <a:tc hMerge="1">
                  <a:txBody>
                    <a:bodyPr/>
                    <a:lstStyle/>
                    <a:p>
                      <a:endParaRPr/>
                    </a:p>
                  </a:txBody>
                  <a:tcPr marL="0" marR="0" marT="0" marB="0"/>
                </a:tc>
                <a:extLst>
                  <a:ext uri="{0D108BD9-81ED-4DB2-BD59-A6C34878D82A}">
                    <a16:rowId xmlns:a16="http://schemas.microsoft.com/office/drawing/2014/main" val="10002"/>
                  </a:ext>
                </a:extLst>
              </a:tr>
            </a:tbl>
          </a:graphicData>
        </a:graphic>
      </p:graphicFrame>
      <p:sp>
        <p:nvSpPr>
          <p:cNvPr id="3" name="object 3"/>
          <p:cNvSpPr txBox="1"/>
          <p:nvPr/>
        </p:nvSpPr>
        <p:spPr>
          <a:xfrm>
            <a:off x="982348" y="3089472"/>
            <a:ext cx="8135620" cy="800100"/>
          </a:xfrm>
          <a:prstGeom prst="rect">
            <a:avLst/>
          </a:prstGeom>
        </p:spPr>
        <p:txBody>
          <a:bodyPr vert="horz" wrap="square" lIns="0" tIns="12065" rIns="0" bIns="0" rtlCol="0">
            <a:spAutoFit/>
          </a:bodyPr>
          <a:lstStyle/>
          <a:p>
            <a:pPr marL="200025" marR="5080" indent="-187960">
              <a:lnSpc>
                <a:spcPct val="110400"/>
              </a:lnSpc>
              <a:spcBef>
                <a:spcPts val="95"/>
              </a:spcBef>
              <a:buFont typeface="Arial MT"/>
              <a:buChar char="•"/>
              <a:tabLst>
                <a:tab pos="201295" algn="l"/>
              </a:tabLst>
            </a:pPr>
            <a:r>
              <a:rPr sz="2300" spc="140" dirty="0">
                <a:latin typeface="Tahoma"/>
                <a:cs typeface="Tahoma"/>
              </a:rPr>
              <a:t>An</a:t>
            </a:r>
            <a:r>
              <a:rPr sz="2300" spc="-50" dirty="0">
                <a:latin typeface="Tahoma"/>
                <a:cs typeface="Tahoma"/>
              </a:rPr>
              <a:t> </a:t>
            </a:r>
            <a:r>
              <a:rPr sz="2300" dirty="0">
                <a:latin typeface="Tahoma"/>
                <a:cs typeface="Tahoma"/>
              </a:rPr>
              <a:t>environment</a:t>
            </a:r>
            <a:r>
              <a:rPr sz="2300" spc="-65" dirty="0">
                <a:latin typeface="Tahoma"/>
                <a:cs typeface="Tahoma"/>
              </a:rPr>
              <a:t> </a:t>
            </a:r>
            <a:r>
              <a:rPr sz="2300" spc="50" dirty="0">
                <a:latin typeface="Tahoma"/>
                <a:cs typeface="Tahoma"/>
              </a:rPr>
              <a:t>can</a:t>
            </a:r>
            <a:r>
              <a:rPr sz="2300" spc="-70" dirty="0">
                <a:latin typeface="Tahoma"/>
                <a:cs typeface="Tahoma"/>
              </a:rPr>
              <a:t> </a:t>
            </a:r>
            <a:r>
              <a:rPr sz="2300" spc="145" dirty="0">
                <a:latin typeface="Tahoma"/>
                <a:cs typeface="Tahoma"/>
              </a:rPr>
              <a:t>be</a:t>
            </a:r>
            <a:r>
              <a:rPr sz="2300" spc="-60" dirty="0">
                <a:latin typeface="Tahoma"/>
                <a:cs typeface="Tahoma"/>
              </a:rPr>
              <a:t> </a:t>
            </a:r>
            <a:r>
              <a:rPr sz="2300" spc="100" dirty="0">
                <a:latin typeface="Tahoma"/>
                <a:cs typeface="Tahoma"/>
              </a:rPr>
              <a:t>described</a:t>
            </a:r>
            <a:r>
              <a:rPr sz="2300" spc="-60" dirty="0">
                <a:latin typeface="Tahoma"/>
                <a:cs typeface="Tahoma"/>
              </a:rPr>
              <a:t> </a:t>
            </a:r>
            <a:r>
              <a:rPr sz="2300" dirty="0">
                <a:latin typeface="Tahoma"/>
                <a:cs typeface="Tahoma"/>
              </a:rPr>
              <a:t>as</a:t>
            </a:r>
            <a:r>
              <a:rPr sz="2300" spc="-65" dirty="0">
                <a:latin typeface="Tahoma"/>
                <a:cs typeface="Tahoma"/>
              </a:rPr>
              <a:t> </a:t>
            </a:r>
            <a:r>
              <a:rPr sz="2300" dirty="0">
                <a:latin typeface="Tahoma"/>
                <a:cs typeface="Tahoma"/>
              </a:rPr>
              <a:t>a</a:t>
            </a:r>
            <a:r>
              <a:rPr sz="2300" spc="-40" dirty="0">
                <a:latin typeface="Tahoma"/>
                <a:cs typeface="Tahoma"/>
              </a:rPr>
              <a:t> </a:t>
            </a:r>
            <a:r>
              <a:rPr sz="2300" dirty="0">
                <a:latin typeface="Tahoma"/>
                <a:cs typeface="Tahoma"/>
              </a:rPr>
              <a:t>situation</a:t>
            </a:r>
            <a:r>
              <a:rPr sz="2300" spc="-85" dirty="0">
                <a:latin typeface="Tahoma"/>
                <a:cs typeface="Tahoma"/>
              </a:rPr>
              <a:t> </a:t>
            </a:r>
            <a:r>
              <a:rPr sz="2300" spc="50" dirty="0">
                <a:latin typeface="Tahoma"/>
                <a:cs typeface="Tahoma"/>
              </a:rPr>
              <a:t>in</a:t>
            </a:r>
            <a:r>
              <a:rPr sz="2300" spc="-60" dirty="0">
                <a:latin typeface="Tahoma"/>
                <a:cs typeface="Tahoma"/>
              </a:rPr>
              <a:t> </a:t>
            </a:r>
            <a:r>
              <a:rPr sz="2300" spc="50" dirty="0">
                <a:latin typeface="Tahoma"/>
                <a:cs typeface="Tahoma"/>
              </a:rPr>
              <a:t>which</a:t>
            </a:r>
            <a:r>
              <a:rPr sz="2300" spc="-55" dirty="0">
                <a:latin typeface="Tahoma"/>
                <a:cs typeface="Tahoma"/>
              </a:rPr>
              <a:t> </a:t>
            </a:r>
            <a:r>
              <a:rPr sz="2300" spc="-25" dirty="0">
                <a:latin typeface="Tahoma"/>
                <a:cs typeface="Tahoma"/>
              </a:rPr>
              <a:t>an 	</a:t>
            </a:r>
            <a:r>
              <a:rPr sz="2300" spc="55" dirty="0">
                <a:latin typeface="Tahoma"/>
                <a:cs typeface="Tahoma"/>
              </a:rPr>
              <a:t>agent</a:t>
            </a:r>
            <a:r>
              <a:rPr sz="2300" spc="-120" dirty="0">
                <a:latin typeface="Tahoma"/>
                <a:cs typeface="Tahoma"/>
              </a:rPr>
              <a:t> </a:t>
            </a:r>
            <a:r>
              <a:rPr sz="2300" dirty="0">
                <a:latin typeface="Tahoma"/>
                <a:cs typeface="Tahoma"/>
              </a:rPr>
              <a:t>is</a:t>
            </a:r>
            <a:r>
              <a:rPr sz="2300" spc="-130" dirty="0">
                <a:latin typeface="Tahoma"/>
                <a:cs typeface="Tahoma"/>
              </a:rPr>
              <a:t> </a:t>
            </a:r>
            <a:r>
              <a:rPr sz="2300" spc="-10" dirty="0">
                <a:latin typeface="Tahoma"/>
                <a:cs typeface="Tahoma"/>
              </a:rPr>
              <a:t>present.</a:t>
            </a:r>
            <a:endParaRPr sz="2300">
              <a:latin typeface="Tahoma"/>
              <a:cs typeface="Tahom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409193" y="1053845"/>
          <a:ext cx="9228455" cy="1664335"/>
        </p:xfrm>
        <a:graphic>
          <a:graphicData uri="http://schemas.openxmlformats.org/drawingml/2006/table">
            <a:tbl>
              <a:tblPr firstRow="1" bandRow="1">
                <a:tableStyleId>{2D5ABB26-0587-4C30-8999-92F81FD0307C}</a:tableStyleId>
              </a:tblPr>
              <a:tblGrid>
                <a:gridCol w="72390">
                  <a:extLst>
                    <a:ext uri="{9D8B030D-6E8A-4147-A177-3AD203B41FA5}">
                      <a16:colId xmlns:a16="http://schemas.microsoft.com/office/drawing/2014/main" val="20000"/>
                    </a:ext>
                  </a:extLst>
                </a:gridCol>
                <a:gridCol w="9156065">
                  <a:extLst>
                    <a:ext uri="{9D8B030D-6E8A-4147-A177-3AD203B41FA5}">
                      <a16:colId xmlns:a16="http://schemas.microsoft.com/office/drawing/2014/main" val="20001"/>
                    </a:ext>
                  </a:extLst>
                </a:gridCol>
              </a:tblGrid>
              <a:tr h="650240">
                <a:tc gridSpan="2">
                  <a:txBody>
                    <a:bodyPr/>
                    <a:lstStyle/>
                    <a:p>
                      <a:pPr>
                        <a:lnSpc>
                          <a:spcPct val="100000"/>
                        </a:lnSpc>
                      </a:pPr>
                      <a:endParaRPr sz="2200">
                        <a:latin typeface="Times New Roman"/>
                        <a:cs typeface="Times New Roman"/>
                      </a:endParaRPr>
                    </a:p>
                  </a:txBody>
                  <a:tcPr marL="0" marR="0" marT="0" marB="0">
                    <a:lnL w="9525">
                      <a:solidFill>
                        <a:srgbClr val="E9E9E9"/>
                      </a:solidFill>
                      <a:prstDash val="solid"/>
                    </a:lnL>
                    <a:lnR w="9525">
                      <a:solidFill>
                        <a:srgbClr val="E9E9E9"/>
                      </a:solidFill>
                      <a:prstDash val="solid"/>
                    </a:lnR>
                    <a:lnT w="9525">
                      <a:solidFill>
                        <a:srgbClr val="E9E9E9"/>
                      </a:solidFill>
                      <a:prstDash val="solid"/>
                    </a:lnT>
                  </a:tcPr>
                </a:tc>
                <a:tc hMerge="1">
                  <a:txBody>
                    <a:bodyPr/>
                    <a:lstStyle/>
                    <a:p>
                      <a:endParaRPr/>
                    </a:p>
                  </a:txBody>
                  <a:tcPr marL="0" marR="0" marT="0" marB="0"/>
                </a:tc>
                <a:extLst>
                  <a:ext uri="{0D108BD9-81ED-4DB2-BD59-A6C34878D82A}">
                    <a16:rowId xmlns:a16="http://schemas.microsoft.com/office/drawing/2014/main" val="10000"/>
                  </a:ext>
                </a:extLst>
              </a:tr>
              <a:tr h="580390">
                <a:tc>
                  <a:txBody>
                    <a:bodyPr/>
                    <a:lstStyle/>
                    <a:p>
                      <a:pPr>
                        <a:lnSpc>
                          <a:spcPct val="100000"/>
                        </a:lnSpc>
                      </a:pPr>
                      <a:endParaRPr sz="2200">
                        <a:latin typeface="Times New Roman"/>
                        <a:cs typeface="Times New Roman"/>
                      </a:endParaRPr>
                    </a:p>
                  </a:txBody>
                  <a:tcPr marL="0" marR="0" marT="0" marB="0">
                    <a:lnL w="9525">
                      <a:solidFill>
                        <a:srgbClr val="E9E9E9"/>
                      </a:solidFill>
                      <a:prstDash val="solid"/>
                    </a:lnL>
                    <a:solidFill>
                      <a:srgbClr val="F5A700"/>
                    </a:solidFill>
                  </a:tcPr>
                </a:tc>
                <a:tc>
                  <a:txBody>
                    <a:bodyPr/>
                    <a:lstStyle/>
                    <a:p>
                      <a:pPr marL="476884">
                        <a:lnSpc>
                          <a:spcPts val="3900"/>
                        </a:lnSpc>
                      </a:pPr>
                      <a:r>
                        <a:rPr sz="3300" b="1" spc="-130" dirty="0">
                          <a:latin typeface="Tahoma"/>
                          <a:cs typeface="Tahoma"/>
                        </a:rPr>
                        <a:t>Features</a:t>
                      </a:r>
                      <a:r>
                        <a:rPr sz="3300" b="1" spc="-125" dirty="0">
                          <a:latin typeface="Tahoma"/>
                          <a:cs typeface="Tahoma"/>
                        </a:rPr>
                        <a:t> </a:t>
                      </a:r>
                      <a:r>
                        <a:rPr sz="3300" b="1" dirty="0">
                          <a:latin typeface="Tahoma"/>
                          <a:cs typeface="Tahoma"/>
                        </a:rPr>
                        <a:t>of</a:t>
                      </a:r>
                      <a:r>
                        <a:rPr sz="3300" b="1" spc="-65" dirty="0">
                          <a:latin typeface="Tahoma"/>
                          <a:cs typeface="Tahoma"/>
                        </a:rPr>
                        <a:t> </a:t>
                      </a:r>
                      <a:r>
                        <a:rPr sz="3300" b="1" spc="-10" dirty="0">
                          <a:latin typeface="Tahoma"/>
                          <a:cs typeface="Tahoma"/>
                        </a:rPr>
                        <a:t>Environment</a:t>
                      </a:r>
                      <a:endParaRPr sz="3300">
                        <a:latin typeface="Tahoma"/>
                        <a:cs typeface="Tahoma"/>
                      </a:endParaRPr>
                    </a:p>
                  </a:txBody>
                  <a:tcPr marL="0" marR="0" marT="0" marB="0">
                    <a:lnR w="9525">
                      <a:solidFill>
                        <a:srgbClr val="E9E9E9"/>
                      </a:solidFill>
                      <a:prstDash val="solid"/>
                    </a:lnR>
                  </a:tcPr>
                </a:tc>
                <a:extLst>
                  <a:ext uri="{0D108BD9-81ED-4DB2-BD59-A6C34878D82A}">
                    <a16:rowId xmlns:a16="http://schemas.microsoft.com/office/drawing/2014/main" val="10001"/>
                  </a:ext>
                </a:extLst>
              </a:tr>
              <a:tr h="433705">
                <a:tc gridSpan="2">
                  <a:txBody>
                    <a:bodyPr/>
                    <a:lstStyle/>
                    <a:p>
                      <a:pPr marL="737870" indent="-188595">
                        <a:lnSpc>
                          <a:spcPct val="100000"/>
                        </a:lnSpc>
                        <a:spcBef>
                          <a:spcPts val="455"/>
                        </a:spcBef>
                        <a:buFont typeface="Arial MT"/>
                        <a:buChar char="•"/>
                        <a:tabLst>
                          <a:tab pos="737870" algn="l"/>
                        </a:tabLst>
                      </a:pPr>
                      <a:r>
                        <a:rPr sz="2150" spc="100" dirty="0">
                          <a:latin typeface="Tahoma"/>
                          <a:cs typeface="Tahoma"/>
                        </a:rPr>
                        <a:t>As</a:t>
                      </a:r>
                      <a:r>
                        <a:rPr sz="2150" spc="-65" dirty="0">
                          <a:latin typeface="Tahoma"/>
                          <a:cs typeface="Tahoma"/>
                        </a:rPr>
                        <a:t> </a:t>
                      </a:r>
                      <a:r>
                        <a:rPr sz="2150" spc="80" dirty="0">
                          <a:latin typeface="Tahoma"/>
                          <a:cs typeface="Tahoma"/>
                        </a:rPr>
                        <a:t>per</a:t>
                      </a:r>
                      <a:r>
                        <a:rPr sz="2150" spc="-60" dirty="0">
                          <a:latin typeface="Tahoma"/>
                          <a:cs typeface="Tahoma"/>
                        </a:rPr>
                        <a:t> </a:t>
                      </a:r>
                      <a:r>
                        <a:rPr sz="2150" dirty="0">
                          <a:latin typeface="Tahoma"/>
                          <a:cs typeface="Tahoma"/>
                        </a:rPr>
                        <a:t>Russell</a:t>
                      </a:r>
                      <a:r>
                        <a:rPr sz="2150" spc="-60" dirty="0">
                          <a:latin typeface="Tahoma"/>
                          <a:cs typeface="Tahoma"/>
                        </a:rPr>
                        <a:t> </a:t>
                      </a:r>
                      <a:r>
                        <a:rPr sz="2150" spc="75" dirty="0">
                          <a:latin typeface="Tahoma"/>
                          <a:cs typeface="Tahoma"/>
                        </a:rPr>
                        <a:t>and</a:t>
                      </a:r>
                      <a:r>
                        <a:rPr sz="2150" spc="-60" dirty="0">
                          <a:latin typeface="Tahoma"/>
                          <a:cs typeface="Tahoma"/>
                        </a:rPr>
                        <a:t> </a:t>
                      </a:r>
                      <a:r>
                        <a:rPr sz="2150" spc="55" dirty="0">
                          <a:latin typeface="Tahoma"/>
                          <a:cs typeface="Tahoma"/>
                        </a:rPr>
                        <a:t>Norvig,</a:t>
                      </a:r>
                      <a:r>
                        <a:rPr sz="2150" spc="-145" dirty="0">
                          <a:latin typeface="Tahoma"/>
                          <a:cs typeface="Tahoma"/>
                        </a:rPr>
                        <a:t> </a:t>
                      </a:r>
                      <a:r>
                        <a:rPr sz="2150" dirty="0">
                          <a:latin typeface="Tahoma"/>
                          <a:cs typeface="Tahoma"/>
                        </a:rPr>
                        <a:t>an</a:t>
                      </a:r>
                      <a:r>
                        <a:rPr sz="2150" spc="-45" dirty="0">
                          <a:latin typeface="Tahoma"/>
                          <a:cs typeface="Tahoma"/>
                        </a:rPr>
                        <a:t> </a:t>
                      </a:r>
                      <a:r>
                        <a:rPr sz="2150" dirty="0">
                          <a:latin typeface="Tahoma"/>
                          <a:cs typeface="Tahoma"/>
                        </a:rPr>
                        <a:t>environment</a:t>
                      </a:r>
                      <a:r>
                        <a:rPr sz="2150" spc="-45" dirty="0">
                          <a:latin typeface="Tahoma"/>
                          <a:cs typeface="Tahoma"/>
                        </a:rPr>
                        <a:t> </a:t>
                      </a:r>
                      <a:r>
                        <a:rPr sz="2150" spc="50" dirty="0">
                          <a:latin typeface="Tahoma"/>
                          <a:cs typeface="Tahoma"/>
                        </a:rPr>
                        <a:t>can</a:t>
                      </a:r>
                      <a:r>
                        <a:rPr sz="2150" spc="-60" dirty="0">
                          <a:latin typeface="Tahoma"/>
                          <a:cs typeface="Tahoma"/>
                        </a:rPr>
                        <a:t> </a:t>
                      </a:r>
                      <a:r>
                        <a:rPr sz="2150" dirty="0">
                          <a:latin typeface="Tahoma"/>
                          <a:cs typeface="Tahoma"/>
                        </a:rPr>
                        <a:t>have</a:t>
                      </a:r>
                      <a:r>
                        <a:rPr sz="2150" spc="-75" dirty="0">
                          <a:latin typeface="Tahoma"/>
                          <a:cs typeface="Tahoma"/>
                        </a:rPr>
                        <a:t> </a:t>
                      </a:r>
                      <a:r>
                        <a:rPr sz="2150" spc="-10" dirty="0">
                          <a:latin typeface="Tahoma"/>
                          <a:cs typeface="Tahoma"/>
                        </a:rPr>
                        <a:t>various</a:t>
                      </a:r>
                      <a:endParaRPr sz="2150">
                        <a:latin typeface="Tahoma"/>
                        <a:cs typeface="Tahoma"/>
                      </a:endParaRPr>
                    </a:p>
                  </a:txBody>
                  <a:tcPr marL="0" marR="0" marT="57785" marB="0">
                    <a:lnL w="9525">
                      <a:solidFill>
                        <a:srgbClr val="E9E9E9"/>
                      </a:solidFill>
                      <a:prstDash val="solid"/>
                    </a:lnL>
                    <a:lnR w="9525">
                      <a:solidFill>
                        <a:srgbClr val="E9E9E9"/>
                      </a:solidFill>
                      <a:prstDash val="solid"/>
                    </a:lnR>
                    <a:lnB w="9525">
                      <a:solidFill>
                        <a:srgbClr val="E9E9E9"/>
                      </a:solidFill>
                      <a:prstDash val="solid"/>
                    </a:lnB>
                  </a:tcPr>
                </a:tc>
                <a:tc hMerge="1">
                  <a:txBody>
                    <a:bodyPr/>
                    <a:lstStyle/>
                    <a:p>
                      <a:endParaRPr/>
                    </a:p>
                  </a:txBody>
                  <a:tcPr marL="0" marR="0" marT="0" marB="0"/>
                </a:tc>
                <a:extLst>
                  <a:ext uri="{0D108BD9-81ED-4DB2-BD59-A6C34878D82A}">
                    <a16:rowId xmlns:a16="http://schemas.microsoft.com/office/drawing/2014/main" val="10002"/>
                  </a:ext>
                </a:extLst>
              </a:tr>
            </a:tbl>
          </a:graphicData>
        </a:graphic>
      </p:graphicFrame>
      <p:sp>
        <p:nvSpPr>
          <p:cNvPr id="3" name="object 3"/>
          <p:cNvSpPr txBox="1"/>
          <p:nvPr/>
        </p:nvSpPr>
        <p:spPr>
          <a:xfrm>
            <a:off x="982459" y="2558026"/>
            <a:ext cx="5554345" cy="3479165"/>
          </a:xfrm>
          <a:prstGeom prst="rect">
            <a:avLst/>
          </a:prstGeom>
        </p:spPr>
        <p:txBody>
          <a:bodyPr vert="horz" wrap="square" lIns="0" tIns="116205" rIns="0" bIns="0" rtlCol="0">
            <a:spAutoFit/>
          </a:bodyPr>
          <a:lstStyle/>
          <a:p>
            <a:pPr marL="201295">
              <a:lnSpc>
                <a:spcPct val="100000"/>
              </a:lnSpc>
              <a:spcBef>
                <a:spcPts val="915"/>
              </a:spcBef>
            </a:pPr>
            <a:r>
              <a:rPr sz="2150" dirty="0">
                <a:latin typeface="Tahoma"/>
                <a:cs typeface="Tahoma"/>
              </a:rPr>
              <a:t>features</a:t>
            </a:r>
            <a:r>
              <a:rPr sz="2150" spc="-90" dirty="0">
                <a:latin typeface="Tahoma"/>
                <a:cs typeface="Tahoma"/>
              </a:rPr>
              <a:t> </a:t>
            </a:r>
            <a:r>
              <a:rPr sz="2150" dirty="0">
                <a:latin typeface="Tahoma"/>
                <a:cs typeface="Tahoma"/>
              </a:rPr>
              <a:t>from</a:t>
            </a:r>
            <a:r>
              <a:rPr sz="2150" spc="-60" dirty="0">
                <a:latin typeface="Tahoma"/>
                <a:cs typeface="Tahoma"/>
              </a:rPr>
              <a:t> </a:t>
            </a:r>
            <a:r>
              <a:rPr sz="2150" dirty="0">
                <a:latin typeface="Tahoma"/>
                <a:cs typeface="Tahoma"/>
              </a:rPr>
              <a:t>the</a:t>
            </a:r>
            <a:r>
              <a:rPr sz="2150" spc="-90" dirty="0">
                <a:latin typeface="Tahoma"/>
                <a:cs typeface="Tahoma"/>
              </a:rPr>
              <a:t> </a:t>
            </a:r>
            <a:r>
              <a:rPr sz="2150" spc="65" dirty="0">
                <a:latin typeface="Tahoma"/>
                <a:cs typeface="Tahoma"/>
              </a:rPr>
              <a:t>point</a:t>
            </a:r>
            <a:r>
              <a:rPr sz="2150" spc="-60" dirty="0">
                <a:latin typeface="Tahoma"/>
                <a:cs typeface="Tahoma"/>
              </a:rPr>
              <a:t> </a:t>
            </a:r>
            <a:r>
              <a:rPr sz="2150" dirty="0">
                <a:latin typeface="Tahoma"/>
                <a:cs typeface="Tahoma"/>
              </a:rPr>
              <a:t>of</a:t>
            </a:r>
            <a:r>
              <a:rPr sz="2150" spc="-10" dirty="0">
                <a:latin typeface="Tahoma"/>
                <a:cs typeface="Tahoma"/>
              </a:rPr>
              <a:t> </a:t>
            </a:r>
            <a:r>
              <a:rPr sz="2150" dirty="0">
                <a:latin typeface="Tahoma"/>
                <a:cs typeface="Tahoma"/>
              </a:rPr>
              <a:t>view</a:t>
            </a:r>
            <a:r>
              <a:rPr sz="2150" spc="-85" dirty="0">
                <a:latin typeface="Tahoma"/>
                <a:cs typeface="Tahoma"/>
              </a:rPr>
              <a:t> </a:t>
            </a:r>
            <a:r>
              <a:rPr sz="2150" dirty="0">
                <a:latin typeface="Tahoma"/>
                <a:cs typeface="Tahoma"/>
              </a:rPr>
              <a:t>of</a:t>
            </a:r>
            <a:r>
              <a:rPr sz="2150" spc="-10" dirty="0">
                <a:latin typeface="Tahoma"/>
                <a:cs typeface="Tahoma"/>
              </a:rPr>
              <a:t> </a:t>
            </a:r>
            <a:r>
              <a:rPr sz="2150" dirty="0">
                <a:latin typeface="Tahoma"/>
                <a:cs typeface="Tahoma"/>
              </a:rPr>
              <a:t>an</a:t>
            </a:r>
            <a:r>
              <a:rPr sz="2150" spc="-75" dirty="0">
                <a:latin typeface="Tahoma"/>
                <a:cs typeface="Tahoma"/>
              </a:rPr>
              <a:t> </a:t>
            </a:r>
            <a:r>
              <a:rPr sz="2150" spc="-10" dirty="0">
                <a:latin typeface="Tahoma"/>
                <a:cs typeface="Tahoma"/>
              </a:rPr>
              <a:t>agent:</a:t>
            </a:r>
            <a:endParaRPr sz="2150">
              <a:latin typeface="Tahoma"/>
              <a:cs typeface="Tahoma"/>
            </a:endParaRPr>
          </a:p>
          <a:p>
            <a:pPr marL="309245" indent="-296545">
              <a:lnSpc>
                <a:spcPct val="100000"/>
              </a:lnSpc>
              <a:spcBef>
                <a:spcPts val="815"/>
              </a:spcBef>
              <a:buAutoNum type="arabicPeriod"/>
              <a:tabLst>
                <a:tab pos="309245" algn="l"/>
              </a:tabLst>
            </a:pPr>
            <a:r>
              <a:rPr sz="2150" dirty="0">
                <a:latin typeface="Tahoma"/>
                <a:cs typeface="Tahoma"/>
              </a:rPr>
              <a:t>Fully</a:t>
            </a:r>
            <a:r>
              <a:rPr sz="2150" spc="-140" dirty="0">
                <a:latin typeface="Tahoma"/>
                <a:cs typeface="Tahoma"/>
              </a:rPr>
              <a:t> </a:t>
            </a:r>
            <a:r>
              <a:rPr sz="2150" spc="65" dirty="0">
                <a:latin typeface="Tahoma"/>
                <a:cs typeface="Tahoma"/>
              </a:rPr>
              <a:t>observable</a:t>
            </a:r>
            <a:r>
              <a:rPr sz="2150" spc="-105" dirty="0">
                <a:latin typeface="Tahoma"/>
                <a:cs typeface="Tahoma"/>
              </a:rPr>
              <a:t> </a:t>
            </a:r>
            <a:r>
              <a:rPr sz="2150" spc="-35" dirty="0">
                <a:latin typeface="Tahoma"/>
                <a:cs typeface="Tahoma"/>
              </a:rPr>
              <a:t>vs</a:t>
            </a:r>
            <a:r>
              <a:rPr sz="2150" spc="-125" dirty="0">
                <a:latin typeface="Tahoma"/>
                <a:cs typeface="Tahoma"/>
              </a:rPr>
              <a:t> </a:t>
            </a:r>
            <a:r>
              <a:rPr sz="2150" dirty="0">
                <a:latin typeface="Tahoma"/>
                <a:cs typeface="Tahoma"/>
              </a:rPr>
              <a:t>Partially</a:t>
            </a:r>
            <a:r>
              <a:rPr sz="2150" spc="-130" dirty="0">
                <a:latin typeface="Tahoma"/>
                <a:cs typeface="Tahoma"/>
              </a:rPr>
              <a:t> </a:t>
            </a:r>
            <a:r>
              <a:rPr sz="2150" spc="65" dirty="0">
                <a:latin typeface="Tahoma"/>
                <a:cs typeface="Tahoma"/>
              </a:rPr>
              <a:t>Observable</a:t>
            </a:r>
            <a:endParaRPr sz="2150">
              <a:latin typeface="Tahoma"/>
              <a:cs typeface="Tahoma"/>
            </a:endParaRPr>
          </a:p>
          <a:p>
            <a:pPr marL="309245" indent="-296545">
              <a:lnSpc>
                <a:spcPct val="100000"/>
              </a:lnSpc>
              <a:spcBef>
                <a:spcPts val="815"/>
              </a:spcBef>
              <a:buAutoNum type="arabicPeriod"/>
              <a:tabLst>
                <a:tab pos="309245" algn="l"/>
              </a:tabLst>
            </a:pPr>
            <a:r>
              <a:rPr sz="2150" dirty="0">
                <a:latin typeface="Tahoma"/>
                <a:cs typeface="Tahoma"/>
              </a:rPr>
              <a:t>Static</a:t>
            </a:r>
            <a:r>
              <a:rPr sz="2150" spc="-165" dirty="0">
                <a:latin typeface="Tahoma"/>
                <a:cs typeface="Tahoma"/>
              </a:rPr>
              <a:t> </a:t>
            </a:r>
            <a:r>
              <a:rPr sz="2150" spc="-20" dirty="0">
                <a:latin typeface="Tahoma"/>
                <a:cs typeface="Tahoma"/>
              </a:rPr>
              <a:t>vs</a:t>
            </a:r>
            <a:r>
              <a:rPr sz="2150" spc="-140" dirty="0">
                <a:latin typeface="Tahoma"/>
                <a:cs typeface="Tahoma"/>
              </a:rPr>
              <a:t> </a:t>
            </a:r>
            <a:r>
              <a:rPr sz="2150" spc="45" dirty="0">
                <a:latin typeface="Tahoma"/>
                <a:cs typeface="Tahoma"/>
              </a:rPr>
              <a:t>Dynamic</a:t>
            </a:r>
            <a:endParaRPr sz="2150">
              <a:latin typeface="Tahoma"/>
              <a:cs typeface="Tahoma"/>
            </a:endParaRPr>
          </a:p>
          <a:p>
            <a:pPr marL="309245" indent="-296545">
              <a:lnSpc>
                <a:spcPct val="100000"/>
              </a:lnSpc>
              <a:spcBef>
                <a:spcPts val="830"/>
              </a:spcBef>
              <a:buAutoNum type="arabicPeriod"/>
              <a:tabLst>
                <a:tab pos="309245" algn="l"/>
              </a:tabLst>
            </a:pPr>
            <a:r>
              <a:rPr sz="2150" dirty="0">
                <a:latin typeface="Tahoma"/>
                <a:cs typeface="Tahoma"/>
              </a:rPr>
              <a:t>Discrete</a:t>
            </a:r>
            <a:r>
              <a:rPr sz="2150" spc="25" dirty="0">
                <a:latin typeface="Tahoma"/>
                <a:cs typeface="Tahoma"/>
              </a:rPr>
              <a:t> </a:t>
            </a:r>
            <a:r>
              <a:rPr sz="2150" spc="-30" dirty="0">
                <a:latin typeface="Tahoma"/>
                <a:cs typeface="Tahoma"/>
              </a:rPr>
              <a:t>vs</a:t>
            </a:r>
            <a:r>
              <a:rPr sz="2150" spc="15" dirty="0">
                <a:latin typeface="Tahoma"/>
                <a:cs typeface="Tahoma"/>
              </a:rPr>
              <a:t> </a:t>
            </a:r>
            <a:r>
              <a:rPr sz="2150" spc="55" dirty="0">
                <a:latin typeface="Tahoma"/>
                <a:cs typeface="Tahoma"/>
              </a:rPr>
              <a:t>Continuous</a:t>
            </a:r>
            <a:endParaRPr sz="2150">
              <a:latin typeface="Tahoma"/>
              <a:cs typeface="Tahoma"/>
            </a:endParaRPr>
          </a:p>
          <a:p>
            <a:pPr marL="309245" indent="-296545">
              <a:lnSpc>
                <a:spcPct val="100000"/>
              </a:lnSpc>
              <a:spcBef>
                <a:spcPts val="815"/>
              </a:spcBef>
              <a:buAutoNum type="arabicPeriod"/>
              <a:tabLst>
                <a:tab pos="309245" algn="l"/>
              </a:tabLst>
            </a:pPr>
            <a:r>
              <a:rPr sz="2150" dirty="0">
                <a:latin typeface="Tahoma"/>
                <a:cs typeface="Tahoma"/>
              </a:rPr>
              <a:t>Deterministic</a:t>
            </a:r>
            <a:r>
              <a:rPr sz="2150" spc="135" dirty="0">
                <a:latin typeface="Tahoma"/>
                <a:cs typeface="Tahoma"/>
              </a:rPr>
              <a:t> </a:t>
            </a:r>
            <a:r>
              <a:rPr sz="2150" spc="-20" dirty="0">
                <a:latin typeface="Tahoma"/>
                <a:cs typeface="Tahoma"/>
              </a:rPr>
              <a:t>vs</a:t>
            </a:r>
            <a:r>
              <a:rPr sz="2150" spc="145" dirty="0">
                <a:latin typeface="Tahoma"/>
                <a:cs typeface="Tahoma"/>
              </a:rPr>
              <a:t> </a:t>
            </a:r>
            <a:r>
              <a:rPr sz="2150" spc="-10" dirty="0">
                <a:latin typeface="Tahoma"/>
                <a:cs typeface="Tahoma"/>
              </a:rPr>
              <a:t>Stochastic</a:t>
            </a:r>
            <a:endParaRPr sz="2150">
              <a:latin typeface="Tahoma"/>
              <a:cs typeface="Tahoma"/>
            </a:endParaRPr>
          </a:p>
          <a:p>
            <a:pPr marL="309245" indent="-296545">
              <a:lnSpc>
                <a:spcPct val="100000"/>
              </a:lnSpc>
              <a:spcBef>
                <a:spcPts val="815"/>
              </a:spcBef>
              <a:buAutoNum type="arabicPeriod"/>
              <a:tabLst>
                <a:tab pos="309245" algn="l"/>
              </a:tabLst>
            </a:pPr>
            <a:r>
              <a:rPr sz="2150" dirty="0">
                <a:latin typeface="Tahoma"/>
                <a:cs typeface="Tahoma"/>
              </a:rPr>
              <a:t>Single-</a:t>
            </a:r>
            <a:r>
              <a:rPr sz="2150" spc="50" dirty="0">
                <a:latin typeface="Tahoma"/>
                <a:cs typeface="Tahoma"/>
              </a:rPr>
              <a:t>agent</a:t>
            </a:r>
            <a:r>
              <a:rPr sz="2150" spc="135" dirty="0">
                <a:latin typeface="Tahoma"/>
                <a:cs typeface="Tahoma"/>
              </a:rPr>
              <a:t> </a:t>
            </a:r>
            <a:r>
              <a:rPr sz="2150" spc="-30" dirty="0">
                <a:latin typeface="Tahoma"/>
                <a:cs typeface="Tahoma"/>
              </a:rPr>
              <a:t>vs</a:t>
            </a:r>
            <a:r>
              <a:rPr sz="2150" spc="130" dirty="0">
                <a:latin typeface="Tahoma"/>
                <a:cs typeface="Tahoma"/>
              </a:rPr>
              <a:t> </a:t>
            </a:r>
            <a:r>
              <a:rPr sz="2150" dirty="0">
                <a:latin typeface="Tahoma"/>
                <a:cs typeface="Tahoma"/>
              </a:rPr>
              <a:t>Multi-</a:t>
            </a:r>
            <a:r>
              <a:rPr sz="2150" spc="40" dirty="0">
                <a:latin typeface="Tahoma"/>
                <a:cs typeface="Tahoma"/>
              </a:rPr>
              <a:t>agent</a:t>
            </a:r>
            <a:endParaRPr sz="2150">
              <a:latin typeface="Tahoma"/>
              <a:cs typeface="Tahoma"/>
            </a:endParaRPr>
          </a:p>
          <a:p>
            <a:pPr marL="309245" indent="-296545">
              <a:lnSpc>
                <a:spcPct val="100000"/>
              </a:lnSpc>
              <a:spcBef>
                <a:spcPts val="815"/>
              </a:spcBef>
              <a:buAutoNum type="arabicPeriod"/>
              <a:tabLst>
                <a:tab pos="309245" algn="l"/>
              </a:tabLst>
            </a:pPr>
            <a:r>
              <a:rPr sz="2150" spc="85" dirty="0">
                <a:latin typeface="Tahoma"/>
                <a:cs typeface="Tahoma"/>
              </a:rPr>
              <a:t>Episodic</a:t>
            </a:r>
            <a:r>
              <a:rPr sz="2150" spc="-130" dirty="0">
                <a:latin typeface="Tahoma"/>
                <a:cs typeface="Tahoma"/>
              </a:rPr>
              <a:t> </a:t>
            </a:r>
            <a:r>
              <a:rPr sz="2150" spc="-30" dirty="0">
                <a:latin typeface="Tahoma"/>
                <a:cs typeface="Tahoma"/>
              </a:rPr>
              <a:t>vs</a:t>
            </a:r>
            <a:r>
              <a:rPr sz="2150" spc="-135" dirty="0">
                <a:latin typeface="Tahoma"/>
                <a:cs typeface="Tahoma"/>
              </a:rPr>
              <a:t> </a:t>
            </a:r>
            <a:r>
              <a:rPr sz="2150" spc="-10" dirty="0">
                <a:latin typeface="Tahoma"/>
                <a:cs typeface="Tahoma"/>
              </a:rPr>
              <a:t>sequential</a:t>
            </a:r>
            <a:endParaRPr sz="2150">
              <a:latin typeface="Tahoma"/>
              <a:cs typeface="Tahoma"/>
            </a:endParaRPr>
          </a:p>
          <a:p>
            <a:pPr marL="309245" indent="-296545">
              <a:lnSpc>
                <a:spcPct val="100000"/>
              </a:lnSpc>
              <a:spcBef>
                <a:spcPts val="830"/>
              </a:spcBef>
              <a:buAutoNum type="arabicPeriod"/>
              <a:tabLst>
                <a:tab pos="309245" algn="l"/>
              </a:tabLst>
            </a:pPr>
            <a:r>
              <a:rPr sz="2150" spc="50" dirty="0">
                <a:latin typeface="Tahoma"/>
                <a:cs typeface="Tahoma"/>
              </a:rPr>
              <a:t>Known</a:t>
            </a:r>
            <a:r>
              <a:rPr sz="2150" spc="-135" dirty="0">
                <a:latin typeface="Tahoma"/>
                <a:cs typeface="Tahoma"/>
              </a:rPr>
              <a:t> </a:t>
            </a:r>
            <a:r>
              <a:rPr sz="2150" spc="-20" dirty="0">
                <a:latin typeface="Tahoma"/>
                <a:cs typeface="Tahoma"/>
              </a:rPr>
              <a:t>vs</a:t>
            </a:r>
            <a:r>
              <a:rPr sz="2150" spc="-135" dirty="0">
                <a:latin typeface="Tahoma"/>
                <a:cs typeface="Tahoma"/>
              </a:rPr>
              <a:t> </a:t>
            </a:r>
            <a:r>
              <a:rPr sz="2150" spc="35" dirty="0">
                <a:latin typeface="Tahoma"/>
                <a:cs typeface="Tahoma"/>
              </a:rPr>
              <a:t>Unknown</a:t>
            </a:r>
            <a:endParaRPr sz="2150">
              <a:latin typeface="Tahoma"/>
              <a:cs typeface="Tahom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5875" rIns="0" bIns="0" rtlCol="0">
            <a:spAutoFit/>
          </a:bodyPr>
          <a:lstStyle/>
          <a:p>
            <a:pPr marL="13970">
              <a:lnSpc>
                <a:spcPct val="100000"/>
              </a:lnSpc>
              <a:spcBef>
                <a:spcPts val="125"/>
              </a:spcBef>
            </a:pPr>
            <a:r>
              <a:rPr sz="2950" dirty="0"/>
              <a:t>1.</a:t>
            </a:r>
            <a:r>
              <a:rPr sz="2950" spc="-225" dirty="0"/>
              <a:t> </a:t>
            </a:r>
            <a:r>
              <a:rPr sz="2950" spc="-40" dirty="0"/>
              <a:t>Fully</a:t>
            </a:r>
            <a:r>
              <a:rPr sz="2950" spc="-145" dirty="0"/>
              <a:t> </a:t>
            </a:r>
            <a:r>
              <a:rPr sz="2950" spc="-20" dirty="0"/>
              <a:t>observable</a:t>
            </a:r>
            <a:r>
              <a:rPr sz="2950" spc="-125" dirty="0"/>
              <a:t> </a:t>
            </a:r>
            <a:r>
              <a:rPr sz="2950" spc="-90" dirty="0"/>
              <a:t>vs</a:t>
            </a:r>
            <a:r>
              <a:rPr sz="2950" spc="-125" dirty="0"/>
              <a:t> </a:t>
            </a:r>
            <a:r>
              <a:rPr sz="2950" spc="-75" dirty="0"/>
              <a:t>Partially</a:t>
            </a:r>
            <a:r>
              <a:rPr sz="2950" spc="-145" dirty="0"/>
              <a:t> </a:t>
            </a:r>
            <a:r>
              <a:rPr sz="2950" spc="-10" dirty="0"/>
              <a:t>Observable:</a:t>
            </a:r>
            <a:endParaRPr sz="2950"/>
          </a:p>
        </p:txBody>
      </p:sp>
      <p:sp>
        <p:nvSpPr>
          <p:cNvPr id="3" name="object 3"/>
          <p:cNvSpPr txBox="1"/>
          <p:nvPr/>
        </p:nvSpPr>
        <p:spPr>
          <a:xfrm>
            <a:off x="984096" y="2495828"/>
            <a:ext cx="121285" cy="353060"/>
          </a:xfrm>
          <a:prstGeom prst="rect">
            <a:avLst/>
          </a:prstGeom>
        </p:spPr>
        <p:txBody>
          <a:bodyPr vert="horz" wrap="square" lIns="0" tIns="12065" rIns="0" bIns="0" rtlCol="0">
            <a:spAutoFit/>
          </a:bodyPr>
          <a:lstStyle/>
          <a:p>
            <a:pPr marL="12700">
              <a:lnSpc>
                <a:spcPct val="100000"/>
              </a:lnSpc>
              <a:spcBef>
                <a:spcPts val="95"/>
              </a:spcBef>
            </a:pPr>
            <a:r>
              <a:rPr sz="2150" spc="-50" dirty="0">
                <a:latin typeface="Arial MT"/>
                <a:cs typeface="Arial MT"/>
              </a:rPr>
              <a:t>•</a:t>
            </a:r>
            <a:endParaRPr sz="2150">
              <a:latin typeface="Arial MT"/>
              <a:cs typeface="Arial MT"/>
            </a:endParaRPr>
          </a:p>
        </p:txBody>
      </p:sp>
      <p:sp>
        <p:nvSpPr>
          <p:cNvPr id="4" name="object 4"/>
          <p:cNvSpPr txBox="1"/>
          <p:nvPr/>
        </p:nvSpPr>
        <p:spPr>
          <a:xfrm>
            <a:off x="1185672" y="2517648"/>
            <a:ext cx="7846059" cy="332740"/>
          </a:xfrm>
          <a:prstGeom prst="rect">
            <a:avLst/>
          </a:prstGeom>
          <a:solidFill>
            <a:srgbClr val="FFFF00"/>
          </a:solidFill>
        </p:spPr>
        <p:txBody>
          <a:bodyPr vert="horz" wrap="square" lIns="0" tIns="0" rIns="0" bIns="0" rtlCol="0">
            <a:spAutoFit/>
          </a:bodyPr>
          <a:lstStyle/>
          <a:p>
            <a:pPr>
              <a:lnSpc>
                <a:spcPts val="2505"/>
              </a:lnSpc>
            </a:pPr>
            <a:r>
              <a:rPr sz="2150" spc="-165" dirty="0">
                <a:latin typeface="Tahoma"/>
                <a:cs typeface="Tahoma"/>
              </a:rPr>
              <a:t>If</a:t>
            </a:r>
            <a:r>
              <a:rPr sz="2150" spc="-5" dirty="0">
                <a:latin typeface="Tahoma"/>
                <a:cs typeface="Tahoma"/>
              </a:rPr>
              <a:t> </a:t>
            </a:r>
            <a:r>
              <a:rPr sz="2150" dirty="0">
                <a:latin typeface="Tahoma"/>
                <a:cs typeface="Tahoma"/>
              </a:rPr>
              <a:t>an</a:t>
            </a:r>
            <a:r>
              <a:rPr sz="2150" spc="-75" dirty="0">
                <a:latin typeface="Tahoma"/>
                <a:cs typeface="Tahoma"/>
              </a:rPr>
              <a:t> </a:t>
            </a:r>
            <a:r>
              <a:rPr sz="2150" spc="50" dirty="0">
                <a:latin typeface="Tahoma"/>
                <a:cs typeface="Tahoma"/>
              </a:rPr>
              <a:t>agent</a:t>
            </a:r>
            <a:r>
              <a:rPr sz="2150" spc="-85" dirty="0">
                <a:latin typeface="Tahoma"/>
                <a:cs typeface="Tahoma"/>
              </a:rPr>
              <a:t> </a:t>
            </a:r>
            <a:r>
              <a:rPr sz="2150" dirty="0">
                <a:latin typeface="Tahoma"/>
                <a:cs typeface="Tahoma"/>
              </a:rPr>
              <a:t>sensor</a:t>
            </a:r>
            <a:r>
              <a:rPr sz="2150" spc="-50" dirty="0">
                <a:latin typeface="Tahoma"/>
                <a:cs typeface="Tahoma"/>
              </a:rPr>
              <a:t> </a:t>
            </a:r>
            <a:r>
              <a:rPr sz="2150" spc="50" dirty="0">
                <a:latin typeface="Tahoma"/>
                <a:cs typeface="Tahoma"/>
              </a:rPr>
              <a:t>can</a:t>
            </a:r>
            <a:r>
              <a:rPr sz="2150" spc="-70" dirty="0">
                <a:latin typeface="Tahoma"/>
                <a:cs typeface="Tahoma"/>
              </a:rPr>
              <a:t> </a:t>
            </a:r>
            <a:r>
              <a:rPr sz="2150" dirty="0">
                <a:latin typeface="Tahoma"/>
                <a:cs typeface="Tahoma"/>
              </a:rPr>
              <a:t>sense</a:t>
            </a:r>
            <a:r>
              <a:rPr sz="2150" spc="-75" dirty="0">
                <a:latin typeface="Tahoma"/>
                <a:cs typeface="Tahoma"/>
              </a:rPr>
              <a:t> </a:t>
            </a:r>
            <a:r>
              <a:rPr sz="2150" spc="65" dirty="0">
                <a:latin typeface="Tahoma"/>
                <a:cs typeface="Tahoma"/>
              </a:rPr>
              <a:t>or</a:t>
            </a:r>
            <a:r>
              <a:rPr sz="2150" spc="-70" dirty="0">
                <a:latin typeface="Tahoma"/>
                <a:cs typeface="Tahoma"/>
              </a:rPr>
              <a:t> </a:t>
            </a:r>
            <a:r>
              <a:rPr sz="2150" dirty="0">
                <a:latin typeface="Tahoma"/>
                <a:cs typeface="Tahoma"/>
              </a:rPr>
              <a:t>access</a:t>
            </a:r>
            <a:r>
              <a:rPr sz="2150" spc="-105" dirty="0">
                <a:latin typeface="Tahoma"/>
                <a:cs typeface="Tahoma"/>
              </a:rPr>
              <a:t> </a:t>
            </a:r>
            <a:r>
              <a:rPr sz="2150" dirty="0">
                <a:latin typeface="Tahoma"/>
                <a:cs typeface="Tahoma"/>
              </a:rPr>
              <a:t>the</a:t>
            </a:r>
            <a:r>
              <a:rPr sz="2150" spc="-60" dirty="0">
                <a:latin typeface="Tahoma"/>
                <a:cs typeface="Tahoma"/>
              </a:rPr>
              <a:t> </a:t>
            </a:r>
            <a:r>
              <a:rPr sz="2150" spc="85" dirty="0">
                <a:latin typeface="Tahoma"/>
                <a:cs typeface="Tahoma"/>
              </a:rPr>
              <a:t>complete</a:t>
            </a:r>
            <a:r>
              <a:rPr sz="2150" spc="-80" dirty="0">
                <a:latin typeface="Tahoma"/>
                <a:cs typeface="Tahoma"/>
              </a:rPr>
              <a:t> </a:t>
            </a:r>
            <a:r>
              <a:rPr sz="2150" spc="-10" dirty="0">
                <a:latin typeface="Tahoma"/>
                <a:cs typeface="Tahoma"/>
              </a:rPr>
              <a:t>state</a:t>
            </a:r>
            <a:r>
              <a:rPr sz="2150" spc="-70" dirty="0">
                <a:latin typeface="Tahoma"/>
                <a:cs typeface="Tahoma"/>
              </a:rPr>
              <a:t> </a:t>
            </a:r>
            <a:r>
              <a:rPr sz="2150" dirty="0">
                <a:latin typeface="Tahoma"/>
                <a:cs typeface="Tahoma"/>
              </a:rPr>
              <a:t>of</a:t>
            </a:r>
            <a:r>
              <a:rPr sz="2150" spc="-25" dirty="0">
                <a:latin typeface="Tahoma"/>
                <a:cs typeface="Tahoma"/>
              </a:rPr>
              <a:t> an</a:t>
            </a:r>
            <a:endParaRPr sz="2150">
              <a:latin typeface="Tahoma"/>
              <a:cs typeface="Tahoma"/>
            </a:endParaRPr>
          </a:p>
        </p:txBody>
      </p:sp>
      <p:sp>
        <p:nvSpPr>
          <p:cNvPr id="5" name="object 5"/>
          <p:cNvSpPr txBox="1"/>
          <p:nvPr/>
        </p:nvSpPr>
        <p:spPr>
          <a:xfrm>
            <a:off x="1185672" y="2845307"/>
            <a:ext cx="7793990" cy="332740"/>
          </a:xfrm>
          <a:prstGeom prst="rect">
            <a:avLst/>
          </a:prstGeom>
          <a:solidFill>
            <a:srgbClr val="FFFF00"/>
          </a:solidFill>
        </p:spPr>
        <p:txBody>
          <a:bodyPr vert="horz" wrap="square" lIns="0" tIns="0" rIns="0" bIns="0" rtlCol="0">
            <a:spAutoFit/>
          </a:bodyPr>
          <a:lstStyle/>
          <a:p>
            <a:pPr>
              <a:lnSpc>
                <a:spcPts val="2505"/>
              </a:lnSpc>
            </a:pPr>
            <a:r>
              <a:rPr sz="2150" dirty="0">
                <a:latin typeface="Tahoma"/>
                <a:cs typeface="Tahoma"/>
              </a:rPr>
              <a:t>environment</a:t>
            </a:r>
            <a:r>
              <a:rPr sz="2150" spc="-55" dirty="0">
                <a:latin typeface="Tahoma"/>
                <a:cs typeface="Tahoma"/>
              </a:rPr>
              <a:t> </a:t>
            </a:r>
            <a:r>
              <a:rPr sz="2150" spc="-30" dirty="0">
                <a:latin typeface="Tahoma"/>
                <a:cs typeface="Tahoma"/>
              </a:rPr>
              <a:t>at</a:t>
            </a:r>
            <a:r>
              <a:rPr sz="2150" spc="-55" dirty="0">
                <a:latin typeface="Tahoma"/>
                <a:cs typeface="Tahoma"/>
              </a:rPr>
              <a:t> </a:t>
            </a:r>
            <a:r>
              <a:rPr sz="2150" spc="50" dirty="0">
                <a:latin typeface="Tahoma"/>
                <a:cs typeface="Tahoma"/>
              </a:rPr>
              <a:t>each</a:t>
            </a:r>
            <a:r>
              <a:rPr sz="2150" spc="-75" dirty="0">
                <a:latin typeface="Tahoma"/>
                <a:cs typeface="Tahoma"/>
              </a:rPr>
              <a:t> </a:t>
            </a:r>
            <a:r>
              <a:rPr sz="2150" spc="65" dirty="0">
                <a:latin typeface="Tahoma"/>
                <a:cs typeface="Tahoma"/>
              </a:rPr>
              <a:t>point</a:t>
            </a:r>
            <a:r>
              <a:rPr sz="2150" spc="-75" dirty="0">
                <a:latin typeface="Tahoma"/>
                <a:cs typeface="Tahoma"/>
              </a:rPr>
              <a:t> </a:t>
            </a:r>
            <a:r>
              <a:rPr sz="2150" dirty="0">
                <a:latin typeface="Tahoma"/>
                <a:cs typeface="Tahoma"/>
              </a:rPr>
              <a:t>of</a:t>
            </a:r>
            <a:r>
              <a:rPr sz="2150" spc="-5" dirty="0">
                <a:latin typeface="Tahoma"/>
                <a:cs typeface="Tahoma"/>
              </a:rPr>
              <a:t> </a:t>
            </a:r>
            <a:r>
              <a:rPr sz="2150" dirty="0">
                <a:latin typeface="Tahoma"/>
                <a:cs typeface="Tahoma"/>
              </a:rPr>
              <a:t>time</a:t>
            </a:r>
            <a:r>
              <a:rPr sz="2150" spc="-75" dirty="0">
                <a:latin typeface="Tahoma"/>
                <a:cs typeface="Tahoma"/>
              </a:rPr>
              <a:t> </a:t>
            </a:r>
            <a:r>
              <a:rPr sz="2150" dirty="0">
                <a:latin typeface="Tahoma"/>
                <a:cs typeface="Tahoma"/>
              </a:rPr>
              <a:t>then</a:t>
            </a:r>
            <a:r>
              <a:rPr sz="2150" spc="-55" dirty="0">
                <a:latin typeface="Tahoma"/>
                <a:cs typeface="Tahoma"/>
              </a:rPr>
              <a:t> </a:t>
            </a:r>
            <a:r>
              <a:rPr sz="2150" dirty="0">
                <a:latin typeface="Tahoma"/>
                <a:cs typeface="Tahoma"/>
              </a:rPr>
              <a:t>it</a:t>
            </a:r>
            <a:r>
              <a:rPr sz="2150" spc="-55" dirty="0">
                <a:latin typeface="Tahoma"/>
                <a:cs typeface="Tahoma"/>
              </a:rPr>
              <a:t> </a:t>
            </a:r>
            <a:r>
              <a:rPr sz="2150" dirty="0">
                <a:latin typeface="Tahoma"/>
                <a:cs typeface="Tahoma"/>
              </a:rPr>
              <a:t>is</a:t>
            </a:r>
            <a:r>
              <a:rPr sz="2150" spc="-80" dirty="0">
                <a:latin typeface="Tahoma"/>
                <a:cs typeface="Tahoma"/>
              </a:rPr>
              <a:t> </a:t>
            </a:r>
            <a:r>
              <a:rPr sz="2150" b="1" spc="-85" dirty="0">
                <a:latin typeface="Tahoma"/>
                <a:cs typeface="Tahoma"/>
              </a:rPr>
              <a:t>a</a:t>
            </a:r>
            <a:r>
              <a:rPr sz="2150" b="1" spc="-20" dirty="0">
                <a:latin typeface="Tahoma"/>
                <a:cs typeface="Tahoma"/>
              </a:rPr>
              <a:t> </a:t>
            </a:r>
            <a:r>
              <a:rPr sz="2150" b="1" spc="-30" dirty="0">
                <a:latin typeface="Tahoma"/>
                <a:cs typeface="Tahoma"/>
              </a:rPr>
              <a:t>fully</a:t>
            </a:r>
            <a:r>
              <a:rPr sz="2150" b="1" spc="-5" dirty="0">
                <a:latin typeface="Tahoma"/>
                <a:cs typeface="Tahoma"/>
              </a:rPr>
              <a:t> </a:t>
            </a:r>
            <a:r>
              <a:rPr sz="2150" b="1" spc="-10" dirty="0">
                <a:latin typeface="Tahoma"/>
                <a:cs typeface="Tahoma"/>
              </a:rPr>
              <a:t>observable</a:t>
            </a:r>
            <a:endParaRPr sz="2150">
              <a:latin typeface="Tahoma"/>
              <a:cs typeface="Tahoma"/>
            </a:endParaRPr>
          </a:p>
        </p:txBody>
      </p:sp>
      <p:sp>
        <p:nvSpPr>
          <p:cNvPr id="6" name="object 6"/>
          <p:cNvSpPr txBox="1"/>
          <p:nvPr/>
        </p:nvSpPr>
        <p:spPr>
          <a:xfrm>
            <a:off x="1185672" y="3171444"/>
            <a:ext cx="5479415" cy="332740"/>
          </a:xfrm>
          <a:prstGeom prst="rect">
            <a:avLst/>
          </a:prstGeom>
          <a:solidFill>
            <a:srgbClr val="FFFF00"/>
          </a:solidFill>
        </p:spPr>
        <p:txBody>
          <a:bodyPr vert="horz" wrap="square" lIns="0" tIns="0" rIns="0" bIns="0" rtlCol="0">
            <a:spAutoFit/>
          </a:bodyPr>
          <a:lstStyle/>
          <a:p>
            <a:pPr>
              <a:lnSpc>
                <a:spcPts val="2505"/>
              </a:lnSpc>
            </a:pPr>
            <a:r>
              <a:rPr sz="2150" dirty="0">
                <a:latin typeface="Tahoma"/>
                <a:cs typeface="Tahoma"/>
              </a:rPr>
              <a:t>environment,</a:t>
            </a:r>
            <a:r>
              <a:rPr sz="2150" spc="-110" dirty="0">
                <a:latin typeface="Tahoma"/>
                <a:cs typeface="Tahoma"/>
              </a:rPr>
              <a:t> </a:t>
            </a:r>
            <a:r>
              <a:rPr sz="2150" dirty="0">
                <a:latin typeface="Tahoma"/>
                <a:cs typeface="Tahoma"/>
              </a:rPr>
              <a:t>else</a:t>
            </a:r>
            <a:r>
              <a:rPr sz="2150" spc="-20" dirty="0">
                <a:latin typeface="Tahoma"/>
                <a:cs typeface="Tahoma"/>
              </a:rPr>
              <a:t> </a:t>
            </a:r>
            <a:r>
              <a:rPr sz="2150" dirty="0">
                <a:latin typeface="Tahoma"/>
                <a:cs typeface="Tahoma"/>
              </a:rPr>
              <a:t>it</a:t>
            </a:r>
            <a:r>
              <a:rPr sz="2150" spc="-15" dirty="0">
                <a:latin typeface="Tahoma"/>
                <a:cs typeface="Tahoma"/>
              </a:rPr>
              <a:t> </a:t>
            </a:r>
            <a:r>
              <a:rPr sz="2150" dirty="0">
                <a:latin typeface="Tahoma"/>
                <a:cs typeface="Tahoma"/>
              </a:rPr>
              <a:t>is</a:t>
            </a:r>
            <a:r>
              <a:rPr sz="2150" spc="-45" dirty="0">
                <a:latin typeface="Tahoma"/>
                <a:cs typeface="Tahoma"/>
              </a:rPr>
              <a:t> </a:t>
            </a:r>
            <a:r>
              <a:rPr sz="2150" b="1" spc="-40" dirty="0">
                <a:latin typeface="Tahoma"/>
                <a:cs typeface="Tahoma"/>
              </a:rPr>
              <a:t>partially</a:t>
            </a:r>
            <a:r>
              <a:rPr sz="2150" b="1" spc="25" dirty="0">
                <a:latin typeface="Tahoma"/>
                <a:cs typeface="Tahoma"/>
              </a:rPr>
              <a:t> </a:t>
            </a:r>
            <a:r>
              <a:rPr sz="2150" b="1" spc="-10" dirty="0">
                <a:latin typeface="Tahoma"/>
                <a:cs typeface="Tahoma"/>
              </a:rPr>
              <a:t>observable</a:t>
            </a:r>
            <a:r>
              <a:rPr sz="2150" spc="-10" dirty="0">
                <a:latin typeface="Tahoma"/>
                <a:cs typeface="Tahoma"/>
              </a:rPr>
              <a:t>.</a:t>
            </a:r>
            <a:endParaRPr sz="2150">
              <a:latin typeface="Tahoma"/>
              <a:cs typeface="Tahoma"/>
            </a:endParaRPr>
          </a:p>
        </p:txBody>
      </p:sp>
      <p:sp>
        <p:nvSpPr>
          <p:cNvPr id="7" name="object 7"/>
          <p:cNvSpPr txBox="1"/>
          <p:nvPr/>
        </p:nvSpPr>
        <p:spPr>
          <a:xfrm>
            <a:off x="984096" y="3582374"/>
            <a:ext cx="7903845" cy="2522855"/>
          </a:xfrm>
          <a:prstGeom prst="rect">
            <a:avLst/>
          </a:prstGeom>
        </p:spPr>
        <p:txBody>
          <a:bodyPr vert="horz" wrap="square" lIns="0" tIns="24130" rIns="0" bIns="0" rtlCol="0">
            <a:spAutoFit/>
          </a:bodyPr>
          <a:lstStyle/>
          <a:p>
            <a:pPr marL="201295" marR="217170" indent="-189230">
              <a:lnSpc>
                <a:spcPts val="2570"/>
              </a:lnSpc>
              <a:spcBef>
                <a:spcPts val="190"/>
              </a:spcBef>
              <a:buFont typeface="Arial MT"/>
              <a:buChar char="•"/>
              <a:tabLst>
                <a:tab pos="201295" algn="l"/>
              </a:tabLst>
            </a:pPr>
            <a:r>
              <a:rPr sz="2150" spc="204" dirty="0">
                <a:latin typeface="Tahoma"/>
                <a:cs typeface="Tahoma"/>
              </a:rPr>
              <a:t>A</a:t>
            </a:r>
            <a:r>
              <a:rPr sz="2150" spc="-114" dirty="0">
                <a:latin typeface="Tahoma"/>
                <a:cs typeface="Tahoma"/>
              </a:rPr>
              <a:t> </a:t>
            </a:r>
            <a:r>
              <a:rPr sz="2150" dirty="0">
                <a:latin typeface="Tahoma"/>
                <a:cs typeface="Tahoma"/>
              </a:rPr>
              <a:t>fully</a:t>
            </a:r>
            <a:r>
              <a:rPr sz="2150" spc="-100" dirty="0">
                <a:latin typeface="Tahoma"/>
                <a:cs typeface="Tahoma"/>
              </a:rPr>
              <a:t> </a:t>
            </a:r>
            <a:r>
              <a:rPr sz="2150" spc="65" dirty="0">
                <a:latin typeface="Tahoma"/>
                <a:cs typeface="Tahoma"/>
              </a:rPr>
              <a:t>observable</a:t>
            </a:r>
            <a:r>
              <a:rPr sz="2150" spc="-55" dirty="0">
                <a:latin typeface="Tahoma"/>
                <a:cs typeface="Tahoma"/>
              </a:rPr>
              <a:t> </a:t>
            </a:r>
            <a:r>
              <a:rPr sz="2150" dirty="0">
                <a:latin typeface="Tahoma"/>
                <a:cs typeface="Tahoma"/>
              </a:rPr>
              <a:t>environment</a:t>
            </a:r>
            <a:r>
              <a:rPr sz="2150" spc="-70" dirty="0">
                <a:latin typeface="Tahoma"/>
                <a:cs typeface="Tahoma"/>
              </a:rPr>
              <a:t> </a:t>
            </a:r>
            <a:r>
              <a:rPr sz="2150" dirty="0">
                <a:latin typeface="Tahoma"/>
                <a:cs typeface="Tahoma"/>
              </a:rPr>
              <a:t>is</a:t>
            </a:r>
            <a:r>
              <a:rPr sz="2150" spc="-80" dirty="0">
                <a:latin typeface="Tahoma"/>
                <a:cs typeface="Tahoma"/>
              </a:rPr>
              <a:t> </a:t>
            </a:r>
            <a:r>
              <a:rPr sz="2150" dirty="0">
                <a:latin typeface="Tahoma"/>
                <a:cs typeface="Tahoma"/>
              </a:rPr>
              <a:t>easy</a:t>
            </a:r>
            <a:r>
              <a:rPr sz="2150" spc="-85" dirty="0">
                <a:latin typeface="Tahoma"/>
                <a:cs typeface="Tahoma"/>
              </a:rPr>
              <a:t> </a:t>
            </a:r>
            <a:r>
              <a:rPr sz="2150" dirty="0">
                <a:latin typeface="Tahoma"/>
                <a:cs typeface="Tahoma"/>
              </a:rPr>
              <a:t>as</a:t>
            </a:r>
            <a:r>
              <a:rPr sz="2150" spc="-80" dirty="0">
                <a:latin typeface="Tahoma"/>
                <a:cs typeface="Tahoma"/>
              </a:rPr>
              <a:t> </a:t>
            </a:r>
            <a:r>
              <a:rPr sz="2150" dirty="0">
                <a:latin typeface="Tahoma"/>
                <a:cs typeface="Tahoma"/>
              </a:rPr>
              <a:t>there</a:t>
            </a:r>
            <a:r>
              <a:rPr sz="2150" spc="-70" dirty="0">
                <a:latin typeface="Tahoma"/>
                <a:cs typeface="Tahoma"/>
              </a:rPr>
              <a:t> </a:t>
            </a:r>
            <a:r>
              <a:rPr sz="2150" dirty="0">
                <a:latin typeface="Tahoma"/>
                <a:cs typeface="Tahoma"/>
              </a:rPr>
              <a:t>is</a:t>
            </a:r>
            <a:r>
              <a:rPr sz="2150" spc="-70" dirty="0">
                <a:latin typeface="Tahoma"/>
                <a:cs typeface="Tahoma"/>
              </a:rPr>
              <a:t> </a:t>
            </a:r>
            <a:r>
              <a:rPr sz="2150" spc="90" dirty="0">
                <a:latin typeface="Tahoma"/>
                <a:cs typeface="Tahoma"/>
              </a:rPr>
              <a:t>no</a:t>
            </a:r>
            <a:r>
              <a:rPr sz="2150" spc="-65" dirty="0">
                <a:latin typeface="Tahoma"/>
                <a:cs typeface="Tahoma"/>
              </a:rPr>
              <a:t> </a:t>
            </a:r>
            <a:r>
              <a:rPr sz="2150" spc="85" dirty="0">
                <a:latin typeface="Tahoma"/>
                <a:cs typeface="Tahoma"/>
              </a:rPr>
              <a:t>need</a:t>
            </a:r>
            <a:r>
              <a:rPr sz="2150" spc="-75" dirty="0">
                <a:latin typeface="Tahoma"/>
                <a:cs typeface="Tahoma"/>
              </a:rPr>
              <a:t> </a:t>
            </a:r>
            <a:r>
              <a:rPr sz="2150" spc="-25" dirty="0">
                <a:latin typeface="Tahoma"/>
                <a:cs typeface="Tahoma"/>
              </a:rPr>
              <a:t>to </a:t>
            </a:r>
            <a:r>
              <a:rPr sz="2150" dirty="0">
                <a:latin typeface="Tahoma"/>
                <a:cs typeface="Tahoma"/>
              </a:rPr>
              <a:t>maintain</a:t>
            </a:r>
            <a:r>
              <a:rPr sz="2150" spc="-65" dirty="0">
                <a:latin typeface="Tahoma"/>
                <a:cs typeface="Tahoma"/>
              </a:rPr>
              <a:t> </a:t>
            </a:r>
            <a:r>
              <a:rPr sz="2150" dirty="0">
                <a:latin typeface="Tahoma"/>
                <a:cs typeface="Tahoma"/>
              </a:rPr>
              <a:t>the</a:t>
            </a:r>
            <a:r>
              <a:rPr sz="2150" spc="-55" dirty="0">
                <a:latin typeface="Tahoma"/>
                <a:cs typeface="Tahoma"/>
              </a:rPr>
              <a:t> </a:t>
            </a:r>
            <a:r>
              <a:rPr sz="2150" dirty="0">
                <a:latin typeface="Tahoma"/>
                <a:cs typeface="Tahoma"/>
              </a:rPr>
              <a:t>internal</a:t>
            </a:r>
            <a:r>
              <a:rPr sz="2150" spc="-35" dirty="0">
                <a:latin typeface="Tahoma"/>
                <a:cs typeface="Tahoma"/>
              </a:rPr>
              <a:t> </a:t>
            </a:r>
            <a:r>
              <a:rPr sz="2150" spc="-10" dirty="0">
                <a:latin typeface="Tahoma"/>
                <a:cs typeface="Tahoma"/>
              </a:rPr>
              <a:t>state</a:t>
            </a:r>
            <a:r>
              <a:rPr sz="2150" spc="-50" dirty="0">
                <a:latin typeface="Tahoma"/>
                <a:cs typeface="Tahoma"/>
              </a:rPr>
              <a:t> </a:t>
            </a:r>
            <a:r>
              <a:rPr sz="2150" dirty="0">
                <a:latin typeface="Tahoma"/>
                <a:cs typeface="Tahoma"/>
              </a:rPr>
              <a:t>to</a:t>
            </a:r>
            <a:r>
              <a:rPr sz="2150" spc="-40" dirty="0">
                <a:latin typeface="Tahoma"/>
                <a:cs typeface="Tahoma"/>
              </a:rPr>
              <a:t> </a:t>
            </a:r>
            <a:r>
              <a:rPr sz="2150" spc="70" dirty="0">
                <a:latin typeface="Tahoma"/>
                <a:cs typeface="Tahoma"/>
              </a:rPr>
              <a:t>keep</a:t>
            </a:r>
            <a:r>
              <a:rPr sz="2150" spc="-35" dirty="0">
                <a:latin typeface="Tahoma"/>
                <a:cs typeface="Tahoma"/>
              </a:rPr>
              <a:t> </a:t>
            </a:r>
            <a:r>
              <a:rPr sz="2150" dirty="0">
                <a:latin typeface="Tahoma"/>
                <a:cs typeface="Tahoma"/>
              </a:rPr>
              <a:t>track</a:t>
            </a:r>
            <a:r>
              <a:rPr sz="2150" spc="-55" dirty="0">
                <a:latin typeface="Tahoma"/>
                <a:cs typeface="Tahoma"/>
              </a:rPr>
              <a:t> </a:t>
            </a:r>
            <a:r>
              <a:rPr sz="2150" dirty="0">
                <a:latin typeface="Tahoma"/>
                <a:cs typeface="Tahoma"/>
              </a:rPr>
              <a:t>history</a:t>
            </a:r>
            <a:r>
              <a:rPr sz="2150" spc="-55" dirty="0">
                <a:latin typeface="Tahoma"/>
                <a:cs typeface="Tahoma"/>
              </a:rPr>
              <a:t> </a:t>
            </a:r>
            <a:r>
              <a:rPr sz="2150" dirty="0">
                <a:latin typeface="Tahoma"/>
                <a:cs typeface="Tahoma"/>
              </a:rPr>
              <a:t>of</a:t>
            </a:r>
            <a:r>
              <a:rPr sz="2150" spc="15" dirty="0">
                <a:latin typeface="Tahoma"/>
                <a:cs typeface="Tahoma"/>
              </a:rPr>
              <a:t> </a:t>
            </a:r>
            <a:r>
              <a:rPr sz="2150" dirty="0">
                <a:latin typeface="Tahoma"/>
                <a:cs typeface="Tahoma"/>
              </a:rPr>
              <a:t>the</a:t>
            </a:r>
            <a:r>
              <a:rPr sz="2150" spc="-50" dirty="0">
                <a:latin typeface="Tahoma"/>
                <a:cs typeface="Tahoma"/>
              </a:rPr>
              <a:t> </a:t>
            </a:r>
            <a:r>
              <a:rPr sz="2150" spc="-10" dirty="0">
                <a:latin typeface="Tahoma"/>
                <a:cs typeface="Tahoma"/>
              </a:rPr>
              <a:t>world.</a:t>
            </a:r>
            <a:endParaRPr sz="2150" dirty="0">
              <a:latin typeface="Tahoma"/>
              <a:cs typeface="Tahoma"/>
            </a:endParaRPr>
          </a:p>
          <a:p>
            <a:pPr marL="201295" marR="5080" indent="-189230">
              <a:lnSpc>
                <a:spcPct val="99700"/>
              </a:lnSpc>
              <a:spcBef>
                <a:spcPts val="740"/>
              </a:spcBef>
              <a:buFont typeface="Arial MT"/>
              <a:buChar char="•"/>
              <a:tabLst>
                <a:tab pos="201295" algn="l"/>
              </a:tabLst>
            </a:pPr>
            <a:r>
              <a:rPr sz="2150" spc="65" dirty="0">
                <a:latin typeface="Tahoma"/>
                <a:cs typeface="Tahoma"/>
              </a:rPr>
              <a:t>or</a:t>
            </a:r>
            <a:r>
              <a:rPr sz="2150" spc="-85" dirty="0">
                <a:latin typeface="Tahoma"/>
                <a:cs typeface="Tahoma"/>
              </a:rPr>
              <a:t> </a:t>
            </a:r>
            <a:r>
              <a:rPr sz="2150" spc="65" dirty="0">
                <a:latin typeface="Tahoma"/>
                <a:cs typeface="Tahoma"/>
              </a:rPr>
              <a:t>example</a:t>
            </a:r>
            <a:r>
              <a:rPr sz="2150" spc="-85" dirty="0">
                <a:latin typeface="Tahoma"/>
                <a:cs typeface="Tahoma"/>
              </a:rPr>
              <a:t> </a:t>
            </a:r>
            <a:r>
              <a:rPr sz="2150" dirty="0">
                <a:latin typeface="Tahoma"/>
                <a:cs typeface="Tahoma"/>
              </a:rPr>
              <a:t>in</a:t>
            </a:r>
            <a:r>
              <a:rPr sz="2150" spc="-80" dirty="0">
                <a:latin typeface="Tahoma"/>
                <a:cs typeface="Tahoma"/>
              </a:rPr>
              <a:t> </a:t>
            </a:r>
            <a:r>
              <a:rPr sz="2150" dirty="0">
                <a:latin typeface="Tahoma"/>
                <a:cs typeface="Tahoma"/>
              </a:rPr>
              <a:t>a</a:t>
            </a:r>
            <a:r>
              <a:rPr sz="2150" spc="-130" dirty="0">
                <a:latin typeface="Tahoma"/>
                <a:cs typeface="Tahoma"/>
              </a:rPr>
              <a:t> </a:t>
            </a:r>
            <a:r>
              <a:rPr sz="2150" spc="-60" dirty="0">
                <a:latin typeface="Tahoma"/>
                <a:cs typeface="Tahoma"/>
              </a:rPr>
              <a:t>Tic-</a:t>
            </a:r>
            <a:r>
              <a:rPr sz="2150" spc="-114" dirty="0">
                <a:latin typeface="Tahoma"/>
                <a:cs typeface="Tahoma"/>
              </a:rPr>
              <a:t>Tac-</a:t>
            </a:r>
            <a:r>
              <a:rPr sz="2150" spc="-10" dirty="0">
                <a:latin typeface="Tahoma"/>
                <a:cs typeface="Tahoma"/>
              </a:rPr>
              <a:t>Toe</a:t>
            </a:r>
            <a:r>
              <a:rPr sz="2150" spc="-95" dirty="0">
                <a:latin typeface="Tahoma"/>
                <a:cs typeface="Tahoma"/>
              </a:rPr>
              <a:t> </a:t>
            </a:r>
            <a:r>
              <a:rPr sz="2150" dirty="0">
                <a:latin typeface="Tahoma"/>
                <a:cs typeface="Tahoma"/>
              </a:rPr>
              <a:t>game,</a:t>
            </a:r>
            <a:r>
              <a:rPr sz="2150" spc="-160" dirty="0">
                <a:latin typeface="Tahoma"/>
                <a:cs typeface="Tahoma"/>
              </a:rPr>
              <a:t> </a:t>
            </a:r>
            <a:r>
              <a:rPr sz="2150" spc="60" dirty="0">
                <a:latin typeface="Tahoma"/>
                <a:cs typeface="Tahoma"/>
              </a:rPr>
              <a:t>seeing</a:t>
            </a:r>
            <a:r>
              <a:rPr sz="2150" spc="-70" dirty="0">
                <a:latin typeface="Tahoma"/>
                <a:cs typeface="Tahoma"/>
              </a:rPr>
              <a:t> </a:t>
            </a:r>
            <a:r>
              <a:rPr sz="2150" dirty="0">
                <a:latin typeface="Tahoma"/>
                <a:cs typeface="Tahoma"/>
              </a:rPr>
              <a:t>the</a:t>
            </a:r>
            <a:r>
              <a:rPr sz="2150" spc="-85" dirty="0">
                <a:latin typeface="Tahoma"/>
                <a:cs typeface="Tahoma"/>
              </a:rPr>
              <a:t> </a:t>
            </a:r>
            <a:r>
              <a:rPr sz="2150" spc="60" dirty="0">
                <a:latin typeface="Tahoma"/>
                <a:cs typeface="Tahoma"/>
              </a:rPr>
              <a:t>position</a:t>
            </a:r>
            <a:r>
              <a:rPr sz="2150" spc="-100" dirty="0">
                <a:latin typeface="Tahoma"/>
                <a:cs typeface="Tahoma"/>
              </a:rPr>
              <a:t> </a:t>
            </a:r>
            <a:r>
              <a:rPr sz="2150" dirty="0">
                <a:latin typeface="Tahoma"/>
                <a:cs typeface="Tahoma"/>
              </a:rPr>
              <a:t>of</a:t>
            </a:r>
            <a:r>
              <a:rPr sz="2150" spc="-20" dirty="0">
                <a:latin typeface="Tahoma"/>
                <a:cs typeface="Tahoma"/>
              </a:rPr>
              <a:t> </a:t>
            </a:r>
            <a:r>
              <a:rPr sz="2150" spc="-25" dirty="0">
                <a:latin typeface="Tahoma"/>
                <a:cs typeface="Tahoma"/>
              </a:rPr>
              <a:t>the </a:t>
            </a:r>
            <a:r>
              <a:rPr sz="2150" dirty="0">
                <a:latin typeface="Tahoma"/>
                <a:cs typeface="Tahoma"/>
              </a:rPr>
              <a:t>elements</a:t>
            </a:r>
            <a:r>
              <a:rPr sz="2150" spc="-60" dirty="0">
                <a:latin typeface="Tahoma"/>
                <a:cs typeface="Tahoma"/>
              </a:rPr>
              <a:t> </a:t>
            </a:r>
            <a:r>
              <a:rPr sz="2150" spc="90" dirty="0">
                <a:latin typeface="Tahoma"/>
                <a:cs typeface="Tahoma"/>
              </a:rPr>
              <a:t>on</a:t>
            </a:r>
            <a:r>
              <a:rPr sz="2150" spc="-45" dirty="0">
                <a:latin typeface="Tahoma"/>
                <a:cs typeface="Tahoma"/>
              </a:rPr>
              <a:t> </a:t>
            </a:r>
            <a:r>
              <a:rPr sz="2150" dirty="0">
                <a:latin typeface="Tahoma"/>
                <a:cs typeface="Tahoma"/>
              </a:rPr>
              <a:t>the</a:t>
            </a:r>
            <a:r>
              <a:rPr sz="2150" spc="-45" dirty="0">
                <a:latin typeface="Tahoma"/>
                <a:cs typeface="Tahoma"/>
              </a:rPr>
              <a:t> </a:t>
            </a:r>
            <a:r>
              <a:rPr sz="2150" spc="90" dirty="0">
                <a:latin typeface="Tahoma"/>
                <a:cs typeface="Tahoma"/>
              </a:rPr>
              <a:t>board</a:t>
            </a:r>
            <a:r>
              <a:rPr sz="2150" spc="-55" dirty="0">
                <a:latin typeface="Tahoma"/>
                <a:cs typeface="Tahoma"/>
              </a:rPr>
              <a:t> </a:t>
            </a:r>
            <a:r>
              <a:rPr sz="2150" dirty="0">
                <a:latin typeface="Tahoma"/>
                <a:cs typeface="Tahoma"/>
              </a:rPr>
              <a:t>is</a:t>
            </a:r>
            <a:r>
              <a:rPr sz="2150" spc="-55" dirty="0">
                <a:latin typeface="Tahoma"/>
                <a:cs typeface="Tahoma"/>
              </a:rPr>
              <a:t> </a:t>
            </a:r>
            <a:r>
              <a:rPr sz="2150" spc="85" dirty="0">
                <a:latin typeface="Tahoma"/>
                <a:cs typeface="Tahoma"/>
              </a:rPr>
              <a:t>enough</a:t>
            </a:r>
            <a:r>
              <a:rPr sz="2150" spc="-45" dirty="0">
                <a:latin typeface="Tahoma"/>
                <a:cs typeface="Tahoma"/>
              </a:rPr>
              <a:t> </a:t>
            </a:r>
            <a:r>
              <a:rPr sz="2150" dirty="0">
                <a:latin typeface="Tahoma"/>
                <a:cs typeface="Tahoma"/>
              </a:rPr>
              <a:t>to</a:t>
            </a:r>
            <a:r>
              <a:rPr sz="2150" spc="-65" dirty="0">
                <a:latin typeface="Tahoma"/>
                <a:cs typeface="Tahoma"/>
              </a:rPr>
              <a:t> </a:t>
            </a:r>
            <a:r>
              <a:rPr sz="2150" dirty="0">
                <a:latin typeface="Tahoma"/>
                <a:cs typeface="Tahoma"/>
              </a:rPr>
              <a:t>make</a:t>
            </a:r>
            <a:r>
              <a:rPr sz="2150" spc="-45" dirty="0">
                <a:latin typeface="Tahoma"/>
                <a:cs typeface="Tahoma"/>
              </a:rPr>
              <a:t> </a:t>
            </a:r>
            <a:r>
              <a:rPr sz="2150" dirty="0">
                <a:latin typeface="Tahoma"/>
                <a:cs typeface="Tahoma"/>
              </a:rPr>
              <a:t>an</a:t>
            </a:r>
            <a:r>
              <a:rPr sz="2150" spc="-50" dirty="0">
                <a:latin typeface="Tahoma"/>
                <a:cs typeface="Tahoma"/>
              </a:rPr>
              <a:t> </a:t>
            </a:r>
            <a:r>
              <a:rPr sz="2150" spc="60" dirty="0">
                <a:latin typeface="Tahoma"/>
                <a:cs typeface="Tahoma"/>
              </a:rPr>
              <a:t>optimal</a:t>
            </a:r>
            <a:r>
              <a:rPr sz="2150" spc="-85" dirty="0">
                <a:latin typeface="Tahoma"/>
                <a:cs typeface="Tahoma"/>
              </a:rPr>
              <a:t> </a:t>
            </a:r>
            <a:r>
              <a:rPr sz="2150" spc="60" dirty="0">
                <a:latin typeface="Tahoma"/>
                <a:cs typeface="Tahoma"/>
              </a:rPr>
              <a:t>decision </a:t>
            </a:r>
            <a:r>
              <a:rPr sz="2150" spc="90" dirty="0">
                <a:latin typeface="Tahoma"/>
                <a:cs typeface="Tahoma"/>
              </a:rPr>
              <a:t>on</a:t>
            </a:r>
            <a:r>
              <a:rPr sz="2150" spc="-95" dirty="0">
                <a:latin typeface="Tahoma"/>
                <a:cs typeface="Tahoma"/>
              </a:rPr>
              <a:t> </a:t>
            </a:r>
            <a:r>
              <a:rPr sz="2150" dirty="0">
                <a:latin typeface="Tahoma"/>
                <a:cs typeface="Tahoma"/>
              </a:rPr>
              <a:t>the</a:t>
            </a:r>
            <a:r>
              <a:rPr sz="2150" spc="-114" dirty="0">
                <a:latin typeface="Tahoma"/>
                <a:cs typeface="Tahoma"/>
              </a:rPr>
              <a:t> </a:t>
            </a:r>
            <a:r>
              <a:rPr sz="2150" dirty="0">
                <a:latin typeface="Tahoma"/>
                <a:cs typeface="Tahoma"/>
              </a:rPr>
              <a:t>next</a:t>
            </a:r>
            <a:r>
              <a:rPr sz="2150" spc="-90" dirty="0">
                <a:latin typeface="Tahoma"/>
                <a:cs typeface="Tahoma"/>
              </a:rPr>
              <a:t> </a:t>
            </a:r>
            <a:r>
              <a:rPr sz="2150" spc="-10" dirty="0">
                <a:latin typeface="Tahoma"/>
                <a:cs typeface="Tahoma"/>
              </a:rPr>
              <a:t>move.</a:t>
            </a:r>
            <a:endParaRPr sz="2150" dirty="0">
              <a:latin typeface="Tahoma"/>
              <a:cs typeface="Tahoma"/>
            </a:endParaRPr>
          </a:p>
          <a:p>
            <a:pPr marL="201295" marR="523875" indent="-189230">
              <a:lnSpc>
                <a:spcPts val="2570"/>
              </a:lnSpc>
              <a:spcBef>
                <a:spcPts val="919"/>
              </a:spcBef>
              <a:buFont typeface="Arial MT"/>
              <a:buChar char="•"/>
              <a:tabLst>
                <a:tab pos="201295" algn="l"/>
              </a:tabLst>
            </a:pPr>
            <a:r>
              <a:rPr sz="2150" spc="120" dirty="0">
                <a:latin typeface="Tahoma"/>
                <a:cs typeface="Tahoma"/>
              </a:rPr>
              <a:t>An</a:t>
            </a:r>
            <a:r>
              <a:rPr sz="2150" spc="-20" dirty="0">
                <a:latin typeface="Tahoma"/>
                <a:cs typeface="Tahoma"/>
              </a:rPr>
              <a:t> </a:t>
            </a:r>
            <a:r>
              <a:rPr sz="2150" spc="50" dirty="0">
                <a:latin typeface="Tahoma"/>
                <a:cs typeface="Tahoma"/>
              </a:rPr>
              <a:t>agent</a:t>
            </a:r>
            <a:r>
              <a:rPr sz="2150" spc="-30" dirty="0">
                <a:latin typeface="Tahoma"/>
                <a:cs typeface="Tahoma"/>
              </a:rPr>
              <a:t> </a:t>
            </a:r>
            <a:r>
              <a:rPr sz="2150" dirty="0">
                <a:latin typeface="Tahoma"/>
                <a:cs typeface="Tahoma"/>
              </a:rPr>
              <a:t>with</a:t>
            </a:r>
            <a:r>
              <a:rPr sz="2150" spc="-45" dirty="0">
                <a:latin typeface="Tahoma"/>
                <a:cs typeface="Tahoma"/>
              </a:rPr>
              <a:t> </a:t>
            </a:r>
            <a:r>
              <a:rPr sz="2150" spc="90" dirty="0">
                <a:latin typeface="Tahoma"/>
                <a:cs typeface="Tahoma"/>
              </a:rPr>
              <a:t>no</a:t>
            </a:r>
            <a:r>
              <a:rPr sz="2150" spc="-15" dirty="0">
                <a:latin typeface="Tahoma"/>
                <a:cs typeface="Tahoma"/>
              </a:rPr>
              <a:t> </a:t>
            </a:r>
            <a:r>
              <a:rPr sz="2150" dirty="0">
                <a:latin typeface="Tahoma"/>
                <a:cs typeface="Tahoma"/>
              </a:rPr>
              <a:t>sensors</a:t>
            </a:r>
            <a:r>
              <a:rPr sz="2150" spc="-10" dirty="0">
                <a:latin typeface="Tahoma"/>
                <a:cs typeface="Tahoma"/>
              </a:rPr>
              <a:t> </a:t>
            </a:r>
            <a:r>
              <a:rPr sz="2150" dirty="0">
                <a:latin typeface="Tahoma"/>
                <a:cs typeface="Tahoma"/>
              </a:rPr>
              <a:t>in</a:t>
            </a:r>
            <a:r>
              <a:rPr sz="2150" spc="-20" dirty="0">
                <a:latin typeface="Tahoma"/>
                <a:cs typeface="Tahoma"/>
              </a:rPr>
              <a:t> </a:t>
            </a:r>
            <a:r>
              <a:rPr sz="2150" dirty="0">
                <a:latin typeface="Tahoma"/>
                <a:cs typeface="Tahoma"/>
              </a:rPr>
              <a:t>all</a:t>
            </a:r>
            <a:r>
              <a:rPr sz="2150" spc="-45" dirty="0">
                <a:latin typeface="Tahoma"/>
                <a:cs typeface="Tahoma"/>
              </a:rPr>
              <a:t> </a:t>
            </a:r>
            <a:r>
              <a:rPr sz="2150" dirty="0">
                <a:latin typeface="Tahoma"/>
                <a:cs typeface="Tahoma"/>
              </a:rPr>
              <a:t>environments</a:t>
            </a:r>
            <a:r>
              <a:rPr sz="2150" spc="-15" dirty="0">
                <a:latin typeface="Tahoma"/>
                <a:cs typeface="Tahoma"/>
              </a:rPr>
              <a:t> </a:t>
            </a:r>
            <a:r>
              <a:rPr sz="2150" dirty="0">
                <a:latin typeface="Tahoma"/>
                <a:cs typeface="Tahoma"/>
              </a:rPr>
              <a:t>then</a:t>
            </a:r>
            <a:r>
              <a:rPr sz="2150" spc="-20" dirty="0">
                <a:latin typeface="Tahoma"/>
                <a:cs typeface="Tahoma"/>
              </a:rPr>
              <a:t> </a:t>
            </a:r>
            <a:r>
              <a:rPr sz="2150" dirty="0">
                <a:latin typeface="Tahoma"/>
                <a:cs typeface="Tahoma"/>
              </a:rPr>
              <a:t>such</a:t>
            </a:r>
            <a:r>
              <a:rPr sz="2150" spc="-35" dirty="0">
                <a:latin typeface="Tahoma"/>
                <a:cs typeface="Tahoma"/>
              </a:rPr>
              <a:t> </a:t>
            </a:r>
            <a:r>
              <a:rPr sz="2150" spc="-25" dirty="0">
                <a:latin typeface="Tahoma"/>
                <a:cs typeface="Tahoma"/>
              </a:rPr>
              <a:t>an </a:t>
            </a:r>
            <a:r>
              <a:rPr sz="2150" dirty="0">
                <a:latin typeface="Tahoma"/>
                <a:cs typeface="Tahoma"/>
              </a:rPr>
              <a:t>environment</a:t>
            </a:r>
            <a:r>
              <a:rPr sz="2150" spc="-5" dirty="0">
                <a:latin typeface="Tahoma"/>
                <a:cs typeface="Tahoma"/>
              </a:rPr>
              <a:t> </a:t>
            </a:r>
            <a:r>
              <a:rPr sz="2150" dirty="0">
                <a:latin typeface="Tahoma"/>
                <a:cs typeface="Tahoma"/>
              </a:rPr>
              <a:t>is</a:t>
            </a:r>
            <a:r>
              <a:rPr sz="2150" spc="-30" dirty="0">
                <a:latin typeface="Tahoma"/>
                <a:cs typeface="Tahoma"/>
              </a:rPr>
              <a:t> </a:t>
            </a:r>
            <a:r>
              <a:rPr sz="2150" spc="75" dirty="0">
                <a:latin typeface="Tahoma"/>
                <a:cs typeface="Tahoma"/>
              </a:rPr>
              <a:t>called</a:t>
            </a:r>
            <a:r>
              <a:rPr sz="2150" spc="-30" dirty="0">
                <a:latin typeface="Tahoma"/>
                <a:cs typeface="Tahoma"/>
              </a:rPr>
              <a:t> </a:t>
            </a:r>
            <a:r>
              <a:rPr sz="2150" dirty="0">
                <a:latin typeface="Tahoma"/>
                <a:cs typeface="Tahoma"/>
              </a:rPr>
              <a:t>as</a:t>
            </a:r>
            <a:r>
              <a:rPr sz="2150" spc="-20" dirty="0">
                <a:latin typeface="Tahoma"/>
                <a:cs typeface="Tahoma"/>
              </a:rPr>
              <a:t> </a:t>
            </a:r>
            <a:r>
              <a:rPr sz="2150" b="1" spc="-10" dirty="0">
                <a:latin typeface="Tahoma"/>
                <a:cs typeface="Tahoma"/>
              </a:rPr>
              <a:t>unobservable</a:t>
            </a:r>
            <a:r>
              <a:rPr sz="2150" spc="-10" dirty="0">
                <a:latin typeface="Tahoma"/>
                <a:cs typeface="Tahoma"/>
              </a:rPr>
              <a:t>.</a:t>
            </a:r>
            <a:endParaRPr sz="2150" dirty="0">
              <a:latin typeface="Tahoma"/>
              <a:cs typeface="Tahoma"/>
            </a:endParaRPr>
          </a:p>
        </p:txBody>
      </p:sp>
      <p:pic>
        <p:nvPicPr>
          <p:cNvPr id="8" name="object 8"/>
          <p:cNvPicPr/>
          <p:nvPr/>
        </p:nvPicPr>
        <p:blipFill>
          <a:blip r:embed="rId3" cstate="print"/>
          <a:stretch>
            <a:fillRect/>
          </a:stretch>
        </p:blipFill>
        <p:spPr>
          <a:xfrm>
            <a:off x="8442959" y="5052059"/>
            <a:ext cx="1391411" cy="139293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5875" rIns="0" bIns="0" rtlCol="0">
            <a:spAutoFit/>
          </a:bodyPr>
          <a:lstStyle/>
          <a:p>
            <a:pPr marL="13970">
              <a:lnSpc>
                <a:spcPct val="100000"/>
              </a:lnSpc>
              <a:spcBef>
                <a:spcPts val="125"/>
              </a:spcBef>
            </a:pPr>
            <a:r>
              <a:rPr sz="2950" dirty="0"/>
              <a:t>1.</a:t>
            </a:r>
            <a:r>
              <a:rPr sz="2950" spc="-225" dirty="0"/>
              <a:t> </a:t>
            </a:r>
            <a:r>
              <a:rPr sz="2950" spc="-40" dirty="0"/>
              <a:t>Fully</a:t>
            </a:r>
            <a:r>
              <a:rPr sz="2950" spc="-145" dirty="0"/>
              <a:t> </a:t>
            </a:r>
            <a:r>
              <a:rPr sz="2950" spc="-20" dirty="0"/>
              <a:t>observable</a:t>
            </a:r>
            <a:r>
              <a:rPr sz="2950" spc="-125" dirty="0"/>
              <a:t> </a:t>
            </a:r>
            <a:r>
              <a:rPr sz="2950" spc="-90" dirty="0"/>
              <a:t>vs</a:t>
            </a:r>
            <a:r>
              <a:rPr sz="2950" spc="-125" dirty="0"/>
              <a:t> </a:t>
            </a:r>
            <a:r>
              <a:rPr sz="2950" spc="-75" dirty="0"/>
              <a:t>Partially</a:t>
            </a:r>
            <a:r>
              <a:rPr sz="2950" spc="-145" dirty="0"/>
              <a:t> </a:t>
            </a:r>
            <a:r>
              <a:rPr sz="2950" spc="-10" dirty="0"/>
              <a:t>Observable:</a:t>
            </a:r>
            <a:endParaRPr sz="2950"/>
          </a:p>
        </p:txBody>
      </p:sp>
      <p:pic>
        <p:nvPicPr>
          <p:cNvPr id="3" name="object 3"/>
          <p:cNvPicPr/>
          <p:nvPr/>
        </p:nvPicPr>
        <p:blipFill>
          <a:blip r:embed="rId2" cstate="print"/>
          <a:stretch>
            <a:fillRect/>
          </a:stretch>
        </p:blipFill>
        <p:spPr>
          <a:xfrm>
            <a:off x="483236" y="3061810"/>
            <a:ext cx="4289102" cy="2858811"/>
          </a:xfrm>
          <a:prstGeom prst="rect">
            <a:avLst/>
          </a:prstGeom>
        </p:spPr>
      </p:pic>
      <p:pic>
        <p:nvPicPr>
          <p:cNvPr id="4" name="object 4"/>
          <p:cNvPicPr/>
          <p:nvPr/>
        </p:nvPicPr>
        <p:blipFill>
          <a:blip r:embed="rId3" cstate="print"/>
          <a:stretch>
            <a:fillRect/>
          </a:stretch>
        </p:blipFill>
        <p:spPr>
          <a:xfrm>
            <a:off x="5192396" y="3062363"/>
            <a:ext cx="4122853" cy="275856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409193" y="1053845"/>
          <a:ext cx="9228455" cy="1664335"/>
        </p:xfrm>
        <a:graphic>
          <a:graphicData uri="http://schemas.openxmlformats.org/drawingml/2006/table">
            <a:tbl>
              <a:tblPr firstRow="1" bandRow="1">
                <a:tableStyleId>{2D5ABB26-0587-4C30-8999-92F81FD0307C}</a:tableStyleId>
              </a:tblPr>
              <a:tblGrid>
                <a:gridCol w="72390">
                  <a:extLst>
                    <a:ext uri="{9D8B030D-6E8A-4147-A177-3AD203B41FA5}">
                      <a16:colId xmlns:a16="http://schemas.microsoft.com/office/drawing/2014/main" val="20000"/>
                    </a:ext>
                  </a:extLst>
                </a:gridCol>
                <a:gridCol w="9156065">
                  <a:extLst>
                    <a:ext uri="{9D8B030D-6E8A-4147-A177-3AD203B41FA5}">
                      <a16:colId xmlns:a16="http://schemas.microsoft.com/office/drawing/2014/main" val="20001"/>
                    </a:ext>
                  </a:extLst>
                </a:gridCol>
              </a:tblGrid>
              <a:tr h="650240">
                <a:tc gridSpan="2">
                  <a:txBody>
                    <a:bodyPr/>
                    <a:lstStyle/>
                    <a:p>
                      <a:pPr>
                        <a:lnSpc>
                          <a:spcPct val="100000"/>
                        </a:lnSpc>
                      </a:pPr>
                      <a:endParaRPr sz="2200">
                        <a:latin typeface="Times New Roman"/>
                        <a:cs typeface="Times New Roman"/>
                      </a:endParaRPr>
                    </a:p>
                  </a:txBody>
                  <a:tcPr marL="0" marR="0" marT="0" marB="0">
                    <a:lnL w="9525">
                      <a:solidFill>
                        <a:srgbClr val="E9E9E9"/>
                      </a:solidFill>
                      <a:prstDash val="solid"/>
                    </a:lnL>
                    <a:lnR w="9525">
                      <a:solidFill>
                        <a:srgbClr val="E9E9E9"/>
                      </a:solidFill>
                      <a:prstDash val="solid"/>
                    </a:lnR>
                    <a:lnT w="9525">
                      <a:solidFill>
                        <a:srgbClr val="E9E9E9"/>
                      </a:solidFill>
                      <a:prstDash val="solid"/>
                    </a:lnT>
                  </a:tcPr>
                </a:tc>
                <a:tc hMerge="1">
                  <a:txBody>
                    <a:bodyPr/>
                    <a:lstStyle/>
                    <a:p>
                      <a:endParaRPr/>
                    </a:p>
                  </a:txBody>
                  <a:tcPr marL="0" marR="0" marT="0" marB="0"/>
                </a:tc>
                <a:extLst>
                  <a:ext uri="{0D108BD9-81ED-4DB2-BD59-A6C34878D82A}">
                    <a16:rowId xmlns:a16="http://schemas.microsoft.com/office/drawing/2014/main" val="10000"/>
                  </a:ext>
                </a:extLst>
              </a:tr>
              <a:tr h="580390">
                <a:tc>
                  <a:txBody>
                    <a:bodyPr/>
                    <a:lstStyle/>
                    <a:p>
                      <a:pPr>
                        <a:lnSpc>
                          <a:spcPct val="100000"/>
                        </a:lnSpc>
                      </a:pPr>
                      <a:endParaRPr sz="2200">
                        <a:latin typeface="Times New Roman"/>
                        <a:cs typeface="Times New Roman"/>
                      </a:endParaRPr>
                    </a:p>
                  </a:txBody>
                  <a:tcPr marL="0" marR="0" marT="0" marB="0">
                    <a:lnL w="9525">
                      <a:solidFill>
                        <a:srgbClr val="E9E9E9"/>
                      </a:solidFill>
                      <a:prstDash val="solid"/>
                    </a:lnL>
                    <a:solidFill>
                      <a:srgbClr val="F5A700"/>
                    </a:solidFill>
                  </a:tcPr>
                </a:tc>
                <a:tc>
                  <a:txBody>
                    <a:bodyPr/>
                    <a:lstStyle/>
                    <a:p>
                      <a:pPr marL="476884">
                        <a:lnSpc>
                          <a:spcPts val="3900"/>
                        </a:lnSpc>
                      </a:pPr>
                      <a:r>
                        <a:rPr sz="3300" b="1" spc="-25" dirty="0">
                          <a:latin typeface="Tahoma"/>
                          <a:cs typeface="Tahoma"/>
                        </a:rPr>
                        <a:t>2.</a:t>
                      </a:r>
                      <a:r>
                        <a:rPr sz="3300" b="1" spc="-240" dirty="0">
                          <a:latin typeface="Tahoma"/>
                          <a:cs typeface="Tahoma"/>
                        </a:rPr>
                        <a:t> </a:t>
                      </a:r>
                      <a:r>
                        <a:rPr sz="3300" b="1" spc="-70" dirty="0">
                          <a:latin typeface="Tahoma"/>
                          <a:cs typeface="Tahoma"/>
                        </a:rPr>
                        <a:t>Deterministic</a:t>
                      </a:r>
                      <a:r>
                        <a:rPr sz="3300" b="1" spc="-125" dirty="0">
                          <a:latin typeface="Tahoma"/>
                          <a:cs typeface="Tahoma"/>
                        </a:rPr>
                        <a:t> </a:t>
                      </a:r>
                      <a:r>
                        <a:rPr sz="3300" b="1" spc="-114" dirty="0">
                          <a:latin typeface="Tahoma"/>
                          <a:cs typeface="Tahoma"/>
                        </a:rPr>
                        <a:t>vs</a:t>
                      </a:r>
                      <a:r>
                        <a:rPr sz="3300" b="1" spc="-145" dirty="0">
                          <a:latin typeface="Tahoma"/>
                          <a:cs typeface="Tahoma"/>
                        </a:rPr>
                        <a:t> </a:t>
                      </a:r>
                      <a:r>
                        <a:rPr sz="3300" b="1" spc="-10" dirty="0">
                          <a:latin typeface="Tahoma"/>
                          <a:cs typeface="Tahoma"/>
                        </a:rPr>
                        <a:t>Stochastic:</a:t>
                      </a:r>
                      <a:endParaRPr sz="3300">
                        <a:latin typeface="Tahoma"/>
                        <a:cs typeface="Tahoma"/>
                      </a:endParaRPr>
                    </a:p>
                  </a:txBody>
                  <a:tcPr marL="0" marR="0" marT="0" marB="0">
                    <a:lnR w="9525">
                      <a:solidFill>
                        <a:srgbClr val="E9E9E9"/>
                      </a:solidFill>
                      <a:prstDash val="solid"/>
                    </a:lnR>
                  </a:tcPr>
                </a:tc>
                <a:extLst>
                  <a:ext uri="{0D108BD9-81ED-4DB2-BD59-A6C34878D82A}">
                    <a16:rowId xmlns:a16="http://schemas.microsoft.com/office/drawing/2014/main" val="10001"/>
                  </a:ext>
                </a:extLst>
              </a:tr>
              <a:tr h="433705">
                <a:tc gridSpan="2">
                  <a:txBody>
                    <a:bodyPr/>
                    <a:lstStyle/>
                    <a:p>
                      <a:pPr>
                        <a:lnSpc>
                          <a:spcPct val="100000"/>
                        </a:lnSpc>
                      </a:pPr>
                      <a:endParaRPr sz="2200">
                        <a:latin typeface="Times New Roman"/>
                        <a:cs typeface="Times New Roman"/>
                      </a:endParaRPr>
                    </a:p>
                  </a:txBody>
                  <a:tcPr marL="0" marR="0" marT="0" marB="0">
                    <a:lnL w="9525">
                      <a:solidFill>
                        <a:srgbClr val="E9E9E9"/>
                      </a:solidFill>
                      <a:prstDash val="solid"/>
                    </a:lnL>
                    <a:lnR w="9525">
                      <a:solidFill>
                        <a:srgbClr val="E9E9E9"/>
                      </a:solidFill>
                      <a:prstDash val="solid"/>
                    </a:lnR>
                    <a:lnB w="9525">
                      <a:solidFill>
                        <a:srgbClr val="E9E9E9"/>
                      </a:solidFill>
                      <a:prstDash val="solid"/>
                    </a:lnB>
                  </a:tcPr>
                </a:tc>
                <a:tc hMerge="1">
                  <a:txBody>
                    <a:bodyPr/>
                    <a:lstStyle/>
                    <a:p>
                      <a:endParaRPr/>
                    </a:p>
                  </a:txBody>
                  <a:tcPr marL="0" marR="0" marT="0" marB="0"/>
                </a:tc>
                <a:extLst>
                  <a:ext uri="{0D108BD9-81ED-4DB2-BD59-A6C34878D82A}">
                    <a16:rowId xmlns:a16="http://schemas.microsoft.com/office/drawing/2014/main" val="10002"/>
                  </a:ext>
                </a:extLst>
              </a:tr>
            </a:tbl>
          </a:graphicData>
        </a:graphic>
      </p:graphicFrame>
      <p:sp>
        <p:nvSpPr>
          <p:cNvPr id="3" name="object 3"/>
          <p:cNvSpPr/>
          <p:nvPr/>
        </p:nvSpPr>
        <p:spPr>
          <a:xfrm>
            <a:off x="1185672" y="3777995"/>
            <a:ext cx="8036559" cy="708660"/>
          </a:xfrm>
          <a:custGeom>
            <a:avLst/>
            <a:gdLst/>
            <a:ahLst/>
            <a:cxnLst/>
            <a:rect l="l" t="t" r="r" b="b"/>
            <a:pathLst>
              <a:path w="8036559" h="708660">
                <a:moveTo>
                  <a:pt x="8036052" y="0"/>
                </a:moveTo>
                <a:lnTo>
                  <a:pt x="0" y="0"/>
                </a:lnTo>
                <a:lnTo>
                  <a:pt x="0" y="352044"/>
                </a:lnTo>
                <a:lnTo>
                  <a:pt x="0" y="356616"/>
                </a:lnTo>
                <a:lnTo>
                  <a:pt x="0" y="708660"/>
                </a:lnTo>
                <a:lnTo>
                  <a:pt x="7991856" y="708660"/>
                </a:lnTo>
                <a:lnTo>
                  <a:pt x="7991856" y="356616"/>
                </a:lnTo>
                <a:lnTo>
                  <a:pt x="8036052" y="356616"/>
                </a:lnTo>
                <a:lnTo>
                  <a:pt x="8036052" y="0"/>
                </a:lnTo>
                <a:close/>
              </a:path>
            </a:pathLst>
          </a:custGeom>
          <a:solidFill>
            <a:srgbClr val="FFFF00"/>
          </a:solidFill>
        </p:spPr>
        <p:txBody>
          <a:bodyPr wrap="square" lIns="0" tIns="0" rIns="0" bIns="0" rtlCol="0"/>
          <a:lstStyle/>
          <a:p>
            <a:endParaRPr/>
          </a:p>
        </p:txBody>
      </p:sp>
      <p:sp>
        <p:nvSpPr>
          <p:cNvPr id="4" name="object 4"/>
          <p:cNvSpPr txBox="1"/>
          <p:nvPr/>
        </p:nvSpPr>
        <p:spPr>
          <a:xfrm>
            <a:off x="982348" y="2593271"/>
            <a:ext cx="8223250" cy="3662045"/>
          </a:xfrm>
          <a:prstGeom prst="rect">
            <a:avLst/>
          </a:prstGeom>
        </p:spPr>
        <p:txBody>
          <a:bodyPr vert="horz" wrap="square" lIns="0" tIns="13335" rIns="0" bIns="0" rtlCol="0">
            <a:spAutoFit/>
          </a:bodyPr>
          <a:lstStyle/>
          <a:p>
            <a:pPr marL="200025" marR="214629" indent="-187960">
              <a:lnSpc>
                <a:spcPct val="100400"/>
              </a:lnSpc>
              <a:spcBef>
                <a:spcPts val="105"/>
              </a:spcBef>
              <a:buFont typeface="Arial MT"/>
              <a:buChar char="•"/>
              <a:tabLst>
                <a:tab pos="201295" algn="l"/>
              </a:tabLst>
            </a:pPr>
            <a:r>
              <a:rPr sz="2300" spc="95" dirty="0">
                <a:latin typeface="Tahoma"/>
                <a:cs typeface="Tahoma"/>
              </a:rPr>
              <a:t>When</a:t>
            </a:r>
            <a:r>
              <a:rPr sz="2300" spc="-90" dirty="0">
                <a:latin typeface="Tahoma"/>
                <a:cs typeface="Tahoma"/>
              </a:rPr>
              <a:t> </a:t>
            </a:r>
            <a:r>
              <a:rPr sz="2300" dirty="0">
                <a:latin typeface="Tahoma"/>
                <a:cs typeface="Tahoma"/>
              </a:rPr>
              <a:t>a</a:t>
            </a:r>
            <a:r>
              <a:rPr sz="2300" spc="-65" dirty="0">
                <a:latin typeface="Tahoma"/>
                <a:cs typeface="Tahoma"/>
              </a:rPr>
              <a:t> </a:t>
            </a:r>
            <a:r>
              <a:rPr sz="2300" spc="60" dirty="0">
                <a:latin typeface="Tahoma"/>
                <a:cs typeface="Tahoma"/>
              </a:rPr>
              <a:t>uniqueness</a:t>
            </a:r>
            <a:r>
              <a:rPr sz="2300" spc="-105" dirty="0">
                <a:latin typeface="Tahoma"/>
                <a:cs typeface="Tahoma"/>
              </a:rPr>
              <a:t> </a:t>
            </a:r>
            <a:r>
              <a:rPr sz="2300" spc="50" dirty="0">
                <a:latin typeface="Tahoma"/>
                <a:cs typeface="Tahoma"/>
              </a:rPr>
              <a:t>in</a:t>
            </a:r>
            <a:r>
              <a:rPr sz="2300" spc="-70" dirty="0">
                <a:latin typeface="Tahoma"/>
                <a:cs typeface="Tahoma"/>
              </a:rPr>
              <a:t> </a:t>
            </a:r>
            <a:r>
              <a:rPr sz="2300" dirty="0">
                <a:latin typeface="Tahoma"/>
                <a:cs typeface="Tahoma"/>
              </a:rPr>
              <a:t>the</a:t>
            </a:r>
            <a:r>
              <a:rPr sz="2300" spc="-60" dirty="0">
                <a:latin typeface="Tahoma"/>
                <a:cs typeface="Tahoma"/>
              </a:rPr>
              <a:t> </a:t>
            </a:r>
            <a:r>
              <a:rPr sz="2300" dirty="0">
                <a:latin typeface="Tahoma"/>
                <a:cs typeface="Tahoma"/>
              </a:rPr>
              <a:t>agent’s</a:t>
            </a:r>
            <a:r>
              <a:rPr sz="2300" spc="-85" dirty="0">
                <a:latin typeface="Tahoma"/>
                <a:cs typeface="Tahoma"/>
              </a:rPr>
              <a:t> </a:t>
            </a:r>
            <a:r>
              <a:rPr sz="2300" dirty="0">
                <a:latin typeface="Tahoma"/>
                <a:cs typeface="Tahoma"/>
              </a:rPr>
              <a:t>current</a:t>
            </a:r>
            <a:r>
              <a:rPr sz="2300" spc="-60" dirty="0">
                <a:latin typeface="Tahoma"/>
                <a:cs typeface="Tahoma"/>
              </a:rPr>
              <a:t> </a:t>
            </a:r>
            <a:r>
              <a:rPr sz="2300" dirty="0">
                <a:latin typeface="Tahoma"/>
                <a:cs typeface="Tahoma"/>
              </a:rPr>
              <a:t>state</a:t>
            </a:r>
            <a:r>
              <a:rPr sz="2300" spc="-70" dirty="0">
                <a:latin typeface="Tahoma"/>
                <a:cs typeface="Tahoma"/>
              </a:rPr>
              <a:t> </a:t>
            </a:r>
            <a:r>
              <a:rPr sz="2300" spc="65" dirty="0">
                <a:latin typeface="Tahoma"/>
                <a:cs typeface="Tahoma"/>
              </a:rPr>
              <a:t>completely 	</a:t>
            </a:r>
            <a:r>
              <a:rPr sz="2300" spc="60" dirty="0">
                <a:latin typeface="Tahoma"/>
                <a:cs typeface="Tahoma"/>
              </a:rPr>
              <a:t>determines</a:t>
            </a:r>
            <a:r>
              <a:rPr sz="2300" spc="-5" dirty="0">
                <a:latin typeface="Tahoma"/>
                <a:cs typeface="Tahoma"/>
              </a:rPr>
              <a:t> </a:t>
            </a:r>
            <a:r>
              <a:rPr sz="2300" dirty="0">
                <a:latin typeface="Tahoma"/>
                <a:cs typeface="Tahoma"/>
              </a:rPr>
              <a:t>the</a:t>
            </a:r>
            <a:r>
              <a:rPr sz="2300" spc="-15" dirty="0">
                <a:latin typeface="Tahoma"/>
                <a:cs typeface="Tahoma"/>
              </a:rPr>
              <a:t> </a:t>
            </a:r>
            <a:r>
              <a:rPr sz="2300" dirty="0">
                <a:latin typeface="Tahoma"/>
                <a:cs typeface="Tahoma"/>
              </a:rPr>
              <a:t>next</a:t>
            </a:r>
            <a:r>
              <a:rPr sz="2300" spc="-15" dirty="0">
                <a:latin typeface="Tahoma"/>
                <a:cs typeface="Tahoma"/>
              </a:rPr>
              <a:t> </a:t>
            </a:r>
            <a:r>
              <a:rPr sz="2300" dirty="0">
                <a:latin typeface="Tahoma"/>
                <a:cs typeface="Tahoma"/>
              </a:rPr>
              <a:t>state</a:t>
            </a:r>
            <a:r>
              <a:rPr sz="2300" spc="-30" dirty="0">
                <a:latin typeface="Tahoma"/>
                <a:cs typeface="Tahoma"/>
              </a:rPr>
              <a:t> </a:t>
            </a:r>
            <a:r>
              <a:rPr sz="2300" dirty="0">
                <a:latin typeface="Tahoma"/>
                <a:cs typeface="Tahoma"/>
              </a:rPr>
              <a:t>of</a:t>
            </a:r>
            <a:r>
              <a:rPr sz="2300" spc="70" dirty="0">
                <a:latin typeface="Tahoma"/>
                <a:cs typeface="Tahoma"/>
              </a:rPr>
              <a:t> </a:t>
            </a:r>
            <a:r>
              <a:rPr sz="2300" dirty="0">
                <a:latin typeface="Tahoma"/>
                <a:cs typeface="Tahoma"/>
              </a:rPr>
              <a:t>the</a:t>
            </a:r>
            <a:r>
              <a:rPr sz="2300" spc="-25" dirty="0">
                <a:latin typeface="Tahoma"/>
                <a:cs typeface="Tahoma"/>
              </a:rPr>
              <a:t> </a:t>
            </a:r>
            <a:r>
              <a:rPr sz="2300" dirty="0">
                <a:latin typeface="Tahoma"/>
                <a:cs typeface="Tahoma"/>
              </a:rPr>
              <a:t>agent,</a:t>
            </a:r>
            <a:r>
              <a:rPr sz="2300" spc="-100" dirty="0">
                <a:latin typeface="Tahoma"/>
                <a:cs typeface="Tahoma"/>
              </a:rPr>
              <a:t> </a:t>
            </a:r>
            <a:r>
              <a:rPr sz="2300" dirty="0">
                <a:latin typeface="Tahoma"/>
                <a:cs typeface="Tahoma"/>
              </a:rPr>
              <a:t>the</a:t>
            </a:r>
            <a:r>
              <a:rPr sz="2300" spc="-10" dirty="0">
                <a:latin typeface="Tahoma"/>
                <a:cs typeface="Tahoma"/>
              </a:rPr>
              <a:t> </a:t>
            </a:r>
            <a:r>
              <a:rPr sz="2300" dirty="0">
                <a:latin typeface="Tahoma"/>
                <a:cs typeface="Tahoma"/>
              </a:rPr>
              <a:t>environment</a:t>
            </a:r>
            <a:r>
              <a:rPr sz="2300" spc="-25" dirty="0">
                <a:latin typeface="Tahoma"/>
                <a:cs typeface="Tahoma"/>
              </a:rPr>
              <a:t> is 	</a:t>
            </a:r>
            <a:r>
              <a:rPr sz="2300" spc="55" dirty="0">
                <a:latin typeface="Tahoma"/>
                <a:cs typeface="Tahoma"/>
              </a:rPr>
              <a:t>said</a:t>
            </a:r>
            <a:r>
              <a:rPr sz="2300" spc="-150" dirty="0">
                <a:latin typeface="Tahoma"/>
                <a:cs typeface="Tahoma"/>
              </a:rPr>
              <a:t> </a:t>
            </a:r>
            <a:r>
              <a:rPr sz="2300" spc="60" dirty="0">
                <a:latin typeface="Tahoma"/>
                <a:cs typeface="Tahoma"/>
              </a:rPr>
              <a:t>to</a:t>
            </a:r>
            <a:r>
              <a:rPr sz="2300" spc="-135" dirty="0">
                <a:latin typeface="Tahoma"/>
                <a:cs typeface="Tahoma"/>
              </a:rPr>
              <a:t> </a:t>
            </a:r>
            <a:r>
              <a:rPr sz="2300" spc="145" dirty="0">
                <a:latin typeface="Tahoma"/>
                <a:cs typeface="Tahoma"/>
              </a:rPr>
              <a:t>be</a:t>
            </a:r>
            <a:r>
              <a:rPr sz="2300" spc="-145" dirty="0">
                <a:latin typeface="Tahoma"/>
                <a:cs typeface="Tahoma"/>
              </a:rPr>
              <a:t> </a:t>
            </a:r>
            <a:r>
              <a:rPr sz="2300" spc="-10" dirty="0">
                <a:latin typeface="Tahoma"/>
                <a:cs typeface="Tahoma"/>
              </a:rPr>
              <a:t>deterministic.</a:t>
            </a:r>
            <a:endParaRPr sz="2300">
              <a:latin typeface="Tahoma"/>
              <a:cs typeface="Tahoma"/>
            </a:endParaRPr>
          </a:p>
          <a:p>
            <a:pPr marL="200025" marR="19685" indent="-187960">
              <a:lnSpc>
                <a:spcPct val="100400"/>
              </a:lnSpc>
              <a:spcBef>
                <a:spcPts val="825"/>
              </a:spcBef>
              <a:buFont typeface="Arial MT"/>
              <a:buChar char="•"/>
              <a:tabLst>
                <a:tab pos="201295" algn="l"/>
              </a:tabLst>
            </a:pPr>
            <a:r>
              <a:rPr sz="2300" dirty="0">
                <a:latin typeface="Tahoma"/>
                <a:cs typeface="Tahoma"/>
              </a:rPr>
              <a:t>The</a:t>
            </a:r>
            <a:r>
              <a:rPr sz="2300" spc="-20" dirty="0">
                <a:latin typeface="Tahoma"/>
                <a:cs typeface="Tahoma"/>
              </a:rPr>
              <a:t> </a:t>
            </a:r>
            <a:r>
              <a:rPr sz="2300" dirty="0">
                <a:latin typeface="Tahoma"/>
                <a:cs typeface="Tahoma"/>
              </a:rPr>
              <a:t>stochastic</a:t>
            </a:r>
            <a:r>
              <a:rPr sz="2300" spc="-20" dirty="0">
                <a:latin typeface="Tahoma"/>
                <a:cs typeface="Tahoma"/>
              </a:rPr>
              <a:t> </a:t>
            </a:r>
            <a:r>
              <a:rPr sz="2300" dirty="0">
                <a:latin typeface="Tahoma"/>
                <a:cs typeface="Tahoma"/>
              </a:rPr>
              <a:t>environment</a:t>
            </a:r>
            <a:r>
              <a:rPr sz="2300" spc="-55" dirty="0">
                <a:latin typeface="Tahoma"/>
                <a:cs typeface="Tahoma"/>
              </a:rPr>
              <a:t> </a:t>
            </a:r>
            <a:r>
              <a:rPr sz="2300" dirty="0">
                <a:latin typeface="Tahoma"/>
                <a:cs typeface="Tahoma"/>
              </a:rPr>
              <a:t>is</a:t>
            </a:r>
            <a:r>
              <a:rPr sz="2300" spc="-20" dirty="0">
                <a:latin typeface="Tahoma"/>
                <a:cs typeface="Tahoma"/>
              </a:rPr>
              <a:t> </a:t>
            </a:r>
            <a:r>
              <a:rPr sz="2300" spc="75" dirty="0">
                <a:latin typeface="Tahoma"/>
                <a:cs typeface="Tahoma"/>
              </a:rPr>
              <a:t>random</a:t>
            </a:r>
            <a:r>
              <a:rPr sz="2300" spc="-10" dirty="0">
                <a:latin typeface="Tahoma"/>
                <a:cs typeface="Tahoma"/>
              </a:rPr>
              <a:t> </a:t>
            </a:r>
            <a:r>
              <a:rPr sz="2300" spc="50" dirty="0">
                <a:latin typeface="Tahoma"/>
                <a:cs typeface="Tahoma"/>
              </a:rPr>
              <a:t>in</a:t>
            </a:r>
            <a:r>
              <a:rPr sz="2300" spc="-15" dirty="0">
                <a:latin typeface="Tahoma"/>
                <a:cs typeface="Tahoma"/>
              </a:rPr>
              <a:t> </a:t>
            </a:r>
            <a:r>
              <a:rPr sz="2300" dirty="0">
                <a:latin typeface="Tahoma"/>
                <a:cs typeface="Tahoma"/>
              </a:rPr>
              <a:t>nature</a:t>
            </a:r>
            <a:r>
              <a:rPr sz="2300" spc="-15" dirty="0">
                <a:latin typeface="Tahoma"/>
                <a:cs typeface="Tahoma"/>
              </a:rPr>
              <a:t> </a:t>
            </a:r>
            <a:r>
              <a:rPr sz="2300" spc="50" dirty="0">
                <a:latin typeface="Tahoma"/>
                <a:cs typeface="Tahoma"/>
              </a:rPr>
              <a:t>which</a:t>
            </a:r>
            <a:r>
              <a:rPr sz="2300" spc="-25" dirty="0">
                <a:latin typeface="Tahoma"/>
                <a:cs typeface="Tahoma"/>
              </a:rPr>
              <a:t> </a:t>
            </a:r>
            <a:r>
              <a:rPr sz="2300" dirty="0">
                <a:latin typeface="Tahoma"/>
                <a:cs typeface="Tahoma"/>
              </a:rPr>
              <a:t>is</a:t>
            </a:r>
            <a:r>
              <a:rPr sz="2300" spc="-15" dirty="0">
                <a:latin typeface="Tahoma"/>
                <a:cs typeface="Tahoma"/>
              </a:rPr>
              <a:t> </a:t>
            </a:r>
            <a:r>
              <a:rPr sz="2300" spc="30" dirty="0">
                <a:latin typeface="Tahoma"/>
                <a:cs typeface="Tahoma"/>
              </a:rPr>
              <a:t>not 	</a:t>
            </a:r>
            <a:r>
              <a:rPr sz="2300" spc="80" dirty="0">
                <a:latin typeface="Tahoma"/>
                <a:cs typeface="Tahoma"/>
              </a:rPr>
              <a:t>unique</a:t>
            </a:r>
            <a:r>
              <a:rPr sz="2300" spc="-150" dirty="0">
                <a:latin typeface="Tahoma"/>
                <a:cs typeface="Tahoma"/>
              </a:rPr>
              <a:t> </a:t>
            </a:r>
            <a:r>
              <a:rPr sz="2300" spc="80" dirty="0">
                <a:latin typeface="Tahoma"/>
                <a:cs typeface="Tahoma"/>
              </a:rPr>
              <a:t>and</a:t>
            </a:r>
            <a:r>
              <a:rPr sz="2300" spc="-120" dirty="0">
                <a:latin typeface="Tahoma"/>
                <a:cs typeface="Tahoma"/>
              </a:rPr>
              <a:t> </a:t>
            </a:r>
            <a:r>
              <a:rPr sz="2300" spc="55" dirty="0">
                <a:latin typeface="Tahoma"/>
                <a:cs typeface="Tahoma"/>
              </a:rPr>
              <a:t>cannot</a:t>
            </a:r>
            <a:r>
              <a:rPr sz="2300" spc="-135" dirty="0">
                <a:latin typeface="Tahoma"/>
                <a:cs typeface="Tahoma"/>
              </a:rPr>
              <a:t> </a:t>
            </a:r>
            <a:r>
              <a:rPr sz="2300" spc="145" dirty="0">
                <a:latin typeface="Tahoma"/>
                <a:cs typeface="Tahoma"/>
              </a:rPr>
              <a:t>be</a:t>
            </a:r>
            <a:r>
              <a:rPr sz="2300" spc="-125" dirty="0">
                <a:latin typeface="Tahoma"/>
                <a:cs typeface="Tahoma"/>
              </a:rPr>
              <a:t> </a:t>
            </a:r>
            <a:r>
              <a:rPr sz="2300" spc="75" dirty="0">
                <a:latin typeface="Tahoma"/>
                <a:cs typeface="Tahoma"/>
              </a:rPr>
              <a:t>completely</a:t>
            </a:r>
            <a:r>
              <a:rPr sz="2300" spc="-160" dirty="0">
                <a:latin typeface="Tahoma"/>
                <a:cs typeface="Tahoma"/>
              </a:rPr>
              <a:t> </a:t>
            </a:r>
            <a:r>
              <a:rPr sz="2300" spc="80" dirty="0">
                <a:latin typeface="Tahoma"/>
                <a:cs typeface="Tahoma"/>
              </a:rPr>
              <a:t>determined</a:t>
            </a:r>
            <a:r>
              <a:rPr sz="2300" spc="-110" dirty="0">
                <a:latin typeface="Tahoma"/>
                <a:cs typeface="Tahoma"/>
              </a:rPr>
              <a:t> </a:t>
            </a:r>
            <a:r>
              <a:rPr sz="2300" spc="80" dirty="0">
                <a:latin typeface="Tahoma"/>
                <a:cs typeface="Tahoma"/>
              </a:rPr>
              <a:t>by</a:t>
            </a:r>
            <a:r>
              <a:rPr sz="2300" spc="-135" dirty="0">
                <a:latin typeface="Tahoma"/>
                <a:cs typeface="Tahoma"/>
              </a:rPr>
              <a:t> </a:t>
            </a:r>
            <a:r>
              <a:rPr sz="2300" dirty="0">
                <a:latin typeface="Tahoma"/>
                <a:cs typeface="Tahoma"/>
              </a:rPr>
              <a:t>the</a:t>
            </a:r>
            <a:r>
              <a:rPr sz="2300" spc="-114" dirty="0">
                <a:latin typeface="Tahoma"/>
                <a:cs typeface="Tahoma"/>
              </a:rPr>
              <a:t> </a:t>
            </a:r>
            <a:r>
              <a:rPr sz="2300" spc="-10" dirty="0">
                <a:latin typeface="Tahoma"/>
                <a:cs typeface="Tahoma"/>
              </a:rPr>
              <a:t>agent.</a:t>
            </a:r>
            <a:endParaRPr sz="2300">
              <a:latin typeface="Tahoma"/>
              <a:cs typeface="Tahoma"/>
            </a:endParaRPr>
          </a:p>
          <a:p>
            <a:pPr marL="200660" indent="-187960">
              <a:lnSpc>
                <a:spcPct val="100000"/>
              </a:lnSpc>
              <a:spcBef>
                <a:spcPts val="845"/>
              </a:spcBef>
              <a:buFont typeface="Arial MT"/>
              <a:buChar char="•"/>
              <a:tabLst>
                <a:tab pos="200660" algn="l"/>
              </a:tabLst>
            </a:pPr>
            <a:r>
              <a:rPr sz="2300" b="1" spc="-10" dirty="0">
                <a:latin typeface="Tahoma"/>
                <a:cs typeface="Tahoma"/>
              </a:rPr>
              <a:t>Examples:</a:t>
            </a:r>
            <a:endParaRPr sz="2300">
              <a:latin typeface="Tahoma"/>
              <a:cs typeface="Tahoma"/>
            </a:endParaRPr>
          </a:p>
          <a:p>
            <a:pPr marL="625475" marR="5080" lvl="1" indent="-234950">
              <a:lnSpc>
                <a:spcPct val="101499"/>
              </a:lnSpc>
              <a:spcBef>
                <a:spcPts val="420"/>
              </a:spcBef>
              <a:buFont typeface="Arial MT"/>
              <a:buChar char="•"/>
              <a:tabLst>
                <a:tab pos="625475" algn="l"/>
              </a:tabLst>
            </a:pPr>
            <a:r>
              <a:rPr sz="1950" b="1" spc="-20" dirty="0">
                <a:latin typeface="Tahoma"/>
                <a:cs typeface="Tahoma"/>
              </a:rPr>
              <a:t>Chess</a:t>
            </a:r>
            <a:r>
              <a:rPr sz="1950" b="1" spc="-35" dirty="0">
                <a:latin typeface="Tahoma"/>
                <a:cs typeface="Tahoma"/>
              </a:rPr>
              <a:t> </a:t>
            </a:r>
            <a:r>
              <a:rPr sz="1950" b="1" spc="-459" dirty="0">
                <a:latin typeface="Tahoma"/>
                <a:cs typeface="Tahoma"/>
              </a:rPr>
              <a:t>–</a:t>
            </a:r>
            <a:r>
              <a:rPr sz="1950" b="1" spc="-45" dirty="0">
                <a:latin typeface="Tahoma"/>
                <a:cs typeface="Tahoma"/>
              </a:rPr>
              <a:t> </a:t>
            </a:r>
            <a:r>
              <a:rPr sz="1950" dirty="0">
                <a:latin typeface="Tahoma"/>
                <a:cs typeface="Tahoma"/>
              </a:rPr>
              <a:t>there</a:t>
            </a:r>
            <a:r>
              <a:rPr sz="1950" spc="-55" dirty="0">
                <a:latin typeface="Tahoma"/>
                <a:cs typeface="Tahoma"/>
              </a:rPr>
              <a:t> </a:t>
            </a:r>
            <a:r>
              <a:rPr sz="1950" spc="90" dirty="0">
                <a:latin typeface="Tahoma"/>
                <a:cs typeface="Tahoma"/>
              </a:rPr>
              <a:t>would</a:t>
            </a:r>
            <a:r>
              <a:rPr sz="1950" spc="-100" dirty="0">
                <a:latin typeface="Tahoma"/>
                <a:cs typeface="Tahoma"/>
              </a:rPr>
              <a:t> </a:t>
            </a:r>
            <a:r>
              <a:rPr sz="1950" spc="135" dirty="0">
                <a:latin typeface="Tahoma"/>
                <a:cs typeface="Tahoma"/>
              </a:rPr>
              <a:t>be</a:t>
            </a:r>
            <a:r>
              <a:rPr sz="1950" spc="-95" dirty="0">
                <a:latin typeface="Tahoma"/>
                <a:cs typeface="Tahoma"/>
              </a:rPr>
              <a:t> </a:t>
            </a:r>
            <a:r>
              <a:rPr sz="1950" spc="55" dirty="0">
                <a:latin typeface="Tahoma"/>
                <a:cs typeface="Tahoma"/>
              </a:rPr>
              <a:t>only</a:t>
            </a:r>
            <a:r>
              <a:rPr sz="1950" spc="-90" dirty="0">
                <a:latin typeface="Tahoma"/>
                <a:cs typeface="Tahoma"/>
              </a:rPr>
              <a:t> </a:t>
            </a:r>
            <a:r>
              <a:rPr sz="1950" dirty="0">
                <a:latin typeface="Tahoma"/>
                <a:cs typeface="Tahoma"/>
              </a:rPr>
              <a:t>a</a:t>
            </a:r>
            <a:r>
              <a:rPr sz="1950" spc="-80" dirty="0">
                <a:latin typeface="Tahoma"/>
                <a:cs typeface="Tahoma"/>
              </a:rPr>
              <a:t> </a:t>
            </a:r>
            <a:r>
              <a:rPr sz="1950" dirty="0">
                <a:latin typeface="Tahoma"/>
                <a:cs typeface="Tahoma"/>
              </a:rPr>
              <a:t>few</a:t>
            </a:r>
            <a:r>
              <a:rPr sz="1950" spc="-85" dirty="0">
                <a:latin typeface="Tahoma"/>
                <a:cs typeface="Tahoma"/>
              </a:rPr>
              <a:t> </a:t>
            </a:r>
            <a:r>
              <a:rPr sz="1950" spc="85" dirty="0">
                <a:latin typeface="Tahoma"/>
                <a:cs typeface="Tahoma"/>
              </a:rPr>
              <a:t>possible</a:t>
            </a:r>
            <a:r>
              <a:rPr sz="1950" spc="-80" dirty="0">
                <a:latin typeface="Tahoma"/>
                <a:cs typeface="Tahoma"/>
              </a:rPr>
              <a:t> </a:t>
            </a:r>
            <a:r>
              <a:rPr sz="1950" spc="60" dirty="0">
                <a:latin typeface="Tahoma"/>
                <a:cs typeface="Tahoma"/>
              </a:rPr>
              <a:t>moves</a:t>
            </a:r>
            <a:r>
              <a:rPr sz="1950" spc="-80" dirty="0">
                <a:latin typeface="Tahoma"/>
                <a:cs typeface="Tahoma"/>
              </a:rPr>
              <a:t> </a:t>
            </a:r>
            <a:r>
              <a:rPr sz="1950" dirty="0">
                <a:latin typeface="Tahoma"/>
                <a:cs typeface="Tahoma"/>
              </a:rPr>
              <a:t>for</a:t>
            </a:r>
            <a:r>
              <a:rPr sz="1950" spc="-85" dirty="0">
                <a:latin typeface="Tahoma"/>
                <a:cs typeface="Tahoma"/>
              </a:rPr>
              <a:t> </a:t>
            </a:r>
            <a:r>
              <a:rPr sz="1950" dirty="0">
                <a:latin typeface="Tahoma"/>
                <a:cs typeface="Tahoma"/>
              </a:rPr>
              <a:t>a</a:t>
            </a:r>
            <a:r>
              <a:rPr sz="1950" spc="-80" dirty="0">
                <a:latin typeface="Tahoma"/>
                <a:cs typeface="Tahoma"/>
              </a:rPr>
              <a:t> </a:t>
            </a:r>
            <a:r>
              <a:rPr sz="1950" spc="75" dirty="0">
                <a:latin typeface="Tahoma"/>
                <a:cs typeface="Tahoma"/>
              </a:rPr>
              <a:t>coin</a:t>
            </a:r>
            <a:r>
              <a:rPr sz="1950" spc="-95" dirty="0">
                <a:latin typeface="Tahoma"/>
                <a:cs typeface="Tahoma"/>
              </a:rPr>
              <a:t> </a:t>
            </a:r>
            <a:r>
              <a:rPr sz="1950" dirty="0">
                <a:latin typeface="Tahoma"/>
                <a:cs typeface="Tahoma"/>
              </a:rPr>
              <a:t>at</a:t>
            </a:r>
            <a:r>
              <a:rPr sz="1950" spc="-65" dirty="0">
                <a:latin typeface="Tahoma"/>
                <a:cs typeface="Tahoma"/>
              </a:rPr>
              <a:t> </a:t>
            </a:r>
            <a:r>
              <a:rPr sz="1950" spc="-25" dirty="0">
                <a:latin typeface="Tahoma"/>
                <a:cs typeface="Tahoma"/>
              </a:rPr>
              <a:t>the </a:t>
            </a:r>
            <a:r>
              <a:rPr sz="1950" dirty="0">
                <a:latin typeface="Tahoma"/>
                <a:cs typeface="Tahoma"/>
              </a:rPr>
              <a:t>current</a:t>
            </a:r>
            <a:r>
              <a:rPr sz="1950" spc="-25" dirty="0">
                <a:latin typeface="Tahoma"/>
                <a:cs typeface="Tahoma"/>
              </a:rPr>
              <a:t> </a:t>
            </a:r>
            <a:r>
              <a:rPr sz="1950" dirty="0">
                <a:latin typeface="Tahoma"/>
                <a:cs typeface="Tahoma"/>
              </a:rPr>
              <a:t>state</a:t>
            </a:r>
            <a:r>
              <a:rPr sz="1950" spc="-35" dirty="0">
                <a:latin typeface="Tahoma"/>
                <a:cs typeface="Tahoma"/>
              </a:rPr>
              <a:t> </a:t>
            </a:r>
            <a:r>
              <a:rPr sz="1950" spc="80" dirty="0">
                <a:latin typeface="Tahoma"/>
                <a:cs typeface="Tahoma"/>
              </a:rPr>
              <a:t>and</a:t>
            </a:r>
            <a:r>
              <a:rPr sz="1950" spc="-35" dirty="0">
                <a:latin typeface="Tahoma"/>
                <a:cs typeface="Tahoma"/>
              </a:rPr>
              <a:t> </a:t>
            </a:r>
            <a:r>
              <a:rPr sz="1950" dirty="0">
                <a:latin typeface="Tahoma"/>
                <a:cs typeface="Tahoma"/>
              </a:rPr>
              <a:t>these</a:t>
            </a:r>
            <a:r>
              <a:rPr sz="1950" spc="-25" dirty="0">
                <a:latin typeface="Tahoma"/>
                <a:cs typeface="Tahoma"/>
              </a:rPr>
              <a:t> </a:t>
            </a:r>
            <a:r>
              <a:rPr sz="1950" spc="65" dirty="0">
                <a:latin typeface="Tahoma"/>
                <a:cs typeface="Tahoma"/>
              </a:rPr>
              <a:t>moves</a:t>
            </a:r>
            <a:r>
              <a:rPr sz="1950" spc="-30" dirty="0">
                <a:latin typeface="Tahoma"/>
                <a:cs typeface="Tahoma"/>
              </a:rPr>
              <a:t> </a:t>
            </a:r>
            <a:r>
              <a:rPr sz="1950" spc="55" dirty="0">
                <a:latin typeface="Tahoma"/>
                <a:cs typeface="Tahoma"/>
              </a:rPr>
              <a:t>can</a:t>
            </a:r>
            <a:r>
              <a:rPr sz="1950" spc="-35" dirty="0">
                <a:latin typeface="Tahoma"/>
                <a:cs typeface="Tahoma"/>
              </a:rPr>
              <a:t> </a:t>
            </a:r>
            <a:r>
              <a:rPr sz="1950" spc="135" dirty="0">
                <a:latin typeface="Tahoma"/>
                <a:cs typeface="Tahoma"/>
              </a:rPr>
              <a:t>be</a:t>
            </a:r>
            <a:r>
              <a:rPr sz="1950" spc="-40" dirty="0">
                <a:latin typeface="Tahoma"/>
                <a:cs typeface="Tahoma"/>
              </a:rPr>
              <a:t> </a:t>
            </a:r>
            <a:r>
              <a:rPr sz="1950" spc="55" dirty="0">
                <a:latin typeface="Tahoma"/>
                <a:cs typeface="Tahoma"/>
              </a:rPr>
              <a:t>determined.</a:t>
            </a:r>
            <a:endParaRPr sz="1950">
              <a:latin typeface="Tahoma"/>
              <a:cs typeface="Tahoma"/>
            </a:endParaRPr>
          </a:p>
          <a:p>
            <a:pPr marL="625475" marR="95885" lvl="1" indent="-234950">
              <a:lnSpc>
                <a:spcPct val="101499"/>
              </a:lnSpc>
              <a:spcBef>
                <a:spcPts val="409"/>
              </a:spcBef>
              <a:buFont typeface="Arial MT"/>
              <a:buChar char="•"/>
              <a:tabLst>
                <a:tab pos="625475" algn="l"/>
              </a:tabLst>
            </a:pPr>
            <a:r>
              <a:rPr sz="1950" b="1" spc="-70" dirty="0">
                <a:latin typeface="Tahoma"/>
                <a:cs typeface="Tahoma"/>
              </a:rPr>
              <a:t>Self-</a:t>
            </a:r>
            <a:r>
              <a:rPr sz="1950" b="1" dirty="0">
                <a:latin typeface="Tahoma"/>
                <a:cs typeface="Tahoma"/>
              </a:rPr>
              <a:t>Driving</a:t>
            </a:r>
            <a:r>
              <a:rPr sz="1950" b="1" spc="-20" dirty="0">
                <a:latin typeface="Tahoma"/>
                <a:cs typeface="Tahoma"/>
              </a:rPr>
              <a:t> </a:t>
            </a:r>
            <a:r>
              <a:rPr sz="1950" b="1" spc="-70" dirty="0">
                <a:latin typeface="Tahoma"/>
                <a:cs typeface="Tahoma"/>
              </a:rPr>
              <a:t>Cars-</a:t>
            </a:r>
            <a:r>
              <a:rPr sz="1950" b="1" spc="25" dirty="0">
                <a:latin typeface="Tahoma"/>
                <a:cs typeface="Tahoma"/>
              </a:rPr>
              <a:t> </a:t>
            </a:r>
            <a:r>
              <a:rPr sz="1950" dirty="0">
                <a:latin typeface="Tahoma"/>
                <a:cs typeface="Tahoma"/>
              </a:rPr>
              <a:t>the</a:t>
            </a:r>
            <a:r>
              <a:rPr sz="1950" spc="-50" dirty="0">
                <a:latin typeface="Tahoma"/>
                <a:cs typeface="Tahoma"/>
              </a:rPr>
              <a:t> </a:t>
            </a:r>
            <a:r>
              <a:rPr sz="1950" dirty="0">
                <a:latin typeface="Tahoma"/>
                <a:cs typeface="Tahoma"/>
              </a:rPr>
              <a:t>actions</a:t>
            </a:r>
            <a:r>
              <a:rPr sz="1950" spc="-35" dirty="0">
                <a:latin typeface="Tahoma"/>
                <a:cs typeface="Tahoma"/>
              </a:rPr>
              <a:t> </a:t>
            </a:r>
            <a:r>
              <a:rPr sz="1950" spc="50" dirty="0">
                <a:latin typeface="Tahoma"/>
                <a:cs typeface="Tahoma"/>
              </a:rPr>
              <a:t>of</a:t>
            </a:r>
            <a:r>
              <a:rPr sz="1950" spc="20" dirty="0">
                <a:latin typeface="Tahoma"/>
                <a:cs typeface="Tahoma"/>
              </a:rPr>
              <a:t> </a:t>
            </a:r>
            <a:r>
              <a:rPr sz="1950" dirty="0">
                <a:latin typeface="Tahoma"/>
                <a:cs typeface="Tahoma"/>
              </a:rPr>
              <a:t>a</a:t>
            </a:r>
            <a:r>
              <a:rPr sz="1950" spc="-45" dirty="0">
                <a:latin typeface="Tahoma"/>
                <a:cs typeface="Tahoma"/>
              </a:rPr>
              <a:t> </a:t>
            </a:r>
            <a:r>
              <a:rPr sz="1950" dirty="0">
                <a:latin typeface="Tahoma"/>
                <a:cs typeface="Tahoma"/>
              </a:rPr>
              <a:t>self-</a:t>
            </a:r>
            <a:r>
              <a:rPr sz="1950" spc="65" dirty="0">
                <a:latin typeface="Tahoma"/>
                <a:cs typeface="Tahoma"/>
              </a:rPr>
              <a:t>driving</a:t>
            </a:r>
            <a:r>
              <a:rPr sz="1950" spc="-40" dirty="0">
                <a:latin typeface="Tahoma"/>
                <a:cs typeface="Tahoma"/>
              </a:rPr>
              <a:t> </a:t>
            </a:r>
            <a:r>
              <a:rPr sz="1950" dirty="0">
                <a:latin typeface="Tahoma"/>
                <a:cs typeface="Tahoma"/>
              </a:rPr>
              <a:t>car</a:t>
            </a:r>
            <a:r>
              <a:rPr sz="1950" spc="-50" dirty="0">
                <a:latin typeface="Tahoma"/>
                <a:cs typeface="Tahoma"/>
              </a:rPr>
              <a:t> </a:t>
            </a:r>
            <a:r>
              <a:rPr sz="1950" dirty="0">
                <a:latin typeface="Tahoma"/>
                <a:cs typeface="Tahoma"/>
              </a:rPr>
              <a:t>are</a:t>
            </a:r>
            <a:r>
              <a:rPr sz="1950" spc="-25" dirty="0">
                <a:latin typeface="Tahoma"/>
                <a:cs typeface="Tahoma"/>
              </a:rPr>
              <a:t> </a:t>
            </a:r>
            <a:r>
              <a:rPr sz="1950" spc="55" dirty="0">
                <a:latin typeface="Tahoma"/>
                <a:cs typeface="Tahoma"/>
              </a:rPr>
              <a:t>not</a:t>
            </a:r>
            <a:r>
              <a:rPr sz="1950" spc="-30" dirty="0">
                <a:latin typeface="Tahoma"/>
                <a:cs typeface="Tahoma"/>
              </a:rPr>
              <a:t> </a:t>
            </a:r>
            <a:r>
              <a:rPr sz="1950" spc="50" dirty="0">
                <a:latin typeface="Tahoma"/>
                <a:cs typeface="Tahoma"/>
              </a:rPr>
              <a:t>unique, </a:t>
            </a:r>
            <a:r>
              <a:rPr sz="1950" dirty="0">
                <a:latin typeface="Tahoma"/>
                <a:cs typeface="Tahoma"/>
              </a:rPr>
              <a:t>it</a:t>
            </a:r>
            <a:r>
              <a:rPr sz="1950" spc="-75" dirty="0">
                <a:latin typeface="Tahoma"/>
                <a:cs typeface="Tahoma"/>
              </a:rPr>
              <a:t> </a:t>
            </a:r>
            <a:r>
              <a:rPr sz="1950" dirty="0">
                <a:latin typeface="Tahoma"/>
                <a:cs typeface="Tahoma"/>
              </a:rPr>
              <a:t>varies</a:t>
            </a:r>
            <a:r>
              <a:rPr sz="1950" spc="-35" dirty="0">
                <a:latin typeface="Tahoma"/>
                <a:cs typeface="Tahoma"/>
              </a:rPr>
              <a:t> </a:t>
            </a:r>
            <a:r>
              <a:rPr sz="1950" spc="55" dirty="0">
                <a:latin typeface="Tahoma"/>
                <a:cs typeface="Tahoma"/>
              </a:rPr>
              <a:t>time</a:t>
            </a:r>
            <a:r>
              <a:rPr sz="1950" spc="-65" dirty="0">
                <a:latin typeface="Tahoma"/>
                <a:cs typeface="Tahoma"/>
              </a:rPr>
              <a:t> </a:t>
            </a:r>
            <a:r>
              <a:rPr sz="1950" spc="55" dirty="0">
                <a:latin typeface="Tahoma"/>
                <a:cs typeface="Tahoma"/>
              </a:rPr>
              <a:t>to</a:t>
            </a:r>
            <a:r>
              <a:rPr sz="1950" spc="-75" dirty="0">
                <a:latin typeface="Tahoma"/>
                <a:cs typeface="Tahoma"/>
              </a:rPr>
              <a:t> </a:t>
            </a:r>
            <a:r>
              <a:rPr sz="1950" spc="-10" dirty="0">
                <a:latin typeface="Tahoma"/>
                <a:cs typeface="Tahoma"/>
              </a:rPr>
              <a:t>time.</a:t>
            </a:r>
            <a:endParaRPr sz="1950">
              <a:latin typeface="Tahoma"/>
              <a:cs typeface="Tahom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409193" y="1053845"/>
          <a:ext cx="9228455" cy="1664335"/>
        </p:xfrm>
        <a:graphic>
          <a:graphicData uri="http://schemas.openxmlformats.org/drawingml/2006/table">
            <a:tbl>
              <a:tblPr firstRow="1" bandRow="1">
                <a:tableStyleId>{2D5ABB26-0587-4C30-8999-92F81FD0307C}</a:tableStyleId>
              </a:tblPr>
              <a:tblGrid>
                <a:gridCol w="72390">
                  <a:extLst>
                    <a:ext uri="{9D8B030D-6E8A-4147-A177-3AD203B41FA5}">
                      <a16:colId xmlns:a16="http://schemas.microsoft.com/office/drawing/2014/main" val="20000"/>
                    </a:ext>
                  </a:extLst>
                </a:gridCol>
                <a:gridCol w="9156065">
                  <a:extLst>
                    <a:ext uri="{9D8B030D-6E8A-4147-A177-3AD203B41FA5}">
                      <a16:colId xmlns:a16="http://schemas.microsoft.com/office/drawing/2014/main" val="20001"/>
                    </a:ext>
                  </a:extLst>
                </a:gridCol>
              </a:tblGrid>
              <a:tr h="650240">
                <a:tc gridSpan="2">
                  <a:txBody>
                    <a:bodyPr/>
                    <a:lstStyle/>
                    <a:p>
                      <a:pPr>
                        <a:lnSpc>
                          <a:spcPct val="100000"/>
                        </a:lnSpc>
                      </a:pPr>
                      <a:endParaRPr sz="1800">
                        <a:latin typeface="Times New Roman"/>
                        <a:cs typeface="Times New Roman"/>
                      </a:endParaRPr>
                    </a:p>
                  </a:txBody>
                  <a:tcPr marL="0" marR="0" marT="0" marB="0">
                    <a:lnL w="9525">
                      <a:solidFill>
                        <a:srgbClr val="E9E9E9"/>
                      </a:solidFill>
                      <a:prstDash val="solid"/>
                    </a:lnL>
                    <a:lnR w="9525">
                      <a:solidFill>
                        <a:srgbClr val="E9E9E9"/>
                      </a:solidFill>
                      <a:prstDash val="solid"/>
                    </a:lnR>
                    <a:lnT w="9525">
                      <a:solidFill>
                        <a:srgbClr val="E9E9E9"/>
                      </a:solidFill>
                      <a:prstDash val="solid"/>
                    </a:lnT>
                  </a:tcPr>
                </a:tc>
                <a:tc hMerge="1">
                  <a:txBody>
                    <a:bodyPr/>
                    <a:lstStyle/>
                    <a:p>
                      <a:endParaRPr/>
                    </a:p>
                  </a:txBody>
                  <a:tcPr marL="0" marR="0" marT="0" marB="0"/>
                </a:tc>
                <a:extLst>
                  <a:ext uri="{0D108BD9-81ED-4DB2-BD59-A6C34878D82A}">
                    <a16:rowId xmlns:a16="http://schemas.microsoft.com/office/drawing/2014/main" val="10000"/>
                  </a:ext>
                </a:extLst>
              </a:tr>
              <a:tr h="580390">
                <a:tc>
                  <a:txBody>
                    <a:bodyPr/>
                    <a:lstStyle/>
                    <a:p>
                      <a:pPr>
                        <a:lnSpc>
                          <a:spcPct val="100000"/>
                        </a:lnSpc>
                      </a:pPr>
                      <a:endParaRPr sz="1800">
                        <a:latin typeface="Times New Roman"/>
                        <a:cs typeface="Times New Roman"/>
                      </a:endParaRPr>
                    </a:p>
                  </a:txBody>
                  <a:tcPr marL="0" marR="0" marT="0" marB="0">
                    <a:lnL w="9525">
                      <a:solidFill>
                        <a:srgbClr val="E9E9E9"/>
                      </a:solidFill>
                      <a:prstDash val="solid"/>
                    </a:lnL>
                    <a:solidFill>
                      <a:srgbClr val="F5A700"/>
                    </a:solidFill>
                  </a:tcPr>
                </a:tc>
                <a:tc>
                  <a:txBody>
                    <a:bodyPr/>
                    <a:lstStyle/>
                    <a:p>
                      <a:pPr marL="476884">
                        <a:lnSpc>
                          <a:spcPts val="3900"/>
                        </a:lnSpc>
                      </a:pPr>
                      <a:r>
                        <a:rPr sz="3300" b="1" spc="-25" dirty="0">
                          <a:latin typeface="Tahoma"/>
                          <a:cs typeface="Tahoma"/>
                        </a:rPr>
                        <a:t>3.</a:t>
                      </a:r>
                      <a:r>
                        <a:rPr sz="3300" b="1" spc="-240" dirty="0">
                          <a:latin typeface="Tahoma"/>
                          <a:cs typeface="Tahoma"/>
                        </a:rPr>
                        <a:t> </a:t>
                      </a:r>
                      <a:r>
                        <a:rPr sz="3300" b="1" spc="-10" dirty="0">
                          <a:latin typeface="Tahoma"/>
                          <a:cs typeface="Tahoma"/>
                        </a:rPr>
                        <a:t>Episodic</a:t>
                      </a:r>
                      <a:r>
                        <a:rPr sz="3300" b="1" spc="-185" dirty="0">
                          <a:latin typeface="Tahoma"/>
                          <a:cs typeface="Tahoma"/>
                        </a:rPr>
                        <a:t> </a:t>
                      </a:r>
                      <a:r>
                        <a:rPr sz="3300" b="1" spc="-120" dirty="0">
                          <a:latin typeface="Tahoma"/>
                          <a:cs typeface="Tahoma"/>
                        </a:rPr>
                        <a:t>vs</a:t>
                      </a:r>
                      <a:r>
                        <a:rPr sz="3300" b="1" spc="-150" dirty="0">
                          <a:latin typeface="Tahoma"/>
                          <a:cs typeface="Tahoma"/>
                        </a:rPr>
                        <a:t> </a:t>
                      </a:r>
                      <a:r>
                        <a:rPr sz="3300" b="1" spc="-10" dirty="0">
                          <a:latin typeface="Tahoma"/>
                          <a:cs typeface="Tahoma"/>
                        </a:rPr>
                        <a:t>Sequential:</a:t>
                      </a:r>
                      <a:endParaRPr sz="3300">
                        <a:latin typeface="Tahoma"/>
                        <a:cs typeface="Tahoma"/>
                      </a:endParaRPr>
                    </a:p>
                  </a:txBody>
                  <a:tcPr marL="0" marR="0" marT="0" marB="0">
                    <a:lnR w="9525">
                      <a:solidFill>
                        <a:srgbClr val="E9E9E9"/>
                      </a:solidFill>
                      <a:prstDash val="solid"/>
                    </a:lnR>
                  </a:tcPr>
                </a:tc>
                <a:extLst>
                  <a:ext uri="{0D108BD9-81ED-4DB2-BD59-A6C34878D82A}">
                    <a16:rowId xmlns:a16="http://schemas.microsoft.com/office/drawing/2014/main" val="10001"/>
                  </a:ext>
                </a:extLst>
              </a:tr>
              <a:tr h="433705">
                <a:tc gridSpan="2">
                  <a:txBody>
                    <a:bodyPr/>
                    <a:lstStyle/>
                    <a:p>
                      <a:pPr marL="737235" indent="-187960">
                        <a:lnSpc>
                          <a:spcPct val="100000"/>
                        </a:lnSpc>
                        <a:spcBef>
                          <a:spcPts val="740"/>
                        </a:spcBef>
                        <a:buFont typeface="Arial MT"/>
                        <a:buChar char="•"/>
                        <a:tabLst>
                          <a:tab pos="737235" algn="l"/>
                        </a:tabLst>
                      </a:pPr>
                      <a:r>
                        <a:rPr sz="1800" spc="-95" dirty="0">
                          <a:latin typeface="Tahoma"/>
                          <a:cs typeface="Tahoma"/>
                        </a:rPr>
                        <a:t>In</a:t>
                      </a:r>
                      <a:r>
                        <a:rPr sz="1800" spc="-40" dirty="0">
                          <a:latin typeface="Tahoma"/>
                          <a:cs typeface="Tahoma"/>
                        </a:rPr>
                        <a:t> </a:t>
                      </a:r>
                      <a:r>
                        <a:rPr sz="1800" b="1" spc="-35" dirty="0">
                          <a:latin typeface="Tahoma"/>
                          <a:cs typeface="Tahoma"/>
                        </a:rPr>
                        <a:t>an</a:t>
                      </a:r>
                      <a:r>
                        <a:rPr sz="1800" b="1" dirty="0">
                          <a:latin typeface="Tahoma"/>
                          <a:cs typeface="Tahoma"/>
                        </a:rPr>
                        <a:t> </a:t>
                      </a:r>
                      <a:r>
                        <a:rPr sz="1800" b="1" spc="-10" dirty="0">
                          <a:latin typeface="Tahoma"/>
                          <a:cs typeface="Tahoma"/>
                        </a:rPr>
                        <a:t>Episodic</a:t>
                      </a:r>
                      <a:r>
                        <a:rPr sz="1800" b="1" spc="20" dirty="0">
                          <a:latin typeface="Tahoma"/>
                          <a:cs typeface="Tahoma"/>
                        </a:rPr>
                        <a:t> </a:t>
                      </a:r>
                      <a:r>
                        <a:rPr sz="1800" b="1" spc="-55" dirty="0">
                          <a:latin typeface="Tahoma"/>
                          <a:cs typeface="Tahoma"/>
                        </a:rPr>
                        <a:t>task</a:t>
                      </a:r>
                      <a:r>
                        <a:rPr sz="1800" b="1" spc="10" dirty="0">
                          <a:latin typeface="Tahoma"/>
                          <a:cs typeface="Tahoma"/>
                        </a:rPr>
                        <a:t> </a:t>
                      </a:r>
                      <a:r>
                        <a:rPr sz="1800" b="1" spc="-45" dirty="0">
                          <a:latin typeface="Tahoma"/>
                          <a:cs typeface="Tahoma"/>
                        </a:rPr>
                        <a:t>environment</a:t>
                      </a:r>
                      <a:r>
                        <a:rPr sz="1800" spc="-45" dirty="0">
                          <a:latin typeface="Tahoma"/>
                          <a:cs typeface="Tahoma"/>
                        </a:rPr>
                        <a:t>,</a:t>
                      </a:r>
                      <a:r>
                        <a:rPr sz="1800" spc="-85" dirty="0">
                          <a:latin typeface="Tahoma"/>
                          <a:cs typeface="Tahoma"/>
                        </a:rPr>
                        <a:t> </a:t>
                      </a:r>
                      <a:r>
                        <a:rPr sz="1800" spc="50" dirty="0">
                          <a:latin typeface="Tahoma"/>
                          <a:cs typeface="Tahoma"/>
                        </a:rPr>
                        <a:t>each</a:t>
                      </a:r>
                      <a:r>
                        <a:rPr sz="1800" spc="-20" dirty="0">
                          <a:latin typeface="Tahoma"/>
                          <a:cs typeface="Tahoma"/>
                        </a:rPr>
                        <a:t> </a:t>
                      </a:r>
                      <a:r>
                        <a:rPr sz="1800" dirty="0">
                          <a:latin typeface="Tahoma"/>
                          <a:cs typeface="Tahoma"/>
                        </a:rPr>
                        <a:t>of</a:t>
                      </a:r>
                      <a:r>
                        <a:rPr sz="1800" spc="20" dirty="0">
                          <a:latin typeface="Tahoma"/>
                          <a:cs typeface="Tahoma"/>
                        </a:rPr>
                        <a:t> </a:t>
                      </a:r>
                      <a:r>
                        <a:rPr sz="1800" dirty="0">
                          <a:latin typeface="Tahoma"/>
                          <a:cs typeface="Tahoma"/>
                        </a:rPr>
                        <a:t>the</a:t>
                      </a:r>
                      <a:r>
                        <a:rPr sz="1800" spc="-20" dirty="0">
                          <a:latin typeface="Tahoma"/>
                          <a:cs typeface="Tahoma"/>
                        </a:rPr>
                        <a:t> </a:t>
                      </a:r>
                      <a:r>
                        <a:rPr sz="1800" dirty="0">
                          <a:latin typeface="Tahoma"/>
                          <a:cs typeface="Tahoma"/>
                        </a:rPr>
                        <a:t>agent’s</a:t>
                      </a:r>
                      <a:r>
                        <a:rPr sz="1800" spc="-50" dirty="0">
                          <a:latin typeface="Tahoma"/>
                          <a:cs typeface="Tahoma"/>
                        </a:rPr>
                        <a:t> </a:t>
                      </a:r>
                      <a:r>
                        <a:rPr sz="1800" dirty="0">
                          <a:latin typeface="Tahoma"/>
                          <a:cs typeface="Tahoma"/>
                        </a:rPr>
                        <a:t>actions</a:t>
                      </a:r>
                      <a:r>
                        <a:rPr sz="1800" spc="-35" dirty="0">
                          <a:latin typeface="Tahoma"/>
                          <a:cs typeface="Tahoma"/>
                        </a:rPr>
                        <a:t> </a:t>
                      </a:r>
                      <a:r>
                        <a:rPr sz="1800" dirty="0">
                          <a:latin typeface="Tahoma"/>
                          <a:cs typeface="Tahoma"/>
                        </a:rPr>
                        <a:t>is</a:t>
                      </a:r>
                      <a:r>
                        <a:rPr sz="1800" spc="-35" dirty="0">
                          <a:latin typeface="Tahoma"/>
                          <a:cs typeface="Tahoma"/>
                        </a:rPr>
                        <a:t> </a:t>
                      </a:r>
                      <a:r>
                        <a:rPr sz="1800" spc="80" dirty="0">
                          <a:latin typeface="Tahoma"/>
                          <a:cs typeface="Tahoma"/>
                        </a:rPr>
                        <a:t>divided</a:t>
                      </a:r>
                      <a:r>
                        <a:rPr sz="1800" spc="-30" dirty="0">
                          <a:latin typeface="Tahoma"/>
                          <a:cs typeface="Tahoma"/>
                        </a:rPr>
                        <a:t> </a:t>
                      </a:r>
                      <a:r>
                        <a:rPr sz="1800" spc="-20" dirty="0">
                          <a:latin typeface="Tahoma"/>
                          <a:cs typeface="Tahoma"/>
                        </a:rPr>
                        <a:t>into</a:t>
                      </a:r>
                      <a:endParaRPr sz="1800">
                        <a:latin typeface="Tahoma"/>
                        <a:cs typeface="Tahoma"/>
                      </a:endParaRPr>
                    </a:p>
                  </a:txBody>
                  <a:tcPr marL="0" marR="0" marT="93980" marB="0">
                    <a:lnL w="9525">
                      <a:solidFill>
                        <a:srgbClr val="E9E9E9"/>
                      </a:solidFill>
                      <a:prstDash val="solid"/>
                    </a:lnL>
                    <a:lnR w="9525">
                      <a:solidFill>
                        <a:srgbClr val="E9E9E9"/>
                      </a:solidFill>
                      <a:prstDash val="solid"/>
                    </a:lnR>
                    <a:lnB w="9525">
                      <a:solidFill>
                        <a:srgbClr val="E9E9E9"/>
                      </a:solidFill>
                      <a:prstDash val="solid"/>
                    </a:lnB>
                  </a:tcPr>
                </a:tc>
                <a:tc hMerge="1">
                  <a:txBody>
                    <a:bodyPr/>
                    <a:lstStyle/>
                    <a:p>
                      <a:endParaRPr/>
                    </a:p>
                  </a:txBody>
                  <a:tcPr marL="0" marR="0" marT="0" marB="0"/>
                </a:tc>
                <a:extLst>
                  <a:ext uri="{0D108BD9-81ED-4DB2-BD59-A6C34878D82A}">
                    <a16:rowId xmlns:a16="http://schemas.microsoft.com/office/drawing/2014/main" val="10002"/>
                  </a:ext>
                </a:extLst>
              </a:tr>
            </a:tbl>
          </a:graphicData>
        </a:graphic>
      </p:graphicFrame>
      <p:sp>
        <p:nvSpPr>
          <p:cNvPr id="3" name="object 3"/>
          <p:cNvSpPr/>
          <p:nvPr/>
        </p:nvSpPr>
        <p:spPr>
          <a:xfrm>
            <a:off x="2298192" y="3489959"/>
            <a:ext cx="4845050" cy="280670"/>
          </a:xfrm>
          <a:custGeom>
            <a:avLst/>
            <a:gdLst/>
            <a:ahLst/>
            <a:cxnLst/>
            <a:rect l="l" t="t" r="r" b="b"/>
            <a:pathLst>
              <a:path w="4845050" h="280670">
                <a:moveTo>
                  <a:pt x="4844796" y="0"/>
                </a:moveTo>
                <a:lnTo>
                  <a:pt x="2567940" y="0"/>
                </a:lnTo>
                <a:lnTo>
                  <a:pt x="0" y="0"/>
                </a:lnTo>
                <a:lnTo>
                  <a:pt x="0" y="280416"/>
                </a:lnTo>
                <a:lnTo>
                  <a:pt x="2567940" y="280416"/>
                </a:lnTo>
                <a:lnTo>
                  <a:pt x="4844796" y="280416"/>
                </a:lnTo>
                <a:lnTo>
                  <a:pt x="4844796" y="0"/>
                </a:lnTo>
                <a:close/>
              </a:path>
            </a:pathLst>
          </a:custGeom>
          <a:solidFill>
            <a:srgbClr val="FFFF00"/>
          </a:solidFill>
        </p:spPr>
        <p:txBody>
          <a:bodyPr wrap="square" lIns="0" tIns="0" rIns="0" bIns="0" rtlCol="0"/>
          <a:lstStyle/>
          <a:p>
            <a:endParaRPr/>
          </a:p>
        </p:txBody>
      </p:sp>
      <p:sp>
        <p:nvSpPr>
          <p:cNvPr id="4" name="object 4"/>
          <p:cNvSpPr/>
          <p:nvPr/>
        </p:nvSpPr>
        <p:spPr>
          <a:xfrm>
            <a:off x="7142988" y="3489959"/>
            <a:ext cx="1847214" cy="280670"/>
          </a:xfrm>
          <a:custGeom>
            <a:avLst/>
            <a:gdLst/>
            <a:ahLst/>
            <a:cxnLst/>
            <a:rect l="l" t="t" r="r" b="b"/>
            <a:pathLst>
              <a:path w="1847215" h="280670">
                <a:moveTo>
                  <a:pt x="1847087" y="0"/>
                </a:moveTo>
                <a:lnTo>
                  <a:pt x="0" y="0"/>
                </a:lnTo>
                <a:lnTo>
                  <a:pt x="0" y="280415"/>
                </a:lnTo>
                <a:lnTo>
                  <a:pt x="1847087" y="280415"/>
                </a:lnTo>
                <a:lnTo>
                  <a:pt x="1847087" y="0"/>
                </a:lnTo>
                <a:close/>
              </a:path>
            </a:pathLst>
          </a:custGeom>
          <a:solidFill>
            <a:srgbClr val="FFFF00"/>
          </a:solidFill>
        </p:spPr>
        <p:txBody>
          <a:bodyPr wrap="square" lIns="0" tIns="0" rIns="0" bIns="0" rtlCol="0"/>
          <a:lstStyle/>
          <a:p>
            <a:endParaRPr/>
          </a:p>
        </p:txBody>
      </p:sp>
      <p:sp>
        <p:nvSpPr>
          <p:cNvPr id="5" name="object 5"/>
          <p:cNvSpPr/>
          <p:nvPr/>
        </p:nvSpPr>
        <p:spPr>
          <a:xfrm>
            <a:off x="1185672" y="3988308"/>
            <a:ext cx="7301865" cy="280670"/>
          </a:xfrm>
          <a:custGeom>
            <a:avLst/>
            <a:gdLst/>
            <a:ahLst/>
            <a:cxnLst/>
            <a:rect l="l" t="t" r="r" b="b"/>
            <a:pathLst>
              <a:path w="7301865" h="280670">
                <a:moveTo>
                  <a:pt x="7301483" y="0"/>
                </a:moveTo>
                <a:lnTo>
                  <a:pt x="0" y="0"/>
                </a:lnTo>
                <a:lnTo>
                  <a:pt x="0" y="280415"/>
                </a:lnTo>
                <a:lnTo>
                  <a:pt x="7301483" y="280415"/>
                </a:lnTo>
                <a:lnTo>
                  <a:pt x="7301483" y="0"/>
                </a:lnTo>
                <a:close/>
              </a:path>
            </a:pathLst>
          </a:custGeom>
          <a:solidFill>
            <a:srgbClr val="FFFF00"/>
          </a:solidFill>
        </p:spPr>
        <p:txBody>
          <a:bodyPr wrap="square" lIns="0" tIns="0" rIns="0" bIns="0" rtlCol="0"/>
          <a:lstStyle/>
          <a:p>
            <a:endParaRPr/>
          </a:p>
        </p:txBody>
      </p:sp>
      <p:sp>
        <p:nvSpPr>
          <p:cNvPr id="6" name="object 6"/>
          <p:cNvSpPr txBox="1"/>
          <p:nvPr/>
        </p:nvSpPr>
        <p:spPr>
          <a:xfrm>
            <a:off x="982586" y="2617809"/>
            <a:ext cx="8133715" cy="1153795"/>
          </a:xfrm>
          <a:prstGeom prst="rect">
            <a:avLst/>
          </a:prstGeom>
        </p:spPr>
        <p:txBody>
          <a:bodyPr vert="horz" wrap="square" lIns="0" tIns="39370" rIns="0" bIns="0" rtlCol="0">
            <a:spAutoFit/>
          </a:bodyPr>
          <a:lstStyle/>
          <a:p>
            <a:pPr marL="201295" marR="5080">
              <a:lnSpc>
                <a:spcPct val="90800"/>
              </a:lnSpc>
              <a:spcBef>
                <a:spcPts val="310"/>
              </a:spcBef>
            </a:pPr>
            <a:r>
              <a:rPr sz="1800" spc="50" dirty="0">
                <a:latin typeface="Tahoma"/>
                <a:cs typeface="Tahoma"/>
              </a:rPr>
              <a:t>atomic</a:t>
            </a:r>
            <a:r>
              <a:rPr sz="1800" spc="-65" dirty="0">
                <a:latin typeface="Tahoma"/>
                <a:cs typeface="Tahoma"/>
              </a:rPr>
              <a:t> </a:t>
            </a:r>
            <a:r>
              <a:rPr sz="1800" spc="50" dirty="0">
                <a:latin typeface="Tahoma"/>
                <a:cs typeface="Tahoma"/>
              </a:rPr>
              <a:t>incidents</a:t>
            </a:r>
            <a:r>
              <a:rPr sz="1800" spc="-85" dirty="0">
                <a:latin typeface="Tahoma"/>
                <a:cs typeface="Tahoma"/>
              </a:rPr>
              <a:t> </a:t>
            </a:r>
            <a:r>
              <a:rPr sz="1800" spc="65" dirty="0">
                <a:latin typeface="Tahoma"/>
                <a:cs typeface="Tahoma"/>
              </a:rPr>
              <a:t>or</a:t>
            </a:r>
            <a:r>
              <a:rPr sz="1800" spc="-65" dirty="0">
                <a:latin typeface="Tahoma"/>
                <a:cs typeface="Tahoma"/>
              </a:rPr>
              <a:t> </a:t>
            </a:r>
            <a:r>
              <a:rPr sz="1800" spc="55" dirty="0">
                <a:latin typeface="Tahoma"/>
                <a:cs typeface="Tahoma"/>
              </a:rPr>
              <a:t>episodes.</a:t>
            </a:r>
            <a:r>
              <a:rPr sz="1800" spc="-140" dirty="0">
                <a:latin typeface="Tahoma"/>
                <a:cs typeface="Tahoma"/>
              </a:rPr>
              <a:t> </a:t>
            </a:r>
            <a:r>
              <a:rPr sz="1800" dirty="0">
                <a:latin typeface="Tahoma"/>
                <a:cs typeface="Tahoma"/>
              </a:rPr>
              <a:t>There</a:t>
            </a:r>
            <a:r>
              <a:rPr sz="1800" spc="-30" dirty="0">
                <a:latin typeface="Tahoma"/>
                <a:cs typeface="Tahoma"/>
              </a:rPr>
              <a:t> </a:t>
            </a:r>
            <a:r>
              <a:rPr sz="1800" dirty="0">
                <a:latin typeface="Tahoma"/>
                <a:cs typeface="Tahoma"/>
              </a:rPr>
              <a:t>is</a:t>
            </a:r>
            <a:r>
              <a:rPr sz="1800" spc="-80" dirty="0">
                <a:latin typeface="Tahoma"/>
                <a:cs typeface="Tahoma"/>
              </a:rPr>
              <a:t> </a:t>
            </a:r>
            <a:r>
              <a:rPr sz="1800" spc="85" dirty="0">
                <a:latin typeface="Tahoma"/>
                <a:cs typeface="Tahoma"/>
              </a:rPr>
              <a:t>no</a:t>
            </a:r>
            <a:r>
              <a:rPr sz="1800" spc="-55" dirty="0">
                <a:latin typeface="Tahoma"/>
                <a:cs typeface="Tahoma"/>
              </a:rPr>
              <a:t> </a:t>
            </a:r>
            <a:r>
              <a:rPr sz="1800" spc="80" dirty="0">
                <a:latin typeface="Tahoma"/>
                <a:cs typeface="Tahoma"/>
              </a:rPr>
              <a:t>dependency</a:t>
            </a:r>
            <a:r>
              <a:rPr sz="1800" spc="-55" dirty="0">
                <a:latin typeface="Tahoma"/>
                <a:cs typeface="Tahoma"/>
              </a:rPr>
              <a:t> </a:t>
            </a:r>
            <a:r>
              <a:rPr sz="1800" spc="55" dirty="0">
                <a:latin typeface="Tahoma"/>
                <a:cs typeface="Tahoma"/>
              </a:rPr>
              <a:t>between</a:t>
            </a:r>
            <a:r>
              <a:rPr sz="1800" spc="-45" dirty="0">
                <a:latin typeface="Tahoma"/>
                <a:cs typeface="Tahoma"/>
              </a:rPr>
              <a:t> </a:t>
            </a:r>
            <a:r>
              <a:rPr sz="1800" dirty="0">
                <a:latin typeface="Tahoma"/>
                <a:cs typeface="Tahoma"/>
              </a:rPr>
              <a:t>current</a:t>
            </a:r>
            <a:r>
              <a:rPr sz="1800" spc="-70" dirty="0">
                <a:latin typeface="Tahoma"/>
                <a:cs typeface="Tahoma"/>
              </a:rPr>
              <a:t> </a:t>
            </a:r>
            <a:r>
              <a:rPr sz="1800" spc="40" dirty="0">
                <a:latin typeface="Tahoma"/>
                <a:cs typeface="Tahoma"/>
              </a:rPr>
              <a:t>and </a:t>
            </a:r>
            <a:r>
              <a:rPr sz="1800" dirty="0">
                <a:latin typeface="Tahoma"/>
                <a:cs typeface="Tahoma"/>
              </a:rPr>
              <a:t>previous</a:t>
            </a:r>
            <a:r>
              <a:rPr sz="1800" spc="114" dirty="0">
                <a:latin typeface="Tahoma"/>
                <a:cs typeface="Tahoma"/>
              </a:rPr>
              <a:t> </a:t>
            </a:r>
            <a:r>
              <a:rPr sz="1800" dirty="0">
                <a:latin typeface="Tahoma"/>
                <a:cs typeface="Tahoma"/>
              </a:rPr>
              <a:t>incidents.</a:t>
            </a:r>
            <a:r>
              <a:rPr sz="1800" spc="-5" dirty="0">
                <a:latin typeface="Tahoma"/>
                <a:cs typeface="Tahoma"/>
              </a:rPr>
              <a:t> </a:t>
            </a:r>
            <a:r>
              <a:rPr sz="1800" spc="-95" dirty="0">
                <a:latin typeface="Tahoma"/>
                <a:cs typeface="Tahoma"/>
              </a:rPr>
              <a:t>In</a:t>
            </a:r>
            <a:r>
              <a:rPr sz="1800" spc="90" dirty="0">
                <a:latin typeface="Tahoma"/>
                <a:cs typeface="Tahoma"/>
              </a:rPr>
              <a:t> </a:t>
            </a:r>
            <a:r>
              <a:rPr sz="1800" spc="50" dirty="0">
                <a:latin typeface="Tahoma"/>
                <a:cs typeface="Tahoma"/>
              </a:rPr>
              <a:t>each</a:t>
            </a:r>
            <a:r>
              <a:rPr sz="1800" spc="105" dirty="0">
                <a:latin typeface="Tahoma"/>
                <a:cs typeface="Tahoma"/>
              </a:rPr>
              <a:t> </a:t>
            </a:r>
            <a:r>
              <a:rPr sz="1800" dirty="0">
                <a:latin typeface="Tahoma"/>
                <a:cs typeface="Tahoma"/>
              </a:rPr>
              <a:t>incident,</a:t>
            </a:r>
            <a:r>
              <a:rPr sz="1800" spc="-15" dirty="0">
                <a:latin typeface="Tahoma"/>
                <a:cs typeface="Tahoma"/>
              </a:rPr>
              <a:t> </a:t>
            </a:r>
            <a:r>
              <a:rPr sz="1800" dirty="0">
                <a:latin typeface="Tahoma"/>
                <a:cs typeface="Tahoma"/>
              </a:rPr>
              <a:t>an</a:t>
            </a:r>
            <a:r>
              <a:rPr sz="1800" spc="90" dirty="0">
                <a:latin typeface="Tahoma"/>
                <a:cs typeface="Tahoma"/>
              </a:rPr>
              <a:t> </a:t>
            </a:r>
            <a:r>
              <a:rPr sz="1800" spc="50" dirty="0">
                <a:latin typeface="Tahoma"/>
                <a:cs typeface="Tahoma"/>
              </a:rPr>
              <a:t>agent</a:t>
            </a:r>
            <a:r>
              <a:rPr sz="1800" spc="80" dirty="0">
                <a:latin typeface="Tahoma"/>
                <a:cs typeface="Tahoma"/>
              </a:rPr>
              <a:t> </a:t>
            </a:r>
            <a:r>
              <a:rPr sz="1800" dirty="0">
                <a:latin typeface="Tahoma"/>
                <a:cs typeface="Tahoma"/>
              </a:rPr>
              <a:t>receives</a:t>
            </a:r>
            <a:r>
              <a:rPr sz="1800" spc="120" dirty="0">
                <a:latin typeface="Tahoma"/>
                <a:cs typeface="Tahoma"/>
              </a:rPr>
              <a:t> </a:t>
            </a:r>
            <a:r>
              <a:rPr sz="1800" dirty="0">
                <a:latin typeface="Tahoma"/>
                <a:cs typeface="Tahoma"/>
              </a:rPr>
              <a:t>input</a:t>
            </a:r>
            <a:r>
              <a:rPr sz="1800" spc="75" dirty="0">
                <a:latin typeface="Tahoma"/>
                <a:cs typeface="Tahoma"/>
              </a:rPr>
              <a:t> </a:t>
            </a:r>
            <a:r>
              <a:rPr sz="1800" dirty="0">
                <a:latin typeface="Tahoma"/>
                <a:cs typeface="Tahoma"/>
              </a:rPr>
              <a:t>from</a:t>
            </a:r>
            <a:r>
              <a:rPr sz="1800" spc="90" dirty="0">
                <a:latin typeface="Tahoma"/>
                <a:cs typeface="Tahoma"/>
              </a:rPr>
              <a:t> </a:t>
            </a:r>
            <a:r>
              <a:rPr sz="1800" spc="-25" dirty="0">
                <a:latin typeface="Tahoma"/>
                <a:cs typeface="Tahoma"/>
              </a:rPr>
              <a:t>the </a:t>
            </a:r>
            <a:r>
              <a:rPr sz="1800" dirty="0">
                <a:latin typeface="Tahoma"/>
                <a:cs typeface="Tahoma"/>
              </a:rPr>
              <a:t>environment</a:t>
            </a:r>
            <a:r>
              <a:rPr sz="1800" spc="55" dirty="0">
                <a:latin typeface="Tahoma"/>
                <a:cs typeface="Tahoma"/>
              </a:rPr>
              <a:t> </a:t>
            </a:r>
            <a:r>
              <a:rPr sz="1800" spc="65" dirty="0">
                <a:latin typeface="Tahoma"/>
                <a:cs typeface="Tahoma"/>
              </a:rPr>
              <a:t>and</a:t>
            </a:r>
            <a:r>
              <a:rPr sz="1800" spc="-5" dirty="0">
                <a:latin typeface="Tahoma"/>
                <a:cs typeface="Tahoma"/>
              </a:rPr>
              <a:t> </a:t>
            </a:r>
            <a:r>
              <a:rPr sz="1800" dirty="0">
                <a:latin typeface="Tahoma"/>
                <a:cs typeface="Tahoma"/>
              </a:rPr>
              <a:t>then</a:t>
            </a:r>
            <a:r>
              <a:rPr sz="1800" spc="35" dirty="0">
                <a:latin typeface="Tahoma"/>
                <a:cs typeface="Tahoma"/>
              </a:rPr>
              <a:t> </a:t>
            </a:r>
            <a:r>
              <a:rPr sz="1800" spc="50" dirty="0">
                <a:latin typeface="Tahoma"/>
                <a:cs typeface="Tahoma"/>
              </a:rPr>
              <a:t>performs</a:t>
            </a:r>
            <a:r>
              <a:rPr sz="1800" spc="45" dirty="0">
                <a:latin typeface="Tahoma"/>
                <a:cs typeface="Tahoma"/>
              </a:rPr>
              <a:t> </a:t>
            </a:r>
            <a:r>
              <a:rPr sz="1800" dirty="0">
                <a:latin typeface="Tahoma"/>
                <a:cs typeface="Tahoma"/>
              </a:rPr>
              <a:t>the</a:t>
            </a:r>
            <a:r>
              <a:rPr sz="1800" spc="25" dirty="0">
                <a:latin typeface="Tahoma"/>
                <a:cs typeface="Tahoma"/>
              </a:rPr>
              <a:t> </a:t>
            </a:r>
            <a:r>
              <a:rPr sz="1800" spc="65" dirty="0">
                <a:latin typeface="Tahoma"/>
                <a:cs typeface="Tahoma"/>
              </a:rPr>
              <a:t>corresponding</a:t>
            </a:r>
            <a:r>
              <a:rPr sz="1800" spc="55" dirty="0">
                <a:latin typeface="Tahoma"/>
                <a:cs typeface="Tahoma"/>
              </a:rPr>
              <a:t> </a:t>
            </a:r>
            <a:r>
              <a:rPr sz="1800" spc="-10" dirty="0">
                <a:latin typeface="Tahoma"/>
                <a:cs typeface="Tahoma"/>
              </a:rPr>
              <a:t>action.</a:t>
            </a:r>
            <a:endParaRPr sz="1800">
              <a:latin typeface="Tahoma"/>
              <a:cs typeface="Tahoma"/>
            </a:endParaRPr>
          </a:p>
          <a:p>
            <a:pPr marL="200660" indent="-187960">
              <a:lnSpc>
                <a:spcPct val="100000"/>
              </a:lnSpc>
              <a:spcBef>
                <a:spcPts val="625"/>
              </a:spcBef>
              <a:buFont typeface="Arial MT"/>
              <a:buChar char="•"/>
              <a:tabLst>
                <a:tab pos="200660" algn="l"/>
              </a:tabLst>
            </a:pPr>
            <a:r>
              <a:rPr sz="1800" b="1" spc="-20" dirty="0">
                <a:latin typeface="Tahoma"/>
                <a:cs typeface="Tahoma"/>
              </a:rPr>
              <a:t>Example:</a:t>
            </a:r>
            <a:r>
              <a:rPr sz="1800" b="1" spc="-25" dirty="0">
                <a:latin typeface="Tahoma"/>
                <a:cs typeface="Tahoma"/>
              </a:rPr>
              <a:t> </a:t>
            </a:r>
            <a:r>
              <a:rPr sz="1800" spc="80" dirty="0">
                <a:latin typeface="Tahoma"/>
                <a:cs typeface="Tahoma"/>
              </a:rPr>
              <a:t>Consider</a:t>
            </a:r>
            <a:r>
              <a:rPr sz="1800" spc="-65" dirty="0">
                <a:latin typeface="Tahoma"/>
                <a:cs typeface="Tahoma"/>
              </a:rPr>
              <a:t> </a:t>
            </a:r>
            <a:r>
              <a:rPr sz="1800" dirty="0">
                <a:latin typeface="Tahoma"/>
                <a:cs typeface="Tahoma"/>
              </a:rPr>
              <a:t>an</a:t>
            </a:r>
            <a:r>
              <a:rPr sz="1800" spc="-85" dirty="0">
                <a:latin typeface="Tahoma"/>
                <a:cs typeface="Tahoma"/>
              </a:rPr>
              <a:t> </a:t>
            </a:r>
            <a:r>
              <a:rPr sz="1800" spc="55" dirty="0">
                <a:latin typeface="Tahoma"/>
                <a:cs typeface="Tahoma"/>
              </a:rPr>
              <a:t>example</a:t>
            </a:r>
            <a:r>
              <a:rPr sz="1800" spc="-60" dirty="0">
                <a:latin typeface="Tahoma"/>
                <a:cs typeface="Tahoma"/>
              </a:rPr>
              <a:t> </a:t>
            </a:r>
            <a:r>
              <a:rPr sz="1800" dirty="0">
                <a:latin typeface="Tahoma"/>
                <a:cs typeface="Tahoma"/>
              </a:rPr>
              <a:t>of</a:t>
            </a:r>
            <a:r>
              <a:rPr sz="1800" spc="-25" dirty="0">
                <a:latin typeface="Tahoma"/>
                <a:cs typeface="Tahoma"/>
              </a:rPr>
              <a:t> </a:t>
            </a:r>
            <a:r>
              <a:rPr sz="1800" b="1" spc="-25" dirty="0">
                <a:latin typeface="Tahoma"/>
                <a:cs typeface="Tahoma"/>
              </a:rPr>
              <a:t>Pick </a:t>
            </a:r>
            <a:r>
              <a:rPr sz="1800" b="1" dirty="0">
                <a:latin typeface="Tahoma"/>
                <a:cs typeface="Tahoma"/>
              </a:rPr>
              <a:t>and</a:t>
            </a:r>
            <a:r>
              <a:rPr sz="1800" b="1" spc="-40" dirty="0">
                <a:latin typeface="Tahoma"/>
                <a:cs typeface="Tahoma"/>
              </a:rPr>
              <a:t> </a:t>
            </a:r>
            <a:r>
              <a:rPr sz="1800" b="1" spc="-25" dirty="0">
                <a:latin typeface="Tahoma"/>
                <a:cs typeface="Tahoma"/>
              </a:rPr>
              <a:t>Place</a:t>
            </a:r>
            <a:r>
              <a:rPr sz="1800" b="1" spc="-35" dirty="0">
                <a:latin typeface="Tahoma"/>
                <a:cs typeface="Tahoma"/>
              </a:rPr>
              <a:t> robot</a:t>
            </a:r>
            <a:r>
              <a:rPr sz="1800" spc="-35" dirty="0">
                <a:latin typeface="Tahoma"/>
                <a:cs typeface="Tahoma"/>
              </a:rPr>
              <a:t>,</a:t>
            </a:r>
            <a:r>
              <a:rPr sz="1800" spc="-120" dirty="0">
                <a:latin typeface="Tahoma"/>
                <a:cs typeface="Tahoma"/>
              </a:rPr>
              <a:t> </a:t>
            </a:r>
            <a:r>
              <a:rPr sz="1800" dirty="0">
                <a:latin typeface="Tahoma"/>
                <a:cs typeface="Tahoma"/>
              </a:rPr>
              <a:t>which</a:t>
            </a:r>
            <a:r>
              <a:rPr sz="1800" spc="-75" dirty="0">
                <a:latin typeface="Tahoma"/>
                <a:cs typeface="Tahoma"/>
              </a:rPr>
              <a:t> </a:t>
            </a:r>
            <a:r>
              <a:rPr sz="1800" dirty="0">
                <a:latin typeface="Tahoma"/>
                <a:cs typeface="Tahoma"/>
              </a:rPr>
              <a:t>is</a:t>
            </a:r>
            <a:r>
              <a:rPr sz="1800" spc="-95" dirty="0">
                <a:latin typeface="Tahoma"/>
                <a:cs typeface="Tahoma"/>
              </a:rPr>
              <a:t> </a:t>
            </a:r>
            <a:r>
              <a:rPr sz="1800" spc="60" dirty="0">
                <a:latin typeface="Tahoma"/>
                <a:cs typeface="Tahoma"/>
              </a:rPr>
              <a:t>used</a:t>
            </a:r>
            <a:r>
              <a:rPr sz="1800" spc="-65" dirty="0">
                <a:latin typeface="Tahoma"/>
                <a:cs typeface="Tahoma"/>
              </a:rPr>
              <a:t> </a:t>
            </a:r>
            <a:r>
              <a:rPr sz="1800" spc="-25" dirty="0">
                <a:latin typeface="Tahoma"/>
                <a:cs typeface="Tahoma"/>
              </a:rPr>
              <a:t>to</a:t>
            </a:r>
            <a:endParaRPr sz="1800">
              <a:latin typeface="Tahoma"/>
              <a:cs typeface="Tahoma"/>
            </a:endParaRPr>
          </a:p>
        </p:txBody>
      </p:sp>
      <p:sp>
        <p:nvSpPr>
          <p:cNvPr id="7" name="object 7"/>
          <p:cNvSpPr txBox="1"/>
          <p:nvPr/>
        </p:nvSpPr>
        <p:spPr>
          <a:xfrm>
            <a:off x="1185672" y="3770376"/>
            <a:ext cx="8098790" cy="248920"/>
          </a:xfrm>
          <a:prstGeom prst="rect">
            <a:avLst/>
          </a:prstGeom>
          <a:solidFill>
            <a:srgbClr val="FFFF00"/>
          </a:solidFill>
        </p:spPr>
        <p:txBody>
          <a:bodyPr vert="horz" wrap="square" lIns="0" tIns="0" rIns="0" bIns="0" rtlCol="0">
            <a:spAutoFit/>
          </a:bodyPr>
          <a:lstStyle/>
          <a:p>
            <a:pPr>
              <a:lnSpc>
                <a:spcPts val="1860"/>
              </a:lnSpc>
            </a:pPr>
            <a:r>
              <a:rPr sz="1800" spc="50" dirty="0">
                <a:latin typeface="Tahoma"/>
                <a:cs typeface="Tahoma"/>
              </a:rPr>
              <a:t>detect</a:t>
            </a:r>
            <a:r>
              <a:rPr sz="1800" spc="60" dirty="0">
                <a:latin typeface="Tahoma"/>
                <a:cs typeface="Tahoma"/>
              </a:rPr>
              <a:t> </a:t>
            </a:r>
            <a:r>
              <a:rPr sz="1800" dirty="0">
                <a:latin typeface="Tahoma"/>
                <a:cs typeface="Tahoma"/>
              </a:rPr>
              <a:t>defective</a:t>
            </a:r>
            <a:r>
              <a:rPr sz="1800" spc="30" dirty="0">
                <a:latin typeface="Tahoma"/>
                <a:cs typeface="Tahoma"/>
              </a:rPr>
              <a:t> </a:t>
            </a:r>
            <a:r>
              <a:rPr sz="1800" dirty="0">
                <a:latin typeface="Tahoma"/>
                <a:cs typeface="Tahoma"/>
              </a:rPr>
              <a:t>parts</a:t>
            </a:r>
            <a:r>
              <a:rPr sz="1800" spc="25" dirty="0">
                <a:latin typeface="Tahoma"/>
                <a:cs typeface="Tahoma"/>
              </a:rPr>
              <a:t> </a:t>
            </a:r>
            <a:r>
              <a:rPr sz="1800" dirty="0">
                <a:latin typeface="Tahoma"/>
                <a:cs typeface="Tahoma"/>
              </a:rPr>
              <a:t>from</a:t>
            </a:r>
            <a:r>
              <a:rPr sz="1800" spc="25" dirty="0">
                <a:latin typeface="Tahoma"/>
                <a:cs typeface="Tahoma"/>
              </a:rPr>
              <a:t> </a:t>
            </a:r>
            <a:r>
              <a:rPr sz="1800" dirty="0">
                <a:latin typeface="Tahoma"/>
                <a:cs typeface="Tahoma"/>
              </a:rPr>
              <a:t>the</a:t>
            </a:r>
            <a:r>
              <a:rPr sz="1800" spc="50" dirty="0">
                <a:latin typeface="Tahoma"/>
                <a:cs typeface="Tahoma"/>
              </a:rPr>
              <a:t> conveyor</a:t>
            </a:r>
            <a:r>
              <a:rPr sz="1800" spc="35" dirty="0">
                <a:latin typeface="Tahoma"/>
                <a:cs typeface="Tahoma"/>
              </a:rPr>
              <a:t> </a:t>
            </a:r>
            <a:r>
              <a:rPr sz="1800" dirty="0">
                <a:latin typeface="Tahoma"/>
                <a:cs typeface="Tahoma"/>
              </a:rPr>
              <a:t>belts.</a:t>
            </a:r>
            <a:r>
              <a:rPr sz="1800" spc="-25" dirty="0">
                <a:latin typeface="Tahoma"/>
                <a:cs typeface="Tahoma"/>
              </a:rPr>
              <a:t> </a:t>
            </a:r>
            <a:r>
              <a:rPr sz="1800" dirty="0">
                <a:latin typeface="Tahoma"/>
                <a:cs typeface="Tahoma"/>
              </a:rPr>
              <a:t>Here,</a:t>
            </a:r>
            <a:r>
              <a:rPr sz="1800" spc="-15" dirty="0">
                <a:latin typeface="Tahoma"/>
                <a:cs typeface="Tahoma"/>
              </a:rPr>
              <a:t> </a:t>
            </a:r>
            <a:r>
              <a:rPr sz="1800" dirty="0">
                <a:latin typeface="Tahoma"/>
                <a:cs typeface="Tahoma"/>
              </a:rPr>
              <a:t>every</a:t>
            </a:r>
            <a:r>
              <a:rPr sz="1800" spc="40" dirty="0">
                <a:latin typeface="Tahoma"/>
                <a:cs typeface="Tahoma"/>
              </a:rPr>
              <a:t> </a:t>
            </a:r>
            <a:r>
              <a:rPr sz="1800" dirty="0">
                <a:latin typeface="Tahoma"/>
                <a:cs typeface="Tahoma"/>
              </a:rPr>
              <a:t>time</a:t>
            </a:r>
            <a:r>
              <a:rPr sz="1800" spc="35" dirty="0">
                <a:latin typeface="Tahoma"/>
                <a:cs typeface="Tahoma"/>
              </a:rPr>
              <a:t> </a:t>
            </a:r>
            <a:r>
              <a:rPr sz="1800" spc="-10" dirty="0">
                <a:latin typeface="Tahoma"/>
                <a:cs typeface="Tahoma"/>
              </a:rPr>
              <a:t>robot(agent)</a:t>
            </a:r>
            <a:endParaRPr sz="1800">
              <a:latin typeface="Tahoma"/>
              <a:cs typeface="Tahoma"/>
            </a:endParaRPr>
          </a:p>
        </p:txBody>
      </p:sp>
      <p:sp>
        <p:nvSpPr>
          <p:cNvPr id="8" name="object 8"/>
          <p:cNvSpPr txBox="1"/>
          <p:nvPr/>
        </p:nvSpPr>
        <p:spPr>
          <a:xfrm>
            <a:off x="1184218" y="3967946"/>
            <a:ext cx="7303134" cy="301625"/>
          </a:xfrm>
          <a:prstGeom prst="rect">
            <a:avLst/>
          </a:prstGeom>
        </p:spPr>
        <p:txBody>
          <a:bodyPr vert="horz" wrap="square" lIns="0" tIns="13970" rIns="0" bIns="0" rtlCol="0">
            <a:spAutoFit/>
          </a:bodyPr>
          <a:lstStyle/>
          <a:p>
            <a:pPr>
              <a:lnSpc>
                <a:spcPct val="100000"/>
              </a:lnSpc>
              <a:spcBef>
                <a:spcPts val="110"/>
              </a:spcBef>
            </a:pPr>
            <a:r>
              <a:rPr sz="1800" dirty="0">
                <a:latin typeface="Tahoma"/>
                <a:cs typeface="Tahoma"/>
              </a:rPr>
              <a:t>will</a:t>
            </a:r>
            <a:r>
              <a:rPr sz="1800" spc="-40" dirty="0">
                <a:latin typeface="Tahoma"/>
                <a:cs typeface="Tahoma"/>
              </a:rPr>
              <a:t> </a:t>
            </a:r>
            <a:r>
              <a:rPr sz="1800" dirty="0">
                <a:latin typeface="Tahoma"/>
                <a:cs typeface="Tahoma"/>
              </a:rPr>
              <a:t>make</a:t>
            </a:r>
            <a:r>
              <a:rPr sz="1800" spc="-15" dirty="0">
                <a:latin typeface="Tahoma"/>
                <a:cs typeface="Tahoma"/>
              </a:rPr>
              <a:t> </a:t>
            </a:r>
            <a:r>
              <a:rPr sz="1800" dirty="0">
                <a:latin typeface="Tahoma"/>
                <a:cs typeface="Tahoma"/>
              </a:rPr>
              <a:t>the</a:t>
            </a:r>
            <a:r>
              <a:rPr sz="1800" spc="-15" dirty="0">
                <a:latin typeface="Tahoma"/>
                <a:cs typeface="Tahoma"/>
              </a:rPr>
              <a:t> </a:t>
            </a:r>
            <a:r>
              <a:rPr sz="1800" spc="65" dirty="0">
                <a:latin typeface="Tahoma"/>
                <a:cs typeface="Tahoma"/>
              </a:rPr>
              <a:t>decision</a:t>
            </a:r>
            <a:r>
              <a:rPr sz="1800" spc="-10" dirty="0">
                <a:latin typeface="Tahoma"/>
                <a:cs typeface="Tahoma"/>
              </a:rPr>
              <a:t> </a:t>
            </a:r>
            <a:r>
              <a:rPr sz="1800" spc="85" dirty="0">
                <a:latin typeface="Tahoma"/>
                <a:cs typeface="Tahoma"/>
              </a:rPr>
              <a:t>on</a:t>
            </a:r>
            <a:r>
              <a:rPr sz="1800" spc="-25" dirty="0">
                <a:latin typeface="Tahoma"/>
                <a:cs typeface="Tahoma"/>
              </a:rPr>
              <a:t> </a:t>
            </a:r>
            <a:r>
              <a:rPr sz="1800" dirty="0">
                <a:latin typeface="Tahoma"/>
                <a:cs typeface="Tahoma"/>
              </a:rPr>
              <a:t>the</a:t>
            </a:r>
            <a:r>
              <a:rPr sz="1800" spc="-5" dirty="0">
                <a:latin typeface="Tahoma"/>
                <a:cs typeface="Tahoma"/>
              </a:rPr>
              <a:t> </a:t>
            </a:r>
            <a:r>
              <a:rPr sz="1800" dirty="0">
                <a:latin typeface="Tahoma"/>
                <a:cs typeface="Tahoma"/>
              </a:rPr>
              <a:t>current</a:t>
            </a:r>
            <a:r>
              <a:rPr sz="1800" spc="-10" dirty="0">
                <a:latin typeface="Tahoma"/>
                <a:cs typeface="Tahoma"/>
              </a:rPr>
              <a:t> </a:t>
            </a:r>
            <a:r>
              <a:rPr sz="1800" dirty="0">
                <a:latin typeface="Tahoma"/>
                <a:cs typeface="Tahoma"/>
              </a:rPr>
              <a:t>part</a:t>
            </a:r>
            <a:r>
              <a:rPr sz="1800" spc="-25" dirty="0">
                <a:latin typeface="Tahoma"/>
                <a:cs typeface="Tahoma"/>
              </a:rPr>
              <a:t> </a:t>
            </a:r>
            <a:r>
              <a:rPr sz="1800" spc="-20" dirty="0">
                <a:latin typeface="Tahoma"/>
                <a:cs typeface="Tahoma"/>
              </a:rPr>
              <a:t>i.e.</a:t>
            </a:r>
            <a:r>
              <a:rPr sz="1800" spc="-75" dirty="0">
                <a:latin typeface="Tahoma"/>
                <a:cs typeface="Tahoma"/>
              </a:rPr>
              <a:t> </a:t>
            </a:r>
            <a:r>
              <a:rPr sz="1800" dirty="0">
                <a:latin typeface="Tahoma"/>
                <a:cs typeface="Tahoma"/>
              </a:rPr>
              <a:t>there</a:t>
            </a:r>
            <a:r>
              <a:rPr sz="1800" spc="-5" dirty="0">
                <a:latin typeface="Tahoma"/>
                <a:cs typeface="Tahoma"/>
              </a:rPr>
              <a:t> </a:t>
            </a:r>
            <a:r>
              <a:rPr sz="1800" dirty="0">
                <a:latin typeface="Tahoma"/>
                <a:cs typeface="Tahoma"/>
              </a:rPr>
              <a:t>is</a:t>
            </a:r>
            <a:r>
              <a:rPr sz="1800" spc="-25" dirty="0">
                <a:latin typeface="Tahoma"/>
                <a:cs typeface="Tahoma"/>
              </a:rPr>
              <a:t> </a:t>
            </a:r>
            <a:r>
              <a:rPr sz="1800" spc="90" dirty="0">
                <a:latin typeface="Tahoma"/>
                <a:cs typeface="Tahoma"/>
              </a:rPr>
              <a:t>no</a:t>
            </a:r>
            <a:r>
              <a:rPr sz="1800" spc="-25" dirty="0">
                <a:latin typeface="Tahoma"/>
                <a:cs typeface="Tahoma"/>
              </a:rPr>
              <a:t> </a:t>
            </a:r>
            <a:r>
              <a:rPr sz="1800" spc="70" dirty="0">
                <a:latin typeface="Tahoma"/>
                <a:cs typeface="Tahoma"/>
              </a:rPr>
              <a:t>dependency</a:t>
            </a:r>
            <a:endParaRPr sz="1800">
              <a:latin typeface="Tahoma"/>
              <a:cs typeface="Tahoma"/>
            </a:endParaRPr>
          </a:p>
        </p:txBody>
      </p:sp>
      <p:sp>
        <p:nvSpPr>
          <p:cNvPr id="9" name="object 9"/>
          <p:cNvSpPr txBox="1"/>
          <p:nvPr/>
        </p:nvSpPr>
        <p:spPr>
          <a:xfrm>
            <a:off x="1185672" y="4268723"/>
            <a:ext cx="4257040" cy="248920"/>
          </a:xfrm>
          <a:prstGeom prst="rect">
            <a:avLst/>
          </a:prstGeom>
          <a:solidFill>
            <a:srgbClr val="FFFF00"/>
          </a:solidFill>
        </p:spPr>
        <p:txBody>
          <a:bodyPr vert="horz" wrap="square" lIns="0" tIns="0" rIns="0" bIns="0" rtlCol="0">
            <a:spAutoFit/>
          </a:bodyPr>
          <a:lstStyle/>
          <a:p>
            <a:pPr>
              <a:lnSpc>
                <a:spcPts val="1860"/>
              </a:lnSpc>
            </a:pPr>
            <a:r>
              <a:rPr sz="1800" spc="55" dirty="0">
                <a:latin typeface="Tahoma"/>
                <a:cs typeface="Tahoma"/>
              </a:rPr>
              <a:t>between</a:t>
            </a:r>
            <a:r>
              <a:rPr sz="1800" spc="60" dirty="0">
                <a:latin typeface="Tahoma"/>
                <a:cs typeface="Tahoma"/>
              </a:rPr>
              <a:t> </a:t>
            </a:r>
            <a:r>
              <a:rPr sz="1800" dirty="0">
                <a:latin typeface="Tahoma"/>
                <a:cs typeface="Tahoma"/>
              </a:rPr>
              <a:t>current</a:t>
            </a:r>
            <a:r>
              <a:rPr sz="1800" spc="30" dirty="0">
                <a:latin typeface="Tahoma"/>
                <a:cs typeface="Tahoma"/>
              </a:rPr>
              <a:t> </a:t>
            </a:r>
            <a:r>
              <a:rPr sz="1800" spc="65" dirty="0">
                <a:latin typeface="Tahoma"/>
                <a:cs typeface="Tahoma"/>
              </a:rPr>
              <a:t>and</a:t>
            </a:r>
            <a:r>
              <a:rPr sz="1800" spc="30" dirty="0">
                <a:latin typeface="Tahoma"/>
                <a:cs typeface="Tahoma"/>
              </a:rPr>
              <a:t> </a:t>
            </a:r>
            <a:r>
              <a:rPr sz="1800" dirty="0">
                <a:latin typeface="Tahoma"/>
                <a:cs typeface="Tahoma"/>
              </a:rPr>
              <a:t>previous</a:t>
            </a:r>
            <a:r>
              <a:rPr sz="1800" spc="50" dirty="0">
                <a:latin typeface="Tahoma"/>
                <a:cs typeface="Tahoma"/>
              </a:rPr>
              <a:t> </a:t>
            </a:r>
            <a:r>
              <a:rPr sz="1800" spc="-10" dirty="0">
                <a:latin typeface="Tahoma"/>
                <a:cs typeface="Tahoma"/>
              </a:rPr>
              <a:t>decisions.</a:t>
            </a:r>
            <a:endParaRPr sz="1800">
              <a:latin typeface="Tahoma"/>
              <a:cs typeface="Tahoma"/>
            </a:endParaRPr>
          </a:p>
        </p:txBody>
      </p:sp>
      <p:sp>
        <p:nvSpPr>
          <p:cNvPr id="10" name="object 10"/>
          <p:cNvSpPr txBox="1"/>
          <p:nvPr/>
        </p:nvSpPr>
        <p:spPr>
          <a:xfrm>
            <a:off x="982586" y="4569951"/>
            <a:ext cx="8214995" cy="1153795"/>
          </a:xfrm>
          <a:prstGeom prst="rect">
            <a:avLst/>
          </a:prstGeom>
        </p:spPr>
        <p:txBody>
          <a:bodyPr vert="horz" wrap="square" lIns="0" tIns="38735" rIns="0" bIns="0" rtlCol="0">
            <a:spAutoFit/>
          </a:bodyPr>
          <a:lstStyle/>
          <a:p>
            <a:pPr marL="200025" marR="5080" indent="-187960">
              <a:lnSpc>
                <a:spcPct val="90900"/>
              </a:lnSpc>
              <a:spcBef>
                <a:spcPts val="305"/>
              </a:spcBef>
              <a:buFont typeface="Arial MT"/>
              <a:buChar char="•"/>
              <a:tabLst>
                <a:tab pos="201295" algn="l"/>
              </a:tabLst>
            </a:pPr>
            <a:r>
              <a:rPr sz="1800" spc="-95" dirty="0">
                <a:latin typeface="Tahoma"/>
                <a:cs typeface="Tahoma"/>
              </a:rPr>
              <a:t>In</a:t>
            </a:r>
            <a:r>
              <a:rPr sz="1800" spc="-25" dirty="0">
                <a:latin typeface="Tahoma"/>
                <a:cs typeface="Tahoma"/>
              </a:rPr>
              <a:t> </a:t>
            </a:r>
            <a:r>
              <a:rPr sz="1800" dirty="0">
                <a:latin typeface="Tahoma"/>
                <a:cs typeface="Tahoma"/>
              </a:rPr>
              <a:t>a</a:t>
            </a:r>
            <a:r>
              <a:rPr sz="1800" spc="-15" dirty="0">
                <a:latin typeface="Tahoma"/>
                <a:cs typeface="Tahoma"/>
              </a:rPr>
              <a:t> </a:t>
            </a:r>
            <a:r>
              <a:rPr sz="1800" b="1" spc="-35" dirty="0">
                <a:latin typeface="Tahoma"/>
                <a:cs typeface="Tahoma"/>
              </a:rPr>
              <a:t>Sequential</a:t>
            </a:r>
            <a:r>
              <a:rPr sz="1800" b="1" spc="10" dirty="0">
                <a:latin typeface="Tahoma"/>
                <a:cs typeface="Tahoma"/>
              </a:rPr>
              <a:t> </a:t>
            </a:r>
            <a:r>
              <a:rPr sz="1800" b="1" spc="-45" dirty="0">
                <a:latin typeface="Tahoma"/>
                <a:cs typeface="Tahoma"/>
              </a:rPr>
              <a:t>environment</a:t>
            </a:r>
            <a:r>
              <a:rPr sz="1800" spc="-45" dirty="0">
                <a:latin typeface="Tahoma"/>
                <a:cs typeface="Tahoma"/>
              </a:rPr>
              <a:t>,</a:t>
            </a:r>
            <a:r>
              <a:rPr sz="1800" spc="-70" dirty="0">
                <a:latin typeface="Tahoma"/>
                <a:cs typeface="Tahoma"/>
              </a:rPr>
              <a:t> </a:t>
            </a:r>
            <a:r>
              <a:rPr sz="1800" dirty="0">
                <a:latin typeface="Tahoma"/>
                <a:cs typeface="Tahoma"/>
              </a:rPr>
              <a:t>the</a:t>
            </a:r>
            <a:r>
              <a:rPr sz="1800" spc="-10" dirty="0">
                <a:latin typeface="Tahoma"/>
                <a:cs typeface="Tahoma"/>
              </a:rPr>
              <a:t> </a:t>
            </a:r>
            <a:r>
              <a:rPr sz="1800" dirty="0">
                <a:latin typeface="Tahoma"/>
                <a:cs typeface="Tahoma"/>
              </a:rPr>
              <a:t>previous</a:t>
            </a:r>
            <a:r>
              <a:rPr sz="1800" spc="5" dirty="0">
                <a:latin typeface="Tahoma"/>
                <a:cs typeface="Tahoma"/>
              </a:rPr>
              <a:t> </a:t>
            </a:r>
            <a:r>
              <a:rPr sz="1800" spc="60" dirty="0">
                <a:latin typeface="Tahoma"/>
                <a:cs typeface="Tahoma"/>
              </a:rPr>
              <a:t>decisions</a:t>
            </a:r>
            <a:r>
              <a:rPr sz="1800" spc="-20" dirty="0">
                <a:latin typeface="Tahoma"/>
                <a:cs typeface="Tahoma"/>
              </a:rPr>
              <a:t> </a:t>
            </a:r>
            <a:r>
              <a:rPr sz="1800" dirty="0">
                <a:latin typeface="Tahoma"/>
                <a:cs typeface="Tahoma"/>
              </a:rPr>
              <a:t>can</a:t>
            </a:r>
            <a:r>
              <a:rPr sz="1800" spc="-30" dirty="0">
                <a:latin typeface="Tahoma"/>
                <a:cs typeface="Tahoma"/>
              </a:rPr>
              <a:t> </a:t>
            </a:r>
            <a:r>
              <a:rPr sz="1800" dirty="0">
                <a:latin typeface="Tahoma"/>
                <a:cs typeface="Tahoma"/>
              </a:rPr>
              <a:t>affect</a:t>
            </a:r>
            <a:r>
              <a:rPr sz="1800" spc="-25" dirty="0">
                <a:latin typeface="Tahoma"/>
                <a:cs typeface="Tahoma"/>
              </a:rPr>
              <a:t> </a:t>
            </a:r>
            <a:r>
              <a:rPr sz="1800" dirty="0">
                <a:latin typeface="Tahoma"/>
                <a:cs typeface="Tahoma"/>
              </a:rPr>
              <a:t>all</a:t>
            </a:r>
            <a:r>
              <a:rPr sz="1800" spc="-35" dirty="0">
                <a:latin typeface="Tahoma"/>
                <a:cs typeface="Tahoma"/>
              </a:rPr>
              <a:t> </a:t>
            </a:r>
            <a:r>
              <a:rPr sz="1800" spc="-10" dirty="0">
                <a:latin typeface="Tahoma"/>
                <a:cs typeface="Tahoma"/>
              </a:rPr>
              <a:t>future 	</a:t>
            </a:r>
            <a:r>
              <a:rPr sz="1800" spc="10" dirty="0">
                <a:latin typeface="Tahoma"/>
                <a:cs typeface="Tahoma"/>
              </a:rPr>
              <a:t>decisions.</a:t>
            </a:r>
            <a:r>
              <a:rPr sz="1800" spc="-125" dirty="0">
                <a:latin typeface="Tahoma"/>
                <a:cs typeface="Tahoma"/>
              </a:rPr>
              <a:t> </a:t>
            </a:r>
            <a:r>
              <a:rPr sz="1800" spc="10" dirty="0">
                <a:latin typeface="Tahoma"/>
                <a:cs typeface="Tahoma"/>
              </a:rPr>
              <a:t>The</a:t>
            </a:r>
            <a:r>
              <a:rPr sz="1800" spc="-20" dirty="0">
                <a:latin typeface="Tahoma"/>
                <a:cs typeface="Tahoma"/>
              </a:rPr>
              <a:t> </a:t>
            </a:r>
            <a:r>
              <a:rPr sz="1800" spc="10" dirty="0">
                <a:latin typeface="Tahoma"/>
                <a:cs typeface="Tahoma"/>
              </a:rPr>
              <a:t>next</a:t>
            </a:r>
            <a:r>
              <a:rPr sz="1800" spc="-15" dirty="0">
                <a:latin typeface="Tahoma"/>
                <a:cs typeface="Tahoma"/>
              </a:rPr>
              <a:t> </a:t>
            </a:r>
            <a:r>
              <a:rPr sz="1800" spc="10" dirty="0">
                <a:latin typeface="Tahoma"/>
                <a:cs typeface="Tahoma"/>
              </a:rPr>
              <a:t>action</a:t>
            </a:r>
            <a:r>
              <a:rPr sz="1800" spc="-25" dirty="0">
                <a:latin typeface="Tahoma"/>
                <a:cs typeface="Tahoma"/>
              </a:rPr>
              <a:t> </a:t>
            </a:r>
            <a:r>
              <a:rPr sz="1800" spc="10" dirty="0">
                <a:latin typeface="Tahoma"/>
                <a:cs typeface="Tahoma"/>
              </a:rPr>
              <a:t>of</a:t>
            </a:r>
            <a:r>
              <a:rPr sz="1800" spc="20" dirty="0">
                <a:latin typeface="Tahoma"/>
                <a:cs typeface="Tahoma"/>
              </a:rPr>
              <a:t> </a:t>
            </a:r>
            <a:r>
              <a:rPr sz="1800" spc="10" dirty="0">
                <a:latin typeface="Tahoma"/>
                <a:cs typeface="Tahoma"/>
              </a:rPr>
              <a:t>the</a:t>
            </a:r>
            <a:r>
              <a:rPr sz="1800" spc="-10" dirty="0">
                <a:latin typeface="Tahoma"/>
                <a:cs typeface="Tahoma"/>
              </a:rPr>
              <a:t> </a:t>
            </a:r>
            <a:r>
              <a:rPr sz="1800" spc="50" dirty="0">
                <a:latin typeface="Tahoma"/>
                <a:cs typeface="Tahoma"/>
              </a:rPr>
              <a:t>agent</a:t>
            </a:r>
            <a:r>
              <a:rPr sz="1800" spc="-30" dirty="0">
                <a:latin typeface="Tahoma"/>
                <a:cs typeface="Tahoma"/>
              </a:rPr>
              <a:t> </a:t>
            </a:r>
            <a:r>
              <a:rPr sz="1800" spc="90" dirty="0">
                <a:latin typeface="Tahoma"/>
                <a:cs typeface="Tahoma"/>
              </a:rPr>
              <a:t>depends</a:t>
            </a:r>
            <a:r>
              <a:rPr sz="1800" dirty="0">
                <a:latin typeface="Tahoma"/>
                <a:cs typeface="Tahoma"/>
              </a:rPr>
              <a:t> </a:t>
            </a:r>
            <a:r>
              <a:rPr sz="1800" spc="85" dirty="0">
                <a:latin typeface="Tahoma"/>
                <a:cs typeface="Tahoma"/>
              </a:rPr>
              <a:t>on</a:t>
            </a:r>
            <a:r>
              <a:rPr sz="1800" spc="-30" dirty="0">
                <a:latin typeface="Tahoma"/>
                <a:cs typeface="Tahoma"/>
              </a:rPr>
              <a:t> </a:t>
            </a:r>
            <a:r>
              <a:rPr sz="1800" spc="10" dirty="0">
                <a:latin typeface="Tahoma"/>
                <a:cs typeface="Tahoma"/>
              </a:rPr>
              <a:t>what</a:t>
            </a:r>
            <a:r>
              <a:rPr sz="1800" spc="-30" dirty="0">
                <a:latin typeface="Tahoma"/>
                <a:cs typeface="Tahoma"/>
              </a:rPr>
              <a:t> </a:t>
            </a:r>
            <a:r>
              <a:rPr sz="1800" spc="10" dirty="0">
                <a:latin typeface="Tahoma"/>
                <a:cs typeface="Tahoma"/>
              </a:rPr>
              <a:t>action</a:t>
            </a:r>
            <a:r>
              <a:rPr sz="1800" spc="-35" dirty="0">
                <a:latin typeface="Tahoma"/>
                <a:cs typeface="Tahoma"/>
              </a:rPr>
              <a:t> </a:t>
            </a:r>
            <a:r>
              <a:rPr sz="1800" spc="60" dirty="0">
                <a:latin typeface="Tahoma"/>
                <a:cs typeface="Tahoma"/>
              </a:rPr>
              <a:t>he</a:t>
            </a:r>
            <a:r>
              <a:rPr sz="1800" spc="-5" dirty="0">
                <a:latin typeface="Tahoma"/>
                <a:cs typeface="Tahoma"/>
              </a:rPr>
              <a:t> </a:t>
            </a:r>
            <a:r>
              <a:rPr sz="1800" spc="10" dirty="0">
                <a:latin typeface="Tahoma"/>
                <a:cs typeface="Tahoma"/>
              </a:rPr>
              <a:t>has</a:t>
            </a:r>
            <a:r>
              <a:rPr sz="1800" spc="-25" dirty="0">
                <a:latin typeface="Tahoma"/>
                <a:cs typeface="Tahoma"/>
              </a:rPr>
              <a:t> </a:t>
            </a:r>
            <a:r>
              <a:rPr sz="1800" spc="-10" dirty="0">
                <a:latin typeface="Tahoma"/>
                <a:cs typeface="Tahoma"/>
              </a:rPr>
              <a:t>taken 	</a:t>
            </a:r>
            <a:r>
              <a:rPr sz="1800" dirty="0">
                <a:latin typeface="Tahoma"/>
                <a:cs typeface="Tahoma"/>
              </a:rPr>
              <a:t>previously</a:t>
            </a:r>
            <a:r>
              <a:rPr sz="1800" spc="10" dirty="0">
                <a:latin typeface="Tahoma"/>
                <a:cs typeface="Tahoma"/>
              </a:rPr>
              <a:t> </a:t>
            </a:r>
            <a:r>
              <a:rPr sz="1800" spc="65" dirty="0">
                <a:latin typeface="Tahoma"/>
                <a:cs typeface="Tahoma"/>
              </a:rPr>
              <a:t>and</a:t>
            </a:r>
            <a:r>
              <a:rPr sz="1800" spc="-10" dirty="0">
                <a:latin typeface="Tahoma"/>
                <a:cs typeface="Tahoma"/>
              </a:rPr>
              <a:t> </a:t>
            </a:r>
            <a:r>
              <a:rPr sz="1800" dirty="0">
                <a:latin typeface="Tahoma"/>
                <a:cs typeface="Tahoma"/>
              </a:rPr>
              <a:t>what</a:t>
            </a:r>
            <a:r>
              <a:rPr sz="1800" spc="-20" dirty="0">
                <a:latin typeface="Tahoma"/>
                <a:cs typeface="Tahoma"/>
              </a:rPr>
              <a:t> </a:t>
            </a:r>
            <a:r>
              <a:rPr sz="1800" dirty="0">
                <a:latin typeface="Tahoma"/>
                <a:cs typeface="Tahoma"/>
              </a:rPr>
              <a:t>action</a:t>
            </a:r>
            <a:r>
              <a:rPr sz="1800" spc="-5" dirty="0">
                <a:latin typeface="Tahoma"/>
                <a:cs typeface="Tahoma"/>
              </a:rPr>
              <a:t> </a:t>
            </a:r>
            <a:r>
              <a:rPr sz="1800" spc="65" dirty="0">
                <a:latin typeface="Tahoma"/>
                <a:cs typeface="Tahoma"/>
              </a:rPr>
              <a:t>he</a:t>
            </a:r>
            <a:r>
              <a:rPr sz="1800" spc="5" dirty="0">
                <a:latin typeface="Tahoma"/>
                <a:cs typeface="Tahoma"/>
              </a:rPr>
              <a:t> </a:t>
            </a:r>
            <a:r>
              <a:rPr sz="1800" dirty="0">
                <a:latin typeface="Tahoma"/>
                <a:cs typeface="Tahoma"/>
              </a:rPr>
              <a:t>is</a:t>
            </a:r>
            <a:r>
              <a:rPr sz="1800" spc="-25" dirty="0">
                <a:latin typeface="Tahoma"/>
                <a:cs typeface="Tahoma"/>
              </a:rPr>
              <a:t> </a:t>
            </a:r>
            <a:r>
              <a:rPr sz="1800" spc="80" dirty="0">
                <a:latin typeface="Tahoma"/>
                <a:cs typeface="Tahoma"/>
              </a:rPr>
              <a:t>supposed</a:t>
            </a:r>
            <a:r>
              <a:rPr sz="1800" spc="15" dirty="0">
                <a:latin typeface="Tahoma"/>
                <a:cs typeface="Tahoma"/>
              </a:rPr>
              <a:t> </a:t>
            </a:r>
            <a:r>
              <a:rPr sz="1800" dirty="0">
                <a:latin typeface="Tahoma"/>
                <a:cs typeface="Tahoma"/>
              </a:rPr>
              <a:t>to</a:t>
            </a:r>
            <a:r>
              <a:rPr sz="1800" spc="5" dirty="0">
                <a:latin typeface="Tahoma"/>
                <a:cs typeface="Tahoma"/>
              </a:rPr>
              <a:t> </a:t>
            </a:r>
            <a:r>
              <a:rPr sz="1800" dirty="0">
                <a:latin typeface="Tahoma"/>
                <a:cs typeface="Tahoma"/>
              </a:rPr>
              <a:t>take in</a:t>
            </a:r>
            <a:r>
              <a:rPr sz="1800" spc="-5" dirty="0">
                <a:latin typeface="Tahoma"/>
                <a:cs typeface="Tahoma"/>
              </a:rPr>
              <a:t> </a:t>
            </a:r>
            <a:r>
              <a:rPr sz="1800" dirty="0">
                <a:latin typeface="Tahoma"/>
                <a:cs typeface="Tahoma"/>
              </a:rPr>
              <a:t>the</a:t>
            </a:r>
            <a:r>
              <a:rPr sz="1800" spc="10" dirty="0">
                <a:latin typeface="Tahoma"/>
                <a:cs typeface="Tahoma"/>
              </a:rPr>
              <a:t> </a:t>
            </a:r>
            <a:r>
              <a:rPr sz="1800" spc="-10" dirty="0">
                <a:latin typeface="Tahoma"/>
                <a:cs typeface="Tahoma"/>
              </a:rPr>
              <a:t>future.</a:t>
            </a:r>
            <a:endParaRPr sz="1800">
              <a:latin typeface="Tahoma"/>
              <a:cs typeface="Tahoma"/>
            </a:endParaRPr>
          </a:p>
          <a:p>
            <a:pPr marL="200660" indent="-187960">
              <a:lnSpc>
                <a:spcPct val="100000"/>
              </a:lnSpc>
              <a:spcBef>
                <a:spcPts val="625"/>
              </a:spcBef>
              <a:buFont typeface="Arial MT"/>
              <a:buChar char="•"/>
              <a:tabLst>
                <a:tab pos="200660" algn="l"/>
              </a:tabLst>
            </a:pPr>
            <a:r>
              <a:rPr sz="1800" b="1" spc="-10" dirty="0">
                <a:latin typeface="Tahoma"/>
                <a:cs typeface="Tahoma"/>
              </a:rPr>
              <a:t>Example:</a:t>
            </a:r>
            <a:endParaRPr sz="1800">
              <a:latin typeface="Tahoma"/>
              <a:cs typeface="Tahoma"/>
            </a:endParaRPr>
          </a:p>
        </p:txBody>
      </p:sp>
      <p:sp>
        <p:nvSpPr>
          <p:cNvPr id="11" name="object 11"/>
          <p:cNvSpPr txBox="1"/>
          <p:nvPr/>
        </p:nvSpPr>
        <p:spPr>
          <a:xfrm>
            <a:off x="1360451" y="5728122"/>
            <a:ext cx="95885" cy="265430"/>
          </a:xfrm>
          <a:prstGeom prst="rect">
            <a:avLst/>
          </a:prstGeom>
        </p:spPr>
        <p:txBody>
          <a:bodyPr vert="horz" wrap="square" lIns="0" tIns="15240" rIns="0" bIns="0" rtlCol="0">
            <a:spAutoFit/>
          </a:bodyPr>
          <a:lstStyle/>
          <a:p>
            <a:pPr marL="12700">
              <a:lnSpc>
                <a:spcPct val="100000"/>
              </a:lnSpc>
              <a:spcBef>
                <a:spcPts val="120"/>
              </a:spcBef>
            </a:pPr>
            <a:r>
              <a:rPr sz="1550" spc="-50" dirty="0">
                <a:latin typeface="Arial MT"/>
                <a:cs typeface="Arial MT"/>
              </a:rPr>
              <a:t>•</a:t>
            </a:r>
            <a:endParaRPr sz="1550">
              <a:latin typeface="Arial MT"/>
              <a:cs typeface="Arial MT"/>
            </a:endParaRPr>
          </a:p>
        </p:txBody>
      </p:sp>
      <p:sp>
        <p:nvSpPr>
          <p:cNvPr id="12" name="object 12"/>
          <p:cNvSpPr txBox="1"/>
          <p:nvPr/>
        </p:nvSpPr>
        <p:spPr>
          <a:xfrm>
            <a:off x="1609344" y="5748528"/>
            <a:ext cx="6446520" cy="242570"/>
          </a:xfrm>
          <a:prstGeom prst="rect">
            <a:avLst/>
          </a:prstGeom>
          <a:solidFill>
            <a:srgbClr val="FFFF00"/>
          </a:solidFill>
        </p:spPr>
        <p:txBody>
          <a:bodyPr vert="horz" wrap="square" lIns="0" tIns="0" rIns="0" bIns="0" rtlCol="0">
            <a:spAutoFit/>
          </a:bodyPr>
          <a:lstStyle/>
          <a:p>
            <a:pPr>
              <a:lnSpc>
                <a:spcPts val="1820"/>
              </a:lnSpc>
            </a:pPr>
            <a:r>
              <a:rPr sz="1550" b="1" spc="-40" dirty="0">
                <a:latin typeface="Tahoma"/>
                <a:cs typeface="Tahoma"/>
              </a:rPr>
              <a:t>Checkers-</a:t>
            </a:r>
            <a:r>
              <a:rPr sz="1550" b="1" spc="-20" dirty="0">
                <a:latin typeface="Tahoma"/>
                <a:cs typeface="Tahoma"/>
              </a:rPr>
              <a:t> </a:t>
            </a:r>
            <a:r>
              <a:rPr sz="1550" spc="60" dirty="0">
                <a:latin typeface="Tahoma"/>
                <a:cs typeface="Tahoma"/>
              </a:rPr>
              <a:t>Where</a:t>
            </a:r>
            <a:r>
              <a:rPr sz="1550" spc="-40" dirty="0">
                <a:latin typeface="Tahoma"/>
                <a:cs typeface="Tahoma"/>
              </a:rPr>
              <a:t> </a:t>
            </a:r>
            <a:r>
              <a:rPr sz="1550" dirty="0">
                <a:latin typeface="Tahoma"/>
                <a:cs typeface="Tahoma"/>
              </a:rPr>
              <a:t>the</a:t>
            </a:r>
            <a:r>
              <a:rPr sz="1550" spc="-30" dirty="0">
                <a:latin typeface="Tahoma"/>
                <a:cs typeface="Tahoma"/>
              </a:rPr>
              <a:t> </a:t>
            </a:r>
            <a:r>
              <a:rPr sz="1550" spc="50" dirty="0">
                <a:latin typeface="Tahoma"/>
                <a:cs typeface="Tahoma"/>
              </a:rPr>
              <a:t>previous</a:t>
            </a:r>
            <a:r>
              <a:rPr sz="1550" spc="-65" dirty="0">
                <a:latin typeface="Tahoma"/>
                <a:cs typeface="Tahoma"/>
              </a:rPr>
              <a:t> </a:t>
            </a:r>
            <a:r>
              <a:rPr sz="1550" spc="65" dirty="0">
                <a:latin typeface="Tahoma"/>
                <a:cs typeface="Tahoma"/>
              </a:rPr>
              <a:t>move</a:t>
            </a:r>
            <a:r>
              <a:rPr sz="1550" spc="-45" dirty="0">
                <a:latin typeface="Tahoma"/>
                <a:cs typeface="Tahoma"/>
              </a:rPr>
              <a:t> </a:t>
            </a:r>
            <a:r>
              <a:rPr sz="1550" dirty="0">
                <a:latin typeface="Tahoma"/>
                <a:cs typeface="Tahoma"/>
              </a:rPr>
              <a:t>can</a:t>
            </a:r>
            <a:r>
              <a:rPr sz="1550" spc="-55" dirty="0">
                <a:latin typeface="Tahoma"/>
                <a:cs typeface="Tahoma"/>
              </a:rPr>
              <a:t> </a:t>
            </a:r>
            <a:r>
              <a:rPr sz="1550" dirty="0">
                <a:latin typeface="Tahoma"/>
                <a:cs typeface="Tahoma"/>
              </a:rPr>
              <a:t>affect</a:t>
            </a:r>
            <a:r>
              <a:rPr sz="1550" spc="-60" dirty="0">
                <a:latin typeface="Tahoma"/>
                <a:cs typeface="Tahoma"/>
              </a:rPr>
              <a:t> </a:t>
            </a:r>
            <a:r>
              <a:rPr sz="1550" dirty="0">
                <a:latin typeface="Tahoma"/>
                <a:cs typeface="Tahoma"/>
              </a:rPr>
              <a:t>all</a:t>
            </a:r>
            <a:r>
              <a:rPr sz="1550" spc="-55" dirty="0">
                <a:latin typeface="Tahoma"/>
                <a:cs typeface="Tahoma"/>
              </a:rPr>
              <a:t> </a:t>
            </a:r>
            <a:r>
              <a:rPr sz="1550" dirty="0">
                <a:latin typeface="Tahoma"/>
                <a:cs typeface="Tahoma"/>
              </a:rPr>
              <a:t>the</a:t>
            </a:r>
            <a:r>
              <a:rPr sz="1550" spc="-35" dirty="0">
                <a:latin typeface="Tahoma"/>
                <a:cs typeface="Tahoma"/>
              </a:rPr>
              <a:t> </a:t>
            </a:r>
            <a:r>
              <a:rPr sz="1550" spc="55" dirty="0">
                <a:latin typeface="Tahoma"/>
                <a:cs typeface="Tahoma"/>
              </a:rPr>
              <a:t>following</a:t>
            </a:r>
            <a:r>
              <a:rPr sz="1550" spc="-60" dirty="0">
                <a:latin typeface="Tahoma"/>
                <a:cs typeface="Tahoma"/>
              </a:rPr>
              <a:t> </a:t>
            </a:r>
            <a:r>
              <a:rPr sz="1550" spc="-10" dirty="0">
                <a:latin typeface="Tahoma"/>
                <a:cs typeface="Tahoma"/>
              </a:rPr>
              <a:t>moves.</a:t>
            </a:r>
            <a:endParaRPr sz="1550">
              <a:latin typeface="Tahoma"/>
              <a:cs typeface="Tahom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409193" y="1053845"/>
          <a:ext cx="9228455" cy="1664335"/>
        </p:xfrm>
        <a:graphic>
          <a:graphicData uri="http://schemas.openxmlformats.org/drawingml/2006/table">
            <a:tbl>
              <a:tblPr firstRow="1" bandRow="1">
                <a:tableStyleId>{2D5ABB26-0587-4C30-8999-92F81FD0307C}</a:tableStyleId>
              </a:tblPr>
              <a:tblGrid>
                <a:gridCol w="72390">
                  <a:extLst>
                    <a:ext uri="{9D8B030D-6E8A-4147-A177-3AD203B41FA5}">
                      <a16:colId xmlns:a16="http://schemas.microsoft.com/office/drawing/2014/main" val="20000"/>
                    </a:ext>
                  </a:extLst>
                </a:gridCol>
                <a:gridCol w="9156065">
                  <a:extLst>
                    <a:ext uri="{9D8B030D-6E8A-4147-A177-3AD203B41FA5}">
                      <a16:colId xmlns:a16="http://schemas.microsoft.com/office/drawing/2014/main" val="20001"/>
                    </a:ext>
                  </a:extLst>
                </a:gridCol>
              </a:tblGrid>
              <a:tr h="650240">
                <a:tc gridSpan="2">
                  <a:txBody>
                    <a:bodyPr/>
                    <a:lstStyle/>
                    <a:p>
                      <a:pPr>
                        <a:lnSpc>
                          <a:spcPct val="100000"/>
                        </a:lnSpc>
                      </a:pPr>
                      <a:endParaRPr sz="2400">
                        <a:latin typeface="Times New Roman"/>
                        <a:cs typeface="Times New Roman"/>
                      </a:endParaRPr>
                    </a:p>
                  </a:txBody>
                  <a:tcPr marL="0" marR="0" marT="0" marB="0">
                    <a:lnL w="9525">
                      <a:solidFill>
                        <a:srgbClr val="E9E9E9"/>
                      </a:solidFill>
                      <a:prstDash val="solid"/>
                    </a:lnL>
                    <a:lnR w="9525">
                      <a:solidFill>
                        <a:srgbClr val="E9E9E9"/>
                      </a:solidFill>
                      <a:prstDash val="solid"/>
                    </a:lnR>
                    <a:lnT w="9525">
                      <a:solidFill>
                        <a:srgbClr val="E9E9E9"/>
                      </a:solidFill>
                      <a:prstDash val="solid"/>
                    </a:lnT>
                  </a:tcPr>
                </a:tc>
                <a:tc hMerge="1">
                  <a:txBody>
                    <a:bodyPr/>
                    <a:lstStyle/>
                    <a:p>
                      <a:endParaRPr/>
                    </a:p>
                  </a:txBody>
                  <a:tcPr marL="0" marR="0" marT="0" marB="0"/>
                </a:tc>
                <a:extLst>
                  <a:ext uri="{0D108BD9-81ED-4DB2-BD59-A6C34878D82A}">
                    <a16:rowId xmlns:a16="http://schemas.microsoft.com/office/drawing/2014/main" val="10000"/>
                  </a:ext>
                </a:extLst>
              </a:tr>
              <a:tr h="580390">
                <a:tc>
                  <a:txBody>
                    <a:bodyPr/>
                    <a:lstStyle/>
                    <a:p>
                      <a:pPr>
                        <a:lnSpc>
                          <a:spcPct val="100000"/>
                        </a:lnSpc>
                      </a:pPr>
                      <a:endParaRPr sz="2400">
                        <a:latin typeface="Times New Roman"/>
                        <a:cs typeface="Times New Roman"/>
                      </a:endParaRPr>
                    </a:p>
                  </a:txBody>
                  <a:tcPr marL="0" marR="0" marT="0" marB="0">
                    <a:lnL w="9525">
                      <a:solidFill>
                        <a:srgbClr val="E9E9E9"/>
                      </a:solidFill>
                      <a:prstDash val="solid"/>
                    </a:lnL>
                    <a:solidFill>
                      <a:srgbClr val="F5A700"/>
                    </a:solidFill>
                  </a:tcPr>
                </a:tc>
                <a:tc>
                  <a:txBody>
                    <a:bodyPr/>
                    <a:lstStyle/>
                    <a:p>
                      <a:pPr marL="476884">
                        <a:lnSpc>
                          <a:spcPts val="3900"/>
                        </a:lnSpc>
                      </a:pPr>
                      <a:r>
                        <a:rPr sz="3300" b="1" spc="-25" dirty="0">
                          <a:latin typeface="Tahoma"/>
                          <a:cs typeface="Tahoma"/>
                        </a:rPr>
                        <a:t>4.</a:t>
                      </a:r>
                      <a:r>
                        <a:rPr sz="3300" b="1" spc="-204" dirty="0">
                          <a:latin typeface="Tahoma"/>
                          <a:cs typeface="Tahoma"/>
                        </a:rPr>
                        <a:t> </a:t>
                      </a:r>
                      <a:r>
                        <a:rPr sz="3300" b="1" spc="-90" dirty="0">
                          <a:latin typeface="Tahoma"/>
                          <a:cs typeface="Tahoma"/>
                        </a:rPr>
                        <a:t>Single-</a:t>
                      </a:r>
                      <a:r>
                        <a:rPr sz="3300" b="1" spc="-65" dirty="0">
                          <a:latin typeface="Tahoma"/>
                          <a:cs typeface="Tahoma"/>
                        </a:rPr>
                        <a:t>agent</a:t>
                      </a:r>
                      <a:r>
                        <a:rPr sz="3300" b="1" spc="-95" dirty="0">
                          <a:latin typeface="Tahoma"/>
                          <a:cs typeface="Tahoma"/>
                        </a:rPr>
                        <a:t> </a:t>
                      </a:r>
                      <a:r>
                        <a:rPr sz="3300" b="1" spc="-114" dirty="0">
                          <a:latin typeface="Tahoma"/>
                          <a:cs typeface="Tahoma"/>
                        </a:rPr>
                        <a:t>vs</a:t>
                      </a:r>
                      <a:r>
                        <a:rPr sz="3300" b="1" spc="-100" dirty="0">
                          <a:latin typeface="Tahoma"/>
                          <a:cs typeface="Tahoma"/>
                        </a:rPr>
                        <a:t> </a:t>
                      </a:r>
                      <a:r>
                        <a:rPr sz="3300" b="1" spc="-85" dirty="0">
                          <a:latin typeface="Tahoma"/>
                          <a:cs typeface="Tahoma"/>
                        </a:rPr>
                        <a:t>Multi-</a:t>
                      </a:r>
                      <a:r>
                        <a:rPr sz="3300" b="1" spc="-10" dirty="0">
                          <a:latin typeface="Tahoma"/>
                          <a:cs typeface="Tahoma"/>
                        </a:rPr>
                        <a:t>agent</a:t>
                      </a:r>
                      <a:endParaRPr sz="3300">
                        <a:latin typeface="Tahoma"/>
                        <a:cs typeface="Tahoma"/>
                      </a:endParaRPr>
                    </a:p>
                  </a:txBody>
                  <a:tcPr marL="0" marR="0" marT="0" marB="0">
                    <a:lnR w="9525">
                      <a:solidFill>
                        <a:srgbClr val="E9E9E9"/>
                      </a:solidFill>
                      <a:prstDash val="solid"/>
                    </a:lnR>
                  </a:tcPr>
                </a:tc>
                <a:extLst>
                  <a:ext uri="{0D108BD9-81ED-4DB2-BD59-A6C34878D82A}">
                    <a16:rowId xmlns:a16="http://schemas.microsoft.com/office/drawing/2014/main" val="10001"/>
                  </a:ext>
                </a:extLst>
              </a:tr>
              <a:tr h="433705">
                <a:tc gridSpan="2">
                  <a:txBody>
                    <a:bodyPr/>
                    <a:lstStyle/>
                    <a:p>
                      <a:pPr>
                        <a:lnSpc>
                          <a:spcPct val="100000"/>
                        </a:lnSpc>
                      </a:pPr>
                      <a:endParaRPr sz="2400">
                        <a:latin typeface="Times New Roman"/>
                        <a:cs typeface="Times New Roman"/>
                      </a:endParaRPr>
                    </a:p>
                  </a:txBody>
                  <a:tcPr marL="0" marR="0" marT="0" marB="0">
                    <a:lnL w="9525">
                      <a:solidFill>
                        <a:srgbClr val="E9E9E9"/>
                      </a:solidFill>
                      <a:prstDash val="solid"/>
                    </a:lnL>
                    <a:lnR w="9525">
                      <a:solidFill>
                        <a:srgbClr val="E9E9E9"/>
                      </a:solidFill>
                      <a:prstDash val="solid"/>
                    </a:lnR>
                    <a:lnB w="9525">
                      <a:solidFill>
                        <a:srgbClr val="E9E9E9"/>
                      </a:solidFill>
                      <a:prstDash val="solid"/>
                    </a:lnB>
                  </a:tcPr>
                </a:tc>
                <a:tc hMerge="1">
                  <a:txBody>
                    <a:bodyPr/>
                    <a:lstStyle/>
                    <a:p>
                      <a:endParaRPr/>
                    </a:p>
                  </a:txBody>
                  <a:tcPr marL="0" marR="0" marT="0" marB="0"/>
                </a:tc>
                <a:extLst>
                  <a:ext uri="{0D108BD9-81ED-4DB2-BD59-A6C34878D82A}">
                    <a16:rowId xmlns:a16="http://schemas.microsoft.com/office/drawing/2014/main" val="10002"/>
                  </a:ext>
                </a:extLst>
              </a:tr>
            </a:tbl>
          </a:graphicData>
        </a:graphic>
      </p:graphicFrame>
      <p:sp>
        <p:nvSpPr>
          <p:cNvPr id="3" name="object 3"/>
          <p:cNvSpPr txBox="1"/>
          <p:nvPr/>
        </p:nvSpPr>
        <p:spPr>
          <a:xfrm>
            <a:off x="982348" y="2693864"/>
            <a:ext cx="8109584" cy="3158490"/>
          </a:xfrm>
          <a:prstGeom prst="rect">
            <a:avLst/>
          </a:prstGeom>
        </p:spPr>
        <p:txBody>
          <a:bodyPr vert="horz" wrap="square" lIns="0" tIns="13335" rIns="0" bIns="0" rtlCol="0">
            <a:spAutoFit/>
          </a:bodyPr>
          <a:lstStyle/>
          <a:p>
            <a:pPr marL="200025" marR="5080" indent="-187960">
              <a:lnSpc>
                <a:spcPct val="100400"/>
              </a:lnSpc>
              <a:spcBef>
                <a:spcPts val="105"/>
              </a:spcBef>
              <a:buFont typeface="Arial MT"/>
              <a:buChar char="•"/>
              <a:tabLst>
                <a:tab pos="201295" algn="l"/>
              </a:tabLst>
            </a:pPr>
            <a:r>
              <a:rPr sz="2300" spc="140" dirty="0">
                <a:latin typeface="Tahoma"/>
                <a:cs typeface="Tahoma"/>
              </a:rPr>
              <a:t>An</a:t>
            </a:r>
            <a:r>
              <a:rPr sz="2300" spc="-75" dirty="0">
                <a:latin typeface="Tahoma"/>
                <a:cs typeface="Tahoma"/>
              </a:rPr>
              <a:t> </a:t>
            </a:r>
            <a:r>
              <a:rPr sz="2300" dirty="0">
                <a:latin typeface="Tahoma"/>
                <a:cs typeface="Tahoma"/>
              </a:rPr>
              <a:t>environment</a:t>
            </a:r>
            <a:r>
              <a:rPr sz="2300" spc="-95" dirty="0">
                <a:latin typeface="Tahoma"/>
                <a:cs typeface="Tahoma"/>
              </a:rPr>
              <a:t> </a:t>
            </a:r>
            <a:r>
              <a:rPr sz="2300" spc="60" dirty="0">
                <a:latin typeface="Tahoma"/>
                <a:cs typeface="Tahoma"/>
              </a:rPr>
              <a:t>consisting</a:t>
            </a:r>
            <a:r>
              <a:rPr sz="2300" spc="-120" dirty="0">
                <a:latin typeface="Tahoma"/>
                <a:cs typeface="Tahoma"/>
              </a:rPr>
              <a:t> </a:t>
            </a:r>
            <a:r>
              <a:rPr sz="2300" dirty="0">
                <a:latin typeface="Tahoma"/>
                <a:cs typeface="Tahoma"/>
              </a:rPr>
              <a:t>of</a:t>
            </a:r>
            <a:r>
              <a:rPr sz="2300" spc="-20" dirty="0">
                <a:latin typeface="Tahoma"/>
                <a:cs typeface="Tahoma"/>
              </a:rPr>
              <a:t> </a:t>
            </a:r>
            <a:r>
              <a:rPr sz="2300" spc="60" dirty="0">
                <a:latin typeface="Tahoma"/>
                <a:cs typeface="Tahoma"/>
              </a:rPr>
              <a:t>only</a:t>
            </a:r>
            <a:r>
              <a:rPr sz="2300" spc="-100" dirty="0">
                <a:latin typeface="Tahoma"/>
                <a:cs typeface="Tahoma"/>
              </a:rPr>
              <a:t> </a:t>
            </a:r>
            <a:r>
              <a:rPr sz="2300" spc="100" dirty="0">
                <a:latin typeface="Tahoma"/>
                <a:cs typeface="Tahoma"/>
              </a:rPr>
              <a:t>one</a:t>
            </a:r>
            <a:r>
              <a:rPr sz="2300" spc="-85" dirty="0">
                <a:latin typeface="Tahoma"/>
                <a:cs typeface="Tahoma"/>
              </a:rPr>
              <a:t> </a:t>
            </a:r>
            <a:r>
              <a:rPr sz="2300" spc="55" dirty="0">
                <a:latin typeface="Tahoma"/>
                <a:cs typeface="Tahoma"/>
              </a:rPr>
              <a:t>agent</a:t>
            </a:r>
            <a:r>
              <a:rPr sz="2300" spc="-70" dirty="0">
                <a:latin typeface="Tahoma"/>
                <a:cs typeface="Tahoma"/>
              </a:rPr>
              <a:t> </a:t>
            </a:r>
            <a:r>
              <a:rPr sz="2300" dirty="0">
                <a:latin typeface="Tahoma"/>
                <a:cs typeface="Tahoma"/>
              </a:rPr>
              <a:t>is</a:t>
            </a:r>
            <a:r>
              <a:rPr sz="2300" spc="-90" dirty="0">
                <a:latin typeface="Tahoma"/>
                <a:cs typeface="Tahoma"/>
              </a:rPr>
              <a:t> </a:t>
            </a:r>
            <a:r>
              <a:rPr sz="2300" spc="55" dirty="0">
                <a:latin typeface="Tahoma"/>
                <a:cs typeface="Tahoma"/>
              </a:rPr>
              <a:t>said</a:t>
            </a:r>
            <a:r>
              <a:rPr sz="2300" spc="-75" dirty="0">
                <a:latin typeface="Tahoma"/>
                <a:cs typeface="Tahoma"/>
              </a:rPr>
              <a:t> </a:t>
            </a:r>
            <a:r>
              <a:rPr sz="2300" spc="60" dirty="0">
                <a:latin typeface="Tahoma"/>
                <a:cs typeface="Tahoma"/>
              </a:rPr>
              <a:t>to</a:t>
            </a:r>
            <a:r>
              <a:rPr sz="2300" spc="-85" dirty="0">
                <a:latin typeface="Tahoma"/>
                <a:cs typeface="Tahoma"/>
              </a:rPr>
              <a:t> </a:t>
            </a:r>
            <a:r>
              <a:rPr sz="2300" spc="145" dirty="0">
                <a:latin typeface="Tahoma"/>
                <a:cs typeface="Tahoma"/>
              </a:rPr>
              <a:t>be</a:t>
            </a:r>
            <a:r>
              <a:rPr sz="2300" spc="-80" dirty="0">
                <a:latin typeface="Tahoma"/>
                <a:cs typeface="Tahoma"/>
              </a:rPr>
              <a:t> </a:t>
            </a:r>
            <a:r>
              <a:rPr sz="2300" spc="-50" dirty="0">
                <a:latin typeface="Tahoma"/>
                <a:cs typeface="Tahoma"/>
              </a:rPr>
              <a:t>a 	</a:t>
            </a:r>
            <a:r>
              <a:rPr sz="2300" spc="50" dirty="0">
                <a:latin typeface="Tahoma"/>
                <a:cs typeface="Tahoma"/>
              </a:rPr>
              <a:t>single-</a:t>
            </a:r>
            <a:r>
              <a:rPr sz="2300" spc="55" dirty="0">
                <a:latin typeface="Tahoma"/>
                <a:cs typeface="Tahoma"/>
              </a:rPr>
              <a:t>agent</a:t>
            </a:r>
            <a:r>
              <a:rPr sz="2300" spc="-150" dirty="0">
                <a:latin typeface="Tahoma"/>
                <a:cs typeface="Tahoma"/>
              </a:rPr>
              <a:t> </a:t>
            </a:r>
            <a:r>
              <a:rPr sz="2300" spc="-10" dirty="0">
                <a:latin typeface="Tahoma"/>
                <a:cs typeface="Tahoma"/>
              </a:rPr>
              <a:t>environment.</a:t>
            </a:r>
            <a:endParaRPr sz="2300">
              <a:latin typeface="Tahoma"/>
              <a:cs typeface="Tahoma"/>
            </a:endParaRPr>
          </a:p>
          <a:p>
            <a:pPr marL="200025" marR="318135" indent="-187960">
              <a:lnSpc>
                <a:spcPct val="100400"/>
              </a:lnSpc>
              <a:spcBef>
                <a:spcPts val="825"/>
              </a:spcBef>
              <a:buFont typeface="Arial MT"/>
              <a:buChar char="•"/>
              <a:tabLst>
                <a:tab pos="201295" algn="l"/>
              </a:tabLst>
            </a:pPr>
            <a:r>
              <a:rPr sz="2300" spc="229" dirty="0">
                <a:latin typeface="Tahoma"/>
                <a:cs typeface="Tahoma"/>
              </a:rPr>
              <a:t>A</a:t>
            </a:r>
            <a:r>
              <a:rPr sz="2300" spc="-145" dirty="0">
                <a:latin typeface="Tahoma"/>
                <a:cs typeface="Tahoma"/>
              </a:rPr>
              <a:t> </a:t>
            </a:r>
            <a:r>
              <a:rPr sz="2300" spc="80" dirty="0">
                <a:latin typeface="Tahoma"/>
                <a:cs typeface="Tahoma"/>
              </a:rPr>
              <a:t>person</a:t>
            </a:r>
            <a:r>
              <a:rPr sz="2300" spc="-130" dirty="0">
                <a:latin typeface="Tahoma"/>
                <a:cs typeface="Tahoma"/>
              </a:rPr>
              <a:t> </a:t>
            </a:r>
            <a:r>
              <a:rPr sz="2300" dirty="0">
                <a:latin typeface="Tahoma"/>
                <a:cs typeface="Tahoma"/>
              </a:rPr>
              <a:t>left</a:t>
            </a:r>
            <a:r>
              <a:rPr sz="2300" spc="-120" dirty="0">
                <a:latin typeface="Tahoma"/>
                <a:cs typeface="Tahoma"/>
              </a:rPr>
              <a:t> </a:t>
            </a:r>
            <a:r>
              <a:rPr sz="2300" spc="75" dirty="0">
                <a:latin typeface="Tahoma"/>
                <a:cs typeface="Tahoma"/>
              </a:rPr>
              <a:t>alone</a:t>
            </a:r>
            <a:r>
              <a:rPr sz="2300" spc="-135" dirty="0">
                <a:latin typeface="Tahoma"/>
                <a:cs typeface="Tahoma"/>
              </a:rPr>
              <a:t> </a:t>
            </a:r>
            <a:r>
              <a:rPr sz="2300" spc="50" dirty="0">
                <a:latin typeface="Tahoma"/>
                <a:cs typeface="Tahoma"/>
              </a:rPr>
              <a:t>in</a:t>
            </a:r>
            <a:r>
              <a:rPr sz="2300" spc="-110" dirty="0">
                <a:latin typeface="Tahoma"/>
                <a:cs typeface="Tahoma"/>
              </a:rPr>
              <a:t> </a:t>
            </a:r>
            <a:r>
              <a:rPr sz="2300" dirty="0">
                <a:latin typeface="Tahoma"/>
                <a:cs typeface="Tahoma"/>
              </a:rPr>
              <a:t>a</a:t>
            </a:r>
            <a:r>
              <a:rPr sz="2300" spc="-95" dirty="0">
                <a:latin typeface="Tahoma"/>
                <a:cs typeface="Tahoma"/>
              </a:rPr>
              <a:t> </a:t>
            </a:r>
            <a:r>
              <a:rPr sz="2300" spc="55" dirty="0">
                <a:latin typeface="Tahoma"/>
                <a:cs typeface="Tahoma"/>
              </a:rPr>
              <a:t>maze</a:t>
            </a:r>
            <a:r>
              <a:rPr sz="2300" spc="-110" dirty="0">
                <a:latin typeface="Tahoma"/>
                <a:cs typeface="Tahoma"/>
              </a:rPr>
              <a:t> </a:t>
            </a:r>
            <a:r>
              <a:rPr sz="2300" dirty="0">
                <a:latin typeface="Tahoma"/>
                <a:cs typeface="Tahoma"/>
              </a:rPr>
              <a:t>is</a:t>
            </a:r>
            <a:r>
              <a:rPr sz="2300" spc="-120" dirty="0">
                <a:latin typeface="Tahoma"/>
                <a:cs typeface="Tahoma"/>
              </a:rPr>
              <a:t> </a:t>
            </a:r>
            <a:r>
              <a:rPr sz="2300" dirty="0">
                <a:latin typeface="Tahoma"/>
                <a:cs typeface="Tahoma"/>
              </a:rPr>
              <a:t>an</a:t>
            </a:r>
            <a:r>
              <a:rPr sz="2300" spc="-100" dirty="0">
                <a:latin typeface="Tahoma"/>
                <a:cs typeface="Tahoma"/>
              </a:rPr>
              <a:t> </a:t>
            </a:r>
            <a:r>
              <a:rPr sz="2300" spc="70" dirty="0">
                <a:latin typeface="Tahoma"/>
                <a:cs typeface="Tahoma"/>
              </a:rPr>
              <a:t>example</a:t>
            </a:r>
            <a:r>
              <a:rPr sz="2300" spc="-120" dirty="0">
                <a:latin typeface="Tahoma"/>
                <a:cs typeface="Tahoma"/>
              </a:rPr>
              <a:t> </a:t>
            </a:r>
            <a:r>
              <a:rPr sz="2300" dirty="0">
                <a:latin typeface="Tahoma"/>
                <a:cs typeface="Tahoma"/>
              </a:rPr>
              <a:t>of</a:t>
            </a:r>
            <a:r>
              <a:rPr sz="2300" spc="-55" dirty="0">
                <a:latin typeface="Tahoma"/>
                <a:cs typeface="Tahoma"/>
              </a:rPr>
              <a:t> </a:t>
            </a:r>
            <a:r>
              <a:rPr sz="2300" dirty="0">
                <a:latin typeface="Tahoma"/>
                <a:cs typeface="Tahoma"/>
              </a:rPr>
              <a:t>the</a:t>
            </a:r>
            <a:r>
              <a:rPr sz="2300" spc="-120" dirty="0">
                <a:latin typeface="Tahoma"/>
                <a:cs typeface="Tahoma"/>
              </a:rPr>
              <a:t> </a:t>
            </a:r>
            <a:r>
              <a:rPr sz="2300" spc="40" dirty="0">
                <a:latin typeface="Tahoma"/>
                <a:cs typeface="Tahoma"/>
              </a:rPr>
              <a:t>single- 	</a:t>
            </a:r>
            <a:r>
              <a:rPr sz="2300" spc="55" dirty="0">
                <a:latin typeface="Tahoma"/>
                <a:cs typeface="Tahoma"/>
              </a:rPr>
              <a:t>agent</a:t>
            </a:r>
            <a:r>
              <a:rPr sz="2300" spc="-140" dirty="0">
                <a:latin typeface="Tahoma"/>
                <a:cs typeface="Tahoma"/>
              </a:rPr>
              <a:t> </a:t>
            </a:r>
            <a:r>
              <a:rPr sz="2300" spc="-10" dirty="0">
                <a:latin typeface="Tahoma"/>
                <a:cs typeface="Tahoma"/>
              </a:rPr>
              <a:t>system.</a:t>
            </a:r>
            <a:endParaRPr sz="2300">
              <a:latin typeface="Tahoma"/>
              <a:cs typeface="Tahoma"/>
            </a:endParaRPr>
          </a:p>
          <a:p>
            <a:pPr marL="200025" marR="241935" indent="-187960">
              <a:lnSpc>
                <a:spcPct val="100400"/>
              </a:lnSpc>
              <a:spcBef>
                <a:spcPts val="830"/>
              </a:spcBef>
              <a:buFont typeface="Arial MT"/>
              <a:buChar char="•"/>
              <a:tabLst>
                <a:tab pos="201295" algn="l"/>
              </a:tabLst>
            </a:pPr>
            <a:r>
              <a:rPr sz="2300" spc="140" dirty="0">
                <a:latin typeface="Tahoma"/>
                <a:cs typeface="Tahoma"/>
              </a:rPr>
              <a:t>An</a:t>
            </a:r>
            <a:r>
              <a:rPr sz="2300" spc="-65" dirty="0">
                <a:latin typeface="Tahoma"/>
                <a:cs typeface="Tahoma"/>
              </a:rPr>
              <a:t> </a:t>
            </a:r>
            <a:r>
              <a:rPr sz="2300" dirty="0">
                <a:latin typeface="Tahoma"/>
                <a:cs typeface="Tahoma"/>
              </a:rPr>
              <a:t>environment</a:t>
            </a:r>
            <a:r>
              <a:rPr sz="2300" spc="-80" dirty="0">
                <a:latin typeface="Tahoma"/>
                <a:cs typeface="Tahoma"/>
              </a:rPr>
              <a:t> </a:t>
            </a:r>
            <a:r>
              <a:rPr sz="2300" spc="60" dirty="0">
                <a:latin typeface="Tahoma"/>
                <a:cs typeface="Tahoma"/>
              </a:rPr>
              <a:t>involving</a:t>
            </a:r>
            <a:r>
              <a:rPr sz="2300" spc="-95" dirty="0">
                <a:latin typeface="Tahoma"/>
                <a:cs typeface="Tahoma"/>
              </a:rPr>
              <a:t> </a:t>
            </a:r>
            <a:r>
              <a:rPr sz="2300" spc="75" dirty="0">
                <a:latin typeface="Tahoma"/>
                <a:cs typeface="Tahoma"/>
              </a:rPr>
              <a:t>more</a:t>
            </a:r>
            <a:r>
              <a:rPr sz="2300" spc="-75" dirty="0">
                <a:latin typeface="Tahoma"/>
                <a:cs typeface="Tahoma"/>
              </a:rPr>
              <a:t> </a:t>
            </a:r>
            <a:r>
              <a:rPr sz="2300" dirty="0">
                <a:latin typeface="Tahoma"/>
                <a:cs typeface="Tahoma"/>
              </a:rPr>
              <a:t>than</a:t>
            </a:r>
            <a:r>
              <a:rPr sz="2300" spc="-60" dirty="0">
                <a:latin typeface="Tahoma"/>
                <a:cs typeface="Tahoma"/>
              </a:rPr>
              <a:t> </a:t>
            </a:r>
            <a:r>
              <a:rPr sz="2300" spc="100" dirty="0">
                <a:latin typeface="Tahoma"/>
                <a:cs typeface="Tahoma"/>
              </a:rPr>
              <a:t>one</a:t>
            </a:r>
            <a:r>
              <a:rPr sz="2300" spc="-85" dirty="0">
                <a:latin typeface="Tahoma"/>
                <a:cs typeface="Tahoma"/>
              </a:rPr>
              <a:t> </a:t>
            </a:r>
            <a:r>
              <a:rPr sz="2300" spc="55" dirty="0">
                <a:latin typeface="Tahoma"/>
                <a:cs typeface="Tahoma"/>
              </a:rPr>
              <a:t>agent</a:t>
            </a:r>
            <a:r>
              <a:rPr sz="2300" spc="-65" dirty="0">
                <a:latin typeface="Tahoma"/>
                <a:cs typeface="Tahoma"/>
              </a:rPr>
              <a:t> </a:t>
            </a:r>
            <a:r>
              <a:rPr sz="2300" dirty="0">
                <a:latin typeface="Tahoma"/>
                <a:cs typeface="Tahoma"/>
              </a:rPr>
              <a:t>is</a:t>
            </a:r>
            <a:r>
              <a:rPr sz="2300" spc="-60" dirty="0">
                <a:latin typeface="Tahoma"/>
                <a:cs typeface="Tahoma"/>
              </a:rPr>
              <a:t> </a:t>
            </a:r>
            <a:r>
              <a:rPr sz="2300" dirty="0">
                <a:latin typeface="Tahoma"/>
                <a:cs typeface="Tahoma"/>
              </a:rPr>
              <a:t>a</a:t>
            </a:r>
            <a:r>
              <a:rPr sz="2300" spc="-65" dirty="0">
                <a:latin typeface="Tahoma"/>
                <a:cs typeface="Tahoma"/>
              </a:rPr>
              <a:t> </a:t>
            </a:r>
            <a:r>
              <a:rPr sz="2300" spc="-10" dirty="0">
                <a:latin typeface="Tahoma"/>
                <a:cs typeface="Tahoma"/>
              </a:rPr>
              <a:t>multi- 	</a:t>
            </a:r>
            <a:r>
              <a:rPr sz="2300" spc="55" dirty="0">
                <a:latin typeface="Tahoma"/>
                <a:cs typeface="Tahoma"/>
              </a:rPr>
              <a:t>agent</a:t>
            </a:r>
            <a:r>
              <a:rPr sz="2300" spc="-140" dirty="0">
                <a:latin typeface="Tahoma"/>
                <a:cs typeface="Tahoma"/>
              </a:rPr>
              <a:t> </a:t>
            </a:r>
            <a:r>
              <a:rPr sz="2300" spc="-10" dirty="0">
                <a:latin typeface="Tahoma"/>
                <a:cs typeface="Tahoma"/>
              </a:rPr>
              <a:t>environment.</a:t>
            </a:r>
            <a:endParaRPr sz="2300">
              <a:latin typeface="Tahoma"/>
              <a:cs typeface="Tahoma"/>
            </a:endParaRPr>
          </a:p>
          <a:p>
            <a:pPr marL="200025" marR="12700" indent="-187960">
              <a:lnSpc>
                <a:spcPct val="100400"/>
              </a:lnSpc>
              <a:spcBef>
                <a:spcPts val="830"/>
              </a:spcBef>
              <a:buFont typeface="Arial MT"/>
              <a:buChar char="•"/>
              <a:tabLst>
                <a:tab pos="201295" algn="l"/>
              </a:tabLst>
            </a:pPr>
            <a:r>
              <a:rPr sz="2300" dirty="0">
                <a:latin typeface="Tahoma"/>
                <a:cs typeface="Tahoma"/>
              </a:rPr>
              <a:t>The</a:t>
            </a:r>
            <a:r>
              <a:rPr sz="2300" spc="-80" dirty="0">
                <a:latin typeface="Tahoma"/>
                <a:cs typeface="Tahoma"/>
              </a:rPr>
              <a:t> </a:t>
            </a:r>
            <a:r>
              <a:rPr sz="2300" spc="95" dirty="0">
                <a:latin typeface="Tahoma"/>
                <a:cs typeface="Tahoma"/>
              </a:rPr>
              <a:t>game</a:t>
            </a:r>
            <a:r>
              <a:rPr sz="2300" spc="-70" dirty="0">
                <a:latin typeface="Tahoma"/>
                <a:cs typeface="Tahoma"/>
              </a:rPr>
              <a:t> </a:t>
            </a:r>
            <a:r>
              <a:rPr sz="2300" dirty="0">
                <a:latin typeface="Tahoma"/>
                <a:cs typeface="Tahoma"/>
              </a:rPr>
              <a:t>of</a:t>
            </a:r>
            <a:r>
              <a:rPr sz="2300" spc="-10" dirty="0">
                <a:latin typeface="Tahoma"/>
                <a:cs typeface="Tahoma"/>
              </a:rPr>
              <a:t> </a:t>
            </a:r>
            <a:r>
              <a:rPr sz="2300" spc="65" dirty="0">
                <a:latin typeface="Tahoma"/>
                <a:cs typeface="Tahoma"/>
              </a:rPr>
              <a:t>football</a:t>
            </a:r>
            <a:r>
              <a:rPr sz="2300" spc="-95" dirty="0">
                <a:latin typeface="Tahoma"/>
                <a:cs typeface="Tahoma"/>
              </a:rPr>
              <a:t> </a:t>
            </a:r>
            <a:r>
              <a:rPr sz="2300" dirty="0">
                <a:latin typeface="Tahoma"/>
                <a:cs typeface="Tahoma"/>
              </a:rPr>
              <a:t>is</a:t>
            </a:r>
            <a:r>
              <a:rPr sz="2300" spc="-60" dirty="0">
                <a:latin typeface="Tahoma"/>
                <a:cs typeface="Tahoma"/>
              </a:rPr>
              <a:t> </a:t>
            </a:r>
            <a:r>
              <a:rPr sz="2300" dirty="0">
                <a:latin typeface="Tahoma"/>
                <a:cs typeface="Tahoma"/>
              </a:rPr>
              <a:t>multi-</a:t>
            </a:r>
            <a:r>
              <a:rPr sz="2300" spc="55" dirty="0">
                <a:latin typeface="Tahoma"/>
                <a:cs typeface="Tahoma"/>
              </a:rPr>
              <a:t>agent</a:t>
            </a:r>
            <a:r>
              <a:rPr sz="2300" spc="-85" dirty="0">
                <a:latin typeface="Tahoma"/>
                <a:cs typeface="Tahoma"/>
              </a:rPr>
              <a:t> </a:t>
            </a:r>
            <a:r>
              <a:rPr sz="2300" dirty="0">
                <a:latin typeface="Tahoma"/>
                <a:cs typeface="Tahoma"/>
              </a:rPr>
              <a:t>as</a:t>
            </a:r>
            <a:r>
              <a:rPr sz="2300" spc="-80" dirty="0">
                <a:latin typeface="Tahoma"/>
                <a:cs typeface="Tahoma"/>
              </a:rPr>
              <a:t> </a:t>
            </a:r>
            <a:r>
              <a:rPr sz="2300" dirty="0">
                <a:latin typeface="Tahoma"/>
                <a:cs typeface="Tahoma"/>
              </a:rPr>
              <a:t>it</a:t>
            </a:r>
            <a:r>
              <a:rPr sz="2300" spc="-70" dirty="0">
                <a:latin typeface="Tahoma"/>
                <a:cs typeface="Tahoma"/>
              </a:rPr>
              <a:t> </a:t>
            </a:r>
            <a:r>
              <a:rPr sz="2300" dirty="0">
                <a:latin typeface="Tahoma"/>
                <a:cs typeface="Tahoma"/>
              </a:rPr>
              <a:t>involves</a:t>
            </a:r>
            <a:r>
              <a:rPr sz="2300" spc="-90" dirty="0">
                <a:latin typeface="Tahoma"/>
                <a:cs typeface="Tahoma"/>
              </a:rPr>
              <a:t> </a:t>
            </a:r>
            <a:r>
              <a:rPr sz="2300" spc="85" dirty="0">
                <a:latin typeface="Tahoma"/>
                <a:cs typeface="Tahoma"/>
              </a:rPr>
              <a:t>11</a:t>
            </a:r>
            <a:r>
              <a:rPr sz="2300" spc="-80" dirty="0">
                <a:latin typeface="Tahoma"/>
                <a:cs typeface="Tahoma"/>
              </a:rPr>
              <a:t> </a:t>
            </a:r>
            <a:r>
              <a:rPr sz="2300" spc="40" dirty="0">
                <a:latin typeface="Tahoma"/>
                <a:cs typeface="Tahoma"/>
              </a:rPr>
              <a:t>players 	</a:t>
            </a:r>
            <a:r>
              <a:rPr sz="2300" spc="50" dirty="0">
                <a:latin typeface="Tahoma"/>
                <a:cs typeface="Tahoma"/>
              </a:rPr>
              <a:t>in</a:t>
            </a:r>
            <a:r>
              <a:rPr sz="2300" spc="-145" dirty="0">
                <a:latin typeface="Tahoma"/>
                <a:cs typeface="Tahoma"/>
              </a:rPr>
              <a:t> </a:t>
            </a:r>
            <a:r>
              <a:rPr sz="2300" spc="65" dirty="0">
                <a:latin typeface="Tahoma"/>
                <a:cs typeface="Tahoma"/>
              </a:rPr>
              <a:t>each</a:t>
            </a:r>
            <a:r>
              <a:rPr sz="2300" spc="-140" dirty="0">
                <a:latin typeface="Tahoma"/>
                <a:cs typeface="Tahoma"/>
              </a:rPr>
              <a:t> </a:t>
            </a:r>
            <a:r>
              <a:rPr sz="2300" spc="-10" dirty="0">
                <a:latin typeface="Tahoma"/>
                <a:cs typeface="Tahoma"/>
              </a:rPr>
              <a:t>team.</a:t>
            </a:r>
            <a:endParaRPr sz="2300">
              <a:latin typeface="Tahoma"/>
              <a:cs typeface="Tahom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409193" y="1053845"/>
          <a:ext cx="9228455" cy="1664335"/>
        </p:xfrm>
        <a:graphic>
          <a:graphicData uri="http://schemas.openxmlformats.org/drawingml/2006/table">
            <a:tbl>
              <a:tblPr firstRow="1" bandRow="1">
                <a:tableStyleId>{2D5ABB26-0587-4C30-8999-92F81FD0307C}</a:tableStyleId>
              </a:tblPr>
              <a:tblGrid>
                <a:gridCol w="72390">
                  <a:extLst>
                    <a:ext uri="{9D8B030D-6E8A-4147-A177-3AD203B41FA5}">
                      <a16:colId xmlns:a16="http://schemas.microsoft.com/office/drawing/2014/main" val="20000"/>
                    </a:ext>
                  </a:extLst>
                </a:gridCol>
                <a:gridCol w="9156065">
                  <a:extLst>
                    <a:ext uri="{9D8B030D-6E8A-4147-A177-3AD203B41FA5}">
                      <a16:colId xmlns:a16="http://schemas.microsoft.com/office/drawing/2014/main" val="20001"/>
                    </a:ext>
                  </a:extLst>
                </a:gridCol>
              </a:tblGrid>
              <a:tr h="650240">
                <a:tc gridSpan="2">
                  <a:txBody>
                    <a:bodyPr/>
                    <a:lstStyle/>
                    <a:p>
                      <a:pPr>
                        <a:lnSpc>
                          <a:spcPct val="100000"/>
                        </a:lnSpc>
                      </a:pPr>
                      <a:endParaRPr sz="2300">
                        <a:latin typeface="Times New Roman"/>
                        <a:cs typeface="Times New Roman"/>
                      </a:endParaRPr>
                    </a:p>
                  </a:txBody>
                  <a:tcPr marL="0" marR="0" marT="0" marB="0">
                    <a:lnL w="9525">
                      <a:solidFill>
                        <a:srgbClr val="E9E9E9"/>
                      </a:solidFill>
                      <a:prstDash val="solid"/>
                    </a:lnL>
                    <a:lnR w="9525">
                      <a:solidFill>
                        <a:srgbClr val="E9E9E9"/>
                      </a:solidFill>
                      <a:prstDash val="solid"/>
                    </a:lnR>
                    <a:lnT w="9525">
                      <a:solidFill>
                        <a:srgbClr val="E9E9E9"/>
                      </a:solidFill>
                      <a:prstDash val="solid"/>
                    </a:lnT>
                  </a:tcPr>
                </a:tc>
                <a:tc hMerge="1">
                  <a:txBody>
                    <a:bodyPr/>
                    <a:lstStyle/>
                    <a:p>
                      <a:endParaRPr/>
                    </a:p>
                  </a:txBody>
                  <a:tcPr marL="0" marR="0" marT="0" marB="0"/>
                </a:tc>
                <a:extLst>
                  <a:ext uri="{0D108BD9-81ED-4DB2-BD59-A6C34878D82A}">
                    <a16:rowId xmlns:a16="http://schemas.microsoft.com/office/drawing/2014/main" val="10000"/>
                  </a:ext>
                </a:extLst>
              </a:tr>
              <a:tr h="580390">
                <a:tc>
                  <a:txBody>
                    <a:bodyPr/>
                    <a:lstStyle/>
                    <a:p>
                      <a:pPr>
                        <a:lnSpc>
                          <a:spcPct val="100000"/>
                        </a:lnSpc>
                      </a:pPr>
                      <a:endParaRPr sz="2300">
                        <a:latin typeface="Times New Roman"/>
                        <a:cs typeface="Times New Roman"/>
                      </a:endParaRPr>
                    </a:p>
                  </a:txBody>
                  <a:tcPr marL="0" marR="0" marT="0" marB="0">
                    <a:lnL w="9525">
                      <a:solidFill>
                        <a:srgbClr val="E9E9E9"/>
                      </a:solidFill>
                      <a:prstDash val="solid"/>
                    </a:lnL>
                    <a:solidFill>
                      <a:srgbClr val="F5A700"/>
                    </a:solidFill>
                  </a:tcPr>
                </a:tc>
                <a:tc>
                  <a:txBody>
                    <a:bodyPr/>
                    <a:lstStyle/>
                    <a:p>
                      <a:pPr marL="476884">
                        <a:lnSpc>
                          <a:spcPts val="3900"/>
                        </a:lnSpc>
                      </a:pPr>
                      <a:r>
                        <a:rPr sz="3300" b="1" spc="-25" dirty="0">
                          <a:latin typeface="Tahoma"/>
                          <a:cs typeface="Tahoma"/>
                        </a:rPr>
                        <a:t>5.</a:t>
                      </a:r>
                      <a:r>
                        <a:rPr sz="3300" b="1" spc="-220" dirty="0">
                          <a:latin typeface="Tahoma"/>
                          <a:cs typeface="Tahoma"/>
                        </a:rPr>
                        <a:t> </a:t>
                      </a:r>
                      <a:r>
                        <a:rPr sz="3300" b="1" spc="-135" dirty="0">
                          <a:latin typeface="Tahoma"/>
                          <a:cs typeface="Tahoma"/>
                        </a:rPr>
                        <a:t>Static</a:t>
                      </a:r>
                      <a:r>
                        <a:rPr sz="3300" b="1" spc="-100" dirty="0">
                          <a:latin typeface="Tahoma"/>
                          <a:cs typeface="Tahoma"/>
                        </a:rPr>
                        <a:t> </a:t>
                      </a:r>
                      <a:r>
                        <a:rPr sz="3300" b="1" spc="-114" dirty="0">
                          <a:latin typeface="Tahoma"/>
                          <a:cs typeface="Tahoma"/>
                        </a:rPr>
                        <a:t>vs</a:t>
                      </a:r>
                      <a:r>
                        <a:rPr sz="3300" b="1" spc="-120" dirty="0">
                          <a:latin typeface="Tahoma"/>
                          <a:cs typeface="Tahoma"/>
                        </a:rPr>
                        <a:t> </a:t>
                      </a:r>
                      <a:r>
                        <a:rPr sz="3300" b="1" spc="-10" dirty="0">
                          <a:latin typeface="Tahoma"/>
                          <a:cs typeface="Tahoma"/>
                        </a:rPr>
                        <a:t>Dynamic:</a:t>
                      </a:r>
                      <a:endParaRPr sz="3300">
                        <a:latin typeface="Tahoma"/>
                        <a:cs typeface="Tahoma"/>
                      </a:endParaRPr>
                    </a:p>
                  </a:txBody>
                  <a:tcPr marL="0" marR="0" marT="0" marB="0">
                    <a:lnR w="9525">
                      <a:solidFill>
                        <a:srgbClr val="E9E9E9"/>
                      </a:solidFill>
                      <a:prstDash val="solid"/>
                    </a:lnR>
                  </a:tcPr>
                </a:tc>
                <a:extLst>
                  <a:ext uri="{0D108BD9-81ED-4DB2-BD59-A6C34878D82A}">
                    <a16:rowId xmlns:a16="http://schemas.microsoft.com/office/drawing/2014/main" val="10001"/>
                  </a:ext>
                </a:extLst>
              </a:tr>
              <a:tr h="433705">
                <a:tc gridSpan="2">
                  <a:txBody>
                    <a:bodyPr/>
                    <a:lstStyle/>
                    <a:p>
                      <a:pPr marL="737235" indent="-187960">
                        <a:lnSpc>
                          <a:spcPts val="1505"/>
                        </a:lnSpc>
                        <a:spcBef>
                          <a:spcPts val="1814"/>
                        </a:spcBef>
                        <a:buFont typeface="Arial MT"/>
                        <a:buChar char="•"/>
                        <a:tabLst>
                          <a:tab pos="737235" algn="l"/>
                        </a:tabLst>
                      </a:pPr>
                      <a:r>
                        <a:rPr sz="2300" spc="140" dirty="0">
                          <a:latin typeface="Tahoma"/>
                          <a:cs typeface="Tahoma"/>
                        </a:rPr>
                        <a:t>An</a:t>
                      </a:r>
                      <a:r>
                        <a:rPr sz="2300" spc="-5" dirty="0">
                          <a:latin typeface="Tahoma"/>
                          <a:cs typeface="Tahoma"/>
                        </a:rPr>
                        <a:t> </a:t>
                      </a:r>
                      <a:r>
                        <a:rPr sz="2300" dirty="0">
                          <a:latin typeface="Tahoma"/>
                          <a:cs typeface="Tahoma"/>
                        </a:rPr>
                        <a:t>environment</a:t>
                      </a:r>
                      <a:r>
                        <a:rPr sz="2300" spc="-25" dirty="0">
                          <a:latin typeface="Tahoma"/>
                          <a:cs typeface="Tahoma"/>
                        </a:rPr>
                        <a:t> </a:t>
                      </a:r>
                      <a:r>
                        <a:rPr sz="2300" spc="-10" dirty="0">
                          <a:latin typeface="Tahoma"/>
                          <a:cs typeface="Tahoma"/>
                        </a:rPr>
                        <a:t>that</a:t>
                      </a:r>
                      <a:r>
                        <a:rPr sz="2300" spc="-5" dirty="0">
                          <a:latin typeface="Tahoma"/>
                          <a:cs typeface="Tahoma"/>
                        </a:rPr>
                        <a:t> </a:t>
                      </a:r>
                      <a:r>
                        <a:rPr sz="2300" spc="70" dirty="0">
                          <a:latin typeface="Tahoma"/>
                          <a:cs typeface="Tahoma"/>
                        </a:rPr>
                        <a:t>keeps</a:t>
                      </a:r>
                      <a:r>
                        <a:rPr sz="2300" spc="-25" dirty="0">
                          <a:latin typeface="Tahoma"/>
                          <a:cs typeface="Tahoma"/>
                        </a:rPr>
                        <a:t> </a:t>
                      </a:r>
                      <a:r>
                        <a:rPr sz="2300" dirty="0">
                          <a:latin typeface="Tahoma"/>
                          <a:cs typeface="Tahoma"/>
                        </a:rPr>
                        <a:t>constantly</a:t>
                      </a:r>
                      <a:r>
                        <a:rPr sz="2300" spc="-60" dirty="0">
                          <a:latin typeface="Tahoma"/>
                          <a:cs typeface="Tahoma"/>
                        </a:rPr>
                        <a:t> </a:t>
                      </a:r>
                      <a:r>
                        <a:rPr sz="2300" spc="80" dirty="0">
                          <a:latin typeface="Tahoma"/>
                          <a:cs typeface="Tahoma"/>
                        </a:rPr>
                        <a:t>changing</a:t>
                      </a:r>
                      <a:r>
                        <a:rPr sz="2300" spc="-20" dirty="0">
                          <a:latin typeface="Tahoma"/>
                          <a:cs typeface="Tahoma"/>
                        </a:rPr>
                        <a:t> </a:t>
                      </a:r>
                      <a:r>
                        <a:rPr sz="2300" dirty="0">
                          <a:latin typeface="Tahoma"/>
                          <a:cs typeface="Tahoma"/>
                        </a:rPr>
                        <a:t>itself</a:t>
                      </a:r>
                      <a:r>
                        <a:rPr sz="2300" spc="45" dirty="0">
                          <a:latin typeface="Tahoma"/>
                          <a:cs typeface="Tahoma"/>
                        </a:rPr>
                        <a:t> </a:t>
                      </a:r>
                      <a:r>
                        <a:rPr sz="2300" spc="30" dirty="0">
                          <a:latin typeface="Tahoma"/>
                          <a:cs typeface="Tahoma"/>
                        </a:rPr>
                        <a:t>when</a:t>
                      </a:r>
                      <a:endParaRPr sz="2300">
                        <a:latin typeface="Tahoma"/>
                        <a:cs typeface="Tahoma"/>
                      </a:endParaRPr>
                    </a:p>
                  </a:txBody>
                  <a:tcPr marL="0" marR="0" marT="230504" marB="0">
                    <a:lnL w="9525">
                      <a:solidFill>
                        <a:srgbClr val="E9E9E9"/>
                      </a:solidFill>
                      <a:prstDash val="solid"/>
                    </a:lnL>
                    <a:lnR w="9525">
                      <a:solidFill>
                        <a:srgbClr val="E9E9E9"/>
                      </a:solidFill>
                      <a:prstDash val="solid"/>
                    </a:lnR>
                    <a:lnB w="9525">
                      <a:solidFill>
                        <a:srgbClr val="E9E9E9"/>
                      </a:solidFill>
                      <a:prstDash val="solid"/>
                    </a:lnB>
                  </a:tcPr>
                </a:tc>
                <a:tc hMerge="1">
                  <a:txBody>
                    <a:bodyPr/>
                    <a:lstStyle/>
                    <a:p>
                      <a:endParaRPr/>
                    </a:p>
                  </a:txBody>
                  <a:tcPr marL="0" marR="0" marT="0" marB="0"/>
                </a:tc>
                <a:extLst>
                  <a:ext uri="{0D108BD9-81ED-4DB2-BD59-A6C34878D82A}">
                    <a16:rowId xmlns:a16="http://schemas.microsoft.com/office/drawing/2014/main" val="10002"/>
                  </a:ext>
                </a:extLst>
              </a:tr>
            </a:tbl>
          </a:graphicData>
        </a:graphic>
      </p:graphicFrame>
      <p:sp>
        <p:nvSpPr>
          <p:cNvPr id="3" name="object 3"/>
          <p:cNvSpPr txBox="1"/>
          <p:nvPr/>
        </p:nvSpPr>
        <p:spPr>
          <a:xfrm>
            <a:off x="982348" y="2752985"/>
            <a:ext cx="8115300" cy="3155950"/>
          </a:xfrm>
          <a:prstGeom prst="rect">
            <a:avLst/>
          </a:prstGeom>
        </p:spPr>
        <p:txBody>
          <a:bodyPr vert="horz" wrap="square" lIns="0" tIns="153670" rIns="0" bIns="0" rtlCol="0">
            <a:spAutoFit/>
          </a:bodyPr>
          <a:lstStyle/>
          <a:p>
            <a:pPr marL="201295">
              <a:lnSpc>
                <a:spcPct val="100000"/>
              </a:lnSpc>
              <a:spcBef>
                <a:spcPts val="1210"/>
              </a:spcBef>
            </a:pPr>
            <a:r>
              <a:rPr sz="2300" dirty="0">
                <a:latin typeface="Tahoma"/>
                <a:cs typeface="Tahoma"/>
              </a:rPr>
              <a:t>the</a:t>
            </a:r>
            <a:r>
              <a:rPr sz="2300" spc="-85" dirty="0">
                <a:latin typeface="Tahoma"/>
                <a:cs typeface="Tahoma"/>
              </a:rPr>
              <a:t> </a:t>
            </a:r>
            <a:r>
              <a:rPr sz="2300" spc="55" dirty="0">
                <a:latin typeface="Tahoma"/>
                <a:cs typeface="Tahoma"/>
              </a:rPr>
              <a:t>agent</a:t>
            </a:r>
            <a:r>
              <a:rPr sz="2300" spc="-90" dirty="0">
                <a:latin typeface="Tahoma"/>
                <a:cs typeface="Tahoma"/>
              </a:rPr>
              <a:t> </a:t>
            </a:r>
            <a:r>
              <a:rPr sz="2300" dirty="0">
                <a:latin typeface="Tahoma"/>
                <a:cs typeface="Tahoma"/>
              </a:rPr>
              <a:t>is</a:t>
            </a:r>
            <a:r>
              <a:rPr sz="2300" spc="-95" dirty="0">
                <a:latin typeface="Tahoma"/>
                <a:cs typeface="Tahoma"/>
              </a:rPr>
              <a:t> </a:t>
            </a:r>
            <a:r>
              <a:rPr sz="2300" spc="114" dirty="0">
                <a:latin typeface="Tahoma"/>
                <a:cs typeface="Tahoma"/>
              </a:rPr>
              <a:t>up</a:t>
            </a:r>
            <a:r>
              <a:rPr sz="2300" spc="-100" dirty="0">
                <a:latin typeface="Tahoma"/>
                <a:cs typeface="Tahoma"/>
              </a:rPr>
              <a:t> </a:t>
            </a:r>
            <a:r>
              <a:rPr sz="2300" dirty="0">
                <a:latin typeface="Tahoma"/>
                <a:cs typeface="Tahoma"/>
              </a:rPr>
              <a:t>with</a:t>
            </a:r>
            <a:r>
              <a:rPr sz="2300" spc="-95" dirty="0">
                <a:latin typeface="Tahoma"/>
                <a:cs typeface="Tahoma"/>
              </a:rPr>
              <a:t> </a:t>
            </a:r>
            <a:r>
              <a:rPr sz="2300" spc="90" dirty="0">
                <a:latin typeface="Tahoma"/>
                <a:cs typeface="Tahoma"/>
              </a:rPr>
              <a:t>some</a:t>
            </a:r>
            <a:r>
              <a:rPr sz="2300" spc="-105" dirty="0">
                <a:latin typeface="Tahoma"/>
                <a:cs typeface="Tahoma"/>
              </a:rPr>
              <a:t> </a:t>
            </a:r>
            <a:r>
              <a:rPr sz="2300" dirty="0">
                <a:latin typeface="Tahoma"/>
                <a:cs typeface="Tahoma"/>
              </a:rPr>
              <a:t>action</a:t>
            </a:r>
            <a:r>
              <a:rPr sz="2300" spc="-100" dirty="0">
                <a:latin typeface="Tahoma"/>
                <a:cs typeface="Tahoma"/>
              </a:rPr>
              <a:t> </a:t>
            </a:r>
            <a:r>
              <a:rPr sz="2300" dirty="0">
                <a:latin typeface="Tahoma"/>
                <a:cs typeface="Tahoma"/>
              </a:rPr>
              <a:t>is</a:t>
            </a:r>
            <a:r>
              <a:rPr sz="2300" spc="-85" dirty="0">
                <a:latin typeface="Tahoma"/>
                <a:cs typeface="Tahoma"/>
              </a:rPr>
              <a:t> </a:t>
            </a:r>
            <a:r>
              <a:rPr sz="2300" spc="55" dirty="0">
                <a:latin typeface="Tahoma"/>
                <a:cs typeface="Tahoma"/>
              </a:rPr>
              <a:t>said</a:t>
            </a:r>
            <a:r>
              <a:rPr sz="2300" spc="-100" dirty="0">
                <a:latin typeface="Tahoma"/>
                <a:cs typeface="Tahoma"/>
              </a:rPr>
              <a:t> </a:t>
            </a:r>
            <a:r>
              <a:rPr sz="2300" spc="60" dirty="0">
                <a:latin typeface="Tahoma"/>
                <a:cs typeface="Tahoma"/>
              </a:rPr>
              <a:t>to</a:t>
            </a:r>
            <a:r>
              <a:rPr sz="2300" spc="-80" dirty="0">
                <a:latin typeface="Tahoma"/>
                <a:cs typeface="Tahoma"/>
              </a:rPr>
              <a:t> </a:t>
            </a:r>
            <a:r>
              <a:rPr sz="2300" spc="145" dirty="0">
                <a:latin typeface="Tahoma"/>
                <a:cs typeface="Tahoma"/>
              </a:rPr>
              <a:t>be</a:t>
            </a:r>
            <a:r>
              <a:rPr sz="2300" spc="-95" dirty="0">
                <a:latin typeface="Tahoma"/>
                <a:cs typeface="Tahoma"/>
              </a:rPr>
              <a:t> </a:t>
            </a:r>
            <a:r>
              <a:rPr sz="2300" spc="-10" dirty="0">
                <a:latin typeface="Tahoma"/>
                <a:cs typeface="Tahoma"/>
              </a:rPr>
              <a:t>dynamic.</a:t>
            </a:r>
            <a:endParaRPr sz="2300" dirty="0">
              <a:latin typeface="Tahoma"/>
              <a:cs typeface="Tahoma"/>
            </a:endParaRPr>
          </a:p>
          <a:p>
            <a:pPr marL="200025" marR="5080" indent="-187960">
              <a:lnSpc>
                <a:spcPct val="110400"/>
              </a:lnSpc>
              <a:spcBef>
                <a:spcPts val="830"/>
              </a:spcBef>
              <a:buFont typeface="Arial MT"/>
              <a:buChar char="•"/>
              <a:tabLst>
                <a:tab pos="201295" algn="l"/>
              </a:tabLst>
            </a:pPr>
            <a:r>
              <a:rPr sz="2300" spc="229" dirty="0">
                <a:latin typeface="Tahoma"/>
                <a:cs typeface="Tahoma"/>
              </a:rPr>
              <a:t>A</a:t>
            </a:r>
            <a:r>
              <a:rPr sz="2300" spc="-165" dirty="0">
                <a:latin typeface="Tahoma"/>
                <a:cs typeface="Tahoma"/>
              </a:rPr>
              <a:t> </a:t>
            </a:r>
            <a:r>
              <a:rPr sz="2300" spc="55" dirty="0">
                <a:latin typeface="Tahoma"/>
                <a:cs typeface="Tahoma"/>
              </a:rPr>
              <a:t>roller</a:t>
            </a:r>
            <a:r>
              <a:rPr sz="2300" spc="-160" dirty="0">
                <a:latin typeface="Tahoma"/>
                <a:cs typeface="Tahoma"/>
              </a:rPr>
              <a:t> </a:t>
            </a:r>
            <a:r>
              <a:rPr sz="2300" spc="50" dirty="0">
                <a:latin typeface="Tahoma"/>
                <a:cs typeface="Tahoma"/>
              </a:rPr>
              <a:t>coaster</a:t>
            </a:r>
            <a:r>
              <a:rPr sz="2300" spc="-145" dirty="0">
                <a:latin typeface="Tahoma"/>
                <a:cs typeface="Tahoma"/>
              </a:rPr>
              <a:t> </a:t>
            </a:r>
            <a:r>
              <a:rPr sz="2300" spc="85" dirty="0">
                <a:latin typeface="Tahoma"/>
                <a:cs typeface="Tahoma"/>
              </a:rPr>
              <a:t>ride</a:t>
            </a:r>
            <a:r>
              <a:rPr sz="2300" spc="-120" dirty="0">
                <a:latin typeface="Tahoma"/>
                <a:cs typeface="Tahoma"/>
              </a:rPr>
              <a:t> </a:t>
            </a:r>
            <a:r>
              <a:rPr sz="2300" dirty="0">
                <a:latin typeface="Tahoma"/>
                <a:cs typeface="Tahoma"/>
              </a:rPr>
              <a:t>is</a:t>
            </a:r>
            <a:r>
              <a:rPr sz="2300" spc="-130" dirty="0">
                <a:latin typeface="Tahoma"/>
                <a:cs typeface="Tahoma"/>
              </a:rPr>
              <a:t> </a:t>
            </a:r>
            <a:r>
              <a:rPr sz="2300" spc="65" dirty="0">
                <a:latin typeface="Tahoma"/>
                <a:cs typeface="Tahoma"/>
              </a:rPr>
              <a:t>dynamic</a:t>
            </a:r>
            <a:r>
              <a:rPr sz="2300" spc="-120" dirty="0">
                <a:latin typeface="Tahoma"/>
                <a:cs typeface="Tahoma"/>
              </a:rPr>
              <a:t> </a:t>
            </a:r>
            <a:r>
              <a:rPr sz="2300" dirty="0">
                <a:latin typeface="Tahoma"/>
                <a:cs typeface="Tahoma"/>
              </a:rPr>
              <a:t>as</a:t>
            </a:r>
            <a:r>
              <a:rPr sz="2300" spc="-140" dirty="0">
                <a:latin typeface="Tahoma"/>
                <a:cs typeface="Tahoma"/>
              </a:rPr>
              <a:t> </a:t>
            </a:r>
            <a:r>
              <a:rPr sz="2300" dirty="0">
                <a:latin typeface="Tahoma"/>
                <a:cs typeface="Tahoma"/>
              </a:rPr>
              <a:t>it</a:t>
            </a:r>
            <a:r>
              <a:rPr sz="2300" spc="-130" dirty="0">
                <a:latin typeface="Tahoma"/>
                <a:cs typeface="Tahoma"/>
              </a:rPr>
              <a:t> </a:t>
            </a:r>
            <a:r>
              <a:rPr sz="2300" dirty="0">
                <a:latin typeface="Tahoma"/>
                <a:cs typeface="Tahoma"/>
              </a:rPr>
              <a:t>is</a:t>
            </a:r>
            <a:r>
              <a:rPr sz="2300" spc="-135" dirty="0">
                <a:latin typeface="Tahoma"/>
                <a:cs typeface="Tahoma"/>
              </a:rPr>
              <a:t> </a:t>
            </a:r>
            <a:r>
              <a:rPr sz="2300" dirty="0">
                <a:latin typeface="Tahoma"/>
                <a:cs typeface="Tahoma"/>
              </a:rPr>
              <a:t>set</a:t>
            </a:r>
            <a:r>
              <a:rPr sz="2300" spc="-130" dirty="0">
                <a:latin typeface="Tahoma"/>
                <a:cs typeface="Tahoma"/>
              </a:rPr>
              <a:t> </a:t>
            </a:r>
            <a:r>
              <a:rPr sz="2300" spc="50" dirty="0">
                <a:latin typeface="Tahoma"/>
                <a:cs typeface="Tahoma"/>
              </a:rPr>
              <a:t>in</a:t>
            </a:r>
            <a:r>
              <a:rPr sz="2300" spc="-130" dirty="0">
                <a:latin typeface="Tahoma"/>
                <a:cs typeface="Tahoma"/>
              </a:rPr>
              <a:t> </a:t>
            </a:r>
            <a:r>
              <a:rPr sz="2300" spc="75" dirty="0">
                <a:latin typeface="Tahoma"/>
                <a:cs typeface="Tahoma"/>
              </a:rPr>
              <a:t>motion</a:t>
            </a:r>
            <a:r>
              <a:rPr sz="2300" spc="-140" dirty="0">
                <a:latin typeface="Tahoma"/>
                <a:cs typeface="Tahoma"/>
              </a:rPr>
              <a:t> </a:t>
            </a:r>
            <a:r>
              <a:rPr sz="2300" spc="80" dirty="0">
                <a:latin typeface="Tahoma"/>
                <a:cs typeface="Tahoma"/>
              </a:rPr>
              <a:t>and</a:t>
            </a:r>
            <a:r>
              <a:rPr sz="2300" spc="-125" dirty="0">
                <a:latin typeface="Tahoma"/>
                <a:cs typeface="Tahoma"/>
              </a:rPr>
              <a:t> </a:t>
            </a:r>
            <a:r>
              <a:rPr sz="2300" spc="-25" dirty="0">
                <a:latin typeface="Tahoma"/>
                <a:cs typeface="Tahoma"/>
              </a:rPr>
              <a:t>the 	</a:t>
            </a:r>
            <a:r>
              <a:rPr sz="2300" dirty="0">
                <a:latin typeface="Tahoma"/>
                <a:cs typeface="Tahoma"/>
              </a:rPr>
              <a:t>environment </a:t>
            </a:r>
            <a:r>
              <a:rPr sz="2300" spc="70" dirty="0">
                <a:latin typeface="Tahoma"/>
                <a:cs typeface="Tahoma"/>
              </a:rPr>
              <a:t>keeps</a:t>
            </a:r>
            <a:r>
              <a:rPr sz="2300" spc="5" dirty="0">
                <a:latin typeface="Tahoma"/>
                <a:cs typeface="Tahoma"/>
              </a:rPr>
              <a:t> </a:t>
            </a:r>
            <a:r>
              <a:rPr sz="2300" spc="80" dirty="0">
                <a:latin typeface="Tahoma"/>
                <a:cs typeface="Tahoma"/>
              </a:rPr>
              <a:t>changing</a:t>
            </a:r>
            <a:r>
              <a:rPr sz="2300" spc="10" dirty="0">
                <a:latin typeface="Tahoma"/>
                <a:cs typeface="Tahoma"/>
              </a:rPr>
              <a:t> </a:t>
            </a:r>
            <a:r>
              <a:rPr sz="2300" dirty="0">
                <a:latin typeface="Tahoma"/>
                <a:cs typeface="Tahoma"/>
              </a:rPr>
              <a:t>every</a:t>
            </a:r>
            <a:r>
              <a:rPr sz="2300" spc="30" dirty="0">
                <a:latin typeface="Tahoma"/>
                <a:cs typeface="Tahoma"/>
              </a:rPr>
              <a:t> </a:t>
            </a:r>
            <a:r>
              <a:rPr sz="2300" spc="-10" dirty="0">
                <a:latin typeface="Tahoma"/>
                <a:cs typeface="Tahoma"/>
              </a:rPr>
              <a:t>instant.</a:t>
            </a:r>
            <a:endParaRPr sz="2300" dirty="0">
              <a:latin typeface="Tahoma"/>
              <a:cs typeface="Tahoma"/>
            </a:endParaRPr>
          </a:p>
          <a:p>
            <a:pPr marL="200025" marR="277495" indent="-187960">
              <a:lnSpc>
                <a:spcPct val="110800"/>
              </a:lnSpc>
              <a:spcBef>
                <a:spcPts val="805"/>
              </a:spcBef>
              <a:buFont typeface="Arial MT"/>
              <a:buChar char="•"/>
              <a:tabLst>
                <a:tab pos="201295" algn="l"/>
              </a:tabLst>
            </a:pPr>
            <a:r>
              <a:rPr sz="2300" spc="140" dirty="0">
                <a:latin typeface="Tahoma"/>
                <a:cs typeface="Tahoma"/>
              </a:rPr>
              <a:t>An</a:t>
            </a:r>
            <a:r>
              <a:rPr sz="2300" spc="-80" dirty="0">
                <a:latin typeface="Tahoma"/>
                <a:cs typeface="Tahoma"/>
              </a:rPr>
              <a:t> </a:t>
            </a:r>
            <a:r>
              <a:rPr sz="2300" spc="100" dirty="0">
                <a:latin typeface="Tahoma"/>
                <a:cs typeface="Tahoma"/>
              </a:rPr>
              <a:t>idle</a:t>
            </a:r>
            <a:r>
              <a:rPr sz="2300" spc="-95" dirty="0">
                <a:latin typeface="Tahoma"/>
                <a:cs typeface="Tahoma"/>
              </a:rPr>
              <a:t> </a:t>
            </a:r>
            <a:r>
              <a:rPr sz="2300" dirty="0">
                <a:latin typeface="Tahoma"/>
                <a:cs typeface="Tahoma"/>
              </a:rPr>
              <a:t>environment</a:t>
            </a:r>
            <a:r>
              <a:rPr sz="2300" spc="-95" dirty="0">
                <a:latin typeface="Tahoma"/>
                <a:cs typeface="Tahoma"/>
              </a:rPr>
              <a:t> </a:t>
            </a:r>
            <a:r>
              <a:rPr sz="2300" dirty="0">
                <a:latin typeface="Tahoma"/>
                <a:cs typeface="Tahoma"/>
              </a:rPr>
              <a:t>with</a:t>
            </a:r>
            <a:r>
              <a:rPr sz="2300" spc="-80" dirty="0">
                <a:latin typeface="Tahoma"/>
                <a:cs typeface="Tahoma"/>
              </a:rPr>
              <a:t> </a:t>
            </a:r>
            <a:r>
              <a:rPr sz="2300" spc="100" dirty="0">
                <a:latin typeface="Tahoma"/>
                <a:cs typeface="Tahoma"/>
              </a:rPr>
              <a:t>no</a:t>
            </a:r>
            <a:r>
              <a:rPr sz="2300" spc="-100" dirty="0">
                <a:latin typeface="Tahoma"/>
                <a:cs typeface="Tahoma"/>
              </a:rPr>
              <a:t> </a:t>
            </a:r>
            <a:r>
              <a:rPr sz="2300" spc="80" dirty="0">
                <a:latin typeface="Tahoma"/>
                <a:cs typeface="Tahoma"/>
              </a:rPr>
              <a:t>change</a:t>
            </a:r>
            <a:r>
              <a:rPr sz="2300" spc="-105" dirty="0">
                <a:latin typeface="Tahoma"/>
                <a:cs typeface="Tahoma"/>
              </a:rPr>
              <a:t> </a:t>
            </a:r>
            <a:r>
              <a:rPr sz="2300" spc="50" dirty="0">
                <a:latin typeface="Tahoma"/>
                <a:cs typeface="Tahoma"/>
              </a:rPr>
              <a:t>in</a:t>
            </a:r>
            <a:r>
              <a:rPr sz="2300" spc="-85" dirty="0">
                <a:latin typeface="Tahoma"/>
                <a:cs typeface="Tahoma"/>
              </a:rPr>
              <a:t> </a:t>
            </a:r>
            <a:r>
              <a:rPr sz="2300" dirty="0">
                <a:latin typeface="Tahoma"/>
                <a:cs typeface="Tahoma"/>
              </a:rPr>
              <a:t>its</a:t>
            </a:r>
            <a:r>
              <a:rPr sz="2300" spc="-100" dirty="0">
                <a:latin typeface="Tahoma"/>
                <a:cs typeface="Tahoma"/>
              </a:rPr>
              <a:t> </a:t>
            </a:r>
            <a:r>
              <a:rPr sz="2300" dirty="0">
                <a:latin typeface="Tahoma"/>
                <a:cs typeface="Tahoma"/>
              </a:rPr>
              <a:t>state</a:t>
            </a:r>
            <a:r>
              <a:rPr sz="2300" spc="-90" dirty="0">
                <a:latin typeface="Tahoma"/>
                <a:cs typeface="Tahoma"/>
              </a:rPr>
              <a:t> </a:t>
            </a:r>
            <a:r>
              <a:rPr sz="2300" dirty="0">
                <a:latin typeface="Tahoma"/>
                <a:cs typeface="Tahoma"/>
              </a:rPr>
              <a:t>is</a:t>
            </a:r>
            <a:r>
              <a:rPr sz="2300" spc="-95" dirty="0">
                <a:latin typeface="Tahoma"/>
                <a:cs typeface="Tahoma"/>
              </a:rPr>
              <a:t> </a:t>
            </a:r>
            <a:r>
              <a:rPr sz="2300" spc="85" dirty="0">
                <a:latin typeface="Tahoma"/>
                <a:cs typeface="Tahoma"/>
              </a:rPr>
              <a:t>called</a:t>
            </a:r>
            <a:r>
              <a:rPr sz="2300" spc="-110" dirty="0">
                <a:latin typeface="Tahoma"/>
                <a:cs typeface="Tahoma"/>
              </a:rPr>
              <a:t> </a:t>
            </a:r>
            <a:r>
              <a:rPr sz="2300" spc="-50" dirty="0">
                <a:latin typeface="Tahoma"/>
                <a:cs typeface="Tahoma"/>
              </a:rPr>
              <a:t>a 	</a:t>
            </a:r>
            <a:r>
              <a:rPr sz="2300" dirty="0">
                <a:latin typeface="Tahoma"/>
                <a:cs typeface="Tahoma"/>
              </a:rPr>
              <a:t>static</a:t>
            </a:r>
            <a:r>
              <a:rPr sz="2300" spc="-130" dirty="0">
                <a:latin typeface="Tahoma"/>
                <a:cs typeface="Tahoma"/>
              </a:rPr>
              <a:t> </a:t>
            </a:r>
            <a:r>
              <a:rPr sz="2300" spc="-10" dirty="0">
                <a:latin typeface="Tahoma"/>
                <a:cs typeface="Tahoma"/>
              </a:rPr>
              <a:t>environment.</a:t>
            </a:r>
            <a:endParaRPr sz="2300" dirty="0">
              <a:latin typeface="Tahoma"/>
              <a:cs typeface="Tahoma"/>
            </a:endParaRPr>
          </a:p>
          <a:p>
            <a:pPr marL="200025" marR="1040765" indent="-187960">
              <a:lnSpc>
                <a:spcPct val="110900"/>
              </a:lnSpc>
              <a:spcBef>
                <a:spcPts val="800"/>
              </a:spcBef>
              <a:buFont typeface="Arial MT"/>
              <a:buChar char="•"/>
              <a:tabLst>
                <a:tab pos="201295" algn="l"/>
              </a:tabLst>
            </a:pPr>
            <a:r>
              <a:rPr sz="2300" spc="140" dirty="0">
                <a:latin typeface="Tahoma"/>
                <a:cs typeface="Tahoma"/>
              </a:rPr>
              <a:t>An</a:t>
            </a:r>
            <a:r>
              <a:rPr sz="2300" spc="-114" dirty="0">
                <a:latin typeface="Tahoma"/>
                <a:cs typeface="Tahoma"/>
              </a:rPr>
              <a:t> </a:t>
            </a:r>
            <a:r>
              <a:rPr sz="2300" spc="60" dirty="0">
                <a:latin typeface="Tahoma"/>
                <a:cs typeface="Tahoma"/>
              </a:rPr>
              <a:t>empty</a:t>
            </a:r>
            <a:r>
              <a:rPr sz="2300" spc="-135" dirty="0">
                <a:latin typeface="Tahoma"/>
                <a:cs typeface="Tahoma"/>
              </a:rPr>
              <a:t> </a:t>
            </a:r>
            <a:r>
              <a:rPr sz="2300" spc="65" dirty="0">
                <a:latin typeface="Tahoma"/>
                <a:cs typeface="Tahoma"/>
              </a:rPr>
              <a:t>house</a:t>
            </a:r>
            <a:r>
              <a:rPr sz="2300" spc="-150" dirty="0">
                <a:latin typeface="Tahoma"/>
                <a:cs typeface="Tahoma"/>
              </a:rPr>
              <a:t> </a:t>
            </a:r>
            <a:r>
              <a:rPr sz="2300" dirty="0">
                <a:latin typeface="Tahoma"/>
                <a:cs typeface="Tahoma"/>
              </a:rPr>
              <a:t>is</a:t>
            </a:r>
            <a:r>
              <a:rPr sz="2300" spc="-130" dirty="0">
                <a:latin typeface="Tahoma"/>
                <a:cs typeface="Tahoma"/>
              </a:rPr>
              <a:t> </a:t>
            </a:r>
            <a:r>
              <a:rPr sz="2300" dirty="0">
                <a:latin typeface="Tahoma"/>
                <a:cs typeface="Tahoma"/>
              </a:rPr>
              <a:t>static</a:t>
            </a:r>
            <a:r>
              <a:rPr sz="2300" spc="-130" dirty="0">
                <a:latin typeface="Tahoma"/>
                <a:cs typeface="Tahoma"/>
              </a:rPr>
              <a:t> </a:t>
            </a:r>
            <a:r>
              <a:rPr sz="2300" dirty="0">
                <a:latin typeface="Tahoma"/>
                <a:cs typeface="Tahoma"/>
              </a:rPr>
              <a:t>as</a:t>
            </a:r>
            <a:r>
              <a:rPr sz="2300" spc="-114" dirty="0">
                <a:latin typeface="Tahoma"/>
                <a:cs typeface="Tahoma"/>
              </a:rPr>
              <a:t> </a:t>
            </a:r>
            <a:r>
              <a:rPr sz="2300" dirty="0">
                <a:latin typeface="Tahoma"/>
                <a:cs typeface="Tahoma"/>
              </a:rPr>
              <a:t>there’s</a:t>
            </a:r>
            <a:r>
              <a:rPr sz="2300" spc="-140" dirty="0">
                <a:latin typeface="Tahoma"/>
                <a:cs typeface="Tahoma"/>
              </a:rPr>
              <a:t> </a:t>
            </a:r>
            <a:r>
              <a:rPr sz="2300" spc="100" dirty="0">
                <a:latin typeface="Tahoma"/>
                <a:cs typeface="Tahoma"/>
              </a:rPr>
              <a:t>no</a:t>
            </a:r>
            <a:r>
              <a:rPr sz="2300" spc="-114" dirty="0">
                <a:latin typeface="Tahoma"/>
                <a:cs typeface="Tahoma"/>
              </a:rPr>
              <a:t> </a:t>
            </a:r>
            <a:r>
              <a:rPr sz="2300" spc="80" dirty="0">
                <a:latin typeface="Tahoma"/>
                <a:cs typeface="Tahoma"/>
              </a:rPr>
              <a:t>change</a:t>
            </a:r>
            <a:r>
              <a:rPr sz="2300" spc="-140" dirty="0">
                <a:latin typeface="Tahoma"/>
                <a:cs typeface="Tahoma"/>
              </a:rPr>
              <a:t> </a:t>
            </a:r>
            <a:r>
              <a:rPr sz="2300" spc="50" dirty="0">
                <a:latin typeface="Tahoma"/>
                <a:cs typeface="Tahoma"/>
              </a:rPr>
              <a:t>in</a:t>
            </a:r>
            <a:r>
              <a:rPr sz="2300" spc="-125" dirty="0">
                <a:latin typeface="Tahoma"/>
                <a:cs typeface="Tahoma"/>
              </a:rPr>
              <a:t> </a:t>
            </a:r>
            <a:r>
              <a:rPr sz="2300" spc="-25" dirty="0">
                <a:latin typeface="Tahoma"/>
                <a:cs typeface="Tahoma"/>
              </a:rPr>
              <a:t>the 	</a:t>
            </a:r>
            <a:r>
              <a:rPr sz="2300" spc="55" dirty="0">
                <a:latin typeface="Tahoma"/>
                <a:cs typeface="Tahoma"/>
              </a:rPr>
              <a:t>surroundings</a:t>
            </a:r>
            <a:r>
              <a:rPr sz="2300" spc="-135" dirty="0">
                <a:latin typeface="Tahoma"/>
                <a:cs typeface="Tahoma"/>
              </a:rPr>
              <a:t> </a:t>
            </a:r>
            <a:r>
              <a:rPr sz="2300" spc="50" dirty="0">
                <a:latin typeface="Tahoma"/>
                <a:cs typeface="Tahoma"/>
              </a:rPr>
              <a:t>when</a:t>
            </a:r>
            <a:r>
              <a:rPr sz="2300" spc="-135" dirty="0">
                <a:latin typeface="Tahoma"/>
                <a:cs typeface="Tahoma"/>
              </a:rPr>
              <a:t> </a:t>
            </a:r>
            <a:r>
              <a:rPr sz="2300" dirty="0">
                <a:latin typeface="Tahoma"/>
                <a:cs typeface="Tahoma"/>
              </a:rPr>
              <a:t>an</a:t>
            </a:r>
            <a:r>
              <a:rPr sz="2300" spc="-110" dirty="0">
                <a:latin typeface="Tahoma"/>
                <a:cs typeface="Tahoma"/>
              </a:rPr>
              <a:t> </a:t>
            </a:r>
            <a:r>
              <a:rPr sz="2300" spc="55" dirty="0">
                <a:latin typeface="Tahoma"/>
                <a:cs typeface="Tahoma"/>
              </a:rPr>
              <a:t>agent</a:t>
            </a:r>
            <a:r>
              <a:rPr sz="2300" spc="-110" dirty="0">
                <a:latin typeface="Tahoma"/>
                <a:cs typeface="Tahoma"/>
              </a:rPr>
              <a:t> </a:t>
            </a:r>
            <a:r>
              <a:rPr sz="2300" spc="-10" dirty="0">
                <a:latin typeface="Tahoma"/>
                <a:cs typeface="Tahoma"/>
              </a:rPr>
              <a:t>enters.</a:t>
            </a:r>
            <a:endParaRPr sz="2300" dirty="0">
              <a:latin typeface="Tahoma"/>
              <a:cs typeface="Tahom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409193" y="1053845"/>
          <a:ext cx="9228455" cy="1664335"/>
        </p:xfrm>
        <a:graphic>
          <a:graphicData uri="http://schemas.openxmlformats.org/drawingml/2006/table">
            <a:tbl>
              <a:tblPr firstRow="1" bandRow="1">
                <a:tableStyleId>{2D5ABB26-0587-4C30-8999-92F81FD0307C}</a:tableStyleId>
              </a:tblPr>
              <a:tblGrid>
                <a:gridCol w="72390">
                  <a:extLst>
                    <a:ext uri="{9D8B030D-6E8A-4147-A177-3AD203B41FA5}">
                      <a16:colId xmlns:a16="http://schemas.microsoft.com/office/drawing/2014/main" val="20000"/>
                    </a:ext>
                  </a:extLst>
                </a:gridCol>
                <a:gridCol w="9156065">
                  <a:extLst>
                    <a:ext uri="{9D8B030D-6E8A-4147-A177-3AD203B41FA5}">
                      <a16:colId xmlns:a16="http://schemas.microsoft.com/office/drawing/2014/main" val="20001"/>
                    </a:ext>
                  </a:extLst>
                </a:gridCol>
              </a:tblGrid>
              <a:tr h="650240">
                <a:tc gridSpan="2">
                  <a:txBody>
                    <a:bodyPr/>
                    <a:lstStyle/>
                    <a:p>
                      <a:pPr>
                        <a:lnSpc>
                          <a:spcPct val="100000"/>
                        </a:lnSpc>
                      </a:pPr>
                      <a:endParaRPr sz="2000">
                        <a:latin typeface="Times New Roman"/>
                        <a:cs typeface="Times New Roman"/>
                      </a:endParaRPr>
                    </a:p>
                  </a:txBody>
                  <a:tcPr marL="0" marR="0" marT="0" marB="0">
                    <a:lnL w="9525">
                      <a:solidFill>
                        <a:srgbClr val="E9E9E9"/>
                      </a:solidFill>
                      <a:prstDash val="solid"/>
                    </a:lnL>
                    <a:lnR w="9525">
                      <a:solidFill>
                        <a:srgbClr val="E9E9E9"/>
                      </a:solidFill>
                      <a:prstDash val="solid"/>
                    </a:lnR>
                    <a:lnT w="9525">
                      <a:solidFill>
                        <a:srgbClr val="E9E9E9"/>
                      </a:solidFill>
                      <a:prstDash val="solid"/>
                    </a:lnT>
                  </a:tcPr>
                </a:tc>
                <a:tc hMerge="1">
                  <a:txBody>
                    <a:bodyPr/>
                    <a:lstStyle/>
                    <a:p>
                      <a:endParaRPr/>
                    </a:p>
                  </a:txBody>
                  <a:tcPr marL="0" marR="0" marT="0" marB="0"/>
                </a:tc>
                <a:extLst>
                  <a:ext uri="{0D108BD9-81ED-4DB2-BD59-A6C34878D82A}">
                    <a16:rowId xmlns:a16="http://schemas.microsoft.com/office/drawing/2014/main" val="10000"/>
                  </a:ext>
                </a:extLst>
              </a:tr>
              <a:tr h="580390">
                <a:tc>
                  <a:txBody>
                    <a:bodyPr/>
                    <a:lstStyle/>
                    <a:p>
                      <a:pPr>
                        <a:lnSpc>
                          <a:spcPct val="100000"/>
                        </a:lnSpc>
                      </a:pPr>
                      <a:endParaRPr sz="2000">
                        <a:latin typeface="Times New Roman"/>
                        <a:cs typeface="Times New Roman"/>
                      </a:endParaRPr>
                    </a:p>
                  </a:txBody>
                  <a:tcPr marL="0" marR="0" marT="0" marB="0">
                    <a:lnL w="9525">
                      <a:solidFill>
                        <a:srgbClr val="E9E9E9"/>
                      </a:solidFill>
                      <a:prstDash val="solid"/>
                    </a:lnL>
                    <a:solidFill>
                      <a:srgbClr val="F5A700"/>
                    </a:solidFill>
                  </a:tcPr>
                </a:tc>
                <a:tc>
                  <a:txBody>
                    <a:bodyPr/>
                    <a:lstStyle/>
                    <a:p>
                      <a:pPr marL="476884">
                        <a:lnSpc>
                          <a:spcPts val="3900"/>
                        </a:lnSpc>
                      </a:pPr>
                      <a:r>
                        <a:rPr sz="3300" b="1" spc="-25" dirty="0">
                          <a:latin typeface="Tahoma"/>
                          <a:cs typeface="Tahoma"/>
                        </a:rPr>
                        <a:t>6.</a:t>
                      </a:r>
                      <a:r>
                        <a:rPr sz="3300" b="1" spc="-225" dirty="0">
                          <a:latin typeface="Tahoma"/>
                          <a:cs typeface="Tahoma"/>
                        </a:rPr>
                        <a:t> </a:t>
                      </a:r>
                      <a:r>
                        <a:rPr sz="3300" b="1" spc="-75" dirty="0">
                          <a:latin typeface="Tahoma"/>
                          <a:cs typeface="Tahoma"/>
                        </a:rPr>
                        <a:t>Discrete</a:t>
                      </a:r>
                      <a:r>
                        <a:rPr sz="3300" b="1" spc="-110" dirty="0">
                          <a:latin typeface="Tahoma"/>
                          <a:cs typeface="Tahoma"/>
                        </a:rPr>
                        <a:t> </a:t>
                      </a:r>
                      <a:r>
                        <a:rPr sz="3300" b="1" spc="-114" dirty="0">
                          <a:latin typeface="Tahoma"/>
                          <a:cs typeface="Tahoma"/>
                        </a:rPr>
                        <a:t>vs</a:t>
                      </a:r>
                      <a:r>
                        <a:rPr sz="3300" b="1" spc="-125" dirty="0">
                          <a:latin typeface="Tahoma"/>
                          <a:cs typeface="Tahoma"/>
                        </a:rPr>
                        <a:t> </a:t>
                      </a:r>
                      <a:r>
                        <a:rPr sz="3300" b="1" spc="-10" dirty="0">
                          <a:latin typeface="Tahoma"/>
                          <a:cs typeface="Tahoma"/>
                        </a:rPr>
                        <a:t>Continuous:</a:t>
                      </a:r>
                      <a:endParaRPr sz="3300">
                        <a:latin typeface="Tahoma"/>
                        <a:cs typeface="Tahoma"/>
                      </a:endParaRPr>
                    </a:p>
                  </a:txBody>
                  <a:tcPr marL="0" marR="0" marT="0" marB="0">
                    <a:lnR w="9525">
                      <a:solidFill>
                        <a:srgbClr val="E9E9E9"/>
                      </a:solidFill>
                      <a:prstDash val="solid"/>
                    </a:lnR>
                  </a:tcPr>
                </a:tc>
                <a:extLst>
                  <a:ext uri="{0D108BD9-81ED-4DB2-BD59-A6C34878D82A}">
                    <a16:rowId xmlns:a16="http://schemas.microsoft.com/office/drawing/2014/main" val="10001"/>
                  </a:ext>
                </a:extLst>
              </a:tr>
              <a:tr h="433705">
                <a:tc gridSpan="2">
                  <a:txBody>
                    <a:bodyPr/>
                    <a:lstStyle/>
                    <a:p>
                      <a:pPr>
                        <a:lnSpc>
                          <a:spcPct val="100000"/>
                        </a:lnSpc>
                      </a:pPr>
                      <a:endParaRPr sz="2000">
                        <a:latin typeface="Times New Roman"/>
                        <a:cs typeface="Times New Roman"/>
                      </a:endParaRPr>
                    </a:p>
                  </a:txBody>
                  <a:tcPr marL="0" marR="0" marT="0" marB="0">
                    <a:lnL w="9525">
                      <a:solidFill>
                        <a:srgbClr val="E9E9E9"/>
                      </a:solidFill>
                      <a:prstDash val="solid"/>
                    </a:lnL>
                    <a:lnR w="9525">
                      <a:solidFill>
                        <a:srgbClr val="E9E9E9"/>
                      </a:solidFill>
                      <a:prstDash val="solid"/>
                    </a:lnR>
                    <a:lnB w="9525">
                      <a:solidFill>
                        <a:srgbClr val="E9E9E9"/>
                      </a:solidFill>
                      <a:prstDash val="solid"/>
                    </a:lnB>
                  </a:tcPr>
                </a:tc>
                <a:tc hMerge="1">
                  <a:txBody>
                    <a:bodyPr/>
                    <a:lstStyle/>
                    <a:p>
                      <a:endParaRPr/>
                    </a:p>
                  </a:txBody>
                  <a:tcPr marL="0" marR="0" marT="0" marB="0"/>
                </a:tc>
                <a:extLst>
                  <a:ext uri="{0D108BD9-81ED-4DB2-BD59-A6C34878D82A}">
                    <a16:rowId xmlns:a16="http://schemas.microsoft.com/office/drawing/2014/main" val="10002"/>
                  </a:ext>
                </a:extLst>
              </a:tr>
            </a:tbl>
          </a:graphicData>
        </a:graphic>
      </p:graphicFrame>
      <p:sp>
        <p:nvSpPr>
          <p:cNvPr id="3" name="object 3"/>
          <p:cNvSpPr/>
          <p:nvPr/>
        </p:nvSpPr>
        <p:spPr>
          <a:xfrm>
            <a:off x="1185672" y="3645408"/>
            <a:ext cx="7923530" cy="304800"/>
          </a:xfrm>
          <a:custGeom>
            <a:avLst/>
            <a:gdLst/>
            <a:ahLst/>
            <a:cxnLst/>
            <a:rect l="l" t="t" r="r" b="b"/>
            <a:pathLst>
              <a:path w="7923530" h="304800">
                <a:moveTo>
                  <a:pt x="7923276" y="0"/>
                </a:moveTo>
                <a:lnTo>
                  <a:pt x="0" y="0"/>
                </a:lnTo>
                <a:lnTo>
                  <a:pt x="0" y="304800"/>
                </a:lnTo>
                <a:lnTo>
                  <a:pt x="7923276" y="304800"/>
                </a:lnTo>
                <a:lnTo>
                  <a:pt x="7923276" y="0"/>
                </a:lnTo>
                <a:close/>
              </a:path>
            </a:pathLst>
          </a:custGeom>
          <a:solidFill>
            <a:srgbClr val="FFFF00"/>
          </a:solidFill>
        </p:spPr>
        <p:txBody>
          <a:bodyPr wrap="square" lIns="0" tIns="0" rIns="0" bIns="0" rtlCol="0"/>
          <a:lstStyle/>
          <a:p>
            <a:endParaRPr/>
          </a:p>
        </p:txBody>
      </p:sp>
      <p:sp>
        <p:nvSpPr>
          <p:cNvPr id="4" name="object 4"/>
          <p:cNvSpPr/>
          <p:nvPr/>
        </p:nvSpPr>
        <p:spPr>
          <a:xfrm>
            <a:off x="1185672" y="5061203"/>
            <a:ext cx="424180" cy="304800"/>
          </a:xfrm>
          <a:custGeom>
            <a:avLst/>
            <a:gdLst/>
            <a:ahLst/>
            <a:cxnLst/>
            <a:rect l="l" t="t" r="r" b="b"/>
            <a:pathLst>
              <a:path w="424180" h="304800">
                <a:moveTo>
                  <a:pt x="423672" y="0"/>
                </a:moveTo>
                <a:lnTo>
                  <a:pt x="0" y="0"/>
                </a:lnTo>
                <a:lnTo>
                  <a:pt x="0" y="304800"/>
                </a:lnTo>
                <a:lnTo>
                  <a:pt x="423672" y="304800"/>
                </a:lnTo>
                <a:lnTo>
                  <a:pt x="423672" y="0"/>
                </a:lnTo>
                <a:close/>
              </a:path>
            </a:pathLst>
          </a:custGeom>
          <a:solidFill>
            <a:srgbClr val="FFFF00"/>
          </a:solidFill>
        </p:spPr>
        <p:txBody>
          <a:bodyPr wrap="square" lIns="0" tIns="0" rIns="0" bIns="0" rtlCol="0"/>
          <a:lstStyle/>
          <a:p>
            <a:endParaRPr/>
          </a:p>
        </p:txBody>
      </p:sp>
      <p:sp>
        <p:nvSpPr>
          <p:cNvPr id="5" name="object 5"/>
          <p:cNvSpPr/>
          <p:nvPr/>
        </p:nvSpPr>
        <p:spPr>
          <a:xfrm>
            <a:off x="1609344" y="5061203"/>
            <a:ext cx="7454265" cy="304800"/>
          </a:xfrm>
          <a:custGeom>
            <a:avLst/>
            <a:gdLst/>
            <a:ahLst/>
            <a:cxnLst/>
            <a:rect l="l" t="t" r="r" b="b"/>
            <a:pathLst>
              <a:path w="7454265" h="304800">
                <a:moveTo>
                  <a:pt x="7453884" y="0"/>
                </a:moveTo>
                <a:lnTo>
                  <a:pt x="80772" y="0"/>
                </a:lnTo>
                <a:lnTo>
                  <a:pt x="0" y="0"/>
                </a:lnTo>
                <a:lnTo>
                  <a:pt x="0" y="304800"/>
                </a:lnTo>
                <a:lnTo>
                  <a:pt x="80772" y="304800"/>
                </a:lnTo>
                <a:lnTo>
                  <a:pt x="7453884" y="304800"/>
                </a:lnTo>
                <a:lnTo>
                  <a:pt x="7453884" y="0"/>
                </a:lnTo>
                <a:close/>
              </a:path>
            </a:pathLst>
          </a:custGeom>
          <a:solidFill>
            <a:srgbClr val="FFFF00"/>
          </a:solidFill>
        </p:spPr>
        <p:txBody>
          <a:bodyPr wrap="square" lIns="0" tIns="0" rIns="0" bIns="0" rtlCol="0"/>
          <a:lstStyle/>
          <a:p>
            <a:endParaRPr/>
          </a:p>
        </p:txBody>
      </p:sp>
      <p:sp>
        <p:nvSpPr>
          <p:cNvPr id="6" name="object 6"/>
          <p:cNvSpPr txBox="1"/>
          <p:nvPr/>
        </p:nvSpPr>
        <p:spPr>
          <a:xfrm>
            <a:off x="982578" y="2613068"/>
            <a:ext cx="8082280" cy="2753995"/>
          </a:xfrm>
          <a:prstGeom prst="rect">
            <a:avLst/>
          </a:prstGeom>
        </p:spPr>
        <p:txBody>
          <a:bodyPr vert="horz" wrap="square" lIns="0" tIns="12065" rIns="0" bIns="0" rtlCol="0">
            <a:spAutoFit/>
          </a:bodyPr>
          <a:lstStyle/>
          <a:p>
            <a:pPr marL="200025" marR="59690" indent="-187960">
              <a:lnSpc>
                <a:spcPct val="101499"/>
              </a:lnSpc>
              <a:spcBef>
                <a:spcPts val="95"/>
              </a:spcBef>
              <a:buFont typeface="Arial MT"/>
              <a:buChar char="•"/>
              <a:tabLst>
                <a:tab pos="201295" algn="l"/>
              </a:tabLst>
            </a:pPr>
            <a:r>
              <a:rPr sz="1950" spc="-130" dirty="0">
                <a:latin typeface="Tahoma"/>
                <a:cs typeface="Tahoma"/>
              </a:rPr>
              <a:t>If</a:t>
            </a:r>
            <a:r>
              <a:rPr sz="1950" spc="15" dirty="0">
                <a:latin typeface="Tahoma"/>
                <a:cs typeface="Tahoma"/>
              </a:rPr>
              <a:t> </a:t>
            </a:r>
            <a:r>
              <a:rPr sz="1950" dirty="0">
                <a:latin typeface="Tahoma"/>
                <a:cs typeface="Tahoma"/>
              </a:rPr>
              <a:t>an</a:t>
            </a:r>
            <a:r>
              <a:rPr sz="1950" spc="-30" dirty="0">
                <a:latin typeface="Tahoma"/>
                <a:cs typeface="Tahoma"/>
              </a:rPr>
              <a:t> </a:t>
            </a:r>
            <a:r>
              <a:rPr sz="1950" spc="50" dirty="0">
                <a:latin typeface="Tahoma"/>
                <a:cs typeface="Tahoma"/>
              </a:rPr>
              <a:t>environment</a:t>
            </a:r>
            <a:r>
              <a:rPr sz="1950" dirty="0">
                <a:latin typeface="Tahoma"/>
                <a:cs typeface="Tahoma"/>
              </a:rPr>
              <a:t> consists</a:t>
            </a:r>
            <a:r>
              <a:rPr sz="1950" spc="-50" dirty="0">
                <a:latin typeface="Tahoma"/>
                <a:cs typeface="Tahoma"/>
              </a:rPr>
              <a:t> </a:t>
            </a:r>
            <a:r>
              <a:rPr sz="1950" spc="50" dirty="0">
                <a:latin typeface="Tahoma"/>
                <a:cs typeface="Tahoma"/>
              </a:rPr>
              <a:t>of</a:t>
            </a:r>
            <a:r>
              <a:rPr sz="1950" spc="20" dirty="0">
                <a:latin typeface="Tahoma"/>
                <a:cs typeface="Tahoma"/>
              </a:rPr>
              <a:t> </a:t>
            </a:r>
            <a:r>
              <a:rPr sz="1950" dirty="0">
                <a:latin typeface="Tahoma"/>
                <a:cs typeface="Tahoma"/>
              </a:rPr>
              <a:t>a</a:t>
            </a:r>
            <a:r>
              <a:rPr sz="1950" spc="-50" dirty="0">
                <a:latin typeface="Tahoma"/>
                <a:cs typeface="Tahoma"/>
              </a:rPr>
              <a:t> </a:t>
            </a:r>
            <a:r>
              <a:rPr sz="1950" dirty="0">
                <a:latin typeface="Tahoma"/>
                <a:cs typeface="Tahoma"/>
              </a:rPr>
              <a:t>finite</a:t>
            </a:r>
            <a:r>
              <a:rPr sz="1950" spc="-25" dirty="0">
                <a:latin typeface="Tahoma"/>
                <a:cs typeface="Tahoma"/>
              </a:rPr>
              <a:t> </a:t>
            </a:r>
            <a:r>
              <a:rPr sz="1950" spc="85" dirty="0">
                <a:latin typeface="Tahoma"/>
                <a:cs typeface="Tahoma"/>
              </a:rPr>
              <a:t>number</a:t>
            </a:r>
            <a:r>
              <a:rPr sz="1950" spc="-30" dirty="0">
                <a:latin typeface="Tahoma"/>
                <a:cs typeface="Tahoma"/>
              </a:rPr>
              <a:t> </a:t>
            </a:r>
            <a:r>
              <a:rPr sz="1950" spc="50" dirty="0">
                <a:latin typeface="Tahoma"/>
                <a:cs typeface="Tahoma"/>
              </a:rPr>
              <a:t>of</a:t>
            </a:r>
            <a:r>
              <a:rPr sz="1950" spc="20" dirty="0">
                <a:latin typeface="Tahoma"/>
                <a:cs typeface="Tahoma"/>
              </a:rPr>
              <a:t> </a:t>
            </a:r>
            <a:r>
              <a:rPr sz="1950" dirty="0">
                <a:latin typeface="Tahoma"/>
                <a:cs typeface="Tahoma"/>
              </a:rPr>
              <a:t>actions</a:t>
            </a:r>
            <a:r>
              <a:rPr sz="1950" spc="-50" dirty="0">
                <a:latin typeface="Tahoma"/>
                <a:cs typeface="Tahoma"/>
              </a:rPr>
              <a:t> </a:t>
            </a:r>
            <a:r>
              <a:rPr sz="1950" dirty="0">
                <a:latin typeface="Tahoma"/>
                <a:cs typeface="Tahoma"/>
              </a:rPr>
              <a:t>that</a:t>
            </a:r>
            <a:r>
              <a:rPr sz="1950" spc="-5" dirty="0">
                <a:latin typeface="Tahoma"/>
                <a:cs typeface="Tahoma"/>
              </a:rPr>
              <a:t> </a:t>
            </a:r>
            <a:r>
              <a:rPr sz="1950" spc="55" dirty="0">
                <a:latin typeface="Tahoma"/>
                <a:cs typeface="Tahoma"/>
              </a:rPr>
              <a:t>can</a:t>
            </a:r>
            <a:r>
              <a:rPr sz="1950" spc="-30" dirty="0">
                <a:latin typeface="Tahoma"/>
                <a:cs typeface="Tahoma"/>
              </a:rPr>
              <a:t> </a:t>
            </a:r>
            <a:r>
              <a:rPr sz="1950" spc="110" dirty="0">
                <a:latin typeface="Tahoma"/>
                <a:cs typeface="Tahoma"/>
              </a:rPr>
              <a:t>be 	</a:t>
            </a:r>
            <a:r>
              <a:rPr sz="1950" spc="80" dirty="0">
                <a:latin typeface="Tahoma"/>
                <a:cs typeface="Tahoma"/>
              </a:rPr>
              <a:t>deliberated</a:t>
            </a:r>
            <a:r>
              <a:rPr sz="1950" spc="-35" dirty="0">
                <a:latin typeface="Tahoma"/>
                <a:cs typeface="Tahoma"/>
              </a:rPr>
              <a:t> </a:t>
            </a:r>
            <a:r>
              <a:rPr sz="1950" spc="50" dirty="0">
                <a:latin typeface="Tahoma"/>
                <a:cs typeface="Tahoma"/>
              </a:rPr>
              <a:t>in</a:t>
            </a:r>
            <a:r>
              <a:rPr sz="1950" spc="-50" dirty="0">
                <a:latin typeface="Tahoma"/>
                <a:cs typeface="Tahoma"/>
              </a:rPr>
              <a:t> </a:t>
            </a:r>
            <a:r>
              <a:rPr sz="1950" dirty="0">
                <a:latin typeface="Tahoma"/>
                <a:cs typeface="Tahoma"/>
              </a:rPr>
              <a:t>the</a:t>
            </a:r>
            <a:r>
              <a:rPr sz="1950" spc="-45" dirty="0">
                <a:latin typeface="Tahoma"/>
                <a:cs typeface="Tahoma"/>
              </a:rPr>
              <a:t> </a:t>
            </a:r>
            <a:r>
              <a:rPr sz="1950" spc="50" dirty="0">
                <a:latin typeface="Tahoma"/>
                <a:cs typeface="Tahoma"/>
              </a:rPr>
              <a:t>environment</a:t>
            </a:r>
            <a:r>
              <a:rPr sz="1950" spc="-30" dirty="0">
                <a:latin typeface="Tahoma"/>
                <a:cs typeface="Tahoma"/>
              </a:rPr>
              <a:t> </a:t>
            </a:r>
            <a:r>
              <a:rPr sz="1950" spc="55" dirty="0">
                <a:latin typeface="Tahoma"/>
                <a:cs typeface="Tahoma"/>
              </a:rPr>
              <a:t>to</a:t>
            </a:r>
            <a:r>
              <a:rPr sz="1950" spc="-55" dirty="0">
                <a:latin typeface="Tahoma"/>
                <a:cs typeface="Tahoma"/>
              </a:rPr>
              <a:t> </a:t>
            </a:r>
            <a:r>
              <a:rPr sz="1950" spc="65" dirty="0">
                <a:latin typeface="Tahoma"/>
                <a:cs typeface="Tahoma"/>
              </a:rPr>
              <a:t>obtain</a:t>
            </a:r>
            <a:r>
              <a:rPr sz="1950" spc="-50" dirty="0">
                <a:latin typeface="Tahoma"/>
                <a:cs typeface="Tahoma"/>
              </a:rPr>
              <a:t> </a:t>
            </a:r>
            <a:r>
              <a:rPr sz="1950" dirty="0">
                <a:latin typeface="Tahoma"/>
                <a:cs typeface="Tahoma"/>
              </a:rPr>
              <a:t>the</a:t>
            </a:r>
            <a:r>
              <a:rPr sz="1950" spc="-45" dirty="0">
                <a:latin typeface="Tahoma"/>
                <a:cs typeface="Tahoma"/>
              </a:rPr>
              <a:t> </a:t>
            </a:r>
            <a:r>
              <a:rPr sz="1950" dirty="0">
                <a:latin typeface="Tahoma"/>
                <a:cs typeface="Tahoma"/>
              </a:rPr>
              <a:t>output,</a:t>
            </a:r>
            <a:r>
              <a:rPr sz="1950" spc="-110" dirty="0">
                <a:latin typeface="Tahoma"/>
                <a:cs typeface="Tahoma"/>
              </a:rPr>
              <a:t> </a:t>
            </a:r>
            <a:r>
              <a:rPr sz="1950" dirty="0">
                <a:latin typeface="Tahoma"/>
                <a:cs typeface="Tahoma"/>
              </a:rPr>
              <a:t>it</a:t>
            </a:r>
            <a:r>
              <a:rPr sz="1950" spc="-55" dirty="0">
                <a:latin typeface="Tahoma"/>
                <a:cs typeface="Tahoma"/>
              </a:rPr>
              <a:t> </a:t>
            </a:r>
            <a:r>
              <a:rPr sz="1950" dirty="0">
                <a:latin typeface="Tahoma"/>
                <a:cs typeface="Tahoma"/>
              </a:rPr>
              <a:t>is</a:t>
            </a:r>
            <a:r>
              <a:rPr sz="1950" spc="-65" dirty="0">
                <a:latin typeface="Tahoma"/>
                <a:cs typeface="Tahoma"/>
              </a:rPr>
              <a:t> </a:t>
            </a:r>
            <a:r>
              <a:rPr sz="1950" spc="55" dirty="0">
                <a:latin typeface="Tahoma"/>
                <a:cs typeface="Tahoma"/>
              </a:rPr>
              <a:t>said</a:t>
            </a:r>
            <a:r>
              <a:rPr sz="1950" spc="-60" dirty="0">
                <a:latin typeface="Tahoma"/>
                <a:cs typeface="Tahoma"/>
              </a:rPr>
              <a:t> </a:t>
            </a:r>
            <a:r>
              <a:rPr sz="1950" spc="55" dirty="0">
                <a:latin typeface="Tahoma"/>
                <a:cs typeface="Tahoma"/>
              </a:rPr>
              <a:t>to</a:t>
            </a:r>
            <a:r>
              <a:rPr sz="1950" spc="-40" dirty="0">
                <a:latin typeface="Tahoma"/>
                <a:cs typeface="Tahoma"/>
              </a:rPr>
              <a:t> </a:t>
            </a:r>
            <a:r>
              <a:rPr sz="1950" spc="135" dirty="0">
                <a:latin typeface="Tahoma"/>
                <a:cs typeface="Tahoma"/>
              </a:rPr>
              <a:t>be</a:t>
            </a:r>
            <a:r>
              <a:rPr sz="1950" spc="-70" dirty="0">
                <a:latin typeface="Tahoma"/>
                <a:cs typeface="Tahoma"/>
              </a:rPr>
              <a:t> </a:t>
            </a:r>
            <a:r>
              <a:rPr sz="1950" spc="-50" dirty="0">
                <a:latin typeface="Tahoma"/>
                <a:cs typeface="Tahoma"/>
              </a:rPr>
              <a:t>a 	</a:t>
            </a:r>
            <a:r>
              <a:rPr sz="1950" spc="55" dirty="0">
                <a:latin typeface="Tahoma"/>
                <a:cs typeface="Tahoma"/>
              </a:rPr>
              <a:t>discrete</a:t>
            </a:r>
            <a:r>
              <a:rPr sz="1950" spc="-100" dirty="0">
                <a:latin typeface="Tahoma"/>
                <a:cs typeface="Tahoma"/>
              </a:rPr>
              <a:t> </a:t>
            </a:r>
            <a:r>
              <a:rPr sz="1950" spc="-10" dirty="0">
                <a:latin typeface="Tahoma"/>
                <a:cs typeface="Tahoma"/>
              </a:rPr>
              <a:t>environment.</a:t>
            </a:r>
            <a:endParaRPr sz="1950">
              <a:latin typeface="Tahoma"/>
              <a:cs typeface="Tahoma"/>
            </a:endParaRPr>
          </a:p>
          <a:p>
            <a:pPr marL="200025" marR="5080" indent="-187960">
              <a:lnSpc>
                <a:spcPct val="101499"/>
              </a:lnSpc>
              <a:spcBef>
                <a:spcPts val="830"/>
              </a:spcBef>
              <a:buFont typeface="Arial MT"/>
              <a:buChar char="•"/>
              <a:tabLst>
                <a:tab pos="201295" algn="l"/>
              </a:tabLst>
            </a:pPr>
            <a:r>
              <a:rPr sz="1950" dirty="0">
                <a:latin typeface="Tahoma"/>
                <a:cs typeface="Tahoma"/>
              </a:rPr>
              <a:t>The</a:t>
            </a:r>
            <a:r>
              <a:rPr sz="1950" spc="-65" dirty="0">
                <a:latin typeface="Tahoma"/>
                <a:cs typeface="Tahoma"/>
              </a:rPr>
              <a:t> </a:t>
            </a:r>
            <a:r>
              <a:rPr sz="1950" spc="95" dirty="0">
                <a:latin typeface="Tahoma"/>
                <a:cs typeface="Tahoma"/>
              </a:rPr>
              <a:t>game</a:t>
            </a:r>
            <a:r>
              <a:rPr sz="1950" spc="-60" dirty="0">
                <a:latin typeface="Tahoma"/>
                <a:cs typeface="Tahoma"/>
              </a:rPr>
              <a:t> </a:t>
            </a:r>
            <a:r>
              <a:rPr sz="1950" spc="50" dirty="0">
                <a:latin typeface="Tahoma"/>
                <a:cs typeface="Tahoma"/>
              </a:rPr>
              <a:t>of</a:t>
            </a:r>
            <a:r>
              <a:rPr sz="1950" spc="-5" dirty="0">
                <a:latin typeface="Tahoma"/>
                <a:cs typeface="Tahoma"/>
              </a:rPr>
              <a:t> </a:t>
            </a:r>
            <a:r>
              <a:rPr sz="1950" dirty="0">
                <a:latin typeface="Tahoma"/>
                <a:cs typeface="Tahoma"/>
              </a:rPr>
              <a:t>chess</a:t>
            </a:r>
            <a:r>
              <a:rPr sz="1950" spc="-70" dirty="0">
                <a:latin typeface="Tahoma"/>
                <a:cs typeface="Tahoma"/>
              </a:rPr>
              <a:t> </a:t>
            </a:r>
            <a:r>
              <a:rPr sz="1950" dirty="0">
                <a:latin typeface="Tahoma"/>
                <a:cs typeface="Tahoma"/>
              </a:rPr>
              <a:t>is</a:t>
            </a:r>
            <a:r>
              <a:rPr sz="1950" spc="-65" dirty="0">
                <a:latin typeface="Tahoma"/>
                <a:cs typeface="Tahoma"/>
              </a:rPr>
              <a:t> </a:t>
            </a:r>
            <a:r>
              <a:rPr sz="1950" spc="50" dirty="0">
                <a:latin typeface="Tahoma"/>
                <a:cs typeface="Tahoma"/>
              </a:rPr>
              <a:t>discrete</a:t>
            </a:r>
            <a:r>
              <a:rPr sz="1950" spc="-45" dirty="0">
                <a:latin typeface="Tahoma"/>
                <a:cs typeface="Tahoma"/>
              </a:rPr>
              <a:t> </a:t>
            </a:r>
            <a:r>
              <a:rPr sz="1950" dirty="0">
                <a:latin typeface="Tahoma"/>
                <a:cs typeface="Tahoma"/>
              </a:rPr>
              <a:t>as</a:t>
            </a:r>
            <a:r>
              <a:rPr sz="1950" spc="-70" dirty="0">
                <a:latin typeface="Tahoma"/>
                <a:cs typeface="Tahoma"/>
              </a:rPr>
              <a:t> </a:t>
            </a:r>
            <a:r>
              <a:rPr sz="1950" dirty="0">
                <a:latin typeface="Tahoma"/>
                <a:cs typeface="Tahoma"/>
              </a:rPr>
              <a:t>it</a:t>
            </a:r>
            <a:r>
              <a:rPr sz="1950" spc="-65" dirty="0">
                <a:latin typeface="Tahoma"/>
                <a:cs typeface="Tahoma"/>
              </a:rPr>
              <a:t> </a:t>
            </a:r>
            <a:r>
              <a:rPr sz="1950" dirty="0">
                <a:latin typeface="Tahoma"/>
                <a:cs typeface="Tahoma"/>
              </a:rPr>
              <a:t>has</a:t>
            </a:r>
            <a:r>
              <a:rPr sz="1950" spc="-60" dirty="0">
                <a:latin typeface="Tahoma"/>
                <a:cs typeface="Tahoma"/>
              </a:rPr>
              <a:t> </a:t>
            </a:r>
            <a:r>
              <a:rPr sz="1950" spc="55" dirty="0">
                <a:latin typeface="Tahoma"/>
                <a:cs typeface="Tahoma"/>
              </a:rPr>
              <a:t>only</a:t>
            </a:r>
            <a:r>
              <a:rPr sz="1950" spc="-60" dirty="0">
                <a:latin typeface="Tahoma"/>
                <a:cs typeface="Tahoma"/>
              </a:rPr>
              <a:t> </a:t>
            </a:r>
            <a:r>
              <a:rPr sz="1950" dirty="0">
                <a:latin typeface="Tahoma"/>
                <a:cs typeface="Tahoma"/>
              </a:rPr>
              <a:t>a</a:t>
            </a:r>
            <a:r>
              <a:rPr sz="1950" spc="-65" dirty="0">
                <a:latin typeface="Tahoma"/>
                <a:cs typeface="Tahoma"/>
              </a:rPr>
              <a:t> </a:t>
            </a:r>
            <a:r>
              <a:rPr sz="1950" dirty="0">
                <a:latin typeface="Tahoma"/>
                <a:cs typeface="Tahoma"/>
              </a:rPr>
              <a:t>finite</a:t>
            </a:r>
            <a:r>
              <a:rPr sz="1950" spc="-45" dirty="0">
                <a:latin typeface="Tahoma"/>
                <a:cs typeface="Tahoma"/>
              </a:rPr>
              <a:t> </a:t>
            </a:r>
            <a:r>
              <a:rPr sz="1950" spc="85" dirty="0">
                <a:latin typeface="Tahoma"/>
                <a:cs typeface="Tahoma"/>
              </a:rPr>
              <a:t>number</a:t>
            </a:r>
            <a:r>
              <a:rPr sz="1950" spc="-50" dirty="0">
                <a:latin typeface="Tahoma"/>
                <a:cs typeface="Tahoma"/>
              </a:rPr>
              <a:t> </a:t>
            </a:r>
            <a:r>
              <a:rPr sz="1950" spc="50" dirty="0">
                <a:latin typeface="Tahoma"/>
                <a:cs typeface="Tahoma"/>
              </a:rPr>
              <a:t>of</a:t>
            </a:r>
            <a:r>
              <a:rPr sz="1950" spc="-5" dirty="0">
                <a:latin typeface="Tahoma"/>
                <a:cs typeface="Tahoma"/>
              </a:rPr>
              <a:t> </a:t>
            </a:r>
            <a:r>
              <a:rPr sz="1950" spc="-10" dirty="0">
                <a:latin typeface="Tahoma"/>
                <a:cs typeface="Tahoma"/>
              </a:rPr>
              <a:t>moves. 	</a:t>
            </a:r>
            <a:r>
              <a:rPr sz="1950" dirty="0">
                <a:latin typeface="Tahoma"/>
                <a:cs typeface="Tahoma"/>
              </a:rPr>
              <a:t>The</a:t>
            </a:r>
            <a:r>
              <a:rPr sz="1950" spc="-80" dirty="0">
                <a:latin typeface="Tahoma"/>
                <a:cs typeface="Tahoma"/>
              </a:rPr>
              <a:t> </a:t>
            </a:r>
            <a:r>
              <a:rPr sz="1950" spc="85" dirty="0">
                <a:latin typeface="Tahoma"/>
                <a:cs typeface="Tahoma"/>
              </a:rPr>
              <a:t>number</a:t>
            </a:r>
            <a:r>
              <a:rPr sz="1950" spc="-85" dirty="0">
                <a:latin typeface="Tahoma"/>
                <a:cs typeface="Tahoma"/>
              </a:rPr>
              <a:t> </a:t>
            </a:r>
            <a:r>
              <a:rPr sz="1950" spc="50" dirty="0">
                <a:latin typeface="Tahoma"/>
                <a:cs typeface="Tahoma"/>
              </a:rPr>
              <a:t>of</a:t>
            </a:r>
            <a:r>
              <a:rPr sz="1950" spc="-25" dirty="0">
                <a:latin typeface="Tahoma"/>
                <a:cs typeface="Tahoma"/>
              </a:rPr>
              <a:t> </a:t>
            </a:r>
            <a:r>
              <a:rPr sz="1950" spc="60" dirty="0">
                <a:latin typeface="Tahoma"/>
                <a:cs typeface="Tahoma"/>
              </a:rPr>
              <a:t>moves</a:t>
            </a:r>
            <a:r>
              <a:rPr sz="1950" spc="-75" dirty="0">
                <a:latin typeface="Tahoma"/>
                <a:cs typeface="Tahoma"/>
              </a:rPr>
              <a:t> </a:t>
            </a:r>
            <a:r>
              <a:rPr sz="1950" spc="65" dirty="0">
                <a:latin typeface="Tahoma"/>
                <a:cs typeface="Tahoma"/>
              </a:rPr>
              <a:t>might</a:t>
            </a:r>
            <a:r>
              <a:rPr sz="1950" spc="-80" dirty="0">
                <a:latin typeface="Tahoma"/>
                <a:cs typeface="Tahoma"/>
              </a:rPr>
              <a:t> </a:t>
            </a:r>
            <a:r>
              <a:rPr sz="1950" dirty="0">
                <a:latin typeface="Tahoma"/>
                <a:cs typeface="Tahoma"/>
              </a:rPr>
              <a:t>vary</a:t>
            </a:r>
            <a:r>
              <a:rPr sz="1950" spc="-50" dirty="0">
                <a:latin typeface="Tahoma"/>
                <a:cs typeface="Tahoma"/>
              </a:rPr>
              <a:t> </a:t>
            </a:r>
            <a:r>
              <a:rPr sz="1950" dirty="0">
                <a:latin typeface="Tahoma"/>
                <a:cs typeface="Tahoma"/>
              </a:rPr>
              <a:t>with</a:t>
            </a:r>
            <a:r>
              <a:rPr sz="1950" spc="-75" dirty="0">
                <a:latin typeface="Tahoma"/>
                <a:cs typeface="Tahoma"/>
              </a:rPr>
              <a:t> </a:t>
            </a:r>
            <a:r>
              <a:rPr sz="1950" dirty="0">
                <a:latin typeface="Tahoma"/>
                <a:cs typeface="Tahoma"/>
              </a:rPr>
              <a:t>every</a:t>
            </a:r>
            <a:r>
              <a:rPr sz="1950" spc="-50" dirty="0">
                <a:latin typeface="Tahoma"/>
                <a:cs typeface="Tahoma"/>
              </a:rPr>
              <a:t> </a:t>
            </a:r>
            <a:r>
              <a:rPr sz="1950" spc="60" dirty="0">
                <a:latin typeface="Tahoma"/>
                <a:cs typeface="Tahoma"/>
              </a:rPr>
              <a:t>game,</a:t>
            </a:r>
            <a:r>
              <a:rPr sz="1950" spc="-130" dirty="0">
                <a:latin typeface="Tahoma"/>
                <a:cs typeface="Tahoma"/>
              </a:rPr>
              <a:t> </a:t>
            </a:r>
            <a:r>
              <a:rPr sz="1950" spc="75" dirty="0">
                <a:latin typeface="Tahoma"/>
                <a:cs typeface="Tahoma"/>
              </a:rPr>
              <a:t>but</a:t>
            </a:r>
            <a:r>
              <a:rPr sz="1950" spc="-75" dirty="0">
                <a:latin typeface="Tahoma"/>
                <a:cs typeface="Tahoma"/>
              </a:rPr>
              <a:t> </a:t>
            </a:r>
            <a:r>
              <a:rPr sz="1950" dirty="0">
                <a:latin typeface="Tahoma"/>
                <a:cs typeface="Tahoma"/>
              </a:rPr>
              <a:t>still,</a:t>
            </a:r>
            <a:r>
              <a:rPr sz="1950" spc="-160" dirty="0">
                <a:latin typeface="Tahoma"/>
                <a:cs typeface="Tahoma"/>
              </a:rPr>
              <a:t> </a:t>
            </a:r>
            <a:r>
              <a:rPr sz="1950" dirty="0">
                <a:latin typeface="Tahoma"/>
                <a:cs typeface="Tahoma"/>
              </a:rPr>
              <a:t>it’s</a:t>
            </a:r>
            <a:r>
              <a:rPr sz="1950" spc="-80" dirty="0">
                <a:latin typeface="Tahoma"/>
                <a:cs typeface="Tahoma"/>
              </a:rPr>
              <a:t> </a:t>
            </a:r>
            <a:r>
              <a:rPr sz="1950" spc="-10" dirty="0">
                <a:latin typeface="Tahoma"/>
                <a:cs typeface="Tahoma"/>
              </a:rPr>
              <a:t>finite.</a:t>
            </a:r>
            <a:endParaRPr sz="1950">
              <a:latin typeface="Tahoma"/>
              <a:cs typeface="Tahoma"/>
            </a:endParaRPr>
          </a:p>
          <a:p>
            <a:pPr marL="200025" marR="662940" indent="-187960">
              <a:lnSpc>
                <a:spcPct val="101499"/>
              </a:lnSpc>
              <a:spcBef>
                <a:spcPts val="825"/>
              </a:spcBef>
              <a:buFont typeface="Arial MT"/>
              <a:buChar char="•"/>
              <a:tabLst>
                <a:tab pos="201295" algn="l"/>
              </a:tabLst>
            </a:pPr>
            <a:r>
              <a:rPr sz="1950" dirty="0">
                <a:latin typeface="Tahoma"/>
                <a:cs typeface="Tahoma"/>
              </a:rPr>
              <a:t>The</a:t>
            </a:r>
            <a:r>
              <a:rPr sz="1950" spc="-35" dirty="0">
                <a:latin typeface="Tahoma"/>
                <a:cs typeface="Tahoma"/>
              </a:rPr>
              <a:t> </a:t>
            </a:r>
            <a:r>
              <a:rPr sz="1950" spc="50" dirty="0">
                <a:latin typeface="Tahoma"/>
                <a:cs typeface="Tahoma"/>
              </a:rPr>
              <a:t>environment</a:t>
            </a:r>
            <a:r>
              <a:rPr sz="1950" dirty="0">
                <a:latin typeface="Tahoma"/>
                <a:cs typeface="Tahoma"/>
              </a:rPr>
              <a:t> </a:t>
            </a:r>
            <a:r>
              <a:rPr sz="1950" spc="50" dirty="0">
                <a:latin typeface="Tahoma"/>
                <a:cs typeface="Tahoma"/>
              </a:rPr>
              <a:t>in</a:t>
            </a:r>
            <a:r>
              <a:rPr sz="1950" spc="-25" dirty="0">
                <a:latin typeface="Tahoma"/>
                <a:cs typeface="Tahoma"/>
              </a:rPr>
              <a:t> </a:t>
            </a:r>
            <a:r>
              <a:rPr sz="1950" spc="50" dirty="0">
                <a:latin typeface="Tahoma"/>
                <a:cs typeface="Tahoma"/>
              </a:rPr>
              <a:t>which</a:t>
            </a:r>
            <a:r>
              <a:rPr sz="1950" spc="-30" dirty="0">
                <a:latin typeface="Tahoma"/>
                <a:cs typeface="Tahoma"/>
              </a:rPr>
              <a:t> </a:t>
            </a:r>
            <a:r>
              <a:rPr sz="1950" dirty="0">
                <a:latin typeface="Tahoma"/>
                <a:cs typeface="Tahoma"/>
              </a:rPr>
              <a:t>the</a:t>
            </a:r>
            <a:r>
              <a:rPr sz="1950" spc="-10" dirty="0">
                <a:latin typeface="Tahoma"/>
                <a:cs typeface="Tahoma"/>
              </a:rPr>
              <a:t> </a:t>
            </a:r>
            <a:r>
              <a:rPr sz="1950" dirty="0">
                <a:latin typeface="Tahoma"/>
                <a:cs typeface="Tahoma"/>
              </a:rPr>
              <a:t>actions</a:t>
            </a:r>
            <a:r>
              <a:rPr sz="1950" spc="-25" dirty="0">
                <a:latin typeface="Tahoma"/>
                <a:cs typeface="Tahoma"/>
              </a:rPr>
              <a:t> </a:t>
            </a:r>
            <a:r>
              <a:rPr sz="1950" dirty="0">
                <a:latin typeface="Tahoma"/>
                <a:cs typeface="Tahoma"/>
              </a:rPr>
              <a:t>are</a:t>
            </a:r>
            <a:r>
              <a:rPr sz="1950" spc="-30" dirty="0">
                <a:latin typeface="Tahoma"/>
                <a:cs typeface="Tahoma"/>
              </a:rPr>
              <a:t> </a:t>
            </a:r>
            <a:r>
              <a:rPr sz="1950" spc="80" dirty="0">
                <a:latin typeface="Tahoma"/>
                <a:cs typeface="Tahoma"/>
              </a:rPr>
              <a:t>performed</a:t>
            </a:r>
            <a:r>
              <a:rPr sz="1950" spc="-30" dirty="0">
                <a:latin typeface="Tahoma"/>
                <a:cs typeface="Tahoma"/>
              </a:rPr>
              <a:t> </a:t>
            </a:r>
            <a:r>
              <a:rPr sz="1950" spc="55" dirty="0">
                <a:latin typeface="Tahoma"/>
                <a:cs typeface="Tahoma"/>
              </a:rPr>
              <a:t>cannot</a:t>
            </a:r>
            <a:r>
              <a:rPr sz="1950" spc="-20" dirty="0">
                <a:latin typeface="Tahoma"/>
                <a:cs typeface="Tahoma"/>
              </a:rPr>
              <a:t> </a:t>
            </a:r>
            <a:r>
              <a:rPr sz="1950" spc="110" dirty="0">
                <a:latin typeface="Tahoma"/>
                <a:cs typeface="Tahoma"/>
              </a:rPr>
              <a:t>be 	</a:t>
            </a:r>
            <a:r>
              <a:rPr sz="1950" spc="90" dirty="0">
                <a:latin typeface="Tahoma"/>
                <a:cs typeface="Tahoma"/>
              </a:rPr>
              <a:t>numbered</a:t>
            </a:r>
            <a:r>
              <a:rPr sz="1950" spc="-40" dirty="0">
                <a:latin typeface="Tahoma"/>
                <a:cs typeface="Tahoma"/>
              </a:rPr>
              <a:t> </a:t>
            </a:r>
            <a:r>
              <a:rPr sz="1950" spc="-10" dirty="0">
                <a:latin typeface="Tahoma"/>
                <a:cs typeface="Tahoma"/>
              </a:rPr>
              <a:t>i.e.</a:t>
            </a:r>
            <a:r>
              <a:rPr sz="1950" spc="-114" dirty="0">
                <a:latin typeface="Tahoma"/>
                <a:cs typeface="Tahoma"/>
              </a:rPr>
              <a:t> </a:t>
            </a:r>
            <a:r>
              <a:rPr sz="1950" dirty="0">
                <a:latin typeface="Tahoma"/>
                <a:cs typeface="Tahoma"/>
              </a:rPr>
              <a:t>is</a:t>
            </a:r>
            <a:r>
              <a:rPr sz="1950" spc="-55" dirty="0">
                <a:latin typeface="Tahoma"/>
                <a:cs typeface="Tahoma"/>
              </a:rPr>
              <a:t> </a:t>
            </a:r>
            <a:r>
              <a:rPr sz="1950" spc="55" dirty="0">
                <a:latin typeface="Tahoma"/>
                <a:cs typeface="Tahoma"/>
              </a:rPr>
              <a:t>not</a:t>
            </a:r>
            <a:r>
              <a:rPr sz="1950" spc="-55" dirty="0">
                <a:latin typeface="Tahoma"/>
                <a:cs typeface="Tahoma"/>
              </a:rPr>
              <a:t> </a:t>
            </a:r>
            <a:r>
              <a:rPr sz="1950" dirty="0">
                <a:latin typeface="Tahoma"/>
                <a:cs typeface="Tahoma"/>
              </a:rPr>
              <a:t>discrete,</a:t>
            </a:r>
            <a:r>
              <a:rPr sz="1950" spc="-105" dirty="0">
                <a:latin typeface="Tahoma"/>
                <a:cs typeface="Tahoma"/>
              </a:rPr>
              <a:t> </a:t>
            </a:r>
            <a:r>
              <a:rPr sz="1950" dirty="0">
                <a:latin typeface="Tahoma"/>
                <a:cs typeface="Tahoma"/>
              </a:rPr>
              <a:t>is</a:t>
            </a:r>
            <a:r>
              <a:rPr sz="1950" spc="-70" dirty="0">
                <a:latin typeface="Tahoma"/>
                <a:cs typeface="Tahoma"/>
              </a:rPr>
              <a:t> </a:t>
            </a:r>
            <a:r>
              <a:rPr sz="1950" spc="55" dirty="0">
                <a:latin typeface="Tahoma"/>
                <a:cs typeface="Tahoma"/>
              </a:rPr>
              <a:t>said</a:t>
            </a:r>
            <a:r>
              <a:rPr sz="1950" spc="-55" dirty="0">
                <a:latin typeface="Tahoma"/>
                <a:cs typeface="Tahoma"/>
              </a:rPr>
              <a:t> </a:t>
            </a:r>
            <a:r>
              <a:rPr sz="1950" spc="55" dirty="0">
                <a:latin typeface="Tahoma"/>
                <a:cs typeface="Tahoma"/>
              </a:rPr>
              <a:t>to</a:t>
            </a:r>
            <a:r>
              <a:rPr sz="1950" spc="-55" dirty="0">
                <a:latin typeface="Tahoma"/>
                <a:cs typeface="Tahoma"/>
              </a:rPr>
              <a:t> </a:t>
            </a:r>
            <a:r>
              <a:rPr sz="1950" spc="135" dirty="0">
                <a:latin typeface="Tahoma"/>
                <a:cs typeface="Tahoma"/>
              </a:rPr>
              <a:t>be</a:t>
            </a:r>
            <a:r>
              <a:rPr sz="1950" spc="-55" dirty="0">
                <a:latin typeface="Tahoma"/>
                <a:cs typeface="Tahoma"/>
              </a:rPr>
              <a:t> </a:t>
            </a:r>
            <a:r>
              <a:rPr sz="1950" spc="-10" dirty="0">
                <a:latin typeface="Tahoma"/>
                <a:cs typeface="Tahoma"/>
              </a:rPr>
              <a:t>continuous.</a:t>
            </a:r>
            <a:endParaRPr sz="1950">
              <a:latin typeface="Tahoma"/>
              <a:cs typeface="Tahoma"/>
            </a:endParaRPr>
          </a:p>
          <a:p>
            <a:pPr marL="200660" indent="-187960">
              <a:lnSpc>
                <a:spcPct val="100000"/>
              </a:lnSpc>
              <a:spcBef>
                <a:spcPts val="855"/>
              </a:spcBef>
              <a:buFont typeface="Arial MT"/>
              <a:buChar char="•"/>
              <a:tabLst>
                <a:tab pos="200660" algn="l"/>
              </a:tabLst>
            </a:pPr>
            <a:r>
              <a:rPr sz="1950" dirty="0">
                <a:latin typeface="Tahoma"/>
                <a:cs typeface="Tahoma"/>
              </a:rPr>
              <a:t>Self-</a:t>
            </a:r>
            <a:r>
              <a:rPr sz="1950" spc="65" dirty="0">
                <a:latin typeface="Tahoma"/>
                <a:cs typeface="Tahoma"/>
              </a:rPr>
              <a:t>driving</a:t>
            </a:r>
            <a:r>
              <a:rPr sz="1950" spc="-30" dirty="0">
                <a:latin typeface="Tahoma"/>
                <a:cs typeface="Tahoma"/>
              </a:rPr>
              <a:t> </a:t>
            </a:r>
            <a:r>
              <a:rPr sz="1950" spc="10" dirty="0">
                <a:latin typeface="Tahoma"/>
                <a:cs typeface="Tahoma"/>
              </a:rPr>
              <a:t>cars</a:t>
            </a:r>
            <a:r>
              <a:rPr sz="1950" spc="-30" dirty="0">
                <a:latin typeface="Tahoma"/>
                <a:cs typeface="Tahoma"/>
              </a:rPr>
              <a:t> </a:t>
            </a:r>
            <a:r>
              <a:rPr sz="1950" spc="10" dirty="0">
                <a:latin typeface="Tahoma"/>
                <a:cs typeface="Tahoma"/>
              </a:rPr>
              <a:t>are</a:t>
            </a:r>
            <a:r>
              <a:rPr sz="1950" spc="-30" dirty="0">
                <a:latin typeface="Tahoma"/>
                <a:cs typeface="Tahoma"/>
              </a:rPr>
              <a:t> </a:t>
            </a:r>
            <a:r>
              <a:rPr sz="1950" spc="10" dirty="0">
                <a:latin typeface="Tahoma"/>
                <a:cs typeface="Tahoma"/>
              </a:rPr>
              <a:t>an</a:t>
            </a:r>
            <a:r>
              <a:rPr sz="1950" spc="-20" dirty="0">
                <a:latin typeface="Tahoma"/>
                <a:cs typeface="Tahoma"/>
              </a:rPr>
              <a:t> </a:t>
            </a:r>
            <a:r>
              <a:rPr sz="1950" spc="70" dirty="0">
                <a:latin typeface="Tahoma"/>
                <a:cs typeface="Tahoma"/>
              </a:rPr>
              <a:t>example</a:t>
            </a:r>
            <a:r>
              <a:rPr sz="1950" spc="-15" dirty="0">
                <a:latin typeface="Tahoma"/>
                <a:cs typeface="Tahoma"/>
              </a:rPr>
              <a:t> </a:t>
            </a:r>
            <a:r>
              <a:rPr sz="1950" spc="50" dirty="0">
                <a:latin typeface="Tahoma"/>
                <a:cs typeface="Tahoma"/>
              </a:rPr>
              <a:t>of</a:t>
            </a:r>
            <a:r>
              <a:rPr sz="1950" spc="30" dirty="0">
                <a:latin typeface="Tahoma"/>
                <a:cs typeface="Tahoma"/>
              </a:rPr>
              <a:t> </a:t>
            </a:r>
            <a:r>
              <a:rPr sz="1950" spc="55" dirty="0">
                <a:latin typeface="Tahoma"/>
                <a:cs typeface="Tahoma"/>
              </a:rPr>
              <a:t>continuous</a:t>
            </a:r>
            <a:r>
              <a:rPr sz="1950" spc="-45" dirty="0">
                <a:latin typeface="Tahoma"/>
                <a:cs typeface="Tahoma"/>
              </a:rPr>
              <a:t> </a:t>
            </a:r>
            <a:r>
              <a:rPr sz="1950" spc="10" dirty="0">
                <a:latin typeface="Tahoma"/>
                <a:cs typeface="Tahoma"/>
              </a:rPr>
              <a:t>environments</a:t>
            </a:r>
            <a:r>
              <a:rPr sz="1950" spc="20" dirty="0">
                <a:latin typeface="Tahoma"/>
                <a:cs typeface="Tahoma"/>
              </a:rPr>
              <a:t> </a:t>
            </a:r>
            <a:r>
              <a:rPr sz="1950" spc="10" dirty="0">
                <a:latin typeface="Tahoma"/>
                <a:cs typeface="Tahoma"/>
              </a:rPr>
              <a:t>as</a:t>
            </a:r>
            <a:r>
              <a:rPr sz="1950" spc="-30" dirty="0">
                <a:latin typeface="Tahoma"/>
                <a:cs typeface="Tahoma"/>
              </a:rPr>
              <a:t> </a:t>
            </a:r>
            <a:r>
              <a:rPr sz="1950" spc="-10" dirty="0">
                <a:latin typeface="Tahoma"/>
                <a:cs typeface="Tahoma"/>
              </a:rPr>
              <a:t>their</a:t>
            </a:r>
            <a:endParaRPr sz="1950">
              <a:latin typeface="Tahoma"/>
              <a:cs typeface="Tahoma"/>
            </a:endParaRPr>
          </a:p>
        </p:txBody>
      </p:sp>
      <p:sp>
        <p:nvSpPr>
          <p:cNvPr id="7" name="object 7"/>
          <p:cNvSpPr txBox="1"/>
          <p:nvPr/>
        </p:nvSpPr>
        <p:spPr>
          <a:xfrm>
            <a:off x="1185672" y="5366003"/>
            <a:ext cx="6938009" cy="302260"/>
          </a:xfrm>
          <a:prstGeom prst="rect">
            <a:avLst/>
          </a:prstGeom>
          <a:solidFill>
            <a:srgbClr val="FFFF00"/>
          </a:solidFill>
        </p:spPr>
        <p:txBody>
          <a:bodyPr vert="horz" wrap="square" lIns="0" tIns="0" rIns="0" bIns="0" rtlCol="0">
            <a:spAutoFit/>
          </a:bodyPr>
          <a:lstStyle/>
          <a:p>
            <a:pPr>
              <a:lnSpc>
                <a:spcPts val="2275"/>
              </a:lnSpc>
            </a:pPr>
            <a:r>
              <a:rPr sz="1950" dirty="0">
                <a:latin typeface="Tahoma"/>
                <a:cs typeface="Tahoma"/>
              </a:rPr>
              <a:t>actions</a:t>
            </a:r>
            <a:r>
              <a:rPr sz="1950" spc="-40" dirty="0">
                <a:latin typeface="Tahoma"/>
                <a:cs typeface="Tahoma"/>
              </a:rPr>
              <a:t> </a:t>
            </a:r>
            <a:r>
              <a:rPr sz="1950" dirty="0">
                <a:latin typeface="Tahoma"/>
                <a:cs typeface="Tahoma"/>
              </a:rPr>
              <a:t>are</a:t>
            </a:r>
            <a:r>
              <a:rPr sz="1950" spc="-50" dirty="0">
                <a:latin typeface="Tahoma"/>
                <a:cs typeface="Tahoma"/>
              </a:rPr>
              <a:t> </a:t>
            </a:r>
            <a:r>
              <a:rPr sz="1950" spc="50" dirty="0">
                <a:latin typeface="Tahoma"/>
                <a:cs typeface="Tahoma"/>
              </a:rPr>
              <a:t>driving,</a:t>
            </a:r>
            <a:r>
              <a:rPr sz="1950" spc="-95" dirty="0">
                <a:latin typeface="Tahoma"/>
                <a:cs typeface="Tahoma"/>
              </a:rPr>
              <a:t> </a:t>
            </a:r>
            <a:r>
              <a:rPr sz="1950" spc="55" dirty="0">
                <a:latin typeface="Tahoma"/>
                <a:cs typeface="Tahoma"/>
              </a:rPr>
              <a:t>parking,</a:t>
            </a:r>
            <a:r>
              <a:rPr sz="1950" spc="-90" dirty="0">
                <a:latin typeface="Tahoma"/>
                <a:cs typeface="Tahoma"/>
              </a:rPr>
              <a:t> </a:t>
            </a:r>
            <a:r>
              <a:rPr sz="1950" dirty="0">
                <a:latin typeface="Tahoma"/>
                <a:cs typeface="Tahoma"/>
              </a:rPr>
              <a:t>etc.</a:t>
            </a:r>
            <a:r>
              <a:rPr sz="1950" spc="-105" dirty="0">
                <a:latin typeface="Tahoma"/>
                <a:cs typeface="Tahoma"/>
              </a:rPr>
              <a:t> </a:t>
            </a:r>
            <a:r>
              <a:rPr sz="1950" spc="50" dirty="0">
                <a:latin typeface="Tahoma"/>
                <a:cs typeface="Tahoma"/>
              </a:rPr>
              <a:t>which</a:t>
            </a:r>
            <a:r>
              <a:rPr sz="1950" spc="-45" dirty="0">
                <a:latin typeface="Tahoma"/>
                <a:cs typeface="Tahoma"/>
              </a:rPr>
              <a:t> </a:t>
            </a:r>
            <a:r>
              <a:rPr sz="1950" spc="55" dirty="0">
                <a:latin typeface="Tahoma"/>
                <a:cs typeface="Tahoma"/>
              </a:rPr>
              <a:t>cannot</a:t>
            </a:r>
            <a:r>
              <a:rPr sz="1950" spc="-30" dirty="0">
                <a:latin typeface="Tahoma"/>
                <a:cs typeface="Tahoma"/>
              </a:rPr>
              <a:t> </a:t>
            </a:r>
            <a:r>
              <a:rPr sz="1950" spc="135" dirty="0">
                <a:latin typeface="Tahoma"/>
                <a:cs typeface="Tahoma"/>
              </a:rPr>
              <a:t>be</a:t>
            </a:r>
            <a:r>
              <a:rPr sz="1950" spc="-45" dirty="0">
                <a:latin typeface="Tahoma"/>
                <a:cs typeface="Tahoma"/>
              </a:rPr>
              <a:t> </a:t>
            </a:r>
            <a:r>
              <a:rPr sz="1950" spc="65" dirty="0">
                <a:latin typeface="Tahoma"/>
                <a:cs typeface="Tahoma"/>
              </a:rPr>
              <a:t>numbered.</a:t>
            </a:r>
            <a:endParaRPr sz="1950">
              <a:latin typeface="Tahoma"/>
              <a:cs typeface="Tahom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409193" y="1053845"/>
          <a:ext cx="9228455" cy="1664335"/>
        </p:xfrm>
        <a:graphic>
          <a:graphicData uri="http://schemas.openxmlformats.org/drawingml/2006/table">
            <a:tbl>
              <a:tblPr firstRow="1" bandRow="1">
                <a:tableStyleId>{2D5ABB26-0587-4C30-8999-92F81FD0307C}</a:tableStyleId>
              </a:tblPr>
              <a:tblGrid>
                <a:gridCol w="72390">
                  <a:extLst>
                    <a:ext uri="{9D8B030D-6E8A-4147-A177-3AD203B41FA5}">
                      <a16:colId xmlns:a16="http://schemas.microsoft.com/office/drawing/2014/main" val="20000"/>
                    </a:ext>
                  </a:extLst>
                </a:gridCol>
                <a:gridCol w="9156065">
                  <a:extLst>
                    <a:ext uri="{9D8B030D-6E8A-4147-A177-3AD203B41FA5}">
                      <a16:colId xmlns:a16="http://schemas.microsoft.com/office/drawing/2014/main" val="20001"/>
                    </a:ext>
                  </a:extLst>
                </a:gridCol>
              </a:tblGrid>
              <a:tr h="650240">
                <a:tc gridSpan="2">
                  <a:txBody>
                    <a:bodyPr/>
                    <a:lstStyle/>
                    <a:p>
                      <a:pPr>
                        <a:lnSpc>
                          <a:spcPct val="100000"/>
                        </a:lnSpc>
                      </a:pPr>
                      <a:endParaRPr sz="2300">
                        <a:latin typeface="Times New Roman"/>
                        <a:cs typeface="Times New Roman"/>
                      </a:endParaRPr>
                    </a:p>
                  </a:txBody>
                  <a:tcPr marL="0" marR="0" marT="0" marB="0">
                    <a:lnL w="9525">
                      <a:solidFill>
                        <a:srgbClr val="E9E9E9"/>
                      </a:solidFill>
                      <a:prstDash val="solid"/>
                    </a:lnL>
                    <a:lnR w="9525">
                      <a:solidFill>
                        <a:srgbClr val="E9E9E9"/>
                      </a:solidFill>
                      <a:prstDash val="solid"/>
                    </a:lnR>
                    <a:lnT w="9525">
                      <a:solidFill>
                        <a:srgbClr val="E9E9E9"/>
                      </a:solidFill>
                      <a:prstDash val="solid"/>
                    </a:lnT>
                  </a:tcPr>
                </a:tc>
                <a:tc hMerge="1">
                  <a:txBody>
                    <a:bodyPr/>
                    <a:lstStyle/>
                    <a:p>
                      <a:endParaRPr/>
                    </a:p>
                  </a:txBody>
                  <a:tcPr marL="0" marR="0" marT="0" marB="0"/>
                </a:tc>
                <a:extLst>
                  <a:ext uri="{0D108BD9-81ED-4DB2-BD59-A6C34878D82A}">
                    <a16:rowId xmlns:a16="http://schemas.microsoft.com/office/drawing/2014/main" val="10000"/>
                  </a:ext>
                </a:extLst>
              </a:tr>
              <a:tr h="580390">
                <a:tc>
                  <a:txBody>
                    <a:bodyPr/>
                    <a:lstStyle/>
                    <a:p>
                      <a:pPr>
                        <a:lnSpc>
                          <a:spcPct val="100000"/>
                        </a:lnSpc>
                      </a:pPr>
                      <a:endParaRPr sz="2300">
                        <a:latin typeface="Times New Roman"/>
                        <a:cs typeface="Times New Roman"/>
                      </a:endParaRPr>
                    </a:p>
                  </a:txBody>
                  <a:tcPr marL="0" marR="0" marT="0" marB="0">
                    <a:lnL w="9525">
                      <a:solidFill>
                        <a:srgbClr val="E9E9E9"/>
                      </a:solidFill>
                      <a:prstDash val="solid"/>
                    </a:lnL>
                    <a:solidFill>
                      <a:srgbClr val="F5A700"/>
                    </a:solidFill>
                  </a:tcPr>
                </a:tc>
                <a:tc>
                  <a:txBody>
                    <a:bodyPr/>
                    <a:lstStyle/>
                    <a:p>
                      <a:pPr marL="476884">
                        <a:lnSpc>
                          <a:spcPts val="3900"/>
                        </a:lnSpc>
                      </a:pPr>
                      <a:r>
                        <a:rPr sz="3300" b="1" spc="-25" dirty="0">
                          <a:latin typeface="Tahoma"/>
                          <a:cs typeface="Tahoma"/>
                        </a:rPr>
                        <a:t>7.</a:t>
                      </a:r>
                      <a:r>
                        <a:rPr sz="3300" b="1" spc="-240" dirty="0">
                          <a:latin typeface="Tahoma"/>
                          <a:cs typeface="Tahoma"/>
                        </a:rPr>
                        <a:t> </a:t>
                      </a:r>
                      <a:r>
                        <a:rPr sz="3300" b="1" spc="-20" dirty="0">
                          <a:latin typeface="Tahoma"/>
                          <a:cs typeface="Tahoma"/>
                        </a:rPr>
                        <a:t>Known</a:t>
                      </a:r>
                      <a:r>
                        <a:rPr sz="3300" b="1" spc="-170" dirty="0">
                          <a:latin typeface="Tahoma"/>
                          <a:cs typeface="Tahoma"/>
                        </a:rPr>
                        <a:t> </a:t>
                      </a:r>
                      <a:r>
                        <a:rPr sz="3300" b="1" spc="-114" dirty="0">
                          <a:latin typeface="Tahoma"/>
                          <a:cs typeface="Tahoma"/>
                        </a:rPr>
                        <a:t>vs</a:t>
                      </a:r>
                      <a:r>
                        <a:rPr sz="3300" b="1" spc="-145" dirty="0">
                          <a:latin typeface="Tahoma"/>
                          <a:cs typeface="Tahoma"/>
                        </a:rPr>
                        <a:t> </a:t>
                      </a:r>
                      <a:r>
                        <a:rPr sz="3300" b="1" spc="-10" dirty="0">
                          <a:latin typeface="Tahoma"/>
                          <a:cs typeface="Tahoma"/>
                        </a:rPr>
                        <a:t>Unknown</a:t>
                      </a:r>
                      <a:endParaRPr sz="3300">
                        <a:latin typeface="Tahoma"/>
                        <a:cs typeface="Tahoma"/>
                      </a:endParaRPr>
                    </a:p>
                  </a:txBody>
                  <a:tcPr marL="0" marR="0" marT="0" marB="0">
                    <a:lnR w="9525">
                      <a:solidFill>
                        <a:srgbClr val="E9E9E9"/>
                      </a:solidFill>
                      <a:prstDash val="solid"/>
                    </a:lnR>
                  </a:tcPr>
                </a:tc>
                <a:extLst>
                  <a:ext uri="{0D108BD9-81ED-4DB2-BD59-A6C34878D82A}">
                    <a16:rowId xmlns:a16="http://schemas.microsoft.com/office/drawing/2014/main" val="10001"/>
                  </a:ext>
                </a:extLst>
              </a:tr>
              <a:tr h="433705">
                <a:tc gridSpan="2">
                  <a:txBody>
                    <a:bodyPr/>
                    <a:lstStyle/>
                    <a:p>
                      <a:pPr>
                        <a:lnSpc>
                          <a:spcPct val="100000"/>
                        </a:lnSpc>
                      </a:pPr>
                      <a:endParaRPr sz="2300">
                        <a:latin typeface="Times New Roman"/>
                        <a:cs typeface="Times New Roman"/>
                      </a:endParaRPr>
                    </a:p>
                  </a:txBody>
                  <a:tcPr marL="0" marR="0" marT="0" marB="0">
                    <a:lnL w="9525">
                      <a:solidFill>
                        <a:srgbClr val="E9E9E9"/>
                      </a:solidFill>
                      <a:prstDash val="solid"/>
                    </a:lnL>
                    <a:lnR w="9525">
                      <a:solidFill>
                        <a:srgbClr val="E9E9E9"/>
                      </a:solidFill>
                      <a:prstDash val="solid"/>
                    </a:lnR>
                    <a:lnB w="9525">
                      <a:solidFill>
                        <a:srgbClr val="E9E9E9"/>
                      </a:solidFill>
                      <a:prstDash val="solid"/>
                    </a:lnB>
                  </a:tcPr>
                </a:tc>
                <a:tc hMerge="1">
                  <a:txBody>
                    <a:bodyPr/>
                    <a:lstStyle/>
                    <a:p>
                      <a:endParaRPr/>
                    </a:p>
                  </a:txBody>
                  <a:tcPr marL="0" marR="0" marT="0" marB="0"/>
                </a:tc>
                <a:extLst>
                  <a:ext uri="{0D108BD9-81ED-4DB2-BD59-A6C34878D82A}">
                    <a16:rowId xmlns:a16="http://schemas.microsoft.com/office/drawing/2014/main" val="10002"/>
                  </a:ext>
                </a:extLst>
              </a:tr>
            </a:tbl>
          </a:graphicData>
        </a:graphic>
      </p:graphicFrame>
      <p:sp>
        <p:nvSpPr>
          <p:cNvPr id="3" name="object 3"/>
          <p:cNvSpPr txBox="1"/>
          <p:nvPr/>
        </p:nvSpPr>
        <p:spPr>
          <a:xfrm>
            <a:off x="982348" y="3089472"/>
            <a:ext cx="8239125" cy="2453640"/>
          </a:xfrm>
          <a:prstGeom prst="rect">
            <a:avLst/>
          </a:prstGeom>
        </p:spPr>
        <p:txBody>
          <a:bodyPr vert="horz" wrap="square" lIns="0" tIns="12065" rIns="0" bIns="0" rtlCol="0">
            <a:spAutoFit/>
          </a:bodyPr>
          <a:lstStyle/>
          <a:p>
            <a:pPr marL="200025" marR="5080" indent="-187960">
              <a:lnSpc>
                <a:spcPct val="110400"/>
              </a:lnSpc>
              <a:spcBef>
                <a:spcPts val="95"/>
              </a:spcBef>
              <a:buFont typeface="Arial MT"/>
              <a:buChar char="•"/>
              <a:tabLst>
                <a:tab pos="201295" algn="l"/>
              </a:tabLst>
            </a:pPr>
            <a:r>
              <a:rPr sz="2300" spc="-110" dirty="0">
                <a:latin typeface="Tahoma"/>
                <a:cs typeface="Tahoma"/>
              </a:rPr>
              <a:t>In</a:t>
            </a:r>
            <a:r>
              <a:rPr sz="2300" spc="-45" dirty="0">
                <a:latin typeface="Tahoma"/>
                <a:cs typeface="Tahoma"/>
              </a:rPr>
              <a:t> </a:t>
            </a:r>
            <a:r>
              <a:rPr sz="2300" dirty="0">
                <a:latin typeface="Tahoma"/>
                <a:cs typeface="Tahoma"/>
              </a:rPr>
              <a:t>a</a:t>
            </a:r>
            <a:r>
              <a:rPr sz="2300" spc="-40" dirty="0">
                <a:latin typeface="Tahoma"/>
                <a:cs typeface="Tahoma"/>
              </a:rPr>
              <a:t> </a:t>
            </a:r>
            <a:r>
              <a:rPr sz="2300" spc="55" dirty="0">
                <a:latin typeface="Tahoma"/>
                <a:cs typeface="Tahoma"/>
              </a:rPr>
              <a:t>known</a:t>
            </a:r>
            <a:r>
              <a:rPr sz="2300" spc="-55" dirty="0">
                <a:latin typeface="Tahoma"/>
                <a:cs typeface="Tahoma"/>
              </a:rPr>
              <a:t> </a:t>
            </a:r>
            <a:r>
              <a:rPr sz="2300" dirty="0">
                <a:latin typeface="Tahoma"/>
                <a:cs typeface="Tahoma"/>
              </a:rPr>
              <a:t>environment,</a:t>
            </a:r>
            <a:r>
              <a:rPr sz="2300" spc="-140" dirty="0">
                <a:latin typeface="Tahoma"/>
                <a:cs typeface="Tahoma"/>
              </a:rPr>
              <a:t> </a:t>
            </a:r>
            <a:r>
              <a:rPr sz="2300" dirty="0">
                <a:latin typeface="Tahoma"/>
                <a:cs typeface="Tahoma"/>
              </a:rPr>
              <a:t>the</a:t>
            </a:r>
            <a:r>
              <a:rPr sz="2300" spc="-35" dirty="0">
                <a:latin typeface="Tahoma"/>
                <a:cs typeface="Tahoma"/>
              </a:rPr>
              <a:t> </a:t>
            </a:r>
            <a:r>
              <a:rPr sz="2300" dirty="0">
                <a:latin typeface="Tahoma"/>
                <a:cs typeface="Tahoma"/>
              </a:rPr>
              <a:t>results</a:t>
            </a:r>
            <a:r>
              <a:rPr sz="2300" spc="-80" dirty="0">
                <a:latin typeface="Tahoma"/>
                <a:cs typeface="Tahoma"/>
              </a:rPr>
              <a:t> </a:t>
            </a:r>
            <a:r>
              <a:rPr sz="2300" dirty="0">
                <a:latin typeface="Tahoma"/>
                <a:cs typeface="Tahoma"/>
              </a:rPr>
              <a:t>for</a:t>
            </a:r>
            <a:r>
              <a:rPr sz="2300" spc="-40" dirty="0">
                <a:latin typeface="Tahoma"/>
                <a:cs typeface="Tahoma"/>
              </a:rPr>
              <a:t> </a:t>
            </a:r>
            <a:r>
              <a:rPr sz="2300" dirty="0">
                <a:latin typeface="Tahoma"/>
                <a:cs typeface="Tahoma"/>
              </a:rPr>
              <a:t>all</a:t>
            </a:r>
            <a:r>
              <a:rPr sz="2300" spc="-45" dirty="0">
                <a:latin typeface="Tahoma"/>
                <a:cs typeface="Tahoma"/>
              </a:rPr>
              <a:t> </a:t>
            </a:r>
            <a:r>
              <a:rPr sz="2300" spc="50" dirty="0">
                <a:latin typeface="Tahoma"/>
                <a:cs typeface="Tahoma"/>
              </a:rPr>
              <a:t>actions</a:t>
            </a:r>
            <a:r>
              <a:rPr sz="2300" spc="-60" dirty="0">
                <a:latin typeface="Tahoma"/>
                <a:cs typeface="Tahoma"/>
              </a:rPr>
              <a:t> </a:t>
            </a:r>
            <a:r>
              <a:rPr sz="2300" dirty="0">
                <a:latin typeface="Tahoma"/>
                <a:cs typeface="Tahoma"/>
              </a:rPr>
              <a:t>are</a:t>
            </a:r>
            <a:r>
              <a:rPr sz="2300" spc="-45" dirty="0">
                <a:latin typeface="Tahoma"/>
                <a:cs typeface="Tahoma"/>
              </a:rPr>
              <a:t> </a:t>
            </a:r>
            <a:r>
              <a:rPr sz="2300" spc="40" dirty="0">
                <a:latin typeface="Tahoma"/>
                <a:cs typeface="Tahoma"/>
              </a:rPr>
              <a:t>known 	</a:t>
            </a:r>
            <a:r>
              <a:rPr sz="2300" spc="60" dirty="0">
                <a:latin typeface="Tahoma"/>
                <a:cs typeface="Tahoma"/>
              </a:rPr>
              <a:t>to</a:t>
            </a:r>
            <a:r>
              <a:rPr sz="2300" spc="-40" dirty="0">
                <a:latin typeface="Tahoma"/>
                <a:cs typeface="Tahoma"/>
              </a:rPr>
              <a:t> </a:t>
            </a:r>
            <a:r>
              <a:rPr sz="2300" dirty="0">
                <a:latin typeface="Tahoma"/>
                <a:cs typeface="Tahoma"/>
              </a:rPr>
              <a:t>the</a:t>
            </a:r>
            <a:r>
              <a:rPr sz="2300" spc="-40" dirty="0">
                <a:latin typeface="Tahoma"/>
                <a:cs typeface="Tahoma"/>
              </a:rPr>
              <a:t> </a:t>
            </a:r>
            <a:r>
              <a:rPr sz="2300" dirty="0">
                <a:latin typeface="Tahoma"/>
                <a:cs typeface="Tahoma"/>
              </a:rPr>
              <a:t>agent.</a:t>
            </a:r>
            <a:r>
              <a:rPr sz="2300" spc="-180" dirty="0">
                <a:latin typeface="Tahoma"/>
                <a:cs typeface="Tahoma"/>
              </a:rPr>
              <a:t> </a:t>
            </a:r>
            <a:r>
              <a:rPr sz="2300" spc="85" dirty="0">
                <a:latin typeface="Tahoma"/>
                <a:cs typeface="Tahoma"/>
              </a:rPr>
              <a:t>While</a:t>
            </a:r>
            <a:r>
              <a:rPr sz="2300" spc="-65" dirty="0">
                <a:latin typeface="Tahoma"/>
                <a:cs typeface="Tahoma"/>
              </a:rPr>
              <a:t> </a:t>
            </a:r>
            <a:r>
              <a:rPr sz="2300" spc="50" dirty="0">
                <a:latin typeface="Tahoma"/>
                <a:cs typeface="Tahoma"/>
              </a:rPr>
              <a:t>in</a:t>
            </a:r>
            <a:r>
              <a:rPr sz="2300" spc="-50" dirty="0">
                <a:latin typeface="Tahoma"/>
                <a:cs typeface="Tahoma"/>
              </a:rPr>
              <a:t> </a:t>
            </a:r>
            <a:r>
              <a:rPr sz="2300" spc="50" dirty="0">
                <a:latin typeface="Tahoma"/>
                <a:cs typeface="Tahoma"/>
              </a:rPr>
              <a:t>unknown</a:t>
            </a:r>
            <a:r>
              <a:rPr sz="2300" spc="-75" dirty="0">
                <a:latin typeface="Tahoma"/>
                <a:cs typeface="Tahoma"/>
              </a:rPr>
              <a:t> </a:t>
            </a:r>
            <a:r>
              <a:rPr sz="2300" dirty="0">
                <a:latin typeface="Tahoma"/>
                <a:cs typeface="Tahoma"/>
              </a:rPr>
              <a:t>environment,</a:t>
            </a:r>
            <a:r>
              <a:rPr sz="2300" spc="-150" dirty="0">
                <a:latin typeface="Tahoma"/>
                <a:cs typeface="Tahoma"/>
              </a:rPr>
              <a:t> </a:t>
            </a:r>
            <a:r>
              <a:rPr sz="2300" spc="55" dirty="0">
                <a:latin typeface="Tahoma"/>
                <a:cs typeface="Tahoma"/>
              </a:rPr>
              <a:t>agent</a:t>
            </a:r>
            <a:r>
              <a:rPr sz="2300" spc="-40" dirty="0">
                <a:latin typeface="Tahoma"/>
                <a:cs typeface="Tahoma"/>
              </a:rPr>
              <a:t> </a:t>
            </a:r>
            <a:r>
              <a:rPr sz="2300" spc="75" dirty="0">
                <a:latin typeface="Tahoma"/>
                <a:cs typeface="Tahoma"/>
              </a:rPr>
              <a:t>needs 	</a:t>
            </a:r>
            <a:r>
              <a:rPr sz="2300" spc="60" dirty="0">
                <a:latin typeface="Tahoma"/>
                <a:cs typeface="Tahoma"/>
              </a:rPr>
              <a:t>to</a:t>
            </a:r>
            <a:r>
              <a:rPr sz="2300" spc="-90" dirty="0">
                <a:latin typeface="Tahoma"/>
                <a:cs typeface="Tahoma"/>
              </a:rPr>
              <a:t> </a:t>
            </a:r>
            <a:r>
              <a:rPr sz="2300" dirty="0">
                <a:latin typeface="Tahoma"/>
                <a:cs typeface="Tahoma"/>
              </a:rPr>
              <a:t>learn</a:t>
            </a:r>
            <a:r>
              <a:rPr sz="2300" spc="-110" dirty="0">
                <a:latin typeface="Tahoma"/>
                <a:cs typeface="Tahoma"/>
              </a:rPr>
              <a:t> </a:t>
            </a:r>
            <a:r>
              <a:rPr sz="2300" spc="65" dirty="0">
                <a:latin typeface="Tahoma"/>
                <a:cs typeface="Tahoma"/>
              </a:rPr>
              <a:t>how</a:t>
            </a:r>
            <a:r>
              <a:rPr sz="2300" spc="-105" dirty="0">
                <a:latin typeface="Tahoma"/>
                <a:cs typeface="Tahoma"/>
              </a:rPr>
              <a:t> </a:t>
            </a:r>
            <a:r>
              <a:rPr sz="2300" dirty="0">
                <a:latin typeface="Tahoma"/>
                <a:cs typeface="Tahoma"/>
              </a:rPr>
              <a:t>it</a:t>
            </a:r>
            <a:r>
              <a:rPr sz="2300" spc="-90" dirty="0">
                <a:latin typeface="Tahoma"/>
                <a:cs typeface="Tahoma"/>
              </a:rPr>
              <a:t> </a:t>
            </a:r>
            <a:r>
              <a:rPr sz="2300" dirty="0">
                <a:latin typeface="Tahoma"/>
                <a:cs typeface="Tahoma"/>
              </a:rPr>
              <a:t>works</a:t>
            </a:r>
            <a:r>
              <a:rPr sz="2300" spc="-105" dirty="0">
                <a:latin typeface="Tahoma"/>
                <a:cs typeface="Tahoma"/>
              </a:rPr>
              <a:t> </a:t>
            </a:r>
            <a:r>
              <a:rPr sz="2300" spc="50" dirty="0">
                <a:latin typeface="Tahoma"/>
                <a:cs typeface="Tahoma"/>
              </a:rPr>
              <a:t>in</a:t>
            </a:r>
            <a:r>
              <a:rPr sz="2300" spc="-95" dirty="0">
                <a:latin typeface="Tahoma"/>
                <a:cs typeface="Tahoma"/>
              </a:rPr>
              <a:t> </a:t>
            </a:r>
            <a:r>
              <a:rPr sz="2300" spc="80" dirty="0">
                <a:latin typeface="Tahoma"/>
                <a:cs typeface="Tahoma"/>
              </a:rPr>
              <a:t>order</a:t>
            </a:r>
            <a:r>
              <a:rPr sz="2300" spc="-100" dirty="0">
                <a:latin typeface="Tahoma"/>
                <a:cs typeface="Tahoma"/>
              </a:rPr>
              <a:t> </a:t>
            </a:r>
            <a:r>
              <a:rPr sz="2300" spc="60" dirty="0">
                <a:latin typeface="Tahoma"/>
                <a:cs typeface="Tahoma"/>
              </a:rPr>
              <a:t>to</a:t>
            </a:r>
            <a:r>
              <a:rPr sz="2300" spc="-100" dirty="0">
                <a:latin typeface="Tahoma"/>
                <a:cs typeface="Tahoma"/>
              </a:rPr>
              <a:t> </a:t>
            </a:r>
            <a:r>
              <a:rPr sz="2300" spc="70" dirty="0">
                <a:latin typeface="Tahoma"/>
                <a:cs typeface="Tahoma"/>
              </a:rPr>
              <a:t>perform</a:t>
            </a:r>
            <a:r>
              <a:rPr sz="2300" spc="-100" dirty="0">
                <a:latin typeface="Tahoma"/>
                <a:cs typeface="Tahoma"/>
              </a:rPr>
              <a:t> </a:t>
            </a:r>
            <a:r>
              <a:rPr sz="2300" dirty="0">
                <a:latin typeface="Tahoma"/>
                <a:cs typeface="Tahoma"/>
              </a:rPr>
              <a:t>an</a:t>
            </a:r>
            <a:r>
              <a:rPr sz="2300" spc="-85" dirty="0">
                <a:latin typeface="Tahoma"/>
                <a:cs typeface="Tahoma"/>
              </a:rPr>
              <a:t> </a:t>
            </a:r>
            <a:r>
              <a:rPr sz="2300" spc="-10" dirty="0">
                <a:latin typeface="Tahoma"/>
                <a:cs typeface="Tahoma"/>
              </a:rPr>
              <a:t>action.</a:t>
            </a:r>
            <a:endParaRPr sz="2300">
              <a:latin typeface="Tahoma"/>
              <a:cs typeface="Tahoma"/>
            </a:endParaRPr>
          </a:p>
          <a:p>
            <a:pPr marL="200025" marR="165100" indent="-187960">
              <a:lnSpc>
                <a:spcPct val="110400"/>
              </a:lnSpc>
              <a:spcBef>
                <a:spcPts val="830"/>
              </a:spcBef>
              <a:buFont typeface="Arial MT"/>
              <a:buChar char="•"/>
              <a:tabLst>
                <a:tab pos="201295" algn="l"/>
              </a:tabLst>
            </a:pPr>
            <a:r>
              <a:rPr sz="2300" spc="-165" dirty="0">
                <a:latin typeface="Tahoma"/>
                <a:cs typeface="Tahoma"/>
              </a:rPr>
              <a:t>It</a:t>
            </a:r>
            <a:r>
              <a:rPr sz="2300" spc="-90" dirty="0">
                <a:latin typeface="Tahoma"/>
                <a:cs typeface="Tahoma"/>
              </a:rPr>
              <a:t> </a:t>
            </a:r>
            <a:r>
              <a:rPr sz="2300" dirty="0">
                <a:latin typeface="Tahoma"/>
                <a:cs typeface="Tahoma"/>
              </a:rPr>
              <a:t>is</a:t>
            </a:r>
            <a:r>
              <a:rPr sz="2300" spc="-95" dirty="0">
                <a:latin typeface="Tahoma"/>
                <a:cs typeface="Tahoma"/>
              </a:rPr>
              <a:t> </a:t>
            </a:r>
            <a:r>
              <a:rPr sz="2300" spc="70" dirty="0">
                <a:latin typeface="Tahoma"/>
                <a:cs typeface="Tahoma"/>
              </a:rPr>
              <a:t>quite</a:t>
            </a:r>
            <a:r>
              <a:rPr sz="2300" spc="-105" dirty="0">
                <a:latin typeface="Tahoma"/>
                <a:cs typeface="Tahoma"/>
              </a:rPr>
              <a:t> </a:t>
            </a:r>
            <a:r>
              <a:rPr sz="2300" spc="95" dirty="0">
                <a:latin typeface="Tahoma"/>
                <a:cs typeface="Tahoma"/>
              </a:rPr>
              <a:t>possible</a:t>
            </a:r>
            <a:r>
              <a:rPr sz="2300" spc="-114" dirty="0">
                <a:latin typeface="Tahoma"/>
                <a:cs typeface="Tahoma"/>
              </a:rPr>
              <a:t> </a:t>
            </a:r>
            <a:r>
              <a:rPr sz="2300" spc="-10" dirty="0">
                <a:latin typeface="Tahoma"/>
                <a:cs typeface="Tahoma"/>
              </a:rPr>
              <a:t>that</a:t>
            </a:r>
            <a:r>
              <a:rPr sz="2300" spc="-100" dirty="0">
                <a:latin typeface="Tahoma"/>
                <a:cs typeface="Tahoma"/>
              </a:rPr>
              <a:t> </a:t>
            </a:r>
            <a:r>
              <a:rPr sz="2300" dirty="0">
                <a:latin typeface="Tahoma"/>
                <a:cs typeface="Tahoma"/>
              </a:rPr>
              <a:t>a</a:t>
            </a:r>
            <a:r>
              <a:rPr sz="2300" spc="-75" dirty="0">
                <a:latin typeface="Tahoma"/>
                <a:cs typeface="Tahoma"/>
              </a:rPr>
              <a:t> </a:t>
            </a:r>
            <a:r>
              <a:rPr sz="2300" spc="50" dirty="0">
                <a:latin typeface="Tahoma"/>
                <a:cs typeface="Tahoma"/>
              </a:rPr>
              <a:t>known</a:t>
            </a:r>
            <a:r>
              <a:rPr sz="2300" spc="-95" dirty="0">
                <a:latin typeface="Tahoma"/>
                <a:cs typeface="Tahoma"/>
              </a:rPr>
              <a:t> </a:t>
            </a:r>
            <a:r>
              <a:rPr sz="2300" dirty="0">
                <a:latin typeface="Tahoma"/>
                <a:cs typeface="Tahoma"/>
              </a:rPr>
              <a:t>environment</a:t>
            </a:r>
            <a:r>
              <a:rPr sz="2300" spc="-100" dirty="0">
                <a:latin typeface="Tahoma"/>
                <a:cs typeface="Tahoma"/>
              </a:rPr>
              <a:t> </a:t>
            </a:r>
            <a:r>
              <a:rPr sz="2300" spc="60" dirty="0">
                <a:latin typeface="Tahoma"/>
                <a:cs typeface="Tahoma"/>
              </a:rPr>
              <a:t>to</a:t>
            </a:r>
            <a:r>
              <a:rPr sz="2300" spc="-80" dirty="0">
                <a:latin typeface="Tahoma"/>
                <a:cs typeface="Tahoma"/>
              </a:rPr>
              <a:t> </a:t>
            </a:r>
            <a:r>
              <a:rPr sz="2300" spc="145" dirty="0">
                <a:latin typeface="Tahoma"/>
                <a:cs typeface="Tahoma"/>
              </a:rPr>
              <a:t>be</a:t>
            </a:r>
            <a:r>
              <a:rPr sz="2300" spc="-90" dirty="0">
                <a:latin typeface="Tahoma"/>
                <a:cs typeface="Tahoma"/>
              </a:rPr>
              <a:t> </a:t>
            </a:r>
            <a:r>
              <a:rPr sz="2300" spc="-10" dirty="0">
                <a:latin typeface="Tahoma"/>
                <a:cs typeface="Tahoma"/>
              </a:rPr>
              <a:t>partially 	</a:t>
            </a:r>
            <a:r>
              <a:rPr sz="2300" spc="75" dirty="0">
                <a:latin typeface="Tahoma"/>
                <a:cs typeface="Tahoma"/>
              </a:rPr>
              <a:t>observable</a:t>
            </a:r>
            <a:r>
              <a:rPr sz="2300" spc="-85" dirty="0">
                <a:latin typeface="Tahoma"/>
                <a:cs typeface="Tahoma"/>
              </a:rPr>
              <a:t> </a:t>
            </a:r>
            <a:r>
              <a:rPr sz="2300" spc="80" dirty="0">
                <a:latin typeface="Tahoma"/>
                <a:cs typeface="Tahoma"/>
              </a:rPr>
              <a:t>and</a:t>
            </a:r>
            <a:r>
              <a:rPr sz="2300" spc="-50" dirty="0">
                <a:latin typeface="Tahoma"/>
                <a:cs typeface="Tahoma"/>
              </a:rPr>
              <a:t> </a:t>
            </a:r>
            <a:r>
              <a:rPr sz="2300" dirty="0">
                <a:latin typeface="Tahoma"/>
                <a:cs typeface="Tahoma"/>
              </a:rPr>
              <a:t>an</a:t>
            </a:r>
            <a:r>
              <a:rPr sz="2300" spc="-55" dirty="0">
                <a:latin typeface="Tahoma"/>
                <a:cs typeface="Tahoma"/>
              </a:rPr>
              <a:t> </a:t>
            </a:r>
            <a:r>
              <a:rPr sz="2300" spc="60" dirty="0">
                <a:latin typeface="Tahoma"/>
                <a:cs typeface="Tahoma"/>
              </a:rPr>
              <a:t>Unknown</a:t>
            </a:r>
            <a:r>
              <a:rPr sz="2300" spc="-80" dirty="0">
                <a:latin typeface="Tahoma"/>
                <a:cs typeface="Tahoma"/>
              </a:rPr>
              <a:t> </a:t>
            </a:r>
            <a:r>
              <a:rPr sz="2300" dirty="0">
                <a:latin typeface="Tahoma"/>
                <a:cs typeface="Tahoma"/>
              </a:rPr>
              <a:t>environment</a:t>
            </a:r>
            <a:r>
              <a:rPr sz="2300" spc="-70" dirty="0">
                <a:latin typeface="Tahoma"/>
                <a:cs typeface="Tahoma"/>
              </a:rPr>
              <a:t> </a:t>
            </a:r>
            <a:r>
              <a:rPr sz="2300" spc="60" dirty="0">
                <a:latin typeface="Tahoma"/>
                <a:cs typeface="Tahoma"/>
              </a:rPr>
              <a:t>to</a:t>
            </a:r>
            <a:r>
              <a:rPr sz="2300" spc="-45" dirty="0">
                <a:latin typeface="Tahoma"/>
                <a:cs typeface="Tahoma"/>
              </a:rPr>
              <a:t> </a:t>
            </a:r>
            <a:r>
              <a:rPr sz="2300" spc="145" dirty="0">
                <a:latin typeface="Tahoma"/>
                <a:cs typeface="Tahoma"/>
              </a:rPr>
              <a:t>be</a:t>
            </a:r>
            <a:r>
              <a:rPr sz="2300" spc="-55" dirty="0">
                <a:latin typeface="Tahoma"/>
                <a:cs typeface="Tahoma"/>
              </a:rPr>
              <a:t> </a:t>
            </a:r>
            <a:r>
              <a:rPr sz="2300" spc="-10" dirty="0">
                <a:latin typeface="Tahoma"/>
                <a:cs typeface="Tahoma"/>
              </a:rPr>
              <a:t>fully 	</a:t>
            </a:r>
            <a:r>
              <a:rPr sz="2300" spc="50" dirty="0">
                <a:latin typeface="Tahoma"/>
                <a:cs typeface="Tahoma"/>
              </a:rPr>
              <a:t>observable.</a:t>
            </a:r>
            <a:endParaRPr sz="2300">
              <a:latin typeface="Tahoma"/>
              <a:cs typeface="Tahom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399" y="1971318"/>
            <a:ext cx="8382001" cy="521938"/>
          </a:xfrm>
          <a:prstGeom prst="rect">
            <a:avLst/>
          </a:prstGeom>
        </p:spPr>
        <p:txBody>
          <a:bodyPr vert="horz" wrap="square" lIns="0" tIns="13970" rIns="0" bIns="0" rtlCol="0">
            <a:spAutoFit/>
          </a:bodyPr>
          <a:lstStyle/>
          <a:p>
            <a:pPr marL="32130">
              <a:spcBef>
                <a:spcPts val="110"/>
              </a:spcBef>
              <a:tabLst>
                <a:tab pos="8293989" algn="l"/>
              </a:tabLst>
            </a:pPr>
            <a:r>
              <a:rPr dirty="0"/>
              <a:t>.</a:t>
            </a:r>
            <a:r>
              <a:rPr spc="-6" dirty="0"/>
              <a:t> </a:t>
            </a:r>
            <a:r>
              <a:rPr dirty="0"/>
              <a:t>How</a:t>
            </a:r>
            <a:r>
              <a:rPr spc="-209" dirty="0"/>
              <a:t> </a:t>
            </a:r>
            <a:r>
              <a:rPr dirty="0"/>
              <a:t>Agents</a:t>
            </a:r>
            <a:r>
              <a:rPr spc="6" dirty="0"/>
              <a:t> </a:t>
            </a:r>
            <a:r>
              <a:rPr spc="-11" dirty="0"/>
              <a:t>should</a:t>
            </a:r>
            <a:r>
              <a:rPr spc="-198" dirty="0"/>
              <a:t> </a:t>
            </a:r>
            <a:r>
              <a:rPr spc="-22" dirty="0"/>
              <a:t>Act?</a:t>
            </a:r>
            <a:r>
              <a:rPr lang="en-US" spc="-22" dirty="0"/>
              <a:t> </a:t>
            </a:r>
            <a:r>
              <a:rPr spc="-11" dirty="0"/>
              <a:t>(Cont…)</a:t>
            </a:r>
          </a:p>
        </p:txBody>
      </p:sp>
      <p:sp>
        <p:nvSpPr>
          <p:cNvPr id="3" name="object 3"/>
          <p:cNvSpPr txBox="1"/>
          <p:nvPr/>
        </p:nvSpPr>
        <p:spPr>
          <a:xfrm>
            <a:off x="273364" y="820205"/>
            <a:ext cx="9256522" cy="984693"/>
          </a:xfrm>
          <a:prstGeom prst="rect">
            <a:avLst/>
          </a:prstGeom>
        </p:spPr>
        <p:txBody>
          <a:bodyPr vert="horz" wrap="square" lIns="0" tIns="94298" rIns="0" bIns="0" rtlCol="0">
            <a:spAutoFit/>
          </a:bodyPr>
          <a:lstStyle/>
          <a:p>
            <a:pPr algn="ctr">
              <a:spcBef>
                <a:spcPts val="743"/>
              </a:spcBef>
            </a:pPr>
            <a:r>
              <a:rPr sz="2640" b="1" dirty="0">
                <a:latin typeface="Times New Roman"/>
                <a:cs typeface="Times New Roman"/>
              </a:rPr>
              <a:t>:-</a:t>
            </a:r>
            <a:r>
              <a:rPr sz="2640" b="1" spc="-72" dirty="0">
                <a:latin typeface="Times New Roman"/>
                <a:cs typeface="Times New Roman"/>
              </a:rPr>
              <a:t> </a:t>
            </a:r>
            <a:r>
              <a:rPr sz="2640" b="1" u="sng" spc="-11" dirty="0">
                <a:uFill>
                  <a:solidFill>
                    <a:srgbClr val="000000"/>
                  </a:solidFill>
                </a:uFill>
                <a:latin typeface="Times New Roman"/>
                <a:cs typeface="Times New Roman"/>
              </a:rPr>
              <a:t>Environment</a:t>
            </a:r>
            <a:r>
              <a:rPr sz="2640" b="1" u="sng" spc="-38" dirty="0">
                <a:uFill>
                  <a:solidFill>
                    <a:srgbClr val="000000"/>
                  </a:solidFill>
                </a:uFill>
                <a:latin typeface="Times New Roman"/>
                <a:cs typeface="Times New Roman"/>
              </a:rPr>
              <a:t> </a:t>
            </a:r>
            <a:r>
              <a:rPr sz="2640" b="1" u="sng" dirty="0">
                <a:uFill>
                  <a:solidFill>
                    <a:srgbClr val="000000"/>
                  </a:solidFill>
                </a:uFill>
                <a:latin typeface="Times New Roman"/>
                <a:cs typeface="Times New Roman"/>
              </a:rPr>
              <a:t>Parameters</a:t>
            </a:r>
            <a:r>
              <a:rPr sz="2640" b="1" u="sng" spc="-55" dirty="0">
                <a:uFill>
                  <a:solidFill>
                    <a:srgbClr val="000000"/>
                  </a:solidFill>
                </a:uFill>
                <a:latin typeface="Times New Roman"/>
                <a:cs typeface="Times New Roman"/>
              </a:rPr>
              <a:t> </a:t>
            </a:r>
            <a:r>
              <a:rPr sz="2640" b="1" u="sng" spc="-11" dirty="0">
                <a:uFill>
                  <a:solidFill>
                    <a:srgbClr val="000000"/>
                  </a:solidFill>
                </a:uFill>
                <a:latin typeface="Times New Roman"/>
                <a:cs typeface="Times New Roman"/>
              </a:rPr>
              <a:t>for</a:t>
            </a:r>
            <a:r>
              <a:rPr sz="2640" b="1" u="sng" spc="-204" dirty="0">
                <a:uFill>
                  <a:solidFill>
                    <a:srgbClr val="000000"/>
                  </a:solidFill>
                </a:uFill>
                <a:latin typeface="Times New Roman"/>
                <a:cs typeface="Times New Roman"/>
              </a:rPr>
              <a:t> </a:t>
            </a:r>
            <a:r>
              <a:rPr sz="2640" b="1" u="sng" dirty="0">
                <a:uFill>
                  <a:solidFill>
                    <a:srgbClr val="000000"/>
                  </a:solidFill>
                </a:uFill>
                <a:latin typeface="Times New Roman"/>
                <a:cs typeface="Times New Roman"/>
              </a:rPr>
              <a:t>Agents</a:t>
            </a:r>
            <a:r>
              <a:rPr sz="2640" b="1" u="sng" spc="-28" dirty="0">
                <a:uFill>
                  <a:solidFill>
                    <a:srgbClr val="000000"/>
                  </a:solidFill>
                </a:uFill>
                <a:latin typeface="Times New Roman"/>
                <a:cs typeface="Times New Roman"/>
              </a:rPr>
              <a:t> </a:t>
            </a:r>
            <a:r>
              <a:rPr sz="2640" b="1" u="sng" dirty="0">
                <a:uFill>
                  <a:solidFill>
                    <a:srgbClr val="000000"/>
                  </a:solidFill>
                </a:uFill>
                <a:latin typeface="Times New Roman"/>
                <a:cs typeface="Times New Roman"/>
              </a:rPr>
              <a:t>to</a:t>
            </a:r>
            <a:r>
              <a:rPr sz="2640" b="1" u="sng" spc="-33" dirty="0">
                <a:uFill>
                  <a:solidFill>
                    <a:srgbClr val="000000"/>
                  </a:solidFill>
                </a:uFill>
                <a:latin typeface="Times New Roman"/>
                <a:cs typeface="Times New Roman"/>
              </a:rPr>
              <a:t> </a:t>
            </a:r>
            <a:r>
              <a:rPr sz="2640" b="1" u="sng" dirty="0">
                <a:uFill>
                  <a:solidFill>
                    <a:srgbClr val="000000"/>
                  </a:solidFill>
                </a:uFill>
                <a:latin typeface="Times New Roman"/>
                <a:cs typeface="Times New Roman"/>
              </a:rPr>
              <a:t>perform</a:t>
            </a:r>
            <a:r>
              <a:rPr sz="2640" b="1" u="sng" spc="-44" dirty="0">
                <a:uFill>
                  <a:solidFill>
                    <a:srgbClr val="000000"/>
                  </a:solidFill>
                </a:uFill>
                <a:latin typeface="Times New Roman"/>
                <a:cs typeface="Times New Roman"/>
              </a:rPr>
              <a:t> </a:t>
            </a:r>
            <a:r>
              <a:rPr sz="2640" b="1" u="sng" spc="-11" dirty="0">
                <a:uFill>
                  <a:solidFill>
                    <a:srgbClr val="000000"/>
                  </a:solidFill>
                </a:uFill>
                <a:latin typeface="Times New Roman"/>
                <a:cs typeface="Times New Roman"/>
              </a:rPr>
              <a:t>accurately</a:t>
            </a:r>
            <a:r>
              <a:rPr sz="2640" spc="-11" dirty="0">
                <a:latin typeface="Times New Roman"/>
                <a:cs typeface="Times New Roman"/>
              </a:rPr>
              <a:t>:</a:t>
            </a:r>
            <a:endParaRPr sz="2640" dirty="0">
              <a:latin typeface="Times New Roman"/>
              <a:cs typeface="Times New Roman"/>
            </a:endParaRPr>
          </a:p>
          <a:p>
            <a:pPr marR="296863" algn="ctr">
              <a:spcBef>
                <a:spcPts val="633"/>
              </a:spcBef>
            </a:pPr>
            <a:r>
              <a:rPr sz="2640" spc="-11" dirty="0">
                <a:latin typeface="Times New Roman"/>
                <a:cs typeface="Times New Roman"/>
              </a:rPr>
              <a:t>(Examples)</a:t>
            </a:r>
            <a:endParaRPr sz="2640" dirty="0">
              <a:latin typeface="Times New Roman"/>
              <a:cs typeface="Times New Roman"/>
            </a:endParaRPr>
          </a:p>
        </p:txBody>
      </p:sp>
      <p:pic>
        <p:nvPicPr>
          <p:cNvPr id="4" name="object 4"/>
          <p:cNvPicPr/>
          <p:nvPr/>
        </p:nvPicPr>
        <p:blipFill>
          <a:blip r:embed="rId2" cstate="print"/>
          <a:stretch>
            <a:fillRect/>
          </a:stretch>
        </p:blipFill>
        <p:spPr>
          <a:xfrm>
            <a:off x="0" y="2815397"/>
            <a:ext cx="2682240" cy="2011680"/>
          </a:xfrm>
          <a:prstGeom prst="rect">
            <a:avLst/>
          </a:prstGeom>
        </p:spPr>
      </p:pic>
      <p:sp>
        <p:nvSpPr>
          <p:cNvPr id="5" name="object 5"/>
          <p:cNvSpPr txBox="1"/>
          <p:nvPr/>
        </p:nvSpPr>
        <p:spPr>
          <a:xfrm>
            <a:off x="105725" y="5017212"/>
            <a:ext cx="5469954" cy="2451697"/>
          </a:xfrm>
          <a:prstGeom prst="rect">
            <a:avLst/>
          </a:prstGeom>
        </p:spPr>
        <p:txBody>
          <a:bodyPr vert="horz" wrap="square" lIns="0" tIns="13970" rIns="0" bIns="0" rtlCol="0">
            <a:spAutoFit/>
          </a:bodyPr>
          <a:lstStyle/>
          <a:p>
            <a:pPr marL="13970" marR="5588">
              <a:spcBef>
                <a:spcPts val="110"/>
              </a:spcBef>
            </a:pPr>
            <a:r>
              <a:rPr sz="2640" dirty="0">
                <a:latin typeface="Times New Roman"/>
                <a:cs typeface="Times New Roman"/>
              </a:rPr>
              <a:t>Fully</a:t>
            </a:r>
            <a:r>
              <a:rPr sz="2640" spc="-38" dirty="0">
                <a:latin typeface="Times New Roman"/>
                <a:cs typeface="Times New Roman"/>
              </a:rPr>
              <a:t> </a:t>
            </a:r>
            <a:r>
              <a:rPr sz="2640" dirty="0">
                <a:latin typeface="Times New Roman"/>
                <a:cs typeface="Times New Roman"/>
              </a:rPr>
              <a:t>observable</a:t>
            </a:r>
            <a:r>
              <a:rPr sz="2640" spc="-44" dirty="0">
                <a:latin typeface="Times New Roman"/>
                <a:cs typeface="Times New Roman"/>
              </a:rPr>
              <a:t> </a:t>
            </a:r>
            <a:r>
              <a:rPr sz="2640" dirty="0">
                <a:latin typeface="Times New Roman"/>
                <a:cs typeface="Times New Roman"/>
              </a:rPr>
              <a:t>vs.</a:t>
            </a:r>
            <a:r>
              <a:rPr sz="2640" spc="-22" dirty="0">
                <a:latin typeface="Times New Roman"/>
                <a:cs typeface="Times New Roman"/>
              </a:rPr>
              <a:t> </a:t>
            </a:r>
            <a:r>
              <a:rPr sz="2640" dirty="0">
                <a:latin typeface="Times New Roman"/>
                <a:cs typeface="Times New Roman"/>
              </a:rPr>
              <a:t>partially</a:t>
            </a:r>
            <a:r>
              <a:rPr sz="2640" spc="-61" dirty="0">
                <a:latin typeface="Times New Roman"/>
                <a:cs typeface="Times New Roman"/>
              </a:rPr>
              <a:t> </a:t>
            </a:r>
            <a:r>
              <a:rPr sz="2640" spc="-11" dirty="0">
                <a:latin typeface="Times New Roman"/>
                <a:cs typeface="Times New Roman"/>
              </a:rPr>
              <a:t>observable </a:t>
            </a:r>
            <a:r>
              <a:rPr sz="2640" dirty="0">
                <a:latin typeface="Times New Roman"/>
                <a:cs typeface="Times New Roman"/>
              </a:rPr>
              <a:t>Deterministic</a:t>
            </a:r>
            <a:r>
              <a:rPr sz="2640" spc="-72" dirty="0">
                <a:latin typeface="Times New Roman"/>
                <a:cs typeface="Times New Roman"/>
              </a:rPr>
              <a:t> </a:t>
            </a:r>
            <a:r>
              <a:rPr sz="2640" dirty="0">
                <a:latin typeface="Times New Roman"/>
                <a:cs typeface="Times New Roman"/>
              </a:rPr>
              <a:t>vs.</a:t>
            </a:r>
            <a:r>
              <a:rPr sz="2640" spc="-11" dirty="0">
                <a:latin typeface="Times New Roman"/>
                <a:cs typeface="Times New Roman"/>
              </a:rPr>
              <a:t> </a:t>
            </a:r>
            <a:r>
              <a:rPr sz="2640" dirty="0">
                <a:latin typeface="Times New Roman"/>
                <a:cs typeface="Times New Roman"/>
              </a:rPr>
              <a:t>stochastic</a:t>
            </a:r>
            <a:r>
              <a:rPr sz="2640" spc="-66" dirty="0">
                <a:latin typeface="Times New Roman"/>
                <a:cs typeface="Times New Roman"/>
              </a:rPr>
              <a:t> </a:t>
            </a:r>
            <a:r>
              <a:rPr sz="2640" dirty="0">
                <a:latin typeface="Times New Roman"/>
                <a:cs typeface="Times New Roman"/>
              </a:rPr>
              <a:t>/</a:t>
            </a:r>
            <a:r>
              <a:rPr sz="2640" spc="-33" dirty="0">
                <a:latin typeface="Times New Roman"/>
                <a:cs typeface="Times New Roman"/>
              </a:rPr>
              <a:t> </a:t>
            </a:r>
            <a:r>
              <a:rPr sz="2640" spc="-11" dirty="0">
                <a:latin typeface="Times New Roman"/>
                <a:cs typeface="Times New Roman"/>
              </a:rPr>
              <a:t>strategic </a:t>
            </a:r>
            <a:r>
              <a:rPr sz="2640" dirty="0">
                <a:latin typeface="Times New Roman"/>
                <a:cs typeface="Times New Roman"/>
              </a:rPr>
              <a:t>Episodic</a:t>
            </a:r>
            <a:r>
              <a:rPr sz="2640" spc="-44" dirty="0">
                <a:latin typeface="Times New Roman"/>
                <a:cs typeface="Times New Roman"/>
              </a:rPr>
              <a:t> </a:t>
            </a:r>
            <a:r>
              <a:rPr sz="2640" dirty="0">
                <a:latin typeface="Times New Roman"/>
                <a:cs typeface="Times New Roman"/>
              </a:rPr>
              <a:t>vs.</a:t>
            </a:r>
            <a:r>
              <a:rPr sz="2640" spc="-11" dirty="0">
                <a:latin typeface="Times New Roman"/>
                <a:cs typeface="Times New Roman"/>
              </a:rPr>
              <a:t> sequential</a:t>
            </a:r>
            <a:endParaRPr sz="2640">
              <a:latin typeface="Times New Roman"/>
              <a:cs typeface="Times New Roman"/>
            </a:endParaRPr>
          </a:p>
          <a:p>
            <a:pPr marL="13970" marR="1797241"/>
            <a:r>
              <a:rPr sz="2640" dirty="0">
                <a:latin typeface="Times New Roman"/>
                <a:cs typeface="Times New Roman"/>
              </a:rPr>
              <a:t>Static</a:t>
            </a:r>
            <a:r>
              <a:rPr sz="2640" spc="-50" dirty="0">
                <a:latin typeface="Times New Roman"/>
                <a:cs typeface="Times New Roman"/>
              </a:rPr>
              <a:t> </a:t>
            </a:r>
            <a:r>
              <a:rPr sz="2640" dirty="0">
                <a:latin typeface="Times New Roman"/>
                <a:cs typeface="Times New Roman"/>
              </a:rPr>
              <a:t>vs.</a:t>
            </a:r>
            <a:r>
              <a:rPr sz="2640" spc="-11" dirty="0">
                <a:latin typeface="Times New Roman"/>
                <a:cs typeface="Times New Roman"/>
              </a:rPr>
              <a:t> dynamic</a:t>
            </a:r>
            <a:r>
              <a:rPr sz="2640" spc="660" dirty="0">
                <a:latin typeface="Times New Roman"/>
                <a:cs typeface="Times New Roman"/>
              </a:rPr>
              <a:t> </a:t>
            </a:r>
            <a:r>
              <a:rPr sz="2640" dirty="0">
                <a:latin typeface="Times New Roman"/>
                <a:cs typeface="Times New Roman"/>
              </a:rPr>
              <a:t>Discrete</a:t>
            </a:r>
            <a:r>
              <a:rPr sz="2640" spc="-61" dirty="0">
                <a:latin typeface="Times New Roman"/>
                <a:cs typeface="Times New Roman"/>
              </a:rPr>
              <a:t> </a:t>
            </a:r>
            <a:r>
              <a:rPr sz="2640" dirty="0">
                <a:latin typeface="Times New Roman"/>
                <a:cs typeface="Times New Roman"/>
              </a:rPr>
              <a:t>vs.</a:t>
            </a:r>
            <a:r>
              <a:rPr sz="2640" spc="-33" dirty="0">
                <a:latin typeface="Times New Roman"/>
                <a:cs typeface="Times New Roman"/>
              </a:rPr>
              <a:t> </a:t>
            </a:r>
            <a:r>
              <a:rPr sz="2640" spc="-11" dirty="0">
                <a:latin typeface="Times New Roman"/>
                <a:cs typeface="Times New Roman"/>
              </a:rPr>
              <a:t>continuous </a:t>
            </a:r>
            <a:r>
              <a:rPr sz="2640" dirty="0">
                <a:latin typeface="Times New Roman"/>
                <a:cs typeface="Times New Roman"/>
              </a:rPr>
              <a:t>Single</a:t>
            </a:r>
            <a:r>
              <a:rPr sz="2640" spc="-38" dirty="0">
                <a:latin typeface="Times New Roman"/>
                <a:cs typeface="Times New Roman"/>
              </a:rPr>
              <a:t> </a:t>
            </a:r>
            <a:r>
              <a:rPr sz="2640" dirty="0">
                <a:latin typeface="Times New Roman"/>
                <a:cs typeface="Times New Roman"/>
              </a:rPr>
              <a:t>agent</a:t>
            </a:r>
            <a:r>
              <a:rPr sz="2640" spc="-22" dirty="0">
                <a:latin typeface="Times New Roman"/>
                <a:cs typeface="Times New Roman"/>
              </a:rPr>
              <a:t> </a:t>
            </a:r>
            <a:r>
              <a:rPr sz="2640" dirty="0">
                <a:latin typeface="Times New Roman"/>
                <a:cs typeface="Times New Roman"/>
              </a:rPr>
              <a:t>vs.</a:t>
            </a:r>
            <a:r>
              <a:rPr sz="2640" spc="-11" dirty="0">
                <a:latin typeface="Times New Roman"/>
                <a:cs typeface="Times New Roman"/>
              </a:rPr>
              <a:t> multiagent</a:t>
            </a:r>
            <a:endParaRPr sz="2640">
              <a:latin typeface="Times New Roman"/>
              <a:cs typeface="Times New Roman"/>
            </a:endParaRPr>
          </a:p>
        </p:txBody>
      </p:sp>
      <p:graphicFrame>
        <p:nvGraphicFramePr>
          <p:cNvPr id="6" name="object 6"/>
          <p:cNvGraphicFramePr>
            <a:graphicFrameLocks noGrp="1"/>
          </p:cNvGraphicFramePr>
          <p:nvPr>
            <p:extLst>
              <p:ext uri="{D42A27DB-BD31-4B8C-83A1-F6EECF244321}">
                <p14:modId xmlns:p14="http://schemas.microsoft.com/office/powerpoint/2010/main" val="3418171909"/>
              </p:ext>
            </p:extLst>
          </p:nvPr>
        </p:nvGraphicFramePr>
        <p:xfrm>
          <a:off x="2840702" y="3054022"/>
          <a:ext cx="7209213" cy="1242632"/>
        </p:xfrm>
        <a:graphic>
          <a:graphicData uri="http://schemas.openxmlformats.org/drawingml/2006/table">
            <a:tbl>
              <a:tblPr firstRow="1" bandRow="1">
                <a:tableStyleId>{2D5ABB26-0587-4C30-8999-92F81FD0307C}</a:tableStyleId>
              </a:tblPr>
              <a:tblGrid>
                <a:gridCol w="1429830">
                  <a:extLst>
                    <a:ext uri="{9D8B030D-6E8A-4147-A177-3AD203B41FA5}">
                      <a16:colId xmlns:a16="http://schemas.microsoft.com/office/drawing/2014/main" val="20000"/>
                    </a:ext>
                  </a:extLst>
                </a:gridCol>
                <a:gridCol w="871028">
                  <a:extLst>
                    <a:ext uri="{9D8B030D-6E8A-4147-A177-3AD203B41FA5}">
                      <a16:colId xmlns:a16="http://schemas.microsoft.com/office/drawing/2014/main" val="20001"/>
                    </a:ext>
                  </a:extLst>
                </a:gridCol>
                <a:gridCol w="970215">
                  <a:extLst>
                    <a:ext uri="{9D8B030D-6E8A-4147-A177-3AD203B41FA5}">
                      <a16:colId xmlns:a16="http://schemas.microsoft.com/office/drawing/2014/main" val="20002"/>
                    </a:ext>
                  </a:extLst>
                </a:gridCol>
                <a:gridCol w="1044956">
                  <a:extLst>
                    <a:ext uri="{9D8B030D-6E8A-4147-A177-3AD203B41FA5}">
                      <a16:colId xmlns:a16="http://schemas.microsoft.com/office/drawing/2014/main" val="20003"/>
                    </a:ext>
                  </a:extLst>
                </a:gridCol>
                <a:gridCol w="835406">
                  <a:extLst>
                    <a:ext uri="{9D8B030D-6E8A-4147-A177-3AD203B41FA5}">
                      <a16:colId xmlns:a16="http://schemas.microsoft.com/office/drawing/2014/main" val="20004"/>
                    </a:ext>
                  </a:extLst>
                </a:gridCol>
                <a:gridCol w="1028889">
                  <a:extLst>
                    <a:ext uri="{9D8B030D-6E8A-4147-A177-3AD203B41FA5}">
                      <a16:colId xmlns:a16="http://schemas.microsoft.com/office/drawing/2014/main" val="20005"/>
                    </a:ext>
                  </a:extLst>
                </a:gridCol>
                <a:gridCol w="1028889">
                  <a:extLst>
                    <a:ext uri="{9D8B030D-6E8A-4147-A177-3AD203B41FA5}">
                      <a16:colId xmlns:a16="http://schemas.microsoft.com/office/drawing/2014/main" val="20006"/>
                    </a:ext>
                  </a:extLst>
                </a:gridCol>
              </a:tblGrid>
              <a:tr h="569278">
                <a:tc>
                  <a:txBody>
                    <a:bodyPr/>
                    <a:lstStyle/>
                    <a:p>
                      <a:pPr marL="91440">
                        <a:lnSpc>
                          <a:spcPct val="100000"/>
                        </a:lnSpc>
                        <a:spcBef>
                          <a:spcPts val="320"/>
                        </a:spcBef>
                      </a:pPr>
                      <a:r>
                        <a:rPr sz="1500" b="1" spc="-10" dirty="0">
                          <a:latin typeface="Times New Roman"/>
                          <a:cs typeface="Times New Roman"/>
                        </a:rPr>
                        <a:t>Environments</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marR="137160">
                        <a:lnSpc>
                          <a:spcPct val="100000"/>
                        </a:lnSpc>
                        <a:spcBef>
                          <a:spcPts val="320"/>
                        </a:spcBef>
                      </a:pPr>
                      <a:r>
                        <a:rPr sz="1500" b="1" spc="-10" dirty="0">
                          <a:latin typeface="Times New Roman"/>
                          <a:cs typeface="Times New Roman"/>
                        </a:rPr>
                        <a:t>Observ </a:t>
                      </a:r>
                      <a:r>
                        <a:rPr sz="1500" b="1" spc="-20" dirty="0">
                          <a:latin typeface="Times New Roman"/>
                          <a:cs typeface="Times New Roman"/>
                        </a:rPr>
                        <a:t>able</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marR="161290">
                        <a:lnSpc>
                          <a:spcPct val="100000"/>
                        </a:lnSpc>
                        <a:spcBef>
                          <a:spcPts val="320"/>
                        </a:spcBef>
                      </a:pPr>
                      <a:r>
                        <a:rPr sz="1500" b="1" spc="-10" dirty="0">
                          <a:latin typeface="Times New Roman"/>
                          <a:cs typeface="Times New Roman"/>
                        </a:rPr>
                        <a:t>Determi nistic</a:t>
                      </a:r>
                      <a:endParaRPr sz="1500" dirty="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b="1" spc="-10" dirty="0">
                          <a:latin typeface="Times New Roman"/>
                          <a:cs typeface="Times New Roman"/>
                        </a:rPr>
                        <a:t>Episodic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b="1" spc="-10" dirty="0">
                          <a:latin typeface="Times New Roman"/>
                          <a:cs typeface="Times New Roman"/>
                        </a:rPr>
                        <a:t>Static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b="1" spc="-10" dirty="0">
                          <a:latin typeface="Times New Roman"/>
                          <a:cs typeface="Times New Roman"/>
                        </a:rPr>
                        <a:t>Discrete</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b="1" spc="-10" dirty="0">
                          <a:latin typeface="Times New Roman"/>
                          <a:cs typeface="Times New Roman"/>
                        </a:rPr>
                        <a:t>Agents</a:t>
                      </a:r>
                      <a:endParaRPr sz="1500" dirty="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673354">
                <a:tc>
                  <a:txBody>
                    <a:bodyPr/>
                    <a:lstStyle/>
                    <a:p>
                      <a:pPr marL="91440" marR="290195">
                        <a:lnSpc>
                          <a:spcPct val="100000"/>
                        </a:lnSpc>
                        <a:spcBef>
                          <a:spcPts val="320"/>
                        </a:spcBef>
                      </a:pPr>
                      <a:r>
                        <a:rPr sz="1500" dirty="0">
                          <a:latin typeface="Times New Roman"/>
                          <a:cs typeface="Times New Roman"/>
                        </a:rPr>
                        <a:t>Chess</a:t>
                      </a:r>
                      <a:r>
                        <a:rPr sz="1500" spc="-30" dirty="0">
                          <a:latin typeface="Times New Roman"/>
                          <a:cs typeface="Times New Roman"/>
                        </a:rPr>
                        <a:t> </a:t>
                      </a:r>
                      <a:r>
                        <a:rPr sz="1500" dirty="0">
                          <a:latin typeface="Times New Roman"/>
                          <a:cs typeface="Times New Roman"/>
                        </a:rPr>
                        <a:t>with</a:t>
                      </a:r>
                      <a:r>
                        <a:rPr sz="1500" spc="-30" dirty="0">
                          <a:latin typeface="Times New Roman"/>
                          <a:cs typeface="Times New Roman"/>
                        </a:rPr>
                        <a:t> </a:t>
                      </a:r>
                      <a:r>
                        <a:rPr sz="1500" spc="-50" dirty="0">
                          <a:latin typeface="Times New Roman"/>
                          <a:cs typeface="Times New Roman"/>
                        </a:rPr>
                        <a:t>a </a:t>
                      </a:r>
                      <a:r>
                        <a:rPr sz="1500" spc="-20" dirty="0">
                          <a:latin typeface="Times New Roman"/>
                          <a:cs typeface="Times New Roman"/>
                        </a:rPr>
                        <a:t>clock</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1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1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4253" y="1971318"/>
            <a:ext cx="9256522" cy="521938"/>
          </a:xfrm>
          <a:prstGeom prst="rect">
            <a:avLst/>
          </a:prstGeom>
        </p:spPr>
        <p:txBody>
          <a:bodyPr vert="horz" wrap="square" lIns="0" tIns="13970" rIns="0" bIns="0" rtlCol="0">
            <a:spAutoFit/>
          </a:bodyPr>
          <a:lstStyle/>
          <a:p>
            <a:pPr marL="32130">
              <a:spcBef>
                <a:spcPts val="110"/>
              </a:spcBef>
              <a:tabLst>
                <a:tab pos="8293989" algn="l"/>
              </a:tabLst>
            </a:pPr>
            <a:r>
              <a:rPr spc="-6" dirty="0"/>
              <a:t> </a:t>
            </a:r>
            <a:r>
              <a:rPr dirty="0"/>
              <a:t>How</a:t>
            </a:r>
            <a:r>
              <a:rPr spc="-209" dirty="0"/>
              <a:t> </a:t>
            </a:r>
            <a:r>
              <a:rPr dirty="0"/>
              <a:t>Agents</a:t>
            </a:r>
            <a:r>
              <a:rPr spc="6" dirty="0"/>
              <a:t> </a:t>
            </a:r>
            <a:r>
              <a:rPr spc="-11" dirty="0"/>
              <a:t>should</a:t>
            </a:r>
            <a:r>
              <a:rPr spc="-198" dirty="0"/>
              <a:t> </a:t>
            </a:r>
            <a:r>
              <a:rPr spc="-22" dirty="0"/>
              <a:t>Act?</a:t>
            </a:r>
            <a:r>
              <a:rPr spc="-11" dirty="0"/>
              <a:t>(Cont…)</a:t>
            </a:r>
          </a:p>
        </p:txBody>
      </p:sp>
      <p:sp>
        <p:nvSpPr>
          <p:cNvPr id="3" name="object 3"/>
          <p:cNvSpPr txBox="1"/>
          <p:nvPr/>
        </p:nvSpPr>
        <p:spPr>
          <a:xfrm>
            <a:off x="273364" y="820205"/>
            <a:ext cx="9256522" cy="984693"/>
          </a:xfrm>
          <a:prstGeom prst="rect">
            <a:avLst/>
          </a:prstGeom>
        </p:spPr>
        <p:txBody>
          <a:bodyPr vert="horz" wrap="square" lIns="0" tIns="94298" rIns="0" bIns="0" rtlCol="0">
            <a:spAutoFit/>
          </a:bodyPr>
          <a:lstStyle/>
          <a:p>
            <a:pPr algn="ctr">
              <a:spcBef>
                <a:spcPts val="743"/>
              </a:spcBef>
            </a:pPr>
            <a:r>
              <a:rPr sz="2640" b="1" dirty="0">
                <a:latin typeface="Times New Roman"/>
                <a:cs typeface="Times New Roman"/>
              </a:rPr>
              <a:t>:-</a:t>
            </a:r>
            <a:r>
              <a:rPr sz="2640" b="1" spc="-72" dirty="0">
                <a:latin typeface="Times New Roman"/>
                <a:cs typeface="Times New Roman"/>
              </a:rPr>
              <a:t> </a:t>
            </a:r>
            <a:r>
              <a:rPr sz="2640" b="1" u="sng" spc="-11" dirty="0">
                <a:uFill>
                  <a:solidFill>
                    <a:srgbClr val="000000"/>
                  </a:solidFill>
                </a:uFill>
                <a:latin typeface="Times New Roman"/>
                <a:cs typeface="Times New Roman"/>
              </a:rPr>
              <a:t>Environment</a:t>
            </a:r>
            <a:r>
              <a:rPr sz="2640" b="1" u="sng" spc="-38" dirty="0">
                <a:uFill>
                  <a:solidFill>
                    <a:srgbClr val="000000"/>
                  </a:solidFill>
                </a:uFill>
                <a:latin typeface="Times New Roman"/>
                <a:cs typeface="Times New Roman"/>
              </a:rPr>
              <a:t> </a:t>
            </a:r>
            <a:r>
              <a:rPr sz="2640" b="1" u="sng" dirty="0">
                <a:uFill>
                  <a:solidFill>
                    <a:srgbClr val="000000"/>
                  </a:solidFill>
                </a:uFill>
                <a:latin typeface="Times New Roman"/>
                <a:cs typeface="Times New Roman"/>
              </a:rPr>
              <a:t>Parameters</a:t>
            </a:r>
            <a:r>
              <a:rPr sz="2640" b="1" u="sng" spc="-55" dirty="0">
                <a:uFill>
                  <a:solidFill>
                    <a:srgbClr val="000000"/>
                  </a:solidFill>
                </a:uFill>
                <a:latin typeface="Times New Roman"/>
                <a:cs typeface="Times New Roman"/>
              </a:rPr>
              <a:t> </a:t>
            </a:r>
            <a:r>
              <a:rPr sz="2640" b="1" u="sng" spc="-11" dirty="0">
                <a:uFill>
                  <a:solidFill>
                    <a:srgbClr val="000000"/>
                  </a:solidFill>
                </a:uFill>
                <a:latin typeface="Times New Roman"/>
                <a:cs typeface="Times New Roman"/>
              </a:rPr>
              <a:t>for</a:t>
            </a:r>
            <a:r>
              <a:rPr sz="2640" b="1" u="sng" spc="-204" dirty="0">
                <a:uFill>
                  <a:solidFill>
                    <a:srgbClr val="000000"/>
                  </a:solidFill>
                </a:uFill>
                <a:latin typeface="Times New Roman"/>
                <a:cs typeface="Times New Roman"/>
              </a:rPr>
              <a:t> </a:t>
            </a:r>
            <a:r>
              <a:rPr sz="2640" b="1" u="sng" dirty="0">
                <a:uFill>
                  <a:solidFill>
                    <a:srgbClr val="000000"/>
                  </a:solidFill>
                </a:uFill>
                <a:latin typeface="Times New Roman"/>
                <a:cs typeface="Times New Roman"/>
              </a:rPr>
              <a:t>Agents</a:t>
            </a:r>
            <a:r>
              <a:rPr sz="2640" b="1" u="sng" spc="-28" dirty="0">
                <a:uFill>
                  <a:solidFill>
                    <a:srgbClr val="000000"/>
                  </a:solidFill>
                </a:uFill>
                <a:latin typeface="Times New Roman"/>
                <a:cs typeface="Times New Roman"/>
              </a:rPr>
              <a:t> </a:t>
            </a:r>
            <a:r>
              <a:rPr sz="2640" b="1" u="sng" dirty="0">
                <a:uFill>
                  <a:solidFill>
                    <a:srgbClr val="000000"/>
                  </a:solidFill>
                </a:uFill>
                <a:latin typeface="Times New Roman"/>
                <a:cs typeface="Times New Roman"/>
              </a:rPr>
              <a:t>to</a:t>
            </a:r>
            <a:r>
              <a:rPr sz="2640" b="1" u="sng" spc="-33" dirty="0">
                <a:uFill>
                  <a:solidFill>
                    <a:srgbClr val="000000"/>
                  </a:solidFill>
                </a:uFill>
                <a:latin typeface="Times New Roman"/>
                <a:cs typeface="Times New Roman"/>
              </a:rPr>
              <a:t> </a:t>
            </a:r>
            <a:r>
              <a:rPr sz="2640" b="1" u="sng" dirty="0">
                <a:uFill>
                  <a:solidFill>
                    <a:srgbClr val="000000"/>
                  </a:solidFill>
                </a:uFill>
                <a:latin typeface="Times New Roman"/>
                <a:cs typeface="Times New Roman"/>
              </a:rPr>
              <a:t>perform</a:t>
            </a:r>
            <a:r>
              <a:rPr sz="2640" b="1" u="sng" spc="-44" dirty="0">
                <a:uFill>
                  <a:solidFill>
                    <a:srgbClr val="000000"/>
                  </a:solidFill>
                </a:uFill>
                <a:latin typeface="Times New Roman"/>
                <a:cs typeface="Times New Roman"/>
              </a:rPr>
              <a:t> </a:t>
            </a:r>
            <a:r>
              <a:rPr sz="2640" b="1" u="sng" spc="-11" dirty="0">
                <a:uFill>
                  <a:solidFill>
                    <a:srgbClr val="000000"/>
                  </a:solidFill>
                </a:uFill>
                <a:latin typeface="Times New Roman"/>
                <a:cs typeface="Times New Roman"/>
              </a:rPr>
              <a:t>accurately</a:t>
            </a:r>
            <a:r>
              <a:rPr sz="2640" spc="-11" dirty="0">
                <a:latin typeface="Times New Roman"/>
                <a:cs typeface="Times New Roman"/>
              </a:rPr>
              <a:t>:</a:t>
            </a:r>
            <a:endParaRPr sz="2640" dirty="0">
              <a:latin typeface="Times New Roman"/>
              <a:cs typeface="Times New Roman"/>
            </a:endParaRPr>
          </a:p>
          <a:p>
            <a:pPr marR="296863" algn="ctr">
              <a:spcBef>
                <a:spcPts val="633"/>
              </a:spcBef>
            </a:pPr>
            <a:r>
              <a:rPr sz="2640" spc="-11" dirty="0">
                <a:latin typeface="Times New Roman"/>
                <a:cs typeface="Times New Roman"/>
              </a:rPr>
              <a:t>(Examples)</a:t>
            </a:r>
            <a:endParaRPr sz="2640" dirty="0">
              <a:latin typeface="Times New Roman"/>
              <a:cs typeface="Times New Roman"/>
            </a:endParaRPr>
          </a:p>
        </p:txBody>
      </p:sp>
      <p:pic>
        <p:nvPicPr>
          <p:cNvPr id="4" name="object 4"/>
          <p:cNvPicPr/>
          <p:nvPr/>
        </p:nvPicPr>
        <p:blipFill>
          <a:blip r:embed="rId2" cstate="print"/>
          <a:stretch>
            <a:fillRect/>
          </a:stretch>
        </p:blipFill>
        <p:spPr>
          <a:xfrm>
            <a:off x="93368" y="2598230"/>
            <a:ext cx="2682240" cy="2011680"/>
          </a:xfrm>
          <a:prstGeom prst="rect">
            <a:avLst/>
          </a:prstGeom>
        </p:spPr>
      </p:pic>
      <p:sp>
        <p:nvSpPr>
          <p:cNvPr id="5" name="object 5"/>
          <p:cNvSpPr txBox="1"/>
          <p:nvPr/>
        </p:nvSpPr>
        <p:spPr>
          <a:xfrm>
            <a:off x="105725" y="5017212"/>
            <a:ext cx="5469954" cy="2045432"/>
          </a:xfrm>
          <a:prstGeom prst="rect">
            <a:avLst/>
          </a:prstGeom>
        </p:spPr>
        <p:txBody>
          <a:bodyPr vert="horz" wrap="square" lIns="0" tIns="13970" rIns="0" bIns="0" rtlCol="0">
            <a:spAutoFit/>
          </a:bodyPr>
          <a:lstStyle/>
          <a:p>
            <a:pPr marL="13970" marR="5588">
              <a:spcBef>
                <a:spcPts val="110"/>
              </a:spcBef>
            </a:pPr>
            <a:r>
              <a:rPr sz="2640" dirty="0">
                <a:latin typeface="Times New Roman"/>
                <a:cs typeface="Times New Roman"/>
              </a:rPr>
              <a:t>Fully</a:t>
            </a:r>
            <a:r>
              <a:rPr sz="2640" spc="-38" dirty="0">
                <a:latin typeface="Times New Roman"/>
                <a:cs typeface="Times New Roman"/>
              </a:rPr>
              <a:t> </a:t>
            </a:r>
            <a:r>
              <a:rPr sz="2640" dirty="0">
                <a:latin typeface="Times New Roman"/>
                <a:cs typeface="Times New Roman"/>
              </a:rPr>
              <a:t>observable</a:t>
            </a:r>
            <a:r>
              <a:rPr sz="2640" spc="-44" dirty="0">
                <a:latin typeface="Times New Roman"/>
                <a:cs typeface="Times New Roman"/>
              </a:rPr>
              <a:t> </a:t>
            </a:r>
            <a:r>
              <a:rPr sz="2640" dirty="0">
                <a:latin typeface="Times New Roman"/>
                <a:cs typeface="Times New Roman"/>
              </a:rPr>
              <a:t>vs.</a:t>
            </a:r>
            <a:r>
              <a:rPr sz="2640" spc="-22" dirty="0">
                <a:latin typeface="Times New Roman"/>
                <a:cs typeface="Times New Roman"/>
              </a:rPr>
              <a:t> </a:t>
            </a:r>
            <a:r>
              <a:rPr sz="2640" dirty="0">
                <a:latin typeface="Times New Roman"/>
                <a:cs typeface="Times New Roman"/>
              </a:rPr>
              <a:t>partially</a:t>
            </a:r>
            <a:r>
              <a:rPr sz="2640" spc="-61" dirty="0">
                <a:latin typeface="Times New Roman"/>
                <a:cs typeface="Times New Roman"/>
              </a:rPr>
              <a:t> </a:t>
            </a:r>
            <a:r>
              <a:rPr sz="2640" spc="-11" dirty="0">
                <a:latin typeface="Times New Roman"/>
                <a:cs typeface="Times New Roman"/>
              </a:rPr>
              <a:t>observable </a:t>
            </a:r>
            <a:r>
              <a:rPr sz="2640" dirty="0">
                <a:latin typeface="Times New Roman"/>
                <a:cs typeface="Times New Roman"/>
              </a:rPr>
              <a:t>Deterministic</a:t>
            </a:r>
            <a:r>
              <a:rPr sz="2640" spc="-72" dirty="0">
                <a:latin typeface="Times New Roman"/>
                <a:cs typeface="Times New Roman"/>
              </a:rPr>
              <a:t> </a:t>
            </a:r>
            <a:r>
              <a:rPr sz="2640" dirty="0">
                <a:latin typeface="Times New Roman"/>
                <a:cs typeface="Times New Roman"/>
              </a:rPr>
              <a:t>vs.</a:t>
            </a:r>
            <a:r>
              <a:rPr sz="2640" spc="-11" dirty="0">
                <a:latin typeface="Times New Roman"/>
                <a:cs typeface="Times New Roman"/>
              </a:rPr>
              <a:t> </a:t>
            </a:r>
            <a:r>
              <a:rPr sz="2640" dirty="0">
                <a:latin typeface="Times New Roman"/>
                <a:cs typeface="Times New Roman"/>
              </a:rPr>
              <a:t>stochastic</a:t>
            </a:r>
            <a:r>
              <a:rPr sz="2640" spc="-66" dirty="0">
                <a:latin typeface="Times New Roman"/>
                <a:cs typeface="Times New Roman"/>
              </a:rPr>
              <a:t> </a:t>
            </a:r>
            <a:r>
              <a:rPr sz="2640" dirty="0">
                <a:latin typeface="Times New Roman"/>
                <a:cs typeface="Times New Roman"/>
              </a:rPr>
              <a:t>/</a:t>
            </a:r>
            <a:r>
              <a:rPr sz="2640" spc="-33" dirty="0">
                <a:latin typeface="Times New Roman"/>
                <a:cs typeface="Times New Roman"/>
              </a:rPr>
              <a:t> </a:t>
            </a:r>
            <a:r>
              <a:rPr sz="2640" spc="-11" dirty="0">
                <a:latin typeface="Times New Roman"/>
                <a:cs typeface="Times New Roman"/>
              </a:rPr>
              <a:t>strategic </a:t>
            </a:r>
            <a:r>
              <a:rPr sz="2640" dirty="0">
                <a:latin typeface="Times New Roman"/>
                <a:cs typeface="Times New Roman"/>
              </a:rPr>
              <a:t>Episodic</a:t>
            </a:r>
            <a:r>
              <a:rPr sz="2640" spc="-44" dirty="0">
                <a:latin typeface="Times New Roman"/>
                <a:cs typeface="Times New Roman"/>
              </a:rPr>
              <a:t> </a:t>
            </a:r>
            <a:r>
              <a:rPr sz="2640" dirty="0">
                <a:latin typeface="Times New Roman"/>
                <a:cs typeface="Times New Roman"/>
              </a:rPr>
              <a:t>vs.</a:t>
            </a:r>
            <a:r>
              <a:rPr sz="2640" spc="-11" dirty="0">
                <a:latin typeface="Times New Roman"/>
                <a:cs typeface="Times New Roman"/>
              </a:rPr>
              <a:t> sequential</a:t>
            </a:r>
            <a:endParaRPr sz="2640">
              <a:latin typeface="Times New Roman"/>
              <a:cs typeface="Times New Roman"/>
            </a:endParaRPr>
          </a:p>
          <a:p>
            <a:pPr marL="13970" marR="2308543"/>
            <a:r>
              <a:rPr sz="2640" dirty="0">
                <a:latin typeface="Times New Roman"/>
                <a:cs typeface="Times New Roman"/>
              </a:rPr>
              <a:t>Static</a:t>
            </a:r>
            <a:r>
              <a:rPr sz="2640" spc="-50" dirty="0">
                <a:latin typeface="Times New Roman"/>
                <a:cs typeface="Times New Roman"/>
              </a:rPr>
              <a:t> </a:t>
            </a:r>
            <a:r>
              <a:rPr sz="2640" dirty="0">
                <a:latin typeface="Times New Roman"/>
                <a:cs typeface="Times New Roman"/>
              </a:rPr>
              <a:t>vs.</a:t>
            </a:r>
            <a:r>
              <a:rPr sz="2640" spc="-11" dirty="0">
                <a:latin typeface="Times New Roman"/>
                <a:cs typeface="Times New Roman"/>
              </a:rPr>
              <a:t> dynamic </a:t>
            </a:r>
            <a:r>
              <a:rPr sz="2640" dirty="0">
                <a:latin typeface="Times New Roman"/>
                <a:cs typeface="Times New Roman"/>
              </a:rPr>
              <a:t>Discrete</a:t>
            </a:r>
            <a:r>
              <a:rPr sz="2640" spc="-61" dirty="0">
                <a:latin typeface="Times New Roman"/>
                <a:cs typeface="Times New Roman"/>
              </a:rPr>
              <a:t> </a:t>
            </a:r>
            <a:r>
              <a:rPr sz="2640" dirty="0">
                <a:latin typeface="Times New Roman"/>
                <a:cs typeface="Times New Roman"/>
              </a:rPr>
              <a:t>vs.</a:t>
            </a:r>
            <a:r>
              <a:rPr sz="2640" spc="-33" dirty="0">
                <a:latin typeface="Times New Roman"/>
                <a:cs typeface="Times New Roman"/>
              </a:rPr>
              <a:t> </a:t>
            </a:r>
            <a:r>
              <a:rPr sz="2640" spc="-11" dirty="0">
                <a:latin typeface="Times New Roman"/>
                <a:cs typeface="Times New Roman"/>
              </a:rPr>
              <a:t>continuous</a:t>
            </a:r>
            <a:endParaRPr sz="2640">
              <a:latin typeface="Times New Roman"/>
              <a:cs typeface="Times New Roman"/>
            </a:endParaRPr>
          </a:p>
        </p:txBody>
      </p:sp>
      <p:graphicFrame>
        <p:nvGraphicFramePr>
          <p:cNvPr id="6" name="object 6"/>
          <p:cNvGraphicFramePr>
            <a:graphicFrameLocks noGrp="1"/>
          </p:cNvGraphicFramePr>
          <p:nvPr>
            <p:extLst>
              <p:ext uri="{D42A27DB-BD31-4B8C-83A1-F6EECF244321}">
                <p14:modId xmlns:p14="http://schemas.microsoft.com/office/powerpoint/2010/main" val="2994240495"/>
              </p:ext>
            </p:extLst>
          </p:nvPr>
        </p:nvGraphicFramePr>
        <p:xfrm>
          <a:off x="2840702" y="2949613"/>
          <a:ext cx="7107931" cy="1242632"/>
        </p:xfrm>
        <a:graphic>
          <a:graphicData uri="http://schemas.openxmlformats.org/drawingml/2006/table">
            <a:tbl>
              <a:tblPr firstRow="1" bandRow="1">
                <a:tableStyleId>{2D5ABB26-0587-4C30-8999-92F81FD0307C}</a:tableStyleId>
              </a:tblPr>
              <a:tblGrid>
                <a:gridCol w="1401890">
                  <a:extLst>
                    <a:ext uri="{9D8B030D-6E8A-4147-A177-3AD203B41FA5}">
                      <a16:colId xmlns:a16="http://schemas.microsoft.com/office/drawing/2014/main" val="20000"/>
                    </a:ext>
                  </a:extLst>
                </a:gridCol>
                <a:gridCol w="792099">
                  <a:extLst>
                    <a:ext uri="{9D8B030D-6E8A-4147-A177-3AD203B41FA5}">
                      <a16:colId xmlns:a16="http://schemas.microsoft.com/office/drawing/2014/main" val="20001"/>
                    </a:ext>
                  </a:extLst>
                </a:gridCol>
                <a:gridCol w="1029588">
                  <a:extLst>
                    <a:ext uri="{9D8B030D-6E8A-4147-A177-3AD203B41FA5}">
                      <a16:colId xmlns:a16="http://schemas.microsoft.com/office/drawing/2014/main" val="20002"/>
                    </a:ext>
                  </a:extLst>
                </a:gridCol>
                <a:gridCol w="1029588">
                  <a:extLst>
                    <a:ext uri="{9D8B030D-6E8A-4147-A177-3AD203B41FA5}">
                      <a16:colId xmlns:a16="http://schemas.microsoft.com/office/drawing/2014/main" val="20003"/>
                    </a:ext>
                  </a:extLst>
                </a:gridCol>
                <a:gridCol w="823530">
                  <a:extLst>
                    <a:ext uri="{9D8B030D-6E8A-4147-A177-3AD203B41FA5}">
                      <a16:colId xmlns:a16="http://schemas.microsoft.com/office/drawing/2014/main" val="20004"/>
                    </a:ext>
                  </a:extLst>
                </a:gridCol>
                <a:gridCol w="1015618">
                  <a:extLst>
                    <a:ext uri="{9D8B030D-6E8A-4147-A177-3AD203B41FA5}">
                      <a16:colId xmlns:a16="http://schemas.microsoft.com/office/drawing/2014/main" val="20005"/>
                    </a:ext>
                  </a:extLst>
                </a:gridCol>
                <a:gridCol w="1015618">
                  <a:extLst>
                    <a:ext uri="{9D8B030D-6E8A-4147-A177-3AD203B41FA5}">
                      <a16:colId xmlns:a16="http://schemas.microsoft.com/office/drawing/2014/main" val="20006"/>
                    </a:ext>
                  </a:extLst>
                </a:gridCol>
              </a:tblGrid>
              <a:tr h="569278">
                <a:tc>
                  <a:txBody>
                    <a:bodyPr/>
                    <a:lstStyle/>
                    <a:p>
                      <a:pPr marL="91440">
                        <a:lnSpc>
                          <a:spcPct val="100000"/>
                        </a:lnSpc>
                        <a:spcBef>
                          <a:spcPts val="320"/>
                        </a:spcBef>
                      </a:pPr>
                      <a:r>
                        <a:rPr sz="1500" b="1" spc="-10" dirty="0">
                          <a:latin typeface="Times New Roman"/>
                          <a:cs typeface="Times New Roman"/>
                        </a:rPr>
                        <a:t>Environments</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b="1" spc="-10" dirty="0">
                          <a:latin typeface="Times New Roman"/>
                          <a:cs typeface="Times New Roman"/>
                        </a:rPr>
                        <a:t>Obser</a:t>
                      </a:r>
                      <a:endParaRPr sz="1500">
                        <a:latin typeface="Times New Roman"/>
                        <a:cs typeface="Times New Roman"/>
                      </a:endParaRPr>
                    </a:p>
                    <a:p>
                      <a:pPr marL="92075">
                        <a:lnSpc>
                          <a:spcPct val="100000"/>
                        </a:lnSpc>
                      </a:pPr>
                      <a:r>
                        <a:rPr sz="1500" b="1" spc="-20" dirty="0">
                          <a:latin typeface="Times New Roman"/>
                          <a:cs typeface="Times New Roman"/>
                        </a:rPr>
                        <a:t>vable</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b="1" spc="-10" dirty="0">
                          <a:latin typeface="Times New Roman"/>
                          <a:cs typeface="Times New Roman"/>
                        </a:rPr>
                        <a:t>Determin</a:t>
                      </a:r>
                      <a:endParaRPr sz="1500">
                        <a:latin typeface="Times New Roman"/>
                        <a:cs typeface="Times New Roman"/>
                      </a:endParaRPr>
                    </a:p>
                    <a:p>
                      <a:pPr marL="92075">
                        <a:lnSpc>
                          <a:spcPct val="100000"/>
                        </a:lnSpc>
                      </a:pPr>
                      <a:r>
                        <a:rPr sz="1500" b="1" spc="-10" dirty="0">
                          <a:latin typeface="Times New Roman"/>
                          <a:cs typeface="Times New Roman"/>
                        </a:rPr>
                        <a:t>istic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b="1" spc="-10" dirty="0">
                          <a:latin typeface="Times New Roman"/>
                          <a:cs typeface="Times New Roman"/>
                        </a:rPr>
                        <a:t>Episodic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b="1" spc="-10" dirty="0">
                          <a:latin typeface="Times New Roman"/>
                          <a:cs typeface="Times New Roman"/>
                        </a:rPr>
                        <a:t>Static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b="1" spc="-10" dirty="0">
                          <a:latin typeface="Times New Roman"/>
                          <a:cs typeface="Times New Roman"/>
                        </a:rPr>
                        <a:t>Discrete</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b="1" spc="-10" dirty="0">
                          <a:latin typeface="Times New Roman"/>
                          <a:cs typeface="Times New Roman"/>
                        </a:rPr>
                        <a:t>Agents</a:t>
                      </a:r>
                      <a:endParaRPr sz="1500" dirty="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673354">
                <a:tc>
                  <a:txBody>
                    <a:bodyPr/>
                    <a:lstStyle/>
                    <a:p>
                      <a:pPr marL="91440" marR="264160">
                        <a:lnSpc>
                          <a:spcPct val="100000"/>
                        </a:lnSpc>
                        <a:spcBef>
                          <a:spcPts val="320"/>
                        </a:spcBef>
                      </a:pPr>
                      <a:r>
                        <a:rPr sz="1500" dirty="0">
                          <a:latin typeface="Times New Roman"/>
                          <a:cs typeface="Times New Roman"/>
                        </a:rPr>
                        <a:t>Chess</a:t>
                      </a:r>
                      <a:r>
                        <a:rPr sz="1500" spc="-30" dirty="0">
                          <a:latin typeface="Times New Roman"/>
                          <a:cs typeface="Times New Roman"/>
                        </a:rPr>
                        <a:t> </a:t>
                      </a:r>
                      <a:r>
                        <a:rPr sz="1500" dirty="0">
                          <a:latin typeface="Times New Roman"/>
                          <a:cs typeface="Times New Roman"/>
                        </a:rPr>
                        <a:t>with</a:t>
                      </a:r>
                      <a:r>
                        <a:rPr sz="1500" spc="-30" dirty="0">
                          <a:latin typeface="Times New Roman"/>
                          <a:cs typeface="Times New Roman"/>
                        </a:rPr>
                        <a:t> </a:t>
                      </a:r>
                      <a:r>
                        <a:rPr sz="1500" spc="-50" dirty="0">
                          <a:latin typeface="Times New Roman"/>
                          <a:cs typeface="Times New Roman"/>
                        </a:rPr>
                        <a:t>a </a:t>
                      </a:r>
                      <a:r>
                        <a:rPr sz="1500" spc="-20" dirty="0">
                          <a:latin typeface="Times New Roman"/>
                          <a:cs typeface="Times New Roman"/>
                        </a:rPr>
                        <a:t>clock</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Fully</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Strategic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Sequential</a:t>
                      </a:r>
                      <a:endParaRPr sz="1500" dirty="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20" dirty="0">
                          <a:latin typeface="Times New Roman"/>
                          <a:cs typeface="Times New Roman"/>
                        </a:rPr>
                        <a:t>Semi</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spc="-10" dirty="0">
                          <a:latin typeface="Times New Roman"/>
                          <a:cs typeface="Times New Roman"/>
                        </a:rPr>
                        <a:t>Discrete</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spc="-10" dirty="0">
                          <a:latin typeface="Times New Roman"/>
                          <a:cs typeface="Times New Roman"/>
                        </a:rPr>
                        <a:t>Multi</a:t>
                      </a:r>
                      <a:endParaRPr sz="1500" dirty="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85800" y="1763995"/>
            <a:ext cx="8458200" cy="521938"/>
          </a:xfrm>
          <a:prstGeom prst="rect">
            <a:avLst/>
          </a:prstGeom>
        </p:spPr>
        <p:txBody>
          <a:bodyPr vert="horz" wrap="square" lIns="0" tIns="13970" rIns="0" bIns="0" rtlCol="0">
            <a:spAutoFit/>
          </a:bodyPr>
          <a:lstStyle/>
          <a:p>
            <a:pPr marL="32130">
              <a:spcBef>
                <a:spcPts val="110"/>
              </a:spcBef>
              <a:tabLst>
                <a:tab pos="8293989" algn="l"/>
              </a:tabLst>
            </a:pPr>
            <a:r>
              <a:rPr dirty="0"/>
              <a:t>.</a:t>
            </a:r>
            <a:r>
              <a:rPr spc="-6" dirty="0"/>
              <a:t> </a:t>
            </a:r>
            <a:r>
              <a:rPr dirty="0"/>
              <a:t>How</a:t>
            </a:r>
            <a:r>
              <a:rPr spc="-209" dirty="0"/>
              <a:t> </a:t>
            </a:r>
            <a:r>
              <a:rPr dirty="0"/>
              <a:t>Agents</a:t>
            </a:r>
            <a:r>
              <a:rPr spc="6" dirty="0"/>
              <a:t> </a:t>
            </a:r>
            <a:r>
              <a:rPr spc="-11" dirty="0"/>
              <a:t>should</a:t>
            </a:r>
            <a:r>
              <a:rPr spc="-198" dirty="0"/>
              <a:t> </a:t>
            </a:r>
            <a:r>
              <a:rPr spc="-22" dirty="0"/>
              <a:t>Act?</a:t>
            </a:r>
            <a:r>
              <a:rPr lang="en-US" spc="-22" dirty="0"/>
              <a:t>    </a:t>
            </a:r>
            <a:r>
              <a:rPr spc="-11" dirty="0"/>
              <a:t>(Cont…)</a:t>
            </a:r>
          </a:p>
        </p:txBody>
      </p:sp>
      <p:sp>
        <p:nvSpPr>
          <p:cNvPr id="3" name="object 3"/>
          <p:cNvSpPr txBox="1"/>
          <p:nvPr/>
        </p:nvSpPr>
        <p:spPr>
          <a:xfrm>
            <a:off x="273364" y="820205"/>
            <a:ext cx="9256522" cy="984693"/>
          </a:xfrm>
          <a:prstGeom prst="rect">
            <a:avLst/>
          </a:prstGeom>
        </p:spPr>
        <p:txBody>
          <a:bodyPr vert="horz" wrap="square" lIns="0" tIns="94298" rIns="0" bIns="0" rtlCol="0">
            <a:spAutoFit/>
          </a:bodyPr>
          <a:lstStyle/>
          <a:p>
            <a:pPr algn="ctr">
              <a:spcBef>
                <a:spcPts val="743"/>
              </a:spcBef>
            </a:pPr>
            <a:r>
              <a:rPr sz="2640" b="1" dirty="0">
                <a:latin typeface="Times New Roman"/>
                <a:cs typeface="Times New Roman"/>
              </a:rPr>
              <a:t>:-</a:t>
            </a:r>
            <a:r>
              <a:rPr sz="2640" b="1" spc="-72" dirty="0">
                <a:latin typeface="Times New Roman"/>
                <a:cs typeface="Times New Roman"/>
              </a:rPr>
              <a:t> </a:t>
            </a:r>
            <a:r>
              <a:rPr sz="2640" b="1" u="sng" spc="-11" dirty="0">
                <a:uFill>
                  <a:solidFill>
                    <a:srgbClr val="000000"/>
                  </a:solidFill>
                </a:uFill>
                <a:latin typeface="Times New Roman"/>
                <a:cs typeface="Times New Roman"/>
              </a:rPr>
              <a:t>Environment</a:t>
            </a:r>
            <a:r>
              <a:rPr sz="2640" b="1" u="sng" spc="-38" dirty="0">
                <a:uFill>
                  <a:solidFill>
                    <a:srgbClr val="000000"/>
                  </a:solidFill>
                </a:uFill>
                <a:latin typeface="Times New Roman"/>
                <a:cs typeface="Times New Roman"/>
              </a:rPr>
              <a:t> </a:t>
            </a:r>
            <a:r>
              <a:rPr sz="2640" b="1" u="sng" dirty="0">
                <a:uFill>
                  <a:solidFill>
                    <a:srgbClr val="000000"/>
                  </a:solidFill>
                </a:uFill>
                <a:latin typeface="Times New Roman"/>
                <a:cs typeface="Times New Roman"/>
              </a:rPr>
              <a:t>Parameters</a:t>
            </a:r>
            <a:r>
              <a:rPr sz="2640" b="1" u="sng" spc="-55" dirty="0">
                <a:uFill>
                  <a:solidFill>
                    <a:srgbClr val="000000"/>
                  </a:solidFill>
                </a:uFill>
                <a:latin typeface="Times New Roman"/>
                <a:cs typeface="Times New Roman"/>
              </a:rPr>
              <a:t> </a:t>
            </a:r>
            <a:r>
              <a:rPr sz="2640" b="1" u="sng" spc="-11" dirty="0">
                <a:uFill>
                  <a:solidFill>
                    <a:srgbClr val="000000"/>
                  </a:solidFill>
                </a:uFill>
                <a:latin typeface="Times New Roman"/>
                <a:cs typeface="Times New Roman"/>
              </a:rPr>
              <a:t>for</a:t>
            </a:r>
            <a:r>
              <a:rPr sz="2640" b="1" u="sng" spc="-204" dirty="0">
                <a:uFill>
                  <a:solidFill>
                    <a:srgbClr val="000000"/>
                  </a:solidFill>
                </a:uFill>
                <a:latin typeface="Times New Roman"/>
                <a:cs typeface="Times New Roman"/>
              </a:rPr>
              <a:t> </a:t>
            </a:r>
            <a:r>
              <a:rPr sz="2640" b="1" u="sng" dirty="0">
                <a:uFill>
                  <a:solidFill>
                    <a:srgbClr val="000000"/>
                  </a:solidFill>
                </a:uFill>
                <a:latin typeface="Times New Roman"/>
                <a:cs typeface="Times New Roman"/>
              </a:rPr>
              <a:t>Agents</a:t>
            </a:r>
            <a:r>
              <a:rPr sz="2640" b="1" u="sng" spc="-28" dirty="0">
                <a:uFill>
                  <a:solidFill>
                    <a:srgbClr val="000000"/>
                  </a:solidFill>
                </a:uFill>
                <a:latin typeface="Times New Roman"/>
                <a:cs typeface="Times New Roman"/>
              </a:rPr>
              <a:t> </a:t>
            </a:r>
            <a:r>
              <a:rPr sz="2640" b="1" u="sng" dirty="0">
                <a:uFill>
                  <a:solidFill>
                    <a:srgbClr val="000000"/>
                  </a:solidFill>
                </a:uFill>
                <a:latin typeface="Times New Roman"/>
                <a:cs typeface="Times New Roman"/>
              </a:rPr>
              <a:t>to</a:t>
            </a:r>
            <a:r>
              <a:rPr sz="2640" b="1" u="sng" spc="-33" dirty="0">
                <a:uFill>
                  <a:solidFill>
                    <a:srgbClr val="000000"/>
                  </a:solidFill>
                </a:uFill>
                <a:latin typeface="Times New Roman"/>
                <a:cs typeface="Times New Roman"/>
              </a:rPr>
              <a:t> </a:t>
            </a:r>
            <a:r>
              <a:rPr sz="2640" b="1" u="sng" dirty="0">
                <a:uFill>
                  <a:solidFill>
                    <a:srgbClr val="000000"/>
                  </a:solidFill>
                </a:uFill>
                <a:latin typeface="Times New Roman"/>
                <a:cs typeface="Times New Roman"/>
              </a:rPr>
              <a:t>perform</a:t>
            </a:r>
            <a:r>
              <a:rPr sz="2640" b="1" u="sng" spc="-44" dirty="0">
                <a:uFill>
                  <a:solidFill>
                    <a:srgbClr val="000000"/>
                  </a:solidFill>
                </a:uFill>
                <a:latin typeface="Times New Roman"/>
                <a:cs typeface="Times New Roman"/>
              </a:rPr>
              <a:t> </a:t>
            </a:r>
            <a:r>
              <a:rPr sz="2640" b="1" u="sng" spc="-11" dirty="0">
                <a:uFill>
                  <a:solidFill>
                    <a:srgbClr val="000000"/>
                  </a:solidFill>
                </a:uFill>
                <a:latin typeface="Times New Roman"/>
                <a:cs typeface="Times New Roman"/>
              </a:rPr>
              <a:t>accurately</a:t>
            </a:r>
            <a:r>
              <a:rPr sz="2640" spc="-11" dirty="0">
                <a:latin typeface="Times New Roman"/>
                <a:cs typeface="Times New Roman"/>
              </a:rPr>
              <a:t>:</a:t>
            </a:r>
            <a:endParaRPr sz="2640" dirty="0">
              <a:latin typeface="Times New Roman"/>
              <a:cs typeface="Times New Roman"/>
            </a:endParaRPr>
          </a:p>
          <a:p>
            <a:pPr marR="296863" algn="ctr">
              <a:spcBef>
                <a:spcPts val="633"/>
              </a:spcBef>
            </a:pPr>
            <a:r>
              <a:rPr sz="2640" spc="-11" dirty="0">
                <a:latin typeface="Times New Roman"/>
                <a:cs typeface="Times New Roman"/>
              </a:rPr>
              <a:t>(Examples)</a:t>
            </a:r>
            <a:endParaRPr sz="2640" dirty="0">
              <a:latin typeface="Times New Roman"/>
              <a:cs typeface="Times New Roman"/>
            </a:endParaRPr>
          </a:p>
        </p:txBody>
      </p:sp>
      <p:pic>
        <p:nvPicPr>
          <p:cNvPr id="4" name="object 4"/>
          <p:cNvPicPr/>
          <p:nvPr/>
        </p:nvPicPr>
        <p:blipFill>
          <a:blip r:embed="rId2" cstate="print"/>
          <a:stretch>
            <a:fillRect/>
          </a:stretch>
        </p:blipFill>
        <p:spPr>
          <a:xfrm>
            <a:off x="51098" y="2575411"/>
            <a:ext cx="2643683" cy="1927860"/>
          </a:xfrm>
          <a:prstGeom prst="rect">
            <a:avLst/>
          </a:prstGeom>
        </p:spPr>
      </p:pic>
      <p:graphicFrame>
        <p:nvGraphicFramePr>
          <p:cNvPr id="5" name="object 5"/>
          <p:cNvGraphicFramePr>
            <a:graphicFrameLocks noGrp="1"/>
          </p:cNvGraphicFramePr>
          <p:nvPr>
            <p:extLst>
              <p:ext uri="{D42A27DB-BD31-4B8C-83A1-F6EECF244321}">
                <p14:modId xmlns:p14="http://schemas.microsoft.com/office/powerpoint/2010/main" val="384048230"/>
              </p:ext>
            </p:extLst>
          </p:nvPr>
        </p:nvGraphicFramePr>
        <p:xfrm>
          <a:off x="2900065" y="2765054"/>
          <a:ext cx="7107237" cy="1548573"/>
        </p:xfrm>
        <a:graphic>
          <a:graphicData uri="http://schemas.openxmlformats.org/drawingml/2006/table">
            <a:tbl>
              <a:tblPr firstRow="1" bandRow="1">
                <a:tableStyleId>{2D5ABB26-0587-4C30-8999-92F81FD0307C}</a:tableStyleId>
              </a:tblPr>
              <a:tblGrid>
                <a:gridCol w="1403985">
                  <a:extLst>
                    <a:ext uri="{9D8B030D-6E8A-4147-A177-3AD203B41FA5}">
                      <a16:colId xmlns:a16="http://schemas.microsoft.com/office/drawing/2014/main" val="20000"/>
                    </a:ext>
                  </a:extLst>
                </a:gridCol>
                <a:gridCol w="803275">
                  <a:extLst>
                    <a:ext uri="{9D8B030D-6E8A-4147-A177-3AD203B41FA5}">
                      <a16:colId xmlns:a16="http://schemas.microsoft.com/office/drawing/2014/main" val="20001"/>
                    </a:ext>
                  </a:extLst>
                </a:gridCol>
                <a:gridCol w="963930">
                  <a:extLst>
                    <a:ext uri="{9D8B030D-6E8A-4147-A177-3AD203B41FA5}">
                      <a16:colId xmlns:a16="http://schemas.microsoft.com/office/drawing/2014/main" val="20002"/>
                    </a:ext>
                  </a:extLst>
                </a:gridCol>
                <a:gridCol w="1044258">
                  <a:extLst>
                    <a:ext uri="{9D8B030D-6E8A-4147-A177-3AD203B41FA5}">
                      <a16:colId xmlns:a16="http://schemas.microsoft.com/office/drawing/2014/main" val="20003"/>
                    </a:ext>
                  </a:extLst>
                </a:gridCol>
                <a:gridCol w="861249">
                  <a:extLst>
                    <a:ext uri="{9D8B030D-6E8A-4147-A177-3AD203B41FA5}">
                      <a16:colId xmlns:a16="http://schemas.microsoft.com/office/drawing/2014/main" val="20004"/>
                    </a:ext>
                  </a:extLst>
                </a:gridCol>
                <a:gridCol w="1016318">
                  <a:extLst>
                    <a:ext uri="{9D8B030D-6E8A-4147-A177-3AD203B41FA5}">
                      <a16:colId xmlns:a16="http://schemas.microsoft.com/office/drawing/2014/main" val="20005"/>
                    </a:ext>
                  </a:extLst>
                </a:gridCol>
                <a:gridCol w="1014222">
                  <a:extLst>
                    <a:ext uri="{9D8B030D-6E8A-4147-A177-3AD203B41FA5}">
                      <a16:colId xmlns:a16="http://schemas.microsoft.com/office/drawing/2014/main" val="20006"/>
                    </a:ext>
                  </a:extLst>
                </a:gridCol>
              </a:tblGrid>
              <a:tr h="569975">
                <a:tc>
                  <a:txBody>
                    <a:bodyPr/>
                    <a:lstStyle/>
                    <a:p>
                      <a:pPr marL="92075">
                        <a:lnSpc>
                          <a:spcPct val="100000"/>
                        </a:lnSpc>
                        <a:spcBef>
                          <a:spcPts val="320"/>
                        </a:spcBef>
                      </a:pPr>
                      <a:r>
                        <a:rPr sz="1500" b="1" spc="-10" dirty="0">
                          <a:latin typeface="Times New Roman"/>
                          <a:cs typeface="Times New Roman"/>
                        </a:rPr>
                        <a:t>Environments</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marR="164465">
                        <a:lnSpc>
                          <a:spcPct val="100000"/>
                        </a:lnSpc>
                        <a:spcBef>
                          <a:spcPts val="320"/>
                        </a:spcBef>
                      </a:pPr>
                      <a:r>
                        <a:rPr sz="1500" b="1" spc="-10" dirty="0">
                          <a:latin typeface="Times New Roman"/>
                          <a:cs typeface="Times New Roman"/>
                        </a:rPr>
                        <a:t>Obser vable</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marR="154940">
                        <a:lnSpc>
                          <a:spcPct val="100000"/>
                        </a:lnSpc>
                        <a:spcBef>
                          <a:spcPts val="320"/>
                        </a:spcBef>
                      </a:pPr>
                      <a:r>
                        <a:rPr sz="1500" b="1" spc="-10" dirty="0">
                          <a:latin typeface="Times New Roman"/>
                          <a:cs typeface="Times New Roman"/>
                        </a:rPr>
                        <a:t>Determi nistic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b="1" spc="-10" dirty="0">
                          <a:latin typeface="Times New Roman"/>
                          <a:cs typeface="Times New Roman"/>
                        </a:rPr>
                        <a:t>Episodic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b="1" spc="-10" dirty="0">
                          <a:latin typeface="Times New Roman"/>
                          <a:cs typeface="Times New Roman"/>
                        </a:rPr>
                        <a:t>Static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b="1" spc="-10" dirty="0">
                          <a:latin typeface="Times New Roman"/>
                          <a:cs typeface="Times New Roman"/>
                        </a:rPr>
                        <a:t>Discrete</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b="1" spc="-10" dirty="0">
                          <a:latin typeface="Times New Roman"/>
                          <a:cs typeface="Times New Roman"/>
                        </a:rPr>
                        <a:t>Agents</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569975">
                <a:tc>
                  <a:txBody>
                    <a:bodyPr/>
                    <a:lstStyle/>
                    <a:p>
                      <a:pPr marL="92075">
                        <a:lnSpc>
                          <a:spcPct val="100000"/>
                        </a:lnSpc>
                        <a:spcBef>
                          <a:spcPts val="320"/>
                        </a:spcBef>
                      </a:pPr>
                      <a:r>
                        <a:rPr sz="1500" dirty="0">
                          <a:latin typeface="Times New Roman"/>
                          <a:cs typeface="Times New Roman"/>
                        </a:rPr>
                        <a:t>Chess</a:t>
                      </a:r>
                      <a:r>
                        <a:rPr sz="1500" spc="-30" dirty="0">
                          <a:latin typeface="Times New Roman"/>
                          <a:cs typeface="Times New Roman"/>
                        </a:rPr>
                        <a:t> </a:t>
                      </a:r>
                      <a:r>
                        <a:rPr sz="1500" dirty="0">
                          <a:latin typeface="Times New Roman"/>
                          <a:cs typeface="Times New Roman"/>
                        </a:rPr>
                        <a:t>with</a:t>
                      </a:r>
                      <a:r>
                        <a:rPr sz="1500" spc="-30" dirty="0">
                          <a:latin typeface="Times New Roman"/>
                          <a:cs typeface="Times New Roman"/>
                        </a:rPr>
                        <a:t> </a:t>
                      </a:r>
                      <a:r>
                        <a:rPr sz="1500" spc="-50" dirty="0">
                          <a:latin typeface="Times New Roman"/>
                          <a:cs typeface="Times New Roman"/>
                        </a:rPr>
                        <a:t>a</a:t>
                      </a:r>
                      <a:endParaRPr sz="1500">
                        <a:latin typeface="Times New Roman"/>
                        <a:cs typeface="Times New Roman"/>
                      </a:endParaRPr>
                    </a:p>
                    <a:p>
                      <a:pPr marL="92075">
                        <a:lnSpc>
                          <a:spcPct val="100000"/>
                        </a:lnSpc>
                      </a:pPr>
                      <a:r>
                        <a:rPr sz="1500" spc="-20" dirty="0">
                          <a:latin typeface="Times New Roman"/>
                          <a:cs typeface="Times New Roman"/>
                        </a:rPr>
                        <a:t>clock</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Fully</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Strategic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Sequential</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spc="-20" dirty="0">
                          <a:latin typeface="Times New Roman"/>
                          <a:cs typeface="Times New Roman"/>
                        </a:rPr>
                        <a:t>Semi</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Discrete</a:t>
                      </a:r>
                      <a:endParaRPr sz="1500" dirty="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spc="-10" dirty="0">
                          <a:latin typeface="Times New Roman"/>
                          <a:cs typeface="Times New Roman"/>
                        </a:rPr>
                        <a:t>Multi</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408623">
                <a:tc>
                  <a:txBody>
                    <a:bodyPr/>
                    <a:lstStyle/>
                    <a:p>
                      <a:pPr marL="92075">
                        <a:lnSpc>
                          <a:spcPct val="100000"/>
                        </a:lnSpc>
                        <a:spcBef>
                          <a:spcPts val="320"/>
                        </a:spcBef>
                      </a:pPr>
                      <a:r>
                        <a:rPr sz="1500" spc="-10" dirty="0">
                          <a:latin typeface="Times New Roman"/>
                          <a:cs typeface="Times New Roman"/>
                        </a:rPr>
                        <a:t>Taxi</a:t>
                      </a:r>
                      <a:r>
                        <a:rPr sz="1500" spc="-80" dirty="0">
                          <a:latin typeface="Times New Roman"/>
                          <a:cs typeface="Times New Roman"/>
                        </a:rPr>
                        <a:t> </a:t>
                      </a:r>
                      <a:r>
                        <a:rPr sz="1500" spc="-10" dirty="0">
                          <a:latin typeface="Times New Roman"/>
                          <a:cs typeface="Times New Roman"/>
                        </a:rPr>
                        <a:t>driving</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0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sp>
        <p:nvSpPr>
          <p:cNvPr id="6" name="object 6"/>
          <p:cNvSpPr txBox="1"/>
          <p:nvPr/>
        </p:nvSpPr>
        <p:spPr>
          <a:xfrm>
            <a:off x="105725" y="5053718"/>
            <a:ext cx="7995730" cy="2416046"/>
          </a:xfrm>
          <a:prstGeom prst="rect">
            <a:avLst/>
          </a:prstGeom>
        </p:spPr>
        <p:txBody>
          <a:bodyPr vert="horz" wrap="square" lIns="0" tIns="0" rIns="0" bIns="0" rtlCol="0">
            <a:spAutoFit/>
          </a:bodyPr>
          <a:lstStyle/>
          <a:p>
            <a:pPr marL="13970">
              <a:lnSpc>
                <a:spcPts val="2992"/>
              </a:lnSpc>
            </a:pPr>
            <a:r>
              <a:rPr sz="2640" dirty="0">
                <a:latin typeface="Times New Roman"/>
                <a:cs typeface="Times New Roman"/>
              </a:rPr>
              <a:t>Fully</a:t>
            </a:r>
            <a:r>
              <a:rPr sz="2640" spc="-38" dirty="0">
                <a:latin typeface="Times New Roman"/>
                <a:cs typeface="Times New Roman"/>
              </a:rPr>
              <a:t> </a:t>
            </a:r>
            <a:r>
              <a:rPr sz="2640" dirty="0">
                <a:latin typeface="Times New Roman"/>
                <a:cs typeface="Times New Roman"/>
              </a:rPr>
              <a:t>observable</a:t>
            </a:r>
            <a:r>
              <a:rPr sz="2640" spc="-44" dirty="0">
                <a:latin typeface="Times New Roman"/>
                <a:cs typeface="Times New Roman"/>
              </a:rPr>
              <a:t> </a:t>
            </a:r>
            <a:r>
              <a:rPr sz="2640" dirty="0">
                <a:latin typeface="Times New Roman"/>
                <a:cs typeface="Times New Roman"/>
              </a:rPr>
              <a:t>vs.</a:t>
            </a:r>
            <a:r>
              <a:rPr sz="2640" spc="-22" dirty="0">
                <a:latin typeface="Times New Roman"/>
                <a:cs typeface="Times New Roman"/>
              </a:rPr>
              <a:t> </a:t>
            </a:r>
            <a:r>
              <a:rPr sz="2640" dirty="0">
                <a:latin typeface="Times New Roman"/>
                <a:cs typeface="Times New Roman"/>
              </a:rPr>
              <a:t>partially</a:t>
            </a:r>
            <a:r>
              <a:rPr sz="2640" spc="-61" dirty="0">
                <a:latin typeface="Times New Roman"/>
                <a:cs typeface="Times New Roman"/>
              </a:rPr>
              <a:t> </a:t>
            </a:r>
            <a:r>
              <a:rPr sz="2640" spc="-11" dirty="0">
                <a:latin typeface="Times New Roman"/>
                <a:cs typeface="Times New Roman"/>
              </a:rPr>
              <a:t>observable</a:t>
            </a:r>
            <a:endParaRPr sz="2640" dirty="0">
              <a:latin typeface="Times New Roman"/>
              <a:cs typeface="Times New Roman"/>
            </a:endParaRPr>
          </a:p>
          <a:p>
            <a:pPr marL="13970"/>
            <a:r>
              <a:rPr sz="2640" dirty="0">
                <a:latin typeface="Times New Roman"/>
                <a:cs typeface="Times New Roman"/>
              </a:rPr>
              <a:t>Deterministic</a:t>
            </a:r>
            <a:r>
              <a:rPr sz="2640" spc="-72" dirty="0">
                <a:latin typeface="Times New Roman"/>
                <a:cs typeface="Times New Roman"/>
              </a:rPr>
              <a:t> </a:t>
            </a:r>
            <a:r>
              <a:rPr sz="2640" dirty="0">
                <a:latin typeface="Times New Roman"/>
                <a:cs typeface="Times New Roman"/>
              </a:rPr>
              <a:t>vs.</a:t>
            </a:r>
            <a:r>
              <a:rPr sz="2640" spc="-11" dirty="0">
                <a:latin typeface="Times New Roman"/>
                <a:cs typeface="Times New Roman"/>
              </a:rPr>
              <a:t> </a:t>
            </a:r>
            <a:r>
              <a:rPr sz="2640" dirty="0">
                <a:latin typeface="Times New Roman"/>
                <a:cs typeface="Times New Roman"/>
              </a:rPr>
              <a:t>stochastic</a:t>
            </a:r>
            <a:r>
              <a:rPr sz="2640" spc="-66" dirty="0">
                <a:latin typeface="Times New Roman"/>
                <a:cs typeface="Times New Roman"/>
              </a:rPr>
              <a:t> </a:t>
            </a:r>
            <a:r>
              <a:rPr sz="2640" dirty="0">
                <a:latin typeface="Times New Roman"/>
                <a:cs typeface="Times New Roman"/>
              </a:rPr>
              <a:t>/</a:t>
            </a:r>
            <a:r>
              <a:rPr sz="2640" spc="-33" dirty="0">
                <a:latin typeface="Times New Roman"/>
                <a:cs typeface="Times New Roman"/>
              </a:rPr>
              <a:t> </a:t>
            </a:r>
            <a:r>
              <a:rPr sz="2640" spc="-11" dirty="0">
                <a:latin typeface="Times New Roman"/>
                <a:cs typeface="Times New Roman"/>
              </a:rPr>
              <a:t>strategic</a:t>
            </a:r>
            <a:endParaRPr sz="2640" dirty="0">
              <a:latin typeface="Times New Roman"/>
              <a:cs typeface="Times New Roman"/>
            </a:endParaRPr>
          </a:p>
          <a:p>
            <a:pPr marL="13970" marR="4323017"/>
            <a:r>
              <a:rPr sz="2640" dirty="0">
                <a:latin typeface="Times New Roman"/>
                <a:cs typeface="Times New Roman"/>
              </a:rPr>
              <a:t>Episodic</a:t>
            </a:r>
            <a:r>
              <a:rPr sz="2640" spc="-44" dirty="0">
                <a:latin typeface="Times New Roman"/>
                <a:cs typeface="Times New Roman"/>
              </a:rPr>
              <a:t> </a:t>
            </a:r>
            <a:r>
              <a:rPr sz="2640" dirty="0">
                <a:latin typeface="Times New Roman"/>
                <a:cs typeface="Times New Roman"/>
              </a:rPr>
              <a:t>vs.</a:t>
            </a:r>
            <a:r>
              <a:rPr sz="2640" spc="-11" dirty="0">
                <a:latin typeface="Times New Roman"/>
                <a:cs typeface="Times New Roman"/>
              </a:rPr>
              <a:t> sequential </a:t>
            </a:r>
            <a:r>
              <a:rPr sz="2640" dirty="0">
                <a:latin typeface="Times New Roman"/>
                <a:cs typeface="Times New Roman"/>
              </a:rPr>
              <a:t>Static</a:t>
            </a:r>
            <a:r>
              <a:rPr sz="2640" spc="-50" dirty="0">
                <a:latin typeface="Times New Roman"/>
                <a:cs typeface="Times New Roman"/>
              </a:rPr>
              <a:t> </a:t>
            </a:r>
            <a:r>
              <a:rPr sz="2640" dirty="0">
                <a:latin typeface="Times New Roman"/>
                <a:cs typeface="Times New Roman"/>
              </a:rPr>
              <a:t>vs.</a:t>
            </a:r>
            <a:r>
              <a:rPr sz="2640" spc="-11" dirty="0">
                <a:latin typeface="Times New Roman"/>
                <a:cs typeface="Times New Roman"/>
              </a:rPr>
              <a:t> dynamic</a:t>
            </a:r>
            <a:r>
              <a:rPr sz="2640" spc="660" dirty="0">
                <a:latin typeface="Times New Roman"/>
                <a:cs typeface="Times New Roman"/>
              </a:rPr>
              <a:t> </a:t>
            </a:r>
            <a:r>
              <a:rPr sz="2640" dirty="0">
                <a:latin typeface="Times New Roman"/>
                <a:cs typeface="Times New Roman"/>
              </a:rPr>
              <a:t>Discrete</a:t>
            </a:r>
            <a:r>
              <a:rPr sz="2640" spc="-61" dirty="0">
                <a:latin typeface="Times New Roman"/>
                <a:cs typeface="Times New Roman"/>
              </a:rPr>
              <a:t> </a:t>
            </a:r>
            <a:r>
              <a:rPr sz="2640" dirty="0">
                <a:latin typeface="Times New Roman"/>
                <a:cs typeface="Times New Roman"/>
              </a:rPr>
              <a:t>vs.</a:t>
            </a:r>
            <a:r>
              <a:rPr sz="2640" spc="-33" dirty="0">
                <a:latin typeface="Times New Roman"/>
                <a:cs typeface="Times New Roman"/>
              </a:rPr>
              <a:t> </a:t>
            </a:r>
            <a:r>
              <a:rPr sz="2640" spc="-11" dirty="0">
                <a:latin typeface="Times New Roman"/>
                <a:cs typeface="Times New Roman"/>
              </a:rPr>
              <a:t>continuous </a:t>
            </a:r>
            <a:r>
              <a:rPr sz="2640" dirty="0">
                <a:latin typeface="Times New Roman"/>
                <a:cs typeface="Times New Roman"/>
              </a:rPr>
              <a:t>Single</a:t>
            </a:r>
            <a:r>
              <a:rPr sz="2640" spc="-38" dirty="0">
                <a:latin typeface="Times New Roman"/>
                <a:cs typeface="Times New Roman"/>
              </a:rPr>
              <a:t> </a:t>
            </a:r>
            <a:r>
              <a:rPr sz="2640" dirty="0">
                <a:latin typeface="Times New Roman"/>
                <a:cs typeface="Times New Roman"/>
              </a:rPr>
              <a:t>agent</a:t>
            </a:r>
            <a:r>
              <a:rPr sz="2640" spc="-22" dirty="0">
                <a:latin typeface="Times New Roman"/>
                <a:cs typeface="Times New Roman"/>
              </a:rPr>
              <a:t> </a:t>
            </a:r>
            <a:r>
              <a:rPr sz="2640" dirty="0">
                <a:latin typeface="Times New Roman"/>
                <a:cs typeface="Times New Roman"/>
              </a:rPr>
              <a:t>vs.</a:t>
            </a:r>
            <a:r>
              <a:rPr sz="2640" spc="-11" dirty="0">
                <a:latin typeface="Times New Roman"/>
                <a:cs typeface="Times New Roman"/>
              </a:rPr>
              <a:t> multiagent</a:t>
            </a:r>
            <a:endParaRPr sz="2640" dirty="0">
              <a:latin typeface="Times New Roman"/>
              <a:cs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1852448"/>
            <a:ext cx="9780775" cy="521938"/>
          </a:xfrm>
          <a:prstGeom prst="rect">
            <a:avLst/>
          </a:prstGeom>
        </p:spPr>
        <p:txBody>
          <a:bodyPr vert="horz" wrap="square" lIns="0" tIns="13970" rIns="0" bIns="0" rtlCol="0">
            <a:spAutoFit/>
          </a:bodyPr>
          <a:lstStyle/>
          <a:p>
            <a:pPr marL="32130">
              <a:spcBef>
                <a:spcPts val="110"/>
              </a:spcBef>
              <a:tabLst>
                <a:tab pos="8293989" algn="l"/>
              </a:tabLst>
            </a:pPr>
            <a:r>
              <a:rPr spc="-6" dirty="0"/>
              <a:t> </a:t>
            </a:r>
            <a:r>
              <a:rPr dirty="0"/>
              <a:t>How</a:t>
            </a:r>
            <a:r>
              <a:rPr spc="-209" dirty="0"/>
              <a:t> </a:t>
            </a:r>
            <a:r>
              <a:rPr dirty="0"/>
              <a:t>Agents</a:t>
            </a:r>
            <a:r>
              <a:rPr spc="6" dirty="0"/>
              <a:t> </a:t>
            </a:r>
            <a:r>
              <a:rPr spc="-11" dirty="0"/>
              <a:t>should</a:t>
            </a:r>
            <a:r>
              <a:rPr spc="-198" dirty="0"/>
              <a:t> </a:t>
            </a:r>
            <a:r>
              <a:rPr spc="-22" dirty="0"/>
              <a:t>Act?</a:t>
            </a:r>
            <a:r>
              <a:rPr lang="en-US" spc="-22" dirty="0"/>
              <a:t>   </a:t>
            </a:r>
            <a:r>
              <a:rPr spc="-11" dirty="0"/>
              <a:t>(Cont…)</a:t>
            </a:r>
          </a:p>
        </p:txBody>
      </p:sp>
      <p:sp>
        <p:nvSpPr>
          <p:cNvPr id="3" name="object 3"/>
          <p:cNvSpPr txBox="1"/>
          <p:nvPr/>
        </p:nvSpPr>
        <p:spPr>
          <a:xfrm>
            <a:off x="273364" y="820205"/>
            <a:ext cx="9256522" cy="984693"/>
          </a:xfrm>
          <a:prstGeom prst="rect">
            <a:avLst/>
          </a:prstGeom>
        </p:spPr>
        <p:txBody>
          <a:bodyPr vert="horz" wrap="square" lIns="0" tIns="94298" rIns="0" bIns="0" rtlCol="0">
            <a:spAutoFit/>
          </a:bodyPr>
          <a:lstStyle/>
          <a:p>
            <a:pPr algn="ctr">
              <a:spcBef>
                <a:spcPts val="743"/>
              </a:spcBef>
            </a:pPr>
            <a:r>
              <a:rPr sz="2640" b="1" dirty="0">
                <a:latin typeface="Times New Roman"/>
                <a:cs typeface="Times New Roman"/>
              </a:rPr>
              <a:t>:-</a:t>
            </a:r>
            <a:r>
              <a:rPr sz="2640" b="1" spc="-72" dirty="0">
                <a:latin typeface="Times New Roman"/>
                <a:cs typeface="Times New Roman"/>
              </a:rPr>
              <a:t> </a:t>
            </a:r>
            <a:r>
              <a:rPr sz="2640" b="1" u="sng" spc="-11" dirty="0">
                <a:uFill>
                  <a:solidFill>
                    <a:srgbClr val="000000"/>
                  </a:solidFill>
                </a:uFill>
                <a:latin typeface="Times New Roman"/>
                <a:cs typeface="Times New Roman"/>
              </a:rPr>
              <a:t>Environment</a:t>
            </a:r>
            <a:r>
              <a:rPr sz="2640" b="1" u="sng" spc="-38" dirty="0">
                <a:uFill>
                  <a:solidFill>
                    <a:srgbClr val="000000"/>
                  </a:solidFill>
                </a:uFill>
                <a:latin typeface="Times New Roman"/>
                <a:cs typeface="Times New Roman"/>
              </a:rPr>
              <a:t> </a:t>
            </a:r>
            <a:r>
              <a:rPr sz="2640" b="1" u="sng" dirty="0">
                <a:uFill>
                  <a:solidFill>
                    <a:srgbClr val="000000"/>
                  </a:solidFill>
                </a:uFill>
                <a:latin typeface="Times New Roman"/>
                <a:cs typeface="Times New Roman"/>
              </a:rPr>
              <a:t>Parameters</a:t>
            </a:r>
            <a:r>
              <a:rPr sz="2640" b="1" u="sng" spc="-55" dirty="0">
                <a:uFill>
                  <a:solidFill>
                    <a:srgbClr val="000000"/>
                  </a:solidFill>
                </a:uFill>
                <a:latin typeface="Times New Roman"/>
                <a:cs typeface="Times New Roman"/>
              </a:rPr>
              <a:t> </a:t>
            </a:r>
            <a:r>
              <a:rPr sz="2640" b="1" u="sng" spc="-11" dirty="0">
                <a:uFill>
                  <a:solidFill>
                    <a:srgbClr val="000000"/>
                  </a:solidFill>
                </a:uFill>
                <a:latin typeface="Times New Roman"/>
                <a:cs typeface="Times New Roman"/>
              </a:rPr>
              <a:t>for</a:t>
            </a:r>
            <a:r>
              <a:rPr sz="2640" b="1" u="sng" spc="-204" dirty="0">
                <a:uFill>
                  <a:solidFill>
                    <a:srgbClr val="000000"/>
                  </a:solidFill>
                </a:uFill>
                <a:latin typeface="Times New Roman"/>
                <a:cs typeface="Times New Roman"/>
              </a:rPr>
              <a:t> </a:t>
            </a:r>
            <a:r>
              <a:rPr sz="2640" b="1" u="sng" dirty="0">
                <a:uFill>
                  <a:solidFill>
                    <a:srgbClr val="000000"/>
                  </a:solidFill>
                </a:uFill>
                <a:latin typeface="Times New Roman"/>
                <a:cs typeface="Times New Roman"/>
              </a:rPr>
              <a:t>Agents</a:t>
            </a:r>
            <a:r>
              <a:rPr sz="2640" b="1" u="sng" spc="-28" dirty="0">
                <a:uFill>
                  <a:solidFill>
                    <a:srgbClr val="000000"/>
                  </a:solidFill>
                </a:uFill>
                <a:latin typeface="Times New Roman"/>
                <a:cs typeface="Times New Roman"/>
              </a:rPr>
              <a:t> </a:t>
            </a:r>
            <a:r>
              <a:rPr sz="2640" b="1" u="sng" dirty="0">
                <a:uFill>
                  <a:solidFill>
                    <a:srgbClr val="000000"/>
                  </a:solidFill>
                </a:uFill>
                <a:latin typeface="Times New Roman"/>
                <a:cs typeface="Times New Roman"/>
              </a:rPr>
              <a:t>to</a:t>
            </a:r>
            <a:r>
              <a:rPr sz="2640" b="1" u="sng" spc="-33" dirty="0">
                <a:uFill>
                  <a:solidFill>
                    <a:srgbClr val="000000"/>
                  </a:solidFill>
                </a:uFill>
                <a:latin typeface="Times New Roman"/>
                <a:cs typeface="Times New Roman"/>
              </a:rPr>
              <a:t> </a:t>
            </a:r>
            <a:r>
              <a:rPr sz="2640" b="1" u="sng" dirty="0">
                <a:uFill>
                  <a:solidFill>
                    <a:srgbClr val="000000"/>
                  </a:solidFill>
                </a:uFill>
                <a:latin typeface="Times New Roman"/>
                <a:cs typeface="Times New Roman"/>
              </a:rPr>
              <a:t>perform</a:t>
            </a:r>
            <a:r>
              <a:rPr sz="2640" b="1" u="sng" spc="-44" dirty="0">
                <a:uFill>
                  <a:solidFill>
                    <a:srgbClr val="000000"/>
                  </a:solidFill>
                </a:uFill>
                <a:latin typeface="Times New Roman"/>
                <a:cs typeface="Times New Roman"/>
              </a:rPr>
              <a:t> </a:t>
            </a:r>
            <a:r>
              <a:rPr sz="2640" b="1" u="sng" spc="-11" dirty="0">
                <a:uFill>
                  <a:solidFill>
                    <a:srgbClr val="000000"/>
                  </a:solidFill>
                </a:uFill>
                <a:latin typeface="Times New Roman"/>
                <a:cs typeface="Times New Roman"/>
              </a:rPr>
              <a:t>accurately</a:t>
            </a:r>
            <a:r>
              <a:rPr sz="2640" spc="-11" dirty="0">
                <a:latin typeface="Times New Roman"/>
                <a:cs typeface="Times New Roman"/>
              </a:rPr>
              <a:t>:</a:t>
            </a:r>
            <a:endParaRPr sz="2640" dirty="0">
              <a:latin typeface="Times New Roman"/>
              <a:cs typeface="Times New Roman"/>
            </a:endParaRPr>
          </a:p>
          <a:p>
            <a:pPr marR="296863" algn="ctr">
              <a:spcBef>
                <a:spcPts val="633"/>
              </a:spcBef>
            </a:pPr>
            <a:r>
              <a:rPr sz="2640" spc="-11" dirty="0">
                <a:latin typeface="Times New Roman"/>
                <a:cs typeface="Times New Roman"/>
              </a:rPr>
              <a:t>(Examples)</a:t>
            </a:r>
            <a:endParaRPr sz="2640" dirty="0">
              <a:latin typeface="Times New Roman"/>
              <a:cs typeface="Times New Roman"/>
            </a:endParaRPr>
          </a:p>
        </p:txBody>
      </p:sp>
      <p:pic>
        <p:nvPicPr>
          <p:cNvPr id="4" name="object 4"/>
          <p:cNvPicPr/>
          <p:nvPr/>
        </p:nvPicPr>
        <p:blipFill>
          <a:blip r:embed="rId2" cstate="print"/>
          <a:stretch>
            <a:fillRect/>
          </a:stretch>
        </p:blipFill>
        <p:spPr>
          <a:xfrm>
            <a:off x="216761" y="2711286"/>
            <a:ext cx="2069239" cy="1927860"/>
          </a:xfrm>
          <a:prstGeom prst="rect">
            <a:avLst/>
          </a:prstGeom>
        </p:spPr>
      </p:pic>
      <p:graphicFrame>
        <p:nvGraphicFramePr>
          <p:cNvPr id="5" name="object 5"/>
          <p:cNvGraphicFramePr>
            <a:graphicFrameLocks noGrp="1"/>
          </p:cNvGraphicFramePr>
          <p:nvPr>
            <p:extLst>
              <p:ext uri="{D42A27DB-BD31-4B8C-83A1-F6EECF244321}">
                <p14:modId xmlns:p14="http://schemas.microsoft.com/office/powerpoint/2010/main" val="4084132555"/>
              </p:ext>
            </p:extLst>
          </p:nvPr>
        </p:nvGraphicFramePr>
        <p:xfrm>
          <a:off x="2286000" y="2930615"/>
          <a:ext cx="7772401" cy="1708531"/>
        </p:xfrm>
        <a:graphic>
          <a:graphicData uri="http://schemas.openxmlformats.org/drawingml/2006/table">
            <a:tbl>
              <a:tblPr firstRow="1" bandRow="1">
                <a:tableStyleId>{2D5ABB26-0587-4C30-8999-92F81FD0307C}</a:tableStyleId>
              </a:tblPr>
              <a:tblGrid>
                <a:gridCol w="1535847">
                  <a:extLst>
                    <a:ext uri="{9D8B030D-6E8A-4147-A177-3AD203B41FA5}">
                      <a16:colId xmlns:a16="http://schemas.microsoft.com/office/drawing/2014/main" val="20000"/>
                    </a:ext>
                  </a:extLst>
                </a:gridCol>
                <a:gridCol w="878281">
                  <a:extLst>
                    <a:ext uri="{9D8B030D-6E8A-4147-A177-3AD203B41FA5}">
                      <a16:colId xmlns:a16="http://schemas.microsoft.com/office/drawing/2014/main" val="20001"/>
                    </a:ext>
                  </a:extLst>
                </a:gridCol>
                <a:gridCol w="1053935">
                  <a:extLst>
                    <a:ext uri="{9D8B030D-6E8A-4147-A177-3AD203B41FA5}">
                      <a16:colId xmlns:a16="http://schemas.microsoft.com/office/drawing/2014/main" val="20002"/>
                    </a:ext>
                  </a:extLst>
                </a:gridCol>
                <a:gridCol w="1141766">
                  <a:extLst>
                    <a:ext uri="{9D8B030D-6E8A-4147-A177-3AD203B41FA5}">
                      <a16:colId xmlns:a16="http://schemas.microsoft.com/office/drawing/2014/main" val="20003"/>
                    </a:ext>
                  </a:extLst>
                </a:gridCol>
                <a:gridCol w="941668">
                  <a:extLst>
                    <a:ext uri="{9D8B030D-6E8A-4147-A177-3AD203B41FA5}">
                      <a16:colId xmlns:a16="http://schemas.microsoft.com/office/drawing/2014/main" val="20004"/>
                    </a:ext>
                  </a:extLst>
                </a:gridCol>
                <a:gridCol w="1230303">
                  <a:extLst>
                    <a:ext uri="{9D8B030D-6E8A-4147-A177-3AD203B41FA5}">
                      <a16:colId xmlns:a16="http://schemas.microsoft.com/office/drawing/2014/main" val="20005"/>
                    </a:ext>
                  </a:extLst>
                </a:gridCol>
                <a:gridCol w="990601">
                  <a:extLst>
                    <a:ext uri="{9D8B030D-6E8A-4147-A177-3AD203B41FA5}">
                      <a16:colId xmlns:a16="http://schemas.microsoft.com/office/drawing/2014/main" val="20006"/>
                    </a:ext>
                  </a:extLst>
                </a:gridCol>
              </a:tblGrid>
              <a:tr h="569278">
                <a:tc>
                  <a:txBody>
                    <a:bodyPr/>
                    <a:lstStyle/>
                    <a:p>
                      <a:pPr marL="92075">
                        <a:lnSpc>
                          <a:spcPct val="100000"/>
                        </a:lnSpc>
                        <a:spcBef>
                          <a:spcPts val="315"/>
                        </a:spcBef>
                      </a:pPr>
                      <a:r>
                        <a:rPr sz="1500" b="1" spc="-10" dirty="0">
                          <a:latin typeface="Times New Roman"/>
                          <a:cs typeface="Times New Roman"/>
                        </a:rPr>
                        <a:t>Environments</a:t>
                      </a:r>
                      <a:endParaRPr sz="1500" dirty="0">
                        <a:latin typeface="Times New Roman"/>
                        <a:cs typeface="Times New Roman"/>
                      </a:endParaRPr>
                    </a:p>
                  </a:txBody>
                  <a:tcPr marL="0" marR="0" marT="4400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15"/>
                        </a:spcBef>
                      </a:pPr>
                      <a:r>
                        <a:rPr sz="1500" b="1" spc="-10" dirty="0">
                          <a:latin typeface="Times New Roman"/>
                          <a:cs typeface="Times New Roman"/>
                        </a:rPr>
                        <a:t>Obser</a:t>
                      </a:r>
                      <a:endParaRPr sz="1500">
                        <a:latin typeface="Times New Roman"/>
                        <a:cs typeface="Times New Roman"/>
                      </a:endParaRPr>
                    </a:p>
                    <a:p>
                      <a:pPr marL="92075">
                        <a:lnSpc>
                          <a:spcPct val="100000"/>
                        </a:lnSpc>
                      </a:pPr>
                      <a:r>
                        <a:rPr sz="1500" b="1" spc="-20" dirty="0">
                          <a:latin typeface="Times New Roman"/>
                          <a:cs typeface="Times New Roman"/>
                        </a:rPr>
                        <a:t>vable</a:t>
                      </a:r>
                      <a:endParaRPr sz="1500">
                        <a:latin typeface="Times New Roman"/>
                        <a:cs typeface="Times New Roman"/>
                      </a:endParaRPr>
                    </a:p>
                  </a:txBody>
                  <a:tcPr marL="0" marR="0" marT="4400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15"/>
                        </a:spcBef>
                      </a:pPr>
                      <a:r>
                        <a:rPr sz="1500" b="1" spc="-10" dirty="0">
                          <a:latin typeface="Times New Roman"/>
                          <a:cs typeface="Times New Roman"/>
                        </a:rPr>
                        <a:t>Determi</a:t>
                      </a:r>
                      <a:endParaRPr sz="1500">
                        <a:latin typeface="Times New Roman"/>
                        <a:cs typeface="Times New Roman"/>
                      </a:endParaRPr>
                    </a:p>
                    <a:p>
                      <a:pPr marL="92075">
                        <a:lnSpc>
                          <a:spcPct val="100000"/>
                        </a:lnSpc>
                      </a:pPr>
                      <a:r>
                        <a:rPr sz="1500" b="1" spc="-10" dirty="0">
                          <a:latin typeface="Times New Roman"/>
                          <a:cs typeface="Times New Roman"/>
                        </a:rPr>
                        <a:t>nistic</a:t>
                      </a:r>
                      <a:endParaRPr sz="1500">
                        <a:latin typeface="Times New Roman"/>
                        <a:cs typeface="Times New Roman"/>
                      </a:endParaRPr>
                    </a:p>
                  </a:txBody>
                  <a:tcPr marL="0" marR="0" marT="4400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15"/>
                        </a:spcBef>
                      </a:pPr>
                      <a:r>
                        <a:rPr sz="1500" b="1" spc="-10" dirty="0">
                          <a:latin typeface="Times New Roman"/>
                          <a:cs typeface="Times New Roman"/>
                        </a:rPr>
                        <a:t>Episodic</a:t>
                      </a:r>
                      <a:endParaRPr sz="1500">
                        <a:latin typeface="Times New Roman"/>
                        <a:cs typeface="Times New Roman"/>
                      </a:endParaRPr>
                    </a:p>
                  </a:txBody>
                  <a:tcPr marL="0" marR="0" marT="4400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15"/>
                        </a:spcBef>
                      </a:pPr>
                      <a:r>
                        <a:rPr sz="1500" b="1" spc="-10" dirty="0">
                          <a:latin typeface="Times New Roman"/>
                          <a:cs typeface="Times New Roman"/>
                        </a:rPr>
                        <a:t>Static</a:t>
                      </a:r>
                      <a:endParaRPr sz="1500">
                        <a:latin typeface="Times New Roman"/>
                        <a:cs typeface="Times New Roman"/>
                      </a:endParaRPr>
                    </a:p>
                  </a:txBody>
                  <a:tcPr marL="0" marR="0" marT="4400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15"/>
                        </a:spcBef>
                      </a:pPr>
                      <a:r>
                        <a:rPr sz="1500" b="1" spc="-10" dirty="0">
                          <a:latin typeface="Times New Roman"/>
                          <a:cs typeface="Times New Roman"/>
                        </a:rPr>
                        <a:t>Discrete</a:t>
                      </a:r>
                      <a:endParaRPr sz="1500">
                        <a:latin typeface="Times New Roman"/>
                        <a:cs typeface="Times New Roman"/>
                      </a:endParaRPr>
                    </a:p>
                  </a:txBody>
                  <a:tcPr marL="0" marR="0" marT="4400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15"/>
                        </a:spcBef>
                      </a:pPr>
                      <a:r>
                        <a:rPr sz="1500" b="1" spc="-10" dirty="0">
                          <a:latin typeface="Times New Roman"/>
                          <a:cs typeface="Times New Roman"/>
                        </a:rPr>
                        <a:t>Agents</a:t>
                      </a:r>
                      <a:endParaRPr sz="1500">
                        <a:latin typeface="Times New Roman"/>
                        <a:cs typeface="Times New Roman"/>
                      </a:endParaRPr>
                    </a:p>
                  </a:txBody>
                  <a:tcPr marL="0" marR="0" marT="4400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569278">
                <a:tc>
                  <a:txBody>
                    <a:bodyPr/>
                    <a:lstStyle/>
                    <a:p>
                      <a:pPr marL="92075" marR="93345">
                        <a:lnSpc>
                          <a:spcPct val="100000"/>
                        </a:lnSpc>
                        <a:spcBef>
                          <a:spcPts val="320"/>
                        </a:spcBef>
                      </a:pPr>
                      <a:r>
                        <a:rPr sz="1500" dirty="0">
                          <a:latin typeface="Times New Roman"/>
                          <a:cs typeface="Times New Roman"/>
                        </a:rPr>
                        <a:t>Chess</a:t>
                      </a:r>
                      <a:r>
                        <a:rPr sz="1500" spc="-30" dirty="0">
                          <a:latin typeface="Times New Roman"/>
                          <a:cs typeface="Times New Roman"/>
                        </a:rPr>
                        <a:t> </a:t>
                      </a:r>
                      <a:r>
                        <a:rPr sz="1500" dirty="0">
                          <a:latin typeface="Times New Roman"/>
                          <a:cs typeface="Times New Roman"/>
                        </a:rPr>
                        <a:t>with</a:t>
                      </a:r>
                      <a:r>
                        <a:rPr sz="1500" spc="-25" dirty="0">
                          <a:latin typeface="Times New Roman"/>
                          <a:cs typeface="Times New Roman"/>
                        </a:rPr>
                        <a:t> </a:t>
                      </a:r>
                      <a:r>
                        <a:rPr sz="1500" dirty="0">
                          <a:latin typeface="Times New Roman"/>
                          <a:cs typeface="Times New Roman"/>
                        </a:rPr>
                        <a:t>a</a:t>
                      </a:r>
                      <a:r>
                        <a:rPr sz="1500" spc="-10" dirty="0">
                          <a:latin typeface="Times New Roman"/>
                          <a:cs typeface="Times New Roman"/>
                        </a:rPr>
                        <a:t> </a:t>
                      </a:r>
                      <a:r>
                        <a:rPr sz="1500" spc="-25" dirty="0">
                          <a:latin typeface="Times New Roman"/>
                          <a:cs typeface="Times New Roman"/>
                        </a:rPr>
                        <a:t>cl ock</a:t>
                      </a:r>
                      <a:endParaRPr sz="1500" dirty="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Fully</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Strategic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Sequential</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20" dirty="0">
                          <a:latin typeface="Times New Roman"/>
                          <a:cs typeface="Times New Roman"/>
                        </a:rPr>
                        <a:t>Semi</a:t>
                      </a:r>
                      <a:endParaRPr sz="1500" dirty="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spc="-10" dirty="0">
                          <a:latin typeface="Times New Roman"/>
                          <a:cs typeface="Times New Roman"/>
                        </a:rPr>
                        <a:t>Discrete</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spc="-10" dirty="0">
                          <a:latin typeface="Times New Roman"/>
                          <a:cs typeface="Times New Roman"/>
                        </a:rPr>
                        <a:t>Multi</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569975">
                <a:tc>
                  <a:txBody>
                    <a:bodyPr/>
                    <a:lstStyle/>
                    <a:p>
                      <a:pPr marL="92075">
                        <a:lnSpc>
                          <a:spcPct val="100000"/>
                        </a:lnSpc>
                        <a:spcBef>
                          <a:spcPts val="320"/>
                        </a:spcBef>
                      </a:pPr>
                      <a:r>
                        <a:rPr sz="1500" spc="-10" dirty="0">
                          <a:latin typeface="Times New Roman"/>
                          <a:cs typeface="Times New Roman"/>
                        </a:rPr>
                        <a:t>Taxi</a:t>
                      </a:r>
                      <a:r>
                        <a:rPr sz="1500" spc="-80" dirty="0">
                          <a:latin typeface="Times New Roman"/>
                          <a:cs typeface="Times New Roman"/>
                        </a:rPr>
                        <a:t> </a:t>
                      </a:r>
                      <a:r>
                        <a:rPr sz="1500" spc="-10" dirty="0">
                          <a:latin typeface="Times New Roman"/>
                          <a:cs typeface="Times New Roman"/>
                        </a:rPr>
                        <a:t>driving</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Partial</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marR="119380">
                        <a:lnSpc>
                          <a:spcPct val="100000"/>
                        </a:lnSpc>
                        <a:spcBef>
                          <a:spcPts val="320"/>
                        </a:spcBef>
                      </a:pPr>
                      <a:r>
                        <a:rPr sz="1500" spc="-10" dirty="0">
                          <a:latin typeface="Times New Roman"/>
                          <a:cs typeface="Times New Roman"/>
                        </a:rPr>
                        <a:t>Stochasti</a:t>
                      </a:r>
                      <a:r>
                        <a:rPr sz="1500" spc="-50" dirty="0">
                          <a:latin typeface="Times New Roman"/>
                          <a:cs typeface="Times New Roman"/>
                        </a:rPr>
                        <a:t>c</a:t>
                      </a:r>
                      <a:endParaRPr sz="1500" dirty="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Sequential</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marR="113030">
                        <a:lnSpc>
                          <a:spcPct val="100000"/>
                        </a:lnSpc>
                        <a:spcBef>
                          <a:spcPts val="320"/>
                        </a:spcBef>
                      </a:pPr>
                      <a:r>
                        <a:rPr sz="1500" spc="-20" dirty="0">
                          <a:latin typeface="Times New Roman"/>
                          <a:cs typeface="Times New Roman"/>
                        </a:rPr>
                        <a:t>Dynami</a:t>
                      </a:r>
                      <a:r>
                        <a:rPr sz="1500" spc="-50" dirty="0">
                          <a:latin typeface="Times New Roman"/>
                          <a:cs typeface="Times New Roman"/>
                        </a:rPr>
                        <a:t>c</a:t>
                      </a:r>
                      <a:endParaRPr sz="1500" dirty="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marR="156210">
                        <a:lnSpc>
                          <a:spcPct val="100000"/>
                        </a:lnSpc>
                        <a:spcBef>
                          <a:spcPts val="320"/>
                        </a:spcBef>
                      </a:pPr>
                      <a:r>
                        <a:rPr sz="1500" spc="-10" dirty="0">
                          <a:latin typeface="Times New Roman"/>
                          <a:cs typeface="Times New Roman"/>
                        </a:rPr>
                        <a:t>Continuo</a:t>
                      </a:r>
                      <a:r>
                        <a:rPr lang="en-US" sz="1500" spc="-25" dirty="0">
                          <a:latin typeface="Times New Roman"/>
                          <a:cs typeface="Times New Roman"/>
                        </a:rPr>
                        <a:t>u</a:t>
                      </a:r>
                      <a:r>
                        <a:rPr sz="1500" spc="-25" dirty="0">
                          <a:latin typeface="Times New Roman"/>
                          <a:cs typeface="Times New Roman"/>
                        </a:rPr>
                        <a:t>s</a:t>
                      </a:r>
                      <a:endParaRPr sz="1500" dirty="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spc="-10" dirty="0">
                          <a:latin typeface="Times New Roman"/>
                          <a:cs typeface="Times New Roman"/>
                        </a:rPr>
                        <a:t>Single</a:t>
                      </a:r>
                      <a:endParaRPr sz="1500" dirty="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sp>
        <p:nvSpPr>
          <p:cNvPr id="6" name="object 6"/>
          <p:cNvSpPr txBox="1"/>
          <p:nvPr/>
        </p:nvSpPr>
        <p:spPr>
          <a:xfrm>
            <a:off x="105725" y="5053718"/>
            <a:ext cx="7995730" cy="2545312"/>
          </a:xfrm>
          <a:prstGeom prst="rect">
            <a:avLst/>
          </a:prstGeom>
        </p:spPr>
        <p:txBody>
          <a:bodyPr vert="horz" wrap="square" lIns="0" tIns="0" rIns="0" bIns="0" rtlCol="0">
            <a:spAutoFit/>
          </a:bodyPr>
          <a:lstStyle/>
          <a:p>
            <a:pPr marL="13970">
              <a:lnSpc>
                <a:spcPts val="2992"/>
              </a:lnSpc>
            </a:pPr>
            <a:r>
              <a:rPr sz="2640" dirty="0">
                <a:latin typeface="Times New Roman"/>
                <a:cs typeface="Times New Roman"/>
              </a:rPr>
              <a:t>Fully</a:t>
            </a:r>
            <a:r>
              <a:rPr sz="2640" spc="-38" dirty="0">
                <a:latin typeface="Times New Roman"/>
                <a:cs typeface="Times New Roman"/>
              </a:rPr>
              <a:t> </a:t>
            </a:r>
            <a:r>
              <a:rPr sz="2640" dirty="0">
                <a:latin typeface="Times New Roman"/>
                <a:cs typeface="Times New Roman"/>
              </a:rPr>
              <a:t>observable</a:t>
            </a:r>
            <a:r>
              <a:rPr sz="2640" spc="-44" dirty="0">
                <a:latin typeface="Times New Roman"/>
                <a:cs typeface="Times New Roman"/>
              </a:rPr>
              <a:t> </a:t>
            </a:r>
            <a:r>
              <a:rPr sz="2640" dirty="0">
                <a:latin typeface="Times New Roman"/>
                <a:cs typeface="Times New Roman"/>
              </a:rPr>
              <a:t>vs.</a:t>
            </a:r>
            <a:r>
              <a:rPr sz="2640" spc="-22" dirty="0">
                <a:latin typeface="Times New Roman"/>
                <a:cs typeface="Times New Roman"/>
              </a:rPr>
              <a:t> </a:t>
            </a:r>
            <a:r>
              <a:rPr sz="2640" dirty="0">
                <a:latin typeface="Times New Roman"/>
                <a:cs typeface="Times New Roman"/>
              </a:rPr>
              <a:t>partially</a:t>
            </a:r>
            <a:r>
              <a:rPr sz="2640" spc="-61" dirty="0">
                <a:latin typeface="Times New Roman"/>
                <a:cs typeface="Times New Roman"/>
              </a:rPr>
              <a:t> </a:t>
            </a:r>
            <a:r>
              <a:rPr sz="2640" spc="-11" dirty="0">
                <a:latin typeface="Times New Roman"/>
                <a:cs typeface="Times New Roman"/>
              </a:rPr>
              <a:t>observable</a:t>
            </a:r>
            <a:endParaRPr sz="2640" dirty="0">
              <a:latin typeface="Times New Roman"/>
              <a:cs typeface="Times New Roman"/>
            </a:endParaRPr>
          </a:p>
          <a:p>
            <a:pPr marL="13970"/>
            <a:r>
              <a:rPr sz="2640" dirty="0">
                <a:latin typeface="Times New Roman"/>
                <a:cs typeface="Times New Roman"/>
              </a:rPr>
              <a:t>Deterministic</a:t>
            </a:r>
            <a:r>
              <a:rPr sz="2640" spc="-72" dirty="0">
                <a:latin typeface="Times New Roman"/>
                <a:cs typeface="Times New Roman"/>
              </a:rPr>
              <a:t> </a:t>
            </a:r>
            <a:r>
              <a:rPr sz="2640" dirty="0">
                <a:latin typeface="Times New Roman"/>
                <a:cs typeface="Times New Roman"/>
              </a:rPr>
              <a:t>vs.</a:t>
            </a:r>
            <a:r>
              <a:rPr sz="2640" spc="-11" dirty="0">
                <a:latin typeface="Times New Roman"/>
                <a:cs typeface="Times New Roman"/>
              </a:rPr>
              <a:t> </a:t>
            </a:r>
            <a:r>
              <a:rPr sz="2640" dirty="0">
                <a:latin typeface="Times New Roman"/>
                <a:cs typeface="Times New Roman"/>
              </a:rPr>
              <a:t>stochastic</a:t>
            </a:r>
            <a:r>
              <a:rPr sz="2640" spc="-66" dirty="0">
                <a:latin typeface="Times New Roman"/>
                <a:cs typeface="Times New Roman"/>
              </a:rPr>
              <a:t> </a:t>
            </a:r>
            <a:r>
              <a:rPr sz="2640" dirty="0">
                <a:latin typeface="Times New Roman"/>
                <a:cs typeface="Times New Roman"/>
              </a:rPr>
              <a:t>/</a:t>
            </a:r>
            <a:r>
              <a:rPr sz="2640" spc="-33" dirty="0">
                <a:latin typeface="Times New Roman"/>
                <a:cs typeface="Times New Roman"/>
              </a:rPr>
              <a:t> </a:t>
            </a:r>
            <a:r>
              <a:rPr sz="2640" spc="-11" dirty="0">
                <a:latin typeface="Times New Roman"/>
                <a:cs typeface="Times New Roman"/>
              </a:rPr>
              <a:t>strategic</a:t>
            </a:r>
            <a:endParaRPr sz="2640" dirty="0">
              <a:latin typeface="Times New Roman"/>
              <a:cs typeface="Times New Roman"/>
            </a:endParaRPr>
          </a:p>
          <a:p>
            <a:pPr marL="13970" marR="4323017"/>
            <a:r>
              <a:rPr sz="2640" dirty="0">
                <a:latin typeface="Times New Roman"/>
                <a:cs typeface="Times New Roman"/>
              </a:rPr>
              <a:t>Episodic</a:t>
            </a:r>
            <a:r>
              <a:rPr sz="2640" spc="-44" dirty="0">
                <a:latin typeface="Times New Roman"/>
                <a:cs typeface="Times New Roman"/>
              </a:rPr>
              <a:t> </a:t>
            </a:r>
            <a:r>
              <a:rPr sz="2640" dirty="0">
                <a:latin typeface="Times New Roman"/>
                <a:cs typeface="Times New Roman"/>
              </a:rPr>
              <a:t>vs.</a:t>
            </a:r>
            <a:r>
              <a:rPr sz="2640" spc="-11" dirty="0">
                <a:latin typeface="Times New Roman"/>
                <a:cs typeface="Times New Roman"/>
              </a:rPr>
              <a:t> sequential </a:t>
            </a:r>
            <a:r>
              <a:rPr sz="2640" dirty="0">
                <a:latin typeface="Times New Roman"/>
                <a:cs typeface="Times New Roman"/>
              </a:rPr>
              <a:t>Static</a:t>
            </a:r>
            <a:r>
              <a:rPr sz="2640" spc="-50" dirty="0">
                <a:latin typeface="Times New Roman"/>
                <a:cs typeface="Times New Roman"/>
              </a:rPr>
              <a:t> </a:t>
            </a:r>
            <a:r>
              <a:rPr sz="2640" dirty="0">
                <a:latin typeface="Times New Roman"/>
                <a:cs typeface="Times New Roman"/>
              </a:rPr>
              <a:t>vs.</a:t>
            </a:r>
            <a:r>
              <a:rPr sz="2640" spc="-11" dirty="0">
                <a:latin typeface="Times New Roman"/>
                <a:cs typeface="Times New Roman"/>
              </a:rPr>
              <a:t> dynamic</a:t>
            </a:r>
            <a:r>
              <a:rPr sz="2640" spc="660" dirty="0">
                <a:latin typeface="Times New Roman"/>
                <a:cs typeface="Times New Roman"/>
              </a:rPr>
              <a:t> </a:t>
            </a:r>
            <a:r>
              <a:rPr sz="2640" dirty="0">
                <a:latin typeface="Times New Roman"/>
                <a:cs typeface="Times New Roman"/>
              </a:rPr>
              <a:t>Discrete</a:t>
            </a:r>
            <a:r>
              <a:rPr sz="2640" spc="-61" dirty="0">
                <a:latin typeface="Times New Roman"/>
                <a:cs typeface="Times New Roman"/>
              </a:rPr>
              <a:t> </a:t>
            </a:r>
            <a:r>
              <a:rPr sz="2640" dirty="0">
                <a:latin typeface="Times New Roman"/>
                <a:cs typeface="Times New Roman"/>
              </a:rPr>
              <a:t>vs.</a:t>
            </a:r>
            <a:r>
              <a:rPr sz="2640" spc="-33" dirty="0">
                <a:latin typeface="Times New Roman"/>
                <a:cs typeface="Times New Roman"/>
              </a:rPr>
              <a:t> </a:t>
            </a:r>
            <a:r>
              <a:rPr sz="2640" spc="-11" dirty="0">
                <a:latin typeface="Times New Roman"/>
                <a:cs typeface="Times New Roman"/>
              </a:rPr>
              <a:t>continuous </a:t>
            </a:r>
            <a:r>
              <a:rPr sz="2640" dirty="0">
                <a:latin typeface="Times New Roman"/>
                <a:cs typeface="Times New Roman"/>
              </a:rPr>
              <a:t>Single</a:t>
            </a:r>
            <a:r>
              <a:rPr sz="2640" spc="-38" dirty="0">
                <a:latin typeface="Times New Roman"/>
                <a:cs typeface="Times New Roman"/>
              </a:rPr>
              <a:t> </a:t>
            </a:r>
            <a:r>
              <a:rPr sz="2640" dirty="0">
                <a:latin typeface="Times New Roman"/>
                <a:cs typeface="Times New Roman"/>
              </a:rPr>
              <a:t>agent</a:t>
            </a:r>
            <a:r>
              <a:rPr sz="2640" spc="-22" dirty="0">
                <a:latin typeface="Times New Roman"/>
                <a:cs typeface="Times New Roman"/>
              </a:rPr>
              <a:t> </a:t>
            </a:r>
            <a:r>
              <a:rPr sz="2640" dirty="0">
                <a:latin typeface="Times New Roman"/>
                <a:cs typeface="Times New Roman"/>
              </a:rPr>
              <a:t>vs.</a:t>
            </a:r>
            <a:r>
              <a:rPr sz="2640" spc="-11" dirty="0">
                <a:latin typeface="Times New Roman"/>
                <a:cs typeface="Times New Roman"/>
              </a:rPr>
              <a:t> multiagent</a:t>
            </a:r>
            <a:endParaRPr sz="2640" dirty="0">
              <a:latin typeface="Times New Roman"/>
              <a:cs typeface="Times New Roman"/>
            </a:endParaRPr>
          </a:p>
          <a:p>
            <a:pPr marL="1897126">
              <a:lnSpc>
                <a:spcPts val="1023"/>
              </a:lnSpc>
            </a:pPr>
            <a:endParaRPr sz="1100" dirty="0">
              <a:latin typeface="Times New Roman"/>
              <a:cs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9600" y="1857189"/>
            <a:ext cx="9507411" cy="521938"/>
          </a:xfrm>
          <a:prstGeom prst="rect">
            <a:avLst/>
          </a:prstGeom>
        </p:spPr>
        <p:txBody>
          <a:bodyPr vert="horz" wrap="square" lIns="0" tIns="13970" rIns="0" bIns="0" rtlCol="0">
            <a:spAutoFit/>
          </a:bodyPr>
          <a:lstStyle/>
          <a:p>
            <a:pPr marL="32130">
              <a:spcBef>
                <a:spcPts val="110"/>
              </a:spcBef>
              <a:tabLst>
                <a:tab pos="8293989" algn="l"/>
              </a:tabLst>
            </a:pPr>
            <a:r>
              <a:rPr dirty="0"/>
              <a:t>How</a:t>
            </a:r>
            <a:r>
              <a:rPr spc="-209" dirty="0"/>
              <a:t> </a:t>
            </a:r>
            <a:r>
              <a:rPr dirty="0"/>
              <a:t>Agents</a:t>
            </a:r>
            <a:r>
              <a:rPr spc="6" dirty="0"/>
              <a:t> </a:t>
            </a:r>
            <a:r>
              <a:rPr spc="-11" dirty="0"/>
              <a:t>should</a:t>
            </a:r>
            <a:r>
              <a:rPr spc="-198" dirty="0"/>
              <a:t> </a:t>
            </a:r>
            <a:r>
              <a:rPr spc="-22" dirty="0"/>
              <a:t>Ac</a:t>
            </a:r>
            <a:r>
              <a:rPr lang="en-US" spc="-22" dirty="0"/>
              <a:t>t</a:t>
            </a:r>
            <a:r>
              <a:rPr spc="-22" dirty="0"/>
              <a:t>?</a:t>
            </a:r>
            <a:r>
              <a:rPr lang="en-US" spc="-22" dirty="0"/>
              <a:t> </a:t>
            </a:r>
            <a:r>
              <a:rPr spc="-11" dirty="0"/>
              <a:t>(Cont…)</a:t>
            </a:r>
          </a:p>
        </p:txBody>
      </p:sp>
      <p:sp>
        <p:nvSpPr>
          <p:cNvPr id="3" name="object 3"/>
          <p:cNvSpPr txBox="1"/>
          <p:nvPr/>
        </p:nvSpPr>
        <p:spPr>
          <a:xfrm>
            <a:off x="273364" y="820205"/>
            <a:ext cx="9256522" cy="984693"/>
          </a:xfrm>
          <a:prstGeom prst="rect">
            <a:avLst/>
          </a:prstGeom>
        </p:spPr>
        <p:txBody>
          <a:bodyPr vert="horz" wrap="square" lIns="0" tIns="94298" rIns="0" bIns="0" rtlCol="0">
            <a:spAutoFit/>
          </a:bodyPr>
          <a:lstStyle/>
          <a:p>
            <a:pPr algn="ctr">
              <a:spcBef>
                <a:spcPts val="743"/>
              </a:spcBef>
            </a:pPr>
            <a:r>
              <a:rPr sz="2640" b="1" dirty="0">
                <a:latin typeface="Times New Roman"/>
                <a:cs typeface="Times New Roman"/>
              </a:rPr>
              <a:t>:-</a:t>
            </a:r>
            <a:r>
              <a:rPr sz="2640" b="1" spc="-72" dirty="0">
                <a:latin typeface="Times New Roman"/>
                <a:cs typeface="Times New Roman"/>
              </a:rPr>
              <a:t> </a:t>
            </a:r>
            <a:r>
              <a:rPr sz="2640" b="1" u="sng" spc="-11" dirty="0">
                <a:uFill>
                  <a:solidFill>
                    <a:srgbClr val="000000"/>
                  </a:solidFill>
                </a:uFill>
                <a:latin typeface="Times New Roman"/>
                <a:cs typeface="Times New Roman"/>
              </a:rPr>
              <a:t>Environment</a:t>
            </a:r>
            <a:r>
              <a:rPr sz="2640" b="1" u="sng" spc="-38" dirty="0">
                <a:uFill>
                  <a:solidFill>
                    <a:srgbClr val="000000"/>
                  </a:solidFill>
                </a:uFill>
                <a:latin typeface="Times New Roman"/>
                <a:cs typeface="Times New Roman"/>
              </a:rPr>
              <a:t> </a:t>
            </a:r>
            <a:r>
              <a:rPr sz="2640" b="1" u="sng" dirty="0">
                <a:uFill>
                  <a:solidFill>
                    <a:srgbClr val="000000"/>
                  </a:solidFill>
                </a:uFill>
                <a:latin typeface="Times New Roman"/>
                <a:cs typeface="Times New Roman"/>
              </a:rPr>
              <a:t>Parameters</a:t>
            </a:r>
            <a:r>
              <a:rPr sz="2640" b="1" u="sng" spc="-55" dirty="0">
                <a:uFill>
                  <a:solidFill>
                    <a:srgbClr val="000000"/>
                  </a:solidFill>
                </a:uFill>
                <a:latin typeface="Times New Roman"/>
                <a:cs typeface="Times New Roman"/>
              </a:rPr>
              <a:t> </a:t>
            </a:r>
            <a:r>
              <a:rPr sz="2640" b="1" u="sng" spc="-11" dirty="0">
                <a:uFill>
                  <a:solidFill>
                    <a:srgbClr val="000000"/>
                  </a:solidFill>
                </a:uFill>
                <a:latin typeface="Times New Roman"/>
                <a:cs typeface="Times New Roman"/>
              </a:rPr>
              <a:t>for</a:t>
            </a:r>
            <a:r>
              <a:rPr sz="2640" b="1" u="sng" spc="-204" dirty="0">
                <a:uFill>
                  <a:solidFill>
                    <a:srgbClr val="000000"/>
                  </a:solidFill>
                </a:uFill>
                <a:latin typeface="Times New Roman"/>
                <a:cs typeface="Times New Roman"/>
              </a:rPr>
              <a:t> </a:t>
            </a:r>
            <a:r>
              <a:rPr sz="2640" b="1" u="sng" dirty="0">
                <a:uFill>
                  <a:solidFill>
                    <a:srgbClr val="000000"/>
                  </a:solidFill>
                </a:uFill>
                <a:latin typeface="Times New Roman"/>
                <a:cs typeface="Times New Roman"/>
              </a:rPr>
              <a:t>Agents</a:t>
            </a:r>
            <a:r>
              <a:rPr sz="2640" b="1" u="sng" spc="-28" dirty="0">
                <a:uFill>
                  <a:solidFill>
                    <a:srgbClr val="000000"/>
                  </a:solidFill>
                </a:uFill>
                <a:latin typeface="Times New Roman"/>
                <a:cs typeface="Times New Roman"/>
              </a:rPr>
              <a:t> </a:t>
            </a:r>
            <a:r>
              <a:rPr sz="2640" b="1" u="sng" dirty="0">
                <a:uFill>
                  <a:solidFill>
                    <a:srgbClr val="000000"/>
                  </a:solidFill>
                </a:uFill>
                <a:latin typeface="Times New Roman"/>
                <a:cs typeface="Times New Roman"/>
              </a:rPr>
              <a:t>to</a:t>
            </a:r>
            <a:r>
              <a:rPr sz="2640" b="1" u="sng" spc="-33" dirty="0">
                <a:uFill>
                  <a:solidFill>
                    <a:srgbClr val="000000"/>
                  </a:solidFill>
                </a:uFill>
                <a:latin typeface="Times New Roman"/>
                <a:cs typeface="Times New Roman"/>
              </a:rPr>
              <a:t> </a:t>
            </a:r>
            <a:r>
              <a:rPr sz="2640" b="1" u="sng" dirty="0">
                <a:uFill>
                  <a:solidFill>
                    <a:srgbClr val="000000"/>
                  </a:solidFill>
                </a:uFill>
                <a:latin typeface="Times New Roman"/>
                <a:cs typeface="Times New Roman"/>
              </a:rPr>
              <a:t>perform</a:t>
            </a:r>
            <a:r>
              <a:rPr sz="2640" b="1" u="sng" spc="-44" dirty="0">
                <a:uFill>
                  <a:solidFill>
                    <a:srgbClr val="000000"/>
                  </a:solidFill>
                </a:uFill>
                <a:latin typeface="Times New Roman"/>
                <a:cs typeface="Times New Roman"/>
              </a:rPr>
              <a:t> </a:t>
            </a:r>
            <a:r>
              <a:rPr sz="2640" b="1" u="sng" spc="-11" dirty="0">
                <a:uFill>
                  <a:solidFill>
                    <a:srgbClr val="000000"/>
                  </a:solidFill>
                </a:uFill>
                <a:latin typeface="Times New Roman"/>
                <a:cs typeface="Times New Roman"/>
              </a:rPr>
              <a:t>accurately</a:t>
            </a:r>
            <a:r>
              <a:rPr sz="2640" spc="-11" dirty="0">
                <a:latin typeface="Times New Roman"/>
                <a:cs typeface="Times New Roman"/>
              </a:rPr>
              <a:t>:</a:t>
            </a:r>
            <a:endParaRPr sz="2640" dirty="0">
              <a:latin typeface="Times New Roman"/>
              <a:cs typeface="Times New Roman"/>
            </a:endParaRPr>
          </a:p>
          <a:p>
            <a:pPr marR="296863" algn="ctr">
              <a:spcBef>
                <a:spcPts val="633"/>
              </a:spcBef>
            </a:pPr>
            <a:r>
              <a:rPr sz="2640" spc="-11" dirty="0">
                <a:latin typeface="Times New Roman"/>
                <a:cs typeface="Times New Roman"/>
              </a:rPr>
              <a:t>(Examples)</a:t>
            </a:r>
            <a:endParaRPr sz="2640" dirty="0">
              <a:latin typeface="Times New Roman"/>
              <a:cs typeface="Times New Roman"/>
            </a:endParaRPr>
          </a:p>
        </p:txBody>
      </p:sp>
      <p:pic>
        <p:nvPicPr>
          <p:cNvPr id="4" name="object 4"/>
          <p:cNvPicPr/>
          <p:nvPr/>
        </p:nvPicPr>
        <p:blipFill>
          <a:blip r:embed="rId2" cstate="print"/>
          <a:stretch>
            <a:fillRect/>
          </a:stretch>
        </p:blipFill>
        <p:spPr>
          <a:xfrm>
            <a:off x="357072" y="2971800"/>
            <a:ext cx="1780337" cy="1360322"/>
          </a:xfrm>
          <a:prstGeom prst="rect">
            <a:avLst/>
          </a:prstGeom>
        </p:spPr>
      </p:pic>
      <p:graphicFrame>
        <p:nvGraphicFramePr>
          <p:cNvPr id="5" name="object 5"/>
          <p:cNvGraphicFramePr>
            <a:graphicFrameLocks noGrp="1"/>
          </p:cNvGraphicFramePr>
          <p:nvPr>
            <p:extLst>
              <p:ext uri="{D42A27DB-BD31-4B8C-83A1-F6EECF244321}">
                <p14:modId xmlns:p14="http://schemas.microsoft.com/office/powerpoint/2010/main" val="4280738997"/>
              </p:ext>
            </p:extLst>
          </p:nvPr>
        </p:nvGraphicFramePr>
        <p:xfrm>
          <a:off x="2433186" y="2907602"/>
          <a:ext cx="7535418" cy="1957196"/>
        </p:xfrm>
        <a:graphic>
          <a:graphicData uri="http://schemas.openxmlformats.org/drawingml/2006/table">
            <a:tbl>
              <a:tblPr firstRow="1" bandRow="1">
                <a:tableStyleId>{2D5ABB26-0587-4C30-8999-92F81FD0307C}</a:tableStyleId>
              </a:tblPr>
              <a:tblGrid>
                <a:gridCol w="1605414">
                  <a:extLst>
                    <a:ext uri="{9D8B030D-6E8A-4147-A177-3AD203B41FA5}">
                      <a16:colId xmlns:a16="http://schemas.microsoft.com/office/drawing/2014/main" val="20000"/>
                    </a:ext>
                  </a:extLst>
                </a:gridCol>
                <a:gridCol w="1017454">
                  <a:extLst>
                    <a:ext uri="{9D8B030D-6E8A-4147-A177-3AD203B41FA5}">
                      <a16:colId xmlns:a16="http://schemas.microsoft.com/office/drawing/2014/main" val="20001"/>
                    </a:ext>
                  </a:extLst>
                </a:gridCol>
                <a:gridCol w="1068705">
                  <a:extLst>
                    <a:ext uri="{9D8B030D-6E8A-4147-A177-3AD203B41FA5}">
                      <a16:colId xmlns:a16="http://schemas.microsoft.com/office/drawing/2014/main" val="20002"/>
                    </a:ext>
                  </a:extLst>
                </a:gridCol>
                <a:gridCol w="1060322">
                  <a:extLst>
                    <a:ext uri="{9D8B030D-6E8A-4147-A177-3AD203B41FA5}">
                      <a16:colId xmlns:a16="http://schemas.microsoft.com/office/drawing/2014/main" val="20003"/>
                    </a:ext>
                  </a:extLst>
                </a:gridCol>
                <a:gridCol w="892119">
                  <a:extLst>
                    <a:ext uri="{9D8B030D-6E8A-4147-A177-3AD203B41FA5}">
                      <a16:colId xmlns:a16="http://schemas.microsoft.com/office/drawing/2014/main" val="20004"/>
                    </a:ext>
                  </a:extLst>
                </a:gridCol>
                <a:gridCol w="1066800">
                  <a:extLst>
                    <a:ext uri="{9D8B030D-6E8A-4147-A177-3AD203B41FA5}">
                      <a16:colId xmlns:a16="http://schemas.microsoft.com/office/drawing/2014/main" val="20005"/>
                    </a:ext>
                  </a:extLst>
                </a:gridCol>
                <a:gridCol w="824604">
                  <a:extLst>
                    <a:ext uri="{9D8B030D-6E8A-4147-A177-3AD203B41FA5}">
                      <a16:colId xmlns:a16="http://schemas.microsoft.com/office/drawing/2014/main" val="20006"/>
                    </a:ext>
                  </a:extLst>
                </a:gridCol>
              </a:tblGrid>
              <a:tr h="569975">
                <a:tc>
                  <a:txBody>
                    <a:bodyPr/>
                    <a:lstStyle/>
                    <a:p>
                      <a:pPr marL="91440">
                        <a:lnSpc>
                          <a:spcPct val="100000"/>
                        </a:lnSpc>
                        <a:spcBef>
                          <a:spcPts val="320"/>
                        </a:spcBef>
                      </a:pPr>
                      <a:r>
                        <a:rPr sz="1500" b="1" spc="-10" dirty="0">
                          <a:latin typeface="Times New Roman"/>
                          <a:cs typeface="Times New Roman"/>
                        </a:rPr>
                        <a:t>Environments</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marR="167640">
                        <a:lnSpc>
                          <a:spcPct val="100000"/>
                        </a:lnSpc>
                        <a:spcBef>
                          <a:spcPts val="320"/>
                        </a:spcBef>
                      </a:pPr>
                      <a:r>
                        <a:rPr sz="1500" b="1" spc="-10" dirty="0">
                          <a:latin typeface="Times New Roman"/>
                          <a:cs typeface="Times New Roman"/>
                        </a:rPr>
                        <a:t>Observ </a:t>
                      </a:r>
                      <a:r>
                        <a:rPr sz="1500" b="1" spc="-20" dirty="0">
                          <a:latin typeface="Times New Roman"/>
                          <a:cs typeface="Times New Roman"/>
                        </a:rPr>
                        <a:t>able</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marR="100330">
                        <a:lnSpc>
                          <a:spcPct val="100000"/>
                        </a:lnSpc>
                        <a:spcBef>
                          <a:spcPts val="320"/>
                        </a:spcBef>
                      </a:pPr>
                      <a:r>
                        <a:rPr sz="1500" b="1" spc="-10" dirty="0">
                          <a:latin typeface="Times New Roman"/>
                          <a:cs typeface="Times New Roman"/>
                        </a:rPr>
                        <a:t>Determini </a:t>
                      </a:r>
                      <a:r>
                        <a:rPr sz="1500" b="1" spc="-20" dirty="0">
                          <a:latin typeface="Times New Roman"/>
                          <a:cs typeface="Times New Roman"/>
                        </a:rPr>
                        <a:t>stic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b="1" spc="-10" dirty="0">
                          <a:latin typeface="Times New Roman"/>
                          <a:cs typeface="Times New Roman"/>
                        </a:rPr>
                        <a:t>Episodic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b="1" spc="-10" dirty="0">
                          <a:latin typeface="Times New Roman"/>
                          <a:cs typeface="Times New Roman"/>
                        </a:rPr>
                        <a:t>Static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b="1" spc="-10" dirty="0">
                          <a:latin typeface="Times New Roman"/>
                          <a:cs typeface="Times New Roman"/>
                        </a:rPr>
                        <a:t>Discrete</a:t>
                      </a:r>
                      <a:endParaRPr sz="1500" dirty="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marR="100965">
                        <a:lnSpc>
                          <a:spcPct val="100000"/>
                        </a:lnSpc>
                        <a:spcBef>
                          <a:spcPts val="320"/>
                        </a:spcBef>
                      </a:pPr>
                      <a:r>
                        <a:rPr sz="1500" b="1" spc="-10" dirty="0">
                          <a:latin typeface="Times New Roman"/>
                          <a:cs typeface="Times New Roman"/>
                        </a:rPr>
                        <a:t>Agent</a:t>
                      </a:r>
                      <a:r>
                        <a:rPr sz="1500" b="1" spc="-50" dirty="0">
                          <a:latin typeface="Times New Roman"/>
                          <a:cs typeface="Times New Roman"/>
                        </a:rPr>
                        <a:t>s</a:t>
                      </a:r>
                      <a:endParaRPr sz="1500" dirty="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408623">
                <a:tc>
                  <a:txBody>
                    <a:bodyPr/>
                    <a:lstStyle/>
                    <a:p>
                      <a:pPr marL="91440">
                        <a:lnSpc>
                          <a:spcPct val="100000"/>
                        </a:lnSpc>
                        <a:spcBef>
                          <a:spcPts val="320"/>
                        </a:spcBef>
                      </a:pPr>
                      <a:r>
                        <a:rPr sz="1500" dirty="0">
                          <a:latin typeface="Times New Roman"/>
                          <a:cs typeface="Times New Roman"/>
                        </a:rPr>
                        <a:t>Chess</a:t>
                      </a:r>
                      <a:r>
                        <a:rPr sz="1500" spc="-30" dirty="0">
                          <a:latin typeface="Times New Roman"/>
                          <a:cs typeface="Times New Roman"/>
                        </a:rPr>
                        <a:t> </a:t>
                      </a:r>
                      <a:r>
                        <a:rPr sz="1500" dirty="0">
                          <a:latin typeface="Times New Roman"/>
                          <a:cs typeface="Times New Roman"/>
                        </a:rPr>
                        <a:t>with</a:t>
                      </a:r>
                      <a:r>
                        <a:rPr sz="1500" spc="-25" dirty="0">
                          <a:latin typeface="Times New Roman"/>
                          <a:cs typeface="Times New Roman"/>
                        </a:rPr>
                        <a:t> </a:t>
                      </a:r>
                      <a:r>
                        <a:rPr sz="1500" dirty="0">
                          <a:latin typeface="Times New Roman"/>
                          <a:cs typeface="Times New Roman"/>
                        </a:rPr>
                        <a:t>a</a:t>
                      </a:r>
                      <a:r>
                        <a:rPr sz="1500" spc="-10" dirty="0">
                          <a:latin typeface="Times New Roman"/>
                          <a:cs typeface="Times New Roman"/>
                        </a:rPr>
                        <a:t> clock</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Fully</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Strategic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Sequential</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20" dirty="0">
                          <a:latin typeface="Times New Roman"/>
                          <a:cs typeface="Times New Roman"/>
                        </a:rPr>
                        <a:t>Semi</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Disc</a:t>
                      </a:r>
                      <a:r>
                        <a:rPr lang="en-US" sz="1500" spc="-10" dirty="0">
                          <a:latin typeface="Times New Roman"/>
                          <a:cs typeface="Times New Roman"/>
                        </a:rPr>
                        <a:t>rete</a:t>
                      </a:r>
                      <a:endParaRPr sz="1500" dirty="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spc="-10" dirty="0">
                          <a:latin typeface="Times New Roman"/>
                          <a:cs typeface="Times New Roman"/>
                        </a:rPr>
                        <a:t>Multi</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569975">
                <a:tc>
                  <a:txBody>
                    <a:bodyPr/>
                    <a:lstStyle/>
                    <a:p>
                      <a:pPr marL="91440">
                        <a:lnSpc>
                          <a:spcPct val="100000"/>
                        </a:lnSpc>
                        <a:spcBef>
                          <a:spcPts val="320"/>
                        </a:spcBef>
                      </a:pPr>
                      <a:r>
                        <a:rPr sz="1500" spc="-10" dirty="0">
                          <a:latin typeface="Times New Roman"/>
                          <a:cs typeface="Times New Roman"/>
                        </a:rPr>
                        <a:t>Taxi</a:t>
                      </a:r>
                      <a:r>
                        <a:rPr sz="1500" spc="-80" dirty="0">
                          <a:latin typeface="Times New Roman"/>
                          <a:cs typeface="Times New Roman"/>
                        </a:rPr>
                        <a:t> </a:t>
                      </a:r>
                      <a:r>
                        <a:rPr sz="1500" spc="-10" dirty="0">
                          <a:latin typeface="Times New Roman"/>
                          <a:cs typeface="Times New Roman"/>
                        </a:rPr>
                        <a:t>driving</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Partial</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Stochastic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Sequential</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marR="162560">
                        <a:lnSpc>
                          <a:spcPct val="100000"/>
                        </a:lnSpc>
                        <a:spcBef>
                          <a:spcPts val="320"/>
                        </a:spcBef>
                      </a:pPr>
                      <a:r>
                        <a:rPr sz="1500" spc="-20" dirty="0">
                          <a:latin typeface="Times New Roman"/>
                          <a:cs typeface="Times New Roman"/>
                        </a:rPr>
                        <a:t>Dynami </a:t>
                      </a:r>
                      <a:r>
                        <a:rPr sz="1500" spc="-50" dirty="0">
                          <a:latin typeface="Times New Roman"/>
                          <a:cs typeface="Times New Roman"/>
                        </a:rPr>
                        <a:t>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Continuous</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spc="-10" dirty="0">
                          <a:latin typeface="Times New Roman"/>
                          <a:cs typeface="Times New Roman"/>
                        </a:rPr>
                        <a:t>Single</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408623">
                <a:tc>
                  <a:txBody>
                    <a:bodyPr/>
                    <a:lstStyle/>
                    <a:p>
                      <a:pPr marL="91440">
                        <a:lnSpc>
                          <a:spcPct val="100000"/>
                        </a:lnSpc>
                        <a:spcBef>
                          <a:spcPts val="320"/>
                        </a:spcBef>
                      </a:pPr>
                      <a:r>
                        <a:rPr sz="1500" dirty="0">
                          <a:latin typeface="Times New Roman"/>
                          <a:cs typeface="Times New Roman"/>
                        </a:rPr>
                        <a:t>Medical</a:t>
                      </a:r>
                      <a:r>
                        <a:rPr sz="1500" spc="-60" dirty="0">
                          <a:latin typeface="Times New Roman"/>
                          <a:cs typeface="Times New Roman"/>
                        </a:rPr>
                        <a:t> </a:t>
                      </a:r>
                      <a:r>
                        <a:rPr sz="1500" spc="-10" dirty="0">
                          <a:latin typeface="Times New Roman"/>
                          <a:cs typeface="Times New Roman"/>
                        </a:rPr>
                        <a:t>diagnosis</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0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0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20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bl>
          </a:graphicData>
        </a:graphic>
      </p:graphicFrame>
      <p:sp>
        <p:nvSpPr>
          <p:cNvPr id="6" name="object 6"/>
          <p:cNvSpPr txBox="1"/>
          <p:nvPr/>
        </p:nvSpPr>
        <p:spPr>
          <a:xfrm>
            <a:off x="105725" y="5053718"/>
            <a:ext cx="7995730" cy="2545312"/>
          </a:xfrm>
          <a:prstGeom prst="rect">
            <a:avLst/>
          </a:prstGeom>
        </p:spPr>
        <p:txBody>
          <a:bodyPr vert="horz" wrap="square" lIns="0" tIns="0" rIns="0" bIns="0" rtlCol="0">
            <a:spAutoFit/>
          </a:bodyPr>
          <a:lstStyle/>
          <a:p>
            <a:pPr marL="13970">
              <a:lnSpc>
                <a:spcPts val="2992"/>
              </a:lnSpc>
            </a:pPr>
            <a:r>
              <a:rPr sz="2640" dirty="0">
                <a:latin typeface="Times New Roman"/>
                <a:cs typeface="Times New Roman"/>
              </a:rPr>
              <a:t>Fully</a:t>
            </a:r>
            <a:r>
              <a:rPr sz="2640" spc="-38" dirty="0">
                <a:latin typeface="Times New Roman"/>
                <a:cs typeface="Times New Roman"/>
              </a:rPr>
              <a:t> </a:t>
            </a:r>
            <a:r>
              <a:rPr sz="2640" dirty="0">
                <a:latin typeface="Times New Roman"/>
                <a:cs typeface="Times New Roman"/>
              </a:rPr>
              <a:t>observable</a:t>
            </a:r>
            <a:r>
              <a:rPr sz="2640" spc="-44" dirty="0">
                <a:latin typeface="Times New Roman"/>
                <a:cs typeface="Times New Roman"/>
              </a:rPr>
              <a:t> </a:t>
            </a:r>
            <a:r>
              <a:rPr sz="2640" dirty="0">
                <a:latin typeface="Times New Roman"/>
                <a:cs typeface="Times New Roman"/>
              </a:rPr>
              <a:t>vs.</a:t>
            </a:r>
            <a:r>
              <a:rPr sz="2640" spc="-22" dirty="0">
                <a:latin typeface="Times New Roman"/>
                <a:cs typeface="Times New Roman"/>
              </a:rPr>
              <a:t> </a:t>
            </a:r>
            <a:r>
              <a:rPr sz="2640" dirty="0">
                <a:latin typeface="Times New Roman"/>
                <a:cs typeface="Times New Roman"/>
              </a:rPr>
              <a:t>partially</a:t>
            </a:r>
            <a:r>
              <a:rPr sz="2640" spc="-61" dirty="0">
                <a:latin typeface="Times New Roman"/>
                <a:cs typeface="Times New Roman"/>
              </a:rPr>
              <a:t> </a:t>
            </a:r>
            <a:r>
              <a:rPr sz="2640" spc="-11" dirty="0">
                <a:latin typeface="Times New Roman"/>
                <a:cs typeface="Times New Roman"/>
              </a:rPr>
              <a:t>observable</a:t>
            </a:r>
            <a:endParaRPr sz="2640" dirty="0">
              <a:latin typeface="Times New Roman"/>
              <a:cs typeface="Times New Roman"/>
            </a:endParaRPr>
          </a:p>
          <a:p>
            <a:pPr marL="13970"/>
            <a:r>
              <a:rPr sz="2640" dirty="0">
                <a:latin typeface="Times New Roman"/>
                <a:cs typeface="Times New Roman"/>
              </a:rPr>
              <a:t>Deterministic</a:t>
            </a:r>
            <a:r>
              <a:rPr sz="2640" spc="-72" dirty="0">
                <a:latin typeface="Times New Roman"/>
                <a:cs typeface="Times New Roman"/>
              </a:rPr>
              <a:t> </a:t>
            </a:r>
            <a:r>
              <a:rPr sz="2640" dirty="0">
                <a:latin typeface="Times New Roman"/>
                <a:cs typeface="Times New Roman"/>
              </a:rPr>
              <a:t>vs.</a:t>
            </a:r>
            <a:r>
              <a:rPr sz="2640" spc="-11" dirty="0">
                <a:latin typeface="Times New Roman"/>
                <a:cs typeface="Times New Roman"/>
              </a:rPr>
              <a:t> </a:t>
            </a:r>
            <a:r>
              <a:rPr sz="2640" dirty="0">
                <a:latin typeface="Times New Roman"/>
                <a:cs typeface="Times New Roman"/>
              </a:rPr>
              <a:t>stochastic</a:t>
            </a:r>
            <a:r>
              <a:rPr sz="2640" spc="-66" dirty="0">
                <a:latin typeface="Times New Roman"/>
                <a:cs typeface="Times New Roman"/>
              </a:rPr>
              <a:t> </a:t>
            </a:r>
            <a:r>
              <a:rPr sz="2640" dirty="0">
                <a:latin typeface="Times New Roman"/>
                <a:cs typeface="Times New Roman"/>
              </a:rPr>
              <a:t>/</a:t>
            </a:r>
            <a:r>
              <a:rPr sz="2640" spc="-33" dirty="0">
                <a:latin typeface="Times New Roman"/>
                <a:cs typeface="Times New Roman"/>
              </a:rPr>
              <a:t> </a:t>
            </a:r>
            <a:r>
              <a:rPr sz="2640" spc="-11" dirty="0">
                <a:latin typeface="Times New Roman"/>
                <a:cs typeface="Times New Roman"/>
              </a:rPr>
              <a:t>strategic</a:t>
            </a:r>
            <a:endParaRPr sz="2640" dirty="0">
              <a:latin typeface="Times New Roman"/>
              <a:cs typeface="Times New Roman"/>
            </a:endParaRPr>
          </a:p>
          <a:p>
            <a:pPr marL="13970" marR="4323017"/>
            <a:r>
              <a:rPr sz="2640" dirty="0">
                <a:latin typeface="Times New Roman"/>
                <a:cs typeface="Times New Roman"/>
              </a:rPr>
              <a:t>Episodic</a:t>
            </a:r>
            <a:r>
              <a:rPr sz="2640" spc="-44" dirty="0">
                <a:latin typeface="Times New Roman"/>
                <a:cs typeface="Times New Roman"/>
              </a:rPr>
              <a:t> </a:t>
            </a:r>
            <a:r>
              <a:rPr sz="2640" dirty="0">
                <a:latin typeface="Times New Roman"/>
                <a:cs typeface="Times New Roman"/>
              </a:rPr>
              <a:t>vs.</a:t>
            </a:r>
            <a:r>
              <a:rPr sz="2640" spc="-11" dirty="0">
                <a:latin typeface="Times New Roman"/>
                <a:cs typeface="Times New Roman"/>
              </a:rPr>
              <a:t> sequential </a:t>
            </a:r>
            <a:r>
              <a:rPr sz="2640" dirty="0">
                <a:latin typeface="Times New Roman"/>
                <a:cs typeface="Times New Roman"/>
              </a:rPr>
              <a:t>Static</a:t>
            </a:r>
            <a:r>
              <a:rPr sz="2640" spc="-50" dirty="0">
                <a:latin typeface="Times New Roman"/>
                <a:cs typeface="Times New Roman"/>
              </a:rPr>
              <a:t> </a:t>
            </a:r>
            <a:r>
              <a:rPr sz="2640" dirty="0">
                <a:latin typeface="Times New Roman"/>
                <a:cs typeface="Times New Roman"/>
              </a:rPr>
              <a:t>vs.</a:t>
            </a:r>
            <a:r>
              <a:rPr sz="2640" spc="-11" dirty="0">
                <a:latin typeface="Times New Roman"/>
                <a:cs typeface="Times New Roman"/>
              </a:rPr>
              <a:t> dynamic</a:t>
            </a:r>
            <a:r>
              <a:rPr sz="2640" spc="660" dirty="0">
                <a:latin typeface="Times New Roman"/>
                <a:cs typeface="Times New Roman"/>
              </a:rPr>
              <a:t> </a:t>
            </a:r>
            <a:r>
              <a:rPr sz="2640" dirty="0">
                <a:latin typeface="Times New Roman"/>
                <a:cs typeface="Times New Roman"/>
              </a:rPr>
              <a:t>Discrete</a:t>
            </a:r>
            <a:r>
              <a:rPr sz="2640" spc="-61" dirty="0">
                <a:latin typeface="Times New Roman"/>
                <a:cs typeface="Times New Roman"/>
              </a:rPr>
              <a:t> </a:t>
            </a:r>
            <a:r>
              <a:rPr sz="2640" dirty="0">
                <a:latin typeface="Times New Roman"/>
                <a:cs typeface="Times New Roman"/>
              </a:rPr>
              <a:t>vs.</a:t>
            </a:r>
            <a:r>
              <a:rPr sz="2640" spc="-33" dirty="0">
                <a:latin typeface="Times New Roman"/>
                <a:cs typeface="Times New Roman"/>
              </a:rPr>
              <a:t> </a:t>
            </a:r>
            <a:r>
              <a:rPr sz="2640" spc="-11" dirty="0">
                <a:latin typeface="Times New Roman"/>
                <a:cs typeface="Times New Roman"/>
              </a:rPr>
              <a:t>continuous </a:t>
            </a:r>
            <a:r>
              <a:rPr sz="2640" dirty="0">
                <a:latin typeface="Times New Roman"/>
                <a:cs typeface="Times New Roman"/>
              </a:rPr>
              <a:t>Single</a:t>
            </a:r>
            <a:r>
              <a:rPr sz="2640" spc="-38" dirty="0">
                <a:latin typeface="Times New Roman"/>
                <a:cs typeface="Times New Roman"/>
              </a:rPr>
              <a:t> </a:t>
            </a:r>
            <a:r>
              <a:rPr sz="2640" dirty="0">
                <a:latin typeface="Times New Roman"/>
                <a:cs typeface="Times New Roman"/>
              </a:rPr>
              <a:t>agent</a:t>
            </a:r>
            <a:r>
              <a:rPr sz="2640" spc="-22" dirty="0">
                <a:latin typeface="Times New Roman"/>
                <a:cs typeface="Times New Roman"/>
              </a:rPr>
              <a:t> </a:t>
            </a:r>
            <a:r>
              <a:rPr sz="2640" dirty="0">
                <a:latin typeface="Times New Roman"/>
                <a:cs typeface="Times New Roman"/>
              </a:rPr>
              <a:t>vs.</a:t>
            </a:r>
            <a:r>
              <a:rPr sz="2640" spc="-11" dirty="0">
                <a:latin typeface="Times New Roman"/>
                <a:cs typeface="Times New Roman"/>
              </a:rPr>
              <a:t> multiagent</a:t>
            </a:r>
            <a:endParaRPr sz="2640" dirty="0">
              <a:latin typeface="Times New Roman"/>
              <a:cs typeface="Times New Roman"/>
            </a:endParaRPr>
          </a:p>
          <a:p>
            <a:pPr marL="1897126">
              <a:lnSpc>
                <a:spcPts val="1023"/>
              </a:lnSpc>
            </a:pPr>
            <a:r>
              <a:rPr sz="1100" spc="-11" dirty="0">
                <a:latin typeface="Times New Roman"/>
                <a:cs typeface="Times New Roman"/>
                <a:hlinkClick r:id="rId3"/>
              </a:rPr>
              <a:t>)</a:t>
            </a:r>
            <a:endParaRPr sz="1100" dirty="0">
              <a:latin typeface="Times New Roman"/>
              <a:cs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14400" y="1971318"/>
            <a:ext cx="8866375" cy="521938"/>
          </a:xfrm>
          <a:prstGeom prst="rect">
            <a:avLst/>
          </a:prstGeom>
        </p:spPr>
        <p:txBody>
          <a:bodyPr vert="horz" wrap="square" lIns="0" tIns="13970" rIns="0" bIns="0" rtlCol="0">
            <a:spAutoFit/>
          </a:bodyPr>
          <a:lstStyle/>
          <a:p>
            <a:pPr marL="32130">
              <a:spcBef>
                <a:spcPts val="110"/>
              </a:spcBef>
              <a:tabLst>
                <a:tab pos="8293989" algn="l"/>
              </a:tabLst>
            </a:pPr>
            <a:r>
              <a:rPr dirty="0"/>
              <a:t>How</a:t>
            </a:r>
            <a:r>
              <a:rPr spc="-209" dirty="0"/>
              <a:t> </a:t>
            </a:r>
            <a:r>
              <a:rPr dirty="0"/>
              <a:t>Agents</a:t>
            </a:r>
            <a:r>
              <a:rPr spc="6" dirty="0"/>
              <a:t> </a:t>
            </a:r>
            <a:r>
              <a:rPr spc="-11" dirty="0"/>
              <a:t>should</a:t>
            </a:r>
            <a:r>
              <a:rPr spc="-198" dirty="0"/>
              <a:t> </a:t>
            </a:r>
            <a:r>
              <a:rPr spc="-22" dirty="0"/>
              <a:t>Act?</a:t>
            </a:r>
            <a:r>
              <a:rPr spc="-11" dirty="0"/>
              <a:t>(Cont…)</a:t>
            </a:r>
          </a:p>
        </p:txBody>
      </p:sp>
      <p:sp>
        <p:nvSpPr>
          <p:cNvPr id="3" name="object 3"/>
          <p:cNvSpPr txBox="1"/>
          <p:nvPr/>
        </p:nvSpPr>
        <p:spPr>
          <a:xfrm>
            <a:off x="273364" y="820205"/>
            <a:ext cx="9256522" cy="984693"/>
          </a:xfrm>
          <a:prstGeom prst="rect">
            <a:avLst/>
          </a:prstGeom>
        </p:spPr>
        <p:txBody>
          <a:bodyPr vert="horz" wrap="square" lIns="0" tIns="94298" rIns="0" bIns="0" rtlCol="0">
            <a:spAutoFit/>
          </a:bodyPr>
          <a:lstStyle/>
          <a:p>
            <a:pPr algn="ctr">
              <a:spcBef>
                <a:spcPts val="743"/>
              </a:spcBef>
            </a:pPr>
            <a:r>
              <a:rPr sz="2640" b="1" dirty="0">
                <a:latin typeface="Times New Roman"/>
                <a:cs typeface="Times New Roman"/>
              </a:rPr>
              <a:t>-</a:t>
            </a:r>
            <a:r>
              <a:rPr sz="2640" b="1" spc="-72" dirty="0">
                <a:latin typeface="Times New Roman"/>
                <a:cs typeface="Times New Roman"/>
              </a:rPr>
              <a:t> </a:t>
            </a:r>
            <a:r>
              <a:rPr sz="2640" b="1" u="sng" spc="-11" dirty="0">
                <a:uFill>
                  <a:solidFill>
                    <a:srgbClr val="000000"/>
                  </a:solidFill>
                </a:uFill>
                <a:latin typeface="Times New Roman"/>
                <a:cs typeface="Times New Roman"/>
              </a:rPr>
              <a:t>Environment</a:t>
            </a:r>
            <a:r>
              <a:rPr sz="2640" b="1" u="sng" spc="-38" dirty="0">
                <a:uFill>
                  <a:solidFill>
                    <a:srgbClr val="000000"/>
                  </a:solidFill>
                </a:uFill>
                <a:latin typeface="Times New Roman"/>
                <a:cs typeface="Times New Roman"/>
              </a:rPr>
              <a:t> </a:t>
            </a:r>
            <a:r>
              <a:rPr sz="2640" b="1" u="sng" dirty="0">
                <a:uFill>
                  <a:solidFill>
                    <a:srgbClr val="000000"/>
                  </a:solidFill>
                </a:uFill>
                <a:latin typeface="Times New Roman"/>
                <a:cs typeface="Times New Roman"/>
              </a:rPr>
              <a:t>Parameters</a:t>
            </a:r>
            <a:r>
              <a:rPr sz="2640" b="1" u="sng" spc="-55" dirty="0">
                <a:uFill>
                  <a:solidFill>
                    <a:srgbClr val="000000"/>
                  </a:solidFill>
                </a:uFill>
                <a:latin typeface="Times New Roman"/>
                <a:cs typeface="Times New Roman"/>
              </a:rPr>
              <a:t> </a:t>
            </a:r>
            <a:r>
              <a:rPr sz="2640" b="1" u="sng" spc="-11" dirty="0">
                <a:uFill>
                  <a:solidFill>
                    <a:srgbClr val="000000"/>
                  </a:solidFill>
                </a:uFill>
                <a:latin typeface="Times New Roman"/>
                <a:cs typeface="Times New Roman"/>
              </a:rPr>
              <a:t>for</a:t>
            </a:r>
            <a:r>
              <a:rPr sz="2640" b="1" u="sng" spc="-204" dirty="0">
                <a:uFill>
                  <a:solidFill>
                    <a:srgbClr val="000000"/>
                  </a:solidFill>
                </a:uFill>
                <a:latin typeface="Times New Roman"/>
                <a:cs typeface="Times New Roman"/>
              </a:rPr>
              <a:t> </a:t>
            </a:r>
            <a:r>
              <a:rPr sz="2640" b="1" u="sng" dirty="0">
                <a:uFill>
                  <a:solidFill>
                    <a:srgbClr val="000000"/>
                  </a:solidFill>
                </a:uFill>
                <a:latin typeface="Times New Roman"/>
                <a:cs typeface="Times New Roman"/>
              </a:rPr>
              <a:t>Agents</a:t>
            </a:r>
            <a:r>
              <a:rPr sz="2640" b="1" u="sng" spc="-28" dirty="0">
                <a:uFill>
                  <a:solidFill>
                    <a:srgbClr val="000000"/>
                  </a:solidFill>
                </a:uFill>
                <a:latin typeface="Times New Roman"/>
                <a:cs typeface="Times New Roman"/>
              </a:rPr>
              <a:t> </a:t>
            </a:r>
            <a:r>
              <a:rPr sz="2640" b="1" u="sng" dirty="0">
                <a:uFill>
                  <a:solidFill>
                    <a:srgbClr val="000000"/>
                  </a:solidFill>
                </a:uFill>
                <a:latin typeface="Times New Roman"/>
                <a:cs typeface="Times New Roman"/>
              </a:rPr>
              <a:t>to</a:t>
            </a:r>
            <a:r>
              <a:rPr sz="2640" b="1" u="sng" spc="-33" dirty="0">
                <a:uFill>
                  <a:solidFill>
                    <a:srgbClr val="000000"/>
                  </a:solidFill>
                </a:uFill>
                <a:latin typeface="Times New Roman"/>
                <a:cs typeface="Times New Roman"/>
              </a:rPr>
              <a:t> </a:t>
            </a:r>
            <a:r>
              <a:rPr sz="2640" b="1" u="sng" dirty="0">
                <a:uFill>
                  <a:solidFill>
                    <a:srgbClr val="000000"/>
                  </a:solidFill>
                </a:uFill>
                <a:latin typeface="Times New Roman"/>
                <a:cs typeface="Times New Roman"/>
              </a:rPr>
              <a:t>perform</a:t>
            </a:r>
            <a:r>
              <a:rPr sz="2640" b="1" u="sng" spc="-44" dirty="0">
                <a:uFill>
                  <a:solidFill>
                    <a:srgbClr val="000000"/>
                  </a:solidFill>
                </a:uFill>
                <a:latin typeface="Times New Roman"/>
                <a:cs typeface="Times New Roman"/>
              </a:rPr>
              <a:t> </a:t>
            </a:r>
            <a:r>
              <a:rPr sz="2640" b="1" u="sng" spc="-11" dirty="0">
                <a:uFill>
                  <a:solidFill>
                    <a:srgbClr val="000000"/>
                  </a:solidFill>
                </a:uFill>
                <a:latin typeface="Times New Roman"/>
                <a:cs typeface="Times New Roman"/>
              </a:rPr>
              <a:t>accurately</a:t>
            </a:r>
            <a:r>
              <a:rPr sz="2640" spc="-11" dirty="0">
                <a:latin typeface="Times New Roman"/>
                <a:cs typeface="Times New Roman"/>
              </a:rPr>
              <a:t>:</a:t>
            </a:r>
            <a:endParaRPr sz="2640" dirty="0">
              <a:latin typeface="Times New Roman"/>
              <a:cs typeface="Times New Roman"/>
            </a:endParaRPr>
          </a:p>
          <a:p>
            <a:pPr marR="296863" algn="ctr">
              <a:spcBef>
                <a:spcPts val="633"/>
              </a:spcBef>
            </a:pPr>
            <a:r>
              <a:rPr sz="2640" spc="-11" dirty="0">
                <a:latin typeface="Times New Roman"/>
                <a:cs typeface="Times New Roman"/>
              </a:rPr>
              <a:t>(Examples)</a:t>
            </a:r>
            <a:endParaRPr sz="2640" dirty="0">
              <a:latin typeface="Times New Roman"/>
              <a:cs typeface="Times New Roman"/>
            </a:endParaRPr>
          </a:p>
        </p:txBody>
      </p:sp>
      <p:pic>
        <p:nvPicPr>
          <p:cNvPr id="4" name="object 4"/>
          <p:cNvPicPr/>
          <p:nvPr/>
        </p:nvPicPr>
        <p:blipFill>
          <a:blip r:embed="rId2" cstate="print"/>
          <a:stretch>
            <a:fillRect/>
          </a:stretch>
        </p:blipFill>
        <p:spPr>
          <a:xfrm>
            <a:off x="357072" y="3347428"/>
            <a:ext cx="1780337" cy="1537600"/>
          </a:xfrm>
          <a:prstGeom prst="rect">
            <a:avLst/>
          </a:prstGeom>
        </p:spPr>
      </p:pic>
      <p:graphicFrame>
        <p:nvGraphicFramePr>
          <p:cNvPr id="5" name="object 5"/>
          <p:cNvGraphicFramePr>
            <a:graphicFrameLocks noGrp="1"/>
          </p:cNvGraphicFramePr>
          <p:nvPr>
            <p:extLst>
              <p:ext uri="{D42A27DB-BD31-4B8C-83A1-F6EECF244321}">
                <p14:modId xmlns:p14="http://schemas.microsoft.com/office/powerpoint/2010/main" val="1320977879"/>
              </p:ext>
            </p:extLst>
          </p:nvPr>
        </p:nvGraphicFramePr>
        <p:xfrm>
          <a:off x="2362200" y="2901794"/>
          <a:ext cx="7530528" cy="1954402"/>
        </p:xfrm>
        <a:graphic>
          <a:graphicData uri="http://schemas.openxmlformats.org/drawingml/2006/table">
            <a:tbl>
              <a:tblPr firstRow="1" bandRow="1">
                <a:tableStyleId>{2D5ABB26-0587-4C30-8999-92F81FD0307C}</a:tableStyleId>
              </a:tblPr>
              <a:tblGrid>
                <a:gridCol w="1718310">
                  <a:extLst>
                    <a:ext uri="{9D8B030D-6E8A-4147-A177-3AD203B41FA5}">
                      <a16:colId xmlns:a16="http://schemas.microsoft.com/office/drawing/2014/main" val="20000"/>
                    </a:ext>
                  </a:extLst>
                </a:gridCol>
                <a:gridCol w="904558">
                  <a:extLst>
                    <a:ext uri="{9D8B030D-6E8A-4147-A177-3AD203B41FA5}">
                      <a16:colId xmlns:a16="http://schemas.microsoft.com/office/drawing/2014/main" val="20001"/>
                    </a:ext>
                  </a:extLst>
                </a:gridCol>
                <a:gridCol w="1068705">
                  <a:extLst>
                    <a:ext uri="{9D8B030D-6E8A-4147-A177-3AD203B41FA5}">
                      <a16:colId xmlns:a16="http://schemas.microsoft.com/office/drawing/2014/main" val="20002"/>
                    </a:ext>
                  </a:extLst>
                </a:gridCol>
                <a:gridCol w="1058926">
                  <a:extLst>
                    <a:ext uri="{9D8B030D-6E8A-4147-A177-3AD203B41FA5}">
                      <a16:colId xmlns:a16="http://schemas.microsoft.com/office/drawing/2014/main" val="20003"/>
                    </a:ext>
                  </a:extLst>
                </a:gridCol>
                <a:gridCol w="913638">
                  <a:extLst>
                    <a:ext uri="{9D8B030D-6E8A-4147-A177-3AD203B41FA5}">
                      <a16:colId xmlns:a16="http://schemas.microsoft.com/office/drawing/2014/main" val="20004"/>
                    </a:ext>
                  </a:extLst>
                </a:gridCol>
                <a:gridCol w="1144142">
                  <a:extLst>
                    <a:ext uri="{9D8B030D-6E8A-4147-A177-3AD203B41FA5}">
                      <a16:colId xmlns:a16="http://schemas.microsoft.com/office/drawing/2014/main" val="20005"/>
                    </a:ext>
                  </a:extLst>
                </a:gridCol>
                <a:gridCol w="722249">
                  <a:extLst>
                    <a:ext uri="{9D8B030D-6E8A-4147-A177-3AD203B41FA5}">
                      <a16:colId xmlns:a16="http://schemas.microsoft.com/office/drawing/2014/main" val="20006"/>
                    </a:ext>
                  </a:extLst>
                </a:gridCol>
              </a:tblGrid>
              <a:tr h="569975">
                <a:tc>
                  <a:txBody>
                    <a:bodyPr/>
                    <a:lstStyle/>
                    <a:p>
                      <a:pPr marL="91440">
                        <a:lnSpc>
                          <a:spcPct val="100000"/>
                        </a:lnSpc>
                        <a:spcBef>
                          <a:spcPts val="320"/>
                        </a:spcBef>
                      </a:pPr>
                      <a:r>
                        <a:rPr sz="1500" b="1" spc="-10" dirty="0">
                          <a:latin typeface="Times New Roman"/>
                          <a:cs typeface="Times New Roman"/>
                        </a:rPr>
                        <a:t>Environments</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marR="167640">
                        <a:lnSpc>
                          <a:spcPct val="100000"/>
                        </a:lnSpc>
                        <a:spcBef>
                          <a:spcPts val="320"/>
                        </a:spcBef>
                      </a:pPr>
                      <a:r>
                        <a:rPr sz="1500" b="1" spc="-10" dirty="0">
                          <a:latin typeface="Times New Roman"/>
                          <a:cs typeface="Times New Roman"/>
                        </a:rPr>
                        <a:t>Observ </a:t>
                      </a:r>
                      <a:r>
                        <a:rPr sz="1500" b="1" spc="-20" dirty="0">
                          <a:latin typeface="Times New Roman"/>
                          <a:cs typeface="Times New Roman"/>
                        </a:rPr>
                        <a:t>able</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marR="101600">
                        <a:lnSpc>
                          <a:spcPct val="100000"/>
                        </a:lnSpc>
                        <a:spcBef>
                          <a:spcPts val="320"/>
                        </a:spcBef>
                      </a:pPr>
                      <a:r>
                        <a:rPr sz="1500" b="1" spc="-10" dirty="0">
                          <a:latin typeface="Times New Roman"/>
                          <a:cs typeface="Times New Roman"/>
                        </a:rPr>
                        <a:t>Determini </a:t>
                      </a:r>
                      <a:r>
                        <a:rPr sz="1500" b="1" spc="-20" dirty="0">
                          <a:latin typeface="Times New Roman"/>
                          <a:cs typeface="Times New Roman"/>
                        </a:rPr>
                        <a:t>stic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b="1" spc="-10" dirty="0">
                          <a:latin typeface="Times New Roman"/>
                          <a:cs typeface="Times New Roman"/>
                        </a:rPr>
                        <a:t>Episodic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b="1" spc="-10" dirty="0">
                          <a:latin typeface="Times New Roman"/>
                          <a:cs typeface="Times New Roman"/>
                        </a:rPr>
                        <a:t>Static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b="1" spc="-10" dirty="0">
                          <a:latin typeface="Times New Roman"/>
                          <a:cs typeface="Times New Roman"/>
                        </a:rPr>
                        <a:t>Discrete</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marR="100330">
                        <a:lnSpc>
                          <a:spcPct val="100000"/>
                        </a:lnSpc>
                        <a:spcBef>
                          <a:spcPts val="320"/>
                        </a:spcBef>
                      </a:pPr>
                      <a:r>
                        <a:rPr sz="1500" b="1" spc="-10" dirty="0">
                          <a:latin typeface="Times New Roman"/>
                          <a:cs typeface="Times New Roman"/>
                        </a:rPr>
                        <a:t>Agent </a:t>
                      </a:r>
                      <a:r>
                        <a:rPr sz="1500" b="1" spc="-50" dirty="0">
                          <a:latin typeface="Times New Roman"/>
                          <a:cs typeface="Times New Roman"/>
                        </a:rPr>
                        <a:t>s</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407226">
                <a:tc>
                  <a:txBody>
                    <a:bodyPr/>
                    <a:lstStyle/>
                    <a:p>
                      <a:pPr marL="91440">
                        <a:lnSpc>
                          <a:spcPct val="100000"/>
                        </a:lnSpc>
                        <a:spcBef>
                          <a:spcPts val="315"/>
                        </a:spcBef>
                      </a:pPr>
                      <a:r>
                        <a:rPr sz="1500" dirty="0">
                          <a:latin typeface="Times New Roman"/>
                          <a:cs typeface="Times New Roman"/>
                        </a:rPr>
                        <a:t>Chess</a:t>
                      </a:r>
                      <a:r>
                        <a:rPr sz="1500" spc="-30" dirty="0">
                          <a:latin typeface="Times New Roman"/>
                          <a:cs typeface="Times New Roman"/>
                        </a:rPr>
                        <a:t> </a:t>
                      </a:r>
                      <a:r>
                        <a:rPr sz="1500" dirty="0">
                          <a:latin typeface="Times New Roman"/>
                          <a:cs typeface="Times New Roman"/>
                        </a:rPr>
                        <a:t>with</a:t>
                      </a:r>
                      <a:r>
                        <a:rPr sz="1500" spc="-25" dirty="0">
                          <a:latin typeface="Times New Roman"/>
                          <a:cs typeface="Times New Roman"/>
                        </a:rPr>
                        <a:t> </a:t>
                      </a:r>
                      <a:r>
                        <a:rPr sz="1500" dirty="0">
                          <a:latin typeface="Times New Roman"/>
                          <a:cs typeface="Times New Roman"/>
                        </a:rPr>
                        <a:t>a</a:t>
                      </a:r>
                      <a:r>
                        <a:rPr sz="1500" spc="-10" dirty="0">
                          <a:latin typeface="Times New Roman"/>
                          <a:cs typeface="Times New Roman"/>
                        </a:rPr>
                        <a:t> clock</a:t>
                      </a:r>
                      <a:endParaRPr sz="1500">
                        <a:latin typeface="Times New Roman"/>
                        <a:cs typeface="Times New Roman"/>
                      </a:endParaRPr>
                    </a:p>
                  </a:txBody>
                  <a:tcPr marL="0" marR="0" marT="4400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15"/>
                        </a:spcBef>
                      </a:pPr>
                      <a:r>
                        <a:rPr sz="1500" spc="-10" dirty="0">
                          <a:latin typeface="Times New Roman"/>
                          <a:cs typeface="Times New Roman"/>
                        </a:rPr>
                        <a:t>Fully</a:t>
                      </a:r>
                      <a:endParaRPr sz="1500">
                        <a:latin typeface="Times New Roman"/>
                        <a:cs typeface="Times New Roman"/>
                      </a:endParaRPr>
                    </a:p>
                  </a:txBody>
                  <a:tcPr marL="0" marR="0" marT="4400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15"/>
                        </a:spcBef>
                      </a:pPr>
                      <a:r>
                        <a:rPr sz="1500" spc="-10" dirty="0">
                          <a:latin typeface="Times New Roman"/>
                          <a:cs typeface="Times New Roman"/>
                        </a:rPr>
                        <a:t>Strategic</a:t>
                      </a:r>
                      <a:endParaRPr sz="1500">
                        <a:latin typeface="Times New Roman"/>
                        <a:cs typeface="Times New Roman"/>
                      </a:endParaRPr>
                    </a:p>
                  </a:txBody>
                  <a:tcPr marL="0" marR="0" marT="4400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15"/>
                        </a:spcBef>
                      </a:pPr>
                      <a:r>
                        <a:rPr sz="1500" spc="-10" dirty="0">
                          <a:latin typeface="Times New Roman"/>
                          <a:cs typeface="Times New Roman"/>
                        </a:rPr>
                        <a:t>Sequential</a:t>
                      </a:r>
                      <a:endParaRPr sz="1500">
                        <a:latin typeface="Times New Roman"/>
                        <a:cs typeface="Times New Roman"/>
                      </a:endParaRPr>
                    </a:p>
                  </a:txBody>
                  <a:tcPr marL="0" marR="0" marT="4400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15"/>
                        </a:spcBef>
                      </a:pPr>
                      <a:r>
                        <a:rPr sz="1500" spc="-20" dirty="0">
                          <a:latin typeface="Times New Roman"/>
                          <a:cs typeface="Times New Roman"/>
                        </a:rPr>
                        <a:t>Semi</a:t>
                      </a:r>
                      <a:endParaRPr sz="1500">
                        <a:latin typeface="Times New Roman"/>
                        <a:cs typeface="Times New Roman"/>
                      </a:endParaRPr>
                    </a:p>
                  </a:txBody>
                  <a:tcPr marL="0" marR="0" marT="4400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15"/>
                        </a:spcBef>
                      </a:pPr>
                      <a:r>
                        <a:rPr sz="1500" spc="-10" dirty="0">
                          <a:latin typeface="Times New Roman"/>
                          <a:cs typeface="Times New Roman"/>
                        </a:rPr>
                        <a:t>Discrete</a:t>
                      </a:r>
                      <a:endParaRPr sz="1500">
                        <a:latin typeface="Times New Roman"/>
                        <a:cs typeface="Times New Roman"/>
                      </a:endParaRPr>
                    </a:p>
                  </a:txBody>
                  <a:tcPr marL="0" marR="0" marT="4400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15"/>
                        </a:spcBef>
                      </a:pPr>
                      <a:r>
                        <a:rPr sz="1500" spc="-10" dirty="0">
                          <a:latin typeface="Times New Roman"/>
                          <a:cs typeface="Times New Roman"/>
                        </a:rPr>
                        <a:t>Multi</a:t>
                      </a:r>
                      <a:endParaRPr sz="1500">
                        <a:latin typeface="Times New Roman"/>
                        <a:cs typeface="Times New Roman"/>
                      </a:endParaRPr>
                    </a:p>
                  </a:txBody>
                  <a:tcPr marL="0" marR="0" marT="44006"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569975">
                <a:tc>
                  <a:txBody>
                    <a:bodyPr/>
                    <a:lstStyle/>
                    <a:p>
                      <a:pPr marL="91440">
                        <a:lnSpc>
                          <a:spcPct val="100000"/>
                        </a:lnSpc>
                        <a:spcBef>
                          <a:spcPts val="320"/>
                        </a:spcBef>
                      </a:pPr>
                      <a:r>
                        <a:rPr sz="1500" spc="-10" dirty="0">
                          <a:latin typeface="Times New Roman"/>
                          <a:cs typeface="Times New Roman"/>
                        </a:rPr>
                        <a:t>Taxi</a:t>
                      </a:r>
                      <a:r>
                        <a:rPr sz="1500" spc="-80" dirty="0">
                          <a:latin typeface="Times New Roman"/>
                          <a:cs typeface="Times New Roman"/>
                        </a:rPr>
                        <a:t> </a:t>
                      </a:r>
                      <a:r>
                        <a:rPr sz="1500" spc="-10" dirty="0">
                          <a:latin typeface="Times New Roman"/>
                          <a:cs typeface="Times New Roman"/>
                        </a:rPr>
                        <a:t>driving</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Partial</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Stochastic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Sequential</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marR="161290">
                        <a:lnSpc>
                          <a:spcPct val="100000"/>
                        </a:lnSpc>
                        <a:spcBef>
                          <a:spcPts val="320"/>
                        </a:spcBef>
                      </a:pPr>
                      <a:r>
                        <a:rPr sz="1500" spc="-20" dirty="0">
                          <a:latin typeface="Times New Roman"/>
                          <a:cs typeface="Times New Roman"/>
                        </a:rPr>
                        <a:t>Dynami </a:t>
                      </a:r>
                      <a:r>
                        <a:rPr sz="1500" spc="-50" dirty="0">
                          <a:latin typeface="Times New Roman"/>
                          <a:cs typeface="Times New Roman"/>
                        </a:rPr>
                        <a:t>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spc="-10" dirty="0">
                          <a:latin typeface="Times New Roman"/>
                          <a:cs typeface="Times New Roman"/>
                        </a:rPr>
                        <a:t>Continuous</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spc="-10" dirty="0">
                          <a:latin typeface="Times New Roman"/>
                          <a:cs typeface="Times New Roman"/>
                        </a:rPr>
                        <a:t>Single</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407226">
                <a:tc>
                  <a:txBody>
                    <a:bodyPr/>
                    <a:lstStyle/>
                    <a:p>
                      <a:pPr marL="91440">
                        <a:lnSpc>
                          <a:spcPct val="100000"/>
                        </a:lnSpc>
                        <a:spcBef>
                          <a:spcPts val="320"/>
                        </a:spcBef>
                      </a:pPr>
                      <a:r>
                        <a:rPr sz="1500" dirty="0">
                          <a:latin typeface="Times New Roman"/>
                          <a:cs typeface="Times New Roman"/>
                        </a:rPr>
                        <a:t>Medical</a:t>
                      </a:r>
                      <a:r>
                        <a:rPr sz="1500" spc="-60" dirty="0">
                          <a:latin typeface="Times New Roman"/>
                          <a:cs typeface="Times New Roman"/>
                        </a:rPr>
                        <a:t> </a:t>
                      </a:r>
                      <a:r>
                        <a:rPr sz="1500" spc="-10" dirty="0">
                          <a:latin typeface="Times New Roman"/>
                          <a:cs typeface="Times New Roman"/>
                        </a:rPr>
                        <a:t>diagnosis</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Partial</a:t>
                      </a:r>
                      <a:endParaRPr sz="1500" dirty="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Stochastic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Episodic</a:t>
                      </a:r>
                      <a:endParaRPr sz="1500" dirty="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Static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spc="-10" dirty="0">
                          <a:latin typeface="Times New Roman"/>
                          <a:cs typeface="Times New Roman"/>
                        </a:rPr>
                        <a:t>Continuous</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spc="-10" dirty="0">
                          <a:latin typeface="Times New Roman"/>
                          <a:cs typeface="Times New Roman"/>
                        </a:rPr>
                        <a:t>Single</a:t>
                      </a:r>
                      <a:endParaRPr sz="1500" dirty="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bl>
          </a:graphicData>
        </a:graphic>
      </p:graphicFrame>
      <p:sp>
        <p:nvSpPr>
          <p:cNvPr id="6" name="object 6"/>
          <p:cNvSpPr txBox="1"/>
          <p:nvPr/>
        </p:nvSpPr>
        <p:spPr>
          <a:xfrm>
            <a:off x="105725" y="5053718"/>
            <a:ext cx="7995730" cy="2416046"/>
          </a:xfrm>
          <a:prstGeom prst="rect">
            <a:avLst/>
          </a:prstGeom>
        </p:spPr>
        <p:txBody>
          <a:bodyPr vert="horz" wrap="square" lIns="0" tIns="0" rIns="0" bIns="0" rtlCol="0">
            <a:spAutoFit/>
          </a:bodyPr>
          <a:lstStyle/>
          <a:p>
            <a:pPr marL="13970">
              <a:lnSpc>
                <a:spcPts val="2992"/>
              </a:lnSpc>
            </a:pPr>
            <a:r>
              <a:rPr sz="2640" dirty="0">
                <a:latin typeface="Times New Roman"/>
                <a:cs typeface="Times New Roman"/>
              </a:rPr>
              <a:t>Fully</a:t>
            </a:r>
            <a:r>
              <a:rPr sz="2640" spc="-38" dirty="0">
                <a:latin typeface="Times New Roman"/>
                <a:cs typeface="Times New Roman"/>
              </a:rPr>
              <a:t> </a:t>
            </a:r>
            <a:r>
              <a:rPr sz="2640" dirty="0">
                <a:latin typeface="Times New Roman"/>
                <a:cs typeface="Times New Roman"/>
              </a:rPr>
              <a:t>observable</a:t>
            </a:r>
            <a:r>
              <a:rPr sz="2640" spc="-44" dirty="0">
                <a:latin typeface="Times New Roman"/>
                <a:cs typeface="Times New Roman"/>
              </a:rPr>
              <a:t> </a:t>
            </a:r>
            <a:r>
              <a:rPr sz="2640" dirty="0">
                <a:latin typeface="Times New Roman"/>
                <a:cs typeface="Times New Roman"/>
              </a:rPr>
              <a:t>vs.</a:t>
            </a:r>
            <a:r>
              <a:rPr sz="2640" spc="-22" dirty="0">
                <a:latin typeface="Times New Roman"/>
                <a:cs typeface="Times New Roman"/>
              </a:rPr>
              <a:t> </a:t>
            </a:r>
            <a:r>
              <a:rPr sz="2640" dirty="0">
                <a:latin typeface="Times New Roman"/>
                <a:cs typeface="Times New Roman"/>
              </a:rPr>
              <a:t>partially</a:t>
            </a:r>
            <a:r>
              <a:rPr sz="2640" spc="-61" dirty="0">
                <a:latin typeface="Times New Roman"/>
                <a:cs typeface="Times New Roman"/>
              </a:rPr>
              <a:t> </a:t>
            </a:r>
            <a:r>
              <a:rPr sz="2640" spc="-11" dirty="0">
                <a:latin typeface="Times New Roman"/>
                <a:cs typeface="Times New Roman"/>
              </a:rPr>
              <a:t>observable</a:t>
            </a:r>
            <a:endParaRPr sz="2640" dirty="0">
              <a:latin typeface="Times New Roman"/>
              <a:cs typeface="Times New Roman"/>
            </a:endParaRPr>
          </a:p>
          <a:p>
            <a:pPr marL="13970"/>
            <a:r>
              <a:rPr sz="2640" dirty="0">
                <a:latin typeface="Times New Roman"/>
                <a:cs typeface="Times New Roman"/>
              </a:rPr>
              <a:t>Deterministic</a:t>
            </a:r>
            <a:r>
              <a:rPr sz="2640" spc="-72" dirty="0">
                <a:latin typeface="Times New Roman"/>
                <a:cs typeface="Times New Roman"/>
              </a:rPr>
              <a:t> </a:t>
            </a:r>
            <a:r>
              <a:rPr sz="2640" dirty="0">
                <a:latin typeface="Times New Roman"/>
                <a:cs typeface="Times New Roman"/>
              </a:rPr>
              <a:t>vs.</a:t>
            </a:r>
            <a:r>
              <a:rPr sz="2640" spc="-11" dirty="0">
                <a:latin typeface="Times New Roman"/>
                <a:cs typeface="Times New Roman"/>
              </a:rPr>
              <a:t> </a:t>
            </a:r>
            <a:r>
              <a:rPr sz="2640" dirty="0">
                <a:latin typeface="Times New Roman"/>
                <a:cs typeface="Times New Roman"/>
              </a:rPr>
              <a:t>stochastic</a:t>
            </a:r>
            <a:r>
              <a:rPr sz="2640" spc="-66" dirty="0">
                <a:latin typeface="Times New Roman"/>
                <a:cs typeface="Times New Roman"/>
              </a:rPr>
              <a:t> </a:t>
            </a:r>
            <a:r>
              <a:rPr sz="2640" dirty="0">
                <a:latin typeface="Times New Roman"/>
                <a:cs typeface="Times New Roman"/>
              </a:rPr>
              <a:t>/</a:t>
            </a:r>
            <a:r>
              <a:rPr sz="2640" spc="-33" dirty="0">
                <a:latin typeface="Times New Roman"/>
                <a:cs typeface="Times New Roman"/>
              </a:rPr>
              <a:t> </a:t>
            </a:r>
            <a:r>
              <a:rPr sz="2640" spc="-11" dirty="0">
                <a:latin typeface="Times New Roman"/>
                <a:cs typeface="Times New Roman"/>
              </a:rPr>
              <a:t>strategic</a:t>
            </a:r>
            <a:endParaRPr sz="2640" dirty="0">
              <a:latin typeface="Times New Roman"/>
              <a:cs typeface="Times New Roman"/>
            </a:endParaRPr>
          </a:p>
          <a:p>
            <a:pPr marL="13970" marR="4323017"/>
            <a:r>
              <a:rPr sz="2640" dirty="0">
                <a:latin typeface="Times New Roman"/>
                <a:cs typeface="Times New Roman"/>
              </a:rPr>
              <a:t>Episodic</a:t>
            </a:r>
            <a:r>
              <a:rPr sz="2640" spc="-44" dirty="0">
                <a:latin typeface="Times New Roman"/>
                <a:cs typeface="Times New Roman"/>
              </a:rPr>
              <a:t> </a:t>
            </a:r>
            <a:r>
              <a:rPr sz="2640" dirty="0">
                <a:latin typeface="Times New Roman"/>
                <a:cs typeface="Times New Roman"/>
              </a:rPr>
              <a:t>vs.</a:t>
            </a:r>
            <a:r>
              <a:rPr sz="2640" spc="-11" dirty="0">
                <a:latin typeface="Times New Roman"/>
                <a:cs typeface="Times New Roman"/>
              </a:rPr>
              <a:t> sequential </a:t>
            </a:r>
            <a:r>
              <a:rPr sz="2640" dirty="0">
                <a:latin typeface="Times New Roman"/>
                <a:cs typeface="Times New Roman"/>
              </a:rPr>
              <a:t>Static</a:t>
            </a:r>
            <a:r>
              <a:rPr sz="2640" spc="-50" dirty="0">
                <a:latin typeface="Times New Roman"/>
                <a:cs typeface="Times New Roman"/>
              </a:rPr>
              <a:t> </a:t>
            </a:r>
            <a:r>
              <a:rPr sz="2640" dirty="0">
                <a:latin typeface="Times New Roman"/>
                <a:cs typeface="Times New Roman"/>
              </a:rPr>
              <a:t>vs.</a:t>
            </a:r>
            <a:r>
              <a:rPr sz="2640" spc="-11" dirty="0">
                <a:latin typeface="Times New Roman"/>
                <a:cs typeface="Times New Roman"/>
              </a:rPr>
              <a:t> dynamic</a:t>
            </a:r>
            <a:r>
              <a:rPr sz="2640" spc="660" dirty="0">
                <a:latin typeface="Times New Roman"/>
                <a:cs typeface="Times New Roman"/>
              </a:rPr>
              <a:t> </a:t>
            </a:r>
            <a:r>
              <a:rPr sz="2640" dirty="0">
                <a:latin typeface="Times New Roman"/>
                <a:cs typeface="Times New Roman"/>
              </a:rPr>
              <a:t>Discrete</a:t>
            </a:r>
            <a:r>
              <a:rPr sz="2640" spc="-61" dirty="0">
                <a:latin typeface="Times New Roman"/>
                <a:cs typeface="Times New Roman"/>
              </a:rPr>
              <a:t> </a:t>
            </a:r>
            <a:r>
              <a:rPr sz="2640" dirty="0">
                <a:latin typeface="Times New Roman"/>
                <a:cs typeface="Times New Roman"/>
              </a:rPr>
              <a:t>vs.</a:t>
            </a:r>
            <a:r>
              <a:rPr sz="2640" spc="-33" dirty="0">
                <a:latin typeface="Times New Roman"/>
                <a:cs typeface="Times New Roman"/>
              </a:rPr>
              <a:t> </a:t>
            </a:r>
            <a:r>
              <a:rPr sz="2640" spc="-11" dirty="0">
                <a:latin typeface="Times New Roman"/>
                <a:cs typeface="Times New Roman"/>
              </a:rPr>
              <a:t>continuous </a:t>
            </a:r>
            <a:r>
              <a:rPr sz="2640" dirty="0">
                <a:latin typeface="Times New Roman"/>
                <a:cs typeface="Times New Roman"/>
              </a:rPr>
              <a:t>Single</a:t>
            </a:r>
            <a:r>
              <a:rPr sz="2640" spc="-38" dirty="0">
                <a:latin typeface="Times New Roman"/>
                <a:cs typeface="Times New Roman"/>
              </a:rPr>
              <a:t> </a:t>
            </a:r>
            <a:r>
              <a:rPr sz="2640" dirty="0">
                <a:latin typeface="Times New Roman"/>
                <a:cs typeface="Times New Roman"/>
              </a:rPr>
              <a:t>agent</a:t>
            </a:r>
            <a:r>
              <a:rPr sz="2640" spc="-22" dirty="0">
                <a:latin typeface="Times New Roman"/>
                <a:cs typeface="Times New Roman"/>
              </a:rPr>
              <a:t> </a:t>
            </a:r>
            <a:r>
              <a:rPr sz="2640" dirty="0">
                <a:latin typeface="Times New Roman"/>
                <a:cs typeface="Times New Roman"/>
              </a:rPr>
              <a:t>vs.</a:t>
            </a:r>
            <a:r>
              <a:rPr sz="2640" spc="-11" dirty="0">
                <a:latin typeface="Times New Roman"/>
                <a:cs typeface="Times New Roman"/>
              </a:rPr>
              <a:t> multiagent</a:t>
            </a:r>
            <a:endParaRPr sz="2640" dirty="0">
              <a:latin typeface="Times New Roman"/>
              <a:cs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08056" y="1621899"/>
            <a:ext cx="9256522" cy="521938"/>
          </a:xfrm>
          <a:prstGeom prst="rect">
            <a:avLst/>
          </a:prstGeom>
        </p:spPr>
        <p:txBody>
          <a:bodyPr vert="horz" wrap="square" lIns="0" tIns="13970" rIns="0" bIns="0" rtlCol="0">
            <a:spAutoFit/>
          </a:bodyPr>
          <a:lstStyle/>
          <a:p>
            <a:pPr marL="32130">
              <a:spcBef>
                <a:spcPts val="110"/>
              </a:spcBef>
              <a:tabLst>
                <a:tab pos="8293989" algn="l"/>
              </a:tabLst>
            </a:pPr>
            <a:r>
              <a:rPr spc="-6" dirty="0"/>
              <a:t> </a:t>
            </a:r>
            <a:r>
              <a:rPr dirty="0"/>
              <a:t>How</a:t>
            </a:r>
            <a:r>
              <a:rPr spc="-209" dirty="0"/>
              <a:t> </a:t>
            </a:r>
            <a:r>
              <a:rPr dirty="0"/>
              <a:t>Agents</a:t>
            </a:r>
            <a:r>
              <a:rPr spc="6" dirty="0"/>
              <a:t> </a:t>
            </a:r>
            <a:r>
              <a:rPr spc="-11" dirty="0"/>
              <a:t>should</a:t>
            </a:r>
            <a:r>
              <a:rPr spc="-198" dirty="0"/>
              <a:t> </a:t>
            </a:r>
            <a:r>
              <a:rPr spc="-22" dirty="0"/>
              <a:t>Act?</a:t>
            </a:r>
            <a:r>
              <a:rPr lang="en-US" spc="-22" dirty="0"/>
              <a:t>  </a:t>
            </a:r>
            <a:r>
              <a:rPr lang="en-US" spc="-22" dirty="0" err="1"/>
              <a:t>co</a:t>
            </a:r>
            <a:r>
              <a:rPr spc="-11" dirty="0" err="1"/>
              <a:t>nt</a:t>
            </a:r>
            <a:r>
              <a:rPr spc="-11" dirty="0"/>
              <a:t>…)</a:t>
            </a:r>
          </a:p>
        </p:txBody>
      </p:sp>
      <p:sp>
        <p:nvSpPr>
          <p:cNvPr id="3" name="object 3"/>
          <p:cNvSpPr txBox="1"/>
          <p:nvPr/>
        </p:nvSpPr>
        <p:spPr>
          <a:xfrm>
            <a:off x="145441" y="439524"/>
            <a:ext cx="9256522" cy="984693"/>
          </a:xfrm>
          <a:prstGeom prst="rect">
            <a:avLst/>
          </a:prstGeom>
        </p:spPr>
        <p:txBody>
          <a:bodyPr vert="horz" wrap="square" lIns="0" tIns="94298" rIns="0" bIns="0" rtlCol="0">
            <a:spAutoFit/>
          </a:bodyPr>
          <a:lstStyle/>
          <a:p>
            <a:pPr algn="ctr">
              <a:spcBef>
                <a:spcPts val="743"/>
              </a:spcBef>
            </a:pPr>
            <a:r>
              <a:rPr sz="2640" b="1" dirty="0">
                <a:latin typeface="Times New Roman"/>
                <a:cs typeface="Times New Roman"/>
              </a:rPr>
              <a:t>:-</a:t>
            </a:r>
            <a:r>
              <a:rPr sz="2640" b="1" spc="-72" dirty="0">
                <a:latin typeface="Times New Roman"/>
                <a:cs typeface="Times New Roman"/>
              </a:rPr>
              <a:t> </a:t>
            </a:r>
            <a:r>
              <a:rPr sz="2640" b="1" u="sng" spc="-11" dirty="0">
                <a:uFill>
                  <a:solidFill>
                    <a:srgbClr val="000000"/>
                  </a:solidFill>
                </a:uFill>
                <a:latin typeface="Times New Roman"/>
                <a:cs typeface="Times New Roman"/>
              </a:rPr>
              <a:t>Environment</a:t>
            </a:r>
            <a:r>
              <a:rPr sz="2640" b="1" u="sng" spc="-38" dirty="0">
                <a:uFill>
                  <a:solidFill>
                    <a:srgbClr val="000000"/>
                  </a:solidFill>
                </a:uFill>
                <a:latin typeface="Times New Roman"/>
                <a:cs typeface="Times New Roman"/>
              </a:rPr>
              <a:t> </a:t>
            </a:r>
            <a:r>
              <a:rPr sz="2640" b="1" u="sng" dirty="0">
                <a:uFill>
                  <a:solidFill>
                    <a:srgbClr val="000000"/>
                  </a:solidFill>
                </a:uFill>
                <a:latin typeface="Times New Roman"/>
                <a:cs typeface="Times New Roman"/>
              </a:rPr>
              <a:t>Parameters</a:t>
            </a:r>
            <a:r>
              <a:rPr sz="2640" b="1" u="sng" spc="-55" dirty="0">
                <a:uFill>
                  <a:solidFill>
                    <a:srgbClr val="000000"/>
                  </a:solidFill>
                </a:uFill>
                <a:latin typeface="Times New Roman"/>
                <a:cs typeface="Times New Roman"/>
              </a:rPr>
              <a:t> </a:t>
            </a:r>
            <a:r>
              <a:rPr sz="2640" b="1" u="sng" spc="-11" dirty="0">
                <a:uFill>
                  <a:solidFill>
                    <a:srgbClr val="000000"/>
                  </a:solidFill>
                </a:uFill>
                <a:latin typeface="Times New Roman"/>
                <a:cs typeface="Times New Roman"/>
              </a:rPr>
              <a:t>for</a:t>
            </a:r>
            <a:r>
              <a:rPr sz="2640" b="1" u="sng" spc="-204" dirty="0">
                <a:uFill>
                  <a:solidFill>
                    <a:srgbClr val="000000"/>
                  </a:solidFill>
                </a:uFill>
                <a:latin typeface="Times New Roman"/>
                <a:cs typeface="Times New Roman"/>
              </a:rPr>
              <a:t> </a:t>
            </a:r>
            <a:r>
              <a:rPr sz="2640" b="1" u="sng" dirty="0">
                <a:uFill>
                  <a:solidFill>
                    <a:srgbClr val="000000"/>
                  </a:solidFill>
                </a:uFill>
                <a:latin typeface="Times New Roman"/>
                <a:cs typeface="Times New Roman"/>
              </a:rPr>
              <a:t>Agents</a:t>
            </a:r>
            <a:r>
              <a:rPr sz="2640" b="1" u="sng" spc="-28" dirty="0">
                <a:uFill>
                  <a:solidFill>
                    <a:srgbClr val="000000"/>
                  </a:solidFill>
                </a:uFill>
                <a:latin typeface="Times New Roman"/>
                <a:cs typeface="Times New Roman"/>
              </a:rPr>
              <a:t> </a:t>
            </a:r>
            <a:r>
              <a:rPr sz="2640" b="1" u="sng" dirty="0">
                <a:uFill>
                  <a:solidFill>
                    <a:srgbClr val="000000"/>
                  </a:solidFill>
                </a:uFill>
                <a:latin typeface="Times New Roman"/>
                <a:cs typeface="Times New Roman"/>
              </a:rPr>
              <a:t>to</a:t>
            </a:r>
            <a:r>
              <a:rPr sz="2640" b="1" u="sng" spc="-33" dirty="0">
                <a:uFill>
                  <a:solidFill>
                    <a:srgbClr val="000000"/>
                  </a:solidFill>
                </a:uFill>
                <a:latin typeface="Times New Roman"/>
                <a:cs typeface="Times New Roman"/>
              </a:rPr>
              <a:t> </a:t>
            </a:r>
            <a:r>
              <a:rPr sz="2640" b="1" u="sng" dirty="0">
                <a:uFill>
                  <a:solidFill>
                    <a:srgbClr val="000000"/>
                  </a:solidFill>
                </a:uFill>
                <a:latin typeface="Times New Roman"/>
                <a:cs typeface="Times New Roman"/>
              </a:rPr>
              <a:t>perform</a:t>
            </a:r>
            <a:r>
              <a:rPr sz="2640" b="1" u="sng" spc="-44" dirty="0">
                <a:uFill>
                  <a:solidFill>
                    <a:srgbClr val="000000"/>
                  </a:solidFill>
                </a:uFill>
                <a:latin typeface="Times New Roman"/>
                <a:cs typeface="Times New Roman"/>
              </a:rPr>
              <a:t> </a:t>
            </a:r>
            <a:r>
              <a:rPr sz="2640" b="1" u="sng" spc="-11" dirty="0">
                <a:uFill>
                  <a:solidFill>
                    <a:srgbClr val="000000"/>
                  </a:solidFill>
                </a:uFill>
                <a:latin typeface="Times New Roman"/>
                <a:cs typeface="Times New Roman"/>
              </a:rPr>
              <a:t>accurately</a:t>
            </a:r>
            <a:r>
              <a:rPr sz="2640" spc="-11" dirty="0">
                <a:latin typeface="Times New Roman"/>
                <a:cs typeface="Times New Roman"/>
              </a:rPr>
              <a:t>:</a:t>
            </a:r>
            <a:endParaRPr sz="2640" dirty="0">
              <a:latin typeface="Times New Roman"/>
              <a:cs typeface="Times New Roman"/>
            </a:endParaRPr>
          </a:p>
          <a:p>
            <a:pPr marR="296863" algn="ctr">
              <a:spcBef>
                <a:spcPts val="633"/>
              </a:spcBef>
            </a:pPr>
            <a:r>
              <a:rPr sz="2640" spc="-11" dirty="0">
                <a:latin typeface="Times New Roman"/>
                <a:cs typeface="Times New Roman"/>
              </a:rPr>
              <a:t>(Examples</a:t>
            </a:r>
            <a:r>
              <a:rPr lang="en-US" sz="2640" spc="-11" dirty="0">
                <a:latin typeface="Times New Roman"/>
                <a:cs typeface="Times New Roman"/>
              </a:rPr>
              <a:t>)</a:t>
            </a:r>
            <a:endParaRPr sz="2640" dirty="0">
              <a:latin typeface="Times New Roman"/>
              <a:cs typeface="Times New Roman"/>
            </a:endParaRPr>
          </a:p>
        </p:txBody>
      </p:sp>
      <p:pic>
        <p:nvPicPr>
          <p:cNvPr id="4" name="object 4"/>
          <p:cNvPicPr/>
          <p:nvPr/>
        </p:nvPicPr>
        <p:blipFill>
          <a:blip r:embed="rId2" cstate="print"/>
          <a:stretch>
            <a:fillRect/>
          </a:stretch>
        </p:blipFill>
        <p:spPr>
          <a:xfrm>
            <a:off x="180452" y="2863457"/>
            <a:ext cx="2150821" cy="2011680"/>
          </a:xfrm>
          <a:prstGeom prst="rect">
            <a:avLst/>
          </a:prstGeom>
        </p:spPr>
      </p:pic>
      <p:graphicFrame>
        <p:nvGraphicFramePr>
          <p:cNvPr id="5" name="object 5"/>
          <p:cNvGraphicFramePr>
            <a:graphicFrameLocks noGrp="1"/>
          </p:cNvGraphicFramePr>
          <p:nvPr>
            <p:extLst>
              <p:ext uri="{D42A27DB-BD31-4B8C-83A1-F6EECF244321}">
                <p14:modId xmlns:p14="http://schemas.microsoft.com/office/powerpoint/2010/main" val="3621023173"/>
              </p:ext>
            </p:extLst>
          </p:nvPr>
        </p:nvGraphicFramePr>
        <p:xfrm>
          <a:off x="2743200" y="2775129"/>
          <a:ext cx="7449502" cy="2688523"/>
        </p:xfrm>
        <a:graphic>
          <a:graphicData uri="http://schemas.openxmlformats.org/drawingml/2006/table">
            <a:tbl>
              <a:tblPr firstRow="1" bandRow="1">
                <a:tableStyleId>{2D5ABB26-0587-4C30-8999-92F81FD0307C}</a:tableStyleId>
              </a:tblPr>
              <a:tblGrid>
                <a:gridCol w="1421448">
                  <a:extLst>
                    <a:ext uri="{9D8B030D-6E8A-4147-A177-3AD203B41FA5}">
                      <a16:colId xmlns:a16="http://schemas.microsoft.com/office/drawing/2014/main" val="20000"/>
                    </a:ext>
                  </a:extLst>
                </a:gridCol>
                <a:gridCol w="949960">
                  <a:extLst>
                    <a:ext uri="{9D8B030D-6E8A-4147-A177-3AD203B41FA5}">
                      <a16:colId xmlns:a16="http://schemas.microsoft.com/office/drawing/2014/main" val="20001"/>
                    </a:ext>
                  </a:extLst>
                </a:gridCol>
                <a:gridCol w="1109218">
                  <a:extLst>
                    <a:ext uri="{9D8B030D-6E8A-4147-A177-3AD203B41FA5}">
                      <a16:colId xmlns:a16="http://schemas.microsoft.com/office/drawing/2014/main" val="20002"/>
                    </a:ext>
                  </a:extLst>
                </a:gridCol>
                <a:gridCol w="1030286">
                  <a:extLst>
                    <a:ext uri="{9D8B030D-6E8A-4147-A177-3AD203B41FA5}">
                      <a16:colId xmlns:a16="http://schemas.microsoft.com/office/drawing/2014/main" val="20003"/>
                    </a:ext>
                  </a:extLst>
                </a:gridCol>
                <a:gridCol w="949960">
                  <a:extLst>
                    <a:ext uri="{9D8B030D-6E8A-4147-A177-3AD203B41FA5}">
                      <a16:colId xmlns:a16="http://schemas.microsoft.com/office/drawing/2014/main" val="20004"/>
                    </a:ext>
                  </a:extLst>
                </a:gridCol>
                <a:gridCol w="1108520">
                  <a:extLst>
                    <a:ext uri="{9D8B030D-6E8A-4147-A177-3AD203B41FA5}">
                      <a16:colId xmlns:a16="http://schemas.microsoft.com/office/drawing/2014/main" val="20005"/>
                    </a:ext>
                  </a:extLst>
                </a:gridCol>
                <a:gridCol w="880110">
                  <a:extLst>
                    <a:ext uri="{9D8B030D-6E8A-4147-A177-3AD203B41FA5}">
                      <a16:colId xmlns:a16="http://schemas.microsoft.com/office/drawing/2014/main" val="20006"/>
                    </a:ext>
                  </a:extLst>
                </a:gridCol>
              </a:tblGrid>
              <a:tr h="569975">
                <a:tc>
                  <a:txBody>
                    <a:bodyPr/>
                    <a:lstStyle/>
                    <a:p>
                      <a:pPr marL="91440">
                        <a:lnSpc>
                          <a:spcPct val="100000"/>
                        </a:lnSpc>
                        <a:spcBef>
                          <a:spcPts val="320"/>
                        </a:spcBef>
                      </a:pPr>
                      <a:r>
                        <a:rPr sz="1500" spc="-10" dirty="0">
                          <a:latin typeface="Times New Roman"/>
                          <a:cs typeface="Times New Roman"/>
                        </a:rPr>
                        <a:t>Environments</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marR="168275">
                        <a:lnSpc>
                          <a:spcPct val="100000"/>
                        </a:lnSpc>
                        <a:spcBef>
                          <a:spcPts val="320"/>
                        </a:spcBef>
                      </a:pPr>
                      <a:r>
                        <a:rPr sz="1500" spc="-10" dirty="0">
                          <a:latin typeface="Times New Roman"/>
                          <a:cs typeface="Times New Roman"/>
                        </a:rPr>
                        <a:t>Observa </a:t>
                      </a:r>
                      <a:r>
                        <a:rPr sz="1500" spc="-25" dirty="0">
                          <a:latin typeface="Times New Roman"/>
                          <a:cs typeface="Times New Roman"/>
                        </a:rPr>
                        <a:t>ble</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marR="116839">
                        <a:lnSpc>
                          <a:spcPct val="100000"/>
                        </a:lnSpc>
                        <a:spcBef>
                          <a:spcPts val="320"/>
                        </a:spcBef>
                      </a:pPr>
                      <a:r>
                        <a:rPr sz="1500" spc="-10" dirty="0">
                          <a:latin typeface="Times New Roman"/>
                          <a:cs typeface="Times New Roman"/>
                        </a:rPr>
                        <a:t>Determinis </a:t>
                      </a:r>
                      <a:r>
                        <a:rPr sz="1500" spc="-25" dirty="0">
                          <a:latin typeface="Times New Roman"/>
                          <a:cs typeface="Times New Roman"/>
                        </a:rPr>
                        <a:t>tic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Episodic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Static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spc="-10" dirty="0">
                          <a:latin typeface="Times New Roman"/>
                          <a:cs typeface="Times New Roman"/>
                        </a:rPr>
                        <a:t>Discrete</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spc="-10" dirty="0">
                          <a:latin typeface="Times New Roman"/>
                          <a:cs typeface="Times New Roman"/>
                        </a:rPr>
                        <a:t>Agents</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569975">
                <a:tc>
                  <a:txBody>
                    <a:bodyPr/>
                    <a:lstStyle/>
                    <a:p>
                      <a:pPr marL="91440" marR="282575">
                        <a:lnSpc>
                          <a:spcPct val="100000"/>
                        </a:lnSpc>
                        <a:spcBef>
                          <a:spcPts val="320"/>
                        </a:spcBef>
                      </a:pPr>
                      <a:r>
                        <a:rPr sz="1500" dirty="0">
                          <a:latin typeface="Times New Roman"/>
                          <a:cs typeface="Times New Roman"/>
                        </a:rPr>
                        <a:t>Chess</a:t>
                      </a:r>
                      <a:r>
                        <a:rPr sz="1500" spc="-30" dirty="0">
                          <a:latin typeface="Times New Roman"/>
                          <a:cs typeface="Times New Roman"/>
                        </a:rPr>
                        <a:t> </a:t>
                      </a:r>
                      <a:r>
                        <a:rPr sz="1500" dirty="0">
                          <a:latin typeface="Times New Roman"/>
                          <a:cs typeface="Times New Roman"/>
                        </a:rPr>
                        <a:t>with</a:t>
                      </a:r>
                      <a:r>
                        <a:rPr sz="1500" spc="-30" dirty="0">
                          <a:latin typeface="Times New Roman"/>
                          <a:cs typeface="Times New Roman"/>
                        </a:rPr>
                        <a:t> </a:t>
                      </a:r>
                      <a:r>
                        <a:rPr sz="1500" spc="-50" dirty="0">
                          <a:latin typeface="Times New Roman"/>
                          <a:cs typeface="Times New Roman"/>
                        </a:rPr>
                        <a:t>a </a:t>
                      </a:r>
                      <a:r>
                        <a:rPr sz="1500" spc="-20" dirty="0">
                          <a:latin typeface="Times New Roman"/>
                          <a:cs typeface="Times New Roman"/>
                        </a:rPr>
                        <a:t>clock</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Fully</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Strategic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Sequential</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20" dirty="0">
                          <a:latin typeface="Times New Roman"/>
                          <a:cs typeface="Times New Roman"/>
                        </a:rPr>
                        <a:t>Semi</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spc="-10" dirty="0">
                          <a:latin typeface="Times New Roman"/>
                          <a:cs typeface="Times New Roman"/>
                        </a:rPr>
                        <a:t>Discrete</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spc="-10" dirty="0">
                          <a:latin typeface="Times New Roman"/>
                          <a:cs typeface="Times New Roman"/>
                        </a:rPr>
                        <a:t>Multi</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408623">
                <a:tc>
                  <a:txBody>
                    <a:bodyPr/>
                    <a:lstStyle/>
                    <a:p>
                      <a:pPr marL="91440">
                        <a:lnSpc>
                          <a:spcPct val="100000"/>
                        </a:lnSpc>
                        <a:spcBef>
                          <a:spcPts val="320"/>
                        </a:spcBef>
                      </a:pPr>
                      <a:r>
                        <a:rPr sz="1500" spc="-10" dirty="0">
                          <a:latin typeface="Times New Roman"/>
                          <a:cs typeface="Times New Roman"/>
                        </a:rPr>
                        <a:t>Taxi</a:t>
                      </a:r>
                      <a:r>
                        <a:rPr sz="1500" spc="-80" dirty="0">
                          <a:latin typeface="Times New Roman"/>
                          <a:cs typeface="Times New Roman"/>
                        </a:rPr>
                        <a:t> </a:t>
                      </a:r>
                      <a:r>
                        <a:rPr sz="1500" spc="-10" dirty="0">
                          <a:latin typeface="Times New Roman"/>
                          <a:cs typeface="Times New Roman"/>
                        </a:rPr>
                        <a:t>driving</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Partial</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Stochastic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Sequential</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Dynamic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spc="-10" dirty="0">
                          <a:latin typeface="Times New Roman"/>
                          <a:cs typeface="Times New Roman"/>
                        </a:rPr>
                        <a:t>Continuous</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spc="-10" dirty="0">
                          <a:latin typeface="Times New Roman"/>
                          <a:cs typeface="Times New Roman"/>
                        </a:rPr>
                        <a:t>Multi</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569975">
                <a:tc>
                  <a:txBody>
                    <a:bodyPr/>
                    <a:lstStyle/>
                    <a:p>
                      <a:pPr marL="91440" marR="516255">
                        <a:lnSpc>
                          <a:spcPct val="100000"/>
                        </a:lnSpc>
                        <a:spcBef>
                          <a:spcPts val="320"/>
                        </a:spcBef>
                      </a:pPr>
                      <a:r>
                        <a:rPr sz="1500" spc="-10" dirty="0">
                          <a:latin typeface="Times New Roman"/>
                          <a:cs typeface="Times New Roman"/>
                        </a:rPr>
                        <a:t>Medical diagnosis</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Partial</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Stochastic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Episodic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Static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spc="-10" dirty="0">
                          <a:latin typeface="Times New Roman"/>
                          <a:cs typeface="Times New Roman"/>
                        </a:rPr>
                        <a:t>Continuous</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spc="-10" dirty="0">
                          <a:latin typeface="Times New Roman"/>
                          <a:cs typeface="Times New Roman"/>
                        </a:rPr>
                        <a:t>Single</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569975">
                <a:tc>
                  <a:txBody>
                    <a:bodyPr/>
                    <a:lstStyle/>
                    <a:p>
                      <a:pPr marL="91440">
                        <a:lnSpc>
                          <a:spcPct val="100000"/>
                        </a:lnSpc>
                        <a:spcBef>
                          <a:spcPts val="320"/>
                        </a:spcBef>
                      </a:pPr>
                      <a:r>
                        <a:rPr sz="1500" dirty="0">
                          <a:latin typeface="Times New Roman"/>
                          <a:cs typeface="Times New Roman"/>
                        </a:rPr>
                        <a:t>Image</a:t>
                      </a:r>
                      <a:r>
                        <a:rPr sz="1500" spc="-25" dirty="0">
                          <a:latin typeface="Times New Roman"/>
                          <a:cs typeface="Times New Roman"/>
                        </a:rPr>
                        <a:t> </a:t>
                      </a:r>
                      <a:r>
                        <a:rPr sz="1500" spc="-10" dirty="0">
                          <a:latin typeface="Times New Roman"/>
                          <a:cs typeface="Times New Roman"/>
                        </a:rPr>
                        <a:t>analysis</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bl>
          </a:graphicData>
        </a:graphic>
      </p:graphicFrame>
      <p:sp>
        <p:nvSpPr>
          <p:cNvPr id="6" name="object 6"/>
          <p:cNvSpPr txBox="1"/>
          <p:nvPr/>
        </p:nvSpPr>
        <p:spPr>
          <a:xfrm>
            <a:off x="70856" y="4908943"/>
            <a:ext cx="8030655" cy="2722540"/>
          </a:xfrm>
          <a:prstGeom prst="rect">
            <a:avLst/>
          </a:prstGeom>
        </p:spPr>
        <p:txBody>
          <a:bodyPr vert="horz" wrap="square" lIns="0" tIns="13970" rIns="0" bIns="0" rtlCol="0">
            <a:spAutoFit/>
          </a:bodyPr>
          <a:lstStyle/>
          <a:p>
            <a:pPr marL="13970" marR="4753293">
              <a:spcBef>
                <a:spcPts val="110"/>
              </a:spcBef>
            </a:pPr>
            <a:r>
              <a:rPr sz="2200" dirty="0">
                <a:latin typeface="Times New Roman"/>
                <a:cs typeface="Times New Roman"/>
              </a:rPr>
              <a:t>Fully</a:t>
            </a:r>
            <a:r>
              <a:rPr sz="2200" spc="-17" dirty="0">
                <a:latin typeface="Times New Roman"/>
                <a:cs typeface="Times New Roman"/>
              </a:rPr>
              <a:t> </a:t>
            </a:r>
            <a:r>
              <a:rPr sz="2200" dirty="0">
                <a:latin typeface="Times New Roman"/>
                <a:cs typeface="Times New Roman"/>
              </a:rPr>
              <a:t>observable</a:t>
            </a:r>
            <a:r>
              <a:rPr sz="2200" spc="-50" dirty="0">
                <a:latin typeface="Times New Roman"/>
                <a:cs typeface="Times New Roman"/>
              </a:rPr>
              <a:t> </a:t>
            </a:r>
            <a:r>
              <a:rPr sz="2200" dirty="0">
                <a:latin typeface="Times New Roman"/>
                <a:cs typeface="Times New Roman"/>
              </a:rPr>
              <a:t>vs.</a:t>
            </a:r>
            <a:r>
              <a:rPr sz="2200" spc="-17" dirty="0">
                <a:latin typeface="Times New Roman"/>
                <a:cs typeface="Times New Roman"/>
              </a:rPr>
              <a:t> </a:t>
            </a:r>
            <a:r>
              <a:rPr sz="2200" spc="-11" dirty="0">
                <a:latin typeface="Times New Roman"/>
                <a:cs typeface="Times New Roman"/>
              </a:rPr>
              <a:t>partially observable</a:t>
            </a:r>
            <a:endParaRPr sz="2200" dirty="0">
              <a:latin typeface="Times New Roman"/>
              <a:cs typeface="Times New Roman"/>
            </a:endParaRPr>
          </a:p>
          <a:p>
            <a:pPr marL="13970" marR="4787519"/>
            <a:r>
              <a:rPr sz="2200" dirty="0">
                <a:latin typeface="Times New Roman"/>
                <a:cs typeface="Times New Roman"/>
              </a:rPr>
              <a:t>Deterministic</a:t>
            </a:r>
            <a:r>
              <a:rPr sz="2200" spc="-44" dirty="0">
                <a:latin typeface="Times New Roman"/>
                <a:cs typeface="Times New Roman"/>
              </a:rPr>
              <a:t> </a:t>
            </a:r>
            <a:r>
              <a:rPr sz="2200" dirty="0">
                <a:latin typeface="Times New Roman"/>
                <a:cs typeface="Times New Roman"/>
              </a:rPr>
              <a:t>vs.</a:t>
            </a:r>
            <a:r>
              <a:rPr sz="2200" spc="-38" dirty="0">
                <a:latin typeface="Times New Roman"/>
                <a:cs typeface="Times New Roman"/>
              </a:rPr>
              <a:t> </a:t>
            </a:r>
            <a:r>
              <a:rPr sz="2200" dirty="0">
                <a:latin typeface="Times New Roman"/>
                <a:cs typeface="Times New Roman"/>
              </a:rPr>
              <a:t>stochastic</a:t>
            </a:r>
            <a:r>
              <a:rPr sz="2200" spc="-55" dirty="0">
                <a:latin typeface="Times New Roman"/>
                <a:cs typeface="Times New Roman"/>
              </a:rPr>
              <a:t> / </a:t>
            </a:r>
            <a:r>
              <a:rPr sz="2200" spc="-11" dirty="0">
                <a:latin typeface="Times New Roman"/>
                <a:cs typeface="Times New Roman"/>
              </a:rPr>
              <a:t>strategic</a:t>
            </a:r>
            <a:endParaRPr sz="2200" dirty="0">
              <a:latin typeface="Times New Roman"/>
              <a:cs typeface="Times New Roman"/>
            </a:endParaRPr>
          </a:p>
          <a:p>
            <a:pPr marL="13970" marR="5391722">
              <a:spcBef>
                <a:spcPts val="6"/>
              </a:spcBef>
            </a:pPr>
            <a:r>
              <a:rPr sz="2200" dirty="0">
                <a:latin typeface="Times New Roman"/>
                <a:cs typeface="Times New Roman"/>
              </a:rPr>
              <a:t>Episodic</a:t>
            </a:r>
            <a:r>
              <a:rPr sz="2200" spc="-44" dirty="0">
                <a:latin typeface="Times New Roman"/>
                <a:cs typeface="Times New Roman"/>
              </a:rPr>
              <a:t> </a:t>
            </a:r>
            <a:r>
              <a:rPr sz="2200" dirty="0">
                <a:latin typeface="Times New Roman"/>
                <a:cs typeface="Times New Roman"/>
              </a:rPr>
              <a:t>vs.</a:t>
            </a:r>
            <a:r>
              <a:rPr sz="2200" spc="-22" dirty="0">
                <a:latin typeface="Times New Roman"/>
                <a:cs typeface="Times New Roman"/>
              </a:rPr>
              <a:t> </a:t>
            </a:r>
            <a:r>
              <a:rPr sz="2200" spc="-11" dirty="0">
                <a:latin typeface="Times New Roman"/>
                <a:cs typeface="Times New Roman"/>
              </a:rPr>
              <a:t>sequential </a:t>
            </a:r>
            <a:r>
              <a:rPr sz="2200" dirty="0">
                <a:latin typeface="Times New Roman"/>
                <a:cs typeface="Times New Roman"/>
              </a:rPr>
              <a:t>Static</a:t>
            </a:r>
            <a:r>
              <a:rPr sz="2200" spc="-28" dirty="0">
                <a:latin typeface="Times New Roman"/>
                <a:cs typeface="Times New Roman"/>
              </a:rPr>
              <a:t> </a:t>
            </a:r>
            <a:r>
              <a:rPr sz="2200" dirty="0">
                <a:latin typeface="Times New Roman"/>
                <a:cs typeface="Times New Roman"/>
              </a:rPr>
              <a:t>vs.</a:t>
            </a:r>
            <a:r>
              <a:rPr sz="2200" spc="-28" dirty="0">
                <a:latin typeface="Times New Roman"/>
                <a:cs typeface="Times New Roman"/>
              </a:rPr>
              <a:t> </a:t>
            </a:r>
            <a:r>
              <a:rPr sz="2200" spc="-11" dirty="0">
                <a:latin typeface="Times New Roman"/>
                <a:cs typeface="Times New Roman"/>
              </a:rPr>
              <a:t>dynamic </a:t>
            </a:r>
            <a:r>
              <a:rPr sz="2200" dirty="0">
                <a:latin typeface="Times New Roman"/>
                <a:cs typeface="Times New Roman"/>
              </a:rPr>
              <a:t>Discrete</a:t>
            </a:r>
            <a:r>
              <a:rPr sz="2200" spc="-33" dirty="0">
                <a:latin typeface="Times New Roman"/>
                <a:cs typeface="Times New Roman"/>
              </a:rPr>
              <a:t> </a:t>
            </a:r>
            <a:r>
              <a:rPr sz="2200" dirty="0">
                <a:latin typeface="Times New Roman"/>
                <a:cs typeface="Times New Roman"/>
              </a:rPr>
              <a:t>vs.</a:t>
            </a:r>
            <a:r>
              <a:rPr sz="2200" spc="-22" dirty="0">
                <a:latin typeface="Times New Roman"/>
                <a:cs typeface="Times New Roman"/>
              </a:rPr>
              <a:t> </a:t>
            </a:r>
            <a:r>
              <a:rPr sz="2200" spc="-11" dirty="0">
                <a:latin typeface="Times New Roman"/>
                <a:cs typeface="Times New Roman"/>
              </a:rPr>
              <a:t>continuous</a:t>
            </a:r>
            <a:endParaRPr sz="2200" dirty="0">
              <a:latin typeface="Times New Roman"/>
              <a:cs typeface="Times New Roman"/>
            </a:endParaRPr>
          </a:p>
          <a:p>
            <a:pPr marL="13970"/>
            <a:r>
              <a:rPr sz="2200" dirty="0">
                <a:latin typeface="Times New Roman"/>
                <a:cs typeface="Times New Roman"/>
              </a:rPr>
              <a:t>Single</a:t>
            </a:r>
            <a:r>
              <a:rPr sz="2200" spc="-50" dirty="0">
                <a:latin typeface="Times New Roman"/>
                <a:cs typeface="Times New Roman"/>
              </a:rPr>
              <a:t> </a:t>
            </a:r>
            <a:r>
              <a:rPr sz="2200" dirty="0">
                <a:latin typeface="Times New Roman"/>
                <a:cs typeface="Times New Roman"/>
              </a:rPr>
              <a:t>agent</a:t>
            </a:r>
            <a:r>
              <a:rPr sz="2200" spc="-38" dirty="0">
                <a:latin typeface="Times New Roman"/>
                <a:cs typeface="Times New Roman"/>
              </a:rPr>
              <a:t> </a:t>
            </a:r>
            <a:r>
              <a:rPr sz="2200" dirty="0">
                <a:latin typeface="Times New Roman"/>
                <a:cs typeface="Times New Roman"/>
              </a:rPr>
              <a:t>vs.</a:t>
            </a:r>
            <a:r>
              <a:rPr sz="2200" spc="-33" dirty="0">
                <a:latin typeface="Times New Roman"/>
                <a:cs typeface="Times New Roman"/>
              </a:rPr>
              <a:t> </a:t>
            </a:r>
            <a:r>
              <a:rPr sz="2200" spc="-1139" dirty="0">
                <a:latin typeface="Times New Roman"/>
                <a:cs typeface="Times New Roman"/>
              </a:rPr>
              <a:t>m</a:t>
            </a:r>
            <a:r>
              <a:rPr lang="en-US" sz="2200" spc="-1139" dirty="0">
                <a:latin typeface="Times New Roman"/>
                <a:cs typeface="Times New Roman"/>
              </a:rPr>
              <a:t> </a:t>
            </a:r>
            <a:endParaRPr sz="1100" dirty="0">
              <a:latin typeface="Times New Roman"/>
              <a:cs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28355" y="1292987"/>
            <a:ext cx="8699846" cy="521938"/>
          </a:xfrm>
          <a:prstGeom prst="rect">
            <a:avLst/>
          </a:prstGeom>
        </p:spPr>
        <p:txBody>
          <a:bodyPr vert="horz" wrap="square" lIns="0" tIns="13970" rIns="0" bIns="0" rtlCol="0">
            <a:spAutoFit/>
          </a:bodyPr>
          <a:lstStyle/>
          <a:p>
            <a:pPr marL="32130">
              <a:spcBef>
                <a:spcPts val="110"/>
              </a:spcBef>
              <a:tabLst>
                <a:tab pos="8293989" algn="l"/>
              </a:tabLst>
            </a:pPr>
            <a:r>
              <a:rPr spc="-6" dirty="0"/>
              <a:t> </a:t>
            </a:r>
            <a:r>
              <a:rPr dirty="0"/>
              <a:t>How</a:t>
            </a:r>
            <a:r>
              <a:rPr spc="-209" dirty="0"/>
              <a:t> </a:t>
            </a:r>
            <a:r>
              <a:rPr dirty="0"/>
              <a:t>Agents</a:t>
            </a:r>
            <a:r>
              <a:rPr spc="6" dirty="0"/>
              <a:t> </a:t>
            </a:r>
            <a:r>
              <a:rPr spc="-11" dirty="0"/>
              <a:t>should</a:t>
            </a:r>
            <a:r>
              <a:rPr spc="-198" dirty="0"/>
              <a:t> </a:t>
            </a:r>
            <a:r>
              <a:rPr spc="-22" dirty="0"/>
              <a:t>Ac</a:t>
            </a:r>
            <a:r>
              <a:rPr lang="en-US" spc="-22" dirty="0"/>
              <a:t>t?</a:t>
            </a:r>
            <a:endParaRPr spc="-11" dirty="0"/>
          </a:p>
        </p:txBody>
      </p:sp>
      <p:sp>
        <p:nvSpPr>
          <p:cNvPr id="3" name="object 3"/>
          <p:cNvSpPr txBox="1"/>
          <p:nvPr/>
        </p:nvSpPr>
        <p:spPr>
          <a:xfrm>
            <a:off x="304800" y="451940"/>
            <a:ext cx="9256522" cy="984693"/>
          </a:xfrm>
          <a:prstGeom prst="rect">
            <a:avLst/>
          </a:prstGeom>
        </p:spPr>
        <p:txBody>
          <a:bodyPr vert="horz" wrap="square" lIns="0" tIns="94298" rIns="0" bIns="0" rtlCol="0">
            <a:spAutoFit/>
          </a:bodyPr>
          <a:lstStyle/>
          <a:p>
            <a:pPr algn="ctr">
              <a:spcBef>
                <a:spcPts val="743"/>
              </a:spcBef>
            </a:pPr>
            <a:r>
              <a:rPr sz="2640" b="1" dirty="0">
                <a:latin typeface="Times New Roman"/>
                <a:cs typeface="Times New Roman"/>
              </a:rPr>
              <a:t>-</a:t>
            </a:r>
            <a:r>
              <a:rPr sz="2640" b="1" spc="-72" dirty="0">
                <a:latin typeface="Times New Roman"/>
                <a:cs typeface="Times New Roman"/>
              </a:rPr>
              <a:t> </a:t>
            </a:r>
            <a:r>
              <a:rPr sz="2640" b="1" u="sng" spc="-11" dirty="0">
                <a:uFill>
                  <a:solidFill>
                    <a:srgbClr val="000000"/>
                  </a:solidFill>
                </a:uFill>
                <a:latin typeface="Times New Roman"/>
                <a:cs typeface="Times New Roman"/>
              </a:rPr>
              <a:t>Environment</a:t>
            </a:r>
            <a:r>
              <a:rPr sz="2640" b="1" u="sng" spc="-38" dirty="0">
                <a:uFill>
                  <a:solidFill>
                    <a:srgbClr val="000000"/>
                  </a:solidFill>
                </a:uFill>
                <a:latin typeface="Times New Roman"/>
                <a:cs typeface="Times New Roman"/>
              </a:rPr>
              <a:t> </a:t>
            </a:r>
            <a:r>
              <a:rPr sz="2640" b="1" u="sng" dirty="0">
                <a:uFill>
                  <a:solidFill>
                    <a:srgbClr val="000000"/>
                  </a:solidFill>
                </a:uFill>
                <a:latin typeface="Times New Roman"/>
                <a:cs typeface="Times New Roman"/>
              </a:rPr>
              <a:t>Parameters</a:t>
            </a:r>
            <a:r>
              <a:rPr sz="2640" b="1" u="sng" spc="-55" dirty="0">
                <a:uFill>
                  <a:solidFill>
                    <a:srgbClr val="000000"/>
                  </a:solidFill>
                </a:uFill>
                <a:latin typeface="Times New Roman"/>
                <a:cs typeface="Times New Roman"/>
              </a:rPr>
              <a:t> </a:t>
            </a:r>
            <a:r>
              <a:rPr sz="2640" b="1" u="sng" spc="-11" dirty="0">
                <a:uFill>
                  <a:solidFill>
                    <a:srgbClr val="000000"/>
                  </a:solidFill>
                </a:uFill>
                <a:latin typeface="Times New Roman"/>
                <a:cs typeface="Times New Roman"/>
              </a:rPr>
              <a:t>for</a:t>
            </a:r>
            <a:r>
              <a:rPr sz="2640" b="1" u="sng" spc="-204" dirty="0">
                <a:uFill>
                  <a:solidFill>
                    <a:srgbClr val="000000"/>
                  </a:solidFill>
                </a:uFill>
                <a:latin typeface="Times New Roman"/>
                <a:cs typeface="Times New Roman"/>
              </a:rPr>
              <a:t> </a:t>
            </a:r>
            <a:r>
              <a:rPr sz="2640" b="1" u="sng" dirty="0">
                <a:uFill>
                  <a:solidFill>
                    <a:srgbClr val="000000"/>
                  </a:solidFill>
                </a:uFill>
                <a:latin typeface="Times New Roman"/>
                <a:cs typeface="Times New Roman"/>
              </a:rPr>
              <a:t>Agents</a:t>
            </a:r>
            <a:r>
              <a:rPr sz="2640" b="1" u="sng" spc="-28" dirty="0">
                <a:uFill>
                  <a:solidFill>
                    <a:srgbClr val="000000"/>
                  </a:solidFill>
                </a:uFill>
                <a:latin typeface="Times New Roman"/>
                <a:cs typeface="Times New Roman"/>
              </a:rPr>
              <a:t> </a:t>
            </a:r>
            <a:r>
              <a:rPr sz="2640" b="1" u="sng" dirty="0">
                <a:uFill>
                  <a:solidFill>
                    <a:srgbClr val="000000"/>
                  </a:solidFill>
                </a:uFill>
                <a:latin typeface="Times New Roman"/>
                <a:cs typeface="Times New Roman"/>
              </a:rPr>
              <a:t>to</a:t>
            </a:r>
            <a:r>
              <a:rPr sz="2640" b="1" u="sng" spc="-33" dirty="0">
                <a:uFill>
                  <a:solidFill>
                    <a:srgbClr val="000000"/>
                  </a:solidFill>
                </a:uFill>
                <a:latin typeface="Times New Roman"/>
                <a:cs typeface="Times New Roman"/>
              </a:rPr>
              <a:t> </a:t>
            </a:r>
            <a:r>
              <a:rPr sz="2640" b="1" u="sng" dirty="0">
                <a:uFill>
                  <a:solidFill>
                    <a:srgbClr val="000000"/>
                  </a:solidFill>
                </a:uFill>
                <a:latin typeface="Times New Roman"/>
                <a:cs typeface="Times New Roman"/>
              </a:rPr>
              <a:t>perform</a:t>
            </a:r>
            <a:r>
              <a:rPr sz="2640" b="1" u="sng" spc="-44" dirty="0">
                <a:uFill>
                  <a:solidFill>
                    <a:srgbClr val="000000"/>
                  </a:solidFill>
                </a:uFill>
                <a:latin typeface="Times New Roman"/>
                <a:cs typeface="Times New Roman"/>
              </a:rPr>
              <a:t> </a:t>
            </a:r>
            <a:r>
              <a:rPr sz="2640" b="1" u="sng" spc="-11" dirty="0">
                <a:uFill>
                  <a:solidFill>
                    <a:srgbClr val="000000"/>
                  </a:solidFill>
                </a:uFill>
                <a:latin typeface="Times New Roman"/>
                <a:cs typeface="Times New Roman"/>
              </a:rPr>
              <a:t>accurately</a:t>
            </a:r>
            <a:r>
              <a:rPr sz="2640" spc="-11" dirty="0">
                <a:latin typeface="Times New Roman"/>
                <a:cs typeface="Times New Roman"/>
              </a:rPr>
              <a:t>:</a:t>
            </a:r>
            <a:endParaRPr sz="2640" dirty="0">
              <a:latin typeface="Times New Roman"/>
              <a:cs typeface="Times New Roman"/>
            </a:endParaRPr>
          </a:p>
          <a:p>
            <a:pPr marR="296863" algn="ctr">
              <a:spcBef>
                <a:spcPts val="633"/>
              </a:spcBef>
            </a:pPr>
            <a:r>
              <a:rPr sz="2640" spc="-11" dirty="0">
                <a:latin typeface="Times New Roman"/>
                <a:cs typeface="Times New Roman"/>
              </a:rPr>
              <a:t>(Examples)</a:t>
            </a:r>
            <a:endParaRPr sz="2640" dirty="0">
              <a:latin typeface="Times New Roman"/>
              <a:cs typeface="Times New Roman"/>
            </a:endParaRPr>
          </a:p>
        </p:txBody>
      </p:sp>
      <p:sp>
        <p:nvSpPr>
          <p:cNvPr id="4" name="object 4"/>
          <p:cNvSpPr txBox="1"/>
          <p:nvPr/>
        </p:nvSpPr>
        <p:spPr>
          <a:xfrm>
            <a:off x="147634" y="3859097"/>
            <a:ext cx="2291080" cy="3400354"/>
          </a:xfrm>
          <a:prstGeom prst="rect">
            <a:avLst/>
          </a:prstGeom>
        </p:spPr>
        <p:txBody>
          <a:bodyPr vert="horz" wrap="square" lIns="0" tIns="14669" rIns="0" bIns="0" rtlCol="0">
            <a:spAutoFit/>
          </a:bodyPr>
          <a:lstStyle/>
          <a:p>
            <a:pPr marL="13970" marR="5588">
              <a:spcBef>
                <a:spcPts val="116"/>
              </a:spcBef>
            </a:pPr>
            <a:r>
              <a:rPr sz="2200" dirty="0">
                <a:latin typeface="Times New Roman"/>
                <a:cs typeface="Times New Roman"/>
              </a:rPr>
              <a:t>Fully</a:t>
            </a:r>
            <a:r>
              <a:rPr sz="2200" spc="-11" dirty="0">
                <a:latin typeface="Times New Roman"/>
                <a:cs typeface="Times New Roman"/>
              </a:rPr>
              <a:t> </a:t>
            </a:r>
            <a:r>
              <a:rPr sz="2200" dirty="0">
                <a:latin typeface="Times New Roman"/>
                <a:cs typeface="Times New Roman"/>
              </a:rPr>
              <a:t>observable</a:t>
            </a:r>
            <a:r>
              <a:rPr sz="2200" spc="-44" dirty="0">
                <a:latin typeface="Times New Roman"/>
                <a:cs typeface="Times New Roman"/>
              </a:rPr>
              <a:t> </a:t>
            </a:r>
            <a:r>
              <a:rPr sz="2200" spc="-28" dirty="0">
                <a:latin typeface="Times New Roman"/>
                <a:cs typeface="Times New Roman"/>
              </a:rPr>
              <a:t>vs. </a:t>
            </a:r>
            <a:r>
              <a:rPr sz="2200" dirty="0">
                <a:latin typeface="Times New Roman"/>
                <a:cs typeface="Times New Roman"/>
              </a:rPr>
              <a:t>partially</a:t>
            </a:r>
            <a:r>
              <a:rPr sz="2200" spc="-44" dirty="0">
                <a:latin typeface="Times New Roman"/>
                <a:cs typeface="Times New Roman"/>
              </a:rPr>
              <a:t> </a:t>
            </a:r>
            <a:r>
              <a:rPr sz="2200" spc="-11" dirty="0">
                <a:latin typeface="Times New Roman"/>
                <a:cs typeface="Times New Roman"/>
              </a:rPr>
              <a:t>observable </a:t>
            </a:r>
            <a:r>
              <a:rPr sz="2200" dirty="0">
                <a:latin typeface="Times New Roman"/>
                <a:cs typeface="Times New Roman"/>
              </a:rPr>
              <a:t>Deterministic</a:t>
            </a:r>
            <a:r>
              <a:rPr sz="2200" spc="-83" dirty="0">
                <a:latin typeface="Times New Roman"/>
                <a:cs typeface="Times New Roman"/>
              </a:rPr>
              <a:t> </a:t>
            </a:r>
            <a:r>
              <a:rPr sz="2200" spc="-28" dirty="0">
                <a:latin typeface="Times New Roman"/>
                <a:cs typeface="Times New Roman"/>
              </a:rPr>
              <a:t>vs. </a:t>
            </a:r>
            <a:r>
              <a:rPr sz="2200" dirty="0">
                <a:latin typeface="Times New Roman"/>
                <a:cs typeface="Times New Roman"/>
              </a:rPr>
              <a:t>stochastic</a:t>
            </a:r>
            <a:r>
              <a:rPr sz="2200" spc="-44" dirty="0">
                <a:latin typeface="Times New Roman"/>
                <a:cs typeface="Times New Roman"/>
              </a:rPr>
              <a:t> </a:t>
            </a:r>
            <a:r>
              <a:rPr sz="2200" dirty="0">
                <a:latin typeface="Times New Roman"/>
                <a:cs typeface="Times New Roman"/>
              </a:rPr>
              <a:t>/</a:t>
            </a:r>
            <a:r>
              <a:rPr sz="2200" spc="-11" dirty="0">
                <a:latin typeface="Times New Roman"/>
                <a:cs typeface="Times New Roman"/>
              </a:rPr>
              <a:t> strategic </a:t>
            </a:r>
            <a:r>
              <a:rPr sz="2200" dirty="0">
                <a:latin typeface="Times New Roman"/>
                <a:cs typeface="Times New Roman"/>
              </a:rPr>
              <a:t>Episodic</a:t>
            </a:r>
            <a:r>
              <a:rPr sz="2200" spc="-38" dirty="0">
                <a:latin typeface="Times New Roman"/>
                <a:cs typeface="Times New Roman"/>
              </a:rPr>
              <a:t> </a:t>
            </a:r>
            <a:r>
              <a:rPr sz="2200" spc="-28" dirty="0">
                <a:latin typeface="Times New Roman"/>
                <a:cs typeface="Times New Roman"/>
              </a:rPr>
              <a:t>vs. </a:t>
            </a:r>
            <a:r>
              <a:rPr sz="2200" spc="-11" dirty="0">
                <a:latin typeface="Times New Roman"/>
                <a:cs typeface="Times New Roman"/>
              </a:rPr>
              <a:t>sequential</a:t>
            </a:r>
            <a:endParaRPr sz="2200" dirty="0">
              <a:latin typeface="Times New Roman"/>
              <a:cs typeface="Times New Roman"/>
            </a:endParaRPr>
          </a:p>
          <a:p>
            <a:pPr marL="13970" marR="214440"/>
            <a:r>
              <a:rPr sz="2200" dirty="0">
                <a:latin typeface="Times New Roman"/>
                <a:cs typeface="Times New Roman"/>
              </a:rPr>
              <a:t>Static</a:t>
            </a:r>
            <a:r>
              <a:rPr sz="2200" spc="-28" dirty="0">
                <a:latin typeface="Times New Roman"/>
                <a:cs typeface="Times New Roman"/>
              </a:rPr>
              <a:t> </a:t>
            </a:r>
            <a:r>
              <a:rPr sz="2200" dirty="0">
                <a:latin typeface="Times New Roman"/>
                <a:cs typeface="Times New Roman"/>
              </a:rPr>
              <a:t>vs.</a:t>
            </a:r>
            <a:r>
              <a:rPr sz="2200" spc="-28" dirty="0">
                <a:latin typeface="Times New Roman"/>
                <a:cs typeface="Times New Roman"/>
              </a:rPr>
              <a:t> </a:t>
            </a:r>
            <a:r>
              <a:rPr sz="2200" spc="-11" dirty="0">
                <a:latin typeface="Times New Roman"/>
                <a:cs typeface="Times New Roman"/>
              </a:rPr>
              <a:t>dynamic </a:t>
            </a:r>
            <a:r>
              <a:rPr sz="2200" dirty="0">
                <a:latin typeface="Times New Roman"/>
                <a:cs typeface="Times New Roman"/>
              </a:rPr>
              <a:t>Discrete</a:t>
            </a:r>
            <a:r>
              <a:rPr sz="2200" spc="-38" dirty="0">
                <a:latin typeface="Times New Roman"/>
                <a:cs typeface="Times New Roman"/>
              </a:rPr>
              <a:t> </a:t>
            </a:r>
            <a:r>
              <a:rPr sz="2200" spc="-28" dirty="0">
                <a:latin typeface="Times New Roman"/>
                <a:cs typeface="Times New Roman"/>
              </a:rPr>
              <a:t>vs. </a:t>
            </a:r>
            <a:r>
              <a:rPr sz="2200" spc="-11" dirty="0">
                <a:latin typeface="Times New Roman"/>
                <a:cs typeface="Times New Roman"/>
              </a:rPr>
              <a:t>continuous</a:t>
            </a:r>
            <a:endParaRPr sz="2200" dirty="0">
              <a:latin typeface="Times New Roman"/>
              <a:cs typeface="Times New Roman"/>
            </a:endParaRPr>
          </a:p>
          <a:p>
            <a:pPr marL="13970">
              <a:spcBef>
                <a:spcPts val="6"/>
              </a:spcBef>
            </a:pPr>
            <a:r>
              <a:rPr sz="2200" dirty="0">
                <a:latin typeface="Times New Roman"/>
                <a:cs typeface="Times New Roman"/>
              </a:rPr>
              <a:t>Single</a:t>
            </a:r>
            <a:r>
              <a:rPr sz="2200" spc="-22" dirty="0">
                <a:latin typeface="Times New Roman"/>
                <a:cs typeface="Times New Roman"/>
              </a:rPr>
              <a:t> </a:t>
            </a:r>
            <a:r>
              <a:rPr sz="2200" dirty="0">
                <a:latin typeface="Times New Roman"/>
                <a:cs typeface="Times New Roman"/>
              </a:rPr>
              <a:t>agent</a:t>
            </a:r>
            <a:r>
              <a:rPr sz="2200" spc="-17" dirty="0">
                <a:latin typeface="Times New Roman"/>
                <a:cs typeface="Times New Roman"/>
              </a:rPr>
              <a:t> </a:t>
            </a:r>
            <a:r>
              <a:rPr sz="2200" spc="-28" dirty="0">
                <a:latin typeface="Times New Roman"/>
                <a:cs typeface="Times New Roman"/>
              </a:rPr>
              <a:t>vs.</a:t>
            </a:r>
            <a:endParaRPr sz="2200" dirty="0">
              <a:latin typeface="Times New Roman"/>
              <a:cs typeface="Times New Roman"/>
            </a:endParaRPr>
          </a:p>
        </p:txBody>
      </p:sp>
      <p:sp>
        <p:nvSpPr>
          <p:cNvPr id="5" name="object 5"/>
          <p:cNvSpPr txBox="1"/>
          <p:nvPr/>
        </p:nvSpPr>
        <p:spPr>
          <a:xfrm>
            <a:off x="147635" y="7212624"/>
            <a:ext cx="1221677" cy="352661"/>
          </a:xfrm>
          <a:prstGeom prst="rect">
            <a:avLst/>
          </a:prstGeom>
        </p:spPr>
        <p:txBody>
          <a:bodyPr vert="horz" wrap="square" lIns="0" tIns="13970" rIns="0" bIns="0" rtlCol="0">
            <a:spAutoFit/>
          </a:bodyPr>
          <a:lstStyle/>
          <a:p>
            <a:pPr marL="13970">
              <a:spcBef>
                <a:spcPts val="110"/>
              </a:spcBef>
            </a:pPr>
            <a:r>
              <a:rPr sz="2200" spc="-11" dirty="0">
                <a:latin typeface="Times New Roman"/>
                <a:cs typeface="Times New Roman"/>
              </a:rPr>
              <a:t>multiagent</a:t>
            </a:r>
            <a:endParaRPr sz="2200">
              <a:latin typeface="Times New Roman"/>
              <a:cs typeface="Times New Roman"/>
            </a:endParaRPr>
          </a:p>
        </p:txBody>
      </p:sp>
      <p:pic>
        <p:nvPicPr>
          <p:cNvPr id="6" name="object 6"/>
          <p:cNvPicPr/>
          <p:nvPr/>
        </p:nvPicPr>
        <p:blipFill>
          <a:blip r:embed="rId2" cstate="print"/>
          <a:stretch>
            <a:fillRect/>
          </a:stretch>
        </p:blipFill>
        <p:spPr>
          <a:xfrm>
            <a:off x="540694" y="2697632"/>
            <a:ext cx="1404733" cy="1134922"/>
          </a:xfrm>
          <a:prstGeom prst="rect">
            <a:avLst/>
          </a:prstGeom>
        </p:spPr>
      </p:pic>
      <p:grpSp>
        <p:nvGrpSpPr>
          <p:cNvPr id="7" name="object 7"/>
          <p:cNvGrpSpPr/>
          <p:nvPr/>
        </p:nvGrpSpPr>
        <p:grpSpPr>
          <a:xfrm>
            <a:off x="2507895" y="2697632"/>
            <a:ext cx="1319467" cy="1014221"/>
            <a:chOff x="2279904" y="2348483"/>
            <a:chExt cx="1199515" cy="922019"/>
          </a:xfrm>
        </p:grpSpPr>
        <p:pic>
          <p:nvPicPr>
            <p:cNvPr id="8" name="object 8"/>
            <p:cNvPicPr/>
            <p:nvPr/>
          </p:nvPicPr>
          <p:blipFill>
            <a:blip r:embed="rId3" cstate="print"/>
            <a:stretch>
              <a:fillRect/>
            </a:stretch>
          </p:blipFill>
          <p:spPr>
            <a:xfrm>
              <a:off x="2279904" y="2348483"/>
              <a:ext cx="1199388" cy="403860"/>
            </a:xfrm>
            <a:prstGeom prst="rect">
              <a:avLst/>
            </a:prstGeom>
          </p:spPr>
        </p:pic>
        <p:pic>
          <p:nvPicPr>
            <p:cNvPr id="9" name="object 9"/>
            <p:cNvPicPr/>
            <p:nvPr/>
          </p:nvPicPr>
          <p:blipFill>
            <a:blip r:embed="rId4" cstate="print"/>
            <a:stretch>
              <a:fillRect/>
            </a:stretch>
          </p:blipFill>
          <p:spPr>
            <a:xfrm>
              <a:off x="2279904" y="2561843"/>
              <a:ext cx="632459" cy="403860"/>
            </a:xfrm>
            <a:prstGeom prst="rect">
              <a:avLst/>
            </a:prstGeom>
          </p:spPr>
        </p:pic>
        <p:pic>
          <p:nvPicPr>
            <p:cNvPr id="10" name="object 10"/>
            <p:cNvPicPr/>
            <p:nvPr/>
          </p:nvPicPr>
          <p:blipFill>
            <a:blip r:embed="rId5" cstate="print"/>
            <a:stretch>
              <a:fillRect/>
            </a:stretch>
          </p:blipFill>
          <p:spPr>
            <a:xfrm>
              <a:off x="2279904" y="2866643"/>
              <a:ext cx="1118616" cy="403860"/>
            </a:xfrm>
            <a:prstGeom prst="rect">
              <a:avLst/>
            </a:prstGeom>
          </p:spPr>
        </p:pic>
      </p:grpSp>
      <p:grpSp>
        <p:nvGrpSpPr>
          <p:cNvPr id="11" name="object 11"/>
          <p:cNvGrpSpPr/>
          <p:nvPr/>
        </p:nvGrpSpPr>
        <p:grpSpPr>
          <a:xfrm>
            <a:off x="2507894" y="3837584"/>
            <a:ext cx="1440307" cy="1014221"/>
            <a:chOff x="2279904" y="3384803"/>
            <a:chExt cx="1309370" cy="922019"/>
          </a:xfrm>
        </p:grpSpPr>
        <p:pic>
          <p:nvPicPr>
            <p:cNvPr id="12" name="object 12"/>
            <p:cNvPicPr/>
            <p:nvPr/>
          </p:nvPicPr>
          <p:blipFill>
            <a:blip r:embed="rId6" cstate="print"/>
            <a:stretch>
              <a:fillRect/>
            </a:stretch>
          </p:blipFill>
          <p:spPr>
            <a:xfrm>
              <a:off x="2279904" y="3384803"/>
              <a:ext cx="871728" cy="403860"/>
            </a:xfrm>
            <a:prstGeom prst="rect">
              <a:avLst/>
            </a:prstGeom>
          </p:spPr>
        </p:pic>
        <p:pic>
          <p:nvPicPr>
            <p:cNvPr id="13" name="object 13"/>
            <p:cNvPicPr/>
            <p:nvPr/>
          </p:nvPicPr>
          <p:blipFill>
            <a:blip r:embed="rId7" cstate="print"/>
            <a:stretch>
              <a:fillRect/>
            </a:stretch>
          </p:blipFill>
          <p:spPr>
            <a:xfrm>
              <a:off x="2279904" y="3598163"/>
              <a:ext cx="922019" cy="403860"/>
            </a:xfrm>
            <a:prstGeom prst="rect">
              <a:avLst/>
            </a:prstGeom>
          </p:spPr>
        </p:pic>
        <p:pic>
          <p:nvPicPr>
            <p:cNvPr id="14" name="object 14"/>
            <p:cNvPicPr/>
            <p:nvPr/>
          </p:nvPicPr>
          <p:blipFill>
            <a:blip r:embed="rId8" cstate="print"/>
            <a:stretch>
              <a:fillRect/>
            </a:stretch>
          </p:blipFill>
          <p:spPr>
            <a:xfrm>
              <a:off x="2279904" y="3902963"/>
              <a:ext cx="1309116" cy="403860"/>
            </a:xfrm>
            <a:prstGeom prst="rect">
              <a:avLst/>
            </a:prstGeom>
          </p:spPr>
        </p:pic>
      </p:grpSp>
      <p:grpSp>
        <p:nvGrpSpPr>
          <p:cNvPr id="15" name="object 15"/>
          <p:cNvGrpSpPr/>
          <p:nvPr/>
        </p:nvGrpSpPr>
        <p:grpSpPr>
          <a:xfrm>
            <a:off x="2507894" y="4977535"/>
            <a:ext cx="1148334" cy="678942"/>
            <a:chOff x="2279904" y="4421123"/>
            <a:chExt cx="1043940" cy="617220"/>
          </a:xfrm>
        </p:grpSpPr>
        <p:pic>
          <p:nvPicPr>
            <p:cNvPr id="16" name="object 16"/>
            <p:cNvPicPr/>
            <p:nvPr/>
          </p:nvPicPr>
          <p:blipFill>
            <a:blip r:embed="rId9" cstate="print"/>
            <a:stretch>
              <a:fillRect/>
            </a:stretch>
          </p:blipFill>
          <p:spPr>
            <a:xfrm>
              <a:off x="2279904" y="4421123"/>
              <a:ext cx="1043940" cy="403860"/>
            </a:xfrm>
            <a:prstGeom prst="rect">
              <a:avLst/>
            </a:prstGeom>
          </p:spPr>
        </p:pic>
        <p:pic>
          <p:nvPicPr>
            <p:cNvPr id="17" name="object 17"/>
            <p:cNvPicPr/>
            <p:nvPr/>
          </p:nvPicPr>
          <p:blipFill>
            <a:blip r:embed="rId10" cstate="print"/>
            <a:stretch>
              <a:fillRect/>
            </a:stretch>
          </p:blipFill>
          <p:spPr>
            <a:xfrm>
              <a:off x="2279904" y="4634483"/>
              <a:ext cx="781812" cy="403860"/>
            </a:xfrm>
            <a:prstGeom prst="rect">
              <a:avLst/>
            </a:prstGeom>
          </p:spPr>
        </p:pic>
      </p:grpSp>
      <p:graphicFrame>
        <p:nvGraphicFramePr>
          <p:cNvPr id="18" name="object 18"/>
          <p:cNvGraphicFramePr>
            <a:graphicFrameLocks noGrp="1"/>
          </p:cNvGraphicFramePr>
          <p:nvPr/>
        </p:nvGraphicFramePr>
        <p:xfrm>
          <a:off x="2525078" y="2136458"/>
          <a:ext cx="7341935" cy="3653850"/>
        </p:xfrm>
        <a:graphic>
          <a:graphicData uri="http://schemas.openxmlformats.org/drawingml/2006/table">
            <a:tbl>
              <a:tblPr firstRow="1" bandRow="1">
                <a:tableStyleId>{2D5ABB26-0587-4C30-8999-92F81FD0307C}</a:tableStyleId>
              </a:tblPr>
              <a:tblGrid>
                <a:gridCol w="1388618">
                  <a:extLst>
                    <a:ext uri="{9D8B030D-6E8A-4147-A177-3AD203B41FA5}">
                      <a16:colId xmlns:a16="http://schemas.microsoft.com/office/drawing/2014/main" val="20000"/>
                    </a:ext>
                  </a:extLst>
                </a:gridCol>
                <a:gridCol w="976503">
                  <a:extLst>
                    <a:ext uri="{9D8B030D-6E8A-4147-A177-3AD203B41FA5}">
                      <a16:colId xmlns:a16="http://schemas.microsoft.com/office/drawing/2014/main" val="20001"/>
                    </a:ext>
                  </a:extLst>
                </a:gridCol>
                <a:gridCol w="1104329">
                  <a:extLst>
                    <a:ext uri="{9D8B030D-6E8A-4147-A177-3AD203B41FA5}">
                      <a16:colId xmlns:a16="http://schemas.microsoft.com/office/drawing/2014/main" val="20002"/>
                    </a:ext>
                  </a:extLst>
                </a:gridCol>
                <a:gridCol w="1024001">
                  <a:extLst>
                    <a:ext uri="{9D8B030D-6E8A-4147-A177-3AD203B41FA5}">
                      <a16:colId xmlns:a16="http://schemas.microsoft.com/office/drawing/2014/main" val="20003"/>
                    </a:ext>
                  </a:extLst>
                </a:gridCol>
                <a:gridCol w="947166">
                  <a:extLst>
                    <a:ext uri="{9D8B030D-6E8A-4147-A177-3AD203B41FA5}">
                      <a16:colId xmlns:a16="http://schemas.microsoft.com/office/drawing/2014/main" val="20004"/>
                    </a:ext>
                  </a:extLst>
                </a:gridCol>
                <a:gridCol w="1104329">
                  <a:extLst>
                    <a:ext uri="{9D8B030D-6E8A-4147-A177-3AD203B41FA5}">
                      <a16:colId xmlns:a16="http://schemas.microsoft.com/office/drawing/2014/main" val="20005"/>
                    </a:ext>
                  </a:extLst>
                </a:gridCol>
                <a:gridCol w="796989">
                  <a:extLst>
                    <a:ext uri="{9D8B030D-6E8A-4147-A177-3AD203B41FA5}">
                      <a16:colId xmlns:a16="http://schemas.microsoft.com/office/drawing/2014/main" val="20006"/>
                    </a:ext>
                  </a:extLst>
                </a:gridCol>
              </a:tblGrid>
              <a:tr h="569975">
                <a:tc>
                  <a:txBody>
                    <a:bodyPr/>
                    <a:lstStyle/>
                    <a:p>
                      <a:pPr marL="92075">
                        <a:lnSpc>
                          <a:spcPct val="100000"/>
                        </a:lnSpc>
                        <a:spcBef>
                          <a:spcPts val="320"/>
                        </a:spcBef>
                      </a:pPr>
                      <a:r>
                        <a:rPr sz="1500" b="1" spc="-10" dirty="0">
                          <a:latin typeface="Times New Roman"/>
                          <a:cs typeface="Times New Roman"/>
                        </a:rPr>
                        <a:t>Environments</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marR="142240">
                        <a:lnSpc>
                          <a:spcPct val="100000"/>
                        </a:lnSpc>
                        <a:spcBef>
                          <a:spcPts val="320"/>
                        </a:spcBef>
                      </a:pPr>
                      <a:r>
                        <a:rPr sz="1500" b="1" spc="-10" dirty="0">
                          <a:latin typeface="Times New Roman"/>
                          <a:cs typeface="Times New Roman"/>
                        </a:rPr>
                        <a:t>Observa </a:t>
                      </a:r>
                      <a:r>
                        <a:rPr sz="1500" b="1" spc="-25" dirty="0">
                          <a:latin typeface="Times New Roman"/>
                          <a:cs typeface="Times New Roman"/>
                        </a:rPr>
                        <a:t>ble</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marR="132715">
                        <a:lnSpc>
                          <a:spcPct val="100000"/>
                        </a:lnSpc>
                        <a:spcBef>
                          <a:spcPts val="320"/>
                        </a:spcBef>
                      </a:pPr>
                      <a:r>
                        <a:rPr sz="1500" b="1" spc="-10" dirty="0">
                          <a:latin typeface="Times New Roman"/>
                          <a:cs typeface="Times New Roman"/>
                        </a:rPr>
                        <a:t>Determini </a:t>
                      </a:r>
                      <a:r>
                        <a:rPr sz="1500" b="1" spc="-20" dirty="0">
                          <a:latin typeface="Times New Roman"/>
                          <a:cs typeface="Times New Roman"/>
                        </a:rPr>
                        <a:t>stic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b="1" spc="-10" dirty="0">
                          <a:latin typeface="Times New Roman"/>
                          <a:cs typeface="Times New Roman"/>
                        </a:rPr>
                        <a:t>Episodic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b="1" spc="-10" dirty="0">
                          <a:latin typeface="Times New Roman"/>
                          <a:cs typeface="Times New Roman"/>
                        </a:rPr>
                        <a:t>Static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b="1" spc="-10" dirty="0">
                          <a:latin typeface="Times New Roman"/>
                          <a:cs typeface="Times New Roman"/>
                        </a:rPr>
                        <a:t>Discrete</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b="1" spc="-10" dirty="0">
                          <a:latin typeface="Times New Roman"/>
                          <a:cs typeface="Times New Roman"/>
                        </a:rPr>
                        <a:t>Agents</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569975">
                <a:tc>
                  <a:txBody>
                    <a:bodyPr/>
                    <a:lstStyle/>
                    <a:p>
                      <a:pPr marL="92075" marR="252095">
                        <a:lnSpc>
                          <a:spcPct val="100000"/>
                        </a:lnSpc>
                        <a:spcBef>
                          <a:spcPts val="320"/>
                        </a:spcBef>
                      </a:pPr>
                      <a:r>
                        <a:rPr sz="1500" dirty="0">
                          <a:latin typeface="Times New Roman"/>
                          <a:cs typeface="Times New Roman"/>
                        </a:rPr>
                        <a:t>Chess</a:t>
                      </a:r>
                      <a:r>
                        <a:rPr sz="1500" spc="-30" dirty="0">
                          <a:latin typeface="Times New Roman"/>
                          <a:cs typeface="Times New Roman"/>
                        </a:rPr>
                        <a:t> </a:t>
                      </a:r>
                      <a:r>
                        <a:rPr sz="1500" dirty="0">
                          <a:latin typeface="Times New Roman"/>
                          <a:cs typeface="Times New Roman"/>
                        </a:rPr>
                        <a:t>with</a:t>
                      </a:r>
                      <a:r>
                        <a:rPr sz="1500" spc="-30" dirty="0">
                          <a:latin typeface="Times New Roman"/>
                          <a:cs typeface="Times New Roman"/>
                        </a:rPr>
                        <a:t> </a:t>
                      </a:r>
                      <a:r>
                        <a:rPr sz="1500" spc="-50" dirty="0">
                          <a:latin typeface="Times New Roman"/>
                          <a:cs typeface="Times New Roman"/>
                        </a:rPr>
                        <a:t>a </a:t>
                      </a:r>
                      <a:r>
                        <a:rPr sz="1500" spc="-20" dirty="0">
                          <a:latin typeface="Times New Roman"/>
                          <a:cs typeface="Times New Roman"/>
                        </a:rPr>
                        <a:t>clock</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Fully</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Strategic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marR="125095">
                        <a:lnSpc>
                          <a:spcPct val="100000"/>
                        </a:lnSpc>
                        <a:spcBef>
                          <a:spcPts val="320"/>
                        </a:spcBef>
                      </a:pPr>
                      <a:r>
                        <a:rPr sz="1500" spc="-10" dirty="0">
                          <a:latin typeface="Times New Roman"/>
                          <a:cs typeface="Times New Roman"/>
                        </a:rPr>
                        <a:t>Sequentia </a:t>
                      </a:r>
                      <a:r>
                        <a:rPr sz="1500" spc="-50" dirty="0">
                          <a:latin typeface="Times New Roman"/>
                          <a:cs typeface="Times New Roman"/>
                        </a:rPr>
                        <a:t>l</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spc="-20" dirty="0">
                          <a:latin typeface="Times New Roman"/>
                          <a:cs typeface="Times New Roman"/>
                        </a:rPr>
                        <a:t>Semi</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Discrete</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spc="-10" dirty="0">
                          <a:latin typeface="Times New Roman"/>
                          <a:cs typeface="Times New Roman"/>
                        </a:rPr>
                        <a:t>Multi</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569278">
                <a:tc>
                  <a:txBody>
                    <a:bodyPr/>
                    <a:lstStyle/>
                    <a:p>
                      <a:pPr marL="92075">
                        <a:lnSpc>
                          <a:spcPct val="100000"/>
                        </a:lnSpc>
                        <a:spcBef>
                          <a:spcPts val="320"/>
                        </a:spcBef>
                      </a:pPr>
                      <a:r>
                        <a:rPr sz="1500" spc="-10" dirty="0">
                          <a:latin typeface="Times New Roman"/>
                          <a:cs typeface="Times New Roman"/>
                        </a:rPr>
                        <a:t>Taxi</a:t>
                      </a:r>
                      <a:r>
                        <a:rPr sz="1500" spc="-80" dirty="0">
                          <a:latin typeface="Times New Roman"/>
                          <a:cs typeface="Times New Roman"/>
                        </a:rPr>
                        <a:t> </a:t>
                      </a:r>
                      <a:r>
                        <a:rPr sz="1500" spc="-10" dirty="0">
                          <a:latin typeface="Times New Roman"/>
                          <a:cs typeface="Times New Roman"/>
                        </a:rPr>
                        <a:t>driving</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Partial</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Stochastic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marR="125095">
                        <a:lnSpc>
                          <a:spcPct val="100000"/>
                        </a:lnSpc>
                        <a:spcBef>
                          <a:spcPts val="320"/>
                        </a:spcBef>
                      </a:pPr>
                      <a:r>
                        <a:rPr sz="1500" spc="-10" dirty="0">
                          <a:latin typeface="Times New Roman"/>
                          <a:cs typeface="Times New Roman"/>
                        </a:rPr>
                        <a:t>Sequentia </a:t>
                      </a:r>
                      <a:r>
                        <a:rPr sz="1500" spc="-50" dirty="0">
                          <a:latin typeface="Times New Roman"/>
                          <a:cs typeface="Times New Roman"/>
                        </a:rPr>
                        <a:t>l</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spc="-10" dirty="0">
                          <a:latin typeface="Times New Roman"/>
                          <a:cs typeface="Times New Roman"/>
                        </a:rPr>
                        <a:t>Dynamic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marR="148590">
                        <a:lnSpc>
                          <a:spcPct val="100000"/>
                        </a:lnSpc>
                        <a:spcBef>
                          <a:spcPts val="320"/>
                        </a:spcBef>
                      </a:pPr>
                      <a:r>
                        <a:rPr sz="1500" spc="-10" dirty="0">
                          <a:latin typeface="Times New Roman"/>
                          <a:cs typeface="Times New Roman"/>
                        </a:rPr>
                        <a:t>Continuou </a:t>
                      </a:r>
                      <a:r>
                        <a:rPr sz="1500" spc="-50" dirty="0">
                          <a:latin typeface="Times New Roman"/>
                          <a:cs typeface="Times New Roman"/>
                        </a:rPr>
                        <a:t>s</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spc="-10" dirty="0">
                          <a:latin typeface="Times New Roman"/>
                          <a:cs typeface="Times New Roman"/>
                        </a:rPr>
                        <a:t>Single</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569975">
                <a:tc>
                  <a:txBody>
                    <a:bodyPr/>
                    <a:lstStyle/>
                    <a:p>
                      <a:pPr marL="92075" marR="485775">
                        <a:lnSpc>
                          <a:spcPct val="100000"/>
                        </a:lnSpc>
                        <a:spcBef>
                          <a:spcPts val="320"/>
                        </a:spcBef>
                      </a:pPr>
                      <a:r>
                        <a:rPr sz="1500" spc="-10" dirty="0">
                          <a:latin typeface="Times New Roman"/>
                          <a:cs typeface="Times New Roman"/>
                        </a:rPr>
                        <a:t>Medical diagnosis</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Partial</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Stochastic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Episodic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spc="-10" dirty="0">
                          <a:latin typeface="Times New Roman"/>
                          <a:cs typeface="Times New Roman"/>
                        </a:rPr>
                        <a:t>Static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marR="148590">
                        <a:lnSpc>
                          <a:spcPct val="100000"/>
                        </a:lnSpc>
                        <a:spcBef>
                          <a:spcPts val="320"/>
                        </a:spcBef>
                      </a:pPr>
                      <a:r>
                        <a:rPr sz="1500" spc="-10" dirty="0">
                          <a:latin typeface="Times New Roman"/>
                          <a:cs typeface="Times New Roman"/>
                        </a:rPr>
                        <a:t>Continuou </a:t>
                      </a:r>
                      <a:r>
                        <a:rPr sz="1500" spc="-50" dirty="0">
                          <a:latin typeface="Times New Roman"/>
                          <a:cs typeface="Times New Roman"/>
                        </a:rPr>
                        <a:t>s</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spc="-10" dirty="0">
                          <a:latin typeface="Times New Roman"/>
                          <a:cs typeface="Times New Roman"/>
                        </a:rPr>
                        <a:t>Single</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569975">
                <a:tc>
                  <a:txBody>
                    <a:bodyPr/>
                    <a:lstStyle/>
                    <a:p>
                      <a:pPr marL="92075">
                        <a:lnSpc>
                          <a:spcPct val="100000"/>
                        </a:lnSpc>
                        <a:spcBef>
                          <a:spcPts val="320"/>
                        </a:spcBef>
                      </a:pPr>
                      <a:r>
                        <a:rPr sz="1500" dirty="0">
                          <a:latin typeface="Times New Roman"/>
                          <a:cs typeface="Times New Roman"/>
                        </a:rPr>
                        <a:t>Image</a:t>
                      </a:r>
                      <a:r>
                        <a:rPr sz="1500" spc="-25" dirty="0">
                          <a:latin typeface="Times New Roman"/>
                          <a:cs typeface="Times New Roman"/>
                        </a:rPr>
                        <a:t> </a:t>
                      </a:r>
                      <a:r>
                        <a:rPr sz="1500" spc="-10" dirty="0">
                          <a:latin typeface="Times New Roman"/>
                          <a:cs typeface="Times New Roman"/>
                        </a:rPr>
                        <a:t>analysis</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Fully</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marR="112395">
                        <a:lnSpc>
                          <a:spcPct val="100000"/>
                        </a:lnSpc>
                        <a:spcBef>
                          <a:spcPts val="320"/>
                        </a:spcBef>
                      </a:pPr>
                      <a:r>
                        <a:rPr sz="1500" spc="-10" dirty="0">
                          <a:latin typeface="Times New Roman"/>
                          <a:cs typeface="Times New Roman"/>
                        </a:rPr>
                        <a:t>Determinis </a:t>
                      </a:r>
                      <a:r>
                        <a:rPr sz="1500" spc="-25" dirty="0">
                          <a:latin typeface="Times New Roman"/>
                          <a:cs typeface="Times New Roman"/>
                        </a:rPr>
                        <a:t>tic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Episodic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spc="-20" dirty="0">
                          <a:latin typeface="Times New Roman"/>
                          <a:cs typeface="Times New Roman"/>
                        </a:rPr>
                        <a:t>Semi</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Discrete</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spc="-10" dirty="0">
                          <a:latin typeface="Times New Roman"/>
                          <a:cs typeface="Times New Roman"/>
                        </a:rPr>
                        <a:t>Single</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804672">
                <a:tc>
                  <a:txBody>
                    <a:bodyPr/>
                    <a:lstStyle/>
                    <a:p>
                      <a:pPr marL="92075">
                        <a:lnSpc>
                          <a:spcPct val="100000"/>
                        </a:lnSpc>
                        <a:spcBef>
                          <a:spcPts val="320"/>
                        </a:spcBef>
                      </a:pPr>
                      <a:r>
                        <a:rPr sz="1500" dirty="0">
                          <a:latin typeface="Times New Roman"/>
                          <a:cs typeface="Times New Roman"/>
                        </a:rPr>
                        <a:t>Robot</a:t>
                      </a:r>
                      <a:r>
                        <a:rPr sz="1500" spc="-35" dirty="0">
                          <a:latin typeface="Times New Roman"/>
                          <a:cs typeface="Times New Roman"/>
                        </a:rPr>
                        <a:t> </a:t>
                      </a:r>
                      <a:r>
                        <a:rPr sz="1500" spc="-20" dirty="0">
                          <a:latin typeface="Times New Roman"/>
                          <a:cs typeface="Times New Roman"/>
                        </a:rPr>
                        <a:t>part</a:t>
                      </a:r>
                      <a:endParaRPr sz="1500">
                        <a:latin typeface="Times New Roman"/>
                        <a:cs typeface="Times New Roman"/>
                      </a:endParaRPr>
                    </a:p>
                    <a:p>
                      <a:pPr marL="92075">
                        <a:lnSpc>
                          <a:spcPct val="100000"/>
                        </a:lnSpc>
                      </a:pPr>
                      <a:r>
                        <a:rPr sz="1500" spc="-10" dirty="0">
                          <a:latin typeface="Times New Roman"/>
                          <a:cs typeface="Times New Roman"/>
                        </a:rPr>
                        <a:t>picking</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Fully</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Determinis</a:t>
                      </a:r>
                      <a:endParaRPr sz="1500" dirty="0">
                        <a:latin typeface="Times New Roman"/>
                        <a:cs typeface="Times New Roman"/>
                      </a:endParaRPr>
                    </a:p>
                    <a:p>
                      <a:pPr marL="92075">
                        <a:lnSpc>
                          <a:spcPct val="100000"/>
                        </a:lnSpc>
                      </a:pPr>
                      <a:r>
                        <a:rPr sz="1500" spc="-25" dirty="0">
                          <a:latin typeface="Times New Roman"/>
                          <a:cs typeface="Times New Roman"/>
                        </a:rPr>
                        <a:t>tic</a:t>
                      </a:r>
                      <a:endParaRPr sz="1500" dirty="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Episodic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spc="-20" dirty="0">
                          <a:latin typeface="Times New Roman"/>
                          <a:cs typeface="Times New Roman"/>
                        </a:rPr>
                        <a:t>Semi</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Discrete</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spc="-10" dirty="0">
                          <a:latin typeface="Times New Roman"/>
                          <a:cs typeface="Times New Roman"/>
                        </a:rPr>
                        <a:t>Single</a:t>
                      </a:r>
                      <a:endParaRPr sz="1500" dirty="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8473" y="1289934"/>
            <a:ext cx="8699846" cy="521938"/>
          </a:xfrm>
          <a:prstGeom prst="rect">
            <a:avLst/>
          </a:prstGeom>
        </p:spPr>
        <p:txBody>
          <a:bodyPr vert="horz" wrap="square" lIns="0" tIns="13970" rIns="0" bIns="0" rtlCol="0">
            <a:spAutoFit/>
          </a:bodyPr>
          <a:lstStyle/>
          <a:p>
            <a:pPr marL="32130">
              <a:spcBef>
                <a:spcPts val="110"/>
              </a:spcBef>
              <a:tabLst>
                <a:tab pos="8293989" algn="l"/>
              </a:tabLst>
            </a:pPr>
            <a:r>
              <a:rPr dirty="0"/>
              <a:t>How</a:t>
            </a:r>
            <a:r>
              <a:rPr spc="-209" dirty="0"/>
              <a:t> </a:t>
            </a:r>
            <a:r>
              <a:rPr dirty="0"/>
              <a:t>Agents</a:t>
            </a:r>
            <a:r>
              <a:rPr spc="6" dirty="0"/>
              <a:t> </a:t>
            </a:r>
            <a:r>
              <a:rPr spc="-11" dirty="0"/>
              <a:t>should</a:t>
            </a:r>
            <a:r>
              <a:rPr spc="-198" dirty="0"/>
              <a:t> </a:t>
            </a:r>
            <a:r>
              <a:rPr spc="-22" dirty="0"/>
              <a:t>Act?</a:t>
            </a:r>
            <a:r>
              <a:rPr dirty="0"/>
              <a:t>	</a:t>
            </a:r>
            <a:endParaRPr spc="-11" dirty="0"/>
          </a:p>
        </p:txBody>
      </p:sp>
      <p:sp>
        <p:nvSpPr>
          <p:cNvPr id="3" name="object 3"/>
          <p:cNvSpPr txBox="1"/>
          <p:nvPr/>
        </p:nvSpPr>
        <p:spPr>
          <a:xfrm>
            <a:off x="186079" y="341830"/>
            <a:ext cx="9256522" cy="984693"/>
          </a:xfrm>
          <a:prstGeom prst="rect">
            <a:avLst/>
          </a:prstGeom>
        </p:spPr>
        <p:txBody>
          <a:bodyPr vert="horz" wrap="square" lIns="0" tIns="94298" rIns="0" bIns="0" rtlCol="0">
            <a:spAutoFit/>
          </a:bodyPr>
          <a:lstStyle/>
          <a:p>
            <a:pPr algn="ctr">
              <a:spcBef>
                <a:spcPts val="743"/>
              </a:spcBef>
            </a:pPr>
            <a:r>
              <a:rPr sz="2640" b="1" dirty="0">
                <a:latin typeface="Times New Roman"/>
                <a:cs typeface="Times New Roman"/>
              </a:rPr>
              <a:t>-</a:t>
            </a:r>
            <a:r>
              <a:rPr sz="2640" b="1" spc="-72" dirty="0">
                <a:latin typeface="Times New Roman"/>
                <a:cs typeface="Times New Roman"/>
              </a:rPr>
              <a:t> </a:t>
            </a:r>
            <a:r>
              <a:rPr sz="2640" b="1" u="sng" spc="-11" dirty="0">
                <a:uFill>
                  <a:solidFill>
                    <a:srgbClr val="000000"/>
                  </a:solidFill>
                </a:uFill>
                <a:latin typeface="Times New Roman"/>
                <a:cs typeface="Times New Roman"/>
              </a:rPr>
              <a:t>Environment</a:t>
            </a:r>
            <a:r>
              <a:rPr sz="2640" b="1" u="sng" spc="-38" dirty="0">
                <a:uFill>
                  <a:solidFill>
                    <a:srgbClr val="000000"/>
                  </a:solidFill>
                </a:uFill>
                <a:latin typeface="Times New Roman"/>
                <a:cs typeface="Times New Roman"/>
              </a:rPr>
              <a:t> </a:t>
            </a:r>
            <a:r>
              <a:rPr sz="2640" b="1" u="sng" dirty="0">
                <a:uFill>
                  <a:solidFill>
                    <a:srgbClr val="000000"/>
                  </a:solidFill>
                </a:uFill>
                <a:latin typeface="Times New Roman"/>
                <a:cs typeface="Times New Roman"/>
              </a:rPr>
              <a:t>Parameters</a:t>
            </a:r>
            <a:r>
              <a:rPr sz="2640" b="1" u="sng" spc="-55" dirty="0">
                <a:uFill>
                  <a:solidFill>
                    <a:srgbClr val="000000"/>
                  </a:solidFill>
                </a:uFill>
                <a:latin typeface="Times New Roman"/>
                <a:cs typeface="Times New Roman"/>
              </a:rPr>
              <a:t> </a:t>
            </a:r>
            <a:r>
              <a:rPr sz="2640" b="1" u="sng" spc="-11" dirty="0">
                <a:uFill>
                  <a:solidFill>
                    <a:srgbClr val="000000"/>
                  </a:solidFill>
                </a:uFill>
                <a:latin typeface="Times New Roman"/>
                <a:cs typeface="Times New Roman"/>
              </a:rPr>
              <a:t>for</a:t>
            </a:r>
            <a:r>
              <a:rPr sz="2640" b="1" u="sng" spc="-204" dirty="0">
                <a:uFill>
                  <a:solidFill>
                    <a:srgbClr val="000000"/>
                  </a:solidFill>
                </a:uFill>
                <a:latin typeface="Times New Roman"/>
                <a:cs typeface="Times New Roman"/>
              </a:rPr>
              <a:t> </a:t>
            </a:r>
            <a:r>
              <a:rPr sz="2640" b="1" u="sng" dirty="0">
                <a:uFill>
                  <a:solidFill>
                    <a:srgbClr val="000000"/>
                  </a:solidFill>
                </a:uFill>
                <a:latin typeface="Times New Roman"/>
                <a:cs typeface="Times New Roman"/>
              </a:rPr>
              <a:t>Agents</a:t>
            </a:r>
            <a:r>
              <a:rPr sz="2640" b="1" u="sng" spc="-28" dirty="0">
                <a:uFill>
                  <a:solidFill>
                    <a:srgbClr val="000000"/>
                  </a:solidFill>
                </a:uFill>
                <a:latin typeface="Times New Roman"/>
                <a:cs typeface="Times New Roman"/>
              </a:rPr>
              <a:t> </a:t>
            </a:r>
            <a:r>
              <a:rPr sz="2640" b="1" u="sng" dirty="0">
                <a:uFill>
                  <a:solidFill>
                    <a:srgbClr val="000000"/>
                  </a:solidFill>
                </a:uFill>
                <a:latin typeface="Times New Roman"/>
                <a:cs typeface="Times New Roman"/>
              </a:rPr>
              <a:t>to</a:t>
            </a:r>
            <a:r>
              <a:rPr sz="2640" b="1" u="sng" spc="-33" dirty="0">
                <a:uFill>
                  <a:solidFill>
                    <a:srgbClr val="000000"/>
                  </a:solidFill>
                </a:uFill>
                <a:latin typeface="Times New Roman"/>
                <a:cs typeface="Times New Roman"/>
              </a:rPr>
              <a:t> </a:t>
            </a:r>
            <a:r>
              <a:rPr sz="2640" b="1" u="sng" dirty="0">
                <a:uFill>
                  <a:solidFill>
                    <a:srgbClr val="000000"/>
                  </a:solidFill>
                </a:uFill>
                <a:latin typeface="Times New Roman"/>
                <a:cs typeface="Times New Roman"/>
              </a:rPr>
              <a:t>perform</a:t>
            </a:r>
            <a:r>
              <a:rPr sz="2640" b="1" u="sng" spc="-44" dirty="0">
                <a:uFill>
                  <a:solidFill>
                    <a:srgbClr val="000000"/>
                  </a:solidFill>
                </a:uFill>
                <a:latin typeface="Times New Roman"/>
                <a:cs typeface="Times New Roman"/>
              </a:rPr>
              <a:t> </a:t>
            </a:r>
            <a:r>
              <a:rPr sz="2640" b="1" u="sng" spc="-11" dirty="0">
                <a:uFill>
                  <a:solidFill>
                    <a:srgbClr val="000000"/>
                  </a:solidFill>
                </a:uFill>
                <a:latin typeface="Times New Roman"/>
                <a:cs typeface="Times New Roman"/>
              </a:rPr>
              <a:t>accurately</a:t>
            </a:r>
            <a:r>
              <a:rPr sz="2640" spc="-11" dirty="0">
                <a:latin typeface="Times New Roman"/>
                <a:cs typeface="Times New Roman"/>
              </a:rPr>
              <a:t>:</a:t>
            </a:r>
            <a:endParaRPr sz="2640" dirty="0">
              <a:latin typeface="Times New Roman"/>
              <a:cs typeface="Times New Roman"/>
            </a:endParaRPr>
          </a:p>
          <a:p>
            <a:pPr marR="296863" algn="ctr">
              <a:spcBef>
                <a:spcPts val="633"/>
              </a:spcBef>
            </a:pPr>
            <a:r>
              <a:rPr sz="2640" spc="-11" dirty="0">
                <a:latin typeface="Times New Roman"/>
                <a:cs typeface="Times New Roman"/>
              </a:rPr>
              <a:t>(Examples)</a:t>
            </a:r>
            <a:endParaRPr sz="2640" dirty="0">
              <a:latin typeface="Times New Roman"/>
              <a:cs typeface="Times New Roman"/>
            </a:endParaRPr>
          </a:p>
        </p:txBody>
      </p:sp>
      <p:sp>
        <p:nvSpPr>
          <p:cNvPr id="4" name="object 4"/>
          <p:cNvSpPr txBox="1"/>
          <p:nvPr/>
        </p:nvSpPr>
        <p:spPr>
          <a:xfrm>
            <a:off x="147634" y="3859097"/>
            <a:ext cx="2291080" cy="3400354"/>
          </a:xfrm>
          <a:prstGeom prst="rect">
            <a:avLst/>
          </a:prstGeom>
        </p:spPr>
        <p:txBody>
          <a:bodyPr vert="horz" wrap="square" lIns="0" tIns="14669" rIns="0" bIns="0" rtlCol="0">
            <a:spAutoFit/>
          </a:bodyPr>
          <a:lstStyle/>
          <a:p>
            <a:pPr marL="13970" marR="5588">
              <a:spcBef>
                <a:spcPts val="116"/>
              </a:spcBef>
            </a:pPr>
            <a:r>
              <a:rPr sz="2200" dirty="0">
                <a:latin typeface="Times New Roman"/>
                <a:cs typeface="Times New Roman"/>
              </a:rPr>
              <a:t>Fully</a:t>
            </a:r>
            <a:r>
              <a:rPr sz="2200" spc="-11" dirty="0">
                <a:latin typeface="Times New Roman"/>
                <a:cs typeface="Times New Roman"/>
              </a:rPr>
              <a:t> </a:t>
            </a:r>
            <a:r>
              <a:rPr sz="2200" dirty="0">
                <a:latin typeface="Times New Roman"/>
                <a:cs typeface="Times New Roman"/>
              </a:rPr>
              <a:t>observable</a:t>
            </a:r>
            <a:r>
              <a:rPr sz="2200" spc="-44" dirty="0">
                <a:latin typeface="Times New Roman"/>
                <a:cs typeface="Times New Roman"/>
              </a:rPr>
              <a:t> </a:t>
            </a:r>
            <a:r>
              <a:rPr sz="2200" spc="-28" dirty="0">
                <a:latin typeface="Times New Roman"/>
                <a:cs typeface="Times New Roman"/>
              </a:rPr>
              <a:t>vs. </a:t>
            </a:r>
            <a:r>
              <a:rPr sz="2200" dirty="0">
                <a:latin typeface="Times New Roman"/>
                <a:cs typeface="Times New Roman"/>
              </a:rPr>
              <a:t>partially</a:t>
            </a:r>
            <a:r>
              <a:rPr sz="2200" spc="-44" dirty="0">
                <a:latin typeface="Times New Roman"/>
                <a:cs typeface="Times New Roman"/>
              </a:rPr>
              <a:t> </a:t>
            </a:r>
            <a:r>
              <a:rPr sz="2200" spc="-11" dirty="0">
                <a:latin typeface="Times New Roman"/>
                <a:cs typeface="Times New Roman"/>
              </a:rPr>
              <a:t>observable </a:t>
            </a:r>
            <a:r>
              <a:rPr sz="2200" dirty="0">
                <a:latin typeface="Times New Roman"/>
                <a:cs typeface="Times New Roman"/>
              </a:rPr>
              <a:t>Deterministic</a:t>
            </a:r>
            <a:r>
              <a:rPr sz="2200" spc="-83" dirty="0">
                <a:latin typeface="Times New Roman"/>
                <a:cs typeface="Times New Roman"/>
              </a:rPr>
              <a:t> </a:t>
            </a:r>
            <a:r>
              <a:rPr sz="2200" spc="-28" dirty="0">
                <a:latin typeface="Times New Roman"/>
                <a:cs typeface="Times New Roman"/>
              </a:rPr>
              <a:t>vs. </a:t>
            </a:r>
            <a:r>
              <a:rPr sz="2200" dirty="0">
                <a:latin typeface="Times New Roman"/>
                <a:cs typeface="Times New Roman"/>
              </a:rPr>
              <a:t>stochastic</a:t>
            </a:r>
            <a:r>
              <a:rPr sz="2200" spc="-44" dirty="0">
                <a:latin typeface="Times New Roman"/>
                <a:cs typeface="Times New Roman"/>
              </a:rPr>
              <a:t> </a:t>
            </a:r>
            <a:r>
              <a:rPr sz="2200" dirty="0">
                <a:latin typeface="Times New Roman"/>
                <a:cs typeface="Times New Roman"/>
              </a:rPr>
              <a:t>/</a:t>
            </a:r>
            <a:r>
              <a:rPr sz="2200" spc="-11" dirty="0">
                <a:latin typeface="Times New Roman"/>
                <a:cs typeface="Times New Roman"/>
              </a:rPr>
              <a:t> strategic </a:t>
            </a:r>
            <a:r>
              <a:rPr sz="2200" dirty="0">
                <a:latin typeface="Times New Roman"/>
                <a:cs typeface="Times New Roman"/>
              </a:rPr>
              <a:t>Episodic</a:t>
            </a:r>
            <a:r>
              <a:rPr sz="2200" spc="-38" dirty="0">
                <a:latin typeface="Times New Roman"/>
                <a:cs typeface="Times New Roman"/>
              </a:rPr>
              <a:t> </a:t>
            </a:r>
            <a:r>
              <a:rPr sz="2200" spc="-28" dirty="0">
                <a:latin typeface="Times New Roman"/>
                <a:cs typeface="Times New Roman"/>
              </a:rPr>
              <a:t>vs. </a:t>
            </a:r>
            <a:r>
              <a:rPr sz="2200" spc="-11" dirty="0">
                <a:latin typeface="Times New Roman"/>
                <a:cs typeface="Times New Roman"/>
              </a:rPr>
              <a:t>sequential</a:t>
            </a:r>
            <a:endParaRPr sz="2200">
              <a:latin typeface="Times New Roman"/>
              <a:cs typeface="Times New Roman"/>
            </a:endParaRPr>
          </a:p>
          <a:p>
            <a:pPr marL="13970" marR="214440"/>
            <a:r>
              <a:rPr sz="2200" dirty="0">
                <a:latin typeface="Times New Roman"/>
                <a:cs typeface="Times New Roman"/>
              </a:rPr>
              <a:t>Static</a:t>
            </a:r>
            <a:r>
              <a:rPr sz="2200" spc="-28" dirty="0">
                <a:latin typeface="Times New Roman"/>
                <a:cs typeface="Times New Roman"/>
              </a:rPr>
              <a:t> </a:t>
            </a:r>
            <a:r>
              <a:rPr sz="2200" dirty="0">
                <a:latin typeface="Times New Roman"/>
                <a:cs typeface="Times New Roman"/>
              </a:rPr>
              <a:t>vs.</a:t>
            </a:r>
            <a:r>
              <a:rPr sz="2200" spc="-28" dirty="0">
                <a:latin typeface="Times New Roman"/>
                <a:cs typeface="Times New Roman"/>
              </a:rPr>
              <a:t> </a:t>
            </a:r>
            <a:r>
              <a:rPr sz="2200" spc="-11" dirty="0">
                <a:latin typeface="Times New Roman"/>
                <a:cs typeface="Times New Roman"/>
              </a:rPr>
              <a:t>dynamic </a:t>
            </a:r>
            <a:r>
              <a:rPr sz="2200" dirty="0">
                <a:latin typeface="Times New Roman"/>
                <a:cs typeface="Times New Roman"/>
              </a:rPr>
              <a:t>Discrete</a:t>
            </a:r>
            <a:r>
              <a:rPr sz="2200" spc="-38" dirty="0">
                <a:latin typeface="Times New Roman"/>
                <a:cs typeface="Times New Roman"/>
              </a:rPr>
              <a:t> </a:t>
            </a:r>
            <a:r>
              <a:rPr sz="2200" spc="-28" dirty="0">
                <a:latin typeface="Times New Roman"/>
                <a:cs typeface="Times New Roman"/>
              </a:rPr>
              <a:t>vs. </a:t>
            </a:r>
            <a:r>
              <a:rPr sz="2200" spc="-11" dirty="0">
                <a:latin typeface="Times New Roman"/>
                <a:cs typeface="Times New Roman"/>
              </a:rPr>
              <a:t>continuous</a:t>
            </a:r>
            <a:endParaRPr sz="2200">
              <a:latin typeface="Times New Roman"/>
              <a:cs typeface="Times New Roman"/>
            </a:endParaRPr>
          </a:p>
          <a:p>
            <a:pPr marL="13970">
              <a:spcBef>
                <a:spcPts val="6"/>
              </a:spcBef>
            </a:pPr>
            <a:r>
              <a:rPr sz="2200" dirty="0">
                <a:latin typeface="Times New Roman"/>
                <a:cs typeface="Times New Roman"/>
              </a:rPr>
              <a:t>Single</a:t>
            </a:r>
            <a:r>
              <a:rPr sz="2200" spc="-22" dirty="0">
                <a:latin typeface="Times New Roman"/>
                <a:cs typeface="Times New Roman"/>
              </a:rPr>
              <a:t> </a:t>
            </a:r>
            <a:r>
              <a:rPr sz="2200" dirty="0">
                <a:latin typeface="Times New Roman"/>
                <a:cs typeface="Times New Roman"/>
              </a:rPr>
              <a:t>agent</a:t>
            </a:r>
            <a:r>
              <a:rPr sz="2200" spc="-17" dirty="0">
                <a:latin typeface="Times New Roman"/>
                <a:cs typeface="Times New Roman"/>
              </a:rPr>
              <a:t> </a:t>
            </a:r>
            <a:r>
              <a:rPr sz="2200" spc="-28" dirty="0">
                <a:latin typeface="Times New Roman"/>
                <a:cs typeface="Times New Roman"/>
              </a:rPr>
              <a:t>vs.</a:t>
            </a:r>
            <a:endParaRPr sz="2200">
              <a:latin typeface="Times New Roman"/>
              <a:cs typeface="Times New Roman"/>
            </a:endParaRPr>
          </a:p>
        </p:txBody>
      </p:sp>
      <p:sp>
        <p:nvSpPr>
          <p:cNvPr id="5" name="object 5"/>
          <p:cNvSpPr txBox="1"/>
          <p:nvPr/>
        </p:nvSpPr>
        <p:spPr>
          <a:xfrm>
            <a:off x="147635" y="7212624"/>
            <a:ext cx="1221677" cy="352661"/>
          </a:xfrm>
          <a:prstGeom prst="rect">
            <a:avLst/>
          </a:prstGeom>
        </p:spPr>
        <p:txBody>
          <a:bodyPr vert="horz" wrap="square" lIns="0" tIns="13970" rIns="0" bIns="0" rtlCol="0">
            <a:spAutoFit/>
          </a:bodyPr>
          <a:lstStyle/>
          <a:p>
            <a:pPr marL="13970">
              <a:spcBef>
                <a:spcPts val="110"/>
              </a:spcBef>
            </a:pPr>
            <a:r>
              <a:rPr sz="2200" spc="-11" dirty="0">
                <a:latin typeface="Times New Roman"/>
                <a:cs typeface="Times New Roman"/>
              </a:rPr>
              <a:t>multiagent</a:t>
            </a:r>
            <a:endParaRPr sz="2200">
              <a:latin typeface="Times New Roman"/>
              <a:cs typeface="Times New Roman"/>
            </a:endParaRPr>
          </a:p>
        </p:txBody>
      </p:sp>
      <p:pic>
        <p:nvPicPr>
          <p:cNvPr id="6" name="object 6"/>
          <p:cNvPicPr/>
          <p:nvPr/>
        </p:nvPicPr>
        <p:blipFill>
          <a:blip r:embed="rId2" cstate="print"/>
          <a:stretch>
            <a:fillRect/>
          </a:stretch>
        </p:blipFill>
        <p:spPr>
          <a:xfrm>
            <a:off x="186079" y="2690926"/>
            <a:ext cx="2056943" cy="1141628"/>
          </a:xfrm>
          <a:prstGeom prst="rect">
            <a:avLst/>
          </a:prstGeom>
        </p:spPr>
      </p:pic>
      <p:grpSp>
        <p:nvGrpSpPr>
          <p:cNvPr id="7" name="object 7"/>
          <p:cNvGrpSpPr/>
          <p:nvPr/>
        </p:nvGrpSpPr>
        <p:grpSpPr>
          <a:xfrm>
            <a:off x="2507895" y="2456230"/>
            <a:ext cx="1319467" cy="1014221"/>
            <a:chOff x="2279904" y="2129027"/>
            <a:chExt cx="1199515" cy="922019"/>
          </a:xfrm>
        </p:grpSpPr>
        <p:pic>
          <p:nvPicPr>
            <p:cNvPr id="8" name="object 8"/>
            <p:cNvPicPr/>
            <p:nvPr/>
          </p:nvPicPr>
          <p:blipFill>
            <a:blip r:embed="rId3" cstate="print"/>
            <a:stretch>
              <a:fillRect/>
            </a:stretch>
          </p:blipFill>
          <p:spPr>
            <a:xfrm>
              <a:off x="2279904" y="2129027"/>
              <a:ext cx="1199388" cy="403860"/>
            </a:xfrm>
            <a:prstGeom prst="rect">
              <a:avLst/>
            </a:prstGeom>
          </p:spPr>
        </p:pic>
        <p:pic>
          <p:nvPicPr>
            <p:cNvPr id="9" name="object 9"/>
            <p:cNvPicPr/>
            <p:nvPr/>
          </p:nvPicPr>
          <p:blipFill>
            <a:blip r:embed="rId4" cstate="print"/>
            <a:stretch>
              <a:fillRect/>
            </a:stretch>
          </p:blipFill>
          <p:spPr>
            <a:xfrm>
              <a:off x="2279904" y="2342387"/>
              <a:ext cx="632459" cy="403860"/>
            </a:xfrm>
            <a:prstGeom prst="rect">
              <a:avLst/>
            </a:prstGeom>
          </p:spPr>
        </p:pic>
        <p:pic>
          <p:nvPicPr>
            <p:cNvPr id="10" name="object 10"/>
            <p:cNvPicPr/>
            <p:nvPr/>
          </p:nvPicPr>
          <p:blipFill>
            <a:blip r:embed="rId5" cstate="print"/>
            <a:stretch>
              <a:fillRect/>
            </a:stretch>
          </p:blipFill>
          <p:spPr>
            <a:xfrm>
              <a:off x="2279904" y="2647187"/>
              <a:ext cx="1118616" cy="403860"/>
            </a:xfrm>
            <a:prstGeom prst="rect">
              <a:avLst/>
            </a:prstGeom>
          </p:spPr>
        </p:pic>
      </p:grpSp>
      <p:grpSp>
        <p:nvGrpSpPr>
          <p:cNvPr id="11" name="object 11"/>
          <p:cNvGrpSpPr/>
          <p:nvPr/>
        </p:nvGrpSpPr>
        <p:grpSpPr>
          <a:xfrm>
            <a:off x="2507894" y="3596183"/>
            <a:ext cx="1440307" cy="1014221"/>
            <a:chOff x="2279904" y="3165348"/>
            <a:chExt cx="1309370" cy="922019"/>
          </a:xfrm>
        </p:grpSpPr>
        <p:pic>
          <p:nvPicPr>
            <p:cNvPr id="12" name="object 12"/>
            <p:cNvPicPr/>
            <p:nvPr/>
          </p:nvPicPr>
          <p:blipFill>
            <a:blip r:embed="rId6" cstate="print"/>
            <a:stretch>
              <a:fillRect/>
            </a:stretch>
          </p:blipFill>
          <p:spPr>
            <a:xfrm>
              <a:off x="2279904" y="3165348"/>
              <a:ext cx="871728" cy="403860"/>
            </a:xfrm>
            <a:prstGeom prst="rect">
              <a:avLst/>
            </a:prstGeom>
          </p:spPr>
        </p:pic>
        <p:pic>
          <p:nvPicPr>
            <p:cNvPr id="13" name="object 13"/>
            <p:cNvPicPr/>
            <p:nvPr/>
          </p:nvPicPr>
          <p:blipFill>
            <a:blip r:embed="rId7" cstate="print"/>
            <a:stretch>
              <a:fillRect/>
            </a:stretch>
          </p:blipFill>
          <p:spPr>
            <a:xfrm>
              <a:off x="2279904" y="3378708"/>
              <a:ext cx="922019" cy="403859"/>
            </a:xfrm>
            <a:prstGeom prst="rect">
              <a:avLst/>
            </a:prstGeom>
          </p:spPr>
        </p:pic>
        <p:pic>
          <p:nvPicPr>
            <p:cNvPr id="14" name="object 14"/>
            <p:cNvPicPr/>
            <p:nvPr/>
          </p:nvPicPr>
          <p:blipFill>
            <a:blip r:embed="rId8" cstate="print"/>
            <a:stretch>
              <a:fillRect/>
            </a:stretch>
          </p:blipFill>
          <p:spPr>
            <a:xfrm>
              <a:off x="2279904" y="3683508"/>
              <a:ext cx="1309116" cy="403860"/>
            </a:xfrm>
            <a:prstGeom prst="rect">
              <a:avLst/>
            </a:prstGeom>
          </p:spPr>
        </p:pic>
      </p:grpSp>
      <p:grpSp>
        <p:nvGrpSpPr>
          <p:cNvPr id="15" name="object 15"/>
          <p:cNvGrpSpPr/>
          <p:nvPr/>
        </p:nvGrpSpPr>
        <p:grpSpPr>
          <a:xfrm>
            <a:off x="2507894" y="4736134"/>
            <a:ext cx="1288034" cy="1251014"/>
            <a:chOff x="2279904" y="4201667"/>
            <a:chExt cx="1170940" cy="1137285"/>
          </a:xfrm>
        </p:grpSpPr>
        <p:pic>
          <p:nvPicPr>
            <p:cNvPr id="16" name="object 16"/>
            <p:cNvPicPr/>
            <p:nvPr/>
          </p:nvPicPr>
          <p:blipFill>
            <a:blip r:embed="rId9" cstate="print"/>
            <a:stretch>
              <a:fillRect/>
            </a:stretch>
          </p:blipFill>
          <p:spPr>
            <a:xfrm>
              <a:off x="2279904" y="4201667"/>
              <a:ext cx="1043940" cy="403860"/>
            </a:xfrm>
            <a:prstGeom prst="rect">
              <a:avLst/>
            </a:prstGeom>
          </p:spPr>
        </p:pic>
        <p:pic>
          <p:nvPicPr>
            <p:cNvPr id="17" name="object 17"/>
            <p:cNvPicPr/>
            <p:nvPr/>
          </p:nvPicPr>
          <p:blipFill>
            <a:blip r:embed="rId10" cstate="print"/>
            <a:stretch>
              <a:fillRect/>
            </a:stretch>
          </p:blipFill>
          <p:spPr>
            <a:xfrm>
              <a:off x="2279904" y="4415027"/>
              <a:ext cx="781812" cy="403860"/>
            </a:xfrm>
            <a:prstGeom prst="rect">
              <a:avLst/>
            </a:prstGeom>
          </p:spPr>
        </p:pic>
        <p:pic>
          <p:nvPicPr>
            <p:cNvPr id="18" name="object 18"/>
            <p:cNvPicPr/>
            <p:nvPr/>
          </p:nvPicPr>
          <p:blipFill>
            <a:blip r:embed="rId11" cstate="print"/>
            <a:stretch>
              <a:fillRect/>
            </a:stretch>
          </p:blipFill>
          <p:spPr>
            <a:xfrm>
              <a:off x="2279904" y="4721351"/>
              <a:ext cx="1048512" cy="403860"/>
            </a:xfrm>
            <a:prstGeom prst="rect">
              <a:avLst/>
            </a:prstGeom>
          </p:spPr>
        </p:pic>
        <p:pic>
          <p:nvPicPr>
            <p:cNvPr id="19" name="object 19"/>
            <p:cNvPicPr/>
            <p:nvPr/>
          </p:nvPicPr>
          <p:blipFill>
            <a:blip r:embed="rId12" cstate="print"/>
            <a:stretch>
              <a:fillRect/>
            </a:stretch>
          </p:blipFill>
          <p:spPr>
            <a:xfrm>
              <a:off x="2279904" y="4934711"/>
              <a:ext cx="1170432" cy="403859"/>
            </a:xfrm>
            <a:prstGeom prst="rect">
              <a:avLst/>
            </a:prstGeom>
          </p:spPr>
        </p:pic>
      </p:grpSp>
      <p:graphicFrame>
        <p:nvGraphicFramePr>
          <p:cNvPr id="20" name="object 20"/>
          <p:cNvGraphicFramePr>
            <a:graphicFrameLocks noGrp="1"/>
          </p:cNvGraphicFramePr>
          <p:nvPr/>
        </p:nvGraphicFramePr>
        <p:xfrm>
          <a:off x="2525078" y="1895475"/>
          <a:ext cx="7467663" cy="4082030"/>
        </p:xfrm>
        <a:graphic>
          <a:graphicData uri="http://schemas.openxmlformats.org/drawingml/2006/table">
            <a:tbl>
              <a:tblPr firstRow="1" bandRow="1">
                <a:tableStyleId>{2D5ABB26-0587-4C30-8999-92F81FD0307C}</a:tableStyleId>
              </a:tblPr>
              <a:tblGrid>
                <a:gridCol w="1413066">
                  <a:extLst>
                    <a:ext uri="{9D8B030D-6E8A-4147-A177-3AD203B41FA5}">
                      <a16:colId xmlns:a16="http://schemas.microsoft.com/office/drawing/2014/main" val="20000"/>
                    </a:ext>
                  </a:extLst>
                </a:gridCol>
                <a:gridCol w="885698">
                  <a:extLst>
                    <a:ext uri="{9D8B030D-6E8A-4147-A177-3AD203B41FA5}">
                      <a16:colId xmlns:a16="http://schemas.microsoft.com/office/drawing/2014/main" val="20001"/>
                    </a:ext>
                  </a:extLst>
                </a:gridCol>
                <a:gridCol w="1128776">
                  <a:extLst>
                    <a:ext uri="{9D8B030D-6E8A-4147-A177-3AD203B41FA5}">
                      <a16:colId xmlns:a16="http://schemas.microsoft.com/office/drawing/2014/main" val="20002"/>
                    </a:ext>
                  </a:extLst>
                </a:gridCol>
                <a:gridCol w="1128776">
                  <a:extLst>
                    <a:ext uri="{9D8B030D-6E8A-4147-A177-3AD203B41FA5}">
                      <a16:colId xmlns:a16="http://schemas.microsoft.com/office/drawing/2014/main" val="20003"/>
                    </a:ext>
                  </a:extLst>
                </a:gridCol>
                <a:gridCol w="966723">
                  <a:extLst>
                    <a:ext uri="{9D8B030D-6E8A-4147-A177-3AD203B41FA5}">
                      <a16:colId xmlns:a16="http://schemas.microsoft.com/office/drawing/2014/main" val="20004"/>
                    </a:ext>
                  </a:extLst>
                </a:gridCol>
                <a:gridCol w="1128776">
                  <a:extLst>
                    <a:ext uri="{9D8B030D-6E8A-4147-A177-3AD203B41FA5}">
                      <a16:colId xmlns:a16="http://schemas.microsoft.com/office/drawing/2014/main" val="20005"/>
                    </a:ext>
                  </a:extLst>
                </a:gridCol>
                <a:gridCol w="815848">
                  <a:extLst>
                    <a:ext uri="{9D8B030D-6E8A-4147-A177-3AD203B41FA5}">
                      <a16:colId xmlns:a16="http://schemas.microsoft.com/office/drawing/2014/main" val="20006"/>
                    </a:ext>
                  </a:extLst>
                </a:gridCol>
              </a:tblGrid>
              <a:tr h="569975">
                <a:tc>
                  <a:txBody>
                    <a:bodyPr/>
                    <a:lstStyle/>
                    <a:p>
                      <a:pPr marL="92075">
                        <a:lnSpc>
                          <a:spcPct val="100000"/>
                        </a:lnSpc>
                        <a:spcBef>
                          <a:spcPts val="320"/>
                        </a:spcBef>
                      </a:pPr>
                      <a:r>
                        <a:rPr sz="1500" b="1" spc="-10" dirty="0">
                          <a:latin typeface="Times New Roman"/>
                          <a:cs typeface="Times New Roman"/>
                        </a:rPr>
                        <a:t>Environments</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marR="149860">
                        <a:lnSpc>
                          <a:spcPct val="100000"/>
                        </a:lnSpc>
                        <a:spcBef>
                          <a:spcPts val="320"/>
                        </a:spcBef>
                      </a:pPr>
                      <a:r>
                        <a:rPr sz="1500" b="1" spc="-10" dirty="0">
                          <a:latin typeface="Times New Roman"/>
                          <a:cs typeface="Times New Roman"/>
                        </a:rPr>
                        <a:t>Observ </a:t>
                      </a:r>
                      <a:r>
                        <a:rPr sz="1500" b="1" spc="-20" dirty="0">
                          <a:latin typeface="Times New Roman"/>
                          <a:cs typeface="Times New Roman"/>
                        </a:rPr>
                        <a:t>able</a:t>
                      </a:r>
                      <a:endParaRPr sz="1500" dirty="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marR="85090">
                        <a:lnSpc>
                          <a:spcPct val="100000"/>
                        </a:lnSpc>
                        <a:spcBef>
                          <a:spcPts val="320"/>
                        </a:spcBef>
                      </a:pPr>
                      <a:r>
                        <a:rPr sz="1500" b="1" spc="-10" dirty="0">
                          <a:latin typeface="Times New Roman"/>
                          <a:cs typeface="Times New Roman"/>
                        </a:rPr>
                        <a:t>Determinis </a:t>
                      </a:r>
                      <a:r>
                        <a:rPr sz="1500" b="1" spc="-25" dirty="0">
                          <a:latin typeface="Times New Roman"/>
                          <a:cs typeface="Times New Roman"/>
                        </a:rPr>
                        <a:t>tic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b="1" spc="-10" dirty="0">
                          <a:latin typeface="Times New Roman"/>
                          <a:cs typeface="Times New Roman"/>
                        </a:rPr>
                        <a:t>Episodic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b="1" spc="-10" dirty="0">
                          <a:latin typeface="Times New Roman"/>
                          <a:cs typeface="Times New Roman"/>
                        </a:rPr>
                        <a:t>Static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b="1" spc="-10" dirty="0">
                          <a:latin typeface="Times New Roman"/>
                          <a:cs typeface="Times New Roman"/>
                        </a:rPr>
                        <a:t>Discrete</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b="1" spc="-10" dirty="0">
                          <a:latin typeface="Times New Roman"/>
                          <a:cs typeface="Times New Roman"/>
                        </a:rPr>
                        <a:t>Agents</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569975">
                <a:tc>
                  <a:txBody>
                    <a:bodyPr/>
                    <a:lstStyle/>
                    <a:p>
                      <a:pPr marL="92075" marR="274320">
                        <a:lnSpc>
                          <a:spcPct val="100000"/>
                        </a:lnSpc>
                        <a:spcBef>
                          <a:spcPts val="320"/>
                        </a:spcBef>
                      </a:pPr>
                      <a:r>
                        <a:rPr sz="1500" dirty="0">
                          <a:latin typeface="Times New Roman"/>
                          <a:cs typeface="Times New Roman"/>
                        </a:rPr>
                        <a:t>Chess</a:t>
                      </a:r>
                      <a:r>
                        <a:rPr sz="1500" spc="-30" dirty="0">
                          <a:latin typeface="Times New Roman"/>
                          <a:cs typeface="Times New Roman"/>
                        </a:rPr>
                        <a:t> </a:t>
                      </a:r>
                      <a:r>
                        <a:rPr sz="1500" dirty="0">
                          <a:latin typeface="Times New Roman"/>
                          <a:cs typeface="Times New Roman"/>
                        </a:rPr>
                        <a:t>with</a:t>
                      </a:r>
                      <a:r>
                        <a:rPr sz="1500" spc="-30" dirty="0">
                          <a:latin typeface="Times New Roman"/>
                          <a:cs typeface="Times New Roman"/>
                        </a:rPr>
                        <a:t> </a:t>
                      </a:r>
                      <a:r>
                        <a:rPr sz="1500" spc="-50" dirty="0">
                          <a:latin typeface="Times New Roman"/>
                          <a:cs typeface="Times New Roman"/>
                        </a:rPr>
                        <a:t>a </a:t>
                      </a:r>
                      <a:r>
                        <a:rPr sz="1500" spc="-20" dirty="0">
                          <a:latin typeface="Times New Roman"/>
                          <a:cs typeface="Times New Roman"/>
                        </a:rPr>
                        <a:t>clock</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Fully</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Strategic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Sequential</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20" dirty="0">
                          <a:latin typeface="Times New Roman"/>
                          <a:cs typeface="Times New Roman"/>
                        </a:rPr>
                        <a:t>Semi</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Discrete</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spc="-10" dirty="0">
                          <a:latin typeface="Times New Roman"/>
                          <a:cs typeface="Times New Roman"/>
                        </a:rPr>
                        <a:t>Multi</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569975">
                <a:tc>
                  <a:txBody>
                    <a:bodyPr/>
                    <a:lstStyle/>
                    <a:p>
                      <a:pPr marL="92075">
                        <a:lnSpc>
                          <a:spcPct val="100000"/>
                        </a:lnSpc>
                        <a:spcBef>
                          <a:spcPts val="320"/>
                        </a:spcBef>
                      </a:pPr>
                      <a:r>
                        <a:rPr sz="1500" spc="-10" dirty="0">
                          <a:latin typeface="Times New Roman"/>
                          <a:cs typeface="Times New Roman"/>
                        </a:rPr>
                        <a:t>Taxi</a:t>
                      </a:r>
                      <a:r>
                        <a:rPr sz="1500" spc="-80" dirty="0">
                          <a:latin typeface="Times New Roman"/>
                          <a:cs typeface="Times New Roman"/>
                        </a:rPr>
                        <a:t> </a:t>
                      </a:r>
                      <a:r>
                        <a:rPr sz="1500" spc="-10" dirty="0">
                          <a:latin typeface="Times New Roman"/>
                          <a:cs typeface="Times New Roman"/>
                        </a:rPr>
                        <a:t>driving</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Partial</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Stochastic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Sequential</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Dynamic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Continuous</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spc="-10" dirty="0">
                          <a:latin typeface="Times New Roman"/>
                          <a:cs typeface="Times New Roman"/>
                        </a:rPr>
                        <a:t>Single</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569278">
                <a:tc>
                  <a:txBody>
                    <a:bodyPr/>
                    <a:lstStyle/>
                    <a:p>
                      <a:pPr marL="92075" marR="508000">
                        <a:lnSpc>
                          <a:spcPct val="100000"/>
                        </a:lnSpc>
                        <a:spcBef>
                          <a:spcPts val="320"/>
                        </a:spcBef>
                      </a:pPr>
                      <a:r>
                        <a:rPr sz="1500" spc="-10" dirty="0">
                          <a:latin typeface="Times New Roman"/>
                          <a:cs typeface="Times New Roman"/>
                        </a:rPr>
                        <a:t>Medical diagnosis</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Partial</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Stochastic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Episodic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Static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Continuous</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spc="-10" dirty="0">
                          <a:latin typeface="Times New Roman"/>
                          <a:cs typeface="Times New Roman"/>
                        </a:rPr>
                        <a:t>Single</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569975">
                <a:tc>
                  <a:txBody>
                    <a:bodyPr/>
                    <a:lstStyle/>
                    <a:p>
                      <a:pPr marL="92075">
                        <a:lnSpc>
                          <a:spcPct val="100000"/>
                        </a:lnSpc>
                        <a:spcBef>
                          <a:spcPts val="320"/>
                        </a:spcBef>
                      </a:pPr>
                      <a:r>
                        <a:rPr sz="1500" dirty="0">
                          <a:latin typeface="Times New Roman"/>
                          <a:cs typeface="Times New Roman"/>
                        </a:rPr>
                        <a:t>Image</a:t>
                      </a:r>
                      <a:r>
                        <a:rPr sz="1500" spc="-25" dirty="0">
                          <a:latin typeface="Times New Roman"/>
                          <a:cs typeface="Times New Roman"/>
                        </a:rPr>
                        <a:t> </a:t>
                      </a:r>
                      <a:r>
                        <a:rPr sz="1500" spc="-10" dirty="0">
                          <a:latin typeface="Times New Roman"/>
                          <a:cs typeface="Times New Roman"/>
                        </a:rPr>
                        <a:t>analysis</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Fully</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marR="84455">
                        <a:lnSpc>
                          <a:spcPct val="100000"/>
                        </a:lnSpc>
                        <a:spcBef>
                          <a:spcPts val="320"/>
                        </a:spcBef>
                      </a:pPr>
                      <a:r>
                        <a:rPr sz="1500" spc="-10" dirty="0">
                          <a:latin typeface="Times New Roman"/>
                          <a:cs typeface="Times New Roman"/>
                        </a:rPr>
                        <a:t>Determinist </a:t>
                      </a:r>
                      <a:r>
                        <a:rPr sz="1500" spc="-25" dirty="0">
                          <a:latin typeface="Times New Roman"/>
                          <a:cs typeface="Times New Roman"/>
                        </a:rPr>
                        <a:t>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Episodic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20" dirty="0">
                          <a:latin typeface="Times New Roman"/>
                          <a:cs typeface="Times New Roman"/>
                        </a:rPr>
                        <a:t>Semi</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Discrete</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spc="-10" dirty="0">
                          <a:latin typeface="Times New Roman"/>
                          <a:cs typeface="Times New Roman"/>
                        </a:rPr>
                        <a:t>Single</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569278">
                <a:tc>
                  <a:txBody>
                    <a:bodyPr/>
                    <a:lstStyle/>
                    <a:p>
                      <a:pPr marL="92075" marR="427355">
                        <a:lnSpc>
                          <a:spcPct val="100000"/>
                        </a:lnSpc>
                        <a:spcBef>
                          <a:spcPts val="320"/>
                        </a:spcBef>
                      </a:pPr>
                      <a:r>
                        <a:rPr sz="1500" dirty="0">
                          <a:latin typeface="Times New Roman"/>
                          <a:cs typeface="Times New Roman"/>
                        </a:rPr>
                        <a:t>Robot</a:t>
                      </a:r>
                      <a:r>
                        <a:rPr sz="1500" spc="-35" dirty="0">
                          <a:latin typeface="Times New Roman"/>
                          <a:cs typeface="Times New Roman"/>
                        </a:rPr>
                        <a:t> </a:t>
                      </a:r>
                      <a:r>
                        <a:rPr sz="1500" spc="-20" dirty="0">
                          <a:latin typeface="Times New Roman"/>
                          <a:cs typeface="Times New Roman"/>
                        </a:rPr>
                        <a:t>part </a:t>
                      </a:r>
                      <a:r>
                        <a:rPr sz="1500" spc="-10" dirty="0">
                          <a:latin typeface="Times New Roman"/>
                          <a:cs typeface="Times New Roman"/>
                        </a:rPr>
                        <a:t>picking</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Fully</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marR="84455">
                        <a:lnSpc>
                          <a:spcPct val="100000"/>
                        </a:lnSpc>
                        <a:spcBef>
                          <a:spcPts val="320"/>
                        </a:spcBef>
                      </a:pPr>
                      <a:r>
                        <a:rPr sz="1500" spc="-10" dirty="0">
                          <a:latin typeface="Times New Roman"/>
                          <a:cs typeface="Times New Roman"/>
                        </a:rPr>
                        <a:t>Determinist </a:t>
                      </a:r>
                      <a:r>
                        <a:rPr sz="1500" spc="-25" dirty="0">
                          <a:latin typeface="Times New Roman"/>
                          <a:cs typeface="Times New Roman"/>
                        </a:rPr>
                        <a:t>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Episodic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20" dirty="0">
                          <a:latin typeface="Times New Roman"/>
                          <a:cs typeface="Times New Roman"/>
                        </a:rPr>
                        <a:t>Semi</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Discrete</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spc="-10" dirty="0">
                          <a:latin typeface="Times New Roman"/>
                          <a:cs typeface="Times New Roman"/>
                        </a:rPr>
                        <a:t>Single</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569975">
                <a:tc>
                  <a:txBody>
                    <a:bodyPr/>
                    <a:lstStyle/>
                    <a:p>
                      <a:pPr marL="92075" marR="259715">
                        <a:lnSpc>
                          <a:spcPct val="100000"/>
                        </a:lnSpc>
                        <a:spcBef>
                          <a:spcPts val="325"/>
                        </a:spcBef>
                      </a:pPr>
                      <a:r>
                        <a:rPr sz="1500" spc="-10" dirty="0">
                          <a:latin typeface="Times New Roman"/>
                          <a:cs typeface="Times New Roman"/>
                        </a:rPr>
                        <a:t>Interactive </a:t>
                      </a:r>
                      <a:r>
                        <a:rPr sz="1500" dirty="0">
                          <a:latin typeface="Times New Roman"/>
                          <a:cs typeface="Times New Roman"/>
                        </a:rPr>
                        <a:t>English</a:t>
                      </a:r>
                      <a:r>
                        <a:rPr sz="1500" spc="-65" dirty="0">
                          <a:latin typeface="Times New Roman"/>
                          <a:cs typeface="Times New Roman"/>
                        </a:rPr>
                        <a:t> </a:t>
                      </a:r>
                      <a:r>
                        <a:rPr sz="1500" spc="-20" dirty="0">
                          <a:latin typeface="Times New Roman"/>
                          <a:cs typeface="Times New Roman"/>
                        </a:rPr>
                        <a:t>tutor</a:t>
                      </a:r>
                      <a:endParaRPr sz="1500" dirty="0">
                        <a:latin typeface="Times New Roman"/>
                        <a:cs typeface="Times New Roman"/>
                      </a:endParaRPr>
                    </a:p>
                  </a:txBody>
                  <a:tcPr marL="0" marR="0" marT="4540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93599">
                <a:tc gridSpan="7">
                  <a:txBody>
                    <a:bodyPr/>
                    <a:lstStyle/>
                    <a:p>
                      <a:pPr>
                        <a:lnSpc>
                          <a:spcPct val="100000"/>
                        </a:lnSpc>
                      </a:pPr>
                      <a:endParaRPr sz="400" dirty="0">
                        <a:latin typeface="Times New Roman"/>
                        <a:cs typeface="Times New Roman"/>
                      </a:endParaRPr>
                    </a:p>
                  </a:txBody>
                  <a:tcPr marL="0" marR="0" marT="0" marB="0">
                    <a:lnT w="12700">
                      <a:solidFill>
                        <a:srgbClr val="000000"/>
                      </a:solidFill>
                      <a:prstDash val="solid"/>
                    </a:lnT>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7"/>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86365" y="1077470"/>
            <a:ext cx="8699846" cy="521938"/>
          </a:xfrm>
          <a:prstGeom prst="rect">
            <a:avLst/>
          </a:prstGeom>
        </p:spPr>
        <p:txBody>
          <a:bodyPr vert="horz" wrap="square" lIns="0" tIns="13970" rIns="0" bIns="0" rtlCol="0">
            <a:spAutoFit/>
          </a:bodyPr>
          <a:lstStyle/>
          <a:p>
            <a:pPr marL="32130">
              <a:spcBef>
                <a:spcPts val="110"/>
              </a:spcBef>
              <a:tabLst>
                <a:tab pos="8293989" algn="l"/>
              </a:tabLst>
            </a:pPr>
            <a:r>
              <a:rPr dirty="0"/>
              <a:t>2.</a:t>
            </a:r>
            <a:r>
              <a:rPr spc="-6" dirty="0"/>
              <a:t> </a:t>
            </a:r>
            <a:r>
              <a:rPr dirty="0"/>
              <a:t>How</a:t>
            </a:r>
            <a:r>
              <a:rPr spc="-209" dirty="0"/>
              <a:t> </a:t>
            </a:r>
            <a:r>
              <a:rPr dirty="0"/>
              <a:t>Agents</a:t>
            </a:r>
            <a:r>
              <a:rPr spc="6" dirty="0"/>
              <a:t> </a:t>
            </a:r>
            <a:r>
              <a:rPr spc="-11" dirty="0"/>
              <a:t>should</a:t>
            </a:r>
            <a:r>
              <a:rPr spc="-198" dirty="0"/>
              <a:t> </a:t>
            </a:r>
            <a:r>
              <a:rPr spc="-22" dirty="0"/>
              <a:t>Act?</a:t>
            </a:r>
            <a:r>
              <a:rPr dirty="0"/>
              <a:t>	</a:t>
            </a:r>
            <a:endParaRPr spc="-11" dirty="0"/>
          </a:p>
        </p:txBody>
      </p:sp>
      <p:sp>
        <p:nvSpPr>
          <p:cNvPr id="3" name="object 3"/>
          <p:cNvSpPr txBox="1"/>
          <p:nvPr/>
        </p:nvSpPr>
        <p:spPr>
          <a:xfrm>
            <a:off x="147634" y="190639"/>
            <a:ext cx="9256522" cy="984693"/>
          </a:xfrm>
          <a:prstGeom prst="rect">
            <a:avLst/>
          </a:prstGeom>
        </p:spPr>
        <p:txBody>
          <a:bodyPr vert="horz" wrap="square" lIns="0" tIns="94298" rIns="0" bIns="0" rtlCol="0">
            <a:spAutoFit/>
          </a:bodyPr>
          <a:lstStyle/>
          <a:p>
            <a:pPr algn="ctr">
              <a:spcBef>
                <a:spcPts val="743"/>
              </a:spcBef>
            </a:pPr>
            <a:r>
              <a:rPr sz="2640" b="1" dirty="0">
                <a:latin typeface="Times New Roman"/>
                <a:cs typeface="Times New Roman"/>
              </a:rPr>
              <a:t>2.2:-</a:t>
            </a:r>
            <a:r>
              <a:rPr sz="2640" b="1" spc="-72" dirty="0">
                <a:latin typeface="Times New Roman"/>
                <a:cs typeface="Times New Roman"/>
              </a:rPr>
              <a:t> </a:t>
            </a:r>
            <a:r>
              <a:rPr sz="2640" b="1" u="sng" spc="-11" dirty="0">
                <a:uFill>
                  <a:solidFill>
                    <a:srgbClr val="000000"/>
                  </a:solidFill>
                </a:uFill>
                <a:latin typeface="Times New Roman"/>
                <a:cs typeface="Times New Roman"/>
              </a:rPr>
              <a:t>Environment</a:t>
            </a:r>
            <a:r>
              <a:rPr sz="2640" b="1" u="sng" spc="-38" dirty="0">
                <a:uFill>
                  <a:solidFill>
                    <a:srgbClr val="000000"/>
                  </a:solidFill>
                </a:uFill>
                <a:latin typeface="Times New Roman"/>
                <a:cs typeface="Times New Roman"/>
              </a:rPr>
              <a:t> </a:t>
            </a:r>
            <a:r>
              <a:rPr sz="2640" b="1" u="sng" dirty="0">
                <a:uFill>
                  <a:solidFill>
                    <a:srgbClr val="000000"/>
                  </a:solidFill>
                </a:uFill>
                <a:latin typeface="Times New Roman"/>
                <a:cs typeface="Times New Roman"/>
              </a:rPr>
              <a:t>Parameters</a:t>
            </a:r>
            <a:r>
              <a:rPr sz="2640" b="1" u="sng" spc="-55" dirty="0">
                <a:uFill>
                  <a:solidFill>
                    <a:srgbClr val="000000"/>
                  </a:solidFill>
                </a:uFill>
                <a:latin typeface="Times New Roman"/>
                <a:cs typeface="Times New Roman"/>
              </a:rPr>
              <a:t> </a:t>
            </a:r>
            <a:r>
              <a:rPr sz="2640" b="1" u="sng" spc="-11" dirty="0">
                <a:uFill>
                  <a:solidFill>
                    <a:srgbClr val="000000"/>
                  </a:solidFill>
                </a:uFill>
                <a:latin typeface="Times New Roman"/>
                <a:cs typeface="Times New Roman"/>
              </a:rPr>
              <a:t>for</a:t>
            </a:r>
            <a:r>
              <a:rPr sz="2640" b="1" u="sng" spc="-204" dirty="0">
                <a:uFill>
                  <a:solidFill>
                    <a:srgbClr val="000000"/>
                  </a:solidFill>
                </a:uFill>
                <a:latin typeface="Times New Roman"/>
                <a:cs typeface="Times New Roman"/>
              </a:rPr>
              <a:t> </a:t>
            </a:r>
            <a:r>
              <a:rPr sz="2640" b="1" u="sng" dirty="0">
                <a:uFill>
                  <a:solidFill>
                    <a:srgbClr val="000000"/>
                  </a:solidFill>
                </a:uFill>
                <a:latin typeface="Times New Roman"/>
                <a:cs typeface="Times New Roman"/>
              </a:rPr>
              <a:t>Agents</a:t>
            </a:r>
            <a:r>
              <a:rPr sz="2640" b="1" u="sng" spc="-28" dirty="0">
                <a:uFill>
                  <a:solidFill>
                    <a:srgbClr val="000000"/>
                  </a:solidFill>
                </a:uFill>
                <a:latin typeface="Times New Roman"/>
                <a:cs typeface="Times New Roman"/>
              </a:rPr>
              <a:t> </a:t>
            </a:r>
            <a:r>
              <a:rPr sz="2640" b="1" u="sng" dirty="0">
                <a:uFill>
                  <a:solidFill>
                    <a:srgbClr val="000000"/>
                  </a:solidFill>
                </a:uFill>
                <a:latin typeface="Times New Roman"/>
                <a:cs typeface="Times New Roman"/>
              </a:rPr>
              <a:t>to</a:t>
            </a:r>
            <a:r>
              <a:rPr sz="2640" b="1" u="sng" spc="-33" dirty="0">
                <a:uFill>
                  <a:solidFill>
                    <a:srgbClr val="000000"/>
                  </a:solidFill>
                </a:uFill>
                <a:latin typeface="Times New Roman"/>
                <a:cs typeface="Times New Roman"/>
              </a:rPr>
              <a:t> </a:t>
            </a:r>
            <a:r>
              <a:rPr sz="2640" b="1" u="sng" dirty="0">
                <a:uFill>
                  <a:solidFill>
                    <a:srgbClr val="000000"/>
                  </a:solidFill>
                </a:uFill>
                <a:latin typeface="Times New Roman"/>
                <a:cs typeface="Times New Roman"/>
              </a:rPr>
              <a:t>perform</a:t>
            </a:r>
            <a:r>
              <a:rPr sz="2640" b="1" u="sng" spc="-44" dirty="0">
                <a:uFill>
                  <a:solidFill>
                    <a:srgbClr val="000000"/>
                  </a:solidFill>
                </a:uFill>
                <a:latin typeface="Times New Roman"/>
                <a:cs typeface="Times New Roman"/>
              </a:rPr>
              <a:t> </a:t>
            </a:r>
            <a:r>
              <a:rPr sz="2640" b="1" u="sng" spc="-11" dirty="0">
                <a:uFill>
                  <a:solidFill>
                    <a:srgbClr val="000000"/>
                  </a:solidFill>
                </a:uFill>
                <a:latin typeface="Times New Roman"/>
                <a:cs typeface="Times New Roman"/>
              </a:rPr>
              <a:t>accurately</a:t>
            </a:r>
            <a:r>
              <a:rPr sz="2640" spc="-11" dirty="0">
                <a:latin typeface="Times New Roman"/>
                <a:cs typeface="Times New Roman"/>
              </a:rPr>
              <a:t>:</a:t>
            </a:r>
            <a:endParaRPr sz="2640" dirty="0">
              <a:latin typeface="Times New Roman"/>
              <a:cs typeface="Times New Roman"/>
            </a:endParaRPr>
          </a:p>
          <a:p>
            <a:pPr marR="296863" algn="ctr">
              <a:spcBef>
                <a:spcPts val="633"/>
              </a:spcBef>
            </a:pPr>
            <a:r>
              <a:rPr sz="2640" spc="-11" dirty="0">
                <a:latin typeface="Times New Roman"/>
                <a:cs typeface="Times New Roman"/>
              </a:rPr>
              <a:t>(Examples)</a:t>
            </a:r>
            <a:endParaRPr sz="2640" dirty="0">
              <a:latin typeface="Times New Roman"/>
              <a:cs typeface="Times New Roman"/>
            </a:endParaRPr>
          </a:p>
        </p:txBody>
      </p:sp>
      <p:sp>
        <p:nvSpPr>
          <p:cNvPr id="4" name="object 4"/>
          <p:cNvSpPr txBox="1"/>
          <p:nvPr/>
        </p:nvSpPr>
        <p:spPr>
          <a:xfrm>
            <a:off x="147634" y="3859097"/>
            <a:ext cx="2291080" cy="3400354"/>
          </a:xfrm>
          <a:prstGeom prst="rect">
            <a:avLst/>
          </a:prstGeom>
        </p:spPr>
        <p:txBody>
          <a:bodyPr vert="horz" wrap="square" lIns="0" tIns="14669" rIns="0" bIns="0" rtlCol="0">
            <a:spAutoFit/>
          </a:bodyPr>
          <a:lstStyle/>
          <a:p>
            <a:pPr marL="13970" marR="5588">
              <a:spcBef>
                <a:spcPts val="116"/>
              </a:spcBef>
            </a:pPr>
            <a:r>
              <a:rPr sz="2200" dirty="0">
                <a:latin typeface="Times New Roman"/>
                <a:cs typeface="Times New Roman"/>
              </a:rPr>
              <a:t>Fully</a:t>
            </a:r>
            <a:r>
              <a:rPr sz="2200" spc="-11" dirty="0">
                <a:latin typeface="Times New Roman"/>
                <a:cs typeface="Times New Roman"/>
              </a:rPr>
              <a:t> </a:t>
            </a:r>
            <a:r>
              <a:rPr sz="2200" dirty="0">
                <a:latin typeface="Times New Roman"/>
                <a:cs typeface="Times New Roman"/>
              </a:rPr>
              <a:t>observable</a:t>
            </a:r>
            <a:r>
              <a:rPr sz="2200" spc="-44" dirty="0">
                <a:latin typeface="Times New Roman"/>
                <a:cs typeface="Times New Roman"/>
              </a:rPr>
              <a:t> </a:t>
            </a:r>
            <a:r>
              <a:rPr sz="2200" spc="-28" dirty="0">
                <a:latin typeface="Times New Roman"/>
                <a:cs typeface="Times New Roman"/>
              </a:rPr>
              <a:t>vs. </a:t>
            </a:r>
            <a:r>
              <a:rPr sz="2200" dirty="0">
                <a:latin typeface="Times New Roman"/>
                <a:cs typeface="Times New Roman"/>
              </a:rPr>
              <a:t>partially</a:t>
            </a:r>
            <a:r>
              <a:rPr sz="2200" spc="-44" dirty="0">
                <a:latin typeface="Times New Roman"/>
                <a:cs typeface="Times New Roman"/>
              </a:rPr>
              <a:t> </a:t>
            </a:r>
            <a:r>
              <a:rPr sz="2200" spc="-11" dirty="0">
                <a:latin typeface="Times New Roman"/>
                <a:cs typeface="Times New Roman"/>
              </a:rPr>
              <a:t>observable </a:t>
            </a:r>
            <a:r>
              <a:rPr sz="2200" dirty="0">
                <a:latin typeface="Times New Roman"/>
                <a:cs typeface="Times New Roman"/>
              </a:rPr>
              <a:t>Deterministic</a:t>
            </a:r>
            <a:r>
              <a:rPr sz="2200" spc="-83" dirty="0">
                <a:latin typeface="Times New Roman"/>
                <a:cs typeface="Times New Roman"/>
              </a:rPr>
              <a:t> </a:t>
            </a:r>
            <a:r>
              <a:rPr sz="2200" spc="-28" dirty="0">
                <a:latin typeface="Times New Roman"/>
                <a:cs typeface="Times New Roman"/>
              </a:rPr>
              <a:t>vs. </a:t>
            </a:r>
            <a:r>
              <a:rPr sz="2200" dirty="0">
                <a:latin typeface="Times New Roman"/>
                <a:cs typeface="Times New Roman"/>
              </a:rPr>
              <a:t>stochastic</a:t>
            </a:r>
            <a:r>
              <a:rPr sz="2200" spc="-44" dirty="0">
                <a:latin typeface="Times New Roman"/>
                <a:cs typeface="Times New Roman"/>
              </a:rPr>
              <a:t> </a:t>
            </a:r>
            <a:r>
              <a:rPr sz="2200" dirty="0">
                <a:latin typeface="Times New Roman"/>
                <a:cs typeface="Times New Roman"/>
              </a:rPr>
              <a:t>/</a:t>
            </a:r>
            <a:r>
              <a:rPr sz="2200" spc="-11" dirty="0">
                <a:latin typeface="Times New Roman"/>
                <a:cs typeface="Times New Roman"/>
              </a:rPr>
              <a:t> strategic </a:t>
            </a:r>
            <a:r>
              <a:rPr sz="2200" dirty="0">
                <a:latin typeface="Times New Roman"/>
                <a:cs typeface="Times New Roman"/>
              </a:rPr>
              <a:t>Episodic</a:t>
            </a:r>
            <a:r>
              <a:rPr sz="2200" spc="-38" dirty="0">
                <a:latin typeface="Times New Roman"/>
                <a:cs typeface="Times New Roman"/>
              </a:rPr>
              <a:t> </a:t>
            </a:r>
            <a:r>
              <a:rPr sz="2200" spc="-28" dirty="0">
                <a:latin typeface="Times New Roman"/>
                <a:cs typeface="Times New Roman"/>
              </a:rPr>
              <a:t>vs. </a:t>
            </a:r>
            <a:r>
              <a:rPr sz="2200" spc="-11" dirty="0">
                <a:latin typeface="Times New Roman"/>
                <a:cs typeface="Times New Roman"/>
              </a:rPr>
              <a:t>sequential</a:t>
            </a:r>
            <a:endParaRPr sz="2200">
              <a:latin typeface="Times New Roman"/>
              <a:cs typeface="Times New Roman"/>
            </a:endParaRPr>
          </a:p>
          <a:p>
            <a:pPr marL="13970" marR="214440"/>
            <a:r>
              <a:rPr sz="2200" dirty="0">
                <a:latin typeface="Times New Roman"/>
                <a:cs typeface="Times New Roman"/>
              </a:rPr>
              <a:t>Static</a:t>
            </a:r>
            <a:r>
              <a:rPr sz="2200" spc="-28" dirty="0">
                <a:latin typeface="Times New Roman"/>
                <a:cs typeface="Times New Roman"/>
              </a:rPr>
              <a:t> </a:t>
            </a:r>
            <a:r>
              <a:rPr sz="2200" dirty="0">
                <a:latin typeface="Times New Roman"/>
                <a:cs typeface="Times New Roman"/>
              </a:rPr>
              <a:t>vs.</a:t>
            </a:r>
            <a:r>
              <a:rPr sz="2200" spc="-28" dirty="0">
                <a:latin typeface="Times New Roman"/>
                <a:cs typeface="Times New Roman"/>
              </a:rPr>
              <a:t> </a:t>
            </a:r>
            <a:r>
              <a:rPr sz="2200" spc="-11" dirty="0">
                <a:latin typeface="Times New Roman"/>
                <a:cs typeface="Times New Roman"/>
              </a:rPr>
              <a:t>dynamic </a:t>
            </a:r>
            <a:r>
              <a:rPr sz="2200" dirty="0">
                <a:latin typeface="Times New Roman"/>
                <a:cs typeface="Times New Roman"/>
              </a:rPr>
              <a:t>Discrete</a:t>
            </a:r>
            <a:r>
              <a:rPr sz="2200" spc="-38" dirty="0">
                <a:latin typeface="Times New Roman"/>
                <a:cs typeface="Times New Roman"/>
              </a:rPr>
              <a:t> </a:t>
            </a:r>
            <a:r>
              <a:rPr sz="2200" spc="-28" dirty="0">
                <a:latin typeface="Times New Roman"/>
                <a:cs typeface="Times New Roman"/>
              </a:rPr>
              <a:t>vs. </a:t>
            </a:r>
            <a:r>
              <a:rPr sz="2200" spc="-11" dirty="0">
                <a:latin typeface="Times New Roman"/>
                <a:cs typeface="Times New Roman"/>
              </a:rPr>
              <a:t>continuous</a:t>
            </a:r>
            <a:endParaRPr sz="2200">
              <a:latin typeface="Times New Roman"/>
              <a:cs typeface="Times New Roman"/>
            </a:endParaRPr>
          </a:p>
          <a:p>
            <a:pPr marL="13970">
              <a:spcBef>
                <a:spcPts val="6"/>
              </a:spcBef>
            </a:pPr>
            <a:r>
              <a:rPr sz="2200" dirty="0">
                <a:latin typeface="Times New Roman"/>
                <a:cs typeface="Times New Roman"/>
              </a:rPr>
              <a:t>Single</a:t>
            </a:r>
            <a:r>
              <a:rPr sz="2200" spc="-22" dirty="0">
                <a:latin typeface="Times New Roman"/>
                <a:cs typeface="Times New Roman"/>
              </a:rPr>
              <a:t> </a:t>
            </a:r>
            <a:r>
              <a:rPr sz="2200" dirty="0">
                <a:latin typeface="Times New Roman"/>
                <a:cs typeface="Times New Roman"/>
              </a:rPr>
              <a:t>agent</a:t>
            </a:r>
            <a:r>
              <a:rPr sz="2200" spc="-17" dirty="0">
                <a:latin typeface="Times New Roman"/>
                <a:cs typeface="Times New Roman"/>
              </a:rPr>
              <a:t> </a:t>
            </a:r>
            <a:r>
              <a:rPr sz="2200" spc="-28" dirty="0">
                <a:latin typeface="Times New Roman"/>
                <a:cs typeface="Times New Roman"/>
              </a:rPr>
              <a:t>vs.</a:t>
            </a:r>
            <a:endParaRPr sz="2200">
              <a:latin typeface="Times New Roman"/>
              <a:cs typeface="Times New Roman"/>
            </a:endParaRPr>
          </a:p>
        </p:txBody>
      </p:sp>
      <p:sp>
        <p:nvSpPr>
          <p:cNvPr id="5" name="object 5"/>
          <p:cNvSpPr txBox="1"/>
          <p:nvPr/>
        </p:nvSpPr>
        <p:spPr>
          <a:xfrm>
            <a:off x="147635" y="7212624"/>
            <a:ext cx="1221677" cy="352661"/>
          </a:xfrm>
          <a:prstGeom prst="rect">
            <a:avLst/>
          </a:prstGeom>
        </p:spPr>
        <p:txBody>
          <a:bodyPr vert="horz" wrap="square" lIns="0" tIns="13970" rIns="0" bIns="0" rtlCol="0">
            <a:spAutoFit/>
          </a:bodyPr>
          <a:lstStyle/>
          <a:p>
            <a:pPr marL="13970">
              <a:spcBef>
                <a:spcPts val="110"/>
              </a:spcBef>
            </a:pPr>
            <a:r>
              <a:rPr sz="2200" spc="-11" dirty="0">
                <a:latin typeface="Times New Roman"/>
                <a:cs typeface="Times New Roman"/>
              </a:rPr>
              <a:t>multiagent</a:t>
            </a:r>
            <a:endParaRPr sz="2200">
              <a:latin typeface="Times New Roman"/>
              <a:cs typeface="Times New Roman"/>
            </a:endParaRPr>
          </a:p>
        </p:txBody>
      </p:sp>
      <p:pic>
        <p:nvPicPr>
          <p:cNvPr id="6" name="object 6"/>
          <p:cNvPicPr/>
          <p:nvPr/>
        </p:nvPicPr>
        <p:blipFill>
          <a:blip r:embed="rId2" cstate="print"/>
          <a:stretch>
            <a:fillRect/>
          </a:stretch>
        </p:blipFill>
        <p:spPr>
          <a:xfrm>
            <a:off x="186079" y="2456230"/>
            <a:ext cx="2056943" cy="1376324"/>
          </a:xfrm>
          <a:prstGeom prst="rect">
            <a:avLst/>
          </a:prstGeom>
        </p:spPr>
      </p:pic>
      <p:grpSp>
        <p:nvGrpSpPr>
          <p:cNvPr id="7" name="object 7"/>
          <p:cNvGrpSpPr/>
          <p:nvPr/>
        </p:nvGrpSpPr>
        <p:grpSpPr>
          <a:xfrm>
            <a:off x="2507894" y="2456230"/>
            <a:ext cx="1440307" cy="1993518"/>
            <a:chOff x="2279904" y="2129027"/>
            <a:chExt cx="1309370" cy="1812289"/>
          </a:xfrm>
        </p:grpSpPr>
        <p:pic>
          <p:nvPicPr>
            <p:cNvPr id="8" name="object 8"/>
            <p:cNvPicPr/>
            <p:nvPr/>
          </p:nvPicPr>
          <p:blipFill>
            <a:blip r:embed="rId3" cstate="print"/>
            <a:stretch>
              <a:fillRect/>
            </a:stretch>
          </p:blipFill>
          <p:spPr>
            <a:xfrm>
              <a:off x="2279904" y="2129027"/>
              <a:ext cx="1199388" cy="403860"/>
            </a:xfrm>
            <a:prstGeom prst="rect">
              <a:avLst/>
            </a:prstGeom>
          </p:spPr>
        </p:pic>
        <p:pic>
          <p:nvPicPr>
            <p:cNvPr id="9" name="object 9"/>
            <p:cNvPicPr/>
            <p:nvPr/>
          </p:nvPicPr>
          <p:blipFill>
            <a:blip r:embed="rId4" cstate="print"/>
            <a:stretch>
              <a:fillRect/>
            </a:stretch>
          </p:blipFill>
          <p:spPr>
            <a:xfrm>
              <a:off x="2279904" y="2342387"/>
              <a:ext cx="632459" cy="403860"/>
            </a:xfrm>
            <a:prstGeom prst="rect">
              <a:avLst/>
            </a:prstGeom>
          </p:spPr>
        </p:pic>
        <p:pic>
          <p:nvPicPr>
            <p:cNvPr id="10" name="object 10"/>
            <p:cNvPicPr/>
            <p:nvPr/>
          </p:nvPicPr>
          <p:blipFill>
            <a:blip r:embed="rId5" cstate="print"/>
            <a:stretch>
              <a:fillRect/>
            </a:stretch>
          </p:blipFill>
          <p:spPr>
            <a:xfrm>
              <a:off x="2279904" y="2647187"/>
              <a:ext cx="1118616" cy="403860"/>
            </a:xfrm>
            <a:prstGeom prst="rect">
              <a:avLst/>
            </a:prstGeom>
          </p:spPr>
        </p:pic>
        <p:pic>
          <p:nvPicPr>
            <p:cNvPr id="11" name="object 11"/>
            <p:cNvPicPr/>
            <p:nvPr/>
          </p:nvPicPr>
          <p:blipFill>
            <a:blip r:embed="rId6" cstate="print"/>
            <a:stretch>
              <a:fillRect/>
            </a:stretch>
          </p:blipFill>
          <p:spPr>
            <a:xfrm>
              <a:off x="2279904" y="3019044"/>
              <a:ext cx="871728" cy="403860"/>
            </a:xfrm>
            <a:prstGeom prst="rect">
              <a:avLst/>
            </a:prstGeom>
          </p:spPr>
        </p:pic>
        <p:pic>
          <p:nvPicPr>
            <p:cNvPr id="12" name="object 12"/>
            <p:cNvPicPr/>
            <p:nvPr/>
          </p:nvPicPr>
          <p:blipFill>
            <a:blip r:embed="rId7" cstate="print"/>
            <a:stretch>
              <a:fillRect/>
            </a:stretch>
          </p:blipFill>
          <p:spPr>
            <a:xfrm>
              <a:off x="2279904" y="3232403"/>
              <a:ext cx="922019" cy="403860"/>
            </a:xfrm>
            <a:prstGeom prst="rect">
              <a:avLst/>
            </a:prstGeom>
          </p:spPr>
        </p:pic>
        <p:pic>
          <p:nvPicPr>
            <p:cNvPr id="13" name="object 13"/>
            <p:cNvPicPr/>
            <p:nvPr/>
          </p:nvPicPr>
          <p:blipFill>
            <a:blip r:embed="rId8" cstate="print"/>
            <a:stretch>
              <a:fillRect/>
            </a:stretch>
          </p:blipFill>
          <p:spPr>
            <a:xfrm>
              <a:off x="2279904" y="3537203"/>
              <a:ext cx="1309116" cy="403860"/>
            </a:xfrm>
            <a:prstGeom prst="rect">
              <a:avLst/>
            </a:prstGeom>
          </p:spPr>
        </p:pic>
      </p:grpSp>
      <p:grpSp>
        <p:nvGrpSpPr>
          <p:cNvPr id="14" name="object 14"/>
          <p:cNvGrpSpPr/>
          <p:nvPr/>
        </p:nvGrpSpPr>
        <p:grpSpPr>
          <a:xfrm>
            <a:off x="2532063" y="4575200"/>
            <a:ext cx="1263587" cy="1248918"/>
            <a:chOff x="2301875" y="4055364"/>
            <a:chExt cx="1148715" cy="1135380"/>
          </a:xfrm>
        </p:grpSpPr>
        <p:pic>
          <p:nvPicPr>
            <p:cNvPr id="15" name="object 15"/>
            <p:cNvPicPr/>
            <p:nvPr/>
          </p:nvPicPr>
          <p:blipFill>
            <a:blip r:embed="rId9" cstate="print"/>
            <a:stretch>
              <a:fillRect/>
            </a:stretch>
          </p:blipFill>
          <p:spPr>
            <a:xfrm>
              <a:off x="2301875" y="4055364"/>
              <a:ext cx="1021969" cy="403860"/>
            </a:xfrm>
            <a:prstGeom prst="rect">
              <a:avLst/>
            </a:prstGeom>
          </p:spPr>
        </p:pic>
        <p:pic>
          <p:nvPicPr>
            <p:cNvPr id="16" name="object 16"/>
            <p:cNvPicPr/>
            <p:nvPr/>
          </p:nvPicPr>
          <p:blipFill>
            <a:blip r:embed="rId10" cstate="print"/>
            <a:stretch>
              <a:fillRect/>
            </a:stretch>
          </p:blipFill>
          <p:spPr>
            <a:xfrm>
              <a:off x="2301875" y="4268724"/>
              <a:ext cx="759841" cy="403860"/>
            </a:xfrm>
            <a:prstGeom prst="rect">
              <a:avLst/>
            </a:prstGeom>
          </p:spPr>
        </p:pic>
        <p:pic>
          <p:nvPicPr>
            <p:cNvPr id="17" name="object 17"/>
            <p:cNvPicPr/>
            <p:nvPr/>
          </p:nvPicPr>
          <p:blipFill>
            <a:blip r:embed="rId11" cstate="print"/>
            <a:stretch>
              <a:fillRect/>
            </a:stretch>
          </p:blipFill>
          <p:spPr>
            <a:xfrm>
              <a:off x="2301875" y="4573524"/>
              <a:ext cx="1026541" cy="403860"/>
            </a:xfrm>
            <a:prstGeom prst="rect">
              <a:avLst/>
            </a:prstGeom>
          </p:spPr>
        </p:pic>
        <p:pic>
          <p:nvPicPr>
            <p:cNvPr id="18" name="object 18"/>
            <p:cNvPicPr/>
            <p:nvPr/>
          </p:nvPicPr>
          <p:blipFill>
            <a:blip r:embed="rId12" cstate="print"/>
            <a:stretch>
              <a:fillRect/>
            </a:stretch>
          </p:blipFill>
          <p:spPr>
            <a:xfrm>
              <a:off x="2301875" y="4786884"/>
              <a:ext cx="1148461" cy="403860"/>
            </a:xfrm>
            <a:prstGeom prst="rect">
              <a:avLst/>
            </a:prstGeom>
          </p:spPr>
        </p:pic>
      </p:grpSp>
      <p:graphicFrame>
        <p:nvGraphicFramePr>
          <p:cNvPr id="19" name="object 19"/>
          <p:cNvGraphicFramePr>
            <a:graphicFrameLocks noGrp="1"/>
          </p:cNvGraphicFramePr>
          <p:nvPr/>
        </p:nvGraphicFramePr>
        <p:xfrm>
          <a:off x="2525077" y="1895476"/>
          <a:ext cx="7464171" cy="3919281"/>
        </p:xfrm>
        <a:graphic>
          <a:graphicData uri="http://schemas.openxmlformats.org/drawingml/2006/table">
            <a:tbl>
              <a:tblPr firstRow="1" bandRow="1">
                <a:tableStyleId>{2D5ABB26-0587-4C30-8999-92F81FD0307C}</a:tableStyleId>
              </a:tblPr>
              <a:tblGrid>
                <a:gridCol w="1411669">
                  <a:extLst>
                    <a:ext uri="{9D8B030D-6E8A-4147-A177-3AD203B41FA5}">
                      <a16:colId xmlns:a16="http://schemas.microsoft.com/office/drawing/2014/main" val="20000"/>
                    </a:ext>
                  </a:extLst>
                </a:gridCol>
                <a:gridCol w="886397">
                  <a:extLst>
                    <a:ext uri="{9D8B030D-6E8A-4147-A177-3AD203B41FA5}">
                      <a16:colId xmlns:a16="http://schemas.microsoft.com/office/drawing/2014/main" val="20001"/>
                    </a:ext>
                  </a:extLst>
                </a:gridCol>
                <a:gridCol w="1128078">
                  <a:extLst>
                    <a:ext uri="{9D8B030D-6E8A-4147-A177-3AD203B41FA5}">
                      <a16:colId xmlns:a16="http://schemas.microsoft.com/office/drawing/2014/main" val="20002"/>
                    </a:ext>
                  </a:extLst>
                </a:gridCol>
                <a:gridCol w="1128078">
                  <a:extLst>
                    <a:ext uri="{9D8B030D-6E8A-4147-A177-3AD203B41FA5}">
                      <a16:colId xmlns:a16="http://schemas.microsoft.com/office/drawing/2014/main" val="20003"/>
                    </a:ext>
                  </a:extLst>
                </a:gridCol>
                <a:gridCol w="966723">
                  <a:extLst>
                    <a:ext uri="{9D8B030D-6E8A-4147-A177-3AD203B41FA5}">
                      <a16:colId xmlns:a16="http://schemas.microsoft.com/office/drawing/2014/main" val="20004"/>
                    </a:ext>
                  </a:extLst>
                </a:gridCol>
                <a:gridCol w="1128078">
                  <a:extLst>
                    <a:ext uri="{9D8B030D-6E8A-4147-A177-3AD203B41FA5}">
                      <a16:colId xmlns:a16="http://schemas.microsoft.com/office/drawing/2014/main" val="20005"/>
                    </a:ext>
                  </a:extLst>
                </a:gridCol>
                <a:gridCol w="815148">
                  <a:extLst>
                    <a:ext uri="{9D8B030D-6E8A-4147-A177-3AD203B41FA5}">
                      <a16:colId xmlns:a16="http://schemas.microsoft.com/office/drawing/2014/main" val="20006"/>
                    </a:ext>
                  </a:extLst>
                </a:gridCol>
              </a:tblGrid>
              <a:tr h="569975">
                <a:tc>
                  <a:txBody>
                    <a:bodyPr/>
                    <a:lstStyle/>
                    <a:p>
                      <a:pPr marL="92075">
                        <a:lnSpc>
                          <a:spcPct val="100000"/>
                        </a:lnSpc>
                        <a:spcBef>
                          <a:spcPts val="320"/>
                        </a:spcBef>
                      </a:pPr>
                      <a:r>
                        <a:rPr sz="1500" b="1" spc="-10" dirty="0">
                          <a:latin typeface="Times New Roman"/>
                          <a:cs typeface="Times New Roman"/>
                        </a:rPr>
                        <a:t>Environments</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marR="150495">
                        <a:lnSpc>
                          <a:spcPct val="100000"/>
                        </a:lnSpc>
                        <a:spcBef>
                          <a:spcPts val="320"/>
                        </a:spcBef>
                      </a:pPr>
                      <a:r>
                        <a:rPr sz="1500" b="1" spc="-10" dirty="0">
                          <a:latin typeface="Times New Roman"/>
                          <a:cs typeface="Times New Roman"/>
                        </a:rPr>
                        <a:t>Observ </a:t>
                      </a:r>
                      <a:r>
                        <a:rPr sz="1500" b="1" spc="-20" dirty="0">
                          <a:latin typeface="Times New Roman"/>
                          <a:cs typeface="Times New Roman"/>
                        </a:rPr>
                        <a:t>able</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marR="85090">
                        <a:lnSpc>
                          <a:spcPct val="100000"/>
                        </a:lnSpc>
                        <a:spcBef>
                          <a:spcPts val="320"/>
                        </a:spcBef>
                      </a:pPr>
                      <a:r>
                        <a:rPr sz="1500" b="1" spc="-10" dirty="0">
                          <a:latin typeface="Times New Roman"/>
                          <a:cs typeface="Times New Roman"/>
                        </a:rPr>
                        <a:t>Determinis </a:t>
                      </a:r>
                      <a:r>
                        <a:rPr sz="1500" b="1" spc="-25" dirty="0">
                          <a:latin typeface="Times New Roman"/>
                          <a:cs typeface="Times New Roman"/>
                        </a:rPr>
                        <a:t>tic</a:t>
                      </a:r>
                      <a:endParaRPr sz="1500" dirty="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b="1" spc="-10" dirty="0">
                          <a:latin typeface="Times New Roman"/>
                          <a:cs typeface="Times New Roman"/>
                        </a:rPr>
                        <a:t>Episodic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b="1" spc="-10" dirty="0">
                          <a:latin typeface="Times New Roman"/>
                          <a:cs typeface="Times New Roman"/>
                        </a:rPr>
                        <a:t>Static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b="1" spc="-10" dirty="0">
                          <a:latin typeface="Times New Roman"/>
                          <a:cs typeface="Times New Roman"/>
                        </a:rPr>
                        <a:t>Discrete</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b="1" spc="-10" dirty="0">
                          <a:latin typeface="Times New Roman"/>
                          <a:cs typeface="Times New Roman"/>
                        </a:rPr>
                        <a:t>Agents</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569975">
                <a:tc>
                  <a:txBody>
                    <a:bodyPr/>
                    <a:lstStyle/>
                    <a:p>
                      <a:pPr marL="92075" marR="273050">
                        <a:lnSpc>
                          <a:spcPct val="100000"/>
                        </a:lnSpc>
                        <a:spcBef>
                          <a:spcPts val="320"/>
                        </a:spcBef>
                      </a:pPr>
                      <a:r>
                        <a:rPr sz="1500" dirty="0">
                          <a:latin typeface="Times New Roman"/>
                          <a:cs typeface="Times New Roman"/>
                        </a:rPr>
                        <a:t>Chess</a:t>
                      </a:r>
                      <a:r>
                        <a:rPr sz="1500" spc="-30" dirty="0">
                          <a:latin typeface="Times New Roman"/>
                          <a:cs typeface="Times New Roman"/>
                        </a:rPr>
                        <a:t> </a:t>
                      </a:r>
                      <a:r>
                        <a:rPr sz="1500" dirty="0">
                          <a:latin typeface="Times New Roman"/>
                          <a:cs typeface="Times New Roman"/>
                        </a:rPr>
                        <a:t>with</a:t>
                      </a:r>
                      <a:r>
                        <a:rPr sz="1500" spc="-30" dirty="0">
                          <a:latin typeface="Times New Roman"/>
                          <a:cs typeface="Times New Roman"/>
                        </a:rPr>
                        <a:t> </a:t>
                      </a:r>
                      <a:r>
                        <a:rPr sz="1500" spc="-50" dirty="0">
                          <a:latin typeface="Times New Roman"/>
                          <a:cs typeface="Times New Roman"/>
                        </a:rPr>
                        <a:t>a </a:t>
                      </a:r>
                      <a:r>
                        <a:rPr sz="1500" spc="-20" dirty="0">
                          <a:latin typeface="Times New Roman"/>
                          <a:cs typeface="Times New Roman"/>
                        </a:rPr>
                        <a:t>clock</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Fully</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Strategic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Sequential</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spc="-20" dirty="0">
                          <a:latin typeface="Times New Roman"/>
                          <a:cs typeface="Times New Roman"/>
                        </a:rPr>
                        <a:t>Semi</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spc="-10" dirty="0">
                          <a:latin typeface="Times New Roman"/>
                          <a:cs typeface="Times New Roman"/>
                        </a:rPr>
                        <a:t>Discrete</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spc="-10" dirty="0">
                          <a:latin typeface="Times New Roman"/>
                          <a:cs typeface="Times New Roman"/>
                        </a:rPr>
                        <a:t>Multi</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407226">
                <a:tc>
                  <a:txBody>
                    <a:bodyPr/>
                    <a:lstStyle/>
                    <a:p>
                      <a:pPr marL="92075">
                        <a:lnSpc>
                          <a:spcPct val="100000"/>
                        </a:lnSpc>
                        <a:spcBef>
                          <a:spcPts val="320"/>
                        </a:spcBef>
                      </a:pPr>
                      <a:r>
                        <a:rPr sz="1500" spc="-10" dirty="0">
                          <a:latin typeface="Times New Roman"/>
                          <a:cs typeface="Times New Roman"/>
                        </a:rPr>
                        <a:t>Taxi</a:t>
                      </a:r>
                      <a:r>
                        <a:rPr sz="1500" spc="-80" dirty="0">
                          <a:latin typeface="Times New Roman"/>
                          <a:cs typeface="Times New Roman"/>
                        </a:rPr>
                        <a:t> </a:t>
                      </a:r>
                      <a:r>
                        <a:rPr sz="1500" spc="-10" dirty="0">
                          <a:latin typeface="Times New Roman"/>
                          <a:cs typeface="Times New Roman"/>
                        </a:rPr>
                        <a:t>driving</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Partial</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Stochastic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Sequential</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spc="-10" dirty="0">
                          <a:latin typeface="Times New Roman"/>
                          <a:cs typeface="Times New Roman"/>
                        </a:rPr>
                        <a:t>Dynamic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spc="-10" dirty="0">
                          <a:latin typeface="Times New Roman"/>
                          <a:cs typeface="Times New Roman"/>
                        </a:rPr>
                        <a:t>Continuous</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spc="-10" dirty="0">
                          <a:latin typeface="Times New Roman"/>
                          <a:cs typeface="Times New Roman"/>
                        </a:rPr>
                        <a:t>Single</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569975">
                <a:tc>
                  <a:txBody>
                    <a:bodyPr/>
                    <a:lstStyle/>
                    <a:p>
                      <a:pPr marL="92075" marR="506730">
                        <a:lnSpc>
                          <a:spcPct val="100000"/>
                        </a:lnSpc>
                        <a:spcBef>
                          <a:spcPts val="320"/>
                        </a:spcBef>
                      </a:pPr>
                      <a:r>
                        <a:rPr sz="1500" spc="-10" dirty="0">
                          <a:latin typeface="Times New Roman"/>
                          <a:cs typeface="Times New Roman"/>
                        </a:rPr>
                        <a:t>Medical diagnosis</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Partial</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Stochastic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Episodic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spc="-10" dirty="0">
                          <a:latin typeface="Times New Roman"/>
                          <a:cs typeface="Times New Roman"/>
                        </a:rPr>
                        <a:t>Static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spc="-10" dirty="0">
                          <a:latin typeface="Times New Roman"/>
                          <a:cs typeface="Times New Roman"/>
                        </a:rPr>
                        <a:t>Continuous</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spc="-10" dirty="0">
                          <a:latin typeface="Times New Roman"/>
                          <a:cs typeface="Times New Roman"/>
                        </a:rPr>
                        <a:t>Single</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569278">
                <a:tc>
                  <a:txBody>
                    <a:bodyPr/>
                    <a:lstStyle/>
                    <a:p>
                      <a:pPr marL="92075">
                        <a:lnSpc>
                          <a:spcPct val="100000"/>
                        </a:lnSpc>
                        <a:spcBef>
                          <a:spcPts val="320"/>
                        </a:spcBef>
                      </a:pPr>
                      <a:r>
                        <a:rPr sz="1500" dirty="0">
                          <a:latin typeface="Times New Roman"/>
                          <a:cs typeface="Times New Roman"/>
                        </a:rPr>
                        <a:t>Image</a:t>
                      </a:r>
                      <a:r>
                        <a:rPr sz="1500" spc="-25" dirty="0">
                          <a:latin typeface="Times New Roman"/>
                          <a:cs typeface="Times New Roman"/>
                        </a:rPr>
                        <a:t> </a:t>
                      </a:r>
                      <a:r>
                        <a:rPr sz="1500" spc="-10" dirty="0">
                          <a:latin typeface="Times New Roman"/>
                          <a:cs typeface="Times New Roman"/>
                        </a:rPr>
                        <a:t>analysis</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Fully</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marR="84455">
                        <a:lnSpc>
                          <a:spcPct val="100000"/>
                        </a:lnSpc>
                        <a:spcBef>
                          <a:spcPts val="320"/>
                        </a:spcBef>
                      </a:pPr>
                      <a:r>
                        <a:rPr sz="1500" spc="-10" dirty="0">
                          <a:latin typeface="Times New Roman"/>
                          <a:cs typeface="Times New Roman"/>
                        </a:rPr>
                        <a:t>Determinist </a:t>
                      </a:r>
                      <a:r>
                        <a:rPr sz="1500" spc="-25" dirty="0">
                          <a:latin typeface="Times New Roman"/>
                          <a:cs typeface="Times New Roman"/>
                        </a:rPr>
                        <a:t>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Episodic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spc="-20" dirty="0">
                          <a:latin typeface="Times New Roman"/>
                          <a:cs typeface="Times New Roman"/>
                        </a:rPr>
                        <a:t>Semi</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spc="-10" dirty="0">
                          <a:latin typeface="Times New Roman"/>
                          <a:cs typeface="Times New Roman"/>
                        </a:rPr>
                        <a:t>Discrete</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spc="-10" dirty="0">
                          <a:latin typeface="Times New Roman"/>
                          <a:cs typeface="Times New Roman"/>
                        </a:rPr>
                        <a:t>Single</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569278">
                <a:tc>
                  <a:txBody>
                    <a:bodyPr/>
                    <a:lstStyle/>
                    <a:p>
                      <a:pPr marL="92075" marR="426084">
                        <a:lnSpc>
                          <a:spcPct val="100000"/>
                        </a:lnSpc>
                        <a:spcBef>
                          <a:spcPts val="320"/>
                        </a:spcBef>
                      </a:pPr>
                      <a:r>
                        <a:rPr sz="1500" dirty="0">
                          <a:latin typeface="Times New Roman"/>
                          <a:cs typeface="Times New Roman"/>
                        </a:rPr>
                        <a:t>Robot</a:t>
                      </a:r>
                      <a:r>
                        <a:rPr sz="1500" spc="-35" dirty="0">
                          <a:latin typeface="Times New Roman"/>
                          <a:cs typeface="Times New Roman"/>
                        </a:rPr>
                        <a:t> </a:t>
                      </a:r>
                      <a:r>
                        <a:rPr sz="1500" spc="-20" dirty="0">
                          <a:latin typeface="Times New Roman"/>
                          <a:cs typeface="Times New Roman"/>
                        </a:rPr>
                        <a:t>part </a:t>
                      </a:r>
                      <a:r>
                        <a:rPr sz="1500" spc="-10" dirty="0">
                          <a:latin typeface="Times New Roman"/>
                          <a:cs typeface="Times New Roman"/>
                        </a:rPr>
                        <a:t>picking</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Fully</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marR="84455">
                        <a:lnSpc>
                          <a:spcPct val="100000"/>
                        </a:lnSpc>
                        <a:spcBef>
                          <a:spcPts val="320"/>
                        </a:spcBef>
                      </a:pPr>
                      <a:r>
                        <a:rPr sz="1500" spc="-10" dirty="0">
                          <a:latin typeface="Times New Roman"/>
                          <a:cs typeface="Times New Roman"/>
                        </a:rPr>
                        <a:t>Determinist </a:t>
                      </a:r>
                      <a:r>
                        <a:rPr sz="1500" spc="-25" dirty="0">
                          <a:latin typeface="Times New Roman"/>
                          <a:cs typeface="Times New Roman"/>
                        </a:rPr>
                        <a:t>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Episodic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spc="-20" dirty="0">
                          <a:latin typeface="Times New Roman"/>
                          <a:cs typeface="Times New Roman"/>
                        </a:rPr>
                        <a:t>Semi</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spc="-10" dirty="0">
                          <a:latin typeface="Times New Roman"/>
                          <a:cs typeface="Times New Roman"/>
                        </a:rPr>
                        <a:t>Discrete</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spc="-10" dirty="0">
                          <a:latin typeface="Times New Roman"/>
                          <a:cs typeface="Times New Roman"/>
                        </a:rPr>
                        <a:t>Single</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569975">
                <a:tc>
                  <a:txBody>
                    <a:bodyPr/>
                    <a:lstStyle/>
                    <a:p>
                      <a:pPr marL="92075" marR="258445">
                        <a:lnSpc>
                          <a:spcPct val="100000"/>
                        </a:lnSpc>
                        <a:spcBef>
                          <a:spcPts val="320"/>
                        </a:spcBef>
                      </a:pPr>
                      <a:r>
                        <a:rPr sz="1500" spc="-10" dirty="0">
                          <a:latin typeface="Times New Roman"/>
                          <a:cs typeface="Times New Roman"/>
                        </a:rPr>
                        <a:t>Interactive </a:t>
                      </a:r>
                      <a:r>
                        <a:rPr sz="1500" dirty="0">
                          <a:latin typeface="Times New Roman"/>
                          <a:cs typeface="Times New Roman"/>
                        </a:rPr>
                        <a:t>English</a:t>
                      </a:r>
                      <a:r>
                        <a:rPr sz="1500" spc="-65" dirty="0">
                          <a:latin typeface="Times New Roman"/>
                          <a:cs typeface="Times New Roman"/>
                        </a:rPr>
                        <a:t> </a:t>
                      </a:r>
                      <a:r>
                        <a:rPr sz="1500" spc="-20" dirty="0">
                          <a:latin typeface="Times New Roman"/>
                          <a:cs typeface="Times New Roman"/>
                        </a:rPr>
                        <a:t>tutor</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Partial</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Stochastic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075">
                        <a:lnSpc>
                          <a:spcPct val="100000"/>
                        </a:lnSpc>
                        <a:spcBef>
                          <a:spcPts val="320"/>
                        </a:spcBef>
                      </a:pPr>
                      <a:r>
                        <a:rPr sz="1500" spc="-10" dirty="0">
                          <a:latin typeface="Times New Roman"/>
                          <a:cs typeface="Times New Roman"/>
                        </a:rPr>
                        <a:t>Sequential</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spc="-10" dirty="0">
                          <a:latin typeface="Times New Roman"/>
                          <a:cs typeface="Times New Roman"/>
                        </a:rPr>
                        <a:t>Dynamic</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spc="-10" dirty="0">
                          <a:latin typeface="Times New Roman"/>
                          <a:cs typeface="Times New Roman"/>
                        </a:rPr>
                        <a:t>Discrete</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2710">
                        <a:lnSpc>
                          <a:spcPct val="100000"/>
                        </a:lnSpc>
                        <a:spcBef>
                          <a:spcPts val="320"/>
                        </a:spcBef>
                      </a:pPr>
                      <a:r>
                        <a:rPr sz="1500" spc="-10" dirty="0">
                          <a:latin typeface="Times New Roman"/>
                          <a:cs typeface="Times New Roman"/>
                        </a:rPr>
                        <a:t>Multi</a:t>
                      </a:r>
                      <a:endParaRPr sz="1500">
                        <a:latin typeface="Times New Roman"/>
                        <a:cs typeface="Times New Roman"/>
                      </a:endParaRPr>
                    </a:p>
                  </a:txBody>
                  <a:tcPr marL="0" marR="0" marT="447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93599">
                <a:tc gridSpan="7">
                  <a:txBody>
                    <a:bodyPr/>
                    <a:lstStyle/>
                    <a:p>
                      <a:pPr>
                        <a:lnSpc>
                          <a:spcPct val="100000"/>
                        </a:lnSpc>
                      </a:pPr>
                      <a:endParaRPr sz="400" dirty="0">
                        <a:latin typeface="Times New Roman"/>
                        <a:cs typeface="Times New Roman"/>
                      </a:endParaRPr>
                    </a:p>
                  </a:txBody>
                  <a:tcPr marL="0" marR="0" marT="0" marB="0">
                    <a:lnT w="12700">
                      <a:solidFill>
                        <a:srgbClr val="000000"/>
                      </a:solidFill>
                      <a:prstDash val="solid"/>
                    </a:lnT>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7"/>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3335">
              <a:lnSpc>
                <a:spcPct val="100000"/>
              </a:lnSpc>
              <a:spcBef>
                <a:spcPts val="100"/>
              </a:spcBef>
            </a:pPr>
            <a:r>
              <a:rPr spc="-114" dirty="0"/>
              <a:t>Types</a:t>
            </a:r>
            <a:r>
              <a:rPr spc="-165" dirty="0"/>
              <a:t> </a:t>
            </a:r>
            <a:r>
              <a:rPr dirty="0"/>
              <a:t>of</a:t>
            </a:r>
            <a:r>
              <a:rPr spc="-120" dirty="0"/>
              <a:t> </a:t>
            </a:r>
            <a:r>
              <a:rPr spc="-220" dirty="0"/>
              <a:t>AI</a:t>
            </a:r>
            <a:r>
              <a:rPr spc="-204" dirty="0"/>
              <a:t> </a:t>
            </a:r>
            <a:r>
              <a:rPr spc="-10" dirty="0"/>
              <a:t>Agents</a:t>
            </a:r>
          </a:p>
        </p:txBody>
      </p:sp>
      <p:sp>
        <p:nvSpPr>
          <p:cNvPr id="3" name="object 3"/>
          <p:cNvSpPr txBox="1"/>
          <p:nvPr/>
        </p:nvSpPr>
        <p:spPr>
          <a:xfrm>
            <a:off x="984096" y="3114529"/>
            <a:ext cx="3390900" cy="2968625"/>
          </a:xfrm>
          <a:prstGeom prst="rect">
            <a:avLst/>
          </a:prstGeom>
        </p:spPr>
        <p:txBody>
          <a:bodyPr vert="horz" wrap="square" lIns="0" tIns="12700" rIns="0" bIns="0" rtlCol="0">
            <a:spAutoFit/>
          </a:bodyPr>
          <a:lstStyle/>
          <a:p>
            <a:pPr marL="201295" marR="5080" indent="-189230">
              <a:lnSpc>
                <a:spcPct val="99800"/>
              </a:lnSpc>
              <a:spcBef>
                <a:spcPts val="100"/>
              </a:spcBef>
              <a:buFont typeface="Arial MT"/>
              <a:buChar char="•"/>
              <a:tabLst>
                <a:tab pos="201295" algn="l"/>
              </a:tabLst>
            </a:pPr>
            <a:r>
              <a:rPr sz="2150" spc="70" dirty="0">
                <a:latin typeface="Tahoma"/>
                <a:cs typeface="Tahoma"/>
              </a:rPr>
              <a:t>Agents</a:t>
            </a:r>
            <a:r>
              <a:rPr sz="2150" spc="-80" dirty="0">
                <a:latin typeface="Tahoma"/>
                <a:cs typeface="Tahoma"/>
              </a:rPr>
              <a:t> </a:t>
            </a:r>
            <a:r>
              <a:rPr sz="2150" dirty="0">
                <a:latin typeface="Tahoma"/>
                <a:cs typeface="Tahoma"/>
              </a:rPr>
              <a:t>can</a:t>
            </a:r>
            <a:r>
              <a:rPr sz="2150" spc="-105" dirty="0">
                <a:latin typeface="Tahoma"/>
                <a:cs typeface="Tahoma"/>
              </a:rPr>
              <a:t> </a:t>
            </a:r>
            <a:r>
              <a:rPr sz="2150" spc="125" dirty="0">
                <a:latin typeface="Tahoma"/>
                <a:cs typeface="Tahoma"/>
              </a:rPr>
              <a:t>be</a:t>
            </a:r>
            <a:r>
              <a:rPr sz="2150" spc="-75" dirty="0">
                <a:latin typeface="Tahoma"/>
                <a:cs typeface="Tahoma"/>
              </a:rPr>
              <a:t> </a:t>
            </a:r>
            <a:r>
              <a:rPr sz="2150" spc="85" dirty="0">
                <a:latin typeface="Tahoma"/>
                <a:cs typeface="Tahoma"/>
              </a:rPr>
              <a:t>grouped </a:t>
            </a:r>
            <a:r>
              <a:rPr sz="2150" dirty="0">
                <a:latin typeface="Tahoma"/>
                <a:cs typeface="Tahoma"/>
              </a:rPr>
              <a:t>into</a:t>
            </a:r>
            <a:r>
              <a:rPr sz="2150" spc="-50" dirty="0">
                <a:latin typeface="Tahoma"/>
                <a:cs typeface="Tahoma"/>
              </a:rPr>
              <a:t> </a:t>
            </a:r>
            <a:r>
              <a:rPr sz="2150" dirty="0">
                <a:latin typeface="Tahoma"/>
                <a:cs typeface="Tahoma"/>
              </a:rPr>
              <a:t>five</a:t>
            </a:r>
            <a:r>
              <a:rPr sz="2150" spc="-50" dirty="0">
                <a:latin typeface="Tahoma"/>
                <a:cs typeface="Tahoma"/>
              </a:rPr>
              <a:t> </a:t>
            </a:r>
            <a:r>
              <a:rPr sz="2150" dirty="0">
                <a:latin typeface="Tahoma"/>
                <a:cs typeface="Tahoma"/>
              </a:rPr>
              <a:t>classes</a:t>
            </a:r>
            <a:r>
              <a:rPr sz="2150" spc="-60" dirty="0">
                <a:latin typeface="Tahoma"/>
                <a:cs typeface="Tahoma"/>
              </a:rPr>
              <a:t> </a:t>
            </a:r>
            <a:r>
              <a:rPr sz="2150" spc="85" dirty="0">
                <a:latin typeface="Tahoma"/>
                <a:cs typeface="Tahoma"/>
              </a:rPr>
              <a:t>based</a:t>
            </a:r>
            <a:r>
              <a:rPr sz="2150" spc="-35" dirty="0">
                <a:latin typeface="Tahoma"/>
                <a:cs typeface="Tahoma"/>
              </a:rPr>
              <a:t> </a:t>
            </a:r>
            <a:r>
              <a:rPr sz="2150" spc="60" dirty="0">
                <a:latin typeface="Tahoma"/>
                <a:cs typeface="Tahoma"/>
              </a:rPr>
              <a:t>on </a:t>
            </a:r>
            <a:r>
              <a:rPr sz="2150" dirty="0">
                <a:latin typeface="Tahoma"/>
                <a:cs typeface="Tahoma"/>
              </a:rPr>
              <a:t>their</a:t>
            </a:r>
            <a:r>
              <a:rPr sz="2150" spc="-75" dirty="0">
                <a:latin typeface="Tahoma"/>
                <a:cs typeface="Tahoma"/>
              </a:rPr>
              <a:t> </a:t>
            </a:r>
            <a:r>
              <a:rPr sz="2150" spc="90" dirty="0">
                <a:latin typeface="Tahoma"/>
                <a:cs typeface="Tahoma"/>
              </a:rPr>
              <a:t>degree</a:t>
            </a:r>
            <a:r>
              <a:rPr sz="2150" spc="-70" dirty="0">
                <a:latin typeface="Tahoma"/>
                <a:cs typeface="Tahoma"/>
              </a:rPr>
              <a:t> </a:t>
            </a:r>
            <a:r>
              <a:rPr sz="2150" dirty="0">
                <a:latin typeface="Tahoma"/>
                <a:cs typeface="Tahoma"/>
              </a:rPr>
              <a:t>of</a:t>
            </a:r>
            <a:r>
              <a:rPr sz="2150" spc="-10" dirty="0">
                <a:latin typeface="Tahoma"/>
                <a:cs typeface="Tahoma"/>
              </a:rPr>
              <a:t> </a:t>
            </a:r>
            <a:r>
              <a:rPr sz="2150" spc="60" dirty="0">
                <a:latin typeface="Tahoma"/>
                <a:cs typeface="Tahoma"/>
              </a:rPr>
              <a:t>perceived intelligence</a:t>
            </a:r>
            <a:r>
              <a:rPr sz="2150" spc="-160" dirty="0">
                <a:latin typeface="Tahoma"/>
                <a:cs typeface="Tahoma"/>
              </a:rPr>
              <a:t> </a:t>
            </a:r>
            <a:r>
              <a:rPr sz="2150" spc="50" dirty="0">
                <a:latin typeface="Tahoma"/>
                <a:cs typeface="Tahoma"/>
              </a:rPr>
              <a:t>and </a:t>
            </a:r>
            <a:r>
              <a:rPr sz="2150" dirty="0">
                <a:latin typeface="Tahoma"/>
                <a:cs typeface="Tahoma"/>
              </a:rPr>
              <a:t>capability.</a:t>
            </a:r>
            <a:r>
              <a:rPr sz="2150" spc="-110" dirty="0">
                <a:latin typeface="Tahoma"/>
                <a:cs typeface="Tahoma"/>
              </a:rPr>
              <a:t> </a:t>
            </a:r>
            <a:r>
              <a:rPr sz="2150" spc="105" dirty="0">
                <a:latin typeface="Tahoma"/>
                <a:cs typeface="Tahoma"/>
              </a:rPr>
              <a:t>All</a:t>
            </a:r>
            <a:r>
              <a:rPr sz="2150" spc="65" dirty="0">
                <a:latin typeface="Tahoma"/>
                <a:cs typeface="Tahoma"/>
              </a:rPr>
              <a:t> </a:t>
            </a:r>
            <a:r>
              <a:rPr sz="2150" spc="-10" dirty="0">
                <a:latin typeface="Tahoma"/>
                <a:cs typeface="Tahoma"/>
              </a:rPr>
              <a:t>these </a:t>
            </a:r>
            <a:r>
              <a:rPr sz="2150" dirty="0">
                <a:latin typeface="Tahoma"/>
                <a:cs typeface="Tahoma"/>
              </a:rPr>
              <a:t>agents</a:t>
            </a:r>
            <a:r>
              <a:rPr sz="2150" spc="-10" dirty="0">
                <a:latin typeface="Tahoma"/>
                <a:cs typeface="Tahoma"/>
              </a:rPr>
              <a:t> </a:t>
            </a:r>
            <a:r>
              <a:rPr sz="2150" dirty="0">
                <a:latin typeface="Tahoma"/>
                <a:cs typeface="Tahoma"/>
              </a:rPr>
              <a:t>can</a:t>
            </a:r>
            <a:r>
              <a:rPr sz="2150" spc="-10" dirty="0">
                <a:latin typeface="Tahoma"/>
                <a:cs typeface="Tahoma"/>
              </a:rPr>
              <a:t> </a:t>
            </a:r>
            <a:r>
              <a:rPr sz="2150" spc="60" dirty="0">
                <a:latin typeface="Tahoma"/>
                <a:cs typeface="Tahoma"/>
              </a:rPr>
              <a:t>improve</a:t>
            </a:r>
            <a:r>
              <a:rPr sz="2150" spc="-10" dirty="0">
                <a:latin typeface="Tahoma"/>
                <a:cs typeface="Tahoma"/>
              </a:rPr>
              <a:t> their </a:t>
            </a:r>
            <a:r>
              <a:rPr sz="2150" spc="55" dirty="0">
                <a:latin typeface="Tahoma"/>
                <a:cs typeface="Tahoma"/>
              </a:rPr>
              <a:t>performance</a:t>
            </a:r>
            <a:r>
              <a:rPr sz="2150" spc="-135" dirty="0">
                <a:latin typeface="Tahoma"/>
                <a:cs typeface="Tahoma"/>
              </a:rPr>
              <a:t> </a:t>
            </a:r>
            <a:r>
              <a:rPr sz="2150" spc="50" dirty="0">
                <a:latin typeface="Tahoma"/>
                <a:cs typeface="Tahoma"/>
              </a:rPr>
              <a:t>and </a:t>
            </a:r>
            <a:r>
              <a:rPr sz="2150" dirty="0">
                <a:latin typeface="Tahoma"/>
                <a:cs typeface="Tahoma"/>
              </a:rPr>
              <a:t>generate</a:t>
            </a:r>
            <a:r>
              <a:rPr sz="2150" spc="145" dirty="0">
                <a:latin typeface="Tahoma"/>
                <a:cs typeface="Tahoma"/>
              </a:rPr>
              <a:t> </a:t>
            </a:r>
            <a:r>
              <a:rPr sz="2150" dirty="0">
                <a:latin typeface="Tahoma"/>
                <a:cs typeface="Tahoma"/>
              </a:rPr>
              <a:t>better</a:t>
            </a:r>
            <a:r>
              <a:rPr sz="2150" spc="145" dirty="0">
                <a:latin typeface="Tahoma"/>
                <a:cs typeface="Tahoma"/>
              </a:rPr>
              <a:t> </a:t>
            </a:r>
            <a:r>
              <a:rPr sz="2150" spc="-10" dirty="0">
                <a:latin typeface="Tahoma"/>
                <a:cs typeface="Tahoma"/>
              </a:rPr>
              <a:t>action </a:t>
            </a:r>
            <a:r>
              <a:rPr sz="2150" dirty="0">
                <a:latin typeface="Tahoma"/>
                <a:cs typeface="Tahoma"/>
              </a:rPr>
              <a:t>over</a:t>
            </a:r>
            <a:r>
              <a:rPr sz="2150" spc="-10" dirty="0">
                <a:latin typeface="Tahoma"/>
                <a:cs typeface="Tahoma"/>
              </a:rPr>
              <a:t> </a:t>
            </a:r>
            <a:r>
              <a:rPr sz="2150" dirty="0">
                <a:latin typeface="Tahoma"/>
                <a:cs typeface="Tahoma"/>
              </a:rPr>
              <a:t>the</a:t>
            </a:r>
            <a:r>
              <a:rPr sz="2150" spc="-10" dirty="0">
                <a:latin typeface="Tahoma"/>
                <a:cs typeface="Tahoma"/>
              </a:rPr>
              <a:t> time.</a:t>
            </a:r>
            <a:endParaRPr sz="2150">
              <a:latin typeface="Tahoma"/>
              <a:cs typeface="Tahoma"/>
            </a:endParaRPr>
          </a:p>
        </p:txBody>
      </p:sp>
      <p:sp>
        <p:nvSpPr>
          <p:cNvPr id="4" name="object 4"/>
          <p:cNvSpPr txBox="1"/>
          <p:nvPr/>
        </p:nvSpPr>
        <p:spPr>
          <a:xfrm>
            <a:off x="5252665" y="3052143"/>
            <a:ext cx="3190240" cy="2854960"/>
          </a:xfrm>
          <a:prstGeom prst="rect">
            <a:avLst/>
          </a:prstGeom>
        </p:spPr>
        <p:txBody>
          <a:bodyPr vert="horz" wrap="square" lIns="0" tIns="13970" rIns="0" bIns="0" rtlCol="0">
            <a:spAutoFit/>
          </a:bodyPr>
          <a:lstStyle/>
          <a:p>
            <a:pPr marL="103505" indent="-99695">
              <a:lnSpc>
                <a:spcPct val="100000"/>
              </a:lnSpc>
              <a:spcBef>
                <a:spcPts val="110"/>
              </a:spcBef>
              <a:buSzPct val="95121"/>
              <a:buFont typeface="Arial MT"/>
              <a:buChar char="•"/>
              <a:tabLst>
                <a:tab pos="103505" algn="l"/>
              </a:tabLst>
            </a:pPr>
            <a:r>
              <a:rPr sz="2050" spc="80" dirty="0">
                <a:latin typeface="Tahoma"/>
                <a:cs typeface="Tahoma"/>
              </a:rPr>
              <a:t>Simple</a:t>
            </a:r>
            <a:r>
              <a:rPr sz="2050" spc="-100" dirty="0">
                <a:latin typeface="Tahoma"/>
                <a:cs typeface="Tahoma"/>
              </a:rPr>
              <a:t> </a:t>
            </a:r>
            <a:r>
              <a:rPr sz="2050" dirty="0">
                <a:latin typeface="Tahoma"/>
                <a:cs typeface="Tahoma"/>
              </a:rPr>
              <a:t>Reflex</a:t>
            </a:r>
            <a:r>
              <a:rPr sz="2050" spc="-130" dirty="0">
                <a:latin typeface="Tahoma"/>
                <a:cs typeface="Tahoma"/>
              </a:rPr>
              <a:t> </a:t>
            </a:r>
            <a:r>
              <a:rPr sz="2050" spc="80" dirty="0">
                <a:latin typeface="Tahoma"/>
                <a:cs typeface="Tahoma"/>
              </a:rPr>
              <a:t>Agent</a:t>
            </a:r>
            <a:endParaRPr sz="2050">
              <a:latin typeface="Tahoma"/>
              <a:cs typeface="Tahoma"/>
            </a:endParaRPr>
          </a:p>
          <a:p>
            <a:pPr>
              <a:lnSpc>
                <a:spcPct val="100000"/>
              </a:lnSpc>
              <a:spcBef>
                <a:spcPts val="10"/>
              </a:spcBef>
              <a:buFont typeface="Arial MT"/>
              <a:buChar char="•"/>
            </a:pPr>
            <a:endParaRPr sz="2050">
              <a:latin typeface="Tahoma"/>
              <a:cs typeface="Tahoma"/>
            </a:endParaRPr>
          </a:p>
          <a:p>
            <a:pPr marL="103505" indent="-99695">
              <a:lnSpc>
                <a:spcPct val="100000"/>
              </a:lnSpc>
              <a:buSzPct val="95121"/>
              <a:buFont typeface="Arial MT"/>
              <a:buChar char="•"/>
              <a:tabLst>
                <a:tab pos="103505" algn="l"/>
              </a:tabLst>
            </a:pPr>
            <a:r>
              <a:rPr sz="2050" spc="95" dirty="0">
                <a:latin typeface="Tahoma"/>
                <a:cs typeface="Tahoma"/>
              </a:rPr>
              <a:t>Model-</a:t>
            </a:r>
            <a:r>
              <a:rPr sz="2050" spc="90" dirty="0">
                <a:latin typeface="Tahoma"/>
                <a:cs typeface="Tahoma"/>
              </a:rPr>
              <a:t>based</a:t>
            </a:r>
            <a:r>
              <a:rPr sz="2050" spc="-75" dirty="0">
                <a:latin typeface="Tahoma"/>
                <a:cs typeface="Tahoma"/>
              </a:rPr>
              <a:t> </a:t>
            </a:r>
            <a:r>
              <a:rPr sz="2050" dirty="0">
                <a:latin typeface="Tahoma"/>
                <a:cs typeface="Tahoma"/>
              </a:rPr>
              <a:t>reflex</a:t>
            </a:r>
            <a:r>
              <a:rPr sz="2050" spc="-65" dirty="0">
                <a:latin typeface="Tahoma"/>
                <a:cs typeface="Tahoma"/>
              </a:rPr>
              <a:t> </a:t>
            </a:r>
            <a:r>
              <a:rPr sz="2050" spc="50" dirty="0">
                <a:latin typeface="Tahoma"/>
                <a:cs typeface="Tahoma"/>
              </a:rPr>
              <a:t>agent</a:t>
            </a:r>
            <a:endParaRPr sz="2050">
              <a:latin typeface="Tahoma"/>
              <a:cs typeface="Tahoma"/>
            </a:endParaRPr>
          </a:p>
          <a:p>
            <a:pPr>
              <a:lnSpc>
                <a:spcPct val="100000"/>
              </a:lnSpc>
              <a:spcBef>
                <a:spcPts val="20"/>
              </a:spcBef>
              <a:buFont typeface="Arial MT"/>
              <a:buChar char="•"/>
            </a:pPr>
            <a:endParaRPr sz="2050">
              <a:latin typeface="Tahoma"/>
              <a:cs typeface="Tahoma"/>
            </a:endParaRPr>
          </a:p>
          <a:p>
            <a:pPr marL="103505" indent="-99695">
              <a:lnSpc>
                <a:spcPct val="100000"/>
              </a:lnSpc>
              <a:spcBef>
                <a:spcPts val="5"/>
              </a:spcBef>
              <a:buSzPct val="95121"/>
              <a:buFont typeface="Arial MT"/>
              <a:buChar char="•"/>
              <a:tabLst>
                <a:tab pos="103505" algn="l"/>
              </a:tabLst>
            </a:pPr>
            <a:r>
              <a:rPr sz="2050" spc="65" dirty="0">
                <a:latin typeface="Tahoma"/>
                <a:cs typeface="Tahoma"/>
              </a:rPr>
              <a:t>Goal-</a:t>
            </a:r>
            <a:r>
              <a:rPr sz="2050" spc="90" dirty="0">
                <a:latin typeface="Tahoma"/>
                <a:cs typeface="Tahoma"/>
              </a:rPr>
              <a:t>based</a:t>
            </a:r>
            <a:r>
              <a:rPr sz="2050" spc="-114" dirty="0">
                <a:latin typeface="Tahoma"/>
                <a:cs typeface="Tahoma"/>
              </a:rPr>
              <a:t> </a:t>
            </a:r>
            <a:r>
              <a:rPr sz="2050" spc="40" dirty="0">
                <a:latin typeface="Tahoma"/>
                <a:cs typeface="Tahoma"/>
              </a:rPr>
              <a:t>agents</a:t>
            </a:r>
            <a:endParaRPr sz="2050">
              <a:latin typeface="Tahoma"/>
              <a:cs typeface="Tahoma"/>
            </a:endParaRPr>
          </a:p>
          <a:p>
            <a:pPr>
              <a:lnSpc>
                <a:spcPct val="100000"/>
              </a:lnSpc>
              <a:spcBef>
                <a:spcPts val="10"/>
              </a:spcBef>
              <a:buFont typeface="Arial MT"/>
              <a:buChar char="•"/>
            </a:pPr>
            <a:endParaRPr sz="2050">
              <a:latin typeface="Tahoma"/>
              <a:cs typeface="Tahoma"/>
            </a:endParaRPr>
          </a:p>
          <a:p>
            <a:pPr marL="103505" indent="-99695">
              <a:lnSpc>
                <a:spcPct val="100000"/>
              </a:lnSpc>
              <a:buSzPct val="95121"/>
              <a:buFont typeface="Arial MT"/>
              <a:buChar char="•"/>
              <a:tabLst>
                <a:tab pos="103505" algn="l"/>
              </a:tabLst>
            </a:pPr>
            <a:r>
              <a:rPr sz="2050" dirty="0">
                <a:latin typeface="Tahoma"/>
                <a:cs typeface="Tahoma"/>
              </a:rPr>
              <a:t>Utility-</a:t>
            </a:r>
            <a:r>
              <a:rPr sz="2050" spc="90" dirty="0">
                <a:latin typeface="Tahoma"/>
                <a:cs typeface="Tahoma"/>
              </a:rPr>
              <a:t>based</a:t>
            </a:r>
            <a:r>
              <a:rPr sz="2050" spc="-90" dirty="0">
                <a:latin typeface="Tahoma"/>
                <a:cs typeface="Tahoma"/>
              </a:rPr>
              <a:t> </a:t>
            </a:r>
            <a:r>
              <a:rPr sz="2050" spc="50" dirty="0">
                <a:latin typeface="Tahoma"/>
                <a:cs typeface="Tahoma"/>
              </a:rPr>
              <a:t>agent</a:t>
            </a:r>
            <a:endParaRPr sz="2050">
              <a:latin typeface="Tahoma"/>
              <a:cs typeface="Tahoma"/>
            </a:endParaRPr>
          </a:p>
          <a:p>
            <a:pPr>
              <a:lnSpc>
                <a:spcPct val="100000"/>
              </a:lnSpc>
              <a:spcBef>
                <a:spcPts val="20"/>
              </a:spcBef>
              <a:buFont typeface="Arial MT"/>
              <a:buChar char="•"/>
            </a:pPr>
            <a:endParaRPr sz="2050">
              <a:latin typeface="Tahoma"/>
              <a:cs typeface="Tahoma"/>
            </a:endParaRPr>
          </a:p>
          <a:p>
            <a:pPr marL="103505" indent="-99695">
              <a:lnSpc>
                <a:spcPct val="100000"/>
              </a:lnSpc>
              <a:buSzPct val="95121"/>
              <a:buFont typeface="Arial MT"/>
              <a:buChar char="•"/>
              <a:tabLst>
                <a:tab pos="103505" algn="l"/>
              </a:tabLst>
            </a:pPr>
            <a:r>
              <a:rPr sz="2050" spc="50" dirty="0">
                <a:latin typeface="Tahoma"/>
                <a:cs typeface="Tahoma"/>
              </a:rPr>
              <a:t>Learning</a:t>
            </a:r>
            <a:r>
              <a:rPr sz="2050" spc="-145" dirty="0">
                <a:latin typeface="Tahoma"/>
                <a:cs typeface="Tahoma"/>
              </a:rPr>
              <a:t> </a:t>
            </a:r>
            <a:r>
              <a:rPr sz="2050" spc="50" dirty="0">
                <a:latin typeface="Tahoma"/>
                <a:cs typeface="Tahoma"/>
              </a:rPr>
              <a:t>agent</a:t>
            </a:r>
            <a:endParaRPr sz="2050">
              <a:latin typeface="Tahoma"/>
              <a:cs typeface="Tahoma"/>
            </a:endParaRPr>
          </a:p>
        </p:txBody>
      </p:sp>
      <p:pic>
        <p:nvPicPr>
          <p:cNvPr id="5" name="object 5"/>
          <p:cNvPicPr/>
          <p:nvPr/>
        </p:nvPicPr>
        <p:blipFill>
          <a:blip r:embed="rId2" cstate="print"/>
          <a:stretch>
            <a:fillRect/>
          </a:stretch>
        </p:blipFill>
        <p:spPr>
          <a:xfrm>
            <a:off x="4614671" y="2616707"/>
            <a:ext cx="688848" cy="3869436"/>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409193" y="1053845"/>
          <a:ext cx="9228455" cy="1664335"/>
        </p:xfrm>
        <a:graphic>
          <a:graphicData uri="http://schemas.openxmlformats.org/drawingml/2006/table">
            <a:tbl>
              <a:tblPr firstRow="1" bandRow="1">
                <a:tableStyleId>{2D5ABB26-0587-4C30-8999-92F81FD0307C}</a:tableStyleId>
              </a:tblPr>
              <a:tblGrid>
                <a:gridCol w="72390">
                  <a:extLst>
                    <a:ext uri="{9D8B030D-6E8A-4147-A177-3AD203B41FA5}">
                      <a16:colId xmlns:a16="http://schemas.microsoft.com/office/drawing/2014/main" val="20000"/>
                    </a:ext>
                  </a:extLst>
                </a:gridCol>
                <a:gridCol w="9156065">
                  <a:extLst>
                    <a:ext uri="{9D8B030D-6E8A-4147-A177-3AD203B41FA5}">
                      <a16:colId xmlns:a16="http://schemas.microsoft.com/office/drawing/2014/main" val="20001"/>
                    </a:ext>
                  </a:extLst>
                </a:gridCol>
              </a:tblGrid>
              <a:tr h="650240">
                <a:tc gridSpan="2">
                  <a:txBody>
                    <a:bodyPr/>
                    <a:lstStyle/>
                    <a:p>
                      <a:pPr>
                        <a:lnSpc>
                          <a:spcPct val="100000"/>
                        </a:lnSpc>
                      </a:pPr>
                      <a:endParaRPr sz="1800">
                        <a:latin typeface="Times New Roman"/>
                        <a:cs typeface="Times New Roman"/>
                      </a:endParaRPr>
                    </a:p>
                  </a:txBody>
                  <a:tcPr marL="0" marR="0" marT="0" marB="0">
                    <a:lnL w="9525">
                      <a:solidFill>
                        <a:srgbClr val="E9E9E9"/>
                      </a:solidFill>
                      <a:prstDash val="solid"/>
                    </a:lnL>
                    <a:lnR w="9525">
                      <a:solidFill>
                        <a:srgbClr val="E9E9E9"/>
                      </a:solidFill>
                      <a:prstDash val="solid"/>
                    </a:lnR>
                    <a:lnT w="9525">
                      <a:solidFill>
                        <a:srgbClr val="E9E9E9"/>
                      </a:solidFill>
                      <a:prstDash val="solid"/>
                    </a:lnT>
                  </a:tcPr>
                </a:tc>
                <a:tc hMerge="1">
                  <a:txBody>
                    <a:bodyPr/>
                    <a:lstStyle/>
                    <a:p>
                      <a:endParaRPr/>
                    </a:p>
                  </a:txBody>
                  <a:tcPr marL="0" marR="0" marT="0" marB="0"/>
                </a:tc>
                <a:extLst>
                  <a:ext uri="{0D108BD9-81ED-4DB2-BD59-A6C34878D82A}">
                    <a16:rowId xmlns:a16="http://schemas.microsoft.com/office/drawing/2014/main" val="10000"/>
                  </a:ext>
                </a:extLst>
              </a:tr>
              <a:tr h="580390">
                <a:tc>
                  <a:txBody>
                    <a:bodyPr/>
                    <a:lstStyle/>
                    <a:p>
                      <a:pPr>
                        <a:lnSpc>
                          <a:spcPct val="100000"/>
                        </a:lnSpc>
                      </a:pPr>
                      <a:endParaRPr sz="1800">
                        <a:latin typeface="Times New Roman"/>
                        <a:cs typeface="Times New Roman"/>
                      </a:endParaRPr>
                    </a:p>
                  </a:txBody>
                  <a:tcPr marL="0" marR="0" marT="0" marB="0">
                    <a:lnL w="9525">
                      <a:solidFill>
                        <a:srgbClr val="E9E9E9"/>
                      </a:solidFill>
                      <a:prstDash val="solid"/>
                    </a:lnL>
                    <a:solidFill>
                      <a:srgbClr val="F5A700"/>
                    </a:solidFill>
                  </a:tcPr>
                </a:tc>
                <a:tc>
                  <a:txBody>
                    <a:bodyPr/>
                    <a:lstStyle/>
                    <a:p>
                      <a:pPr marL="476884">
                        <a:lnSpc>
                          <a:spcPct val="100000"/>
                        </a:lnSpc>
                        <a:spcBef>
                          <a:spcPts val="395"/>
                        </a:spcBef>
                      </a:pPr>
                      <a:r>
                        <a:rPr sz="2650" b="1" spc="-20" dirty="0">
                          <a:latin typeface="Tahoma"/>
                          <a:cs typeface="Tahoma"/>
                        </a:rPr>
                        <a:t>1.</a:t>
                      </a:r>
                      <a:r>
                        <a:rPr sz="2650" b="1" spc="-190" dirty="0">
                          <a:latin typeface="Tahoma"/>
                          <a:cs typeface="Tahoma"/>
                        </a:rPr>
                        <a:t> </a:t>
                      </a:r>
                      <a:r>
                        <a:rPr sz="2650" b="1" spc="-30" dirty="0">
                          <a:latin typeface="Tahoma"/>
                          <a:cs typeface="Tahoma"/>
                        </a:rPr>
                        <a:t>Simple</a:t>
                      </a:r>
                      <a:r>
                        <a:rPr sz="2650" b="1" spc="-100" dirty="0">
                          <a:latin typeface="Tahoma"/>
                          <a:cs typeface="Tahoma"/>
                        </a:rPr>
                        <a:t> </a:t>
                      </a:r>
                      <a:r>
                        <a:rPr sz="2650" b="1" spc="-75" dirty="0">
                          <a:latin typeface="Tahoma"/>
                          <a:cs typeface="Tahoma"/>
                        </a:rPr>
                        <a:t>Reflex</a:t>
                      </a:r>
                      <a:r>
                        <a:rPr sz="2650" b="1" spc="-90" dirty="0">
                          <a:latin typeface="Tahoma"/>
                          <a:cs typeface="Tahoma"/>
                        </a:rPr>
                        <a:t> </a:t>
                      </a:r>
                      <a:r>
                        <a:rPr sz="2650" b="1" spc="-70" dirty="0">
                          <a:latin typeface="Tahoma"/>
                          <a:cs typeface="Tahoma"/>
                        </a:rPr>
                        <a:t>agent:</a:t>
                      </a:r>
                      <a:r>
                        <a:rPr sz="2650" b="1" spc="-110" dirty="0">
                          <a:latin typeface="Tahoma"/>
                          <a:cs typeface="Tahoma"/>
                        </a:rPr>
                        <a:t> </a:t>
                      </a:r>
                      <a:r>
                        <a:rPr sz="2650" b="1" spc="-114" dirty="0">
                          <a:latin typeface="Tahoma"/>
                          <a:cs typeface="Tahoma"/>
                        </a:rPr>
                        <a:t>(Reflex</a:t>
                      </a:r>
                      <a:r>
                        <a:rPr sz="2650" b="1" spc="-85" dirty="0">
                          <a:latin typeface="Tahoma"/>
                          <a:cs typeface="Tahoma"/>
                        </a:rPr>
                        <a:t> </a:t>
                      </a:r>
                      <a:r>
                        <a:rPr sz="2650" b="1" spc="-90" dirty="0">
                          <a:latin typeface="Tahoma"/>
                          <a:cs typeface="Tahoma"/>
                        </a:rPr>
                        <a:t>:</a:t>
                      </a:r>
                      <a:r>
                        <a:rPr sz="2650" b="1" spc="-100" dirty="0">
                          <a:latin typeface="Tahoma"/>
                          <a:cs typeface="Tahoma"/>
                        </a:rPr>
                        <a:t> </a:t>
                      </a:r>
                      <a:r>
                        <a:rPr sz="2650" b="1" spc="-10" dirty="0">
                          <a:latin typeface="Tahoma"/>
                          <a:cs typeface="Tahoma"/>
                        </a:rPr>
                        <a:t>immediately)</a:t>
                      </a:r>
                      <a:endParaRPr sz="2650">
                        <a:latin typeface="Tahoma"/>
                        <a:cs typeface="Tahoma"/>
                      </a:endParaRPr>
                    </a:p>
                  </a:txBody>
                  <a:tcPr marL="0" marR="0" marT="50165" marB="0">
                    <a:lnR w="9525">
                      <a:solidFill>
                        <a:srgbClr val="E9E9E9"/>
                      </a:solidFill>
                      <a:prstDash val="solid"/>
                    </a:lnR>
                  </a:tcPr>
                </a:tc>
                <a:extLst>
                  <a:ext uri="{0D108BD9-81ED-4DB2-BD59-A6C34878D82A}">
                    <a16:rowId xmlns:a16="http://schemas.microsoft.com/office/drawing/2014/main" val="10001"/>
                  </a:ext>
                </a:extLst>
              </a:tr>
              <a:tr h="433705">
                <a:tc gridSpan="2">
                  <a:txBody>
                    <a:bodyPr/>
                    <a:lstStyle/>
                    <a:p>
                      <a:pPr marL="737235" indent="-187960">
                        <a:lnSpc>
                          <a:spcPct val="100000"/>
                        </a:lnSpc>
                        <a:spcBef>
                          <a:spcPts val="540"/>
                        </a:spcBef>
                        <a:buFont typeface="Arial MT"/>
                        <a:buChar char="•"/>
                        <a:tabLst>
                          <a:tab pos="737235" algn="l"/>
                        </a:tabLst>
                      </a:pPr>
                      <a:r>
                        <a:rPr sz="1800" dirty="0">
                          <a:latin typeface="Tahoma"/>
                          <a:cs typeface="Tahoma"/>
                        </a:rPr>
                        <a:t>The</a:t>
                      </a:r>
                      <a:r>
                        <a:rPr sz="1800" spc="60" dirty="0">
                          <a:latin typeface="Tahoma"/>
                          <a:cs typeface="Tahoma"/>
                        </a:rPr>
                        <a:t> </a:t>
                      </a:r>
                      <a:r>
                        <a:rPr sz="1800" spc="70" dirty="0">
                          <a:latin typeface="Tahoma"/>
                          <a:cs typeface="Tahoma"/>
                        </a:rPr>
                        <a:t>Simple</a:t>
                      </a:r>
                      <a:r>
                        <a:rPr sz="1800" spc="55" dirty="0">
                          <a:latin typeface="Tahoma"/>
                          <a:cs typeface="Tahoma"/>
                        </a:rPr>
                        <a:t> </a:t>
                      </a:r>
                      <a:r>
                        <a:rPr sz="1800" dirty="0">
                          <a:latin typeface="Tahoma"/>
                          <a:cs typeface="Tahoma"/>
                        </a:rPr>
                        <a:t>reflex</a:t>
                      </a:r>
                      <a:r>
                        <a:rPr sz="1800" spc="80" dirty="0">
                          <a:latin typeface="Tahoma"/>
                          <a:cs typeface="Tahoma"/>
                        </a:rPr>
                        <a:t> </a:t>
                      </a:r>
                      <a:r>
                        <a:rPr sz="1800" dirty="0">
                          <a:latin typeface="Tahoma"/>
                          <a:cs typeface="Tahoma"/>
                        </a:rPr>
                        <a:t>agents</a:t>
                      </a:r>
                      <a:r>
                        <a:rPr sz="1800" spc="50" dirty="0">
                          <a:latin typeface="Tahoma"/>
                          <a:cs typeface="Tahoma"/>
                        </a:rPr>
                        <a:t> </a:t>
                      </a:r>
                      <a:r>
                        <a:rPr sz="1800" dirty="0">
                          <a:latin typeface="Tahoma"/>
                          <a:cs typeface="Tahoma"/>
                        </a:rPr>
                        <a:t>are</a:t>
                      </a:r>
                      <a:r>
                        <a:rPr sz="1800" spc="60" dirty="0">
                          <a:latin typeface="Tahoma"/>
                          <a:cs typeface="Tahoma"/>
                        </a:rPr>
                        <a:t> </a:t>
                      </a:r>
                      <a:r>
                        <a:rPr sz="1800" dirty="0">
                          <a:latin typeface="Tahoma"/>
                          <a:cs typeface="Tahoma"/>
                        </a:rPr>
                        <a:t>the</a:t>
                      </a:r>
                      <a:r>
                        <a:rPr sz="1800" spc="60" dirty="0">
                          <a:latin typeface="Tahoma"/>
                          <a:cs typeface="Tahoma"/>
                        </a:rPr>
                        <a:t> </a:t>
                      </a:r>
                      <a:r>
                        <a:rPr sz="1800" dirty="0">
                          <a:latin typeface="Tahoma"/>
                          <a:cs typeface="Tahoma"/>
                        </a:rPr>
                        <a:t>simplest</a:t>
                      </a:r>
                      <a:r>
                        <a:rPr sz="1800" spc="60" dirty="0">
                          <a:latin typeface="Tahoma"/>
                          <a:cs typeface="Tahoma"/>
                        </a:rPr>
                        <a:t> </a:t>
                      </a:r>
                      <a:r>
                        <a:rPr sz="1800" dirty="0">
                          <a:latin typeface="Tahoma"/>
                          <a:cs typeface="Tahoma"/>
                        </a:rPr>
                        <a:t>agents.</a:t>
                      </a:r>
                      <a:r>
                        <a:rPr sz="1800" spc="-65" dirty="0">
                          <a:latin typeface="Tahoma"/>
                          <a:cs typeface="Tahoma"/>
                        </a:rPr>
                        <a:t> </a:t>
                      </a:r>
                      <a:r>
                        <a:rPr sz="1800" dirty="0">
                          <a:latin typeface="Tahoma"/>
                          <a:cs typeface="Tahoma"/>
                        </a:rPr>
                        <a:t>These</a:t>
                      </a:r>
                      <a:r>
                        <a:rPr sz="1800" spc="70" dirty="0">
                          <a:latin typeface="Tahoma"/>
                          <a:cs typeface="Tahoma"/>
                        </a:rPr>
                        <a:t> </a:t>
                      </a:r>
                      <a:r>
                        <a:rPr sz="1800" dirty="0">
                          <a:latin typeface="Tahoma"/>
                          <a:cs typeface="Tahoma"/>
                        </a:rPr>
                        <a:t>agents</a:t>
                      </a:r>
                      <a:r>
                        <a:rPr sz="1800" spc="60" dirty="0">
                          <a:latin typeface="Tahoma"/>
                          <a:cs typeface="Tahoma"/>
                        </a:rPr>
                        <a:t> </a:t>
                      </a:r>
                      <a:r>
                        <a:rPr sz="1800" spc="-20" dirty="0">
                          <a:latin typeface="Tahoma"/>
                          <a:cs typeface="Tahoma"/>
                        </a:rPr>
                        <a:t>take</a:t>
                      </a:r>
                      <a:endParaRPr sz="1800">
                        <a:latin typeface="Tahoma"/>
                        <a:cs typeface="Tahoma"/>
                      </a:endParaRPr>
                    </a:p>
                  </a:txBody>
                  <a:tcPr marL="0" marR="0" marT="68580" marB="0">
                    <a:lnL w="9525">
                      <a:solidFill>
                        <a:srgbClr val="E9E9E9"/>
                      </a:solidFill>
                      <a:prstDash val="solid"/>
                    </a:lnL>
                    <a:lnR w="9525">
                      <a:solidFill>
                        <a:srgbClr val="E9E9E9"/>
                      </a:solidFill>
                      <a:prstDash val="solid"/>
                    </a:lnR>
                    <a:lnB w="9525">
                      <a:solidFill>
                        <a:srgbClr val="E9E9E9"/>
                      </a:solidFill>
                      <a:prstDash val="solid"/>
                    </a:lnB>
                  </a:tcPr>
                </a:tc>
                <a:tc hMerge="1">
                  <a:txBody>
                    <a:bodyPr/>
                    <a:lstStyle/>
                    <a:p>
                      <a:endParaRPr/>
                    </a:p>
                  </a:txBody>
                  <a:tcPr marL="0" marR="0" marT="0" marB="0"/>
                </a:tc>
                <a:extLst>
                  <a:ext uri="{0D108BD9-81ED-4DB2-BD59-A6C34878D82A}">
                    <a16:rowId xmlns:a16="http://schemas.microsoft.com/office/drawing/2014/main" val="10002"/>
                  </a:ext>
                </a:extLst>
              </a:tr>
            </a:tbl>
          </a:graphicData>
        </a:graphic>
      </p:graphicFrame>
      <p:sp>
        <p:nvSpPr>
          <p:cNvPr id="3" name="object 3"/>
          <p:cNvSpPr/>
          <p:nvPr/>
        </p:nvSpPr>
        <p:spPr>
          <a:xfrm>
            <a:off x="3276600" y="2863595"/>
            <a:ext cx="1900555" cy="280670"/>
          </a:xfrm>
          <a:custGeom>
            <a:avLst/>
            <a:gdLst/>
            <a:ahLst/>
            <a:cxnLst/>
            <a:rect l="l" t="t" r="r" b="b"/>
            <a:pathLst>
              <a:path w="1900554" h="280669">
                <a:moveTo>
                  <a:pt x="1900427" y="0"/>
                </a:moveTo>
                <a:lnTo>
                  <a:pt x="0" y="0"/>
                </a:lnTo>
                <a:lnTo>
                  <a:pt x="0" y="280415"/>
                </a:lnTo>
                <a:lnTo>
                  <a:pt x="1900427" y="280415"/>
                </a:lnTo>
                <a:lnTo>
                  <a:pt x="1900427" y="0"/>
                </a:lnTo>
                <a:close/>
              </a:path>
            </a:pathLst>
          </a:custGeom>
          <a:solidFill>
            <a:srgbClr val="FFFF00"/>
          </a:solidFill>
        </p:spPr>
        <p:txBody>
          <a:bodyPr wrap="square" lIns="0" tIns="0" rIns="0" bIns="0" rtlCol="0"/>
          <a:lstStyle/>
          <a:p>
            <a:endParaRPr/>
          </a:p>
        </p:txBody>
      </p:sp>
      <p:sp>
        <p:nvSpPr>
          <p:cNvPr id="4" name="object 4"/>
          <p:cNvSpPr/>
          <p:nvPr/>
        </p:nvSpPr>
        <p:spPr>
          <a:xfrm>
            <a:off x="1185672" y="3570732"/>
            <a:ext cx="7420609" cy="280670"/>
          </a:xfrm>
          <a:custGeom>
            <a:avLst/>
            <a:gdLst/>
            <a:ahLst/>
            <a:cxnLst/>
            <a:rect l="l" t="t" r="r" b="b"/>
            <a:pathLst>
              <a:path w="7420609" h="280670">
                <a:moveTo>
                  <a:pt x="7420356" y="0"/>
                </a:moveTo>
                <a:lnTo>
                  <a:pt x="0" y="0"/>
                </a:lnTo>
                <a:lnTo>
                  <a:pt x="0" y="280415"/>
                </a:lnTo>
                <a:lnTo>
                  <a:pt x="7420356" y="280415"/>
                </a:lnTo>
                <a:lnTo>
                  <a:pt x="7420356" y="0"/>
                </a:lnTo>
                <a:close/>
              </a:path>
            </a:pathLst>
          </a:custGeom>
          <a:solidFill>
            <a:srgbClr val="FFFF00"/>
          </a:solidFill>
        </p:spPr>
        <p:txBody>
          <a:bodyPr wrap="square" lIns="0" tIns="0" rIns="0" bIns="0" rtlCol="0"/>
          <a:lstStyle/>
          <a:p>
            <a:endParaRPr/>
          </a:p>
        </p:txBody>
      </p:sp>
      <p:sp>
        <p:nvSpPr>
          <p:cNvPr id="5" name="object 5"/>
          <p:cNvSpPr/>
          <p:nvPr/>
        </p:nvSpPr>
        <p:spPr>
          <a:xfrm>
            <a:off x="1185672" y="3819144"/>
            <a:ext cx="4218940" cy="280670"/>
          </a:xfrm>
          <a:custGeom>
            <a:avLst/>
            <a:gdLst/>
            <a:ahLst/>
            <a:cxnLst/>
            <a:rect l="l" t="t" r="r" b="b"/>
            <a:pathLst>
              <a:path w="4218940" h="280670">
                <a:moveTo>
                  <a:pt x="4218432" y="0"/>
                </a:moveTo>
                <a:lnTo>
                  <a:pt x="0" y="0"/>
                </a:lnTo>
                <a:lnTo>
                  <a:pt x="0" y="280415"/>
                </a:lnTo>
                <a:lnTo>
                  <a:pt x="4218432" y="280415"/>
                </a:lnTo>
                <a:lnTo>
                  <a:pt x="4218432" y="0"/>
                </a:lnTo>
                <a:close/>
              </a:path>
            </a:pathLst>
          </a:custGeom>
          <a:solidFill>
            <a:srgbClr val="FFFF00"/>
          </a:solidFill>
        </p:spPr>
        <p:txBody>
          <a:bodyPr wrap="square" lIns="0" tIns="0" rIns="0" bIns="0" rtlCol="0"/>
          <a:lstStyle/>
          <a:p>
            <a:endParaRPr/>
          </a:p>
        </p:txBody>
      </p:sp>
      <p:sp>
        <p:nvSpPr>
          <p:cNvPr id="6" name="object 6"/>
          <p:cNvSpPr txBox="1"/>
          <p:nvPr/>
        </p:nvSpPr>
        <p:spPr>
          <a:xfrm>
            <a:off x="1171518" y="2591805"/>
            <a:ext cx="7515225" cy="301625"/>
          </a:xfrm>
          <a:prstGeom prst="rect">
            <a:avLst/>
          </a:prstGeom>
        </p:spPr>
        <p:txBody>
          <a:bodyPr vert="horz" wrap="square" lIns="0" tIns="13970" rIns="0" bIns="0" rtlCol="0">
            <a:spAutoFit/>
          </a:bodyPr>
          <a:lstStyle/>
          <a:p>
            <a:pPr marL="12700">
              <a:lnSpc>
                <a:spcPct val="100000"/>
              </a:lnSpc>
              <a:spcBef>
                <a:spcPts val="110"/>
              </a:spcBef>
            </a:pPr>
            <a:r>
              <a:rPr sz="1800" spc="60" dirty="0">
                <a:latin typeface="Tahoma"/>
                <a:cs typeface="Tahoma"/>
              </a:rPr>
              <a:t>decisions</a:t>
            </a:r>
            <a:r>
              <a:rPr sz="1800" spc="-20" dirty="0">
                <a:latin typeface="Tahoma"/>
                <a:cs typeface="Tahoma"/>
              </a:rPr>
              <a:t> </a:t>
            </a:r>
            <a:r>
              <a:rPr sz="1800" spc="85" dirty="0">
                <a:latin typeface="Tahoma"/>
                <a:cs typeface="Tahoma"/>
              </a:rPr>
              <a:t>on</a:t>
            </a:r>
            <a:r>
              <a:rPr sz="1800" spc="-45" dirty="0">
                <a:latin typeface="Tahoma"/>
                <a:cs typeface="Tahoma"/>
              </a:rPr>
              <a:t> </a:t>
            </a:r>
            <a:r>
              <a:rPr sz="1800" dirty="0">
                <a:latin typeface="Tahoma"/>
                <a:cs typeface="Tahoma"/>
              </a:rPr>
              <a:t>the</a:t>
            </a:r>
            <a:r>
              <a:rPr sz="1800" spc="-25" dirty="0">
                <a:latin typeface="Tahoma"/>
                <a:cs typeface="Tahoma"/>
              </a:rPr>
              <a:t> </a:t>
            </a:r>
            <a:r>
              <a:rPr sz="1800" dirty="0">
                <a:latin typeface="Tahoma"/>
                <a:cs typeface="Tahoma"/>
              </a:rPr>
              <a:t>basis</a:t>
            </a:r>
            <a:r>
              <a:rPr sz="1800" spc="-40" dirty="0">
                <a:latin typeface="Tahoma"/>
                <a:cs typeface="Tahoma"/>
              </a:rPr>
              <a:t> </a:t>
            </a:r>
            <a:r>
              <a:rPr sz="1800" dirty="0">
                <a:latin typeface="Tahoma"/>
                <a:cs typeface="Tahoma"/>
              </a:rPr>
              <a:t>of</a:t>
            </a:r>
            <a:r>
              <a:rPr sz="1800" spc="15" dirty="0">
                <a:latin typeface="Tahoma"/>
                <a:cs typeface="Tahoma"/>
              </a:rPr>
              <a:t> </a:t>
            </a:r>
            <a:r>
              <a:rPr sz="1800" dirty="0">
                <a:latin typeface="Tahoma"/>
                <a:cs typeface="Tahoma"/>
              </a:rPr>
              <a:t>the</a:t>
            </a:r>
            <a:r>
              <a:rPr sz="1800" spc="-25" dirty="0">
                <a:latin typeface="Tahoma"/>
                <a:cs typeface="Tahoma"/>
              </a:rPr>
              <a:t> </a:t>
            </a:r>
            <a:r>
              <a:rPr sz="1800" dirty="0">
                <a:latin typeface="Tahoma"/>
                <a:cs typeface="Tahoma"/>
              </a:rPr>
              <a:t>current</a:t>
            </a:r>
            <a:r>
              <a:rPr sz="1800" spc="-40" dirty="0">
                <a:latin typeface="Tahoma"/>
                <a:cs typeface="Tahoma"/>
              </a:rPr>
              <a:t> </a:t>
            </a:r>
            <a:r>
              <a:rPr sz="1800" spc="60" dirty="0">
                <a:latin typeface="Tahoma"/>
                <a:cs typeface="Tahoma"/>
              </a:rPr>
              <a:t>percepts</a:t>
            </a:r>
            <a:r>
              <a:rPr sz="1800" spc="-10" dirty="0">
                <a:latin typeface="Tahoma"/>
                <a:cs typeface="Tahoma"/>
              </a:rPr>
              <a:t> </a:t>
            </a:r>
            <a:r>
              <a:rPr sz="1800" spc="65" dirty="0">
                <a:latin typeface="Tahoma"/>
                <a:cs typeface="Tahoma"/>
              </a:rPr>
              <a:t>and</a:t>
            </a:r>
            <a:r>
              <a:rPr sz="1800" spc="-45" dirty="0">
                <a:latin typeface="Tahoma"/>
                <a:cs typeface="Tahoma"/>
              </a:rPr>
              <a:t> </a:t>
            </a:r>
            <a:r>
              <a:rPr sz="1800" spc="65" dirty="0">
                <a:latin typeface="Tahoma"/>
                <a:cs typeface="Tahoma"/>
              </a:rPr>
              <a:t>ignore</a:t>
            </a:r>
            <a:r>
              <a:rPr sz="1800" spc="-15" dirty="0">
                <a:latin typeface="Tahoma"/>
                <a:cs typeface="Tahoma"/>
              </a:rPr>
              <a:t> </a:t>
            </a:r>
            <a:r>
              <a:rPr sz="1800" dirty="0">
                <a:latin typeface="Tahoma"/>
                <a:cs typeface="Tahoma"/>
              </a:rPr>
              <a:t>the</a:t>
            </a:r>
            <a:r>
              <a:rPr sz="1800" spc="-35" dirty="0">
                <a:latin typeface="Tahoma"/>
                <a:cs typeface="Tahoma"/>
              </a:rPr>
              <a:t> </a:t>
            </a:r>
            <a:r>
              <a:rPr sz="1800" dirty="0">
                <a:latin typeface="Tahoma"/>
                <a:cs typeface="Tahoma"/>
              </a:rPr>
              <a:t>rest</a:t>
            </a:r>
            <a:r>
              <a:rPr sz="1800" spc="-30" dirty="0">
                <a:latin typeface="Tahoma"/>
                <a:cs typeface="Tahoma"/>
              </a:rPr>
              <a:t> </a:t>
            </a:r>
            <a:r>
              <a:rPr sz="1800" dirty="0">
                <a:latin typeface="Tahoma"/>
                <a:cs typeface="Tahoma"/>
              </a:rPr>
              <a:t>of</a:t>
            </a:r>
            <a:r>
              <a:rPr sz="1800" spc="15" dirty="0">
                <a:latin typeface="Tahoma"/>
                <a:cs typeface="Tahoma"/>
              </a:rPr>
              <a:t> </a:t>
            </a:r>
            <a:r>
              <a:rPr sz="1800" spc="-25" dirty="0">
                <a:latin typeface="Tahoma"/>
                <a:cs typeface="Tahoma"/>
              </a:rPr>
              <a:t>the</a:t>
            </a:r>
            <a:endParaRPr sz="1800">
              <a:latin typeface="Tahoma"/>
              <a:cs typeface="Tahoma"/>
            </a:endParaRPr>
          </a:p>
        </p:txBody>
      </p:sp>
      <p:sp>
        <p:nvSpPr>
          <p:cNvPr id="7" name="object 7"/>
          <p:cNvSpPr txBox="1"/>
          <p:nvPr/>
        </p:nvSpPr>
        <p:spPr>
          <a:xfrm>
            <a:off x="982586" y="2764168"/>
            <a:ext cx="7576184" cy="1334770"/>
          </a:xfrm>
          <a:prstGeom prst="rect">
            <a:avLst/>
          </a:prstGeom>
        </p:spPr>
        <p:txBody>
          <a:bodyPr vert="horz" wrap="square" lIns="0" tIns="91440" rIns="0" bIns="0" rtlCol="0">
            <a:spAutoFit/>
          </a:bodyPr>
          <a:lstStyle/>
          <a:p>
            <a:pPr marL="201295">
              <a:lnSpc>
                <a:spcPct val="100000"/>
              </a:lnSpc>
              <a:spcBef>
                <a:spcPts val="720"/>
              </a:spcBef>
            </a:pPr>
            <a:r>
              <a:rPr sz="1800" spc="65" dirty="0">
                <a:latin typeface="Tahoma"/>
                <a:cs typeface="Tahoma"/>
              </a:rPr>
              <a:t>perception</a:t>
            </a:r>
            <a:r>
              <a:rPr sz="1800" spc="15" dirty="0">
                <a:latin typeface="Tahoma"/>
                <a:cs typeface="Tahoma"/>
              </a:rPr>
              <a:t> </a:t>
            </a:r>
            <a:r>
              <a:rPr sz="1800" dirty="0">
                <a:latin typeface="Tahoma"/>
                <a:cs typeface="Tahoma"/>
              </a:rPr>
              <a:t>history.</a:t>
            </a:r>
            <a:r>
              <a:rPr sz="1800" spc="-60" dirty="0">
                <a:latin typeface="Tahoma"/>
                <a:cs typeface="Tahoma"/>
              </a:rPr>
              <a:t> </a:t>
            </a:r>
            <a:r>
              <a:rPr sz="1800" dirty="0">
                <a:latin typeface="Tahoma"/>
                <a:cs typeface="Tahoma"/>
              </a:rPr>
              <a:t>(example</a:t>
            </a:r>
            <a:r>
              <a:rPr sz="1800" spc="15" dirty="0">
                <a:latin typeface="Tahoma"/>
                <a:cs typeface="Tahoma"/>
              </a:rPr>
              <a:t> </a:t>
            </a:r>
            <a:r>
              <a:rPr sz="1800" spc="-10" dirty="0">
                <a:latin typeface="Tahoma"/>
                <a:cs typeface="Tahoma"/>
              </a:rPr>
              <a:t>sneezing)</a:t>
            </a:r>
            <a:endParaRPr sz="1800">
              <a:latin typeface="Tahoma"/>
              <a:cs typeface="Tahoma"/>
            </a:endParaRPr>
          </a:p>
          <a:p>
            <a:pPr marL="200660" indent="-187960">
              <a:lnSpc>
                <a:spcPct val="100000"/>
              </a:lnSpc>
              <a:spcBef>
                <a:spcPts val="625"/>
              </a:spcBef>
              <a:buFont typeface="Arial MT"/>
              <a:buChar char="•"/>
              <a:tabLst>
                <a:tab pos="200660" algn="l"/>
              </a:tabLst>
            </a:pPr>
            <a:r>
              <a:rPr sz="1800" dirty="0">
                <a:latin typeface="Tahoma"/>
                <a:cs typeface="Tahoma"/>
              </a:rPr>
              <a:t>These</a:t>
            </a:r>
            <a:r>
              <a:rPr sz="1800" spc="15" dirty="0">
                <a:latin typeface="Tahoma"/>
                <a:cs typeface="Tahoma"/>
              </a:rPr>
              <a:t> </a:t>
            </a:r>
            <a:r>
              <a:rPr sz="1800" dirty="0">
                <a:latin typeface="Tahoma"/>
                <a:cs typeface="Tahoma"/>
              </a:rPr>
              <a:t>agents</a:t>
            </a:r>
            <a:r>
              <a:rPr sz="1800" spc="10" dirty="0">
                <a:latin typeface="Tahoma"/>
                <a:cs typeface="Tahoma"/>
              </a:rPr>
              <a:t> </a:t>
            </a:r>
            <a:r>
              <a:rPr sz="1800" dirty="0">
                <a:latin typeface="Tahoma"/>
                <a:cs typeface="Tahoma"/>
              </a:rPr>
              <a:t>only</a:t>
            </a:r>
            <a:r>
              <a:rPr sz="1800" spc="5" dirty="0">
                <a:latin typeface="Tahoma"/>
                <a:cs typeface="Tahoma"/>
              </a:rPr>
              <a:t> </a:t>
            </a:r>
            <a:r>
              <a:rPr sz="1800" spc="70" dirty="0">
                <a:latin typeface="Tahoma"/>
                <a:cs typeface="Tahoma"/>
              </a:rPr>
              <a:t>succeed</a:t>
            </a:r>
            <a:r>
              <a:rPr sz="1800" dirty="0">
                <a:latin typeface="Tahoma"/>
                <a:cs typeface="Tahoma"/>
              </a:rPr>
              <a:t> in</a:t>
            </a:r>
            <a:r>
              <a:rPr sz="1800" spc="5" dirty="0">
                <a:latin typeface="Tahoma"/>
                <a:cs typeface="Tahoma"/>
              </a:rPr>
              <a:t> </a:t>
            </a:r>
            <a:r>
              <a:rPr sz="1800" dirty="0">
                <a:latin typeface="Tahoma"/>
                <a:cs typeface="Tahoma"/>
              </a:rPr>
              <a:t>the</a:t>
            </a:r>
            <a:r>
              <a:rPr sz="1800" spc="10" dirty="0">
                <a:latin typeface="Tahoma"/>
                <a:cs typeface="Tahoma"/>
              </a:rPr>
              <a:t> </a:t>
            </a:r>
            <a:r>
              <a:rPr sz="1800" dirty="0">
                <a:latin typeface="Tahoma"/>
                <a:cs typeface="Tahoma"/>
              </a:rPr>
              <a:t>fully</a:t>
            </a:r>
            <a:r>
              <a:rPr sz="1800" spc="-15" dirty="0">
                <a:latin typeface="Tahoma"/>
                <a:cs typeface="Tahoma"/>
              </a:rPr>
              <a:t> </a:t>
            </a:r>
            <a:r>
              <a:rPr sz="1800" spc="60" dirty="0">
                <a:latin typeface="Tahoma"/>
                <a:cs typeface="Tahoma"/>
              </a:rPr>
              <a:t>observable</a:t>
            </a:r>
            <a:r>
              <a:rPr sz="1800" spc="25" dirty="0">
                <a:latin typeface="Tahoma"/>
                <a:cs typeface="Tahoma"/>
              </a:rPr>
              <a:t> </a:t>
            </a:r>
            <a:r>
              <a:rPr sz="1800" spc="-10" dirty="0">
                <a:latin typeface="Tahoma"/>
                <a:cs typeface="Tahoma"/>
              </a:rPr>
              <a:t>environment.</a:t>
            </a:r>
            <a:endParaRPr sz="1800">
              <a:latin typeface="Tahoma"/>
              <a:cs typeface="Tahoma"/>
            </a:endParaRPr>
          </a:p>
          <a:p>
            <a:pPr marL="200025" marR="5080" indent="-187960">
              <a:lnSpc>
                <a:spcPts val="1960"/>
              </a:lnSpc>
              <a:spcBef>
                <a:spcPts val="855"/>
              </a:spcBef>
              <a:buFont typeface="Arial MT"/>
              <a:buChar char="•"/>
              <a:tabLst>
                <a:tab pos="201295" algn="l"/>
              </a:tabLst>
            </a:pPr>
            <a:r>
              <a:rPr sz="1800" dirty="0">
                <a:latin typeface="Tahoma"/>
                <a:cs typeface="Tahoma"/>
              </a:rPr>
              <a:t>The</a:t>
            </a:r>
            <a:r>
              <a:rPr sz="1800" spc="-65" dirty="0">
                <a:latin typeface="Tahoma"/>
                <a:cs typeface="Tahoma"/>
              </a:rPr>
              <a:t> </a:t>
            </a:r>
            <a:r>
              <a:rPr sz="1800" spc="70" dirty="0">
                <a:latin typeface="Tahoma"/>
                <a:cs typeface="Tahoma"/>
              </a:rPr>
              <a:t>Simple</a:t>
            </a:r>
            <a:r>
              <a:rPr sz="1800" spc="-65" dirty="0">
                <a:latin typeface="Tahoma"/>
                <a:cs typeface="Tahoma"/>
              </a:rPr>
              <a:t> </a:t>
            </a:r>
            <a:r>
              <a:rPr sz="1800" dirty="0">
                <a:latin typeface="Tahoma"/>
                <a:cs typeface="Tahoma"/>
              </a:rPr>
              <a:t>reflex</a:t>
            </a:r>
            <a:r>
              <a:rPr sz="1800" spc="-45" dirty="0">
                <a:latin typeface="Tahoma"/>
                <a:cs typeface="Tahoma"/>
              </a:rPr>
              <a:t> </a:t>
            </a:r>
            <a:r>
              <a:rPr sz="1800" spc="50" dirty="0">
                <a:latin typeface="Tahoma"/>
                <a:cs typeface="Tahoma"/>
              </a:rPr>
              <a:t>agent</a:t>
            </a:r>
            <a:r>
              <a:rPr sz="1800" spc="-70" dirty="0">
                <a:latin typeface="Tahoma"/>
                <a:cs typeface="Tahoma"/>
              </a:rPr>
              <a:t> </a:t>
            </a:r>
            <a:r>
              <a:rPr sz="1800" spc="85" dirty="0">
                <a:latin typeface="Tahoma"/>
                <a:cs typeface="Tahoma"/>
              </a:rPr>
              <a:t>does</a:t>
            </a:r>
            <a:r>
              <a:rPr sz="1800" spc="-45" dirty="0">
                <a:latin typeface="Tahoma"/>
                <a:cs typeface="Tahoma"/>
              </a:rPr>
              <a:t> </a:t>
            </a:r>
            <a:r>
              <a:rPr sz="1800" spc="50" dirty="0">
                <a:latin typeface="Tahoma"/>
                <a:cs typeface="Tahoma"/>
              </a:rPr>
              <a:t>not</a:t>
            </a:r>
            <a:r>
              <a:rPr sz="1800" spc="-70" dirty="0">
                <a:latin typeface="Tahoma"/>
                <a:cs typeface="Tahoma"/>
              </a:rPr>
              <a:t> </a:t>
            </a:r>
            <a:r>
              <a:rPr sz="1800" spc="65" dirty="0">
                <a:latin typeface="Tahoma"/>
                <a:cs typeface="Tahoma"/>
              </a:rPr>
              <a:t>consider</a:t>
            </a:r>
            <a:r>
              <a:rPr sz="1800" spc="-65" dirty="0">
                <a:latin typeface="Tahoma"/>
                <a:cs typeface="Tahoma"/>
              </a:rPr>
              <a:t> </a:t>
            </a:r>
            <a:r>
              <a:rPr sz="1800" dirty="0">
                <a:latin typeface="Tahoma"/>
                <a:cs typeface="Tahoma"/>
              </a:rPr>
              <a:t>any</a:t>
            </a:r>
            <a:r>
              <a:rPr sz="1800" spc="-75" dirty="0">
                <a:latin typeface="Tahoma"/>
                <a:cs typeface="Tahoma"/>
              </a:rPr>
              <a:t> </a:t>
            </a:r>
            <a:r>
              <a:rPr sz="1800" dirty="0">
                <a:latin typeface="Tahoma"/>
                <a:cs typeface="Tahoma"/>
              </a:rPr>
              <a:t>part</a:t>
            </a:r>
            <a:r>
              <a:rPr sz="1800" spc="-55" dirty="0">
                <a:latin typeface="Tahoma"/>
                <a:cs typeface="Tahoma"/>
              </a:rPr>
              <a:t> </a:t>
            </a:r>
            <a:r>
              <a:rPr sz="1800" dirty="0">
                <a:latin typeface="Tahoma"/>
                <a:cs typeface="Tahoma"/>
              </a:rPr>
              <a:t>of</a:t>
            </a:r>
            <a:r>
              <a:rPr sz="1800" spc="-15" dirty="0">
                <a:latin typeface="Tahoma"/>
                <a:cs typeface="Tahoma"/>
              </a:rPr>
              <a:t> </a:t>
            </a:r>
            <a:r>
              <a:rPr sz="1800" spc="60" dirty="0">
                <a:latin typeface="Tahoma"/>
                <a:cs typeface="Tahoma"/>
              </a:rPr>
              <a:t>percepts</a:t>
            </a:r>
            <a:r>
              <a:rPr sz="1800" spc="-40" dirty="0">
                <a:latin typeface="Tahoma"/>
                <a:cs typeface="Tahoma"/>
              </a:rPr>
              <a:t> </a:t>
            </a:r>
            <a:r>
              <a:rPr sz="1800" spc="-10" dirty="0">
                <a:latin typeface="Tahoma"/>
                <a:cs typeface="Tahoma"/>
              </a:rPr>
              <a:t>history 	</a:t>
            </a:r>
            <a:r>
              <a:rPr sz="1800" spc="65" dirty="0">
                <a:latin typeface="Tahoma"/>
                <a:cs typeface="Tahoma"/>
              </a:rPr>
              <a:t>during</a:t>
            </a:r>
            <a:r>
              <a:rPr sz="1800" spc="-20" dirty="0">
                <a:latin typeface="Tahoma"/>
                <a:cs typeface="Tahoma"/>
              </a:rPr>
              <a:t> </a:t>
            </a:r>
            <a:r>
              <a:rPr sz="1800" dirty="0">
                <a:latin typeface="Tahoma"/>
                <a:cs typeface="Tahoma"/>
              </a:rPr>
              <a:t>their</a:t>
            </a:r>
            <a:r>
              <a:rPr sz="1800" spc="-5" dirty="0">
                <a:latin typeface="Tahoma"/>
                <a:cs typeface="Tahoma"/>
              </a:rPr>
              <a:t> </a:t>
            </a:r>
            <a:r>
              <a:rPr sz="1800" spc="65" dirty="0">
                <a:latin typeface="Tahoma"/>
                <a:cs typeface="Tahoma"/>
              </a:rPr>
              <a:t>decision</a:t>
            </a:r>
            <a:r>
              <a:rPr sz="1800" dirty="0">
                <a:latin typeface="Tahoma"/>
                <a:cs typeface="Tahoma"/>
              </a:rPr>
              <a:t> </a:t>
            </a:r>
            <a:r>
              <a:rPr sz="1800" spc="65" dirty="0">
                <a:latin typeface="Tahoma"/>
                <a:cs typeface="Tahoma"/>
              </a:rPr>
              <a:t>and</a:t>
            </a:r>
            <a:r>
              <a:rPr sz="1800" spc="-35" dirty="0">
                <a:latin typeface="Tahoma"/>
                <a:cs typeface="Tahoma"/>
              </a:rPr>
              <a:t> </a:t>
            </a:r>
            <a:r>
              <a:rPr sz="1800" dirty="0">
                <a:latin typeface="Tahoma"/>
                <a:cs typeface="Tahoma"/>
              </a:rPr>
              <a:t>action</a:t>
            </a:r>
            <a:r>
              <a:rPr sz="1800" spc="-15" dirty="0">
                <a:latin typeface="Tahoma"/>
                <a:cs typeface="Tahoma"/>
              </a:rPr>
              <a:t> </a:t>
            </a:r>
            <a:r>
              <a:rPr sz="1800" spc="-10" dirty="0">
                <a:latin typeface="Tahoma"/>
                <a:cs typeface="Tahoma"/>
              </a:rPr>
              <a:t>process.</a:t>
            </a:r>
            <a:endParaRPr sz="1800">
              <a:latin typeface="Tahoma"/>
              <a:cs typeface="Tahoma"/>
            </a:endParaRPr>
          </a:p>
        </p:txBody>
      </p:sp>
      <p:sp>
        <p:nvSpPr>
          <p:cNvPr id="8" name="object 8"/>
          <p:cNvSpPr txBox="1"/>
          <p:nvPr/>
        </p:nvSpPr>
        <p:spPr>
          <a:xfrm>
            <a:off x="982586" y="4150895"/>
            <a:ext cx="8025130" cy="1900555"/>
          </a:xfrm>
          <a:prstGeom prst="rect">
            <a:avLst/>
          </a:prstGeom>
        </p:spPr>
        <p:txBody>
          <a:bodyPr vert="horz" wrap="square" lIns="0" tIns="39370" rIns="0" bIns="0" rtlCol="0">
            <a:spAutoFit/>
          </a:bodyPr>
          <a:lstStyle/>
          <a:p>
            <a:pPr marL="200025" marR="5080" indent="-187960">
              <a:lnSpc>
                <a:spcPct val="90700"/>
              </a:lnSpc>
              <a:spcBef>
                <a:spcPts val="310"/>
              </a:spcBef>
              <a:buFont typeface="Arial MT"/>
              <a:buChar char="•"/>
              <a:tabLst>
                <a:tab pos="201295" algn="l"/>
              </a:tabLst>
            </a:pPr>
            <a:r>
              <a:rPr sz="1800" dirty="0">
                <a:latin typeface="Tahoma"/>
                <a:cs typeface="Tahoma"/>
              </a:rPr>
              <a:t>The</a:t>
            </a:r>
            <a:r>
              <a:rPr sz="1800" spc="-20" dirty="0">
                <a:latin typeface="Tahoma"/>
                <a:cs typeface="Tahoma"/>
              </a:rPr>
              <a:t> </a:t>
            </a:r>
            <a:r>
              <a:rPr sz="1800" spc="70" dirty="0">
                <a:latin typeface="Tahoma"/>
                <a:cs typeface="Tahoma"/>
              </a:rPr>
              <a:t>Simple</a:t>
            </a:r>
            <a:r>
              <a:rPr sz="1800" spc="-25" dirty="0">
                <a:latin typeface="Tahoma"/>
                <a:cs typeface="Tahoma"/>
              </a:rPr>
              <a:t> </a:t>
            </a:r>
            <a:r>
              <a:rPr sz="1800" dirty="0">
                <a:latin typeface="Tahoma"/>
                <a:cs typeface="Tahoma"/>
              </a:rPr>
              <a:t>reflex </a:t>
            </a:r>
            <a:r>
              <a:rPr sz="1800" spc="50" dirty="0">
                <a:latin typeface="Tahoma"/>
                <a:cs typeface="Tahoma"/>
              </a:rPr>
              <a:t>agent</a:t>
            </a:r>
            <a:r>
              <a:rPr sz="1800" spc="-30" dirty="0">
                <a:latin typeface="Tahoma"/>
                <a:cs typeface="Tahoma"/>
              </a:rPr>
              <a:t> </a:t>
            </a:r>
            <a:r>
              <a:rPr sz="1800" dirty="0">
                <a:latin typeface="Tahoma"/>
                <a:cs typeface="Tahoma"/>
              </a:rPr>
              <a:t>works</a:t>
            </a:r>
            <a:r>
              <a:rPr sz="1800" spc="-10" dirty="0">
                <a:latin typeface="Tahoma"/>
                <a:cs typeface="Tahoma"/>
              </a:rPr>
              <a:t> </a:t>
            </a:r>
            <a:r>
              <a:rPr sz="1800" spc="85" dirty="0">
                <a:latin typeface="Tahoma"/>
                <a:cs typeface="Tahoma"/>
              </a:rPr>
              <a:t>on</a:t>
            </a:r>
            <a:r>
              <a:rPr sz="1800" spc="-30" dirty="0">
                <a:latin typeface="Tahoma"/>
                <a:cs typeface="Tahoma"/>
              </a:rPr>
              <a:t> </a:t>
            </a:r>
            <a:r>
              <a:rPr sz="1800" spc="65" dirty="0">
                <a:latin typeface="Tahoma"/>
                <a:cs typeface="Tahoma"/>
              </a:rPr>
              <a:t>Condition-</a:t>
            </a:r>
            <a:r>
              <a:rPr sz="1800" dirty="0">
                <a:latin typeface="Tahoma"/>
                <a:cs typeface="Tahoma"/>
              </a:rPr>
              <a:t>action</a:t>
            </a:r>
            <a:r>
              <a:rPr sz="1800" spc="-5" dirty="0">
                <a:latin typeface="Tahoma"/>
                <a:cs typeface="Tahoma"/>
              </a:rPr>
              <a:t> </a:t>
            </a:r>
            <a:r>
              <a:rPr sz="1800" dirty="0">
                <a:latin typeface="Tahoma"/>
                <a:cs typeface="Tahoma"/>
              </a:rPr>
              <a:t>rule</a:t>
            </a:r>
            <a:r>
              <a:rPr sz="1800" spc="-45" dirty="0">
                <a:latin typeface="Tahoma"/>
                <a:cs typeface="Tahoma"/>
              </a:rPr>
              <a:t> </a:t>
            </a:r>
            <a:r>
              <a:rPr sz="1800" spc="-40" dirty="0">
                <a:latin typeface="Tahoma"/>
                <a:cs typeface="Tahoma"/>
              </a:rPr>
              <a:t>(if</a:t>
            </a:r>
            <a:r>
              <a:rPr sz="1800" spc="40" dirty="0">
                <a:latin typeface="Tahoma"/>
                <a:cs typeface="Tahoma"/>
              </a:rPr>
              <a:t> </a:t>
            </a:r>
            <a:r>
              <a:rPr sz="1800" spc="-25" dirty="0">
                <a:latin typeface="Tahoma"/>
                <a:cs typeface="Tahoma"/>
              </a:rPr>
              <a:t>then),</a:t>
            </a:r>
            <a:r>
              <a:rPr sz="1800" spc="-80" dirty="0">
                <a:latin typeface="Tahoma"/>
                <a:cs typeface="Tahoma"/>
              </a:rPr>
              <a:t> </a:t>
            </a:r>
            <a:r>
              <a:rPr sz="1800" spc="-10" dirty="0">
                <a:latin typeface="Tahoma"/>
                <a:cs typeface="Tahoma"/>
              </a:rPr>
              <a:t>which 	</a:t>
            </a:r>
            <a:r>
              <a:rPr sz="1800" dirty="0">
                <a:latin typeface="Tahoma"/>
                <a:cs typeface="Tahoma"/>
              </a:rPr>
              <a:t>means</a:t>
            </a:r>
            <a:r>
              <a:rPr sz="1800" spc="-40" dirty="0">
                <a:latin typeface="Tahoma"/>
                <a:cs typeface="Tahoma"/>
              </a:rPr>
              <a:t> </a:t>
            </a:r>
            <a:r>
              <a:rPr sz="1800" dirty="0">
                <a:latin typeface="Tahoma"/>
                <a:cs typeface="Tahoma"/>
              </a:rPr>
              <a:t>it</a:t>
            </a:r>
            <a:r>
              <a:rPr sz="1800" spc="-30" dirty="0">
                <a:latin typeface="Tahoma"/>
                <a:cs typeface="Tahoma"/>
              </a:rPr>
              <a:t> </a:t>
            </a:r>
            <a:r>
              <a:rPr sz="1800" spc="60" dirty="0">
                <a:latin typeface="Tahoma"/>
                <a:cs typeface="Tahoma"/>
              </a:rPr>
              <a:t>maps</a:t>
            </a:r>
            <a:r>
              <a:rPr sz="1800" spc="-30" dirty="0">
                <a:latin typeface="Tahoma"/>
                <a:cs typeface="Tahoma"/>
              </a:rPr>
              <a:t> </a:t>
            </a:r>
            <a:r>
              <a:rPr sz="1800" dirty="0">
                <a:latin typeface="Tahoma"/>
                <a:cs typeface="Tahoma"/>
              </a:rPr>
              <a:t>the</a:t>
            </a:r>
            <a:r>
              <a:rPr sz="1800" spc="-25" dirty="0">
                <a:latin typeface="Tahoma"/>
                <a:cs typeface="Tahoma"/>
              </a:rPr>
              <a:t> </a:t>
            </a:r>
            <a:r>
              <a:rPr sz="1800" dirty="0">
                <a:latin typeface="Tahoma"/>
                <a:cs typeface="Tahoma"/>
              </a:rPr>
              <a:t>current</a:t>
            </a:r>
            <a:r>
              <a:rPr sz="1800" spc="-20" dirty="0">
                <a:latin typeface="Tahoma"/>
                <a:cs typeface="Tahoma"/>
              </a:rPr>
              <a:t> </a:t>
            </a:r>
            <a:r>
              <a:rPr sz="1800" dirty="0">
                <a:latin typeface="Tahoma"/>
                <a:cs typeface="Tahoma"/>
              </a:rPr>
              <a:t>state</a:t>
            </a:r>
            <a:r>
              <a:rPr sz="1800" spc="-35" dirty="0">
                <a:latin typeface="Tahoma"/>
                <a:cs typeface="Tahoma"/>
              </a:rPr>
              <a:t> </a:t>
            </a:r>
            <a:r>
              <a:rPr sz="1800" dirty="0">
                <a:latin typeface="Tahoma"/>
                <a:cs typeface="Tahoma"/>
              </a:rPr>
              <a:t>to</a:t>
            </a:r>
            <a:r>
              <a:rPr sz="1800" spc="-25" dirty="0">
                <a:latin typeface="Tahoma"/>
                <a:cs typeface="Tahoma"/>
              </a:rPr>
              <a:t> </a:t>
            </a:r>
            <a:r>
              <a:rPr sz="1800" dirty="0">
                <a:latin typeface="Tahoma"/>
                <a:cs typeface="Tahoma"/>
              </a:rPr>
              <a:t>action.</a:t>
            </a:r>
            <a:r>
              <a:rPr sz="1800" spc="-105" dirty="0">
                <a:latin typeface="Tahoma"/>
                <a:cs typeface="Tahoma"/>
              </a:rPr>
              <a:t> </a:t>
            </a:r>
            <a:r>
              <a:rPr sz="1800" spc="50" dirty="0">
                <a:latin typeface="Tahoma"/>
                <a:cs typeface="Tahoma"/>
              </a:rPr>
              <a:t>Such</a:t>
            </a:r>
            <a:r>
              <a:rPr sz="1800" spc="-40" dirty="0">
                <a:latin typeface="Tahoma"/>
                <a:cs typeface="Tahoma"/>
              </a:rPr>
              <a:t> </a:t>
            </a:r>
            <a:r>
              <a:rPr sz="1800" dirty="0">
                <a:latin typeface="Tahoma"/>
                <a:cs typeface="Tahoma"/>
              </a:rPr>
              <a:t>as</a:t>
            </a:r>
            <a:r>
              <a:rPr sz="1800" spc="-35" dirty="0">
                <a:latin typeface="Tahoma"/>
                <a:cs typeface="Tahoma"/>
              </a:rPr>
              <a:t> </a:t>
            </a:r>
            <a:r>
              <a:rPr sz="1800" dirty="0">
                <a:latin typeface="Tahoma"/>
                <a:cs typeface="Tahoma"/>
              </a:rPr>
              <a:t>a</a:t>
            </a:r>
            <a:r>
              <a:rPr sz="1800" spc="-40" dirty="0">
                <a:latin typeface="Tahoma"/>
                <a:cs typeface="Tahoma"/>
              </a:rPr>
              <a:t> </a:t>
            </a:r>
            <a:r>
              <a:rPr sz="1800" spc="60" dirty="0">
                <a:latin typeface="Tahoma"/>
                <a:cs typeface="Tahoma"/>
              </a:rPr>
              <a:t>Room</a:t>
            </a:r>
            <a:r>
              <a:rPr sz="1800" spc="-15" dirty="0">
                <a:latin typeface="Tahoma"/>
                <a:cs typeface="Tahoma"/>
              </a:rPr>
              <a:t> </a:t>
            </a:r>
            <a:r>
              <a:rPr sz="1800" spc="65" dirty="0">
                <a:latin typeface="Tahoma"/>
                <a:cs typeface="Tahoma"/>
              </a:rPr>
              <a:t>Cleaner</a:t>
            </a:r>
            <a:r>
              <a:rPr sz="1800" spc="-30" dirty="0">
                <a:latin typeface="Tahoma"/>
                <a:cs typeface="Tahoma"/>
              </a:rPr>
              <a:t> </a:t>
            </a:r>
            <a:r>
              <a:rPr sz="1800" dirty="0">
                <a:latin typeface="Tahoma"/>
                <a:cs typeface="Tahoma"/>
              </a:rPr>
              <a:t>agent,</a:t>
            </a:r>
            <a:r>
              <a:rPr sz="1800" spc="-85" dirty="0">
                <a:latin typeface="Tahoma"/>
                <a:cs typeface="Tahoma"/>
              </a:rPr>
              <a:t> </a:t>
            </a:r>
            <a:r>
              <a:rPr sz="1800" spc="-25" dirty="0">
                <a:latin typeface="Tahoma"/>
                <a:cs typeface="Tahoma"/>
              </a:rPr>
              <a:t>it 	</a:t>
            </a:r>
            <a:r>
              <a:rPr sz="1800" dirty="0">
                <a:latin typeface="Tahoma"/>
                <a:cs typeface="Tahoma"/>
              </a:rPr>
              <a:t>works</a:t>
            </a:r>
            <a:r>
              <a:rPr sz="1800" spc="5" dirty="0">
                <a:latin typeface="Tahoma"/>
                <a:cs typeface="Tahoma"/>
              </a:rPr>
              <a:t> </a:t>
            </a:r>
            <a:r>
              <a:rPr sz="1800" dirty="0">
                <a:latin typeface="Tahoma"/>
                <a:cs typeface="Tahoma"/>
              </a:rPr>
              <a:t>only</a:t>
            </a:r>
            <a:r>
              <a:rPr sz="1800" spc="-5" dirty="0">
                <a:latin typeface="Tahoma"/>
                <a:cs typeface="Tahoma"/>
              </a:rPr>
              <a:t> </a:t>
            </a:r>
            <a:r>
              <a:rPr sz="1800" dirty="0">
                <a:latin typeface="Tahoma"/>
                <a:cs typeface="Tahoma"/>
              </a:rPr>
              <a:t>if</a:t>
            </a:r>
            <a:r>
              <a:rPr sz="1800" spc="45" dirty="0">
                <a:latin typeface="Tahoma"/>
                <a:cs typeface="Tahoma"/>
              </a:rPr>
              <a:t> </a:t>
            </a:r>
            <a:r>
              <a:rPr sz="1800" dirty="0">
                <a:latin typeface="Tahoma"/>
                <a:cs typeface="Tahoma"/>
              </a:rPr>
              <a:t>there</a:t>
            </a:r>
            <a:r>
              <a:rPr sz="1800" spc="15" dirty="0">
                <a:latin typeface="Tahoma"/>
                <a:cs typeface="Tahoma"/>
              </a:rPr>
              <a:t> </a:t>
            </a:r>
            <a:r>
              <a:rPr sz="1800" dirty="0">
                <a:latin typeface="Tahoma"/>
                <a:cs typeface="Tahoma"/>
              </a:rPr>
              <a:t>is</a:t>
            </a:r>
            <a:r>
              <a:rPr sz="1800" spc="-10" dirty="0">
                <a:latin typeface="Tahoma"/>
                <a:cs typeface="Tahoma"/>
              </a:rPr>
              <a:t> </a:t>
            </a:r>
            <a:r>
              <a:rPr sz="1800" dirty="0">
                <a:latin typeface="Tahoma"/>
                <a:cs typeface="Tahoma"/>
              </a:rPr>
              <a:t>dirt</a:t>
            </a:r>
            <a:r>
              <a:rPr sz="1800" spc="-10" dirty="0">
                <a:latin typeface="Tahoma"/>
                <a:cs typeface="Tahoma"/>
              </a:rPr>
              <a:t> </a:t>
            </a:r>
            <a:r>
              <a:rPr sz="1800" dirty="0">
                <a:latin typeface="Tahoma"/>
                <a:cs typeface="Tahoma"/>
              </a:rPr>
              <a:t>in</a:t>
            </a:r>
            <a:r>
              <a:rPr sz="1800" spc="-10" dirty="0">
                <a:latin typeface="Tahoma"/>
                <a:cs typeface="Tahoma"/>
              </a:rPr>
              <a:t> </a:t>
            </a:r>
            <a:r>
              <a:rPr sz="1800" dirty="0">
                <a:latin typeface="Tahoma"/>
                <a:cs typeface="Tahoma"/>
              </a:rPr>
              <a:t>the</a:t>
            </a:r>
            <a:r>
              <a:rPr sz="1800" spc="10" dirty="0">
                <a:latin typeface="Tahoma"/>
                <a:cs typeface="Tahoma"/>
              </a:rPr>
              <a:t> </a:t>
            </a:r>
            <a:r>
              <a:rPr sz="1800" dirty="0">
                <a:latin typeface="Tahoma"/>
                <a:cs typeface="Tahoma"/>
              </a:rPr>
              <a:t>room.</a:t>
            </a:r>
            <a:r>
              <a:rPr sz="1800" spc="-45" dirty="0">
                <a:latin typeface="Tahoma"/>
                <a:cs typeface="Tahoma"/>
              </a:rPr>
              <a:t> </a:t>
            </a:r>
            <a:r>
              <a:rPr sz="1800" spc="-125" dirty="0">
                <a:latin typeface="Tahoma"/>
                <a:cs typeface="Tahoma"/>
              </a:rPr>
              <a:t>If</a:t>
            </a:r>
            <a:r>
              <a:rPr sz="1800" spc="35" dirty="0">
                <a:latin typeface="Tahoma"/>
                <a:cs typeface="Tahoma"/>
              </a:rPr>
              <a:t> </a:t>
            </a:r>
            <a:r>
              <a:rPr sz="1800" dirty="0">
                <a:latin typeface="Tahoma"/>
                <a:cs typeface="Tahoma"/>
              </a:rPr>
              <a:t>temperature</a:t>
            </a:r>
            <a:r>
              <a:rPr sz="1800" spc="35" dirty="0">
                <a:latin typeface="Tahoma"/>
                <a:cs typeface="Tahoma"/>
              </a:rPr>
              <a:t> </a:t>
            </a:r>
            <a:r>
              <a:rPr sz="1800" dirty="0">
                <a:latin typeface="Tahoma"/>
                <a:cs typeface="Tahoma"/>
              </a:rPr>
              <a:t>in</a:t>
            </a:r>
            <a:r>
              <a:rPr sz="1800" spc="-15" dirty="0">
                <a:latin typeface="Tahoma"/>
                <a:cs typeface="Tahoma"/>
              </a:rPr>
              <a:t> </a:t>
            </a:r>
            <a:r>
              <a:rPr sz="1800" dirty="0">
                <a:latin typeface="Tahoma"/>
                <a:cs typeface="Tahoma"/>
              </a:rPr>
              <a:t>the</a:t>
            </a:r>
            <a:r>
              <a:rPr sz="1800" spc="15" dirty="0">
                <a:latin typeface="Tahoma"/>
                <a:cs typeface="Tahoma"/>
              </a:rPr>
              <a:t> </a:t>
            </a:r>
            <a:r>
              <a:rPr sz="1800" spc="65" dirty="0">
                <a:latin typeface="Tahoma"/>
                <a:cs typeface="Tahoma"/>
              </a:rPr>
              <a:t>room</a:t>
            </a:r>
            <a:r>
              <a:rPr sz="1800" spc="15" dirty="0">
                <a:latin typeface="Tahoma"/>
                <a:cs typeface="Tahoma"/>
              </a:rPr>
              <a:t> </a:t>
            </a:r>
            <a:r>
              <a:rPr sz="1800" dirty="0">
                <a:latin typeface="Tahoma"/>
                <a:cs typeface="Tahoma"/>
              </a:rPr>
              <a:t>is</a:t>
            </a:r>
            <a:r>
              <a:rPr sz="1800" spc="-25" dirty="0">
                <a:latin typeface="Tahoma"/>
                <a:cs typeface="Tahoma"/>
              </a:rPr>
              <a:t> </a:t>
            </a:r>
            <a:r>
              <a:rPr sz="1800" spc="-125" dirty="0">
                <a:latin typeface="Tahoma"/>
                <a:cs typeface="Tahoma"/>
              </a:rPr>
              <a:t>&gt;</a:t>
            </a:r>
            <a:r>
              <a:rPr sz="1800" spc="-5" dirty="0">
                <a:latin typeface="Tahoma"/>
                <a:cs typeface="Tahoma"/>
              </a:rPr>
              <a:t> </a:t>
            </a:r>
            <a:r>
              <a:rPr sz="1800" spc="25" dirty="0">
                <a:latin typeface="Tahoma"/>
                <a:cs typeface="Tahoma"/>
              </a:rPr>
              <a:t>40 	</a:t>
            </a:r>
            <a:r>
              <a:rPr sz="1800" spc="75" dirty="0">
                <a:latin typeface="Tahoma"/>
                <a:cs typeface="Tahoma"/>
              </a:rPr>
              <a:t>degree</a:t>
            </a:r>
            <a:r>
              <a:rPr sz="1800" spc="-15" dirty="0">
                <a:latin typeface="Tahoma"/>
                <a:cs typeface="Tahoma"/>
              </a:rPr>
              <a:t> </a:t>
            </a:r>
            <a:r>
              <a:rPr sz="1800" dirty="0">
                <a:latin typeface="Tahoma"/>
                <a:cs typeface="Tahoma"/>
              </a:rPr>
              <a:t>then</a:t>
            </a:r>
            <a:r>
              <a:rPr sz="1800" spc="-35" dirty="0">
                <a:latin typeface="Tahoma"/>
                <a:cs typeface="Tahoma"/>
              </a:rPr>
              <a:t> </a:t>
            </a:r>
            <a:r>
              <a:rPr sz="1800" dirty="0">
                <a:latin typeface="Tahoma"/>
                <a:cs typeface="Tahoma"/>
              </a:rPr>
              <a:t>turn</a:t>
            </a:r>
            <a:r>
              <a:rPr sz="1800" spc="-40" dirty="0">
                <a:latin typeface="Tahoma"/>
                <a:cs typeface="Tahoma"/>
              </a:rPr>
              <a:t> </a:t>
            </a:r>
            <a:r>
              <a:rPr sz="1800" spc="85" dirty="0">
                <a:latin typeface="Tahoma"/>
                <a:cs typeface="Tahoma"/>
              </a:rPr>
              <a:t>on</a:t>
            </a:r>
            <a:r>
              <a:rPr sz="1800" spc="-50" dirty="0">
                <a:latin typeface="Tahoma"/>
                <a:cs typeface="Tahoma"/>
              </a:rPr>
              <a:t> </a:t>
            </a:r>
            <a:r>
              <a:rPr sz="1800" dirty="0">
                <a:latin typeface="Tahoma"/>
                <a:cs typeface="Tahoma"/>
              </a:rPr>
              <a:t>the</a:t>
            </a:r>
            <a:r>
              <a:rPr sz="1800" spc="-80" dirty="0">
                <a:latin typeface="Tahoma"/>
                <a:cs typeface="Tahoma"/>
              </a:rPr>
              <a:t> </a:t>
            </a:r>
            <a:r>
              <a:rPr sz="1800" spc="75" dirty="0">
                <a:latin typeface="Tahoma"/>
                <a:cs typeface="Tahoma"/>
              </a:rPr>
              <a:t>AC.</a:t>
            </a:r>
            <a:endParaRPr sz="1800">
              <a:latin typeface="Tahoma"/>
              <a:cs typeface="Tahoma"/>
            </a:endParaRPr>
          </a:p>
          <a:p>
            <a:pPr marL="200025" marR="203200" indent="-187960">
              <a:lnSpc>
                <a:spcPct val="90900"/>
              </a:lnSpc>
              <a:spcBef>
                <a:spcPts val="819"/>
              </a:spcBef>
              <a:buFont typeface="Arial MT"/>
              <a:buChar char="•"/>
              <a:tabLst>
                <a:tab pos="201295" algn="l"/>
              </a:tabLst>
            </a:pPr>
            <a:r>
              <a:rPr sz="1800" spc="190" dirty="0">
                <a:latin typeface="Tahoma"/>
                <a:cs typeface="Tahoma"/>
              </a:rPr>
              <a:t>A</a:t>
            </a:r>
            <a:r>
              <a:rPr sz="1800" spc="-105" dirty="0">
                <a:latin typeface="Tahoma"/>
                <a:cs typeface="Tahoma"/>
              </a:rPr>
              <a:t> </a:t>
            </a:r>
            <a:r>
              <a:rPr sz="1800" dirty="0">
                <a:latin typeface="Tahoma"/>
                <a:cs typeface="Tahoma"/>
              </a:rPr>
              <a:t>reflex</a:t>
            </a:r>
            <a:r>
              <a:rPr sz="1800" spc="-55" dirty="0">
                <a:latin typeface="Tahoma"/>
                <a:cs typeface="Tahoma"/>
              </a:rPr>
              <a:t> </a:t>
            </a:r>
            <a:r>
              <a:rPr sz="1800" dirty="0">
                <a:latin typeface="Tahoma"/>
                <a:cs typeface="Tahoma"/>
              </a:rPr>
              <a:t>agent,</a:t>
            </a:r>
            <a:r>
              <a:rPr sz="1800" spc="-110" dirty="0">
                <a:latin typeface="Tahoma"/>
                <a:cs typeface="Tahoma"/>
              </a:rPr>
              <a:t> </a:t>
            </a:r>
            <a:r>
              <a:rPr sz="1800" dirty="0">
                <a:latin typeface="Tahoma"/>
                <a:cs typeface="Tahoma"/>
              </a:rPr>
              <a:t>for</a:t>
            </a:r>
            <a:r>
              <a:rPr sz="1800" spc="-65" dirty="0">
                <a:latin typeface="Tahoma"/>
                <a:cs typeface="Tahoma"/>
              </a:rPr>
              <a:t> </a:t>
            </a:r>
            <a:r>
              <a:rPr sz="1800" dirty="0">
                <a:latin typeface="Tahoma"/>
                <a:cs typeface="Tahoma"/>
              </a:rPr>
              <a:t>example,</a:t>
            </a:r>
            <a:r>
              <a:rPr sz="1800" spc="-100" dirty="0">
                <a:latin typeface="Tahoma"/>
                <a:cs typeface="Tahoma"/>
              </a:rPr>
              <a:t> </a:t>
            </a:r>
            <a:r>
              <a:rPr sz="1800" spc="85" dirty="0">
                <a:latin typeface="Tahoma"/>
                <a:cs typeface="Tahoma"/>
              </a:rPr>
              <a:t>could</a:t>
            </a:r>
            <a:r>
              <a:rPr sz="1800" spc="-65" dirty="0">
                <a:latin typeface="Tahoma"/>
                <a:cs typeface="Tahoma"/>
              </a:rPr>
              <a:t> </a:t>
            </a:r>
            <a:r>
              <a:rPr sz="1800" spc="114" dirty="0">
                <a:latin typeface="Tahoma"/>
                <a:cs typeface="Tahoma"/>
              </a:rPr>
              <a:t>be</a:t>
            </a:r>
            <a:r>
              <a:rPr sz="1800" spc="-55" dirty="0">
                <a:latin typeface="Tahoma"/>
                <a:cs typeface="Tahoma"/>
              </a:rPr>
              <a:t> </a:t>
            </a:r>
            <a:r>
              <a:rPr sz="1800" b="1" dirty="0">
                <a:latin typeface="Tahoma"/>
                <a:cs typeface="Tahoma"/>
              </a:rPr>
              <a:t>a</a:t>
            </a:r>
            <a:r>
              <a:rPr sz="1800" b="1" spc="-20" dirty="0">
                <a:latin typeface="Tahoma"/>
                <a:cs typeface="Tahoma"/>
              </a:rPr>
              <a:t> </a:t>
            </a:r>
            <a:r>
              <a:rPr sz="1800" b="1" dirty="0">
                <a:latin typeface="Tahoma"/>
                <a:cs typeface="Tahoma"/>
              </a:rPr>
              <a:t>home</a:t>
            </a:r>
            <a:r>
              <a:rPr sz="1800" b="1" spc="-5" dirty="0">
                <a:latin typeface="Tahoma"/>
                <a:cs typeface="Tahoma"/>
              </a:rPr>
              <a:t> </a:t>
            </a:r>
            <a:r>
              <a:rPr sz="1800" b="1" spc="-50" dirty="0">
                <a:latin typeface="Tahoma"/>
                <a:cs typeface="Tahoma"/>
              </a:rPr>
              <a:t>thermostat</a:t>
            </a:r>
            <a:r>
              <a:rPr sz="1800" b="1" spc="-5" dirty="0">
                <a:latin typeface="Tahoma"/>
                <a:cs typeface="Tahoma"/>
              </a:rPr>
              <a:t> </a:t>
            </a:r>
            <a:r>
              <a:rPr sz="1800" b="1" spc="-75" dirty="0">
                <a:latin typeface="Tahoma"/>
                <a:cs typeface="Tahoma"/>
              </a:rPr>
              <a:t>that</a:t>
            </a:r>
            <a:r>
              <a:rPr sz="1800" b="1" spc="-15" dirty="0">
                <a:latin typeface="Tahoma"/>
                <a:cs typeface="Tahoma"/>
              </a:rPr>
              <a:t> </a:t>
            </a:r>
            <a:r>
              <a:rPr sz="1800" b="1" spc="-25" dirty="0">
                <a:latin typeface="Tahoma"/>
                <a:cs typeface="Tahoma"/>
              </a:rPr>
              <a:t>knows</a:t>
            </a:r>
            <a:r>
              <a:rPr sz="1800" b="1" spc="-30" dirty="0">
                <a:latin typeface="Tahoma"/>
                <a:cs typeface="Tahoma"/>
              </a:rPr>
              <a:t> </a:t>
            </a:r>
            <a:r>
              <a:rPr sz="1800" b="1" spc="-25" dirty="0">
                <a:latin typeface="Tahoma"/>
                <a:cs typeface="Tahoma"/>
              </a:rPr>
              <a:t>to 	</a:t>
            </a:r>
            <a:r>
              <a:rPr sz="1800" b="1" spc="-90" dirty="0">
                <a:latin typeface="Tahoma"/>
                <a:cs typeface="Tahoma"/>
              </a:rPr>
              <a:t>start</a:t>
            </a:r>
            <a:r>
              <a:rPr sz="1800" b="1" spc="-65" dirty="0">
                <a:latin typeface="Tahoma"/>
                <a:cs typeface="Tahoma"/>
              </a:rPr>
              <a:t> </a:t>
            </a:r>
            <a:r>
              <a:rPr sz="1800" b="1" spc="-30" dirty="0">
                <a:latin typeface="Tahoma"/>
                <a:cs typeface="Tahoma"/>
              </a:rPr>
              <a:t>heating</a:t>
            </a:r>
            <a:r>
              <a:rPr sz="1800" b="1" spc="-105" dirty="0">
                <a:latin typeface="Tahoma"/>
                <a:cs typeface="Tahoma"/>
              </a:rPr>
              <a:t> </a:t>
            </a:r>
            <a:r>
              <a:rPr sz="1800" b="1" dirty="0">
                <a:latin typeface="Tahoma"/>
                <a:cs typeface="Tahoma"/>
              </a:rPr>
              <a:t>or</a:t>
            </a:r>
            <a:r>
              <a:rPr sz="1800" b="1" spc="-110" dirty="0">
                <a:latin typeface="Tahoma"/>
                <a:cs typeface="Tahoma"/>
              </a:rPr>
              <a:t> </a:t>
            </a:r>
            <a:r>
              <a:rPr sz="1800" b="1" dirty="0">
                <a:latin typeface="Tahoma"/>
                <a:cs typeface="Tahoma"/>
              </a:rPr>
              <a:t>cooling</a:t>
            </a:r>
            <a:r>
              <a:rPr sz="1800" b="1" spc="-95" dirty="0">
                <a:latin typeface="Tahoma"/>
                <a:cs typeface="Tahoma"/>
              </a:rPr>
              <a:t> </a:t>
            </a:r>
            <a:r>
              <a:rPr sz="1800" b="1" spc="-10" dirty="0">
                <a:latin typeface="Tahoma"/>
                <a:cs typeface="Tahoma"/>
              </a:rPr>
              <a:t>your</a:t>
            </a:r>
            <a:r>
              <a:rPr sz="1800" b="1" spc="-100" dirty="0">
                <a:latin typeface="Tahoma"/>
                <a:cs typeface="Tahoma"/>
              </a:rPr>
              <a:t> </a:t>
            </a:r>
            <a:r>
              <a:rPr sz="1800" b="1" spc="-25" dirty="0">
                <a:latin typeface="Tahoma"/>
                <a:cs typeface="Tahoma"/>
              </a:rPr>
              <a:t>house</a:t>
            </a:r>
            <a:r>
              <a:rPr sz="1800" b="1" spc="-85" dirty="0">
                <a:latin typeface="Tahoma"/>
                <a:cs typeface="Tahoma"/>
              </a:rPr>
              <a:t> </a:t>
            </a:r>
            <a:r>
              <a:rPr sz="1800" b="1" dirty="0">
                <a:latin typeface="Tahoma"/>
                <a:cs typeface="Tahoma"/>
              </a:rPr>
              <a:t>based</a:t>
            </a:r>
            <a:r>
              <a:rPr sz="1800" b="1" spc="-85" dirty="0">
                <a:latin typeface="Tahoma"/>
                <a:cs typeface="Tahoma"/>
              </a:rPr>
              <a:t> </a:t>
            </a:r>
            <a:r>
              <a:rPr sz="1800" b="1" dirty="0">
                <a:latin typeface="Tahoma"/>
                <a:cs typeface="Tahoma"/>
              </a:rPr>
              <a:t>on</a:t>
            </a:r>
            <a:r>
              <a:rPr sz="1800" b="1" spc="-105" dirty="0">
                <a:latin typeface="Tahoma"/>
                <a:cs typeface="Tahoma"/>
              </a:rPr>
              <a:t> </a:t>
            </a:r>
            <a:r>
              <a:rPr sz="1800" b="1" spc="-30" dirty="0">
                <a:latin typeface="Tahoma"/>
                <a:cs typeface="Tahoma"/>
              </a:rPr>
              <a:t>reaching</a:t>
            </a:r>
            <a:r>
              <a:rPr sz="1800" b="1" spc="-70" dirty="0">
                <a:latin typeface="Tahoma"/>
                <a:cs typeface="Tahoma"/>
              </a:rPr>
              <a:t> </a:t>
            </a:r>
            <a:r>
              <a:rPr sz="1800" b="1" dirty="0">
                <a:latin typeface="Tahoma"/>
                <a:cs typeface="Tahoma"/>
              </a:rPr>
              <a:t>a</a:t>
            </a:r>
            <a:r>
              <a:rPr sz="1800" b="1" spc="-100" dirty="0">
                <a:latin typeface="Tahoma"/>
                <a:cs typeface="Tahoma"/>
              </a:rPr>
              <a:t> </a:t>
            </a:r>
            <a:r>
              <a:rPr sz="1800" b="1" spc="-10" dirty="0">
                <a:latin typeface="Tahoma"/>
                <a:cs typeface="Tahoma"/>
              </a:rPr>
              <a:t>certain 	temperature</a:t>
            </a:r>
            <a:r>
              <a:rPr sz="1800" spc="-10" dirty="0">
                <a:latin typeface="Tahoma"/>
                <a:cs typeface="Tahoma"/>
              </a:rPr>
              <a:t>.</a:t>
            </a:r>
            <a:endParaRPr sz="1800">
              <a:latin typeface="Tahoma"/>
              <a:cs typeface="Tahom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998C9A3-EC2D-DFCF-1CAF-C5EC3A70C1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 y="419100"/>
            <a:ext cx="10058400" cy="6934200"/>
          </a:xfrm>
          <a:prstGeom prst="rect">
            <a:avLst/>
          </a:prstGeom>
        </p:spPr>
      </p:pic>
    </p:spTree>
    <p:extLst>
      <p:ext uri="{BB962C8B-B14F-4D97-AF65-F5344CB8AC3E}">
        <p14:creationId xmlns:p14="http://schemas.microsoft.com/office/powerpoint/2010/main" val="9978399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82662" y="1688198"/>
            <a:ext cx="4733290" cy="528320"/>
          </a:xfrm>
          <a:prstGeom prst="rect">
            <a:avLst/>
          </a:prstGeom>
        </p:spPr>
        <p:txBody>
          <a:bodyPr vert="horz" wrap="square" lIns="0" tIns="12700" rIns="0" bIns="0" rtlCol="0">
            <a:spAutoFit/>
          </a:bodyPr>
          <a:lstStyle/>
          <a:p>
            <a:pPr marL="12700">
              <a:lnSpc>
                <a:spcPct val="100000"/>
              </a:lnSpc>
              <a:spcBef>
                <a:spcPts val="100"/>
              </a:spcBef>
            </a:pPr>
            <a:r>
              <a:rPr spc="-25" dirty="0"/>
              <a:t>1.</a:t>
            </a:r>
            <a:r>
              <a:rPr spc="-240" dirty="0"/>
              <a:t> </a:t>
            </a:r>
            <a:r>
              <a:rPr spc="-40" dirty="0"/>
              <a:t>Simple</a:t>
            </a:r>
            <a:r>
              <a:rPr spc="-145" dirty="0"/>
              <a:t> </a:t>
            </a:r>
            <a:r>
              <a:rPr spc="-90" dirty="0"/>
              <a:t>Reflex</a:t>
            </a:r>
            <a:r>
              <a:rPr spc="-145" dirty="0"/>
              <a:t> </a:t>
            </a:r>
            <a:r>
              <a:rPr spc="-25" dirty="0"/>
              <a:t>agent:</a:t>
            </a:r>
          </a:p>
        </p:txBody>
      </p:sp>
      <p:pic>
        <p:nvPicPr>
          <p:cNvPr id="3" name="object 3"/>
          <p:cNvPicPr/>
          <p:nvPr/>
        </p:nvPicPr>
        <p:blipFill>
          <a:blip r:embed="rId2" cstate="print"/>
          <a:stretch>
            <a:fillRect/>
          </a:stretch>
        </p:blipFill>
        <p:spPr>
          <a:xfrm>
            <a:off x="1876416" y="2834771"/>
            <a:ext cx="5083176" cy="3454281"/>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409193" y="1053845"/>
          <a:ext cx="9228455" cy="1664335"/>
        </p:xfrm>
        <a:graphic>
          <a:graphicData uri="http://schemas.openxmlformats.org/drawingml/2006/table">
            <a:tbl>
              <a:tblPr firstRow="1" bandRow="1">
                <a:tableStyleId>{2D5ABB26-0587-4C30-8999-92F81FD0307C}</a:tableStyleId>
              </a:tblPr>
              <a:tblGrid>
                <a:gridCol w="72390">
                  <a:extLst>
                    <a:ext uri="{9D8B030D-6E8A-4147-A177-3AD203B41FA5}">
                      <a16:colId xmlns:a16="http://schemas.microsoft.com/office/drawing/2014/main" val="20000"/>
                    </a:ext>
                  </a:extLst>
                </a:gridCol>
                <a:gridCol w="9156065">
                  <a:extLst>
                    <a:ext uri="{9D8B030D-6E8A-4147-A177-3AD203B41FA5}">
                      <a16:colId xmlns:a16="http://schemas.microsoft.com/office/drawing/2014/main" val="20001"/>
                    </a:ext>
                  </a:extLst>
                </a:gridCol>
              </a:tblGrid>
              <a:tr h="650240">
                <a:tc gridSpan="2">
                  <a:txBody>
                    <a:bodyPr/>
                    <a:lstStyle/>
                    <a:p>
                      <a:pPr>
                        <a:lnSpc>
                          <a:spcPct val="100000"/>
                        </a:lnSpc>
                      </a:pPr>
                      <a:endParaRPr sz="1700">
                        <a:latin typeface="Times New Roman"/>
                        <a:cs typeface="Times New Roman"/>
                      </a:endParaRPr>
                    </a:p>
                  </a:txBody>
                  <a:tcPr marL="0" marR="0" marT="0" marB="0">
                    <a:lnL w="9525">
                      <a:solidFill>
                        <a:srgbClr val="E9E9E9"/>
                      </a:solidFill>
                      <a:prstDash val="solid"/>
                    </a:lnL>
                    <a:lnR w="9525">
                      <a:solidFill>
                        <a:srgbClr val="E9E9E9"/>
                      </a:solidFill>
                      <a:prstDash val="solid"/>
                    </a:lnR>
                    <a:lnT w="9525">
                      <a:solidFill>
                        <a:srgbClr val="E9E9E9"/>
                      </a:solidFill>
                      <a:prstDash val="solid"/>
                    </a:lnT>
                  </a:tcPr>
                </a:tc>
                <a:tc hMerge="1">
                  <a:txBody>
                    <a:bodyPr/>
                    <a:lstStyle/>
                    <a:p>
                      <a:endParaRPr/>
                    </a:p>
                  </a:txBody>
                  <a:tcPr marL="0" marR="0" marT="0" marB="0"/>
                </a:tc>
                <a:extLst>
                  <a:ext uri="{0D108BD9-81ED-4DB2-BD59-A6C34878D82A}">
                    <a16:rowId xmlns:a16="http://schemas.microsoft.com/office/drawing/2014/main" val="10000"/>
                  </a:ext>
                </a:extLst>
              </a:tr>
              <a:tr h="580390">
                <a:tc>
                  <a:txBody>
                    <a:bodyPr/>
                    <a:lstStyle/>
                    <a:p>
                      <a:pPr>
                        <a:lnSpc>
                          <a:spcPct val="100000"/>
                        </a:lnSpc>
                      </a:pPr>
                      <a:endParaRPr sz="1700">
                        <a:latin typeface="Times New Roman"/>
                        <a:cs typeface="Times New Roman"/>
                      </a:endParaRPr>
                    </a:p>
                  </a:txBody>
                  <a:tcPr marL="0" marR="0" marT="0" marB="0">
                    <a:lnL w="9525">
                      <a:solidFill>
                        <a:srgbClr val="E9E9E9"/>
                      </a:solidFill>
                      <a:prstDash val="solid"/>
                    </a:lnL>
                    <a:solidFill>
                      <a:srgbClr val="F5A700"/>
                    </a:solidFill>
                  </a:tcPr>
                </a:tc>
                <a:tc>
                  <a:txBody>
                    <a:bodyPr/>
                    <a:lstStyle/>
                    <a:p>
                      <a:pPr marL="476884">
                        <a:lnSpc>
                          <a:spcPts val="3900"/>
                        </a:lnSpc>
                      </a:pPr>
                      <a:r>
                        <a:rPr sz="3300" b="1" spc="-25" dirty="0">
                          <a:latin typeface="Tahoma"/>
                          <a:cs typeface="Tahoma"/>
                        </a:rPr>
                        <a:t>2.</a:t>
                      </a:r>
                      <a:r>
                        <a:rPr sz="3300" b="1" spc="-240" dirty="0">
                          <a:latin typeface="Tahoma"/>
                          <a:cs typeface="Tahoma"/>
                        </a:rPr>
                        <a:t> </a:t>
                      </a:r>
                      <a:r>
                        <a:rPr sz="3300" b="1" spc="-25" dirty="0">
                          <a:latin typeface="Tahoma"/>
                          <a:cs typeface="Tahoma"/>
                        </a:rPr>
                        <a:t>Model-</a:t>
                      </a:r>
                      <a:r>
                        <a:rPr sz="3300" b="1" spc="-10" dirty="0">
                          <a:latin typeface="Tahoma"/>
                          <a:cs typeface="Tahoma"/>
                        </a:rPr>
                        <a:t>based</a:t>
                      </a:r>
                      <a:r>
                        <a:rPr sz="3300" b="1" spc="-145" dirty="0">
                          <a:latin typeface="Tahoma"/>
                          <a:cs typeface="Tahoma"/>
                        </a:rPr>
                        <a:t> </a:t>
                      </a:r>
                      <a:r>
                        <a:rPr sz="3300" b="1" spc="-75" dirty="0">
                          <a:latin typeface="Tahoma"/>
                          <a:cs typeface="Tahoma"/>
                        </a:rPr>
                        <a:t>reflex</a:t>
                      </a:r>
                      <a:r>
                        <a:rPr sz="3300" b="1" spc="-145" dirty="0">
                          <a:latin typeface="Tahoma"/>
                          <a:cs typeface="Tahoma"/>
                        </a:rPr>
                        <a:t> </a:t>
                      </a:r>
                      <a:r>
                        <a:rPr sz="3300" b="1" spc="-10" dirty="0">
                          <a:latin typeface="Tahoma"/>
                          <a:cs typeface="Tahoma"/>
                        </a:rPr>
                        <a:t>agent</a:t>
                      </a:r>
                      <a:endParaRPr sz="3300">
                        <a:latin typeface="Tahoma"/>
                        <a:cs typeface="Tahoma"/>
                      </a:endParaRPr>
                    </a:p>
                  </a:txBody>
                  <a:tcPr marL="0" marR="0" marT="0" marB="0">
                    <a:lnR w="9525">
                      <a:solidFill>
                        <a:srgbClr val="E9E9E9"/>
                      </a:solidFill>
                      <a:prstDash val="solid"/>
                    </a:lnR>
                  </a:tcPr>
                </a:tc>
                <a:extLst>
                  <a:ext uri="{0D108BD9-81ED-4DB2-BD59-A6C34878D82A}">
                    <a16:rowId xmlns:a16="http://schemas.microsoft.com/office/drawing/2014/main" val="10001"/>
                  </a:ext>
                </a:extLst>
              </a:tr>
              <a:tr h="433705">
                <a:tc gridSpan="2">
                  <a:txBody>
                    <a:bodyPr/>
                    <a:lstStyle/>
                    <a:p>
                      <a:pPr marL="737235" indent="-187960">
                        <a:lnSpc>
                          <a:spcPct val="100000"/>
                        </a:lnSpc>
                        <a:spcBef>
                          <a:spcPts val="610"/>
                        </a:spcBef>
                        <a:buFont typeface="Arial MT"/>
                        <a:buChar char="•"/>
                        <a:tabLst>
                          <a:tab pos="737235" algn="l"/>
                        </a:tabLst>
                      </a:pPr>
                      <a:r>
                        <a:rPr sz="1800" dirty="0">
                          <a:latin typeface="Tahoma"/>
                          <a:cs typeface="Tahoma"/>
                        </a:rPr>
                        <a:t>The</a:t>
                      </a:r>
                      <a:r>
                        <a:rPr sz="1800" spc="20" dirty="0">
                          <a:latin typeface="Tahoma"/>
                          <a:cs typeface="Tahoma"/>
                        </a:rPr>
                        <a:t> </a:t>
                      </a:r>
                      <a:r>
                        <a:rPr sz="1800" spc="80" dirty="0">
                          <a:latin typeface="Tahoma"/>
                          <a:cs typeface="Tahoma"/>
                        </a:rPr>
                        <a:t>Model-</a:t>
                      </a:r>
                      <a:r>
                        <a:rPr sz="1800" spc="70" dirty="0">
                          <a:latin typeface="Tahoma"/>
                          <a:cs typeface="Tahoma"/>
                        </a:rPr>
                        <a:t>based</a:t>
                      </a:r>
                      <a:r>
                        <a:rPr sz="1800" spc="50" dirty="0">
                          <a:latin typeface="Tahoma"/>
                          <a:cs typeface="Tahoma"/>
                        </a:rPr>
                        <a:t> agent</a:t>
                      </a:r>
                      <a:r>
                        <a:rPr sz="1800" spc="30" dirty="0">
                          <a:latin typeface="Tahoma"/>
                          <a:cs typeface="Tahoma"/>
                        </a:rPr>
                        <a:t> </a:t>
                      </a:r>
                      <a:r>
                        <a:rPr sz="1800" dirty="0">
                          <a:latin typeface="Tahoma"/>
                          <a:cs typeface="Tahoma"/>
                        </a:rPr>
                        <a:t>can</a:t>
                      </a:r>
                      <a:r>
                        <a:rPr sz="1800" spc="10" dirty="0">
                          <a:latin typeface="Tahoma"/>
                          <a:cs typeface="Tahoma"/>
                        </a:rPr>
                        <a:t> </a:t>
                      </a:r>
                      <a:r>
                        <a:rPr sz="1800" dirty="0">
                          <a:latin typeface="Tahoma"/>
                          <a:cs typeface="Tahoma"/>
                        </a:rPr>
                        <a:t>work</a:t>
                      </a:r>
                      <a:r>
                        <a:rPr sz="1800" spc="10" dirty="0">
                          <a:latin typeface="Tahoma"/>
                          <a:cs typeface="Tahoma"/>
                        </a:rPr>
                        <a:t> </a:t>
                      </a:r>
                      <a:r>
                        <a:rPr sz="1800" dirty="0">
                          <a:latin typeface="Tahoma"/>
                          <a:cs typeface="Tahoma"/>
                        </a:rPr>
                        <a:t>in</a:t>
                      </a:r>
                      <a:r>
                        <a:rPr sz="1800" spc="20" dirty="0">
                          <a:latin typeface="Tahoma"/>
                          <a:cs typeface="Tahoma"/>
                        </a:rPr>
                        <a:t> </a:t>
                      </a:r>
                      <a:r>
                        <a:rPr sz="1800" dirty="0">
                          <a:latin typeface="Tahoma"/>
                          <a:cs typeface="Tahoma"/>
                        </a:rPr>
                        <a:t>a</a:t>
                      </a:r>
                      <a:r>
                        <a:rPr sz="1800" spc="5" dirty="0">
                          <a:latin typeface="Tahoma"/>
                          <a:cs typeface="Tahoma"/>
                        </a:rPr>
                        <a:t> </a:t>
                      </a:r>
                      <a:r>
                        <a:rPr sz="1800" dirty="0">
                          <a:latin typeface="Tahoma"/>
                          <a:cs typeface="Tahoma"/>
                        </a:rPr>
                        <a:t>partially</a:t>
                      </a:r>
                      <a:r>
                        <a:rPr sz="1800" spc="10" dirty="0">
                          <a:latin typeface="Tahoma"/>
                          <a:cs typeface="Tahoma"/>
                        </a:rPr>
                        <a:t> </a:t>
                      </a:r>
                      <a:r>
                        <a:rPr sz="1800" spc="60" dirty="0">
                          <a:latin typeface="Tahoma"/>
                          <a:cs typeface="Tahoma"/>
                        </a:rPr>
                        <a:t>observable</a:t>
                      </a:r>
                      <a:r>
                        <a:rPr sz="1800" spc="35" dirty="0">
                          <a:latin typeface="Tahoma"/>
                          <a:cs typeface="Tahoma"/>
                        </a:rPr>
                        <a:t> </a:t>
                      </a:r>
                      <a:r>
                        <a:rPr sz="1800" dirty="0">
                          <a:latin typeface="Tahoma"/>
                          <a:cs typeface="Tahoma"/>
                        </a:rPr>
                        <a:t>environment</a:t>
                      </a:r>
                      <a:r>
                        <a:rPr sz="1800" spc="50" dirty="0">
                          <a:latin typeface="Tahoma"/>
                          <a:cs typeface="Tahoma"/>
                        </a:rPr>
                        <a:t> </a:t>
                      </a:r>
                      <a:r>
                        <a:rPr sz="1800" spc="40" dirty="0">
                          <a:latin typeface="Tahoma"/>
                          <a:cs typeface="Tahoma"/>
                        </a:rPr>
                        <a:t>and</a:t>
                      </a:r>
                      <a:endParaRPr sz="1800">
                        <a:latin typeface="Tahoma"/>
                        <a:cs typeface="Tahoma"/>
                      </a:endParaRPr>
                    </a:p>
                  </a:txBody>
                  <a:tcPr marL="0" marR="0" marT="77470" marB="0">
                    <a:lnL w="9525">
                      <a:solidFill>
                        <a:srgbClr val="E9E9E9"/>
                      </a:solidFill>
                      <a:prstDash val="solid"/>
                    </a:lnL>
                    <a:lnR w="9525">
                      <a:solidFill>
                        <a:srgbClr val="E9E9E9"/>
                      </a:solidFill>
                      <a:prstDash val="solid"/>
                    </a:lnR>
                    <a:lnB w="9525">
                      <a:solidFill>
                        <a:srgbClr val="E9E9E9"/>
                      </a:solidFill>
                      <a:prstDash val="solid"/>
                    </a:lnB>
                  </a:tcPr>
                </a:tc>
                <a:tc hMerge="1">
                  <a:txBody>
                    <a:bodyPr/>
                    <a:lstStyle/>
                    <a:p>
                      <a:endParaRPr/>
                    </a:p>
                  </a:txBody>
                  <a:tcPr marL="0" marR="0" marT="0" marB="0"/>
                </a:tc>
                <a:extLst>
                  <a:ext uri="{0D108BD9-81ED-4DB2-BD59-A6C34878D82A}">
                    <a16:rowId xmlns:a16="http://schemas.microsoft.com/office/drawing/2014/main" val="10002"/>
                  </a:ext>
                </a:extLst>
              </a:tr>
            </a:tbl>
          </a:graphicData>
        </a:graphic>
      </p:graphicFrame>
      <p:sp>
        <p:nvSpPr>
          <p:cNvPr id="3" name="object 3"/>
          <p:cNvSpPr/>
          <p:nvPr/>
        </p:nvSpPr>
        <p:spPr>
          <a:xfrm>
            <a:off x="7557516" y="3762755"/>
            <a:ext cx="1408430" cy="242570"/>
          </a:xfrm>
          <a:custGeom>
            <a:avLst/>
            <a:gdLst/>
            <a:ahLst/>
            <a:cxnLst/>
            <a:rect l="l" t="t" r="r" b="b"/>
            <a:pathLst>
              <a:path w="1408429" h="242570">
                <a:moveTo>
                  <a:pt x="1408176" y="0"/>
                </a:moveTo>
                <a:lnTo>
                  <a:pt x="0" y="0"/>
                </a:lnTo>
                <a:lnTo>
                  <a:pt x="0" y="242316"/>
                </a:lnTo>
                <a:lnTo>
                  <a:pt x="1408176" y="242316"/>
                </a:lnTo>
                <a:lnTo>
                  <a:pt x="1408176" y="0"/>
                </a:lnTo>
                <a:close/>
              </a:path>
            </a:pathLst>
          </a:custGeom>
          <a:solidFill>
            <a:srgbClr val="FFFF00"/>
          </a:solidFill>
        </p:spPr>
        <p:txBody>
          <a:bodyPr wrap="square" lIns="0" tIns="0" rIns="0" bIns="0" rtlCol="0"/>
          <a:lstStyle/>
          <a:p>
            <a:endParaRPr/>
          </a:p>
        </p:txBody>
      </p:sp>
      <p:sp>
        <p:nvSpPr>
          <p:cNvPr id="4" name="object 4"/>
          <p:cNvSpPr txBox="1"/>
          <p:nvPr/>
        </p:nvSpPr>
        <p:spPr>
          <a:xfrm>
            <a:off x="982586" y="2523688"/>
            <a:ext cx="8168640" cy="3510915"/>
          </a:xfrm>
          <a:prstGeom prst="rect">
            <a:avLst/>
          </a:prstGeom>
        </p:spPr>
        <p:txBody>
          <a:bodyPr vert="horz" wrap="square" lIns="0" tIns="91440" rIns="0" bIns="0" rtlCol="0">
            <a:spAutoFit/>
          </a:bodyPr>
          <a:lstStyle/>
          <a:p>
            <a:pPr marL="201295">
              <a:lnSpc>
                <a:spcPct val="100000"/>
              </a:lnSpc>
              <a:spcBef>
                <a:spcPts val="720"/>
              </a:spcBef>
            </a:pPr>
            <a:r>
              <a:rPr sz="1800" dirty="0">
                <a:latin typeface="Tahoma"/>
                <a:cs typeface="Tahoma"/>
              </a:rPr>
              <a:t>track</a:t>
            </a:r>
            <a:r>
              <a:rPr sz="1800" spc="-30" dirty="0">
                <a:latin typeface="Tahoma"/>
                <a:cs typeface="Tahoma"/>
              </a:rPr>
              <a:t> </a:t>
            </a:r>
            <a:r>
              <a:rPr sz="1800" dirty="0">
                <a:latin typeface="Tahoma"/>
                <a:cs typeface="Tahoma"/>
              </a:rPr>
              <a:t>the</a:t>
            </a:r>
            <a:r>
              <a:rPr sz="1800" spc="-15" dirty="0">
                <a:latin typeface="Tahoma"/>
                <a:cs typeface="Tahoma"/>
              </a:rPr>
              <a:t> </a:t>
            </a:r>
            <a:r>
              <a:rPr sz="1800" spc="-10" dirty="0">
                <a:latin typeface="Tahoma"/>
                <a:cs typeface="Tahoma"/>
              </a:rPr>
              <a:t>situation.</a:t>
            </a:r>
            <a:endParaRPr sz="1800">
              <a:latin typeface="Tahoma"/>
              <a:cs typeface="Tahoma"/>
            </a:endParaRPr>
          </a:p>
          <a:p>
            <a:pPr marL="200660" indent="-187960">
              <a:lnSpc>
                <a:spcPct val="100000"/>
              </a:lnSpc>
              <a:spcBef>
                <a:spcPts val="625"/>
              </a:spcBef>
              <a:buFont typeface="Arial MT"/>
              <a:buChar char="•"/>
              <a:tabLst>
                <a:tab pos="200660" algn="l"/>
              </a:tabLst>
            </a:pPr>
            <a:r>
              <a:rPr sz="1800" spc="190" dirty="0">
                <a:latin typeface="Tahoma"/>
                <a:cs typeface="Tahoma"/>
              </a:rPr>
              <a:t>A</a:t>
            </a:r>
            <a:r>
              <a:rPr sz="1800" spc="-60" dirty="0">
                <a:latin typeface="Tahoma"/>
                <a:cs typeface="Tahoma"/>
              </a:rPr>
              <a:t> </a:t>
            </a:r>
            <a:r>
              <a:rPr sz="1800" spc="60" dirty="0">
                <a:latin typeface="Tahoma"/>
                <a:cs typeface="Tahoma"/>
              </a:rPr>
              <a:t>model-</a:t>
            </a:r>
            <a:r>
              <a:rPr sz="1800" spc="70" dirty="0">
                <a:latin typeface="Tahoma"/>
                <a:cs typeface="Tahoma"/>
              </a:rPr>
              <a:t>based</a:t>
            </a:r>
            <a:r>
              <a:rPr sz="1800" spc="20" dirty="0">
                <a:latin typeface="Tahoma"/>
                <a:cs typeface="Tahoma"/>
              </a:rPr>
              <a:t> </a:t>
            </a:r>
            <a:r>
              <a:rPr sz="1800" spc="50" dirty="0">
                <a:latin typeface="Tahoma"/>
                <a:cs typeface="Tahoma"/>
              </a:rPr>
              <a:t>agent</a:t>
            </a:r>
            <a:r>
              <a:rPr sz="1800" spc="-15" dirty="0">
                <a:latin typeface="Tahoma"/>
                <a:cs typeface="Tahoma"/>
              </a:rPr>
              <a:t> </a:t>
            </a:r>
            <a:r>
              <a:rPr sz="1800" dirty="0">
                <a:latin typeface="Tahoma"/>
                <a:cs typeface="Tahoma"/>
              </a:rPr>
              <a:t>has</a:t>
            </a:r>
            <a:r>
              <a:rPr sz="1800" spc="-15" dirty="0">
                <a:latin typeface="Tahoma"/>
                <a:cs typeface="Tahoma"/>
              </a:rPr>
              <a:t> </a:t>
            </a:r>
            <a:r>
              <a:rPr sz="1800" dirty="0">
                <a:latin typeface="Tahoma"/>
                <a:cs typeface="Tahoma"/>
              </a:rPr>
              <a:t>two</a:t>
            </a:r>
            <a:r>
              <a:rPr sz="1800" spc="-5" dirty="0">
                <a:latin typeface="Tahoma"/>
                <a:cs typeface="Tahoma"/>
              </a:rPr>
              <a:t> </a:t>
            </a:r>
            <a:r>
              <a:rPr sz="1800" dirty="0">
                <a:latin typeface="Tahoma"/>
                <a:cs typeface="Tahoma"/>
              </a:rPr>
              <a:t>important</a:t>
            </a:r>
            <a:r>
              <a:rPr sz="1800" spc="5" dirty="0">
                <a:latin typeface="Tahoma"/>
                <a:cs typeface="Tahoma"/>
              </a:rPr>
              <a:t> </a:t>
            </a:r>
            <a:r>
              <a:rPr sz="1800" spc="-10" dirty="0">
                <a:latin typeface="Tahoma"/>
                <a:cs typeface="Tahoma"/>
              </a:rPr>
              <a:t>factors:</a:t>
            </a:r>
            <a:endParaRPr sz="1800">
              <a:latin typeface="Tahoma"/>
              <a:cs typeface="Tahoma"/>
            </a:endParaRPr>
          </a:p>
          <a:p>
            <a:pPr marL="624840" marR="346710" lvl="1" indent="-234950">
              <a:lnSpc>
                <a:spcPts val="1689"/>
              </a:lnSpc>
              <a:spcBef>
                <a:spcPts val="459"/>
              </a:spcBef>
              <a:buFont typeface="Arial MT"/>
              <a:buChar char="•"/>
              <a:tabLst>
                <a:tab pos="624840" algn="l"/>
              </a:tabLst>
            </a:pPr>
            <a:r>
              <a:rPr sz="1550" b="1" dirty="0">
                <a:latin typeface="Tahoma"/>
                <a:cs typeface="Tahoma"/>
              </a:rPr>
              <a:t>Model: </a:t>
            </a:r>
            <a:r>
              <a:rPr sz="1550" spc="-95" dirty="0">
                <a:latin typeface="Tahoma"/>
                <a:cs typeface="Tahoma"/>
              </a:rPr>
              <a:t>It</a:t>
            </a:r>
            <a:r>
              <a:rPr sz="1550" spc="-30" dirty="0">
                <a:latin typeface="Tahoma"/>
                <a:cs typeface="Tahoma"/>
              </a:rPr>
              <a:t> </a:t>
            </a:r>
            <a:r>
              <a:rPr sz="1550" dirty="0">
                <a:latin typeface="Tahoma"/>
                <a:cs typeface="Tahoma"/>
              </a:rPr>
              <a:t>is</a:t>
            </a:r>
            <a:r>
              <a:rPr sz="1550" spc="-15" dirty="0">
                <a:latin typeface="Tahoma"/>
                <a:cs typeface="Tahoma"/>
              </a:rPr>
              <a:t> </a:t>
            </a:r>
            <a:r>
              <a:rPr sz="1550" spc="70" dirty="0">
                <a:latin typeface="Tahoma"/>
                <a:cs typeface="Tahoma"/>
              </a:rPr>
              <a:t>knowledge</a:t>
            </a:r>
            <a:r>
              <a:rPr sz="1550" spc="-55" dirty="0">
                <a:latin typeface="Tahoma"/>
                <a:cs typeface="Tahoma"/>
              </a:rPr>
              <a:t> </a:t>
            </a:r>
            <a:r>
              <a:rPr sz="1550" spc="55" dirty="0">
                <a:latin typeface="Tahoma"/>
                <a:cs typeface="Tahoma"/>
              </a:rPr>
              <a:t>about</a:t>
            </a:r>
            <a:r>
              <a:rPr sz="1550" spc="-10" dirty="0">
                <a:latin typeface="Tahoma"/>
                <a:cs typeface="Tahoma"/>
              </a:rPr>
              <a:t> </a:t>
            </a:r>
            <a:r>
              <a:rPr sz="1550" dirty="0">
                <a:latin typeface="Tahoma"/>
                <a:cs typeface="Tahoma"/>
              </a:rPr>
              <a:t>"how</a:t>
            </a:r>
            <a:r>
              <a:rPr sz="1550" spc="-15" dirty="0">
                <a:latin typeface="Tahoma"/>
                <a:cs typeface="Tahoma"/>
              </a:rPr>
              <a:t> </a:t>
            </a:r>
            <a:r>
              <a:rPr sz="1550" dirty="0">
                <a:latin typeface="Tahoma"/>
                <a:cs typeface="Tahoma"/>
              </a:rPr>
              <a:t>things</a:t>
            </a:r>
            <a:r>
              <a:rPr sz="1550" spc="-25" dirty="0">
                <a:latin typeface="Tahoma"/>
                <a:cs typeface="Tahoma"/>
              </a:rPr>
              <a:t> </a:t>
            </a:r>
            <a:r>
              <a:rPr sz="1550" spc="70" dirty="0">
                <a:latin typeface="Tahoma"/>
                <a:cs typeface="Tahoma"/>
              </a:rPr>
              <a:t>happen</a:t>
            </a:r>
            <a:r>
              <a:rPr sz="1550" spc="-40" dirty="0">
                <a:latin typeface="Tahoma"/>
                <a:cs typeface="Tahoma"/>
              </a:rPr>
              <a:t> </a:t>
            </a:r>
            <a:r>
              <a:rPr sz="1550" dirty="0">
                <a:latin typeface="Tahoma"/>
                <a:cs typeface="Tahoma"/>
              </a:rPr>
              <a:t>in</a:t>
            </a:r>
            <a:r>
              <a:rPr sz="1550" spc="-15" dirty="0">
                <a:latin typeface="Tahoma"/>
                <a:cs typeface="Tahoma"/>
              </a:rPr>
              <a:t> </a:t>
            </a:r>
            <a:r>
              <a:rPr sz="1550" dirty="0">
                <a:latin typeface="Tahoma"/>
                <a:cs typeface="Tahoma"/>
              </a:rPr>
              <a:t>the</a:t>
            </a:r>
            <a:r>
              <a:rPr sz="1550" spc="-15" dirty="0">
                <a:latin typeface="Tahoma"/>
                <a:cs typeface="Tahoma"/>
              </a:rPr>
              <a:t> </a:t>
            </a:r>
            <a:r>
              <a:rPr sz="1550" dirty="0">
                <a:latin typeface="Tahoma"/>
                <a:cs typeface="Tahoma"/>
              </a:rPr>
              <a:t>world,"</a:t>
            </a:r>
            <a:r>
              <a:rPr sz="1550" spc="-25" dirty="0">
                <a:latin typeface="Tahoma"/>
                <a:cs typeface="Tahoma"/>
              </a:rPr>
              <a:t> </a:t>
            </a:r>
            <a:r>
              <a:rPr sz="1550" spc="60" dirty="0">
                <a:latin typeface="Tahoma"/>
                <a:cs typeface="Tahoma"/>
              </a:rPr>
              <a:t>so</a:t>
            </a:r>
            <a:r>
              <a:rPr sz="1550" spc="-20" dirty="0">
                <a:latin typeface="Tahoma"/>
                <a:cs typeface="Tahoma"/>
              </a:rPr>
              <a:t> </a:t>
            </a:r>
            <a:r>
              <a:rPr sz="1550" dirty="0">
                <a:latin typeface="Tahoma"/>
                <a:cs typeface="Tahoma"/>
              </a:rPr>
              <a:t>it</a:t>
            </a:r>
            <a:r>
              <a:rPr sz="1550" spc="-10" dirty="0">
                <a:latin typeface="Tahoma"/>
                <a:cs typeface="Tahoma"/>
              </a:rPr>
              <a:t> </a:t>
            </a:r>
            <a:r>
              <a:rPr sz="1550" dirty="0">
                <a:latin typeface="Tahoma"/>
                <a:cs typeface="Tahoma"/>
              </a:rPr>
              <a:t>is</a:t>
            </a:r>
            <a:r>
              <a:rPr sz="1550" spc="-15" dirty="0">
                <a:latin typeface="Tahoma"/>
                <a:cs typeface="Tahoma"/>
              </a:rPr>
              <a:t> </a:t>
            </a:r>
            <a:r>
              <a:rPr sz="1550" spc="60" dirty="0">
                <a:latin typeface="Tahoma"/>
                <a:cs typeface="Tahoma"/>
              </a:rPr>
              <a:t>called</a:t>
            </a:r>
            <a:r>
              <a:rPr sz="1550" spc="-40" dirty="0">
                <a:latin typeface="Tahoma"/>
                <a:cs typeface="Tahoma"/>
              </a:rPr>
              <a:t> </a:t>
            </a:r>
            <a:r>
              <a:rPr sz="1550" spc="-50" dirty="0">
                <a:latin typeface="Tahoma"/>
                <a:cs typeface="Tahoma"/>
              </a:rPr>
              <a:t>a </a:t>
            </a:r>
            <a:r>
              <a:rPr sz="1550" spc="80" dirty="0">
                <a:latin typeface="Tahoma"/>
                <a:cs typeface="Tahoma"/>
              </a:rPr>
              <a:t>Model-</a:t>
            </a:r>
            <a:r>
              <a:rPr sz="1550" spc="70" dirty="0">
                <a:latin typeface="Tahoma"/>
                <a:cs typeface="Tahoma"/>
              </a:rPr>
              <a:t>based</a:t>
            </a:r>
            <a:r>
              <a:rPr sz="1550" spc="-10" dirty="0">
                <a:latin typeface="Tahoma"/>
                <a:cs typeface="Tahoma"/>
              </a:rPr>
              <a:t> </a:t>
            </a:r>
            <a:r>
              <a:rPr sz="1550" dirty="0">
                <a:latin typeface="Tahoma"/>
                <a:cs typeface="Tahoma"/>
              </a:rPr>
              <a:t>agent.</a:t>
            </a:r>
            <a:r>
              <a:rPr sz="1550" spc="-95" dirty="0">
                <a:latin typeface="Tahoma"/>
                <a:cs typeface="Tahoma"/>
              </a:rPr>
              <a:t> </a:t>
            </a:r>
            <a:r>
              <a:rPr sz="1550" dirty="0">
                <a:latin typeface="Tahoma"/>
                <a:cs typeface="Tahoma"/>
              </a:rPr>
              <a:t>(past</a:t>
            </a:r>
            <a:r>
              <a:rPr sz="1550" spc="-10" dirty="0">
                <a:latin typeface="Tahoma"/>
                <a:cs typeface="Tahoma"/>
              </a:rPr>
              <a:t> </a:t>
            </a:r>
            <a:r>
              <a:rPr sz="1550" dirty="0">
                <a:latin typeface="Tahoma"/>
                <a:cs typeface="Tahoma"/>
              </a:rPr>
              <a:t>history</a:t>
            </a:r>
            <a:r>
              <a:rPr sz="1550" spc="5" dirty="0">
                <a:latin typeface="Tahoma"/>
                <a:cs typeface="Tahoma"/>
              </a:rPr>
              <a:t> </a:t>
            </a:r>
            <a:r>
              <a:rPr sz="1550" dirty="0">
                <a:latin typeface="Tahoma"/>
                <a:cs typeface="Tahoma"/>
              </a:rPr>
              <a:t>in</a:t>
            </a:r>
            <a:r>
              <a:rPr sz="1550" spc="5" dirty="0">
                <a:latin typeface="Tahoma"/>
                <a:cs typeface="Tahoma"/>
              </a:rPr>
              <a:t> </a:t>
            </a:r>
            <a:r>
              <a:rPr sz="1550" spc="-10" dirty="0">
                <a:latin typeface="Tahoma"/>
                <a:cs typeface="Tahoma"/>
              </a:rPr>
              <a:t>mind)</a:t>
            </a:r>
            <a:endParaRPr sz="1550">
              <a:latin typeface="Tahoma"/>
              <a:cs typeface="Tahoma"/>
            </a:endParaRPr>
          </a:p>
          <a:p>
            <a:pPr marL="624840" lvl="1" indent="-234315">
              <a:lnSpc>
                <a:spcPct val="100000"/>
              </a:lnSpc>
              <a:spcBef>
                <a:spcPts val="210"/>
              </a:spcBef>
              <a:buFont typeface="Arial MT"/>
              <a:buChar char="•"/>
              <a:tabLst>
                <a:tab pos="624840" algn="l"/>
              </a:tabLst>
            </a:pPr>
            <a:r>
              <a:rPr sz="1550" b="1" spc="-60" dirty="0">
                <a:latin typeface="Tahoma"/>
                <a:cs typeface="Tahoma"/>
              </a:rPr>
              <a:t>Internal</a:t>
            </a:r>
            <a:r>
              <a:rPr sz="1550" b="1" dirty="0">
                <a:latin typeface="Tahoma"/>
                <a:cs typeface="Tahoma"/>
              </a:rPr>
              <a:t> </a:t>
            </a:r>
            <a:r>
              <a:rPr sz="1550" b="1" spc="-60" dirty="0">
                <a:latin typeface="Tahoma"/>
                <a:cs typeface="Tahoma"/>
              </a:rPr>
              <a:t>State:</a:t>
            </a:r>
            <a:r>
              <a:rPr sz="1550" b="1" spc="25" dirty="0">
                <a:latin typeface="Tahoma"/>
                <a:cs typeface="Tahoma"/>
              </a:rPr>
              <a:t> </a:t>
            </a:r>
            <a:r>
              <a:rPr sz="1550" spc="-95" dirty="0">
                <a:latin typeface="Tahoma"/>
                <a:cs typeface="Tahoma"/>
              </a:rPr>
              <a:t>It</a:t>
            </a:r>
            <a:r>
              <a:rPr sz="1550" spc="-20" dirty="0">
                <a:latin typeface="Tahoma"/>
                <a:cs typeface="Tahoma"/>
              </a:rPr>
              <a:t> </a:t>
            </a:r>
            <a:r>
              <a:rPr sz="1550" dirty="0">
                <a:latin typeface="Tahoma"/>
                <a:cs typeface="Tahoma"/>
              </a:rPr>
              <a:t>is</a:t>
            </a:r>
            <a:r>
              <a:rPr sz="1550" spc="-10" dirty="0">
                <a:latin typeface="Tahoma"/>
                <a:cs typeface="Tahoma"/>
              </a:rPr>
              <a:t> </a:t>
            </a:r>
            <a:r>
              <a:rPr sz="1550" dirty="0">
                <a:latin typeface="Tahoma"/>
                <a:cs typeface="Tahoma"/>
              </a:rPr>
              <a:t>a</a:t>
            </a:r>
            <a:r>
              <a:rPr sz="1550" spc="-15" dirty="0">
                <a:latin typeface="Tahoma"/>
                <a:cs typeface="Tahoma"/>
              </a:rPr>
              <a:t> </a:t>
            </a:r>
            <a:r>
              <a:rPr sz="1550" dirty="0">
                <a:latin typeface="Tahoma"/>
                <a:cs typeface="Tahoma"/>
              </a:rPr>
              <a:t>representation</a:t>
            </a:r>
            <a:r>
              <a:rPr sz="1550" spc="-45" dirty="0">
                <a:latin typeface="Tahoma"/>
                <a:cs typeface="Tahoma"/>
              </a:rPr>
              <a:t> </a:t>
            </a:r>
            <a:r>
              <a:rPr sz="1550" dirty="0">
                <a:latin typeface="Tahoma"/>
                <a:cs typeface="Tahoma"/>
              </a:rPr>
              <a:t>of</a:t>
            </a:r>
            <a:r>
              <a:rPr sz="1550" spc="35" dirty="0">
                <a:latin typeface="Tahoma"/>
                <a:cs typeface="Tahoma"/>
              </a:rPr>
              <a:t> </a:t>
            </a:r>
            <a:r>
              <a:rPr sz="1550" dirty="0">
                <a:latin typeface="Tahoma"/>
                <a:cs typeface="Tahoma"/>
              </a:rPr>
              <a:t>the</a:t>
            </a:r>
            <a:r>
              <a:rPr sz="1550" spc="-10" dirty="0">
                <a:latin typeface="Tahoma"/>
                <a:cs typeface="Tahoma"/>
              </a:rPr>
              <a:t> </a:t>
            </a:r>
            <a:r>
              <a:rPr sz="1550" dirty="0">
                <a:latin typeface="Tahoma"/>
                <a:cs typeface="Tahoma"/>
              </a:rPr>
              <a:t>current</a:t>
            </a:r>
            <a:r>
              <a:rPr sz="1550" spc="-20" dirty="0">
                <a:latin typeface="Tahoma"/>
                <a:cs typeface="Tahoma"/>
              </a:rPr>
              <a:t> </a:t>
            </a:r>
            <a:r>
              <a:rPr sz="1550" dirty="0">
                <a:latin typeface="Tahoma"/>
                <a:cs typeface="Tahoma"/>
              </a:rPr>
              <a:t>state</a:t>
            </a:r>
            <a:r>
              <a:rPr sz="1550" spc="-45" dirty="0">
                <a:latin typeface="Tahoma"/>
                <a:cs typeface="Tahoma"/>
              </a:rPr>
              <a:t> </a:t>
            </a:r>
            <a:r>
              <a:rPr sz="1550" spc="70" dirty="0">
                <a:latin typeface="Tahoma"/>
                <a:cs typeface="Tahoma"/>
              </a:rPr>
              <a:t>based</a:t>
            </a:r>
            <a:r>
              <a:rPr sz="1550" spc="-5" dirty="0">
                <a:latin typeface="Tahoma"/>
                <a:cs typeface="Tahoma"/>
              </a:rPr>
              <a:t> </a:t>
            </a:r>
            <a:r>
              <a:rPr sz="1550" spc="80" dirty="0">
                <a:latin typeface="Tahoma"/>
                <a:cs typeface="Tahoma"/>
              </a:rPr>
              <a:t>on</a:t>
            </a:r>
            <a:r>
              <a:rPr sz="1550" spc="-15" dirty="0">
                <a:latin typeface="Tahoma"/>
                <a:cs typeface="Tahoma"/>
              </a:rPr>
              <a:t> </a:t>
            </a:r>
            <a:r>
              <a:rPr sz="1550" spc="65" dirty="0">
                <a:latin typeface="Tahoma"/>
                <a:cs typeface="Tahoma"/>
              </a:rPr>
              <a:t>percept</a:t>
            </a:r>
            <a:r>
              <a:rPr sz="1550" spc="-40" dirty="0">
                <a:latin typeface="Tahoma"/>
                <a:cs typeface="Tahoma"/>
              </a:rPr>
              <a:t> </a:t>
            </a:r>
            <a:r>
              <a:rPr sz="1550" spc="-10" dirty="0">
                <a:latin typeface="Tahoma"/>
                <a:cs typeface="Tahoma"/>
              </a:rPr>
              <a:t>history.</a:t>
            </a:r>
            <a:endParaRPr sz="1550">
              <a:latin typeface="Tahoma"/>
              <a:cs typeface="Tahoma"/>
            </a:endParaRPr>
          </a:p>
          <a:p>
            <a:pPr marL="624840" lvl="1" indent="-234315">
              <a:lnSpc>
                <a:spcPct val="100000"/>
              </a:lnSpc>
              <a:spcBef>
                <a:spcPts val="254"/>
              </a:spcBef>
              <a:buFont typeface="Arial MT"/>
              <a:buChar char="•"/>
              <a:tabLst>
                <a:tab pos="624840" algn="l"/>
              </a:tabLst>
            </a:pPr>
            <a:r>
              <a:rPr sz="1550" b="1" spc="-40" dirty="0">
                <a:latin typeface="Tahoma"/>
                <a:cs typeface="Tahoma"/>
              </a:rPr>
              <a:t>Partially</a:t>
            </a:r>
            <a:r>
              <a:rPr sz="1550" b="1" spc="-35" dirty="0">
                <a:latin typeface="Tahoma"/>
                <a:cs typeface="Tahoma"/>
              </a:rPr>
              <a:t> </a:t>
            </a:r>
            <a:r>
              <a:rPr sz="1550" b="1" spc="-10" dirty="0">
                <a:latin typeface="Tahoma"/>
                <a:cs typeface="Tahoma"/>
              </a:rPr>
              <a:t>observable</a:t>
            </a:r>
            <a:r>
              <a:rPr sz="1550" b="1" spc="-35" dirty="0">
                <a:latin typeface="Tahoma"/>
                <a:cs typeface="Tahoma"/>
              </a:rPr>
              <a:t> </a:t>
            </a:r>
            <a:r>
              <a:rPr sz="1550" spc="-10" dirty="0">
                <a:latin typeface="Tahoma"/>
                <a:cs typeface="Tahoma"/>
              </a:rPr>
              <a:t>environment.</a:t>
            </a:r>
            <a:endParaRPr sz="1550">
              <a:latin typeface="Tahoma"/>
              <a:cs typeface="Tahoma"/>
            </a:endParaRPr>
          </a:p>
          <a:p>
            <a:pPr marL="200025" marR="5080" indent="-187960">
              <a:lnSpc>
                <a:spcPts val="1960"/>
              </a:lnSpc>
              <a:spcBef>
                <a:spcPts val="844"/>
              </a:spcBef>
              <a:buFont typeface="Arial MT"/>
              <a:buChar char="•"/>
              <a:tabLst>
                <a:tab pos="201295" algn="l"/>
              </a:tabLst>
            </a:pPr>
            <a:r>
              <a:rPr sz="1800" dirty="0">
                <a:latin typeface="Tahoma"/>
                <a:cs typeface="Tahoma"/>
              </a:rPr>
              <a:t>These</a:t>
            </a:r>
            <a:r>
              <a:rPr sz="1800" spc="25" dirty="0">
                <a:latin typeface="Tahoma"/>
                <a:cs typeface="Tahoma"/>
              </a:rPr>
              <a:t> </a:t>
            </a:r>
            <a:r>
              <a:rPr sz="1800" dirty="0">
                <a:latin typeface="Tahoma"/>
                <a:cs typeface="Tahoma"/>
              </a:rPr>
              <a:t>agents</a:t>
            </a:r>
            <a:r>
              <a:rPr sz="1800" spc="20" dirty="0">
                <a:latin typeface="Tahoma"/>
                <a:cs typeface="Tahoma"/>
              </a:rPr>
              <a:t> </a:t>
            </a:r>
            <a:r>
              <a:rPr sz="1800" dirty="0">
                <a:latin typeface="Tahoma"/>
                <a:cs typeface="Tahoma"/>
              </a:rPr>
              <a:t>have</a:t>
            </a:r>
            <a:r>
              <a:rPr sz="1800" spc="20" dirty="0">
                <a:latin typeface="Tahoma"/>
                <a:cs typeface="Tahoma"/>
              </a:rPr>
              <a:t> </a:t>
            </a:r>
            <a:r>
              <a:rPr sz="1800" dirty="0">
                <a:latin typeface="Tahoma"/>
                <a:cs typeface="Tahoma"/>
              </a:rPr>
              <a:t>the</a:t>
            </a:r>
            <a:r>
              <a:rPr sz="1800" spc="20" dirty="0">
                <a:latin typeface="Tahoma"/>
                <a:cs typeface="Tahoma"/>
              </a:rPr>
              <a:t> </a:t>
            </a:r>
            <a:r>
              <a:rPr sz="1800" spc="60" dirty="0">
                <a:latin typeface="Tahoma"/>
                <a:cs typeface="Tahoma"/>
              </a:rPr>
              <a:t>model,</a:t>
            </a:r>
            <a:r>
              <a:rPr sz="1800" spc="-20" dirty="0">
                <a:latin typeface="Tahoma"/>
                <a:cs typeface="Tahoma"/>
              </a:rPr>
              <a:t> </a:t>
            </a:r>
            <a:r>
              <a:rPr sz="1800" dirty="0">
                <a:latin typeface="Tahoma"/>
                <a:cs typeface="Tahoma"/>
              </a:rPr>
              <a:t>"which</a:t>
            </a:r>
            <a:r>
              <a:rPr sz="1800" spc="-5" dirty="0">
                <a:latin typeface="Tahoma"/>
                <a:cs typeface="Tahoma"/>
              </a:rPr>
              <a:t> </a:t>
            </a:r>
            <a:r>
              <a:rPr sz="1800" dirty="0">
                <a:latin typeface="Tahoma"/>
                <a:cs typeface="Tahoma"/>
              </a:rPr>
              <a:t>is</a:t>
            </a:r>
            <a:r>
              <a:rPr sz="1800" spc="10" dirty="0">
                <a:latin typeface="Tahoma"/>
                <a:cs typeface="Tahoma"/>
              </a:rPr>
              <a:t> </a:t>
            </a:r>
            <a:r>
              <a:rPr sz="1800" spc="75" dirty="0">
                <a:latin typeface="Tahoma"/>
                <a:cs typeface="Tahoma"/>
              </a:rPr>
              <a:t>knowledge</a:t>
            </a:r>
            <a:r>
              <a:rPr sz="1800" spc="25" dirty="0">
                <a:latin typeface="Tahoma"/>
                <a:cs typeface="Tahoma"/>
              </a:rPr>
              <a:t> </a:t>
            </a:r>
            <a:r>
              <a:rPr sz="1800" dirty="0">
                <a:latin typeface="Tahoma"/>
                <a:cs typeface="Tahoma"/>
              </a:rPr>
              <a:t>of</a:t>
            </a:r>
            <a:r>
              <a:rPr sz="1800" spc="70" dirty="0">
                <a:latin typeface="Tahoma"/>
                <a:cs typeface="Tahoma"/>
              </a:rPr>
              <a:t> </a:t>
            </a:r>
            <a:r>
              <a:rPr sz="1800" dirty="0">
                <a:latin typeface="Tahoma"/>
                <a:cs typeface="Tahoma"/>
              </a:rPr>
              <a:t>the</a:t>
            </a:r>
            <a:r>
              <a:rPr sz="1800" spc="40" dirty="0">
                <a:latin typeface="Tahoma"/>
                <a:cs typeface="Tahoma"/>
              </a:rPr>
              <a:t> </a:t>
            </a:r>
            <a:r>
              <a:rPr sz="1800" dirty="0">
                <a:latin typeface="Tahoma"/>
                <a:cs typeface="Tahoma"/>
              </a:rPr>
              <a:t>world"</a:t>
            </a:r>
            <a:r>
              <a:rPr sz="1800" spc="10" dirty="0">
                <a:latin typeface="Tahoma"/>
                <a:cs typeface="Tahoma"/>
              </a:rPr>
              <a:t> </a:t>
            </a:r>
            <a:r>
              <a:rPr sz="1800" spc="65" dirty="0">
                <a:latin typeface="Tahoma"/>
                <a:cs typeface="Tahoma"/>
              </a:rPr>
              <a:t>and</a:t>
            </a:r>
            <a:r>
              <a:rPr sz="1800" spc="-10" dirty="0">
                <a:latin typeface="Tahoma"/>
                <a:cs typeface="Tahoma"/>
              </a:rPr>
              <a:t> </a:t>
            </a:r>
            <a:r>
              <a:rPr sz="1800" spc="60" dirty="0">
                <a:latin typeface="Tahoma"/>
                <a:cs typeface="Tahoma"/>
              </a:rPr>
              <a:t>based 	</a:t>
            </a:r>
            <a:r>
              <a:rPr sz="1800" spc="85" dirty="0">
                <a:latin typeface="Tahoma"/>
                <a:cs typeface="Tahoma"/>
              </a:rPr>
              <a:t>on</a:t>
            </a:r>
            <a:r>
              <a:rPr sz="1800" spc="-75" dirty="0">
                <a:latin typeface="Tahoma"/>
                <a:cs typeface="Tahoma"/>
              </a:rPr>
              <a:t> </a:t>
            </a:r>
            <a:r>
              <a:rPr sz="1800" dirty="0">
                <a:latin typeface="Tahoma"/>
                <a:cs typeface="Tahoma"/>
              </a:rPr>
              <a:t>the</a:t>
            </a:r>
            <a:r>
              <a:rPr sz="1800" spc="-45" dirty="0">
                <a:latin typeface="Tahoma"/>
                <a:cs typeface="Tahoma"/>
              </a:rPr>
              <a:t> </a:t>
            </a:r>
            <a:r>
              <a:rPr sz="1800" spc="90" dirty="0">
                <a:latin typeface="Tahoma"/>
                <a:cs typeface="Tahoma"/>
              </a:rPr>
              <a:t>model</a:t>
            </a:r>
            <a:r>
              <a:rPr sz="1800" spc="-55" dirty="0">
                <a:latin typeface="Tahoma"/>
                <a:cs typeface="Tahoma"/>
              </a:rPr>
              <a:t> </a:t>
            </a:r>
            <a:r>
              <a:rPr sz="1800" dirty="0">
                <a:latin typeface="Tahoma"/>
                <a:cs typeface="Tahoma"/>
              </a:rPr>
              <a:t>they</a:t>
            </a:r>
            <a:r>
              <a:rPr sz="1800" spc="-50" dirty="0">
                <a:latin typeface="Tahoma"/>
                <a:cs typeface="Tahoma"/>
              </a:rPr>
              <a:t> </a:t>
            </a:r>
            <a:r>
              <a:rPr sz="1800" spc="50" dirty="0">
                <a:latin typeface="Tahoma"/>
                <a:cs typeface="Tahoma"/>
              </a:rPr>
              <a:t>perform</a:t>
            </a:r>
            <a:r>
              <a:rPr sz="1800" spc="-50" dirty="0">
                <a:latin typeface="Tahoma"/>
                <a:cs typeface="Tahoma"/>
              </a:rPr>
              <a:t> </a:t>
            </a:r>
            <a:r>
              <a:rPr sz="1800" spc="-10" dirty="0">
                <a:latin typeface="Tahoma"/>
                <a:cs typeface="Tahoma"/>
              </a:rPr>
              <a:t>actions.</a:t>
            </a:r>
            <a:endParaRPr sz="1800">
              <a:latin typeface="Tahoma"/>
              <a:cs typeface="Tahoma"/>
            </a:endParaRPr>
          </a:p>
          <a:p>
            <a:pPr marL="200660" indent="-187960">
              <a:lnSpc>
                <a:spcPct val="100000"/>
              </a:lnSpc>
              <a:spcBef>
                <a:spcPts val="585"/>
              </a:spcBef>
              <a:buFont typeface="Arial MT"/>
              <a:buChar char="•"/>
              <a:tabLst>
                <a:tab pos="200660" algn="l"/>
              </a:tabLst>
            </a:pPr>
            <a:r>
              <a:rPr sz="1800" spc="70" dirty="0">
                <a:latin typeface="Tahoma"/>
                <a:cs typeface="Tahoma"/>
              </a:rPr>
              <a:t>Updating</a:t>
            </a:r>
            <a:r>
              <a:rPr sz="1800" spc="30" dirty="0">
                <a:latin typeface="Tahoma"/>
                <a:cs typeface="Tahoma"/>
              </a:rPr>
              <a:t> </a:t>
            </a:r>
            <a:r>
              <a:rPr sz="1800" dirty="0">
                <a:latin typeface="Tahoma"/>
                <a:cs typeface="Tahoma"/>
              </a:rPr>
              <a:t>the</a:t>
            </a:r>
            <a:r>
              <a:rPr sz="1800" spc="45" dirty="0">
                <a:latin typeface="Tahoma"/>
                <a:cs typeface="Tahoma"/>
              </a:rPr>
              <a:t> </a:t>
            </a:r>
            <a:r>
              <a:rPr sz="1800" spc="50" dirty="0">
                <a:latin typeface="Tahoma"/>
                <a:cs typeface="Tahoma"/>
              </a:rPr>
              <a:t>agent</a:t>
            </a:r>
            <a:r>
              <a:rPr sz="1800" spc="55" dirty="0">
                <a:latin typeface="Tahoma"/>
                <a:cs typeface="Tahoma"/>
              </a:rPr>
              <a:t> </a:t>
            </a:r>
            <a:r>
              <a:rPr sz="1800" dirty="0">
                <a:latin typeface="Tahoma"/>
                <a:cs typeface="Tahoma"/>
              </a:rPr>
              <a:t>state</a:t>
            </a:r>
            <a:r>
              <a:rPr sz="1800" spc="30" dirty="0">
                <a:latin typeface="Tahoma"/>
                <a:cs typeface="Tahoma"/>
              </a:rPr>
              <a:t> </a:t>
            </a:r>
            <a:r>
              <a:rPr sz="1800" dirty="0">
                <a:latin typeface="Tahoma"/>
                <a:cs typeface="Tahoma"/>
              </a:rPr>
              <a:t>requires</a:t>
            </a:r>
            <a:r>
              <a:rPr sz="1800" spc="60" dirty="0">
                <a:latin typeface="Tahoma"/>
                <a:cs typeface="Tahoma"/>
              </a:rPr>
              <a:t> </a:t>
            </a:r>
            <a:r>
              <a:rPr sz="1800" dirty="0">
                <a:latin typeface="Tahoma"/>
                <a:cs typeface="Tahoma"/>
              </a:rPr>
              <a:t>information</a:t>
            </a:r>
            <a:r>
              <a:rPr sz="1800" spc="40" dirty="0">
                <a:latin typeface="Tahoma"/>
                <a:cs typeface="Tahoma"/>
              </a:rPr>
              <a:t> </a:t>
            </a:r>
            <a:r>
              <a:rPr sz="1800" spc="-10" dirty="0">
                <a:latin typeface="Tahoma"/>
                <a:cs typeface="Tahoma"/>
              </a:rPr>
              <a:t>about:</a:t>
            </a:r>
            <a:endParaRPr sz="1800">
              <a:latin typeface="Tahoma"/>
              <a:cs typeface="Tahoma"/>
            </a:endParaRPr>
          </a:p>
          <a:p>
            <a:pPr marL="624840" lvl="1" indent="-234315">
              <a:lnSpc>
                <a:spcPct val="100000"/>
              </a:lnSpc>
              <a:spcBef>
                <a:spcPts val="265"/>
              </a:spcBef>
              <a:buFont typeface="Arial MT"/>
              <a:buChar char="•"/>
              <a:tabLst>
                <a:tab pos="624840" algn="l"/>
              </a:tabLst>
            </a:pPr>
            <a:r>
              <a:rPr sz="1550" spc="65" dirty="0">
                <a:latin typeface="Tahoma"/>
                <a:cs typeface="Tahoma"/>
              </a:rPr>
              <a:t>How</a:t>
            </a:r>
            <a:r>
              <a:rPr sz="1550" spc="-75" dirty="0">
                <a:latin typeface="Tahoma"/>
                <a:cs typeface="Tahoma"/>
              </a:rPr>
              <a:t> </a:t>
            </a:r>
            <a:r>
              <a:rPr sz="1550" dirty="0">
                <a:latin typeface="Tahoma"/>
                <a:cs typeface="Tahoma"/>
              </a:rPr>
              <a:t>the</a:t>
            </a:r>
            <a:r>
              <a:rPr sz="1550" spc="-50" dirty="0">
                <a:latin typeface="Tahoma"/>
                <a:cs typeface="Tahoma"/>
              </a:rPr>
              <a:t> </a:t>
            </a:r>
            <a:r>
              <a:rPr sz="1550" spc="55" dirty="0">
                <a:latin typeface="Tahoma"/>
                <a:cs typeface="Tahoma"/>
              </a:rPr>
              <a:t>world</a:t>
            </a:r>
            <a:r>
              <a:rPr sz="1550" spc="-80" dirty="0">
                <a:latin typeface="Tahoma"/>
                <a:cs typeface="Tahoma"/>
              </a:rPr>
              <a:t> </a:t>
            </a:r>
            <a:r>
              <a:rPr sz="1550" spc="-10" dirty="0">
                <a:latin typeface="Tahoma"/>
                <a:cs typeface="Tahoma"/>
              </a:rPr>
              <a:t>evolves</a:t>
            </a:r>
            <a:endParaRPr sz="1550">
              <a:latin typeface="Tahoma"/>
              <a:cs typeface="Tahoma"/>
            </a:endParaRPr>
          </a:p>
          <a:p>
            <a:pPr marL="624840" lvl="1" indent="-234315">
              <a:lnSpc>
                <a:spcPct val="100000"/>
              </a:lnSpc>
              <a:spcBef>
                <a:spcPts val="240"/>
              </a:spcBef>
              <a:buFont typeface="Arial MT"/>
              <a:buChar char="•"/>
              <a:tabLst>
                <a:tab pos="624840" algn="l"/>
              </a:tabLst>
            </a:pPr>
            <a:r>
              <a:rPr sz="1550" spc="65" dirty="0">
                <a:latin typeface="Tahoma"/>
                <a:cs typeface="Tahoma"/>
              </a:rPr>
              <a:t>How</a:t>
            </a:r>
            <a:r>
              <a:rPr sz="1550" spc="45" dirty="0">
                <a:latin typeface="Tahoma"/>
                <a:cs typeface="Tahoma"/>
              </a:rPr>
              <a:t> </a:t>
            </a:r>
            <a:r>
              <a:rPr sz="1550" dirty="0">
                <a:latin typeface="Tahoma"/>
                <a:cs typeface="Tahoma"/>
              </a:rPr>
              <a:t>the</a:t>
            </a:r>
            <a:r>
              <a:rPr sz="1550" spc="75" dirty="0">
                <a:latin typeface="Tahoma"/>
                <a:cs typeface="Tahoma"/>
              </a:rPr>
              <a:t> </a:t>
            </a:r>
            <a:r>
              <a:rPr sz="1550" dirty="0">
                <a:latin typeface="Tahoma"/>
                <a:cs typeface="Tahoma"/>
              </a:rPr>
              <a:t>agent's</a:t>
            </a:r>
            <a:r>
              <a:rPr sz="1550" spc="20" dirty="0">
                <a:latin typeface="Tahoma"/>
                <a:cs typeface="Tahoma"/>
              </a:rPr>
              <a:t> </a:t>
            </a:r>
            <a:r>
              <a:rPr sz="1550" dirty="0">
                <a:latin typeface="Tahoma"/>
                <a:cs typeface="Tahoma"/>
              </a:rPr>
              <a:t>action</a:t>
            </a:r>
            <a:r>
              <a:rPr sz="1550" spc="25" dirty="0">
                <a:latin typeface="Tahoma"/>
                <a:cs typeface="Tahoma"/>
              </a:rPr>
              <a:t> </a:t>
            </a:r>
            <a:r>
              <a:rPr sz="1550" dirty="0">
                <a:latin typeface="Tahoma"/>
                <a:cs typeface="Tahoma"/>
              </a:rPr>
              <a:t>affects</a:t>
            </a:r>
            <a:r>
              <a:rPr sz="1550" spc="20" dirty="0">
                <a:latin typeface="Tahoma"/>
                <a:cs typeface="Tahoma"/>
              </a:rPr>
              <a:t> </a:t>
            </a:r>
            <a:r>
              <a:rPr sz="1550" dirty="0">
                <a:latin typeface="Tahoma"/>
                <a:cs typeface="Tahoma"/>
              </a:rPr>
              <a:t>the</a:t>
            </a:r>
            <a:r>
              <a:rPr sz="1550" spc="70" dirty="0">
                <a:latin typeface="Tahoma"/>
                <a:cs typeface="Tahoma"/>
              </a:rPr>
              <a:t> </a:t>
            </a:r>
            <a:r>
              <a:rPr sz="1550" spc="-10" dirty="0">
                <a:latin typeface="Tahoma"/>
                <a:cs typeface="Tahoma"/>
              </a:rPr>
              <a:t>world.</a:t>
            </a:r>
            <a:endParaRPr sz="1550">
              <a:latin typeface="Tahoma"/>
              <a:cs typeface="Tahoma"/>
            </a:endParaRPr>
          </a:p>
          <a:p>
            <a:pPr marL="624840" lvl="1" indent="-234315">
              <a:lnSpc>
                <a:spcPct val="100000"/>
              </a:lnSpc>
              <a:spcBef>
                <a:spcPts val="254"/>
              </a:spcBef>
              <a:buFont typeface="Arial MT"/>
              <a:buChar char="•"/>
              <a:tabLst>
                <a:tab pos="624840" algn="l"/>
              </a:tabLst>
            </a:pPr>
            <a:r>
              <a:rPr sz="1550" spc="45" dirty="0">
                <a:latin typeface="Tahoma"/>
                <a:cs typeface="Tahoma"/>
              </a:rPr>
              <a:t>Current</a:t>
            </a:r>
            <a:r>
              <a:rPr sz="1550" spc="-20" dirty="0">
                <a:latin typeface="Tahoma"/>
                <a:cs typeface="Tahoma"/>
              </a:rPr>
              <a:t> </a:t>
            </a:r>
            <a:r>
              <a:rPr sz="1550" dirty="0">
                <a:latin typeface="Tahoma"/>
                <a:cs typeface="Tahoma"/>
              </a:rPr>
              <a:t>situation</a:t>
            </a:r>
            <a:r>
              <a:rPr sz="1550" spc="-55" dirty="0">
                <a:latin typeface="Tahoma"/>
                <a:cs typeface="Tahoma"/>
              </a:rPr>
              <a:t> </a:t>
            </a:r>
            <a:r>
              <a:rPr sz="1550" spc="-85" dirty="0">
                <a:latin typeface="Tahoma"/>
                <a:cs typeface="Tahoma"/>
              </a:rPr>
              <a:t>+</a:t>
            </a:r>
            <a:r>
              <a:rPr sz="1550" dirty="0">
                <a:latin typeface="Tahoma"/>
                <a:cs typeface="Tahoma"/>
              </a:rPr>
              <a:t> </a:t>
            </a:r>
            <a:r>
              <a:rPr sz="1550" spc="-10" dirty="0">
                <a:latin typeface="Tahoma"/>
                <a:cs typeface="Tahoma"/>
              </a:rPr>
              <a:t>History</a:t>
            </a:r>
            <a:endParaRPr sz="1550">
              <a:latin typeface="Tahoma"/>
              <a:cs typeface="Tahom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E7065-F916-556D-E89D-8132BF78D44C}"/>
              </a:ext>
            </a:extLst>
          </p:cNvPr>
          <p:cNvSpPr>
            <a:spLocks noGrp="1"/>
          </p:cNvSpPr>
          <p:nvPr>
            <p:ph type="title"/>
          </p:nvPr>
        </p:nvSpPr>
        <p:spPr>
          <a:xfrm>
            <a:off x="982662" y="1688198"/>
            <a:ext cx="7908951" cy="507831"/>
          </a:xfrm>
        </p:spPr>
        <p:txBody>
          <a:bodyPr/>
          <a:lstStyle/>
          <a:p>
            <a:r>
              <a:rPr lang="en-US" dirty="0"/>
              <a:t>Waymo</a:t>
            </a:r>
          </a:p>
        </p:txBody>
      </p:sp>
      <p:pic>
        <p:nvPicPr>
          <p:cNvPr id="5" name="Picture 4">
            <a:extLst>
              <a:ext uri="{FF2B5EF4-FFF2-40B4-BE49-F238E27FC236}">
                <a16:creationId xmlns:a16="http://schemas.microsoft.com/office/drawing/2014/main" id="{89D328D0-EC7F-C04A-133B-280070B9D5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2590800"/>
            <a:ext cx="9296400" cy="4074832"/>
          </a:xfrm>
          <a:prstGeom prst="rect">
            <a:avLst/>
          </a:prstGeom>
        </p:spPr>
      </p:pic>
    </p:spTree>
    <p:extLst>
      <p:ext uri="{BB962C8B-B14F-4D97-AF65-F5344CB8AC3E}">
        <p14:creationId xmlns:p14="http://schemas.microsoft.com/office/powerpoint/2010/main" val="220087614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291C7-C69B-3E2D-E4A8-674C9929B154}"/>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0AC91AF8-9450-86B5-FAC8-2A8848D2F4FF}"/>
              </a:ext>
            </a:extLst>
          </p:cNvPr>
          <p:cNvSpPr>
            <a:spLocks noGrp="1"/>
          </p:cNvSpPr>
          <p:nvPr>
            <p:ph type="body" idx="1"/>
          </p:nvPr>
        </p:nvSpPr>
        <p:spPr/>
        <p:txBody>
          <a:bodyPr/>
          <a:lstStyle/>
          <a:p>
            <a:endParaRPr lang="en-US"/>
          </a:p>
        </p:txBody>
      </p:sp>
      <p:pic>
        <p:nvPicPr>
          <p:cNvPr id="5" name="Picture 4">
            <a:extLst>
              <a:ext uri="{FF2B5EF4-FFF2-40B4-BE49-F238E27FC236}">
                <a16:creationId xmlns:a16="http://schemas.microsoft.com/office/drawing/2014/main" id="{171EFACA-DD24-7654-52DA-7185094892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28600"/>
            <a:ext cx="10058400" cy="7543800"/>
          </a:xfrm>
          <a:prstGeom prst="rect">
            <a:avLst/>
          </a:prstGeom>
        </p:spPr>
      </p:pic>
    </p:spTree>
    <p:extLst>
      <p:ext uri="{BB962C8B-B14F-4D97-AF65-F5344CB8AC3E}">
        <p14:creationId xmlns:p14="http://schemas.microsoft.com/office/powerpoint/2010/main" val="22443927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25" dirty="0"/>
              <a:t>2.</a:t>
            </a:r>
            <a:r>
              <a:rPr spc="-240" dirty="0"/>
              <a:t> </a:t>
            </a:r>
            <a:r>
              <a:rPr spc="-25" dirty="0"/>
              <a:t>Model-</a:t>
            </a:r>
            <a:r>
              <a:rPr spc="-10" dirty="0"/>
              <a:t>based</a:t>
            </a:r>
            <a:r>
              <a:rPr spc="-145" dirty="0"/>
              <a:t> </a:t>
            </a:r>
            <a:r>
              <a:rPr spc="-75" dirty="0"/>
              <a:t>reflex</a:t>
            </a:r>
            <a:r>
              <a:rPr spc="-145" dirty="0"/>
              <a:t> </a:t>
            </a:r>
            <a:r>
              <a:rPr spc="-10" dirty="0"/>
              <a:t>agent</a:t>
            </a:r>
          </a:p>
        </p:txBody>
      </p:sp>
      <p:pic>
        <p:nvPicPr>
          <p:cNvPr id="3" name="object 3"/>
          <p:cNvPicPr/>
          <p:nvPr/>
        </p:nvPicPr>
        <p:blipFill>
          <a:blip r:embed="rId2" cstate="print"/>
          <a:stretch>
            <a:fillRect/>
          </a:stretch>
        </p:blipFill>
        <p:spPr>
          <a:xfrm>
            <a:off x="2074164" y="2712720"/>
            <a:ext cx="5419344" cy="374904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409193" y="1053845"/>
          <a:ext cx="9228455" cy="1675003"/>
        </p:xfrm>
        <a:graphic>
          <a:graphicData uri="http://schemas.openxmlformats.org/drawingml/2006/table">
            <a:tbl>
              <a:tblPr firstRow="1" bandRow="1">
                <a:tableStyleId>{2D5ABB26-0587-4C30-8999-92F81FD0307C}</a:tableStyleId>
              </a:tblPr>
              <a:tblGrid>
                <a:gridCol w="72390">
                  <a:extLst>
                    <a:ext uri="{9D8B030D-6E8A-4147-A177-3AD203B41FA5}">
                      <a16:colId xmlns:a16="http://schemas.microsoft.com/office/drawing/2014/main" val="20000"/>
                    </a:ext>
                  </a:extLst>
                </a:gridCol>
                <a:gridCol w="9156065">
                  <a:extLst>
                    <a:ext uri="{9D8B030D-6E8A-4147-A177-3AD203B41FA5}">
                      <a16:colId xmlns:a16="http://schemas.microsoft.com/office/drawing/2014/main" val="20001"/>
                    </a:ext>
                  </a:extLst>
                </a:gridCol>
              </a:tblGrid>
              <a:tr h="650240">
                <a:tc gridSpan="2">
                  <a:txBody>
                    <a:bodyPr/>
                    <a:lstStyle/>
                    <a:p>
                      <a:pPr>
                        <a:lnSpc>
                          <a:spcPct val="100000"/>
                        </a:lnSpc>
                      </a:pPr>
                      <a:endParaRPr sz="1700">
                        <a:latin typeface="Times New Roman"/>
                        <a:cs typeface="Times New Roman"/>
                      </a:endParaRPr>
                    </a:p>
                  </a:txBody>
                  <a:tcPr marL="0" marR="0" marT="0" marB="0">
                    <a:lnL w="9525">
                      <a:solidFill>
                        <a:srgbClr val="E9E9E9"/>
                      </a:solidFill>
                      <a:prstDash val="solid"/>
                    </a:lnL>
                    <a:lnR w="9525">
                      <a:solidFill>
                        <a:srgbClr val="E9E9E9"/>
                      </a:solidFill>
                      <a:prstDash val="solid"/>
                    </a:lnR>
                    <a:lnT w="9525">
                      <a:solidFill>
                        <a:srgbClr val="E9E9E9"/>
                      </a:solidFill>
                      <a:prstDash val="solid"/>
                    </a:lnT>
                  </a:tcPr>
                </a:tc>
                <a:tc hMerge="1">
                  <a:txBody>
                    <a:bodyPr/>
                    <a:lstStyle/>
                    <a:p>
                      <a:endParaRPr/>
                    </a:p>
                  </a:txBody>
                  <a:tcPr marL="0" marR="0" marT="0" marB="0"/>
                </a:tc>
                <a:extLst>
                  <a:ext uri="{0D108BD9-81ED-4DB2-BD59-A6C34878D82A}">
                    <a16:rowId xmlns:a16="http://schemas.microsoft.com/office/drawing/2014/main" val="10000"/>
                  </a:ext>
                </a:extLst>
              </a:tr>
              <a:tr h="580390">
                <a:tc>
                  <a:txBody>
                    <a:bodyPr/>
                    <a:lstStyle/>
                    <a:p>
                      <a:pPr>
                        <a:lnSpc>
                          <a:spcPct val="100000"/>
                        </a:lnSpc>
                      </a:pPr>
                      <a:endParaRPr sz="1700">
                        <a:latin typeface="Times New Roman"/>
                        <a:cs typeface="Times New Roman"/>
                      </a:endParaRPr>
                    </a:p>
                  </a:txBody>
                  <a:tcPr marL="0" marR="0" marT="0" marB="0">
                    <a:lnL w="9525">
                      <a:solidFill>
                        <a:srgbClr val="E9E9E9"/>
                      </a:solidFill>
                      <a:prstDash val="solid"/>
                    </a:lnL>
                    <a:solidFill>
                      <a:srgbClr val="F5A700"/>
                    </a:solidFill>
                  </a:tcPr>
                </a:tc>
                <a:tc>
                  <a:txBody>
                    <a:bodyPr/>
                    <a:lstStyle/>
                    <a:p>
                      <a:pPr marL="476884">
                        <a:lnSpc>
                          <a:spcPts val="3900"/>
                        </a:lnSpc>
                      </a:pPr>
                      <a:r>
                        <a:rPr sz="3300" b="1" spc="-25" dirty="0">
                          <a:latin typeface="Tahoma"/>
                          <a:cs typeface="Tahoma"/>
                        </a:rPr>
                        <a:t>3.</a:t>
                      </a:r>
                      <a:r>
                        <a:rPr sz="3300" b="1" spc="-240" dirty="0">
                          <a:latin typeface="Tahoma"/>
                          <a:cs typeface="Tahoma"/>
                        </a:rPr>
                        <a:t> </a:t>
                      </a:r>
                      <a:r>
                        <a:rPr sz="3300" b="1" spc="-95" dirty="0">
                          <a:latin typeface="Tahoma"/>
                          <a:cs typeface="Tahoma"/>
                        </a:rPr>
                        <a:t>Goal-</a:t>
                      </a:r>
                      <a:r>
                        <a:rPr sz="3300" b="1" spc="-10" dirty="0">
                          <a:latin typeface="Tahoma"/>
                          <a:cs typeface="Tahoma"/>
                        </a:rPr>
                        <a:t>based</a:t>
                      </a:r>
                      <a:r>
                        <a:rPr sz="3300" b="1" spc="-165" dirty="0">
                          <a:latin typeface="Tahoma"/>
                          <a:cs typeface="Tahoma"/>
                        </a:rPr>
                        <a:t> </a:t>
                      </a:r>
                      <a:r>
                        <a:rPr sz="3300" b="1" spc="-10" dirty="0">
                          <a:latin typeface="Tahoma"/>
                          <a:cs typeface="Tahoma"/>
                        </a:rPr>
                        <a:t>agents</a:t>
                      </a:r>
                      <a:endParaRPr sz="3300">
                        <a:latin typeface="Tahoma"/>
                        <a:cs typeface="Tahoma"/>
                      </a:endParaRPr>
                    </a:p>
                  </a:txBody>
                  <a:tcPr marL="0" marR="0" marT="0" marB="0">
                    <a:lnR w="9525">
                      <a:solidFill>
                        <a:srgbClr val="E9E9E9"/>
                      </a:solidFill>
                      <a:prstDash val="solid"/>
                    </a:lnR>
                  </a:tcPr>
                </a:tc>
                <a:extLst>
                  <a:ext uri="{0D108BD9-81ED-4DB2-BD59-A6C34878D82A}">
                    <a16:rowId xmlns:a16="http://schemas.microsoft.com/office/drawing/2014/main" val="10001"/>
                  </a:ext>
                </a:extLst>
              </a:tr>
              <a:tr h="433705">
                <a:tc gridSpan="2">
                  <a:txBody>
                    <a:bodyPr/>
                    <a:lstStyle/>
                    <a:p>
                      <a:pPr>
                        <a:lnSpc>
                          <a:spcPct val="100000"/>
                        </a:lnSpc>
                        <a:spcBef>
                          <a:spcPts val="505"/>
                        </a:spcBef>
                      </a:pPr>
                      <a:endParaRPr sz="1650">
                        <a:latin typeface="Times New Roman"/>
                        <a:cs typeface="Times New Roman"/>
                      </a:endParaRPr>
                    </a:p>
                    <a:p>
                      <a:pPr marL="738505" indent="-189230">
                        <a:lnSpc>
                          <a:spcPts val="915"/>
                        </a:lnSpc>
                        <a:buFont typeface="Arial MT"/>
                        <a:buChar char="•"/>
                        <a:tabLst>
                          <a:tab pos="738505" algn="l"/>
                        </a:tabLst>
                      </a:pPr>
                      <a:r>
                        <a:rPr sz="1650" spc="-110" dirty="0">
                          <a:latin typeface="Tahoma"/>
                          <a:cs typeface="Tahoma"/>
                        </a:rPr>
                        <a:t>It</a:t>
                      </a:r>
                      <a:r>
                        <a:rPr sz="1650" spc="-15" dirty="0">
                          <a:latin typeface="Tahoma"/>
                          <a:cs typeface="Tahoma"/>
                        </a:rPr>
                        <a:t> </a:t>
                      </a:r>
                      <a:r>
                        <a:rPr sz="1650" dirty="0">
                          <a:latin typeface="Tahoma"/>
                          <a:cs typeface="Tahoma"/>
                        </a:rPr>
                        <a:t>is</a:t>
                      </a:r>
                      <a:r>
                        <a:rPr sz="1650" spc="-15" dirty="0">
                          <a:latin typeface="Tahoma"/>
                          <a:cs typeface="Tahoma"/>
                        </a:rPr>
                        <a:t> </a:t>
                      </a:r>
                      <a:r>
                        <a:rPr sz="1650" dirty="0">
                          <a:latin typeface="Tahoma"/>
                          <a:cs typeface="Tahoma"/>
                        </a:rPr>
                        <a:t>the</a:t>
                      </a:r>
                      <a:r>
                        <a:rPr sz="1650" spc="-35" dirty="0">
                          <a:latin typeface="Tahoma"/>
                          <a:cs typeface="Tahoma"/>
                        </a:rPr>
                        <a:t> </a:t>
                      </a:r>
                      <a:r>
                        <a:rPr sz="1650" dirty="0">
                          <a:latin typeface="Tahoma"/>
                          <a:cs typeface="Tahoma"/>
                        </a:rPr>
                        <a:t>extension</a:t>
                      </a:r>
                      <a:r>
                        <a:rPr sz="1650" spc="-55" dirty="0">
                          <a:latin typeface="Tahoma"/>
                          <a:cs typeface="Tahoma"/>
                        </a:rPr>
                        <a:t> </a:t>
                      </a:r>
                      <a:r>
                        <a:rPr sz="1650" dirty="0">
                          <a:latin typeface="Tahoma"/>
                          <a:cs typeface="Tahoma"/>
                        </a:rPr>
                        <a:t>of</a:t>
                      </a:r>
                      <a:r>
                        <a:rPr sz="1650" spc="25" dirty="0">
                          <a:latin typeface="Tahoma"/>
                          <a:cs typeface="Tahoma"/>
                        </a:rPr>
                        <a:t> </a:t>
                      </a:r>
                      <a:r>
                        <a:rPr sz="1650" spc="55" dirty="0">
                          <a:latin typeface="Tahoma"/>
                          <a:cs typeface="Tahoma"/>
                        </a:rPr>
                        <a:t>model-</a:t>
                      </a:r>
                      <a:r>
                        <a:rPr sz="1650" spc="65" dirty="0">
                          <a:latin typeface="Tahoma"/>
                          <a:cs typeface="Tahoma"/>
                        </a:rPr>
                        <a:t>based</a:t>
                      </a:r>
                      <a:r>
                        <a:rPr sz="1650" spc="-50" dirty="0">
                          <a:latin typeface="Tahoma"/>
                          <a:cs typeface="Tahoma"/>
                        </a:rPr>
                        <a:t> </a:t>
                      </a:r>
                      <a:r>
                        <a:rPr sz="1650" spc="-10" dirty="0">
                          <a:latin typeface="Tahoma"/>
                          <a:cs typeface="Tahoma"/>
                        </a:rPr>
                        <a:t>agent.</a:t>
                      </a:r>
                      <a:endParaRPr sz="1650">
                        <a:latin typeface="Tahoma"/>
                        <a:cs typeface="Tahoma"/>
                      </a:endParaRPr>
                    </a:p>
                  </a:txBody>
                  <a:tcPr marL="0" marR="0" marT="64135" marB="0">
                    <a:lnL w="9525">
                      <a:solidFill>
                        <a:srgbClr val="E9E9E9"/>
                      </a:solidFill>
                      <a:prstDash val="solid"/>
                    </a:lnL>
                    <a:lnR w="9525">
                      <a:solidFill>
                        <a:srgbClr val="E9E9E9"/>
                      </a:solidFill>
                      <a:prstDash val="solid"/>
                    </a:lnR>
                    <a:lnB w="9525">
                      <a:solidFill>
                        <a:srgbClr val="E9E9E9"/>
                      </a:solidFill>
                      <a:prstDash val="solid"/>
                    </a:lnB>
                  </a:tcPr>
                </a:tc>
                <a:tc hMerge="1">
                  <a:txBody>
                    <a:bodyPr/>
                    <a:lstStyle/>
                    <a:p>
                      <a:endParaRPr/>
                    </a:p>
                  </a:txBody>
                  <a:tcPr marL="0" marR="0" marT="0" marB="0"/>
                </a:tc>
                <a:extLst>
                  <a:ext uri="{0D108BD9-81ED-4DB2-BD59-A6C34878D82A}">
                    <a16:rowId xmlns:a16="http://schemas.microsoft.com/office/drawing/2014/main" val="10002"/>
                  </a:ext>
                </a:extLst>
              </a:tr>
            </a:tbl>
          </a:graphicData>
        </a:graphic>
      </p:graphicFrame>
      <p:sp>
        <p:nvSpPr>
          <p:cNvPr id="3" name="object 3"/>
          <p:cNvSpPr/>
          <p:nvPr/>
        </p:nvSpPr>
        <p:spPr>
          <a:xfrm>
            <a:off x="1185672" y="3491484"/>
            <a:ext cx="6643370" cy="256540"/>
          </a:xfrm>
          <a:custGeom>
            <a:avLst/>
            <a:gdLst/>
            <a:ahLst/>
            <a:cxnLst/>
            <a:rect l="l" t="t" r="r" b="b"/>
            <a:pathLst>
              <a:path w="6643370" h="256539">
                <a:moveTo>
                  <a:pt x="6643116" y="0"/>
                </a:moveTo>
                <a:lnTo>
                  <a:pt x="0" y="0"/>
                </a:lnTo>
                <a:lnTo>
                  <a:pt x="0" y="256031"/>
                </a:lnTo>
                <a:lnTo>
                  <a:pt x="6643116" y="256031"/>
                </a:lnTo>
                <a:lnTo>
                  <a:pt x="6643116" y="0"/>
                </a:lnTo>
                <a:close/>
              </a:path>
            </a:pathLst>
          </a:custGeom>
          <a:solidFill>
            <a:srgbClr val="FFFF00"/>
          </a:solidFill>
        </p:spPr>
        <p:txBody>
          <a:bodyPr wrap="square" lIns="0" tIns="0" rIns="0" bIns="0" rtlCol="0"/>
          <a:lstStyle/>
          <a:p>
            <a:endParaRPr/>
          </a:p>
        </p:txBody>
      </p:sp>
      <p:sp>
        <p:nvSpPr>
          <p:cNvPr id="4" name="object 4"/>
          <p:cNvSpPr/>
          <p:nvPr/>
        </p:nvSpPr>
        <p:spPr>
          <a:xfrm>
            <a:off x="1185672" y="3822191"/>
            <a:ext cx="457200" cy="256540"/>
          </a:xfrm>
          <a:custGeom>
            <a:avLst/>
            <a:gdLst/>
            <a:ahLst/>
            <a:cxnLst/>
            <a:rect l="l" t="t" r="r" b="b"/>
            <a:pathLst>
              <a:path w="457200" h="256539">
                <a:moveTo>
                  <a:pt x="457200" y="0"/>
                </a:moveTo>
                <a:lnTo>
                  <a:pt x="0" y="0"/>
                </a:lnTo>
                <a:lnTo>
                  <a:pt x="0" y="256032"/>
                </a:lnTo>
                <a:lnTo>
                  <a:pt x="457200" y="256032"/>
                </a:lnTo>
                <a:lnTo>
                  <a:pt x="457200" y="0"/>
                </a:lnTo>
                <a:close/>
              </a:path>
            </a:pathLst>
          </a:custGeom>
          <a:solidFill>
            <a:srgbClr val="FFFF00"/>
          </a:solidFill>
        </p:spPr>
        <p:txBody>
          <a:bodyPr wrap="square" lIns="0" tIns="0" rIns="0" bIns="0" rtlCol="0"/>
          <a:lstStyle/>
          <a:p>
            <a:endParaRPr/>
          </a:p>
        </p:txBody>
      </p:sp>
      <p:sp>
        <p:nvSpPr>
          <p:cNvPr id="5" name="object 5"/>
          <p:cNvSpPr/>
          <p:nvPr/>
        </p:nvSpPr>
        <p:spPr>
          <a:xfrm>
            <a:off x="1185672" y="3822191"/>
            <a:ext cx="8011795" cy="481965"/>
          </a:xfrm>
          <a:custGeom>
            <a:avLst/>
            <a:gdLst/>
            <a:ahLst/>
            <a:cxnLst/>
            <a:rect l="l" t="t" r="r" b="b"/>
            <a:pathLst>
              <a:path w="8011795" h="481964">
                <a:moveTo>
                  <a:pt x="8011668" y="0"/>
                </a:moveTo>
                <a:lnTo>
                  <a:pt x="5425427" y="0"/>
                </a:lnTo>
                <a:lnTo>
                  <a:pt x="5358384" y="0"/>
                </a:lnTo>
                <a:lnTo>
                  <a:pt x="524256" y="0"/>
                </a:lnTo>
                <a:lnTo>
                  <a:pt x="457200" y="0"/>
                </a:lnTo>
                <a:lnTo>
                  <a:pt x="457200" y="225552"/>
                </a:lnTo>
                <a:lnTo>
                  <a:pt x="0" y="225552"/>
                </a:lnTo>
                <a:lnTo>
                  <a:pt x="0" y="481584"/>
                </a:lnTo>
                <a:lnTo>
                  <a:pt x="7738872" y="481584"/>
                </a:lnTo>
                <a:lnTo>
                  <a:pt x="7738872" y="256032"/>
                </a:lnTo>
                <a:lnTo>
                  <a:pt x="8011668" y="256032"/>
                </a:lnTo>
                <a:lnTo>
                  <a:pt x="8011668" y="0"/>
                </a:lnTo>
                <a:close/>
              </a:path>
            </a:pathLst>
          </a:custGeom>
          <a:solidFill>
            <a:srgbClr val="FFFF00"/>
          </a:solidFill>
        </p:spPr>
        <p:txBody>
          <a:bodyPr wrap="square" lIns="0" tIns="0" rIns="0" bIns="0" rtlCol="0"/>
          <a:lstStyle/>
          <a:p>
            <a:endParaRPr/>
          </a:p>
        </p:txBody>
      </p:sp>
      <p:sp>
        <p:nvSpPr>
          <p:cNvPr id="6" name="object 6"/>
          <p:cNvSpPr txBox="1"/>
          <p:nvPr/>
        </p:nvSpPr>
        <p:spPr>
          <a:xfrm>
            <a:off x="982496" y="2911798"/>
            <a:ext cx="8236584" cy="2507615"/>
          </a:xfrm>
          <a:prstGeom prst="rect">
            <a:avLst/>
          </a:prstGeom>
        </p:spPr>
        <p:txBody>
          <a:bodyPr vert="horz" wrap="square" lIns="0" tIns="41910" rIns="0" bIns="0" rtlCol="0">
            <a:spAutoFit/>
          </a:bodyPr>
          <a:lstStyle/>
          <a:p>
            <a:pPr marL="201295" marR="5080" indent="-189230">
              <a:lnSpc>
                <a:spcPts val="1780"/>
              </a:lnSpc>
              <a:spcBef>
                <a:spcPts val="330"/>
              </a:spcBef>
              <a:buFont typeface="Arial MT"/>
              <a:buChar char="•"/>
              <a:tabLst>
                <a:tab pos="201295" algn="l"/>
              </a:tabLst>
            </a:pPr>
            <a:r>
              <a:rPr sz="1650" spc="10" dirty="0">
                <a:latin typeface="Tahoma"/>
                <a:cs typeface="Tahoma"/>
              </a:rPr>
              <a:t>The</a:t>
            </a:r>
            <a:r>
              <a:rPr sz="1650" spc="-85" dirty="0">
                <a:latin typeface="Tahoma"/>
                <a:cs typeface="Tahoma"/>
              </a:rPr>
              <a:t> </a:t>
            </a:r>
            <a:r>
              <a:rPr sz="1650" spc="70" dirty="0">
                <a:latin typeface="Tahoma"/>
                <a:cs typeface="Tahoma"/>
              </a:rPr>
              <a:t>knowledge</a:t>
            </a:r>
            <a:r>
              <a:rPr sz="1650" spc="-80" dirty="0">
                <a:latin typeface="Tahoma"/>
                <a:cs typeface="Tahoma"/>
              </a:rPr>
              <a:t> </a:t>
            </a:r>
            <a:r>
              <a:rPr sz="1650" spc="10" dirty="0">
                <a:latin typeface="Tahoma"/>
                <a:cs typeface="Tahoma"/>
              </a:rPr>
              <a:t>of</a:t>
            </a:r>
            <a:r>
              <a:rPr sz="1650" spc="-5" dirty="0">
                <a:latin typeface="Tahoma"/>
                <a:cs typeface="Tahoma"/>
              </a:rPr>
              <a:t> </a:t>
            </a:r>
            <a:r>
              <a:rPr sz="1650" spc="10" dirty="0">
                <a:latin typeface="Tahoma"/>
                <a:cs typeface="Tahoma"/>
              </a:rPr>
              <a:t>the</a:t>
            </a:r>
            <a:r>
              <a:rPr sz="1650" spc="-60" dirty="0">
                <a:latin typeface="Tahoma"/>
                <a:cs typeface="Tahoma"/>
              </a:rPr>
              <a:t> </a:t>
            </a:r>
            <a:r>
              <a:rPr sz="1650" spc="10" dirty="0">
                <a:latin typeface="Tahoma"/>
                <a:cs typeface="Tahoma"/>
              </a:rPr>
              <a:t>current</a:t>
            </a:r>
            <a:r>
              <a:rPr sz="1650" spc="-65" dirty="0">
                <a:latin typeface="Tahoma"/>
                <a:cs typeface="Tahoma"/>
              </a:rPr>
              <a:t> </a:t>
            </a:r>
            <a:r>
              <a:rPr sz="1650" dirty="0">
                <a:latin typeface="Tahoma"/>
                <a:cs typeface="Tahoma"/>
              </a:rPr>
              <a:t>state</a:t>
            </a:r>
            <a:r>
              <a:rPr sz="1650" spc="-80" dirty="0">
                <a:latin typeface="Tahoma"/>
                <a:cs typeface="Tahoma"/>
              </a:rPr>
              <a:t> </a:t>
            </a:r>
            <a:r>
              <a:rPr sz="1650" spc="10" dirty="0">
                <a:latin typeface="Tahoma"/>
                <a:cs typeface="Tahoma"/>
              </a:rPr>
              <a:t>environment</a:t>
            </a:r>
            <a:r>
              <a:rPr sz="1650" spc="-100" dirty="0">
                <a:latin typeface="Tahoma"/>
                <a:cs typeface="Tahoma"/>
              </a:rPr>
              <a:t> </a:t>
            </a:r>
            <a:r>
              <a:rPr sz="1650" spc="10" dirty="0">
                <a:latin typeface="Tahoma"/>
                <a:cs typeface="Tahoma"/>
              </a:rPr>
              <a:t>is</a:t>
            </a:r>
            <a:r>
              <a:rPr sz="1650" spc="-40" dirty="0">
                <a:latin typeface="Tahoma"/>
                <a:cs typeface="Tahoma"/>
              </a:rPr>
              <a:t> </a:t>
            </a:r>
            <a:r>
              <a:rPr sz="1650" spc="10" dirty="0">
                <a:latin typeface="Tahoma"/>
                <a:cs typeface="Tahoma"/>
              </a:rPr>
              <a:t>not</a:t>
            </a:r>
            <a:r>
              <a:rPr sz="1650" spc="-45" dirty="0">
                <a:latin typeface="Tahoma"/>
                <a:cs typeface="Tahoma"/>
              </a:rPr>
              <a:t> </a:t>
            </a:r>
            <a:r>
              <a:rPr sz="1650" dirty="0">
                <a:latin typeface="Tahoma"/>
                <a:cs typeface="Tahoma"/>
              </a:rPr>
              <a:t>always</a:t>
            </a:r>
            <a:r>
              <a:rPr sz="1650" spc="-105" dirty="0">
                <a:latin typeface="Tahoma"/>
                <a:cs typeface="Tahoma"/>
              </a:rPr>
              <a:t> </a:t>
            </a:r>
            <a:r>
              <a:rPr sz="1650" spc="10" dirty="0">
                <a:latin typeface="Tahoma"/>
                <a:cs typeface="Tahoma"/>
              </a:rPr>
              <a:t>sufficient</a:t>
            </a:r>
            <a:r>
              <a:rPr sz="1650" spc="-90" dirty="0">
                <a:latin typeface="Tahoma"/>
                <a:cs typeface="Tahoma"/>
              </a:rPr>
              <a:t> </a:t>
            </a:r>
            <a:r>
              <a:rPr sz="1650" spc="10" dirty="0">
                <a:latin typeface="Tahoma"/>
                <a:cs typeface="Tahoma"/>
              </a:rPr>
              <a:t>to</a:t>
            </a:r>
            <a:r>
              <a:rPr sz="1650" spc="-45" dirty="0">
                <a:latin typeface="Tahoma"/>
                <a:cs typeface="Tahoma"/>
              </a:rPr>
              <a:t> </a:t>
            </a:r>
            <a:r>
              <a:rPr sz="1650" spc="80" dirty="0">
                <a:latin typeface="Tahoma"/>
                <a:cs typeface="Tahoma"/>
              </a:rPr>
              <a:t>decide</a:t>
            </a:r>
            <a:r>
              <a:rPr sz="1650" spc="-90" dirty="0">
                <a:latin typeface="Tahoma"/>
                <a:cs typeface="Tahoma"/>
              </a:rPr>
              <a:t> </a:t>
            </a:r>
            <a:r>
              <a:rPr sz="1650" spc="-25" dirty="0">
                <a:latin typeface="Tahoma"/>
                <a:cs typeface="Tahoma"/>
              </a:rPr>
              <a:t>for </a:t>
            </a:r>
            <a:r>
              <a:rPr sz="1650" dirty="0">
                <a:latin typeface="Tahoma"/>
                <a:cs typeface="Tahoma"/>
              </a:rPr>
              <a:t>an</a:t>
            </a:r>
            <a:r>
              <a:rPr sz="1650" spc="-35" dirty="0">
                <a:latin typeface="Tahoma"/>
                <a:cs typeface="Tahoma"/>
              </a:rPr>
              <a:t> </a:t>
            </a:r>
            <a:r>
              <a:rPr sz="1650" dirty="0">
                <a:latin typeface="Tahoma"/>
                <a:cs typeface="Tahoma"/>
              </a:rPr>
              <a:t>agent</a:t>
            </a:r>
            <a:r>
              <a:rPr sz="1650" spc="-30" dirty="0">
                <a:latin typeface="Tahoma"/>
                <a:cs typeface="Tahoma"/>
              </a:rPr>
              <a:t> </a:t>
            </a:r>
            <a:r>
              <a:rPr sz="1650" dirty="0">
                <a:latin typeface="Tahoma"/>
                <a:cs typeface="Tahoma"/>
              </a:rPr>
              <a:t>to</a:t>
            </a:r>
            <a:r>
              <a:rPr sz="1650" spc="-20" dirty="0">
                <a:latin typeface="Tahoma"/>
                <a:cs typeface="Tahoma"/>
              </a:rPr>
              <a:t> </a:t>
            </a:r>
            <a:r>
              <a:rPr sz="1650" dirty="0">
                <a:latin typeface="Tahoma"/>
                <a:cs typeface="Tahoma"/>
              </a:rPr>
              <a:t>what</a:t>
            </a:r>
            <a:r>
              <a:rPr sz="1650" spc="-40" dirty="0">
                <a:latin typeface="Tahoma"/>
                <a:cs typeface="Tahoma"/>
              </a:rPr>
              <a:t> </a:t>
            </a:r>
            <a:r>
              <a:rPr sz="1650" dirty="0">
                <a:latin typeface="Tahoma"/>
                <a:cs typeface="Tahoma"/>
              </a:rPr>
              <a:t>to</a:t>
            </a:r>
            <a:r>
              <a:rPr sz="1650" spc="-20" dirty="0">
                <a:latin typeface="Tahoma"/>
                <a:cs typeface="Tahoma"/>
              </a:rPr>
              <a:t> </a:t>
            </a:r>
            <a:r>
              <a:rPr sz="1650" spc="25" dirty="0">
                <a:latin typeface="Tahoma"/>
                <a:cs typeface="Tahoma"/>
              </a:rPr>
              <a:t>do.</a:t>
            </a:r>
            <a:endParaRPr sz="1650">
              <a:latin typeface="Tahoma"/>
              <a:cs typeface="Tahoma"/>
            </a:endParaRPr>
          </a:p>
          <a:p>
            <a:pPr marL="201930" indent="-189230">
              <a:lnSpc>
                <a:spcPct val="100000"/>
              </a:lnSpc>
              <a:spcBef>
                <a:spcPts val="605"/>
              </a:spcBef>
              <a:buFont typeface="Arial MT"/>
              <a:buChar char="•"/>
              <a:tabLst>
                <a:tab pos="201930" algn="l"/>
              </a:tabLst>
            </a:pPr>
            <a:r>
              <a:rPr sz="1650" dirty="0">
                <a:latin typeface="Tahoma"/>
                <a:cs typeface="Tahoma"/>
              </a:rPr>
              <a:t>The</a:t>
            </a:r>
            <a:r>
              <a:rPr sz="1650" spc="-70" dirty="0">
                <a:latin typeface="Tahoma"/>
                <a:cs typeface="Tahoma"/>
              </a:rPr>
              <a:t> </a:t>
            </a:r>
            <a:r>
              <a:rPr sz="1650" dirty="0">
                <a:latin typeface="Tahoma"/>
                <a:cs typeface="Tahoma"/>
              </a:rPr>
              <a:t>agent</a:t>
            </a:r>
            <a:r>
              <a:rPr sz="1650" spc="-60" dirty="0">
                <a:latin typeface="Tahoma"/>
                <a:cs typeface="Tahoma"/>
              </a:rPr>
              <a:t> </a:t>
            </a:r>
            <a:r>
              <a:rPr sz="1650" spc="65" dirty="0">
                <a:latin typeface="Tahoma"/>
                <a:cs typeface="Tahoma"/>
              </a:rPr>
              <a:t>needs</a:t>
            </a:r>
            <a:r>
              <a:rPr sz="1650" spc="-50" dirty="0">
                <a:latin typeface="Tahoma"/>
                <a:cs typeface="Tahoma"/>
              </a:rPr>
              <a:t> </a:t>
            </a:r>
            <a:r>
              <a:rPr sz="1650" dirty="0">
                <a:latin typeface="Tahoma"/>
                <a:cs typeface="Tahoma"/>
              </a:rPr>
              <a:t>to</a:t>
            </a:r>
            <a:r>
              <a:rPr sz="1650" spc="-30" dirty="0">
                <a:latin typeface="Tahoma"/>
                <a:cs typeface="Tahoma"/>
              </a:rPr>
              <a:t> </a:t>
            </a:r>
            <a:r>
              <a:rPr sz="1650" dirty="0">
                <a:latin typeface="Tahoma"/>
                <a:cs typeface="Tahoma"/>
              </a:rPr>
              <a:t>know</a:t>
            </a:r>
            <a:r>
              <a:rPr sz="1650" spc="-40" dirty="0">
                <a:latin typeface="Tahoma"/>
                <a:cs typeface="Tahoma"/>
              </a:rPr>
              <a:t> </a:t>
            </a:r>
            <a:r>
              <a:rPr sz="1650" dirty="0">
                <a:latin typeface="Tahoma"/>
                <a:cs typeface="Tahoma"/>
              </a:rPr>
              <a:t>its</a:t>
            </a:r>
            <a:r>
              <a:rPr sz="1650" spc="-40" dirty="0">
                <a:latin typeface="Tahoma"/>
                <a:cs typeface="Tahoma"/>
              </a:rPr>
              <a:t> </a:t>
            </a:r>
            <a:r>
              <a:rPr sz="1650" spc="70" dirty="0">
                <a:latin typeface="Tahoma"/>
                <a:cs typeface="Tahoma"/>
              </a:rPr>
              <a:t>goal</a:t>
            </a:r>
            <a:r>
              <a:rPr sz="1650" spc="-40" dirty="0">
                <a:latin typeface="Tahoma"/>
                <a:cs typeface="Tahoma"/>
              </a:rPr>
              <a:t> </a:t>
            </a:r>
            <a:r>
              <a:rPr sz="1650" dirty="0">
                <a:latin typeface="Tahoma"/>
                <a:cs typeface="Tahoma"/>
              </a:rPr>
              <a:t>which</a:t>
            </a:r>
            <a:r>
              <a:rPr sz="1650" spc="-65" dirty="0">
                <a:latin typeface="Tahoma"/>
                <a:cs typeface="Tahoma"/>
              </a:rPr>
              <a:t> </a:t>
            </a:r>
            <a:r>
              <a:rPr sz="1650" spc="55" dirty="0">
                <a:latin typeface="Tahoma"/>
                <a:cs typeface="Tahoma"/>
              </a:rPr>
              <a:t>describes</a:t>
            </a:r>
            <a:r>
              <a:rPr sz="1650" spc="-65" dirty="0">
                <a:latin typeface="Tahoma"/>
                <a:cs typeface="Tahoma"/>
              </a:rPr>
              <a:t> </a:t>
            </a:r>
            <a:r>
              <a:rPr sz="1650" spc="55" dirty="0">
                <a:latin typeface="Tahoma"/>
                <a:cs typeface="Tahoma"/>
              </a:rPr>
              <a:t>desirable</a:t>
            </a:r>
            <a:r>
              <a:rPr sz="1650" spc="-80" dirty="0">
                <a:latin typeface="Tahoma"/>
                <a:cs typeface="Tahoma"/>
              </a:rPr>
              <a:t> </a:t>
            </a:r>
            <a:r>
              <a:rPr sz="1650" spc="-10" dirty="0">
                <a:latin typeface="Tahoma"/>
                <a:cs typeface="Tahoma"/>
              </a:rPr>
              <a:t>situations.</a:t>
            </a:r>
            <a:endParaRPr sz="1650">
              <a:latin typeface="Tahoma"/>
              <a:cs typeface="Tahoma"/>
            </a:endParaRPr>
          </a:p>
          <a:p>
            <a:pPr marL="201295" marR="66040" indent="-189230">
              <a:lnSpc>
                <a:spcPts val="1780"/>
              </a:lnSpc>
              <a:spcBef>
                <a:spcPts val="850"/>
              </a:spcBef>
              <a:buFont typeface="Arial MT"/>
              <a:buChar char="•"/>
              <a:tabLst>
                <a:tab pos="201295" algn="l"/>
              </a:tabLst>
            </a:pPr>
            <a:r>
              <a:rPr sz="1650" spc="50" dirty="0">
                <a:latin typeface="Tahoma"/>
                <a:cs typeface="Tahoma"/>
              </a:rPr>
              <a:t>Goal-</a:t>
            </a:r>
            <a:r>
              <a:rPr sz="1650" spc="70" dirty="0">
                <a:latin typeface="Tahoma"/>
                <a:cs typeface="Tahoma"/>
              </a:rPr>
              <a:t>based</a:t>
            </a:r>
            <a:r>
              <a:rPr sz="1650" spc="-75" dirty="0">
                <a:latin typeface="Tahoma"/>
                <a:cs typeface="Tahoma"/>
              </a:rPr>
              <a:t> </a:t>
            </a:r>
            <a:r>
              <a:rPr sz="1650" spc="20" dirty="0">
                <a:latin typeface="Tahoma"/>
                <a:cs typeface="Tahoma"/>
              </a:rPr>
              <a:t>agents</a:t>
            </a:r>
            <a:r>
              <a:rPr sz="1650" spc="-60" dirty="0">
                <a:latin typeface="Tahoma"/>
                <a:cs typeface="Tahoma"/>
              </a:rPr>
              <a:t> </a:t>
            </a:r>
            <a:r>
              <a:rPr sz="1650" spc="60" dirty="0">
                <a:latin typeface="Tahoma"/>
                <a:cs typeface="Tahoma"/>
              </a:rPr>
              <a:t>expand</a:t>
            </a:r>
            <a:r>
              <a:rPr sz="1650" spc="-75" dirty="0">
                <a:latin typeface="Tahoma"/>
                <a:cs typeface="Tahoma"/>
              </a:rPr>
              <a:t> </a:t>
            </a:r>
            <a:r>
              <a:rPr sz="1650" spc="20" dirty="0">
                <a:latin typeface="Tahoma"/>
                <a:cs typeface="Tahoma"/>
              </a:rPr>
              <a:t>the</a:t>
            </a:r>
            <a:r>
              <a:rPr sz="1650" spc="-30" dirty="0">
                <a:latin typeface="Tahoma"/>
                <a:cs typeface="Tahoma"/>
              </a:rPr>
              <a:t> </a:t>
            </a:r>
            <a:r>
              <a:rPr sz="1650" spc="20" dirty="0">
                <a:latin typeface="Tahoma"/>
                <a:cs typeface="Tahoma"/>
              </a:rPr>
              <a:t>capabilities</a:t>
            </a:r>
            <a:r>
              <a:rPr sz="1650" spc="-60" dirty="0">
                <a:latin typeface="Tahoma"/>
                <a:cs typeface="Tahoma"/>
              </a:rPr>
              <a:t> </a:t>
            </a:r>
            <a:r>
              <a:rPr sz="1650" spc="20" dirty="0">
                <a:latin typeface="Tahoma"/>
                <a:cs typeface="Tahoma"/>
              </a:rPr>
              <a:t>of</a:t>
            </a:r>
            <a:r>
              <a:rPr sz="1650" spc="10" dirty="0">
                <a:latin typeface="Tahoma"/>
                <a:cs typeface="Tahoma"/>
              </a:rPr>
              <a:t> </a:t>
            </a:r>
            <a:r>
              <a:rPr sz="1650" spc="20" dirty="0">
                <a:latin typeface="Tahoma"/>
                <a:cs typeface="Tahoma"/>
              </a:rPr>
              <a:t>the</a:t>
            </a:r>
            <a:r>
              <a:rPr sz="1650" spc="-50" dirty="0">
                <a:latin typeface="Tahoma"/>
                <a:cs typeface="Tahoma"/>
              </a:rPr>
              <a:t> </a:t>
            </a:r>
            <a:r>
              <a:rPr sz="1650" spc="60" dirty="0">
                <a:latin typeface="Tahoma"/>
                <a:cs typeface="Tahoma"/>
              </a:rPr>
              <a:t>model-</a:t>
            </a:r>
            <a:r>
              <a:rPr sz="1650" spc="65" dirty="0">
                <a:latin typeface="Tahoma"/>
                <a:cs typeface="Tahoma"/>
              </a:rPr>
              <a:t>based</a:t>
            </a:r>
            <a:r>
              <a:rPr sz="1650" spc="-75" dirty="0">
                <a:latin typeface="Tahoma"/>
                <a:cs typeface="Tahoma"/>
              </a:rPr>
              <a:t> </a:t>
            </a:r>
            <a:r>
              <a:rPr sz="1650" spc="20" dirty="0">
                <a:latin typeface="Tahoma"/>
                <a:cs typeface="Tahoma"/>
              </a:rPr>
              <a:t>agent</a:t>
            </a:r>
            <a:r>
              <a:rPr sz="1650" spc="-55" dirty="0">
                <a:latin typeface="Tahoma"/>
                <a:cs typeface="Tahoma"/>
              </a:rPr>
              <a:t> </a:t>
            </a:r>
            <a:r>
              <a:rPr sz="1650" spc="60" dirty="0">
                <a:latin typeface="Tahoma"/>
                <a:cs typeface="Tahoma"/>
              </a:rPr>
              <a:t>by</a:t>
            </a:r>
            <a:r>
              <a:rPr sz="1650" spc="-40" dirty="0">
                <a:latin typeface="Tahoma"/>
                <a:cs typeface="Tahoma"/>
              </a:rPr>
              <a:t> </a:t>
            </a:r>
            <a:r>
              <a:rPr sz="1650" spc="20" dirty="0">
                <a:latin typeface="Tahoma"/>
                <a:cs typeface="Tahoma"/>
              </a:rPr>
              <a:t>having</a:t>
            </a:r>
            <a:r>
              <a:rPr sz="1650" spc="-65" dirty="0">
                <a:latin typeface="Tahoma"/>
                <a:cs typeface="Tahoma"/>
              </a:rPr>
              <a:t> </a:t>
            </a:r>
            <a:r>
              <a:rPr sz="1650" spc="-25" dirty="0">
                <a:latin typeface="Tahoma"/>
                <a:cs typeface="Tahoma"/>
              </a:rPr>
              <a:t>the </a:t>
            </a:r>
            <a:r>
              <a:rPr sz="1650" spc="50" dirty="0">
                <a:latin typeface="Tahoma"/>
                <a:cs typeface="Tahoma"/>
              </a:rPr>
              <a:t>"goal"</a:t>
            </a:r>
            <a:r>
              <a:rPr sz="1650" spc="-5" dirty="0">
                <a:latin typeface="Tahoma"/>
                <a:cs typeface="Tahoma"/>
              </a:rPr>
              <a:t> </a:t>
            </a:r>
            <a:r>
              <a:rPr sz="1650" dirty="0">
                <a:latin typeface="Tahoma"/>
                <a:cs typeface="Tahoma"/>
              </a:rPr>
              <a:t>information.</a:t>
            </a:r>
            <a:r>
              <a:rPr sz="1650" spc="-80" dirty="0">
                <a:latin typeface="Tahoma"/>
                <a:cs typeface="Tahoma"/>
              </a:rPr>
              <a:t> </a:t>
            </a:r>
            <a:r>
              <a:rPr sz="1650" spc="-155" dirty="0">
                <a:latin typeface="Tahoma"/>
                <a:cs typeface="Tahoma"/>
              </a:rPr>
              <a:t>(</a:t>
            </a:r>
            <a:r>
              <a:rPr sz="1650" spc="20" dirty="0">
                <a:latin typeface="Tahoma"/>
                <a:cs typeface="Tahoma"/>
              </a:rPr>
              <a:t> </a:t>
            </a:r>
            <a:r>
              <a:rPr sz="1650" dirty="0">
                <a:latin typeface="Tahoma"/>
                <a:cs typeface="Tahoma"/>
              </a:rPr>
              <a:t>it knows</a:t>
            </a:r>
            <a:r>
              <a:rPr sz="1650" spc="10" dirty="0">
                <a:latin typeface="Tahoma"/>
                <a:cs typeface="Tahoma"/>
              </a:rPr>
              <a:t> </a:t>
            </a:r>
            <a:r>
              <a:rPr sz="1650" dirty="0">
                <a:latin typeface="Tahoma"/>
                <a:cs typeface="Tahoma"/>
              </a:rPr>
              <a:t>the</a:t>
            </a:r>
            <a:r>
              <a:rPr sz="1650" spc="20" dirty="0">
                <a:latin typeface="Tahoma"/>
                <a:cs typeface="Tahoma"/>
              </a:rPr>
              <a:t> </a:t>
            </a:r>
            <a:r>
              <a:rPr sz="1650" dirty="0">
                <a:latin typeface="Tahoma"/>
                <a:cs typeface="Tahoma"/>
              </a:rPr>
              <a:t>goal,</a:t>
            </a:r>
            <a:r>
              <a:rPr sz="1650" spc="-80" dirty="0">
                <a:latin typeface="Tahoma"/>
                <a:cs typeface="Tahoma"/>
              </a:rPr>
              <a:t> </a:t>
            </a:r>
            <a:r>
              <a:rPr sz="1650" dirty="0">
                <a:latin typeface="Tahoma"/>
                <a:cs typeface="Tahoma"/>
              </a:rPr>
              <a:t>mean</a:t>
            </a:r>
            <a:r>
              <a:rPr sz="1650" spc="-20" dirty="0">
                <a:latin typeface="Tahoma"/>
                <a:cs typeface="Tahoma"/>
              </a:rPr>
              <a:t> </a:t>
            </a:r>
            <a:r>
              <a:rPr sz="1650" dirty="0">
                <a:latin typeface="Tahoma"/>
                <a:cs typeface="Tahoma"/>
              </a:rPr>
              <a:t>its</a:t>
            </a:r>
            <a:r>
              <a:rPr sz="1650" spc="5" dirty="0">
                <a:latin typeface="Tahoma"/>
                <a:cs typeface="Tahoma"/>
              </a:rPr>
              <a:t> </a:t>
            </a:r>
            <a:r>
              <a:rPr sz="1650" spc="60" dirty="0">
                <a:latin typeface="Tahoma"/>
                <a:cs typeface="Tahoma"/>
              </a:rPr>
              <a:t>some</a:t>
            </a:r>
            <a:r>
              <a:rPr sz="1650" dirty="0">
                <a:latin typeface="Tahoma"/>
                <a:cs typeface="Tahoma"/>
              </a:rPr>
              <a:t> how</a:t>
            </a:r>
            <a:r>
              <a:rPr sz="1650" spc="20" dirty="0">
                <a:latin typeface="Tahoma"/>
                <a:cs typeface="Tahoma"/>
              </a:rPr>
              <a:t> </a:t>
            </a:r>
            <a:r>
              <a:rPr sz="1650" dirty="0">
                <a:latin typeface="Tahoma"/>
                <a:cs typeface="Tahoma"/>
              </a:rPr>
              <a:t>a</a:t>
            </a:r>
            <a:r>
              <a:rPr sz="1650" spc="-10" dirty="0">
                <a:latin typeface="Tahoma"/>
                <a:cs typeface="Tahoma"/>
              </a:rPr>
              <a:t> </a:t>
            </a:r>
            <a:r>
              <a:rPr sz="1650" dirty="0">
                <a:latin typeface="Tahoma"/>
                <a:cs typeface="Tahoma"/>
              </a:rPr>
              <a:t>supervised</a:t>
            </a:r>
            <a:r>
              <a:rPr sz="1650" spc="-10" dirty="0">
                <a:latin typeface="Tahoma"/>
                <a:cs typeface="Tahoma"/>
              </a:rPr>
              <a:t> learning).</a:t>
            </a:r>
            <a:endParaRPr sz="1650">
              <a:latin typeface="Tahoma"/>
              <a:cs typeface="Tahoma"/>
            </a:endParaRPr>
          </a:p>
          <a:p>
            <a:pPr marL="201930" indent="-189230">
              <a:lnSpc>
                <a:spcPct val="100000"/>
              </a:lnSpc>
              <a:spcBef>
                <a:spcPts val="610"/>
              </a:spcBef>
              <a:buFont typeface="Arial MT"/>
              <a:buChar char="•"/>
              <a:tabLst>
                <a:tab pos="201930" algn="l"/>
              </a:tabLst>
            </a:pPr>
            <a:r>
              <a:rPr sz="1650" dirty="0">
                <a:latin typeface="Tahoma"/>
                <a:cs typeface="Tahoma"/>
              </a:rPr>
              <a:t>They</a:t>
            </a:r>
            <a:r>
              <a:rPr sz="1650" spc="-60" dirty="0">
                <a:latin typeface="Tahoma"/>
                <a:cs typeface="Tahoma"/>
              </a:rPr>
              <a:t> </a:t>
            </a:r>
            <a:r>
              <a:rPr sz="1650" spc="60" dirty="0">
                <a:latin typeface="Tahoma"/>
                <a:cs typeface="Tahoma"/>
              </a:rPr>
              <a:t>choose</a:t>
            </a:r>
            <a:r>
              <a:rPr sz="1650" spc="-5" dirty="0">
                <a:latin typeface="Tahoma"/>
                <a:cs typeface="Tahoma"/>
              </a:rPr>
              <a:t> </a:t>
            </a:r>
            <a:r>
              <a:rPr sz="1650" dirty="0">
                <a:latin typeface="Tahoma"/>
                <a:cs typeface="Tahoma"/>
              </a:rPr>
              <a:t>an</a:t>
            </a:r>
            <a:r>
              <a:rPr sz="1650" spc="-30" dirty="0">
                <a:latin typeface="Tahoma"/>
                <a:cs typeface="Tahoma"/>
              </a:rPr>
              <a:t> </a:t>
            </a:r>
            <a:r>
              <a:rPr sz="1650" dirty="0">
                <a:latin typeface="Tahoma"/>
                <a:cs typeface="Tahoma"/>
              </a:rPr>
              <a:t>action,</a:t>
            </a:r>
            <a:r>
              <a:rPr sz="1650" spc="-90" dirty="0">
                <a:latin typeface="Tahoma"/>
                <a:cs typeface="Tahoma"/>
              </a:rPr>
              <a:t> </a:t>
            </a:r>
            <a:r>
              <a:rPr sz="1650" dirty="0">
                <a:latin typeface="Tahoma"/>
                <a:cs typeface="Tahoma"/>
              </a:rPr>
              <a:t>so</a:t>
            </a:r>
            <a:r>
              <a:rPr sz="1650" spc="-10" dirty="0">
                <a:latin typeface="Tahoma"/>
                <a:cs typeface="Tahoma"/>
              </a:rPr>
              <a:t> that</a:t>
            </a:r>
            <a:r>
              <a:rPr sz="1650" spc="-25" dirty="0">
                <a:latin typeface="Tahoma"/>
                <a:cs typeface="Tahoma"/>
              </a:rPr>
              <a:t> </a:t>
            </a:r>
            <a:r>
              <a:rPr sz="1650" dirty="0">
                <a:latin typeface="Tahoma"/>
                <a:cs typeface="Tahoma"/>
              </a:rPr>
              <a:t>they</a:t>
            </a:r>
            <a:r>
              <a:rPr sz="1650" spc="-35" dirty="0">
                <a:latin typeface="Tahoma"/>
                <a:cs typeface="Tahoma"/>
              </a:rPr>
              <a:t> </a:t>
            </a:r>
            <a:r>
              <a:rPr sz="1650" dirty="0">
                <a:latin typeface="Tahoma"/>
                <a:cs typeface="Tahoma"/>
              </a:rPr>
              <a:t>can</a:t>
            </a:r>
            <a:r>
              <a:rPr sz="1650" spc="-5" dirty="0">
                <a:latin typeface="Tahoma"/>
                <a:cs typeface="Tahoma"/>
              </a:rPr>
              <a:t> </a:t>
            </a:r>
            <a:r>
              <a:rPr sz="1650" dirty="0">
                <a:latin typeface="Tahoma"/>
                <a:cs typeface="Tahoma"/>
              </a:rPr>
              <a:t>achieve</a:t>
            </a:r>
            <a:r>
              <a:rPr sz="1650" spc="-75" dirty="0">
                <a:latin typeface="Tahoma"/>
                <a:cs typeface="Tahoma"/>
              </a:rPr>
              <a:t> </a:t>
            </a:r>
            <a:r>
              <a:rPr sz="1650" dirty="0">
                <a:latin typeface="Tahoma"/>
                <a:cs typeface="Tahoma"/>
              </a:rPr>
              <a:t>the</a:t>
            </a:r>
            <a:r>
              <a:rPr sz="1650" spc="-15" dirty="0">
                <a:latin typeface="Tahoma"/>
                <a:cs typeface="Tahoma"/>
              </a:rPr>
              <a:t> </a:t>
            </a:r>
            <a:r>
              <a:rPr sz="1650" spc="-10" dirty="0">
                <a:latin typeface="Tahoma"/>
                <a:cs typeface="Tahoma"/>
              </a:rPr>
              <a:t>goal.</a:t>
            </a:r>
            <a:endParaRPr sz="1650">
              <a:latin typeface="Tahoma"/>
              <a:cs typeface="Tahoma"/>
            </a:endParaRPr>
          </a:p>
          <a:p>
            <a:pPr marL="201295" marR="511175" indent="-189230">
              <a:lnSpc>
                <a:spcPct val="90000"/>
              </a:lnSpc>
              <a:spcBef>
                <a:spcPts val="819"/>
              </a:spcBef>
              <a:buFont typeface="Arial MT"/>
              <a:buChar char="•"/>
              <a:tabLst>
                <a:tab pos="201295" algn="l"/>
              </a:tabLst>
            </a:pPr>
            <a:r>
              <a:rPr sz="1650" dirty="0">
                <a:latin typeface="Tahoma"/>
                <a:cs typeface="Tahoma"/>
              </a:rPr>
              <a:t>These</a:t>
            </a:r>
            <a:r>
              <a:rPr sz="1650" spc="-70" dirty="0">
                <a:latin typeface="Tahoma"/>
                <a:cs typeface="Tahoma"/>
              </a:rPr>
              <a:t> </a:t>
            </a:r>
            <a:r>
              <a:rPr sz="1650" dirty="0">
                <a:latin typeface="Tahoma"/>
                <a:cs typeface="Tahoma"/>
              </a:rPr>
              <a:t>agents</a:t>
            </a:r>
            <a:r>
              <a:rPr sz="1650" spc="-40" dirty="0">
                <a:latin typeface="Tahoma"/>
                <a:cs typeface="Tahoma"/>
              </a:rPr>
              <a:t> </a:t>
            </a:r>
            <a:r>
              <a:rPr sz="1650" dirty="0">
                <a:latin typeface="Tahoma"/>
                <a:cs typeface="Tahoma"/>
              </a:rPr>
              <a:t>may</a:t>
            </a:r>
            <a:r>
              <a:rPr sz="1650" spc="-50" dirty="0">
                <a:latin typeface="Tahoma"/>
                <a:cs typeface="Tahoma"/>
              </a:rPr>
              <a:t> </a:t>
            </a:r>
            <a:r>
              <a:rPr sz="1650" dirty="0">
                <a:latin typeface="Tahoma"/>
                <a:cs typeface="Tahoma"/>
              </a:rPr>
              <a:t>have</a:t>
            </a:r>
            <a:r>
              <a:rPr sz="1650" spc="-45" dirty="0">
                <a:latin typeface="Tahoma"/>
                <a:cs typeface="Tahoma"/>
              </a:rPr>
              <a:t> </a:t>
            </a:r>
            <a:r>
              <a:rPr sz="1650" dirty="0">
                <a:latin typeface="Tahoma"/>
                <a:cs typeface="Tahoma"/>
              </a:rPr>
              <a:t>to</a:t>
            </a:r>
            <a:r>
              <a:rPr sz="1650" spc="-25" dirty="0">
                <a:latin typeface="Tahoma"/>
                <a:cs typeface="Tahoma"/>
              </a:rPr>
              <a:t> </a:t>
            </a:r>
            <a:r>
              <a:rPr sz="1650" spc="55" dirty="0">
                <a:latin typeface="Tahoma"/>
                <a:cs typeface="Tahoma"/>
              </a:rPr>
              <a:t>consider</a:t>
            </a:r>
            <a:r>
              <a:rPr sz="1650" spc="-35" dirty="0">
                <a:latin typeface="Tahoma"/>
                <a:cs typeface="Tahoma"/>
              </a:rPr>
              <a:t> </a:t>
            </a:r>
            <a:r>
              <a:rPr sz="1650" dirty="0">
                <a:latin typeface="Tahoma"/>
                <a:cs typeface="Tahoma"/>
              </a:rPr>
              <a:t>a</a:t>
            </a:r>
            <a:r>
              <a:rPr sz="1650" spc="-35" dirty="0">
                <a:latin typeface="Tahoma"/>
                <a:cs typeface="Tahoma"/>
              </a:rPr>
              <a:t> </a:t>
            </a:r>
            <a:r>
              <a:rPr sz="1650" spc="75" dirty="0">
                <a:latin typeface="Tahoma"/>
                <a:cs typeface="Tahoma"/>
              </a:rPr>
              <a:t>long</a:t>
            </a:r>
            <a:r>
              <a:rPr sz="1650" spc="-35" dirty="0">
                <a:latin typeface="Tahoma"/>
                <a:cs typeface="Tahoma"/>
              </a:rPr>
              <a:t> </a:t>
            </a:r>
            <a:r>
              <a:rPr sz="1650" spc="55" dirty="0">
                <a:latin typeface="Tahoma"/>
                <a:cs typeface="Tahoma"/>
              </a:rPr>
              <a:t>sequence</a:t>
            </a:r>
            <a:r>
              <a:rPr sz="1650" spc="-70" dirty="0">
                <a:latin typeface="Tahoma"/>
                <a:cs typeface="Tahoma"/>
              </a:rPr>
              <a:t> </a:t>
            </a:r>
            <a:r>
              <a:rPr sz="1650" dirty="0">
                <a:latin typeface="Tahoma"/>
                <a:cs typeface="Tahoma"/>
              </a:rPr>
              <a:t>of</a:t>
            </a:r>
            <a:r>
              <a:rPr sz="1650" spc="20" dirty="0">
                <a:latin typeface="Tahoma"/>
                <a:cs typeface="Tahoma"/>
              </a:rPr>
              <a:t> </a:t>
            </a:r>
            <a:r>
              <a:rPr sz="1650" spc="65" dirty="0">
                <a:latin typeface="Tahoma"/>
                <a:cs typeface="Tahoma"/>
              </a:rPr>
              <a:t>possible</a:t>
            </a:r>
            <a:r>
              <a:rPr sz="1650" spc="-50" dirty="0">
                <a:latin typeface="Tahoma"/>
                <a:cs typeface="Tahoma"/>
              </a:rPr>
              <a:t> </a:t>
            </a:r>
            <a:r>
              <a:rPr sz="1650" dirty="0">
                <a:latin typeface="Tahoma"/>
                <a:cs typeface="Tahoma"/>
              </a:rPr>
              <a:t>actions</a:t>
            </a:r>
            <a:r>
              <a:rPr sz="1650" spc="-55" dirty="0">
                <a:latin typeface="Tahoma"/>
                <a:cs typeface="Tahoma"/>
              </a:rPr>
              <a:t> </a:t>
            </a:r>
            <a:r>
              <a:rPr sz="1650" spc="40" dirty="0">
                <a:latin typeface="Tahoma"/>
                <a:cs typeface="Tahoma"/>
              </a:rPr>
              <a:t>before </a:t>
            </a:r>
            <a:r>
              <a:rPr sz="1650" spc="80" dirty="0">
                <a:latin typeface="Tahoma"/>
                <a:cs typeface="Tahoma"/>
              </a:rPr>
              <a:t>deciding</a:t>
            </a:r>
            <a:r>
              <a:rPr sz="1650" spc="-50" dirty="0">
                <a:latin typeface="Tahoma"/>
                <a:cs typeface="Tahoma"/>
              </a:rPr>
              <a:t> </a:t>
            </a:r>
            <a:r>
              <a:rPr sz="1650" dirty="0">
                <a:latin typeface="Tahoma"/>
                <a:cs typeface="Tahoma"/>
              </a:rPr>
              <a:t>whether</a:t>
            </a:r>
            <a:r>
              <a:rPr sz="1650" spc="-25" dirty="0">
                <a:latin typeface="Tahoma"/>
                <a:cs typeface="Tahoma"/>
              </a:rPr>
              <a:t> </a:t>
            </a:r>
            <a:r>
              <a:rPr sz="1650" dirty="0">
                <a:latin typeface="Tahoma"/>
                <a:cs typeface="Tahoma"/>
              </a:rPr>
              <a:t>the</a:t>
            </a:r>
            <a:r>
              <a:rPr sz="1650" spc="-15" dirty="0">
                <a:latin typeface="Tahoma"/>
                <a:cs typeface="Tahoma"/>
              </a:rPr>
              <a:t> </a:t>
            </a:r>
            <a:r>
              <a:rPr sz="1650" spc="70" dirty="0">
                <a:latin typeface="Tahoma"/>
                <a:cs typeface="Tahoma"/>
              </a:rPr>
              <a:t>goal</a:t>
            </a:r>
            <a:r>
              <a:rPr sz="1650" spc="-5" dirty="0">
                <a:latin typeface="Tahoma"/>
                <a:cs typeface="Tahoma"/>
              </a:rPr>
              <a:t> </a:t>
            </a:r>
            <a:r>
              <a:rPr sz="1650" dirty="0">
                <a:latin typeface="Tahoma"/>
                <a:cs typeface="Tahoma"/>
              </a:rPr>
              <a:t>is</a:t>
            </a:r>
            <a:r>
              <a:rPr sz="1650" spc="10" dirty="0">
                <a:latin typeface="Tahoma"/>
                <a:cs typeface="Tahoma"/>
              </a:rPr>
              <a:t> </a:t>
            </a:r>
            <a:r>
              <a:rPr sz="1650" spc="45" dirty="0">
                <a:latin typeface="Tahoma"/>
                <a:cs typeface="Tahoma"/>
              </a:rPr>
              <a:t>achieved</a:t>
            </a:r>
            <a:r>
              <a:rPr sz="1650" spc="-40" dirty="0">
                <a:latin typeface="Tahoma"/>
                <a:cs typeface="Tahoma"/>
              </a:rPr>
              <a:t> </a:t>
            </a:r>
            <a:r>
              <a:rPr sz="1650" spc="50" dirty="0">
                <a:latin typeface="Tahoma"/>
                <a:cs typeface="Tahoma"/>
              </a:rPr>
              <a:t>or</a:t>
            </a:r>
            <a:r>
              <a:rPr sz="1650" spc="15" dirty="0">
                <a:latin typeface="Tahoma"/>
                <a:cs typeface="Tahoma"/>
              </a:rPr>
              <a:t> </a:t>
            </a:r>
            <a:r>
              <a:rPr sz="1650" dirty="0">
                <a:latin typeface="Tahoma"/>
                <a:cs typeface="Tahoma"/>
              </a:rPr>
              <a:t>not.</a:t>
            </a:r>
            <a:r>
              <a:rPr sz="1650" spc="-55" dirty="0">
                <a:latin typeface="Tahoma"/>
                <a:cs typeface="Tahoma"/>
              </a:rPr>
              <a:t> </a:t>
            </a:r>
            <a:r>
              <a:rPr sz="1650" dirty="0">
                <a:latin typeface="Tahoma"/>
                <a:cs typeface="Tahoma"/>
              </a:rPr>
              <a:t>Such</a:t>
            </a:r>
            <a:r>
              <a:rPr sz="1650" spc="-25" dirty="0">
                <a:latin typeface="Tahoma"/>
                <a:cs typeface="Tahoma"/>
              </a:rPr>
              <a:t> </a:t>
            </a:r>
            <a:r>
              <a:rPr sz="1650" dirty="0">
                <a:latin typeface="Tahoma"/>
                <a:cs typeface="Tahoma"/>
              </a:rPr>
              <a:t>considerations</a:t>
            </a:r>
            <a:r>
              <a:rPr sz="1650" spc="-35" dirty="0">
                <a:latin typeface="Tahoma"/>
                <a:cs typeface="Tahoma"/>
              </a:rPr>
              <a:t> </a:t>
            </a:r>
            <a:r>
              <a:rPr sz="1650" dirty="0">
                <a:latin typeface="Tahoma"/>
                <a:cs typeface="Tahoma"/>
              </a:rPr>
              <a:t>of</a:t>
            </a:r>
            <a:r>
              <a:rPr sz="1650" spc="45" dirty="0">
                <a:latin typeface="Tahoma"/>
                <a:cs typeface="Tahoma"/>
              </a:rPr>
              <a:t> </a:t>
            </a:r>
            <a:r>
              <a:rPr sz="1650" spc="-10" dirty="0">
                <a:latin typeface="Tahoma"/>
                <a:cs typeface="Tahoma"/>
              </a:rPr>
              <a:t>different </a:t>
            </a:r>
            <a:r>
              <a:rPr sz="1650" spc="10" dirty="0">
                <a:latin typeface="Tahoma"/>
                <a:cs typeface="Tahoma"/>
              </a:rPr>
              <a:t>scenario</a:t>
            </a:r>
            <a:r>
              <a:rPr sz="1650" spc="-10" dirty="0">
                <a:latin typeface="Tahoma"/>
                <a:cs typeface="Tahoma"/>
              </a:rPr>
              <a:t> </a:t>
            </a:r>
            <a:r>
              <a:rPr sz="1650" spc="10" dirty="0">
                <a:latin typeface="Tahoma"/>
                <a:cs typeface="Tahoma"/>
              </a:rPr>
              <a:t>are</a:t>
            </a:r>
            <a:r>
              <a:rPr sz="1650" dirty="0">
                <a:latin typeface="Tahoma"/>
                <a:cs typeface="Tahoma"/>
              </a:rPr>
              <a:t> </a:t>
            </a:r>
            <a:r>
              <a:rPr sz="1650" spc="60" dirty="0">
                <a:latin typeface="Tahoma"/>
                <a:cs typeface="Tahoma"/>
              </a:rPr>
              <a:t>called</a:t>
            </a:r>
            <a:r>
              <a:rPr sz="1650" spc="-5" dirty="0">
                <a:latin typeface="Tahoma"/>
                <a:cs typeface="Tahoma"/>
              </a:rPr>
              <a:t> </a:t>
            </a:r>
            <a:r>
              <a:rPr sz="1650" spc="10" dirty="0">
                <a:latin typeface="Tahoma"/>
                <a:cs typeface="Tahoma"/>
              </a:rPr>
              <a:t>searching</a:t>
            </a:r>
            <a:r>
              <a:rPr sz="1650" spc="-5" dirty="0">
                <a:latin typeface="Tahoma"/>
                <a:cs typeface="Tahoma"/>
              </a:rPr>
              <a:t> </a:t>
            </a:r>
            <a:r>
              <a:rPr sz="1650" spc="55" dirty="0">
                <a:latin typeface="Tahoma"/>
                <a:cs typeface="Tahoma"/>
              </a:rPr>
              <a:t>and</a:t>
            </a:r>
            <a:r>
              <a:rPr sz="1650" spc="20" dirty="0">
                <a:latin typeface="Tahoma"/>
                <a:cs typeface="Tahoma"/>
              </a:rPr>
              <a:t> </a:t>
            </a:r>
            <a:r>
              <a:rPr sz="1650" spc="10" dirty="0">
                <a:latin typeface="Tahoma"/>
                <a:cs typeface="Tahoma"/>
              </a:rPr>
              <a:t>planning,</a:t>
            </a:r>
            <a:r>
              <a:rPr sz="1650" spc="-80" dirty="0">
                <a:latin typeface="Tahoma"/>
                <a:cs typeface="Tahoma"/>
              </a:rPr>
              <a:t> </a:t>
            </a:r>
            <a:r>
              <a:rPr sz="1650" spc="10" dirty="0">
                <a:latin typeface="Tahoma"/>
                <a:cs typeface="Tahoma"/>
              </a:rPr>
              <a:t>which</a:t>
            </a:r>
            <a:r>
              <a:rPr sz="1650" spc="15" dirty="0">
                <a:latin typeface="Tahoma"/>
                <a:cs typeface="Tahoma"/>
              </a:rPr>
              <a:t> </a:t>
            </a:r>
            <a:r>
              <a:rPr sz="1650" spc="10" dirty="0">
                <a:latin typeface="Tahoma"/>
                <a:cs typeface="Tahoma"/>
              </a:rPr>
              <a:t>makes</a:t>
            </a:r>
            <a:r>
              <a:rPr sz="1650" spc="-25" dirty="0">
                <a:latin typeface="Tahoma"/>
                <a:cs typeface="Tahoma"/>
              </a:rPr>
              <a:t> </a:t>
            </a:r>
            <a:r>
              <a:rPr sz="1650" spc="10" dirty="0">
                <a:latin typeface="Tahoma"/>
                <a:cs typeface="Tahoma"/>
              </a:rPr>
              <a:t>an</a:t>
            </a:r>
            <a:r>
              <a:rPr sz="1650" spc="40" dirty="0">
                <a:latin typeface="Tahoma"/>
                <a:cs typeface="Tahoma"/>
              </a:rPr>
              <a:t> </a:t>
            </a:r>
            <a:r>
              <a:rPr sz="1650" spc="10" dirty="0">
                <a:latin typeface="Tahoma"/>
                <a:cs typeface="Tahoma"/>
              </a:rPr>
              <a:t>agent</a:t>
            </a:r>
            <a:r>
              <a:rPr sz="1650" dirty="0">
                <a:latin typeface="Tahoma"/>
                <a:cs typeface="Tahoma"/>
              </a:rPr>
              <a:t> </a:t>
            </a:r>
            <a:r>
              <a:rPr sz="1650" spc="-10" dirty="0">
                <a:latin typeface="Tahoma"/>
                <a:cs typeface="Tahoma"/>
              </a:rPr>
              <a:t>proactive.</a:t>
            </a:r>
            <a:endParaRPr sz="1650">
              <a:latin typeface="Tahoma"/>
              <a:cs typeface="Tahoma"/>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14BF6-CE75-AC48-8955-94A41681E86A}"/>
              </a:ext>
            </a:extLst>
          </p:cNvPr>
          <p:cNvSpPr>
            <a:spLocks noGrp="1"/>
          </p:cNvSpPr>
          <p:nvPr>
            <p:ph type="title"/>
          </p:nvPr>
        </p:nvSpPr>
        <p:spPr>
          <a:xfrm>
            <a:off x="982662" y="1688198"/>
            <a:ext cx="7908951" cy="507831"/>
          </a:xfrm>
        </p:spPr>
        <p:txBody>
          <a:bodyPr/>
          <a:lstStyle/>
          <a:p>
            <a:r>
              <a:rPr lang="en-US" dirty="0"/>
              <a:t>Alibaba G+ robot</a:t>
            </a:r>
          </a:p>
        </p:txBody>
      </p:sp>
      <p:pic>
        <p:nvPicPr>
          <p:cNvPr id="4" name="Picture 3">
            <a:extLst>
              <a:ext uri="{FF2B5EF4-FFF2-40B4-BE49-F238E27FC236}">
                <a16:creationId xmlns:a16="http://schemas.microsoft.com/office/drawing/2014/main" id="{766B1578-D7CC-EF80-C152-D4A1A710C2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1600" y="3139440"/>
            <a:ext cx="7620000" cy="4023360"/>
          </a:xfrm>
          <a:prstGeom prst="rect">
            <a:avLst/>
          </a:prstGeom>
        </p:spPr>
      </p:pic>
    </p:spTree>
    <p:extLst>
      <p:ext uri="{BB962C8B-B14F-4D97-AF65-F5344CB8AC3E}">
        <p14:creationId xmlns:p14="http://schemas.microsoft.com/office/powerpoint/2010/main" val="4696463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409193" y="1053845"/>
          <a:ext cx="9228455" cy="1664335"/>
        </p:xfrm>
        <a:graphic>
          <a:graphicData uri="http://schemas.openxmlformats.org/drawingml/2006/table">
            <a:tbl>
              <a:tblPr firstRow="1" bandRow="1">
                <a:tableStyleId>{2D5ABB26-0587-4C30-8999-92F81FD0307C}</a:tableStyleId>
              </a:tblPr>
              <a:tblGrid>
                <a:gridCol w="72390">
                  <a:extLst>
                    <a:ext uri="{9D8B030D-6E8A-4147-A177-3AD203B41FA5}">
                      <a16:colId xmlns:a16="http://schemas.microsoft.com/office/drawing/2014/main" val="20000"/>
                    </a:ext>
                  </a:extLst>
                </a:gridCol>
                <a:gridCol w="9156065">
                  <a:extLst>
                    <a:ext uri="{9D8B030D-6E8A-4147-A177-3AD203B41FA5}">
                      <a16:colId xmlns:a16="http://schemas.microsoft.com/office/drawing/2014/main" val="20001"/>
                    </a:ext>
                  </a:extLst>
                </a:gridCol>
              </a:tblGrid>
              <a:tr h="650240">
                <a:tc gridSpan="2">
                  <a:txBody>
                    <a:bodyPr/>
                    <a:lstStyle/>
                    <a:p>
                      <a:pPr>
                        <a:lnSpc>
                          <a:spcPct val="100000"/>
                        </a:lnSpc>
                      </a:pPr>
                      <a:endParaRPr sz="2100">
                        <a:latin typeface="Times New Roman"/>
                        <a:cs typeface="Times New Roman"/>
                      </a:endParaRPr>
                    </a:p>
                  </a:txBody>
                  <a:tcPr marL="0" marR="0" marT="0" marB="0">
                    <a:lnL w="9525">
                      <a:solidFill>
                        <a:srgbClr val="E9E9E9"/>
                      </a:solidFill>
                      <a:prstDash val="solid"/>
                    </a:lnL>
                    <a:lnR w="9525">
                      <a:solidFill>
                        <a:srgbClr val="E9E9E9"/>
                      </a:solidFill>
                      <a:prstDash val="solid"/>
                    </a:lnR>
                    <a:lnT w="9525">
                      <a:solidFill>
                        <a:srgbClr val="E9E9E9"/>
                      </a:solidFill>
                      <a:prstDash val="solid"/>
                    </a:lnT>
                  </a:tcPr>
                </a:tc>
                <a:tc hMerge="1">
                  <a:txBody>
                    <a:bodyPr/>
                    <a:lstStyle/>
                    <a:p>
                      <a:endParaRPr/>
                    </a:p>
                  </a:txBody>
                  <a:tcPr marL="0" marR="0" marT="0" marB="0"/>
                </a:tc>
                <a:extLst>
                  <a:ext uri="{0D108BD9-81ED-4DB2-BD59-A6C34878D82A}">
                    <a16:rowId xmlns:a16="http://schemas.microsoft.com/office/drawing/2014/main" val="10000"/>
                  </a:ext>
                </a:extLst>
              </a:tr>
              <a:tr h="580390">
                <a:tc>
                  <a:txBody>
                    <a:bodyPr/>
                    <a:lstStyle/>
                    <a:p>
                      <a:pPr>
                        <a:lnSpc>
                          <a:spcPct val="100000"/>
                        </a:lnSpc>
                      </a:pPr>
                      <a:endParaRPr sz="2100">
                        <a:latin typeface="Times New Roman"/>
                        <a:cs typeface="Times New Roman"/>
                      </a:endParaRPr>
                    </a:p>
                  </a:txBody>
                  <a:tcPr marL="0" marR="0" marT="0" marB="0">
                    <a:lnL w="9525">
                      <a:solidFill>
                        <a:srgbClr val="E9E9E9"/>
                      </a:solidFill>
                      <a:prstDash val="solid"/>
                    </a:lnL>
                    <a:solidFill>
                      <a:srgbClr val="F5A700"/>
                    </a:solidFill>
                  </a:tcPr>
                </a:tc>
                <a:tc>
                  <a:txBody>
                    <a:bodyPr/>
                    <a:lstStyle/>
                    <a:p>
                      <a:pPr marL="476884">
                        <a:lnSpc>
                          <a:spcPts val="3900"/>
                        </a:lnSpc>
                      </a:pPr>
                      <a:r>
                        <a:rPr sz="3300" b="1" spc="-25" dirty="0">
                          <a:latin typeface="Tahoma"/>
                          <a:cs typeface="Tahoma"/>
                        </a:rPr>
                        <a:t>3.</a:t>
                      </a:r>
                      <a:r>
                        <a:rPr sz="3300" b="1" spc="-240" dirty="0">
                          <a:latin typeface="Tahoma"/>
                          <a:cs typeface="Tahoma"/>
                        </a:rPr>
                        <a:t> </a:t>
                      </a:r>
                      <a:r>
                        <a:rPr sz="3300" b="1" spc="-95" dirty="0">
                          <a:latin typeface="Tahoma"/>
                          <a:cs typeface="Tahoma"/>
                        </a:rPr>
                        <a:t>Goal-</a:t>
                      </a:r>
                      <a:r>
                        <a:rPr sz="3300" b="1" spc="-10" dirty="0">
                          <a:latin typeface="Tahoma"/>
                          <a:cs typeface="Tahoma"/>
                        </a:rPr>
                        <a:t>based</a:t>
                      </a:r>
                      <a:r>
                        <a:rPr sz="3300" b="1" spc="-165" dirty="0">
                          <a:latin typeface="Tahoma"/>
                          <a:cs typeface="Tahoma"/>
                        </a:rPr>
                        <a:t> </a:t>
                      </a:r>
                      <a:r>
                        <a:rPr sz="3300" b="1" spc="-10" dirty="0">
                          <a:latin typeface="Tahoma"/>
                          <a:cs typeface="Tahoma"/>
                        </a:rPr>
                        <a:t>agents</a:t>
                      </a:r>
                      <a:endParaRPr sz="3300">
                        <a:latin typeface="Tahoma"/>
                        <a:cs typeface="Tahoma"/>
                      </a:endParaRPr>
                    </a:p>
                  </a:txBody>
                  <a:tcPr marL="0" marR="0" marT="0" marB="0">
                    <a:lnR w="9525">
                      <a:solidFill>
                        <a:srgbClr val="E9E9E9"/>
                      </a:solidFill>
                      <a:prstDash val="solid"/>
                    </a:lnR>
                  </a:tcPr>
                </a:tc>
                <a:extLst>
                  <a:ext uri="{0D108BD9-81ED-4DB2-BD59-A6C34878D82A}">
                    <a16:rowId xmlns:a16="http://schemas.microsoft.com/office/drawing/2014/main" val="10001"/>
                  </a:ext>
                </a:extLst>
              </a:tr>
              <a:tr h="433705">
                <a:tc gridSpan="2">
                  <a:txBody>
                    <a:bodyPr/>
                    <a:lstStyle/>
                    <a:p>
                      <a:pPr>
                        <a:lnSpc>
                          <a:spcPct val="100000"/>
                        </a:lnSpc>
                      </a:pPr>
                      <a:endParaRPr sz="2100">
                        <a:latin typeface="Times New Roman"/>
                        <a:cs typeface="Times New Roman"/>
                      </a:endParaRPr>
                    </a:p>
                  </a:txBody>
                  <a:tcPr marL="0" marR="0" marT="0" marB="0">
                    <a:lnL w="9525">
                      <a:solidFill>
                        <a:srgbClr val="E9E9E9"/>
                      </a:solidFill>
                      <a:prstDash val="solid"/>
                    </a:lnL>
                    <a:lnR w="9525">
                      <a:solidFill>
                        <a:srgbClr val="E9E9E9"/>
                      </a:solidFill>
                      <a:prstDash val="solid"/>
                    </a:lnR>
                    <a:lnB w="9525">
                      <a:solidFill>
                        <a:srgbClr val="E9E9E9"/>
                      </a:solidFill>
                      <a:prstDash val="solid"/>
                    </a:lnB>
                  </a:tcPr>
                </a:tc>
                <a:tc hMerge="1">
                  <a:txBody>
                    <a:bodyPr/>
                    <a:lstStyle/>
                    <a:p>
                      <a:endParaRPr/>
                    </a:p>
                  </a:txBody>
                  <a:tcPr marL="0" marR="0" marT="0" marB="0"/>
                </a:tc>
                <a:extLst>
                  <a:ext uri="{0D108BD9-81ED-4DB2-BD59-A6C34878D82A}">
                    <a16:rowId xmlns:a16="http://schemas.microsoft.com/office/drawing/2014/main" val="10002"/>
                  </a:ext>
                </a:extLst>
              </a:tr>
            </a:tbl>
          </a:graphicData>
        </a:graphic>
      </p:graphicFrame>
      <p:sp>
        <p:nvSpPr>
          <p:cNvPr id="3" name="object 3"/>
          <p:cNvSpPr txBox="1"/>
          <p:nvPr/>
        </p:nvSpPr>
        <p:spPr>
          <a:xfrm>
            <a:off x="982459" y="3080975"/>
            <a:ext cx="8240395" cy="3020060"/>
          </a:xfrm>
          <a:prstGeom prst="rect">
            <a:avLst/>
          </a:prstGeom>
        </p:spPr>
        <p:txBody>
          <a:bodyPr vert="horz" wrap="square" lIns="0" tIns="45720" rIns="0" bIns="0" rtlCol="0">
            <a:spAutoFit/>
          </a:bodyPr>
          <a:lstStyle/>
          <a:p>
            <a:pPr marL="201295" marR="5080" indent="-189230">
              <a:lnSpc>
                <a:spcPct val="89800"/>
              </a:lnSpc>
              <a:spcBef>
                <a:spcPts val="360"/>
              </a:spcBef>
              <a:buFont typeface="Arial MT"/>
              <a:buChar char="•"/>
              <a:tabLst>
                <a:tab pos="201295" algn="l"/>
              </a:tabLst>
            </a:pPr>
            <a:r>
              <a:rPr sz="2150" dirty="0">
                <a:latin typeface="Tahoma"/>
                <a:cs typeface="Tahoma"/>
              </a:rPr>
              <a:t>The</a:t>
            </a:r>
            <a:r>
              <a:rPr sz="2150" spc="-70" dirty="0">
                <a:latin typeface="Tahoma"/>
                <a:cs typeface="Tahoma"/>
              </a:rPr>
              <a:t> </a:t>
            </a:r>
            <a:r>
              <a:rPr sz="2150" spc="70" dirty="0">
                <a:latin typeface="Tahoma"/>
                <a:cs typeface="Tahoma"/>
              </a:rPr>
              <a:t>Chinese</a:t>
            </a:r>
            <a:r>
              <a:rPr sz="2150" spc="-55" dirty="0">
                <a:latin typeface="Tahoma"/>
                <a:cs typeface="Tahoma"/>
              </a:rPr>
              <a:t> </a:t>
            </a:r>
            <a:r>
              <a:rPr sz="2150" dirty="0">
                <a:latin typeface="Tahoma"/>
                <a:cs typeface="Tahoma"/>
              </a:rPr>
              <a:t>tech</a:t>
            </a:r>
            <a:r>
              <a:rPr sz="2150" spc="-70" dirty="0">
                <a:latin typeface="Tahoma"/>
                <a:cs typeface="Tahoma"/>
              </a:rPr>
              <a:t> </a:t>
            </a:r>
            <a:r>
              <a:rPr sz="2150" dirty="0">
                <a:latin typeface="Tahoma"/>
                <a:cs typeface="Tahoma"/>
              </a:rPr>
              <a:t>giant’s</a:t>
            </a:r>
            <a:r>
              <a:rPr sz="2150" spc="-90" dirty="0">
                <a:latin typeface="Tahoma"/>
                <a:cs typeface="Tahoma"/>
              </a:rPr>
              <a:t> </a:t>
            </a:r>
            <a:r>
              <a:rPr sz="2150" dirty="0">
                <a:latin typeface="Tahoma"/>
                <a:cs typeface="Tahoma"/>
              </a:rPr>
              <a:t>latest</a:t>
            </a:r>
            <a:r>
              <a:rPr sz="2150" spc="-55" dirty="0">
                <a:latin typeface="Tahoma"/>
                <a:cs typeface="Tahoma"/>
              </a:rPr>
              <a:t> </a:t>
            </a:r>
            <a:r>
              <a:rPr sz="2150" dirty="0">
                <a:latin typeface="Tahoma"/>
                <a:cs typeface="Tahoma"/>
              </a:rPr>
              <a:t>creation</a:t>
            </a:r>
            <a:r>
              <a:rPr sz="2150" spc="-70" dirty="0">
                <a:latin typeface="Tahoma"/>
                <a:cs typeface="Tahoma"/>
              </a:rPr>
              <a:t> </a:t>
            </a:r>
            <a:r>
              <a:rPr sz="2150" dirty="0">
                <a:latin typeface="Tahoma"/>
                <a:cs typeface="Tahoma"/>
              </a:rPr>
              <a:t>is</a:t>
            </a:r>
            <a:r>
              <a:rPr sz="2150" spc="-70" dirty="0">
                <a:latin typeface="Tahoma"/>
                <a:cs typeface="Tahoma"/>
              </a:rPr>
              <a:t> </a:t>
            </a:r>
            <a:r>
              <a:rPr sz="2150" spc="75" dirty="0">
                <a:latin typeface="Tahoma"/>
                <a:cs typeface="Tahoma"/>
              </a:rPr>
              <a:t>called</a:t>
            </a:r>
            <a:r>
              <a:rPr sz="2150" spc="-85" dirty="0">
                <a:latin typeface="Tahoma"/>
                <a:cs typeface="Tahoma"/>
              </a:rPr>
              <a:t> </a:t>
            </a:r>
            <a:r>
              <a:rPr sz="2150" dirty="0">
                <a:latin typeface="Tahoma"/>
                <a:cs typeface="Tahoma"/>
              </a:rPr>
              <a:t>the</a:t>
            </a:r>
            <a:r>
              <a:rPr sz="2150" spc="-55" dirty="0">
                <a:latin typeface="Tahoma"/>
                <a:cs typeface="Tahoma"/>
              </a:rPr>
              <a:t> </a:t>
            </a:r>
            <a:r>
              <a:rPr sz="2150" spc="229" dirty="0">
                <a:latin typeface="Tahoma"/>
                <a:cs typeface="Tahoma"/>
              </a:rPr>
              <a:t>G</a:t>
            </a:r>
            <a:r>
              <a:rPr sz="2150" spc="-65" dirty="0">
                <a:latin typeface="Tahoma"/>
                <a:cs typeface="Tahoma"/>
              </a:rPr>
              <a:t> </a:t>
            </a:r>
            <a:r>
              <a:rPr sz="2150" dirty="0">
                <a:latin typeface="Tahoma"/>
                <a:cs typeface="Tahoma"/>
              </a:rPr>
              <a:t>Plus</a:t>
            </a:r>
            <a:r>
              <a:rPr sz="2150" spc="-70" dirty="0">
                <a:latin typeface="Tahoma"/>
                <a:cs typeface="Tahoma"/>
              </a:rPr>
              <a:t> </a:t>
            </a:r>
            <a:r>
              <a:rPr sz="2150" spc="75" dirty="0">
                <a:latin typeface="Tahoma"/>
                <a:cs typeface="Tahoma"/>
              </a:rPr>
              <a:t>and</a:t>
            </a:r>
            <a:r>
              <a:rPr sz="2150" spc="-50" dirty="0">
                <a:latin typeface="Tahoma"/>
                <a:cs typeface="Tahoma"/>
              </a:rPr>
              <a:t> </a:t>
            </a:r>
            <a:r>
              <a:rPr sz="2150" spc="-25" dirty="0">
                <a:latin typeface="Tahoma"/>
                <a:cs typeface="Tahoma"/>
              </a:rPr>
              <a:t>is </a:t>
            </a:r>
            <a:r>
              <a:rPr sz="2150" dirty="0">
                <a:latin typeface="Tahoma"/>
                <a:cs typeface="Tahoma"/>
              </a:rPr>
              <a:t>a</a:t>
            </a:r>
            <a:r>
              <a:rPr sz="2150" spc="-30" dirty="0">
                <a:latin typeface="Tahoma"/>
                <a:cs typeface="Tahoma"/>
              </a:rPr>
              <a:t> </a:t>
            </a:r>
            <a:r>
              <a:rPr sz="2150" spc="-20" dirty="0">
                <a:latin typeface="Tahoma"/>
                <a:cs typeface="Tahoma"/>
              </a:rPr>
              <a:t>self-</a:t>
            </a:r>
            <a:r>
              <a:rPr sz="2150" spc="60" dirty="0">
                <a:latin typeface="Tahoma"/>
                <a:cs typeface="Tahoma"/>
              </a:rPr>
              <a:t>driving</a:t>
            </a:r>
            <a:r>
              <a:rPr sz="2150" spc="-30" dirty="0">
                <a:latin typeface="Tahoma"/>
                <a:cs typeface="Tahoma"/>
              </a:rPr>
              <a:t> </a:t>
            </a:r>
            <a:r>
              <a:rPr sz="2150" spc="65" dirty="0">
                <a:latin typeface="Tahoma"/>
                <a:cs typeface="Tahoma"/>
              </a:rPr>
              <a:t>robot</a:t>
            </a:r>
            <a:r>
              <a:rPr sz="2150" spc="-15" dirty="0">
                <a:latin typeface="Tahoma"/>
                <a:cs typeface="Tahoma"/>
              </a:rPr>
              <a:t> </a:t>
            </a:r>
            <a:r>
              <a:rPr sz="2150" dirty="0">
                <a:latin typeface="Tahoma"/>
                <a:cs typeface="Tahoma"/>
              </a:rPr>
              <a:t>which</a:t>
            </a:r>
            <a:r>
              <a:rPr sz="2150" spc="-55" dirty="0">
                <a:latin typeface="Tahoma"/>
                <a:cs typeface="Tahoma"/>
              </a:rPr>
              <a:t> </a:t>
            </a:r>
            <a:r>
              <a:rPr sz="2150" dirty="0">
                <a:latin typeface="Tahoma"/>
                <a:cs typeface="Tahoma"/>
              </a:rPr>
              <a:t>utilizes</a:t>
            </a:r>
            <a:r>
              <a:rPr sz="2150" spc="-45" dirty="0">
                <a:latin typeface="Tahoma"/>
                <a:cs typeface="Tahoma"/>
              </a:rPr>
              <a:t> </a:t>
            </a:r>
            <a:r>
              <a:rPr sz="2150" spc="60" dirty="0">
                <a:latin typeface="Tahoma"/>
                <a:cs typeface="Tahoma"/>
              </a:rPr>
              <a:t>LiDAR</a:t>
            </a:r>
            <a:r>
              <a:rPr sz="2150" spc="-30" dirty="0">
                <a:latin typeface="Tahoma"/>
                <a:cs typeface="Tahoma"/>
              </a:rPr>
              <a:t> </a:t>
            </a:r>
            <a:r>
              <a:rPr sz="2150" dirty="0">
                <a:latin typeface="Tahoma"/>
                <a:cs typeface="Tahoma"/>
              </a:rPr>
              <a:t>for</a:t>
            </a:r>
            <a:r>
              <a:rPr sz="2150" spc="-20" dirty="0">
                <a:latin typeface="Tahoma"/>
                <a:cs typeface="Tahoma"/>
              </a:rPr>
              <a:t> </a:t>
            </a:r>
            <a:r>
              <a:rPr sz="2150" dirty="0">
                <a:latin typeface="Tahoma"/>
                <a:cs typeface="Tahoma"/>
              </a:rPr>
              <a:t>navigation</a:t>
            </a:r>
            <a:r>
              <a:rPr sz="2150" spc="-70" dirty="0">
                <a:latin typeface="Tahoma"/>
                <a:cs typeface="Tahoma"/>
              </a:rPr>
              <a:t> </a:t>
            </a:r>
            <a:r>
              <a:rPr sz="2150" spc="75" dirty="0">
                <a:latin typeface="Tahoma"/>
                <a:cs typeface="Tahoma"/>
              </a:rPr>
              <a:t>and</a:t>
            </a:r>
            <a:r>
              <a:rPr sz="2150" spc="-10" dirty="0">
                <a:latin typeface="Tahoma"/>
                <a:cs typeface="Tahoma"/>
              </a:rPr>
              <a:t> facial </a:t>
            </a:r>
            <a:r>
              <a:rPr sz="2150" spc="60" dirty="0">
                <a:latin typeface="Tahoma"/>
                <a:cs typeface="Tahoma"/>
              </a:rPr>
              <a:t>recognition</a:t>
            </a:r>
            <a:r>
              <a:rPr sz="2150" spc="-114" dirty="0">
                <a:latin typeface="Tahoma"/>
                <a:cs typeface="Tahoma"/>
              </a:rPr>
              <a:t> </a:t>
            </a:r>
            <a:r>
              <a:rPr sz="2150" dirty="0">
                <a:latin typeface="Tahoma"/>
                <a:cs typeface="Tahoma"/>
              </a:rPr>
              <a:t>in</a:t>
            </a:r>
            <a:r>
              <a:rPr sz="2150" spc="-80" dirty="0">
                <a:latin typeface="Tahoma"/>
                <a:cs typeface="Tahoma"/>
              </a:rPr>
              <a:t> </a:t>
            </a:r>
            <a:r>
              <a:rPr sz="2150" spc="65" dirty="0">
                <a:latin typeface="Tahoma"/>
                <a:cs typeface="Tahoma"/>
              </a:rPr>
              <a:t>order</a:t>
            </a:r>
            <a:r>
              <a:rPr sz="2150" spc="-80" dirty="0">
                <a:latin typeface="Tahoma"/>
                <a:cs typeface="Tahoma"/>
              </a:rPr>
              <a:t> </a:t>
            </a:r>
            <a:r>
              <a:rPr sz="2150" dirty="0">
                <a:latin typeface="Tahoma"/>
                <a:cs typeface="Tahoma"/>
              </a:rPr>
              <a:t>to</a:t>
            </a:r>
            <a:r>
              <a:rPr sz="2150" spc="-100" dirty="0">
                <a:latin typeface="Tahoma"/>
                <a:cs typeface="Tahoma"/>
              </a:rPr>
              <a:t> </a:t>
            </a:r>
            <a:r>
              <a:rPr sz="2150" dirty="0">
                <a:latin typeface="Tahoma"/>
                <a:cs typeface="Tahoma"/>
              </a:rPr>
              <a:t>ensure</a:t>
            </a:r>
            <a:r>
              <a:rPr sz="2150" spc="-75" dirty="0">
                <a:latin typeface="Tahoma"/>
                <a:cs typeface="Tahoma"/>
              </a:rPr>
              <a:t> </a:t>
            </a:r>
            <a:r>
              <a:rPr sz="2150" dirty="0">
                <a:latin typeface="Tahoma"/>
                <a:cs typeface="Tahoma"/>
              </a:rPr>
              <a:t>it</a:t>
            </a:r>
            <a:r>
              <a:rPr sz="2150" spc="-90" dirty="0">
                <a:latin typeface="Tahoma"/>
                <a:cs typeface="Tahoma"/>
              </a:rPr>
              <a:t> </a:t>
            </a:r>
            <a:r>
              <a:rPr sz="2150" dirty="0">
                <a:latin typeface="Tahoma"/>
                <a:cs typeface="Tahoma"/>
              </a:rPr>
              <a:t>is</a:t>
            </a:r>
            <a:r>
              <a:rPr sz="2150" spc="-100" dirty="0">
                <a:latin typeface="Tahoma"/>
                <a:cs typeface="Tahoma"/>
              </a:rPr>
              <a:t> </a:t>
            </a:r>
            <a:r>
              <a:rPr sz="2150" spc="60" dirty="0">
                <a:latin typeface="Tahoma"/>
                <a:cs typeface="Tahoma"/>
              </a:rPr>
              <a:t>delivering</a:t>
            </a:r>
            <a:r>
              <a:rPr sz="2150" spc="-85" dirty="0">
                <a:latin typeface="Tahoma"/>
                <a:cs typeface="Tahoma"/>
              </a:rPr>
              <a:t> </a:t>
            </a:r>
            <a:r>
              <a:rPr sz="2150" dirty="0">
                <a:latin typeface="Tahoma"/>
                <a:cs typeface="Tahoma"/>
              </a:rPr>
              <a:t>its</a:t>
            </a:r>
            <a:r>
              <a:rPr sz="2150" spc="-105" dirty="0">
                <a:latin typeface="Tahoma"/>
                <a:cs typeface="Tahoma"/>
              </a:rPr>
              <a:t> </a:t>
            </a:r>
            <a:r>
              <a:rPr sz="2150" spc="65" dirty="0">
                <a:latin typeface="Tahoma"/>
                <a:cs typeface="Tahoma"/>
              </a:rPr>
              <a:t>packages</a:t>
            </a:r>
            <a:r>
              <a:rPr sz="2150" spc="-130" dirty="0">
                <a:latin typeface="Tahoma"/>
                <a:cs typeface="Tahoma"/>
              </a:rPr>
              <a:t> </a:t>
            </a:r>
            <a:r>
              <a:rPr sz="2150" dirty="0">
                <a:latin typeface="Tahoma"/>
                <a:cs typeface="Tahoma"/>
              </a:rPr>
              <a:t>to</a:t>
            </a:r>
            <a:r>
              <a:rPr sz="2150" spc="-85" dirty="0">
                <a:latin typeface="Tahoma"/>
                <a:cs typeface="Tahoma"/>
              </a:rPr>
              <a:t> </a:t>
            </a:r>
            <a:r>
              <a:rPr sz="2150" spc="-25" dirty="0">
                <a:latin typeface="Tahoma"/>
                <a:cs typeface="Tahoma"/>
              </a:rPr>
              <a:t>the </a:t>
            </a:r>
            <a:r>
              <a:rPr sz="2150" dirty="0">
                <a:latin typeface="Tahoma"/>
                <a:cs typeface="Tahoma"/>
              </a:rPr>
              <a:t>correct</a:t>
            </a:r>
            <a:r>
              <a:rPr sz="2150" spc="135" dirty="0">
                <a:latin typeface="Tahoma"/>
                <a:cs typeface="Tahoma"/>
              </a:rPr>
              <a:t> </a:t>
            </a:r>
            <a:r>
              <a:rPr sz="2150" spc="-10" dirty="0">
                <a:latin typeface="Tahoma"/>
                <a:cs typeface="Tahoma"/>
              </a:rPr>
              <a:t>recipients.</a:t>
            </a:r>
            <a:endParaRPr sz="2150">
              <a:latin typeface="Tahoma"/>
              <a:cs typeface="Tahoma"/>
            </a:endParaRPr>
          </a:p>
          <a:p>
            <a:pPr marL="201295" marR="411480" indent="-189230">
              <a:lnSpc>
                <a:spcPts val="2320"/>
              </a:lnSpc>
              <a:spcBef>
                <a:spcPts val="855"/>
              </a:spcBef>
              <a:buFont typeface="Arial MT"/>
              <a:buChar char="•"/>
              <a:tabLst>
                <a:tab pos="201295" algn="l"/>
              </a:tabLst>
            </a:pPr>
            <a:r>
              <a:rPr sz="2150" spc="100" dirty="0">
                <a:latin typeface="Tahoma"/>
                <a:cs typeface="Tahoma"/>
              </a:rPr>
              <a:t>Capable</a:t>
            </a:r>
            <a:r>
              <a:rPr sz="2150" spc="-95" dirty="0">
                <a:latin typeface="Tahoma"/>
                <a:cs typeface="Tahoma"/>
              </a:rPr>
              <a:t> </a:t>
            </a:r>
            <a:r>
              <a:rPr sz="2150" dirty="0">
                <a:latin typeface="Tahoma"/>
                <a:cs typeface="Tahoma"/>
              </a:rPr>
              <a:t>of</a:t>
            </a:r>
            <a:r>
              <a:rPr sz="2150" spc="-25" dirty="0">
                <a:latin typeface="Tahoma"/>
                <a:cs typeface="Tahoma"/>
              </a:rPr>
              <a:t> </a:t>
            </a:r>
            <a:r>
              <a:rPr sz="2150" dirty="0">
                <a:latin typeface="Tahoma"/>
                <a:cs typeface="Tahoma"/>
              </a:rPr>
              <a:t>hitting</a:t>
            </a:r>
            <a:r>
              <a:rPr sz="2150" spc="-90" dirty="0">
                <a:latin typeface="Tahoma"/>
                <a:cs typeface="Tahoma"/>
              </a:rPr>
              <a:t> </a:t>
            </a:r>
            <a:r>
              <a:rPr sz="2150" spc="70" dirty="0">
                <a:latin typeface="Tahoma"/>
                <a:cs typeface="Tahoma"/>
              </a:rPr>
              <a:t>9</a:t>
            </a:r>
            <a:r>
              <a:rPr sz="2150" spc="-65" dirty="0">
                <a:latin typeface="Tahoma"/>
                <a:cs typeface="Tahoma"/>
              </a:rPr>
              <a:t> </a:t>
            </a:r>
            <a:r>
              <a:rPr sz="2150" spc="50" dirty="0">
                <a:latin typeface="Tahoma"/>
                <a:cs typeface="Tahoma"/>
              </a:rPr>
              <a:t>mph,</a:t>
            </a:r>
            <a:r>
              <a:rPr sz="2150" spc="-150" dirty="0">
                <a:latin typeface="Tahoma"/>
                <a:cs typeface="Tahoma"/>
              </a:rPr>
              <a:t> </a:t>
            </a:r>
            <a:r>
              <a:rPr sz="2150" dirty="0">
                <a:latin typeface="Tahoma"/>
                <a:cs typeface="Tahoma"/>
              </a:rPr>
              <a:t>the</a:t>
            </a:r>
            <a:r>
              <a:rPr sz="2150" spc="-65" dirty="0">
                <a:latin typeface="Tahoma"/>
                <a:cs typeface="Tahoma"/>
              </a:rPr>
              <a:t> </a:t>
            </a:r>
            <a:r>
              <a:rPr sz="2150" spc="229" dirty="0">
                <a:latin typeface="Tahoma"/>
                <a:cs typeface="Tahoma"/>
              </a:rPr>
              <a:t>G</a:t>
            </a:r>
            <a:r>
              <a:rPr sz="2150" spc="-75" dirty="0">
                <a:latin typeface="Tahoma"/>
                <a:cs typeface="Tahoma"/>
              </a:rPr>
              <a:t> </a:t>
            </a:r>
            <a:r>
              <a:rPr sz="2150" dirty="0">
                <a:latin typeface="Tahoma"/>
                <a:cs typeface="Tahoma"/>
              </a:rPr>
              <a:t>Plus</a:t>
            </a:r>
            <a:r>
              <a:rPr sz="2150" spc="-80" dirty="0">
                <a:latin typeface="Tahoma"/>
                <a:cs typeface="Tahoma"/>
              </a:rPr>
              <a:t> </a:t>
            </a:r>
            <a:r>
              <a:rPr sz="2150" dirty="0">
                <a:latin typeface="Tahoma"/>
                <a:cs typeface="Tahoma"/>
              </a:rPr>
              <a:t>can</a:t>
            </a:r>
            <a:r>
              <a:rPr sz="2150" spc="-65" dirty="0">
                <a:latin typeface="Tahoma"/>
                <a:cs typeface="Tahoma"/>
              </a:rPr>
              <a:t> </a:t>
            </a:r>
            <a:r>
              <a:rPr sz="2150" dirty="0">
                <a:latin typeface="Tahoma"/>
                <a:cs typeface="Tahoma"/>
              </a:rPr>
              <a:t>travel</a:t>
            </a:r>
            <a:r>
              <a:rPr sz="2150" spc="-95" dirty="0">
                <a:latin typeface="Tahoma"/>
                <a:cs typeface="Tahoma"/>
              </a:rPr>
              <a:t> </a:t>
            </a:r>
            <a:r>
              <a:rPr sz="2150" spc="100" dirty="0">
                <a:latin typeface="Tahoma"/>
                <a:cs typeface="Tahoma"/>
              </a:rPr>
              <a:t>long</a:t>
            </a:r>
            <a:r>
              <a:rPr sz="2150" spc="-75" dirty="0">
                <a:latin typeface="Tahoma"/>
                <a:cs typeface="Tahoma"/>
              </a:rPr>
              <a:t> </a:t>
            </a:r>
            <a:r>
              <a:rPr sz="2150" spc="-10" dirty="0">
                <a:latin typeface="Tahoma"/>
                <a:cs typeface="Tahoma"/>
              </a:rPr>
              <a:t>distances </a:t>
            </a:r>
            <a:r>
              <a:rPr sz="2150" spc="75" dirty="0">
                <a:latin typeface="Tahoma"/>
                <a:cs typeface="Tahoma"/>
              </a:rPr>
              <a:t>and</a:t>
            </a:r>
            <a:r>
              <a:rPr sz="2150" spc="-125" dirty="0">
                <a:latin typeface="Tahoma"/>
                <a:cs typeface="Tahoma"/>
              </a:rPr>
              <a:t> </a:t>
            </a:r>
            <a:r>
              <a:rPr sz="2150" dirty="0">
                <a:latin typeface="Tahoma"/>
                <a:cs typeface="Tahoma"/>
              </a:rPr>
              <a:t>carry</a:t>
            </a:r>
            <a:r>
              <a:rPr sz="2150" spc="-114" dirty="0">
                <a:latin typeface="Tahoma"/>
                <a:cs typeface="Tahoma"/>
              </a:rPr>
              <a:t> </a:t>
            </a:r>
            <a:r>
              <a:rPr sz="2150" spc="60" dirty="0">
                <a:latin typeface="Tahoma"/>
                <a:cs typeface="Tahoma"/>
              </a:rPr>
              <a:t>multiple</a:t>
            </a:r>
            <a:r>
              <a:rPr sz="2150" spc="-150" dirty="0">
                <a:latin typeface="Tahoma"/>
                <a:cs typeface="Tahoma"/>
              </a:rPr>
              <a:t> </a:t>
            </a:r>
            <a:r>
              <a:rPr sz="2150" spc="65" dirty="0">
                <a:latin typeface="Tahoma"/>
                <a:cs typeface="Tahoma"/>
              </a:rPr>
              <a:t>packages</a:t>
            </a:r>
            <a:r>
              <a:rPr sz="2150" spc="-160" dirty="0">
                <a:latin typeface="Tahoma"/>
                <a:cs typeface="Tahoma"/>
              </a:rPr>
              <a:t> </a:t>
            </a:r>
            <a:r>
              <a:rPr sz="2150" spc="-30" dirty="0">
                <a:latin typeface="Tahoma"/>
                <a:cs typeface="Tahoma"/>
              </a:rPr>
              <a:t>at</a:t>
            </a:r>
            <a:r>
              <a:rPr sz="2150" spc="-114" dirty="0">
                <a:latin typeface="Tahoma"/>
                <a:cs typeface="Tahoma"/>
              </a:rPr>
              <a:t> </a:t>
            </a:r>
            <a:r>
              <a:rPr sz="2150" spc="-10" dirty="0">
                <a:latin typeface="Tahoma"/>
                <a:cs typeface="Tahoma"/>
              </a:rPr>
              <a:t>once.</a:t>
            </a:r>
            <a:endParaRPr sz="2150">
              <a:latin typeface="Tahoma"/>
              <a:cs typeface="Tahoma"/>
            </a:endParaRPr>
          </a:p>
          <a:p>
            <a:pPr marL="201295" indent="-188595">
              <a:lnSpc>
                <a:spcPct val="100000"/>
              </a:lnSpc>
              <a:spcBef>
                <a:spcPts val="525"/>
              </a:spcBef>
              <a:buFont typeface="Arial MT"/>
              <a:buChar char="•"/>
              <a:tabLst>
                <a:tab pos="201295" algn="l"/>
              </a:tabLst>
            </a:pPr>
            <a:r>
              <a:rPr sz="2150" spc="95" dirty="0">
                <a:latin typeface="Tahoma"/>
                <a:cs typeface="Tahoma"/>
              </a:rPr>
              <a:t>Not</a:t>
            </a:r>
            <a:r>
              <a:rPr sz="2150" spc="-90" dirty="0">
                <a:latin typeface="Tahoma"/>
                <a:cs typeface="Tahoma"/>
              </a:rPr>
              <a:t> </a:t>
            </a:r>
            <a:r>
              <a:rPr sz="2150" dirty="0">
                <a:latin typeface="Tahoma"/>
                <a:cs typeface="Tahoma"/>
              </a:rPr>
              <a:t>to</a:t>
            </a:r>
            <a:r>
              <a:rPr sz="2150" spc="-80" dirty="0">
                <a:latin typeface="Tahoma"/>
                <a:cs typeface="Tahoma"/>
              </a:rPr>
              <a:t> </a:t>
            </a:r>
            <a:r>
              <a:rPr sz="2150" dirty="0">
                <a:latin typeface="Tahoma"/>
                <a:cs typeface="Tahoma"/>
              </a:rPr>
              <a:t>mention,</a:t>
            </a:r>
            <a:r>
              <a:rPr sz="2150" spc="-204" dirty="0">
                <a:latin typeface="Tahoma"/>
                <a:cs typeface="Tahoma"/>
              </a:rPr>
              <a:t> </a:t>
            </a:r>
            <a:r>
              <a:rPr sz="2150" spc="90" dirty="0">
                <a:latin typeface="Tahoma"/>
                <a:cs typeface="Tahoma"/>
              </a:rPr>
              <a:t>Alibaba</a:t>
            </a:r>
            <a:r>
              <a:rPr sz="2150" spc="-85" dirty="0">
                <a:latin typeface="Tahoma"/>
                <a:cs typeface="Tahoma"/>
              </a:rPr>
              <a:t> </a:t>
            </a:r>
            <a:r>
              <a:rPr sz="2150" spc="-10" dirty="0">
                <a:latin typeface="Tahoma"/>
                <a:cs typeface="Tahoma"/>
              </a:rPr>
              <a:t>says</a:t>
            </a:r>
            <a:r>
              <a:rPr sz="2150" spc="-100" dirty="0">
                <a:latin typeface="Tahoma"/>
                <a:cs typeface="Tahoma"/>
              </a:rPr>
              <a:t> </a:t>
            </a:r>
            <a:r>
              <a:rPr sz="2150" dirty="0">
                <a:latin typeface="Tahoma"/>
                <a:cs typeface="Tahoma"/>
              </a:rPr>
              <a:t>it</a:t>
            </a:r>
            <a:r>
              <a:rPr sz="2150" spc="-85" dirty="0">
                <a:latin typeface="Tahoma"/>
                <a:cs typeface="Tahoma"/>
              </a:rPr>
              <a:t> </a:t>
            </a:r>
            <a:r>
              <a:rPr sz="2150" spc="50" dirty="0">
                <a:latin typeface="Tahoma"/>
                <a:cs typeface="Tahoma"/>
              </a:rPr>
              <a:t>can</a:t>
            </a:r>
            <a:r>
              <a:rPr sz="2150" spc="-90" dirty="0">
                <a:latin typeface="Tahoma"/>
                <a:cs typeface="Tahoma"/>
              </a:rPr>
              <a:t> </a:t>
            </a:r>
            <a:r>
              <a:rPr sz="2150" spc="70" dirty="0">
                <a:latin typeface="Tahoma"/>
                <a:cs typeface="Tahoma"/>
              </a:rPr>
              <a:t>keep</a:t>
            </a:r>
            <a:r>
              <a:rPr sz="2150" spc="-75" dirty="0">
                <a:latin typeface="Tahoma"/>
                <a:cs typeface="Tahoma"/>
              </a:rPr>
              <a:t> </a:t>
            </a:r>
            <a:r>
              <a:rPr sz="2150" spc="100" dirty="0">
                <a:latin typeface="Tahoma"/>
                <a:cs typeface="Tahoma"/>
              </a:rPr>
              <a:t>food</a:t>
            </a:r>
            <a:r>
              <a:rPr sz="2150" spc="-85" dirty="0">
                <a:latin typeface="Tahoma"/>
                <a:cs typeface="Tahoma"/>
              </a:rPr>
              <a:t> </a:t>
            </a:r>
            <a:r>
              <a:rPr sz="2150" spc="-10" dirty="0">
                <a:latin typeface="Tahoma"/>
                <a:cs typeface="Tahoma"/>
              </a:rPr>
              <a:t>warm.</a:t>
            </a:r>
            <a:endParaRPr sz="2150">
              <a:latin typeface="Tahoma"/>
              <a:cs typeface="Tahoma"/>
            </a:endParaRPr>
          </a:p>
          <a:p>
            <a:pPr marL="201295" marR="460375" indent="-189230">
              <a:lnSpc>
                <a:spcPts val="2320"/>
              </a:lnSpc>
              <a:spcBef>
                <a:spcPts val="850"/>
              </a:spcBef>
              <a:buFont typeface="Arial MT"/>
              <a:buChar char="•"/>
              <a:tabLst>
                <a:tab pos="201295" algn="l"/>
              </a:tabLst>
            </a:pPr>
            <a:r>
              <a:rPr sz="2150" b="1" spc="-20" dirty="0">
                <a:latin typeface="Tahoma"/>
                <a:cs typeface="Tahoma"/>
              </a:rPr>
              <a:t>Note:</a:t>
            </a:r>
            <a:r>
              <a:rPr sz="2150" b="1" spc="-114" dirty="0">
                <a:latin typeface="Tahoma"/>
                <a:cs typeface="Tahoma"/>
              </a:rPr>
              <a:t> </a:t>
            </a:r>
            <a:r>
              <a:rPr sz="2150" b="1" spc="-50" dirty="0">
                <a:latin typeface="Tahoma"/>
                <a:cs typeface="Tahoma"/>
              </a:rPr>
              <a:t>Lidar</a:t>
            </a:r>
            <a:r>
              <a:rPr sz="2150" b="1" spc="-100" dirty="0">
                <a:latin typeface="Tahoma"/>
                <a:cs typeface="Tahoma"/>
              </a:rPr>
              <a:t> </a:t>
            </a:r>
            <a:r>
              <a:rPr sz="2150" b="1" spc="-665" dirty="0">
                <a:latin typeface="Tahoma"/>
                <a:cs typeface="Tahoma"/>
              </a:rPr>
              <a:t>—</a:t>
            </a:r>
            <a:r>
              <a:rPr sz="2150" b="1" spc="-80" dirty="0">
                <a:latin typeface="Tahoma"/>
                <a:cs typeface="Tahoma"/>
              </a:rPr>
              <a:t> </a:t>
            </a:r>
            <a:r>
              <a:rPr sz="2150" b="1" spc="-55" dirty="0">
                <a:latin typeface="Tahoma"/>
                <a:cs typeface="Tahoma"/>
              </a:rPr>
              <a:t>Light</a:t>
            </a:r>
            <a:r>
              <a:rPr sz="2150" b="1" spc="-105" dirty="0">
                <a:latin typeface="Tahoma"/>
                <a:cs typeface="Tahoma"/>
              </a:rPr>
              <a:t> </a:t>
            </a:r>
            <a:r>
              <a:rPr sz="2150" b="1" spc="-35" dirty="0">
                <a:latin typeface="Tahoma"/>
                <a:cs typeface="Tahoma"/>
              </a:rPr>
              <a:t>Detection</a:t>
            </a:r>
            <a:r>
              <a:rPr sz="2150" b="1" spc="-125" dirty="0">
                <a:latin typeface="Tahoma"/>
                <a:cs typeface="Tahoma"/>
              </a:rPr>
              <a:t> </a:t>
            </a:r>
            <a:r>
              <a:rPr sz="2150" b="1" spc="-20" dirty="0">
                <a:latin typeface="Tahoma"/>
                <a:cs typeface="Tahoma"/>
              </a:rPr>
              <a:t>and</a:t>
            </a:r>
            <a:r>
              <a:rPr sz="2150" b="1" spc="-90" dirty="0">
                <a:latin typeface="Tahoma"/>
                <a:cs typeface="Tahoma"/>
              </a:rPr>
              <a:t> </a:t>
            </a:r>
            <a:r>
              <a:rPr sz="2150" b="1" spc="-40" dirty="0">
                <a:latin typeface="Tahoma"/>
                <a:cs typeface="Tahoma"/>
              </a:rPr>
              <a:t>Ranging</a:t>
            </a:r>
            <a:r>
              <a:rPr sz="2150" b="1" spc="-90" dirty="0">
                <a:latin typeface="Tahoma"/>
                <a:cs typeface="Tahoma"/>
              </a:rPr>
              <a:t> </a:t>
            </a:r>
            <a:r>
              <a:rPr sz="2150" b="1" spc="-665" dirty="0">
                <a:latin typeface="Tahoma"/>
                <a:cs typeface="Tahoma"/>
              </a:rPr>
              <a:t>—</a:t>
            </a:r>
            <a:r>
              <a:rPr sz="2150" b="1" spc="-90" dirty="0">
                <a:latin typeface="Tahoma"/>
                <a:cs typeface="Tahoma"/>
              </a:rPr>
              <a:t> </a:t>
            </a:r>
            <a:r>
              <a:rPr sz="2150" b="1" spc="-70" dirty="0">
                <a:latin typeface="Tahoma"/>
                <a:cs typeface="Tahoma"/>
              </a:rPr>
              <a:t>is</a:t>
            </a:r>
            <a:r>
              <a:rPr sz="2150" b="1" spc="-95" dirty="0">
                <a:latin typeface="Tahoma"/>
                <a:cs typeface="Tahoma"/>
              </a:rPr>
              <a:t> </a:t>
            </a:r>
            <a:r>
              <a:rPr sz="2150" b="1" spc="-85" dirty="0">
                <a:latin typeface="Tahoma"/>
                <a:cs typeface="Tahoma"/>
              </a:rPr>
              <a:t>a</a:t>
            </a:r>
            <a:r>
              <a:rPr sz="2150" b="1" spc="-90" dirty="0">
                <a:latin typeface="Tahoma"/>
                <a:cs typeface="Tahoma"/>
              </a:rPr>
              <a:t> </a:t>
            </a:r>
            <a:r>
              <a:rPr sz="2150" b="1" spc="-10" dirty="0">
                <a:latin typeface="Tahoma"/>
                <a:cs typeface="Tahoma"/>
              </a:rPr>
              <a:t>remote </a:t>
            </a:r>
            <a:r>
              <a:rPr sz="2150" b="1" spc="-45" dirty="0">
                <a:latin typeface="Tahoma"/>
                <a:cs typeface="Tahoma"/>
              </a:rPr>
              <a:t>sensing</a:t>
            </a:r>
            <a:r>
              <a:rPr sz="2150" b="1" spc="-114" dirty="0">
                <a:latin typeface="Tahoma"/>
                <a:cs typeface="Tahoma"/>
              </a:rPr>
              <a:t> </a:t>
            </a:r>
            <a:r>
              <a:rPr sz="2150" b="1" spc="-35" dirty="0">
                <a:latin typeface="Tahoma"/>
                <a:cs typeface="Tahoma"/>
              </a:rPr>
              <a:t>method</a:t>
            </a:r>
            <a:r>
              <a:rPr sz="2150" b="1" spc="-125" dirty="0">
                <a:latin typeface="Tahoma"/>
                <a:cs typeface="Tahoma"/>
              </a:rPr>
              <a:t> </a:t>
            </a:r>
            <a:r>
              <a:rPr sz="2150" b="1" spc="-25" dirty="0">
                <a:latin typeface="Tahoma"/>
                <a:cs typeface="Tahoma"/>
              </a:rPr>
              <a:t>used</a:t>
            </a:r>
            <a:r>
              <a:rPr sz="2150" b="1" spc="-95" dirty="0">
                <a:latin typeface="Tahoma"/>
                <a:cs typeface="Tahoma"/>
              </a:rPr>
              <a:t> </a:t>
            </a:r>
            <a:r>
              <a:rPr sz="2150" b="1" spc="-30" dirty="0">
                <a:latin typeface="Tahoma"/>
                <a:cs typeface="Tahoma"/>
              </a:rPr>
              <a:t>to</a:t>
            </a:r>
            <a:r>
              <a:rPr sz="2150" b="1" spc="-110" dirty="0">
                <a:latin typeface="Tahoma"/>
                <a:cs typeface="Tahoma"/>
              </a:rPr>
              <a:t> </a:t>
            </a:r>
            <a:r>
              <a:rPr sz="2150" b="1" spc="-55" dirty="0">
                <a:latin typeface="Tahoma"/>
                <a:cs typeface="Tahoma"/>
              </a:rPr>
              <a:t>examine</a:t>
            </a:r>
            <a:r>
              <a:rPr sz="2150" b="1" spc="-85" dirty="0">
                <a:latin typeface="Tahoma"/>
                <a:cs typeface="Tahoma"/>
              </a:rPr>
              <a:t> </a:t>
            </a:r>
            <a:r>
              <a:rPr sz="2150" b="1" spc="-50" dirty="0">
                <a:latin typeface="Tahoma"/>
                <a:cs typeface="Tahoma"/>
              </a:rPr>
              <a:t>the</a:t>
            </a:r>
            <a:r>
              <a:rPr sz="2150" b="1" spc="-90" dirty="0">
                <a:latin typeface="Tahoma"/>
                <a:cs typeface="Tahoma"/>
              </a:rPr>
              <a:t> </a:t>
            </a:r>
            <a:r>
              <a:rPr sz="2150" b="1" spc="-75" dirty="0">
                <a:latin typeface="Tahoma"/>
                <a:cs typeface="Tahoma"/>
              </a:rPr>
              <a:t>surface</a:t>
            </a:r>
            <a:r>
              <a:rPr sz="2150" b="1" spc="-100" dirty="0">
                <a:latin typeface="Tahoma"/>
                <a:cs typeface="Tahoma"/>
              </a:rPr>
              <a:t> </a:t>
            </a:r>
            <a:r>
              <a:rPr sz="2150" b="1" dirty="0">
                <a:latin typeface="Tahoma"/>
                <a:cs typeface="Tahoma"/>
              </a:rPr>
              <a:t>of</a:t>
            </a:r>
            <a:r>
              <a:rPr sz="2150" b="1" spc="-55" dirty="0">
                <a:latin typeface="Tahoma"/>
                <a:cs typeface="Tahoma"/>
              </a:rPr>
              <a:t> </a:t>
            </a:r>
            <a:r>
              <a:rPr sz="2150" b="1" spc="-50" dirty="0">
                <a:latin typeface="Tahoma"/>
                <a:cs typeface="Tahoma"/>
              </a:rPr>
              <a:t>the</a:t>
            </a:r>
            <a:r>
              <a:rPr sz="2150" b="1" spc="-90" dirty="0">
                <a:latin typeface="Tahoma"/>
                <a:cs typeface="Tahoma"/>
              </a:rPr>
              <a:t> </a:t>
            </a:r>
            <a:r>
              <a:rPr sz="2150" b="1" spc="-10" dirty="0">
                <a:latin typeface="Tahoma"/>
                <a:cs typeface="Tahoma"/>
              </a:rPr>
              <a:t>Earth</a:t>
            </a:r>
            <a:r>
              <a:rPr sz="2150" spc="-10" dirty="0">
                <a:latin typeface="Tahoma"/>
                <a:cs typeface="Tahoma"/>
              </a:rPr>
              <a:t>.</a:t>
            </a:r>
            <a:endParaRPr sz="2150">
              <a:latin typeface="Tahoma"/>
              <a:cs typeface="Tahoma"/>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25" dirty="0"/>
              <a:t>3.</a:t>
            </a:r>
            <a:r>
              <a:rPr spc="-240" dirty="0"/>
              <a:t> </a:t>
            </a:r>
            <a:r>
              <a:rPr spc="-95" dirty="0"/>
              <a:t>Goal-</a:t>
            </a:r>
            <a:r>
              <a:rPr spc="-10" dirty="0"/>
              <a:t>based</a:t>
            </a:r>
            <a:r>
              <a:rPr spc="-165" dirty="0"/>
              <a:t> </a:t>
            </a:r>
            <a:r>
              <a:rPr spc="-40" dirty="0"/>
              <a:t>agents</a:t>
            </a:r>
          </a:p>
        </p:txBody>
      </p:sp>
      <p:pic>
        <p:nvPicPr>
          <p:cNvPr id="3" name="object 3"/>
          <p:cNvPicPr/>
          <p:nvPr/>
        </p:nvPicPr>
        <p:blipFill>
          <a:blip r:embed="rId2" cstate="print"/>
          <a:stretch>
            <a:fillRect/>
          </a:stretch>
        </p:blipFill>
        <p:spPr>
          <a:xfrm>
            <a:off x="1162811" y="2662427"/>
            <a:ext cx="5954268" cy="405384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409193" y="1053845"/>
          <a:ext cx="9228455" cy="1679574"/>
        </p:xfrm>
        <a:graphic>
          <a:graphicData uri="http://schemas.openxmlformats.org/drawingml/2006/table">
            <a:tbl>
              <a:tblPr firstRow="1" bandRow="1">
                <a:tableStyleId>{2D5ABB26-0587-4C30-8999-92F81FD0307C}</a:tableStyleId>
              </a:tblPr>
              <a:tblGrid>
                <a:gridCol w="72390">
                  <a:extLst>
                    <a:ext uri="{9D8B030D-6E8A-4147-A177-3AD203B41FA5}">
                      <a16:colId xmlns:a16="http://schemas.microsoft.com/office/drawing/2014/main" val="20000"/>
                    </a:ext>
                  </a:extLst>
                </a:gridCol>
                <a:gridCol w="9156065">
                  <a:extLst>
                    <a:ext uri="{9D8B030D-6E8A-4147-A177-3AD203B41FA5}">
                      <a16:colId xmlns:a16="http://schemas.microsoft.com/office/drawing/2014/main" val="20001"/>
                    </a:ext>
                  </a:extLst>
                </a:gridCol>
              </a:tblGrid>
              <a:tr h="650240">
                <a:tc gridSpan="2">
                  <a:txBody>
                    <a:bodyPr/>
                    <a:lstStyle/>
                    <a:p>
                      <a:pPr>
                        <a:lnSpc>
                          <a:spcPct val="100000"/>
                        </a:lnSpc>
                      </a:pPr>
                      <a:endParaRPr sz="1800">
                        <a:latin typeface="Times New Roman"/>
                        <a:cs typeface="Times New Roman"/>
                      </a:endParaRPr>
                    </a:p>
                  </a:txBody>
                  <a:tcPr marL="0" marR="0" marT="0" marB="0">
                    <a:lnL w="9525">
                      <a:solidFill>
                        <a:srgbClr val="E9E9E9"/>
                      </a:solidFill>
                      <a:prstDash val="solid"/>
                    </a:lnL>
                    <a:lnR w="9525">
                      <a:solidFill>
                        <a:srgbClr val="E9E9E9"/>
                      </a:solidFill>
                      <a:prstDash val="solid"/>
                    </a:lnR>
                    <a:lnT w="9525">
                      <a:solidFill>
                        <a:srgbClr val="E9E9E9"/>
                      </a:solidFill>
                      <a:prstDash val="solid"/>
                    </a:lnT>
                  </a:tcPr>
                </a:tc>
                <a:tc hMerge="1">
                  <a:txBody>
                    <a:bodyPr/>
                    <a:lstStyle/>
                    <a:p>
                      <a:endParaRPr/>
                    </a:p>
                  </a:txBody>
                  <a:tcPr marL="0" marR="0" marT="0" marB="0"/>
                </a:tc>
                <a:extLst>
                  <a:ext uri="{0D108BD9-81ED-4DB2-BD59-A6C34878D82A}">
                    <a16:rowId xmlns:a16="http://schemas.microsoft.com/office/drawing/2014/main" val="10000"/>
                  </a:ext>
                </a:extLst>
              </a:tr>
              <a:tr h="580390">
                <a:tc>
                  <a:txBody>
                    <a:bodyPr/>
                    <a:lstStyle/>
                    <a:p>
                      <a:pPr>
                        <a:lnSpc>
                          <a:spcPct val="100000"/>
                        </a:lnSpc>
                      </a:pPr>
                      <a:endParaRPr sz="1800">
                        <a:latin typeface="Times New Roman"/>
                        <a:cs typeface="Times New Roman"/>
                      </a:endParaRPr>
                    </a:p>
                  </a:txBody>
                  <a:tcPr marL="0" marR="0" marT="0" marB="0">
                    <a:lnL w="9525">
                      <a:solidFill>
                        <a:srgbClr val="E9E9E9"/>
                      </a:solidFill>
                      <a:prstDash val="solid"/>
                    </a:lnL>
                    <a:solidFill>
                      <a:srgbClr val="F5A700"/>
                    </a:solidFill>
                  </a:tcPr>
                </a:tc>
                <a:tc>
                  <a:txBody>
                    <a:bodyPr/>
                    <a:lstStyle/>
                    <a:p>
                      <a:pPr marL="476884">
                        <a:lnSpc>
                          <a:spcPts val="3900"/>
                        </a:lnSpc>
                      </a:pPr>
                      <a:r>
                        <a:rPr sz="3300" b="1" spc="-25" dirty="0">
                          <a:latin typeface="Tahoma"/>
                          <a:cs typeface="Tahoma"/>
                        </a:rPr>
                        <a:t>4.</a:t>
                      </a:r>
                      <a:r>
                        <a:rPr sz="3300" b="1" spc="-229" dirty="0">
                          <a:latin typeface="Tahoma"/>
                          <a:cs typeface="Tahoma"/>
                        </a:rPr>
                        <a:t> </a:t>
                      </a:r>
                      <a:r>
                        <a:rPr sz="3300" b="1" spc="-114" dirty="0">
                          <a:latin typeface="Tahoma"/>
                          <a:cs typeface="Tahoma"/>
                        </a:rPr>
                        <a:t>Utility-</a:t>
                      </a:r>
                      <a:r>
                        <a:rPr sz="3300" b="1" spc="-10" dirty="0">
                          <a:latin typeface="Tahoma"/>
                          <a:cs typeface="Tahoma"/>
                        </a:rPr>
                        <a:t>based</a:t>
                      </a:r>
                      <a:r>
                        <a:rPr sz="3300" b="1" spc="-114" dirty="0">
                          <a:latin typeface="Tahoma"/>
                          <a:cs typeface="Tahoma"/>
                        </a:rPr>
                        <a:t> </a:t>
                      </a:r>
                      <a:r>
                        <a:rPr sz="3300" b="1" spc="-10" dirty="0">
                          <a:latin typeface="Tahoma"/>
                          <a:cs typeface="Tahoma"/>
                        </a:rPr>
                        <a:t>agents</a:t>
                      </a:r>
                      <a:endParaRPr sz="3300">
                        <a:latin typeface="Tahoma"/>
                        <a:cs typeface="Tahoma"/>
                      </a:endParaRPr>
                    </a:p>
                  </a:txBody>
                  <a:tcPr marL="0" marR="0" marT="0" marB="0">
                    <a:lnR w="9525">
                      <a:solidFill>
                        <a:srgbClr val="E9E9E9"/>
                      </a:solidFill>
                      <a:prstDash val="solid"/>
                    </a:lnR>
                  </a:tcPr>
                </a:tc>
                <a:extLst>
                  <a:ext uri="{0D108BD9-81ED-4DB2-BD59-A6C34878D82A}">
                    <a16:rowId xmlns:a16="http://schemas.microsoft.com/office/drawing/2014/main" val="10001"/>
                  </a:ext>
                </a:extLst>
              </a:tr>
              <a:tr h="433705">
                <a:tc gridSpan="2">
                  <a:txBody>
                    <a:bodyPr/>
                    <a:lstStyle/>
                    <a:p>
                      <a:pPr>
                        <a:lnSpc>
                          <a:spcPct val="100000"/>
                        </a:lnSpc>
                        <a:spcBef>
                          <a:spcPts val="254"/>
                        </a:spcBef>
                      </a:pPr>
                      <a:endParaRPr sz="1800">
                        <a:latin typeface="Times New Roman"/>
                        <a:cs typeface="Times New Roman"/>
                      </a:endParaRPr>
                    </a:p>
                    <a:p>
                      <a:pPr marL="737235" indent="-187960">
                        <a:lnSpc>
                          <a:spcPts val="994"/>
                        </a:lnSpc>
                        <a:buFont typeface="Arial MT"/>
                        <a:buChar char="•"/>
                        <a:tabLst>
                          <a:tab pos="737235" algn="l"/>
                        </a:tabLst>
                      </a:pPr>
                      <a:r>
                        <a:rPr sz="1800" dirty="0">
                          <a:latin typeface="Tahoma"/>
                          <a:cs typeface="Tahoma"/>
                        </a:rPr>
                        <a:t>These</a:t>
                      </a:r>
                      <a:r>
                        <a:rPr sz="1800" spc="15" dirty="0">
                          <a:latin typeface="Tahoma"/>
                          <a:cs typeface="Tahoma"/>
                        </a:rPr>
                        <a:t> </a:t>
                      </a:r>
                      <a:r>
                        <a:rPr sz="1800" dirty="0">
                          <a:latin typeface="Tahoma"/>
                          <a:cs typeface="Tahoma"/>
                        </a:rPr>
                        <a:t>agents</a:t>
                      </a:r>
                      <a:r>
                        <a:rPr sz="1800" spc="10" dirty="0">
                          <a:latin typeface="Tahoma"/>
                          <a:cs typeface="Tahoma"/>
                        </a:rPr>
                        <a:t> </a:t>
                      </a:r>
                      <a:r>
                        <a:rPr sz="1800" dirty="0">
                          <a:latin typeface="Tahoma"/>
                          <a:cs typeface="Tahoma"/>
                        </a:rPr>
                        <a:t>are</a:t>
                      </a:r>
                      <a:r>
                        <a:rPr sz="1800" spc="10" dirty="0">
                          <a:latin typeface="Tahoma"/>
                          <a:cs typeface="Tahoma"/>
                        </a:rPr>
                        <a:t> </a:t>
                      </a:r>
                      <a:r>
                        <a:rPr sz="1800" dirty="0">
                          <a:latin typeface="Tahoma"/>
                          <a:cs typeface="Tahoma"/>
                        </a:rPr>
                        <a:t>similar</a:t>
                      </a:r>
                      <a:r>
                        <a:rPr sz="1800" spc="-15" dirty="0">
                          <a:latin typeface="Tahoma"/>
                          <a:cs typeface="Tahoma"/>
                        </a:rPr>
                        <a:t> </a:t>
                      </a:r>
                      <a:r>
                        <a:rPr sz="1800" dirty="0">
                          <a:latin typeface="Tahoma"/>
                          <a:cs typeface="Tahoma"/>
                        </a:rPr>
                        <a:t>to</a:t>
                      </a:r>
                      <a:r>
                        <a:rPr sz="1800" spc="10" dirty="0">
                          <a:latin typeface="Tahoma"/>
                          <a:cs typeface="Tahoma"/>
                        </a:rPr>
                        <a:t> </a:t>
                      </a:r>
                      <a:r>
                        <a:rPr sz="1800" dirty="0">
                          <a:latin typeface="Tahoma"/>
                          <a:cs typeface="Tahoma"/>
                        </a:rPr>
                        <a:t>the</a:t>
                      </a:r>
                      <a:r>
                        <a:rPr sz="1800" spc="10" dirty="0">
                          <a:latin typeface="Tahoma"/>
                          <a:cs typeface="Tahoma"/>
                        </a:rPr>
                        <a:t> </a:t>
                      </a:r>
                      <a:r>
                        <a:rPr sz="1800" dirty="0">
                          <a:latin typeface="Tahoma"/>
                          <a:cs typeface="Tahoma"/>
                        </a:rPr>
                        <a:t>goal-</a:t>
                      </a:r>
                      <a:r>
                        <a:rPr sz="1800" spc="70" dirty="0">
                          <a:latin typeface="Tahoma"/>
                          <a:cs typeface="Tahoma"/>
                        </a:rPr>
                        <a:t>based</a:t>
                      </a:r>
                      <a:r>
                        <a:rPr sz="1800" spc="25" dirty="0">
                          <a:latin typeface="Tahoma"/>
                          <a:cs typeface="Tahoma"/>
                        </a:rPr>
                        <a:t> </a:t>
                      </a:r>
                      <a:r>
                        <a:rPr sz="1800" spc="50" dirty="0">
                          <a:latin typeface="Tahoma"/>
                          <a:cs typeface="Tahoma"/>
                        </a:rPr>
                        <a:t>agent</a:t>
                      </a:r>
                      <a:r>
                        <a:rPr sz="1800" spc="-5" dirty="0">
                          <a:latin typeface="Tahoma"/>
                          <a:cs typeface="Tahoma"/>
                        </a:rPr>
                        <a:t> </a:t>
                      </a:r>
                      <a:r>
                        <a:rPr sz="1800" spc="50" dirty="0">
                          <a:latin typeface="Tahoma"/>
                          <a:cs typeface="Tahoma"/>
                        </a:rPr>
                        <a:t>but</a:t>
                      </a:r>
                      <a:r>
                        <a:rPr sz="1800" spc="5" dirty="0">
                          <a:latin typeface="Tahoma"/>
                          <a:cs typeface="Tahoma"/>
                        </a:rPr>
                        <a:t> </a:t>
                      </a:r>
                      <a:r>
                        <a:rPr sz="1800" spc="70" dirty="0">
                          <a:latin typeface="Tahoma"/>
                          <a:cs typeface="Tahoma"/>
                        </a:rPr>
                        <a:t>provide</a:t>
                      </a:r>
                      <a:r>
                        <a:rPr sz="1800" spc="25" dirty="0">
                          <a:latin typeface="Tahoma"/>
                          <a:cs typeface="Tahoma"/>
                        </a:rPr>
                        <a:t> </a:t>
                      </a:r>
                      <a:r>
                        <a:rPr sz="1800" dirty="0">
                          <a:latin typeface="Tahoma"/>
                          <a:cs typeface="Tahoma"/>
                        </a:rPr>
                        <a:t>an </a:t>
                      </a:r>
                      <a:r>
                        <a:rPr sz="1800" spc="-10" dirty="0">
                          <a:latin typeface="Tahoma"/>
                          <a:cs typeface="Tahoma"/>
                        </a:rPr>
                        <a:t>extra</a:t>
                      </a:r>
                      <a:endParaRPr sz="1800">
                        <a:latin typeface="Tahoma"/>
                        <a:cs typeface="Tahoma"/>
                      </a:endParaRPr>
                    </a:p>
                  </a:txBody>
                  <a:tcPr marL="0" marR="0" marT="32384" marB="0">
                    <a:lnL w="9525">
                      <a:solidFill>
                        <a:srgbClr val="E9E9E9"/>
                      </a:solidFill>
                      <a:prstDash val="solid"/>
                    </a:lnL>
                    <a:lnR w="9525">
                      <a:solidFill>
                        <a:srgbClr val="E9E9E9"/>
                      </a:solidFill>
                      <a:prstDash val="solid"/>
                    </a:lnR>
                    <a:lnB w="9525">
                      <a:solidFill>
                        <a:srgbClr val="E9E9E9"/>
                      </a:solidFill>
                      <a:prstDash val="solid"/>
                    </a:lnB>
                  </a:tcPr>
                </a:tc>
                <a:tc hMerge="1">
                  <a:txBody>
                    <a:bodyPr/>
                    <a:lstStyle/>
                    <a:p>
                      <a:endParaRPr/>
                    </a:p>
                  </a:txBody>
                  <a:tcPr marL="0" marR="0" marT="0" marB="0"/>
                </a:tc>
                <a:extLst>
                  <a:ext uri="{0D108BD9-81ED-4DB2-BD59-A6C34878D82A}">
                    <a16:rowId xmlns:a16="http://schemas.microsoft.com/office/drawing/2014/main" val="10002"/>
                  </a:ext>
                </a:extLst>
              </a:tr>
            </a:tbl>
          </a:graphicData>
        </a:graphic>
      </p:graphicFrame>
      <p:sp>
        <p:nvSpPr>
          <p:cNvPr id="3" name="object 3"/>
          <p:cNvSpPr/>
          <p:nvPr/>
        </p:nvSpPr>
        <p:spPr>
          <a:xfrm>
            <a:off x="1185672" y="3442715"/>
            <a:ext cx="669290" cy="280670"/>
          </a:xfrm>
          <a:custGeom>
            <a:avLst/>
            <a:gdLst/>
            <a:ahLst/>
            <a:cxnLst/>
            <a:rect l="l" t="t" r="r" b="b"/>
            <a:pathLst>
              <a:path w="669289" h="280670">
                <a:moveTo>
                  <a:pt x="669036" y="0"/>
                </a:moveTo>
                <a:lnTo>
                  <a:pt x="595884" y="0"/>
                </a:lnTo>
                <a:lnTo>
                  <a:pt x="0" y="0"/>
                </a:lnTo>
                <a:lnTo>
                  <a:pt x="0" y="280416"/>
                </a:lnTo>
                <a:lnTo>
                  <a:pt x="595884" y="280416"/>
                </a:lnTo>
                <a:lnTo>
                  <a:pt x="669036" y="280416"/>
                </a:lnTo>
                <a:lnTo>
                  <a:pt x="669036" y="0"/>
                </a:lnTo>
                <a:close/>
              </a:path>
            </a:pathLst>
          </a:custGeom>
          <a:solidFill>
            <a:srgbClr val="FFFF00"/>
          </a:solidFill>
        </p:spPr>
        <p:txBody>
          <a:bodyPr wrap="square" lIns="0" tIns="0" rIns="0" bIns="0" rtlCol="0"/>
          <a:lstStyle/>
          <a:p>
            <a:endParaRPr/>
          </a:p>
        </p:txBody>
      </p:sp>
      <p:sp>
        <p:nvSpPr>
          <p:cNvPr id="4" name="object 4"/>
          <p:cNvSpPr/>
          <p:nvPr/>
        </p:nvSpPr>
        <p:spPr>
          <a:xfrm>
            <a:off x="1854707" y="3442715"/>
            <a:ext cx="7394575" cy="280670"/>
          </a:xfrm>
          <a:custGeom>
            <a:avLst/>
            <a:gdLst/>
            <a:ahLst/>
            <a:cxnLst/>
            <a:rect l="l" t="t" r="r" b="b"/>
            <a:pathLst>
              <a:path w="7394575" h="280670">
                <a:moveTo>
                  <a:pt x="7394448" y="0"/>
                </a:moveTo>
                <a:lnTo>
                  <a:pt x="0" y="0"/>
                </a:lnTo>
                <a:lnTo>
                  <a:pt x="0" y="280416"/>
                </a:lnTo>
                <a:lnTo>
                  <a:pt x="7394448" y="280416"/>
                </a:lnTo>
                <a:lnTo>
                  <a:pt x="7394448" y="0"/>
                </a:lnTo>
                <a:close/>
              </a:path>
            </a:pathLst>
          </a:custGeom>
          <a:solidFill>
            <a:srgbClr val="FFFF00"/>
          </a:solidFill>
        </p:spPr>
        <p:txBody>
          <a:bodyPr wrap="square" lIns="0" tIns="0" rIns="0" bIns="0" rtlCol="0"/>
          <a:lstStyle/>
          <a:p>
            <a:endParaRPr/>
          </a:p>
        </p:txBody>
      </p:sp>
      <p:sp>
        <p:nvSpPr>
          <p:cNvPr id="5" name="object 5"/>
          <p:cNvSpPr txBox="1"/>
          <p:nvPr/>
        </p:nvSpPr>
        <p:spPr>
          <a:xfrm>
            <a:off x="982586" y="2818937"/>
            <a:ext cx="8267065" cy="905510"/>
          </a:xfrm>
          <a:prstGeom prst="rect">
            <a:avLst/>
          </a:prstGeom>
        </p:spPr>
        <p:txBody>
          <a:bodyPr vert="horz" wrap="square" lIns="0" tIns="42545" rIns="0" bIns="0" rtlCol="0">
            <a:spAutoFit/>
          </a:bodyPr>
          <a:lstStyle/>
          <a:p>
            <a:pPr marL="201295" marR="94615">
              <a:lnSpc>
                <a:spcPts val="1970"/>
              </a:lnSpc>
              <a:spcBef>
                <a:spcPts val="335"/>
              </a:spcBef>
            </a:pPr>
            <a:r>
              <a:rPr sz="1800" spc="75" dirty="0">
                <a:latin typeface="Tahoma"/>
                <a:cs typeface="Tahoma"/>
              </a:rPr>
              <a:t>component</a:t>
            </a:r>
            <a:r>
              <a:rPr sz="1800" spc="50" dirty="0">
                <a:latin typeface="Tahoma"/>
                <a:cs typeface="Tahoma"/>
              </a:rPr>
              <a:t> </a:t>
            </a:r>
            <a:r>
              <a:rPr sz="1800" dirty="0">
                <a:latin typeface="Tahoma"/>
                <a:cs typeface="Tahoma"/>
              </a:rPr>
              <a:t>of</a:t>
            </a:r>
            <a:r>
              <a:rPr sz="1800" spc="90" dirty="0">
                <a:latin typeface="Tahoma"/>
                <a:cs typeface="Tahoma"/>
              </a:rPr>
              <a:t> </a:t>
            </a:r>
            <a:r>
              <a:rPr sz="1800" dirty="0">
                <a:latin typeface="Tahoma"/>
                <a:cs typeface="Tahoma"/>
              </a:rPr>
              <a:t>utility</a:t>
            </a:r>
            <a:r>
              <a:rPr sz="1800" spc="20" dirty="0">
                <a:latin typeface="Tahoma"/>
                <a:cs typeface="Tahoma"/>
              </a:rPr>
              <a:t> </a:t>
            </a:r>
            <a:r>
              <a:rPr sz="1800" dirty="0">
                <a:latin typeface="Tahoma"/>
                <a:cs typeface="Tahoma"/>
              </a:rPr>
              <a:t>measurement</a:t>
            </a:r>
            <a:r>
              <a:rPr sz="1800" spc="55" dirty="0">
                <a:latin typeface="Tahoma"/>
                <a:cs typeface="Tahoma"/>
              </a:rPr>
              <a:t> </a:t>
            </a:r>
            <a:r>
              <a:rPr sz="1800" dirty="0">
                <a:latin typeface="Tahoma"/>
                <a:cs typeface="Tahoma"/>
              </a:rPr>
              <a:t>which</a:t>
            </a:r>
            <a:r>
              <a:rPr sz="1800" spc="25" dirty="0">
                <a:latin typeface="Tahoma"/>
                <a:cs typeface="Tahoma"/>
              </a:rPr>
              <a:t> </a:t>
            </a:r>
            <a:r>
              <a:rPr sz="1800" dirty="0">
                <a:latin typeface="Tahoma"/>
                <a:cs typeface="Tahoma"/>
              </a:rPr>
              <a:t>makes</a:t>
            </a:r>
            <a:r>
              <a:rPr sz="1800" spc="35" dirty="0">
                <a:latin typeface="Tahoma"/>
                <a:cs typeface="Tahoma"/>
              </a:rPr>
              <a:t> </a:t>
            </a:r>
            <a:r>
              <a:rPr sz="1800" spc="50" dirty="0">
                <a:latin typeface="Tahoma"/>
                <a:cs typeface="Tahoma"/>
              </a:rPr>
              <a:t>them </a:t>
            </a:r>
            <a:r>
              <a:rPr sz="1800" dirty="0">
                <a:latin typeface="Tahoma"/>
                <a:cs typeface="Tahoma"/>
              </a:rPr>
              <a:t>different</a:t>
            </a:r>
            <a:r>
              <a:rPr sz="1800" spc="40" dirty="0">
                <a:latin typeface="Tahoma"/>
                <a:cs typeface="Tahoma"/>
              </a:rPr>
              <a:t> </a:t>
            </a:r>
            <a:r>
              <a:rPr sz="1800" spc="65" dirty="0">
                <a:latin typeface="Tahoma"/>
                <a:cs typeface="Tahoma"/>
              </a:rPr>
              <a:t>by</a:t>
            </a:r>
            <a:r>
              <a:rPr sz="1800" spc="20" dirty="0">
                <a:latin typeface="Tahoma"/>
                <a:cs typeface="Tahoma"/>
              </a:rPr>
              <a:t> </a:t>
            </a:r>
            <a:r>
              <a:rPr sz="1800" spc="55" dirty="0">
                <a:latin typeface="Tahoma"/>
                <a:cs typeface="Tahoma"/>
              </a:rPr>
              <a:t>providing </a:t>
            </a:r>
            <a:r>
              <a:rPr sz="1800" dirty="0">
                <a:latin typeface="Tahoma"/>
                <a:cs typeface="Tahoma"/>
              </a:rPr>
              <a:t>a</a:t>
            </a:r>
            <a:r>
              <a:rPr sz="1800" spc="-15" dirty="0">
                <a:latin typeface="Tahoma"/>
                <a:cs typeface="Tahoma"/>
              </a:rPr>
              <a:t> </a:t>
            </a:r>
            <a:r>
              <a:rPr sz="1800" dirty="0">
                <a:latin typeface="Tahoma"/>
                <a:cs typeface="Tahoma"/>
              </a:rPr>
              <a:t>measure</a:t>
            </a:r>
            <a:r>
              <a:rPr sz="1800" spc="-10" dirty="0">
                <a:latin typeface="Tahoma"/>
                <a:cs typeface="Tahoma"/>
              </a:rPr>
              <a:t> </a:t>
            </a:r>
            <a:r>
              <a:rPr sz="1800" dirty="0">
                <a:latin typeface="Tahoma"/>
                <a:cs typeface="Tahoma"/>
              </a:rPr>
              <a:t>of</a:t>
            </a:r>
            <a:r>
              <a:rPr sz="1800" spc="40" dirty="0">
                <a:latin typeface="Tahoma"/>
                <a:cs typeface="Tahoma"/>
              </a:rPr>
              <a:t> </a:t>
            </a:r>
            <a:r>
              <a:rPr sz="1800" dirty="0">
                <a:latin typeface="Tahoma"/>
                <a:cs typeface="Tahoma"/>
              </a:rPr>
              <a:t>success</a:t>
            </a:r>
            <a:r>
              <a:rPr sz="1800" spc="-20" dirty="0">
                <a:latin typeface="Tahoma"/>
                <a:cs typeface="Tahoma"/>
              </a:rPr>
              <a:t> at</a:t>
            </a:r>
            <a:r>
              <a:rPr sz="1800" spc="-35" dirty="0">
                <a:latin typeface="Tahoma"/>
                <a:cs typeface="Tahoma"/>
              </a:rPr>
              <a:t> </a:t>
            </a:r>
            <a:r>
              <a:rPr sz="1800" dirty="0">
                <a:latin typeface="Tahoma"/>
                <a:cs typeface="Tahoma"/>
              </a:rPr>
              <a:t>a</a:t>
            </a:r>
            <a:r>
              <a:rPr sz="1800" spc="-15" dirty="0">
                <a:latin typeface="Tahoma"/>
                <a:cs typeface="Tahoma"/>
              </a:rPr>
              <a:t> </a:t>
            </a:r>
            <a:r>
              <a:rPr sz="1800" spc="55" dirty="0">
                <a:latin typeface="Tahoma"/>
                <a:cs typeface="Tahoma"/>
              </a:rPr>
              <a:t>given</a:t>
            </a:r>
            <a:r>
              <a:rPr sz="1800" spc="-20" dirty="0">
                <a:latin typeface="Tahoma"/>
                <a:cs typeface="Tahoma"/>
              </a:rPr>
              <a:t> </a:t>
            </a:r>
            <a:r>
              <a:rPr sz="1800" spc="-10" dirty="0">
                <a:latin typeface="Tahoma"/>
                <a:cs typeface="Tahoma"/>
              </a:rPr>
              <a:t>state.</a:t>
            </a:r>
            <a:endParaRPr sz="1800">
              <a:latin typeface="Tahoma"/>
              <a:cs typeface="Tahoma"/>
            </a:endParaRPr>
          </a:p>
          <a:p>
            <a:pPr marL="200660" indent="-187960">
              <a:lnSpc>
                <a:spcPct val="100000"/>
              </a:lnSpc>
              <a:spcBef>
                <a:spcPts val="585"/>
              </a:spcBef>
              <a:buFont typeface="Arial MT"/>
              <a:buChar char="•"/>
              <a:tabLst>
                <a:tab pos="200660" algn="l"/>
              </a:tabLst>
            </a:pPr>
            <a:r>
              <a:rPr sz="1800" dirty="0">
                <a:latin typeface="Tahoma"/>
                <a:cs typeface="Tahoma"/>
              </a:rPr>
              <a:t>Utility-</a:t>
            </a:r>
            <a:r>
              <a:rPr sz="1800" spc="70" dirty="0">
                <a:latin typeface="Tahoma"/>
                <a:cs typeface="Tahoma"/>
              </a:rPr>
              <a:t>based</a:t>
            </a:r>
            <a:r>
              <a:rPr sz="1800" spc="-25" dirty="0">
                <a:latin typeface="Tahoma"/>
                <a:cs typeface="Tahoma"/>
              </a:rPr>
              <a:t> </a:t>
            </a:r>
            <a:r>
              <a:rPr sz="1800" spc="50" dirty="0">
                <a:latin typeface="Tahoma"/>
                <a:cs typeface="Tahoma"/>
              </a:rPr>
              <a:t>agent</a:t>
            </a:r>
            <a:r>
              <a:rPr sz="1800" spc="-15" dirty="0">
                <a:latin typeface="Tahoma"/>
                <a:cs typeface="Tahoma"/>
              </a:rPr>
              <a:t> </a:t>
            </a:r>
            <a:r>
              <a:rPr sz="1800" dirty="0">
                <a:latin typeface="Tahoma"/>
                <a:cs typeface="Tahoma"/>
              </a:rPr>
              <a:t>act</a:t>
            </a:r>
            <a:r>
              <a:rPr sz="1800" spc="-50" dirty="0">
                <a:latin typeface="Tahoma"/>
                <a:cs typeface="Tahoma"/>
              </a:rPr>
              <a:t> </a:t>
            </a:r>
            <a:r>
              <a:rPr sz="1800" spc="70" dirty="0">
                <a:latin typeface="Tahoma"/>
                <a:cs typeface="Tahoma"/>
              </a:rPr>
              <a:t>based</a:t>
            </a:r>
            <a:r>
              <a:rPr sz="1800" spc="-20" dirty="0">
                <a:latin typeface="Tahoma"/>
                <a:cs typeface="Tahoma"/>
              </a:rPr>
              <a:t> </a:t>
            </a:r>
            <a:r>
              <a:rPr sz="1800" spc="50" dirty="0">
                <a:latin typeface="Tahoma"/>
                <a:cs typeface="Tahoma"/>
              </a:rPr>
              <a:t>not</a:t>
            </a:r>
            <a:r>
              <a:rPr sz="1800" spc="-35" dirty="0">
                <a:latin typeface="Tahoma"/>
                <a:cs typeface="Tahoma"/>
              </a:rPr>
              <a:t> </a:t>
            </a:r>
            <a:r>
              <a:rPr sz="1800" dirty="0">
                <a:latin typeface="Tahoma"/>
                <a:cs typeface="Tahoma"/>
              </a:rPr>
              <a:t>only</a:t>
            </a:r>
            <a:r>
              <a:rPr sz="1800" spc="-30" dirty="0">
                <a:latin typeface="Tahoma"/>
                <a:cs typeface="Tahoma"/>
              </a:rPr>
              <a:t> </a:t>
            </a:r>
            <a:r>
              <a:rPr sz="1800" spc="65" dirty="0">
                <a:latin typeface="Tahoma"/>
                <a:cs typeface="Tahoma"/>
              </a:rPr>
              <a:t>goals</a:t>
            </a:r>
            <a:r>
              <a:rPr sz="1800" spc="-25" dirty="0">
                <a:latin typeface="Tahoma"/>
                <a:cs typeface="Tahoma"/>
              </a:rPr>
              <a:t> </a:t>
            </a:r>
            <a:r>
              <a:rPr sz="1800" spc="50" dirty="0">
                <a:latin typeface="Tahoma"/>
                <a:cs typeface="Tahoma"/>
              </a:rPr>
              <a:t>but</a:t>
            </a:r>
            <a:r>
              <a:rPr sz="1800" spc="-30" dirty="0">
                <a:latin typeface="Tahoma"/>
                <a:cs typeface="Tahoma"/>
              </a:rPr>
              <a:t> </a:t>
            </a:r>
            <a:r>
              <a:rPr sz="1800" dirty="0">
                <a:latin typeface="Tahoma"/>
                <a:cs typeface="Tahoma"/>
              </a:rPr>
              <a:t>also</a:t>
            </a:r>
            <a:r>
              <a:rPr sz="1800" spc="-35" dirty="0">
                <a:latin typeface="Tahoma"/>
                <a:cs typeface="Tahoma"/>
              </a:rPr>
              <a:t> </a:t>
            </a:r>
            <a:r>
              <a:rPr sz="1800" dirty="0">
                <a:latin typeface="Tahoma"/>
                <a:cs typeface="Tahoma"/>
              </a:rPr>
              <a:t>the</a:t>
            </a:r>
            <a:r>
              <a:rPr sz="1800" spc="-25" dirty="0">
                <a:latin typeface="Tahoma"/>
                <a:cs typeface="Tahoma"/>
              </a:rPr>
              <a:t> </a:t>
            </a:r>
            <a:r>
              <a:rPr sz="1800" dirty="0">
                <a:latin typeface="Tahoma"/>
                <a:cs typeface="Tahoma"/>
              </a:rPr>
              <a:t>best</a:t>
            </a:r>
            <a:r>
              <a:rPr sz="1800" spc="-15" dirty="0">
                <a:latin typeface="Tahoma"/>
                <a:cs typeface="Tahoma"/>
              </a:rPr>
              <a:t> </a:t>
            </a:r>
            <a:r>
              <a:rPr sz="1800" dirty="0">
                <a:latin typeface="Tahoma"/>
                <a:cs typeface="Tahoma"/>
              </a:rPr>
              <a:t>way</a:t>
            </a:r>
            <a:r>
              <a:rPr sz="1800" spc="-35" dirty="0">
                <a:latin typeface="Tahoma"/>
                <a:cs typeface="Tahoma"/>
              </a:rPr>
              <a:t> </a:t>
            </a:r>
            <a:r>
              <a:rPr sz="1800" dirty="0">
                <a:latin typeface="Tahoma"/>
                <a:cs typeface="Tahoma"/>
              </a:rPr>
              <a:t>to</a:t>
            </a:r>
            <a:r>
              <a:rPr sz="1800" spc="-30" dirty="0">
                <a:latin typeface="Tahoma"/>
                <a:cs typeface="Tahoma"/>
              </a:rPr>
              <a:t> </a:t>
            </a:r>
            <a:r>
              <a:rPr sz="1800" spc="40" dirty="0">
                <a:latin typeface="Tahoma"/>
                <a:cs typeface="Tahoma"/>
              </a:rPr>
              <a:t>achieve</a:t>
            </a:r>
            <a:endParaRPr sz="1800">
              <a:latin typeface="Tahoma"/>
              <a:cs typeface="Tahoma"/>
            </a:endParaRPr>
          </a:p>
        </p:txBody>
      </p:sp>
      <p:sp>
        <p:nvSpPr>
          <p:cNvPr id="6" name="object 6"/>
          <p:cNvSpPr txBox="1"/>
          <p:nvPr/>
        </p:nvSpPr>
        <p:spPr>
          <a:xfrm>
            <a:off x="1185672" y="3723132"/>
            <a:ext cx="864235" cy="248920"/>
          </a:xfrm>
          <a:prstGeom prst="rect">
            <a:avLst/>
          </a:prstGeom>
          <a:solidFill>
            <a:srgbClr val="FFFF00"/>
          </a:solidFill>
        </p:spPr>
        <p:txBody>
          <a:bodyPr vert="horz" wrap="square" lIns="0" tIns="0" rIns="0" bIns="0" rtlCol="0">
            <a:spAutoFit/>
          </a:bodyPr>
          <a:lstStyle/>
          <a:p>
            <a:pPr>
              <a:lnSpc>
                <a:spcPts val="1860"/>
              </a:lnSpc>
            </a:pPr>
            <a:r>
              <a:rPr sz="1800" dirty="0">
                <a:latin typeface="Tahoma"/>
                <a:cs typeface="Tahoma"/>
              </a:rPr>
              <a:t>the </a:t>
            </a:r>
            <a:r>
              <a:rPr sz="1800" spc="60" dirty="0">
                <a:latin typeface="Tahoma"/>
                <a:cs typeface="Tahoma"/>
              </a:rPr>
              <a:t>goal</a:t>
            </a:r>
            <a:endParaRPr sz="1800">
              <a:latin typeface="Tahoma"/>
              <a:cs typeface="Tahoma"/>
            </a:endParaRPr>
          </a:p>
        </p:txBody>
      </p:sp>
      <p:sp>
        <p:nvSpPr>
          <p:cNvPr id="7" name="object 7"/>
          <p:cNvSpPr txBox="1"/>
          <p:nvPr/>
        </p:nvSpPr>
        <p:spPr>
          <a:xfrm>
            <a:off x="2035633" y="3670856"/>
            <a:ext cx="85725" cy="301625"/>
          </a:xfrm>
          <a:prstGeom prst="rect">
            <a:avLst/>
          </a:prstGeom>
        </p:spPr>
        <p:txBody>
          <a:bodyPr vert="horz" wrap="square" lIns="0" tIns="13970" rIns="0" bIns="0" rtlCol="0">
            <a:spAutoFit/>
          </a:bodyPr>
          <a:lstStyle/>
          <a:p>
            <a:pPr marL="12700">
              <a:lnSpc>
                <a:spcPct val="100000"/>
              </a:lnSpc>
              <a:spcBef>
                <a:spcPts val="110"/>
              </a:spcBef>
            </a:pPr>
            <a:r>
              <a:rPr sz="1800" spc="-50" dirty="0">
                <a:latin typeface="Tahoma"/>
                <a:cs typeface="Tahoma"/>
              </a:rPr>
              <a:t>.</a:t>
            </a:r>
            <a:endParaRPr sz="1800">
              <a:latin typeface="Tahoma"/>
              <a:cs typeface="Tahoma"/>
            </a:endParaRPr>
          </a:p>
        </p:txBody>
      </p:sp>
      <p:sp>
        <p:nvSpPr>
          <p:cNvPr id="8" name="object 8"/>
          <p:cNvSpPr txBox="1"/>
          <p:nvPr/>
        </p:nvSpPr>
        <p:spPr>
          <a:xfrm>
            <a:off x="982586" y="4024327"/>
            <a:ext cx="8202930" cy="1861185"/>
          </a:xfrm>
          <a:prstGeom prst="rect">
            <a:avLst/>
          </a:prstGeom>
        </p:spPr>
        <p:txBody>
          <a:bodyPr vert="horz" wrap="square" lIns="0" tIns="42545" rIns="0" bIns="0" rtlCol="0">
            <a:spAutoFit/>
          </a:bodyPr>
          <a:lstStyle/>
          <a:p>
            <a:pPr marL="200025" marR="36195" indent="-187960">
              <a:lnSpc>
                <a:spcPts val="1970"/>
              </a:lnSpc>
              <a:spcBef>
                <a:spcPts val="335"/>
              </a:spcBef>
              <a:buFont typeface="Arial MT"/>
              <a:buChar char="•"/>
              <a:tabLst>
                <a:tab pos="201295" algn="l"/>
              </a:tabLst>
            </a:pPr>
            <a:r>
              <a:rPr sz="1800" dirty="0">
                <a:latin typeface="Tahoma"/>
                <a:cs typeface="Tahoma"/>
              </a:rPr>
              <a:t>The</a:t>
            </a:r>
            <a:r>
              <a:rPr sz="1800" spc="-15" dirty="0">
                <a:latin typeface="Tahoma"/>
                <a:cs typeface="Tahoma"/>
              </a:rPr>
              <a:t> </a:t>
            </a:r>
            <a:r>
              <a:rPr sz="1800" dirty="0">
                <a:latin typeface="Tahoma"/>
                <a:cs typeface="Tahoma"/>
              </a:rPr>
              <a:t>Utility-</a:t>
            </a:r>
            <a:r>
              <a:rPr sz="1800" spc="70" dirty="0">
                <a:latin typeface="Tahoma"/>
                <a:cs typeface="Tahoma"/>
              </a:rPr>
              <a:t>based</a:t>
            </a:r>
            <a:r>
              <a:rPr sz="1800" spc="-15" dirty="0">
                <a:latin typeface="Tahoma"/>
                <a:cs typeface="Tahoma"/>
              </a:rPr>
              <a:t> </a:t>
            </a:r>
            <a:r>
              <a:rPr sz="1800" spc="50" dirty="0">
                <a:latin typeface="Tahoma"/>
                <a:cs typeface="Tahoma"/>
              </a:rPr>
              <a:t>agent</a:t>
            </a:r>
            <a:r>
              <a:rPr sz="1800" spc="-10" dirty="0">
                <a:latin typeface="Tahoma"/>
                <a:cs typeface="Tahoma"/>
              </a:rPr>
              <a:t> </a:t>
            </a:r>
            <a:r>
              <a:rPr sz="1800" dirty="0">
                <a:latin typeface="Tahoma"/>
                <a:cs typeface="Tahoma"/>
              </a:rPr>
              <a:t>is</a:t>
            </a:r>
            <a:r>
              <a:rPr sz="1800" spc="-25" dirty="0">
                <a:latin typeface="Tahoma"/>
                <a:cs typeface="Tahoma"/>
              </a:rPr>
              <a:t> </a:t>
            </a:r>
            <a:r>
              <a:rPr sz="1800" dirty="0">
                <a:latin typeface="Tahoma"/>
                <a:cs typeface="Tahoma"/>
              </a:rPr>
              <a:t>useful</a:t>
            </a:r>
            <a:r>
              <a:rPr sz="1800" spc="-30" dirty="0">
                <a:latin typeface="Tahoma"/>
                <a:cs typeface="Tahoma"/>
              </a:rPr>
              <a:t> </a:t>
            </a:r>
            <a:r>
              <a:rPr sz="1800" dirty="0">
                <a:latin typeface="Tahoma"/>
                <a:cs typeface="Tahoma"/>
              </a:rPr>
              <a:t>when</a:t>
            </a:r>
            <a:r>
              <a:rPr sz="1800" spc="-20" dirty="0">
                <a:latin typeface="Tahoma"/>
                <a:cs typeface="Tahoma"/>
              </a:rPr>
              <a:t> </a:t>
            </a:r>
            <a:r>
              <a:rPr sz="1800" dirty="0">
                <a:latin typeface="Tahoma"/>
                <a:cs typeface="Tahoma"/>
              </a:rPr>
              <a:t>there</a:t>
            </a:r>
            <a:r>
              <a:rPr sz="1800" spc="15" dirty="0">
                <a:latin typeface="Tahoma"/>
                <a:cs typeface="Tahoma"/>
              </a:rPr>
              <a:t> </a:t>
            </a:r>
            <a:r>
              <a:rPr sz="1800" dirty="0">
                <a:latin typeface="Tahoma"/>
                <a:cs typeface="Tahoma"/>
              </a:rPr>
              <a:t>are</a:t>
            </a:r>
            <a:r>
              <a:rPr sz="1800" spc="-15" dirty="0">
                <a:latin typeface="Tahoma"/>
                <a:cs typeface="Tahoma"/>
              </a:rPr>
              <a:t> </a:t>
            </a:r>
            <a:r>
              <a:rPr sz="1800" spc="55" dirty="0">
                <a:latin typeface="Tahoma"/>
                <a:cs typeface="Tahoma"/>
              </a:rPr>
              <a:t>multiple</a:t>
            </a:r>
            <a:r>
              <a:rPr sz="1800" spc="-25" dirty="0">
                <a:latin typeface="Tahoma"/>
                <a:cs typeface="Tahoma"/>
              </a:rPr>
              <a:t> </a:t>
            </a:r>
            <a:r>
              <a:rPr sz="1800" spc="60" dirty="0">
                <a:latin typeface="Tahoma"/>
                <a:cs typeface="Tahoma"/>
              </a:rPr>
              <a:t>possible 	</a:t>
            </a:r>
            <a:r>
              <a:rPr sz="1800" dirty="0">
                <a:latin typeface="Tahoma"/>
                <a:cs typeface="Tahoma"/>
              </a:rPr>
              <a:t>alternatives,</a:t>
            </a:r>
            <a:r>
              <a:rPr sz="1800" spc="-110" dirty="0">
                <a:latin typeface="Tahoma"/>
                <a:cs typeface="Tahoma"/>
              </a:rPr>
              <a:t> </a:t>
            </a:r>
            <a:r>
              <a:rPr sz="1800" spc="65" dirty="0">
                <a:latin typeface="Tahoma"/>
                <a:cs typeface="Tahoma"/>
              </a:rPr>
              <a:t>and</a:t>
            </a:r>
            <a:r>
              <a:rPr sz="1800" spc="-45" dirty="0">
                <a:latin typeface="Tahoma"/>
                <a:cs typeface="Tahoma"/>
              </a:rPr>
              <a:t> </a:t>
            </a:r>
            <a:r>
              <a:rPr sz="1800" dirty="0">
                <a:latin typeface="Tahoma"/>
                <a:cs typeface="Tahoma"/>
              </a:rPr>
              <a:t>an</a:t>
            </a:r>
            <a:r>
              <a:rPr sz="1800" spc="-50" dirty="0">
                <a:latin typeface="Tahoma"/>
                <a:cs typeface="Tahoma"/>
              </a:rPr>
              <a:t> </a:t>
            </a:r>
            <a:r>
              <a:rPr sz="1800" spc="50" dirty="0">
                <a:latin typeface="Tahoma"/>
                <a:cs typeface="Tahoma"/>
              </a:rPr>
              <a:t>agent</a:t>
            </a:r>
            <a:r>
              <a:rPr sz="1800" spc="-45" dirty="0">
                <a:latin typeface="Tahoma"/>
                <a:cs typeface="Tahoma"/>
              </a:rPr>
              <a:t> </a:t>
            </a:r>
            <a:r>
              <a:rPr sz="1800" dirty="0">
                <a:latin typeface="Tahoma"/>
                <a:cs typeface="Tahoma"/>
              </a:rPr>
              <a:t>has</a:t>
            </a:r>
            <a:r>
              <a:rPr sz="1800" spc="-25" dirty="0">
                <a:latin typeface="Tahoma"/>
                <a:cs typeface="Tahoma"/>
              </a:rPr>
              <a:t> </a:t>
            </a:r>
            <a:r>
              <a:rPr sz="1800" dirty="0">
                <a:latin typeface="Tahoma"/>
                <a:cs typeface="Tahoma"/>
              </a:rPr>
              <a:t>to</a:t>
            </a:r>
            <a:r>
              <a:rPr sz="1800" spc="-45" dirty="0">
                <a:latin typeface="Tahoma"/>
                <a:cs typeface="Tahoma"/>
              </a:rPr>
              <a:t> </a:t>
            </a:r>
            <a:r>
              <a:rPr sz="1800" spc="75" dirty="0">
                <a:latin typeface="Tahoma"/>
                <a:cs typeface="Tahoma"/>
              </a:rPr>
              <a:t>choose</a:t>
            </a:r>
            <a:r>
              <a:rPr sz="1800" spc="-15" dirty="0">
                <a:latin typeface="Tahoma"/>
                <a:cs typeface="Tahoma"/>
              </a:rPr>
              <a:t> </a:t>
            </a:r>
            <a:r>
              <a:rPr sz="1800" dirty="0">
                <a:latin typeface="Tahoma"/>
                <a:cs typeface="Tahoma"/>
              </a:rPr>
              <a:t>in</a:t>
            </a:r>
            <a:r>
              <a:rPr sz="1800" spc="-50" dirty="0">
                <a:latin typeface="Tahoma"/>
                <a:cs typeface="Tahoma"/>
              </a:rPr>
              <a:t> </a:t>
            </a:r>
            <a:r>
              <a:rPr sz="1800" spc="60" dirty="0">
                <a:latin typeface="Tahoma"/>
                <a:cs typeface="Tahoma"/>
              </a:rPr>
              <a:t>order</a:t>
            </a:r>
            <a:r>
              <a:rPr sz="1800" spc="-20" dirty="0">
                <a:latin typeface="Tahoma"/>
                <a:cs typeface="Tahoma"/>
              </a:rPr>
              <a:t> </a:t>
            </a:r>
            <a:r>
              <a:rPr sz="1800" dirty="0">
                <a:latin typeface="Tahoma"/>
                <a:cs typeface="Tahoma"/>
              </a:rPr>
              <a:t>to</a:t>
            </a:r>
            <a:r>
              <a:rPr sz="1800" spc="-35" dirty="0">
                <a:latin typeface="Tahoma"/>
                <a:cs typeface="Tahoma"/>
              </a:rPr>
              <a:t> </a:t>
            </a:r>
            <a:r>
              <a:rPr sz="1800" spc="50" dirty="0">
                <a:latin typeface="Tahoma"/>
                <a:cs typeface="Tahoma"/>
              </a:rPr>
              <a:t>perform</a:t>
            </a:r>
            <a:r>
              <a:rPr sz="1800" spc="-20" dirty="0">
                <a:latin typeface="Tahoma"/>
                <a:cs typeface="Tahoma"/>
              </a:rPr>
              <a:t> </a:t>
            </a:r>
            <a:r>
              <a:rPr sz="1800" dirty="0">
                <a:latin typeface="Tahoma"/>
                <a:cs typeface="Tahoma"/>
              </a:rPr>
              <a:t>the</a:t>
            </a:r>
            <a:r>
              <a:rPr sz="1800" spc="-35" dirty="0">
                <a:latin typeface="Tahoma"/>
                <a:cs typeface="Tahoma"/>
              </a:rPr>
              <a:t> </a:t>
            </a:r>
            <a:r>
              <a:rPr sz="1800" dirty="0">
                <a:latin typeface="Tahoma"/>
                <a:cs typeface="Tahoma"/>
              </a:rPr>
              <a:t>best</a:t>
            </a:r>
            <a:r>
              <a:rPr sz="1800" spc="-25" dirty="0">
                <a:latin typeface="Tahoma"/>
                <a:cs typeface="Tahoma"/>
              </a:rPr>
              <a:t> </a:t>
            </a:r>
            <a:r>
              <a:rPr sz="1800" spc="-10" dirty="0">
                <a:latin typeface="Tahoma"/>
                <a:cs typeface="Tahoma"/>
              </a:rPr>
              <a:t>action.</a:t>
            </a:r>
            <a:endParaRPr sz="1800">
              <a:latin typeface="Tahoma"/>
              <a:cs typeface="Tahoma"/>
            </a:endParaRPr>
          </a:p>
          <a:p>
            <a:pPr marL="200025" marR="5080" indent="-187960">
              <a:lnSpc>
                <a:spcPts val="1960"/>
              </a:lnSpc>
              <a:spcBef>
                <a:spcPts val="819"/>
              </a:spcBef>
              <a:buFont typeface="Arial MT"/>
              <a:buChar char="•"/>
              <a:tabLst>
                <a:tab pos="201295" algn="l"/>
              </a:tabLst>
            </a:pPr>
            <a:r>
              <a:rPr sz="1800" dirty="0">
                <a:latin typeface="Tahoma"/>
                <a:cs typeface="Tahoma"/>
              </a:rPr>
              <a:t>The</a:t>
            </a:r>
            <a:r>
              <a:rPr sz="1800" spc="-40" dirty="0">
                <a:latin typeface="Tahoma"/>
                <a:cs typeface="Tahoma"/>
              </a:rPr>
              <a:t> </a:t>
            </a:r>
            <a:r>
              <a:rPr sz="1800" dirty="0">
                <a:latin typeface="Tahoma"/>
                <a:cs typeface="Tahoma"/>
              </a:rPr>
              <a:t>utility</a:t>
            </a:r>
            <a:r>
              <a:rPr sz="1800" spc="-60" dirty="0">
                <a:latin typeface="Tahoma"/>
                <a:cs typeface="Tahoma"/>
              </a:rPr>
              <a:t> </a:t>
            </a:r>
            <a:r>
              <a:rPr sz="1800" dirty="0">
                <a:latin typeface="Tahoma"/>
                <a:cs typeface="Tahoma"/>
              </a:rPr>
              <a:t>function</a:t>
            </a:r>
            <a:r>
              <a:rPr sz="1800" spc="-50" dirty="0">
                <a:latin typeface="Tahoma"/>
                <a:cs typeface="Tahoma"/>
              </a:rPr>
              <a:t> </a:t>
            </a:r>
            <a:r>
              <a:rPr sz="1800" spc="55" dirty="0">
                <a:latin typeface="Tahoma"/>
                <a:cs typeface="Tahoma"/>
              </a:rPr>
              <a:t>maps</a:t>
            </a:r>
            <a:r>
              <a:rPr sz="1800" spc="-45" dirty="0">
                <a:latin typeface="Tahoma"/>
                <a:cs typeface="Tahoma"/>
              </a:rPr>
              <a:t> </a:t>
            </a:r>
            <a:r>
              <a:rPr sz="1800" spc="50" dirty="0">
                <a:latin typeface="Tahoma"/>
                <a:cs typeface="Tahoma"/>
              </a:rPr>
              <a:t>each</a:t>
            </a:r>
            <a:r>
              <a:rPr sz="1800" spc="-30" dirty="0">
                <a:latin typeface="Tahoma"/>
                <a:cs typeface="Tahoma"/>
              </a:rPr>
              <a:t> </a:t>
            </a:r>
            <a:r>
              <a:rPr sz="1800" dirty="0">
                <a:latin typeface="Tahoma"/>
                <a:cs typeface="Tahoma"/>
              </a:rPr>
              <a:t>state</a:t>
            </a:r>
            <a:r>
              <a:rPr sz="1800" spc="-50" dirty="0">
                <a:latin typeface="Tahoma"/>
                <a:cs typeface="Tahoma"/>
              </a:rPr>
              <a:t> </a:t>
            </a:r>
            <a:r>
              <a:rPr sz="1800" dirty="0">
                <a:latin typeface="Tahoma"/>
                <a:cs typeface="Tahoma"/>
              </a:rPr>
              <a:t>to</a:t>
            </a:r>
            <a:r>
              <a:rPr sz="1800" spc="-40" dirty="0">
                <a:latin typeface="Tahoma"/>
                <a:cs typeface="Tahoma"/>
              </a:rPr>
              <a:t> </a:t>
            </a:r>
            <a:r>
              <a:rPr sz="1800" dirty="0">
                <a:latin typeface="Tahoma"/>
                <a:cs typeface="Tahoma"/>
              </a:rPr>
              <a:t>a</a:t>
            </a:r>
            <a:r>
              <a:rPr sz="1800" spc="-45" dirty="0">
                <a:latin typeface="Tahoma"/>
                <a:cs typeface="Tahoma"/>
              </a:rPr>
              <a:t> </a:t>
            </a:r>
            <a:r>
              <a:rPr sz="1800" dirty="0">
                <a:latin typeface="Tahoma"/>
                <a:cs typeface="Tahoma"/>
              </a:rPr>
              <a:t>real</a:t>
            </a:r>
            <a:r>
              <a:rPr sz="1800" spc="-45" dirty="0">
                <a:latin typeface="Tahoma"/>
                <a:cs typeface="Tahoma"/>
              </a:rPr>
              <a:t> </a:t>
            </a:r>
            <a:r>
              <a:rPr sz="1800" spc="65" dirty="0">
                <a:latin typeface="Tahoma"/>
                <a:cs typeface="Tahoma"/>
              </a:rPr>
              <a:t>number</a:t>
            </a:r>
            <a:r>
              <a:rPr sz="1800" spc="-45" dirty="0">
                <a:latin typeface="Tahoma"/>
                <a:cs typeface="Tahoma"/>
              </a:rPr>
              <a:t> </a:t>
            </a:r>
            <a:r>
              <a:rPr sz="1800" dirty="0">
                <a:latin typeface="Tahoma"/>
                <a:cs typeface="Tahoma"/>
              </a:rPr>
              <a:t>to</a:t>
            </a:r>
            <a:r>
              <a:rPr sz="1800" spc="-40" dirty="0">
                <a:latin typeface="Tahoma"/>
                <a:cs typeface="Tahoma"/>
              </a:rPr>
              <a:t> </a:t>
            </a:r>
            <a:r>
              <a:rPr sz="1800" spc="60" dirty="0">
                <a:latin typeface="Tahoma"/>
                <a:cs typeface="Tahoma"/>
              </a:rPr>
              <a:t>check</a:t>
            </a:r>
            <a:r>
              <a:rPr sz="1800" spc="-50" dirty="0">
                <a:latin typeface="Tahoma"/>
                <a:cs typeface="Tahoma"/>
              </a:rPr>
              <a:t> </a:t>
            </a:r>
            <a:r>
              <a:rPr sz="1800" spc="60" dirty="0">
                <a:latin typeface="Tahoma"/>
                <a:cs typeface="Tahoma"/>
              </a:rPr>
              <a:t>how</a:t>
            </a:r>
            <a:r>
              <a:rPr sz="1800" spc="-35" dirty="0">
                <a:latin typeface="Tahoma"/>
                <a:cs typeface="Tahoma"/>
              </a:rPr>
              <a:t> </a:t>
            </a:r>
            <a:r>
              <a:rPr sz="1800" spc="-10" dirty="0">
                <a:latin typeface="Tahoma"/>
                <a:cs typeface="Tahoma"/>
              </a:rPr>
              <a:t>efficiently 	</a:t>
            </a:r>
            <a:r>
              <a:rPr sz="1800" spc="50" dirty="0">
                <a:latin typeface="Tahoma"/>
                <a:cs typeface="Tahoma"/>
              </a:rPr>
              <a:t>each</a:t>
            </a:r>
            <a:r>
              <a:rPr sz="1800" spc="85" dirty="0">
                <a:latin typeface="Tahoma"/>
                <a:cs typeface="Tahoma"/>
              </a:rPr>
              <a:t> </a:t>
            </a:r>
            <a:r>
              <a:rPr sz="1800" dirty="0">
                <a:latin typeface="Tahoma"/>
                <a:cs typeface="Tahoma"/>
              </a:rPr>
              <a:t>action</a:t>
            </a:r>
            <a:r>
              <a:rPr sz="1800" spc="65" dirty="0">
                <a:latin typeface="Tahoma"/>
                <a:cs typeface="Tahoma"/>
              </a:rPr>
              <a:t> </a:t>
            </a:r>
            <a:r>
              <a:rPr sz="1800" dirty="0">
                <a:latin typeface="Tahoma"/>
                <a:cs typeface="Tahoma"/>
              </a:rPr>
              <a:t>achieves</a:t>
            </a:r>
            <a:r>
              <a:rPr sz="1800" spc="80" dirty="0">
                <a:latin typeface="Tahoma"/>
                <a:cs typeface="Tahoma"/>
              </a:rPr>
              <a:t> </a:t>
            </a:r>
            <a:r>
              <a:rPr sz="1800" dirty="0">
                <a:latin typeface="Tahoma"/>
                <a:cs typeface="Tahoma"/>
              </a:rPr>
              <a:t>the</a:t>
            </a:r>
            <a:r>
              <a:rPr sz="1800" spc="95" dirty="0">
                <a:latin typeface="Tahoma"/>
                <a:cs typeface="Tahoma"/>
              </a:rPr>
              <a:t> </a:t>
            </a:r>
            <a:r>
              <a:rPr sz="1800" spc="-10" dirty="0">
                <a:latin typeface="Tahoma"/>
                <a:cs typeface="Tahoma"/>
              </a:rPr>
              <a:t>goals.</a:t>
            </a:r>
            <a:endParaRPr sz="1800">
              <a:latin typeface="Tahoma"/>
              <a:cs typeface="Tahoma"/>
            </a:endParaRPr>
          </a:p>
          <a:p>
            <a:pPr marL="200660" indent="-187960">
              <a:lnSpc>
                <a:spcPct val="100000"/>
              </a:lnSpc>
              <a:spcBef>
                <a:spcPts val="590"/>
              </a:spcBef>
              <a:buFont typeface="Arial MT"/>
              <a:buChar char="•"/>
              <a:tabLst>
                <a:tab pos="200660" algn="l"/>
              </a:tabLst>
            </a:pPr>
            <a:r>
              <a:rPr sz="1800" spc="85" dirty="0">
                <a:latin typeface="Tahoma"/>
                <a:cs typeface="Tahoma"/>
              </a:rPr>
              <a:t>Agent</a:t>
            </a:r>
            <a:r>
              <a:rPr sz="1800" spc="-55" dirty="0">
                <a:latin typeface="Tahoma"/>
                <a:cs typeface="Tahoma"/>
              </a:rPr>
              <a:t> </a:t>
            </a:r>
            <a:r>
              <a:rPr sz="1800" dirty="0">
                <a:latin typeface="Tahoma"/>
                <a:cs typeface="Tahoma"/>
              </a:rPr>
              <a:t>is</a:t>
            </a:r>
            <a:r>
              <a:rPr sz="1800" spc="-65" dirty="0">
                <a:latin typeface="Tahoma"/>
                <a:cs typeface="Tahoma"/>
              </a:rPr>
              <a:t> </a:t>
            </a:r>
            <a:r>
              <a:rPr sz="1800" spc="60" dirty="0">
                <a:latin typeface="Tahoma"/>
                <a:cs typeface="Tahoma"/>
              </a:rPr>
              <a:t>happy</a:t>
            </a:r>
            <a:r>
              <a:rPr sz="1800" spc="-35" dirty="0">
                <a:latin typeface="Tahoma"/>
                <a:cs typeface="Tahoma"/>
              </a:rPr>
              <a:t> </a:t>
            </a:r>
            <a:r>
              <a:rPr sz="1800" spc="65" dirty="0">
                <a:latin typeface="Tahoma"/>
                <a:cs typeface="Tahoma"/>
              </a:rPr>
              <a:t>or</a:t>
            </a:r>
            <a:r>
              <a:rPr sz="1800" spc="-75" dirty="0">
                <a:latin typeface="Tahoma"/>
                <a:cs typeface="Tahoma"/>
              </a:rPr>
              <a:t> </a:t>
            </a:r>
            <a:r>
              <a:rPr sz="1800" dirty="0">
                <a:latin typeface="Tahoma"/>
                <a:cs typeface="Tahoma"/>
              </a:rPr>
              <a:t>not</a:t>
            </a:r>
            <a:r>
              <a:rPr sz="1800" spc="-45" dirty="0">
                <a:latin typeface="Tahoma"/>
                <a:cs typeface="Tahoma"/>
              </a:rPr>
              <a:t> </a:t>
            </a:r>
            <a:r>
              <a:rPr sz="1800" dirty="0">
                <a:latin typeface="Tahoma"/>
                <a:cs typeface="Tahoma"/>
              </a:rPr>
              <a:t>to</a:t>
            </a:r>
            <a:r>
              <a:rPr sz="1800" spc="-50" dirty="0">
                <a:latin typeface="Tahoma"/>
                <a:cs typeface="Tahoma"/>
              </a:rPr>
              <a:t> </a:t>
            </a:r>
            <a:r>
              <a:rPr sz="1800" spc="55" dirty="0">
                <a:latin typeface="Tahoma"/>
                <a:cs typeface="Tahoma"/>
              </a:rPr>
              <a:t>performing</a:t>
            </a:r>
            <a:r>
              <a:rPr sz="1800" spc="-50" dirty="0">
                <a:latin typeface="Tahoma"/>
                <a:cs typeface="Tahoma"/>
              </a:rPr>
              <a:t> </a:t>
            </a:r>
            <a:r>
              <a:rPr sz="1800" dirty="0">
                <a:latin typeface="Tahoma"/>
                <a:cs typeface="Tahoma"/>
              </a:rPr>
              <a:t>this</a:t>
            </a:r>
            <a:r>
              <a:rPr sz="1800" spc="-45" dirty="0">
                <a:latin typeface="Tahoma"/>
                <a:cs typeface="Tahoma"/>
              </a:rPr>
              <a:t> </a:t>
            </a:r>
            <a:r>
              <a:rPr sz="1800" spc="-10" dirty="0">
                <a:latin typeface="Tahoma"/>
                <a:cs typeface="Tahoma"/>
              </a:rPr>
              <a:t>action?</a:t>
            </a:r>
            <a:endParaRPr sz="1800">
              <a:latin typeface="Tahoma"/>
              <a:cs typeface="Tahoma"/>
            </a:endParaRPr>
          </a:p>
          <a:p>
            <a:pPr marL="200660" indent="-187960">
              <a:lnSpc>
                <a:spcPct val="100000"/>
              </a:lnSpc>
              <a:spcBef>
                <a:spcPts val="620"/>
              </a:spcBef>
              <a:buFont typeface="Arial MT"/>
              <a:buChar char="•"/>
              <a:tabLst>
                <a:tab pos="200660" algn="l"/>
              </a:tabLst>
            </a:pPr>
            <a:r>
              <a:rPr sz="1800" spc="114" dirty="0">
                <a:latin typeface="Tahoma"/>
                <a:cs typeface="Tahoma"/>
              </a:rPr>
              <a:t>Google</a:t>
            </a:r>
            <a:r>
              <a:rPr sz="1800" spc="60" dirty="0">
                <a:latin typeface="Tahoma"/>
                <a:cs typeface="Tahoma"/>
              </a:rPr>
              <a:t> </a:t>
            </a:r>
            <a:r>
              <a:rPr sz="1800" dirty="0">
                <a:latin typeface="Tahoma"/>
                <a:cs typeface="Tahoma"/>
              </a:rPr>
              <a:t>map,</a:t>
            </a:r>
            <a:r>
              <a:rPr sz="1800" spc="-35" dirty="0">
                <a:latin typeface="Tahoma"/>
                <a:cs typeface="Tahoma"/>
              </a:rPr>
              <a:t> </a:t>
            </a:r>
            <a:r>
              <a:rPr sz="1800" dirty="0">
                <a:latin typeface="Tahoma"/>
                <a:cs typeface="Tahoma"/>
              </a:rPr>
              <a:t>travelling</a:t>
            </a:r>
            <a:r>
              <a:rPr sz="1800" spc="50" dirty="0">
                <a:latin typeface="Tahoma"/>
                <a:cs typeface="Tahoma"/>
              </a:rPr>
              <a:t> </a:t>
            </a:r>
            <a:r>
              <a:rPr sz="1800" dirty="0">
                <a:latin typeface="Tahoma"/>
                <a:cs typeface="Tahoma"/>
              </a:rPr>
              <a:t>from</a:t>
            </a:r>
            <a:r>
              <a:rPr sz="1800" spc="40" dirty="0">
                <a:latin typeface="Tahoma"/>
                <a:cs typeface="Tahoma"/>
              </a:rPr>
              <a:t> </a:t>
            </a:r>
            <a:r>
              <a:rPr sz="1800" spc="85" dirty="0">
                <a:latin typeface="Tahoma"/>
                <a:cs typeface="Tahoma"/>
              </a:rPr>
              <a:t>one</a:t>
            </a:r>
            <a:r>
              <a:rPr sz="1800" spc="45" dirty="0">
                <a:latin typeface="Tahoma"/>
                <a:cs typeface="Tahoma"/>
              </a:rPr>
              <a:t> </a:t>
            </a:r>
            <a:r>
              <a:rPr sz="1800" spc="75" dirty="0">
                <a:latin typeface="Tahoma"/>
                <a:cs typeface="Tahoma"/>
              </a:rPr>
              <a:t>place</a:t>
            </a:r>
            <a:r>
              <a:rPr sz="1800" spc="35" dirty="0">
                <a:latin typeface="Tahoma"/>
                <a:cs typeface="Tahoma"/>
              </a:rPr>
              <a:t> </a:t>
            </a:r>
            <a:r>
              <a:rPr sz="1800" dirty="0">
                <a:latin typeface="Tahoma"/>
                <a:cs typeface="Tahoma"/>
              </a:rPr>
              <a:t>to</a:t>
            </a:r>
            <a:r>
              <a:rPr sz="1800" spc="35" dirty="0">
                <a:latin typeface="Tahoma"/>
                <a:cs typeface="Tahoma"/>
              </a:rPr>
              <a:t> </a:t>
            </a:r>
            <a:r>
              <a:rPr sz="1800" dirty="0">
                <a:latin typeface="Tahoma"/>
                <a:cs typeface="Tahoma"/>
              </a:rPr>
              <a:t>another</a:t>
            </a:r>
            <a:r>
              <a:rPr sz="1800" spc="60" dirty="0">
                <a:latin typeface="Tahoma"/>
                <a:cs typeface="Tahoma"/>
              </a:rPr>
              <a:t> </a:t>
            </a:r>
            <a:r>
              <a:rPr sz="1800" dirty="0">
                <a:latin typeface="Tahoma"/>
                <a:cs typeface="Tahoma"/>
              </a:rPr>
              <a:t>place.</a:t>
            </a:r>
            <a:r>
              <a:rPr sz="1800" spc="-40" dirty="0">
                <a:latin typeface="Tahoma"/>
                <a:cs typeface="Tahoma"/>
              </a:rPr>
              <a:t> </a:t>
            </a:r>
            <a:r>
              <a:rPr sz="1800" spc="-10" dirty="0">
                <a:latin typeface="Tahoma"/>
                <a:cs typeface="Tahoma"/>
              </a:rPr>
              <a:t>Destination.</a:t>
            </a:r>
            <a:endParaRPr sz="1800">
              <a:latin typeface="Tahoma"/>
              <a:cs typeface="Tahoma"/>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3A426D7-B85E-B5BF-95A3-784D6B61E619}"/>
              </a:ext>
            </a:extLst>
          </p:cNvPr>
          <p:cNvSpPr txBox="1"/>
          <p:nvPr/>
        </p:nvSpPr>
        <p:spPr>
          <a:xfrm>
            <a:off x="457200" y="1752600"/>
            <a:ext cx="4343400" cy="2862322"/>
          </a:xfrm>
          <a:prstGeom prst="rect">
            <a:avLst/>
          </a:prstGeom>
          <a:noFill/>
        </p:spPr>
        <p:txBody>
          <a:bodyPr wrap="square">
            <a:spAutoFit/>
          </a:bodyPr>
          <a:lstStyle/>
          <a:p>
            <a:pPr algn="just"/>
            <a:r>
              <a:rPr lang="en-US" b="0" i="0" dirty="0">
                <a:solidFill>
                  <a:srgbClr val="404040"/>
                </a:solidFill>
                <a:effectLst/>
                <a:latin typeface="Verdana" panose="020B0604030504040204" pitchFamily="34" charset="0"/>
              </a:rPr>
              <a:t>For example let’s show our mars Lander on the surface of mars with an obstacle in its way. In a goal based agent it is uncertain which path will be taken by the agent and some a re clearly not as efficient as others but in a utility based agent the best path will have the best output from the utility function and that path will be chosen</a:t>
            </a:r>
            <a:endParaRPr lang="en-US" dirty="0"/>
          </a:p>
        </p:txBody>
      </p:sp>
      <p:pic>
        <p:nvPicPr>
          <p:cNvPr id="5" name="Picture 4">
            <a:extLst>
              <a:ext uri="{FF2B5EF4-FFF2-40B4-BE49-F238E27FC236}">
                <a16:creationId xmlns:a16="http://schemas.microsoft.com/office/drawing/2014/main" id="{761D55FB-FFB0-9766-E39A-2015D10F29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86400" y="1057275"/>
            <a:ext cx="3962400" cy="4657725"/>
          </a:xfrm>
          <a:prstGeom prst="rect">
            <a:avLst/>
          </a:prstGeom>
        </p:spPr>
      </p:pic>
      <p:pic>
        <p:nvPicPr>
          <p:cNvPr id="7" name="Picture 6">
            <a:extLst>
              <a:ext uri="{FF2B5EF4-FFF2-40B4-BE49-F238E27FC236}">
                <a16:creationId xmlns:a16="http://schemas.microsoft.com/office/drawing/2014/main" id="{18528E75-295C-C774-9A28-C8B49E60E4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4614922"/>
            <a:ext cx="4114800" cy="2398704"/>
          </a:xfrm>
          <a:prstGeom prst="rect">
            <a:avLst/>
          </a:prstGeom>
        </p:spPr>
      </p:pic>
    </p:spTree>
    <p:extLst>
      <p:ext uri="{BB962C8B-B14F-4D97-AF65-F5344CB8AC3E}">
        <p14:creationId xmlns:p14="http://schemas.microsoft.com/office/powerpoint/2010/main" val="27442003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25" dirty="0"/>
              <a:t>4.</a:t>
            </a:r>
            <a:r>
              <a:rPr spc="-229" dirty="0"/>
              <a:t> </a:t>
            </a:r>
            <a:r>
              <a:rPr spc="-114" dirty="0"/>
              <a:t>Utility-</a:t>
            </a:r>
            <a:r>
              <a:rPr spc="-10" dirty="0"/>
              <a:t>based</a:t>
            </a:r>
            <a:r>
              <a:rPr spc="-114" dirty="0"/>
              <a:t> </a:t>
            </a:r>
            <a:r>
              <a:rPr spc="-40" dirty="0"/>
              <a:t>agents</a:t>
            </a:r>
          </a:p>
        </p:txBody>
      </p:sp>
      <p:pic>
        <p:nvPicPr>
          <p:cNvPr id="3" name="object 3"/>
          <p:cNvPicPr/>
          <p:nvPr/>
        </p:nvPicPr>
        <p:blipFill>
          <a:blip r:embed="rId2" cstate="print"/>
          <a:stretch>
            <a:fillRect/>
          </a:stretch>
        </p:blipFill>
        <p:spPr>
          <a:xfrm>
            <a:off x="1908211" y="3054463"/>
            <a:ext cx="5389951" cy="3238408"/>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409193" y="1053845"/>
          <a:ext cx="9228455" cy="1664335"/>
        </p:xfrm>
        <a:graphic>
          <a:graphicData uri="http://schemas.openxmlformats.org/drawingml/2006/table">
            <a:tbl>
              <a:tblPr firstRow="1" bandRow="1">
                <a:tableStyleId>{2D5ABB26-0587-4C30-8999-92F81FD0307C}</a:tableStyleId>
              </a:tblPr>
              <a:tblGrid>
                <a:gridCol w="72390">
                  <a:extLst>
                    <a:ext uri="{9D8B030D-6E8A-4147-A177-3AD203B41FA5}">
                      <a16:colId xmlns:a16="http://schemas.microsoft.com/office/drawing/2014/main" val="20000"/>
                    </a:ext>
                  </a:extLst>
                </a:gridCol>
                <a:gridCol w="9156065">
                  <a:extLst>
                    <a:ext uri="{9D8B030D-6E8A-4147-A177-3AD203B41FA5}">
                      <a16:colId xmlns:a16="http://schemas.microsoft.com/office/drawing/2014/main" val="20001"/>
                    </a:ext>
                  </a:extLst>
                </a:gridCol>
              </a:tblGrid>
              <a:tr h="650240">
                <a:tc gridSpan="2">
                  <a:txBody>
                    <a:bodyPr/>
                    <a:lstStyle/>
                    <a:p>
                      <a:pPr>
                        <a:lnSpc>
                          <a:spcPct val="100000"/>
                        </a:lnSpc>
                      </a:pPr>
                      <a:endParaRPr sz="2300">
                        <a:latin typeface="Times New Roman"/>
                        <a:cs typeface="Times New Roman"/>
                      </a:endParaRPr>
                    </a:p>
                  </a:txBody>
                  <a:tcPr marL="0" marR="0" marT="0" marB="0">
                    <a:lnL w="9525">
                      <a:solidFill>
                        <a:srgbClr val="E9E9E9"/>
                      </a:solidFill>
                      <a:prstDash val="solid"/>
                    </a:lnL>
                    <a:lnR w="9525">
                      <a:solidFill>
                        <a:srgbClr val="E9E9E9"/>
                      </a:solidFill>
                      <a:prstDash val="solid"/>
                    </a:lnR>
                    <a:lnT w="9525">
                      <a:solidFill>
                        <a:srgbClr val="E9E9E9"/>
                      </a:solidFill>
                      <a:prstDash val="solid"/>
                    </a:lnT>
                  </a:tcPr>
                </a:tc>
                <a:tc hMerge="1">
                  <a:txBody>
                    <a:bodyPr/>
                    <a:lstStyle/>
                    <a:p>
                      <a:endParaRPr/>
                    </a:p>
                  </a:txBody>
                  <a:tcPr marL="0" marR="0" marT="0" marB="0"/>
                </a:tc>
                <a:extLst>
                  <a:ext uri="{0D108BD9-81ED-4DB2-BD59-A6C34878D82A}">
                    <a16:rowId xmlns:a16="http://schemas.microsoft.com/office/drawing/2014/main" val="10000"/>
                  </a:ext>
                </a:extLst>
              </a:tr>
              <a:tr h="580390">
                <a:tc>
                  <a:txBody>
                    <a:bodyPr/>
                    <a:lstStyle/>
                    <a:p>
                      <a:pPr>
                        <a:lnSpc>
                          <a:spcPct val="100000"/>
                        </a:lnSpc>
                      </a:pPr>
                      <a:endParaRPr sz="2300">
                        <a:latin typeface="Times New Roman"/>
                        <a:cs typeface="Times New Roman"/>
                      </a:endParaRPr>
                    </a:p>
                  </a:txBody>
                  <a:tcPr marL="0" marR="0" marT="0" marB="0">
                    <a:lnL w="9525">
                      <a:solidFill>
                        <a:srgbClr val="E9E9E9"/>
                      </a:solidFill>
                      <a:prstDash val="solid"/>
                    </a:lnL>
                    <a:solidFill>
                      <a:srgbClr val="F5A700"/>
                    </a:solidFill>
                  </a:tcPr>
                </a:tc>
                <a:tc>
                  <a:txBody>
                    <a:bodyPr/>
                    <a:lstStyle/>
                    <a:p>
                      <a:pPr marL="476884">
                        <a:lnSpc>
                          <a:spcPts val="3900"/>
                        </a:lnSpc>
                      </a:pPr>
                      <a:r>
                        <a:rPr sz="3300" b="1" spc="-25" dirty="0">
                          <a:latin typeface="Tahoma"/>
                          <a:cs typeface="Tahoma"/>
                        </a:rPr>
                        <a:t>5.</a:t>
                      </a:r>
                      <a:r>
                        <a:rPr sz="3300" b="1" spc="-229" dirty="0">
                          <a:latin typeface="Tahoma"/>
                          <a:cs typeface="Tahoma"/>
                        </a:rPr>
                        <a:t> </a:t>
                      </a:r>
                      <a:r>
                        <a:rPr sz="3300" b="1" spc="-80" dirty="0">
                          <a:latin typeface="Tahoma"/>
                          <a:cs typeface="Tahoma"/>
                        </a:rPr>
                        <a:t>Learning</a:t>
                      </a:r>
                      <a:r>
                        <a:rPr sz="3300" b="1" spc="-170" dirty="0">
                          <a:latin typeface="Tahoma"/>
                          <a:cs typeface="Tahoma"/>
                        </a:rPr>
                        <a:t> </a:t>
                      </a:r>
                      <a:r>
                        <a:rPr sz="3300" b="1" spc="-10" dirty="0">
                          <a:latin typeface="Tahoma"/>
                          <a:cs typeface="Tahoma"/>
                        </a:rPr>
                        <a:t>Agents</a:t>
                      </a:r>
                      <a:endParaRPr sz="3300">
                        <a:latin typeface="Tahoma"/>
                        <a:cs typeface="Tahoma"/>
                      </a:endParaRPr>
                    </a:p>
                  </a:txBody>
                  <a:tcPr marL="0" marR="0" marT="0" marB="0">
                    <a:lnR w="9525">
                      <a:solidFill>
                        <a:srgbClr val="E9E9E9"/>
                      </a:solidFill>
                      <a:prstDash val="solid"/>
                    </a:lnR>
                  </a:tcPr>
                </a:tc>
                <a:extLst>
                  <a:ext uri="{0D108BD9-81ED-4DB2-BD59-A6C34878D82A}">
                    <a16:rowId xmlns:a16="http://schemas.microsoft.com/office/drawing/2014/main" val="10001"/>
                  </a:ext>
                </a:extLst>
              </a:tr>
              <a:tr h="433705">
                <a:tc gridSpan="2">
                  <a:txBody>
                    <a:bodyPr/>
                    <a:lstStyle/>
                    <a:p>
                      <a:pPr marL="737235" indent="-187960">
                        <a:lnSpc>
                          <a:spcPts val="1970"/>
                        </a:lnSpc>
                        <a:spcBef>
                          <a:spcPts val="1345"/>
                        </a:spcBef>
                        <a:buFont typeface="Arial MT"/>
                        <a:buChar char="•"/>
                        <a:tabLst>
                          <a:tab pos="737235" algn="l"/>
                        </a:tabLst>
                      </a:pPr>
                      <a:r>
                        <a:rPr sz="2300" spc="229" dirty="0">
                          <a:latin typeface="Tahoma"/>
                          <a:cs typeface="Tahoma"/>
                        </a:rPr>
                        <a:t>A</a:t>
                      </a:r>
                      <a:r>
                        <a:rPr sz="2300" spc="-150" dirty="0">
                          <a:latin typeface="Tahoma"/>
                          <a:cs typeface="Tahoma"/>
                        </a:rPr>
                        <a:t> </a:t>
                      </a:r>
                      <a:r>
                        <a:rPr sz="2300" spc="55" dirty="0">
                          <a:latin typeface="Tahoma"/>
                          <a:cs typeface="Tahoma"/>
                        </a:rPr>
                        <a:t>learning</a:t>
                      </a:r>
                      <a:r>
                        <a:rPr sz="2300" spc="-120" dirty="0">
                          <a:latin typeface="Tahoma"/>
                          <a:cs typeface="Tahoma"/>
                        </a:rPr>
                        <a:t> </a:t>
                      </a:r>
                      <a:r>
                        <a:rPr sz="2300" spc="55" dirty="0">
                          <a:latin typeface="Tahoma"/>
                          <a:cs typeface="Tahoma"/>
                        </a:rPr>
                        <a:t>agent</a:t>
                      </a:r>
                      <a:r>
                        <a:rPr sz="2300" spc="-100" dirty="0">
                          <a:latin typeface="Tahoma"/>
                          <a:cs typeface="Tahoma"/>
                        </a:rPr>
                        <a:t> </a:t>
                      </a:r>
                      <a:r>
                        <a:rPr sz="2300" dirty="0">
                          <a:latin typeface="Tahoma"/>
                          <a:cs typeface="Tahoma"/>
                        </a:rPr>
                        <a:t>in</a:t>
                      </a:r>
                      <a:r>
                        <a:rPr sz="2300" spc="-150" dirty="0">
                          <a:latin typeface="Tahoma"/>
                          <a:cs typeface="Tahoma"/>
                        </a:rPr>
                        <a:t> </a:t>
                      </a:r>
                      <a:r>
                        <a:rPr sz="2300" spc="-10" dirty="0">
                          <a:latin typeface="Tahoma"/>
                          <a:cs typeface="Tahoma"/>
                        </a:rPr>
                        <a:t>AI</a:t>
                      </a:r>
                      <a:r>
                        <a:rPr sz="2300" spc="-125" dirty="0">
                          <a:latin typeface="Tahoma"/>
                          <a:cs typeface="Tahoma"/>
                        </a:rPr>
                        <a:t> </a:t>
                      </a:r>
                      <a:r>
                        <a:rPr sz="2300" dirty="0">
                          <a:latin typeface="Tahoma"/>
                          <a:cs typeface="Tahoma"/>
                        </a:rPr>
                        <a:t>is</a:t>
                      </a:r>
                      <a:r>
                        <a:rPr sz="2300" spc="-105" dirty="0">
                          <a:latin typeface="Tahoma"/>
                          <a:cs typeface="Tahoma"/>
                        </a:rPr>
                        <a:t> </a:t>
                      </a:r>
                      <a:r>
                        <a:rPr sz="2300" dirty="0">
                          <a:latin typeface="Tahoma"/>
                          <a:cs typeface="Tahoma"/>
                        </a:rPr>
                        <a:t>the</a:t>
                      </a:r>
                      <a:r>
                        <a:rPr sz="2300" spc="-125" dirty="0">
                          <a:latin typeface="Tahoma"/>
                          <a:cs typeface="Tahoma"/>
                        </a:rPr>
                        <a:t> </a:t>
                      </a:r>
                      <a:r>
                        <a:rPr sz="2300" spc="55" dirty="0">
                          <a:latin typeface="Tahoma"/>
                          <a:cs typeface="Tahoma"/>
                        </a:rPr>
                        <a:t>type</a:t>
                      </a:r>
                      <a:r>
                        <a:rPr sz="2300" spc="-125" dirty="0">
                          <a:latin typeface="Tahoma"/>
                          <a:cs typeface="Tahoma"/>
                        </a:rPr>
                        <a:t> </a:t>
                      </a:r>
                      <a:r>
                        <a:rPr sz="2300" dirty="0">
                          <a:latin typeface="Tahoma"/>
                          <a:cs typeface="Tahoma"/>
                        </a:rPr>
                        <a:t>of</a:t>
                      </a:r>
                      <a:r>
                        <a:rPr sz="2300" spc="-55" dirty="0">
                          <a:latin typeface="Tahoma"/>
                          <a:cs typeface="Tahoma"/>
                        </a:rPr>
                        <a:t> </a:t>
                      </a:r>
                      <a:r>
                        <a:rPr sz="2300" spc="55" dirty="0">
                          <a:latin typeface="Tahoma"/>
                          <a:cs typeface="Tahoma"/>
                        </a:rPr>
                        <a:t>agent</a:t>
                      </a:r>
                      <a:r>
                        <a:rPr sz="2300" spc="-100" dirty="0">
                          <a:latin typeface="Tahoma"/>
                          <a:cs typeface="Tahoma"/>
                        </a:rPr>
                        <a:t> </a:t>
                      </a:r>
                      <a:r>
                        <a:rPr sz="2300" spc="50" dirty="0">
                          <a:latin typeface="Tahoma"/>
                          <a:cs typeface="Tahoma"/>
                        </a:rPr>
                        <a:t>which</a:t>
                      </a:r>
                      <a:r>
                        <a:rPr sz="2300" spc="-125" dirty="0">
                          <a:latin typeface="Tahoma"/>
                          <a:cs typeface="Tahoma"/>
                        </a:rPr>
                        <a:t> </a:t>
                      </a:r>
                      <a:r>
                        <a:rPr sz="2300" spc="50" dirty="0">
                          <a:latin typeface="Tahoma"/>
                          <a:cs typeface="Tahoma"/>
                        </a:rPr>
                        <a:t>can</a:t>
                      </a:r>
                      <a:r>
                        <a:rPr sz="2300" spc="-125" dirty="0">
                          <a:latin typeface="Tahoma"/>
                          <a:cs typeface="Tahoma"/>
                        </a:rPr>
                        <a:t> </a:t>
                      </a:r>
                      <a:r>
                        <a:rPr sz="2300" spc="-10" dirty="0">
                          <a:latin typeface="Tahoma"/>
                          <a:cs typeface="Tahoma"/>
                        </a:rPr>
                        <a:t>learn</a:t>
                      </a:r>
                      <a:endParaRPr sz="2300">
                        <a:latin typeface="Tahoma"/>
                        <a:cs typeface="Tahoma"/>
                      </a:endParaRPr>
                    </a:p>
                  </a:txBody>
                  <a:tcPr marL="0" marR="0" marT="170815" marB="0">
                    <a:lnL w="9525">
                      <a:solidFill>
                        <a:srgbClr val="E9E9E9"/>
                      </a:solidFill>
                      <a:prstDash val="solid"/>
                    </a:lnL>
                    <a:lnR w="9525">
                      <a:solidFill>
                        <a:srgbClr val="E9E9E9"/>
                      </a:solidFill>
                      <a:prstDash val="solid"/>
                    </a:lnR>
                    <a:lnB w="9525">
                      <a:solidFill>
                        <a:srgbClr val="E9E9E9"/>
                      </a:solidFill>
                      <a:prstDash val="solid"/>
                    </a:lnB>
                  </a:tcPr>
                </a:tc>
                <a:tc hMerge="1">
                  <a:txBody>
                    <a:bodyPr/>
                    <a:lstStyle/>
                    <a:p>
                      <a:endParaRPr/>
                    </a:p>
                  </a:txBody>
                  <a:tcPr marL="0" marR="0" marT="0" marB="0"/>
                </a:tc>
                <a:extLst>
                  <a:ext uri="{0D108BD9-81ED-4DB2-BD59-A6C34878D82A}">
                    <a16:rowId xmlns:a16="http://schemas.microsoft.com/office/drawing/2014/main" val="10002"/>
                  </a:ext>
                </a:extLst>
              </a:tr>
            </a:tbl>
          </a:graphicData>
        </a:graphic>
      </p:graphicFrame>
      <p:sp>
        <p:nvSpPr>
          <p:cNvPr id="3" name="object 3"/>
          <p:cNvSpPr txBox="1"/>
          <p:nvPr/>
        </p:nvSpPr>
        <p:spPr>
          <a:xfrm>
            <a:off x="982348" y="2693570"/>
            <a:ext cx="7689215" cy="2663190"/>
          </a:xfrm>
          <a:prstGeom prst="rect">
            <a:avLst/>
          </a:prstGeom>
        </p:spPr>
        <p:txBody>
          <a:bodyPr vert="horz" wrap="square" lIns="0" tIns="153670" rIns="0" bIns="0" rtlCol="0">
            <a:spAutoFit/>
          </a:bodyPr>
          <a:lstStyle/>
          <a:p>
            <a:pPr marL="201295">
              <a:lnSpc>
                <a:spcPct val="100000"/>
              </a:lnSpc>
              <a:spcBef>
                <a:spcPts val="1210"/>
              </a:spcBef>
            </a:pPr>
            <a:r>
              <a:rPr sz="2300" dirty="0">
                <a:latin typeface="Tahoma"/>
                <a:cs typeface="Tahoma"/>
              </a:rPr>
              <a:t>from</a:t>
            </a:r>
            <a:r>
              <a:rPr sz="2300" spc="-90" dirty="0">
                <a:latin typeface="Tahoma"/>
                <a:cs typeface="Tahoma"/>
              </a:rPr>
              <a:t> </a:t>
            </a:r>
            <a:r>
              <a:rPr sz="2300" dirty="0">
                <a:latin typeface="Tahoma"/>
                <a:cs typeface="Tahoma"/>
              </a:rPr>
              <a:t>its</a:t>
            </a:r>
            <a:r>
              <a:rPr sz="2300" spc="-100" dirty="0">
                <a:latin typeface="Tahoma"/>
                <a:cs typeface="Tahoma"/>
              </a:rPr>
              <a:t> </a:t>
            </a:r>
            <a:r>
              <a:rPr sz="2300" dirty="0">
                <a:latin typeface="Tahoma"/>
                <a:cs typeface="Tahoma"/>
              </a:rPr>
              <a:t>past</a:t>
            </a:r>
            <a:r>
              <a:rPr sz="2300" spc="-100" dirty="0">
                <a:latin typeface="Tahoma"/>
                <a:cs typeface="Tahoma"/>
              </a:rPr>
              <a:t> </a:t>
            </a:r>
            <a:r>
              <a:rPr sz="2300" spc="50" dirty="0">
                <a:latin typeface="Tahoma"/>
                <a:cs typeface="Tahoma"/>
              </a:rPr>
              <a:t>experiences,</a:t>
            </a:r>
            <a:r>
              <a:rPr sz="2300" spc="-195" dirty="0">
                <a:latin typeface="Tahoma"/>
                <a:cs typeface="Tahoma"/>
              </a:rPr>
              <a:t> </a:t>
            </a:r>
            <a:r>
              <a:rPr sz="2300" spc="80" dirty="0">
                <a:latin typeface="Tahoma"/>
                <a:cs typeface="Tahoma"/>
              </a:rPr>
              <a:t>or</a:t>
            </a:r>
            <a:r>
              <a:rPr sz="2300" spc="-80" dirty="0">
                <a:latin typeface="Tahoma"/>
                <a:cs typeface="Tahoma"/>
              </a:rPr>
              <a:t> </a:t>
            </a:r>
            <a:r>
              <a:rPr sz="2300" dirty="0">
                <a:latin typeface="Tahoma"/>
                <a:cs typeface="Tahoma"/>
              </a:rPr>
              <a:t>it</a:t>
            </a:r>
            <a:r>
              <a:rPr sz="2300" spc="-75" dirty="0">
                <a:latin typeface="Tahoma"/>
                <a:cs typeface="Tahoma"/>
              </a:rPr>
              <a:t> </a:t>
            </a:r>
            <a:r>
              <a:rPr sz="2300" dirty="0">
                <a:latin typeface="Tahoma"/>
                <a:cs typeface="Tahoma"/>
              </a:rPr>
              <a:t>has</a:t>
            </a:r>
            <a:r>
              <a:rPr sz="2300" spc="-90" dirty="0">
                <a:latin typeface="Tahoma"/>
                <a:cs typeface="Tahoma"/>
              </a:rPr>
              <a:t> </a:t>
            </a:r>
            <a:r>
              <a:rPr sz="2300" spc="55" dirty="0">
                <a:latin typeface="Tahoma"/>
                <a:cs typeface="Tahoma"/>
              </a:rPr>
              <a:t>learning</a:t>
            </a:r>
            <a:r>
              <a:rPr sz="2300" spc="-90" dirty="0">
                <a:latin typeface="Tahoma"/>
                <a:cs typeface="Tahoma"/>
              </a:rPr>
              <a:t> </a:t>
            </a:r>
            <a:r>
              <a:rPr sz="2300" spc="40" dirty="0">
                <a:latin typeface="Tahoma"/>
                <a:cs typeface="Tahoma"/>
              </a:rPr>
              <a:t>capabilities.</a:t>
            </a:r>
            <a:endParaRPr sz="2300">
              <a:latin typeface="Tahoma"/>
              <a:cs typeface="Tahoma"/>
            </a:endParaRPr>
          </a:p>
          <a:p>
            <a:pPr marL="200025" marR="5080" indent="-187960">
              <a:lnSpc>
                <a:spcPct val="110400"/>
              </a:lnSpc>
              <a:spcBef>
                <a:spcPts val="830"/>
              </a:spcBef>
              <a:buFont typeface="Arial MT"/>
              <a:buChar char="•"/>
              <a:tabLst>
                <a:tab pos="201295" algn="l"/>
              </a:tabLst>
            </a:pPr>
            <a:r>
              <a:rPr sz="2300" spc="-165" dirty="0">
                <a:latin typeface="Tahoma"/>
                <a:cs typeface="Tahoma"/>
              </a:rPr>
              <a:t>It</a:t>
            </a:r>
            <a:r>
              <a:rPr sz="2300" spc="-114" dirty="0">
                <a:latin typeface="Tahoma"/>
                <a:cs typeface="Tahoma"/>
              </a:rPr>
              <a:t> </a:t>
            </a:r>
            <a:r>
              <a:rPr sz="2300" spc="-25" dirty="0">
                <a:latin typeface="Tahoma"/>
                <a:cs typeface="Tahoma"/>
              </a:rPr>
              <a:t>starts</a:t>
            </a:r>
            <a:r>
              <a:rPr sz="2300" spc="-125" dirty="0">
                <a:latin typeface="Tahoma"/>
                <a:cs typeface="Tahoma"/>
              </a:rPr>
              <a:t> </a:t>
            </a:r>
            <a:r>
              <a:rPr sz="2300" spc="60" dirty="0">
                <a:latin typeface="Tahoma"/>
                <a:cs typeface="Tahoma"/>
              </a:rPr>
              <a:t>to</a:t>
            </a:r>
            <a:r>
              <a:rPr sz="2300" spc="-100" dirty="0">
                <a:latin typeface="Tahoma"/>
                <a:cs typeface="Tahoma"/>
              </a:rPr>
              <a:t> </a:t>
            </a:r>
            <a:r>
              <a:rPr sz="2300" dirty="0">
                <a:latin typeface="Tahoma"/>
                <a:cs typeface="Tahoma"/>
              </a:rPr>
              <a:t>act</a:t>
            </a:r>
            <a:r>
              <a:rPr sz="2300" spc="-130" dirty="0">
                <a:latin typeface="Tahoma"/>
                <a:cs typeface="Tahoma"/>
              </a:rPr>
              <a:t> </a:t>
            </a:r>
            <a:r>
              <a:rPr sz="2300" dirty="0">
                <a:latin typeface="Tahoma"/>
                <a:cs typeface="Tahoma"/>
              </a:rPr>
              <a:t>with</a:t>
            </a:r>
            <a:r>
              <a:rPr sz="2300" spc="-120" dirty="0">
                <a:latin typeface="Tahoma"/>
                <a:cs typeface="Tahoma"/>
              </a:rPr>
              <a:t> </a:t>
            </a:r>
            <a:r>
              <a:rPr sz="2300" spc="70" dirty="0">
                <a:latin typeface="Tahoma"/>
                <a:cs typeface="Tahoma"/>
              </a:rPr>
              <a:t>basic</a:t>
            </a:r>
            <a:r>
              <a:rPr sz="2300" spc="-114" dirty="0">
                <a:latin typeface="Tahoma"/>
                <a:cs typeface="Tahoma"/>
              </a:rPr>
              <a:t> </a:t>
            </a:r>
            <a:r>
              <a:rPr sz="2300" spc="100" dirty="0">
                <a:latin typeface="Tahoma"/>
                <a:cs typeface="Tahoma"/>
              </a:rPr>
              <a:t>knowledge</a:t>
            </a:r>
            <a:r>
              <a:rPr sz="2300" spc="-135" dirty="0">
                <a:latin typeface="Tahoma"/>
                <a:cs typeface="Tahoma"/>
              </a:rPr>
              <a:t> </a:t>
            </a:r>
            <a:r>
              <a:rPr sz="2300" spc="80" dirty="0">
                <a:latin typeface="Tahoma"/>
                <a:cs typeface="Tahoma"/>
              </a:rPr>
              <a:t>and</a:t>
            </a:r>
            <a:r>
              <a:rPr sz="2300" spc="-110" dirty="0">
                <a:latin typeface="Tahoma"/>
                <a:cs typeface="Tahoma"/>
              </a:rPr>
              <a:t> </a:t>
            </a:r>
            <a:r>
              <a:rPr sz="2300" dirty="0">
                <a:latin typeface="Tahoma"/>
                <a:cs typeface="Tahoma"/>
              </a:rPr>
              <a:t>then</a:t>
            </a:r>
            <a:r>
              <a:rPr sz="2300" spc="-125" dirty="0">
                <a:latin typeface="Tahoma"/>
                <a:cs typeface="Tahoma"/>
              </a:rPr>
              <a:t> </a:t>
            </a:r>
            <a:r>
              <a:rPr sz="2300" spc="95" dirty="0">
                <a:latin typeface="Tahoma"/>
                <a:cs typeface="Tahoma"/>
              </a:rPr>
              <a:t>able</a:t>
            </a:r>
            <a:r>
              <a:rPr sz="2300" spc="-105" dirty="0">
                <a:latin typeface="Tahoma"/>
                <a:cs typeface="Tahoma"/>
              </a:rPr>
              <a:t> </a:t>
            </a:r>
            <a:r>
              <a:rPr sz="2300" spc="60" dirty="0">
                <a:latin typeface="Tahoma"/>
                <a:cs typeface="Tahoma"/>
              </a:rPr>
              <a:t>to</a:t>
            </a:r>
            <a:r>
              <a:rPr sz="2300" spc="-114" dirty="0">
                <a:latin typeface="Tahoma"/>
                <a:cs typeface="Tahoma"/>
              </a:rPr>
              <a:t> </a:t>
            </a:r>
            <a:r>
              <a:rPr sz="2300" spc="-25" dirty="0">
                <a:latin typeface="Tahoma"/>
                <a:cs typeface="Tahoma"/>
              </a:rPr>
              <a:t>act 	</a:t>
            </a:r>
            <a:r>
              <a:rPr sz="2300" spc="80" dirty="0">
                <a:latin typeface="Tahoma"/>
                <a:cs typeface="Tahoma"/>
              </a:rPr>
              <a:t>and</a:t>
            </a:r>
            <a:r>
              <a:rPr sz="2300" spc="-20" dirty="0">
                <a:latin typeface="Tahoma"/>
                <a:cs typeface="Tahoma"/>
              </a:rPr>
              <a:t> </a:t>
            </a:r>
            <a:r>
              <a:rPr sz="2300" spc="80" dirty="0">
                <a:latin typeface="Tahoma"/>
                <a:cs typeface="Tahoma"/>
              </a:rPr>
              <a:t>adapt</a:t>
            </a:r>
            <a:r>
              <a:rPr sz="2300" spc="-35" dirty="0">
                <a:latin typeface="Tahoma"/>
                <a:cs typeface="Tahoma"/>
              </a:rPr>
              <a:t> </a:t>
            </a:r>
            <a:r>
              <a:rPr sz="2300" dirty="0">
                <a:latin typeface="Tahoma"/>
                <a:cs typeface="Tahoma"/>
              </a:rPr>
              <a:t>automatically</a:t>
            </a:r>
            <a:r>
              <a:rPr sz="2300" spc="-50" dirty="0">
                <a:latin typeface="Tahoma"/>
                <a:cs typeface="Tahoma"/>
              </a:rPr>
              <a:t> </a:t>
            </a:r>
            <a:r>
              <a:rPr sz="2300" spc="60" dirty="0">
                <a:latin typeface="Tahoma"/>
                <a:cs typeface="Tahoma"/>
              </a:rPr>
              <a:t>through</a:t>
            </a:r>
            <a:r>
              <a:rPr sz="2300" spc="-20" dirty="0">
                <a:latin typeface="Tahoma"/>
                <a:cs typeface="Tahoma"/>
              </a:rPr>
              <a:t> </a:t>
            </a:r>
            <a:r>
              <a:rPr sz="2300" spc="-10" dirty="0">
                <a:latin typeface="Tahoma"/>
                <a:cs typeface="Tahoma"/>
              </a:rPr>
              <a:t>learning.</a:t>
            </a:r>
            <a:endParaRPr sz="2300">
              <a:latin typeface="Tahoma"/>
              <a:cs typeface="Tahoma"/>
            </a:endParaRPr>
          </a:p>
          <a:p>
            <a:pPr marL="200025" marR="603885" indent="-187960">
              <a:lnSpc>
                <a:spcPct val="110600"/>
              </a:lnSpc>
              <a:spcBef>
                <a:spcPts val="810"/>
              </a:spcBef>
              <a:buFont typeface="Arial MT"/>
              <a:buChar char="•"/>
              <a:tabLst>
                <a:tab pos="201295" algn="l"/>
              </a:tabLst>
            </a:pPr>
            <a:r>
              <a:rPr sz="2300" spc="55" dirty="0">
                <a:latin typeface="Tahoma"/>
                <a:cs typeface="Tahoma"/>
              </a:rPr>
              <a:t>Hence,</a:t>
            </a:r>
            <a:r>
              <a:rPr sz="2300" spc="-170" dirty="0">
                <a:latin typeface="Tahoma"/>
                <a:cs typeface="Tahoma"/>
              </a:rPr>
              <a:t> </a:t>
            </a:r>
            <a:r>
              <a:rPr sz="2300" spc="55" dirty="0">
                <a:latin typeface="Tahoma"/>
                <a:cs typeface="Tahoma"/>
              </a:rPr>
              <a:t>learning</a:t>
            </a:r>
            <a:r>
              <a:rPr sz="2300" spc="-85" dirty="0">
                <a:latin typeface="Tahoma"/>
                <a:cs typeface="Tahoma"/>
              </a:rPr>
              <a:t> </a:t>
            </a:r>
            <a:r>
              <a:rPr sz="2300" dirty="0">
                <a:latin typeface="Tahoma"/>
                <a:cs typeface="Tahoma"/>
              </a:rPr>
              <a:t>agents</a:t>
            </a:r>
            <a:r>
              <a:rPr sz="2300" spc="-85" dirty="0">
                <a:latin typeface="Tahoma"/>
                <a:cs typeface="Tahoma"/>
              </a:rPr>
              <a:t> </a:t>
            </a:r>
            <a:r>
              <a:rPr sz="2300" dirty="0">
                <a:latin typeface="Tahoma"/>
                <a:cs typeface="Tahoma"/>
              </a:rPr>
              <a:t>are</a:t>
            </a:r>
            <a:r>
              <a:rPr sz="2300" spc="-80" dirty="0">
                <a:latin typeface="Tahoma"/>
                <a:cs typeface="Tahoma"/>
              </a:rPr>
              <a:t> </a:t>
            </a:r>
            <a:r>
              <a:rPr sz="2300" spc="95" dirty="0">
                <a:latin typeface="Tahoma"/>
                <a:cs typeface="Tahoma"/>
              </a:rPr>
              <a:t>able</a:t>
            </a:r>
            <a:r>
              <a:rPr sz="2300" spc="-70" dirty="0">
                <a:latin typeface="Tahoma"/>
                <a:cs typeface="Tahoma"/>
              </a:rPr>
              <a:t> </a:t>
            </a:r>
            <a:r>
              <a:rPr sz="2300" spc="60" dirty="0">
                <a:latin typeface="Tahoma"/>
                <a:cs typeface="Tahoma"/>
              </a:rPr>
              <a:t>to</a:t>
            </a:r>
            <a:r>
              <a:rPr sz="2300" spc="-75" dirty="0">
                <a:latin typeface="Tahoma"/>
                <a:cs typeface="Tahoma"/>
              </a:rPr>
              <a:t> </a:t>
            </a:r>
            <a:r>
              <a:rPr sz="2300" dirty="0">
                <a:latin typeface="Tahoma"/>
                <a:cs typeface="Tahoma"/>
              </a:rPr>
              <a:t>learn,</a:t>
            </a:r>
            <a:r>
              <a:rPr sz="2300" spc="-170" dirty="0">
                <a:latin typeface="Tahoma"/>
                <a:cs typeface="Tahoma"/>
              </a:rPr>
              <a:t> </a:t>
            </a:r>
            <a:r>
              <a:rPr sz="2300" spc="-10" dirty="0">
                <a:latin typeface="Tahoma"/>
                <a:cs typeface="Tahoma"/>
              </a:rPr>
              <a:t>analyze 	</a:t>
            </a:r>
            <a:r>
              <a:rPr sz="2300" spc="55" dirty="0">
                <a:latin typeface="Tahoma"/>
                <a:cs typeface="Tahoma"/>
              </a:rPr>
              <a:t>performance,</a:t>
            </a:r>
            <a:r>
              <a:rPr sz="2300" spc="-204" dirty="0">
                <a:latin typeface="Tahoma"/>
                <a:cs typeface="Tahoma"/>
              </a:rPr>
              <a:t> </a:t>
            </a:r>
            <a:r>
              <a:rPr sz="2300" spc="80" dirty="0">
                <a:latin typeface="Tahoma"/>
                <a:cs typeface="Tahoma"/>
              </a:rPr>
              <a:t>and</a:t>
            </a:r>
            <a:r>
              <a:rPr sz="2300" spc="-105" dirty="0">
                <a:latin typeface="Tahoma"/>
                <a:cs typeface="Tahoma"/>
              </a:rPr>
              <a:t> </a:t>
            </a:r>
            <a:r>
              <a:rPr sz="2300" spc="100" dirty="0">
                <a:latin typeface="Tahoma"/>
                <a:cs typeface="Tahoma"/>
              </a:rPr>
              <a:t>look</a:t>
            </a:r>
            <a:r>
              <a:rPr sz="2300" spc="-125" dirty="0">
                <a:latin typeface="Tahoma"/>
                <a:cs typeface="Tahoma"/>
              </a:rPr>
              <a:t> </a:t>
            </a:r>
            <a:r>
              <a:rPr sz="2300" dirty="0">
                <a:latin typeface="Tahoma"/>
                <a:cs typeface="Tahoma"/>
              </a:rPr>
              <a:t>for</a:t>
            </a:r>
            <a:r>
              <a:rPr sz="2300" spc="-110" dirty="0">
                <a:latin typeface="Tahoma"/>
                <a:cs typeface="Tahoma"/>
              </a:rPr>
              <a:t> </a:t>
            </a:r>
            <a:r>
              <a:rPr sz="2300" dirty="0">
                <a:latin typeface="Tahoma"/>
                <a:cs typeface="Tahoma"/>
              </a:rPr>
              <a:t>new</a:t>
            </a:r>
            <a:r>
              <a:rPr sz="2300" spc="-114" dirty="0">
                <a:latin typeface="Tahoma"/>
                <a:cs typeface="Tahoma"/>
              </a:rPr>
              <a:t> </a:t>
            </a:r>
            <a:r>
              <a:rPr sz="2300" dirty="0">
                <a:latin typeface="Tahoma"/>
                <a:cs typeface="Tahoma"/>
              </a:rPr>
              <a:t>ways</a:t>
            </a:r>
            <a:r>
              <a:rPr sz="2300" spc="-120" dirty="0">
                <a:latin typeface="Tahoma"/>
                <a:cs typeface="Tahoma"/>
              </a:rPr>
              <a:t> </a:t>
            </a:r>
            <a:r>
              <a:rPr sz="2300" spc="60" dirty="0">
                <a:latin typeface="Tahoma"/>
                <a:cs typeface="Tahoma"/>
              </a:rPr>
              <a:t>to</a:t>
            </a:r>
            <a:r>
              <a:rPr sz="2300" spc="-100" dirty="0">
                <a:latin typeface="Tahoma"/>
                <a:cs typeface="Tahoma"/>
              </a:rPr>
              <a:t> </a:t>
            </a:r>
            <a:r>
              <a:rPr sz="2300" spc="75" dirty="0">
                <a:latin typeface="Tahoma"/>
                <a:cs typeface="Tahoma"/>
              </a:rPr>
              <a:t>improve</a:t>
            </a:r>
            <a:r>
              <a:rPr sz="2300" spc="-125" dirty="0">
                <a:latin typeface="Tahoma"/>
                <a:cs typeface="Tahoma"/>
              </a:rPr>
              <a:t> </a:t>
            </a:r>
            <a:r>
              <a:rPr sz="2300" spc="-25" dirty="0">
                <a:latin typeface="Tahoma"/>
                <a:cs typeface="Tahoma"/>
              </a:rPr>
              <a:t>the 	</a:t>
            </a:r>
            <a:r>
              <a:rPr sz="2300" spc="45" dirty="0">
                <a:latin typeface="Tahoma"/>
                <a:cs typeface="Tahoma"/>
              </a:rPr>
              <a:t>performance.</a:t>
            </a:r>
            <a:endParaRPr sz="2300">
              <a:latin typeface="Tahoma"/>
              <a:cs typeface="Tahoma"/>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409193" y="1053845"/>
          <a:ext cx="9228455" cy="1664335"/>
        </p:xfrm>
        <a:graphic>
          <a:graphicData uri="http://schemas.openxmlformats.org/drawingml/2006/table">
            <a:tbl>
              <a:tblPr firstRow="1" bandRow="1">
                <a:tableStyleId>{2D5ABB26-0587-4C30-8999-92F81FD0307C}</a:tableStyleId>
              </a:tblPr>
              <a:tblGrid>
                <a:gridCol w="72390">
                  <a:extLst>
                    <a:ext uri="{9D8B030D-6E8A-4147-A177-3AD203B41FA5}">
                      <a16:colId xmlns:a16="http://schemas.microsoft.com/office/drawing/2014/main" val="20000"/>
                    </a:ext>
                  </a:extLst>
                </a:gridCol>
                <a:gridCol w="9156065">
                  <a:extLst>
                    <a:ext uri="{9D8B030D-6E8A-4147-A177-3AD203B41FA5}">
                      <a16:colId xmlns:a16="http://schemas.microsoft.com/office/drawing/2014/main" val="20001"/>
                    </a:ext>
                  </a:extLst>
                </a:gridCol>
              </a:tblGrid>
              <a:tr h="650240">
                <a:tc gridSpan="2">
                  <a:txBody>
                    <a:bodyPr/>
                    <a:lstStyle/>
                    <a:p>
                      <a:pPr>
                        <a:lnSpc>
                          <a:spcPct val="100000"/>
                        </a:lnSpc>
                      </a:pPr>
                      <a:endParaRPr sz="3300">
                        <a:latin typeface="Times New Roman"/>
                        <a:cs typeface="Times New Roman"/>
                      </a:endParaRPr>
                    </a:p>
                  </a:txBody>
                  <a:tcPr marL="0" marR="0" marT="0" marB="0">
                    <a:lnL w="9525">
                      <a:solidFill>
                        <a:srgbClr val="E9E9E9"/>
                      </a:solidFill>
                      <a:prstDash val="solid"/>
                    </a:lnL>
                    <a:lnR w="9525">
                      <a:solidFill>
                        <a:srgbClr val="E9E9E9"/>
                      </a:solidFill>
                      <a:prstDash val="solid"/>
                    </a:lnR>
                    <a:lnT w="9525">
                      <a:solidFill>
                        <a:srgbClr val="E9E9E9"/>
                      </a:solidFill>
                      <a:prstDash val="solid"/>
                    </a:lnT>
                  </a:tcPr>
                </a:tc>
                <a:tc hMerge="1">
                  <a:txBody>
                    <a:bodyPr/>
                    <a:lstStyle/>
                    <a:p>
                      <a:endParaRPr/>
                    </a:p>
                  </a:txBody>
                  <a:tcPr marL="0" marR="0" marT="0" marB="0"/>
                </a:tc>
                <a:extLst>
                  <a:ext uri="{0D108BD9-81ED-4DB2-BD59-A6C34878D82A}">
                    <a16:rowId xmlns:a16="http://schemas.microsoft.com/office/drawing/2014/main" val="10000"/>
                  </a:ext>
                </a:extLst>
              </a:tr>
              <a:tr h="580390">
                <a:tc>
                  <a:txBody>
                    <a:bodyPr/>
                    <a:lstStyle/>
                    <a:p>
                      <a:pPr>
                        <a:lnSpc>
                          <a:spcPct val="100000"/>
                        </a:lnSpc>
                      </a:pPr>
                      <a:endParaRPr sz="3300">
                        <a:latin typeface="Times New Roman"/>
                        <a:cs typeface="Times New Roman"/>
                      </a:endParaRPr>
                    </a:p>
                  </a:txBody>
                  <a:tcPr marL="0" marR="0" marT="0" marB="0">
                    <a:lnL w="9525">
                      <a:solidFill>
                        <a:srgbClr val="E9E9E9"/>
                      </a:solidFill>
                      <a:prstDash val="solid"/>
                    </a:lnL>
                    <a:solidFill>
                      <a:srgbClr val="F5A700"/>
                    </a:solidFill>
                  </a:tcPr>
                </a:tc>
                <a:tc>
                  <a:txBody>
                    <a:bodyPr/>
                    <a:lstStyle/>
                    <a:p>
                      <a:pPr marL="478155">
                        <a:lnSpc>
                          <a:spcPts val="3910"/>
                        </a:lnSpc>
                      </a:pPr>
                      <a:r>
                        <a:rPr sz="3300" b="1" spc="-25" dirty="0">
                          <a:latin typeface="Tahoma"/>
                          <a:cs typeface="Tahoma"/>
                        </a:rPr>
                        <a:t>5.</a:t>
                      </a:r>
                      <a:r>
                        <a:rPr sz="3300" b="1" spc="-229" dirty="0">
                          <a:latin typeface="Tahoma"/>
                          <a:cs typeface="Tahoma"/>
                        </a:rPr>
                        <a:t> </a:t>
                      </a:r>
                      <a:r>
                        <a:rPr sz="3300" b="1" spc="-80" dirty="0">
                          <a:latin typeface="Tahoma"/>
                          <a:cs typeface="Tahoma"/>
                        </a:rPr>
                        <a:t>Learning</a:t>
                      </a:r>
                      <a:r>
                        <a:rPr sz="3300" b="1" spc="-170" dirty="0">
                          <a:latin typeface="Tahoma"/>
                          <a:cs typeface="Tahoma"/>
                        </a:rPr>
                        <a:t> </a:t>
                      </a:r>
                      <a:r>
                        <a:rPr sz="3300" b="1" spc="-10" dirty="0">
                          <a:latin typeface="Tahoma"/>
                          <a:cs typeface="Tahoma"/>
                        </a:rPr>
                        <a:t>Agents</a:t>
                      </a:r>
                      <a:endParaRPr sz="3300">
                        <a:latin typeface="Tahoma"/>
                        <a:cs typeface="Tahoma"/>
                      </a:endParaRPr>
                    </a:p>
                  </a:txBody>
                  <a:tcPr marL="0" marR="0" marT="0" marB="0">
                    <a:lnR w="9525">
                      <a:solidFill>
                        <a:srgbClr val="E9E9E9"/>
                      </a:solidFill>
                      <a:prstDash val="solid"/>
                    </a:lnR>
                  </a:tcPr>
                </a:tc>
                <a:extLst>
                  <a:ext uri="{0D108BD9-81ED-4DB2-BD59-A6C34878D82A}">
                    <a16:rowId xmlns:a16="http://schemas.microsoft.com/office/drawing/2014/main" val="10001"/>
                  </a:ext>
                </a:extLst>
              </a:tr>
              <a:tr h="433705">
                <a:tc gridSpan="2">
                  <a:txBody>
                    <a:bodyPr/>
                    <a:lstStyle/>
                    <a:p>
                      <a:pPr>
                        <a:lnSpc>
                          <a:spcPct val="100000"/>
                        </a:lnSpc>
                      </a:pPr>
                      <a:endParaRPr sz="2800">
                        <a:latin typeface="Times New Roman"/>
                        <a:cs typeface="Times New Roman"/>
                      </a:endParaRPr>
                    </a:p>
                  </a:txBody>
                  <a:tcPr marL="0" marR="0" marT="0" marB="0">
                    <a:lnL w="9525">
                      <a:solidFill>
                        <a:srgbClr val="E9E9E9"/>
                      </a:solidFill>
                      <a:prstDash val="solid"/>
                    </a:lnL>
                    <a:lnR w="9525">
                      <a:solidFill>
                        <a:srgbClr val="E9E9E9"/>
                      </a:solidFill>
                      <a:prstDash val="solid"/>
                    </a:lnR>
                    <a:lnB w="9525">
                      <a:solidFill>
                        <a:srgbClr val="E9E9E9"/>
                      </a:solidFill>
                      <a:prstDash val="solid"/>
                    </a:lnB>
                  </a:tcPr>
                </a:tc>
                <a:tc hMerge="1">
                  <a:txBody>
                    <a:bodyPr/>
                    <a:lstStyle/>
                    <a:p>
                      <a:endParaRPr/>
                    </a:p>
                  </a:txBody>
                  <a:tcPr marL="0" marR="0" marT="0" marB="0"/>
                </a:tc>
                <a:extLst>
                  <a:ext uri="{0D108BD9-81ED-4DB2-BD59-A6C34878D82A}">
                    <a16:rowId xmlns:a16="http://schemas.microsoft.com/office/drawing/2014/main" val="10002"/>
                  </a:ext>
                </a:extLst>
              </a:tr>
            </a:tbl>
          </a:graphicData>
        </a:graphic>
      </p:graphicFrame>
      <p:pic>
        <p:nvPicPr>
          <p:cNvPr id="3" name="object 3"/>
          <p:cNvPicPr/>
          <p:nvPr/>
        </p:nvPicPr>
        <p:blipFill>
          <a:blip r:embed="rId2" cstate="print"/>
          <a:stretch>
            <a:fillRect/>
          </a:stretch>
        </p:blipFill>
        <p:spPr>
          <a:xfrm>
            <a:off x="1741932" y="2791967"/>
            <a:ext cx="5262372" cy="3777996"/>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12018-E2E1-666B-45BD-688C24DAAD2C}"/>
              </a:ext>
            </a:extLst>
          </p:cNvPr>
          <p:cNvSpPr>
            <a:spLocks noGrp="1"/>
          </p:cNvSpPr>
          <p:nvPr>
            <p:ph type="ctrTitle"/>
          </p:nvPr>
        </p:nvSpPr>
        <p:spPr>
          <a:xfrm>
            <a:off x="754380" y="533400"/>
            <a:ext cx="8549640" cy="507831"/>
          </a:xfrm>
        </p:spPr>
        <p:txBody>
          <a:bodyPr/>
          <a:lstStyle/>
          <a:p>
            <a:r>
              <a:rPr lang="en-US" b="1" i="0" dirty="0">
                <a:solidFill>
                  <a:srgbClr val="273239"/>
                </a:solidFill>
                <a:effectLst/>
                <a:latin typeface="Nunito" pitchFamily="2" charset="0"/>
              </a:rPr>
              <a:t>Critic</a:t>
            </a:r>
            <a:r>
              <a:rPr lang="en-US" b="0" i="0" dirty="0">
                <a:solidFill>
                  <a:srgbClr val="273239"/>
                </a:solidFill>
                <a:effectLst/>
                <a:latin typeface="Nunito" pitchFamily="2" charset="0"/>
              </a:rPr>
              <a:t>:</a:t>
            </a:r>
            <a:endParaRPr lang="en-US" dirty="0"/>
          </a:p>
        </p:txBody>
      </p:sp>
      <p:sp>
        <p:nvSpPr>
          <p:cNvPr id="3" name="Subtitle 2">
            <a:extLst>
              <a:ext uri="{FF2B5EF4-FFF2-40B4-BE49-F238E27FC236}">
                <a16:creationId xmlns:a16="http://schemas.microsoft.com/office/drawing/2014/main" id="{A19E77C2-2A40-1CC4-F7A6-E99963618D48}"/>
              </a:ext>
            </a:extLst>
          </p:cNvPr>
          <p:cNvSpPr>
            <a:spLocks noGrp="1"/>
          </p:cNvSpPr>
          <p:nvPr>
            <p:ph type="subTitle" idx="4"/>
          </p:nvPr>
        </p:nvSpPr>
        <p:spPr>
          <a:xfrm>
            <a:off x="457200" y="1068004"/>
            <a:ext cx="8549640" cy="5632311"/>
          </a:xfrm>
        </p:spPr>
        <p:txBody>
          <a:bodyPr/>
          <a:lstStyle/>
          <a:p>
            <a:pPr algn="just"/>
            <a:r>
              <a:rPr lang="en-US" sz="2400" b="0" i="0" dirty="0">
                <a:solidFill>
                  <a:srgbClr val="273239"/>
                </a:solidFill>
                <a:effectLst/>
                <a:latin typeface="Times New Roman" panose="02020603050405020304" pitchFamily="18" charset="0"/>
                <a:cs typeface="Times New Roman" panose="02020603050405020304" pitchFamily="18" charset="0"/>
              </a:rPr>
              <a:t>The critic assesses and offers feedback on the agent's performance based on pre-established goals or a predetermined reward system. The critic supports the learner by providing feedback on the quality of their decisions, allowing them to enhance their skills through various activities.</a:t>
            </a:r>
          </a:p>
          <a:p>
            <a:pPr algn="just"/>
            <a:r>
              <a:rPr lang="en-US" sz="2800" b="1" i="0" dirty="0">
                <a:solidFill>
                  <a:srgbClr val="273239"/>
                </a:solidFill>
                <a:effectLst/>
                <a:latin typeface="Nunito" pitchFamily="2" charset="0"/>
              </a:rPr>
              <a:t>Learning Element:</a:t>
            </a:r>
          </a:p>
          <a:p>
            <a:pPr algn="just"/>
            <a:r>
              <a:rPr lang="en-US" sz="2800" b="0" i="0" dirty="0">
                <a:solidFill>
                  <a:srgbClr val="273239"/>
                </a:solidFill>
                <a:effectLst/>
                <a:latin typeface="Nunito" pitchFamily="2" charset="0"/>
              </a:rPr>
              <a:t> </a:t>
            </a:r>
            <a:r>
              <a:rPr lang="en-US" sz="2400" b="0" i="0" dirty="0">
                <a:solidFill>
                  <a:srgbClr val="273239"/>
                </a:solidFill>
                <a:effectLst/>
                <a:latin typeface="Times New Roman" panose="02020603050405020304" pitchFamily="18" charset="0"/>
                <a:cs typeface="Times New Roman" panose="02020603050405020304" pitchFamily="18" charset="0"/>
              </a:rPr>
              <a:t>This part acts as the central cognitive hub of the agent, responsible for analyzing the experiences acquired from interactions with the surroundings. Through the use of different machine learning algorithms like</a:t>
            </a:r>
            <a:r>
              <a:rPr lang="en-US" sz="2400" b="0" i="0" u="sng" dirty="0">
                <a:solidFill>
                  <a:srgbClr val="273239"/>
                </a:solidFill>
                <a:effectLst/>
                <a:latin typeface="Times New Roman" panose="02020603050405020304" pitchFamily="18" charset="0"/>
                <a:cs typeface="Times New Roman" panose="02020603050405020304" pitchFamily="18" charset="0"/>
                <a:hlinkClick r:id="rId2"/>
              </a:rPr>
              <a:t> reinforcement learnin</a:t>
            </a:r>
            <a:r>
              <a:rPr lang="en-US" sz="2400" b="0" i="0" dirty="0">
                <a:solidFill>
                  <a:srgbClr val="273239"/>
                </a:solidFill>
                <a:effectLst/>
                <a:latin typeface="Times New Roman" panose="02020603050405020304" pitchFamily="18" charset="0"/>
                <a:cs typeface="Times New Roman" panose="02020603050405020304" pitchFamily="18" charset="0"/>
              </a:rPr>
              <a:t>g or</a:t>
            </a:r>
            <a:r>
              <a:rPr lang="en-US" sz="2400" b="0" i="0" u="sng" dirty="0">
                <a:solidFill>
                  <a:srgbClr val="273239"/>
                </a:solidFill>
                <a:effectLst/>
                <a:latin typeface="Times New Roman" panose="02020603050405020304" pitchFamily="18" charset="0"/>
                <a:cs typeface="Times New Roman" panose="02020603050405020304" pitchFamily="18" charset="0"/>
                <a:hlinkClick r:id="rId3"/>
              </a:rPr>
              <a:t> supervised learning</a:t>
            </a:r>
            <a:r>
              <a:rPr lang="en-US" sz="2400" b="0" i="0" dirty="0">
                <a:solidFill>
                  <a:srgbClr val="273239"/>
                </a:solidFill>
                <a:effectLst/>
                <a:latin typeface="Times New Roman" panose="02020603050405020304" pitchFamily="18" charset="0"/>
                <a:cs typeface="Times New Roman" panose="02020603050405020304" pitchFamily="18" charset="0"/>
              </a:rPr>
              <a:t>, the learning component consistently updates the agent's internal model or knowledge base, consequently improving its decision-making abilities.</a:t>
            </a:r>
          </a:p>
          <a:p>
            <a:pPr algn="just"/>
            <a:endParaRPr lang="en-US" sz="2800" b="0" i="0" dirty="0">
              <a:solidFill>
                <a:srgbClr val="273239"/>
              </a:solidFill>
              <a:effectLst/>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92084676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72637-C1E3-E0FE-C8C6-3CD2800B61E2}"/>
              </a:ext>
            </a:extLst>
          </p:cNvPr>
          <p:cNvSpPr>
            <a:spLocks noGrp="1"/>
          </p:cNvSpPr>
          <p:nvPr>
            <p:ph type="title"/>
          </p:nvPr>
        </p:nvSpPr>
        <p:spPr>
          <a:xfrm>
            <a:off x="982662" y="1688198"/>
            <a:ext cx="7908951" cy="507831"/>
          </a:xfrm>
        </p:spPr>
        <p:txBody>
          <a:bodyPr/>
          <a:lstStyle/>
          <a:p>
            <a:r>
              <a:rPr lang="en-US" b="1" i="0" dirty="0">
                <a:solidFill>
                  <a:srgbClr val="273239"/>
                </a:solidFill>
                <a:effectLst/>
                <a:latin typeface="Nunito" pitchFamily="2" charset="0"/>
              </a:rPr>
              <a:t>Performance Element:</a:t>
            </a:r>
            <a:r>
              <a:rPr lang="en-US" b="0" i="0" dirty="0">
                <a:solidFill>
                  <a:srgbClr val="273239"/>
                </a:solidFill>
                <a:effectLst/>
                <a:latin typeface="Nunito" pitchFamily="2" charset="0"/>
              </a:rPr>
              <a:t> </a:t>
            </a:r>
            <a:endParaRPr lang="en-US" dirty="0"/>
          </a:p>
        </p:txBody>
      </p:sp>
      <p:sp>
        <p:nvSpPr>
          <p:cNvPr id="3" name="Text Placeholder 2">
            <a:extLst>
              <a:ext uri="{FF2B5EF4-FFF2-40B4-BE49-F238E27FC236}">
                <a16:creationId xmlns:a16="http://schemas.microsoft.com/office/drawing/2014/main" id="{636EB614-2F5A-9D77-A4F2-E77FAF4562CA}"/>
              </a:ext>
            </a:extLst>
          </p:cNvPr>
          <p:cNvSpPr>
            <a:spLocks noGrp="1"/>
          </p:cNvSpPr>
          <p:nvPr>
            <p:ph type="body" idx="1"/>
          </p:nvPr>
        </p:nvSpPr>
        <p:spPr>
          <a:xfrm>
            <a:off x="959878" y="2326702"/>
            <a:ext cx="8138642" cy="3539430"/>
          </a:xfrm>
        </p:spPr>
        <p:txBody>
          <a:bodyPr/>
          <a:lstStyle/>
          <a:p>
            <a:pPr algn="l"/>
            <a:r>
              <a:rPr lang="en-US" b="0" i="0" dirty="0">
                <a:solidFill>
                  <a:srgbClr val="273239"/>
                </a:solidFill>
                <a:effectLst/>
                <a:latin typeface="Nunito" pitchFamily="2" charset="0"/>
              </a:rPr>
              <a:t>The performance element requires the learning element and critic feedback so as to manage the agent's activities in an environment. In selecting those actions that are most likely to help it achieve its goals, the performance element takes the agent to the best possible outcomes.</a:t>
            </a:r>
          </a:p>
          <a:p>
            <a:pPr algn="l"/>
            <a:endParaRPr lang="en-US" b="0" i="0" dirty="0">
              <a:solidFill>
                <a:srgbClr val="273239"/>
              </a:solidFill>
              <a:effectLst/>
              <a:latin typeface="Nunito" pitchFamily="2" charset="0"/>
            </a:endParaRPr>
          </a:p>
          <a:p>
            <a:pPr algn="l"/>
            <a:r>
              <a:rPr lang="en-US" sz="3200" b="1" i="0" dirty="0">
                <a:solidFill>
                  <a:srgbClr val="273239"/>
                </a:solidFill>
                <a:effectLst/>
                <a:latin typeface="Times New Roman" panose="02020603050405020304" pitchFamily="18" charset="0"/>
                <a:cs typeface="Times New Roman" panose="02020603050405020304" pitchFamily="18" charset="0"/>
              </a:rPr>
              <a:t>Problem Generator: </a:t>
            </a:r>
            <a:endParaRPr lang="en-US" sz="3200" b="1" dirty="0">
              <a:solidFill>
                <a:srgbClr val="273239"/>
              </a:solidFill>
              <a:latin typeface="Times New Roman" panose="02020603050405020304" pitchFamily="18" charset="0"/>
              <a:cs typeface="Times New Roman" panose="02020603050405020304" pitchFamily="18" charset="0"/>
            </a:endParaRPr>
          </a:p>
          <a:p>
            <a:pPr algn="l"/>
            <a:r>
              <a:rPr lang="en-US" b="0" i="0" dirty="0">
                <a:solidFill>
                  <a:srgbClr val="273239"/>
                </a:solidFill>
                <a:effectLst/>
                <a:latin typeface="Nunito" pitchFamily="2" charset="0"/>
              </a:rPr>
              <a:t>The problem generator is in charge of creating challenges or activities for the agent to complete. It consists of situations that require the agent to apply the knowledge and skills it has gained, hence improving ongoing learning and talent development.</a:t>
            </a:r>
          </a:p>
          <a:p>
            <a:pPr algn="l"/>
            <a:endParaRPr lang="en-US" b="0" i="0" dirty="0">
              <a:solidFill>
                <a:srgbClr val="273239"/>
              </a:solidFill>
              <a:effectLst/>
              <a:latin typeface="Nunito" pitchFamily="2" charset="0"/>
            </a:endParaRPr>
          </a:p>
          <a:p>
            <a:endParaRPr lang="en-US" dirty="0"/>
          </a:p>
        </p:txBody>
      </p:sp>
    </p:spTree>
    <p:extLst>
      <p:ext uri="{BB962C8B-B14F-4D97-AF65-F5344CB8AC3E}">
        <p14:creationId xmlns:p14="http://schemas.microsoft.com/office/powerpoint/2010/main" val="161713740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56008F6-F44D-F408-F7A1-BF7DBDA99B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2575" y="1447800"/>
            <a:ext cx="6953250" cy="4529137"/>
          </a:xfrm>
          <a:prstGeom prst="rect">
            <a:avLst/>
          </a:prstGeom>
        </p:spPr>
      </p:pic>
    </p:spTree>
    <p:extLst>
      <p:ext uri="{BB962C8B-B14F-4D97-AF65-F5344CB8AC3E}">
        <p14:creationId xmlns:p14="http://schemas.microsoft.com/office/powerpoint/2010/main" val="212120167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83959" y="1718515"/>
            <a:ext cx="7651115" cy="479425"/>
          </a:xfrm>
          <a:prstGeom prst="rect">
            <a:avLst/>
          </a:prstGeom>
        </p:spPr>
        <p:txBody>
          <a:bodyPr vert="horz" wrap="square" lIns="0" tIns="15875" rIns="0" bIns="0" rtlCol="0">
            <a:spAutoFit/>
          </a:bodyPr>
          <a:lstStyle/>
          <a:p>
            <a:pPr marL="12700">
              <a:lnSpc>
                <a:spcPct val="100000"/>
              </a:lnSpc>
              <a:spcBef>
                <a:spcPts val="125"/>
              </a:spcBef>
            </a:pPr>
            <a:r>
              <a:rPr sz="2950" spc="-80" dirty="0"/>
              <a:t>Top</a:t>
            </a:r>
            <a:r>
              <a:rPr sz="2950" spc="-145" dirty="0"/>
              <a:t> </a:t>
            </a:r>
            <a:r>
              <a:rPr sz="2950" dirty="0"/>
              <a:t>10</a:t>
            </a:r>
            <a:r>
              <a:rPr sz="2950" spc="-210" dirty="0"/>
              <a:t> </a:t>
            </a:r>
            <a:r>
              <a:rPr sz="2950" spc="-180" dirty="0"/>
              <a:t>AI </a:t>
            </a:r>
            <a:r>
              <a:rPr sz="2950" spc="50" dirty="0"/>
              <a:t>Apps</a:t>
            </a:r>
            <a:r>
              <a:rPr sz="2950" spc="-155" dirty="0"/>
              <a:t> </a:t>
            </a:r>
            <a:r>
              <a:rPr sz="2950" dirty="0"/>
              <a:t>for</a:t>
            </a:r>
            <a:r>
              <a:rPr sz="2950" spc="-130" dirty="0"/>
              <a:t> </a:t>
            </a:r>
            <a:r>
              <a:rPr sz="2950" spc="-55" dirty="0"/>
              <a:t>Healthcare</a:t>
            </a:r>
            <a:r>
              <a:rPr sz="2950" spc="-160" dirty="0"/>
              <a:t> </a:t>
            </a:r>
            <a:r>
              <a:rPr sz="2950" dirty="0"/>
              <a:t>and</a:t>
            </a:r>
            <a:r>
              <a:rPr sz="2950" spc="-130" dirty="0"/>
              <a:t> </a:t>
            </a:r>
            <a:r>
              <a:rPr sz="2950" spc="-30" dirty="0"/>
              <a:t>Fitness</a:t>
            </a:r>
            <a:endParaRPr sz="2950"/>
          </a:p>
        </p:txBody>
      </p:sp>
      <p:pic>
        <p:nvPicPr>
          <p:cNvPr id="3" name="object 3"/>
          <p:cNvPicPr/>
          <p:nvPr/>
        </p:nvPicPr>
        <p:blipFill>
          <a:blip r:embed="rId2" cstate="print"/>
          <a:stretch>
            <a:fillRect/>
          </a:stretch>
        </p:blipFill>
        <p:spPr>
          <a:xfrm>
            <a:off x="6412991" y="2898648"/>
            <a:ext cx="1269491" cy="1271015"/>
          </a:xfrm>
          <a:prstGeom prst="rect">
            <a:avLst/>
          </a:prstGeom>
        </p:spPr>
      </p:pic>
      <p:grpSp>
        <p:nvGrpSpPr>
          <p:cNvPr id="4" name="object 4"/>
          <p:cNvGrpSpPr/>
          <p:nvPr/>
        </p:nvGrpSpPr>
        <p:grpSpPr>
          <a:xfrm>
            <a:off x="85343" y="2484120"/>
            <a:ext cx="6860540" cy="3138170"/>
            <a:chOff x="85343" y="2484120"/>
            <a:chExt cx="6860540" cy="3138170"/>
          </a:xfrm>
        </p:grpSpPr>
        <p:pic>
          <p:nvPicPr>
            <p:cNvPr id="5" name="object 5"/>
            <p:cNvPicPr/>
            <p:nvPr/>
          </p:nvPicPr>
          <p:blipFill>
            <a:blip r:embed="rId3" cstate="print"/>
            <a:stretch>
              <a:fillRect/>
            </a:stretch>
          </p:blipFill>
          <p:spPr>
            <a:xfrm>
              <a:off x="85343" y="2484120"/>
              <a:ext cx="2026920" cy="2026919"/>
            </a:xfrm>
            <a:prstGeom prst="rect">
              <a:avLst/>
            </a:prstGeom>
          </p:spPr>
        </p:pic>
        <p:pic>
          <p:nvPicPr>
            <p:cNvPr id="6" name="object 6"/>
            <p:cNvPicPr/>
            <p:nvPr/>
          </p:nvPicPr>
          <p:blipFill>
            <a:blip r:embed="rId4" cstate="print"/>
            <a:stretch>
              <a:fillRect/>
            </a:stretch>
          </p:blipFill>
          <p:spPr>
            <a:xfrm>
              <a:off x="2107692" y="2987040"/>
              <a:ext cx="2037587" cy="1179576"/>
            </a:xfrm>
            <a:prstGeom prst="rect">
              <a:avLst/>
            </a:prstGeom>
          </p:spPr>
        </p:pic>
        <p:pic>
          <p:nvPicPr>
            <p:cNvPr id="7" name="object 7"/>
            <p:cNvPicPr/>
            <p:nvPr/>
          </p:nvPicPr>
          <p:blipFill>
            <a:blip r:embed="rId5" cstate="print"/>
            <a:stretch>
              <a:fillRect/>
            </a:stretch>
          </p:blipFill>
          <p:spPr>
            <a:xfrm>
              <a:off x="4139184" y="2898648"/>
              <a:ext cx="2150364" cy="1357884"/>
            </a:xfrm>
            <a:prstGeom prst="rect">
              <a:avLst/>
            </a:prstGeom>
          </p:spPr>
        </p:pic>
        <p:pic>
          <p:nvPicPr>
            <p:cNvPr id="8" name="object 8"/>
            <p:cNvPicPr/>
            <p:nvPr/>
          </p:nvPicPr>
          <p:blipFill>
            <a:blip r:embed="rId6" cstate="print"/>
            <a:stretch>
              <a:fillRect/>
            </a:stretch>
          </p:blipFill>
          <p:spPr>
            <a:xfrm>
              <a:off x="300227" y="4364736"/>
              <a:ext cx="3197352" cy="973836"/>
            </a:xfrm>
            <a:prstGeom prst="rect">
              <a:avLst/>
            </a:prstGeom>
          </p:spPr>
        </p:pic>
        <p:pic>
          <p:nvPicPr>
            <p:cNvPr id="9" name="object 9"/>
            <p:cNvPicPr/>
            <p:nvPr/>
          </p:nvPicPr>
          <p:blipFill>
            <a:blip r:embed="rId7" cstate="print"/>
            <a:stretch>
              <a:fillRect/>
            </a:stretch>
          </p:blipFill>
          <p:spPr>
            <a:xfrm>
              <a:off x="3764828" y="4567827"/>
              <a:ext cx="1514246" cy="605101"/>
            </a:xfrm>
            <a:prstGeom prst="rect">
              <a:avLst/>
            </a:prstGeom>
          </p:spPr>
        </p:pic>
        <p:pic>
          <p:nvPicPr>
            <p:cNvPr id="10" name="object 10"/>
            <p:cNvPicPr/>
            <p:nvPr/>
          </p:nvPicPr>
          <p:blipFill>
            <a:blip r:embed="rId8" cstate="print"/>
            <a:stretch>
              <a:fillRect/>
            </a:stretch>
          </p:blipFill>
          <p:spPr>
            <a:xfrm>
              <a:off x="5682996" y="4358640"/>
              <a:ext cx="1262291" cy="1263396"/>
            </a:xfrm>
            <a:prstGeom prst="rect">
              <a:avLst/>
            </a:prstGeom>
          </p:spPr>
        </p:pic>
      </p:grpSp>
      <p:pic>
        <p:nvPicPr>
          <p:cNvPr id="11" name="object 11"/>
          <p:cNvPicPr/>
          <p:nvPr/>
        </p:nvPicPr>
        <p:blipFill>
          <a:blip r:embed="rId9" cstate="print"/>
          <a:stretch>
            <a:fillRect/>
          </a:stretch>
        </p:blipFill>
        <p:spPr>
          <a:xfrm>
            <a:off x="8077200" y="2878835"/>
            <a:ext cx="1728216" cy="1313688"/>
          </a:xfrm>
          <a:prstGeom prst="rect">
            <a:avLst/>
          </a:prstGeom>
        </p:spPr>
      </p:pic>
      <p:pic>
        <p:nvPicPr>
          <p:cNvPr id="12" name="object 12"/>
          <p:cNvPicPr/>
          <p:nvPr/>
        </p:nvPicPr>
        <p:blipFill>
          <a:blip r:embed="rId10" cstate="print"/>
          <a:stretch>
            <a:fillRect/>
          </a:stretch>
        </p:blipFill>
        <p:spPr>
          <a:xfrm>
            <a:off x="7124700" y="4364735"/>
            <a:ext cx="2435352" cy="1280159"/>
          </a:xfrm>
          <a:prstGeom prst="rect">
            <a:avLst/>
          </a:prstGeom>
        </p:spPr>
      </p:pic>
      <p:pic>
        <p:nvPicPr>
          <p:cNvPr id="13" name="object 13"/>
          <p:cNvPicPr/>
          <p:nvPr/>
        </p:nvPicPr>
        <p:blipFill>
          <a:blip r:embed="rId11" cstate="print"/>
          <a:stretch>
            <a:fillRect/>
          </a:stretch>
        </p:blipFill>
        <p:spPr>
          <a:xfrm>
            <a:off x="3446577" y="5758539"/>
            <a:ext cx="1496189" cy="46557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723</TotalTime>
  <Words>3368</Words>
  <Application>Microsoft Office PowerPoint</Application>
  <PresentationFormat>Custom</PresentationFormat>
  <Paragraphs>539</Paragraphs>
  <Slides>53</Slides>
  <Notes>7</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53</vt:i4>
      </vt:variant>
    </vt:vector>
  </HeadingPairs>
  <TitlesOfParts>
    <vt:vector size="64" baseType="lpstr">
      <vt:lpstr>Arial MT</vt:lpstr>
      <vt:lpstr>Calibri</vt:lpstr>
      <vt:lpstr>Cambria</vt:lpstr>
      <vt:lpstr>Google Sans</vt:lpstr>
      <vt:lpstr>Monotype Corsiva</vt:lpstr>
      <vt:lpstr>Nunito</vt:lpstr>
      <vt:lpstr>Tahoma</vt:lpstr>
      <vt:lpstr>Times New Roman</vt:lpstr>
      <vt:lpstr>Verdana</vt:lpstr>
      <vt:lpstr>Wingdings</vt:lpstr>
      <vt:lpstr>Office Theme</vt:lpstr>
      <vt:lpstr>Artificial Intelligence</vt:lpstr>
      <vt:lpstr>Reinforcement learning </vt:lpstr>
      <vt:lpstr>PowerPoint Presentation</vt:lpstr>
      <vt:lpstr>PowerPoint Presentation</vt:lpstr>
      <vt:lpstr>PowerPoint Presentation</vt:lpstr>
      <vt:lpstr>PowerPoint Presentation</vt:lpstr>
      <vt:lpstr>Intelligent Agents:</vt:lpstr>
      <vt:lpstr>Rational agents</vt:lpstr>
      <vt:lpstr>PowerPoint Presentation</vt:lpstr>
      <vt:lpstr>PowerPoint Presentation</vt:lpstr>
      <vt:lpstr>PowerPoint Presentation</vt:lpstr>
      <vt:lpstr>PowerPoint Presentation</vt:lpstr>
      <vt:lpstr>PowerPoint Presentation</vt:lpstr>
      <vt:lpstr>PowerPoint Presentation</vt:lpstr>
      <vt:lpstr>1. Fully observable vs Partially Observable:</vt:lpstr>
      <vt:lpstr>1. Fully observable vs Partially Observable:</vt:lpstr>
      <vt:lpstr>PowerPoint Presentation</vt:lpstr>
      <vt:lpstr>PowerPoint Presentation</vt:lpstr>
      <vt:lpstr>PowerPoint Presentation</vt:lpstr>
      <vt:lpstr>PowerPoint Presentation</vt:lpstr>
      <vt:lpstr>PowerPoint Presentation</vt:lpstr>
      <vt:lpstr>PowerPoint Presentation</vt:lpstr>
      <vt:lpstr>. How Agents should Act? (Cont…)</vt:lpstr>
      <vt:lpstr> How Agents should Act?(Cont…)</vt:lpstr>
      <vt:lpstr>. How Agents should Act?    (Cont…)</vt:lpstr>
      <vt:lpstr> How Agents should Act?   (Cont…)</vt:lpstr>
      <vt:lpstr>How Agents should Act? (Cont…)</vt:lpstr>
      <vt:lpstr>How Agents should Act?(Cont…)</vt:lpstr>
      <vt:lpstr> How Agents should Act?  cont…)</vt:lpstr>
      <vt:lpstr> How Agents should Act?</vt:lpstr>
      <vt:lpstr>How Agents should Act? </vt:lpstr>
      <vt:lpstr>2. How Agents should Act? </vt:lpstr>
      <vt:lpstr>Types of AI Agents</vt:lpstr>
      <vt:lpstr>PowerPoint Presentation</vt:lpstr>
      <vt:lpstr>PowerPoint Presentation</vt:lpstr>
      <vt:lpstr>1. Simple Reflex agent:</vt:lpstr>
      <vt:lpstr>PowerPoint Presentation</vt:lpstr>
      <vt:lpstr>Waymo</vt:lpstr>
      <vt:lpstr>PowerPoint Presentation</vt:lpstr>
      <vt:lpstr>2. Model-based reflex agent</vt:lpstr>
      <vt:lpstr>PowerPoint Presentation</vt:lpstr>
      <vt:lpstr>Alibaba G+ robot</vt:lpstr>
      <vt:lpstr>PowerPoint Presentation</vt:lpstr>
      <vt:lpstr>3. Goal-based agents</vt:lpstr>
      <vt:lpstr>PowerPoint Presentation</vt:lpstr>
      <vt:lpstr>PowerPoint Presentation</vt:lpstr>
      <vt:lpstr>4. Utility-based agents</vt:lpstr>
      <vt:lpstr>PowerPoint Presentation</vt:lpstr>
      <vt:lpstr>PowerPoint Presentation</vt:lpstr>
      <vt:lpstr>Critic:</vt:lpstr>
      <vt:lpstr>Performance Element: </vt:lpstr>
      <vt:lpstr>PowerPoint Presentation</vt:lpstr>
      <vt:lpstr>Top 10 AI Apps for Healthcare and Fitness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Intelligence</dc:title>
  <cp:lastModifiedBy>anwar khan</cp:lastModifiedBy>
  <cp:revision>51</cp:revision>
  <dcterms:created xsi:type="dcterms:W3CDTF">2025-02-24T05:53:12Z</dcterms:created>
  <dcterms:modified xsi:type="dcterms:W3CDTF">2025-10-22T08:53:53Z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2024-03-26T00:00:00Z</vt:filetime>
  </property>
  <property fmtid="{D5CDD505-2E9C-101B-9397-08002B2CF9AE}" pid="3" name="LastSaved">
    <vt:filetime>2025-02-24T00:00:00Z</vt:filetime>
  </property>
  <property fmtid="{D5CDD505-2E9C-101B-9397-08002B2CF9AE}" pid="4" name="Producer">
    <vt:lpwstr>Foxit Reader PDF Printer Version 9.7.0.2220</vt:lpwstr>
  </property>
</Properties>
</file>