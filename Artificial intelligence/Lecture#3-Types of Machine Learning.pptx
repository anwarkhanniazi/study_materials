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37"/>
  </p:notesMasterIdLst>
  <p:sldIdLst>
    <p:sldId id="256" r:id="rId2"/>
    <p:sldId id="282" r:id="rId3"/>
    <p:sldId id="260" r:id="rId4"/>
    <p:sldId id="283" r:id="rId5"/>
    <p:sldId id="261" r:id="rId6"/>
    <p:sldId id="284" r:id="rId7"/>
    <p:sldId id="285" r:id="rId8"/>
    <p:sldId id="286" r:id="rId9"/>
    <p:sldId id="287" r:id="rId10"/>
    <p:sldId id="293" r:id="rId11"/>
    <p:sldId id="289" r:id="rId12"/>
    <p:sldId id="290" r:id="rId13"/>
    <p:sldId id="297" r:id="rId14"/>
    <p:sldId id="291" r:id="rId15"/>
    <p:sldId id="292" r:id="rId16"/>
    <p:sldId id="288" r:id="rId17"/>
    <p:sldId id="262" r:id="rId18"/>
    <p:sldId id="263" r:id="rId19"/>
    <p:sldId id="264" r:id="rId20"/>
    <p:sldId id="265" r:id="rId21"/>
    <p:sldId id="266" r:id="rId22"/>
    <p:sldId id="267" r:id="rId23"/>
    <p:sldId id="270" r:id="rId24"/>
    <p:sldId id="294" r:id="rId25"/>
    <p:sldId id="295" r:id="rId26"/>
    <p:sldId id="296" r:id="rId27"/>
    <p:sldId id="272" r:id="rId28"/>
    <p:sldId id="273" r:id="rId29"/>
    <p:sldId id="274" r:id="rId30"/>
    <p:sldId id="275" r:id="rId31"/>
    <p:sldId id="276" r:id="rId32"/>
    <p:sldId id="277" r:id="rId33"/>
    <p:sldId id="279" r:id="rId34"/>
    <p:sldId id="280" r:id="rId35"/>
    <p:sldId id="281" r:id="rId3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80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EA99D7-BF42-4D77-B146-F76D7E105E33}" type="datetimeFigureOut">
              <a:rPr lang="en-US" smtClean="0"/>
              <a:t>10/16/2025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D789F583-2B2B-4DA6-9C03-368E48DC1546}" type="slidenum">
              <a:rPr lang="en-US" smtClean="0"/>
              <a:t>‹#›</a:t>
            </a:fld>
            <a:endParaRPr lang="en-US"/>
          </a:p>
        </p:txBody>
      </p:sp>
    </p:spTree>
    <p:extLst>
      <p:ext uri="{BB962C8B-B14F-4D97-AF65-F5344CB8AC3E}">
        <p14:creationId xmlns:p14="http://schemas.microsoft.com/office/powerpoint/2010/main" val="10923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err="1">
                <a:solidFill>
                  <a:schemeClr val="tx1"/>
                </a:solidFill>
                <a:effectLst/>
                <a:latin typeface="+mn-lt"/>
                <a:ea typeface="+mn-ea"/>
                <a:cs typeface="+mn-cs"/>
              </a:rPr>
              <a:t>Zomato</a:t>
            </a:r>
            <a:r>
              <a:rPr lang="en-US" sz="1200" b="0"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Swiggy</a:t>
            </a:r>
            <a:endParaRPr lang="en-US" dirty="0"/>
          </a:p>
        </p:txBody>
      </p:sp>
      <p:sp>
        <p:nvSpPr>
          <p:cNvPr id="4" name="Slide Number Placeholder 3"/>
          <p:cNvSpPr>
            <a:spLocks noGrp="1"/>
          </p:cNvSpPr>
          <p:nvPr>
            <p:ph type="sldNum" sz="quarter" idx="10"/>
          </p:nvPr>
        </p:nvSpPr>
        <p:spPr/>
        <p:txBody>
          <a:bodyPr/>
          <a:lstStyle/>
          <a:p>
            <a:fld id="{D789F583-2B2B-4DA6-9C03-368E48DC1546}" type="slidenum">
              <a:rPr lang="en-US" smtClean="0"/>
              <a:t>12</a:t>
            </a:fld>
            <a:endParaRPr lang="en-US"/>
          </a:p>
        </p:txBody>
      </p:sp>
    </p:spTree>
    <p:extLst>
      <p:ext uri="{BB962C8B-B14F-4D97-AF65-F5344CB8AC3E}">
        <p14:creationId xmlns:p14="http://schemas.microsoft.com/office/powerpoint/2010/main" val="2204512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0" i="0" kern="1200" dirty="0">
                <a:solidFill>
                  <a:schemeClr val="tx1"/>
                </a:solidFill>
                <a:effectLst/>
                <a:latin typeface="+mn-lt"/>
                <a:ea typeface="+mn-ea"/>
                <a:cs typeface="+mn-cs"/>
              </a:rPr>
              <a:t>Parameters are internal to the model (e.g., weights and biases), and their values are estimated from the data. Hyperparameters are external and define the model's architecture or how it learns (e.g., the learning rate, number of layers, or the number of trees in a random forest). </a:t>
            </a:r>
          </a:p>
          <a:p>
            <a:r>
              <a:rPr lang="en-US" sz="1200" b="0" i="0" kern="1200" dirty="0">
                <a:solidFill>
                  <a:schemeClr val="tx1"/>
                </a:solidFill>
                <a:effectLst/>
                <a:latin typeface="+mn-lt"/>
                <a:ea typeface="+mn-ea"/>
                <a:cs typeface="+mn-cs"/>
              </a:rPr>
              <a:t>Parameters</a:t>
            </a:r>
          </a:p>
          <a:p>
            <a:endParaRPr lang="en-US" dirty="0"/>
          </a:p>
        </p:txBody>
      </p:sp>
      <p:sp>
        <p:nvSpPr>
          <p:cNvPr id="4" name="Slide Number Placeholder 3"/>
          <p:cNvSpPr>
            <a:spLocks noGrp="1"/>
          </p:cNvSpPr>
          <p:nvPr>
            <p:ph type="sldNum" sz="quarter" idx="5"/>
          </p:nvPr>
        </p:nvSpPr>
        <p:spPr/>
        <p:txBody>
          <a:bodyPr/>
          <a:lstStyle/>
          <a:p>
            <a:fld id="{D789F583-2B2B-4DA6-9C03-368E48DC1546}" type="slidenum">
              <a:rPr lang="en-US" smtClean="0"/>
              <a:t>34</a:t>
            </a:fld>
            <a:endParaRPr lang="en-US"/>
          </a:p>
        </p:txBody>
      </p:sp>
    </p:spTree>
    <p:extLst>
      <p:ext uri="{BB962C8B-B14F-4D97-AF65-F5344CB8AC3E}">
        <p14:creationId xmlns:p14="http://schemas.microsoft.com/office/powerpoint/2010/main" val="1406719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05878-1A7F-6232-0811-01A614C3E6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FB4102-D29D-9B14-D3C5-5EBA25CC0D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8C2344-760C-C67C-B36A-C35B3F2AE48C}"/>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5" name="Footer Placeholder 4">
            <a:extLst>
              <a:ext uri="{FF2B5EF4-FFF2-40B4-BE49-F238E27FC236}">
                <a16:creationId xmlns:a16="http://schemas.microsoft.com/office/drawing/2014/main" id="{E0350345-195A-3452-39BF-A48945CFBD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87D4B7-5EEC-8A78-58B0-AB283CF401E0}"/>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733355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95DFC-BB50-D74D-AEFE-10BDFF61DC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451B70-07CB-1088-A2A3-098CD47A6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7E53A-AEF0-D81D-F39A-0DAEF420EBBA}"/>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5" name="Footer Placeholder 4">
            <a:extLst>
              <a:ext uri="{FF2B5EF4-FFF2-40B4-BE49-F238E27FC236}">
                <a16:creationId xmlns:a16="http://schemas.microsoft.com/office/drawing/2014/main" id="{C875622B-A4E4-06FA-EEE8-1661788D10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273E88-F4B1-197B-341E-56AC8081C4AD}"/>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96638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F0D79-DE10-3674-4E13-5FEFBACC5C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A61B9D-391C-A50A-A29B-01823E3C3A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3F3E1A-8ADA-5572-9103-67C4D9EE20FF}"/>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5" name="Footer Placeholder 4">
            <a:extLst>
              <a:ext uri="{FF2B5EF4-FFF2-40B4-BE49-F238E27FC236}">
                <a16:creationId xmlns:a16="http://schemas.microsoft.com/office/drawing/2014/main" id="{00BB519F-A8D5-D0D4-EC0C-86402AD07A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D92AFE-AEFD-BFC0-9BE9-10B885655F41}"/>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237000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0C54B-3679-B438-E172-345EEBBCD2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8FF6FC-D9DE-E391-F14C-29EA2F5E24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E236A6-5729-5317-E3E4-1162551F50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3087F4-7835-4074-7F4A-4DEDBBDED8A5}"/>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6" name="Footer Placeholder 5">
            <a:extLst>
              <a:ext uri="{FF2B5EF4-FFF2-40B4-BE49-F238E27FC236}">
                <a16:creationId xmlns:a16="http://schemas.microsoft.com/office/drawing/2014/main" id="{B586709A-4495-0649-3DF5-153BD6BCA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596372-2718-9517-5DE5-16B1EF2E8F92}"/>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746801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43B26-60A8-50B6-DD02-4DA59A15C8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FACB7F-FF7A-16DC-E248-CC1A8076B7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428A43-EB2C-4190-42F6-32329B77C1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24FE4B-54DB-A7EB-978A-20EBBD4643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D776EC-E0F0-846B-87FB-F2263E0CA4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DFEFB6-AD4F-8E5D-E08F-7073EE523600}"/>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8" name="Footer Placeholder 7">
            <a:extLst>
              <a:ext uri="{FF2B5EF4-FFF2-40B4-BE49-F238E27FC236}">
                <a16:creationId xmlns:a16="http://schemas.microsoft.com/office/drawing/2014/main" id="{C9972996-5CE9-C0EF-C091-BE80288586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908ED5-2631-2A71-BD5F-32EF160802F0}"/>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64195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2AD61-C5BE-D658-FAD9-8F1E94E995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76418D-BAEF-F835-5920-206B4E8FED20}"/>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4" name="Footer Placeholder 3">
            <a:extLst>
              <a:ext uri="{FF2B5EF4-FFF2-40B4-BE49-F238E27FC236}">
                <a16:creationId xmlns:a16="http://schemas.microsoft.com/office/drawing/2014/main" id="{60740334-01FC-660D-ECF4-14234DE9DA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209B16-B863-36D8-9971-6E40AE11E797}"/>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2517459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5C59AD-551A-1A17-C8FB-5D79D7570057}"/>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3" name="Footer Placeholder 2">
            <a:extLst>
              <a:ext uri="{FF2B5EF4-FFF2-40B4-BE49-F238E27FC236}">
                <a16:creationId xmlns:a16="http://schemas.microsoft.com/office/drawing/2014/main" id="{82C60D33-692B-06EF-9442-A46161E8D4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C912D1-1AB0-19E9-2464-E6F38B052435}"/>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68409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8C71-A47F-E02C-D51B-566A45DBA8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236504-41E6-9AC5-D0C4-A6936228D6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3D48B7-922D-C51D-47D2-BDCDB89A00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198516-996B-F7CA-C3C4-0D2F354284EA}"/>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6" name="Footer Placeholder 5">
            <a:extLst>
              <a:ext uri="{FF2B5EF4-FFF2-40B4-BE49-F238E27FC236}">
                <a16:creationId xmlns:a16="http://schemas.microsoft.com/office/drawing/2014/main" id="{9A60E721-1105-C726-0C83-4EEDFF9491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4E9D35-067E-8245-7DA5-78AA9C1B5D75}"/>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29903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DE06F-EFB3-69F1-58C6-660F4A2540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E2AFCB-0EC3-F0F3-5FE9-12E569C5A3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CAFB0E5-0E04-9221-ECB3-9C3ABF0E87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5AB024-EA80-86D6-F459-CFF62EB63661}"/>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6" name="Footer Placeholder 5">
            <a:extLst>
              <a:ext uri="{FF2B5EF4-FFF2-40B4-BE49-F238E27FC236}">
                <a16:creationId xmlns:a16="http://schemas.microsoft.com/office/drawing/2014/main" id="{90F884CB-1291-24CB-7D38-E745DDA5E6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D192EC-2DEA-D115-985F-D925E82C42D7}"/>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477230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AD409-193A-7AF6-8564-96CF60D0D3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C295E1A-A8D5-6B8E-AF5D-96A108B3A0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13C3C4-5AD7-03C1-6229-053CBFEBCBDB}"/>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5" name="Footer Placeholder 4">
            <a:extLst>
              <a:ext uri="{FF2B5EF4-FFF2-40B4-BE49-F238E27FC236}">
                <a16:creationId xmlns:a16="http://schemas.microsoft.com/office/drawing/2014/main" id="{56707F64-9863-5AAE-CA28-93B6ACA7A2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BADC1D-A77A-70E8-AF8A-230B52718560}"/>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861416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EBB471-117A-7798-3D2B-AB77896C7D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FB5321-1D68-BB4F-707F-A27C4EF4F5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2571B7-7B56-7622-78E2-73E06FE8C7D0}"/>
              </a:ext>
            </a:extLst>
          </p:cNvPr>
          <p:cNvSpPr>
            <a:spLocks noGrp="1"/>
          </p:cNvSpPr>
          <p:nvPr>
            <p:ph type="dt" sz="half" idx="10"/>
          </p:nvPr>
        </p:nvSpPr>
        <p:spPr/>
        <p:txBody>
          <a:bodyPr/>
          <a:lstStyle/>
          <a:p>
            <a:fld id="{1D8BD707-D9CF-40AE-B4C6-C98DA3205C09}" type="datetimeFigureOut">
              <a:rPr lang="en-US" smtClean="0"/>
              <a:t>10/16/2025</a:t>
            </a:fld>
            <a:endParaRPr lang="en-US"/>
          </a:p>
        </p:txBody>
      </p:sp>
      <p:sp>
        <p:nvSpPr>
          <p:cNvPr id="5" name="Footer Placeholder 4">
            <a:extLst>
              <a:ext uri="{FF2B5EF4-FFF2-40B4-BE49-F238E27FC236}">
                <a16:creationId xmlns:a16="http://schemas.microsoft.com/office/drawing/2014/main" id="{4B072DF1-E3E7-9BC8-1D24-0C1592C8E8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705FAB-8707-33D0-7C5D-1001C57C7486}"/>
              </a:ext>
            </a:extLst>
          </p:cNvPr>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145487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4D0D7D-285A-2A32-6FE7-A01EADCE25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6EC67E-2C2C-2E9D-0CE3-97FC545C32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DCBED5-FDB5-686A-01C2-809B7194D9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8BD707-D9CF-40AE-B4C6-C98DA3205C09}" type="datetimeFigureOut">
              <a:rPr lang="en-US" smtClean="0"/>
              <a:t>10/16/2025</a:t>
            </a:fld>
            <a:endParaRPr lang="en-US"/>
          </a:p>
        </p:txBody>
      </p:sp>
      <p:sp>
        <p:nvSpPr>
          <p:cNvPr id="5" name="Footer Placeholder 4">
            <a:extLst>
              <a:ext uri="{FF2B5EF4-FFF2-40B4-BE49-F238E27FC236}">
                <a16:creationId xmlns:a16="http://schemas.microsoft.com/office/drawing/2014/main" id="{20B40DBE-66CB-858B-2C88-C21D163A0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DAC03EF-34D5-DE02-8E32-E96E3BE204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F15528-21DE-4FAA-801E-634DDDAF4B2B}" type="slidenum">
              <a:rPr lang="en-US" smtClean="0"/>
              <a:t>‹#›</a:t>
            </a:fld>
            <a:endParaRPr lang="en-US"/>
          </a:p>
        </p:txBody>
      </p:sp>
    </p:spTree>
    <p:extLst>
      <p:ext uri="{BB962C8B-B14F-4D97-AF65-F5344CB8AC3E}">
        <p14:creationId xmlns:p14="http://schemas.microsoft.com/office/powerpoint/2010/main" val="419486773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D0D0D"/>
          </a:solidFill>
        </p:spPr>
        <p:txBody>
          <a:bodyPr wrap="square" lIns="0" tIns="0" rIns="0" bIns="0" rtlCol="0"/>
          <a:lstStyle/>
          <a:p>
            <a:endParaRPr/>
          </a:p>
        </p:txBody>
      </p:sp>
      <p:grpSp>
        <p:nvGrpSpPr>
          <p:cNvPr id="3" name="object 3"/>
          <p:cNvGrpSpPr/>
          <p:nvPr/>
        </p:nvGrpSpPr>
        <p:grpSpPr>
          <a:xfrm>
            <a:off x="0" y="0"/>
            <a:ext cx="12192000" cy="6858000"/>
            <a:chOff x="0" y="0"/>
            <a:chExt cx="12192000" cy="6858000"/>
          </a:xfrm>
        </p:grpSpPr>
        <p:pic>
          <p:nvPicPr>
            <p:cNvPr id="4" name="object 4"/>
            <p:cNvPicPr/>
            <p:nvPr/>
          </p:nvPicPr>
          <p:blipFill>
            <a:blip r:embed="rId2" cstate="print"/>
            <a:stretch>
              <a:fillRect/>
            </a:stretch>
          </p:blipFill>
          <p:spPr>
            <a:xfrm>
              <a:off x="0" y="3047"/>
              <a:ext cx="8035543" cy="2671572"/>
            </a:xfrm>
            <a:prstGeom prst="rect">
              <a:avLst/>
            </a:prstGeom>
          </p:spPr>
        </p:pic>
        <p:pic>
          <p:nvPicPr>
            <p:cNvPr id="5" name="object 5"/>
            <p:cNvPicPr/>
            <p:nvPr/>
          </p:nvPicPr>
          <p:blipFill>
            <a:blip r:embed="rId3" cstate="print"/>
            <a:stretch>
              <a:fillRect/>
            </a:stretch>
          </p:blipFill>
          <p:spPr>
            <a:xfrm>
              <a:off x="6096" y="2353054"/>
              <a:ext cx="7328789" cy="4466082"/>
            </a:xfrm>
            <a:prstGeom prst="rect">
              <a:avLst/>
            </a:prstGeom>
          </p:spPr>
        </p:pic>
        <p:pic>
          <p:nvPicPr>
            <p:cNvPr id="6" name="object 6"/>
            <p:cNvPicPr/>
            <p:nvPr/>
          </p:nvPicPr>
          <p:blipFill>
            <a:blip r:embed="rId4" cstate="print"/>
            <a:stretch>
              <a:fillRect/>
            </a:stretch>
          </p:blipFill>
          <p:spPr>
            <a:xfrm>
              <a:off x="0" y="0"/>
              <a:ext cx="12192000" cy="6858000"/>
            </a:xfrm>
            <a:prstGeom prst="rect">
              <a:avLst/>
            </a:prstGeom>
          </p:spPr>
        </p:pic>
        <p:sp>
          <p:nvSpPr>
            <p:cNvPr id="7" name="object 7"/>
            <p:cNvSpPr/>
            <p:nvPr/>
          </p:nvSpPr>
          <p:spPr>
            <a:xfrm>
              <a:off x="380" y="2398395"/>
              <a:ext cx="11004550" cy="0"/>
            </a:xfrm>
            <a:custGeom>
              <a:avLst/>
              <a:gdLst/>
              <a:ahLst/>
              <a:cxnLst/>
              <a:rect l="l" t="t" r="r" b="b"/>
              <a:pathLst>
                <a:path w="11004550">
                  <a:moveTo>
                    <a:pt x="11004296" y="0"/>
                  </a:moveTo>
                  <a:lnTo>
                    <a:pt x="0" y="0"/>
                  </a:lnTo>
                </a:path>
              </a:pathLst>
            </a:custGeom>
            <a:ln w="12954">
              <a:solidFill>
                <a:srgbClr val="EC7C30"/>
              </a:solidFill>
            </a:ln>
          </p:spPr>
          <p:txBody>
            <a:bodyPr wrap="square" lIns="0" tIns="0" rIns="0" bIns="0" rtlCol="0"/>
            <a:lstStyle/>
            <a:p>
              <a:endParaRPr/>
            </a:p>
          </p:txBody>
        </p:sp>
      </p:grpSp>
      <p:sp>
        <p:nvSpPr>
          <p:cNvPr id="9" name="object 9"/>
          <p:cNvSpPr txBox="1">
            <a:spLocks noGrp="1"/>
          </p:cNvSpPr>
          <p:nvPr>
            <p:ph type="title"/>
          </p:nvPr>
        </p:nvSpPr>
        <p:spPr>
          <a:xfrm>
            <a:off x="7364983" y="53340"/>
            <a:ext cx="2844800" cy="474489"/>
          </a:xfrm>
          <a:prstGeom prst="rect">
            <a:avLst/>
          </a:prstGeom>
        </p:spPr>
        <p:txBody>
          <a:bodyPr vert="horz" wrap="square" lIns="0" tIns="12700" rIns="0" bIns="0" rtlCol="0">
            <a:spAutoFit/>
          </a:bodyPr>
          <a:lstStyle/>
          <a:p>
            <a:pPr algn="ctr">
              <a:lnSpc>
                <a:spcPts val="3565"/>
              </a:lnSpc>
              <a:spcBef>
                <a:spcPts val="100"/>
              </a:spcBef>
            </a:pPr>
            <a:r>
              <a:rPr sz="3000" dirty="0">
                <a:solidFill>
                  <a:srgbClr val="FFFFFF"/>
                </a:solidFill>
              </a:rPr>
              <a:t>Machine</a:t>
            </a:r>
            <a:r>
              <a:rPr sz="3000" spc="-35" dirty="0">
                <a:solidFill>
                  <a:srgbClr val="FFFFFF"/>
                </a:solidFill>
              </a:rPr>
              <a:t> </a:t>
            </a:r>
            <a:r>
              <a:rPr sz="3000" spc="-10" dirty="0">
                <a:solidFill>
                  <a:srgbClr val="FFFFFF"/>
                </a:solidFill>
              </a:rPr>
              <a:t>Learning</a:t>
            </a:r>
            <a:endParaRPr sz="3000" dirty="0"/>
          </a:p>
        </p:txBody>
      </p:sp>
      <p:sp>
        <p:nvSpPr>
          <p:cNvPr id="10" name="object 10"/>
          <p:cNvSpPr txBox="1"/>
          <p:nvPr/>
        </p:nvSpPr>
        <p:spPr>
          <a:xfrm>
            <a:off x="6995414" y="1044702"/>
            <a:ext cx="3583304" cy="596265"/>
          </a:xfrm>
          <a:prstGeom prst="rect">
            <a:avLst/>
          </a:prstGeom>
        </p:spPr>
        <p:txBody>
          <a:bodyPr vert="horz" wrap="square" lIns="0" tIns="113030" rIns="0" bIns="0" rtlCol="0">
            <a:spAutoFit/>
          </a:bodyPr>
          <a:lstStyle/>
          <a:p>
            <a:pPr marL="175260" marR="5080" indent="-163195">
              <a:lnSpc>
                <a:spcPct val="70000"/>
              </a:lnSpc>
              <a:spcBef>
                <a:spcPts val="890"/>
              </a:spcBef>
            </a:pPr>
            <a:r>
              <a:rPr sz="2200" b="1" dirty="0">
                <a:solidFill>
                  <a:srgbClr val="FFFFFF"/>
                </a:solidFill>
                <a:latin typeface="Calibri"/>
                <a:cs typeface="Calibri"/>
              </a:rPr>
              <a:t>Supervised</a:t>
            </a:r>
            <a:r>
              <a:rPr sz="2200" b="1" spc="-45" dirty="0">
                <a:solidFill>
                  <a:srgbClr val="FFFFFF"/>
                </a:solidFill>
                <a:latin typeface="Calibri"/>
                <a:cs typeface="Calibri"/>
              </a:rPr>
              <a:t> </a:t>
            </a:r>
            <a:r>
              <a:rPr sz="2200" b="1" dirty="0">
                <a:solidFill>
                  <a:srgbClr val="FFFFFF"/>
                </a:solidFill>
                <a:latin typeface="Calibri"/>
                <a:cs typeface="Calibri"/>
              </a:rPr>
              <a:t>Learning</a:t>
            </a:r>
            <a:r>
              <a:rPr sz="2200" b="1" spc="-40" dirty="0">
                <a:solidFill>
                  <a:srgbClr val="FFFFFF"/>
                </a:solidFill>
                <a:latin typeface="Calibri"/>
                <a:cs typeface="Calibri"/>
              </a:rPr>
              <a:t> </a:t>
            </a:r>
            <a:r>
              <a:rPr sz="2200" b="1" spc="-20" dirty="0">
                <a:solidFill>
                  <a:srgbClr val="FFFFFF"/>
                </a:solidFill>
                <a:latin typeface="Calibri"/>
                <a:cs typeface="Calibri"/>
              </a:rPr>
              <a:t>Overview, </a:t>
            </a:r>
            <a:r>
              <a:rPr sz="2200" b="1" dirty="0">
                <a:solidFill>
                  <a:srgbClr val="FFFFFF"/>
                </a:solidFill>
                <a:latin typeface="Calibri"/>
                <a:cs typeface="Calibri"/>
              </a:rPr>
              <a:t>Formulation,</a:t>
            </a:r>
            <a:r>
              <a:rPr sz="2200" b="1" spc="-60" dirty="0">
                <a:solidFill>
                  <a:srgbClr val="FFFFFF"/>
                </a:solidFill>
                <a:latin typeface="Calibri"/>
                <a:cs typeface="Calibri"/>
              </a:rPr>
              <a:t> </a:t>
            </a:r>
            <a:r>
              <a:rPr sz="2200" b="1" spc="-40" dirty="0">
                <a:solidFill>
                  <a:srgbClr val="FFFFFF"/>
                </a:solidFill>
                <a:latin typeface="Calibri"/>
                <a:cs typeface="Calibri"/>
              </a:rPr>
              <a:t>Train-</a:t>
            </a:r>
            <a:r>
              <a:rPr sz="2200" b="1" dirty="0">
                <a:solidFill>
                  <a:srgbClr val="FFFFFF"/>
                </a:solidFill>
                <a:latin typeface="Calibri"/>
                <a:cs typeface="Calibri"/>
              </a:rPr>
              <a:t>test</a:t>
            </a:r>
            <a:r>
              <a:rPr sz="2200" b="1" spc="-60" dirty="0">
                <a:solidFill>
                  <a:srgbClr val="FFFFFF"/>
                </a:solidFill>
                <a:latin typeface="Calibri"/>
                <a:cs typeface="Calibri"/>
              </a:rPr>
              <a:t> </a:t>
            </a:r>
            <a:r>
              <a:rPr sz="2200" b="1" spc="-10" dirty="0">
                <a:solidFill>
                  <a:srgbClr val="FFFFFF"/>
                </a:solidFill>
                <a:latin typeface="Calibri"/>
                <a:cs typeface="Calibri"/>
              </a:rPr>
              <a:t>Split</a:t>
            </a:r>
            <a:endParaRPr sz="2200">
              <a:latin typeface="Calibri"/>
              <a:cs typeface="Calibri"/>
            </a:endParaRPr>
          </a:p>
        </p:txBody>
      </p:sp>
      <p:sp>
        <p:nvSpPr>
          <p:cNvPr id="11" name="object 11"/>
          <p:cNvSpPr txBox="1"/>
          <p:nvPr/>
        </p:nvSpPr>
        <p:spPr>
          <a:xfrm>
            <a:off x="6936231" y="3174746"/>
            <a:ext cx="4199890" cy="843821"/>
          </a:xfrm>
          <a:prstGeom prst="rect">
            <a:avLst/>
          </a:prstGeom>
        </p:spPr>
        <p:txBody>
          <a:bodyPr vert="horz" wrap="square" lIns="0" tIns="12700" rIns="0" bIns="0" rtlCol="0">
            <a:spAutoFit/>
          </a:bodyPr>
          <a:lstStyle/>
          <a:p>
            <a:pPr marL="635" algn="ctr">
              <a:lnSpc>
                <a:spcPct val="100000"/>
              </a:lnSpc>
              <a:spcBef>
                <a:spcPts val="100"/>
              </a:spcBef>
            </a:pPr>
            <a:endParaRPr sz="1800" dirty="0">
              <a:latin typeface="Cambria"/>
              <a:cs typeface="Cambria"/>
            </a:endParaRPr>
          </a:p>
          <a:p>
            <a:pPr>
              <a:lnSpc>
                <a:spcPct val="100000"/>
              </a:lnSpc>
              <a:spcBef>
                <a:spcPts val="45"/>
              </a:spcBef>
            </a:pPr>
            <a:endParaRPr sz="1800" dirty="0">
              <a:latin typeface="Cambria"/>
              <a:cs typeface="Cambria"/>
            </a:endParaRPr>
          </a:p>
          <a:p>
            <a:pPr marL="12700" marR="5080" indent="432434">
              <a:lnSpc>
                <a:spcPct val="100000"/>
              </a:lnSpc>
              <a:spcBef>
                <a:spcPts val="5"/>
              </a:spcBef>
            </a:pPr>
            <a:r>
              <a:rPr sz="1800" spc="-50" dirty="0">
                <a:solidFill>
                  <a:srgbClr val="FFFFFF"/>
                </a:solidFill>
                <a:latin typeface="Cambria"/>
                <a:cs typeface="Cambria"/>
              </a:rPr>
              <a:t> </a:t>
            </a:r>
            <a:r>
              <a:rPr sz="1800" spc="-10" dirty="0">
                <a:solidFill>
                  <a:srgbClr val="FFFFFF"/>
                </a:solidFill>
                <a:latin typeface="Cambria"/>
                <a:cs typeface="Cambria"/>
              </a:rPr>
              <a:t>University</a:t>
            </a:r>
            <a:r>
              <a:rPr lang="en-US" sz="1800" spc="-10" dirty="0">
                <a:solidFill>
                  <a:srgbClr val="FFFFFF"/>
                </a:solidFill>
                <a:latin typeface="Cambria"/>
                <a:cs typeface="Cambria"/>
              </a:rPr>
              <a:t> of Lahore</a:t>
            </a:r>
            <a:endParaRPr sz="1800" dirty="0">
              <a:latin typeface="Cambria"/>
              <a:cs typeface="Cambria"/>
            </a:endParaRPr>
          </a:p>
        </p:txBody>
      </p:sp>
      <p:sp>
        <p:nvSpPr>
          <p:cNvPr id="12" name="object 12"/>
          <p:cNvSpPr txBox="1"/>
          <p:nvPr/>
        </p:nvSpPr>
        <p:spPr>
          <a:xfrm>
            <a:off x="6785356" y="5360923"/>
            <a:ext cx="4499610" cy="299720"/>
          </a:xfrm>
          <a:prstGeom prst="rect">
            <a:avLst/>
          </a:prstGeom>
        </p:spPr>
        <p:txBody>
          <a:bodyPr vert="horz" wrap="square" lIns="0" tIns="12700" rIns="0" bIns="0" rtlCol="0">
            <a:spAutoFit/>
          </a:bodyPr>
          <a:lstStyle/>
          <a:p>
            <a:pPr marL="12700">
              <a:lnSpc>
                <a:spcPct val="100000"/>
              </a:lnSpc>
              <a:spcBef>
                <a:spcPts val="100"/>
              </a:spcBef>
            </a:pPr>
            <a:endParaRPr sz="18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7664B-870A-40D6-EF5B-C609278E8AF0}"/>
              </a:ext>
            </a:extLst>
          </p:cNvPr>
          <p:cNvSpPr>
            <a:spLocks noGrp="1"/>
          </p:cNvSpPr>
          <p:nvPr>
            <p:ph type="title"/>
          </p:nvPr>
        </p:nvSpPr>
        <p:spPr/>
        <p:txBody>
          <a:bodyPr>
            <a:normAutofit fontScale="90000"/>
          </a:bodyPr>
          <a:lstStyle/>
          <a:p>
            <a:r>
              <a:rPr lang="en-US" b="0" i="0" dirty="0">
                <a:solidFill>
                  <a:srgbClr val="1D1D27"/>
                </a:solidFill>
                <a:effectLst/>
                <a:latin typeface="Montserrat" panose="02000505000000020004" pitchFamily="2" charset="0"/>
              </a:rPr>
              <a:t>Types of supervised Machine learning Algorithms:</a:t>
            </a:r>
            <a:br>
              <a:rPr lang="en-US" b="0" i="0" dirty="0">
                <a:solidFill>
                  <a:srgbClr val="1D1D27"/>
                </a:solidFill>
                <a:effectLst/>
                <a:latin typeface="Montserrat" panose="02000505000000020004" pitchFamily="2" charset="0"/>
              </a:rPr>
            </a:br>
            <a:endParaRPr lang="en-US" dirty="0"/>
          </a:p>
        </p:txBody>
      </p:sp>
      <p:sp>
        <p:nvSpPr>
          <p:cNvPr id="3" name="Content Placeholder 2">
            <a:extLst>
              <a:ext uri="{FF2B5EF4-FFF2-40B4-BE49-F238E27FC236}">
                <a16:creationId xmlns:a16="http://schemas.microsoft.com/office/drawing/2014/main" id="{E4838FB8-BAB7-0268-9C3F-1ED8A5DEBE23}"/>
              </a:ext>
            </a:extLst>
          </p:cNvPr>
          <p:cNvSpPr>
            <a:spLocks noGrp="1"/>
          </p:cNvSpPr>
          <p:nvPr>
            <p:ph idx="1"/>
          </p:nvPr>
        </p:nvSpPr>
        <p:spPr/>
        <p:txBody>
          <a:bodyPr/>
          <a:lstStyle/>
          <a:p>
            <a:r>
              <a:rPr lang="en-US" b="0" i="0" dirty="0">
                <a:solidFill>
                  <a:srgbClr val="2B2A29"/>
                </a:solidFill>
                <a:effectLst/>
                <a:latin typeface="Montserrat" panose="02000505000000020004" pitchFamily="2" charset="0"/>
              </a:rPr>
              <a:t>Supervised learning can be further divided into two types of problems:</a:t>
            </a:r>
            <a:endParaRPr lang="en-US" dirty="0"/>
          </a:p>
        </p:txBody>
      </p:sp>
      <p:pic>
        <p:nvPicPr>
          <p:cNvPr id="5" name="Picture 4" descr="A diagram of a class&#10;&#10;Description automatically generated">
            <a:extLst>
              <a:ext uri="{FF2B5EF4-FFF2-40B4-BE49-F238E27FC236}">
                <a16:creationId xmlns:a16="http://schemas.microsoft.com/office/drawing/2014/main" id="{30AC9610-7868-5FD2-C1E1-FB9A7A0147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3048000"/>
            <a:ext cx="10058400" cy="2959100"/>
          </a:xfrm>
          <a:prstGeom prst="rect">
            <a:avLst/>
          </a:prstGeom>
        </p:spPr>
      </p:pic>
    </p:spTree>
    <p:extLst>
      <p:ext uri="{BB962C8B-B14F-4D97-AF65-F5344CB8AC3E}">
        <p14:creationId xmlns:p14="http://schemas.microsoft.com/office/powerpoint/2010/main" val="4034548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356236"/>
            <a:ext cx="5806059" cy="689932"/>
          </a:xfrm>
          <a:prstGeom prst="rect">
            <a:avLst/>
          </a:prstGeom>
        </p:spPr>
        <p:txBody>
          <a:bodyPr vert="horz" wrap="square" lIns="0" tIns="12700" rIns="0" bIns="0" rtlCol="0">
            <a:spAutoFit/>
          </a:bodyPr>
          <a:lstStyle/>
          <a:p>
            <a:pPr marL="12700">
              <a:lnSpc>
                <a:spcPct val="100000"/>
              </a:lnSpc>
              <a:spcBef>
                <a:spcPts val="100"/>
              </a:spcBef>
            </a:pPr>
            <a:r>
              <a:rPr dirty="0"/>
              <a:t>Supervised</a:t>
            </a:r>
            <a:r>
              <a:rPr spc="-165" dirty="0"/>
              <a:t> </a:t>
            </a:r>
            <a:r>
              <a:rPr spc="-10" dirty="0"/>
              <a:t>Learning</a:t>
            </a:r>
          </a:p>
        </p:txBody>
      </p:sp>
      <p:sp>
        <p:nvSpPr>
          <p:cNvPr id="3" name="object 3"/>
          <p:cNvSpPr txBox="1"/>
          <p:nvPr/>
        </p:nvSpPr>
        <p:spPr>
          <a:xfrm>
            <a:off x="304800" y="838200"/>
            <a:ext cx="10363200" cy="1647887"/>
          </a:xfrm>
          <a:prstGeom prst="rect">
            <a:avLst/>
          </a:prstGeom>
        </p:spPr>
        <p:txBody>
          <a:bodyPr vert="horz" wrap="square" lIns="0" tIns="143510" rIns="0" bIns="0" rtlCol="0">
            <a:spAutoFit/>
          </a:bodyPr>
          <a:lstStyle/>
          <a:p>
            <a:pPr marL="5083810">
              <a:lnSpc>
                <a:spcPct val="100000"/>
              </a:lnSpc>
              <a:spcBef>
                <a:spcPts val="1130"/>
              </a:spcBef>
            </a:pPr>
            <a:r>
              <a:rPr lang="en-US" sz="2800" i="1" spc="-10" dirty="0">
                <a:solidFill>
                  <a:srgbClr val="006FC0"/>
                </a:solidFill>
                <a:latin typeface="Calibri"/>
                <a:cs typeface="Calibri"/>
              </a:rPr>
              <a:t>                                     </a:t>
            </a:r>
            <a:r>
              <a:rPr sz="2800" i="1" spc="-10" dirty="0">
                <a:solidFill>
                  <a:srgbClr val="006FC0"/>
                </a:solidFill>
                <a:latin typeface="Calibri"/>
                <a:cs typeface="Calibri"/>
              </a:rPr>
              <a:t>Regression</a:t>
            </a:r>
            <a:endParaRPr sz="2800" dirty="0">
              <a:latin typeface="Calibri"/>
              <a:cs typeface="Calibri"/>
            </a:endParaRPr>
          </a:p>
          <a:p>
            <a:pPr marL="12700">
              <a:lnSpc>
                <a:spcPct val="100000"/>
              </a:lnSpc>
              <a:spcBef>
                <a:spcPts val="880"/>
              </a:spcBef>
            </a:pPr>
            <a:r>
              <a:rPr sz="2400" b="1" u="sng" dirty="0">
                <a:uFill>
                  <a:solidFill>
                    <a:srgbClr val="000000"/>
                  </a:solidFill>
                </a:uFill>
                <a:latin typeface="Segoe Print"/>
                <a:cs typeface="Segoe Print"/>
              </a:rPr>
              <a:t>Regression:</a:t>
            </a:r>
            <a:r>
              <a:rPr sz="2400" b="1" spc="-70" dirty="0">
                <a:latin typeface="Segoe Print"/>
                <a:cs typeface="Segoe Print"/>
              </a:rPr>
              <a:t> </a:t>
            </a:r>
            <a:r>
              <a:rPr sz="2400" dirty="0">
                <a:latin typeface="Segoe Print"/>
                <a:cs typeface="Segoe Print"/>
              </a:rPr>
              <a:t>Quantitative</a:t>
            </a:r>
            <a:r>
              <a:rPr sz="2400" spc="-45" dirty="0">
                <a:latin typeface="Segoe Print"/>
                <a:cs typeface="Segoe Print"/>
              </a:rPr>
              <a:t> </a:t>
            </a:r>
            <a:r>
              <a:rPr sz="2400" dirty="0">
                <a:latin typeface="Segoe Print"/>
                <a:cs typeface="Segoe Print"/>
              </a:rPr>
              <a:t>Prediction</a:t>
            </a:r>
            <a:r>
              <a:rPr sz="2400" spc="-45" dirty="0">
                <a:latin typeface="Segoe Print"/>
                <a:cs typeface="Segoe Print"/>
              </a:rPr>
              <a:t> </a:t>
            </a:r>
            <a:r>
              <a:rPr sz="2400" dirty="0">
                <a:latin typeface="Segoe Print"/>
                <a:cs typeface="Segoe Print"/>
              </a:rPr>
              <a:t>on</a:t>
            </a:r>
            <a:r>
              <a:rPr sz="2400" spc="-50" dirty="0">
                <a:latin typeface="Segoe Print"/>
                <a:cs typeface="Segoe Print"/>
              </a:rPr>
              <a:t> </a:t>
            </a:r>
            <a:r>
              <a:rPr sz="2400" dirty="0">
                <a:latin typeface="Segoe Print"/>
                <a:cs typeface="Segoe Print"/>
              </a:rPr>
              <a:t>a</a:t>
            </a:r>
            <a:r>
              <a:rPr sz="2400" spc="-45" dirty="0">
                <a:latin typeface="Segoe Print"/>
                <a:cs typeface="Segoe Print"/>
              </a:rPr>
              <a:t> </a:t>
            </a:r>
            <a:r>
              <a:rPr sz="2400" dirty="0">
                <a:latin typeface="Segoe Print"/>
                <a:cs typeface="Segoe Print"/>
              </a:rPr>
              <a:t>continuous</a:t>
            </a:r>
            <a:r>
              <a:rPr sz="2400" spc="-55" dirty="0">
                <a:latin typeface="Segoe Print"/>
                <a:cs typeface="Segoe Print"/>
              </a:rPr>
              <a:t> </a:t>
            </a:r>
            <a:r>
              <a:rPr sz="2400" spc="-10" dirty="0">
                <a:latin typeface="Segoe Print"/>
                <a:cs typeface="Segoe Print"/>
              </a:rPr>
              <a:t>scale</a:t>
            </a:r>
            <a:endParaRPr sz="2400" dirty="0">
              <a:latin typeface="Segoe Print"/>
              <a:cs typeface="Segoe Print"/>
            </a:endParaRPr>
          </a:p>
          <a:p>
            <a:pPr marL="12700">
              <a:lnSpc>
                <a:spcPct val="100000"/>
              </a:lnSpc>
              <a:spcBef>
                <a:spcPts val="1740"/>
              </a:spcBef>
            </a:pPr>
            <a:r>
              <a:rPr sz="2400" b="1" u="sng" spc="-10" dirty="0">
                <a:solidFill>
                  <a:srgbClr val="006FC0"/>
                </a:solidFill>
                <a:uFill>
                  <a:solidFill>
                    <a:srgbClr val="006FC0"/>
                  </a:solidFill>
                </a:uFill>
                <a:latin typeface="Calibri"/>
                <a:cs typeface="Calibri"/>
              </a:rPr>
              <a:t>Examples:</a:t>
            </a:r>
            <a:r>
              <a:rPr sz="2400" b="1" spc="-50" dirty="0">
                <a:solidFill>
                  <a:srgbClr val="006FC0"/>
                </a:solidFill>
                <a:latin typeface="Calibri"/>
                <a:cs typeface="Calibri"/>
              </a:rPr>
              <a:t> </a:t>
            </a:r>
            <a:r>
              <a:rPr sz="2400" b="1" dirty="0">
                <a:solidFill>
                  <a:srgbClr val="006FC0"/>
                </a:solidFill>
                <a:latin typeface="Calibri"/>
                <a:cs typeface="Calibri"/>
              </a:rPr>
              <a:t>Prediction</a:t>
            </a:r>
            <a:r>
              <a:rPr sz="2400" b="1" spc="-75" dirty="0">
                <a:solidFill>
                  <a:srgbClr val="006FC0"/>
                </a:solidFill>
                <a:latin typeface="Calibri"/>
                <a:cs typeface="Calibri"/>
              </a:rPr>
              <a:t> </a:t>
            </a:r>
            <a:r>
              <a:rPr sz="2400" b="1" spc="-25" dirty="0">
                <a:solidFill>
                  <a:srgbClr val="006FC0"/>
                </a:solidFill>
                <a:latin typeface="Calibri"/>
                <a:cs typeface="Calibri"/>
              </a:rPr>
              <a:t>of</a:t>
            </a:r>
            <a:endParaRPr sz="2400" dirty="0">
              <a:latin typeface="Calibri"/>
              <a:cs typeface="Calibri"/>
            </a:endParaRPr>
          </a:p>
        </p:txBody>
      </p:sp>
      <p:pic>
        <p:nvPicPr>
          <p:cNvPr id="4" name="object 4"/>
          <p:cNvPicPr/>
          <p:nvPr/>
        </p:nvPicPr>
        <p:blipFill>
          <a:blip r:embed="rId2" cstate="print"/>
          <a:stretch>
            <a:fillRect/>
          </a:stretch>
        </p:blipFill>
        <p:spPr>
          <a:xfrm>
            <a:off x="9927355" y="1137269"/>
            <a:ext cx="1879251" cy="1753756"/>
          </a:xfrm>
          <a:prstGeom prst="rect">
            <a:avLst/>
          </a:prstGeom>
        </p:spPr>
      </p:pic>
      <p:sp>
        <p:nvSpPr>
          <p:cNvPr id="5" name="object 5"/>
          <p:cNvSpPr txBox="1"/>
          <p:nvPr/>
        </p:nvSpPr>
        <p:spPr>
          <a:xfrm>
            <a:off x="304800" y="2466502"/>
            <a:ext cx="7128509" cy="3317875"/>
          </a:xfrm>
          <a:prstGeom prst="rect">
            <a:avLst/>
          </a:prstGeom>
        </p:spPr>
        <p:txBody>
          <a:bodyPr vert="horz" wrap="square" lIns="0" tIns="149860" rIns="0" bIns="0" rtlCol="0">
            <a:spAutoFit/>
          </a:bodyPr>
          <a:lstStyle/>
          <a:p>
            <a:pPr marL="354965" indent="-342265">
              <a:lnSpc>
                <a:spcPct val="100000"/>
              </a:lnSpc>
              <a:spcBef>
                <a:spcPts val="1180"/>
              </a:spcBef>
              <a:buChar char="-"/>
              <a:tabLst>
                <a:tab pos="354965" algn="l"/>
              </a:tabLst>
            </a:pPr>
            <a:r>
              <a:rPr sz="1800" dirty="0">
                <a:latin typeface="Segoe Print"/>
                <a:cs typeface="Segoe Print"/>
              </a:rPr>
              <a:t>Age</a:t>
            </a:r>
            <a:r>
              <a:rPr sz="1800" spc="-15" dirty="0">
                <a:latin typeface="Segoe Print"/>
                <a:cs typeface="Segoe Print"/>
              </a:rPr>
              <a:t> </a:t>
            </a:r>
            <a:r>
              <a:rPr sz="1800" dirty="0">
                <a:latin typeface="Segoe Print"/>
                <a:cs typeface="Segoe Print"/>
              </a:rPr>
              <a:t>of</a:t>
            </a:r>
            <a:r>
              <a:rPr sz="1800" spc="-20" dirty="0">
                <a:latin typeface="Segoe Print"/>
                <a:cs typeface="Segoe Print"/>
              </a:rPr>
              <a:t> </a:t>
            </a:r>
            <a:r>
              <a:rPr sz="1800" dirty="0">
                <a:latin typeface="Segoe Print"/>
                <a:cs typeface="Segoe Print"/>
              </a:rPr>
              <a:t>a</a:t>
            </a:r>
            <a:r>
              <a:rPr sz="1800" spc="-10" dirty="0">
                <a:latin typeface="Segoe Print"/>
                <a:cs typeface="Segoe Print"/>
              </a:rPr>
              <a:t> </a:t>
            </a:r>
            <a:r>
              <a:rPr sz="1800" dirty="0">
                <a:latin typeface="Segoe Print"/>
                <a:cs typeface="Segoe Print"/>
              </a:rPr>
              <a:t>person</a:t>
            </a:r>
            <a:r>
              <a:rPr sz="1800" spc="-25" dirty="0">
                <a:latin typeface="Segoe Print"/>
                <a:cs typeface="Segoe Print"/>
              </a:rPr>
              <a:t> </a:t>
            </a:r>
            <a:r>
              <a:rPr sz="1800" dirty="0">
                <a:latin typeface="Segoe Print"/>
                <a:cs typeface="Segoe Print"/>
              </a:rPr>
              <a:t>from</a:t>
            </a:r>
            <a:r>
              <a:rPr sz="1800" spc="-20" dirty="0">
                <a:latin typeface="Segoe Print"/>
                <a:cs typeface="Segoe Print"/>
              </a:rPr>
              <a:t> </a:t>
            </a:r>
            <a:r>
              <a:rPr sz="1800" dirty="0">
                <a:latin typeface="Segoe Print"/>
                <a:cs typeface="Segoe Print"/>
              </a:rPr>
              <a:t>his/her</a:t>
            </a:r>
            <a:r>
              <a:rPr sz="1800" spc="-20" dirty="0">
                <a:latin typeface="Segoe Print"/>
                <a:cs typeface="Segoe Print"/>
              </a:rPr>
              <a:t> </a:t>
            </a:r>
            <a:r>
              <a:rPr sz="1800" spc="-10" dirty="0">
                <a:latin typeface="Segoe Print"/>
                <a:cs typeface="Segoe Print"/>
              </a:rPr>
              <a:t>photo</a:t>
            </a:r>
            <a:endParaRPr sz="1800" dirty="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Price</a:t>
            </a:r>
            <a:r>
              <a:rPr sz="1800" spc="-5" dirty="0">
                <a:latin typeface="Segoe Print"/>
                <a:cs typeface="Segoe Print"/>
              </a:rPr>
              <a:t> </a:t>
            </a:r>
            <a:r>
              <a:rPr sz="1800" dirty="0">
                <a:latin typeface="Segoe Print"/>
                <a:cs typeface="Segoe Print"/>
              </a:rPr>
              <a:t>of</a:t>
            </a:r>
            <a:r>
              <a:rPr sz="1800" spc="-5" dirty="0">
                <a:latin typeface="Segoe Print"/>
                <a:cs typeface="Segoe Print"/>
              </a:rPr>
              <a:t> </a:t>
            </a:r>
            <a:r>
              <a:rPr sz="1800" dirty="0">
                <a:latin typeface="Segoe Print"/>
                <a:cs typeface="Segoe Print"/>
              </a:rPr>
              <a:t>10 Marla,</a:t>
            </a:r>
            <a:r>
              <a:rPr sz="1800" spc="-5" dirty="0">
                <a:latin typeface="Segoe Print"/>
                <a:cs typeface="Segoe Print"/>
              </a:rPr>
              <a:t> </a:t>
            </a:r>
            <a:r>
              <a:rPr sz="1800" spc="-10" dirty="0">
                <a:latin typeface="Segoe Print"/>
                <a:cs typeface="Segoe Print"/>
              </a:rPr>
              <a:t>5-</a:t>
            </a:r>
            <a:r>
              <a:rPr sz="1800" dirty="0">
                <a:latin typeface="Segoe Print"/>
                <a:cs typeface="Segoe Print"/>
              </a:rPr>
              <a:t>bedroom</a:t>
            </a:r>
            <a:r>
              <a:rPr sz="1800" spc="-20" dirty="0">
                <a:latin typeface="Segoe Print"/>
                <a:cs typeface="Segoe Print"/>
              </a:rPr>
              <a:t> </a:t>
            </a:r>
            <a:r>
              <a:rPr sz="1800" dirty="0">
                <a:latin typeface="Segoe Print"/>
                <a:cs typeface="Segoe Print"/>
              </a:rPr>
              <a:t>house</a:t>
            </a:r>
            <a:r>
              <a:rPr sz="1800" spc="-5" dirty="0">
                <a:latin typeface="Segoe Print"/>
                <a:cs typeface="Segoe Print"/>
              </a:rPr>
              <a:t> </a:t>
            </a:r>
            <a:r>
              <a:rPr sz="1800" dirty="0">
                <a:latin typeface="Segoe Print"/>
                <a:cs typeface="Segoe Print"/>
              </a:rPr>
              <a:t>in</a:t>
            </a:r>
            <a:r>
              <a:rPr sz="1800" spc="-10" dirty="0">
                <a:latin typeface="Segoe Print"/>
                <a:cs typeface="Segoe Print"/>
              </a:rPr>
              <a:t> </a:t>
            </a:r>
            <a:r>
              <a:rPr sz="1800" spc="-20" dirty="0">
                <a:latin typeface="Segoe Print"/>
                <a:cs typeface="Segoe Print"/>
              </a:rPr>
              <a:t>2050</a:t>
            </a:r>
            <a:endParaRPr sz="1800" dirty="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USD/PKR</a:t>
            </a:r>
            <a:r>
              <a:rPr sz="1800" spc="-50" dirty="0">
                <a:latin typeface="Segoe Print"/>
                <a:cs typeface="Segoe Print"/>
              </a:rPr>
              <a:t> </a:t>
            </a:r>
            <a:r>
              <a:rPr sz="1800" dirty="0">
                <a:latin typeface="Segoe Print"/>
                <a:cs typeface="Segoe Print"/>
              </a:rPr>
              <a:t>exchange</a:t>
            </a:r>
            <a:r>
              <a:rPr sz="1800" spc="-40" dirty="0">
                <a:latin typeface="Segoe Print"/>
                <a:cs typeface="Segoe Print"/>
              </a:rPr>
              <a:t> </a:t>
            </a:r>
            <a:r>
              <a:rPr sz="1800" dirty="0">
                <a:latin typeface="Segoe Print"/>
                <a:cs typeface="Segoe Print"/>
              </a:rPr>
              <a:t>rate</a:t>
            </a:r>
            <a:r>
              <a:rPr sz="1800" spc="-45" dirty="0">
                <a:latin typeface="Segoe Print"/>
                <a:cs typeface="Segoe Print"/>
              </a:rPr>
              <a:t> </a:t>
            </a:r>
            <a:r>
              <a:rPr sz="1800" dirty="0">
                <a:latin typeface="Segoe Print"/>
                <a:cs typeface="Segoe Print"/>
              </a:rPr>
              <a:t>after</a:t>
            </a:r>
            <a:r>
              <a:rPr sz="1800" spc="-45" dirty="0">
                <a:latin typeface="Segoe Print"/>
                <a:cs typeface="Segoe Print"/>
              </a:rPr>
              <a:t> </a:t>
            </a:r>
            <a:r>
              <a:rPr sz="1800" dirty="0">
                <a:latin typeface="Segoe Print"/>
                <a:cs typeface="Segoe Print"/>
              </a:rPr>
              <a:t>one</a:t>
            </a:r>
            <a:r>
              <a:rPr sz="1800" spc="-55" dirty="0">
                <a:latin typeface="Segoe Print"/>
                <a:cs typeface="Segoe Print"/>
              </a:rPr>
              <a:t> </a:t>
            </a:r>
            <a:r>
              <a:rPr sz="1800" spc="-20" dirty="0">
                <a:latin typeface="Segoe Print"/>
                <a:cs typeface="Segoe Print"/>
              </a:rPr>
              <a:t>week</a:t>
            </a:r>
            <a:endParaRPr sz="1800" dirty="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Efficacy</a:t>
            </a:r>
            <a:r>
              <a:rPr sz="1800" spc="-20" dirty="0">
                <a:latin typeface="Segoe Print"/>
                <a:cs typeface="Segoe Print"/>
              </a:rPr>
              <a:t> </a:t>
            </a:r>
            <a:r>
              <a:rPr sz="1800" dirty="0">
                <a:latin typeface="Segoe Print"/>
                <a:cs typeface="Segoe Print"/>
              </a:rPr>
              <a:t>of</a:t>
            </a:r>
            <a:r>
              <a:rPr sz="1800" spc="-45" dirty="0">
                <a:latin typeface="Segoe Print"/>
                <a:cs typeface="Segoe Print"/>
              </a:rPr>
              <a:t> </a:t>
            </a:r>
            <a:r>
              <a:rPr sz="1800" dirty="0">
                <a:latin typeface="Segoe Print"/>
                <a:cs typeface="Segoe Print"/>
              </a:rPr>
              <a:t>Pfizer</a:t>
            </a:r>
            <a:r>
              <a:rPr sz="1800" spc="-30" dirty="0">
                <a:latin typeface="Segoe Print"/>
                <a:cs typeface="Segoe Print"/>
              </a:rPr>
              <a:t> </a:t>
            </a:r>
            <a:r>
              <a:rPr sz="1800" dirty="0">
                <a:latin typeface="Segoe Print"/>
                <a:cs typeface="Segoe Print"/>
              </a:rPr>
              <a:t>Covid</a:t>
            </a:r>
            <a:r>
              <a:rPr sz="1800" spc="-40" dirty="0">
                <a:latin typeface="Segoe Print"/>
                <a:cs typeface="Segoe Print"/>
              </a:rPr>
              <a:t> </a:t>
            </a:r>
            <a:r>
              <a:rPr sz="1800" spc="-10" dirty="0">
                <a:latin typeface="Segoe Print"/>
                <a:cs typeface="Segoe Print"/>
              </a:rPr>
              <a:t>vaccine</a:t>
            </a:r>
            <a:endParaRPr sz="1800" dirty="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Average</a:t>
            </a:r>
            <a:r>
              <a:rPr sz="1800" spc="-45" dirty="0">
                <a:latin typeface="Segoe Print"/>
                <a:cs typeface="Segoe Print"/>
              </a:rPr>
              <a:t> </a:t>
            </a:r>
            <a:r>
              <a:rPr sz="1800" spc="-10" dirty="0">
                <a:latin typeface="Segoe Print"/>
                <a:cs typeface="Segoe Print"/>
              </a:rPr>
              <a:t>temperature/Rainfall</a:t>
            </a:r>
            <a:r>
              <a:rPr sz="1800" spc="-35" dirty="0">
                <a:latin typeface="Segoe Print"/>
                <a:cs typeface="Segoe Print"/>
              </a:rPr>
              <a:t> </a:t>
            </a:r>
            <a:r>
              <a:rPr sz="1800" dirty="0">
                <a:latin typeface="Segoe Print"/>
                <a:cs typeface="Segoe Print"/>
              </a:rPr>
              <a:t>during</a:t>
            </a:r>
            <a:r>
              <a:rPr sz="1800" spc="-65" dirty="0">
                <a:latin typeface="Segoe Print"/>
                <a:cs typeface="Segoe Print"/>
              </a:rPr>
              <a:t> </a:t>
            </a:r>
            <a:r>
              <a:rPr sz="1800" spc="-10" dirty="0">
                <a:latin typeface="Segoe Print"/>
                <a:cs typeface="Segoe Print"/>
              </a:rPr>
              <a:t>monsoon</a:t>
            </a:r>
            <a:endParaRPr sz="1800" dirty="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Cumulative</a:t>
            </a:r>
            <a:r>
              <a:rPr sz="1800" spc="-10" dirty="0">
                <a:latin typeface="Segoe Print"/>
                <a:cs typeface="Segoe Print"/>
              </a:rPr>
              <a:t> </a:t>
            </a:r>
            <a:r>
              <a:rPr sz="1800" dirty="0">
                <a:latin typeface="Segoe Print"/>
                <a:cs typeface="Segoe Print"/>
              </a:rPr>
              <a:t>score</a:t>
            </a:r>
            <a:r>
              <a:rPr sz="1800" spc="-35" dirty="0">
                <a:latin typeface="Segoe Print"/>
                <a:cs typeface="Segoe Print"/>
              </a:rPr>
              <a:t> </a:t>
            </a:r>
            <a:r>
              <a:rPr sz="1800" dirty="0">
                <a:latin typeface="Segoe Print"/>
                <a:cs typeface="Segoe Print"/>
              </a:rPr>
              <a:t>in</a:t>
            </a:r>
            <a:r>
              <a:rPr sz="1800" spc="-35" dirty="0">
                <a:latin typeface="Segoe Print"/>
                <a:cs typeface="Segoe Print"/>
              </a:rPr>
              <a:t> </a:t>
            </a:r>
            <a:r>
              <a:rPr sz="1800" dirty="0">
                <a:latin typeface="Segoe Print"/>
                <a:cs typeface="Segoe Print"/>
              </a:rPr>
              <a:t>ML</a:t>
            </a:r>
            <a:r>
              <a:rPr sz="1800" spc="-30" dirty="0">
                <a:latin typeface="Segoe Print"/>
                <a:cs typeface="Segoe Print"/>
              </a:rPr>
              <a:t> </a:t>
            </a:r>
            <a:r>
              <a:rPr sz="1800" spc="-10" dirty="0">
                <a:latin typeface="Segoe Print"/>
                <a:cs typeface="Segoe Print"/>
              </a:rPr>
              <a:t>course</a:t>
            </a:r>
            <a:endParaRPr sz="1800" dirty="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Probability</a:t>
            </a:r>
            <a:r>
              <a:rPr sz="1800" spc="-30" dirty="0">
                <a:latin typeface="Segoe Print"/>
                <a:cs typeface="Segoe Print"/>
              </a:rPr>
              <a:t> </a:t>
            </a:r>
            <a:r>
              <a:rPr sz="1800" dirty="0">
                <a:latin typeface="Segoe Print"/>
                <a:cs typeface="Segoe Print"/>
              </a:rPr>
              <a:t>of</a:t>
            </a:r>
            <a:r>
              <a:rPr sz="1800" spc="-30" dirty="0">
                <a:latin typeface="Segoe Print"/>
                <a:cs typeface="Segoe Print"/>
              </a:rPr>
              <a:t> </a:t>
            </a:r>
            <a:r>
              <a:rPr sz="1800" dirty="0">
                <a:latin typeface="Segoe Print"/>
                <a:cs typeface="Segoe Print"/>
              </a:rPr>
              <a:t>decrease</a:t>
            </a:r>
            <a:r>
              <a:rPr sz="1800" spc="-30" dirty="0">
                <a:latin typeface="Segoe Print"/>
                <a:cs typeface="Segoe Print"/>
              </a:rPr>
              <a:t> </a:t>
            </a:r>
            <a:r>
              <a:rPr sz="1800" dirty="0">
                <a:latin typeface="Segoe Print"/>
                <a:cs typeface="Segoe Print"/>
              </a:rPr>
              <a:t>in</a:t>
            </a:r>
            <a:r>
              <a:rPr sz="1800" spc="-35" dirty="0">
                <a:latin typeface="Segoe Print"/>
                <a:cs typeface="Segoe Print"/>
              </a:rPr>
              <a:t> </a:t>
            </a:r>
            <a:r>
              <a:rPr sz="1800" dirty="0">
                <a:latin typeface="Segoe Print"/>
                <a:cs typeface="Segoe Print"/>
              </a:rPr>
              <a:t>the</a:t>
            </a:r>
            <a:r>
              <a:rPr sz="1800" spc="-30" dirty="0">
                <a:latin typeface="Segoe Print"/>
                <a:cs typeface="Segoe Print"/>
              </a:rPr>
              <a:t> </a:t>
            </a:r>
            <a:r>
              <a:rPr sz="1800" dirty="0">
                <a:latin typeface="Segoe Print"/>
                <a:cs typeface="Segoe Print"/>
              </a:rPr>
              <a:t>electricity</a:t>
            </a:r>
            <a:r>
              <a:rPr sz="1800" spc="-25" dirty="0">
                <a:latin typeface="Segoe Print"/>
                <a:cs typeface="Segoe Print"/>
              </a:rPr>
              <a:t> </a:t>
            </a:r>
            <a:r>
              <a:rPr sz="1800" dirty="0">
                <a:latin typeface="Segoe Print"/>
                <a:cs typeface="Segoe Print"/>
              </a:rPr>
              <a:t>prices</a:t>
            </a:r>
            <a:r>
              <a:rPr sz="1800" spc="-30" dirty="0">
                <a:latin typeface="Segoe Print"/>
                <a:cs typeface="Segoe Print"/>
              </a:rPr>
              <a:t> </a:t>
            </a:r>
            <a:r>
              <a:rPr sz="1800" dirty="0">
                <a:latin typeface="Segoe Print"/>
                <a:cs typeface="Segoe Print"/>
              </a:rPr>
              <a:t>in</a:t>
            </a:r>
            <a:r>
              <a:rPr sz="1800" spc="-35" dirty="0">
                <a:latin typeface="Segoe Print"/>
                <a:cs typeface="Segoe Print"/>
              </a:rPr>
              <a:t> </a:t>
            </a:r>
            <a:r>
              <a:rPr sz="1800" spc="-10" dirty="0">
                <a:latin typeface="Segoe Print"/>
                <a:cs typeface="Segoe Print"/>
              </a:rPr>
              <a:t>Pakistan</a:t>
            </a:r>
            <a:endParaRPr sz="1800" dirty="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No.</a:t>
            </a:r>
            <a:r>
              <a:rPr sz="1800" spc="-30" dirty="0">
                <a:latin typeface="Segoe Print"/>
                <a:cs typeface="Segoe Print"/>
              </a:rPr>
              <a:t> </a:t>
            </a:r>
            <a:r>
              <a:rPr sz="1800" dirty="0">
                <a:latin typeface="Segoe Print"/>
                <a:cs typeface="Segoe Print"/>
              </a:rPr>
              <a:t>of</a:t>
            </a:r>
            <a:r>
              <a:rPr sz="1800" spc="-15" dirty="0">
                <a:latin typeface="Segoe Print"/>
                <a:cs typeface="Segoe Print"/>
              </a:rPr>
              <a:t> </a:t>
            </a:r>
            <a:r>
              <a:rPr sz="1800" dirty="0">
                <a:latin typeface="Segoe Print"/>
                <a:cs typeface="Segoe Print"/>
              </a:rPr>
              <a:t>steps</a:t>
            </a:r>
            <a:r>
              <a:rPr sz="1800" spc="-10" dirty="0">
                <a:latin typeface="Segoe Print"/>
                <a:cs typeface="Segoe Print"/>
              </a:rPr>
              <a:t> </a:t>
            </a:r>
            <a:r>
              <a:rPr sz="1800" dirty="0">
                <a:latin typeface="Segoe Print"/>
                <a:cs typeface="Segoe Print"/>
              </a:rPr>
              <a:t>per</a:t>
            </a:r>
            <a:r>
              <a:rPr sz="1800" spc="-20" dirty="0">
                <a:latin typeface="Segoe Print"/>
                <a:cs typeface="Segoe Print"/>
              </a:rPr>
              <a:t> </a:t>
            </a:r>
            <a:r>
              <a:rPr sz="1800" spc="-25" dirty="0">
                <a:latin typeface="Segoe Print"/>
                <a:cs typeface="Segoe Print"/>
              </a:rPr>
              <a:t>day</a:t>
            </a:r>
            <a:endParaRPr sz="1800" dirty="0">
              <a:latin typeface="Segoe Print"/>
              <a:cs typeface="Segoe Print"/>
            </a:endParaRPr>
          </a:p>
        </p:txBody>
      </p:sp>
      <p:sp>
        <p:nvSpPr>
          <p:cNvPr id="6" name="object 6"/>
          <p:cNvSpPr txBox="1"/>
          <p:nvPr/>
        </p:nvSpPr>
        <p:spPr>
          <a:xfrm>
            <a:off x="7808468" y="3482756"/>
            <a:ext cx="3528060" cy="635000"/>
          </a:xfrm>
          <a:prstGeom prst="rect">
            <a:avLst/>
          </a:prstGeom>
        </p:spPr>
        <p:txBody>
          <a:bodyPr vert="horz" wrap="square" lIns="0" tIns="12065" rIns="0" bIns="0" rtlCol="0">
            <a:spAutoFit/>
          </a:bodyPr>
          <a:lstStyle/>
          <a:p>
            <a:pPr marL="12700" marR="5080">
              <a:lnSpc>
                <a:spcPct val="100000"/>
              </a:lnSpc>
              <a:spcBef>
                <a:spcPts val="95"/>
              </a:spcBef>
            </a:pPr>
            <a:r>
              <a:rPr sz="2000" dirty="0">
                <a:solidFill>
                  <a:srgbClr val="C00000"/>
                </a:solidFill>
                <a:latin typeface="Segoe Print"/>
                <a:cs typeface="Segoe Print"/>
              </a:rPr>
              <a:t>What</a:t>
            </a:r>
            <a:r>
              <a:rPr sz="2000" spc="-25" dirty="0">
                <a:solidFill>
                  <a:srgbClr val="C00000"/>
                </a:solidFill>
                <a:latin typeface="Segoe Print"/>
                <a:cs typeface="Segoe Print"/>
              </a:rPr>
              <a:t> </a:t>
            </a:r>
            <a:r>
              <a:rPr sz="2000" dirty="0">
                <a:solidFill>
                  <a:srgbClr val="C00000"/>
                </a:solidFill>
                <a:latin typeface="Segoe Print"/>
                <a:cs typeface="Segoe Print"/>
              </a:rPr>
              <a:t>do</a:t>
            </a:r>
            <a:r>
              <a:rPr sz="2000" spc="-30" dirty="0">
                <a:solidFill>
                  <a:srgbClr val="C00000"/>
                </a:solidFill>
                <a:latin typeface="Segoe Print"/>
                <a:cs typeface="Segoe Print"/>
              </a:rPr>
              <a:t> </a:t>
            </a:r>
            <a:r>
              <a:rPr sz="2000" dirty="0">
                <a:solidFill>
                  <a:srgbClr val="C00000"/>
                </a:solidFill>
                <a:latin typeface="Segoe Print"/>
                <a:cs typeface="Segoe Print"/>
              </a:rPr>
              <a:t>all</a:t>
            </a:r>
            <a:r>
              <a:rPr sz="2000" spc="-15" dirty="0">
                <a:solidFill>
                  <a:srgbClr val="C00000"/>
                </a:solidFill>
                <a:latin typeface="Segoe Print"/>
                <a:cs typeface="Segoe Print"/>
              </a:rPr>
              <a:t> </a:t>
            </a:r>
            <a:r>
              <a:rPr sz="2000" dirty="0">
                <a:solidFill>
                  <a:srgbClr val="C00000"/>
                </a:solidFill>
                <a:latin typeface="Segoe Print"/>
                <a:cs typeface="Segoe Print"/>
              </a:rPr>
              <a:t>these</a:t>
            </a:r>
            <a:r>
              <a:rPr sz="2000" spc="-35" dirty="0">
                <a:solidFill>
                  <a:srgbClr val="C00000"/>
                </a:solidFill>
                <a:latin typeface="Segoe Print"/>
                <a:cs typeface="Segoe Print"/>
              </a:rPr>
              <a:t> </a:t>
            </a:r>
            <a:r>
              <a:rPr sz="2000" spc="-10" dirty="0">
                <a:solidFill>
                  <a:srgbClr val="C00000"/>
                </a:solidFill>
                <a:latin typeface="Segoe Print"/>
                <a:cs typeface="Segoe Print"/>
              </a:rPr>
              <a:t>problems </a:t>
            </a:r>
            <a:r>
              <a:rPr sz="2000" dirty="0">
                <a:solidFill>
                  <a:srgbClr val="C00000"/>
                </a:solidFill>
                <a:latin typeface="Segoe Print"/>
                <a:cs typeface="Segoe Print"/>
              </a:rPr>
              <a:t>have</a:t>
            </a:r>
            <a:r>
              <a:rPr sz="2000" spc="-10" dirty="0">
                <a:solidFill>
                  <a:srgbClr val="C00000"/>
                </a:solidFill>
                <a:latin typeface="Segoe Print"/>
                <a:cs typeface="Segoe Print"/>
              </a:rPr>
              <a:t> </a:t>
            </a:r>
            <a:r>
              <a:rPr sz="2000" dirty="0">
                <a:solidFill>
                  <a:srgbClr val="C00000"/>
                </a:solidFill>
                <a:latin typeface="Segoe Print"/>
                <a:cs typeface="Segoe Print"/>
              </a:rPr>
              <a:t>in</a:t>
            </a:r>
            <a:r>
              <a:rPr sz="2000" spc="-5" dirty="0">
                <a:solidFill>
                  <a:srgbClr val="C00000"/>
                </a:solidFill>
                <a:latin typeface="Segoe Print"/>
                <a:cs typeface="Segoe Print"/>
              </a:rPr>
              <a:t> </a:t>
            </a:r>
            <a:r>
              <a:rPr sz="2000" spc="-10" dirty="0">
                <a:solidFill>
                  <a:srgbClr val="C00000"/>
                </a:solidFill>
                <a:latin typeface="Segoe Print"/>
                <a:cs typeface="Segoe Print"/>
              </a:rPr>
              <a:t>common?</a:t>
            </a:r>
            <a:endParaRPr sz="2000">
              <a:latin typeface="Segoe Print"/>
              <a:cs typeface="Segoe Print"/>
            </a:endParaRPr>
          </a:p>
        </p:txBody>
      </p:sp>
      <p:sp>
        <p:nvSpPr>
          <p:cNvPr id="7" name="object 7"/>
          <p:cNvSpPr txBox="1"/>
          <p:nvPr/>
        </p:nvSpPr>
        <p:spPr>
          <a:xfrm>
            <a:off x="7808468" y="4349657"/>
            <a:ext cx="2499360" cy="330200"/>
          </a:xfrm>
          <a:prstGeom prst="rect">
            <a:avLst/>
          </a:prstGeom>
        </p:spPr>
        <p:txBody>
          <a:bodyPr vert="horz" wrap="square" lIns="0" tIns="12065" rIns="0" bIns="0" rtlCol="0">
            <a:spAutoFit/>
          </a:bodyPr>
          <a:lstStyle/>
          <a:p>
            <a:pPr marL="12700">
              <a:lnSpc>
                <a:spcPct val="100000"/>
              </a:lnSpc>
              <a:spcBef>
                <a:spcPts val="95"/>
              </a:spcBef>
            </a:pPr>
            <a:r>
              <a:rPr sz="2000" dirty="0">
                <a:solidFill>
                  <a:srgbClr val="00AF50"/>
                </a:solidFill>
                <a:latin typeface="Segoe Print"/>
                <a:cs typeface="Segoe Print"/>
              </a:rPr>
              <a:t>Continuous</a:t>
            </a:r>
            <a:r>
              <a:rPr sz="2000" spc="-160" dirty="0">
                <a:solidFill>
                  <a:srgbClr val="00AF50"/>
                </a:solidFill>
                <a:latin typeface="Segoe Print"/>
                <a:cs typeface="Segoe Print"/>
              </a:rPr>
              <a:t> </a:t>
            </a:r>
            <a:r>
              <a:rPr sz="2000" spc="-10" dirty="0">
                <a:solidFill>
                  <a:srgbClr val="00AF50"/>
                </a:solidFill>
                <a:latin typeface="Segoe Print"/>
                <a:cs typeface="Segoe Print"/>
              </a:rPr>
              <a:t>outputs</a:t>
            </a:r>
            <a:endParaRPr sz="2000">
              <a:latin typeface="Segoe Print"/>
              <a:cs typeface="Segoe Print"/>
            </a:endParaRPr>
          </a:p>
        </p:txBody>
      </p:sp>
      <p:sp>
        <p:nvSpPr>
          <p:cNvPr id="8" name="object 8"/>
          <p:cNvSpPr txBox="1"/>
          <p:nvPr/>
        </p:nvSpPr>
        <p:spPr>
          <a:xfrm>
            <a:off x="3018918" y="6153150"/>
            <a:ext cx="6568440" cy="400050"/>
          </a:xfrm>
          <a:prstGeom prst="rect">
            <a:avLst/>
          </a:prstGeom>
          <a:ln w="9905">
            <a:solidFill>
              <a:srgbClr val="000000"/>
            </a:solidFill>
          </a:ln>
        </p:spPr>
        <p:txBody>
          <a:bodyPr vert="horz" wrap="square" lIns="0" tIns="9525" rIns="0" bIns="0" rtlCol="0">
            <a:spAutoFit/>
          </a:bodyPr>
          <a:lstStyle/>
          <a:p>
            <a:pPr marL="91440">
              <a:lnSpc>
                <a:spcPct val="100000"/>
              </a:lnSpc>
              <a:spcBef>
                <a:spcPts val="75"/>
              </a:spcBef>
            </a:pPr>
            <a:r>
              <a:rPr sz="2000" dirty="0">
                <a:latin typeface="Segoe Print"/>
                <a:cs typeface="Segoe Print"/>
              </a:rPr>
              <a:t>Predicting</a:t>
            </a:r>
            <a:r>
              <a:rPr sz="2000" spc="-70" dirty="0">
                <a:latin typeface="Segoe Print"/>
                <a:cs typeface="Segoe Print"/>
              </a:rPr>
              <a:t> </a:t>
            </a:r>
            <a:r>
              <a:rPr sz="2000" dirty="0">
                <a:latin typeface="Segoe Print"/>
                <a:cs typeface="Segoe Print"/>
              </a:rPr>
              <a:t>continuous</a:t>
            </a:r>
            <a:r>
              <a:rPr sz="2000" spc="-60" dirty="0">
                <a:latin typeface="Segoe Print"/>
                <a:cs typeface="Segoe Print"/>
              </a:rPr>
              <a:t> </a:t>
            </a:r>
            <a:r>
              <a:rPr sz="2000" dirty="0">
                <a:latin typeface="Segoe Print"/>
                <a:cs typeface="Segoe Print"/>
              </a:rPr>
              <a:t>outputs</a:t>
            </a:r>
            <a:r>
              <a:rPr sz="2000" spc="-60" dirty="0">
                <a:latin typeface="Segoe Print"/>
                <a:cs typeface="Segoe Print"/>
              </a:rPr>
              <a:t> </a:t>
            </a:r>
            <a:r>
              <a:rPr sz="2000" dirty="0">
                <a:latin typeface="Segoe Print"/>
                <a:cs typeface="Segoe Print"/>
              </a:rPr>
              <a:t>is</a:t>
            </a:r>
            <a:r>
              <a:rPr sz="2000" spc="-65" dirty="0">
                <a:latin typeface="Segoe Print"/>
                <a:cs typeface="Segoe Print"/>
              </a:rPr>
              <a:t> </a:t>
            </a:r>
            <a:r>
              <a:rPr sz="2000" dirty="0">
                <a:latin typeface="Segoe Print"/>
                <a:cs typeface="Segoe Print"/>
              </a:rPr>
              <a:t>called</a:t>
            </a:r>
            <a:r>
              <a:rPr sz="2000" spc="-55" dirty="0">
                <a:latin typeface="Segoe Print"/>
                <a:cs typeface="Segoe Print"/>
              </a:rPr>
              <a:t> </a:t>
            </a:r>
            <a:r>
              <a:rPr sz="2000" spc="-10" dirty="0">
                <a:latin typeface="Segoe Print"/>
                <a:cs typeface="Segoe Print"/>
              </a:rPr>
              <a:t>regression</a:t>
            </a:r>
            <a:endParaRPr sz="2000">
              <a:latin typeface="Segoe Print"/>
              <a:cs typeface="Segoe Prin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5587A-365C-EB73-9C00-C70662386706}"/>
              </a:ext>
            </a:extLst>
          </p:cNvPr>
          <p:cNvSpPr>
            <a:spLocks noGrp="1"/>
          </p:cNvSpPr>
          <p:nvPr>
            <p:ph type="title"/>
          </p:nvPr>
        </p:nvSpPr>
        <p:spPr/>
        <p:txBody>
          <a:bodyPr/>
          <a:lstStyle/>
          <a:p>
            <a:r>
              <a:rPr lang="en-US" dirty="0">
                <a:solidFill>
                  <a:srgbClr val="2B2A29"/>
                </a:solidFill>
                <a:latin typeface="Montserrat" panose="02000505000000020004" pitchFamily="2" charset="0"/>
              </a:rPr>
              <a:t>P</a:t>
            </a:r>
            <a:r>
              <a:rPr lang="en-US" b="0" i="0" dirty="0">
                <a:solidFill>
                  <a:srgbClr val="2B2A29"/>
                </a:solidFill>
                <a:effectLst/>
                <a:latin typeface="Montserrat" panose="02000505000000020004" pitchFamily="2" charset="0"/>
              </a:rPr>
              <a:t>opular Regression algorithms</a:t>
            </a:r>
            <a:endParaRPr lang="en-US" dirty="0"/>
          </a:p>
        </p:txBody>
      </p:sp>
      <p:sp>
        <p:nvSpPr>
          <p:cNvPr id="3" name="Content Placeholder 2">
            <a:extLst>
              <a:ext uri="{FF2B5EF4-FFF2-40B4-BE49-F238E27FC236}">
                <a16:creationId xmlns:a16="http://schemas.microsoft.com/office/drawing/2014/main" id="{3140D4A1-E5DC-37ED-1F58-B003A7EE461E}"/>
              </a:ext>
            </a:extLst>
          </p:cNvPr>
          <p:cNvSpPr>
            <a:spLocks noGrp="1"/>
          </p:cNvSpPr>
          <p:nvPr>
            <p:ph idx="1"/>
          </p:nvPr>
        </p:nvSpPr>
        <p:spPr/>
        <p:txBody>
          <a:bodyPr/>
          <a:lstStyle/>
          <a:p>
            <a:pPr algn="just">
              <a:buFont typeface="Arial" panose="020B0604020202020204" pitchFamily="34" charset="0"/>
              <a:buChar char="•"/>
            </a:pPr>
            <a:r>
              <a:rPr lang="en-US" sz="2400" b="0" i="0" dirty="0">
                <a:solidFill>
                  <a:srgbClr val="2B2A29"/>
                </a:solidFill>
                <a:effectLst/>
                <a:latin typeface="Montserrat" panose="02000505000000020004" pitchFamily="2" charset="0"/>
              </a:rPr>
              <a:t>Linear Regression</a:t>
            </a:r>
          </a:p>
          <a:p>
            <a:pPr algn="just">
              <a:buFont typeface="Arial" panose="020B0604020202020204" pitchFamily="34" charset="0"/>
              <a:buChar char="•"/>
            </a:pPr>
            <a:r>
              <a:rPr lang="en-US" sz="2400" b="0" i="0" dirty="0">
                <a:solidFill>
                  <a:srgbClr val="2B2A29"/>
                </a:solidFill>
                <a:effectLst/>
                <a:latin typeface="Montserrat" panose="02000505000000020004" pitchFamily="2" charset="0"/>
              </a:rPr>
              <a:t>Regression Trees</a:t>
            </a:r>
          </a:p>
          <a:p>
            <a:pPr algn="just">
              <a:buFont typeface="Arial" panose="020B0604020202020204" pitchFamily="34" charset="0"/>
              <a:buChar char="•"/>
            </a:pPr>
            <a:r>
              <a:rPr lang="en-US" sz="2400" b="0" i="0" dirty="0">
                <a:solidFill>
                  <a:srgbClr val="2B2A29"/>
                </a:solidFill>
                <a:effectLst/>
                <a:latin typeface="Montserrat" panose="02000505000000020004" pitchFamily="2" charset="0"/>
              </a:rPr>
              <a:t>Non-Linear Regression</a:t>
            </a:r>
          </a:p>
          <a:p>
            <a:pPr algn="just">
              <a:buFont typeface="Arial" panose="020B0604020202020204" pitchFamily="34" charset="0"/>
              <a:buChar char="•"/>
            </a:pPr>
            <a:r>
              <a:rPr lang="en-US" sz="2400" b="0" i="0" dirty="0">
                <a:solidFill>
                  <a:srgbClr val="2B2A29"/>
                </a:solidFill>
                <a:effectLst/>
                <a:latin typeface="Montserrat" panose="02000505000000020004" pitchFamily="2" charset="0"/>
              </a:rPr>
              <a:t>Bayesian Linear Regression</a:t>
            </a:r>
          </a:p>
          <a:p>
            <a:pPr algn="just">
              <a:buFont typeface="Arial" panose="020B0604020202020204" pitchFamily="34" charset="0"/>
              <a:buChar char="•"/>
            </a:pPr>
            <a:r>
              <a:rPr lang="en-US" sz="2400" b="0" i="0" dirty="0">
                <a:solidFill>
                  <a:srgbClr val="2B2A29"/>
                </a:solidFill>
                <a:effectLst/>
                <a:latin typeface="Montserrat" panose="02000505000000020004" pitchFamily="2" charset="0"/>
              </a:rPr>
              <a:t>Polynomial Regression</a:t>
            </a:r>
          </a:p>
          <a:p>
            <a:endParaRPr lang="en-US" dirty="0"/>
          </a:p>
        </p:txBody>
      </p:sp>
    </p:spTree>
    <p:extLst>
      <p:ext uri="{BB962C8B-B14F-4D97-AF65-F5344CB8AC3E}">
        <p14:creationId xmlns:p14="http://schemas.microsoft.com/office/powerpoint/2010/main" val="3874310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82694" y="475454"/>
            <a:ext cx="5073141" cy="689932"/>
          </a:xfrm>
          <a:prstGeom prst="rect">
            <a:avLst/>
          </a:prstGeom>
        </p:spPr>
        <p:txBody>
          <a:bodyPr vert="horz" wrap="square" lIns="0" tIns="12700" rIns="0" bIns="0" rtlCol="0">
            <a:spAutoFit/>
          </a:bodyPr>
          <a:lstStyle/>
          <a:p>
            <a:pPr marL="12700">
              <a:lnSpc>
                <a:spcPct val="100000"/>
              </a:lnSpc>
              <a:spcBef>
                <a:spcPts val="100"/>
              </a:spcBef>
            </a:pPr>
            <a:r>
              <a:rPr dirty="0"/>
              <a:t>Supervised</a:t>
            </a:r>
            <a:r>
              <a:rPr spc="-165" dirty="0"/>
              <a:t> </a:t>
            </a:r>
            <a:r>
              <a:rPr spc="-10" dirty="0"/>
              <a:t>Learning</a:t>
            </a:r>
          </a:p>
        </p:txBody>
      </p:sp>
      <p:sp>
        <p:nvSpPr>
          <p:cNvPr id="3" name="object 3"/>
          <p:cNvSpPr txBox="1"/>
          <p:nvPr/>
        </p:nvSpPr>
        <p:spPr>
          <a:xfrm>
            <a:off x="268576" y="907302"/>
            <a:ext cx="9713624" cy="1697355"/>
          </a:xfrm>
          <a:prstGeom prst="rect">
            <a:avLst/>
          </a:prstGeom>
        </p:spPr>
        <p:txBody>
          <a:bodyPr vert="horz" wrap="square" lIns="0" tIns="193675" rIns="0" bIns="0" rtlCol="0">
            <a:spAutoFit/>
          </a:bodyPr>
          <a:lstStyle/>
          <a:p>
            <a:pPr marL="4916805">
              <a:lnSpc>
                <a:spcPct val="100000"/>
              </a:lnSpc>
              <a:spcBef>
                <a:spcPts val="1525"/>
              </a:spcBef>
            </a:pPr>
            <a:r>
              <a:rPr lang="en-US" sz="2800" i="1" spc="-10" dirty="0">
                <a:solidFill>
                  <a:srgbClr val="006FC0"/>
                </a:solidFill>
                <a:latin typeface="Calibri"/>
                <a:cs typeface="Calibri"/>
              </a:rPr>
              <a:t>                                   </a:t>
            </a:r>
            <a:r>
              <a:rPr sz="2800" i="1" spc="-10" dirty="0">
                <a:solidFill>
                  <a:srgbClr val="006FC0"/>
                </a:solidFill>
                <a:latin typeface="Calibri"/>
                <a:cs typeface="Calibri"/>
              </a:rPr>
              <a:t>Classification</a:t>
            </a:r>
            <a:endParaRPr sz="2800" dirty="0">
              <a:latin typeface="Calibri"/>
              <a:cs typeface="Calibri"/>
            </a:endParaRPr>
          </a:p>
          <a:p>
            <a:pPr marL="12700">
              <a:lnSpc>
                <a:spcPct val="100000"/>
              </a:lnSpc>
              <a:spcBef>
                <a:spcPts val="1220"/>
              </a:spcBef>
            </a:pPr>
            <a:r>
              <a:rPr sz="2400" b="1" u="sng" dirty="0">
                <a:uFill>
                  <a:solidFill>
                    <a:srgbClr val="000000"/>
                  </a:solidFill>
                </a:uFill>
                <a:latin typeface="Segoe Print"/>
                <a:cs typeface="Segoe Print"/>
              </a:rPr>
              <a:t>Classification:</a:t>
            </a:r>
            <a:r>
              <a:rPr sz="2400" b="1" spc="-45" dirty="0">
                <a:latin typeface="Segoe Print"/>
                <a:cs typeface="Segoe Print"/>
              </a:rPr>
              <a:t> </a:t>
            </a:r>
            <a:r>
              <a:rPr sz="2400" dirty="0">
                <a:latin typeface="Segoe Print"/>
                <a:cs typeface="Segoe Print"/>
              </a:rPr>
              <a:t>Given</a:t>
            </a:r>
            <a:r>
              <a:rPr sz="2400" spc="-35" dirty="0">
                <a:latin typeface="Segoe Print"/>
                <a:cs typeface="Segoe Print"/>
              </a:rPr>
              <a:t> </a:t>
            </a:r>
            <a:r>
              <a:rPr sz="2400" dirty="0">
                <a:latin typeface="Segoe Print"/>
                <a:cs typeface="Segoe Print"/>
              </a:rPr>
              <a:t>a</a:t>
            </a:r>
            <a:r>
              <a:rPr sz="2400" spc="-30" dirty="0">
                <a:latin typeface="Segoe Print"/>
                <a:cs typeface="Segoe Print"/>
              </a:rPr>
              <a:t> </a:t>
            </a:r>
            <a:r>
              <a:rPr sz="2400" dirty="0">
                <a:latin typeface="Segoe Print"/>
                <a:cs typeface="Segoe Print"/>
              </a:rPr>
              <a:t>data</a:t>
            </a:r>
            <a:r>
              <a:rPr sz="2400" spc="-30" dirty="0">
                <a:latin typeface="Segoe Print"/>
                <a:cs typeface="Segoe Print"/>
              </a:rPr>
              <a:t> </a:t>
            </a:r>
            <a:r>
              <a:rPr sz="2400" dirty="0">
                <a:latin typeface="Segoe Print"/>
                <a:cs typeface="Segoe Print"/>
              </a:rPr>
              <a:t>sample,</a:t>
            </a:r>
            <a:r>
              <a:rPr sz="2400" spc="-35" dirty="0">
                <a:latin typeface="Segoe Print"/>
                <a:cs typeface="Segoe Print"/>
              </a:rPr>
              <a:t> </a:t>
            </a:r>
            <a:r>
              <a:rPr sz="2400" dirty="0">
                <a:latin typeface="Segoe Print"/>
                <a:cs typeface="Segoe Print"/>
              </a:rPr>
              <a:t>predict</a:t>
            </a:r>
            <a:r>
              <a:rPr sz="2400" spc="-35" dirty="0">
                <a:latin typeface="Segoe Print"/>
                <a:cs typeface="Segoe Print"/>
              </a:rPr>
              <a:t> </a:t>
            </a:r>
            <a:r>
              <a:rPr sz="2400" dirty="0">
                <a:latin typeface="Segoe Print"/>
                <a:cs typeface="Segoe Print"/>
              </a:rPr>
              <a:t>its</a:t>
            </a:r>
            <a:r>
              <a:rPr sz="2400" spc="-40" dirty="0">
                <a:latin typeface="Segoe Print"/>
                <a:cs typeface="Segoe Print"/>
              </a:rPr>
              <a:t> </a:t>
            </a:r>
            <a:r>
              <a:rPr sz="2400" dirty="0">
                <a:latin typeface="Segoe Print"/>
                <a:cs typeface="Segoe Print"/>
              </a:rPr>
              <a:t>class</a:t>
            </a:r>
            <a:r>
              <a:rPr sz="2400" spc="-30" dirty="0">
                <a:latin typeface="Segoe Print"/>
                <a:cs typeface="Segoe Print"/>
              </a:rPr>
              <a:t> </a:t>
            </a:r>
            <a:r>
              <a:rPr sz="2400" b="1" spc="-10" dirty="0">
                <a:latin typeface="Segoe Print"/>
                <a:cs typeface="Segoe Print"/>
              </a:rPr>
              <a:t>(discrete)</a:t>
            </a:r>
            <a:endParaRPr sz="2400" dirty="0">
              <a:latin typeface="Segoe Print"/>
              <a:cs typeface="Segoe Print"/>
            </a:endParaRPr>
          </a:p>
          <a:p>
            <a:pPr marL="12700">
              <a:lnSpc>
                <a:spcPct val="100000"/>
              </a:lnSpc>
              <a:spcBef>
                <a:spcPts val="1395"/>
              </a:spcBef>
            </a:pPr>
            <a:r>
              <a:rPr sz="2400" b="1" u="sng" spc="-10" dirty="0">
                <a:solidFill>
                  <a:srgbClr val="006FC0"/>
                </a:solidFill>
                <a:uFill>
                  <a:solidFill>
                    <a:srgbClr val="006FC0"/>
                  </a:solidFill>
                </a:uFill>
                <a:latin typeface="Calibri"/>
                <a:cs typeface="Calibri"/>
              </a:rPr>
              <a:t>Examples:</a:t>
            </a:r>
            <a:r>
              <a:rPr sz="2400" b="1" spc="-50" dirty="0">
                <a:solidFill>
                  <a:srgbClr val="006FC0"/>
                </a:solidFill>
                <a:latin typeface="Calibri"/>
                <a:cs typeface="Calibri"/>
              </a:rPr>
              <a:t> </a:t>
            </a:r>
            <a:r>
              <a:rPr sz="2400" b="1" dirty="0">
                <a:solidFill>
                  <a:srgbClr val="006FC0"/>
                </a:solidFill>
                <a:latin typeface="Calibri"/>
                <a:cs typeface="Calibri"/>
              </a:rPr>
              <a:t>Prediction</a:t>
            </a:r>
            <a:r>
              <a:rPr sz="2400" b="1" spc="-75" dirty="0">
                <a:solidFill>
                  <a:srgbClr val="006FC0"/>
                </a:solidFill>
                <a:latin typeface="Calibri"/>
                <a:cs typeface="Calibri"/>
              </a:rPr>
              <a:t> </a:t>
            </a:r>
            <a:r>
              <a:rPr sz="2400" b="1" spc="-25" dirty="0">
                <a:solidFill>
                  <a:srgbClr val="006FC0"/>
                </a:solidFill>
                <a:latin typeface="Calibri"/>
                <a:cs typeface="Calibri"/>
              </a:rPr>
              <a:t>of</a:t>
            </a:r>
            <a:endParaRPr sz="2400" dirty="0">
              <a:latin typeface="Calibri"/>
              <a:cs typeface="Calibri"/>
            </a:endParaRPr>
          </a:p>
        </p:txBody>
      </p:sp>
      <p:pic>
        <p:nvPicPr>
          <p:cNvPr id="4" name="object 4"/>
          <p:cNvPicPr/>
          <p:nvPr/>
        </p:nvPicPr>
        <p:blipFill>
          <a:blip r:embed="rId2" cstate="print"/>
          <a:stretch>
            <a:fillRect/>
          </a:stretch>
        </p:blipFill>
        <p:spPr>
          <a:xfrm>
            <a:off x="10072812" y="1251498"/>
            <a:ext cx="1575497" cy="1604950"/>
          </a:xfrm>
          <a:prstGeom prst="rect">
            <a:avLst/>
          </a:prstGeom>
        </p:spPr>
      </p:pic>
      <p:sp>
        <p:nvSpPr>
          <p:cNvPr id="5" name="object 5"/>
          <p:cNvSpPr txBox="1"/>
          <p:nvPr/>
        </p:nvSpPr>
        <p:spPr>
          <a:xfrm>
            <a:off x="268576" y="2585720"/>
            <a:ext cx="7531100" cy="3317875"/>
          </a:xfrm>
          <a:prstGeom prst="rect">
            <a:avLst/>
          </a:prstGeom>
        </p:spPr>
        <p:txBody>
          <a:bodyPr vert="horz" wrap="square" lIns="0" tIns="149860" rIns="0" bIns="0" rtlCol="0">
            <a:spAutoFit/>
          </a:bodyPr>
          <a:lstStyle/>
          <a:p>
            <a:pPr marL="354965" indent="-342265">
              <a:lnSpc>
                <a:spcPct val="100000"/>
              </a:lnSpc>
              <a:spcBef>
                <a:spcPts val="1180"/>
              </a:spcBef>
              <a:buChar char="-"/>
              <a:tabLst>
                <a:tab pos="354965" algn="l"/>
              </a:tabLst>
            </a:pPr>
            <a:r>
              <a:rPr sz="1800" dirty="0">
                <a:latin typeface="Segoe Print"/>
                <a:cs typeface="Segoe Print"/>
              </a:rPr>
              <a:t>Gender</a:t>
            </a:r>
            <a:r>
              <a:rPr sz="1800" spc="-35" dirty="0">
                <a:latin typeface="Segoe Print"/>
                <a:cs typeface="Segoe Print"/>
              </a:rPr>
              <a:t> </a:t>
            </a:r>
            <a:r>
              <a:rPr sz="1800" dirty="0">
                <a:latin typeface="Segoe Print"/>
                <a:cs typeface="Segoe Print"/>
              </a:rPr>
              <a:t>of</a:t>
            </a:r>
            <a:r>
              <a:rPr sz="1800" spc="-30" dirty="0">
                <a:latin typeface="Segoe Print"/>
                <a:cs typeface="Segoe Print"/>
              </a:rPr>
              <a:t> </a:t>
            </a:r>
            <a:r>
              <a:rPr sz="1800" dirty="0">
                <a:latin typeface="Segoe Print"/>
                <a:cs typeface="Segoe Print"/>
              </a:rPr>
              <a:t>a</a:t>
            </a:r>
            <a:r>
              <a:rPr sz="1800" spc="-25" dirty="0">
                <a:latin typeface="Segoe Print"/>
                <a:cs typeface="Segoe Print"/>
              </a:rPr>
              <a:t> </a:t>
            </a:r>
            <a:r>
              <a:rPr sz="1800" dirty="0">
                <a:latin typeface="Segoe Print"/>
                <a:cs typeface="Segoe Print"/>
              </a:rPr>
              <a:t>person</a:t>
            </a:r>
            <a:r>
              <a:rPr sz="1800" spc="-30" dirty="0">
                <a:latin typeface="Segoe Print"/>
                <a:cs typeface="Segoe Print"/>
              </a:rPr>
              <a:t> </a:t>
            </a:r>
            <a:r>
              <a:rPr sz="1800" dirty="0">
                <a:latin typeface="Segoe Print"/>
                <a:cs typeface="Segoe Print"/>
              </a:rPr>
              <a:t>using</a:t>
            </a:r>
            <a:r>
              <a:rPr sz="1800" spc="-35" dirty="0">
                <a:latin typeface="Segoe Print"/>
                <a:cs typeface="Segoe Print"/>
              </a:rPr>
              <a:t> </a:t>
            </a:r>
            <a:r>
              <a:rPr sz="1800" dirty="0">
                <a:latin typeface="Segoe Print"/>
                <a:cs typeface="Segoe Print"/>
              </a:rPr>
              <a:t>his/her</a:t>
            </a:r>
            <a:r>
              <a:rPr sz="1800" spc="-35" dirty="0">
                <a:latin typeface="Segoe Print"/>
                <a:cs typeface="Segoe Print"/>
              </a:rPr>
              <a:t> </a:t>
            </a:r>
            <a:r>
              <a:rPr sz="1800" dirty="0">
                <a:latin typeface="Segoe Print"/>
                <a:cs typeface="Segoe Print"/>
              </a:rPr>
              <a:t>photo</a:t>
            </a:r>
            <a:r>
              <a:rPr sz="1800" spc="-40" dirty="0">
                <a:latin typeface="Segoe Print"/>
                <a:cs typeface="Segoe Print"/>
              </a:rPr>
              <a:t> </a:t>
            </a:r>
            <a:r>
              <a:rPr sz="1800" dirty="0">
                <a:latin typeface="Segoe Print"/>
                <a:cs typeface="Segoe Print"/>
              </a:rPr>
              <a:t>or</a:t>
            </a:r>
            <a:r>
              <a:rPr sz="1800" spc="-40" dirty="0">
                <a:latin typeface="Segoe Print"/>
                <a:cs typeface="Segoe Print"/>
              </a:rPr>
              <a:t> </a:t>
            </a:r>
            <a:r>
              <a:rPr sz="1800" spc="-10" dirty="0">
                <a:latin typeface="Segoe Print"/>
                <a:cs typeface="Segoe Print"/>
              </a:rPr>
              <a:t>hand-</a:t>
            </a:r>
            <a:r>
              <a:rPr sz="1800" dirty="0">
                <a:latin typeface="Segoe Print"/>
                <a:cs typeface="Segoe Print"/>
              </a:rPr>
              <a:t>writing</a:t>
            </a:r>
            <a:r>
              <a:rPr sz="1800" spc="-25" dirty="0">
                <a:latin typeface="Segoe Print"/>
                <a:cs typeface="Segoe Print"/>
              </a:rPr>
              <a:t> </a:t>
            </a:r>
            <a:r>
              <a:rPr sz="1800" spc="-10" dirty="0">
                <a:latin typeface="Segoe Print"/>
                <a:cs typeface="Segoe Print"/>
              </a:rPr>
              <a:t>style</a:t>
            </a:r>
            <a:endParaRPr sz="180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Spam</a:t>
            </a:r>
            <a:r>
              <a:rPr sz="1800" spc="-45" dirty="0">
                <a:latin typeface="Segoe Print"/>
                <a:cs typeface="Segoe Print"/>
              </a:rPr>
              <a:t> </a:t>
            </a:r>
            <a:r>
              <a:rPr sz="1800" spc="-10" dirty="0">
                <a:latin typeface="Segoe Print"/>
                <a:cs typeface="Segoe Print"/>
              </a:rPr>
              <a:t>filtering</a:t>
            </a:r>
            <a:endParaRPr sz="180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Object</a:t>
            </a:r>
            <a:r>
              <a:rPr sz="1800" spc="-35" dirty="0">
                <a:latin typeface="Segoe Print"/>
                <a:cs typeface="Segoe Print"/>
              </a:rPr>
              <a:t> </a:t>
            </a:r>
            <a:r>
              <a:rPr sz="1800" dirty="0">
                <a:latin typeface="Segoe Print"/>
                <a:cs typeface="Segoe Print"/>
              </a:rPr>
              <a:t>or</a:t>
            </a:r>
            <a:r>
              <a:rPr sz="1800" spc="-40" dirty="0">
                <a:latin typeface="Segoe Print"/>
                <a:cs typeface="Segoe Print"/>
              </a:rPr>
              <a:t> </a:t>
            </a:r>
            <a:r>
              <a:rPr sz="1800" dirty="0">
                <a:latin typeface="Segoe Print"/>
                <a:cs typeface="Segoe Print"/>
              </a:rPr>
              <a:t>face</a:t>
            </a:r>
            <a:r>
              <a:rPr sz="1800" spc="-30" dirty="0">
                <a:latin typeface="Segoe Print"/>
                <a:cs typeface="Segoe Print"/>
              </a:rPr>
              <a:t> </a:t>
            </a:r>
            <a:r>
              <a:rPr sz="1800" dirty="0">
                <a:latin typeface="Segoe Print"/>
                <a:cs typeface="Segoe Print"/>
              </a:rPr>
              <a:t>detection</a:t>
            </a:r>
            <a:r>
              <a:rPr sz="1800" spc="-30" dirty="0">
                <a:latin typeface="Segoe Print"/>
                <a:cs typeface="Segoe Print"/>
              </a:rPr>
              <a:t> </a:t>
            </a:r>
            <a:r>
              <a:rPr sz="1800" dirty="0">
                <a:latin typeface="Segoe Print"/>
                <a:cs typeface="Segoe Print"/>
              </a:rPr>
              <a:t>in</a:t>
            </a:r>
            <a:r>
              <a:rPr sz="1800" spc="-35" dirty="0">
                <a:latin typeface="Segoe Print"/>
                <a:cs typeface="Segoe Print"/>
              </a:rPr>
              <a:t> </a:t>
            </a:r>
            <a:r>
              <a:rPr sz="1800" dirty="0">
                <a:latin typeface="Segoe Print"/>
                <a:cs typeface="Segoe Print"/>
              </a:rPr>
              <a:t>a</a:t>
            </a:r>
            <a:r>
              <a:rPr sz="1800" spc="-30" dirty="0">
                <a:latin typeface="Segoe Print"/>
                <a:cs typeface="Segoe Print"/>
              </a:rPr>
              <a:t> </a:t>
            </a:r>
            <a:r>
              <a:rPr sz="1800" spc="-10" dirty="0">
                <a:latin typeface="Segoe Print"/>
                <a:cs typeface="Segoe Print"/>
              </a:rPr>
              <a:t>photo</a:t>
            </a:r>
            <a:endParaRPr sz="180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We</a:t>
            </a:r>
            <a:r>
              <a:rPr sz="1800" spc="-30" dirty="0">
                <a:latin typeface="Segoe Print"/>
                <a:cs typeface="Segoe Print"/>
              </a:rPr>
              <a:t> </a:t>
            </a:r>
            <a:r>
              <a:rPr sz="1800" dirty="0">
                <a:latin typeface="Segoe Print"/>
                <a:cs typeface="Segoe Print"/>
              </a:rPr>
              <a:t>will</a:t>
            </a:r>
            <a:r>
              <a:rPr sz="1800" spc="-30" dirty="0">
                <a:latin typeface="Segoe Print"/>
                <a:cs typeface="Segoe Print"/>
              </a:rPr>
              <a:t> </a:t>
            </a:r>
            <a:r>
              <a:rPr sz="1800" dirty="0">
                <a:latin typeface="Segoe Print"/>
                <a:cs typeface="Segoe Print"/>
              </a:rPr>
              <a:t>be</a:t>
            </a:r>
            <a:r>
              <a:rPr sz="1800" spc="-30" dirty="0">
                <a:latin typeface="Segoe Print"/>
                <a:cs typeface="Segoe Print"/>
              </a:rPr>
              <a:t> </a:t>
            </a:r>
            <a:r>
              <a:rPr sz="1800" dirty="0">
                <a:latin typeface="Segoe Print"/>
                <a:cs typeface="Segoe Print"/>
              </a:rPr>
              <a:t>back</a:t>
            </a:r>
            <a:r>
              <a:rPr sz="1800" spc="-25" dirty="0">
                <a:latin typeface="Segoe Print"/>
                <a:cs typeface="Segoe Print"/>
              </a:rPr>
              <a:t> </a:t>
            </a:r>
            <a:r>
              <a:rPr sz="1800" dirty="0">
                <a:latin typeface="Segoe Print"/>
                <a:cs typeface="Segoe Print"/>
              </a:rPr>
              <a:t>on</a:t>
            </a:r>
            <a:r>
              <a:rPr sz="1800" spc="-35" dirty="0">
                <a:latin typeface="Segoe Print"/>
                <a:cs typeface="Segoe Print"/>
              </a:rPr>
              <a:t> </a:t>
            </a:r>
            <a:r>
              <a:rPr sz="1800" dirty="0">
                <a:latin typeface="Segoe Print"/>
                <a:cs typeface="Segoe Print"/>
              </a:rPr>
              <a:t>Campus</a:t>
            </a:r>
            <a:r>
              <a:rPr sz="1800" spc="-25" dirty="0">
                <a:latin typeface="Segoe Print"/>
                <a:cs typeface="Segoe Print"/>
              </a:rPr>
              <a:t> </a:t>
            </a:r>
            <a:r>
              <a:rPr sz="1800" dirty="0">
                <a:latin typeface="Segoe Print"/>
                <a:cs typeface="Segoe Print"/>
              </a:rPr>
              <a:t>on</a:t>
            </a:r>
            <a:r>
              <a:rPr sz="1800" spc="-40" dirty="0">
                <a:latin typeface="Segoe Print"/>
                <a:cs typeface="Segoe Print"/>
              </a:rPr>
              <a:t> </a:t>
            </a:r>
            <a:r>
              <a:rPr sz="1800" dirty="0">
                <a:latin typeface="Segoe Print"/>
                <a:cs typeface="Segoe Print"/>
              </a:rPr>
              <a:t>Feb</a:t>
            </a:r>
            <a:r>
              <a:rPr sz="1800" spc="-35" dirty="0">
                <a:latin typeface="Segoe Print"/>
                <a:cs typeface="Segoe Print"/>
              </a:rPr>
              <a:t> </a:t>
            </a:r>
            <a:r>
              <a:rPr sz="1800" spc="-50" dirty="0">
                <a:latin typeface="Segoe Print"/>
                <a:cs typeface="Segoe Print"/>
              </a:rPr>
              <a:t>1</a:t>
            </a:r>
            <a:endParaRPr sz="1800">
              <a:latin typeface="Segoe Print"/>
              <a:cs typeface="Segoe Print"/>
            </a:endParaRPr>
          </a:p>
          <a:p>
            <a:pPr marL="354965" indent="-342265">
              <a:lnSpc>
                <a:spcPct val="100000"/>
              </a:lnSpc>
              <a:spcBef>
                <a:spcPts val="1080"/>
              </a:spcBef>
              <a:buChar char="-"/>
              <a:tabLst>
                <a:tab pos="354965" algn="l"/>
              </a:tabLst>
            </a:pPr>
            <a:r>
              <a:rPr sz="1800" spc="-10" dirty="0">
                <a:latin typeface="Segoe Print"/>
                <a:cs typeface="Segoe Print"/>
              </a:rPr>
              <a:t>Temperature/Rainfall</a:t>
            </a:r>
            <a:r>
              <a:rPr sz="1800" spc="-20" dirty="0">
                <a:latin typeface="Segoe Print"/>
                <a:cs typeface="Segoe Print"/>
              </a:rPr>
              <a:t> </a:t>
            </a:r>
            <a:r>
              <a:rPr sz="1800" dirty="0">
                <a:latin typeface="Segoe Print"/>
                <a:cs typeface="Segoe Print"/>
              </a:rPr>
              <a:t>normal</a:t>
            </a:r>
            <a:r>
              <a:rPr sz="1800" spc="-45" dirty="0">
                <a:latin typeface="Segoe Print"/>
                <a:cs typeface="Segoe Print"/>
              </a:rPr>
              <a:t> </a:t>
            </a:r>
            <a:r>
              <a:rPr sz="1800" dirty="0">
                <a:latin typeface="Segoe Print"/>
                <a:cs typeface="Segoe Print"/>
              </a:rPr>
              <a:t>or</a:t>
            </a:r>
            <a:r>
              <a:rPr sz="1800" spc="-35" dirty="0">
                <a:latin typeface="Segoe Print"/>
                <a:cs typeface="Segoe Print"/>
              </a:rPr>
              <a:t> </a:t>
            </a:r>
            <a:r>
              <a:rPr sz="1800" dirty="0">
                <a:latin typeface="Segoe Print"/>
                <a:cs typeface="Segoe Print"/>
              </a:rPr>
              <a:t>abnormal</a:t>
            </a:r>
            <a:r>
              <a:rPr sz="1800" spc="-40" dirty="0">
                <a:latin typeface="Segoe Print"/>
                <a:cs typeface="Segoe Print"/>
              </a:rPr>
              <a:t> </a:t>
            </a:r>
            <a:r>
              <a:rPr sz="1800" dirty="0">
                <a:latin typeface="Segoe Print"/>
                <a:cs typeface="Segoe Print"/>
              </a:rPr>
              <a:t>during</a:t>
            </a:r>
            <a:r>
              <a:rPr sz="1800" spc="-30" dirty="0">
                <a:latin typeface="Segoe Print"/>
                <a:cs typeface="Segoe Print"/>
              </a:rPr>
              <a:t> </a:t>
            </a:r>
            <a:r>
              <a:rPr sz="1800" spc="-10" dirty="0">
                <a:latin typeface="Segoe Print"/>
                <a:cs typeface="Segoe Print"/>
              </a:rPr>
              <a:t>monsoon</a:t>
            </a:r>
            <a:endParaRPr sz="180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Letter</a:t>
            </a:r>
            <a:r>
              <a:rPr sz="1800" spc="-25" dirty="0">
                <a:latin typeface="Segoe Print"/>
                <a:cs typeface="Segoe Print"/>
              </a:rPr>
              <a:t> </a:t>
            </a:r>
            <a:r>
              <a:rPr sz="1800" dirty="0">
                <a:latin typeface="Segoe Print"/>
                <a:cs typeface="Segoe Print"/>
              </a:rPr>
              <a:t>grade</a:t>
            </a:r>
            <a:r>
              <a:rPr sz="1800" spc="-30" dirty="0">
                <a:latin typeface="Segoe Print"/>
                <a:cs typeface="Segoe Print"/>
              </a:rPr>
              <a:t> </a:t>
            </a:r>
            <a:r>
              <a:rPr sz="1800" dirty="0">
                <a:latin typeface="Segoe Print"/>
                <a:cs typeface="Segoe Print"/>
              </a:rPr>
              <a:t>in</a:t>
            </a:r>
            <a:r>
              <a:rPr sz="1800" spc="-25" dirty="0">
                <a:latin typeface="Segoe Print"/>
                <a:cs typeface="Segoe Print"/>
              </a:rPr>
              <a:t> </a:t>
            </a:r>
            <a:r>
              <a:rPr sz="1800" dirty="0">
                <a:latin typeface="Segoe Print"/>
                <a:cs typeface="Segoe Print"/>
              </a:rPr>
              <a:t>ML</a:t>
            </a:r>
            <a:r>
              <a:rPr sz="1800" spc="-40" dirty="0">
                <a:latin typeface="Segoe Print"/>
                <a:cs typeface="Segoe Print"/>
              </a:rPr>
              <a:t> </a:t>
            </a:r>
            <a:r>
              <a:rPr sz="1800" spc="-10" dirty="0">
                <a:latin typeface="Segoe Print"/>
                <a:cs typeface="Segoe Print"/>
              </a:rPr>
              <a:t>course</a:t>
            </a:r>
            <a:endParaRPr sz="180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Decrease</a:t>
            </a:r>
            <a:r>
              <a:rPr sz="1800" spc="-55" dirty="0">
                <a:latin typeface="Segoe Print"/>
                <a:cs typeface="Segoe Print"/>
              </a:rPr>
              <a:t> </a:t>
            </a:r>
            <a:r>
              <a:rPr sz="1800" dirty="0">
                <a:latin typeface="Segoe Print"/>
                <a:cs typeface="Segoe Print"/>
              </a:rPr>
              <a:t>expected</a:t>
            </a:r>
            <a:r>
              <a:rPr sz="1800" spc="-40" dirty="0">
                <a:latin typeface="Segoe Print"/>
                <a:cs typeface="Segoe Print"/>
              </a:rPr>
              <a:t> </a:t>
            </a:r>
            <a:r>
              <a:rPr sz="1800" dirty="0">
                <a:latin typeface="Segoe Print"/>
                <a:cs typeface="Segoe Print"/>
              </a:rPr>
              <a:t>in</a:t>
            </a:r>
            <a:r>
              <a:rPr sz="1800" spc="-50" dirty="0">
                <a:latin typeface="Segoe Print"/>
                <a:cs typeface="Segoe Print"/>
              </a:rPr>
              <a:t> </a:t>
            </a:r>
            <a:r>
              <a:rPr sz="1800" dirty="0">
                <a:latin typeface="Segoe Print"/>
                <a:cs typeface="Segoe Print"/>
              </a:rPr>
              <a:t>electricity</a:t>
            </a:r>
            <a:r>
              <a:rPr sz="1800" spc="-40" dirty="0">
                <a:latin typeface="Segoe Print"/>
                <a:cs typeface="Segoe Print"/>
              </a:rPr>
              <a:t> </a:t>
            </a:r>
            <a:r>
              <a:rPr sz="1800" dirty="0">
                <a:latin typeface="Segoe Print"/>
                <a:cs typeface="Segoe Print"/>
              </a:rPr>
              <a:t>prices</a:t>
            </a:r>
            <a:r>
              <a:rPr sz="1800" spc="-50" dirty="0">
                <a:latin typeface="Segoe Print"/>
                <a:cs typeface="Segoe Print"/>
              </a:rPr>
              <a:t> </a:t>
            </a:r>
            <a:r>
              <a:rPr sz="1800" dirty="0">
                <a:latin typeface="Segoe Print"/>
                <a:cs typeface="Segoe Print"/>
              </a:rPr>
              <a:t>in</a:t>
            </a:r>
            <a:r>
              <a:rPr sz="1800" spc="-50" dirty="0">
                <a:latin typeface="Segoe Print"/>
                <a:cs typeface="Segoe Print"/>
              </a:rPr>
              <a:t> </a:t>
            </a:r>
            <a:r>
              <a:rPr sz="1800" dirty="0">
                <a:latin typeface="Segoe Print"/>
                <a:cs typeface="Segoe Print"/>
              </a:rPr>
              <a:t>Pakistan</a:t>
            </a:r>
            <a:r>
              <a:rPr sz="1800" spc="-35" dirty="0">
                <a:latin typeface="Segoe Print"/>
                <a:cs typeface="Segoe Print"/>
              </a:rPr>
              <a:t> </a:t>
            </a:r>
            <a:r>
              <a:rPr sz="1800" dirty="0">
                <a:latin typeface="Segoe Print"/>
                <a:cs typeface="Segoe Print"/>
              </a:rPr>
              <a:t>next</a:t>
            </a:r>
            <a:r>
              <a:rPr sz="1800" spc="-50" dirty="0">
                <a:latin typeface="Segoe Print"/>
                <a:cs typeface="Segoe Print"/>
              </a:rPr>
              <a:t> </a:t>
            </a:r>
            <a:r>
              <a:rPr sz="1800" spc="-20" dirty="0">
                <a:latin typeface="Segoe Print"/>
                <a:cs typeface="Segoe Print"/>
              </a:rPr>
              <a:t>year</a:t>
            </a:r>
            <a:endParaRPr sz="1800">
              <a:latin typeface="Segoe Print"/>
              <a:cs typeface="Segoe Print"/>
            </a:endParaRPr>
          </a:p>
          <a:p>
            <a:pPr marL="354965" indent="-342265">
              <a:lnSpc>
                <a:spcPct val="100000"/>
              </a:lnSpc>
              <a:spcBef>
                <a:spcPts val="1080"/>
              </a:spcBef>
              <a:buChar char="-"/>
              <a:tabLst>
                <a:tab pos="354965" algn="l"/>
              </a:tabLst>
            </a:pPr>
            <a:r>
              <a:rPr sz="1800" dirty="0">
                <a:latin typeface="Segoe Print"/>
                <a:cs typeface="Segoe Print"/>
              </a:rPr>
              <a:t>More</a:t>
            </a:r>
            <a:r>
              <a:rPr sz="1800" spc="-65" dirty="0">
                <a:latin typeface="Segoe Print"/>
                <a:cs typeface="Segoe Print"/>
              </a:rPr>
              <a:t> </a:t>
            </a:r>
            <a:r>
              <a:rPr sz="1800" dirty="0">
                <a:latin typeface="Segoe Print"/>
                <a:cs typeface="Segoe Print"/>
              </a:rPr>
              <a:t>than</a:t>
            </a:r>
            <a:r>
              <a:rPr sz="1800" spc="-40" dirty="0">
                <a:latin typeface="Segoe Print"/>
                <a:cs typeface="Segoe Print"/>
              </a:rPr>
              <a:t> </a:t>
            </a:r>
            <a:r>
              <a:rPr sz="1800" dirty="0">
                <a:latin typeface="Segoe Print"/>
                <a:cs typeface="Segoe Print"/>
              </a:rPr>
              <a:t>10000</a:t>
            </a:r>
            <a:r>
              <a:rPr sz="1800" spc="-55" dirty="0">
                <a:latin typeface="Segoe Print"/>
                <a:cs typeface="Segoe Print"/>
              </a:rPr>
              <a:t> </a:t>
            </a:r>
            <a:r>
              <a:rPr sz="1800" dirty="0">
                <a:latin typeface="Segoe Print"/>
                <a:cs typeface="Segoe Print"/>
              </a:rPr>
              <a:t>Steps</a:t>
            </a:r>
            <a:r>
              <a:rPr sz="1800" spc="-40" dirty="0">
                <a:latin typeface="Segoe Print"/>
                <a:cs typeface="Segoe Print"/>
              </a:rPr>
              <a:t> </a:t>
            </a:r>
            <a:r>
              <a:rPr sz="1800" dirty="0">
                <a:latin typeface="Segoe Print"/>
                <a:cs typeface="Segoe Print"/>
              </a:rPr>
              <a:t>taken</a:t>
            </a:r>
            <a:r>
              <a:rPr sz="1800" spc="-40" dirty="0">
                <a:latin typeface="Segoe Print"/>
                <a:cs typeface="Segoe Print"/>
              </a:rPr>
              <a:t> </a:t>
            </a:r>
            <a:r>
              <a:rPr sz="1800" spc="-10" dirty="0">
                <a:latin typeface="Segoe Print"/>
                <a:cs typeface="Segoe Print"/>
              </a:rPr>
              <a:t>today</a:t>
            </a:r>
            <a:endParaRPr sz="1800">
              <a:latin typeface="Segoe Print"/>
              <a:cs typeface="Segoe Print"/>
            </a:endParaRPr>
          </a:p>
        </p:txBody>
      </p:sp>
      <p:sp>
        <p:nvSpPr>
          <p:cNvPr id="6" name="object 6"/>
          <p:cNvSpPr txBox="1"/>
          <p:nvPr/>
        </p:nvSpPr>
        <p:spPr>
          <a:xfrm>
            <a:off x="8399625" y="2958846"/>
            <a:ext cx="3710304" cy="1084580"/>
          </a:xfrm>
          <a:prstGeom prst="rect">
            <a:avLst/>
          </a:prstGeom>
        </p:spPr>
        <p:txBody>
          <a:bodyPr vert="horz" wrap="square" lIns="0" tIns="12065" rIns="0" bIns="0" rtlCol="0">
            <a:spAutoFit/>
          </a:bodyPr>
          <a:lstStyle/>
          <a:p>
            <a:pPr marL="12700" marR="186690">
              <a:lnSpc>
                <a:spcPct val="100000"/>
              </a:lnSpc>
              <a:spcBef>
                <a:spcPts val="95"/>
              </a:spcBef>
            </a:pPr>
            <a:r>
              <a:rPr sz="2000" dirty="0">
                <a:solidFill>
                  <a:srgbClr val="C00000"/>
                </a:solidFill>
                <a:latin typeface="Segoe Print"/>
                <a:cs typeface="Segoe Print"/>
              </a:rPr>
              <a:t>What</a:t>
            </a:r>
            <a:r>
              <a:rPr sz="2000" spc="-25" dirty="0">
                <a:solidFill>
                  <a:srgbClr val="C00000"/>
                </a:solidFill>
                <a:latin typeface="Segoe Print"/>
                <a:cs typeface="Segoe Print"/>
              </a:rPr>
              <a:t> </a:t>
            </a:r>
            <a:r>
              <a:rPr sz="2000" dirty="0">
                <a:solidFill>
                  <a:srgbClr val="C00000"/>
                </a:solidFill>
                <a:latin typeface="Segoe Print"/>
                <a:cs typeface="Segoe Print"/>
              </a:rPr>
              <a:t>do</a:t>
            </a:r>
            <a:r>
              <a:rPr sz="2000" spc="-30" dirty="0">
                <a:solidFill>
                  <a:srgbClr val="C00000"/>
                </a:solidFill>
                <a:latin typeface="Segoe Print"/>
                <a:cs typeface="Segoe Print"/>
              </a:rPr>
              <a:t> </a:t>
            </a:r>
            <a:r>
              <a:rPr sz="2000" dirty="0">
                <a:solidFill>
                  <a:srgbClr val="C00000"/>
                </a:solidFill>
                <a:latin typeface="Segoe Print"/>
                <a:cs typeface="Segoe Print"/>
              </a:rPr>
              <a:t>all</a:t>
            </a:r>
            <a:r>
              <a:rPr sz="2000" spc="-15" dirty="0">
                <a:solidFill>
                  <a:srgbClr val="C00000"/>
                </a:solidFill>
                <a:latin typeface="Segoe Print"/>
                <a:cs typeface="Segoe Print"/>
              </a:rPr>
              <a:t> </a:t>
            </a:r>
            <a:r>
              <a:rPr sz="2000" dirty="0">
                <a:solidFill>
                  <a:srgbClr val="C00000"/>
                </a:solidFill>
                <a:latin typeface="Segoe Print"/>
                <a:cs typeface="Segoe Print"/>
              </a:rPr>
              <a:t>these</a:t>
            </a:r>
            <a:r>
              <a:rPr sz="2000" spc="-35" dirty="0">
                <a:solidFill>
                  <a:srgbClr val="C00000"/>
                </a:solidFill>
                <a:latin typeface="Segoe Print"/>
                <a:cs typeface="Segoe Print"/>
              </a:rPr>
              <a:t> </a:t>
            </a:r>
            <a:r>
              <a:rPr sz="2000" spc="-10" dirty="0">
                <a:solidFill>
                  <a:srgbClr val="C00000"/>
                </a:solidFill>
                <a:latin typeface="Segoe Print"/>
                <a:cs typeface="Segoe Print"/>
              </a:rPr>
              <a:t>problems </a:t>
            </a:r>
            <a:r>
              <a:rPr sz="2000" dirty="0">
                <a:solidFill>
                  <a:srgbClr val="C00000"/>
                </a:solidFill>
                <a:latin typeface="Segoe Print"/>
                <a:cs typeface="Segoe Print"/>
              </a:rPr>
              <a:t>have</a:t>
            </a:r>
            <a:r>
              <a:rPr sz="2000" spc="-10" dirty="0">
                <a:solidFill>
                  <a:srgbClr val="C00000"/>
                </a:solidFill>
                <a:latin typeface="Segoe Print"/>
                <a:cs typeface="Segoe Print"/>
              </a:rPr>
              <a:t> </a:t>
            </a:r>
            <a:r>
              <a:rPr sz="2000" dirty="0">
                <a:solidFill>
                  <a:srgbClr val="C00000"/>
                </a:solidFill>
                <a:latin typeface="Segoe Print"/>
                <a:cs typeface="Segoe Print"/>
              </a:rPr>
              <a:t>in</a:t>
            </a:r>
            <a:r>
              <a:rPr sz="2000" spc="-5" dirty="0">
                <a:solidFill>
                  <a:srgbClr val="C00000"/>
                </a:solidFill>
                <a:latin typeface="Segoe Print"/>
                <a:cs typeface="Segoe Print"/>
              </a:rPr>
              <a:t> </a:t>
            </a:r>
            <a:r>
              <a:rPr sz="2000" spc="-10" dirty="0">
                <a:solidFill>
                  <a:srgbClr val="C00000"/>
                </a:solidFill>
                <a:latin typeface="Segoe Print"/>
                <a:cs typeface="Segoe Print"/>
              </a:rPr>
              <a:t>common?</a:t>
            </a:r>
            <a:endParaRPr sz="2000">
              <a:latin typeface="Segoe Print"/>
              <a:cs typeface="Segoe Print"/>
            </a:endParaRPr>
          </a:p>
          <a:p>
            <a:pPr marL="12700">
              <a:lnSpc>
                <a:spcPct val="100000"/>
              </a:lnSpc>
              <a:spcBef>
                <a:spcPts val="1140"/>
              </a:spcBef>
            </a:pPr>
            <a:r>
              <a:rPr sz="2000" dirty="0">
                <a:solidFill>
                  <a:srgbClr val="00AF50"/>
                </a:solidFill>
                <a:latin typeface="Segoe Print"/>
                <a:cs typeface="Segoe Print"/>
              </a:rPr>
              <a:t>Discrete</a:t>
            </a:r>
            <a:r>
              <a:rPr sz="2000" spc="-45" dirty="0">
                <a:solidFill>
                  <a:srgbClr val="00AF50"/>
                </a:solidFill>
                <a:latin typeface="Segoe Print"/>
                <a:cs typeface="Segoe Print"/>
              </a:rPr>
              <a:t> </a:t>
            </a:r>
            <a:r>
              <a:rPr sz="2000" dirty="0">
                <a:solidFill>
                  <a:srgbClr val="00AF50"/>
                </a:solidFill>
                <a:latin typeface="Segoe Print"/>
                <a:cs typeface="Segoe Print"/>
              </a:rPr>
              <a:t>outputs:</a:t>
            </a:r>
            <a:r>
              <a:rPr sz="2000" spc="-35" dirty="0">
                <a:solidFill>
                  <a:srgbClr val="00AF50"/>
                </a:solidFill>
                <a:latin typeface="Segoe Print"/>
                <a:cs typeface="Segoe Print"/>
              </a:rPr>
              <a:t> </a:t>
            </a:r>
            <a:r>
              <a:rPr sz="2000" spc="-10" dirty="0">
                <a:solidFill>
                  <a:srgbClr val="00AF50"/>
                </a:solidFill>
                <a:latin typeface="Segoe Print"/>
                <a:cs typeface="Segoe Print"/>
              </a:rPr>
              <a:t>Categorical</a:t>
            </a:r>
            <a:endParaRPr sz="2000">
              <a:latin typeface="Segoe Print"/>
              <a:cs typeface="Segoe Print"/>
            </a:endParaRPr>
          </a:p>
        </p:txBody>
      </p:sp>
      <p:sp>
        <p:nvSpPr>
          <p:cNvPr id="7" name="object 7"/>
          <p:cNvSpPr txBox="1"/>
          <p:nvPr/>
        </p:nvSpPr>
        <p:spPr>
          <a:xfrm>
            <a:off x="8399625" y="4322825"/>
            <a:ext cx="3818254" cy="330200"/>
          </a:xfrm>
          <a:prstGeom prst="rect">
            <a:avLst/>
          </a:prstGeom>
        </p:spPr>
        <p:txBody>
          <a:bodyPr vert="horz" wrap="square" lIns="0" tIns="12065" rIns="0" bIns="0" rtlCol="0">
            <a:spAutoFit/>
          </a:bodyPr>
          <a:lstStyle/>
          <a:p>
            <a:pPr marL="12700">
              <a:lnSpc>
                <a:spcPct val="100000"/>
              </a:lnSpc>
              <a:spcBef>
                <a:spcPts val="95"/>
              </a:spcBef>
            </a:pPr>
            <a:r>
              <a:rPr sz="2000" dirty="0">
                <a:solidFill>
                  <a:srgbClr val="00AF50"/>
                </a:solidFill>
                <a:latin typeface="Segoe Print"/>
                <a:cs typeface="Segoe Print"/>
              </a:rPr>
              <a:t>Yes/No</a:t>
            </a:r>
            <a:r>
              <a:rPr sz="2000" spc="-60" dirty="0">
                <a:solidFill>
                  <a:srgbClr val="00AF50"/>
                </a:solidFill>
                <a:latin typeface="Segoe Print"/>
                <a:cs typeface="Segoe Print"/>
              </a:rPr>
              <a:t> </a:t>
            </a:r>
            <a:r>
              <a:rPr sz="2000" dirty="0">
                <a:solidFill>
                  <a:srgbClr val="00AF50"/>
                </a:solidFill>
                <a:latin typeface="Segoe Print"/>
                <a:cs typeface="Segoe Print"/>
              </a:rPr>
              <a:t>(Binary</a:t>
            </a:r>
            <a:r>
              <a:rPr sz="2000" spc="-55" dirty="0">
                <a:solidFill>
                  <a:srgbClr val="00AF50"/>
                </a:solidFill>
                <a:latin typeface="Segoe Print"/>
                <a:cs typeface="Segoe Print"/>
              </a:rPr>
              <a:t> </a:t>
            </a:r>
            <a:r>
              <a:rPr sz="2000" spc="-10" dirty="0">
                <a:solidFill>
                  <a:srgbClr val="00AF50"/>
                </a:solidFill>
                <a:latin typeface="Segoe Print"/>
                <a:cs typeface="Segoe Print"/>
              </a:rPr>
              <a:t>Classification)</a:t>
            </a:r>
            <a:endParaRPr sz="2000">
              <a:latin typeface="Segoe Print"/>
              <a:cs typeface="Segoe Print"/>
            </a:endParaRPr>
          </a:p>
        </p:txBody>
      </p:sp>
      <p:sp>
        <p:nvSpPr>
          <p:cNvPr id="8" name="object 8"/>
          <p:cNvSpPr txBox="1"/>
          <p:nvPr/>
        </p:nvSpPr>
        <p:spPr>
          <a:xfrm>
            <a:off x="8399625" y="4932425"/>
            <a:ext cx="3179445" cy="635000"/>
          </a:xfrm>
          <a:prstGeom prst="rect">
            <a:avLst/>
          </a:prstGeom>
        </p:spPr>
        <p:txBody>
          <a:bodyPr vert="horz" wrap="square" lIns="0" tIns="12065" rIns="0" bIns="0" rtlCol="0">
            <a:spAutoFit/>
          </a:bodyPr>
          <a:lstStyle/>
          <a:p>
            <a:pPr marL="12700" marR="5080">
              <a:lnSpc>
                <a:spcPct val="100000"/>
              </a:lnSpc>
              <a:spcBef>
                <a:spcPts val="95"/>
              </a:spcBef>
            </a:pPr>
            <a:r>
              <a:rPr sz="2000" spc="-25" dirty="0">
                <a:solidFill>
                  <a:srgbClr val="00AF50"/>
                </a:solidFill>
                <a:latin typeface="Segoe Print"/>
                <a:cs typeface="Segoe Print"/>
              </a:rPr>
              <a:t>Multi-</a:t>
            </a:r>
            <a:r>
              <a:rPr sz="2000" dirty="0">
                <a:solidFill>
                  <a:srgbClr val="00AF50"/>
                </a:solidFill>
                <a:latin typeface="Segoe Print"/>
                <a:cs typeface="Segoe Print"/>
              </a:rPr>
              <a:t>class</a:t>
            </a:r>
            <a:r>
              <a:rPr sz="2000" spc="15" dirty="0">
                <a:solidFill>
                  <a:srgbClr val="00AF50"/>
                </a:solidFill>
                <a:latin typeface="Segoe Print"/>
                <a:cs typeface="Segoe Print"/>
              </a:rPr>
              <a:t> </a:t>
            </a:r>
            <a:r>
              <a:rPr sz="2000" spc="-10" dirty="0">
                <a:solidFill>
                  <a:srgbClr val="00AF50"/>
                </a:solidFill>
                <a:latin typeface="Segoe Print"/>
                <a:cs typeface="Segoe Print"/>
              </a:rPr>
              <a:t>classification: </a:t>
            </a:r>
            <a:r>
              <a:rPr sz="2000" dirty="0">
                <a:solidFill>
                  <a:srgbClr val="00AF50"/>
                </a:solidFill>
                <a:latin typeface="Segoe Print"/>
                <a:cs typeface="Segoe Print"/>
              </a:rPr>
              <a:t>multiple</a:t>
            </a:r>
            <a:r>
              <a:rPr sz="2000" spc="-80" dirty="0">
                <a:solidFill>
                  <a:srgbClr val="00AF50"/>
                </a:solidFill>
                <a:latin typeface="Segoe Print"/>
                <a:cs typeface="Segoe Print"/>
              </a:rPr>
              <a:t> </a:t>
            </a:r>
            <a:r>
              <a:rPr sz="2000" spc="-10" dirty="0">
                <a:solidFill>
                  <a:srgbClr val="00AF50"/>
                </a:solidFill>
                <a:latin typeface="Segoe Print"/>
                <a:cs typeface="Segoe Print"/>
              </a:rPr>
              <a:t>classes</a:t>
            </a:r>
            <a:endParaRPr sz="2000">
              <a:latin typeface="Segoe Print"/>
              <a:cs typeface="Segoe Print"/>
            </a:endParaRPr>
          </a:p>
        </p:txBody>
      </p:sp>
      <p:sp>
        <p:nvSpPr>
          <p:cNvPr id="9" name="object 9"/>
          <p:cNvSpPr txBox="1"/>
          <p:nvPr/>
        </p:nvSpPr>
        <p:spPr>
          <a:xfrm>
            <a:off x="2982694" y="6219570"/>
            <a:ext cx="7196455" cy="400050"/>
          </a:xfrm>
          <a:prstGeom prst="rect">
            <a:avLst/>
          </a:prstGeom>
          <a:ln w="9905">
            <a:solidFill>
              <a:srgbClr val="000000"/>
            </a:solidFill>
          </a:ln>
        </p:spPr>
        <p:txBody>
          <a:bodyPr vert="horz" wrap="square" lIns="0" tIns="9525" rIns="0" bIns="0" rtlCol="0">
            <a:spAutoFit/>
          </a:bodyPr>
          <a:lstStyle/>
          <a:p>
            <a:pPr marL="91440">
              <a:lnSpc>
                <a:spcPct val="100000"/>
              </a:lnSpc>
              <a:spcBef>
                <a:spcPts val="75"/>
              </a:spcBef>
            </a:pPr>
            <a:r>
              <a:rPr sz="2000" dirty="0">
                <a:latin typeface="Segoe Print"/>
                <a:cs typeface="Segoe Print"/>
              </a:rPr>
              <a:t>Predicting</a:t>
            </a:r>
            <a:r>
              <a:rPr sz="2000" spc="-50" dirty="0">
                <a:latin typeface="Segoe Print"/>
                <a:cs typeface="Segoe Print"/>
              </a:rPr>
              <a:t> </a:t>
            </a:r>
            <a:r>
              <a:rPr sz="2000" dirty="0">
                <a:latin typeface="Segoe Print"/>
                <a:cs typeface="Segoe Print"/>
              </a:rPr>
              <a:t>a</a:t>
            </a:r>
            <a:r>
              <a:rPr sz="2000" spc="-50" dirty="0">
                <a:latin typeface="Segoe Print"/>
                <a:cs typeface="Segoe Print"/>
              </a:rPr>
              <a:t> </a:t>
            </a:r>
            <a:r>
              <a:rPr sz="2000" dirty="0">
                <a:latin typeface="Segoe Print"/>
                <a:cs typeface="Segoe Print"/>
              </a:rPr>
              <a:t>categorical</a:t>
            </a:r>
            <a:r>
              <a:rPr sz="2000" spc="-50" dirty="0">
                <a:latin typeface="Segoe Print"/>
                <a:cs typeface="Segoe Print"/>
              </a:rPr>
              <a:t> </a:t>
            </a:r>
            <a:r>
              <a:rPr sz="2000" dirty="0">
                <a:latin typeface="Segoe Print"/>
                <a:cs typeface="Segoe Print"/>
              </a:rPr>
              <a:t>output</a:t>
            </a:r>
            <a:r>
              <a:rPr sz="2000" spc="-40" dirty="0">
                <a:latin typeface="Segoe Print"/>
                <a:cs typeface="Segoe Print"/>
              </a:rPr>
              <a:t> </a:t>
            </a:r>
            <a:r>
              <a:rPr sz="2000" dirty="0">
                <a:latin typeface="Segoe Print"/>
                <a:cs typeface="Segoe Print"/>
              </a:rPr>
              <a:t>is</a:t>
            </a:r>
            <a:r>
              <a:rPr sz="2000" spc="-50" dirty="0">
                <a:latin typeface="Segoe Print"/>
                <a:cs typeface="Segoe Print"/>
              </a:rPr>
              <a:t> </a:t>
            </a:r>
            <a:r>
              <a:rPr sz="2000" dirty="0">
                <a:latin typeface="Segoe Print"/>
                <a:cs typeface="Segoe Print"/>
              </a:rPr>
              <a:t>called</a:t>
            </a:r>
            <a:r>
              <a:rPr sz="2000" spc="-40" dirty="0">
                <a:latin typeface="Segoe Print"/>
                <a:cs typeface="Segoe Print"/>
              </a:rPr>
              <a:t> </a:t>
            </a:r>
            <a:r>
              <a:rPr sz="2000" spc="-10" dirty="0">
                <a:latin typeface="Segoe Print"/>
                <a:cs typeface="Segoe Print"/>
              </a:rPr>
              <a:t>classification</a:t>
            </a:r>
            <a:endParaRPr sz="2000">
              <a:latin typeface="Segoe Print"/>
              <a:cs typeface="Segoe Prin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D0C02-7EC6-7BB9-C3E4-4FB89917BE3B}"/>
              </a:ext>
            </a:extLst>
          </p:cNvPr>
          <p:cNvSpPr>
            <a:spLocks noGrp="1"/>
          </p:cNvSpPr>
          <p:nvPr>
            <p:ph type="title"/>
          </p:nvPr>
        </p:nvSpPr>
        <p:spPr/>
        <p:txBody>
          <a:bodyPr/>
          <a:lstStyle/>
          <a:p>
            <a:r>
              <a:rPr lang="en-US" b="0" i="0" dirty="0">
                <a:solidFill>
                  <a:srgbClr val="2B2A29"/>
                </a:solidFill>
                <a:effectLst/>
                <a:latin typeface="Montserrat" panose="02000505000000020004" pitchFamily="2" charset="0"/>
              </a:rPr>
              <a:t>Spam Filtering</a:t>
            </a:r>
            <a:br>
              <a:rPr lang="en-US" b="0" i="0" dirty="0">
                <a:solidFill>
                  <a:srgbClr val="2B2A29"/>
                </a:solidFill>
                <a:effectLst/>
                <a:latin typeface="Montserrat" panose="02000505000000020004" pitchFamily="2" charset="0"/>
              </a:rPr>
            </a:br>
            <a:endParaRPr lang="en-US" dirty="0"/>
          </a:p>
        </p:txBody>
      </p:sp>
      <p:sp>
        <p:nvSpPr>
          <p:cNvPr id="3" name="Content Placeholder 2">
            <a:extLst>
              <a:ext uri="{FF2B5EF4-FFF2-40B4-BE49-F238E27FC236}">
                <a16:creationId xmlns:a16="http://schemas.microsoft.com/office/drawing/2014/main" id="{5E2D7779-FC9E-E526-334A-FB99508E2C27}"/>
              </a:ext>
            </a:extLst>
          </p:cNvPr>
          <p:cNvSpPr>
            <a:spLocks noGrp="1"/>
          </p:cNvSpPr>
          <p:nvPr>
            <p:ph idx="1"/>
          </p:nvPr>
        </p:nvSpPr>
        <p:spPr/>
        <p:txBody>
          <a:bodyPr/>
          <a:lstStyle/>
          <a:p>
            <a:pPr algn="just">
              <a:buFont typeface="Arial" panose="020B0604020202020204" pitchFamily="34" charset="0"/>
              <a:buChar char="•"/>
            </a:pPr>
            <a:r>
              <a:rPr lang="en-US" sz="2400" b="0" i="0" dirty="0">
                <a:solidFill>
                  <a:srgbClr val="2B2A29"/>
                </a:solidFill>
                <a:effectLst/>
                <a:latin typeface="Montserrat" panose="02000505000000020004" pitchFamily="2" charset="0"/>
              </a:rPr>
              <a:t>Random Forest</a:t>
            </a:r>
          </a:p>
          <a:p>
            <a:pPr algn="just">
              <a:buFont typeface="Arial" panose="020B0604020202020204" pitchFamily="34" charset="0"/>
              <a:buChar char="•"/>
            </a:pPr>
            <a:r>
              <a:rPr lang="en-US" sz="2400" b="0" i="0" dirty="0">
                <a:solidFill>
                  <a:srgbClr val="2B2A29"/>
                </a:solidFill>
                <a:effectLst/>
                <a:latin typeface="Montserrat" panose="02000505000000020004" pitchFamily="2" charset="0"/>
              </a:rPr>
              <a:t>Decision Trees</a:t>
            </a:r>
          </a:p>
          <a:p>
            <a:pPr algn="just">
              <a:buFont typeface="Arial" panose="020B0604020202020204" pitchFamily="34" charset="0"/>
              <a:buChar char="•"/>
            </a:pPr>
            <a:r>
              <a:rPr lang="en-US" sz="2400" b="0" i="0" dirty="0">
                <a:solidFill>
                  <a:srgbClr val="2B2A29"/>
                </a:solidFill>
                <a:effectLst/>
                <a:latin typeface="Montserrat" panose="02000505000000020004" pitchFamily="2" charset="0"/>
              </a:rPr>
              <a:t>Logistic Regression</a:t>
            </a:r>
          </a:p>
          <a:p>
            <a:pPr algn="just">
              <a:buFont typeface="Arial" panose="020B0604020202020204" pitchFamily="34" charset="0"/>
              <a:buChar char="•"/>
            </a:pPr>
            <a:r>
              <a:rPr lang="en-US" sz="2400" b="0" i="0" dirty="0">
                <a:solidFill>
                  <a:srgbClr val="2B2A29"/>
                </a:solidFill>
                <a:effectLst/>
                <a:latin typeface="Montserrat" panose="02000505000000020004" pitchFamily="2" charset="0"/>
              </a:rPr>
              <a:t>Support vector Machines</a:t>
            </a:r>
          </a:p>
          <a:p>
            <a:endParaRPr lang="en-US" dirty="0"/>
          </a:p>
        </p:txBody>
      </p:sp>
    </p:spTree>
    <p:extLst>
      <p:ext uri="{BB962C8B-B14F-4D97-AF65-F5344CB8AC3E}">
        <p14:creationId xmlns:p14="http://schemas.microsoft.com/office/powerpoint/2010/main" val="4272245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E0431-C3AC-C267-AEB7-AEF740A89E3D}"/>
              </a:ext>
            </a:extLst>
          </p:cNvPr>
          <p:cNvSpPr>
            <a:spLocks noGrp="1"/>
          </p:cNvSpPr>
          <p:nvPr>
            <p:ph type="title"/>
          </p:nvPr>
        </p:nvSpPr>
        <p:spPr/>
        <p:txBody>
          <a:bodyPr>
            <a:normAutofit/>
          </a:bodyPr>
          <a:lstStyle/>
          <a:p>
            <a:r>
              <a:rPr lang="en-US" b="0" i="0" dirty="0">
                <a:solidFill>
                  <a:srgbClr val="1D1D27"/>
                </a:solidFill>
                <a:effectLst/>
                <a:latin typeface="Montserrat" panose="02000505000000020004" pitchFamily="2" charset="0"/>
              </a:rPr>
              <a:t>Types of Unsupervised Learning Algorithm:</a:t>
            </a:r>
            <a:br>
              <a:rPr lang="en-US" b="0" i="0" dirty="0">
                <a:solidFill>
                  <a:srgbClr val="1D1D27"/>
                </a:solidFill>
                <a:effectLst/>
                <a:latin typeface="Montserrat" panose="02000505000000020004" pitchFamily="2" charset="0"/>
              </a:rPr>
            </a:br>
            <a:endParaRPr lang="en-US" dirty="0"/>
          </a:p>
        </p:txBody>
      </p:sp>
      <p:pic>
        <p:nvPicPr>
          <p:cNvPr id="5" name="Content Placeholder 4" descr="A diagram of a learning process&#10;&#10;Description automatically generated">
            <a:extLst>
              <a:ext uri="{FF2B5EF4-FFF2-40B4-BE49-F238E27FC236}">
                <a16:creationId xmlns:a16="http://schemas.microsoft.com/office/drawing/2014/main" id="{6AC587EF-7648-E7E0-FF20-85B56AA564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1524000"/>
            <a:ext cx="8534400" cy="3906044"/>
          </a:xfrm>
        </p:spPr>
      </p:pic>
    </p:spTree>
    <p:extLst>
      <p:ext uri="{BB962C8B-B14F-4D97-AF65-F5344CB8AC3E}">
        <p14:creationId xmlns:p14="http://schemas.microsoft.com/office/powerpoint/2010/main" val="4233642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F2464A-D2C2-8879-7A61-8D1B3B64A3F2}"/>
              </a:ext>
            </a:extLst>
          </p:cNvPr>
          <p:cNvSpPr>
            <a:spLocks noGrp="1"/>
          </p:cNvSpPr>
          <p:nvPr>
            <p:ph type="title"/>
          </p:nvPr>
        </p:nvSpPr>
        <p:spPr>
          <a:xfrm>
            <a:off x="793662" y="386930"/>
            <a:ext cx="10066122" cy="1298448"/>
          </a:xfrm>
        </p:spPr>
        <p:txBody>
          <a:bodyPr anchor="b">
            <a:normAutofit/>
          </a:bodyPr>
          <a:lstStyle/>
          <a:p>
            <a:r>
              <a:rPr lang="en-US" sz="4800" b="1" i="0">
                <a:effectLst/>
                <a:latin typeface="Montserrat" panose="02000505000000020004" pitchFamily="2" charset="0"/>
              </a:rPr>
              <a:t>Clustering</a:t>
            </a:r>
            <a:r>
              <a:rPr lang="en-US" sz="4800" b="0" i="0">
                <a:effectLst/>
                <a:latin typeface="Montserrat" panose="02000505000000020004" pitchFamily="2" charset="0"/>
              </a:rPr>
              <a:t>:</a:t>
            </a:r>
            <a:endParaRPr lang="en-US" sz="4800"/>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868B7F3-58BB-5D3C-42A5-B509F1CA1272}"/>
              </a:ext>
            </a:extLst>
          </p:cNvPr>
          <p:cNvSpPr>
            <a:spLocks noGrp="1"/>
          </p:cNvSpPr>
          <p:nvPr>
            <p:ph idx="1"/>
          </p:nvPr>
        </p:nvSpPr>
        <p:spPr>
          <a:xfrm>
            <a:off x="793661" y="2599509"/>
            <a:ext cx="4530898" cy="3639450"/>
          </a:xfrm>
        </p:spPr>
        <p:txBody>
          <a:bodyPr anchor="ctr">
            <a:normAutofit/>
          </a:bodyPr>
          <a:lstStyle/>
          <a:p>
            <a:r>
              <a:rPr lang="en-US" sz="1400" b="0" i="0" dirty="0">
                <a:effectLst/>
                <a:latin typeface="Montserrat" panose="02000505000000020004" pitchFamily="2" charset="0"/>
              </a:rPr>
              <a:t>Clustering is a method of grouping the objects into </a:t>
            </a:r>
            <a:r>
              <a:rPr lang="en-US" sz="1400" b="0" i="0" dirty="0">
                <a:solidFill>
                  <a:srgbClr val="FF0000"/>
                </a:solidFill>
                <a:effectLst/>
                <a:latin typeface="Montserrat" panose="02000505000000020004" pitchFamily="2" charset="0"/>
              </a:rPr>
              <a:t>clusters such that objects with most similarities remains into a group and has less or no similarities with the objects of another group.</a:t>
            </a:r>
            <a:r>
              <a:rPr lang="en-US" sz="1400" b="0" i="0" dirty="0">
                <a:effectLst/>
                <a:latin typeface="Montserrat" panose="02000505000000020004" pitchFamily="2" charset="0"/>
              </a:rPr>
              <a:t> Cluster analysis finds the commonalities between the data objects and categorizes them as per the presence and absence of those commonalities.</a:t>
            </a:r>
          </a:p>
          <a:p>
            <a:r>
              <a:rPr lang="en-US" sz="1400" b="0" i="0" dirty="0">
                <a:effectLst/>
                <a:latin typeface="Montserrat" panose="02000505000000020004" pitchFamily="2" charset="0"/>
              </a:rPr>
              <a:t>The clustering technique can be widely used in various tasks. Some most common uses of this technique are:</a:t>
            </a:r>
          </a:p>
          <a:p>
            <a:pPr lvl="1"/>
            <a:r>
              <a:rPr lang="en-US" sz="1400" b="0" i="0" dirty="0">
                <a:effectLst/>
                <a:latin typeface="Montserrat" panose="02000505000000020004" pitchFamily="2" charset="0"/>
              </a:rPr>
              <a:t>Market Segmentation</a:t>
            </a:r>
          </a:p>
          <a:p>
            <a:pPr lvl="1"/>
            <a:r>
              <a:rPr lang="en-US" sz="1400" b="0" i="0" dirty="0">
                <a:effectLst/>
                <a:latin typeface="Montserrat" panose="02000505000000020004" pitchFamily="2" charset="0"/>
              </a:rPr>
              <a:t>Statistical data analysis</a:t>
            </a:r>
          </a:p>
          <a:p>
            <a:pPr lvl="1"/>
            <a:r>
              <a:rPr lang="en-US" sz="1400" b="0" i="0" dirty="0">
                <a:effectLst/>
                <a:latin typeface="Montserrat" panose="02000505000000020004" pitchFamily="2" charset="0"/>
              </a:rPr>
              <a:t>Social network analysis</a:t>
            </a:r>
          </a:p>
          <a:p>
            <a:pPr lvl="1"/>
            <a:r>
              <a:rPr lang="en-US" sz="1400" b="0" i="0" dirty="0">
                <a:effectLst/>
                <a:latin typeface="Montserrat" panose="02000505000000020004" pitchFamily="2" charset="0"/>
              </a:rPr>
              <a:t>Image segmentation</a:t>
            </a:r>
          </a:p>
          <a:p>
            <a:pPr lvl="1"/>
            <a:r>
              <a:rPr lang="en-US" sz="1400" b="0" i="0" dirty="0">
                <a:effectLst/>
                <a:latin typeface="Montserrat" panose="02000505000000020004" pitchFamily="2" charset="0"/>
              </a:rPr>
              <a:t>Anomaly detection, etc.</a:t>
            </a:r>
          </a:p>
          <a:p>
            <a:endParaRPr lang="en-US" sz="1400" b="0" i="0" dirty="0">
              <a:effectLst/>
              <a:latin typeface="Montserrat" panose="02000505000000020004" pitchFamily="2" charset="0"/>
            </a:endParaRPr>
          </a:p>
          <a:p>
            <a:endParaRPr lang="en-US" sz="1400" dirty="0"/>
          </a:p>
        </p:txBody>
      </p:sp>
      <p:pic>
        <p:nvPicPr>
          <p:cNvPr id="5" name="Picture 4" descr="A diagram of fruit being made&#10;&#10;Description automatically generated with medium confidence">
            <a:extLst>
              <a:ext uri="{FF2B5EF4-FFF2-40B4-BE49-F238E27FC236}">
                <a16:creationId xmlns:a16="http://schemas.microsoft.com/office/drawing/2014/main" id="{410D4AF8-F9DC-7A37-A10D-3159205834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1532" y="2626335"/>
            <a:ext cx="5150277" cy="3430084"/>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95584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A9F160-E2B4-9B92-8717-75EDB49F0410}"/>
              </a:ext>
            </a:extLst>
          </p:cNvPr>
          <p:cNvSpPr>
            <a:spLocks noGrp="1"/>
          </p:cNvSpPr>
          <p:nvPr>
            <p:ph type="title"/>
          </p:nvPr>
        </p:nvSpPr>
        <p:spPr>
          <a:xfrm>
            <a:off x="804672" y="462225"/>
            <a:ext cx="5291328" cy="1454051"/>
          </a:xfrm>
        </p:spPr>
        <p:txBody>
          <a:bodyPr>
            <a:normAutofit/>
          </a:bodyPr>
          <a:lstStyle/>
          <a:p>
            <a:r>
              <a:rPr lang="en-US" sz="3600" b="1" i="0" dirty="0">
                <a:solidFill>
                  <a:schemeClr val="tx2"/>
                </a:solidFill>
                <a:effectLst/>
                <a:latin typeface="Montserrat" panose="02000505000000020004" pitchFamily="2" charset="0"/>
              </a:rPr>
              <a:t>Association Rule learning</a:t>
            </a:r>
            <a:r>
              <a:rPr lang="en-US" sz="3600" b="0" i="0" dirty="0">
                <a:solidFill>
                  <a:schemeClr val="tx2"/>
                </a:solidFill>
                <a:effectLst/>
                <a:latin typeface="Montserrat" panose="02000505000000020004" pitchFamily="2" charset="0"/>
              </a:rPr>
              <a:t>:</a:t>
            </a:r>
            <a:endParaRPr lang="en-US" sz="3600" dirty="0">
              <a:solidFill>
                <a:schemeClr val="tx2"/>
              </a:solidFill>
            </a:endParaRPr>
          </a:p>
        </p:txBody>
      </p:sp>
      <p:sp>
        <p:nvSpPr>
          <p:cNvPr id="3" name="Content Placeholder 2">
            <a:extLst>
              <a:ext uri="{FF2B5EF4-FFF2-40B4-BE49-F238E27FC236}">
                <a16:creationId xmlns:a16="http://schemas.microsoft.com/office/drawing/2014/main" id="{65D1B06E-1D26-BCD7-88BC-A20B9D2DBEFA}"/>
              </a:ext>
            </a:extLst>
          </p:cNvPr>
          <p:cNvSpPr>
            <a:spLocks noGrp="1"/>
          </p:cNvSpPr>
          <p:nvPr>
            <p:ph idx="1"/>
          </p:nvPr>
        </p:nvSpPr>
        <p:spPr>
          <a:xfrm>
            <a:off x="804672" y="1905000"/>
            <a:ext cx="4765949" cy="3870159"/>
          </a:xfrm>
        </p:spPr>
        <p:txBody>
          <a:bodyPr anchor="t">
            <a:normAutofit/>
          </a:bodyPr>
          <a:lstStyle/>
          <a:p>
            <a:pPr algn="just"/>
            <a:r>
              <a:rPr lang="en-US" sz="1800" b="0" i="0" dirty="0">
                <a:solidFill>
                  <a:schemeClr val="tx2"/>
                </a:solidFill>
                <a:effectLst/>
                <a:latin typeface="Montserrat" panose="02000505000000020004" pitchFamily="2" charset="0"/>
              </a:rPr>
              <a:t>An association rule is an unsupervised learning method which is used for </a:t>
            </a:r>
            <a:r>
              <a:rPr lang="en-US" sz="1800" b="1" i="0" dirty="0">
                <a:solidFill>
                  <a:srgbClr val="FF0000"/>
                </a:solidFill>
                <a:effectLst/>
                <a:latin typeface="Montserrat" panose="02000505000000020004" pitchFamily="2" charset="0"/>
              </a:rPr>
              <a:t>finding the relationships between variables in the large database</a:t>
            </a:r>
            <a:r>
              <a:rPr lang="en-US" sz="1800" b="0" i="0" dirty="0">
                <a:solidFill>
                  <a:schemeClr val="tx2"/>
                </a:solidFill>
                <a:effectLst/>
                <a:latin typeface="Montserrat" panose="02000505000000020004" pitchFamily="2" charset="0"/>
              </a:rPr>
              <a:t>. It determines the set of items that occurs together in the dataset. Association rule makes </a:t>
            </a:r>
            <a:r>
              <a:rPr lang="en-US" sz="1800" b="1" i="0" dirty="0">
                <a:solidFill>
                  <a:srgbClr val="FF0000"/>
                </a:solidFill>
                <a:effectLst/>
                <a:latin typeface="Montserrat" panose="02000505000000020004" pitchFamily="2" charset="0"/>
              </a:rPr>
              <a:t>marketing strategy more effective</a:t>
            </a:r>
            <a:r>
              <a:rPr lang="en-US" sz="1800" b="0" i="0" dirty="0">
                <a:solidFill>
                  <a:schemeClr val="tx2"/>
                </a:solidFill>
                <a:effectLst/>
                <a:latin typeface="Montserrat" panose="02000505000000020004" pitchFamily="2" charset="0"/>
              </a:rPr>
              <a:t>. Such as people who buy X item (suppose a bread) are also tend to purchase Y (Butter/Jam) item. A typical example of Association rule is </a:t>
            </a:r>
            <a:r>
              <a:rPr lang="en-US" sz="1800" b="1" i="0" dirty="0">
                <a:solidFill>
                  <a:srgbClr val="FF0000"/>
                </a:solidFill>
                <a:effectLst/>
                <a:latin typeface="Montserrat" panose="02000505000000020004" pitchFamily="2" charset="0"/>
              </a:rPr>
              <a:t>Market Basket Analysis, Web usage mining</a:t>
            </a:r>
            <a:r>
              <a:rPr lang="en-US" sz="1800" b="0" i="0" dirty="0">
                <a:solidFill>
                  <a:srgbClr val="FF0000"/>
                </a:solidFill>
                <a:effectLst/>
                <a:latin typeface="Montserrat" panose="02000505000000020004" pitchFamily="2" charset="0"/>
              </a:rPr>
              <a:t>.</a:t>
            </a:r>
          </a:p>
          <a:p>
            <a:endParaRPr lang="en-US" sz="1800" dirty="0">
              <a:solidFill>
                <a:schemeClr val="tx2"/>
              </a:solidFill>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collage of different shopping bags&#10;&#10;Description automatically generated">
            <a:extLst>
              <a:ext uri="{FF2B5EF4-FFF2-40B4-BE49-F238E27FC236}">
                <a16:creationId xmlns:a16="http://schemas.microsoft.com/office/drawing/2014/main" id="{8B55FE0A-8147-235A-36DB-7C9628274F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08392" y="2489944"/>
            <a:ext cx="4142232" cy="2801655"/>
          </a:xfrm>
          <a:prstGeom prst="rect">
            <a:avLst/>
          </a:prstGeom>
        </p:spPr>
      </p:pic>
    </p:spTree>
    <p:extLst>
      <p:ext uri="{BB962C8B-B14F-4D97-AF65-F5344CB8AC3E}">
        <p14:creationId xmlns:p14="http://schemas.microsoft.com/office/powerpoint/2010/main" val="487512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1B977-E52C-A9AC-E66E-37B9A0ED1EB3}"/>
              </a:ext>
            </a:extLst>
          </p:cNvPr>
          <p:cNvSpPr>
            <a:spLocks noGrp="1"/>
          </p:cNvSpPr>
          <p:nvPr>
            <p:ph type="title"/>
          </p:nvPr>
        </p:nvSpPr>
        <p:spPr/>
        <p:txBody>
          <a:bodyPr/>
          <a:lstStyle/>
          <a:p>
            <a:r>
              <a:rPr lang="en-US" dirty="0"/>
              <a:t>Example of Association Rule</a:t>
            </a:r>
          </a:p>
        </p:txBody>
      </p:sp>
      <p:pic>
        <p:nvPicPr>
          <p:cNvPr id="4" name="Picture 59">
            <a:extLst>
              <a:ext uri="{FF2B5EF4-FFF2-40B4-BE49-F238E27FC236}">
                <a16:creationId xmlns:a16="http://schemas.microsoft.com/office/drawing/2014/main" id="{A0D68C20-7F65-0356-F553-AB2BE131AB3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43000" y="1905000"/>
            <a:ext cx="8458200" cy="3325438"/>
          </a:xfrm>
          <a:noFill/>
        </p:spPr>
      </p:pic>
      <p:sp>
        <p:nvSpPr>
          <p:cNvPr id="5" name="Text Box 57">
            <a:extLst>
              <a:ext uri="{FF2B5EF4-FFF2-40B4-BE49-F238E27FC236}">
                <a16:creationId xmlns:a16="http://schemas.microsoft.com/office/drawing/2014/main" id="{D7CBF57A-A7F8-E6A3-BD47-297A6A7A01D0}"/>
              </a:ext>
            </a:extLst>
          </p:cNvPr>
          <p:cNvSpPr txBox="1">
            <a:spLocks noChangeArrowheads="1"/>
          </p:cNvSpPr>
          <p:nvPr/>
        </p:nvSpPr>
        <p:spPr bwMode="auto">
          <a:xfrm>
            <a:off x="1066800" y="5385804"/>
            <a:ext cx="76962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0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2000" dirty="0"/>
              <a:t>Example of Association Rule:</a:t>
            </a:r>
          </a:p>
          <a:p>
            <a:pPr>
              <a:spcBef>
                <a:spcPct val="50000"/>
              </a:spcBef>
              <a:spcAft>
                <a:spcPct val="0"/>
              </a:spcAft>
              <a:buClrTx/>
              <a:buSzTx/>
              <a:buFontTx/>
              <a:buNone/>
            </a:pPr>
            <a:r>
              <a:rPr lang="en-US" altLang="en-US" sz="2000" b="0" dirty="0"/>
              <a:t>       {Gender=Male</a:t>
            </a:r>
            <a:r>
              <a:rPr lang="en-US" altLang="en-US" sz="2000" b="0" dirty="0">
                <a:sym typeface="Symbol" panose="05050102010706020507" pitchFamily="18" charset="2"/>
              </a:rPr>
              <a:t>, Age  [21,30)}  {No of hours online  10}</a:t>
            </a:r>
          </a:p>
        </p:txBody>
      </p:sp>
    </p:spTree>
    <p:extLst>
      <p:ext uri="{BB962C8B-B14F-4D97-AF65-F5344CB8AC3E}">
        <p14:creationId xmlns:p14="http://schemas.microsoft.com/office/powerpoint/2010/main" val="2710512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4821C-168C-6D1C-012D-F0098D8DDC45}"/>
              </a:ext>
            </a:extLst>
          </p:cNvPr>
          <p:cNvSpPr>
            <a:spLocks noGrp="1"/>
          </p:cNvSpPr>
          <p:nvPr>
            <p:ph type="title"/>
          </p:nvPr>
        </p:nvSpPr>
        <p:spPr/>
        <p:txBody>
          <a:bodyPr>
            <a:normAutofit/>
          </a:bodyPr>
          <a:lstStyle/>
          <a:p>
            <a:r>
              <a:rPr lang="en-US" b="0" i="0" dirty="0">
                <a:solidFill>
                  <a:srgbClr val="2B2A29"/>
                </a:solidFill>
                <a:effectLst/>
                <a:latin typeface="Montserrat" panose="02000505000000020004" pitchFamily="2" charset="0"/>
              </a:rPr>
              <a:t>Association rule learning can be divided into three types of algorithms:</a:t>
            </a:r>
            <a:endParaRPr lang="en-US" dirty="0"/>
          </a:p>
        </p:txBody>
      </p:sp>
      <p:sp>
        <p:nvSpPr>
          <p:cNvPr id="3" name="Content Placeholder 2">
            <a:extLst>
              <a:ext uri="{FF2B5EF4-FFF2-40B4-BE49-F238E27FC236}">
                <a16:creationId xmlns:a16="http://schemas.microsoft.com/office/drawing/2014/main" id="{8908B1B4-7513-4CAC-FD12-8374248E36B1}"/>
              </a:ext>
            </a:extLst>
          </p:cNvPr>
          <p:cNvSpPr>
            <a:spLocks noGrp="1"/>
          </p:cNvSpPr>
          <p:nvPr>
            <p:ph idx="1"/>
          </p:nvPr>
        </p:nvSpPr>
        <p:spPr/>
        <p:txBody>
          <a:bodyPr/>
          <a:lstStyle/>
          <a:p>
            <a:pPr algn="just">
              <a:buFont typeface="+mj-lt"/>
              <a:buAutoNum type="arabicPeriod"/>
            </a:pPr>
            <a:r>
              <a:rPr lang="en-US" sz="2000" b="1" i="0" dirty="0" err="1">
                <a:solidFill>
                  <a:srgbClr val="2B2A29"/>
                </a:solidFill>
                <a:effectLst/>
                <a:latin typeface="Montserrat" panose="02000505000000020004" pitchFamily="2" charset="0"/>
              </a:rPr>
              <a:t>Apriori</a:t>
            </a:r>
            <a:endParaRPr lang="en-US" sz="2000" b="0" i="0" dirty="0">
              <a:solidFill>
                <a:srgbClr val="2B2A29"/>
              </a:solidFill>
              <a:effectLst/>
              <a:latin typeface="Montserrat" panose="02000505000000020004" pitchFamily="2" charset="0"/>
            </a:endParaRPr>
          </a:p>
          <a:p>
            <a:pPr algn="just">
              <a:buFont typeface="+mj-lt"/>
              <a:buAutoNum type="arabicPeriod"/>
            </a:pPr>
            <a:r>
              <a:rPr lang="en-US" sz="2000" b="1" i="0" dirty="0">
                <a:solidFill>
                  <a:srgbClr val="2B2A29"/>
                </a:solidFill>
                <a:effectLst/>
                <a:latin typeface="Montserrat" panose="02000505000000020004" pitchFamily="2" charset="0"/>
              </a:rPr>
              <a:t>Eclat</a:t>
            </a:r>
            <a:endParaRPr lang="en-US" sz="2000" b="0" i="0" dirty="0">
              <a:solidFill>
                <a:srgbClr val="2B2A29"/>
              </a:solidFill>
              <a:effectLst/>
              <a:latin typeface="Montserrat" panose="02000505000000020004" pitchFamily="2" charset="0"/>
            </a:endParaRPr>
          </a:p>
          <a:p>
            <a:pPr algn="just">
              <a:buFont typeface="+mj-lt"/>
              <a:buAutoNum type="arabicPeriod"/>
            </a:pPr>
            <a:r>
              <a:rPr lang="en-US" sz="2000" b="1" i="0" dirty="0">
                <a:solidFill>
                  <a:srgbClr val="2B2A29"/>
                </a:solidFill>
                <a:effectLst/>
                <a:latin typeface="Montserrat" panose="02000505000000020004" pitchFamily="2" charset="0"/>
              </a:rPr>
              <a:t>F-P Growth Algorithm</a:t>
            </a:r>
            <a:endParaRPr lang="en-US" sz="2000" b="0" i="0" dirty="0">
              <a:solidFill>
                <a:srgbClr val="2B2A29"/>
              </a:solidFill>
              <a:effectLst/>
              <a:latin typeface="Montserrat" panose="02000505000000020004" pitchFamily="2" charset="0"/>
            </a:endParaRPr>
          </a:p>
          <a:p>
            <a:endParaRPr lang="en-US" dirty="0"/>
          </a:p>
        </p:txBody>
      </p:sp>
    </p:spTree>
    <p:extLst>
      <p:ext uri="{BB962C8B-B14F-4D97-AF65-F5344CB8AC3E}">
        <p14:creationId xmlns:p14="http://schemas.microsoft.com/office/powerpoint/2010/main" val="2851834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2573C-4F7C-5930-96AF-9CEB9F672905}"/>
              </a:ext>
            </a:extLst>
          </p:cNvPr>
          <p:cNvSpPr>
            <a:spLocks noGrp="1"/>
          </p:cNvSpPr>
          <p:nvPr>
            <p:ph type="title"/>
          </p:nvPr>
        </p:nvSpPr>
        <p:spPr/>
        <p:txBody>
          <a:bodyPr/>
          <a:lstStyle/>
          <a:p>
            <a:r>
              <a:rPr lang="en-US" b="0" i="0" dirty="0" err="1">
                <a:solidFill>
                  <a:srgbClr val="1D1D27"/>
                </a:solidFill>
                <a:effectLst/>
                <a:latin typeface="Montserrat" panose="02000505000000020004" pitchFamily="2" charset="0"/>
              </a:rPr>
              <a:t>Apriori</a:t>
            </a:r>
            <a:r>
              <a:rPr lang="en-US" b="0" i="0" dirty="0">
                <a:solidFill>
                  <a:srgbClr val="1D1D27"/>
                </a:solidFill>
                <a:effectLst/>
                <a:latin typeface="Montserrat" panose="02000505000000020004" pitchFamily="2" charset="0"/>
              </a:rPr>
              <a:t> Algorithm</a:t>
            </a:r>
            <a:br>
              <a:rPr lang="en-US" b="0" i="0" dirty="0">
                <a:solidFill>
                  <a:srgbClr val="1D1D27"/>
                </a:solidFill>
                <a:effectLst/>
                <a:latin typeface="Montserrat" panose="02000505000000020004" pitchFamily="2" charset="0"/>
              </a:rPr>
            </a:br>
            <a:endParaRPr lang="en-US" dirty="0"/>
          </a:p>
        </p:txBody>
      </p:sp>
      <p:sp>
        <p:nvSpPr>
          <p:cNvPr id="3" name="Content Placeholder 2">
            <a:extLst>
              <a:ext uri="{FF2B5EF4-FFF2-40B4-BE49-F238E27FC236}">
                <a16:creationId xmlns:a16="http://schemas.microsoft.com/office/drawing/2014/main" id="{38BC2ABB-73BC-1398-91AB-852F656294CA}"/>
              </a:ext>
            </a:extLst>
          </p:cNvPr>
          <p:cNvSpPr>
            <a:spLocks noGrp="1"/>
          </p:cNvSpPr>
          <p:nvPr>
            <p:ph idx="1"/>
          </p:nvPr>
        </p:nvSpPr>
        <p:spPr/>
        <p:txBody>
          <a:bodyPr/>
          <a:lstStyle/>
          <a:p>
            <a:pPr algn="just"/>
            <a:r>
              <a:rPr lang="en-US" sz="2400" b="0" i="0" dirty="0">
                <a:solidFill>
                  <a:srgbClr val="2B2A29"/>
                </a:solidFill>
                <a:effectLst/>
                <a:latin typeface="Montserrat" panose="02000505000000020004" pitchFamily="2" charset="0"/>
              </a:rPr>
              <a:t>This algorithm uses frequent </a:t>
            </a:r>
            <a:r>
              <a:rPr lang="en-US" sz="2400" b="0" i="0" dirty="0">
                <a:solidFill>
                  <a:srgbClr val="FF0000"/>
                </a:solidFill>
                <a:effectLst/>
                <a:latin typeface="Montserrat" panose="02000505000000020004" pitchFamily="2" charset="0"/>
              </a:rPr>
              <a:t>datasets to generate association rules</a:t>
            </a:r>
            <a:r>
              <a:rPr lang="en-US" sz="2400" b="0" i="0" dirty="0">
                <a:solidFill>
                  <a:srgbClr val="2B2A29"/>
                </a:solidFill>
                <a:effectLst/>
                <a:latin typeface="Montserrat" panose="02000505000000020004" pitchFamily="2" charset="0"/>
              </a:rPr>
              <a:t>. It is designed to work on the </a:t>
            </a:r>
            <a:r>
              <a:rPr lang="en-US" sz="2400" b="0" i="0" dirty="0">
                <a:solidFill>
                  <a:srgbClr val="FF0000"/>
                </a:solidFill>
                <a:effectLst/>
                <a:latin typeface="Montserrat" panose="02000505000000020004" pitchFamily="2" charset="0"/>
              </a:rPr>
              <a:t>databases that contain transactions</a:t>
            </a:r>
            <a:r>
              <a:rPr lang="en-US" sz="2400" b="0" i="0" dirty="0">
                <a:solidFill>
                  <a:srgbClr val="2B2A29"/>
                </a:solidFill>
                <a:effectLst/>
                <a:latin typeface="Montserrat" panose="02000505000000020004" pitchFamily="2" charset="0"/>
              </a:rPr>
              <a:t>. This algorithm uses </a:t>
            </a:r>
            <a:r>
              <a:rPr lang="en-US" sz="2400" b="0" i="0" dirty="0">
                <a:solidFill>
                  <a:srgbClr val="FF0000"/>
                </a:solidFill>
                <a:effectLst/>
                <a:latin typeface="Montserrat" panose="02000505000000020004" pitchFamily="2" charset="0"/>
              </a:rPr>
              <a:t>a breadth-first search and Hash Tree</a:t>
            </a:r>
            <a:r>
              <a:rPr lang="en-US" sz="2400" b="0" i="0" dirty="0">
                <a:solidFill>
                  <a:srgbClr val="2B2A29"/>
                </a:solidFill>
                <a:effectLst/>
                <a:latin typeface="Montserrat" panose="02000505000000020004" pitchFamily="2" charset="0"/>
              </a:rPr>
              <a:t> to calculate the itemset efficiently.</a:t>
            </a:r>
          </a:p>
          <a:p>
            <a:pPr marL="0" indent="0" algn="just">
              <a:buNone/>
            </a:pPr>
            <a:endParaRPr lang="en-US" sz="2400" b="0" i="0" dirty="0">
              <a:solidFill>
                <a:srgbClr val="2B2A29"/>
              </a:solidFill>
              <a:effectLst/>
              <a:latin typeface="Montserrat" panose="02000505000000020004" pitchFamily="2" charset="0"/>
            </a:endParaRPr>
          </a:p>
          <a:p>
            <a:pPr algn="just"/>
            <a:r>
              <a:rPr lang="en-US" sz="2400" b="0" i="0" dirty="0">
                <a:solidFill>
                  <a:srgbClr val="2B2A29"/>
                </a:solidFill>
                <a:effectLst/>
                <a:latin typeface="Montserrat" panose="02000505000000020004" pitchFamily="2" charset="0"/>
              </a:rPr>
              <a:t>It is mainly used for </a:t>
            </a:r>
            <a:r>
              <a:rPr lang="en-US" sz="2400" b="0" i="0" dirty="0">
                <a:solidFill>
                  <a:srgbClr val="FF0000"/>
                </a:solidFill>
                <a:effectLst/>
                <a:latin typeface="Montserrat" panose="02000505000000020004" pitchFamily="2" charset="0"/>
              </a:rPr>
              <a:t>market basket analysis </a:t>
            </a:r>
            <a:r>
              <a:rPr lang="en-US" sz="2400" b="0" i="0" dirty="0">
                <a:solidFill>
                  <a:srgbClr val="2B2A29"/>
                </a:solidFill>
                <a:effectLst/>
                <a:latin typeface="Montserrat" panose="02000505000000020004" pitchFamily="2" charset="0"/>
              </a:rPr>
              <a:t>and helps to understand the products that can be bought together. It can also be used in the </a:t>
            </a:r>
            <a:r>
              <a:rPr lang="en-US" sz="2400" b="0" i="0" dirty="0">
                <a:solidFill>
                  <a:srgbClr val="FF0000"/>
                </a:solidFill>
                <a:effectLst/>
                <a:latin typeface="Montserrat" panose="02000505000000020004" pitchFamily="2" charset="0"/>
              </a:rPr>
              <a:t>healthcare field to find drug reactions for patients</a:t>
            </a:r>
            <a:r>
              <a:rPr lang="en-US" sz="2400" b="0" i="0" dirty="0">
                <a:solidFill>
                  <a:srgbClr val="2B2A29"/>
                </a:solidFill>
                <a:effectLst/>
                <a:latin typeface="Montserrat" panose="02000505000000020004" pitchFamily="2" charset="0"/>
              </a:rPr>
              <a:t>.</a:t>
            </a:r>
          </a:p>
          <a:p>
            <a:endParaRPr lang="en-US" dirty="0"/>
          </a:p>
        </p:txBody>
      </p:sp>
    </p:spTree>
    <p:extLst>
      <p:ext uri="{BB962C8B-B14F-4D97-AF65-F5344CB8AC3E}">
        <p14:creationId xmlns:p14="http://schemas.microsoft.com/office/powerpoint/2010/main" val="3442193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p:txBody>
          <a:bodyPr>
            <a:normAutofit fontScale="92500" lnSpcReduction="20000"/>
          </a:bodyPr>
          <a:lstStyle/>
          <a:p>
            <a:pPr fontAlgn="base"/>
            <a:r>
              <a:rPr lang="en-US" dirty="0"/>
              <a:t>Now we generate rules from the frequent </a:t>
            </a:r>
            <a:r>
              <a:rPr lang="en-US" dirty="0" err="1"/>
              <a:t>itemsets</a:t>
            </a:r>
            <a:r>
              <a:rPr lang="en-US" dirty="0"/>
              <a:t> and calculate </a:t>
            </a:r>
            <a:r>
              <a:rPr lang="en-US" b="1" dirty="0"/>
              <a:t>confidence</a:t>
            </a:r>
            <a:r>
              <a:rPr lang="en-US" dirty="0"/>
              <a:t>.</a:t>
            </a:r>
          </a:p>
          <a:p>
            <a:pPr fontAlgn="base"/>
            <a:r>
              <a:rPr lang="en-US" b="1" dirty="0"/>
              <a:t>Rule 1: If Bread → Butter (if customer buys bread, the customer will buy butter also)</a:t>
            </a:r>
          </a:p>
          <a:p>
            <a:pPr lvl="1" fontAlgn="base"/>
            <a:r>
              <a:rPr lang="en-US" dirty="0"/>
              <a:t>Support of {Bread, Butter} = 3.</a:t>
            </a:r>
          </a:p>
          <a:p>
            <a:pPr lvl="1" fontAlgn="base"/>
            <a:r>
              <a:rPr lang="en-US" dirty="0"/>
              <a:t>Support of {Bread} = 4.</a:t>
            </a:r>
          </a:p>
          <a:p>
            <a:pPr marL="0" indent="0" fontAlgn="base">
              <a:buNone/>
            </a:pPr>
            <a:r>
              <a:rPr lang="en-US" b="1" dirty="0"/>
              <a:t> Confidence = 3/4 = 75%</a:t>
            </a:r>
            <a:r>
              <a:rPr lang="en-US" dirty="0"/>
              <a:t> (Passes threshold).</a:t>
            </a:r>
          </a:p>
          <a:p>
            <a:pPr fontAlgn="base"/>
            <a:r>
              <a:rPr lang="en-US" b="1" dirty="0"/>
              <a:t>Rule 2: If Butter → Bread (if customer buys butter, the customer will buy bread also)</a:t>
            </a:r>
          </a:p>
          <a:p>
            <a:pPr lvl="1" fontAlgn="base"/>
            <a:r>
              <a:rPr lang="en-US" dirty="0"/>
              <a:t>Support of {Bread, Butter} = 3.</a:t>
            </a:r>
          </a:p>
          <a:p>
            <a:pPr lvl="1" fontAlgn="base"/>
            <a:r>
              <a:rPr lang="en-US" dirty="0"/>
              <a:t>Support of {Butter} = 3.</a:t>
            </a:r>
          </a:p>
          <a:p>
            <a:pPr marL="0" indent="0" fontAlgn="base">
              <a:buNone/>
            </a:pPr>
            <a:r>
              <a:rPr lang="en-US" b="1" dirty="0"/>
              <a:t>Confidence = 3/3 = 100%</a:t>
            </a:r>
            <a:r>
              <a:rPr lang="en-US" dirty="0"/>
              <a:t> (Passes threshold).</a:t>
            </a:r>
          </a:p>
        </p:txBody>
      </p:sp>
    </p:spTree>
    <p:extLst>
      <p:ext uri="{BB962C8B-B14F-4D97-AF65-F5344CB8AC3E}">
        <p14:creationId xmlns:p14="http://schemas.microsoft.com/office/powerpoint/2010/main" val="37664491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AAA4A-0494-4B24-9FBE-FA1FEC4E3FFD}"/>
              </a:ext>
            </a:extLst>
          </p:cNvPr>
          <p:cNvSpPr>
            <a:spLocks noGrp="1"/>
          </p:cNvSpPr>
          <p:nvPr>
            <p:ph type="title"/>
          </p:nvPr>
        </p:nvSpPr>
        <p:spPr/>
        <p:txBody>
          <a:bodyPr/>
          <a:lstStyle/>
          <a:p>
            <a:r>
              <a:rPr lang="en-US" b="0" i="0" dirty="0">
                <a:solidFill>
                  <a:srgbClr val="1D1D27"/>
                </a:solidFill>
                <a:effectLst/>
                <a:latin typeface="Montserrat" panose="02000505000000020004" pitchFamily="2" charset="0"/>
              </a:rPr>
              <a:t>Eclat Algorithm</a:t>
            </a:r>
            <a:br>
              <a:rPr lang="en-US" b="0" i="0" dirty="0">
                <a:solidFill>
                  <a:srgbClr val="1D1D27"/>
                </a:solidFill>
                <a:effectLst/>
                <a:latin typeface="Montserrat" panose="02000505000000020004" pitchFamily="2" charset="0"/>
              </a:rPr>
            </a:br>
            <a:endParaRPr lang="en-US" dirty="0"/>
          </a:p>
        </p:txBody>
      </p:sp>
      <p:sp>
        <p:nvSpPr>
          <p:cNvPr id="3" name="Content Placeholder 2">
            <a:extLst>
              <a:ext uri="{FF2B5EF4-FFF2-40B4-BE49-F238E27FC236}">
                <a16:creationId xmlns:a16="http://schemas.microsoft.com/office/drawing/2014/main" id="{24C33473-6397-0A5E-9A28-F07CD76B0495}"/>
              </a:ext>
            </a:extLst>
          </p:cNvPr>
          <p:cNvSpPr>
            <a:spLocks noGrp="1"/>
          </p:cNvSpPr>
          <p:nvPr>
            <p:ph idx="1"/>
          </p:nvPr>
        </p:nvSpPr>
        <p:spPr/>
        <p:txBody>
          <a:bodyPr>
            <a:normAutofit/>
          </a:bodyPr>
          <a:lstStyle/>
          <a:p>
            <a:pPr algn="just"/>
            <a:r>
              <a:rPr lang="en-US" sz="2400" b="0" i="0" dirty="0">
                <a:solidFill>
                  <a:srgbClr val="2B2A29"/>
                </a:solidFill>
                <a:effectLst/>
                <a:latin typeface="Montserrat" panose="02000505000000020004" pitchFamily="2" charset="0"/>
              </a:rPr>
              <a:t>Eclat algorithm stands for </a:t>
            </a:r>
            <a:r>
              <a:rPr lang="en-US" sz="2400" b="1" i="0" dirty="0">
                <a:solidFill>
                  <a:srgbClr val="FF0000"/>
                </a:solidFill>
                <a:effectLst/>
                <a:latin typeface="Montserrat" panose="02000505000000020004" pitchFamily="2" charset="0"/>
              </a:rPr>
              <a:t>Equivalence Class Transformation</a:t>
            </a:r>
            <a:r>
              <a:rPr lang="en-US" sz="2400" b="0" i="0" dirty="0">
                <a:solidFill>
                  <a:srgbClr val="2B2A29"/>
                </a:solidFill>
                <a:effectLst/>
                <a:latin typeface="Montserrat" panose="02000505000000020004" pitchFamily="2" charset="0"/>
              </a:rPr>
              <a:t>. This algorithm uses a </a:t>
            </a:r>
            <a:r>
              <a:rPr lang="en-US" sz="2400" b="0" i="0" dirty="0">
                <a:solidFill>
                  <a:srgbClr val="FF0000"/>
                </a:solidFill>
                <a:effectLst/>
                <a:latin typeface="Montserrat" panose="02000505000000020004" pitchFamily="2" charset="0"/>
              </a:rPr>
              <a:t>depth-first search technique</a:t>
            </a:r>
            <a:r>
              <a:rPr lang="en-US" sz="2400" b="0" i="0" dirty="0">
                <a:solidFill>
                  <a:srgbClr val="2B2A29"/>
                </a:solidFill>
                <a:effectLst/>
                <a:latin typeface="Montserrat" panose="02000505000000020004" pitchFamily="2" charset="0"/>
              </a:rPr>
              <a:t> to find frequent </a:t>
            </a:r>
            <a:r>
              <a:rPr lang="en-US" sz="2400" b="0" i="0" dirty="0" err="1">
                <a:solidFill>
                  <a:srgbClr val="2B2A29"/>
                </a:solidFill>
                <a:effectLst/>
                <a:latin typeface="Montserrat" panose="02000505000000020004" pitchFamily="2" charset="0"/>
              </a:rPr>
              <a:t>itemsets</a:t>
            </a:r>
            <a:r>
              <a:rPr lang="en-US" sz="2400" b="0" i="0" dirty="0">
                <a:solidFill>
                  <a:srgbClr val="2B2A29"/>
                </a:solidFill>
                <a:effectLst/>
                <a:latin typeface="Montserrat" panose="02000505000000020004" pitchFamily="2" charset="0"/>
              </a:rPr>
              <a:t> in a transaction database. It performs faster execution than </a:t>
            </a:r>
            <a:r>
              <a:rPr lang="en-US" sz="2400" b="0" i="0" dirty="0" err="1">
                <a:solidFill>
                  <a:srgbClr val="2B2A29"/>
                </a:solidFill>
                <a:effectLst/>
                <a:latin typeface="Montserrat" panose="02000505000000020004" pitchFamily="2" charset="0"/>
              </a:rPr>
              <a:t>Apriori</a:t>
            </a:r>
            <a:r>
              <a:rPr lang="en-US" sz="2400" b="0" i="0" dirty="0">
                <a:solidFill>
                  <a:srgbClr val="2B2A29"/>
                </a:solidFill>
                <a:effectLst/>
                <a:latin typeface="Montserrat" panose="02000505000000020004" pitchFamily="2" charset="0"/>
              </a:rPr>
              <a:t> Algorithm.</a:t>
            </a:r>
            <a:endParaRPr lang="en-US" sz="2400" dirty="0"/>
          </a:p>
        </p:txBody>
      </p:sp>
    </p:spTree>
    <p:extLst>
      <p:ext uri="{BB962C8B-B14F-4D97-AF65-F5344CB8AC3E}">
        <p14:creationId xmlns:p14="http://schemas.microsoft.com/office/powerpoint/2010/main" val="1571444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0F62-261D-2FDA-0EBE-BA5560246EFE}"/>
              </a:ext>
            </a:extLst>
          </p:cNvPr>
          <p:cNvSpPr>
            <a:spLocks noGrp="1"/>
          </p:cNvSpPr>
          <p:nvPr>
            <p:ph type="ctrTitle"/>
          </p:nvPr>
        </p:nvSpPr>
        <p:spPr>
          <a:xfrm>
            <a:off x="1524000" y="1122363"/>
            <a:ext cx="9144000" cy="1011237"/>
          </a:xfrm>
        </p:spPr>
        <p:txBody>
          <a:bodyPr>
            <a:normAutofit fontScale="90000"/>
          </a:bodyPr>
          <a:lstStyle/>
          <a:p>
            <a:r>
              <a:rPr lang="en-US" b="0" i="0" dirty="0">
                <a:solidFill>
                  <a:srgbClr val="1D1D27"/>
                </a:solidFill>
                <a:effectLst/>
                <a:latin typeface="Montserrat" panose="02000505000000020004" pitchFamily="2" charset="0"/>
              </a:rPr>
              <a:t>F-P Growth Algorithm</a:t>
            </a:r>
            <a:br>
              <a:rPr lang="en-US" b="0" i="0" dirty="0">
                <a:solidFill>
                  <a:srgbClr val="1D1D27"/>
                </a:solidFill>
                <a:effectLst/>
                <a:latin typeface="Montserrat" panose="02000505000000020004" pitchFamily="2" charset="0"/>
              </a:rPr>
            </a:br>
            <a:endParaRPr lang="en-US" dirty="0"/>
          </a:p>
        </p:txBody>
      </p:sp>
      <p:sp>
        <p:nvSpPr>
          <p:cNvPr id="3" name="Subtitle 2">
            <a:extLst>
              <a:ext uri="{FF2B5EF4-FFF2-40B4-BE49-F238E27FC236}">
                <a16:creationId xmlns:a16="http://schemas.microsoft.com/office/drawing/2014/main" id="{726B05F3-42A1-ADF1-D8EE-9084F680A6A2}"/>
              </a:ext>
            </a:extLst>
          </p:cNvPr>
          <p:cNvSpPr>
            <a:spLocks noGrp="1"/>
          </p:cNvSpPr>
          <p:nvPr>
            <p:ph type="subTitle" idx="1"/>
          </p:nvPr>
        </p:nvSpPr>
        <p:spPr>
          <a:xfrm>
            <a:off x="685800" y="1447800"/>
            <a:ext cx="10668000" cy="3810000"/>
          </a:xfrm>
        </p:spPr>
        <p:txBody>
          <a:bodyPr/>
          <a:lstStyle/>
          <a:p>
            <a:pPr algn="just"/>
            <a:r>
              <a:rPr lang="en-US" b="0" i="0" dirty="0">
                <a:solidFill>
                  <a:srgbClr val="2B2A29"/>
                </a:solidFill>
                <a:effectLst/>
                <a:latin typeface="Montserrat" panose="02000505000000020004" pitchFamily="2" charset="0"/>
              </a:rPr>
              <a:t>The F-P growth algorithm stands for </a:t>
            </a:r>
            <a:r>
              <a:rPr lang="en-US" b="1" i="0" dirty="0">
                <a:solidFill>
                  <a:srgbClr val="FF0000"/>
                </a:solidFill>
                <a:effectLst/>
                <a:latin typeface="Montserrat" panose="02000505000000020004" pitchFamily="2" charset="0"/>
              </a:rPr>
              <a:t>Frequent Pattern</a:t>
            </a:r>
            <a:r>
              <a:rPr lang="en-US" b="0" i="0" dirty="0">
                <a:solidFill>
                  <a:srgbClr val="2B2A29"/>
                </a:solidFill>
                <a:effectLst/>
                <a:latin typeface="Montserrat" panose="02000505000000020004" pitchFamily="2" charset="0"/>
              </a:rPr>
              <a:t>, and it is the improved version of the </a:t>
            </a:r>
            <a:r>
              <a:rPr lang="en-US" b="0" i="0" dirty="0" err="1">
                <a:solidFill>
                  <a:srgbClr val="2B2A29"/>
                </a:solidFill>
                <a:effectLst/>
                <a:latin typeface="Montserrat" panose="02000505000000020004" pitchFamily="2" charset="0"/>
              </a:rPr>
              <a:t>Apriori</a:t>
            </a:r>
            <a:r>
              <a:rPr lang="en-US" b="0" i="0" dirty="0">
                <a:solidFill>
                  <a:srgbClr val="2B2A29"/>
                </a:solidFill>
                <a:effectLst/>
                <a:latin typeface="Montserrat" panose="02000505000000020004" pitchFamily="2" charset="0"/>
              </a:rPr>
              <a:t> Algorithm. It represents the database in the form of a tree structure that is known as </a:t>
            </a:r>
            <a:r>
              <a:rPr lang="en-US" b="0" i="0" dirty="0">
                <a:solidFill>
                  <a:srgbClr val="FF0000"/>
                </a:solidFill>
                <a:effectLst/>
                <a:latin typeface="Montserrat" panose="02000505000000020004" pitchFamily="2" charset="0"/>
              </a:rPr>
              <a:t>a frequent pattern or tree</a:t>
            </a:r>
            <a:r>
              <a:rPr lang="en-US" b="0" i="0" dirty="0">
                <a:solidFill>
                  <a:srgbClr val="2B2A29"/>
                </a:solidFill>
                <a:effectLst/>
                <a:latin typeface="Montserrat" panose="02000505000000020004" pitchFamily="2" charset="0"/>
              </a:rPr>
              <a:t>. The purpose of this frequent tree is to extract the most frequent patterns.</a:t>
            </a:r>
            <a:endParaRPr lang="en-US" dirty="0"/>
          </a:p>
        </p:txBody>
      </p:sp>
    </p:spTree>
    <p:extLst>
      <p:ext uri="{BB962C8B-B14F-4D97-AF65-F5344CB8AC3E}">
        <p14:creationId xmlns:p14="http://schemas.microsoft.com/office/powerpoint/2010/main" val="352470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8A33-9F25-52AC-7058-D47428DE7455}"/>
              </a:ext>
            </a:extLst>
          </p:cNvPr>
          <p:cNvSpPr>
            <a:spLocks noGrp="1"/>
          </p:cNvSpPr>
          <p:nvPr>
            <p:ph type="title"/>
          </p:nvPr>
        </p:nvSpPr>
        <p:spPr/>
        <p:txBody>
          <a:bodyPr>
            <a:normAutofit/>
          </a:bodyPr>
          <a:lstStyle/>
          <a:p>
            <a:r>
              <a:rPr lang="en-US" b="0" i="0" dirty="0">
                <a:solidFill>
                  <a:srgbClr val="1D1D27"/>
                </a:solidFill>
                <a:effectLst/>
                <a:latin typeface="Montserrat" panose="02000505000000020004" pitchFamily="2" charset="0"/>
              </a:rPr>
              <a:t>Unsupervised Learning algorithms:</a:t>
            </a:r>
            <a:br>
              <a:rPr lang="en-US" b="0" i="0" dirty="0">
                <a:solidFill>
                  <a:srgbClr val="1D1D27"/>
                </a:solidFill>
                <a:effectLst/>
                <a:latin typeface="Montserrat" panose="02000505000000020004" pitchFamily="2" charset="0"/>
              </a:rPr>
            </a:br>
            <a:endParaRPr lang="en-US" dirty="0"/>
          </a:p>
        </p:txBody>
      </p:sp>
      <p:sp>
        <p:nvSpPr>
          <p:cNvPr id="3" name="Content Placeholder 2">
            <a:extLst>
              <a:ext uri="{FF2B5EF4-FFF2-40B4-BE49-F238E27FC236}">
                <a16:creationId xmlns:a16="http://schemas.microsoft.com/office/drawing/2014/main" id="{5218A7EA-463B-5804-B5D4-CB5FF7F1B44B}"/>
              </a:ext>
            </a:extLst>
          </p:cNvPr>
          <p:cNvSpPr>
            <a:spLocks noGrp="1"/>
          </p:cNvSpPr>
          <p:nvPr>
            <p:ph idx="1"/>
          </p:nvPr>
        </p:nvSpPr>
        <p:spPr/>
        <p:txBody>
          <a:bodyPr>
            <a:normAutofit/>
          </a:bodyPr>
          <a:lstStyle/>
          <a:p>
            <a:pPr algn="just">
              <a:buFont typeface="Arial" panose="020B0604020202020204" pitchFamily="34" charset="0"/>
              <a:buChar char="•"/>
            </a:pPr>
            <a:r>
              <a:rPr lang="en-US" sz="1800" b="1" i="0" dirty="0">
                <a:solidFill>
                  <a:srgbClr val="2B2A29"/>
                </a:solidFill>
                <a:effectLst/>
                <a:latin typeface="Montserrat" panose="02000505000000020004" pitchFamily="2" charset="0"/>
              </a:rPr>
              <a:t>K-means clustering</a:t>
            </a:r>
            <a:endParaRPr lang="en-US" sz="1800" b="0" i="0" dirty="0">
              <a:solidFill>
                <a:srgbClr val="2B2A29"/>
              </a:solidFill>
              <a:effectLst/>
              <a:latin typeface="Montserrat" panose="02000505000000020004" pitchFamily="2" charset="0"/>
            </a:endParaRPr>
          </a:p>
          <a:p>
            <a:pPr algn="just">
              <a:buFont typeface="Arial" panose="020B0604020202020204" pitchFamily="34" charset="0"/>
              <a:buChar char="•"/>
            </a:pPr>
            <a:r>
              <a:rPr lang="en-US" sz="1800" b="1" i="0" dirty="0">
                <a:solidFill>
                  <a:srgbClr val="2B2A29"/>
                </a:solidFill>
                <a:effectLst/>
                <a:latin typeface="Montserrat" panose="02000505000000020004" pitchFamily="2" charset="0"/>
              </a:rPr>
              <a:t>KNN (k-nearest neighbors)</a:t>
            </a:r>
            <a:endParaRPr lang="en-US" sz="1800" b="0" i="0" dirty="0">
              <a:solidFill>
                <a:srgbClr val="2B2A29"/>
              </a:solidFill>
              <a:effectLst/>
              <a:latin typeface="Montserrat" panose="02000505000000020004" pitchFamily="2" charset="0"/>
            </a:endParaRPr>
          </a:p>
          <a:p>
            <a:pPr algn="just">
              <a:buFont typeface="Arial" panose="020B0604020202020204" pitchFamily="34" charset="0"/>
              <a:buChar char="•"/>
            </a:pPr>
            <a:r>
              <a:rPr lang="en-US" sz="1800" b="1" i="0" dirty="0">
                <a:solidFill>
                  <a:srgbClr val="2B2A29"/>
                </a:solidFill>
                <a:effectLst/>
                <a:latin typeface="Montserrat" panose="02000505000000020004" pitchFamily="2" charset="0"/>
              </a:rPr>
              <a:t>Hierarchal clustering</a:t>
            </a:r>
            <a:endParaRPr lang="en-US" sz="1800" b="0" i="0" dirty="0">
              <a:solidFill>
                <a:srgbClr val="2B2A29"/>
              </a:solidFill>
              <a:effectLst/>
              <a:latin typeface="Montserrat" panose="02000505000000020004" pitchFamily="2" charset="0"/>
            </a:endParaRPr>
          </a:p>
          <a:p>
            <a:pPr algn="just">
              <a:buFont typeface="Arial" panose="020B0604020202020204" pitchFamily="34" charset="0"/>
              <a:buChar char="•"/>
            </a:pPr>
            <a:r>
              <a:rPr lang="en-US" sz="1800" b="1" i="0" dirty="0">
                <a:solidFill>
                  <a:srgbClr val="2B2A29"/>
                </a:solidFill>
                <a:effectLst/>
                <a:latin typeface="Montserrat" panose="02000505000000020004" pitchFamily="2" charset="0"/>
              </a:rPr>
              <a:t>Anomaly detection</a:t>
            </a:r>
            <a:endParaRPr lang="en-US" sz="1800" b="0" i="0" dirty="0">
              <a:solidFill>
                <a:srgbClr val="2B2A29"/>
              </a:solidFill>
              <a:effectLst/>
              <a:latin typeface="Montserrat" panose="02000505000000020004" pitchFamily="2" charset="0"/>
            </a:endParaRPr>
          </a:p>
          <a:p>
            <a:pPr algn="just">
              <a:buFont typeface="Arial" panose="020B0604020202020204" pitchFamily="34" charset="0"/>
              <a:buChar char="•"/>
            </a:pPr>
            <a:r>
              <a:rPr lang="en-US" sz="1800" b="1" i="0" dirty="0">
                <a:solidFill>
                  <a:srgbClr val="2B2A29"/>
                </a:solidFill>
                <a:effectLst/>
                <a:latin typeface="Montserrat" panose="02000505000000020004" pitchFamily="2" charset="0"/>
              </a:rPr>
              <a:t>Neural Networks</a:t>
            </a:r>
            <a:endParaRPr lang="en-US" sz="1800" b="0" i="0" dirty="0">
              <a:solidFill>
                <a:srgbClr val="2B2A29"/>
              </a:solidFill>
              <a:effectLst/>
              <a:latin typeface="Montserrat" panose="02000505000000020004" pitchFamily="2" charset="0"/>
            </a:endParaRPr>
          </a:p>
          <a:p>
            <a:pPr algn="just">
              <a:buFont typeface="Arial" panose="020B0604020202020204" pitchFamily="34" charset="0"/>
              <a:buChar char="•"/>
            </a:pPr>
            <a:r>
              <a:rPr lang="en-US" sz="1800" b="1" i="0" dirty="0">
                <a:solidFill>
                  <a:srgbClr val="2B2A29"/>
                </a:solidFill>
                <a:effectLst/>
                <a:latin typeface="Montserrat" panose="02000505000000020004" pitchFamily="2" charset="0"/>
              </a:rPr>
              <a:t>Principle Component Analysis</a:t>
            </a:r>
            <a:endParaRPr lang="en-US" sz="1800" b="0" i="0" dirty="0">
              <a:solidFill>
                <a:srgbClr val="2B2A29"/>
              </a:solidFill>
              <a:effectLst/>
              <a:latin typeface="Montserrat" panose="02000505000000020004" pitchFamily="2" charset="0"/>
            </a:endParaRPr>
          </a:p>
          <a:p>
            <a:pPr algn="just">
              <a:buFont typeface="Arial" panose="020B0604020202020204" pitchFamily="34" charset="0"/>
              <a:buChar char="•"/>
            </a:pPr>
            <a:r>
              <a:rPr lang="en-US" sz="1800" b="1" i="0" dirty="0">
                <a:solidFill>
                  <a:srgbClr val="2B2A29"/>
                </a:solidFill>
                <a:effectLst/>
                <a:latin typeface="Montserrat" panose="02000505000000020004" pitchFamily="2" charset="0"/>
              </a:rPr>
              <a:t>Independent Component Analysis</a:t>
            </a:r>
            <a:endParaRPr lang="en-US" sz="1800" b="0" i="0" dirty="0">
              <a:solidFill>
                <a:srgbClr val="2B2A29"/>
              </a:solidFill>
              <a:effectLst/>
              <a:latin typeface="Montserrat" panose="02000505000000020004" pitchFamily="2" charset="0"/>
            </a:endParaRPr>
          </a:p>
          <a:p>
            <a:pPr algn="just">
              <a:buFont typeface="Arial" panose="020B0604020202020204" pitchFamily="34" charset="0"/>
              <a:buChar char="•"/>
            </a:pPr>
            <a:r>
              <a:rPr lang="en-US" sz="1800" b="1" i="0" dirty="0" err="1">
                <a:solidFill>
                  <a:srgbClr val="2B2A29"/>
                </a:solidFill>
                <a:effectLst/>
                <a:latin typeface="Montserrat" panose="02000505000000020004" pitchFamily="2" charset="0"/>
              </a:rPr>
              <a:t>Apriori</a:t>
            </a:r>
            <a:r>
              <a:rPr lang="en-US" sz="1800" b="1" i="0" dirty="0">
                <a:solidFill>
                  <a:srgbClr val="2B2A29"/>
                </a:solidFill>
                <a:effectLst/>
                <a:latin typeface="Montserrat" panose="02000505000000020004" pitchFamily="2" charset="0"/>
              </a:rPr>
              <a:t> algorithm</a:t>
            </a:r>
            <a:endParaRPr lang="en-US" sz="1800" b="0" i="0" dirty="0">
              <a:solidFill>
                <a:srgbClr val="2B2A29"/>
              </a:solidFill>
              <a:effectLst/>
              <a:latin typeface="Montserrat" panose="02000505000000020004" pitchFamily="2" charset="0"/>
            </a:endParaRPr>
          </a:p>
          <a:p>
            <a:pPr algn="just">
              <a:buFont typeface="Arial" panose="020B0604020202020204" pitchFamily="34" charset="0"/>
              <a:buChar char="•"/>
            </a:pPr>
            <a:r>
              <a:rPr lang="en-US" sz="1800" b="1" i="0" dirty="0">
                <a:solidFill>
                  <a:srgbClr val="2B2A29"/>
                </a:solidFill>
                <a:effectLst/>
                <a:latin typeface="Montserrat" panose="02000505000000020004" pitchFamily="2" charset="0"/>
              </a:rPr>
              <a:t>Singular value decomposition</a:t>
            </a:r>
            <a:endParaRPr lang="en-US" sz="1800" b="0" i="0" dirty="0">
              <a:solidFill>
                <a:srgbClr val="2B2A29"/>
              </a:solidFill>
              <a:effectLst/>
              <a:latin typeface="Montserrat" panose="02000505000000020004" pitchFamily="2" charset="0"/>
            </a:endParaRPr>
          </a:p>
          <a:p>
            <a:endParaRPr lang="en-US" dirty="0"/>
          </a:p>
        </p:txBody>
      </p:sp>
    </p:spTree>
    <p:extLst>
      <p:ext uri="{BB962C8B-B14F-4D97-AF65-F5344CB8AC3E}">
        <p14:creationId xmlns:p14="http://schemas.microsoft.com/office/powerpoint/2010/main" val="561298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86460" y="1371600"/>
            <a:ext cx="11305540" cy="4778872"/>
          </a:xfrm>
          <a:prstGeom prst="rect">
            <a:avLst/>
          </a:prstGeom>
        </p:spPr>
        <p:txBody>
          <a:bodyPr vert="horz" wrap="square" lIns="0" tIns="12700" rIns="0" bIns="0" rtlCol="0">
            <a:spAutoFit/>
          </a:bodyPr>
          <a:lstStyle/>
          <a:p>
            <a:pPr marL="12700">
              <a:lnSpc>
                <a:spcPct val="100000"/>
              </a:lnSpc>
              <a:spcBef>
                <a:spcPts val="2175"/>
              </a:spcBef>
            </a:pPr>
            <a:r>
              <a:rPr sz="2400" dirty="0">
                <a:latin typeface="Segoe Print"/>
                <a:cs typeface="Segoe Print"/>
              </a:rPr>
              <a:t>In</a:t>
            </a:r>
            <a:r>
              <a:rPr sz="2400" spc="-60" dirty="0">
                <a:latin typeface="Segoe Print"/>
                <a:cs typeface="Segoe Print"/>
              </a:rPr>
              <a:t> </a:t>
            </a:r>
            <a:r>
              <a:rPr sz="2400" dirty="0">
                <a:latin typeface="Segoe Print"/>
                <a:cs typeface="Segoe Print"/>
              </a:rPr>
              <a:t>these</a:t>
            </a:r>
            <a:r>
              <a:rPr sz="2400" spc="-60" dirty="0">
                <a:latin typeface="Segoe Print"/>
                <a:cs typeface="Segoe Print"/>
              </a:rPr>
              <a:t> </a:t>
            </a:r>
            <a:r>
              <a:rPr sz="2400" dirty="0">
                <a:latin typeface="Segoe Print"/>
                <a:cs typeface="Segoe Print"/>
              </a:rPr>
              <a:t>regression</a:t>
            </a:r>
            <a:r>
              <a:rPr sz="2400" spc="-60" dirty="0">
                <a:latin typeface="Segoe Print"/>
                <a:cs typeface="Segoe Print"/>
              </a:rPr>
              <a:t> </a:t>
            </a:r>
            <a:r>
              <a:rPr sz="2400" dirty="0">
                <a:latin typeface="Segoe Print"/>
                <a:cs typeface="Segoe Print"/>
              </a:rPr>
              <a:t>or</a:t>
            </a:r>
            <a:r>
              <a:rPr sz="2400" spc="-50" dirty="0">
                <a:latin typeface="Segoe Print"/>
                <a:cs typeface="Segoe Print"/>
              </a:rPr>
              <a:t> </a:t>
            </a:r>
            <a:r>
              <a:rPr sz="2400" dirty="0">
                <a:latin typeface="Segoe Print"/>
                <a:cs typeface="Segoe Print"/>
              </a:rPr>
              <a:t>classification</a:t>
            </a:r>
            <a:r>
              <a:rPr sz="2400" spc="-60" dirty="0">
                <a:latin typeface="Segoe Print"/>
                <a:cs typeface="Segoe Print"/>
              </a:rPr>
              <a:t> </a:t>
            </a:r>
            <a:r>
              <a:rPr sz="2400" dirty="0">
                <a:latin typeface="Segoe Print"/>
                <a:cs typeface="Segoe Print"/>
              </a:rPr>
              <a:t>problems,</a:t>
            </a:r>
            <a:r>
              <a:rPr sz="2400" spc="-50" dirty="0">
                <a:latin typeface="Segoe Print"/>
                <a:cs typeface="Segoe Print"/>
              </a:rPr>
              <a:t> </a:t>
            </a:r>
            <a:r>
              <a:rPr sz="2400" dirty="0">
                <a:latin typeface="Segoe Print"/>
                <a:cs typeface="Segoe Print"/>
              </a:rPr>
              <a:t>we</a:t>
            </a:r>
            <a:r>
              <a:rPr sz="2400" spc="-55" dirty="0">
                <a:latin typeface="Segoe Print"/>
                <a:cs typeface="Segoe Print"/>
              </a:rPr>
              <a:t> </a:t>
            </a:r>
            <a:r>
              <a:rPr sz="2400" spc="-20" dirty="0">
                <a:latin typeface="Segoe Print"/>
                <a:cs typeface="Segoe Print"/>
              </a:rPr>
              <a:t>have</a:t>
            </a:r>
            <a:endParaRPr sz="2400" dirty="0">
              <a:latin typeface="Segoe Print"/>
              <a:cs typeface="Segoe Print"/>
            </a:endParaRPr>
          </a:p>
          <a:p>
            <a:pPr marL="355600" indent="-342900">
              <a:lnSpc>
                <a:spcPct val="100000"/>
              </a:lnSpc>
              <a:spcBef>
                <a:spcPts val="1440"/>
              </a:spcBef>
              <a:buChar char="-"/>
              <a:tabLst>
                <a:tab pos="355600" algn="l"/>
              </a:tabLst>
            </a:pPr>
            <a:r>
              <a:rPr sz="2400" dirty="0">
                <a:solidFill>
                  <a:srgbClr val="00AF50"/>
                </a:solidFill>
                <a:latin typeface="Segoe Print"/>
                <a:cs typeface="Segoe Print"/>
              </a:rPr>
              <a:t>Inputs</a:t>
            </a:r>
            <a:r>
              <a:rPr sz="2400" spc="-50" dirty="0">
                <a:solidFill>
                  <a:srgbClr val="00AF50"/>
                </a:solidFill>
                <a:latin typeface="Segoe Print"/>
                <a:cs typeface="Segoe Print"/>
              </a:rPr>
              <a:t> </a:t>
            </a:r>
            <a:r>
              <a:rPr sz="2400" dirty="0">
                <a:latin typeface="Segoe Print"/>
                <a:cs typeface="Segoe Print"/>
              </a:rPr>
              <a:t>–</a:t>
            </a:r>
            <a:r>
              <a:rPr sz="2400" spc="-35" dirty="0">
                <a:latin typeface="Segoe Print"/>
                <a:cs typeface="Segoe Print"/>
              </a:rPr>
              <a:t> </a:t>
            </a:r>
            <a:r>
              <a:rPr sz="2400" dirty="0">
                <a:latin typeface="Segoe Print"/>
                <a:cs typeface="Segoe Print"/>
              </a:rPr>
              <a:t>referred</a:t>
            </a:r>
            <a:r>
              <a:rPr sz="2400" spc="-25" dirty="0">
                <a:latin typeface="Segoe Print"/>
                <a:cs typeface="Segoe Print"/>
              </a:rPr>
              <a:t> </a:t>
            </a:r>
            <a:r>
              <a:rPr sz="2400" dirty="0">
                <a:latin typeface="Segoe Print"/>
                <a:cs typeface="Segoe Print"/>
              </a:rPr>
              <a:t>to</a:t>
            </a:r>
            <a:r>
              <a:rPr sz="2400" spc="-45" dirty="0">
                <a:latin typeface="Segoe Print"/>
                <a:cs typeface="Segoe Print"/>
              </a:rPr>
              <a:t> </a:t>
            </a:r>
            <a:r>
              <a:rPr sz="2400" dirty="0">
                <a:latin typeface="Segoe Print"/>
                <a:cs typeface="Segoe Print"/>
              </a:rPr>
              <a:t>as</a:t>
            </a:r>
            <a:r>
              <a:rPr sz="2400" spc="-45" dirty="0">
                <a:latin typeface="Segoe Print"/>
                <a:cs typeface="Segoe Print"/>
              </a:rPr>
              <a:t> </a:t>
            </a:r>
            <a:r>
              <a:rPr sz="2400" spc="-10" dirty="0">
                <a:latin typeface="Segoe Print"/>
                <a:cs typeface="Segoe Print"/>
              </a:rPr>
              <a:t>Features</a:t>
            </a:r>
            <a:endParaRPr sz="2400" dirty="0">
              <a:latin typeface="Segoe Print"/>
              <a:cs typeface="Segoe Print"/>
            </a:endParaRPr>
          </a:p>
          <a:p>
            <a:pPr marL="355600" indent="-342900">
              <a:lnSpc>
                <a:spcPct val="100000"/>
              </a:lnSpc>
              <a:spcBef>
                <a:spcPts val="1440"/>
              </a:spcBef>
              <a:buChar char="-"/>
              <a:tabLst>
                <a:tab pos="355600" algn="l"/>
              </a:tabLst>
            </a:pPr>
            <a:r>
              <a:rPr sz="2400" dirty="0">
                <a:solidFill>
                  <a:srgbClr val="00AF50"/>
                </a:solidFill>
                <a:latin typeface="Segoe Print"/>
                <a:cs typeface="Segoe Print"/>
              </a:rPr>
              <a:t>Output</a:t>
            </a:r>
            <a:r>
              <a:rPr sz="2400" spc="-50" dirty="0">
                <a:solidFill>
                  <a:srgbClr val="00AF50"/>
                </a:solidFill>
                <a:latin typeface="Segoe Print"/>
                <a:cs typeface="Segoe Print"/>
              </a:rPr>
              <a:t> </a:t>
            </a:r>
            <a:r>
              <a:rPr sz="2400" dirty="0">
                <a:latin typeface="Segoe Print"/>
                <a:cs typeface="Segoe Print"/>
              </a:rPr>
              <a:t>–</a:t>
            </a:r>
            <a:r>
              <a:rPr sz="2400" spc="-30" dirty="0">
                <a:latin typeface="Segoe Print"/>
                <a:cs typeface="Segoe Print"/>
              </a:rPr>
              <a:t> </a:t>
            </a:r>
            <a:r>
              <a:rPr sz="2400" dirty="0">
                <a:latin typeface="Segoe Print"/>
                <a:cs typeface="Segoe Print"/>
              </a:rPr>
              <a:t>referred</a:t>
            </a:r>
            <a:r>
              <a:rPr sz="2400" spc="-20" dirty="0">
                <a:latin typeface="Segoe Print"/>
                <a:cs typeface="Segoe Print"/>
              </a:rPr>
              <a:t> </a:t>
            </a:r>
            <a:r>
              <a:rPr sz="2400" dirty="0">
                <a:latin typeface="Segoe Print"/>
                <a:cs typeface="Segoe Print"/>
              </a:rPr>
              <a:t>to</a:t>
            </a:r>
            <a:r>
              <a:rPr sz="2400" spc="-40" dirty="0">
                <a:latin typeface="Segoe Print"/>
                <a:cs typeface="Segoe Print"/>
              </a:rPr>
              <a:t> </a:t>
            </a:r>
            <a:r>
              <a:rPr sz="2400" dirty="0">
                <a:latin typeface="Segoe Print"/>
                <a:cs typeface="Segoe Print"/>
              </a:rPr>
              <a:t>as</a:t>
            </a:r>
            <a:r>
              <a:rPr sz="2400" spc="-40" dirty="0">
                <a:latin typeface="Segoe Print"/>
                <a:cs typeface="Segoe Print"/>
              </a:rPr>
              <a:t> </a:t>
            </a:r>
            <a:r>
              <a:rPr sz="2400" spc="-10" dirty="0">
                <a:latin typeface="Segoe Print"/>
                <a:cs typeface="Segoe Print"/>
              </a:rPr>
              <a:t>Label</a:t>
            </a:r>
            <a:endParaRPr sz="2400" dirty="0">
              <a:latin typeface="Segoe Print"/>
              <a:cs typeface="Segoe Print"/>
            </a:endParaRPr>
          </a:p>
          <a:p>
            <a:pPr marL="354965" marR="152400" indent="-342900">
              <a:lnSpc>
                <a:spcPct val="150000"/>
              </a:lnSpc>
              <a:buChar char="-"/>
              <a:tabLst>
                <a:tab pos="354965" algn="l"/>
              </a:tabLst>
            </a:pPr>
            <a:r>
              <a:rPr sz="2400" dirty="0">
                <a:solidFill>
                  <a:srgbClr val="00AF50"/>
                </a:solidFill>
                <a:latin typeface="Segoe Print"/>
                <a:cs typeface="Segoe Print"/>
              </a:rPr>
              <a:t>Training</a:t>
            </a:r>
            <a:r>
              <a:rPr sz="2400" spc="-55" dirty="0">
                <a:solidFill>
                  <a:srgbClr val="00AF50"/>
                </a:solidFill>
                <a:latin typeface="Segoe Print"/>
                <a:cs typeface="Segoe Print"/>
              </a:rPr>
              <a:t> </a:t>
            </a:r>
            <a:r>
              <a:rPr sz="2400" dirty="0">
                <a:solidFill>
                  <a:srgbClr val="00AF50"/>
                </a:solidFill>
                <a:latin typeface="Segoe Print"/>
                <a:cs typeface="Segoe Print"/>
              </a:rPr>
              <a:t>data</a:t>
            </a:r>
            <a:r>
              <a:rPr sz="2400" spc="-20" dirty="0">
                <a:solidFill>
                  <a:srgbClr val="00AF50"/>
                </a:solidFill>
                <a:latin typeface="Segoe Print"/>
                <a:cs typeface="Segoe Print"/>
              </a:rPr>
              <a:t> </a:t>
            </a:r>
            <a:r>
              <a:rPr sz="2400" dirty="0">
                <a:latin typeface="Segoe Print"/>
                <a:cs typeface="Segoe Print"/>
              </a:rPr>
              <a:t>–</a:t>
            </a:r>
            <a:r>
              <a:rPr sz="2400" spc="-35" dirty="0">
                <a:latin typeface="Segoe Print"/>
                <a:cs typeface="Segoe Print"/>
              </a:rPr>
              <a:t> </a:t>
            </a:r>
            <a:r>
              <a:rPr sz="2400" dirty="0">
                <a:latin typeface="Segoe Print"/>
                <a:cs typeface="Segoe Print"/>
              </a:rPr>
              <a:t>(input,</a:t>
            </a:r>
            <a:r>
              <a:rPr sz="2400" spc="-35" dirty="0">
                <a:latin typeface="Segoe Print"/>
                <a:cs typeface="Segoe Print"/>
              </a:rPr>
              <a:t> </a:t>
            </a:r>
            <a:r>
              <a:rPr sz="2400" dirty="0">
                <a:latin typeface="Segoe Print"/>
                <a:cs typeface="Segoe Print"/>
              </a:rPr>
              <a:t>output)</a:t>
            </a:r>
            <a:r>
              <a:rPr sz="2400" spc="-40" dirty="0">
                <a:latin typeface="Segoe Print"/>
                <a:cs typeface="Segoe Print"/>
              </a:rPr>
              <a:t> </a:t>
            </a:r>
            <a:r>
              <a:rPr sz="2400" dirty="0">
                <a:latin typeface="Segoe Print"/>
                <a:cs typeface="Segoe Print"/>
              </a:rPr>
              <a:t>for</a:t>
            </a:r>
            <a:r>
              <a:rPr sz="2400" spc="-25" dirty="0">
                <a:latin typeface="Segoe Print"/>
                <a:cs typeface="Segoe Print"/>
              </a:rPr>
              <a:t> </a:t>
            </a:r>
            <a:r>
              <a:rPr sz="2400" dirty="0">
                <a:latin typeface="Segoe Print"/>
                <a:cs typeface="Segoe Print"/>
              </a:rPr>
              <a:t>which</a:t>
            </a:r>
            <a:r>
              <a:rPr sz="2400" spc="-35" dirty="0">
                <a:latin typeface="Segoe Print"/>
                <a:cs typeface="Segoe Print"/>
              </a:rPr>
              <a:t> </a:t>
            </a:r>
            <a:r>
              <a:rPr sz="2400" dirty="0">
                <a:latin typeface="Segoe Print"/>
                <a:cs typeface="Segoe Print"/>
              </a:rPr>
              <a:t>the</a:t>
            </a:r>
            <a:r>
              <a:rPr sz="2400" spc="-40" dirty="0">
                <a:latin typeface="Segoe Print"/>
                <a:cs typeface="Segoe Print"/>
              </a:rPr>
              <a:t> </a:t>
            </a:r>
            <a:r>
              <a:rPr sz="2400" dirty="0">
                <a:latin typeface="Segoe Print"/>
                <a:cs typeface="Segoe Print"/>
              </a:rPr>
              <a:t>output</a:t>
            </a:r>
            <a:r>
              <a:rPr sz="2400" spc="-40" dirty="0">
                <a:latin typeface="Segoe Print"/>
                <a:cs typeface="Segoe Print"/>
              </a:rPr>
              <a:t> </a:t>
            </a:r>
            <a:r>
              <a:rPr sz="2400" dirty="0">
                <a:latin typeface="Segoe Print"/>
                <a:cs typeface="Segoe Print"/>
              </a:rPr>
              <a:t>is</a:t>
            </a:r>
            <a:r>
              <a:rPr sz="2400" spc="-40" dirty="0">
                <a:latin typeface="Segoe Print"/>
                <a:cs typeface="Segoe Print"/>
              </a:rPr>
              <a:t> </a:t>
            </a:r>
            <a:r>
              <a:rPr sz="2400" dirty="0">
                <a:latin typeface="Segoe Print"/>
                <a:cs typeface="Segoe Print"/>
              </a:rPr>
              <a:t>known</a:t>
            </a:r>
            <a:r>
              <a:rPr sz="2400" spc="-40" dirty="0">
                <a:latin typeface="Segoe Print"/>
                <a:cs typeface="Segoe Print"/>
              </a:rPr>
              <a:t> </a:t>
            </a:r>
            <a:r>
              <a:rPr sz="2400" dirty="0">
                <a:latin typeface="Segoe Print"/>
                <a:cs typeface="Segoe Print"/>
              </a:rPr>
              <a:t>and</a:t>
            </a:r>
            <a:r>
              <a:rPr sz="2400" spc="-30" dirty="0">
                <a:latin typeface="Segoe Print"/>
                <a:cs typeface="Segoe Print"/>
              </a:rPr>
              <a:t> </a:t>
            </a:r>
            <a:r>
              <a:rPr sz="2400" spc="-25" dirty="0">
                <a:latin typeface="Segoe Print"/>
                <a:cs typeface="Segoe Print"/>
              </a:rPr>
              <a:t>is </a:t>
            </a:r>
            <a:r>
              <a:rPr sz="2400" dirty="0">
                <a:latin typeface="Segoe Print"/>
                <a:cs typeface="Segoe Print"/>
              </a:rPr>
              <a:t>used</a:t>
            </a:r>
            <a:r>
              <a:rPr sz="2400" spc="-45" dirty="0">
                <a:latin typeface="Segoe Print"/>
                <a:cs typeface="Segoe Print"/>
              </a:rPr>
              <a:t> </a:t>
            </a:r>
            <a:r>
              <a:rPr sz="2400" dirty="0">
                <a:latin typeface="Segoe Print"/>
                <a:cs typeface="Segoe Print"/>
              </a:rPr>
              <a:t>for</a:t>
            </a:r>
            <a:r>
              <a:rPr sz="2400" spc="-30" dirty="0">
                <a:latin typeface="Segoe Print"/>
                <a:cs typeface="Segoe Print"/>
              </a:rPr>
              <a:t> </a:t>
            </a:r>
            <a:r>
              <a:rPr sz="2400" dirty="0">
                <a:latin typeface="Segoe Print"/>
                <a:cs typeface="Segoe Print"/>
              </a:rPr>
              <a:t>training</a:t>
            </a:r>
            <a:r>
              <a:rPr sz="2400" spc="-45" dirty="0">
                <a:latin typeface="Segoe Print"/>
                <a:cs typeface="Segoe Print"/>
              </a:rPr>
              <a:t> </a:t>
            </a:r>
            <a:r>
              <a:rPr sz="2400" dirty="0">
                <a:latin typeface="Segoe Print"/>
                <a:cs typeface="Segoe Print"/>
              </a:rPr>
              <a:t>a</a:t>
            </a:r>
            <a:r>
              <a:rPr sz="2400" spc="-40" dirty="0">
                <a:latin typeface="Segoe Print"/>
                <a:cs typeface="Segoe Print"/>
              </a:rPr>
              <a:t> </a:t>
            </a:r>
            <a:r>
              <a:rPr sz="2400" dirty="0">
                <a:latin typeface="Segoe Print"/>
                <a:cs typeface="Segoe Print"/>
              </a:rPr>
              <a:t>model</a:t>
            </a:r>
            <a:r>
              <a:rPr sz="2400" spc="-40" dirty="0">
                <a:latin typeface="Segoe Print"/>
                <a:cs typeface="Segoe Print"/>
              </a:rPr>
              <a:t> </a:t>
            </a:r>
            <a:r>
              <a:rPr sz="2400" dirty="0">
                <a:latin typeface="Segoe Print"/>
                <a:cs typeface="Segoe Print"/>
              </a:rPr>
              <a:t>by</a:t>
            </a:r>
            <a:r>
              <a:rPr sz="2400" spc="-45" dirty="0">
                <a:latin typeface="Segoe Print"/>
                <a:cs typeface="Segoe Print"/>
              </a:rPr>
              <a:t> </a:t>
            </a:r>
            <a:r>
              <a:rPr sz="2400" dirty="0">
                <a:latin typeface="Segoe Print"/>
                <a:cs typeface="Segoe Print"/>
              </a:rPr>
              <a:t>ML</a:t>
            </a:r>
            <a:r>
              <a:rPr sz="2400" spc="-35" dirty="0">
                <a:latin typeface="Segoe Print"/>
                <a:cs typeface="Segoe Print"/>
              </a:rPr>
              <a:t> </a:t>
            </a:r>
            <a:r>
              <a:rPr sz="2400" spc="-10" dirty="0">
                <a:latin typeface="Segoe Print"/>
                <a:cs typeface="Segoe Print"/>
              </a:rPr>
              <a:t>algorithm</a:t>
            </a:r>
            <a:endParaRPr sz="2400" dirty="0">
              <a:latin typeface="Segoe Print"/>
              <a:cs typeface="Segoe Print"/>
            </a:endParaRPr>
          </a:p>
          <a:p>
            <a:pPr marL="354965" marR="5080" indent="-342900">
              <a:lnSpc>
                <a:spcPct val="150000"/>
              </a:lnSpc>
              <a:buChar char="-"/>
              <a:tabLst>
                <a:tab pos="354965" algn="l"/>
              </a:tabLst>
            </a:pPr>
            <a:r>
              <a:rPr sz="2400" dirty="0">
                <a:solidFill>
                  <a:srgbClr val="00AF50"/>
                </a:solidFill>
                <a:latin typeface="Segoe Print"/>
                <a:cs typeface="Segoe Print"/>
              </a:rPr>
              <a:t>A</a:t>
            </a:r>
            <a:r>
              <a:rPr sz="2400" spc="-55" dirty="0">
                <a:solidFill>
                  <a:srgbClr val="00AF50"/>
                </a:solidFill>
                <a:latin typeface="Segoe Print"/>
                <a:cs typeface="Segoe Print"/>
              </a:rPr>
              <a:t> </a:t>
            </a:r>
            <a:r>
              <a:rPr sz="2400" dirty="0">
                <a:solidFill>
                  <a:srgbClr val="00AF50"/>
                </a:solidFill>
                <a:latin typeface="Segoe Print"/>
                <a:cs typeface="Segoe Print"/>
              </a:rPr>
              <a:t>Loss,</a:t>
            </a:r>
            <a:r>
              <a:rPr sz="2400" spc="-45" dirty="0">
                <a:solidFill>
                  <a:srgbClr val="00AF50"/>
                </a:solidFill>
                <a:latin typeface="Segoe Print"/>
                <a:cs typeface="Segoe Print"/>
              </a:rPr>
              <a:t> </a:t>
            </a:r>
            <a:r>
              <a:rPr sz="2400" dirty="0">
                <a:solidFill>
                  <a:srgbClr val="00AF50"/>
                </a:solidFill>
                <a:latin typeface="Segoe Print"/>
                <a:cs typeface="Segoe Print"/>
              </a:rPr>
              <a:t>an</a:t>
            </a:r>
            <a:r>
              <a:rPr sz="2400" spc="-50" dirty="0">
                <a:solidFill>
                  <a:srgbClr val="00AF50"/>
                </a:solidFill>
                <a:latin typeface="Segoe Print"/>
                <a:cs typeface="Segoe Print"/>
              </a:rPr>
              <a:t> </a:t>
            </a:r>
            <a:r>
              <a:rPr sz="2400" dirty="0">
                <a:solidFill>
                  <a:srgbClr val="00AF50"/>
                </a:solidFill>
                <a:latin typeface="Segoe Print"/>
                <a:cs typeface="Segoe Print"/>
              </a:rPr>
              <a:t>objective</a:t>
            </a:r>
            <a:r>
              <a:rPr sz="2400" spc="-40" dirty="0">
                <a:solidFill>
                  <a:srgbClr val="00AF50"/>
                </a:solidFill>
                <a:latin typeface="Segoe Print"/>
                <a:cs typeface="Segoe Print"/>
              </a:rPr>
              <a:t> </a:t>
            </a:r>
            <a:r>
              <a:rPr sz="2400" dirty="0">
                <a:solidFill>
                  <a:srgbClr val="00AF50"/>
                </a:solidFill>
                <a:latin typeface="Segoe Print"/>
                <a:cs typeface="Segoe Print"/>
              </a:rPr>
              <a:t>or</a:t>
            </a:r>
            <a:r>
              <a:rPr sz="2400" spc="-40" dirty="0">
                <a:solidFill>
                  <a:srgbClr val="00AF50"/>
                </a:solidFill>
                <a:latin typeface="Segoe Print"/>
                <a:cs typeface="Segoe Print"/>
              </a:rPr>
              <a:t> </a:t>
            </a:r>
            <a:r>
              <a:rPr sz="2400" dirty="0">
                <a:solidFill>
                  <a:srgbClr val="00AF50"/>
                </a:solidFill>
                <a:latin typeface="Segoe Print"/>
                <a:cs typeface="Segoe Print"/>
              </a:rPr>
              <a:t>a</a:t>
            </a:r>
            <a:r>
              <a:rPr sz="2400" spc="-45" dirty="0">
                <a:solidFill>
                  <a:srgbClr val="00AF50"/>
                </a:solidFill>
                <a:latin typeface="Segoe Print"/>
                <a:cs typeface="Segoe Print"/>
              </a:rPr>
              <a:t> </a:t>
            </a:r>
            <a:r>
              <a:rPr sz="2400" dirty="0">
                <a:solidFill>
                  <a:srgbClr val="00AF50"/>
                </a:solidFill>
                <a:latin typeface="Segoe Print"/>
                <a:cs typeface="Segoe Print"/>
              </a:rPr>
              <a:t>cost</a:t>
            </a:r>
            <a:r>
              <a:rPr sz="2400" spc="-45" dirty="0">
                <a:solidFill>
                  <a:srgbClr val="00AF50"/>
                </a:solidFill>
                <a:latin typeface="Segoe Print"/>
                <a:cs typeface="Segoe Print"/>
              </a:rPr>
              <a:t> </a:t>
            </a:r>
            <a:r>
              <a:rPr sz="2400" dirty="0">
                <a:solidFill>
                  <a:srgbClr val="00AF50"/>
                </a:solidFill>
                <a:latin typeface="Segoe Print"/>
                <a:cs typeface="Segoe Print"/>
              </a:rPr>
              <a:t>function</a:t>
            </a:r>
            <a:r>
              <a:rPr sz="2400" spc="-30" dirty="0">
                <a:solidFill>
                  <a:srgbClr val="00AF50"/>
                </a:solidFill>
                <a:latin typeface="Segoe Print"/>
                <a:cs typeface="Segoe Print"/>
              </a:rPr>
              <a:t> </a:t>
            </a:r>
            <a:r>
              <a:rPr sz="2400" dirty="0">
                <a:latin typeface="Segoe Print"/>
                <a:cs typeface="Segoe Print"/>
              </a:rPr>
              <a:t>–</a:t>
            </a:r>
            <a:r>
              <a:rPr sz="2400" spc="-45" dirty="0">
                <a:latin typeface="Segoe Print"/>
                <a:cs typeface="Segoe Print"/>
              </a:rPr>
              <a:t> </a:t>
            </a:r>
            <a:r>
              <a:rPr sz="2400" dirty="0">
                <a:latin typeface="Segoe Print"/>
                <a:cs typeface="Segoe Print"/>
              </a:rPr>
              <a:t>determines</a:t>
            </a:r>
            <a:r>
              <a:rPr sz="2400" spc="-50" dirty="0">
                <a:latin typeface="Segoe Print"/>
                <a:cs typeface="Segoe Print"/>
              </a:rPr>
              <a:t> </a:t>
            </a:r>
            <a:r>
              <a:rPr sz="2400" dirty="0">
                <a:latin typeface="Segoe Print"/>
                <a:cs typeface="Segoe Print"/>
              </a:rPr>
              <a:t>how</a:t>
            </a:r>
            <a:r>
              <a:rPr sz="2400" spc="-45" dirty="0">
                <a:latin typeface="Segoe Print"/>
                <a:cs typeface="Segoe Print"/>
              </a:rPr>
              <a:t> </a:t>
            </a:r>
            <a:r>
              <a:rPr sz="2400" dirty="0">
                <a:latin typeface="Segoe Print"/>
                <a:cs typeface="Segoe Print"/>
              </a:rPr>
              <a:t>well</a:t>
            </a:r>
            <a:r>
              <a:rPr sz="2400" spc="-45" dirty="0">
                <a:latin typeface="Segoe Print"/>
                <a:cs typeface="Segoe Print"/>
              </a:rPr>
              <a:t> </a:t>
            </a:r>
            <a:r>
              <a:rPr sz="2400" dirty="0">
                <a:latin typeface="Segoe Print"/>
                <a:cs typeface="Segoe Print"/>
              </a:rPr>
              <a:t>a</a:t>
            </a:r>
            <a:r>
              <a:rPr sz="2400" spc="-35" dirty="0">
                <a:latin typeface="Segoe Print"/>
                <a:cs typeface="Segoe Print"/>
              </a:rPr>
              <a:t> </a:t>
            </a:r>
            <a:r>
              <a:rPr sz="2400" spc="-10" dirty="0">
                <a:latin typeface="Segoe Print"/>
                <a:cs typeface="Segoe Print"/>
              </a:rPr>
              <a:t>trined </a:t>
            </a:r>
            <a:r>
              <a:rPr sz="2400" dirty="0">
                <a:latin typeface="Segoe Print"/>
                <a:cs typeface="Segoe Print"/>
              </a:rPr>
              <a:t>model</a:t>
            </a:r>
            <a:r>
              <a:rPr sz="2400" spc="-95" dirty="0">
                <a:latin typeface="Segoe Print"/>
                <a:cs typeface="Segoe Print"/>
              </a:rPr>
              <a:t> </a:t>
            </a:r>
            <a:r>
              <a:rPr sz="2400" dirty="0">
                <a:latin typeface="Segoe Print"/>
                <a:cs typeface="Segoe Print"/>
              </a:rPr>
              <a:t>approximates</a:t>
            </a:r>
            <a:r>
              <a:rPr sz="2400" spc="-100" dirty="0">
                <a:latin typeface="Segoe Print"/>
                <a:cs typeface="Segoe Print"/>
              </a:rPr>
              <a:t> </a:t>
            </a:r>
            <a:r>
              <a:rPr sz="2400" dirty="0">
                <a:latin typeface="Segoe Print"/>
                <a:cs typeface="Segoe Print"/>
              </a:rPr>
              <a:t>the</a:t>
            </a:r>
            <a:r>
              <a:rPr sz="2400" spc="-90" dirty="0">
                <a:latin typeface="Segoe Print"/>
                <a:cs typeface="Segoe Print"/>
              </a:rPr>
              <a:t> </a:t>
            </a:r>
            <a:r>
              <a:rPr sz="2400" dirty="0">
                <a:latin typeface="Segoe Print"/>
                <a:cs typeface="Segoe Print"/>
              </a:rPr>
              <a:t>training</a:t>
            </a:r>
            <a:r>
              <a:rPr sz="2400" spc="-100" dirty="0">
                <a:latin typeface="Segoe Print"/>
                <a:cs typeface="Segoe Print"/>
              </a:rPr>
              <a:t> </a:t>
            </a:r>
            <a:r>
              <a:rPr sz="2400" spc="-20" dirty="0">
                <a:latin typeface="Segoe Print"/>
                <a:cs typeface="Segoe Print"/>
              </a:rPr>
              <a:t>data</a:t>
            </a:r>
            <a:endParaRPr sz="2400" dirty="0">
              <a:latin typeface="Segoe Print"/>
              <a:cs typeface="Segoe Print"/>
            </a:endParaRPr>
          </a:p>
          <a:p>
            <a:pPr marL="354965" marR="13970" indent="-342900">
              <a:lnSpc>
                <a:spcPts val="4320"/>
              </a:lnSpc>
              <a:spcBef>
                <a:spcPts val="185"/>
              </a:spcBef>
              <a:buChar char="-"/>
              <a:tabLst>
                <a:tab pos="354965" algn="l"/>
              </a:tabLst>
            </a:pPr>
            <a:r>
              <a:rPr sz="2400" dirty="0">
                <a:solidFill>
                  <a:srgbClr val="00AF50"/>
                </a:solidFill>
                <a:latin typeface="Segoe Print"/>
                <a:cs typeface="Segoe Print"/>
              </a:rPr>
              <a:t>Test</a:t>
            </a:r>
            <a:r>
              <a:rPr sz="2400" spc="-15" dirty="0">
                <a:solidFill>
                  <a:srgbClr val="00AF50"/>
                </a:solidFill>
                <a:latin typeface="Segoe Print"/>
                <a:cs typeface="Segoe Print"/>
              </a:rPr>
              <a:t> </a:t>
            </a:r>
            <a:r>
              <a:rPr sz="2400" dirty="0">
                <a:solidFill>
                  <a:srgbClr val="00AF50"/>
                </a:solidFill>
                <a:latin typeface="Segoe Print"/>
                <a:cs typeface="Segoe Print"/>
              </a:rPr>
              <a:t>data</a:t>
            </a:r>
            <a:r>
              <a:rPr sz="2400" spc="-5" dirty="0">
                <a:solidFill>
                  <a:srgbClr val="00AF50"/>
                </a:solidFill>
                <a:latin typeface="Segoe Print"/>
                <a:cs typeface="Segoe Print"/>
              </a:rPr>
              <a:t> </a:t>
            </a:r>
            <a:r>
              <a:rPr sz="2400" dirty="0">
                <a:latin typeface="Segoe Print"/>
                <a:cs typeface="Segoe Print"/>
              </a:rPr>
              <a:t>–</a:t>
            </a:r>
            <a:r>
              <a:rPr sz="2400" spc="-15" dirty="0">
                <a:latin typeface="Segoe Print"/>
                <a:cs typeface="Segoe Print"/>
              </a:rPr>
              <a:t> </a:t>
            </a:r>
            <a:r>
              <a:rPr sz="2400" dirty="0">
                <a:latin typeface="Segoe Print"/>
                <a:cs typeface="Segoe Print"/>
              </a:rPr>
              <a:t>(input,</a:t>
            </a:r>
            <a:r>
              <a:rPr sz="2400" spc="-10" dirty="0">
                <a:latin typeface="Segoe Print"/>
                <a:cs typeface="Segoe Print"/>
              </a:rPr>
              <a:t> </a:t>
            </a:r>
            <a:r>
              <a:rPr sz="2400" dirty="0">
                <a:latin typeface="Segoe Print"/>
                <a:cs typeface="Segoe Print"/>
              </a:rPr>
              <a:t>output)</a:t>
            </a:r>
            <a:r>
              <a:rPr sz="2400" spc="-15" dirty="0">
                <a:latin typeface="Segoe Print"/>
                <a:cs typeface="Segoe Print"/>
              </a:rPr>
              <a:t> </a:t>
            </a:r>
            <a:r>
              <a:rPr sz="2400" dirty="0">
                <a:latin typeface="Segoe Print"/>
                <a:cs typeface="Segoe Print"/>
              </a:rPr>
              <a:t>for</a:t>
            </a:r>
            <a:r>
              <a:rPr sz="2400" spc="-5" dirty="0">
                <a:latin typeface="Segoe Print"/>
                <a:cs typeface="Segoe Print"/>
              </a:rPr>
              <a:t> </a:t>
            </a:r>
            <a:r>
              <a:rPr sz="2400" dirty="0">
                <a:latin typeface="Segoe Print"/>
                <a:cs typeface="Segoe Print"/>
              </a:rPr>
              <a:t>which</a:t>
            </a:r>
            <a:r>
              <a:rPr sz="2400" spc="-15" dirty="0">
                <a:latin typeface="Segoe Print"/>
                <a:cs typeface="Segoe Print"/>
              </a:rPr>
              <a:t> </a:t>
            </a:r>
            <a:r>
              <a:rPr sz="2400" dirty="0">
                <a:latin typeface="Segoe Print"/>
                <a:cs typeface="Segoe Print"/>
              </a:rPr>
              <a:t>the</a:t>
            </a:r>
            <a:r>
              <a:rPr sz="2400" spc="-20" dirty="0">
                <a:latin typeface="Segoe Print"/>
                <a:cs typeface="Segoe Print"/>
              </a:rPr>
              <a:t> </a:t>
            </a:r>
            <a:r>
              <a:rPr sz="2400" dirty="0">
                <a:latin typeface="Segoe Print"/>
                <a:cs typeface="Segoe Print"/>
              </a:rPr>
              <a:t>output</a:t>
            </a:r>
            <a:r>
              <a:rPr sz="2400" spc="-10" dirty="0">
                <a:latin typeface="Segoe Print"/>
                <a:cs typeface="Segoe Print"/>
              </a:rPr>
              <a:t> </a:t>
            </a:r>
            <a:r>
              <a:rPr sz="2400" dirty="0">
                <a:latin typeface="Segoe Print"/>
                <a:cs typeface="Segoe Print"/>
              </a:rPr>
              <a:t>is</a:t>
            </a:r>
            <a:r>
              <a:rPr sz="2400" spc="-15" dirty="0">
                <a:latin typeface="Segoe Print"/>
                <a:cs typeface="Segoe Print"/>
              </a:rPr>
              <a:t> </a:t>
            </a:r>
            <a:r>
              <a:rPr sz="2400" dirty="0">
                <a:latin typeface="Segoe Print"/>
                <a:cs typeface="Segoe Print"/>
              </a:rPr>
              <a:t>known</a:t>
            </a:r>
            <a:r>
              <a:rPr sz="2400" spc="-10" dirty="0">
                <a:latin typeface="Segoe Print"/>
                <a:cs typeface="Segoe Print"/>
              </a:rPr>
              <a:t> </a:t>
            </a:r>
            <a:r>
              <a:rPr sz="2400" dirty="0">
                <a:latin typeface="Segoe Print"/>
                <a:cs typeface="Segoe Print"/>
              </a:rPr>
              <a:t>and</a:t>
            </a:r>
            <a:r>
              <a:rPr sz="2400" spc="-15" dirty="0">
                <a:latin typeface="Segoe Print"/>
                <a:cs typeface="Segoe Print"/>
              </a:rPr>
              <a:t> </a:t>
            </a:r>
            <a:r>
              <a:rPr sz="2400" dirty="0">
                <a:latin typeface="Segoe Print"/>
                <a:cs typeface="Segoe Print"/>
              </a:rPr>
              <a:t>is</a:t>
            </a:r>
            <a:r>
              <a:rPr sz="2400" spc="-10" dirty="0">
                <a:latin typeface="Segoe Print"/>
                <a:cs typeface="Segoe Print"/>
              </a:rPr>
              <a:t> </a:t>
            </a:r>
            <a:r>
              <a:rPr sz="2400" spc="-20" dirty="0">
                <a:latin typeface="Segoe Print"/>
                <a:cs typeface="Segoe Print"/>
              </a:rPr>
              <a:t>used </a:t>
            </a:r>
            <a:r>
              <a:rPr sz="2400" dirty="0">
                <a:latin typeface="Segoe Print"/>
                <a:cs typeface="Segoe Print"/>
              </a:rPr>
              <a:t>for</a:t>
            </a:r>
            <a:r>
              <a:rPr sz="2400" spc="-35" dirty="0">
                <a:latin typeface="Segoe Print"/>
                <a:cs typeface="Segoe Print"/>
              </a:rPr>
              <a:t> </a:t>
            </a:r>
            <a:r>
              <a:rPr sz="2400" dirty="0">
                <a:latin typeface="Segoe Print"/>
                <a:cs typeface="Segoe Print"/>
              </a:rPr>
              <a:t>the</a:t>
            </a:r>
            <a:r>
              <a:rPr sz="2400" spc="-50" dirty="0">
                <a:latin typeface="Segoe Print"/>
                <a:cs typeface="Segoe Print"/>
              </a:rPr>
              <a:t> </a:t>
            </a:r>
            <a:r>
              <a:rPr sz="2400" dirty="0">
                <a:latin typeface="Segoe Print"/>
                <a:cs typeface="Segoe Print"/>
              </a:rPr>
              <a:t>evaluation</a:t>
            </a:r>
            <a:r>
              <a:rPr sz="2400" spc="-30" dirty="0">
                <a:latin typeface="Segoe Print"/>
                <a:cs typeface="Segoe Print"/>
              </a:rPr>
              <a:t> </a:t>
            </a:r>
            <a:r>
              <a:rPr sz="2400" dirty="0">
                <a:latin typeface="Segoe Print"/>
                <a:cs typeface="Segoe Print"/>
              </a:rPr>
              <a:t>of</a:t>
            </a:r>
            <a:r>
              <a:rPr sz="2400" spc="-35" dirty="0">
                <a:latin typeface="Segoe Print"/>
                <a:cs typeface="Segoe Print"/>
              </a:rPr>
              <a:t> </a:t>
            </a:r>
            <a:r>
              <a:rPr sz="2400" dirty="0">
                <a:latin typeface="Segoe Print"/>
                <a:cs typeface="Segoe Print"/>
              </a:rPr>
              <a:t>the</a:t>
            </a:r>
            <a:r>
              <a:rPr sz="2400" spc="-45" dirty="0">
                <a:latin typeface="Segoe Print"/>
                <a:cs typeface="Segoe Print"/>
              </a:rPr>
              <a:t> </a:t>
            </a:r>
            <a:r>
              <a:rPr sz="2400" dirty="0">
                <a:latin typeface="Segoe Print"/>
                <a:cs typeface="Segoe Print"/>
              </a:rPr>
              <a:t>performance</a:t>
            </a:r>
            <a:r>
              <a:rPr sz="2400" spc="-45" dirty="0">
                <a:latin typeface="Segoe Print"/>
                <a:cs typeface="Segoe Print"/>
              </a:rPr>
              <a:t> </a:t>
            </a:r>
            <a:r>
              <a:rPr sz="2400" dirty="0">
                <a:latin typeface="Segoe Print"/>
                <a:cs typeface="Segoe Print"/>
              </a:rPr>
              <a:t>of</a:t>
            </a:r>
            <a:r>
              <a:rPr sz="2400" spc="-35" dirty="0">
                <a:latin typeface="Segoe Print"/>
                <a:cs typeface="Segoe Print"/>
              </a:rPr>
              <a:t> </a:t>
            </a:r>
            <a:r>
              <a:rPr sz="2400" dirty="0">
                <a:latin typeface="Segoe Print"/>
                <a:cs typeface="Segoe Print"/>
              </a:rPr>
              <a:t>the</a:t>
            </a:r>
            <a:r>
              <a:rPr sz="2400" spc="-50" dirty="0">
                <a:latin typeface="Segoe Print"/>
                <a:cs typeface="Segoe Print"/>
              </a:rPr>
              <a:t> </a:t>
            </a:r>
            <a:r>
              <a:rPr sz="2400" dirty="0">
                <a:latin typeface="Segoe Print"/>
                <a:cs typeface="Segoe Print"/>
              </a:rPr>
              <a:t>trained</a:t>
            </a:r>
            <a:r>
              <a:rPr sz="2400" spc="-45" dirty="0">
                <a:latin typeface="Segoe Print"/>
                <a:cs typeface="Segoe Print"/>
              </a:rPr>
              <a:t> </a:t>
            </a:r>
            <a:r>
              <a:rPr sz="2400" spc="-10" dirty="0">
                <a:latin typeface="Segoe Print"/>
                <a:cs typeface="Segoe Print"/>
              </a:rPr>
              <a:t>model</a:t>
            </a:r>
            <a:endParaRPr sz="2400" dirty="0">
              <a:latin typeface="Segoe Print"/>
              <a:cs typeface="Segoe Print"/>
            </a:endParaRPr>
          </a:p>
        </p:txBody>
      </p:sp>
      <p:sp>
        <p:nvSpPr>
          <p:cNvPr id="3" name="object 3"/>
          <p:cNvSpPr txBox="1">
            <a:spLocks noGrp="1"/>
          </p:cNvSpPr>
          <p:nvPr>
            <p:ph type="title"/>
          </p:nvPr>
        </p:nvSpPr>
        <p:spPr>
          <a:xfrm>
            <a:off x="838200" y="228600"/>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3242" y="1981200"/>
            <a:ext cx="3285490" cy="2317115"/>
          </a:xfrm>
          <a:prstGeom prst="rect">
            <a:avLst/>
          </a:prstGeom>
        </p:spPr>
        <p:txBody>
          <a:bodyPr vert="horz" wrap="square" lIns="0" tIns="12700" rIns="0" bIns="0" rtlCol="0">
            <a:spAutoFit/>
          </a:bodyPr>
          <a:lstStyle/>
          <a:p>
            <a:pPr marL="161290">
              <a:lnSpc>
                <a:spcPct val="100000"/>
              </a:lnSpc>
              <a:spcBef>
                <a:spcPts val="100"/>
              </a:spcBef>
            </a:pPr>
            <a:r>
              <a:rPr lang="en-US" sz="2400" b="1" u="sng" spc="-10" dirty="0">
                <a:solidFill>
                  <a:srgbClr val="006FC0"/>
                </a:solidFill>
                <a:uFill>
                  <a:solidFill>
                    <a:srgbClr val="006FC0"/>
                  </a:solidFill>
                </a:uFill>
                <a:latin typeface="Calibri"/>
                <a:cs typeface="Calibri"/>
              </a:rPr>
              <a:t>Example</a:t>
            </a:r>
            <a:endParaRPr lang="en-US" sz="2400" dirty="0">
              <a:latin typeface="Calibri"/>
              <a:cs typeface="Calibri"/>
            </a:endParaRPr>
          </a:p>
          <a:p>
            <a:pPr marL="161290">
              <a:lnSpc>
                <a:spcPct val="100000"/>
              </a:lnSpc>
              <a:spcBef>
                <a:spcPts val="1870"/>
              </a:spcBef>
            </a:pPr>
            <a:r>
              <a:rPr sz="1800" dirty="0">
                <a:latin typeface="Calibri"/>
                <a:cs typeface="Calibri"/>
              </a:rPr>
              <a:t>Predict</a:t>
            </a:r>
            <a:r>
              <a:rPr sz="1800" spc="-60" dirty="0">
                <a:latin typeface="Calibri"/>
                <a:cs typeface="Calibri"/>
              </a:rPr>
              <a:t> </a:t>
            </a:r>
            <a:r>
              <a:rPr sz="1800" dirty="0">
                <a:latin typeface="Calibri"/>
                <a:cs typeface="Calibri"/>
              </a:rPr>
              <a:t>Stock</a:t>
            </a:r>
            <a:r>
              <a:rPr sz="1800" spc="-55" dirty="0">
                <a:latin typeface="Calibri"/>
                <a:cs typeface="Calibri"/>
              </a:rPr>
              <a:t> </a:t>
            </a:r>
            <a:r>
              <a:rPr sz="1800" dirty="0">
                <a:latin typeface="Calibri"/>
                <a:cs typeface="Calibri"/>
              </a:rPr>
              <a:t>Index</a:t>
            </a:r>
            <a:r>
              <a:rPr sz="1800" spc="-45" dirty="0">
                <a:latin typeface="Calibri"/>
                <a:cs typeface="Calibri"/>
              </a:rPr>
              <a:t> </a:t>
            </a:r>
            <a:r>
              <a:rPr sz="1800" spc="-10" dirty="0">
                <a:latin typeface="Calibri"/>
                <a:cs typeface="Calibri"/>
              </a:rPr>
              <a:t>Price</a:t>
            </a:r>
            <a:endParaRPr sz="1800" dirty="0">
              <a:latin typeface="Calibri"/>
              <a:cs typeface="Calibri"/>
            </a:endParaRPr>
          </a:p>
          <a:p>
            <a:pPr>
              <a:lnSpc>
                <a:spcPct val="100000"/>
              </a:lnSpc>
              <a:spcBef>
                <a:spcPts val="295"/>
              </a:spcBef>
            </a:pPr>
            <a:endParaRPr sz="1800" dirty="0">
              <a:latin typeface="Calibri"/>
              <a:cs typeface="Calibri"/>
            </a:endParaRPr>
          </a:p>
          <a:p>
            <a:pPr marL="354965" indent="-342265">
              <a:lnSpc>
                <a:spcPct val="100000"/>
              </a:lnSpc>
              <a:buChar char="-"/>
              <a:tabLst>
                <a:tab pos="354965" algn="l"/>
              </a:tabLst>
            </a:pPr>
            <a:r>
              <a:rPr sz="1800" dirty="0">
                <a:solidFill>
                  <a:srgbClr val="006FC0"/>
                </a:solidFill>
                <a:latin typeface="Segoe Print"/>
                <a:cs typeface="Segoe Print"/>
              </a:rPr>
              <a:t>Features</a:t>
            </a:r>
            <a:r>
              <a:rPr sz="1800" spc="-105" dirty="0">
                <a:solidFill>
                  <a:srgbClr val="006FC0"/>
                </a:solidFill>
                <a:latin typeface="Segoe Print"/>
                <a:cs typeface="Segoe Print"/>
              </a:rPr>
              <a:t> </a:t>
            </a:r>
            <a:r>
              <a:rPr sz="1800" spc="-10" dirty="0">
                <a:solidFill>
                  <a:srgbClr val="006FC0"/>
                </a:solidFill>
                <a:latin typeface="Segoe Print"/>
                <a:cs typeface="Segoe Print"/>
              </a:rPr>
              <a:t>(Input)</a:t>
            </a:r>
            <a:endParaRPr sz="1800" dirty="0">
              <a:latin typeface="Segoe Print"/>
              <a:cs typeface="Segoe Print"/>
            </a:endParaRPr>
          </a:p>
          <a:p>
            <a:pPr marL="354965" indent="-342265">
              <a:lnSpc>
                <a:spcPct val="100000"/>
              </a:lnSpc>
              <a:spcBef>
                <a:spcPts val="1080"/>
              </a:spcBef>
              <a:buChar char="-"/>
              <a:tabLst>
                <a:tab pos="354965" algn="l"/>
              </a:tabLst>
            </a:pPr>
            <a:r>
              <a:rPr sz="1800" dirty="0">
                <a:solidFill>
                  <a:srgbClr val="BE9000"/>
                </a:solidFill>
                <a:latin typeface="Segoe Print"/>
                <a:cs typeface="Segoe Print"/>
              </a:rPr>
              <a:t>Labels</a:t>
            </a:r>
            <a:r>
              <a:rPr sz="1800" spc="-70" dirty="0">
                <a:solidFill>
                  <a:srgbClr val="BE9000"/>
                </a:solidFill>
                <a:latin typeface="Segoe Print"/>
                <a:cs typeface="Segoe Print"/>
              </a:rPr>
              <a:t> </a:t>
            </a:r>
            <a:r>
              <a:rPr sz="1800" spc="-10" dirty="0">
                <a:solidFill>
                  <a:srgbClr val="BE9000"/>
                </a:solidFill>
                <a:latin typeface="Segoe Print"/>
                <a:cs typeface="Segoe Print"/>
              </a:rPr>
              <a:t>(Output)</a:t>
            </a:r>
            <a:endParaRPr sz="1800" dirty="0">
              <a:latin typeface="Segoe Print"/>
              <a:cs typeface="Segoe Print"/>
            </a:endParaRPr>
          </a:p>
          <a:p>
            <a:pPr marL="354965" indent="-342265">
              <a:lnSpc>
                <a:spcPct val="100000"/>
              </a:lnSpc>
              <a:spcBef>
                <a:spcPts val="1080"/>
              </a:spcBef>
              <a:buChar char="-"/>
              <a:tabLst>
                <a:tab pos="354965" algn="l"/>
              </a:tabLst>
            </a:pPr>
            <a:r>
              <a:rPr sz="1800" dirty="0">
                <a:solidFill>
                  <a:srgbClr val="00AF50"/>
                </a:solidFill>
                <a:latin typeface="Segoe Print"/>
                <a:cs typeface="Segoe Print"/>
              </a:rPr>
              <a:t>Training</a:t>
            </a:r>
            <a:r>
              <a:rPr sz="1800" spc="-65" dirty="0">
                <a:solidFill>
                  <a:srgbClr val="00AF50"/>
                </a:solidFill>
                <a:latin typeface="Segoe Print"/>
                <a:cs typeface="Segoe Print"/>
              </a:rPr>
              <a:t> </a:t>
            </a:r>
            <a:r>
              <a:rPr sz="1800" spc="-20" dirty="0">
                <a:solidFill>
                  <a:srgbClr val="00AF50"/>
                </a:solidFill>
                <a:latin typeface="Segoe Print"/>
                <a:cs typeface="Segoe Print"/>
              </a:rPr>
              <a:t>data</a:t>
            </a:r>
            <a:endParaRPr sz="1800" dirty="0">
              <a:latin typeface="Segoe Print"/>
              <a:cs typeface="Segoe Print"/>
            </a:endParaRPr>
          </a:p>
        </p:txBody>
      </p:sp>
      <p:sp>
        <p:nvSpPr>
          <p:cNvPr id="3" name="object 3"/>
          <p:cNvSpPr txBox="1">
            <a:spLocks noGrp="1"/>
          </p:cNvSpPr>
          <p:nvPr>
            <p:ph type="title"/>
          </p:nvPr>
        </p:nvSpPr>
        <p:spPr>
          <a:xfrm>
            <a:off x="990600" y="467782"/>
            <a:ext cx="5570093" cy="1367041"/>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grpSp>
        <p:nvGrpSpPr>
          <p:cNvPr id="4" name="object 4"/>
          <p:cNvGrpSpPr/>
          <p:nvPr/>
        </p:nvGrpSpPr>
        <p:grpSpPr>
          <a:xfrm>
            <a:off x="6743700" y="860579"/>
            <a:ext cx="5072380" cy="6055360"/>
            <a:chOff x="5757671" y="646176"/>
            <a:chExt cx="5072380" cy="6055360"/>
          </a:xfrm>
        </p:grpSpPr>
        <p:pic>
          <p:nvPicPr>
            <p:cNvPr id="5" name="object 5"/>
            <p:cNvPicPr/>
            <p:nvPr/>
          </p:nvPicPr>
          <p:blipFill>
            <a:blip r:embed="rId2" cstate="print"/>
            <a:stretch>
              <a:fillRect/>
            </a:stretch>
          </p:blipFill>
          <p:spPr>
            <a:xfrm>
              <a:off x="5757671" y="646176"/>
              <a:ext cx="5071872" cy="6054852"/>
            </a:xfrm>
            <a:prstGeom prst="rect">
              <a:avLst/>
            </a:prstGeom>
          </p:spPr>
        </p:pic>
        <p:sp>
          <p:nvSpPr>
            <p:cNvPr id="6" name="object 6"/>
            <p:cNvSpPr/>
            <p:nvPr/>
          </p:nvSpPr>
          <p:spPr>
            <a:xfrm>
              <a:off x="9644252" y="5958459"/>
              <a:ext cx="528955" cy="186055"/>
            </a:xfrm>
            <a:custGeom>
              <a:avLst/>
              <a:gdLst/>
              <a:ahLst/>
              <a:cxnLst/>
              <a:rect l="l" t="t" r="r" b="b"/>
              <a:pathLst>
                <a:path w="528954" h="186054">
                  <a:moveTo>
                    <a:pt x="528827" y="0"/>
                  </a:moveTo>
                  <a:lnTo>
                    <a:pt x="0" y="0"/>
                  </a:lnTo>
                  <a:lnTo>
                    <a:pt x="0" y="185927"/>
                  </a:lnTo>
                  <a:lnTo>
                    <a:pt x="528827" y="185927"/>
                  </a:lnTo>
                  <a:lnTo>
                    <a:pt x="528827" y="0"/>
                  </a:lnTo>
                  <a:close/>
                </a:path>
              </a:pathLst>
            </a:custGeom>
            <a:solidFill>
              <a:srgbClr val="5B9BD4"/>
            </a:solidFill>
          </p:spPr>
          <p:txBody>
            <a:bodyPr wrap="square" lIns="0" tIns="0" rIns="0" bIns="0" rtlCol="0"/>
            <a:lstStyle/>
            <a:p>
              <a:endParaRPr/>
            </a:p>
          </p:txBody>
        </p:sp>
        <p:sp>
          <p:nvSpPr>
            <p:cNvPr id="7" name="object 7"/>
            <p:cNvSpPr/>
            <p:nvPr/>
          </p:nvSpPr>
          <p:spPr>
            <a:xfrm>
              <a:off x="9644252" y="5958459"/>
              <a:ext cx="528955" cy="186055"/>
            </a:xfrm>
            <a:custGeom>
              <a:avLst/>
              <a:gdLst/>
              <a:ahLst/>
              <a:cxnLst/>
              <a:rect l="l" t="t" r="r" b="b"/>
              <a:pathLst>
                <a:path w="528954" h="186054">
                  <a:moveTo>
                    <a:pt x="0" y="185927"/>
                  </a:moveTo>
                  <a:lnTo>
                    <a:pt x="528827" y="185927"/>
                  </a:lnTo>
                  <a:lnTo>
                    <a:pt x="528827" y="0"/>
                  </a:lnTo>
                  <a:lnTo>
                    <a:pt x="0" y="0"/>
                  </a:lnTo>
                  <a:lnTo>
                    <a:pt x="0" y="185927"/>
                  </a:lnTo>
                  <a:close/>
                </a:path>
              </a:pathLst>
            </a:custGeom>
            <a:ln w="12954">
              <a:solidFill>
                <a:srgbClr val="41709C"/>
              </a:solidFill>
            </a:ln>
          </p:spPr>
          <p:txBody>
            <a:bodyPr wrap="square" lIns="0" tIns="0" rIns="0" bIns="0" rtlCol="0"/>
            <a:lstStyle/>
            <a:p>
              <a:endParaRPr/>
            </a:p>
          </p:txBody>
        </p:sp>
        <p:sp>
          <p:nvSpPr>
            <p:cNvPr id="8" name="object 8"/>
            <p:cNvSpPr/>
            <p:nvPr/>
          </p:nvSpPr>
          <p:spPr>
            <a:xfrm>
              <a:off x="9644252" y="6203060"/>
              <a:ext cx="528955" cy="186055"/>
            </a:xfrm>
            <a:custGeom>
              <a:avLst/>
              <a:gdLst/>
              <a:ahLst/>
              <a:cxnLst/>
              <a:rect l="l" t="t" r="r" b="b"/>
              <a:pathLst>
                <a:path w="528954" h="186054">
                  <a:moveTo>
                    <a:pt x="528827" y="0"/>
                  </a:moveTo>
                  <a:lnTo>
                    <a:pt x="0" y="0"/>
                  </a:lnTo>
                  <a:lnTo>
                    <a:pt x="0" y="185927"/>
                  </a:lnTo>
                  <a:lnTo>
                    <a:pt x="528827" y="185927"/>
                  </a:lnTo>
                  <a:lnTo>
                    <a:pt x="528827" y="0"/>
                  </a:lnTo>
                  <a:close/>
                </a:path>
              </a:pathLst>
            </a:custGeom>
            <a:solidFill>
              <a:srgbClr val="5B9BD4"/>
            </a:solidFill>
          </p:spPr>
          <p:txBody>
            <a:bodyPr wrap="square" lIns="0" tIns="0" rIns="0" bIns="0" rtlCol="0"/>
            <a:lstStyle/>
            <a:p>
              <a:endParaRPr/>
            </a:p>
          </p:txBody>
        </p:sp>
        <p:sp>
          <p:nvSpPr>
            <p:cNvPr id="9" name="object 9"/>
            <p:cNvSpPr/>
            <p:nvPr/>
          </p:nvSpPr>
          <p:spPr>
            <a:xfrm>
              <a:off x="9644252" y="6203060"/>
              <a:ext cx="528955" cy="186055"/>
            </a:xfrm>
            <a:custGeom>
              <a:avLst/>
              <a:gdLst/>
              <a:ahLst/>
              <a:cxnLst/>
              <a:rect l="l" t="t" r="r" b="b"/>
              <a:pathLst>
                <a:path w="528954" h="186054">
                  <a:moveTo>
                    <a:pt x="0" y="185927"/>
                  </a:moveTo>
                  <a:lnTo>
                    <a:pt x="528827" y="185927"/>
                  </a:lnTo>
                  <a:lnTo>
                    <a:pt x="528827" y="0"/>
                  </a:lnTo>
                  <a:lnTo>
                    <a:pt x="0" y="0"/>
                  </a:lnTo>
                  <a:lnTo>
                    <a:pt x="0" y="185927"/>
                  </a:lnTo>
                  <a:close/>
                </a:path>
              </a:pathLst>
            </a:custGeom>
            <a:ln w="12954">
              <a:solidFill>
                <a:srgbClr val="41709C"/>
              </a:solidFill>
            </a:ln>
          </p:spPr>
          <p:txBody>
            <a:bodyPr wrap="square" lIns="0" tIns="0" rIns="0" bIns="0" rtlCol="0"/>
            <a:lstStyle/>
            <a:p>
              <a:endParaRPr/>
            </a:p>
          </p:txBody>
        </p:sp>
        <p:sp>
          <p:nvSpPr>
            <p:cNvPr id="10" name="object 10"/>
            <p:cNvSpPr/>
            <p:nvPr/>
          </p:nvSpPr>
          <p:spPr>
            <a:xfrm>
              <a:off x="9644252" y="6448424"/>
              <a:ext cx="528955" cy="186055"/>
            </a:xfrm>
            <a:custGeom>
              <a:avLst/>
              <a:gdLst/>
              <a:ahLst/>
              <a:cxnLst/>
              <a:rect l="l" t="t" r="r" b="b"/>
              <a:pathLst>
                <a:path w="528954" h="186054">
                  <a:moveTo>
                    <a:pt x="528827" y="0"/>
                  </a:moveTo>
                  <a:lnTo>
                    <a:pt x="0" y="0"/>
                  </a:lnTo>
                  <a:lnTo>
                    <a:pt x="0" y="185928"/>
                  </a:lnTo>
                  <a:lnTo>
                    <a:pt x="528827" y="185928"/>
                  </a:lnTo>
                  <a:lnTo>
                    <a:pt x="528827" y="0"/>
                  </a:lnTo>
                  <a:close/>
                </a:path>
              </a:pathLst>
            </a:custGeom>
            <a:solidFill>
              <a:srgbClr val="5B9BD4"/>
            </a:solidFill>
          </p:spPr>
          <p:txBody>
            <a:bodyPr wrap="square" lIns="0" tIns="0" rIns="0" bIns="0" rtlCol="0"/>
            <a:lstStyle/>
            <a:p>
              <a:endParaRPr/>
            </a:p>
          </p:txBody>
        </p:sp>
        <p:sp>
          <p:nvSpPr>
            <p:cNvPr id="11" name="object 11"/>
            <p:cNvSpPr/>
            <p:nvPr/>
          </p:nvSpPr>
          <p:spPr>
            <a:xfrm>
              <a:off x="9644252" y="6448424"/>
              <a:ext cx="528955" cy="186055"/>
            </a:xfrm>
            <a:custGeom>
              <a:avLst/>
              <a:gdLst/>
              <a:ahLst/>
              <a:cxnLst/>
              <a:rect l="l" t="t" r="r" b="b"/>
              <a:pathLst>
                <a:path w="528954" h="186054">
                  <a:moveTo>
                    <a:pt x="0" y="185928"/>
                  </a:moveTo>
                  <a:lnTo>
                    <a:pt x="528827" y="185928"/>
                  </a:lnTo>
                  <a:lnTo>
                    <a:pt x="528827" y="0"/>
                  </a:lnTo>
                  <a:lnTo>
                    <a:pt x="0" y="0"/>
                  </a:lnTo>
                  <a:lnTo>
                    <a:pt x="0" y="185928"/>
                  </a:lnTo>
                  <a:close/>
                </a:path>
              </a:pathLst>
            </a:custGeom>
            <a:ln w="12954">
              <a:solidFill>
                <a:srgbClr val="41709C"/>
              </a:solidFill>
            </a:ln>
          </p:spPr>
          <p:txBody>
            <a:bodyPr wrap="square" lIns="0" tIns="0" rIns="0" bIns="0" rtlCol="0"/>
            <a:lstStyle/>
            <a:p>
              <a:endParaRPr/>
            </a:p>
          </p:txBody>
        </p:sp>
      </p:grpSp>
      <p:sp>
        <p:nvSpPr>
          <p:cNvPr id="12" name="object 12"/>
          <p:cNvSpPr txBox="1"/>
          <p:nvPr/>
        </p:nvSpPr>
        <p:spPr>
          <a:xfrm>
            <a:off x="9995407" y="6010354"/>
            <a:ext cx="131445" cy="789940"/>
          </a:xfrm>
          <a:prstGeom prst="rect">
            <a:avLst/>
          </a:prstGeom>
        </p:spPr>
        <p:txBody>
          <a:bodyPr vert="horz" wrap="square" lIns="0" tIns="12700" rIns="0" bIns="0" rtlCol="0">
            <a:spAutoFit/>
          </a:bodyPr>
          <a:lstStyle/>
          <a:p>
            <a:pPr marL="12700">
              <a:lnSpc>
                <a:spcPts val="2045"/>
              </a:lnSpc>
              <a:spcBef>
                <a:spcPts val="100"/>
              </a:spcBef>
            </a:pPr>
            <a:r>
              <a:rPr sz="1800" spc="-50" dirty="0">
                <a:solidFill>
                  <a:srgbClr val="FFFFFF"/>
                </a:solidFill>
                <a:latin typeface="Calibri"/>
                <a:cs typeface="Calibri"/>
              </a:rPr>
              <a:t>?</a:t>
            </a:r>
            <a:endParaRPr sz="1800">
              <a:latin typeface="Calibri"/>
              <a:cs typeface="Calibri"/>
            </a:endParaRPr>
          </a:p>
          <a:p>
            <a:pPr marL="12700">
              <a:lnSpc>
                <a:spcPts val="1930"/>
              </a:lnSpc>
            </a:pPr>
            <a:r>
              <a:rPr sz="1800" spc="-50" dirty="0">
                <a:solidFill>
                  <a:srgbClr val="FFFFFF"/>
                </a:solidFill>
                <a:latin typeface="Calibri"/>
                <a:cs typeface="Calibri"/>
              </a:rPr>
              <a:t>?</a:t>
            </a:r>
            <a:endParaRPr sz="1800">
              <a:latin typeface="Calibri"/>
              <a:cs typeface="Calibri"/>
            </a:endParaRPr>
          </a:p>
          <a:p>
            <a:pPr marL="12700">
              <a:lnSpc>
                <a:spcPts val="2045"/>
              </a:lnSpc>
            </a:pPr>
            <a:r>
              <a:rPr sz="1800" spc="-50" dirty="0">
                <a:solidFill>
                  <a:srgbClr val="FFFFFF"/>
                </a:solidFill>
                <a:latin typeface="Calibri"/>
                <a:cs typeface="Calibri"/>
              </a:rPr>
              <a:t>?</a:t>
            </a:r>
            <a:endParaRPr sz="1800">
              <a:latin typeface="Calibri"/>
              <a:cs typeface="Calibri"/>
            </a:endParaRPr>
          </a:p>
        </p:txBody>
      </p:sp>
      <p:grpSp>
        <p:nvGrpSpPr>
          <p:cNvPr id="13" name="object 13"/>
          <p:cNvGrpSpPr/>
          <p:nvPr/>
        </p:nvGrpSpPr>
        <p:grpSpPr>
          <a:xfrm>
            <a:off x="6705600" y="830722"/>
            <a:ext cx="5149215" cy="5344160"/>
            <a:chOff x="5819394" y="600455"/>
            <a:chExt cx="5149215" cy="5344160"/>
          </a:xfrm>
        </p:grpSpPr>
        <p:sp>
          <p:nvSpPr>
            <p:cNvPr id="14" name="object 14"/>
            <p:cNvSpPr/>
            <p:nvPr/>
          </p:nvSpPr>
          <p:spPr>
            <a:xfrm>
              <a:off x="5857494" y="638555"/>
              <a:ext cx="5073015" cy="5260340"/>
            </a:xfrm>
            <a:custGeom>
              <a:avLst/>
              <a:gdLst/>
              <a:ahLst/>
              <a:cxnLst/>
              <a:rect l="l" t="t" r="r" b="b"/>
              <a:pathLst>
                <a:path w="5073015" h="5260340">
                  <a:moveTo>
                    <a:pt x="0" y="5260086"/>
                  </a:moveTo>
                  <a:lnTo>
                    <a:pt x="5072634" y="5260086"/>
                  </a:lnTo>
                  <a:lnTo>
                    <a:pt x="5072634" y="0"/>
                  </a:lnTo>
                  <a:lnTo>
                    <a:pt x="0" y="0"/>
                  </a:lnTo>
                  <a:lnTo>
                    <a:pt x="0" y="5260086"/>
                  </a:lnTo>
                  <a:close/>
                </a:path>
              </a:pathLst>
            </a:custGeom>
            <a:ln w="76199">
              <a:solidFill>
                <a:srgbClr val="00AF50"/>
              </a:solidFill>
            </a:ln>
          </p:spPr>
          <p:txBody>
            <a:bodyPr wrap="square" lIns="0" tIns="0" rIns="0" bIns="0" rtlCol="0"/>
            <a:lstStyle/>
            <a:p>
              <a:endParaRPr/>
            </a:p>
          </p:txBody>
        </p:sp>
        <p:sp>
          <p:nvSpPr>
            <p:cNvPr id="15" name="object 15"/>
            <p:cNvSpPr/>
            <p:nvPr/>
          </p:nvSpPr>
          <p:spPr>
            <a:xfrm>
              <a:off x="6096381" y="654176"/>
              <a:ext cx="2734310" cy="5260340"/>
            </a:xfrm>
            <a:custGeom>
              <a:avLst/>
              <a:gdLst/>
              <a:ahLst/>
              <a:cxnLst/>
              <a:rect l="l" t="t" r="r" b="b"/>
              <a:pathLst>
                <a:path w="2734309" h="5260340">
                  <a:moveTo>
                    <a:pt x="0" y="5260086"/>
                  </a:moveTo>
                  <a:lnTo>
                    <a:pt x="2734055" y="5260086"/>
                  </a:lnTo>
                  <a:lnTo>
                    <a:pt x="2734055" y="0"/>
                  </a:lnTo>
                  <a:lnTo>
                    <a:pt x="0" y="0"/>
                  </a:lnTo>
                  <a:lnTo>
                    <a:pt x="0" y="5260086"/>
                  </a:lnTo>
                  <a:close/>
                </a:path>
              </a:pathLst>
            </a:custGeom>
            <a:ln w="57150">
              <a:solidFill>
                <a:srgbClr val="64A9D9"/>
              </a:solidFill>
            </a:ln>
          </p:spPr>
          <p:txBody>
            <a:bodyPr wrap="square" lIns="0" tIns="0" rIns="0" bIns="0" rtlCol="0"/>
            <a:lstStyle/>
            <a:p>
              <a:endParaRPr/>
            </a:p>
          </p:txBody>
        </p:sp>
        <p:sp>
          <p:nvSpPr>
            <p:cNvPr id="16" name="object 16"/>
            <p:cNvSpPr/>
            <p:nvPr/>
          </p:nvSpPr>
          <p:spPr>
            <a:xfrm>
              <a:off x="9013698" y="646175"/>
              <a:ext cx="1816100" cy="5260340"/>
            </a:xfrm>
            <a:custGeom>
              <a:avLst/>
              <a:gdLst/>
              <a:ahLst/>
              <a:cxnLst/>
              <a:rect l="l" t="t" r="r" b="b"/>
              <a:pathLst>
                <a:path w="1816100" h="5260340">
                  <a:moveTo>
                    <a:pt x="0" y="5260086"/>
                  </a:moveTo>
                  <a:lnTo>
                    <a:pt x="1815846" y="5260086"/>
                  </a:lnTo>
                  <a:lnTo>
                    <a:pt x="1815846" y="0"/>
                  </a:lnTo>
                  <a:lnTo>
                    <a:pt x="0" y="0"/>
                  </a:lnTo>
                  <a:lnTo>
                    <a:pt x="0" y="5260086"/>
                  </a:lnTo>
                  <a:close/>
                </a:path>
              </a:pathLst>
            </a:custGeom>
            <a:ln w="76200">
              <a:solidFill>
                <a:srgbClr val="CCA735"/>
              </a:solidFill>
            </a:ln>
          </p:spPr>
          <p:txBody>
            <a:bodyPr wrap="square" lIns="0" tIns="0" rIns="0" bIns="0" rtlCol="0"/>
            <a:lstStyle/>
            <a:p>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6233" y="-195475"/>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
        <p:nvSpPr>
          <p:cNvPr id="3" name="object 3"/>
          <p:cNvSpPr txBox="1"/>
          <p:nvPr/>
        </p:nvSpPr>
        <p:spPr>
          <a:xfrm>
            <a:off x="227838" y="795782"/>
            <a:ext cx="1576705" cy="391160"/>
          </a:xfrm>
          <a:prstGeom prst="rect">
            <a:avLst/>
          </a:prstGeom>
        </p:spPr>
        <p:txBody>
          <a:bodyPr vert="horz" wrap="square" lIns="0" tIns="12700" rIns="0" bIns="0" rtlCol="0">
            <a:spAutoFit/>
          </a:bodyPr>
          <a:lstStyle/>
          <a:p>
            <a:pPr marL="12700">
              <a:lnSpc>
                <a:spcPct val="100000"/>
              </a:lnSpc>
              <a:spcBef>
                <a:spcPts val="100"/>
              </a:spcBef>
            </a:pPr>
            <a:r>
              <a:rPr sz="2400" b="1" u="sng" spc="-10" dirty="0">
                <a:solidFill>
                  <a:srgbClr val="006FC0"/>
                </a:solidFill>
                <a:uFill>
                  <a:solidFill>
                    <a:srgbClr val="006FC0"/>
                  </a:solidFill>
                </a:uFill>
                <a:latin typeface="Calibri"/>
                <a:cs typeface="Calibri"/>
              </a:rPr>
              <a:t>Formulation</a:t>
            </a:r>
            <a:endParaRPr sz="2400">
              <a:latin typeface="Calibri"/>
              <a:cs typeface="Calibri"/>
            </a:endParaRPr>
          </a:p>
        </p:txBody>
      </p:sp>
      <p:pic>
        <p:nvPicPr>
          <p:cNvPr id="4" name="object 4"/>
          <p:cNvPicPr/>
          <p:nvPr/>
        </p:nvPicPr>
        <p:blipFill>
          <a:blip r:embed="rId2" cstate="print"/>
          <a:stretch>
            <a:fillRect/>
          </a:stretch>
        </p:blipFill>
        <p:spPr>
          <a:xfrm>
            <a:off x="285750" y="1390650"/>
            <a:ext cx="5734050" cy="2532126"/>
          </a:xfrm>
          <a:prstGeom prst="rect">
            <a:avLst/>
          </a:prstGeom>
        </p:spPr>
      </p:pic>
      <p:pic>
        <p:nvPicPr>
          <p:cNvPr id="5" name="object 5"/>
          <p:cNvPicPr/>
          <p:nvPr/>
        </p:nvPicPr>
        <p:blipFill>
          <a:blip r:embed="rId3" cstate="print"/>
          <a:stretch>
            <a:fillRect/>
          </a:stretch>
        </p:blipFill>
        <p:spPr>
          <a:xfrm>
            <a:off x="285750" y="4383023"/>
            <a:ext cx="5683758" cy="533400"/>
          </a:xfrm>
          <a:prstGeom prst="rect">
            <a:avLst/>
          </a:prstGeom>
        </p:spPr>
      </p:pic>
      <p:grpSp>
        <p:nvGrpSpPr>
          <p:cNvPr id="6" name="object 6"/>
          <p:cNvGrpSpPr/>
          <p:nvPr/>
        </p:nvGrpSpPr>
        <p:grpSpPr>
          <a:xfrm>
            <a:off x="6970776" y="591312"/>
            <a:ext cx="5072380" cy="6054090"/>
            <a:chOff x="6970776" y="591312"/>
            <a:chExt cx="5072380" cy="6054090"/>
          </a:xfrm>
        </p:grpSpPr>
        <p:pic>
          <p:nvPicPr>
            <p:cNvPr id="7" name="object 7"/>
            <p:cNvPicPr/>
            <p:nvPr/>
          </p:nvPicPr>
          <p:blipFill>
            <a:blip r:embed="rId4" cstate="print"/>
            <a:stretch>
              <a:fillRect/>
            </a:stretch>
          </p:blipFill>
          <p:spPr>
            <a:xfrm>
              <a:off x="6970776" y="591312"/>
              <a:ext cx="5071872" cy="6054090"/>
            </a:xfrm>
            <a:prstGeom prst="rect">
              <a:avLst/>
            </a:prstGeom>
          </p:spPr>
        </p:pic>
        <p:sp>
          <p:nvSpPr>
            <p:cNvPr id="8" name="object 8"/>
            <p:cNvSpPr/>
            <p:nvPr/>
          </p:nvSpPr>
          <p:spPr>
            <a:xfrm>
              <a:off x="10857357" y="5902833"/>
              <a:ext cx="528955" cy="186055"/>
            </a:xfrm>
            <a:custGeom>
              <a:avLst/>
              <a:gdLst/>
              <a:ahLst/>
              <a:cxnLst/>
              <a:rect l="l" t="t" r="r" b="b"/>
              <a:pathLst>
                <a:path w="528954" h="186054">
                  <a:moveTo>
                    <a:pt x="528827" y="0"/>
                  </a:moveTo>
                  <a:lnTo>
                    <a:pt x="0" y="0"/>
                  </a:lnTo>
                  <a:lnTo>
                    <a:pt x="0" y="185928"/>
                  </a:lnTo>
                  <a:lnTo>
                    <a:pt x="528827" y="185928"/>
                  </a:lnTo>
                  <a:lnTo>
                    <a:pt x="528827" y="0"/>
                  </a:lnTo>
                  <a:close/>
                </a:path>
              </a:pathLst>
            </a:custGeom>
            <a:solidFill>
              <a:srgbClr val="5B9BD4"/>
            </a:solidFill>
          </p:spPr>
          <p:txBody>
            <a:bodyPr wrap="square" lIns="0" tIns="0" rIns="0" bIns="0" rtlCol="0"/>
            <a:lstStyle/>
            <a:p>
              <a:endParaRPr/>
            </a:p>
          </p:txBody>
        </p:sp>
        <p:sp>
          <p:nvSpPr>
            <p:cNvPr id="9" name="object 9"/>
            <p:cNvSpPr/>
            <p:nvPr/>
          </p:nvSpPr>
          <p:spPr>
            <a:xfrm>
              <a:off x="10857357" y="5902833"/>
              <a:ext cx="528955" cy="186055"/>
            </a:xfrm>
            <a:custGeom>
              <a:avLst/>
              <a:gdLst/>
              <a:ahLst/>
              <a:cxnLst/>
              <a:rect l="l" t="t" r="r" b="b"/>
              <a:pathLst>
                <a:path w="528954" h="186054">
                  <a:moveTo>
                    <a:pt x="0" y="185928"/>
                  </a:moveTo>
                  <a:lnTo>
                    <a:pt x="528827" y="185928"/>
                  </a:lnTo>
                  <a:lnTo>
                    <a:pt x="528827" y="0"/>
                  </a:lnTo>
                  <a:lnTo>
                    <a:pt x="0" y="0"/>
                  </a:lnTo>
                  <a:lnTo>
                    <a:pt x="0" y="185928"/>
                  </a:lnTo>
                  <a:close/>
                </a:path>
              </a:pathLst>
            </a:custGeom>
            <a:ln w="12954">
              <a:solidFill>
                <a:srgbClr val="41709C"/>
              </a:solidFill>
            </a:ln>
          </p:spPr>
          <p:txBody>
            <a:bodyPr wrap="square" lIns="0" tIns="0" rIns="0" bIns="0" rtlCol="0"/>
            <a:lstStyle/>
            <a:p>
              <a:endParaRPr/>
            </a:p>
          </p:txBody>
        </p:sp>
        <p:sp>
          <p:nvSpPr>
            <p:cNvPr id="10" name="object 10"/>
            <p:cNvSpPr/>
            <p:nvPr/>
          </p:nvSpPr>
          <p:spPr>
            <a:xfrm>
              <a:off x="10857357" y="6148196"/>
              <a:ext cx="528955" cy="186055"/>
            </a:xfrm>
            <a:custGeom>
              <a:avLst/>
              <a:gdLst/>
              <a:ahLst/>
              <a:cxnLst/>
              <a:rect l="l" t="t" r="r" b="b"/>
              <a:pathLst>
                <a:path w="528954" h="186054">
                  <a:moveTo>
                    <a:pt x="528827" y="0"/>
                  </a:moveTo>
                  <a:lnTo>
                    <a:pt x="0" y="0"/>
                  </a:lnTo>
                  <a:lnTo>
                    <a:pt x="0" y="185927"/>
                  </a:lnTo>
                  <a:lnTo>
                    <a:pt x="528827" y="185927"/>
                  </a:lnTo>
                  <a:lnTo>
                    <a:pt x="528827" y="0"/>
                  </a:lnTo>
                  <a:close/>
                </a:path>
              </a:pathLst>
            </a:custGeom>
            <a:solidFill>
              <a:srgbClr val="5B9BD4"/>
            </a:solidFill>
          </p:spPr>
          <p:txBody>
            <a:bodyPr wrap="square" lIns="0" tIns="0" rIns="0" bIns="0" rtlCol="0"/>
            <a:lstStyle/>
            <a:p>
              <a:endParaRPr/>
            </a:p>
          </p:txBody>
        </p:sp>
        <p:sp>
          <p:nvSpPr>
            <p:cNvPr id="11" name="object 11"/>
            <p:cNvSpPr/>
            <p:nvPr/>
          </p:nvSpPr>
          <p:spPr>
            <a:xfrm>
              <a:off x="10857357" y="6148196"/>
              <a:ext cx="528955" cy="186055"/>
            </a:xfrm>
            <a:custGeom>
              <a:avLst/>
              <a:gdLst/>
              <a:ahLst/>
              <a:cxnLst/>
              <a:rect l="l" t="t" r="r" b="b"/>
              <a:pathLst>
                <a:path w="528954" h="186054">
                  <a:moveTo>
                    <a:pt x="0" y="185927"/>
                  </a:moveTo>
                  <a:lnTo>
                    <a:pt x="528827" y="185927"/>
                  </a:lnTo>
                  <a:lnTo>
                    <a:pt x="528827" y="0"/>
                  </a:lnTo>
                  <a:lnTo>
                    <a:pt x="0" y="0"/>
                  </a:lnTo>
                  <a:lnTo>
                    <a:pt x="0" y="185927"/>
                  </a:lnTo>
                  <a:close/>
                </a:path>
              </a:pathLst>
            </a:custGeom>
            <a:ln w="12954">
              <a:solidFill>
                <a:srgbClr val="41709C"/>
              </a:solidFill>
            </a:ln>
          </p:spPr>
          <p:txBody>
            <a:bodyPr wrap="square" lIns="0" tIns="0" rIns="0" bIns="0" rtlCol="0"/>
            <a:lstStyle/>
            <a:p>
              <a:endParaRPr/>
            </a:p>
          </p:txBody>
        </p:sp>
        <p:sp>
          <p:nvSpPr>
            <p:cNvPr id="12" name="object 12"/>
            <p:cNvSpPr/>
            <p:nvPr/>
          </p:nvSpPr>
          <p:spPr>
            <a:xfrm>
              <a:off x="10857357" y="6392798"/>
              <a:ext cx="528955" cy="186055"/>
            </a:xfrm>
            <a:custGeom>
              <a:avLst/>
              <a:gdLst/>
              <a:ahLst/>
              <a:cxnLst/>
              <a:rect l="l" t="t" r="r" b="b"/>
              <a:pathLst>
                <a:path w="528954" h="186054">
                  <a:moveTo>
                    <a:pt x="528827" y="0"/>
                  </a:moveTo>
                  <a:lnTo>
                    <a:pt x="0" y="0"/>
                  </a:lnTo>
                  <a:lnTo>
                    <a:pt x="0" y="185927"/>
                  </a:lnTo>
                  <a:lnTo>
                    <a:pt x="528827" y="185927"/>
                  </a:lnTo>
                  <a:lnTo>
                    <a:pt x="528827" y="0"/>
                  </a:lnTo>
                  <a:close/>
                </a:path>
              </a:pathLst>
            </a:custGeom>
            <a:solidFill>
              <a:srgbClr val="5B9BD4"/>
            </a:solidFill>
          </p:spPr>
          <p:txBody>
            <a:bodyPr wrap="square" lIns="0" tIns="0" rIns="0" bIns="0" rtlCol="0"/>
            <a:lstStyle/>
            <a:p>
              <a:endParaRPr/>
            </a:p>
          </p:txBody>
        </p:sp>
        <p:sp>
          <p:nvSpPr>
            <p:cNvPr id="13" name="object 13"/>
            <p:cNvSpPr/>
            <p:nvPr/>
          </p:nvSpPr>
          <p:spPr>
            <a:xfrm>
              <a:off x="10857357" y="6392798"/>
              <a:ext cx="528955" cy="186055"/>
            </a:xfrm>
            <a:custGeom>
              <a:avLst/>
              <a:gdLst/>
              <a:ahLst/>
              <a:cxnLst/>
              <a:rect l="l" t="t" r="r" b="b"/>
              <a:pathLst>
                <a:path w="528954" h="186054">
                  <a:moveTo>
                    <a:pt x="0" y="185927"/>
                  </a:moveTo>
                  <a:lnTo>
                    <a:pt x="528827" y="185927"/>
                  </a:lnTo>
                  <a:lnTo>
                    <a:pt x="528827" y="0"/>
                  </a:lnTo>
                  <a:lnTo>
                    <a:pt x="0" y="0"/>
                  </a:lnTo>
                  <a:lnTo>
                    <a:pt x="0" y="185927"/>
                  </a:lnTo>
                  <a:close/>
                </a:path>
              </a:pathLst>
            </a:custGeom>
            <a:ln w="12954">
              <a:solidFill>
                <a:srgbClr val="41709C"/>
              </a:solidFill>
            </a:ln>
          </p:spPr>
          <p:txBody>
            <a:bodyPr wrap="square" lIns="0" tIns="0" rIns="0" bIns="0" rtlCol="0"/>
            <a:lstStyle/>
            <a:p>
              <a:endParaRPr/>
            </a:p>
          </p:txBody>
        </p:sp>
      </p:grpSp>
      <p:sp>
        <p:nvSpPr>
          <p:cNvPr id="14" name="object 14"/>
          <p:cNvSpPr txBox="1"/>
          <p:nvPr/>
        </p:nvSpPr>
        <p:spPr>
          <a:xfrm>
            <a:off x="11056111" y="5831585"/>
            <a:ext cx="131445" cy="789940"/>
          </a:xfrm>
          <a:prstGeom prst="rect">
            <a:avLst/>
          </a:prstGeom>
        </p:spPr>
        <p:txBody>
          <a:bodyPr vert="horz" wrap="square" lIns="0" tIns="12700" rIns="0" bIns="0" rtlCol="0">
            <a:spAutoFit/>
          </a:bodyPr>
          <a:lstStyle/>
          <a:p>
            <a:pPr marL="12700">
              <a:lnSpc>
                <a:spcPts val="2045"/>
              </a:lnSpc>
              <a:spcBef>
                <a:spcPts val="100"/>
              </a:spcBef>
            </a:pPr>
            <a:r>
              <a:rPr sz="1800" spc="-50" dirty="0">
                <a:solidFill>
                  <a:srgbClr val="FFFFFF"/>
                </a:solidFill>
                <a:latin typeface="Calibri"/>
                <a:cs typeface="Calibri"/>
              </a:rPr>
              <a:t>?</a:t>
            </a:r>
            <a:endParaRPr sz="1800">
              <a:latin typeface="Calibri"/>
              <a:cs typeface="Calibri"/>
            </a:endParaRPr>
          </a:p>
          <a:p>
            <a:pPr marL="12700">
              <a:lnSpc>
                <a:spcPts val="1930"/>
              </a:lnSpc>
            </a:pPr>
            <a:r>
              <a:rPr sz="1800" spc="-50" dirty="0">
                <a:solidFill>
                  <a:srgbClr val="FFFFFF"/>
                </a:solidFill>
                <a:latin typeface="Calibri"/>
                <a:cs typeface="Calibri"/>
              </a:rPr>
              <a:t>?</a:t>
            </a:r>
            <a:endParaRPr sz="1800">
              <a:latin typeface="Calibri"/>
              <a:cs typeface="Calibri"/>
            </a:endParaRPr>
          </a:p>
          <a:p>
            <a:pPr marL="12700">
              <a:lnSpc>
                <a:spcPts val="2045"/>
              </a:lnSpc>
            </a:pPr>
            <a:r>
              <a:rPr sz="1800" spc="-50" dirty="0">
                <a:solidFill>
                  <a:srgbClr val="FFFFFF"/>
                </a:solidFill>
                <a:latin typeface="Calibri"/>
                <a:cs typeface="Calibri"/>
              </a:rPr>
              <a:t>?</a:t>
            </a:r>
            <a:endParaRPr sz="1800">
              <a:latin typeface="Calibri"/>
              <a:cs typeface="Calibri"/>
            </a:endParaRPr>
          </a:p>
        </p:txBody>
      </p:sp>
      <p:sp>
        <p:nvSpPr>
          <p:cNvPr id="15" name="object 15"/>
          <p:cNvSpPr/>
          <p:nvPr/>
        </p:nvSpPr>
        <p:spPr>
          <a:xfrm>
            <a:off x="6970776" y="830580"/>
            <a:ext cx="5072380" cy="5012690"/>
          </a:xfrm>
          <a:custGeom>
            <a:avLst/>
            <a:gdLst/>
            <a:ahLst/>
            <a:cxnLst/>
            <a:rect l="l" t="t" r="r" b="b"/>
            <a:pathLst>
              <a:path w="5072380" h="5012690">
                <a:moveTo>
                  <a:pt x="0" y="5012436"/>
                </a:moveTo>
                <a:lnTo>
                  <a:pt x="5071872" y="5012436"/>
                </a:lnTo>
                <a:lnTo>
                  <a:pt x="5071872" y="0"/>
                </a:lnTo>
                <a:lnTo>
                  <a:pt x="0" y="0"/>
                </a:lnTo>
                <a:lnTo>
                  <a:pt x="0" y="5012436"/>
                </a:lnTo>
                <a:close/>
              </a:path>
            </a:pathLst>
          </a:custGeom>
          <a:ln w="38100">
            <a:solidFill>
              <a:srgbClr val="00AF50"/>
            </a:solidFill>
          </a:ln>
        </p:spPr>
        <p:txBody>
          <a:bodyPr wrap="square" lIns="0" tIns="0" rIns="0" bIns="0" rtlCol="0"/>
          <a:lstStyle/>
          <a:p>
            <a:endParaRPr/>
          </a:p>
        </p:txBody>
      </p:sp>
      <p:pic>
        <p:nvPicPr>
          <p:cNvPr id="16" name="object 16"/>
          <p:cNvPicPr/>
          <p:nvPr/>
        </p:nvPicPr>
        <p:blipFill>
          <a:blip r:embed="rId5" cstate="print"/>
          <a:stretch>
            <a:fillRect/>
          </a:stretch>
        </p:blipFill>
        <p:spPr>
          <a:xfrm>
            <a:off x="1860042" y="5121402"/>
            <a:ext cx="2585466" cy="254508"/>
          </a:xfrm>
          <a:prstGeom prst="rect">
            <a:avLst/>
          </a:prstGeom>
        </p:spPr>
      </p:pic>
      <p:pic>
        <p:nvPicPr>
          <p:cNvPr id="17" name="object 17"/>
          <p:cNvPicPr/>
          <p:nvPr/>
        </p:nvPicPr>
        <p:blipFill>
          <a:blip r:embed="rId6" cstate="print"/>
          <a:stretch>
            <a:fillRect/>
          </a:stretch>
        </p:blipFill>
        <p:spPr>
          <a:xfrm>
            <a:off x="285750" y="5545073"/>
            <a:ext cx="6000750" cy="53035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4175" y="-315058"/>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
        <p:nvSpPr>
          <p:cNvPr id="3" name="object 3"/>
          <p:cNvSpPr txBox="1"/>
          <p:nvPr/>
        </p:nvSpPr>
        <p:spPr>
          <a:xfrm>
            <a:off x="227838" y="795782"/>
            <a:ext cx="1576705" cy="391160"/>
          </a:xfrm>
          <a:prstGeom prst="rect">
            <a:avLst/>
          </a:prstGeom>
        </p:spPr>
        <p:txBody>
          <a:bodyPr vert="horz" wrap="square" lIns="0" tIns="12700" rIns="0" bIns="0" rtlCol="0">
            <a:spAutoFit/>
          </a:bodyPr>
          <a:lstStyle/>
          <a:p>
            <a:pPr marL="12700">
              <a:lnSpc>
                <a:spcPct val="100000"/>
              </a:lnSpc>
              <a:spcBef>
                <a:spcPts val="100"/>
              </a:spcBef>
            </a:pPr>
            <a:r>
              <a:rPr sz="2400" b="1" u="sng" spc="-10" dirty="0">
                <a:solidFill>
                  <a:srgbClr val="006FC0"/>
                </a:solidFill>
                <a:uFill>
                  <a:solidFill>
                    <a:srgbClr val="006FC0"/>
                  </a:solidFill>
                </a:uFill>
                <a:latin typeface="Calibri"/>
                <a:cs typeface="Calibri"/>
              </a:rPr>
              <a:t>Formulation</a:t>
            </a:r>
            <a:endParaRPr sz="2400" dirty="0">
              <a:latin typeface="Calibri"/>
              <a:cs typeface="Calibri"/>
            </a:endParaRPr>
          </a:p>
        </p:txBody>
      </p:sp>
      <p:pic>
        <p:nvPicPr>
          <p:cNvPr id="4" name="object 4"/>
          <p:cNvPicPr/>
          <p:nvPr/>
        </p:nvPicPr>
        <p:blipFill>
          <a:blip r:embed="rId2" cstate="print"/>
          <a:stretch>
            <a:fillRect/>
          </a:stretch>
        </p:blipFill>
        <p:spPr>
          <a:xfrm>
            <a:off x="285750" y="1447800"/>
            <a:ext cx="8705088" cy="533400"/>
          </a:xfrm>
          <a:prstGeom prst="rect">
            <a:avLst/>
          </a:prstGeom>
        </p:spPr>
      </p:pic>
      <p:pic>
        <p:nvPicPr>
          <p:cNvPr id="5" name="object 5"/>
          <p:cNvPicPr/>
          <p:nvPr/>
        </p:nvPicPr>
        <p:blipFill>
          <a:blip r:embed="rId3" cstate="print"/>
          <a:stretch>
            <a:fillRect/>
          </a:stretch>
        </p:blipFill>
        <p:spPr>
          <a:xfrm>
            <a:off x="3385565" y="2224277"/>
            <a:ext cx="5155692" cy="278891"/>
          </a:xfrm>
          <a:prstGeom prst="rect">
            <a:avLst/>
          </a:prstGeom>
        </p:spPr>
      </p:pic>
      <p:pic>
        <p:nvPicPr>
          <p:cNvPr id="6" name="object 6"/>
          <p:cNvPicPr/>
          <p:nvPr/>
        </p:nvPicPr>
        <p:blipFill>
          <a:blip r:embed="rId4" cstate="print"/>
          <a:stretch>
            <a:fillRect/>
          </a:stretch>
        </p:blipFill>
        <p:spPr>
          <a:xfrm>
            <a:off x="637794" y="2951226"/>
            <a:ext cx="7021830" cy="263651"/>
          </a:xfrm>
          <a:prstGeom prst="rect">
            <a:avLst/>
          </a:prstGeom>
        </p:spPr>
      </p:pic>
      <p:sp>
        <p:nvSpPr>
          <p:cNvPr id="7" name="object 7"/>
          <p:cNvSpPr txBox="1"/>
          <p:nvPr/>
        </p:nvSpPr>
        <p:spPr>
          <a:xfrm>
            <a:off x="227838" y="3827017"/>
            <a:ext cx="1765300" cy="1451610"/>
          </a:xfrm>
          <a:prstGeom prst="rect">
            <a:avLst/>
          </a:prstGeom>
        </p:spPr>
        <p:txBody>
          <a:bodyPr vert="horz" wrap="square" lIns="0" tIns="12700" rIns="0" bIns="0" rtlCol="0">
            <a:spAutoFit/>
          </a:bodyPr>
          <a:lstStyle/>
          <a:p>
            <a:pPr marL="12700">
              <a:lnSpc>
                <a:spcPct val="100000"/>
              </a:lnSpc>
              <a:spcBef>
                <a:spcPts val="100"/>
              </a:spcBef>
            </a:pPr>
            <a:r>
              <a:rPr sz="2400" b="1" u="sng" spc="-10" dirty="0">
                <a:solidFill>
                  <a:srgbClr val="006FC0"/>
                </a:solidFill>
                <a:uFill>
                  <a:solidFill>
                    <a:srgbClr val="006FC0"/>
                  </a:solidFill>
                </a:uFill>
                <a:latin typeface="Calibri"/>
                <a:cs typeface="Calibri"/>
              </a:rPr>
              <a:t>Regression:</a:t>
            </a:r>
            <a:endParaRPr sz="2400">
              <a:latin typeface="Calibri"/>
              <a:cs typeface="Calibri"/>
            </a:endParaRPr>
          </a:p>
          <a:p>
            <a:pPr>
              <a:lnSpc>
                <a:spcPct val="100000"/>
              </a:lnSpc>
              <a:spcBef>
                <a:spcPts val="2535"/>
              </a:spcBef>
            </a:pPr>
            <a:endParaRPr sz="2400">
              <a:latin typeface="Calibri"/>
              <a:cs typeface="Calibri"/>
            </a:endParaRPr>
          </a:p>
          <a:p>
            <a:pPr marL="12700">
              <a:lnSpc>
                <a:spcPct val="100000"/>
              </a:lnSpc>
            </a:pPr>
            <a:r>
              <a:rPr sz="2400" b="1" u="sng" spc="-10" dirty="0">
                <a:solidFill>
                  <a:srgbClr val="006FC0"/>
                </a:solidFill>
                <a:uFill>
                  <a:solidFill>
                    <a:srgbClr val="006FC0"/>
                  </a:solidFill>
                </a:uFill>
                <a:latin typeface="Calibri"/>
                <a:cs typeface="Calibri"/>
              </a:rPr>
              <a:t>Classification:</a:t>
            </a:r>
            <a:endParaRPr sz="2400">
              <a:latin typeface="Calibri"/>
              <a:cs typeface="Calibri"/>
            </a:endParaRPr>
          </a:p>
        </p:txBody>
      </p:sp>
      <p:pic>
        <p:nvPicPr>
          <p:cNvPr id="8" name="object 8"/>
          <p:cNvPicPr/>
          <p:nvPr/>
        </p:nvPicPr>
        <p:blipFill>
          <a:blip r:embed="rId5" cstate="print"/>
          <a:stretch>
            <a:fillRect/>
          </a:stretch>
        </p:blipFill>
        <p:spPr>
          <a:xfrm>
            <a:off x="2463545" y="3916679"/>
            <a:ext cx="4327398" cy="254507"/>
          </a:xfrm>
          <a:prstGeom prst="rect">
            <a:avLst/>
          </a:prstGeom>
        </p:spPr>
      </p:pic>
      <p:pic>
        <p:nvPicPr>
          <p:cNvPr id="9" name="object 9"/>
          <p:cNvPicPr/>
          <p:nvPr/>
        </p:nvPicPr>
        <p:blipFill>
          <a:blip r:embed="rId6" cstate="print"/>
          <a:stretch>
            <a:fillRect/>
          </a:stretch>
        </p:blipFill>
        <p:spPr>
          <a:xfrm>
            <a:off x="2463545" y="5725667"/>
            <a:ext cx="4531613" cy="254507"/>
          </a:xfrm>
          <a:prstGeom prst="rect">
            <a:avLst/>
          </a:prstGeom>
        </p:spPr>
      </p:pic>
      <p:pic>
        <p:nvPicPr>
          <p:cNvPr id="10" name="object 10"/>
          <p:cNvPicPr/>
          <p:nvPr/>
        </p:nvPicPr>
        <p:blipFill>
          <a:blip r:embed="rId7" cstate="print"/>
          <a:stretch>
            <a:fillRect/>
          </a:stretch>
        </p:blipFill>
        <p:spPr>
          <a:xfrm>
            <a:off x="2463545" y="4948428"/>
            <a:ext cx="6896861" cy="25450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0"/>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
        <p:nvSpPr>
          <p:cNvPr id="3" name="object 3"/>
          <p:cNvSpPr txBox="1"/>
          <p:nvPr/>
        </p:nvSpPr>
        <p:spPr>
          <a:xfrm>
            <a:off x="227838" y="795782"/>
            <a:ext cx="3383279" cy="1285875"/>
          </a:xfrm>
          <a:prstGeom prst="rect">
            <a:avLst/>
          </a:prstGeom>
        </p:spPr>
        <p:txBody>
          <a:bodyPr vert="horz" wrap="square" lIns="0" tIns="12700" rIns="0" bIns="0" rtlCol="0">
            <a:spAutoFit/>
          </a:bodyPr>
          <a:lstStyle/>
          <a:p>
            <a:pPr marL="12700">
              <a:lnSpc>
                <a:spcPct val="100000"/>
              </a:lnSpc>
              <a:spcBef>
                <a:spcPts val="100"/>
              </a:spcBef>
            </a:pPr>
            <a:r>
              <a:rPr sz="2400" b="1" u="sng" spc="-10" dirty="0">
                <a:solidFill>
                  <a:srgbClr val="006FC0"/>
                </a:solidFill>
                <a:uFill>
                  <a:solidFill>
                    <a:srgbClr val="006FC0"/>
                  </a:solidFill>
                </a:uFill>
                <a:latin typeface="Calibri"/>
                <a:cs typeface="Calibri"/>
              </a:rPr>
              <a:t>Example</a:t>
            </a:r>
            <a:endParaRPr sz="2400" dirty="0">
              <a:latin typeface="Calibri"/>
              <a:cs typeface="Calibri"/>
            </a:endParaRPr>
          </a:p>
          <a:p>
            <a:pPr>
              <a:lnSpc>
                <a:spcPct val="100000"/>
              </a:lnSpc>
              <a:spcBef>
                <a:spcPts val="1230"/>
              </a:spcBef>
            </a:pPr>
            <a:endParaRPr sz="2400" dirty="0">
              <a:latin typeface="Calibri"/>
              <a:cs typeface="Calibri"/>
            </a:endParaRPr>
          </a:p>
          <a:p>
            <a:pPr marL="739775">
              <a:lnSpc>
                <a:spcPct val="100000"/>
              </a:lnSpc>
            </a:pPr>
            <a:r>
              <a:rPr sz="2400" b="1" u="sng" dirty="0">
                <a:uFill>
                  <a:solidFill>
                    <a:srgbClr val="000000"/>
                  </a:solidFill>
                </a:uFill>
                <a:latin typeface="Calibri"/>
                <a:cs typeface="Calibri"/>
              </a:rPr>
              <a:t>Data</a:t>
            </a:r>
            <a:r>
              <a:rPr sz="2400" b="1" u="sng" spc="-40" dirty="0">
                <a:uFill>
                  <a:solidFill>
                    <a:srgbClr val="000000"/>
                  </a:solidFill>
                </a:uFill>
                <a:latin typeface="Calibri"/>
                <a:cs typeface="Calibri"/>
              </a:rPr>
              <a:t> </a:t>
            </a:r>
            <a:r>
              <a:rPr sz="2400" b="1" u="sng" dirty="0">
                <a:uFill>
                  <a:solidFill>
                    <a:srgbClr val="000000"/>
                  </a:solidFill>
                </a:uFill>
                <a:latin typeface="Calibri"/>
                <a:cs typeface="Calibri"/>
              </a:rPr>
              <a:t>of</a:t>
            </a:r>
            <a:r>
              <a:rPr sz="2400" b="1" u="sng" spc="-35" dirty="0">
                <a:uFill>
                  <a:solidFill>
                    <a:srgbClr val="000000"/>
                  </a:solidFill>
                </a:uFill>
                <a:latin typeface="Calibri"/>
                <a:cs typeface="Calibri"/>
              </a:rPr>
              <a:t> </a:t>
            </a:r>
            <a:r>
              <a:rPr sz="2400" b="1" u="sng" dirty="0">
                <a:uFill>
                  <a:solidFill>
                    <a:srgbClr val="000000"/>
                  </a:solidFill>
                </a:uFill>
                <a:latin typeface="Calibri"/>
                <a:cs typeface="Calibri"/>
              </a:rPr>
              <a:t>200</a:t>
            </a:r>
            <a:r>
              <a:rPr sz="2400" b="1" u="sng" spc="-55" dirty="0">
                <a:uFill>
                  <a:solidFill>
                    <a:srgbClr val="000000"/>
                  </a:solidFill>
                </a:uFill>
                <a:latin typeface="Calibri"/>
                <a:cs typeface="Calibri"/>
              </a:rPr>
              <a:t> </a:t>
            </a:r>
            <a:r>
              <a:rPr sz="2400" b="1" u="sng" spc="-10" dirty="0">
                <a:uFill>
                  <a:solidFill>
                    <a:srgbClr val="000000"/>
                  </a:solidFill>
                </a:uFill>
                <a:latin typeface="Calibri"/>
                <a:cs typeface="Calibri"/>
              </a:rPr>
              <a:t>Patients:</a:t>
            </a:r>
            <a:endParaRPr sz="2400" dirty="0">
              <a:latin typeface="Calibri"/>
              <a:cs typeface="Calibri"/>
            </a:endParaRPr>
          </a:p>
        </p:txBody>
      </p:sp>
      <p:sp>
        <p:nvSpPr>
          <p:cNvPr id="4" name="object 4"/>
          <p:cNvSpPr/>
          <p:nvPr/>
        </p:nvSpPr>
        <p:spPr>
          <a:xfrm>
            <a:off x="3667125" y="2719958"/>
            <a:ext cx="914400" cy="223520"/>
          </a:xfrm>
          <a:custGeom>
            <a:avLst/>
            <a:gdLst/>
            <a:ahLst/>
            <a:cxnLst/>
            <a:rect l="l" t="t" r="r" b="b"/>
            <a:pathLst>
              <a:path w="914400" h="223519">
                <a:moveTo>
                  <a:pt x="802766" y="0"/>
                </a:moveTo>
                <a:lnTo>
                  <a:pt x="802766" y="55752"/>
                </a:lnTo>
                <a:lnTo>
                  <a:pt x="0" y="55752"/>
                </a:lnTo>
                <a:lnTo>
                  <a:pt x="0" y="167512"/>
                </a:lnTo>
                <a:lnTo>
                  <a:pt x="802766" y="167512"/>
                </a:lnTo>
                <a:lnTo>
                  <a:pt x="802766" y="223265"/>
                </a:lnTo>
                <a:lnTo>
                  <a:pt x="914400" y="111632"/>
                </a:lnTo>
                <a:lnTo>
                  <a:pt x="802766" y="0"/>
                </a:lnTo>
                <a:close/>
              </a:path>
            </a:pathLst>
          </a:custGeom>
          <a:solidFill>
            <a:srgbClr val="6FAC46"/>
          </a:solidFill>
        </p:spPr>
        <p:txBody>
          <a:bodyPr wrap="square" lIns="0" tIns="0" rIns="0" bIns="0" rtlCol="0"/>
          <a:lstStyle/>
          <a:p>
            <a:endParaRPr/>
          </a:p>
        </p:txBody>
      </p:sp>
      <p:pic>
        <p:nvPicPr>
          <p:cNvPr id="5" name="object 5"/>
          <p:cNvPicPr/>
          <p:nvPr/>
        </p:nvPicPr>
        <p:blipFill>
          <a:blip r:embed="rId2" cstate="print"/>
          <a:stretch>
            <a:fillRect/>
          </a:stretch>
        </p:blipFill>
        <p:spPr>
          <a:xfrm>
            <a:off x="4809744" y="2490977"/>
            <a:ext cx="1981200" cy="679704"/>
          </a:xfrm>
          <a:prstGeom prst="rect">
            <a:avLst/>
          </a:prstGeom>
        </p:spPr>
      </p:pic>
      <p:sp>
        <p:nvSpPr>
          <p:cNvPr id="6" name="object 6"/>
          <p:cNvSpPr txBox="1"/>
          <p:nvPr/>
        </p:nvSpPr>
        <p:spPr>
          <a:xfrm>
            <a:off x="5330697" y="2667000"/>
            <a:ext cx="9391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Model</a:t>
            </a:r>
            <a:r>
              <a:rPr sz="1800" spc="-60" dirty="0">
                <a:latin typeface="Calibri"/>
                <a:cs typeface="Calibri"/>
              </a:rPr>
              <a:t> </a:t>
            </a:r>
            <a:r>
              <a:rPr sz="1800" spc="-25" dirty="0">
                <a:latin typeface="Calibri"/>
                <a:cs typeface="Calibri"/>
              </a:rPr>
              <a:t>(h)</a:t>
            </a:r>
            <a:endParaRPr sz="1800">
              <a:latin typeface="Calibri"/>
              <a:cs typeface="Calibri"/>
            </a:endParaRPr>
          </a:p>
        </p:txBody>
      </p:sp>
      <p:sp>
        <p:nvSpPr>
          <p:cNvPr id="7" name="object 7"/>
          <p:cNvSpPr txBox="1"/>
          <p:nvPr/>
        </p:nvSpPr>
        <p:spPr>
          <a:xfrm>
            <a:off x="8090407" y="2663698"/>
            <a:ext cx="3295015" cy="330200"/>
          </a:xfrm>
          <a:prstGeom prst="rect">
            <a:avLst/>
          </a:prstGeom>
        </p:spPr>
        <p:txBody>
          <a:bodyPr vert="horz" wrap="square" lIns="0" tIns="12065" rIns="0" bIns="0" rtlCol="0">
            <a:spAutoFit/>
          </a:bodyPr>
          <a:lstStyle/>
          <a:p>
            <a:pPr marL="12700">
              <a:lnSpc>
                <a:spcPct val="100000"/>
              </a:lnSpc>
              <a:spcBef>
                <a:spcPts val="95"/>
              </a:spcBef>
            </a:pPr>
            <a:r>
              <a:rPr sz="2000" spc="-10" dirty="0">
                <a:latin typeface="Calibri"/>
                <a:cs typeface="Calibri"/>
              </a:rPr>
              <a:t>Prediction</a:t>
            </a:r>
            <a:r>
              <a:rPr sz="2000" spc="-35" dirty="0">
                <a:latin typeface="Calibri"/>
                <a:cs typeface="Calibri"/>
              </a:rPr>
              <a:t> </a:t>
            </a:r>
            <a:r>
              <a:rPr sz="2000" dirty="0">
                <a:latin typeface="Calibri"/>
                <a:cs typeface="Calibri"/>
              </a:rPr>
              <a:t>of</a:t>
            </a:r>
            <a:r>
              <a:rPr sz="2000" spc="-60" dirty="0">
                <a:latin typeface="Calibri"/>
                <a:cs typeface="Calibri"/>
              </a:rPr>
              <a:t> </a:t>
            </a:r>
            <a:r>
              <a:rPr sz="2000" dirty="0">
                <a:latin typeface="Calibri"/>
                <a:cs typeface="Calibri"/>
              </a:rPr>
              <a:t>Oxygen</a:t>
            </a:r>
            <a:r>
              <a:rPr sz="2000" spc="-55" dirty="0">
                <a:latin typeface="Calibri"/>
                <a:cs typeface="Calibri"/>
              </a:rPr>
              <a:t> </a:t>
            </a:r>
            <a:r>
              <a:rPr sz="2000" spc="-10" dirty="0">
                <a:latin typeface="Calibri"/>
                <a:cs typeface="Calibri"/>
              </a:rPr>
              <a:t>Saturation</a:t>
            </a:r>
            <a:endParaRPr sz="2000" dirty="0">
              <a:latin typeface="Calibri"/>
              <a:cs typeface="Calibri"/>
            </a:endParaRPr>
          </a:p>
        </p:txBody>
      </p:sp>
      <p:sp>
        <p:nvSpPr>
          <p:cNvPr id="8" name="object 8"/>
          <p:cNvSpPr/>
          <p:nvPr/>
        </p:nvSpPr>
        <p:spPr>
          <a:xfrm>
            <a:off x="6943725" y="2719958"/>
            <a:ext cx="914400" cy="223520"/>
          </a:xfrm>
          <a:custGeom>
            <a:avLst/>
            <a:gdLst/>
            <a:ahLst/>
            <a:cxnLst/>
            <a:rect l="l" t="t" r="r" b="b"/>
            <a:pathLst>
              <a:path w="914400" h="223519">
                <a:moveTo>
                  <a:pt x="802767" y="0"/>
                </a:moveTo>
                <a:lnTo>
                  <a:pt x="802767" y="55752"/>
                </a:lnTo>
                <a:lnTo>
                  <a:pt x="0" y="55752"/>
                </a:lnTo>
                <a:lnTo>
                  <a:pt x="0" y="167512"/>
                </a:lnTo>
                <a:lnTo>
                  <a:pt x="802767" y="167512"/>
                </a:lnTo>
                <a:lnTo>
                  <a:pt x="802767" y="223265"/>
                </a:lnTo>
                <a:lnTo>
                  <a:pt x="914400" y="111632"/>
                </a:lnTo>
                <a:lnTo>
                  <a:pt x="802767" y="0"/>
                </a:lnTo>
                <a:close/>
              </a:path>
            </a:pathLst>
          </a:custGeom>
          <a:solidFill>
            <a:srgbClr val="6FAC46"/>
          </a:solidFill>
        </p:spPr>
        <p:txBody>
          <a:bodyPr wrap="square" lIns="0" tIns="0" rIns="0" bIns="0" rtlCol="0"/>
          <a:lstStyle/>
          <a:p>
            <a:endParaRPr/>
          </a:p>
        </p:txBody>
      </p:sp>
      <p:sp>
        <p:nvSpPr>
          <p:cNvPr id="9" name="object 9"/>
          <p:cNvSpPr txBox="1"/>
          <p:nvPr/>
        </p:nvSpPr>
        <p:spPr>
          <a:xfrm>
            <a:off x="955039" y="2055876"/>
            <a:ext cx="2539365" cy="2952115"/>
          </a:xfrm>
          <a:prstGeom prst="rect">
            <a:avLst/>
          </a:prstGeom>
        </p:spPr>
        <p:txBody>
          <a:bodyPr vert="horz" wrap="square" lIns="0" tIns="12700" rIns="0" bIns="0" rtlCol="0">
            <a:spAutoFit/>
          </a:bodyPr>
          <a:lstStyle/>
          <a:p>
            <a:pPr marL="297815" indent="-285115">
              <a:lnSpc>
                <a:spcPct val="100000"/>
              </a:lnSpc>
              <a:spcBef>
                <a:spcPts val="100"/>
              </a:spcBef>
              <a:buChar char="-"/>
              <a:tabLst>
                <a:tab pos="297815" algn="l"/>
              </a:tabLst>
            </a:pPr>
            <a:r>
              <a:rPr sz="2400" dirty="0">
                <a:latin typeface="Calibri"/>
                <a:cs typeface="Calibri"/>
              </a:rPr>
              <a:t>Age</a:t>
            </a:r>
            <a:r>
              <a:rPr sz="2400" spc="-35" dirty="0">
                <a:latin typeface="Calibri"/>
                <a:cs typeface="Calibri"/>
              </a:rPr>
              <a:t> </a:t>
            </a:r>
            <a:r>
              <a:rPr sz="2400" dirty="0">
                <a:latin typeface="Calibri"/>
                <a:cs typeface="Calibri"/>
              </a:rPr>
              <a:t>of</a:t>
            </a:r>
            <a:r>
              <a:rPr sz="2400" spc="-40" dirty="0">
                <a:latin typeface="Calibri"/>
                <a:cs typeface="Calibri"/>
              </a:rPr>
              <a:t> </a:t>
            </a:r>
            <a:r>
              <a:rPr sz="2400" dirty="0">
                <a:latin typeface="Calibri"/>
                <a:cs typeface="Calibri"/>
              </a:rPr>
              <a:t>the</a:t>
            </a:r>
            <a:r>
              <a:rPr sz="2400" spc="-30" dirty="0">
                <a:latin typeface="Calibri"/>
                <a:cs typeface="Calibri"/>
              </a:rPr>
              <a:t> </a:t>
            </a:r>
            <a:r>
              <a:rPr sz="2400" spc="-10" dirty="0">
                <a:latin typeface="Calibri"/>
                <a:cs typeface="Calibri"/>
              </a:rPr>
              <a:t>patient</a:t>
            </a:r>
            <a:endParaRPr sz="2400">
              <a:latin typeface="Calibri"/>
              <a:cs typeface="Calibri"/>
            </a:endParaRPr>
          </a:p>
          <a:p>
            <a:pPr marL="297815" indent="-285115">
              <a:lnSpc>
                <a:spcPct val="100000"/>
              </a:lnSpc>
              <a:buChar char="-"/>
              <a:tabLst>
                <a:tab pos="297815" algn="l"/>
              </a:tabLst>
            </a:pPr>
            <a:r>
              <a:rPr sz="2400" spc="-10" dirty="0">
                <a:latin typeface="Calibri"/>
                <a:cs typeface="Calibri"/>
              </a:rPr>
              <a:t>Cholesterol</a:t>
            </a:r>
            <a:r>
              <a:rPr sz="2400" spc="-50" dirty="0">
                <a:latin typeface="Calibri"/>
                <a:cs typeface="Calibri"/>
              </a:rPr>
              <a:t> </a:t>
            </a:r>
            <a:r>
              <a:rPr sz="2400" spc="-10" dirty="0">
                <a:latin typeface="Calibri"/>
                <a:cs typeface="Calibri"/>
              </a:rPr>
              <a:t>levels</a:t>
            </a:r>
            <a:endParaRPr sz="2400">
              <a:latin typeface="Calibri"/>
              <a:cs typeface="Calibri"/>
            </a:endParaRPr>
          </a:p>
          <a:p>
            <a:pPr marL="297815" indent="-285115">
              <a:lnSpc>
                <a:spcPct val="100000"/>
              </a:lnSpc>
              <a:buChar char="-"/>
              <a:tabLst>
                <a:tab pos="297815" algn="l"/>
              </a:tabLst>
            </a:pPr>
            <a:r>
              <a:rPr sz="2400" dirty="0">
                <a:latin typeface="Calibri"/>
                <a:cs typeface="Calibri"/>
              </a:rPr>
              <a:t>Glucose</a:t>
            </a:r>
            <a:r>
              <a:rPr sz="2400" spc="-60" dirty="0">
                <a:latin typeface="Calibri"/>
                <a:cs typeface="Calibri"/>
              </a:rPr>
              <a:t> </a:t>
            </a:r>
            <a:r>
              <a:rPr sz="2400" spc="-10" dirty="0">
                <a:latin typeface="Calibri"/>
                <a:cs typeface="Calibri"/>
              </a:rPr>
              <a:t>levels</a:t>
            </a:r>
            <a:endParaRPr sz="2400">
              <a:latin typeface="Calibri"/>
              <a:cs typeface="Calibri"/>
            </a:endParaRPr>
          </a:p>
          <a:p>
            <a:pPr marL="297815" indent="-285115">
              <a:lnSpc>
                <a:spcPct val="100000"/>
              </a:lnSpc>
              <a:buChar char="-"/>
              <a:tabLst>
                <a:tab pos="297815" algn="l"/>
              </a:tabLst>
            </a:pPr>
            <a:r>
              <a:rPr sz="2400" spc="-25" dirty="0">
                <a:latin typeface="Calibri"/>
                <a:cs typeface="Calibri"/>
              </a:rPr>
              <a:t>BMI</a:t>
            </a:r>
            <a:endParaRPr sz="2400">
              <a:latin typeface="Calibri"/>
              <a:cs typeface="Calibri"/>
            </a:endParaRPr>
          </a:p>
          <a:p>
            <a:pPr marL="297815" indent="-285115">
              <a:lnSpc>
                <a:spcPct val="100000"/>
              </a:lnSpc>
              <a:buChar char="-"/>
              <a:tabLst>
                <a:tab pos="297815" algn="l"/>
              </a:tabLst>
            </a:pPr>
            <a:r>
              <a:rPr sz="2400" spc="-10" dirty="0">
                <a:latin typeface="Calibri"/>
                <a:cs typeface="Calibri"/>
              </a:rPr>
              <a:t>Height</a:t>
            </a:r>
            <a:endParaRPr sz="2400">
              <a:latin typeface="Calibri"/>
              <a:cs typeface="Calibri"/>
            </a:endParaRPr>
          </a:p>
          <a:p>
            <a:pPr marL="297815" indent="-285115">
              <a:lnSpc>
                <a:spcPct val="100000"/>
              </a:lnSpc>
              <a:buChar char="-"/>
              <a:tabLst>
                <a:tab pos="297815" algn="l"/>
              </a:tabLst>
            </a:pPr>
            <a:r>
              <a:rPr sz="2400" dirty="0">
                <a:latin typeface="Calibri"/>
                <a:cs typeface="Calibri"/>
              </a:rPr>
              <a:t>Heart</a:t>
            </a:r>
            <a:r>
              <a:rPr sz="2400" spc="-55" dirty="0">
                <a:latin typeface="Calibri"/>
                <a:cs typeface="Calibri"/>
              </a:rPr>
              <a:t> </a:t>
            </a:r>
            <a:r>
              <a:rPr sz="2400" spc="-20" dirty="0">
                <a:latin typeface="Calibri"/>
                <a:cs typeface="Calibri"/>
              </a:rPr>
              <a:t>Rate</a:t>
            </a:r>
            <a:endParaRPr sz="2400">
              <a:latin typeface="Calibri"/>
              <a:cs typeface="Calibri"/>
            </a:endParaRPr>
          </a:p>
          <a:p>
            <a:pPr marL="297815" indent="-285115">
              <a:lnSpc>
                <a:spcPct val="100000"/>
              </a:lnSpc>
              <a:buChar char="-"/>
              <a:tabLst>
                <a:tab pos="297815" algn="l"/>
              </a:tabLst>
            </a:pPr>
            <a:r>
              <a:rPr sz="2400" dirty="0">
                <a:latin typeface="Calibri"/>
                <a:cs typeface="Calibri"/>
              </a:rPr>
              <a:t>Calories</a:t>
            </a:r>
            <a:r>
              <a:rPr sz="2400" spc="-50" dirty="0">
                <a:latin typeface="Calibri"/>
                <a:cs typeface="Calibri"/>
              </a:rPr>
              <a:t> </a:t>
            </a:r>
            <a:r>
              <a:rPr sz="2400" spc="-10" dirty="0">
                <a:latin typeface="Calibri"/>
                <a:cs typeface="Calibri"/>
              </a:rPr>
              <a:t>intake</a:t>
            </a:r>
            <a:endParaRPr sz="2400">
              <a:latin typeface="Calibri"/>
              <a:cs typeface="Calibri"/>
            </a:endParaRPr>
          </a:p>
          <a:p>
            <a:pPr marL="297815" indent="-285115">
              <a:lnSpc>
                <a:spcPct val="100000"/>
              </a:lnSpc>
              <a:buChar char="-"/>
              <a:tabLst>
                <a:tab pos="297815" algn="l"/>
              </a:tabLst>
            </a:pPr>
            <a:r>
              <a:rPr sz="2400" dirty="0">
                <a:latin typeface="Calibri"/>
                <a:cs typeface="Calibri"/>
              </a:rPr>
              <a:t>No.</a:t>
            </a:r>
            <a:r>
              <a:rPr sz="2400" spc="-70" dirty="0">
                <a:latin typeface="Calibri"/>
                <a:cs typeface="Calibri"/>
              </a:rPr>
              <a:t> </a:t>
            </a:r>
            <a:r>
              <a:rPr sz="2400" dirty="0">
                <a:latin typeface="Calibri"/>
                <a:cs typeface="Calibri"/>
              </a:rPr>
              <a:t>of</a:t>
            </a:r>
            <a:r>
              <a:rPr sz="2400" spc="-50" dirty="0">
                <a:latin typeface="Calibri"/>
                <a:cs typeface="Calibri"/>
              </a:rPr>
              <a:t> </a:t>
            </a:r>
            <a:r>
              <a:rPr sz="2400" dirty="0">
                <a:latin typeface="Calibri"/>
                <a:cs typeface="Calibri"/>
              </a:rPr>
              <a:t>steps</a:t>
            </a:r>
            <a:r>
              <a:rPr sz="2400" spc="-50" dirty="0">
                <a:latin typeface="Calibri"/>
                <a:cs typeface="Calibri"/>
              </a:rPr>
              <a:t> </a:t>
            </a:r>
            <a:r>
              <a:rPr sz="2400" spc="-20" dirty="0">
                <a:latin typeface="Calibri"/>
                <a:cs typeface="Calibri"/>
              </a:rPr>
              <a:t>taken</a:t>
            </a:r>
            <a:endParaRPr sz="24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7430" y="-206418"/>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
        <p:nvSpPr>
          <p:cNvPr id="3" name="object 3"/>
          <p:cNvSpPr txBox="1"/>
          <p:nvPr/>
        </p:nvSpPr>
        <p:spPr>
          <a:xfrm>
            <a:off x="227838" y="795782"/>
            <a:ext cx="1099185" cy="391160"/>
          </a:xfrm>
          <a:prstGeom prst="rect">
            <a:avLst/>
          </a:prstGeom>
        </p:spPr>
        <p:txBody>
          <a:bodyPr vert="horz" wrap="square" lIns="0" tIns="12700" rIns="0" bIns="0" rtlCol="0">
            <a:spAutoFit/>
          </a:bodyPr>
          <a:lstStyle/>
          <a:p>
            <a:pPr marL="12700">
              <a:lnSpc>
                <a:spcPct val="100000"/>
              </a:lnSpc>
              <a:spcBef>
                <a:spcPts val="100"/>
              </a:spcBef>
            </a:pPr>
            <a:r>
              <a:rPr sz="2400" b="1" u="sng" spc="-10" dirty="0">
                <a:solidFill>
                  <a:srgbClr val="006FC0"/>
                </a:solidFill>
                <a:uFill>
                  <a:solidFill>
                    <a:srgbClr val="006FC0"/>
                  </a:solidFill>
                </a:uFill>
                <a:latin typeface="Calibri"/>
                <a:cs typeface="Calibri"/>
              </a:rPr>
              <a:t>Example</a:t>
            </a:r>
            <a:endParaRPr sz="2400">
              <a:latin typeface="Calibri"/>
              <a:cs typeface="Calibri"/>
            </a:endParaRPr>
          </a:p>
        </p:txBody>
      </p:sp>
      <p:pic>
        <p:nvPicPr>
          <p:cNvPr id="4" name="object 4"/>
          <p:cNvPicPr/>
          <p:nvPr/>
        </p:nvPicPr>
        <p:blipFill>
          <a:blip r:embed="rId2" cstate="print"/>
          <a:stretch>
            <a:fillRect/>
          </a:stretch>
        </p:blipFill>
        <p:spPr>
          <a:xfrm>
            <a:off x="564000" y="1694900"/>
            <a:ext cx="3341468" cy="2739566"/>
          </a:xfrm>
          <a:prstGeom prst="rect">
            <a:avLst/>
          </a:prstGeom>
        </p:spPr>
      </p:pic>
      <p:grpSp>
        <p:nvGrpSpPr>
          <p:cNvPr id="5" name="object 5"/>
          <p:cNvGrpSpPr/>
          <p:nvPr/>
        </p:nvGrpSpPr>
        <p:grpSpPr>
          <a:xfrm>
            <a:off x="4200144" y="2710433"/>
            <a:ext cx="933450" cy="242570"/>
            <a:chOff x="4200144" y="2710433"/>
            <a:chExt cx="933450" cy="242570"/>
          </a:xfrm>
        </p:grpSpPr>
        <p:sp>
          <p:nvSpPr>
            <p:cNvPr id="6" name="object 6"/>
            <p:cNvSpPr/>
            <p:nvPr/>
          </p:nvSpPr>
          <p:spPr>
            <a:xfrm>
              <a:off x="4209669" y="2719958"/>
              <a:ext cx="914400" cy="223520"/>
            </a:xfrm>
            <a:custGeom>
              <a:avLst/>
              <a:gdLst/>
              <a:ahLst/>
              <a:cxnLst/>
              <a:rect l="l" t="t" r="r" b="b"/>
              <a:pathLst>
                <a:path w="914400" h="223519">
                  <a:moveTo>
                    <a:pt x="802766" y="0"/>
                  </a:moveTo>
                  <a:lnTo>
                    <a:pt x="802766" y="55752"/>
                  </a:lnTo>
                  <a:lnTo>
                    <a:pt x="0" y="55752"/>
                  </a:lnTo>
                  <a:lnTo>
                    <a:pt x="0" y="167512"/>
                  </a:lnTo>
                  <a:lnTo>
                    <a:pt x="802766" y="167512"/>
                  </a:lnTo>
                  <a:lnTo>
                    <a:pt x="802766" y="223265"/>
                  </a:lnTo>
                  <a:lnTo>
                    <a:pt x="914400" y="111632"/>
                  </a:lnTo>
                  <a:lnTo>
                    <a:pt x="802766" y="0"/>
                  </a:lnTo>
                  <a:close/>
                </a:path>
              </a:pathLst>
            </a:custGeom>
            <a:solidFill>
              <a:srgbClr val="6FAC46"/>
            </a:solidFill>
          </p:spPr>
          <p:txBody>
            <a:bodyPr wrap="square" lIns="0" tIns="0" rIns="0" bIns="0" rtlCol="0"/>
            <a:lstStyle/>
            <a:p>
              <a:endParaRPr/>
            </a:p>
          </p:txBody>
        </p:sp>
        <p:sp>
          <p:nvSpPr>
            <p:cNvPr id="7" name="object 7"/>
            <p:cNvSpPr/>
            <p:nvPr/>
          </p:nvSpPr>
          <p:spPr>
            <a:xfrm>
              <a:off x="4209669" y="2719958"/>
              <a:ext cx="914400" cy="223520"/>
            </a:xfrm>
            <a:custGeom>
              <a:avLst/>
              <a:gdLst/>
              <a:ahLst/>
              <a:cxnLst/>
              <a:rect l="l" t="t" r="r" b="b"/>
              <a:pathLst>
                <a:path w="914400" h="223519">
                  <a:moveTo>
                    <a:pt x="0" y="55752"/>
                  </a:moveTo>
                  <a:lnTo>
                    <a:pt x="802766" y="55752"/>
                  </a:lnTo>
                  <a:lnTo>
                    <a:pt x="802766" y="0"/>
                  </a:lnTo>
                  <a:lnTo>
                    <a:pt x="914400" y="111632"/>
                  </a:lnTo>
                  <a:lnTo>
                    <a:pt x="802766" y="223265"/>
                  </a:lnTo>
                  <a:lnTo>
                    <a:pt x="802766" y="167512"/>
                  </a:lnTo>
                  <a:lnTo>
                    <a:pt x="0" y="167512"/>
                  </a:lnTo>
                  <a:lnTo>
                    <a:pt x="0" y="55752"/>
                  </a:lnTo>
                  <a:close/>
                </a:path>
              </a:pathLst>
            </a:custGeom>
            <a:ln w="19050">
              <a:solidFill>
                <a:srgbClr val="FFFFFF"/>
              </a:solidFill>
            </a:ln>
          </p:spPr>
          <p:txBody>
            <a:bodyPr wrap="square" lIns="0" tIns="0" rIns="0" bIns="0" rtlCol="0"/>
            <a:lstStyle/>
            <a:p>
              <a:endParaRPr/>
            </a:p>
          </p:txBody>
        </p:sp>
      </p:grpSp>
      <p:pic>
        <p:nvPicPr>
          <p:cNvPr id="8" name="object 8"/>
          <p:cNvPicPr/>
          <p:nvPr/>
        </p:nvPicPr>
        <p:blipFill>
          <a:blip r:embed="rId3" cstate="print"/>
          <a:stretch>
            <a:fillRect/>
          </a:stretch>
        </p:blipFill>
        <p:spPr>
          <a:xfrm>
            <a:off x="5352288" y="2490977"/>
            <a:ext cx="1981200" cy="679704"/>
          </a:xfrm>
          <a:prstGeom prst="rect">
            <a:avLst/>
          </a:prstGeom>
        </p:spPr>
      </p:pic>
      <p:sp>
        <p:nvSpPr>
          <p:cNvPr id="9" name="object 9"/>
          <p:cNvSpPr txBox="1"/>
          <p:nvPr/>
        </p:nvSpPr>
        <p:spPr>
          <a:xfrm>
            <a:off x="5873496" y="2667000"/>
            <a:ext cx="93916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Model</a:t>
            </a:r>
            <a:r>
              <a:rPr sz="1800" spc="-60" dirty="0">
                <a:latin typeface="Calibri"/>
                <a:cs typeface="Calibri"/>
              </a:rPr>
              <a:t> </a:t>
            </a:r>
            <a:r>
              <a:rPr sz="1800" spc="-25" dirty="0">
                <a:latin typeface="Calibri"/>
                <a:cs typeface="Calibri"/>
              </a:rPr>
              <a:t>(h)</a:t>
            </a:r>
            <a:endParaRPr sz="1800">
              <a:latin typeface="Calibri"/>
              <a:cs typeface="Calibri"/>
            </a:endParaRPr>
          </a:p>
        </p:txBody>
      </p:sp>
      <p:sp>
        <p:nvSpPr>
          <p:cNvPr id="10" name="object 10"/>
          <p:cNvSpPr txBox="1"/>
          <p:nvPr/>
        </p:nvSpPr>
        <p:spPr>
          <a:xfrm>
            <a:off x="8633459" y="2665221"/>
            <a:ext cx="972819" cy="299720"/>
          </a:xfrm>
          <a:prstGeom prst="rect">
            <a:avLst/>
          </a:prstGeom>
        </p:spPr>
        <p:txBody>
          <a:bodyPr vert="horz" wrap="square" lIns="0" tIns="12700" rIns="0" bIns="0" rtlCol="0">
            <a:spAutoFit/>
          </a:bodyPr>
          <a:lstStyle/>
          <a:p>
            <a:pPr marL="12700">
              <a:lnSpc>
                <a:spcPct val="100000"/>
              </a:lnSpc>
              <a:spcBef>
                <a:spcPts val="100"/>
              </a:spcBef>
            </a:pPr>
            <a:r>
              <a:rPr sz="1800" spc="-10" dirty="0">
                <a:latin typeface="Calibri"/>
                <a:cs typeface="Calibri"/>
              </a:rPr>
              <a:t>Prediction</a:t>
            </a:r>
            <a:endParaRPr sz="1800">
              <a:latin typeface="Calibri"/>
              <a:cs typeface="Calibri"/>
            </a:endParaRPr>
          </a:p>
        </p:txBody>
      </p:sp>
      <p:sp>
        <p:nvSpPr>
          <p:cNvPr id="11" name="object 11"/>
          <p:cNvSpPr/>
          <p:nvPr/>
        </p:nvSpPr>
        <p:spPr>
          <a:xfrm>
            <a:off x="7486268" y="2719958"/>
            <a:ext cx="914400" cy="223520"/>
          </a:xfrm>
          <a:custGeom>
            <a:avLst/>
            <a:gdLst/>
            <a:ahLst/>
            <a:cxnLst/>
            <a:rect l="l" t="t" r="r" b="b"/>
            <a:pathLst>
              <a:path w="914400" h="223519">
                <a:moveTo>
                  <a:pt x="802766" y="0"/>
                </a:moveTo>
                <a:lnTo>
                  <a:pt x="802766" y="55752"/>
                </a:lnTo>
                <a:lnTo>
                  <a:pt x="0" y="55752"/>
                </a:lnTo>
                <a:lnTo>
                  <a:pt x="0" y="167512"/>
                </a:lnTo>
                <a:lnTo>
                  <a:pt x="802766" y="167512"/>
                </a:lnTo>
                <a:lnTo>
                  <a:pt x="802766" y="223265"/>
                </a:lnTo>
                <a:lnTo>
                  <a:pt x="914400" y="111632"/>
                </a:lnTo>
                <a:lnTo>
                  <a:pt x="802766" y="0"/>
                </a:lnTo>
                <a:close/>
              </a:path>
            </a:pathLst>
          </a:custGeom>
          <a:solidFill>
            <a:srgbClr val="6FAC46"/>
          </a:solidFill>
        </p:spPr>
        <p:txBody>
          <a:bodyPr wrap="square" lIns="0" tIns="0" rIns="0" bIns="0" rtlCol="0"/>
          <a:lstStyle/>
          <a:p>
            <a:endParaRPr/>
          </a:p>
        </p:txBody>
      </p:sp>
      <p:sp>
        <p:nvSpPr>
          <p:cNvPr id="12" name="object 12"/>
          <p:cNvSpPr txBox="1"/>
          <p:nvPr/>
        </p:nvSpPr>
        <p:spPr>
          <a:xfrm>
            <a:off x="606805" y="4508245"/>
            <a:ext cx="4130040" cy="1489075"/>
          </a:xfrm>
          <a:prstGeom prst="rect">
            <a:avLst/>
          </a:prstGeom>
        </p:spPr>
        <p:txBody>
          <a:bodyPr vert="horz" wrap="square" lIns="0" tIns="12700" rIns="0" bIns="0" rtlCol="0">
            <a:spAutoFit/>
          </a:bodyPr>
          <a:lstStyle/>
          <a:p>
            <a:pPr marL="12700">
              <a:lnSpc>
                <a:spcPct val="100000"/>
              </a:lnSpc>
              <a:spcBef>
                <a:spcPts val="100"/>
              </a:spcBef>
            </a:pPr>
            <a:r>
              <a:rPr sz="2400" b="1" u="sng" dirty="0">
                <a:uFill>
                  <a:solidFill>
                    <a:srgbClr val="000000"/>
                  </a:solidFill>
                </a:uFill>
                <a:latin typeface="Calibri"/>
                <a:cs typeface="Calibri"/>
              </a:rPr>
              <a:t>MNIST</a:t>
            </a:r>
            <a:r>
              <a:rPr sz="2400" b="1" u="sng" spc="-40" dirty="0">
                <a:uFill>
                  <a:solidFill>
                    <a:srgbClr val="000000"/>
                  </a:solidFill>
                </a:uFill>
                <a:latin typeface="Calibri"/>
                <a:cs typeface="Calibri"/>
              </a:rPr>
              <a:t> </a:t>
            </a:r>
            <a:r>
              <a:rPr sz="2400" b="1" u="sng" spc="-20" dirty="0">
                <a:uFill>
                  <a:solidFill>
                    <a:srgbClr val="000000"/>
                  </a:solidFill>
                </a:uFill>
                <a:latin typeface="Calibri"/>
                <a:cs typeface="Calibri"/>
              </a:rPr>
              <a:t>Data:</a:t>
            </a:r>
            <a:endParaRPr sz="2400">
              <a:latin typeface="Calibri"/>
              <a:cs typeface="Calibri"/>
            </a:endParaRPr>
          </a:p>
          <a:p>
            <a:pPr marL="297815" indent="-285115">
              <a:lnSpc>
                <a:spcPct val="100000"/>
              </a:lnSpc>
              <a:buChar char="-"/>
              <a:tabLst>
                <a:tab pos="297815" algn="l"/>
              </a:tabLst>
            </a:pPr>
            <a:r>
              <a:rPr sz="2400" dirty="0">
                <a:latin typeface="Calibri"/>
                <a:cs typeface="Calibri"/>
              </a:rPr>
              <a:t>Each</a:t>
            </a:r>
            <a:r>
              <a:rPr sz="2400" spc="-55" dirty="0">
                <a:latin typeface="Calibri"/>
                <a:cs typeface="Calibri"/>
              </a:rPr>
              <a:t> </a:t>
            </a:r>
            <a:r>
              <a:rPr sz="2400" dirty="0">
                <a:latin typeface="Calibri"/>
                <a:cs typeface="Calibri"/>
              </a:rPr>
              <a:t>sample</a:t>
            </a:r>
            <a:r>
              <a:rPr sz="2400" spc="-60" dirty="0">
                <a:latin typeface="Calibri"/>
                <a:cs typeface="Calibri"/>
              </a:rPr>
              <a:t> </a:t>
            </a:r>
            <a:r>
              <a:rPr sz="2400" dirty="0">
                <a:latin typeface="Calibri"/>
                <a:cs typeface="Calibri"/>
              </a:rPr>
              <a:t>28x28</a:t>
            </a:r>
            <a:r>
              <a:rPr sz="2400" spc="-70" dirty="0">
                <a:latin typeface="Calibri"/>
                <a:cs typeface="Calibri"/>
              </a:rPr>
              <a:t> </a:t>
            </a:r>
            <a:r>
              <a:rPr sz="2400" dirty="0">
                <a:latin typeface="Calibri"/>
                <a:cs typeface="Calibri"/>
              </a:rPr>
              <a:t>pixel</a:t>
            </a:r>
            <a:r>
              <a:rPr sz="2400" spc="-45" dirty="0">
                <a:latin typeface="Calibri"/>
                <a:cs typeface="Calibri"/>
              </a:rPr>
              <a:t> </a:t>
            </a:r>
            <a:r>
              <a:rPr sz="2400" spc="-10" dirty="0">
                <a:latin typeface="Calibri"/>
                <a:cs typeface="Calibri"/>
              </a:rPr>
              <a:t>image</a:t>
            </a:r>
            <a:endParaRPr sz="2400">
              <a:latin typeface="Calibri"/>
              <a:cs typeface="Calibri"/>
            </a:endParaRPr>
          </a:p>
          <a:p>
            <a:pPr marL="297815" indent="-285115">
              <a:lnSpc>
                <a:spcPct val="100000"/>
              </a:lnSpc>
              <a:buChar char="-"/>
              <a:tabLst>
                <a:tab pos="297815" algn="l"/>
              </a:tabLst>
            </a:pPr>
            <a:r>
              <a:rPr sz="2400" dirty="0">
                <a:latin typeface="Calibri"/>
                <a:cs typeface="Calibri"/>
              </a:rPr>
              <a:t>60,000</a:t>
            </a:r>
            <a:r>
              <a:rPr sz="2400" spc="-55" dirty="0">
                <a:latin typeface="Calibri"/>
                <a:cs typeface="Calibri"/>
              </a:rPr>
              <a:t> </a:t>
            </a:r>
            <a:r>
              <a:rPr sz="2400" dirty="0">
                <a:latin typeface="Calibri"/>
                <a:cs typeface="Calibri"/>
              </a:rPr>
              <a:t>training</a:t>
            </a:r>
            <a:r>
              <a:rPr sz="2400" spc="-35" dirty="0">
                <a:latin typeface="Calibri"/>
                <a:cs typeface="Calibri"/>
              </a:rPr>
              <a:t> </a:t>
            </a:r>
            <a:r>
              <a:rPr sz="2400" spc="-20" dirty="0">
                <a:latin typeface="Calibri"/>
                <a:cs typeface="Calibri"/>
              </a:rPr>
              <a:t>data</a:t>
            </a:r>
            <a:endParaRPr sz="2400">
              <a:latin typeface="Calibri"/>
              <a:cs typeface="Calibri"/>
            </a:endParaRPr>
          </a:p>
          <a:p>
            <a:pPr marL="297815" indent="-285115">
              <a:lnSpc>
                <a:spcPct val="100000"/>
              </a:lnSpc>
              <a:buChar char="-"/>
              <a:tabLst>
                <a:tab pos="297815" algn="l"/>
              </a:tabLst>
            </a:pPr>
            <a:r>
              <a:rPr sz="2400" dirty="0">
                <a:latin typeface="Calibri"/>
                <a:cs typeface="Calibri"/>
              </a:rPr>
              <a:t>10,000</a:t>
            </a:r>
            <a:r>
              <a:rPr sz="2400" spc="-75" dirty="0">
                <a:latin typeface="Calibri"/>
                <a:cs typeface="Calibri"/>
              </a:rPr>
              <a:t> </a:t>
            </a:r>
            <a:r>
              <a:rPr sz="2400" dirty="0">
                <a:latin typeface="Calibri"/>
                <a:cs typeface="Calibri"/>
              </a:rPr>
              <a:t>testing</a:t>
            </a:r>
            <a:r>
              <a:rPr sz="2400" spc="-55" dirty="0">
                <a:latin typeface="Calibri"/>
                <a:cs typeface="Calibri"/>
              </a:rPr>
              <a:t> </a:t>
            </a:r>
            <a:r>
              <a:rPr sz="2400" spc="-20" dirty="0">
                <a:latin typeface="Calibri"/>
                <a:cs typeface="Calibri"/>
              </a:rPr>
              <a:t>data</a:t>
            </a:r>
            <a:endParaRPr sz="24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32366"/>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pic>
        <p:nvPicPr>
          <p:cNvPr id="3" name="object 3"/>
          <p:cNvPicPr/>
          <p:nvPr/>
        </p:nvPicPr>
        <p:blipFill>
          <a:blip r:embed="rId2" cstate="print"/>
          <a:stretch>
            <a:fillRect/>
          </a:stretch>
        </p:blipFill>
        <p:spPr>
          <a:xfrm>
            <a:off x="685800" y="4858631"/>
            <a:ext cx="10457688" cy="636269"/>
          </a:xfrm>
          <a:prstGeom prst="rect">
            <a:avLst/>
          </a:prstGeom>
        </p:spPr>
      </p:pic>
      <p:pic>
        <p:nvPicPr>
          <p:cNvPr id="4" name="object 4"/>
          <p:cNvPicPr/>
          <p:nvPr/>
        </p:nvPicPr>
        <p:blipFill>
          <a:blip r:embed="rId3" cstate="print"/>
          <a:stretch>
            <a:fillRect/>
          </a:stretch>
        </p:blipFill>
        <p:spPr>
          <a:xfrm>
            <a:off x="483869" y="3963923"/>
            <a:ext cx="1888998" cy="275844"/>
          </a:xfrm>
          <a:prstGeom prst="rect">
            <a:avLst/>
          </a:prstGeom>
        </p:spPr>
      </p:pic>
      <p:pic>
        <p:nvPicPr>
          <p:cNvPr id="5" name="object 5"/>
          <p:cNvPicPr/>
          <p:nvPr/>
        </p:nvPicPr>
        <p:blipFill>
          <a:blip r:embed="rId4" cstate="print"/>
          <a:stretch>
            <a:fillRect/>
          </a:stretch>
        </p:blipFill>
        <p:spPr>
          <a:xfrm>
            <a:off x="1003553" y="1632204"/>
            <a:ext cx="7131558" cy="230124"/>
          </a:xfrm>
          <a:prstGeom prst="rect">
            <a:avLst/>
          </a:prstGeom>
        </p:spPr>
      </p:pic>
      <p:sp>
        <p:nvSpPr>
          <p:cNvPr id="6" name="object 6"/>
          <p:cNvSpPr txBox="1"/>
          <p:nvPr/>
        </p:nvSpPr>
        <p:spPr>
          <a:xfrm>
            <a:off x="445769" y="935990"/>
            <a:ext cx="5421631" cy="4606133"/>
          </a:xfrm>
          <a:prstGeom prst="rect">
            <a:avLst/>
          </a:prstGeom>
        </p:spPr>
        <p:txBody>
          <a:bodyPr vert="horz" wrap="square" lIns="0" tIns="12700" rIns="0" bIns="0" rtlCol="0">
            <a:spAutoFit/>
          </a:bodyPr>
          <a:lstStyle/>
          <a:p>
            <a:pPr marL="12700" marR="5080">
              <a:lnSpc>
                <a:spcPct val="125699"/>
              </a:lnSpc>
              <a:spcBef>
                <a:spcPts val="100"/>
              </a:spcBef>
            </a:pPr>
            <a:r>
              <a:rPr sz="2400" b="1" u="sng" dirty="0">
                <a:solidFill>
                  <a:srgbClr val="C00000"/>
                </a:solidFill>
                <a:uFill>
                  <a:solidFill>
                    <a:srgbClr val="C00000"/>
                  </a:solidFill>
                </a:uFill>
                <a:latin typeface="Calibri"/>
                <a:cs typeface="Calibri"/>
              </a:rPr>
              <a:t>Q:</a:t>
            </a:r>
            <a:r>
              <a:rPr sz="2400" b="1" u="sng" spc="-40" dirty="0">
                <a:solidFill>
                  <a:srgbClr val="C00000"/>
                </a:solidFill>
                <a:uFill>
                  <a:solidFill>
                    <a:srgbClr val="C00000"/>
                  </a:solidFill>
                </a:uFill>
                <a:latin typeface="Calibri"/>
                <a:cs typeface="Calibri"/>
              </a:rPr>
              <a:t> </a:t>
            </a:r>
            <a:r>
              <a:rPr sz="2400" b="1" u="sng" dirty="0">
                <a:solidFill>
                  <a:srgbClr val="C00000"/>
                </a:solidFill>
                <a:uFill>
                  <a:solidFill>
                    <a:srgbClr val="C00000"/>
                  </a:solidFill>
                </a:uFill>
                <a:latin typeface="Calibri"/>
                <a:cs typeface="Calibri"/>
              </a:rPr>
              <a:t>How</a:t>
            </a:r>
            <a:r>
              <a:rPr sz="2400" b="1" u="sng" spc="-50" dirty="0">
                <a:solidFill>
                  <a:srgbClr val="C00000"/>
                </a:solidFill>
                <a:uFill>
                  <a:solidFill>
                    <a:srgbClr val="C00000"/>
                  </a:solidFill>
                </a:uFill>
                <a:latin typeface="Calibri"/>
                <a:cs typeface="Calibri"/>
              </a:rPr>
              <a:t> </a:t>
            </a:r>
            <a:r>
              <a:rPr sz="2400" b="1" u="sng" dirty="0">
                <a:solidFill>
                  <a:srgbClr val="C00000"/>
                </a:solidFill>
                <a:uFill>
                  <a:solidFill>
                    <a:srgbClr val="C00000"/>
                  </a:solidFill>
                </a:uFill>
                <a:latin typeface="Calibri"/>
                <a:cs typeface="Calibri"/>
              </a:rPr>
              <a:t>do</a:t>
            </a:r>
            <a:r>
              <a:rPr sz="2400" b="1" u="sng" spc="-50" dirty="0">
                <a:solidFill>
                  <a:srgbClr val="C00000"/>
                </a:solidFill>
                <a:uFill>
                  <a:solidFill>
                    <a:srgbClr val="C00000"/>
                  </a:solidFill>
                </a:uFill>
                <a:latin typeface="Calibri"/>
                <a:cs typeface="Calibri"/>
              </a:rPr>
              <a:t> </a:t>
            </a:r>
            <a:r>
              <a:rPr sz="2400" b="1" u="sng" dirty="0">
                <a:solidFill>
                  <a:srgbClr val="C00000"/>
                </a:solidFill>
                <a:uFill>
                  <a:solidFill>
                    <a:srgbClr val="C00000"/>
                  </a:solidFill>
                </a:uFill>
                <a:latin typeface="Calibri"/>
                <a:cs typeface="Calibri"/>
              </a:rPr>
              <a:t>we</a:t>
            </a:r>
            <a:r>
              <a:rPr sz="2400" b="1" u="sng" spc="-45" dirty="0">
                <a:solidFill>
                  <a:srgbClr val="C00000"/>
                </a:solidFill>
                <a:uFill>
                  <a:solidFill>
                    <a:srgbClr val="C00000"/>
                  </a:solidFill>
                </a:uFill>
                <a:latin typeface="Calibri"/>
                <a:cs typeface="Calibri"/>
              </a:rPr>
              <a:t> </a:t>
            </a:r>
            <a:r>
              <a:rPr sz="2400" b="1" u="sng" spc="-10" dirty="0">
                <a:solidFill>
                  <a:srgbClr val="C00000"/>
                </a:solidFill>
                <a:uFill>
                  <a:solidFill>
                    <a:srgbClr val="C00000"/>
                  </a:solidFill>
                </a:uFill>
                <a:latin typeface="Calibri"/>
                <a:cs typeface="Calibri"/>
              </a:rPr>
              <a:t>evaluate</a:t>
            </a:r>
            <a:r>
              <a:rPr sz="2400" b="1" u="sng" spc="-25" dirty="0">
                <a:solidFill>
                  <a:srgbClr val="C00000"/>
                </a:solidFill>
                <a:uFill>
                  <a:solidFill>
                    <a:srgbClr val="C00000"/>
                  </a:solidFill>
                </a:uFill>
                <a:latin typeface="Calibri"/>
                <a:cs typeface="Calibri"/>
              </a:rPr>
              <a:t> </a:t>
            </a:r>
            <a:r>
              <a:rPr sz="2400" b="1" u="sng" dirty="0">
                <a:solidFill>
                  <a:srgbClr val="C00000"/>
                </a:solidFill>
                <a:uFill>
                  <a:solidFill>
                    <a:srgbClr val="C00000"/>
                  </a:solidFill>
                </a:uFill>
                <a:latin typeface="Calibri"/>
                <a:cs typeface="Calibri"/>
              </a:rPr>
              <a:t>the</a:t>
            </a:r>
            <a:r>
              <a:rPr sz="2400" b="1" u="sng" spc="-45" dirty="0">
                <a:solidFill>
                  <a:srgbClr val="C00000"/>
                </a:solidFill>
                <a:uFill>
                  <a:solidFill>
                    <a:srgbClr val="C00000"/>
                  </a:solidFill>
                </a:uFill>
                <a:latin typeface="Calibri"/>
                <a:cs typeface="Calibri"/>
              </a:rPr>
              <a:t> </a:t>
            </a:r>
            <a:r>
              <a:rPr sz="2400" b="1" u="sng" spc="-10" dirty="0">
                <a:solidFill>
                  <a:srgbClr val="C00000"/>
                </a:solidFill>
                <a:uFill>
                  <a:solidFill>
                    <a:srgbClr val="C00000"/>
                  </a:solidFill>
                </a:uFill>
                <a:latin typeface="Calibri"/>
                <a:cs typeface="Calibri"/>
              </a:rPr>
              <a:t>performance?</a:t>
            </a:r>
            <a:r>
              <a:rPr sz="2400" b="1" spc="-10" dirty="0">
                <a:solidFill>
                  <a:srgbClr val="C00000"/>
                </a:solidFill>
                <a:latin typeface="Calibri"/>
                <a:cs typeface="Calibri"/>
              </a:rPr>
              <a:t> </a:t>
            </a:r>
            <a:r>
              <a:rPr sz="2400" b="1" u="sng" spc="-25" dirty="0">
                <a:solidFill>
                  <a:srgbClr val="00AF50"/>
                </a:solidFill>
                <a:uFill>
                  <a:solidFill>
                    <a:srgbClr val="00AF50"/>
                  </a:solidFill>
                </a:uFill>
                <a:latin typeface="Calibri"/>
                <a:cs typeface="Calibri"/>
              </a:rPr>
              <a:t>A:</a:t>
            </a:r>
            <a:endParaRPr sz="2400" dirty="0">
              <a:latin typeface="Calibri"/>
              <a:cs typeface="Calibri"/>
            </a:endParaRPr>
          </a:p>
          <a:p>
            <a:pPr>
              <a:spcBef>
                <a:spcPts val="1360"/>
              </a:spcBef>
            </a:pPr>
            <a:r>
              <a:rPr lang="en-US" sz="2400" dirty="0">
                <a:solidFill>
                  <a:srgbClr val="FF0000"/>
                </a:solidFill>
              </a:rPr>
              <a:t>But, how do the algorithm knew that the predictions are wrong?</a:t>
            </a:r>
          </a:p>
          <a:p>
            <a:pPr>
              <a:spcBef>
                <a:spcPts val="1360"/>
              </a:spcBef>
            </a:pPr>
            <a:r>
              <a:rPr lang="en-US" sz="2400" dirty="0"/>
              <a:t>Cost function/ loss function tell it</a:t>
            </a:r>
          </a:p>
          <a:p>
            <a:pPr>
              <a:spcBef>
                <a:spcPts val="1360"/>
              </a:spcBef>
            </a:pPr>
            <a:r>
              <a:rPr lang="en-US" sz="2400" b="1" u="sng" dirty="0">
                <a:solidFill>
                  <a:srgbClr val="006FC0"/>
                </a:solidFill>
                <a:uFill>
                  <a:solidFill>
                    <a:srgbClr val="006FC0"/>
                  </a:solidFill>
                </a:uFill>
                <a:latin typeface="Calibri"/>
                <a:cs typeface="Calibri"/>
              </a:rPr>
              <a:t>Loss</a:t>
            </a:r>
            <a:r>
              <a:rPr lang="en-US" sz="2400" b="1" u="sng" spc="-10" dirty="0">
                <a:solidFill>
                  <a:srgbClr val="006FC0"/>
                </a:solidFill>
                <a:uFill>
                  <a:solidFill>
                    <a:srgbClr val="006FC0"/>
                  </a:solidFill>
                </a:uFill>
                <a:latin typeface="Calibri"/>
                <a:cs typeface="Calibri"/>
              </a:rPr>
              <a:t> Function</a:t>
            </a:r>
            <a:endParaRPr lang="en-US" sz="2400" dirty="0">
              <a:latin typeface="Calibri"/>
              <a:cs typeface="Calibri"/>
            </a:endParaRPr>
          </a:p>
          <a:p>
            <a:pPr>
              <a:spcBef>
                <a:spcPts val="1360"/>
              </a:spcBef>
            </a:pPr>
            <a:endParaRPr lang="en-US" sz="2400" dirty="0">
              <a:solidFill>
                <a:srgbClr val="FF0000"/>
              </a:solidFill>
            </a:endParaRPr>
          </a:p>
          <a:p>
            <a:pPr>
              <a:lnSpc>
                <a:spcPct val="100000"/>
              </a:lnSpc>
              <a:spcBef>
                <a:spcPts val="1360"/>
              </a:spcBef>
            </a:pPr>
            <a:endParaRPr lang="en-US" sz="2400" dirty="0">
              <a:latin typeface="Calibri"/>
              <a:cs typeface="Calibri"/>
            </a:endParaRPr>
          </a:p>
          <a:p>
            <a:pPr>
              <a:lnSpc>
                <a:spcPct val="100000"/>
              </a:lnSpc>
              <a:spcBef>
                <a:spcPts val="1360"/>
              </a:spcBef>
            </a:pPr>
            <a:endParaRPr sz="2400" dirty="0">
              <a:latin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8F9AC-1FB1-4D3D-6ABB-BF590F745918}"/>
              </a:ext>
            </a:extLst>
          </p:cNvPr>
          <p:cNvSpPr>
            <a:spLocks noGrp="1"/>
          </p:cNvSpPr>
          <p:nvPr>
            <p:ph type="title"/>
          </p:nvPr>
        </p:nvSpPr>
        <p:spPr/>
        <p:txBody>
          <a:bodyPr/>
          <a:lstStyle/>
          <a:p>
            <a:r>
              <a:rPr lang="en-US" dirty="0"/>
              <a:t>Loss Function</a:t>
            </a:r>
          </a:p>
        </p:txBody>
      </p:sp>
      <p:sp>
        <p:nvSpPr>
          <p:cNvPr id="3" name="Content Placeholder 2">
            <a:extLst>
              <a:ext uri="{FF2B5EF4-FFF2-40B4-BE49-F238E27FC236}">
                <a16:creationId xmlns:a16="http://schemas.microsoft.com/office/drawing/2014/main" id="{906AA3FB-E962-3827-5D93-6CEAFE4BA725}"/>
              </a:ext>
            </a:extLst>
          </p:cNvPr>
          <p:cNvSpPr>
            <a:spLocks noGrp="1"/>
          </p:cNvSpPr>
          <p:nvPr>
            <p:ph idx="1"/>
          </p:nvPr>
        </p:nvSpPr>
        <p:spPr/>
        <p:txBody>
          <a:bodyPr/>
          <a:lstStyle/>
          <a:p>
            <a:pPr algn="l"/>
            <a:r>
              <a:rPr lang="en-US" b="0" i="0" dirty="0">
                <a:effectLst/>
                <a:latin typeface="-apple-system"/>
              </a:rPr>
              <a:t>Loss functions are used to quantify how well or bad a model can reproduce the values of the training set.</a:t>
            </a:r>
          </a:p>
          <a:p>
            <a:pPr algn="l"/>
            <a:r>
              <a:rPr lang="en-US" b="0" i="0" dirty="0">
                <a:effectLst/>
                <a:latin typeface="-apple-system"/>
              </a:rPr>
              <a:t>The appropriate loss function depends on the type of problems and the algorithm we use.</a:t>
            </a:r>
          </a:p>
          <a:p>
            <a:pPr algn="l"/>
            <a:r>
              <a:rPr lang="en-US" b="0" i="0" dirty="0">
                <a:effectLst/>
                <a:latin typeface="-apple-system"/>
              </a:rPr>
              <a:t>Let's denote with y^ the prediction of the model and y the true value.</a:t>
            </a:r>
          </a:p>
          <a:p>
            <a:endParaRPr lang="en-US" dirty="0"/>
          </a:p>
        </p:txBody>
      </p:sp>
    </p:spTree>
    <p:extLst>
      <p:ext uri="{BB962C8B-B14F-4D97-AF65-F5344CB8AC3E}">
        <p14:creationId xmlns:p14="http://schemas.microsoft.com/office/powerpoint/2010/main" val="26820717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5A8AD-54BC-CE9F-7C7A-904F9FA0FB5C}"/>
              </a:ext>
            </a:extLst>
          </p:cNvPr>
          <p:cNvSpPr>
            <a:spLocks noGrp="1"/>
          </p:cNvSpPr>
          <p:nvPr>
            <p:ph type="title"/>
          </p:nvPr>
        </p:nvSpPr>
        <p:spPr/>
        <p:txBody>
          <a:bodyPr/>
          <a:lstStyle/>
          <a:p>
            <a:r>
              <a:rPr lang="en-US" dirty="0"/>
              <a:t>Types of Loss function</a:t>
            </a:r>
          </a:p>
        </p:txBody>
      </p:sp>
      <p:sp>
        <p:nvSpPr>
          <p:cNvPr id="3" name="Content Placeholder 2">
            <a:extLst>
              <a:ext uri="{FF2B5EF4-FFF2-40B4-BE49-F238E27FC236}">
                <a16:creationId xmlns:a16="http://schemas.microsoft.com/office/drawing/2014/main" id="{8F152B09-0361-C9DA-5127-8A6CB4A9957F}"/>
              </a:ext>
            </a:extLst>
          </p:cNvPr>
          <p:cNvSpPr>
            <a:spLocks noGrp="1"/>
          </p:cNvSpPr>
          <p:nvPr>
            <p:ph idx="1"/>
          </p:nvPr>
        </p:nvSpPr>
        <p:spPr/>
        <p:txBody>
          <a:bodyPr/>
          <a:lstStyle/>
          <a:p>
            <a:pPr>
              <a:buFont typeface="Wingdings" panose="05000000000000000000" pitchFamily="2" charset="2"/>
              <a:buChar char="§"/>
            </a:pPr>
            <a:r>
              <a:rPr lang="en-US" dirty="0"/>
              <a:t> </a:t>
            </a:r>
            <a:r>
              <a:rPr lang="en-US" b="0" i="0" dirty="0">
                <a:solidFill>
                  <a:srgbClr val="2B2A29"/>
                </a:solidFill>
                <a:effectLst/>
              </a:rPr>
              <a:t>Cost functions can be of various types depending on the problem. However, mainly it is of three types, which are as follows:</a:t>
            </a:r>
          </a:p>
          <a:p>
            <a:pPr lvl="1" algn="just">
              <a:buFont typeface="+mj-lt"/>
              <a:buAutoNum type="arabicPeriod"/>
            </a:pPr>
            <a:r>
              <a:rPr lang="en-US" sz="2000" b="0" i="0" dirty="0">
                <a:solidFill>
                  <a:srgbClr val="2B2A29"/>
                </a:solidFill>
                <a:effectLst/>
                <a:latin typeface="Montserrat" panose="02000505000000020004" pitchFamily="2" charset="0"/>
              </a:rPr>
              <a:t>Regression Cost Function</a:t>
            </a:r>
          </a:p>
          <a:p>
            <a:pPr lvl="1" algn="just">
              <a:buFont typeface="+mj-lt"/>
              <a:buAutoNum type="arabicPeriod"/>
            </a:pPr>
            <a:r>
              <a:rPr lang="en-US" sz="2000" b="0" i="0" dirty="0">
                <a:solidFill>
                  <a:srgbClr val="2B2A29"/>
                </a:solidFill>
                <a:effectLst/>
                <a:latin typeface="Montserrat" panose="02000505000000020004" pitchFamily="2" charset="0"/>
              </a:rPr>
              <a:t>Binary Classification cost Functions</a:t>
            </a:r>
          </a:p>
          <a:p>
            <a:pPr lvl="1" algn="just">
              <a:buFont typeface="+mj-lt"/>
              <a:buAutoNum type="arabicPeriod"/>
            </a:pPr>
            <a:r>
              <a:rPr lang="en-US" sz="2000" b="0" i="0" dirty="0">
                <a:solidFill>
                  <a:srgbClr val="2B2A29"/>
                </a:solidFill>
                <a:effectLst/>
                <a:latin typeface="Montserrat" panose="02000505000000020004" pitchFamily="2" charset="0"/>
              </a:rPr>
              <a:t>Multi-class Classification Cost Function.</a:t>
            </a:r>
          </a:p>
          <a:p>
            <a:pPr marL="0" indent="0">
              <a:buNone/>
            </a:pPr>
            <a:endParaRPr lang="en-US" dirty="0"/>
          </a:p>
        </p:txBody>
      </p:sp>
    </p:spTree>
    <p:extLst>
      <p:ext uri="{BB962C8B-B14F-4D97-AF65-F5344CB8AC3E}">
        <p14:creationId xmlns:p14="http://schemas.microsoft.com/office/powerpoint/2010/main" val="3465098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40FA3-1864-68D1-ECFE-FBE4299DA6B4}"/>
              </a:ext>
            </a:extLst>
          </p:cNvPr>
          <p:cNvSpPr>
            <a:spLocks noGrp="1"/>
          </p:cNvSpPr>
          <p:nvPr>
            <p:ph type="title"/>
          </p:nvPr>
        </p:nvSpPr>
        <p:spPr/>
        <p:txBody>
          <a:bodyPr/>
          <a:lstStyle/>
          <a:p>
            <a:r>
              <a:rPr lang="en-US" b="0" i="0" dirty="0">
                <a:solidFill>
                  <a:srgbClr val="1D1D27"/>
                </a:solidFill>
                <a:effectLst/>
                <a:latin typeface="Montserrat" panose="02000505000000020004" pitchFamily="2" charset="0"/>
              </a:rPr>
              <a:t>1. </a:t>
            </a:r>
            <a:r>
              <a:rPr lang="en-US" sz="3200" b="0" i="0" dirty="0">
                <a:solidFill>
                  <a:srgbClr val="1D1D27"/>
                </a:solidFill>
                <a:effectLst/>
                <a:latin typeface="Montserrat" panose="02000505000000020004" pitchFamily="2" charset="0"/>
              </a:rPr>
              <a:t>Regression Cost Function</a:t>
            </a:r>
            <a:br>
              <a:rPr lang="en-US" b="0" i="0" dirty="0">
                <a:solidFill>
                  <a:srgbClr val="1D1D27"/>
                </a:solidFill>
                <a:effectLst/>
                <a:latin typeface="Montserrat" panose="02000505000000020004" pitchFamily="2" charset="0"/>
              </a:rPr>
            </a:br>
            <a:endParaRPr lang="en-US" dirty="0"/>
          </a:p>
        </p:txBody>
      </p:sp>
      <p:sp>
        <p:nvSpPr>
          <p:cNvPr id="3" name="Content Placeholder 2">
            <a:extLst>
              <a:ext uri="{FF2B5EF4-FFF2-40B4-BE49-F238E27FC236}">
                <a16:creationId xmlns:a16="http://schemas.microsoft.com/office/drawing/2014/main" id="{550D8FE5-08A6-6BAB-8AA8-F35DD3118425}"/>
              </a:ext>
            </a:extLst>
          </p:cNvPr>
          <p:cNvSpPr>
            <a:spLocks noGrp="1"/>
          </p:cNvSpPr>
          <p:nvPr>
            <p:ph idx="1"/>
          </p:nvPr>
        </p:nvSpPr>
        <p:spPr/>
        <p:txBody>
          <a:bodyPr>
            <a:normAutofit/>
          </a:bodyPr>
          <a:lstStyle/>
          <a:p>
            <a:r>
              <a:rPr lang="en-US" sz="2000" b="0" i="0" dirty="0">
                <a:solidFill>
                  <a:srgbClr val="2B2A29"/>
                </a:solidFill>
                <a:effectLst/>
                <a:latin typeface="Montserrat" panose="02000505000000020004" pitchFamily="2" charset="0"/>
              </a:rPr>
              <a:t>Regression models are used to make a prediction for the continuous variables such as </a:t>
            </a:r>
            <a:r>
              <a:rPr lang="en-US" sz="2000" b="0" i="0" dirty="0">
                <a:solidFill>
                  <a:srgbClr val="FF0000"/>
                </a:solidFill>
                <a:effectLst/>
                <a:latin typeface="Montserrat" panose="02000505000000020004" pitchFamily="2" charset="0"/>
              </a:rPr>
              <a:t>the price of houses, weather prediction, loan predictions</a:t>
            </a:r>
            <a:r>
              <a:rPr lang="en-US" sz="2000" b="0" i="0" dirty="0">
                <a:solidFill>
                  <a:srgbClr val="2B2A29"/>
                </a:solidFill>
                <a:effectLst/>
                <a:latin typeface="Montserrat" panose="02000505000000020004" pitchFamily="2" charset="0"/>
              </a:rPr>
              <a:t>, etc. When a cost function is used with Regression, it is known as the "Regression Cost Function." In this, the cost function is calculated as the error based on the distance, such as:</a:t>
            </a:r>
          </a:p>
          <a:p>
            <a:pPr marL="0" indent="0">
              <a:buNone/>
            </a:pPr>
            <a:r>
              <a:rPr lang="en-US" sz="1600" b="0" i="0" dirty="0">
                <a:solidFill>
                  <a:srgbClr val="2B2A29"/>
                </a:solidFill>
                <a:effectLst/>
                <a:highlight>
                  <a:srgbClr val="FFFF00"/>
                </a:highlight>
                <a:latin typeface="Montserrat" panose="02000505000000020004" pitchFamily="2" charset="0"/>
              </a:rPr>
              <a:t>                                                                      Error= </a:t>
            </a:r>
            <a:r>
              <a:rPr lang="en-US" sz="1600" b="0" i="0" dirty="0">
                <a:solidFill>
                  <a:srgbClr val="0000FF"/>
                </a:solidFill>
                <a:effectLst/>
                <a:highlight>
                  <a:srgbClr val="FFFF00"/>
                </a:highlight>
                <a:latin typeface="Montserrat" panose="02000505000000020004" pitchFamily="2" charset="0"/>
              </a:rPr>
              <a:t>Actual</a:t>
            </a:r>
            <a:r>
              <a:rPr lang="en-US" sz="1600" b="0" i="0" dirty="0">
                <a:solidFill>
                  <a:srgbClr val="2B2A29"/>
                </a:solidFill>
                <a:effectLst/>
                <a:highlight>
                  <a:srgbClr val="FFFF00"/>
                </a:highlight>
                <a:latin typeface="Montserrat" panose="02000505000000020004" pitchFamily="2" charset="0"/>
              </a:rPr>
              <a:t> Output-Predicted output                    </a:t>
            </a:r>
          </a:p>
          <a:p>
            <a:pPr marL="0" indent="0">
              <a:buNone/>
            </a:pPr>
            <a:endParaRPr lang="en-US" sz="2400" dirty="0"/>
          </a:p>
        </p:txBody>
      </p:sp>
    </p:spTree>
    <p:extLst>
      <p:ext uri="{BB962C8B-B14F-4D97-AF65-F5344CB8AC3E}">
        <p14:creationId xmlns:p14="http://schemas.microsoft.com/office/powerpoint/2010/main" val="7875034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6863" y="33047"/>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
        <p:nvSpPr>
          <p:cNvPr id="3" name="object 3"/>
          <p:cNvSpPr txBox="1"/>
          <p:nvPr/>
        </p:nvSpPr>
        <p:spPr>
          <a:xfrm>
            <a:off x="328422" y="1072388"/>
            <a:ext cx="9378950" cy="908050"/>
          </a:xfrm>
          <a:prstGeom prst="rect">
            <a:avLst/>
          </a:prstGeom>
        </p:spPr>
        <p:txBody>
          <a:bodyPr vert="horz" wrap="square" lIns="0" tIns="12700" rIns="0" bIns="0" rtlCol="0">
            <a:spAutoFit/>
          </a:bodyPr>
          <a:lstStyle/>
          <a:p>
            <a:pPr marL="12700">
              <a:lnSpc>
                <a:spcPct val="100000"/>
              </a:lnSpc>
              <a:spcBef>
                <a:spcPts val="100"/>
              </a:spcBef>
            </a:pPr>
            <a:r>
              <a:rPr sz="2400" b="1" u="sng" dirty="0">
                <a:solidFill>
                  <a:srgbClr val="006FC0"/>
                </a:solidFill>
                <a:uFill>
                  <a:solidFill>
                    <a:srgbClr val="006FC0"/>
                  </a:solidFill>
                </a:uFill>
                <a:latin typeface="Calibri"/>
                <a:cs typeface="Calibri"/>
              </a:rPr>
              <a:t>Squared</a:t>
            </a:r>
            <a:r>
              <a:rPr sz="2400" b="1" u="sng" spc="-70" dirty="0">
                <a:solidFill>
                  <a:srgbClr val="006FC0"/>
                </a:solidFill>
                <a:uFill>
                  <a:solidFill>
                    <a:srgbClr val="006FC0"/>
                  </a:solidFill>
                </a:uFill>
                <a:latin typeface="Calibri"/>
                <a:cs typeface="Calibri"/>
              </a:rPr>
              <a:t> </a:t>
            </a:r>
            <a:r>
              <a:rPr sz="2400" b="1" u="sng" dirty="0">
                <a:solidFill>
                  <a:srgbClr val="006FC0"/>
                </a:solidFill>
                <a:uFill>
                  <a:solidFill>
                    <a:srgbClr val="006FC0"/>
                  </a:solidFill>
                </a:uFill>
                <a:latin typeface="Calibri"/>
                <a:cs typeface="Calibri"/>
              </a:rPr>
              <a:t>Loss</a:t>
            </a:r>
            <a:r>
              <a:rPr sz="2400" b="1" u="sng" spc="-65" dirty="0">
                <a:solidFill>
                  <a:srgbClr val="006FC0"/>
                </a:solidFill>
                <a:uFill>
                  <a:solidFill>
                    <a:srgbClr val="006FC0"/>
                  </a:solidFill>
                </a:uFill>
                <a:latin typeface="Calibri"/>
                <a:cs typeface="Calibri"/>
              </a:rPr>
              <a:t> </a:t>
            </a:r>
            <a:r>
              <a:rPr sz="2400" b="1" u="sng" spc="-10" dirty="0">
                <a:solidFill>
                  <a:srgbClr val="006FC0"/>
                </a:solidFill>
                <a:uFill>
                  <a:solidFill>
                    <a:srgbClr val="006FC0"/>
                  </a:solidFill>
                </a:uFill>
                <a:latin typeface="Calibri"/>
                <a:cs typeface="Calibri"/>
              </a:rPr>
              <a:t>Function:</a:t>
            </a:r>
            <a:endParaRPr sz="2400">
              <a:latin typeface="Calibri"/>
              <a:cs typeface="Calibri"/>
            </a:endParaRPr>
          </a:p>
          <a:p>
            <a:pPr marL="65405">
              <a:lnSpc>
                <a:spcPct val="100000"/>
              </a:lnSpc>
              <a:spcBef>
                <a:spcPts val="1664"/>
              </a:spcBef>
            </a:pPr>
            <a:r>
              <a:rPr sz="2000" dirty="0">
                <a:latin typeface="Segoe Print"/>
                <a:cs typeface="Segoe Print"/>
              </a:rPr>
              <a:t>Squared</a:t>
            </a:r>
            <a:r>
              <a:rPr sz="2000" spc="-35" dirty="0">
                <a:latin typeface="Segoe Print"/>
                <a:cs typeface="Segoe Print"/>
              </a:rPr>
              <a:t> </a:t>
            </a:r>
            <a:r>
              <a:rPr sz="2000" dirty="0">
                <a:latin typeface="Segoe Print"/>
                <a:cs typeface="Segoe Print"/>
              </a:rPr>
              <a:t>loss</a:t>
            </a:r>
            <a:r>
              <a:rPr sz="2000" spc="-35" dirty="0">
                <a:latin typeface="Segoe Print"/>
                <a:cs typeface="Segoe Print"/>
              </a:rPr>
              <a:t> </a:t>
            </a:r>
            <a:r>
              <a:rPr sz="2000" dirty="0">
                <a:latin typeface="Segoe Print"/>
                <a:cs typeface="Segoe Print"/>
              </a:rPr>
              <a:t>is</a:t>
            </a:r>
            <a:r>
              <a:rPr sz="2000" spc="-45" dirty="0">
                <a:latin typeface="Segoe Print"/>
                <a:cs typeface="Segoe Print"/>
              </a:rPr>
              <a:t> </a:t>
            </a:r>
            <a:r>
              <a:rPr sz="2000" dirty="0">
                <a:latin typeface="Segoe Print"/>
                <a:cs typeface="Segoe Print"/>
              </a:rPr>
              <a:t>defined</a:t>
            </a:r>
            <a:r>
              <a:rPr sz="2000" spc="-40" dirty="0">
                <a:latin typeface="Segoe Print"/>
                <a:cs typeface="Segoe Print"/>
              </a:rPr>
              <a:t> </a:t>
            </a:r>
            <a:r>
              <a:rPr sz="2000" dirty="0">
                <a:latin typeface="Segoe Print"/>
                <a:cs typeface="Segoe Print"/>
              </a:rPr>
              <a:t>as</a:t>
            </a:r>
            <a:r>
              <a:rPr sz="2000" spc="-40" dirty="0">
                <a:latin typeface="Segoe Print"/>
                <a:cs typeface="Segoe Print"/>
              </a:rPr>
              <a:t> </a:t>
            </a:r>
            <a:r>
              <a:rPr sz="2000" dirty="0">
                <a:latin typeface="Segoe Print"/>
                <a:cs typeface="Segoe Print"/>
              </a:rPr>
              <a:t>(also</a:t>
            </a:r>
            <a:r>
              <a:rPr sz="2000" spc="-45" dirty="0">
                <a:latin typeface="Segoe Print"/>
                <a:cs typeface="Segoe Print"/>
              </a:rPr>
              <a:t> </a:t>
            </a:r>
            <a:r>
              <a:rPr sz="2000" dirty="0">
                <a:latin typeface="Segoe Print"/>
                <a:cs typeface="Segoe Print"/>
              </a:rPr>
              <a:t>referred</a:t>
            </a:r>
            <a:r>
              <a:rPr sz="2000" spc="-55" dirty="0">
                <a:latin typeface="Segoe Print"/>
                <a:cs typeface="Segoe Print"/>
              </a:rPr>
              <a:t> </a:t>
            </a:r>
            <a:r>
              <a:rPr sz="2000" dirty="0">
                <a:latin typeface="Segoe Print"/>
                <a:cs typeface="Segoe Print"/>
              </a:rPr>
              <a:t>to</a:t>
            </a:r>
            <a:r>
              <a:rPr sz="2000" spc="-45" dirty="0">
                <a:latin typeface="Segoe Print"/>
                <a:cs typeface="Segoe Print"/>
              </a:rPr>
              <a:t> </a:t>
            </a:r>
            <a:r>
              <a:rPr sz="2000" dirty="0">
                <a:latin typeface="Segoe Print"/>
                <a:cs typeface="Segoe Print"/>
              </a:rPr>
              <a:t>as</a:t>
            </a:r>
            <a:r>
              <a:rPr sz="2000" spc="-25" dirty="0">
                <a:latin typeface="Segoe Print"/>
                <a:cs typeface="Segoe Print"/>
              </a:rPr>
              <a:t> </a:t>
            </a:r>
            <a:r>
              <a:rPr sz="2000" b="1" spc="-20" dirty="0">
                <a:latin typeface="Segoe Print"/>
                <a:cs typeface="Segoe Print"/>
              </a:rPr>
              <a:t>mean-</a:t>
            </a:r>
            <a:r>
              <a:rPr sz="2000" b="1" dirty="0">
                <a:latin typeface="Segoe Print"/>
                <a:cs typeface="Segoe Print"/>
              </a:rPr>
              <a:t>square</a:t>
            </a:r>
            <a:r>
              <a:rPr sz="2000" b="1" spc="-30" dirty="0">
                <a:latin typeface="Segoe Print"/>
                <a:cs typeface="Segoe Print"/>
              </a:rPr>
              <a:t> </a:t>
            </a:r>
            <a:r>
              <a:rPr sz="2000" b="1" dirty="0">
                <a:latin typeface="Segoe Print"/>
                <a:cs typeface="Segoe Print"/>
              </a:rPr>
              <a:t>error,</a:t>
            </a:r>
            <a:r>
              <a:rPr sz="2000" b="1" spc="-50" dirty="0">
                <a:latin typeface="Segoe Print"/>
                <a:cs typeface="Segoe Print"/>
              </a:rPr>
              <a:t> </a:t>
            </a:r>
            <a:r>
              <a:rPr sz="2000" b="1" dirty="0">
                <a:latin typeface="Segoe Print"/>
                <a:cs typeface="Segoe Print"/>
              </a:rPr>
              <a:t>MSE</a:t>
            </a:r>
            <a:r>
              <a:rPr sz="2000" b="1" spc="-45" dirty="0">
                <a:latin typeface="Segoe Print"/>
                <a:cs typeface="Segoe Print"/>
              </a:rPr>
              <a:t> </a:t>
            </a:r>
            <a:r>
              <a:rPr sz="2000" spc="-50" dirty="0">
                <a:latin typeface="Segoe Print"/>
                <a:cs typeface="Segoe Print"/>
              </a:rPr>
              <a:t>)</a:t>
            </a:r>
            <a:endParaRPr sz="2000">
              <a:latin typeface="Segoe Print"/>
              <a:cs typeface="Segoe Print"/>
            </a:endParaRPr>
          </a:p>
        </p:txBody>
      </p:sp>
      <p:pic>
        <p:nvPicPr>
          <p:cNvPr id="4" name="object 4"/>
          <p:cNvPicPr/>
          <p:nvPr/>
        </p:nvPicPr>
        <p:blipFill>
          <a:blip r:embed="rId2" cstate="print"/>
          <a:stretch>
            <a:fillRect/>
          </a:stretch>
        </p:blipFill>
        <p:spPr>
          <a:xfrm>
            <a:off x="3328415" y="2169414"/>
            <a:ext cx="3742943" cy="832103"/>
          </a:xfrm>
          <a:prstGeom prst="rect">
            <a:avLst/>
          </a:prstGeom>
        </p:spPr>
      </p:pic>
      <p:pic>
        <p:nvPicPr>
          <p:cNvPr id="5" name="object 5"/>
          <p:cNvPicPr/>
          <p:nvPr/>
        </p:nvPicPr>
        <p:blipFill>
          <a:blip r:embed="rId3" cstate="print"/>
          <a:stretch>
            <a:fillRect/>
          </a:stretch>
        </p:blipFill>
        <p:spPr>
          <a:xfrm>
            <a:off x="7071359" y="5081015"/>
            <a:ext cx="4261104" cy="1093470"/>
          </a:xfrm>
          <a:prstGeom prst="rect">
            <a:avLst/>
          </a:prstGeom>
        </p:spPr>
      </p:pic>
      <p:sp>
        <p:nvSpPr>
          <p:cNvPr id="6" name="object 6"/>
          <p:cNvSpPr txBox="1"/>
          <p:nvPr/>
        </p:nvSpPr>
        <p:spPr>
          <a:xfrm>
            <a:off x="328422" y="2916580"/>
            <a:ext cx="9937750" cy="2809875"/>
          </a:xfrm>
          <a:prstGeom prst="rect">
            <a:avLst/>
          </a:prstGeom>
        </p:spPr>
        <p:txBody>
          <a:bodyPr vert="horz" wrap="square" lIns="0" tIns="121285" rIns="0" bIns="0" rtlCol="0">
            <a:spAutoFit/>
          </a:bodyPr>
          <a:lstStyle/>
          <a:p>
            <a:pPr marL="12700">
              <a:lnSpc>
                <a:spcPct val="100000"/>
              </a:lnSpc>
              <a:spcBef>
                <a:spcPts val="955"/>
              </a:spcBef>
            </a:pPr>
            <a:r>
              <a:rPr sz="2400" b="1" u="sng" spc="-10" dirty="0">
                <a:solidFill>
                  <a:srgbClr val="006FC0"/>
                </a:solidFill>
                <a:uFill>
                  <a:solidFill>
                    <a:srgbClr val="006FC0"/>
                  </a:solidFill>
                </a:uFill>
                <a:latin typeface="Calibri"/>
                <a:cs typeface="Calibri"/>
              </a:rPr>
              <a:t>Interpretation:</a:t>
            </a:r>
            <a:endParaRPr sz="2400">
              <a:latin typeface="Calibri"/>
              <a:cs typeface="Calibri"/>
            </a:endParaRPr>
          </a:p>
          <a:p>
            <a:pPr marL="549910" indent="-342900">
              <a:lnSpc>
                <a:spcPct val="100000"/>
              </a:lnSpc>
              <a:spcBef>
                <a:spcPts val="715"/>
              </a:spcBef>
              <a:buChar char="-"/>
              <a:tabLst>
                <a:tab pos="549910" algn="l"/>
              </a:tabLst>
            </a:pPr>
            <a:r>
              <a:rPr sz="2000" dirty="0">
                <a:latin typeface="Segoe Print"/>
                <a:cs typeface="Segoe Print"/>
              </a:rPr>
              <a:t>Again</a:t>
            </a:r>
            <a:r>
              <a:rPr sz="2000" spc="-20" dirty="0">
                <a:latin typeface="Segoe Print"/>
                <a:cs typeface="Segoe Print"/>
              </a:rPr>
              <a:t> </a:t>
            </a:r>
            <a:r>
              <a:rPr sz="2000" dirty="0">
                <a:latin typeface="Segoe Print"/>
                <a:cs typeface="Segoe Print"/>
              </a:rPr>
              <a:t>note</a:t>
            </a:r>
            <a:r>
              <a:rPr sz="2000" spc="-25" dirty="0">
                <a:latin typeface="Segoe Print"/>
                <a:cs typeface="Segoe Print"/>
              </a:rPr>
              <a:t> </a:t>
            </a:r>
            <a:r>
              <a:rPr sz="2000" dirty="0">
                <a:latin typeface="Segoe Print"/>
                <a:cs typeface="Segoe Print"/>
              </a:rPr>
              <a:t>normalization</a:t>
            </a:r>
            <a:r>
              <a:rPr sz="2000" spc="-35" dirty="0">
                <a:latin typeface="Segoe Print"/>
                <a:cs typeface="Segoe Print"/>
              </a:rPr>
              <a:t> </a:t>
            </a:r>
            <a:r>
              <a:rPr sz="2000" dirty="0">
                <a:latin typeface="Segoe Print"/>
                <a:cs typeface="Segoe Print"/>
              </a:rPr>
              <a:t>by</a:t>
            </a:r>
            <a:r>
              <a:rPr sz="2000" spc="-15" dirty="0">
                <a:latin typeface="Segoe Print"/>
                <a:cs typeface="Segoe Print"/>
              </a:rPr>
              <a:t> </a:t>
            </a:r>
            <a:r>
              <a:rPr sz="2000" dirty="0">
                <a:latin typeface="Segoe Print"/>
                <a:cs typeface="Segoe Print"/>
              </a:rPr>
              <a:t>the</a:t>
            </a:r>
            <a:r>
              <a:rPr sz="2000" spc="-20" dirty="0">
                <a:latin typeface="Segoe Print"/>
                <a:cs typeface="Segoe Print"/>
              </a:rPr>
              <a:t> </a:t>
            </a:r>
            <a:r>
              <a:rPr sz="2000" dirty="0">
                <a:latin typeface="Segoe Print"/>
                <a:cs typeface="Segoe Print"/>
              </a:rPr>
              <a:t>number</a:t>
            </a:r>
            <a:r>
              <a:rPr sz="2000" spc="-25" dirty="0">
                <a:latin typeface="Segoe Print"/>
                <a:cs typeface="Segoe Print"/>
              </a:rPr>
              <a:t> </a:t>
            </a:r>
            <a:r>
              <a:rPr sz="2000" dirty="0">
                <a:latin typeface="Segoe Print"/>
                <a:cs typeface="Segoe Print"/>
              </a:rPr>
              <a:t>of</a:t>
            </a:r>
            <a:r>
              <a:rPr sz="2000" spc="-15" dirty="0">
                <a:latin typeface="Segoe Print"/>
                <a:cs typeface="Segoe Print"/>
              </a:rPr>
              <a:t> </a:t>
            </a:r>
            <a:r>
              <a:rPr sz="2000" spc="-10" dirty="0">
                <a:latin typeface="Segoe Print"/>
                <a:cs typeface="Segoe Print"/>
              </a:rPr>
              <a:t>samples.</a:t>
            </a:r>
            <a:endParaRPr sz="2000">
              <a:latin typeface="Segoe Print"/>
              <a:cs typeface="Segoe Print"/>
            </a:endParaRPr>
          </a:p>
          <a:p>
            <a:pPr marL="549910" indent="-342900">
              <a:lnSpc>
                <a:spcPct val="100000"/>
              </a:lnSpc>
              <a:spcBef>
                <a:spcPts val="1200"/>
              </a:spcBef>
              <a:buChar char="-"/>
              <a:tabLst>
                <a:tab pos="549910" algn="l"/>
              </a:tabLst>
            </a:pPr>
            <a:r>
              <a:rPr sz="2000" dirty="0">
                <a:latin typeface="Segoe Print"/>
                <a:cs typeface="Segoe Print"/>
              </a:rPr>
              <a:t>Loss</a:t>
            </a:r>
            <a:r>
              <a:rPr sz="2000" spc="-45" dirty="0">
                <a:latin typeface="Segoe Print"/>
                <a:cs typeface="Segoe Print"/>
              </a:rPr>
              <a:t> </a:t>
            </a:r>
            <a:r>
              <a:rPr sz="2000" dirty="0">
                <a:latin typeface="Segoe Print"/>
                <a:cs typeface="Segoe Print"/>
              </a:rPr>
              <a:t>is</a:t>
            </a:r>
            <a:r>
              <a:rPr sz="2000" spc="-45" dirty="0">
                <a:latin typeface="Segoe Print"/>
                <a:cs typeface="Segoe Print"/>
              </a:rPr>
              <a:t> </a:t>
            </a:r>
            <a:r>
              <a:rPr sz="2000" dirty="0">
                <a:latin typeface="Segoe Print"/>
                <a:cs typeface="Segoe Print"/>
              </a:rPr>
              <a:t>always</a:t>
            </a:r>
            <a:r>
              <a:rPr sz="2000" spc="-5" dirty="0">
                <a:latin typeface="Segoe Print"/>
                <a:cs typeface="Segoe Print"/>
              </a:rPr>
              <a:t> </a:t>
            </a:r>
            <a:r>
              <a:rPr sz="2000" spc="-10" dirty="0">
                <a:latin typeface="Segoe Print"/>
                <a:cs typeface="Segoe Print"/>
              </a:rPr>
              <a:t>nonnegative.</a:t>
            </a:r>
            <a:endParaRPr sz="2000">
              <a:latin typeface="Segoe Print"/>
              <a:cs typeface="Segoe Print"/>
            </a:endParaRPr>
          </a:p>
          <a:p>
            <a:pPr marL="549910" indent="-342900">
              <a:lnSpc>
                <a:spcPct val="100000"/>
              </a:lnSpc>
              <a:spcBef>
                <a:spcPts val="1200"/>
              </a:spcBef>
              <a:buChar char="-"/>
              <a:tabLst>
                <a:tab pos="549910" algn="l"/>
              </a:tabLst>
            </a:pPr>
            <a:r>
              <a:rPr sz="2000" dirty="0">
                <a:latin typeface="Segoe Print"/>
                <a:cs typeface="Segoe Print"/>
              </a:rPr>
              <a:t>Loss</a:t>
            </a:r>
            <a:r>
              <a:rPr sz="2000" spc="-30" dirty="0">
                <a:latin typeface="Segoe Print"/>
                <a:cs typeface="Segoe Print"/>
              </a:rPr>
              <a:t> </a:t>
            </a:r>
            <a:r>
              <a:rPr sz="2000" dirty="0">
                <a:latin typeface="Segoe Print"/>
                <a:cs typeface="Segoe Print"/>
              </a:rPr>
              <a:t>grows</a:t>
            </a:r>
            <a:r>
              <a:rPr sz="2000" spc="-35" dirty="0">
                <a:latin typeface="Segoe Print"/>
                <a:cs typeface="Segoe Print"/>
              </a:rPr>
              <a:t> </a:t>
            </a:r>
            <a:r>
              <a:rPr sz="2000" dirty="0">
                <a:latin typeface="Segoe Print"/>
                <a:cs typeface="Segoe Print"/>
              </a:rPr>
              <a:t>quadratically</a:t>
            </a:r>
            <a:r>
              <a:rPr sz="2000" spc="-10" dirty="0">
                <a:latin typeface="Segoe Print"/>
                <a:cs typeface="Segoe Print"/>
              </a:rPr>
              <a:t> </a:t>
            </a:r>
            <a:r>
              <a:rPr sz="2000" dirty="0">
                <a:latin typeface="Segoe Print"/>
                <a:cs typeface="Segoe Print"/>
              </a:rPr>
              <a:t>with</a:t>
            </a:r>
            <a:r>
              <a:rPr sz="2000" spc="-45" dirty="0">
                <a:latin typeface="Segoe Print"/>
                <a:cs typeface="Segoe Print"/>
              </a:rPr>
              <a:t> </a:t>
            </a:r>
            <a:r>
              <a:rPr sz="2000" dirty="0">
                <a:latin typeface="Segoe Print"/>
                <a:cs typeface="Segoe Print"/>
              </a:rPr>
              <a:t>the</a:t>
            </a:r>
            <a:r>
              <a:rPr sz="2000" spc="-40" dirty="0">
                <a:latin typeface="Segoe Print"/>
                <a:cs typeface="Segoe Print"/>
              </a:rPr>
              <a:t> </a:t>
            </a:r>
            <a:r>
              <a:rPr sz="2000" dirty="0">
                <a:latin typeface="Segoe Print"/>
                <a:cs typeface="Segoe Print"/>
              </a:rPr>
              <a:t>absolute</a:t>
            </a:r>
            <a:r>
              <a:rPr sz="2000" spc="-15" dirty="0">
                <a:latin typeface="Segoe Print"/>
                <a:cs typeface="Segoe Print"/>
              </a:rPr>
              <a:t> </a:t>
            </a:r>
            <a:r>
              <a:rPr sz="2000" dirty="0">
                <a:latin typeface="Segoe Print"/>
                <a:cs typeface="Segoe Print"/>
              </a:rPr>
              <a:t>error</a:t>
            </a:r>
            <a:r>
              <a:rPr sz="2000" spc="-40" dirty="0">
                <a:latin typeface="Segoe Print"/>
                <a:cs typeface="Segoe Print"/>
              </a:rPr>
              <a:t> </a:t>
            </a:r>
            <a:r>
              <a:rPr sz="2000" dirty="0">
                <a:latin typeface="Segoe Print"/>
                <a:cs typeface="Segoe Print"/>
              </a:rPr>
              <a:t>amount</a:t>
            </a:r>
            <a:r>
              <a:rPr sz="2000" spc="-50" dirty="0">
                <a:latin typeface="Segoe Print"/>
                <a:cs typeface="Segoe Print"/>
              </a:rPr>
              <a:t> </a:t>
            </a:r>
            <a:r>
              <a:rPr sz="2000" dirty="0">
                <a:latin typeface="Segoe Print"/>
                <a:cs typeface="Segoe Print"/>
              </a:rPr>
              <a:t>in</a:t>
            </a:r>
            <a:r>
              <a:rPr sz="2000" spc="-40" dirty="0">
                <a:latin typeface="Segoe Print"/>
                <a:cs typeface="Segoe Print"/>
              </a:rPr>
              <a:t> </a:t>
            </a:r>
            <a:r>
              <a:rPr sz="2000" dirty="0">
                <a:latin typeface="Segoe Print"/>
                <a:cs typeface="Segoe Print"/>
              </a:rPr>
              <a:t>each</a:t>
            </a:r>
            <a:r>
              <a:rPr sz="2000" spc="-40" dirty="0">
                <a:latin typeface="Segoe Print"/>
                <a:cs typeface="Segoe Print"/>
              </a:rPr>
              <a:t> </a:t>
            </a:r>
            <a:r>
              <a:rPr sz="2000" spc="-10" dirty="0">
                <a:latin typeface="Segoe Print"/>
                <a:cs typeface="Segoe Print"/>
              </a:rPr>
              <a:t>sample.</a:t>
            </a:r>
            <a:endParaRPr sz="2000">
              <a:latin typeface="Segoe Print"/>
              <a:cs typeface="Segoe Print"/>
            </a:endParaRPr>
          </a:p>
          <a:p>
            <a:pPr marL="12700">
              <a:lnSpc>
                <a:spcPct val="100000"/>
              </a:lnSpc>
              <a:spcBef>
                <a:spcPts val="925"/>
              </a:spcBef>
            </a:pPr>
            <a:r>
              <a:rPr sz="2400" b="1" u="sng" dirty="0">
                <a:solidFill>
                  <a:srgbClr val="006FC0"/>
                </a:solidFill>
                <a:uFill>
                  <a:solidFill>
                    <a:srgbClr val="006FC0"/>
                  </a:solidFill>
                </a:uFill>
                <a:latin typeface="Calibri"/>
                <a:cs typeface="Calibri"/>
              </a:rPr>
              <a:t>Root</a:t>
            </a:r>
            <a:r>
              <a:rPr sz="2400" b="1" u="sng" spc="-80" dirty="0">
                <a:solidFill>
                  <a:srgbClr val="006FC0"/>
                </a:solidFill>
                <a:uFill>
                  <a:solidFill>
                    <a:srgbClr val="006FC0"/>
                  </a:solidFill>
                </a:uFill>
                <a:latin typeface="Calibri"/>
                <a:cs typeface="Calibri"/>
              </a:rPr>
              <a:t> </a:t>
            </a:r>
            <a:r>
              <a:rPr sz="2400" b="1" u="sng" dirty="0">
                <a:solidFill>
                  <a:srgbClr val="006FC0"/>
                </a:solidFill>
                <a:uFill>
                  <a:solidFill>
                    <a:srgbClr val="006FC0"/>
                  </a:solidFill>
                </a:uFill>
                <a:latin typeface="Calibri"/>
                <a:cs typeface="Calibri"/>
              </a:rPr>
              <a:t>Mean</a:t>
            </a:r>
            <a:r>
              <a:rPr sz="2400" b="1" u="sng" spc="-60" dirty="0">
                <a:solidFill>
                  <a:srgbClr val="006FC0"/>
                </a:solidFill>
                <a:uFill>
                  <a:solidFill>
                    <a:srgbClr val="006FC0"/>
                  </a:solidFill>
                </a:uFill>
                <a:latin typeface="Calibri"/>
                <a:cs typeface="Calibri"/>
              </a:rPr>
              <a:t> </a:t>
            </a:r>
            <a:r>
              <a:rPr sz="2400" b="1" u="sng" dirty="0">
                <a:solidFill>
                  <a:srgbClr val="006FC0"/>
                </a:solidFill>
                <a:uFill>
                  <a:solidFill>
                    <a:srgbClr val="006FC0"/>
                  </a:solidFill>
                </a:uFill>
                <a:latin typeface="Calibri"/>
                <a:cs typeface="Calibri"/>
              </a:rPr>
              <a:t>Squared</a:t>
            </a:r>
            <a:r>
              <a:rPr sz="2400" b="1" u="sng" spc="-70" dirty="0">
                <a:solidFill>
                  <a:srgbClr val="006FC0"/>
                </a:solidFill>
                <a:uFill>
                  <a:solidFill>
                    <a:srgbClr val="006FC0"/>
                  </a:solidFill>
                </a:uFill>
                <a:latin typeface="Calibri"/>
                <a:cs typeface="Calibri"/>
              </a:rPr>
              <a:t> </a:t>
            </a:r>
            <a:r>
              <a:rPr sz="2400" b="1" u="sng" dirty="0">
                <a:solidFill>
                  <a:srgbClr val="006FC0"/>
                </a:solidFill>
                <a:uFill>
                  <a:solidFill>
                    <a:srgbClr val="006FC0"/>
                  </a:solidFill>
                </a:uFill>
                <a:latin typeface="Calibri"/>
                <a:cs typeface="Calibri"/>
              </a:rPr>
              <a:t>Error</a:t>
            </a:r>
            <a:r>
              <a:rPr sz="2400" b="1" u="sng" spc="-80" dirty="0">
                <a:solidFill>
                  <a:srgbClr val="006FC0"/>
                </a:solidFill>
                <a:uFill>
                  <a:solidFill>
                    <a:srgbClr val="006FC0"/>
                  </a:solidFill>
                </a:uFill>
                <a:latin typeface="Calibri"/>
                <a:cs typeface="Calibri"/>
              </a:rPr>
              <a:t> </a:t>
            </a:r>
            <a:r>
              <a:rPr sz="2400" b="1" u="sng" spc="-10" dirty="0">
                <a:solidFill>
                  <a:srgbClr val="006FC0"/>
                </a:solidFill>
                <a:uFill>
                  <a:solidFill>
                    <a:srgbClr val="006FC0"/>
                  </a:solidFill>
                </a:uFill>
                <a:latin typeface="Calibri"/>
                <a:cs typeface="Calibri"/>
              </a:rPr>
              <a:t>(RMSE):</a:t>
            </a:r>
            <a:endParaRPr sz="2400">
              <a:latin typeface="Calibri"/>
              <a:cs typeface="Calibri"/>
            </a:endParaRPr>
          </a:p>
          <a:p>
            <a:pPr marL="65405">
              <a:lnSpc>
                <a:spcPct val="100000"/>
              </a:lnSpc>
              <a:spcBef>
                <a:spcPts val="1670"/>
              </a:spcBef>
              <a:tabLst>
                <a:tab pos="1878330" algn="l"/>
              </a:tabLst>
            </a:pPr>
            <a:r>
              <a:rPr sz="2000" dirty="0">
                <a:latin typeface="Segoe Print"/>
                <a:cs typeface="Segoe Print"/>
              </a:rPr>
              <a:t>RMSE</a:t>
            </a:r>
            <a:r>
              <a:rPr sz="2000" spc="-20" dirty="0">
                <a:latin typeface="Segoe Print"/>
                <a:cs typeface="Segoe Print"/>
              </a:rPr>
              <a:t> </a:t>
            </a:r>
            <a:r>
              <a:rPr sz="2000" dirty="0">
                <a:latin typeface="Segoe Print"/>
                <a:cs typeface="Segoe Print"/>
              </a:rPr>
              <a:t>is</a:t>
            </a:r>
            <a:r>
              <a:rPr sz="2000" spc="-15" dirty="0">
                <a:latin typeface="Segoe Print"/>
                <a:cs typeface="Segoe Print"/>
              </a:rPr>
              <a:t> </a:t>
            </a:r>
            <a:r>
              <a:rPr sz="2000" spc="-20" dirty="0">
                <a:latin typeface="Segoe Print"/>
                <a:cs typeface="Segoe Print"/>
              </a:rPr>
              <a:t>just</a:t>
            </a:r>
            <a:r>
              <a:rPr sz="2000" dirty="0">
                <a:latin typeface="Segoe Print"/>
                <a:cs typeface="Segoe Print"/>
              </a:rPr>
              <a:t>	square</a:t>
            </a:r>
            <a:r>
              <a:rPr sz="2000" spc="-20" dirty="0">
                <a:latin typeface="Segoe Print"/>
                <a:cs typeface="Segoe Print"/>
              </a:rPr>
              <a:t> </a:t>
            </a:r>
            <a:r>
              <a:rPr sz="2000" dirty="0">
                <a:latin typeface="Segoe Print"/>
                <a:cs typeface="Segoe Print"/>
              </a:rPr>
              <a:t>root</a:t>
            </a:r>
            <a:r>
              <a:rPr sz="2000" spc="-45" dirty="0">
                <a:latin typeface="Segoe Print"/>
                <a:cs typeface="Segoe Print"/>
              </a:rPr>
              <a:t> </a:t>
            </a:r>
            <a:r>
              <a:rPr sz="2000" dirty="0">
                <a:latin typeface="Segoe Print"/>
                <a:cs typeface="Segoe Print"/>
              </a:rPr>
              <a:t>of</a:t>
            </a:r>
            <a:r>
              <a:rPr sz="2000" spc="-30" dirty="0">
                <a:latin typeface="Segoe Print"/>
                <a:cs typeface="Segoe Print"/>
              </a:rPr>
              <a:t> </a:t>
            </a:r>
            <a:r>
              <a:rPr sz="2000" dirty="0">
                <a:latin typeface="Segoe Print"/>
                <a:cs typeface="Segoe Print"/>
              </a:rPr>
              <a:t>squared</a:t>
            </a:r>
            <a:r>
              <a:rPr sz="2000" spc="-15" dirty="0">
                <a:latin typeface="Segoe Print"/>
                <a:cs typeface="Segoe Print"/>
              </a:rPr>
              <a:t> </a:t>
            </a:r>
            <a:r>
              <a:rPr sz="2000" dirty="0">
                <a:latin typeface="Segoe Print"/>
                <a:cs typeface="Segoe Print"/>
              </a:rPr>
              <a:t>loss</a:t>
            </a:r>
            <a:r>
              <a:rPr sz="2000" spc="-20" dirty="0">
                <a:latin typeface="Segoe Print"/>
                <a:cs typeface="Segoe Print"/>
              </a:rPr>
              <a:t> </a:t>
            </a:r>
            <a:r>
              <a:rPr sz="2000" spc="-10" dirty="0">
                <a:latin typeface="Segoe Print"/>
                <a:cs typeface="Segoe Print"/>
              </a:rPr>
              <a:t>function:</a:t>
            </a:r>
            <a:endParaRPr sz="2000">
              <a:latin typeface="Segoe Print"/>
              <a:cs typeface="Segoe Prin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125540"/>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
        <p:nvSpPr>
          <p:cNvPr id="3" name="object 3"/>
          <p:cNvSpPr txBox="1"/>
          <p:nvPr/>
        </p:nvSpPr>
        <p:spPr>
          <a:xfrm>
            <a:off x="328422" y="1072388"/>
            <a:ext cx="3365500" cy="908050"/>
          </a:xfrm>
          <a:prstGeom prst="rect">
            <a:avLst/>
          </a:prstGeom>
        </p:spPr>
        <p:txBody>
          <a:bodyPr vert="horz" wrap="square" lIns="0" tIns="12700" rIns="0" bIns="0" rtlCol="0">
            <a:spAutoFit/>
          </a:bodyPr>
          <a:lstStyle/>
          <a:p>
            <a:pPr marL="12700">
              <a:lnSpc>
                <a:spcPct val="100000"/>
              </a:lnSpc>
              <a:spcBef>
                <a:spcPts val="100"/>
              </a:spcBef>
            </a:pPr>
            <a:r>
              <a:rPr sz="2400" b="1" u="sng" dirty="0">
                <a:solidFill>
                  <a:srgbClr val="006FC0"/>
                </a:solidFill>
                <a:uFill>
                  <a:solidFill>
                    <a:srgbClr val="006FC0"/>
                  </a:solidFill>
                </a:uFill>
                <a:latin typeface="Calibri"/>
                <a:cs typeface="Calibri"/>
              </a:rPr>
              <a:t>Absolute</a:t>
            </a:r>
            <a:r>
              <a:rPr sz="2400" b="1" u="sng" spc="-65" dirty="0">
                <a:solidFill>
                  <a:srgbClr val="006FC0"/>
                </a:solidFill>
                <a:uFill>
                  <a:solidFill>
                    <a:srgbClr val="006FC0"/>
                  </a:solidFill>
                </a:uFill>
                <a:latin typeface="Calibri"/>
                <a:cs typeface="Calibri"/>
              </a:rPr>
              <a:t> </a:t>
            </a:r>
            <a:r>
              <a:rPr sz="2400" b="1" u="sng" dirty="0">
                <a:solidFill>
                  <a:srgbClr val="006FC0"/>
                </a:solidFill>
                <a:uFill>
                  <a:solidFill>
                    <a:srgbClr val="006FC0"/>
                  </a:solidFill>
                </a:uFill>
                <a:latin typeface="Calibri"/>
                <a:cs typeface="Calibri"/>
              </a:rPr>
              <a:t>Loss</a:t>
            </a:r>
            <a:r>
              <a:rPr sz="2400" b="1" u="sng" spc="-60" dirty="0">
                <a:solidFill>
                  <a:srgbClr val="006FC0"/>
                </a:solidFill>
                <a:uFill>
                  <a:solidFill>
                    <a:srgbClr val="006FC0"/>
                  </a:solidFill>
                </a:uFill>
                <a:latin typeface="Calibri"/>
                <a:cs typeface="Calibri"/>
              </a:rPr>
              <a:t> </a:t>
            </a:r>
            <a:r>
              <a:rPr sz="2400" b="1" u="sng" spc="-10" dirty="0">
                <a:solidFill>
                  <a:srgbClr val="006FC0"/>
                </a:solidFill>
                <a:uFill>
                  <a:solidFill>
                    <a:srgbClr val="006FC0"/>
                  </a:solidFill>
                </a:uFill>
                <a:latin typeface="Calibri"/>
                <a:cs typeface="Calibri"/>
              </a:rPr>
              <a:t>Function:</a:t>
            </a:r>
            <a:endParaRPr sz="2400">
              <a:latin typeface="Calibri"/>
              <a:cs typeface="Calibri"/>
            </a:endParaRPr>
          </a:p>
          <a:p>
            <a:pPr marL="65405">
              <a:lnSpc>
                <a:spcPct val="100000"/>
              </a:lnSpc>
              <a:spcBef>
                <a:spcPts val="1664"/>
              </a:spcBef>
            </a:pPr>
            <a:r>
              <a:rPr sz="2000" dirty="0">
                <a:latin typeface="Segoe Print"/>
                <a:cs typeface="Segoe Print"/>
              </a:rPr>
              <a:t>Absolute</a:t>
            </a:r>
            <a:r>
              <a:rPr sz="2000" spc="-60" dirty="0">
                <a:latin typeface="Segoe Print"/>
                <a:cs typeface="Segoe Print"/>
              </a:rPr>
              <a:t> </a:t>
            </a:r>
            <a:r>
              <a:rPr sz="2000" dirty="0">
                <a:latin typeface="Segoe Print"/>
                <a:cs typeface="Segoe Print"/>
              </a:rPr>
              <a:t>loss</a:t>
            </a:r>
            <a:r>
              <a:rPr sz="2000" spc="-55" dirty="0">
                <a:latin typeface="Segoe Print"/>
                <a:cs typeface="Segoe Print"/>
              </a:rPr>
              <a:t> </a:t>
            </a:r>
            <a:r>
              <a:rPr sz="2000" dirty="0">
                <a:latin typeface="Segoe Print"/>
                <a:cs typeface="Segoe Print"/>
              </a:rPr>
              <a:t>is</a:t>
            </a:r>
            <a:r>
              <a:rPr sz="2000" spc="-65" dirty="0">
                <a:latin typeface="Segoe Print"/>
                <a:cs typeface="Segoe Print"/>
              </a:rPr>
              <a:t> </a:t>
            </a:r>
            <a:r>
              <a:rPr sz="2000" dirty="0">
                <a:latin typeface="Segoe Print"/>
                <a:cs typeface="Segoe Print"/>
              </a:rPr>
              <a:t>defined</a:t>
            </a:r>
            <a:r>
              <a:rPr sz="2000" spc="-55" dirty="0">
                <a:latin typeface="Segoe Print"/>
                <a:cs typeface="Segoe Print"/>
              </a:rPr>
              <a:t> </a:t>
            </a:r>
            <a:r>
              <a:rPr sz="2000" spc="-25" dirty="0">
                <a:latin typeface="Segoe Print"/>
                <a:cs typeface="Segoe Print"/>
              </a:rPr>
              <a:t>as</a:t>
            </a:r>
            <a:endParaRPr sz="2000">
              <a:latin typeface="Segoe Print"/>
              <a:cs typeface="Segoe Print"/>
            </a:endParaRPr>
          </a:p>
        </p:txBody>
      </p:sp>
      <p:pic>
        <p:nvPicPr>
          <p:cNvPr id="4" name="object 4"/>
          <p:cNvPicPr/>
          <p:nvPr/>
        </p:nvPicPr>
        <p:blipFill>
          <a:blip r:embed="rId2" cstate="print"/>
          <a:stretch>
            <a:fillRect/>
          </a:stretch>
        </p:blipFill>
        <p:spPr>
          <a:xfrm>
            <a:off x="3328415" y="2169414"/>
            <a:ext cx="3618738" cy="832103"/>
          </a:xfrm>
          <a:prstGeom prst="rect">
            <a:avLst/>
          </a:prstGeom>
        </p:spPr>
      </p:pic>
      <p:sp>
        <p:nvSpPr>
          <p:cNvPr id="5" name="object 5"/>
          <p:cNvSpPr txBox="1"/>
          <p:nvPr/>
        </p:nvSpPr>
        <p:spPr>
          <a:xfrm>
            <a:off x="328422" y="2916580"/>
            <a:ext cx="9389745" cy="1353185"/>
          </a:xfrm>
          <a:prstGeom prst="rect">
            <a:avLst/>
          </a:prstGeom>
        </p:spPr>
        <p:txBody>
          <a:bodyPr vert="horz" wrap="square" lIns="0" tIns="121285" rIns="0" bIns="0" rtlCol="0">
            <a:spAutoFit/>
          </a:bodyPr>
          <a:lstStyle/>
          <a:p>
            <a:pPr marL="12700">
              <a:lnSpc>
                <a:spcPct val="100000"/>
              </a:lnSpc>
              <a:spcBef>
                <a:spcPts val="955"/>
              </a:spcBef>
            </a:pPr>
            <a:r>
              <a:rPr sz="2400" b="1" u="sng" spc="-10" dirty="0">
                <a:solidFill>
                  <a:srgbClr val="006FC0"/>
                </a:solidFill>
                <a:uFill>
                  <a:solidFill>
                    <a:srgbClr val="006FC0"/>
                  </a:solidFill>
                </a:uFill>
                <a:latin typeface="Calibri"/>
                <a:cs typeface="Calibri"/>
              </a:rPr>
              <a:t>Interpretation:</a:t>
            </a:r>
            <a:endParaRPr sz="2400" dirty="0">
              <a:latin typeface="Calibri"/>
              <a:cs typeface="Calibri"/>
            </a:endParaRPr>
          </a:p>
          <a:p>
            <a:pPr marL="549910" indent="-342900">
              <a:lnSpc>
                <a:spcPct val="100000"/>
              </a:lnSpc>
              <a:spcBef>
                <a:spcPts val="715"/>
              </a:spcBef>
              <a:buChar char="-"/>
              <a:tabLst>
                <a:tab pos="549910" algn="l"/>
              </a:tabLst>
            </a:pPr>
            <a:r>
              <a:rPr sz="2000" dirty="0">
                <a:latin typeface="Segoe Print"/>
                <a:cs typeface="Segoe Print"/>
              </a:rPr>
              <a:t>Loss</a:t>
            </a:r>
            <a:r>
              <a:rPr sz="2000" spc="-30" dirty="0">
                <a:latin typeface="Segoe Print"/>
                <a:cs typeface="Segoe Print"/>
              </a:rPr>
              <a:t> </a:t>
            </a:r>
            <a:r>
              <a:rPr sz="2000" dirty="0">
                <a:latin typeface="Segoe Print"/>
                <a:cs typeface="Segoe Print"/>
              </a:rPr>
              <a:t>grows</a:t>
            </a:r>
            <a:r>
              <a:rPr sz="2000" spc="-25" dirty="0">
                <a:latin typeface="Segoe Print"/>
                <a:cs typeface="Segoe Print"/>
              </a:rPr>
              <a:t> </a:t>
            </a:r>
            <a:r>
              <a:rPr sz="2000" dirty="0">
                <a:latin typeface="Segoe Print"/>
                <a:cs typeface="Segoe Print"/>
              </a:rPr>
              <a:t>linearly</a:t>
            </a:r>
            <a:r>
              <a:rPr sz="2000" spc="-20" dirty="0">
                <a:latin typeface="Segoe Print"/>
                <a:cs typeface="Segoe Print"/>
              </a:rPr>
              <a:t> </a:t>
            </a:r>
            <a:r>
              <a:rPr sz="2000" dirty="0">
                <a:latin typeface="Segoe Print"/>
                <a:cs typeface="Segoe Print"/>
              </a:rPr>
              <a:t>with</a:t>
            </a:r>
            <a:r>
              <a:rPr sz="2000" spc="-20" dirty="0">
                <a:latin typeface="Segoe Print"/>
                <a:cs typeface="Segoe Print"/>
              </a:rPr>
              <a:t> </a:t>
            </a:r>
            <a:r>
              <a:rPr sz="2000" dirty="0">
                <a:latin typeface="Segoe Print"/>
                <a:cs typeface="Segoe Print"/>
              </a:rPr>
              <a:t>the</a:t>
            </a:r>
            <a:r>
              <a:rPr sz="2000" spc="-25" dirty="0">
                <a:latin typeface="Segoe Print"/>
                <a:cs typeface="Segoe Print"/>
              </a:rPr>
              <a:t> </a:t>
            </a:r>
            <a:r>
              <a:rPr sz="2000" dirty="0">
                <a:latin typeface="Segoe Print"/>
                <a:cs typeface="Segoe Print"/>
              </a:rPr>
              <a:t>absolute</a:t>
            </a:r>
            <a:r>
              <a:rPr sz="2000" spc="-15" dirty="0">
                <a:latin typeface="Segoe Print"/>
                <a:cs typeface="Segoe Print"/>
              </a:rPr>
              <a:t> </a:t>
            </a:r>
            <a:r>
              <a:rPr sz="2000" dirty="0">
                <a:latin typeface="Segoe Print"/>
                <a:cs typeface="Segoe Print"/>
              </a:rPr>
              <a:t>of</a:t>
            </a:r>
            <a:r>
              <a:rPr sz="2000" spc="-20" dirty="0">
                <a:latin typeface="Segoe Print"/>
                <a:cs typeface="Segoe Print"/>
              </a:rPr>
              <a:t> </a:t>
            </a:r>
            <a:r>
              <a:rPr sz="2000" dirty="0">
                <a:latin typeface="Segoe Print"/>
                <a:cs typeface="Segoe Print"/>
              </a:rPr>
              <a:t>the</a:t>
            </a:r>
            <a:r>
              <a:rPr sz="2000" spc="-25" dirty="0">
                <a:latin typeface="Segoe Print"/>
                <a:cs typeface="Segoe Print"/>
              </a:rPr>
              <a:t> </a:t>
            </a:r>
            <a:r>
              <a:rPr sz="2000" dirty="0">
                <a:latin typeface="Segoe Print"/>
                <a:cs typeface="Segoe Print"/>
              </a:rPr>
              <a:t>error</a:t>
            </a:r>
            <a:r>
              <a:rPr sz="2000" spc="-30" dirty="0">
                <a:latin typeface="Segoe Print"/>
                <a:cs typeface="Segoe Print"/>
              </a:rPr>
              <a:t> </a:t>
            </a:r>
            <a:r>
              <a:rPr sz="2000" dirty="0">
                <a:latin typeface="Segoe Print"/>
                <a:cs typeface="Segoe Print"/>
              </a:rPr>
              <a:t>in</a:t>
            </a:r>
            <a:r>
              <a:rPr sz="2000" spc="-40" dirty="0">
                <a:latin typeface="Segoe Print"/>
                <a:cs typeface="Segoe Print"/>
              </a:rPr>
              <a:t> </a:t>
            </a:r>
            <a:r>
              <a:rPr sz="2000" dirty="0">
                <a:latin typeface="Segoe Print"/>
                <a:cs typeface="Segoe Print"/>
              </a:rPr>
              <a:t>each</a:t>
            </a:r>
            <a:r>
              <a:rPr sz="2000" spc="-25" dirty="0">
                <a:latin typeface="Segoe Print"/>
                <a:cs typeface="Segoe Print"/>
              </a:rPr>
              <a:t> </a:t>
            </a:r>
            <a:r>
              <a:rPr sz="2000" spc="-10" dirty="0">
                <a:latin typeface="Segoe Print"/>
                <a:cs typeface="Segoe Print"/>
              </a:rPr>
              <a:t>prediction.</a:t>
            </a:r>
            <a:endParaRPr sz="2000" dirty="0">
              <a:latin typeface="Segoe Print"/>
              <a:cs typeface="Segoe Print"/>
            </a:endParaRPr>
          </a:p>
          <a:p>
            <a:pPr marL="549910" indent="-342900">
              <a:lnSpc>
                <a:spcPct val="100000"/>
              </a:lnSpc>
              <a:spcBef>
                <a:spcPts val="1200"/>
              </a:spcBef>
              <a:buChar char="-"/>
              <a:tabLst>
                <a:tab pos="549910" algn="l"/>
              </a:tabLst>
            </a:pPr>
            <a:r>
              <a:rPr sz="2000" dirty="0">
                <a:latin typeface="Segoe Print"/>
                <a:cs typeface="Segoe Print"/>
              </a:rPr>
              <a:t>Used</a:t>
            </a:r>
            <a:r>
              <a:rPr sz="2000" spc="-40" dirty="0">
                <a:latin typeface="Segoe Print"/>
                <a:cs typeface="Segoe Print"/>
              </a:rPr>
              <a:t> </a:t>
            </a:r>
            <a:r>
              <a:rPr sz="2000" dirty="0">
                <a:latin typeface="Segoe Print"/>
                <a:cs typeface="Segoe Print"/>
              </a:rPr>
              <a:t>in</a:t>
            </a:r>
            <a:r>
              <a:rPr sz="2000" spc="-50" dirty="0">
                <a:latin typeface="Segoe Print"/>
                <a:cs typeface="Segoe Print"/>
              </a:rPr>
              <a:t> </a:t>
            </a:r>
            <a:r>
              <a:rPr sz="2000" dirty="0">
                <a:latin typeface="Segoe Print"/>
                <a:cs typeface="Segoe Print"/>
              </a:rPr>
              <a:t>regression</a:t>
            </a:r>
            <a:r>
              <a:rPr sz="2000" spc="-55" dirty="0">
                <a:latin typeface="Segoe Print"/>
                <a:cs typeface="Segoe Print"/>
              </a:rPr>
              <a:t> </a:t>
            </a:r>
            <a:r>
              <a:rPr sz="2000" dirty="0">
                <a:latin typeface="Segoe Print"/>
                <a:cs typeface="Segoe Print"/>
              </a:rPr>
              <a:t>and</a:t>
            </a:r>
            <a:r>
              <a:rPr sz="2000" spc="-40" dirty="0">
                <a:latin typeface="Segoe Print"/>
                <a:cs typeface="Segoe Print"/>
              </a:rPr>
              <a:t> </a:t>
            </a:r>
            <a:r>
              <a:rPr sz="2000" dirty="0">
                <a:latin typeface="Segoe Print"/>
                <a:cs typeface="Segoe Print"/>
              </a:rPr>
              <a:t>suited</a:t>
            </a:r>
            <a:r>
              <a:rPr sz="2000" spc="-35" dirty="0">
                <a:latin typeface="Segoe Print"/>
                <a:cs typeface="Segoe Print"/>
              </a:rPr>
              <a:t> </a:t>
            </a:r>
            <a:r>
              <a:rPr sz="2000" dirty="0">
                <a:latin typeface="Segoe Print"/>
                <a:cs typeface="Segoe Print"/>
              </a:rPr>
              <a:t>for</a:t>
            </a:r>
            <a:r>
              <a:rPr sz="2000" spc="-55" dirty="0">
                <a:latin typeface="Segoe Print"/>
                <a:cs typeface="Segoe Print"/>
              </a:rPr>
              <a:t> </a:t>
            </a:r>
            <a:r>
              <a:rPr sz="2000" dirty="0">
                <a:latin typeface="Segoe Print"/>
                <a:cs typeface="Segoe Print"/>
              </a:rPr>
              <a:t>noisy</a:t>
            </a:r>
            <a:r>
              <a:rPr sz="2000" spc="-50" dirty="0">
                <a:latin typeface="Segoe Print"/>
                <a:cs typeface="Segoe Print"/>
              </a:rPr>
              <a:t> </a:t>
            </a:r>
            <a:r>
              <a:rPr sz="2000" spc="-10" dirty="0">
                <a:latin typeface="Segoe Print"/>
                <a:cs typeface="Segoe Print"/>
              </a:rPr>
              <a:t>data.</a:t>
            </a:r>
            <a:endParaRPr sz="2000" dirty="0">
              <a:latin typeface="Segoe Print"/>
              <a:cs typeface="Segoe Print"/>
            </a:endParaRPr>
          </a:p>
        </p:txBody>
      </p:sp>
      <p:sp>
        <p:nvSpPr>
          <p:cNvPr id="6" name="object 6"/>
          <p:cNvSpPr txBox="1"/>
          <p:nvPr/>
        </p:nvSpPr>
        <p:spPr>
          <a:xfrm>
            <a:off x="291338" y="5076697"/>
            <a:ext cx="4537710" cy="330200"/>
          </a:xfrm>
          <a:prstGeom prst="rect">
            <a:avLst/>
          </a:prstGeom>
        </p:spPr>
        <p:txBody>
          <a:bodyPr vert="horz" wrap="square" lIns="0" tIns="12065" rIns="0" bIns="0" rtlCol="0">
            <a:spAutoFit/>
          </a:bodyPr>
          <a:lstStyle/>
          <a:p>
            <a:pPr marL="12700">
              <a:lnSpc>
                <a:spcPct val="100000"/>
              </a:lnSpc>
              <a:spcBef>
                <a:spcPts val="95"/>
              </a:spcBef>
            </a:pPr>
            <a:r>
              <a:rPr sz="2000" dirty="0">
                <a:latin typeface="Segoe Print"/>
                <a:cs typeface="Segoe Print"/>
              </a:rPr>
              <a:t>*</a:t>
            </a:r>
            <a:r>
              <a:rPr sz="2000" spc="-30" dirty="0">
                <a:latin typeface="Segoe Print"/>
                <a:cs typeface="Segoe Print"/>
              </a:rPr>
              <a:t> </a:t>
            </a:r>
            <a:r>
              <a:rPr sz="2000" dirty="0">
                <a:latin typeface="Segoe Print"/>
                <a:cs typeface="Segoe Print"/>
              </a:rPr>
              <a:t>All</a:t>
            </a:r>
            <a:r>
              <a:rPr sz="2000" spc="-15" dirty="0">
                <a:latin typeface="Segoe Print"/>
                <a:cs typeface="Segoe Print"/>
              </a:rPr>
              <a:t> </a:t>
            </a:r>
            <a:r>
              <a:rPr sz="2000" dirty="0">
                <a:latin typeface="Segoe Print"/>
                <a:cs typeface="Segoe Print"/>
              </a:rPr>
              <a:t>of</a:t>
            </a:r>
            <a:r>
              <a:rPr sz="2000" spc="-25" dirty="0">
                <a:latin typeface="Segoe Print"/>
                <a:cs typeface="Segoe Print"/>
              </a:rPr>
              <a:t> </a:t>
            </a:r>
            <a:r>
              <a:rPr sz="2000" dirty="0">
                <a:latin typeface="Segoe Print"/>
                <a:cs typeface="Segoe Print"/>
              </a:rPr>
              <a:t>the</a:t>
            </a:r>
            <a:r>
              <a:rPr sz="2000" spc="-25" dirty="0">
                <a:latin typeface="Segoe Print"/>
                <a:cs typeface="Segoe Print"/>
              </a:rPr>
              <a:t> </a:t>
            </a:r>
            <a:r>
              <a:rPr sz="2000" dirty="0">
                <a:latin typeface="Segoe Print"/>
                <a:cs typeface="Segoe Print"/>
              </a:rPr>
              <a:t>losses</a:t>
            </a:r>
            <a:r>
              <a:rPr sz="2000" spc="-15" dirty="0">
                <a:latin typeface="Segoe Print"/>
                <a:cs typeface="Segoe Print"/>
              </a:rPr>
              <a:t> </a:t>
            </a:r>
            <a:r>
              <a:rPr sz="2000" dirty="0">
                <a:latin typeface="Segoe Print"/>
                <a:cs typeface="Segoe Print"/>
              </a:rPr>
              <a:t>are</a:t>
            </a:r>
            <a:r>
              <a:rPr sz="2000" spc="-25" dirty="0">
                <a:latin typeface="Segoe Print"/>
                <a:cs typeface="Segoe Print"/>
              </a:rPr>
              <a:t> </a:t>
            </a:r>
            <a:r>
              <a:rPr sz="2000" spc="-10" dirty="0">
                <a:latin typeface="Segoe Print"/>
                <a:cs typeface="Segoe Print"/>
              </a:rPr>
              <a:t>non-negative</a:t>
            </a:r>
            <a:endParaRPr sz="2000">
              <a:latin typeface="Segoe Print"/>
              <a:cs typeface="Segoe Prin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64579"/>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pic>
        <p:nvPicPr>
          <p:cNvPr id="3" name="object 3"/>
          <p:cNvPicPr/>
          <p:nvPr/>
        </p:nvPicPr>
        <p:blipFill>
          <a:blip r:embed="rId2" cstate="print"/>
          <a:stretch>
            <a:fillRect/>
          </a:stretch>
        </p:blipFill>
        <p:spPr>
          <a:xfrm>
            <a:off x="354329" y="1487424"/>
            <a:ext cx="7464552" cy="1107948"/>
          </a:xfrm>
          <a:prstGeom prst="rect">
            <a:avLst/>
          </a:prstGeom>
        </p:spPr>
      </p:pic>
      <p:sp>
        <p:nvSpPr>
          <p:cNvPr id="4" name="object 4"/>
          <p:cNvSpPr txBox="1"/>
          <p:nvPr/>
        </p:nvSpPr>
        <p:spPr>
          <a:xfrm>
            <a:off x="262825" y="946150"/>
            <a:ext cx="1113155" cy="391160"/>
          </a:xfrm>
          <a:prstGeom prst="rect">
            <a:avLst/>
          </a:prstGeom>
        </p:spPr>
        <p:txBody>
          <a:bodyPr vert="horz" wrap="square" lIns="0" tIns="12700" rIns="0" bIns="0" rtlCol="0">
            <a:spAutoFit/>
          </a:bodyPr>
          <a:lstStyle/>
          <a:p>
            <a:pPr marL="12700">
              <a:lnSpc>
                <a:spcPct val="100000"/>
              </a:lnSpc>
              <a:spcBef>
                <a:spcPts val="100"/>
              </a:spcBef>
            </a:pPr>
            <a:r>
              <a:rPr sz="2400" b="1" u="sng" spc="-10" dirty="0">
                <a:solidFill>
                  <a:srgbClr val="006FC0"/>
                </a:solidFill>
                <a:uFill>
                  <a:solidFill>
                    <a:srgbClr val="006FC0"/>
                  </a:solidFill>
                </a:uFill>
                <a:latin typeface="Calibri"/>
                <a:cs typeface="Calibri"/>
              </a:rPr>
              <a:t>Learning</a:t>
            </a:r>
            <a:endParaRPr sz="2400" dirty="0">
              <a:latin typeface="Calibri"/>
              <a:cs typeface="Calibri"/>
            </a:endParaRPr>
          </a:p>
        </p:txBody>
      </p:sp>
      <p:grpSp>
        <p:nvGrpSpPr>
          <p:cNvPr id="5" name="object 5"/>
          <p:cNvGrpSpPr/>
          <p:nvPr/>
        </p:nvGrpSpPr>
        <p:grpSpPr>
          <a:xfrm>
            <a:off x="1438655" y="2782061"/>
            <a:ext cx="8708390" cy="662305"/>
            <a:chOff x="1438655" y="2782061"/>
            <a:chExt cx="8708390" cy="662305"/>
          </a:xfrm>
        </p:grpSpPr>
        <p:pic>
          <p:nvPicPr>
            <p:cNvPr id="6" name="object 6"/>
            <p:cNvPicPr/>
            <p:nvPr/>
          </p:nvPicPr>
          <p:blipFill>
            <a:blip r:embed="rId3" cstate="print"/>
            <a:stretch>
              <a:fillRect/>
            </a:stretch>
          </p:blipFill>
          <p:spPr>
            <a:xfrm>
              <a:off x="1438655" y="2886455"/>
              <a:ext cx="8708136" cy="557784"/>
            </a:xfrm>
            <a:prstGeom prst="rect">
              <a:avLst/>
            </a:prstGeom>
          </p:spPr>
        </p:pic>
        <p:sp>
          <p:nvSpPr>
            <p:cNvPr id="7" name="object 7"/>
            <p:cNvSpPr/>
            <p:nvPr/>
          </p:nvSpPr>
          <p:spPr>
            <a:xfrm>
              <a:off x="8202167" y="2801111"/>
              <a:ext cx="1243330" cy="486409"/>
            </a:xfrm>
            <a:custGeom>
              <a:avLst/>
              <a:gdLst/>
              <a:ahLst/>
              <a:cxnLst/>
              <a:rect l="l" t="t" r="r" b="b"/>
              <a:pathLst>
                <a:path w="1243329" h="486410">
                  <a:moveTo>
                    <a:pt x="0" y="486156"/>
                  </a:moveTo>
                  <a:lnTo>
                    <a:pt x="1242822" y="486156"/>
                  </a:lnTo>
                  <a:lnTo>
                    <a:pt x="1242822" y="0"/>
                  </a:lnTo>
                  <a:lnTo>
                    <a:pt x="0" y="0"/>
                  </a:lnTo>
                  <a:lnTo>
                    <a:pt x="0" y="486156"/>
                  </a:lnTo>
                  <a:close/>
                </a:path>
              </a:pathLst>
            </a:custGeom>
            <a:ln w="38100">
              <a:solidFill>
                <a:srgbClr val="FF0000"/>
              </a:solidFill>
            </a:ln>
          </p:spPr>
          <p:txBody>
            <a:bodyPr wrap="square" lIns="0" tIns="0" rIns="0" bIns="0" rtlCol="0"/>
            <a:lstStyle/>
            <a:p>
              <a:endParaRPr/>
            </a:p>
          </p:txBody>
        </p:sp>
      </p:grpSp>
      <p:sp>
        <p:nvSpPr>
          <p:cNvPr id="8" name="object 8"/>
          <p:cNvSpPr txBox="1"/>
          <p:nvPr/>
        </p:nvSpPr>
        <p:spPr>
          <a:xfrm>
            <a:off x="433323" y="2789935"/>
            <a:ext cx="772160" cy="391160"/>
          </a:xfrm>
          <a:prstGeom prst="rect">
            <a:avLst/>
          </a:prstGeom>
        </p:spPr>
        <p:txBody>
          <a:bodyPr vert="horz" wrap="square" lIns="0" tIns="12700" rIns="0" bIns="0" rtlCol="0">
            <a:spAutoFit/>
          </a:bodyPr>
          <a:lstStyle/>
          <a:p>
            <a:pPr marL="12700">
              <a:lnSpc>
                <a:spcPct val="100000"/>
              </a:lnSpc>
              <a:spcBef>
                <a:spcPts val="100"/>
              </a:spcBef>
            </a:pPr>
            <a:r>
              <a:rPr sz="2400" b="1" u="sng" spc="-10" dirty="0">
                <a:uFill>
                  <a:solidFill>
                    <a:srgbClr val="000000"/>
                  </a:solidFill>
                </a:uFill>
                <a:latin typeface="Calibri"/>
                <a:cs typeface="Calibri"/>
              </a:rPr>
              <a:t>Recall</a:t>
            </a:r>
            <a:endParaRPr sz="2400">
              <a:latin typeface="Calibri"/>
              <a:cs typeface="Calibri"/>
            </a:endParaRPr>
          </a:p>
        </p:txBody>
      </p:sp>
      <p:sp>
        <p:nvSpPr>
          <p:cNvPr id="9" name="object 9"/>
          <p:cNvSpPr txBox="1"/>
          <p:nvPr/>
        </p:nvSpPr>
        <p:spPr>
          <a:xfrm>
            <a:off x="8184642" y="2130297"/>
            <a:ext cx="27489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538235"/>
                </a:solidFill>
                <a:latin typeface="Segoe Print"/>
                <a:cs typeface="Segoe Print"/>
              </a:rPr>
              <a:t>(Optimization</a:t>
            </a:r>
            <a:r>
              <a:rPr sz="1800" spc="-155" dirty="0">
                <a:solidFill>
                  <a:srgbClr val="538235"/>
                </a:solidFill>
                <a:latin typeface="Segoe Print"/>
                <a:cs typeface="Segoe Print"/>
              </a:rPr>
              <a:t> </a:t>
            </a:r>
            <a:r>
              <a:rPr sz="1800" spc="-10" dirty="0">
                <a:solidFill>
                  <a:srgbClr val="538235"/>
                </a:solidFill>
                <a:latin typeface="Segoe Print"/>
                <a:cs typeface="Segoe Print"/>
              </a:rPr>
              <a:t>problem)</a:t>
            </a:r>
            <a:endParaRPr sz="1800">
              <a:latin typeface="Segoe Print"/>
              <a:cs typeface="Segoe Print"/>
            </a:endParaRPr>
          </a:p>
        </p:txBody>
      </p:sp>
      <p:pic>
        <p:nvPicPr>
          <p:cNvPr id="10" name="object 10"/>
          <p:cNvPicPr/>
          <p:nvPr/>
        </p:nvPicPr>
        <p:blipFill>
          <a:blip r:embed="rId4" cstate="print"/>
          <a:stretch>
            <a:fillRect/>
          </a:stretch>
        </p:blipFill>
        <p:spPr>
          <a:xfrm>
            <a:off x="354329" y="3900678"/>
            <a:ext cx="8711946" cy="533400"/>
          </a:xfrm>
          <a:prstGeom prst="rect">
            <a:avLst/>
          </a:prstGeom>
        </p:spPr>
      </p:pic>
      <p:sp>
        <p:nvSpPr>
          <p:cNvPr id="11" name="object 11"/>
          <p:cNvSpPr txBox="1"/>
          <p:nvPr/>
        </p:nvSpPr>
        <p:spPr>
          <a:xfrm>
            <a:off x="433323" y="4975352"/>
            <a:ext cx="10139045" cy="391160"/>
          </a:xfrm>
          <a:prstGeom prst="rect">
            <a:avLst/>
          </a:prstGeom>
        </p:spPr>
        <p:txBody>
          <a:bodyPr vert="horz" wrap="square" lIns="0" tIns="12700" rIns="0" bIns="0" rtlCol="0">
            <a:spAutoFit/>
          </a:bodyPr>
          <a:lstStyle/>
          <a:p>
            <a:pPr marL="12700">
              <a:lnSpc>
                <a:spcPct val="100000"/>
              </a:lnSpc>
              <a:spcBef>
                <a:spcPts val="100"/>
              </a:spcBef>
            </a:pPr>
            <a:r>
              <a:rPr sz="2400" b="1" u="sng" dirty="0">
                <a:solidFill>
                  <a:srgbClr val="C00000"/>
                </a:solidFill>
                <a:uFill>
                  <a:solidFill>
                    <a:srgbClr val="C00000"/>
                  </a:solidFill>
                </a:uFill>
                <a:latin typeface="Calibri"/>
                <a:cs typeface="Calibri"/>
              </a:rPr>
              <a:t>Q:</a:t>
            </a:r>
            <a:r>
              <a:rPr sz="2400" b="1" spc="-45" dirty="0">
                <a:solidFill>
                  <a:srgbClr val="C00000"/>
                </a:solidFill>
                <a:latin typeface="Calibri"/>
                <a:cs typeface="Calibri"/>
              </a:rPr>
              <a:t> </a:t>
            </a:r>
            <a:r>
              <a:rPr sz="2400" b="1" dirty="0">
                <a:solidFill>
                  <a:srgbClr val="C00000"/>
                </a:solidFill>
                <a:latin typeface="Calibri"/>
                <a:cs typeface="Calibri"/>
              </a:rPr>
              <a:t>How</a:t>
            </a:r>
            <a:r>
              <a:rPr sz="2400" b="1" spc="-45" dirty="0">
                <a:solidFill>
                  <a:srgbClr val="C00000"/>
                </a:solidFill>
                <a:latin typeface="Calibri"/>
                <a:cs typeface="Calibri"/>
              </a:rPr>
              <a:t> </a:t>
            </a:r>
            <a:r>
              <a:rPr sz="2400" b="1" dirty="0">
                <a:solidFill>
                  <a:srgbClr val="C00000"/>
                </a:solidFill>
                <a:latin typeface="Calibri"/>
                <a:cs typeface="Calibri"/>
              </a:rPr>
              <a:t>can</a:t>
            </a:r>
            <a:r>
              <a:rPr sz="2400" b="1" spc="-40" dirty="0">
                <a:solidFill>
                  <a:srgbClr val="C00000"/>
                </a:solidFill>
                <a:latin typeface="Calibri"/>
                <a:cs typeface="Calibri"/>
              </a:rPr>
              <a:t> </a:t>
            </a:r>
            <a:r>
              <a:rPr sz="2400" b="1" dirty="0">
                <a:solidFill>
                  <a:srgbClr val="C00000"/>
                </a:solidFill>
                <a:latin typeface="Calibri"/>
                <a:cs typeface="Calibri"/>
              </a:rPr>
              <a:t>we</a:t>
            </a:r>
            <a:r>
              <a:rPr sz="2400" b="1" spc="-45" dirty="0">
                <a:solidFill>
                  <a:srgbClr val="C00000"/>
                </a:solidFill>
                <a:latin typeface="Calibri"/>
                <a:cs typeface="Calibri"/>
              </a:rPr>
              <a:t> </a:t>
            </a:r>
            <a:r>
              <a:rPr sz="2400" b="1" dirty="0">
                <a:solidFill>
                  <a:srgbClr val="C00000"/>
                </a:solidFill>
                <a:latin typeface="Calibri"/>
                <a:cs typeface="Calibri"/>
              </a:rPr>
              <a:t>ensure</a:t>
            </a:r>
            <a:r>
              <a:rPr sz="2400" b="1" spc="-40" dirty="0">
                <a:solidFill>
                  <a:srgbClr val="C00000"/>
                </a:solidFill>
                <a:latin typeface="Calibri"/>
                <a:cs typeface="Calibri"/>
              </a:rPr>
              <a:t> </a:t>
            </a:r>
            <a:r>
              <a:rPr sz="2400" b="1" dirty="0">
                <a:solidFill>
                  <a:srgbClr val="C00000"/>
                </a:solidFill>
                <a:latin typeface="Calibri"/>
                <a:cs typeface="Calibri"/>
              </a:rPr>
              <a:t>that</a:t>
            </a:r>
            <a:r>
              <a:rPr sz="2400" b="1" spc="-40" dirty="0">
                <a:solidFill>
                  <a:srgbClr val="C00000"/>
                </a:solidFill>
                <a:latin typeface="Calibri"/>
                <a:cs typeface="Calibri"/>
              </a:rPr>
              <a:t> </a:t>
            </a:r>
            <a:r>
              <a:rPr sz="2400" b="1" dirty="0">
                <a:solidFill>
                  <a:srgbClr val="C00000"/>
                </a:solidFill>
                <a:latin typeface="Calibri"/>
                <a:cs typeface="Calibri"/>
              </a:rPr>
              <a:t>hypothesis</a:t>
            </a:r>
            <a:r>
              <a:rPr sz="2400" b="1" spc="-30" dirty="0">
                <a:solidFill>
                  <a:srgbClr val="C00000"/>
                </a:solidFill>
                <a:latin typeface="Calibri"/>
                <a:cs typeface="Calibri"/>
              </a:rPr>
              <a:t> </a:t>
            </a:r>
            <a:r>
              <a:rPr sz="2400" b="1" i="1" dirty="0">
                <a:solidFill>
                  <a:srgbClr val="C00000"/>
                </a:solidFill>
                <a:latin typeface="Calibri"/>
                <a:cs typeface="Calibri"/>
              </a:rPr>
              <a:t>h</a:t>
            </a:r>
            <a:r>
              <a:rPr sz="2400" b="1" i="1" spc="-45" dirty="0">
                <a:solidFill>
                  <a:srgbClr val="C00000"/>
                </a:solidFill>
                <a:latin typeface="Calibri"/>
                <a:cs typeface="Calibri"/>
              </a:rPr>
              <a:t> </a:t>
            </a:r>
            <a:r>
              <a:rPr sz="2400" b="1" dirty="0">
                <a:solidFill>
                  <a:srgbClr val="C00000"/>
                </a:solidFill>
                <a:latin typeface="Calibri"/>
                <a:cs typeface="Calibri"/>
              </a:rPr>
              <a:t>will</a:t>
            </a:r>
            <a:r>
              <a:rPr sz="2400" b="1" spc="-60" dirty="0">
                <a:solidFill>
                  <a:srgbClr val="C00000"/>
                </a:solidFill>
                <a:latin typeface="Calibri"/>
                <a:cs typeface="Calibri"/>
              </a:rPr>
              <a:t> </a:t>
            </a:r>
            <a:r>
              <a:rPr sz="2400" b="1" dirty="0">
                <a:solidFill>
                  <a:srgbClr val="C00000"/>
                </a:solidFill>
                <a:latin typeface="Calibri"/>
                <a:cs typeface="Calibri"/>
              </a:rPr>
              <a:t>give</a:t>
            </a:r>
            <a:r>
              <a:rPr sz="2400" b="1" spc="-45" dirty="0">
                <a:solidFill>
                  <a:srgbClr val="C00000"/>
                </a:solidFill>
                <a:latin typeface="Calibri"/>
                <a:cs typeface="Calibri"/>
              </a:rPr>
              <a:t> </a:t>
            </a:r>
            <a:r>
              <a:rPr sz="2400" b="1" dirty="0">
                <a:solidFill>
                  <a:srgbClr val="C00000"/>
                </a:solidFill>
                <a:latin typeface="Calibri"/>
                <a:cs typeface="Calibri"/>
              </a:rPr>
              <a:t>low</a:t>
            </a:r>
            <a:r>
              <a:rPr sz="2400" b="1" spc="-50" dirty="0">
                <a:solidFill>
                  <a:srgbClr val="C00000"/>
                </a:solidFill>
                <a:latin typeface="Calibri"/>
                <a:cs typeface="Calibri"/>
              </a:rPr>
              <a:t> </a:t>
            </a:r>
            <a:r>
              <a:rPr sz="2400" b="1" dirty="0">
                <a:solidFill>
                  <a:srgbClr val="C00000"/>
                </a:solidFill>
                <a:latin typeface="Calibri"/>
                <a:cs typeface="Calibri"/>
              </a:rPr>
              <a:t>loss</a:t>
            </a:r>
            <a:r>
              <a:rPr sz="2400" b="1" spc="-40" dirty="0">
                <a:solidFill>
                  <a:srgbClr val="C00000"/>
                </a:solidFill>
                <a:latin typeface="Calibri"/>
                <a:cs typeface="Calibri"/>
              </a:rPr>
              <a:t> </a:t>
            </a:r>
            <a:r>
              <a:rPr sz="2400" b="1" dirty="0">
                <a:solidFill>
                  <a:srgbClr val="C00000"/>
                </a:solidFill>
                <a:latin typeface="Calibri"/>
                <a:cs typeface="Calibri"/>
              </a:rPr>
              <a:t>on</a:t>
            </a:r>
            <a:r>
              <a:rPr sz="2400" b="1" spc="-50" dirty="0">
                <a:solidFill>
                  <a:srgbClr val="C00000"/>
                </a:solidFill>
                <a:latin typeface="Calibri"/>
                <a:cs typeface="Calibri"/>
              </a:rPr>
              <a:t> </a:t>
            </a:r>
            <a:r>
              <a:rPr sz="2400" b="1" dirty="0">
                <a:solidFill>
                  <a:srgbClr val="C00000"/>
                </a:solidFill>
                <a:latin typeface="Calibri"/>
                <a:cs typeface="Calibri"/>
              </a:rPr>
              <a:t>the</a:t>
            </a:r>
            <a:r>
              <a:rPr sz="2400" b="1" spc="-45" dirty="0">
                <a:solidFill>
                  <a:srgbClr val="C00000"/>
                </a:solidFill>
                <a:latin typeface="Calibri"/>
                <a:cs typeface="Calibri"/>
              </a:rPr>
              <a:t> </a:t>
            </a:r>
            <a:r>
              <a:rPr sz="2400" b="1" dirty="0">
                <a:solidFill>
                  <a:srgbClr val="C00000"/>
                </a:solidFill>
                <a:latin typeface="Calibri"/>
                <a:cs typeface="Calibri"/>
              </a:rPr>
              <a:t>input</a:t>
            </a:r>
            <a:r>
              <a:rPr sz="2400" b="1" spc="-45" dirty="0">
                <a:solidFill>
                  <a:srgbClr val="C00000"/>
                </a:solidFill>
                <a:latin typeface="Calibri"/>
                <a:cs typeface="Calibri"/>
              </a:rPr>
              <a:t> </a:t>
            </a:r>
            <a:r>
              <a:rPr sz="2400" b="1" dirty="0">
                <a:solidFill>
                  <a:srgbClr val="C00000"/>
                </a:solidFill>
                <a:latin typeface="Calibri"/>
                <a:cs typeface="Calibri"/>
              </a:rPr>
              <a:t>not</a:t>
            </a:r>
            <a:r>
              <a:rPr sz="2400" b="1" spc="-50" dirty="0">
                <a:solidFill>
                  <a:srgbClr val="C00000"/>
                </a:solidFill>
                <a:latin typeface="Calibri"/>
                <a:cs typeface="Calibri"/>
              </a:rPr>
              <a:t> </a:t>
            </a:r>
            <a:r>
              <a:rPr sz="2400" b="1" dirty="0">
                <a:solidFill>
                  <a:srgbClr val="C00000"/>
                </a:solidFill>
                <a:latin typeface="Calibri"/>
                <a:cs typeface="Calibri"/>
              </a:rPr>
              <a:t>in</a:t>
            </a:r>
            <a:r>
              <a:rPr sz="2400" b="1" spc="-35" dirty="0">
                <a:solidFill>
                  <a:srgbClr val="C00000"/>
                </a:solidFill>
                <a:latin typeface="Calibri"/>
                <a:cs typeface="Calibri"/>
              </a:rPr>
              <a:t> </a:t>
            </a:r>
            <a:r>
              <a:rPr sz="2400" b="1" i="1" spc="-25" dirty="0">
                <a:solidFill>
                  <a:srgbClr val="C00000"/>
                </a:solidFill>
                <a:latin typeface="Calibri"/>
                <a:cs typeface="Calibri"/>
              </a:rPr>
              <a:t>D</a:t>
            </a:r>
            <a:r>
              <a:rPr sz="2400" b="1" spc="-25" dirty="0">
                <a:solidFill>
                  <a:srgbClr val="C00000"/>
                </a:solidFill>
                <a:latin typeface="Calibri"/>
                <a:cs typeface="Calibri"/>
              </a:rPr>
              <a:t>?</a:t>
            </a:r>
            <a:endParaRPr sz="240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25247" y="25463"/>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
        <p:nvSpPr>
          <p:cNvPr id="5" name="object 5"/>
          <p:cNvSpPr txBox="1">
            <a:spLocks noGrp="1"/>
          </p:cNvSpPr>
          <p:nvPr>
            <p:ph idx="1"/>
          </p:nvPr>
        </p:nvSpPr>
        <p:spPr>
          <a:xfrm>
            <a:off x="838200" y="1825625"/>
            <a:ext cx="10515600" cy="4483279"/>
          </a:xfrm>
          <a:prstGeom prst="rect">
            <a:avLst/>
          </a:prstGeom>
        </p:spPr>
        <p:txBody>
          <a:bodyPr vert="horz" wrap="square" lIns="0" tIns="121920" rIns="0" bIns="0" rtlCol="0">
            <a:spAutoFit/>
          </a:bodyPr>
          <a:lstStyle/>
          <a:p>
            <a:pPr marL="12700">
              <a:lnSpc>
                <a:spcPct val="100000"/>
              </a:lnSpc>
              <a:spcBef>
                <a:spcPts val="960"/>
              </a:spcBef>
            </a:pPr>
            <a:r>
              <a:rPr spc="-10" dirty="0"/>
              <a:t>Interpretation:</a:t>
            </a:r>
          </a:p>
          <a:p>
            <a:pPr marL="549910" indent="-342900">
              <a:lnSpc>
                <a:spcPct val="100000"/>
              </a:lnSpc>
              <a:spcBef>
                <a:spcPts val="715"/>
              </a:spcBef>
              <a:buChar char="-"/>
              <a:tabLst>
                <a:tab pos="549910" algn="l"/>
              </a:tabLst>
            </a:pPr>
            <a:endParaRPr lang="en-US" sz="2000" b="0" u="none" dirty="0">
              <a:solidFill>
                <a:srgbClr val="000000"/>
              </a:solidFill>
              <a:latin typeface="Segoe Print"/>
              <a:cs typeface="Segoe Print"/>
            </a:endParaRPr>
          </a:p>
          <a:p>
            <a:pPr marL="549910" indent="-342900">
              <a:lnSpc>
                <a:spcPct val="100000"/>
              </a:lnSpc>
              <a:spcBef>
                <a:spcPts val="715"/>
              </a:spcBef>
              <a:buChar char="-"/>
              <a:tabLst>
                <a:tab pos="549910" algn="l"/>
              </a:tabLst>
            </a:pPr>
            <a:r>
              <a:rPr sz="2000" b="0" u="none" dirty="0">
                <a:solidFill>
                  <a:srgbClr val="000000"/>
                </a:solidFill>
                <a:latin typeface="Segoe Print"/>
                <a:cs typeface="Segoe Print"/>
              </a:rPr>
              <a:t>0%</a:t>
            </a:r>
            <a:r>
              <a:rPr sz="2000" b="0" u="none" spc="-15" dirty="0">
                <a:solidFill>
                  <a:srgbClr val="000000"/>
                </a:solidFill>
                <a:latin typeface="Segoe Print"/>
                <a:cs typeface="Segoe Print"/>
              </a:rPr>
              <a:t> </a:t>
            </a:r>
            <a:r>
              <a:rPr sz="2000" b="0" u="none" dirty="0">
                <a:solidFill>
                  <a:srgbClr val="000000"/>
                </a:solidFill>
                <a:latin typeface="Segoe Print"/>
                <a:cs typeface="Segoe Print"/>
              </a:rPr>
              <a:t>loss</a:t>
            </a:r>
            <a:r>
              <a:rPr sz="2000" b="0" u="none" spc="-20" dirty="0">
                <a:solidFill>
                  <a:srgbClr val="000000"/>
                </a:solidFill>
                <a:latin typeface="Segoe Print"/>
                <a:cs typeface="Segoe Print"/>
              </a:rPr>
              <a:t> </a:t>
            </a:r>
            <a:r>
              <a:rPr sz="2000" b="0" u="none" dirty="0">
                <a:solidFill>
                  <a:srgbClr val="000000"/>
                </a:solidFill>
                <a:latin typeface="Segoe Print"/>
                <a:cs typeface="Segoe Print"/>
              </a:rPr>
              <a:t>error</a:t>
            </a:r>
            <a:r>
              <a:rPr sz="2000" b="0" u="none" spc="-40" dirty="0">
                <a:solidFill>
                  <a:srgbClr val="000000"/>
                </a:solidFill>
                <a:latin typeface="Segoe Print"/>
                <a:cs typeface="Segoe Print"/>
              </a:rPr>
              <a:t> </a:t>
            </a:r>
            <a:r>
              <a:rPr sz="2000" b="0" u="none" dirty="0">
                <a:solidFill>
                  <a:srgbClr val="000000"/>
                </a:solidFill>
                <a:latin typeface="Segoe Print"/>
                <a:cs typeface="Segoe Print"/>
              </a:rPr>
              <a:t>on</a:t>
            </a:r>
            <a:r>
              <a:rPr sz="2000" b="0" u="none" spc="-25" dirty="0">
                <a:solidFill>
                  <a:srgbClr val="000000"/>
                </a:solidFill>
                <a:latin typeface="Segoe Print"/>
                <a:cs typeface="Segoe Print"/>
              </a:rPr>
              <a:t> </a:t>
            </a:r>
            <a:r>
              <a:rPr sz="2000" b="0" u="none" dirty="0">
                <a:solidFill>
                  <a:srgbClr val="000000"/>
                </a:solidFill>
                <a:latin typeface="Segoe Print"/>
                <a:cs typeface="Segoe Print"/>
              </a:rPr>
              <a:t>the</a:t>
            </a:r>
            <a:r>
              <a:rPr sz="2000" b="0" u="none" spc="-30" dirty="0">
                <a:solidFill>
                  <a:srgbClr val="000000"/>
                </a:solidFill>
                <a:latin typeface="Segoe Print"/>
                <a:cs typeface="Segoe Print"/>
              </a:rPr>
              <a:t> </a:t>
            </a:r>
            <a:r>
              <a:rPr sz="2000" b="0" u="none" dirty="0">
                <a:solidFill>
                  <a:srgbClr val="000000"/>
                </a:solidFill>
                <a:latin typeface="Segoe Print"/>
                <a:cs typeface="Segoe Print"/>
              </a:rPr>
              <a:t>training</a:t>
            </a:r>
            <a:r>
              <a:rPr sz="2000" b="0" u="none" spc="-25" dirty="0">
                <a:solidFill>
                  <a:srgbClr val="000000"/>
                </a:solidFill>
                <a:latin typeface="Segoe Print"/>
                <a:cs typeface="Segoe Print"/>
              </a:rPr>
              <a:t> </a:t>
            </a:r>
            <a:r>
              <a:rPr sz="2000" b="0" u="none" dirty="0">
                <a:solidFill>
                  <a:srgbClr val="000000"/>
                </a:solidFill>
                <a:latin typeface="Segoe Print"/>
                <a:cs typeface="Segoe Print"/>
              </a:rPr>
              <a:t>data</a:t>
            </a:r>
            <a:r>
              <a:rPr sz="2000" b="0" u="none" spc="-15" dirty="0">
                <a:solidFill>
                  <a:srgbClr val="000000"/>
                </a:solidFill>
                <a:latin typeface="Segoe Print"/>
                <a:cs typeface="Segoe Print"/>
              </a:rPr>
              <a:t> </a:t>
            </a:r>
            <a:r>
              <a:rPr sz="2000" b="0" u="none" dirty="0">
                <a:solidFill>
                  <a:srgbClr val="000000"/>
                </a:solidFill>
                <a:latin typeface="Segoe Print"/>
                <a:cs typeface="Segoe Print"/>
              </a:rPr>
              <a:t>(Model</a:t>
            </a:r>
            <a:r>
              <a:rPr sz="2000" b="0" u="none" spc="-25" dirty="0">
                <a:solidFill>
                  <a:srgbClr val="000000"/>
                </a:solidFill>
                <a:latin typeface="Segoe Print"/>
                <a:cs typeface="Segoe Print"/>
              </a:rPr>
              <a:t> </a:t>
            </a:r>
            <a:r>
              <a:rPr sz="2000" b="0" u="none" dirty="0">
                <a:solidFill>
                  <a:srgbClr val="000000"/>
                </a:solidFill>
                <a:latin typeface="Segoe Print"/>
                <a:cs typeface="Segoe Print"/>
              </a:rPr>
              <a:t>is</a:t>
            </a:r>
            <a:r>
              <a:rPr sz="2000" b="0" u="none" spc="-30" dirty="0">
                <a:solidFill>
                  <a:srgbClr val="000000"/>
                </a:solidFill>
                <a:latin typeface="Segoe Print"/>
                <a:cs typeface="Segoe Print"/>
              </a:rPr>
              <a:t> </a:t>
            </a:r>
            <a:r>
              <a:rPr sz="2000" b="0" u="none" dirty="0">
                <a:solidFill>
                  <a:srgbClr val="000000"/>
                </a:solidFill>
                <a:latin typeface="Segoe Print"/>
                <a:cs typeface="Segoe Print"/>
              </a:rPr>
              <a:t>fit</a:t>
            </a:r>
            <a:r>
              <a:rPr sz="2000" b="0" u="none" spc="-25" dirty="0">
                <a:solidFill>
                  <a:srgbClr val="000000"/>
                </a:solidFill>
                <a:latin typeface="Segoe Print"/>
                <a:cs typeface="Segoe Print"/>
              </a:rPr>
              <a:t> </a:t>
            </a:r>
            <a:r>
              <a:rPr sz="2000" b="0" u="none" dirty="0">
                <a:solidFill>
                  <a:srgbClr val="000000"/>
                </a:solidFill>
                <a:latin typeface="Segoe Print"/>
                <a:cs typeface="Segoe Print"/>
              </a:rPr>
              <a:t>to</a:t>
            </a:r>
            <a:r>
              <a:rPr sz="2000" b="0" u="none" spc="-20" dirty="0">
                <a:solidFill>
                  <a:srgbClr val="000000"/>
                </a:solidFill>
                <a:latin typeface="Segoe Print"/>
                <a:cs typeface="Segoe Print"/>
              </a:rPr>
              <a:t> </a:t>
            </a:r>
            <a:r>
              <a:rPr sz="2000" b="0" u="none" dirty="0">
                <a:solidFill>
                  <a:srgbClr val="000000"/>
                </a:solidFill>
                <a:latin typeface="Segoe Print"/>
                <a:cs typeface="Segoe Print"/>
              </a:rPr>
              <a:t>every</a:t>
            </a:r>
            <a:r>
              <a:rPr sz="2000" b="0" u="none" spc="-25" dirty="0">
                <a:solidFill>
                  <a:srgbClr val="000000"/>
                </a:solidFill>
                <a:latin typeface="Segoe Print"/>
                <a:cs typeface="Segoe Print"/>
              </a:rPr>
              <a:t> </a:t>
            </a:r>
            <a:r>
              <a:rPr sz="2000" b="0" u="none" dirty="0">
                <a:solidFill>
                  <a:srgbClr val="000000"/>
                </a:solidFill>
                <a:latin typeface="Segoe Print"/>
                <a:cs typeface="Segoe Print"/>
              </a:rPr>
              <a:t>data</a:t>
            </a:r>
            <a:r>
              <a:rPr sz="2000" b="0" u="none" spc="-15" dirty="0">
                <a:solidFill>
                  <a:srgbClr val="000000"/>
                </a:solidFill>
                <a:latin typeface="Segoe Print"/>
                <a:cs typeface="Segoe Print"/>
              </a:rPr>
              <a:t> </a:t>
            </a:r>
            <a:r>
              <a:rPr sz="2000" b="0" u="none" dirty="0">
                <a:solidFill>
                  <a:srgbClr val="000000"/>
                </a:solidFill>
                <a:latin typeface="Segoe Print"/>
                <a:cs typeface="Segoe Print"/>
              </a:rPr>
              <a:t>point</a:t>
            </a:r>
            <a:r>
              <a:rPr sz="2000" b="0" u="none" spc="-25" dirty="0">
                <a:solidFill>
                  <a:srgbClr val="000000"/>
                </a:solidFill>
                <a:latin typeface="Segoe Print"/>
                <a:cs typeface="Segoe Print"/>
              </a:rPr>
              <a:t> </a:t>
            </a:r>
            <a:r>
              <a:rPr sz="2000" b="0" u="none" dirty="0">
                <a:solidFill>
                  <a:srgbClr val="000000"/>
                </a:solidFill>
                <a:latin typeface="Segoe Print"/>
                <a:cs typeface="Segoe Print"/>
              </a:rPr>
              <a:t>in</a:t>
            </a:r>
            <a:r>
              <a:rPr sz="2000" b="0" u="none" spc="-25" dirty="0">
                <a:solidFill>
                  <a:srgbClr val="000000"/>
                </a:solidFill>
                <a:latin typeface="Segoe Print"/>
                <a:cs typeface="Segoe Print"/>
              </a:rPr>
              <a:t> D).</a:t>
            </a:r>
            <a:endParaRPr sz="2000" dirty="0">
              <a:latin typeface="Segoe Print"/>
              <a:cs typeface="Segoe Print"/>
            </a:endParaRPr>
          </a:p>
          <a:p>
            <a:pPr marL="549910" indent="-342900">
              <a:lnSpc>
                <a:spcPct val="100000"/>
              </a:lnSpc>
              <a:spcBef>
                <a:spcPts val="1200"/>
              </a:spcBef>
              <a:buChar char="-"/>
              <a:tabLst>
                <a:tab pos="549910" algn="l"/>
              </a:tabLst>
            </a:pPr>
            <a:r>
              <a:rPr sz="2000" b="0" u="none" dirty="0">
                <a:solidFill>
                  <a:srgbClr val="000000"/>
                </a:solidFill>
                <a:latin typeface="Segoe Print"/>
                <a:cs typeface="Segoe Print"/>
              </a:rPr>
              <a:t>Large</a:t>
            </a:r>
            <a:r>
              <a:rPr sz="2000" b="0" u="none" spc="-25" dirty="0">
                <a:solidFill>
                  <a:srgbClr val="000000"/>
                </a:solidFill>
                <a:latin typeface="Segoe Print"/>
                <a:cs typeface="Segoe Print"/>
              </a:rPr>
              <a:t> </a:t>
            </a:r>
            <a:r>
              <a:rPr sz="2000" b="0" u="none" dirty="0">
                <a:solidFill>
                  <a:srgbClr val="000000"/>
                </a:solidFill>
                <a:latin typeface="Segoe Print"/>
                <a:cs typeface="Segoe Print"/>
              </a:rPr>
              <a:t>error</a:t>
            </a:r>
            <a:r>
              <a:rPr sz="2000" b="0" u="none" spc="-40" dirty="0">
                <a:solidFill>
                  <a:srgbClr val="000000"/>
                </a:solidFill>
                <a:latin typeface="Segoe Print"/>
                <a:cs typeface="Segoe Print"/>
              </a:rPr>
              <a:t> </a:t>
            </a:r>
            <a:r>
              <a:rPr sz="2000" b="0" u="none" dirty="0">
                <a:solidFill>
                  <a:srgbClr val="000000"/>
                </a:solidFill>
                <a:latin typeface="Segoe Print"/>
                <a:cs typeface="Segoe Print"/>
              </a:rPr>
              <a:t>for</a:t>
            </a:r>
            <a:r>
              <a:rPr sz="2000" b="0" u="none" spc="-25" dirty="0">
                <a:solidFill>
                  <a:srgbClr val="000000"/>
                </a:solidFill>
                <a:latin typeface="Segoe Print"/>
                <a:cs typeface="Segoe Print"/>
              </a:rPr>
              <a:t> </a:t>
            </a:r>
            <a:r>
              <a:rPr sz="2000" b="0" u="none" dirty="0">
                <a:solidFill>
                  <a:srgbClr val="000000"/>
                </a:solidFill>
                <a:latin typeface="Segoe Print"/>
                <a:cs typeface="Segoe Print"/>
              </a:rPr>
              <a:t>some</a:t>
            </a:r>
            <a:r>
              <a:rPr sz="2000" b="0" u="none" spc="-30" dirty="0">
                <a:solidFill>
                  <a:srgbClr val="000000"/>
                </a:solidFill>
                <a:latin typeface="Segoe Print"/>
                <a:cs typeface="Segoe Print"/>
              </a:rPr>
              <a:t> </a:t>
            </a:r>
            <a:r>
              <a:rPr sz="2000" b="0" u="none" dirty="0">
                <a:solidFill>
                  <a:srgbClr val="000000"/>
                </a:solidFill>
                <a:latin typeface="Segoe Print"/>
                <a:cs typeface="Segoe Print"/>
              </a:rPr>
              <a:t>input</a:t>
            </a:r>
            <a:r>
              <a:rPr sz="2000" b="0" u="none" spc="-25" dirty="0">
                <a:solidFill>
                  <a:srgbClr val="000000"/>
                </a:solidFill>
                <a:latin typeface="Segoe Print"/>
                <a:cs typeface="Segoe Print"/>
              </a:rPr>
              <a:t> </a:t>
            </a:r>
            <a:r>
              <a:rPr sz="2000" b="0" u="none" dirty="0">
                <a:solidFill>
                  <a:srgbClr val="000000"/>
                </a:solidFill>
                <a:latin typeface="Segoe Print"/>
                <a:cs typeface="Segoe Print"/>
              </a:rPr>
              <a:t>not</a:t>
            </a:r>
            <a:r>
              <a:rPr sz="2000" b="0" u="none" spc="-25" dirty="0">
                <a:solidFill>
                  <a:srgbClr val="000000"/>
                </a:solidFill>
                <a:latin typeface="Segoe Print"/>
                <a:cs typeface="Segoe Print"/>
              </a:rPr>
              <a:t> </a:t>
            </a:r>
            <a:r>
              <a:rPr sz="2000" b="0" u="none" dirty="0">
                <a:solidFill>
                  <a:srgbClr val="000000"/>
                </a:solidFill>
                <a:latin typeface="Segoe Print"/>
                <a:cs typeface="Segoe Print"/>
              </a:rPr>
              <a:t>in</a:t>
            </a:r>
            <a:r>
              <a:rPr sz="2000" b="0" u="none" spc="-25" dirty="0">
                <a:solidFill>
                  <a:srgbClr val="000000"/>
                </a:solidFill>
                <a:latin typeface="Segoe Print"/>
                <a:cs typeface="Segoe Print"/>
              </a:rPr>
              <a:t> </a:t>
            </a:r>
            <a:r>
              <a:rPr sz="2000" b="0" u="none" spc="-50" dirty="0">
                <a:solidFill>
                  <a:srgbClr val="000000"/>
                </a:solidFill>
                <a:latin typeface="Segoe Print"/>
                <a:cs typeface="Segoe Print"/>
              </a:rPr>
              <a:t>D</a:t>
            </a:r>
            <a:endParaRPr sz="2000" dirty="0">
              <a:latin typeface="Segoe Print"/>
              <a:cs typeface="Segoe Print"/>
            </a:endParaRPr>
          </a:p>
          <a:p>
            <a:pPr marL="549910" indent="-342900">
              <a:lnSpc>
                <a:spcPct val="100000"/>
              </a:lnSpc>
              <a:spcBef>
                <a:spcPts val="1200"/>
              </a:spcBef>
              <a:buChar char="-"/>
              <a:tabLst>
                <a:tab pos="549910" algn="l"/>
              </a:tabLst>
            </a:pPr>
            <a:r>
              <a:rPr sz="2000" b="0" u="none" dirty="0">
                <a:solidFill>
                  <a:srgbClr val="000000"/>
                </a:solidFill>
                <a:latin typeface="Segoe Print"/>
                <a:cs typeface="Segoe Print"/>
              </a:rPr>
              <a:t>First</a:t>
            </a:r>
            <a:r>
              <a:rPr sz="2000" b="0" u="none" spc="-25" dirty="0">
                <a:solidFill>
                  <a:srgbClr val="000000"/>
                </a:solidFill>
                <a:latin typeface="Segoe Print"/>
                <a:cs typeface="Segoe Print"/>
              </a:rPr>
              <a:t> </a:t>
            </a:r>
            <a:r>
              <a:rPr sz="2000" b="0" u="none" dirty="0">
                <a:solidFill>
                  <a:srgbClr val="000000"/>
                </a:solidFill>
                <a:latin typeface="Segoe Print"/>
                <a:cs typeface="Segoe Print"/>
              </a:rPr>
              <a:t>glimpse</a:t>
            </a:r>
            <a:r>
              <a:rPr sz="2000" b="0" u="none" spc="-25" dirty="0">
                <a:solidFill>
                  <a:srgbClr val="000000"/>
                </a:solidFill>
                <a:latin typeface="Segoe Print"/>
                <a:cs typeface="Segoe Print"/>
              </a:rPr>
              <a:t> </a:t>
            </a:r>
            <a:r>
              <a:rPr sz="2000" b="0" u="none" dirty="0">
                <a:solidFill>
                  <a:srgbClr val="000000"/>
                </a:solidFill>
                <a:latin typeface="Segoe Print"/>
                <a:cs typeface="Segoe Print"/>
              </a:rPr>
              <a:t>of</a:t>
            </a:r>
            <a:r>
              <a:rPr sz="2000" b="0" u="none" spc="-10" dirty="0">
                <a:solidFill>
                  <a:srgbClr val="000000"/>
                </a:solidFill>
                <a:latin typeface="Segoe Print"/>
                <a:cs typeface="Segoe Print"/>
              </a:rPr>
              <a:t> </a:t>
            </a:r>
            <a:r>
              <a:rPr sz="2000" u="sng" spc="-10" dirty="0">
                <a:solidFill>
                  <a:srgbClr val="000000"/>
                </a:solidFill>
                <a:uFill>
                  <a:solidFill>
                    <a:srgbClr val="000000"/>
                  </a:solidFill>
                </a:uFill>
                <a:latin typeface="Segoe Print"/>
                <a:cs typeface="Segoe Print"/>
              </a:rPr>
              <a:t>overfitting.</a:t>
            </a:r>
            <a:endParaRPr sz="2000" dirty="0">
              <a:latin typeface="Segoe Print"/>
              <a:cs typeface="Segoe Print"/>
            </a:endParaRPr>
          </a:p>
          <a:p>
            <a:pPr marL="12700">
              <a:lnSpc>
                <a:spcPct val="100000"/>
              </a:lnSpc>
              <a:spcBef>
                <a:spcPts val="950"/>
              </a:spcBef>
            </a:pPr>
            <a:r>
              <a:rPr spc="-10" dirty="0"/>
              <a:t>Revisit:</a:t>
            </a:r>
          </a:p>
          <a:p>
            <a:pPr marL="135890">
              <a:lnSpc>
                <a:spcPct val="100000"/>
              </a:lnSpc>
              <a:spcBef>
                <a:spcPts val="815"/>
              </a:spcBef>
            </a:pPr>
            <a:r>
              <a:rPr u="sng" dirty="0">
                <a:solidFill>
                  <a:srgbClr val="C00000"/>
                </a:solidFill>
                <a:uFill>
                  <a:solidFill>
                    <a:srgbClr val="C00000"/>
                  </a:solidFill>
                </a:uFill>
              </a:rPr>
              <a:t>Q:</a:t>
            </a:r>
            <a:r>
              <a:rPr u="none" spc="-30" dirty="0">
                <a:solidFill>
                  <a:srgbClr val="C00000"/>
                </a:solidFill>
              </a:rPr>
              <a:t> </a:t>
            </a:r>
            <a:r>
              <a:rPr u="none" dirty="0">
                <a:solidFill>
                  <a:srgbClr val="C00000"/>
                </a:solidFill>
              </a:rPr>
              <a:t>How</a:t>
            </a:r>
            <a:r>
              <a:rPr u="none" spc="-40" dirty="0">
                <a:solidFill>
                  <a:srgbClr val="C00000"/>
                </a:solidFill>
              </a:rPr>
              <a:t> </a:t>
            </a:r>
            <a:r>
              <a:rPr u="none" dirty="0">
                <a:solidFill>
                  <a:srgbClr val="C00000"/>
                </a:solidFill>
              </a:rPr>
              <a:t>can</a:t>
            </a:r>
            <a:r>
              <a:rPr u="none" spc="-40" dirty="0">
                <a:solidFill>
                  <a:srgbClr val="C00000"/>
                </a:solidFill>
              </a:rPr>
              <a:t> </a:t>
            </a:r>
            <a:r>
              <a:rPr u="none" dirty="0">
                <a:solidFill>
                  <a:srgbClr val="C00000"/>
                </a:solidFill>
              </a:rPr>
              <a:t>we</a:t>
            </a:r>
            <a:r>
              <a:rPr u="none" spc="-35" dirty="0">
                <a:solidFill>
                  <a:srgbClr val="C00000"/>
                </a:solidFill>
              </a:rPr>
              <a:t> </a:t>
            </a:r>
            <a:r>
              <a:rPr u="none" dirty="0">
                <a:solidFill>
                  <a:srgbClr val="C00000"/>
                </a:solidFill>
              </a:rPr>
              <a:t>ensure</a:t>
            </a:r>
            <a:r>
              <a:rPr u="none" spc="-30" dirty="0">
                <a:solidFill>
                  <a:srgbClr val="C00000"/>
                </a:solidFill>
              </a:rPr>
              <a:t> </a:t>
            </a:r>
            <a:r>
              <a:rPr u="none" dirty="0">
                <a:solidFill>
                  <a:srgbClr val="C00000"/>
                </a:solidFill>
              </a:rPr>
              <a:t>that</a:t>
            </a:r>
            <a:r>
              <a:rPr u="none" spc="-30" dirty="0">
                <a:solidFill>
                  <a:srgbClr val="C00000"/>
                </a:solidFill>
              </a:rPr>
              <a:t> </a:t>
            </a:r>
            <a:r>
              <a:rPr u="none" spc="-10" dirty="0">
                <a:solidFill>
                  <a:srgbClr val="C00000"/>
                </a:solidFill>
              </a:rPr>
              <a:t>hypothesis </a:t>
            </a:r>
            <a:r>
              <a:rPr i="1" u="none" dirty="0">
                <a:solidFill>
                  <a:srgbClr val="C00000"/>
                </a:solidFill>
                <a:latin typeface="Calibri"/>
                <a:cs typeface="Calibri"/>
              </a:rPr>
              <a:t>h</a:t>
            </a:r>
            <a:r>
              <a:rPr i="1" u="none" spc="-40" dirty="0">
                <a:solidFill>
                  <a:srgbClr val="C00000"/>
                </a:solidFill>
                <a:latin typeface="Calibri"/>
                <a:cs typeface="Calibri"/>
              </a:rPr>
              <a:t> </a:t>
            </a:r>
            <a:r>
              <a:rPr u="none" dirty="0">
                <a:solidFill>
                  <a:srgbClr val="C00000"/>
                </a:solidFill>
              </a:rPr>
              <a:t>will</a:t>
            </a:r>
            <a:r>
              <a:rPr u="none" spc="-45" dirty="0">
                <a:solidFill>
                  <a:srgbClr val="C00000"/>
                </a:solidFill>
              </a:rPr>
              <a:t> </a:t>
            </a:r>
            <a:r>
              <a:rPr u="none" dirty="0">
                <a:solidFill>
                  <a:srgbClr val="C00000"/>
                </a:solidFill>
              </a:rPr>
              <a:t>give</a:t>
            </a:r>
            <a:r>
              <a:rPr u="none" spc="-30" dirty="0">
                <a:solidFill>
                  <a:srgbClr val="C00000"/>
                </a:solidFill>
              </a:rPr>
              <a:t> </a:t>
            </a:r>
            <a:r>
              <a:rPr u="none" dirty="0">
                <a:solidFill>
                  <a:srgbClr val="C00000"/>
                </a:solidFill>
              </a:rPr>
              <a:t>low</a:t>
            </a:r>
            <a:r>
              <a:rPr u="none" spc="-40" dirty="0">
                <a:solidFill>
                  <a:srgbClr val="C00000"/>
                </a:solidFill>
              </a:rPr>
              <a:t> </a:t>
            </a:r>
            <a:r>
              <a:rPr u="none" dirty="0">
                <a:solidFill>
                  <a:srgbClr val="C00000"/>
                </a:solidFill>
              </a:rPr>
              <a:t>loss</a:t>
            </a:r>
            <a:r>
              <a:rPr u="none" spc="-30" dirty="0">
                <a:solidFill>
                  <a:srgbClr val="C00000"/>
                </a:solidFill>
              </a:rPr>
              <a:t> </a:t>
            </a:r>
            <a:r>
              <a:rPr u="none" dirty="0">
                <a:solidFill>
                  <a:srgbClr val="C00000"/>
                </a:solidFill>
              </a:rPr>
              <a:t>on</a:t>
            </a:r>
            <a:r>
              <a:rPr u="none" spc="-45" dirty="0">
                <a:solidFill>
                  <a:srgbClr val="C00000"/>
                </a:solidFill>
              </a:rPr>
              <a:t> </a:t>
            </a:r>
            <a:r>
              <a:rPr u="none" dirty="0">
                <a:solidFill>
                  <a:srgbClr val="C00000"/>
                </a:solidFill>
              </a:rPr>
              <a:t>the</a:t>
            </a:r>
            <a:r>
              <a:rPr u="none" spc="-35" dirty="0">
                <a:solidFill>
                  <a:srgbClr val="C00000"/>
                </a:solidFill>
              </a:rPr>
              <a:t> </a:t>
            </a:r>
            <a:r>
              <a:rPr u="none" dirty="0">
                <a:solidFill>
                  <a:srgbClr val="C00000"/>
                </a:solidFill>
              </a:rPr>
              <a:t>input</a:t>
            </a:r>
            <a:r>
              <a:rPr u="none" spc="-40" dirty="0">
                <a:solidFill>
                  <a:srgbClr val="C00000"/>
                </a:solidFill>
              </a:rPr>
              <a:t> </a:t>
            </a:r>
            <a:r>
              <a:rPr u="none" dirty="0">
                <a:solidFill>
                  <a:srgbClr val="C00000"/>
                </a:solidFill>
              </a:rPr>
              <a:t>not</a:t>
            </a:r>
            <a:r>
              <a:rPr u="none" spc="-40" dirty="0">
                <a:solidFill>
                  <a:srgbClr val="C00000"/>
                </a:solidFill>
              </a:rPr>
              <a:t> </a:t>
            </a:r>
            <a:r>
              <a:rPr u="none" dirty="0">
                <a:solidFill>
                  <a:srgbClr val="C00000"/>
                </a:solidFill>
              </a:rPr>
              <a:t>in</a:t>
            </a:r>
            <a:r>
              <a:rPr u="none" spc="-30" dirty="0">
                <a:solidFill>
                  <a:srgbClr val="C00000"/>
                </a:solidFill>
              </a:rPr>
              <a:t> </a:t>
            </a:r>
            <a:r>
              <a:rPr i="1" u="none" spc="-25" dirty="0">
                <a:solidFill>
                  <a:srgbClr val="C00000"/>
                </a:solidFill>
                <a:latin typeface="Calibri"/>
                <a:cs typeface="Calibri"/>
              </a:rPr>
              <a:t>D</a:t>
            </a:r>
            <a:r>
              <a:rPr u="none" spc="-25" dirty="0">
                <a:solidFill>
                  <a:srgbClr val="C00000"/>
                </a:solidFill>
              </a:rPr>
              <a:t>?</a:t>
            </a:r>
          </a:p>
          <a:p>
            <a:pPr marL="135890">
              <a:lnSpc>
                <a:spcPct val="100000"/>
              </a:lnSpc>
              <a:spcBef>
                <a:spcPts val="2045"/>
              </a:spcBef>
            </a:pPr>
            <a:r>
              <a:rPr u="sng" dirty="0">
                <a:solidFill>
                  <a:srgbClr val="00AF50"/>
                </a:solidFill>
                <a:uFill>
                  <a:solidFill>
                    <a:srgbClr val="00AF50"/>
                  </a:solidFill>
                </a:uFill>
              </a:rPr>
              <a:t>A:</a:t>
            </a:r>
            <a:r>
              <a:rPr u="none" spc="-45" dirty="0">
                <a:solidFill>
                  <a:srgbClr val="00AF50"/>
                </a:solidFill>
              </a:rPr>
              <a:t> Train/Test</a:t>
            </a:r>
            <a:r>
              <a:rPr u="none" spc="-30" dirty="0">
                <a:solidFill>
                  <a:srgbClr val="00AF50"/>
                </a:solidFill>
              </a:rPr>
              <a:t> </a:t>
            </a:r>
            <a:r>
              <a:rPr u="none" spc="-10" dirty="0">
                <a:solidFill>
                  <a:srgbClr val="00AF50"/>
                </a:solidFill>
              </a:rPr>
              <a:t>Split</a:t>
            </a:r>
          </a:p>
        </p:txBody>
      </p:sp>
      <p:pic>
        <p:nvPicPr>
          <p:cNvPr id="3" name="object 3"/>
          <p:cNvPicPr/>
          <p:nvPr/>
        </p:nvPicPr>
        <p:blipFill>
          <a:blip r:embed="rId2" cstate="print"/>
          <a:stretch>
            <a:fillRect/>
          </a:stretch>
        </p:blipFill>
        <p:spPr>
          <a:xfrm>
            <a:off x="832436" y="1158024"/>
            <a:ext cx="8714994" cy="784860"/>
          </a:xfrm>
          <a:prstGeom prst="rect">
            <a:avLst/>
          </a:prstGeom>
        </p:spPr>
      </p:pic>
      <p:pic>
        <p:nvPicPr>
          <p:cNvPr id="4" name="object 4"/>
          <p:cNvPicPr/>
          <p:nvPr/>
        </p:nvPicPr>
        <p:blipFill>
          <a:blip r:embed="rId3" cstate="print"/>
          <a:stretch>
            <a:fillRect/>
          </a:stretch>
        </p:blipFill>
        <p:spPr>
          <a:xfrm>
            <a:off x="3886200" y="2028292"/>
            <a:ext cx="5350002" cy="91058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58849" y="52452"/>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pic>
        <p:nvPicPr>
          <p:cNvPr id="3" name="object 3"/>
          <p:cNvPicPr/>
          <p:nvPr/>
        </p:nvPicPr>
        <p:blipFill>
          <a:blip r:embed="rId2" cstate="print"/>
          <a:stretch>
            <a:fillRect/>
          </a:stretch>
        </p:blipFill>
        <p:spPr>
          <a:xfrm>
            <a:off x="672083" y="3912108"/>
            <a:ext cx="9995154" cy="1243583"/>
          </a:xfrm>
          <a:prstGeom prst="rect">
            <a:avLst/>
          </a:prstGeom>
        </p:spPr>
      </p:pic>
      <p:pic>
        <p:nvPicPr>
          <p:cNvPr id="4" name="object 4"/>
          <p:cNvPicPr/>
          <p:nvPr/>
        </p:nvPicPr>
        <p:blipFill>
          <a:blip r:embed="rId3" cstate="print"/>
          <a:stretch>
            <a:fillRect/>
          </a:stretch>
        </p:blipFill>
        <p:spPr>
          <a:xfrm>
            <a:off x="270509" y="1573595"/>
            <a:ext cx="6637782" cy="1635186"/>
          </a:xfrm>
          <a:prstGeom prst="rect">
            <a:avLst/>
          </a:prstGeom>
        </p:spPr>
      </p:pic>
      <p:sp>
        <p:nvSpPr>
          <p:cNvPr id="5" name="object 5"/>
          <p:cNvSpPr txBox="1"/>
          <p:nvPr/>
        </p:nvSpPr>
        <p:spPr>
          <a:xfrm>
            <a:off x="227838" y="3257550"/>
            <a:ext cx="3384550" cy="391160"/>
          </a:xfrm>
          <a:prstGeom prst="rect">
            <a:avLst/>
          </a:prstGeom>
        </p:spPr>
        <p:txBody>
          <a:bodyPr vert="horz" wrap="square" lIns="0" tIns="12700" rIns="0" bIns="0" rtlCol="0">
            <a:spAutoFit/>
          </a:bodyPr>
          <a:lstStyle/>
          <a:p>
            <a:pPr marL="12700">
              <a:lnSpc>
                <a:spcPct val="100000"/>
              </a:lnSpc>
              <a:spcBef>
                <a:spcPts val="100"/>
              </a:spcBef>
            </a:pPr>
            <a:r>
              <a:rPr sz="2400" b="1" u="sng" dirty="0">
                <a:uFill>
                  <a:solidFill>
                    <a:srgbClr val="000000"/>
                  </a:solidFill>
                </a:uFill>
                <a:latin typeface="Calibri"/>
                <a:cs typeface="Calibri"/>
              </a:rPr>
              <a:t>How</a:t>
            </a:r>
            <a:r>
              <a:rPr sz="2400" b="1" u="sng" spc="-40" dirty="0">
                <a:uFill>
                  <a:solidFill>
                    <a:srgbClr val="000000"/>
                  </a:solidFill>
                </a:uFill>
                <a:latin typeface="Calibri"/>
                <a:cs typeface="Calibri"/>
              </a:rPr>
              <a:t> </a:t>
            </a:r>
            <a:r>
              <a:rPr sz="2400" b="1" u="sng" dirty="0">
                <a:uFill>
                  <a:solidFill>
                    <a:srgbClr val="000000"/>
                  </a:solidFill>
                </a:uFill>
                <a:latin typeface="Calibri"/>
                <a:cs typeface="Calibri"/>
              </a:rPr>
              <a:t>to</a:t>
            </a:r>
            <a:r>
              <a:rPr sz="2400" b="1" u="sng" spc="-25" dirty="0">
                <a:uFill>
                  <a:solidFill>
                    <a:srgbClr val="000000"/>
                  </a:solidFill>
                </a:uFill>
                <a:latin typeface="Calibri"/>
                <a:cs typeface="Calibri"/>
              </a:rPr>
              <a:t> </a:t>
            </a:r>
            <a:r>
              <a:rPr sz="2400" b="1" u="sng" dirty="0">
                <a:uFill>
                  <a:solidFill>
                    <a:srgbClr val="000000"/>
                  </a:solidFill>
                </a:uFill>
                <a:latin typeface="Calibri"/>
                <a:cs typeface="Calibri"/>
              </a:rPr>
              <a:t>carry</a:t>
            </a:r>
            <a:r>
              <a:rPr sz="2400" b="1" u="sng" spc="-25" dirty="0">
                <a:uFill>
                  <a:solidFill>
                    <a:srgbClr val="000000"/>
                  </a:solidFill>
                </a:uFill>
                <a:latin typeface="Calibri"/>
                <a:cs typeface="Calibri"/>
              </a:rPr>
              <a:t> </a:t>
            </a:r>
            <a:r>
              <a:rPr sz="2400" b="1" u="sng" dirty="0">
                <a:uFill>
                  <a:solidFill>
                    <a:srgbClr val="000000"/>
                  </a:solidFill>
                </a:uFill>
                <a:latin typeface="Calibri"/>
                <a:cs typeface="Calibri"/>
              </a:rPr>
              <a:t>out</a:t>
            </a:r>
            <a:r>
              <a:rPr sz="2400" b="1" u="sng" spc="-25" dirty="0">
                <a:uFill>
                  <a:solidFill>
                    <a:srgbClr val="000000"/>
                  </a:solidFill>
                </a:uFill>
                <a:latin typeface="Calibri"/>
                <a:cs typeface="Calibri"/>
              </a:rPr>
              <a:t> </a:t>
            </a:r>
            <a:r>
              <a:rPr sz="2400" b="1" u="sng" spc="-10" dirty="0">
                <a:uFill>
                  <a:solidFill>
                    <a:srgbClr val="000000"/>
                  </a:solidFill>
                </a:uFill>
                <a:latin typeface="Calibri"/>
                <a:cs typeface="Calibri"/>
              </a:rPr>
              <a:t>splitting?</a:t>
            </a:r>
            <a:endParaRPr sz="2400">
              <a:latin typeface="Calibri"/>
              <a:cs typeface="Calibri"/>
            </a:endParaRPr>
          </a:p>
        </p:txBody>
      </p:sp>
      <p:pic>
        <p:nvPicPr>
          <p:cNvPr id="6" name="object 6"/>
          <p:cNvPicPr/>
          <p:nvPr/>
        </p:nvPicPr>
        <p:blipFill>
          <a:blip r:embed="rId4" cstate="print"/>
          <a:stretch>
            <a:fillRect/>
          </a:stretch>
        </p:blipFill>
        <p:spPr>
          <a:xfrm>
            <a:off x="8756557" y="476846"/>
            <a:ext cx="3053322" cy="3141064"/>
          </a:xfrm>
          <a:prstGeom prst="rect">
            <a:avLst/>
          </a:prstGeom>
        </p:spPr>
      </p:pic>
      <p:sp>
        <p:nvSpPr>
          <p:cNvPr id="7" name="object 7"/>
          <p:cNvSpPr txBox="1"/>
          <p:nvPr/>
        </p:nvSpPr>
        <p:spPr>
          <a:xfrm>
            <a:off x="382121" y="1182435"/>
            <a:ext cx="4476750" cy="391160"/>
          </a:xfrm>
          <a:prstGeom prst="rect">
            <a:avLst/>
          </a:prstGeom>
        </p:spPr>
        <p:txBody>
          <a:bodyPr vert="horz" wrap="square" lIns="0" tIns="12700" rIns="0" bIns="0" rtlCol="0">
            <a:spAutoFit/>
          </a:bodyPr>
          <a:lstStyle/>
          <a:p>
            <a:pPr marL="12700">
              <a:lnSpc>
                <a:spcPct val="100000"/>
              </a:lnSpc>
              <a:spcBef>
                <a:spcPts val="100"/>
              </a:spcBef>
              <a:tabLst>
                <a:tab pos="2072005" algn="l"/>
              </a:tabLst>
            </a:pPr>
            <a:r>
              <a:rPr sz="2400" b="1" u="sng" spc="-10" dirty="0">
                <a:solidFill>
                  <a:srgbClr val="006FC0"/>
                </a:solidFill>
                <a:uFill>
                  <a:solidFill>
                    <a:srgbClr val="006FC0"/>
                  </a:solidFill>
                </a:uFill>
                <a:latin typeface="Calibri"/>
                <a:cs typeface="Calibri"/>
              </a:rPr>
              <a:t>Generalization:</a:t>
            </a:r>
            <a:r>
              <a:rPr sz="2400" b="1" u="sng" dirty="0">
                <a:solidFill>
                  <a:srgbClr val="006FC0"/>
                </a:solidFill>
                <a:uFill>
                  <a:solidFill>
                    <a:srgbClr val="006FC0"/>
                  </a:solidFill>
                </a:uFill>
                <a:latin typeface="Calibri"/>
                <a:cs typeface="Calibri"/>
              </a:rPr>
              <a:t>	The</a:t>
            </a:r>
            <a:r>
              <a:rPr sz="2400" b="1" u="sng" spc="-45" dirty="0">
                <a:solidFill>
                  <a:srgbClr val="006FC0"/>
                </a:solidFill>
                <a:uFill>
                  <a:solidFill>
                    <a:srgbClr val="006FC0"/>
                  </a:solidFill>
                </a:uFill>
                <a:latin typeface="Calibri"/>
                <a:cs typeface="Calibri"/>
              </a:rPr>
              <a:t> Train-Test</a:t>
            </a:r>
            <a:r>
              <a:rPr sz="2400" b="1" u="sng" spc="-15" dirty="0">
                <a:solidFill>
                  <a:srgbClr val="006FC0"/>
                </a:solidFill>
                <a:uFill>
                  <a:solidFill>
                    <a:srgbClr val="006FC0"/>
                  </a:solidFill>
                </a:uFill>
                <a:latin typeface="Calibri"/>
                <a:cs typeface="Calibri"/>
              </a:rPr>
              <a:t> </a:t>
            </a:r>
            <a:r>
              <a:rPr sz="2400" b="1" u="sng" spc="-10" dirty="0">
                <a:solidFill>
                  <a:srgbClr val="006FC0"/>
                </a:solidFill>
                <a:uFill>
                  <a:solidFill>
                    <a:srgbClr val="006FC0"/>
                  </a:solidFill>
                </a:uFill>
                <a:latin typeface="Calibri"/>
                <a:cs typeface="Calibri"/>
              </a:rPr>
              <a:t>Split</a:t>
            </a:r>
            <a:endParaRPr sz="2400" dirty="0">
              <a:latin typeface="Calibri"/>
              <a:cs typeface="Calibri"/>
            </a:endParaRPr>
          </a:p>
        </p:txBody>
      </p:sp>
      <p:sp>
        <p:nvSpPr>
          <p:cNvPr id="9" name="object 9"/>
          <p:cNvSpPr txBox="1"/>
          <p:nvPr/>
        </p:nvSpPr>
        <p:spPr>
          <a:xfrm>
            <a:off x="490220" y="5862941"/>
            <a:ext cx="11211560" cy="391160"/>
          </a:xfrm>
          <a:prstGeom prst="rect">
            <a:avLst/>
          </a:prstGeom>
        </p:spPr>
        <p:txBody>
          <a:bodyPr vert="horz" wrap="square" lIns="0" tIns="12700" rIns="0" bIns="0" rtlCol="0">
            <a:spAutoFit/>
          </a:bodyPr>
          <a:lstStyle/>
          <a:p>
            <a:pPr marL="12700">
              <a:lnSpc>
                <a:spcPct val="100000"/>
              </a:lnSpc>
              <a:spcBef>
                <a:spcPts val="100"/>
              </a:spcBef>
            </a:pPr>
            <a:r>
              <a:rPr sz="2400" b="1" spc="-45" dirty="0">
                <a:solidFill>
                  <a:srgbClr val="006FC0"/>
                </a:solidFill>
                <a:latin typeface="Calibri"/>
                <a:cs typeface="Calibri"/>
              </a:rPr>
              <a:t>You</a:t>
            </a:r>
            <a:r>
              <a:rPr sz="2400" b="1" spc="-60" dirty="0">
                <a:solidFill>
                  <a:srgbClr val="006FC0"/>
                </a:solidFill>
                <a:latin typeface="Calibri"/>
                <a:cs typeface="Calibri"/>
              </a:rPr>
              <a:t> </a:t>
            </a:r>
            <a:r>
              <a:rPr sz="2400" b="1" dirty="0">
                <a:solidFill>
                  <a:srgbClr val="006FC0"/>
                </a:solidFill>
                <a:latin typeface="Calibri"/>
                <a:cs typeface="Calibri"/>
              </a:rPr>
              <a:t>can</a:t>
            </a:r>
            <a:r>
              <a:rPr sz="2400" b="1" spc="-65" dirty="0">
                <a:solidFill>
                  <a:srgbClr val="006FC0"/>
                </a:solidFill>
                <a:latin typeface="Calibri"/>
                <a:cs typeface="Calibri"/>
              </a:rPr>
              <a:t> </a:t>
            </a:r>
            <a:r>
              <a:rPr sz="2400" b="1" dirty="0">
                <a:solidFill>
                  <a:srgbClr val="006FC0"/>
                </a:solidFill>
                <a:latin typeface="Calibri"/>
                <a:cs typeface="Calibri"/>
              </a:rPr>
              <a:t>only</a:t>
            </a:r>
            <a:r>
              <a:rPr sz="2400" b="1" spc="-60" dirty="0">
                <a:solidFill>
                  <a:srgbClr val="006FC0"/>
                </a:solidFill>
                <a:latin typeface="Calibri"/>
                <a:cs typeface="Calibri"/>
              </a:rPr>
              <a:t> </a:t>
            </a:r>
            <a:r>
              <a:rPr sz="2400" b="1" dirty="0">
                <a:solidFill>
                  <a:srgbClr val="006FC0"/>
                </a:solidFill>
                <a:latin typeface="Calibri"/>
                <a:cs typeface="Calibri"/>
              </a:rPr>
              <a:t>use</a:t>
            </a:r>
            <a:r>
              <a:rPr sz="2400" b="1" spc="-55" dirty="0">
                <a:solidFill>
                  <a:srgbClr val="006FC0"/>
                </a:solidFill>
                <a:latin typeface="Calibri"/>
                <a:cs typeface="Calibri"/>
              </a:rPr>
              <a:t> </a:t>
            </a:r>
            <a:r>
              <a:rPr sz="2400" b="1" dirty="0">
                <a:solidFill>
                  <a:srgbClr val="006FC0"/>
                </a:solidFill>
                <a:latin typeface="Calibri"/>
                <a:cs typeface="Calibri"/>
              </a:rPr>
              <a:t>the</a:t>
            </a:r>
            <a:r>
              <a:rPr sz="2400" b="1" spc="-55" dirty="0">
                <a:solidFill>
                  <a:srgbClr val="006FC0"/>
                </a:solidFill>
                <a:latin typeface="Calibri"/>
                <a:cs typeface="Calibri"/>
              </a:rPr>
              <a:t> </a:t>
            </a:r>
            <a:r>
              <a:rPr sz="2400" b="1" dirty="0">
                <a:solidFill>
                  <a:srgbClr val="006FC0"/>
                </a:solidFill>
                <a:latin typeface="Calibri"/>
                <a:cs typeface="Calibri"/>
              </a:rPr>
              <a:t>test</a:t>
            </a:r>
            <a:r>
              <a:rPr sz="2400" b="1" spc="-40" dirty="0">
                <a:solidFill>
                  <a:srgbClr val="006FC0"/>
                </a:solidFill>
                <a:latin typeface="Calibri"/>
                <a:cs typeface="Calibri"/>
              </a:rPr>
              <a:t> </a:t>
            </a:r>
            <a:r>
              <a:rPr sz="2400" b="1" spc="-10" dirty="0">
                <a:solidFill>
                  <a:srgbClr val="006FC0"/>
                </a:solidFill>
                <a:latin typeface="Calibri"/>
                <a:cs typeface="Calibri"/>
              </a:rPr>
              <a:t>dataset</a:t>
            </a:r>
            <a:r>
              <a:rPr sz="2400" b="1" spc="-35" dirty="0">
                <a:solidFill>
                  <a:srgbClr val="006FC0"/>
                </a:solidFill>
                <a:latin typeface="Calibri"/>
                <a:cs typeface="Calibri"/>
              </a:rPr>
              <a:t> </a:t>
            </a:r>
            <a:r>
              <a:rPr sz="2400" b="1" dirty="0">
                <a:solidFill>
                  <a:srgbClr val="006FC0"/>
                </a:solidFill>
                <a:latin typeface="Calibri"/>
                <a:cs typeface="Calibri"/>
              </a:rPr>
              <a:t>once</a:t>
            </a:r>
            <a:r>
              <a:rPr sz="2400" b="1" spc="-55" dirty="0">
                <a:solidFill>
                  <a:srgbClr val="006FC0"/>
                </a:solidFill>
                <a:latin typeface="Calibri"/>
                <a:cs typeface="Calibri"/>
              </a:rPr>
              <a:t> </a:t>
            </a:r>
            <a:r>
              <a:rPr sz="2400" b="1" dirty="0">
                <a:solidFill>
                  <a:srgbClr val="006FC0"/>
                </a:solidFill>
                <a:latin typeface="Calibri"/>
                <a:cs typeface="Calibri"/>
              </a:rPr>
              <a:t>after</a:t>
            </a:r>
            <a:r>
              <a:rPr sz="2400" b="1" spc="-55" dirty="0">
                <a:solidFill>
                  <a:srgbClr val="006FC0"/>
                </a:solidFill>
                <a:latin typeface="Calibri"/>
                <a:cs typeface="Calibri"/>
              </a:rPr>
              <a:t> </a:t>
            </a:r>
            <a:r>
              <a:rPr sz="2400" b="1" dirty="0">
                <a:solidFill>
                  <a:srgbClr val="006FC0"/>
                </a:solidFill>
                <a:latin typeface="Calibri"/>
                <a:cs typeface="Calibri"/>
              </a:rPr>
              <a:t>deciding</a:t>
            </a:r>
            <a:r>
              <a:rPr sz="2400" b="1" spc="-60" dirty="0">
                <a:solidFill>
                  <a:srgbClr val="006FC0"/>
                </a:solidFill>
                <a:latin typeface="Calibri"/>
                <a:cs typeface="Calibri"/>
              </a:rPr>
              <a:t> </a:t>
            </a:r>
            <a:r>
              <a:rPr sz="2400" b="1" dirty="0">
                <a:solidFill>
                  <a:srgbClr val="006FC0"/>
                </a:solidFill>
                <a:latin typeface="Calibri"/>
                <a:cs typeface="Calibri"/>
              </a:rPr>
              <a:t>on</a:t>
            </a:r>
            <a:r>
              <a:rPr sz="2400" b="1" spc="-60" dirty="0">
                <a:solidFill>
                  <a:srgbClr val="006FC0"/>
                </a:solidFill>
                <a:latin typeface="Calibri"/>
                <a:cs typeface="Calibri"/>
              </a:rPr>
              <a:t> </a:t>
            </a:r>
            <a:r>
              <a:rPr sz="2400" b="1" dirty="0">
                <a:solidFill>
                  <a:srgbClr val="006FC0"/>
                </a:solidFill>
                <a:latin typeface="Calibri"/>
                <a:cs typeface="Calibri"/>
              </a:rPr>
              <a:t>the</a:t>
            </a:r>
            <a:r>
              <a:rPr sz="2400" b="1" spc="-55" dirty="0">
                <a:solidFill>
                  <a:srgbClr val="006FC0"/>
                </a:solidFill>
                <a:latin typeface="Calibri"/>
                <a:cs typeface="Calibri"/>
              </a:rPr>
              <a:t> </a:t>
            </a:r>
            <a:r>
              <a:rPr sz="2400" b="1" dirty="0">
                <a:solidFill>
                  <a:srgbClr val="006FC0"/>
                </a:solidFill>
                <a:latin typeface="Calibri"/>
                <a:cs typeface="Calibri"/>
              </a:rPr>
              <a:t>model</a:t>
            </a:r>
            <a:r>
              <a:rPr sz="2400" b="1" spc="-60" dirty="0">
                <a:solidFill>
                  <a:srgbClr val="006FC0"/>
                </a:solidFill>
                <a:latin typeface="Calibri"/>
                <a:cs typeface="Calibri"/>
              </a:rPr>
              <a:t> </a:t>
            </a:r>
            <a:r>
              <a:rPr sz="2400" b="1" dirty="0">
                <a:solidFill>
                  <a:srgbClr val="006FC0"/>
                </a:solidFill>
                <a:latin typeface="Calibri"/>
                <a:cs typeface="Calibri"/>
              </a:rPr>
              <a:t>using</a:t>
            </a:r>
            <a:r>
              <a:rPr sz="2400" b="1" spc="-55" dirty="0">
                <a:solidFill>
                  <a:srgbClr val="006FC0"/>
                </a:solidFill>
                <a:latin typeface="Calibri"/>
                <a:cs typeface="Calibri"/>
              </a:rPr>
              <a:t> </a:t>
            </a:r>
            <a:r>
              <a:rPr sz="2400" b="1" dirty="0">
                <a:solidFill>
                  <a:srgbClr val="006FC0"/>
                </a:solidFill>
                <a:latin typeface="Calibri"/>
                <a:cs typeface="Calibri"/>
              </a:rPr>
              <a:t>training</a:t>
            </a:r>
            <a:r>
              <a:rPr sz="2400" b="1" spc="-60" dirty="0">
                <a:solidFill>
                  <a:srgbClr val="006FC0"/>
                </a:solidFill>
                <a:latin typeface="Calibri"/>
                <a:cs typeface="Calibri"/>
              </a:rPr>
              <a:t> </a:t>
            </a:r>
            <a:r>
              <a:rPr sz="2400" b="1" spc="-10" dirty="0">
                <a:solidFill>
                  <a:srgbClr val="006FC0"/>
                </a:solidFill>
                <a:latin typeface="Calibri"/>
                <a:cs typeface="Calibri"/>
              </a:rPr>
              <a:t>dataset</a:t>
            </a:r>
            <a:endParaRPr sz="2400" dirty="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6136"/>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
        <p:nvSpPr>
          <p:cNvPr id="3" name="object 3"/>
          <p:cNvSpPr txBox="1"/>
          <p:nvPr/>
        </p:nvSpPr>
        <p:spPr>
          <a:xfrm>
            <a:off x="228600" y="975011"/>
            <a:ext cx="4742180" cy="391160"/>
          </a:xfrm>
          <a:prstGeom prst="rect">
            <a:avLst/>
          </a:prstGeom>
        </p:spPr>
        <p:txBody>
          <a:bodyPr vert="horz" wrap="square" lIns="0" tIns="12700" rIns="0" bIns="0" rtlCol="0">
            <a:spAutoFit/>
          </a:bodyPr>
          <a:lstStyle/>
          <a:p>
            <a:pPr marL="12700">
              <a:lnSpc>
                <a:spcPct val="100000"/>
              </a:lnSpc>
              <a:spcBef>
                <a:spcPts val="100"/>
              </a:spcBef>
            </a:pPr>
            <a:r>
              <a:rPr sz="2400" b="1" u="sng" dirty="0">
                <a:solidFill>
                  <a:srgbClr val="006FC0"/>
                </a:solidFill>
                <a:uFill>
                  <a:solidFill>
                    <a:srgbClr val="006FC0"/>
                  </a:solidFill>
                </a:uFill>
                <a:latin typeface="Calibri"/>
                <a:cs typeface="Calibri"/>
              </a:rPr>
              <a:t>Learning</a:t>
            </a:r>
            <a:r>
              <a:rPr sz="2400" b="1" u="sng" spc="-80" dirty="0">
                <a:solidFill>
                  <a:srgbClr val="006FC0"/>
                </a:solidFill>
                <a:uFill>
                  <a:solidFill>
                    <a:srgbClr val="006FC0"/>
                  </a:solidFill>
                </a:uFill>
                <a:latin typeface="Calibri"/>
                <a:cs typeface="Calibri"/>
              </a:rPr>
              <a:t> </a:t>
            </a:r>
            <a:r>
              <a:rPr sz="2400" b="1" u="sng" dirty="0">
                <a:solidFill>
                  <a:srgbClr val="006FC0"/>
                </a:solidFill>
                <a:uFill>
                  <a:solidFill>
                    <a:srgbClr val="006FC0"/>
                  </a:solidFill>
                </a:uFill>
                <a:latin typeface="Calibri"/>
                <a:cs typeface="Calibri"/>
              </a:rPr>
              <a:t>(Revisit</a:t>
            </a:r>
            <a:r>
              <a:rPr sz="2400" b="1" u="sng" spc="-70" dirty="0">
                <a:solidFill>
                  <a:srgbClr val="006FC0"/>
                </a:solidFill>
                <a:uFill>
                  <a:solidFill>
                    <a:srgbClr val="006FC0"/>
                  </a:solidFill>
                </a:uFill>
                <a:latin typeface="Calibri"/>
                <a:cs typeface="Calibri"/>
              </a:rPr>
              <a:t> </a:t>
            </a:r>
            <a:r>
              <a:rPr sz="2400" b="1" u="sng" dirty="0">
                <a:solidFill>
                  <a:srgbClr val="006FC0"/>
                </a:solidFill>
                <a:uFill>
                  <a:solidFill>
                    <a:srgbClr val="006FC0"/>
                  </a:solidFill>
                </a:uFill>
                <a:latin typeface="Calibri"/>
                <a:cs typeface="Calibri"/>
              </a:rPr>
              <a:t>after</a:t>
            </a:r>
            <a:r>
              <a:rPr sz="2400" b="1" u="sng" spc="-75" dirty="0">
                <a:solidFill>
                  <a:srgbClr val="006FC0"/>
                </a:solidFill>
                <a:uFill>
                  <a:solidFill>
                    <a:srgbClr val="006FC0"/>
                  </a:solidFill>
                </a:uFill>
                <a:latin typeface="Calibri"/>
                <a:cs typeface="Calibri"/>
              </a:rPr>
              <a:t> </a:t>
            </a:r>
            <a:r>
              <a:rPr sz="2400" b="1" u="sng" spc="-25" dirty="0">
                <a:solidFill>
                  <a:srgbClr val="006FC0"/>
                </a:solidFill>
                <a:uFill>
                  <a:solidFill>
                    <a:srgbClr val="006FC0"/>
                  </a:solidFill>
                </a:uFill>
                <a:latin typeface="Calibri"/>
                <a:cs typeface="Calibri"/>
              </a:rPr>
              <a:t>train-</a:t>
            </a:r>
            <a:r>
              <a:rPr sz="2400" b="1" u="sng" dirty="0">
                <a:solidFill>
                  <a:srgbClr val="006FC0"/>
                </a:solidFill>
                <a:uFill>
                  <a:solidFill>
                    <a:srgbClr val="006FC0"/>
                  </a:solidFill>
                </a:uFill>
                <a:latin typeface="Calibri"/>
                <a:cs typeface="Calibri"/>
              </a:rPr>
              <a:t>test</a:t>
            </a:r>
            <a:r>
              <a:rPr sz="2400" b="1" u="sng" spc="-50" dirty="0">
                <a:solidFill>
                  <a:srgbClr val="006FC0"/>
                </a:solidFill>
                <a:uFill>
                  <a:solidFill>
                    <a:srgbClr val="006FC0"/>
                  </a:solidFill>
                </a:uFill>
                <a:latin typeface="Calibri"/>
                <a:cs typeface="Calibri"/>
              </a:rPr>
              <a:t> </a:t>
            </a:r>
            <a:r>
              <a:rPr sz="2400" b="1" u="sng" spc="-10" dirty="0">
                <a:solidFill>
                  <a:srgbClr val="006FC0"/>
                </a:solidFill>
                <a:uFill>
                  <a:solidFill>
                    <a:srgbClr val="006FC0"/>
                  </a:solidFill>
                </a:uFill>
                <a:latin typeface="Calibri"/>
                <a:cs typeface="Calibri"/>
              </a:rPr>
              <a:t>split)</a:t>
            </a:r>
            <a:endParaRPr sz="2400" dirty="0">
              <a:latin typeface="Calibri"/>
              <a:cs typeface="Calibri"/>
            </a:endParaRPr>
          </a:p>
        </p:txBody>
      </p:sp>
      <p:pic>
        <p:nvPicPr>
          <p:cNvPr id="4" name="object 4"/>
          <p:cNvPicPr/>
          <p:nvPr/>
        </p:nvPicPr>
        <p:blipFill>
          <a:blip r:embed="rId2" cstate="print"/>
          <a:stretch>
            <a:fillRect/>
          </a:stretch>
        </p:blipFill>
        <p:spPr>
          <a:xfrm>
            <a:off x="354329" y="1487424"/>
            <a:ext cx="5975604" cy="1075181"/>
          </a:xfrm>
          <a:prstGeom prst="rect">
            <a:avLst/>
          </a:prstGeom>
        </p:spPr>
      </p:pic>
      <p:pic>
        <p:nvPicPr>
          <p:cNvPr id="5" name="object 5"/>
          <p:cNvPicPr/>
          <p:nvPr/>
        </p:nvPicPr>
        <p:blipFill>
          <a:blip r:embed="rId3" cstate="print"/>
          <a:stretch>
            <a:fillRect/>
          </a:stretch>
        </p:blipFill>
        <p:spPr>
          <a:xfrm>
            <a:off x="354329" y="2635757"/>
            <a:ext cx="7276338" cy="1433321"/>
          </a:xfrm>
          <a:prstGeom prst="rect">
            <a:avLst/>
          </a:prstGeom>
        </p:spPr>
      </p:pic>
      <p:sp>
        <p:nvSpPr>
          <p:cNvPr id="6" name="object 6"/>
          <p:cNvSpPr txBox="1"/>
          <p:nvPr/>
        </p:nvSpPr>
        <p:spPr>
          <a:xfrm>
            <a:off x="433323" y="4197604"/>
            <a:ext cx="1350645" cy="391160"/>
          </a:xfrm>
          <a:prstGeom prst="rect">
            <a:avLst/>
          </a:prstGeom>
        </p:spPr>
        <p:txBody>
          <a:bodyPr vert="horz" wrap="square" lIns="0" tIns="12700" rIns="0" bIns="0" rtlCol="0">
            <a:spAutoFit/>
          </a:bodyPr>
          <a:lstStyle/>
          <a:p>
            <a:pPr marL="12700">
              <a:lnSpc>
                <a:spcPct val="100000"/>
              </a:lnSpc>
              <a:spcBef>
                <a:spcPts val="100"/>
              </a:spcBef>
            </a:pPr>
            <a:r>
              <a:rPr sz="2400" b="1" u="sng" spc="-10" dirty="0">
                <a:solidFill>
                  <a:srgbClr val="006FC0"/>
                </a:solidFill>
                <a:uFill>
                  <a:solidFill>
                    <a:srgbClr val="006FC0"/>
                  </a:solidFill>
                </a:uFill>
                <a:latin typeface="Calibri"/>
                <a:cs typeface="Calibri"/>
              </a:rPr>
              <a:t>Evaluation</a:t>
            </a:r>
            <a:endParaRPr sz="2400">
              <a:latin typeface="Calibri"/>
              <a:cs typeface="Calibri"/>
            </a:endParaRPr>
          </a:p>
        </p:txBody>
      </p:sp>
      <p:pic>
        <p:nvPicPr>
          <p:cNvPr id="7" name="object 7"/>
          <p:cNvPicPr/>
          <p:nvPr/>
        </p:nvPicPr>
        <p:blipFill>
          <a:blip r:embed="rId4" cstate="print"/>
          <a:stretch>
            <a:fillRect/>
          </a:stretch>
        </p:blipFill>
        <p:spPr>
          <a:xfrm>
            <a:off x="861060" y="4760214"/>
            <a:ext cx="6979158" cy="143408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9145"/>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pic>
        <p:nvPicPr>
          <p:cNvPr id="3" name="object 3"/>
          <p:cNvPicPr/>
          <p:nvPr/>
        </p:nvPicPr>
        <p:blipFill>
          <a:blip r:embed="rId2" cstate="print"/>
          <a:stretch>
            <a:fillRect/>
          </a:stretch>
        </p:blipFill>
        <p:spPr>
          <a:xfrm>
            <a:off x="366522" y="1445513"/>
            <a:ext cx="10453878" cy="2540507"/>
          </a:xfrm>
          <a:prstGeom prst="rect">
            <a:avLst/>
          </a:prstGeom>
        </p:spPr>
      </p:pic>
      <p:sp>
        <p:nvSpPr>
          <p:cNvPr id="4" name="object 4"/>
          <p:cNvSpPr txBox="1"/>
          <p:nvPr/>
        </p:nvSpPr>
        <p:spPr>
          <a:xfrm>
            <a:off x="222250" y="947733"/>
            <a:ext cx="4476750" cy="391160"/>
          </a:xfrm>
          <a:prstGeom prst="rect">
            <a:avLst/>
          </a:prstGeom>
        </p:spPr>
        <p:txBody>
          <a:bodyPr vert="horz" wrap="square" lIns="0" tIns="12700" rIns="0" bIns="0" rtlCol="0">
            <a:spAutoFit/>
          </a:bodyPr>
          <a:lstStyle/>
          <a:p>
            <a:pPr marL="12700">
              <a:lnSpc>
                <a:spcPct val="100000"/>
              </a:lnSpc>
              <a:spcBef>
                <a:spcPts val="100"/>
              </a:spcBef>
              <a:tabLst>
                <a:tab pos="2072005" algn="l"/>
              </a:tabLst>
            </a:pPr>
            <a:r>
              <a:rPr sz="2400" b="1" u="sng" spc="-10" dirty="0">
                <a:solidFill>
                  <a:srgbClr val="006FC0"/>
                </a:solidFill>
                <a:uFill>
                  <a:solidFill>
                    <a:srgbClr val="006FC0"/>
                  </a:solidFill>
                </a:uFill>
                <a:latin typeface="Calibri"/>
                <a:cs typeface="Calibri"/>
              </a:rPr>
              <a:t>Generalization:</a:t>
            </a:r>
            <a:r>
              <a:rPr sz="2400" b="1" u="sng" dirty="0">
                <a:solidFill>
                  <a:srgbClr val="006FC0"/>
                </a:solidFill>
                <a:uFill>
                  <a:solidFill>
                    <a:srgbClr val="006FC0"/>
                  </a:solidFill>
                </a:uFill>
                <a:latin typeface="Calibri"/>
                <a:cs typeface="Calibri"/>
              </a:rPr>
              <a:t>	The</a:t>
            </a:r>
            <a:r>
              <a:rPr sz="2400" b="1" u="sng" spc="-45" dirty="0">
                <a:solidFill>
                  <a:srgbClr val="006FC0"/>
                </a:solidFill>
                <a:uFill>
                  <a:solidFill>
                    <a:srgbClr val="006FC0"/>
                  </a:solidFill>
                </a:uFill>
                <a:latin typeface="Calibri"/>
                <a:cs typeface="Calibri"/>
              </a:rPr>
              <a:t> Train-Test</a:t>
            </a:r>
            <a:r>
              <a:rPr sz="2400" b="1" u="sng" spc="-15" dirty="0">
                <a:solidFill>
                  <a:srgbClr val="006FC0"/>
                </a:solidFill>
                <a:uFill>
                  <a:solidFill>
                    <a:srgbClr val="006FC0"/>
                  </a:solidFill>
                </a:uFill>
                <a:latin typeface="Calibri"/>
                <a:cs typeface="Calibri"/>
              </a:rPr>
              <a:t> </a:t>
            </a:r>
            <a:r>
              <a:rPr sz="2400" b="1" u="sng" spc="-10" dirty="0">
                <a:solidFill>
                  <a:srgbClr val="006FC0"/>
                </a:solidFill>
                <a:uFill>
                  <a:solidFill>
                    <a:srgbClr val="006FC0"/>
                  </a:solidFill>
                </a:uFill>
                <a:latin typeface="Calibri"/>
                <a:cs typeface="Calibri"/>
              </a:rPr>
              <a:t>Split</a:t>
            </a:r>
            <a:endParaRPr sz="2400" dirty="0">
              <a:latin typeface="Calibri"/>
              <a:cs typeface="Calibri"/>
            </a:endParaRPr>
          </a:p>
        </p:txBody>
      </p:sp>
      <p:sp>
        <p:nvSpPr>
          <p:cNvPr id="5" name="object 5"/>
          <p:cNvSpPr txBox="1"/>
          <p:nvPr/>
        </p:nvSpPr>
        <p:spPr>
          <a:xfrm>
            <a:off x="222250" y="3926077"/>
            <a:ext cx="10669270" cy="2000885"/>
          </a:xfrm>
          <a:prstGeom prst="rect">
            <a:avLst/>
          </a:prstGeom>
        </p:spPr>
        <p:txBody>
          <a:bodyPr vert="horz" wrap="square" lIns="0" tIns="85725" rIns="0" bIns="0" rtlCol="0">
            <a:spAutoFit/>
          </a:bodyPr>
          <a:lstStyle/>
          <a:p>
            <a:pPr marL="12700">
              <a:lnSpc>
                <a:spcPct val="100000"/>
              </a:lnSpc>
              <a:spcBef>
                <a:spcPts val="675"/>
              </a:spcBef>
            </a:pPr>
            <a:r>
              <a:rPr sz="2400" b="1" u="sng" dirty="0">
                <a:uFill>
                  <a:solidFill>
                    <a:srgbClr val="000000"/>
                  </a:solidFill>
                </a:uFill>
                <a:latin typeface="Calibri"/>
                <a:cs typeface="Calibri"/>
              </a:rPr>
              <a:t>Q:</a:t>
            </a:r>
            <a:r>
              <a:rPr sz="2400" b="1" spc="-30" dirty="0">
                <a:latin typeface="Calibri"/>
                <a:cs typeface="Calibri"/>
              </a:rPr>
              <a:t> </a:t>
            </a:r>
            <a:r>
              <a:rPr sz="2400" b="1" spc="-10" dirty="0">
                <a:latin typeface="Calibri"/>
                <a:cs typeface="Calibri"/>
              </a:rPr>
              <a:t>Idea:</a:t>
            </a:r>
            <a:endParaRPr sz="2400" dirty="0">
              <a:latin typeface="Calibri"/>
              <a:cs typeface="Calibri"/>
            </a:endParaRPr>
          </a:p>
          <a:p>
            <a:pPr marL="406400" marR="5080">
              <a:lnSpc>
                <a:spcPct val="100000"/>
              </a:lnSpc>
              <a:spcBef>
                <a:spcPts val="575"/>
              </a:spcBef>
            </a:pPr>
            <a:r>
              <a:rPr sz="2400" dirty="0">
                <a:latin typeface="Segoe Print"/>
                <a:cs typeface="Segoe Print"/>
              </a:rPr>
              <a:t>Validation</a:t>
            </a:r>
            <a:r>
              <a:rPr sz="2400" spc="-30" dirty="0">
                <a:latin typeface="Segoe Print"/>
                <a:cs typeface="Segoe Print"/>
              </a:rPr>
              <a:t> </a:t>
            </a:r>
            <a:r>
              <a:rPr sz="2400" dirty="0">
                <a:latin typeface="Segoe Print"/>
                <a:cs typeface="Segoe Print"/>
              </a:rPr>
              <a:t>data</a:t>
            </a:r>
            <a:r>
              <a:rPr sz="2400" spc="-45" dirty="0">
                <a:latin typeface="Segoe Print"/>
                <a:cs typeface="Segoe Print"/>
              </a:rPr>
              <a:t> </a:t>
            </a:r>
            <a:r>
              <a:rPr sz="2400" dirty="0">
                <a:latin typeface="Segoe Print"/>
                <a:cs typeface="Segoe Print"/>
              </a:rPr>
              <a:t>is</a:t>
            </a:r>
            <a:r>
              <a:rPr sz="2400" spc="-60" dirty="0">
                <a:latin typeface="Segoe Print"/>
                <a:cs typeface="Segoe Print"/>
              </a:rPr>
              <a:t> </a:t>
            </a:r>
            <a:r>
              <a:rPr sz="2400" dirty="0">
                <a:latin typeface="Segoe Print"/>
                <a:cs typeface="Segoe Print"/>
              </a:rPr>
              <a:t>used</a:t>
            </a:r>
            <a:r>
              <a:rPr sz="2400" spc="-60" dirty="0">
                <a:latin typeface="Segoe Print"/>
                <a:cs typeface="Segoe Print"/>
              </a:rPr>
              <a:t> </a:t>
            </a:r>
            <a:r>
              <a:rPr sz="2400" dirty="0">
                <a:latin typeface="Segoe Print"/>
                <a:cs typeface="Segoe Print"/>
              </a:rPr>
              <a:t>evaluate</a:t>
            </a:r>
            <a:r>
              <a:rPr sz="2400" spc="-40" dirty="0">
                <a:latin typeface="Segoe Print"/>
                <a:cs typeface="Segoe Print"/>
              </a:rPr>
              <a:t> </a:t>
            </a:r>
            <a:r>
              <a:rPr sz="2400" dirty="0">
                <a:latin typeface="Segoe Print"/>
                <a:cs typeface="Segoe Print"/>
              </a:rPr>
              <a:t>the</a:t>
            </a:r>
            <a:r>
              <a:rPr sz="2400" spc="-55" dirty="0">
                <a:latin typeface="Segoe Print"/>
                <a:cs typeface="Segoe Print"/>
              </a:rPr>
              <a:t> </a:t>
            </a:r>
            <a:r>
              <a:rPr sz="2400" dirty="0">
                <a:latin typeface="Segoe Print"/>
                <a:cs typeface="Segoe Print"/>
              </a:rPr>
              <a:t>loss</a:t>
            </a:r>
            <a:r>
              <a:rPr sz="2400" spc="-55" dirty="0">
                <a:latin typeface="Segoe Print"/>
                <a:cs typeface="Segoe Print"/>
              </a:rPr>
              <a:t> </a:t>
            </a:r>
            <a:r>
              <a:rPr sz="2400" dirty="0">
                <a:latin typeface="Segoe Print"/>
                <a:cs typeface="Segoe Print"/>
              </a:rPr>
              <a:t>for</a:t>
            </a:r>
            <a:r>
              <a:rPr sz="2400" spc="-25" dirty="0">
                <a:latin typeface="Segoe Print"/>
                <a:cs typeface="Segoe Print"/>
              </a:rPr>
              <a:t> </a:t>
            </a:r>
            <a:r>
              <a:rPr sz="2400" dirty="0">
                <a:latin typeface="Segoe Print"/>
                <a:cs typeface="Segoe Print"/>
              </a:rPr>
              <a:t>a</a:t>
            </a:r>
            <a:r>
              <a:rPr sz="2400" spc="-50" dirty="0">
                <a:latin typeface="Segoe Print"/>
                <a:cs typeface="Segoe Print"/>
              </a:rPr>
              <a:t> </a:t>
            </a:r>
            <a:r>
              <a:rPr sz="2400" dirty="0">
                <a:latin typeface="Segoe Print"/>
                <a:cs typeface="Segoe Print"/>
              </a:rPr>
              <a:t>function</a:t>
            </a:r>
            <a:r>
              <a:rPr sz="2400" spc="-55" dirty="0">
                <a:latin typeface="Segoe Print"/>
                <a:cs typeface="Segoe Print"/>
              </a:rPr>
              <a:t> </a:t>
            </a:r>
            <a:r>
              <a:rPr sz="2400" dirty="0">
                <a:latin typeface="Segoe Print"/>
                <a:cs typeface="Segoe Print"/>
              </a:rPr>
              <a:t>h</a:t>
            </a:r>
            <a:r>
              <a:rPr sz="2400" spc="-50" dirty="0">
                <a:latin typeface="Segoe Print"/>
                <a:cs typeface="Segoe Print"/>
              </a:rPr>
              <a:t> </a:t>
            </a:r>
            <a:r>
              <a:rPr sz="2400" dirty="0">
                <a:latin typeface="Segoe Print"/>
                <a:cs typeface="Segoe Print"/>
              </a:rPr>
              <a:t>that</a:t>
            </a:r>
            <a:r>
              <a:rPr sz="2400" spc="-55" dirty="0">
                <a:latin typeface="Segoe Print"/>
                <a:cs typeface="Segoe Print"/>
              </a:rPr>
              <a:t> </a:t>
            </a:r>
            <a:r>
              <a:rPr sz="2400" spc="-25" dirty="0">
                <a:latin typeface="Segoe Print"/>
                <a:cs typeface="Segoe Print"/>
              </a:rPr>
              <a:t>is </a:t>
            </a:r>
            <a:r>
              <a:rPr sz="2400" dirty="0">
                <a:latin typeface="Segoe Print"/>
                <a:cs typeface="Segoe Print"/>
              </a:rPr>
              <a:t>determined</a:t>
            </a:r>
            <a:r>
              <a:rPr sz="2400" spc="-40" dirty="0">
                <a:latin typeface="Segoe Print"/>
                <a:cs typeface="Segoe Print"/>
              </a:rPr>
              <a:t> </a:t>
            </a:r>
            <a:r>
              <a:rPr sz="2400" dirty="0">
                <a:latin typeface="Segoe Print"/>
                <a:cs typeface="Segoe Print"/>
              </a:rPr>
              <a:t>using</a:t>
            </a:r>
            <a:r>
              <a:rPr sz="2400" spc="-45" dirty="0">
                <a:latin typeface="Segoe Print"/>
                <a:cs typeface="Segoe Print"/>
              </a:rPr>
              <a:t> </a:t>
            </a:r>
            <a:r>
              <a:rPr sz="2400" dirty="0">
                <a:latin typeface="Segoe Print"/>
                <a:cs typeface="Segoe Print"/>
              </a:rPr>
              <a:t>the</a:t>
            </a:r>
            <a:r>
              <a:rPr sz="2400" spc="-45" dirty="0">
                <a:latin typeface="Segoe Print"/>
                <a:cs typeface="Segoe Print"/>
              </a:rPr>
              <a:t> </a:t>
            </a:r>
            <a:r>
              <a:rPr sz="2400" dirty="0">
                <a:latin typeface="Segoe Print"/>
                <a:cs typeface="Segoe Print"/>
              </a:rPr>
              <a:t>learning</a:t>
            </a:r>
            <a:r>
              <a:rPr sz="2400" spc="-50" dirty="0">
                <a:latin typeface="Segoe Print"/>
                <a:cs typeface="Segoe Print"/>
              </a:rPr>
              <a:t> </a:t>
            </a:r>
            <a:r>
              <a:rPr sz="2400" dirty="0">
                <a:latin typeface="Segoe Print"/>
                <a:cs typeface="Segoe Print"/>
              </a:rPr>
              <a:t>on</a:t>
            </a:r>
            <a:r>
              <a:rPr sz="2400" spc="-35" dirty="0">
                <a:latin typeface="Segoe Print"/>
                <a:cs typeface="Segoe Print"/>
              </a:rPr>
              <a:t> </a:t>
            </a:r>
            <a:r>
              <a:rPr sz="2400" dirty="0">
                <a:latin typeface="Segoe Print"/>
                <a:cs typeface="Segoe Print"/>
              </a:rPr>
              <a:t>the</a:t>
            </a:r>
            <a:r>
              <a:rPr sz="2400" spc="-45" dirty="0">
                <a:latin typeface="Segoe Print"/>
                <a:cs typeface="Segoe Print"/>
              </a:rPr>
              <a:t> </a:t>
            </a:r>
            <a:r>
              <a:rPr sz="2400" dirty="0">
                <a:latin typeface="Segoe Print"/>
                <a:cs typeface="Segoe Print"/>
              </a:rPr>
              <a:t>training</a:t>
            </a:r>
            <a:r>
              <a:rPr sz="2400" spc="-50" dirty="0">
                <a:latin typeface="Segoe Print"/>
                <a:cs typeface="Segoe Print"/>
              </a:rPr>
              <a:t> </a:t>
            </a:r>
            <a:r>
              <a:rPr sz="2400" spc="-10" dirty="0">
                <a:latin typeface="Segoe Print"/>
                <a:cs typeface="Segoe Print"/>
              </a:rPr>
              <a:t>data-</a:t>
            </a:r>
            <a:r>
              <a:rPr sz="2400" dirty="0">
                <a:latin typeface="Segoe Print"/>
                <a:cs typeface="Segoe Print"/>
              </a:rPr>
              <a:t>set.</a:t>
            </a:r>
            <a:r>
              <a:rPr sz="2400" spc="-45" dirty="0">
                <a:latin typeface="Segoe Print"/>
                <a:cs typeface="Segoe Print"/>
              </a:rPr>
              <a:t> </a:t>
            </a:r>
            <a:r>
              <a:rPr sz="2400" dirty="0">
                <a:latin typeface="Segoe Print"/>
                <a:cs typeface="Segoe Print"/>
              </a:rPr>
              <a:t>If</a:t>
            </a:r>
            <a:r>
              <a:rPr sz="2400" spc="-35" dirty="0">
                <a:latin typeface="Segoe Print"/>
                <a:cs typeface="Segoe Print"/>
              </a:rPr>
              <a:t> </a:t>
            </a:r>
            <a:r>
              <a:rPr sz="2400" dirty="0">
                <a:latin typeface="Segoe Print"/>
                <a:cs typeface="Segoe Print"/>
              </a:rPr>
              <a:t>the</a:t>
            </a:r>
            <a:r>
              <a:rPr sz="2400" spc="-45" dirty="0">
                <a:latin typeface="Segoe Print"/>
                <a:cs typeface="Segoe Print"/>
              </a:rPr>
              <a:t> </a:t>
            </a:r>
            <a:r>
              <a:rPr sz="2400" spc="-20" dirty="0">
                <a:latin typeface="Segoe Print"/>
                <a:cs typeface="Segoe Print"/>
              </a:rPr>
              <a:t>loss </a:t>
            </a:r>
            <a:r>
              <a:rPr sz="2400" dirty="0">
                <a:latin typeface="Segoe Print"/>
                <a:cs typeface="Segoe Print"/>
              </a:rPr>
              <a:t>on</a:t>
            </a:r>
            <a:r>
              <a:rPr sz="2400" spc="-45" dirty="0">
                <a:latin typeface="Segoe Print"/>
                <a:cs typeface="Segoe Print"/>
              </a:rPr>
              <a:t> </a:t>
            </a:r>
            <a:r>
              <a:rPr sz="2400" dirty="0">
                <a:latin typeface="Segoe Print"/>
                <a:cs typeface="Segoe Print"/>
              </a:rPr>
              <a:t>validation</a:t>
            </a:r>
            <a:r>
              <a:rPr sz="2400" spc="-20" dirty="0">
                <a:latin typeface="Segoe Print"/>
                <a:cs typeface="Segoe Print"/>
              </a:rPr>
              <a:t> </a:t>
            </a:r>
            <a:r>
              <a:rPr sz="2400" dirty="0">
                <a:latin typeface="Segoe Print"/>
                <a:cs typeface="Segoe Print"/>
              </a:rPr>
              <a:t>data</a:t>
            </a:r>
            <a:r>
              <a:rPr sz="2400" spc="-35" dirty="0">
                <a:latin typeface="Segoe Print"/>
                <a:cs typeface="Segoe Print"/>
              </a:rPr>
              <a:t> </a:t>
            </a:r>
            <a:r>
              <a:rPr sz="2400" dirty="0">
                <a:latin typeface="Segoe Print"/>
                <a:cs typeface="Segoe Print"/>
              </a:rPr>
              <a:t>is</a:t>
            </a:r>
            <a:r>
              <a:rPr sz="2400" spc="-50" dirty="0">
                <a:latin typeface="Segoe Print"/>
                <a:cs typeface="Segoe Print"/>
              </a:rPr>
              <a:t> </a:t>
            </a:r>
            <a:r>
              <a:rPr sz="2400" dirty="0">
                <a:latin typeface="Segoe Print"/>
                <a:cs typeface="Segoe Print"/>
              </a:rPr>
              <a:t>high</a:t>
            </a:r>
            <a:r>
              <a:rPr sz="2400" spc="-40" dirty="0">
                <a:latin typeface="Segoe Print"/>
                <a:cs typeface="Segoe Print"/>
              </a:rPr>
              <a:t> </a:t>
            </a:r>
            <a:r>
              <a:rPr sz="2400" dirty="0">
                <a:latin typeface="Segoe Print"/>
                <a:cs typeface="Segoe Print"/>
              </a:rPr>
              <a:t>for</a:t>
            </a:r>
            <a:r>
              <a:rPr sz="2400" spc="-25" dirty="0">
                <a:latin typeface="Segoe Print"/>
                <a:cs typeface="Segoe Print"/>
              </a:rPr>
              <a:t> </a:t>
            </a:r>
            <a:r>
              <a:rPr sz="2400" dirty="0">
                <a:latin typeface="Segoe Print"/>
                <a:cs typeface="Segoe Print"/>
              </a:rPr>
              <a:t>a</a:t>
            </a:r>
            <a:r>
              <a:rPr sz="2400" spc="-35" dirty="0">
                <a:latin typeface="Segoe Print"/>
                <a:cs typeface="Segoe Print"/>
              </a:rPr>
              <a:t> </a:t>
            </a:r>
            <a:r>
              <a:rPr sz="2400" dirty="0">
                <a:latin typeface="Segoe Print"/>
                <a:cs typeface="Segoe Print"/>
              </a:rPr>
              <a:t>given</a:t>
            </a:r>
            <a:r>
              <a:rPr sz="2400" spc="-45" dirty="0">
                <a:latin typeface="Segoe Print"/>
                <a:cs typeface="Segoe Print"/>
              </a:rPr>
              <a:t> </a:t>
            </a:r>
            <a:r>
              <a:rPr sz="2400" dirty="0">
                <a:latin typeface="Segoe Print"/>
                <a:cs typeface="Segoe Print"/>
              </a:rPr>
              <a:t>h,</a:t>
            </a:r>
            <a:r>
              <a:rPr sz="2400" spc="-30" dirty="0">
                <a:latin typeface="Segoe Print"/>
                <a:cs typeface="Segoe Print"/>
              </a:rPr>
              <a:t> </a:t>
            </a:r>
            <a:r>
              <a:rPr sz="2400" dirty="0">
                <a:latin typeface="Segoe Print"/>
                <a:cs typeface="Segoe Print"/>
              </a:rPr>
              <a:t>the</a:t>
            </a:r>
            <a:r>
              <a:rPr sz="2400" spc="-45" dirty="0">
                <a:latin typeface="Segoe Print"/>
                <a:cs typeface="Segoe Print"/>
              </a:rPr>
              <a:t> </a:t>
            </a:r>
            <a:r>
              <a:rPr sz="2400" dirty="0">
                <a:latin typeface="Segoe Print"/>
                <a:cs typeface="Segoe Print"/>
              </a:rPr>
              <a:t>hypothesis</a:t>
            </a:r>
            <a:r>
              <a:rPr sz="2400" spc="-45" dirty="0">
                <a:latin typeface="Segoe Print"/>
                <a:cs typeface="Segoe Print"/>
              </a:rPr>
              <a:t> </a:t>
            </a:r>
            <a:r>
              <a:rPr sz="2400" dirty="0">
                <a:latin typeface="Segoe Print"/>
                <a:cs typeface="Segoe Print"/>
              </a:rPr>
              <a:t>or</a:t>
            </a:r>
            <a:r>
              <a:rPr sz="2400" spc="-40" dirty="0">
                <a:latin typeface="Segoe Print"/>
                <a:cs typeface="Segoe Print"/>
              </a:rPr>
              <a:t> </a:t>
            </a:r>
            <a:r>
              <a:rPr sz="2400" spc="-10" dirty="0">
                <a:latin typeface="Segoe Print"/>
                <a:cs typeface="Segoe Print"/>
              </a:rPr>
              <a:t>model </a:t>
            </a:r>
            <a:r>
              <a:rPr sz="2400" dirty="0">
                <a:latin typeface="Segoe Print"/>
                <a:cs typeface="Segoe Print"/>
              </a:rPr>
              <a:t>needs</a:t>
            </a:r>
            <a:r>
              <a:rPr sz="2400" spc="-35" dirty="0">
                <a:latin typeface="Segoe Print"/>
                <a:cs typeface="Segoe Print"/>
              </a:rPr>
              <a:t> </a:t>
            </a:r>
            <a:r>
              <a:rPr sz="2400" dirty="0">
                <a:latin typeface="Segoe Print"/>
                <a:cs typeface="Segoe Print"/>
              </a:rPr>
              <a:t>to</a:t>
            </a:r>
            <a:r>
              <a:rPr sz="2400" spc="-30" dirty="0">
                <a:latin typeface="Segoe Print"/>
                <a:cs typeface="Segoe Print"/>
              </a:rPr>
              <a:t> </a:t>
            </a:r>
            <a:r>
              <a:rPr sz="2400" dirty="0">
                <a:latin typeface="Segoe Print"/>
                <a:cs typeface="Segoe Print"/>
              </a:rPr>
              <a:t>be</a:t>
            </a:r>
            <a:r>
              <a:rPr sz="2400" spc="-25" dirty="0">
                <a:latin typeface="Segoe Print"/>
                <a:cs typeface="Segoe Print"/>
              </a:rPr>
              <a:t> </a:t>
            </a:r>
            <a:r>
              <a:rPr sz="2400" spc="-10" dirty="0">
                <a:latin typeface="Segoe Print"/>
                <a:cs typeface="Segoe Print"/>
              </a:rPr>
              <a:t>changed.</a:t>
            </a:r>
            <a:endParaRPr sz="2400" dirty="0">
              <a:latin typeface="Segoe Print"/>
              <a:cs typeface="Segoe Prin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10064"/>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
        <p:nvSpPr>
          <p:cNvPr id="3" name="object 3"/>
          <p:cNvSpPr txBox="1"/>
          <p:nvPr/>
        </p:nvSpPr>
        <p:spPr>
          <a:xfrm>
            <a:off x="228600" y="1212532"/>
            <a:ext cx="11301730" cy="4432935"/>
          </a:xfrm>
          <a:prstGeom prst="rect">
            <a:avLst/>
          </a:prstGeom>
        </p:spPr>
        <p:txBody>
          <a:bodyPr vert="horz" wrap="square" lIns="0" tIns="12700" rIns="0" bIns="0" rtlCol="0">
            <a:spAutoFit/>
          </a:bodyPr>
          <a:lstStyle/>
          <a:p>
            <a:pPr marL="12700">
              <a:lnSpc>
                <a:spcPct val="100000"/>
              </a:lnSpc>
              <a:spcBef>
                <a:spcPts val="100"/>
              </a:spcBef>
              <a:tabLst>
                <a:tab pos="2072005" algn="l"/>
              </a:tabLst>
            </a:pPr>
            <a:r>
              <a:rPr sz="2400" b="1" u="sng" spc="-10" dirty="0">
                <a:solidFill>
                  <a:srgbClr val="006FC0"/>
                </a:solidFill>
                <a:uFill>
                  <a:solidFill>
                    <a:srgbClr val="006FC0"/>
                  </a:solidFill>
                </a:uFill>
                <a:latin typeface="Calibri"/>
                <a:cs typeface="Calibri"/>
              </a:rPr>
              <a:t>Generalization:</a:t>
            </a:r>
            <a:r>
              <a:rPr sz="2400" b="1" u="sng" dirty="0">
                <a:solidFill>
                  <a:srgbClr val="006FC0"/>
                </a:solidFill>
                <a:uFill>
                  <a:solidFill>
                    <a:srgbClr val="006FC0"/>
                  </a:solidFill>
                </a:uFill>
                <a:latin typeface="Calibri"/>
                <a:cs typeface="Calibri"/>
              </a:rPr>
              <a:t>	The</a:t>
            </a:r>
            <a:r>
              <a:rPr sz="2400" b="1" u="sng" spc="-45" dirty="0">
                <a:solidFill>
                  <a:srgbClr val="006FC0"/>
                </a:solidFill>
                <a:uFill>
                  <a:solidFill>
                    <a:srgbClr val="006FC0"/>
                  </a:solidFill>
                </a:uFill>
                <a:latin typeface="Calibri"/>
                <a:cs typeface="Calibri"/>
              </a:rPr>
              <a:t> Train-Test</a:t>
            </a:r>
            <a:r>
              <a:rPr sz="2400" b="1" u="sng" spc="-15" dirty="0">
                <a:solidFill>
                  <a:srgbClr val="006FC0"/>
                </a:solidFill>
                <a:uFill>
                  <a:solidFill>
                    <a:srgbClr val="006FC0"/>
                  </a:solidFill>
                </a:uFill>
                <a:latin typeface="Calibri"/>
                <a:cs typeface="Calibri"/>
              </a:rPr>
              <a:t> </a:t>
            </a:r>
            <a:r>
              <a:rPr sz="2400" b="1" u="sng" spc="-10" dirty="0">
                <a:solidFill>
                  <a:srgbClr val="006FC0"/>
                </a:solidFill>
                <a:uFill>
                  <a:solidFill>
                    <a:srgbClr val="006FC0"/>
                  </a:solidFill>
                </a:uFill>
                <a:latin typeface="Calibri"/>
                <a:cs typeface="Calibri"/>
              </a:rPr>
              <a:t>Split</a:t>
            </a:r>
            <a:endParaRPr sz="2400" dirty="0">
              <a:latin typeface="Calibri"/>
              <a:cs typeface="Calibri"/>
            </a:endParaRPr>
          </a:p>
          <a:p>
            <a:pPr marL="12700">
              <a:lnSpc>
                <a:spcPct val="100000"/>
              </a:lnSpc>
              <a:spcBef>
                <a:spcPts val="2430"/>
              </a:spcBef>
            </a:pPr>
            <a:r>
              <a:rPr sz="2400" b="1" dirty="0">
                <a:latin typeface="Calibri"/>
                <a:cs typeface="Calibri"/>
              </a:rPr>
              <a:t>More</a:t>
            </a:r>
            <a:r>
              <a:rPr sz="2400" b="1" spc="-75" dirty="0">
                <a:latin typeface="Calibri"/>
                <a:cs typeface="Calibri"/>
              </a:rPr>
              <a:t> </a:t>
            </a:r>
            <a:r>
              <a:rPr sz="2400" b="1" spc="-10" dirty="0">
                <a:latin typeface="Calibri"/>
                <a:cs typeface="Calibri"/>
              </a:rPr>
              <a:t>explanation*</a:t>
            </a:r>
            <a:r>
              <a:rPr sz="2400" b="1" spc="-75" dirty="0">
                <a:latin typeface="Calibri"/>
                <a:cs typeface="Calibri"/>
              </a:rPr>
              <a:t> </a:t>
            </a:r>
            <a:r>
              <a:rPr sz="2400" b="1" dirty="0">
                <a:latin typeface="Calibri"/>
                <a:cs typeface="Calibri"/>
              </a:rPr>
              <a:t>to</a:t>
            </a:r>
            <a:r>
              <a:rPr sz="2400" b="1" spc="-70" dirty="0">
                <a:latin typeface="Calibri"/>
                <a:cs typeface="Calibri"/>
              </a:rPr>
              <a:t> </a:t>
            </a:r>
            <a:r>
              <a:rPr sz="2400" b="1" spc="-10" dirty="0">
                <a:latin typeface="Calibri"/>
                <a:cs typeface="Calibri"/>
              </a:rPr>
              <a:t>better</a:t>
            </a:r>
            <a:r>
              <a:rPr sz="2400" b="1" spc="-60" dirty="0">
                <a:latin typeface="Calibri"/>
                <a:cs typeface="Calibri"/>
              </a:rPr>
              <a:t> </a:t>
            </a:r>
            <a:r>
              <a:rPr sz="2400" b="1" spc="-10" dirty="0">
                <a:latin typeface="Calibri"/>
                <a:cs typeface="Calibri"/>
              </a:rPr>
              <a:t>understand</a:t>
            </a:r>
            <a:r>
              <a:rPr sz="2400" b="1" spc="-70" dirty="0">
                <a:latin typeface="Calibri"/>
                <a:cs typeface="Calibri"/>
              </a:rPr>
              <a:t> </a:t>
            </a:r>
            <a:r>
              <a:rPr sz="2400" b="1" dirty="0">
                <a:latin typeface="Calibri"/>
                <a:cs typeface="Calibri"/>
              </a:rPr>
              <a:t>the</a:t>
            </a:r>
            <a:r>
              <a:rPr sz="2400" b="1" spc="-75" dirty="0">
                <a:latin typeface="Calibri"/>
                <a:cs typeface="Calibri"/>
              </a:rPr>
              <a:t> </a:t>
            </a:r>
            <a:r>
              <a:rPr sz="2400" b="1" spc="-10" dirty="0">
                <a:latin typeface="Calibri"/>
                <a:cs typeface="Calibri"/>
              </a:rPr>
              <a:t>difference</a:t>
            </a:r>
            <a:r>
              <a:rPr sz="2400" b="1" spc="-70" dirty="0">
                <a:latin typeface="Calibri"/>
                <a:cs typeface="Calibri"/>
              </a:rPr>
              <a:t> </a:t>
            </a:r>
            <a:r>
              <a:rPr sz="2400" b="1" dirty="0">
                <a:latin typeface="Calibri"/>
                <a:cs typeface="Calibri"/>
              </a:rPr>
              <a:t>between</a:t>
            </a:r>
            <a:r>
              <a:rPr sz="2400" b="1" spc="-60" dirty="0">
                <a:latin typeface="Calibri"/>
                <a:cs typeface="Calibri"/>
              </a:rPr>
              <a:t> </a:t>
            </a:r>
            <a:r>
              <a:rPr sz="2400" b="1" spc="-10" dirty="0">
                <a:latin typeface="Calibri"/>
                <a:cs typeface="Calibri"/>
              </a:rPr>
              <a:t>validation</a:t>
            </a:r>
            <a:r>
              <a:rPr sz="2400" b="1" spc="-70" dirty="0">
                <a:latin typeface="Calibri"/>
                <a:cs typeface="Calibri"/>
              </a:rPr>
              <a:t> </a:t>
            </a:r>
            <a:r>
              <a:rPr sz="2400" b="1" dirty="0">
                <a:latin typeface="Calibri"/>
                <a:cs typeface="Calibri"/>
              </a:rPr>
              <a:t>and</a:t>
            </a:r>
            <a:r>
              <a:rPr sz="2400" b="1" spc="-70" dirty="0">
                <a:latin typeface="Calibri"/>
                <a:cs typeface="Calibri"/>
              </a:rPr>
              <a:t> </a:t>
            </a:r>
            <a:r>
              <a:rPr sz="2400" b="1" dirty="0">
                <a:latin typeface="Calibri"/>
                <a:cs typeface="Calibri"/>
              </a:rPr>
              <a:t>test</a:t>
            </a:r>
            <a:r>
              <a:rPr sz="2400" b="1" spc="-55" dirty="0">
                <a:latin typeface="Calibri"/>
                <a:cs typeface="Calibri"/>
              </a:rPr>
              <a:t> </a:t>
            </a:r>
            <a:r>
              <a:rPr sz="2400" b="1" spc="-10" dirty="0">
                <a:latin typeface="Calibri"/>
                <a:cs typeface="Calibri"/>
              </a:rPr>
              <a:t>data:</a:t>
            </a:r>
            <a:endParaRPr sz="2400" dirty="0">
              <a:latin typeface="Calibri"/>
              <a:cs typeface="Calibri"/>
            </a:endParaRPr>
          </a:p>
          <a:p>
            <a:pPr marL="598805" marR="2174240" indent="-285750">
              <a:lnSpc>
                <a:spcPct val="100000"/>
              </a:lnSpc>
              <a:spcBef>
                <a:spcPts val="2510"/>
              </a:spcBef>
              <a:buFont typeface="Segoe Print"/>
              <a:buChar char="-"/>
              <a:tabLst>
                <a:tab pos="598805" algn="l"/>
              </a:tabLst>
            </a:pPr>
            <a:r>
              <a:rPr sz="2000" b="1" dirty="0">
                <a:latin typeface="Segoe Print"/>
                <a:cs typeface="Segoe Print"/>
              </a:rPr>
              <a:t>Training</a:t>
            </a:r>
            <a:r>
              <a:rPr sz="2000" b="1" spc="-20" dirty="0">
                <a:latin typeface="Segoe Print"/>
                <a:cs typeface="Segoe Print"/>
              </a:rPr>
              <a:t> </a:t>
            </a:r>
            <a:r>
              <a:rPr sz="2000" b="1" dirty="0">
                <a:latin typeface="Segoe Print"/>
                <a:cs typeface="Segoe Print"/>
              </a:rPr>
              <a:t>set:</a:t>
            </a:r>
            <a:r>
              <a:rPr sz="2000" b="1" spc="-35" dirty="0">
                <a:latin typeface="Segoe Print"/>
                <a:cs typeface="Segoe Print"/>
              </a:rPr>
              <a:t> </a:t>
            </a:r>
            <a:r>
              <a:rPr sz="2000" dirty="0">
                <a:latin typeface="Segoe Print"/>
                <a:cs typeface="Segoe Print"/>
              </a:rPr>
              <a:t>A</a:t>
            </a:r>
            <a:r>
              <a:rPr sz="2000" spc="-40" dirty="0">
                <a:latin typeface="Segoe Print"/>
                <a:cs typeface="Segoe Print"/>
              </a:rPr>
              <a:t> </a:t>
            </a:r>
            <a:r>
              <a:rPr sz="2000" dirty="0">
                <a:latin typeface="Segoe Print"/>
                <a:cs typeface="Segoe Print"/>
              </a:rPr>
              <a:t>set</a:t>
            </a:r>
            <a:r>
              <a:rPr sz="2000" spc="-45" dirty="0">
                <a:latin typeface="Segoe Print"/>
                <a:cs typeface="Segoe Print"/>
              </a:rPr>
              <a:t> </a:t>
            </a:r>
            <a:r>
              <a:rPr sz="2000" dirty="0">
                <a:latin typeface="Segoe Print"/>
                <a:cs typeface="Segoe Print"/>
              </a:rPr>
              <a:t>of</a:t>
            </a:r>
            <a:r>
              <a:rPr sz="2000" spc="-35" dirty="0">
                <a:latin typeface="Segoe Print"/>
                <a:cs typeface="Segoe Print"/>
              </a:rPr>
              <a:t> </a:t>
            </a:r>
            <a:r>
              <a:rPr sz="2000" dirty="0">
                <a:latin typeface="Segoe Print"/>
                <a:cs typeface="Segoe Print"/>
              </a:rPr>
              <a:t>examples</a:t>
            </a:r>
            <a:r>
              <a:rPr sz="2000" spc="-40" dirty="0">
                <a:latin typeface="Segoe Print"/>
                <a:cs typeface="Segoe Print"/>
              </a:rPr>
              <a:t> </a:t>
            </a:r>
            <a:r>
              <a:rPr sz="2000" dirty="0">
                <a:latin typeface="Segoe Print"/>
                <a:cs typeface="Segoe Print"/>
              </a:rPr>
              <a:t>used</a:t>
            </a:r>
            <a:r>
              <a:rPr sz="2000" spc="-30" dirty="0">
                <a:latin typeface="Segoe Print"/>
                <a:cs typeface="Segoe Print"/>
              </a:rPr>
              <a:t> </a:t>
            </a:r>
            <a:r>
              <a:rPr sz="2000" dirty="0">
                <a:latin typeface="Segoe Print"/>
                <a:cs typeface="Segoe Print"/>
              </a:rPr>
              <a:t>for</a:t>
            </a:r>
            <a:r>
              <a:rPr sz="2000" spc="-45" dirty="0">
                <a:latin typeface="Segoe Print"/>
                <a:cs typeface="Segoe Print"/>
              </a:rPr>
              <a:t> </a:t>
            </a:r>
            <a:r>
              <a:rPr sz="2000" dirty="0">
                <a:latin typeface="Segoe Print"/>
                <a:cs typeface="Segoe Print"/>
              </a:rPr>
              <a:t>learning,</a:t>
            </a:r>
            <a:r>
              <a:rPr sz="2000" spc="-40" dirty="0">
                <a:latin typeface="Segoe Print"/>
                <a:cs typeface="Segoe Print"/>
              </a:rPr>
              <a:t> </a:t>
            </a:r>
            <a:r>
              <a:rPr sz="2000" dirty="0">
                <a:latin typeface="Segoe Print"/>
                <a:cs typeface="Segoe Print"/>
              </a:rPr>
              <a:t>that</a:t>
            </a:r>
            <a:r>
              <a:rPr sz="2000" spc="-40" dirty="0">
                <a:latin typeface="Segoe Print"/>
                <a:cs typeface="Segoe Print"/>
              </a:rPr>
              <a:t> </a:t>
            </a:r>
            <a:r>
              <a:rPr sz="2000" dirty="0">
                <a:latin typeface="Segoe Print"/>
                <a:cs typeface="Segoe Print"/>
              </a:rPr>
              <a:t>is</a:t>
            </a:r>
            <a:r>
              <a:rPr sz="2000" spc="-40" dirty="0">
                <a:latin typeface="Segoe Print"/>
                <a:cs typeface="Segoe Print"/>
              </a:rPr>
              <a:t> </a:t>
            </a:r>
            <a:r>
              <a:rPr sz="2000" dirty="0">
                <a:latin typeface="Segoe Print"/>
                <a:cs typeface="Segoe Print"/>
              </a:rPr>
              <a:t>to</a:t>
            </a:r>
            <a:r>
              <a:rPr sz="2000" spc="-45" dirty="0">
                <a:latin typeface="Segoe Print"/>
                <a:cs typeface="Segoe Print"/>
              </a:rPr>
              <a:t> </a:t>
            </a:r>
            <a:r>
              <a:rPr sz="2000" dirty="0">
                <a:latin typeface="Segoe Print"/>
                <a:cs typeface="Segoe Print"/>
              </a:rPr>
              <a:t>fit</a:t>
            </a:r>
            <a:r>
              <a:rPr sz="2000" spc="-35" dirty="0">
                <a:latin typeface="Segoe Print"/>
                <a:cs typeface="Segoe Print"/>
              </a:rPr>
              <a:t> </a:t>
            </a:r>
            <a:r>
              <a:rPr sz="2000" spc="-25" dirty="0">
                <a:latin typeface="Segoe Print"/>
                <a:cs typeface="Segoe Print"/>
              </a:rPr>
              <a:t>the </a:t>
            </a:r>
            <a:r>
              <a:rPr sz="2000" dirty="0">
                <a:latin typeface="Segoe Print"/>
                <a:cs typeface="Segoe Print"/>
              </a:rPr>
              <a:t>parameters</a:t>
            </a:r>
            <a:r>
              <a:rPr sz="2000" spc="-40" dirty="0">
                <a:latin typeface="Segoe Print"/>
                <a:cs typeface="Segoe Print"/>
              </a:rPr>
              <a:t> </a:t>
            </a:r>
            <a:r>
              <a:rPr sz="2000" dirty="0">
                <a:latin typeface="Segoe Print"/>
                <a:cs typeface="Segoe Print"/>
              </a:rPr>
              <a:t>of</a:t>
            </a:r>
            <a:r>
              <a:rPr sz="2000" spc="-35" dirty="0">
                <a:latin typeface="Segoe Print"/>
                <a:cs typeface="Segoe Print"/>
              </a:rPr>
              <a:t> </a:t>
            </a:r>
            <a:r>
              <a:rPr sz="2000" dirty="0">
                <a:latin typeface="Segoe Print"/>
                <a:cs typeface="Segoe Print"/>
              </a:rPr>
              <a:t>the</a:t>
            </a:r>
            <a:r>
              <a:rPr sz="2000" spc="-35" dirty="0">
                <a:latin typeface="Segoe Print"/>
                <a:cs typeface="Segoe Print"/>
              </a:rPr>
              <a:t> </a:t>
            </a:r>
            <a:r>
              <a:rPr sz="2000" dirty="0">
                <a:latin typeface="Segoe Print"/>
                <a:cs typeface="Segoe Print"/>
              </a:rPr>
              <a:t>hypothesis</a:t>
            </a:r>
            <a:r>
              <a:rPr sz="2000" spc="-25" dirty="0">
                <a:latin typeface="Segoe Print"/>
                <a:cs typeface="Segoe Print"/>
              </a:rPr>
              <a:t> </a:t>
            </a:r>
            <a:r>
              <a:rPr sz="2000" spc="-10" dirty="0">
                <a:latin typeface="Segoe Print"/>
                <a:cs typeface="Segoe Print"/>
              </a:rPr>
              <a:t>(model).</a:t>
            </a:r>
            <a:endParaRPr sz="2000" dirty="0">
              <a:latin typeface="Segoe Print"/>
              <a:cs typeface="Segoe Print"/>
            </a:endParaRPr>
          </a:p>
          <a:p>
            <a:pPr marL="598805" marR="1485900" indent="-285750">
              <a:lnSpc>
                <a:spcPct val="100000"/>
              </a:lnSpc>
              <a:spcBef>
                <a:spcPts val="2400"/>
              </a:spcBef>
              <a:buFont typeface="Segoe Print"/>
              <a:buChar char="-"/>
              <a:tabLst>
                <a:tab pos="598805" algn="l"/>
              </a:tabLst>
            </a:pPr>
            <a:r>
              <a:rPr sz="2000" b="1" dirty="0">
                <a:latin typeface="Segoe Print"/>
                <a:cs typeface="Segoe Print"/>
              </a:rPr>
              <a:t>Validation</a:t>
            </a:r>
            <a:r>
              <a:rPr sz="2000" b="1" spc="-35" dirty="0">
                <a:latin typeface="Segoe Print"/>
                <a:cs typeface="Segoe Print"/>
              </a:rPr>
              <a:t> </a:t>
            </a:r>
            <a:r>
              <a:rPr sz="2000" b="1" dirty="0">
                <a:latin typeface="Segoe Print"/>
                <a:cs typeface="Segoe Print"/>
              </a:rPr>
              <a:t>set:</a:t>
            </a:r>
            <a:r>
              <a:rPr sz="2000" b="1" spc="-25" dirty="0">
                <a:latin typeface="Segoe Print"/>
                <a:cs typeface="Segoe Print"/>
              </a:rPr>
              <a:t> </a:t>
            </a:r>
            <a:r>
              <a:rPr sz="2000" dirty="0">
                <a:latin typeface="Segoe Print"/>
                <a:cs typeface="Segoe Print"/>
              </a:rPr>
              <a:t>A</a:t>
            </a:r>
            <a:r>
              <a:rPr sz="2000" spc="-35" dirty="0">
                <a:latin typeface="Segoe Print"/>
                <a:cs typeface="Segoe Print"/>
              </a:rPr>
              <a:t> </a:t>
            </a:r>
            <a:r>
              <a:rPr sz="2000" dirty="0">
                <a:latin typeface="Segoe Print"/>
                <a:cs typeface="Segoe Print"/>
              </a:rPr>
              <a:t>set</a:t>
            </a:r>
            <a:r>
              <a:rPr sz="2000" spc="-35" dirty="0">
                <a:latin typeface="Segoe Print"/>
                <a:cs typeface="Segoe Print"/>
              </a:rPr>
              <a:t> </a:t>
            </a:r>
            <a:r>
              <a:rPr sz="2000" dirty="0">
                <a:latin typeface="Segoe Print"/>
                <a:cs typeface="Segoe Print"/>
              </a:rPr>
              <a:t>of</a:t>
            </a:r>
            <a:r>
              <a:rPr sz="2000" spc="-30" dirty="0">
                <a:latin typeface="Segoe Print"/>
                <a:cs typeface="Segoe Print"/>
              </a:rPr>
              <a:t> </a:t>
            </a:r>
            <a:r>
              <a:rPr sz="2000" dirty="0">
                <a:latin typeface="Segoe Print"/>
                <a:cs typeface="Segoe Print"/>
              </a:rPr>
              <a:t>examples</a:t>
            </a:r>
            <a:r>
              <a:rPr sz="2000" spc="-30" dirty="0">
                <a:latin typeface="Segoe Print"/>
                <a:cs typeface="Segoe Print"/>
              </a:rPr>
              <a:t> </a:t>
            </a:r>
            <a:r>
              <a:rPr sz="2000" dirty="0">
                <a:latin typeface="Segoe Print"/>
                <a:cs typeface="Segoe Print"/>
              </a:rPr>
              <a:t>used</a:t>
            </a:r>
            <a:r>
              <a:rPr sz="2000" spc="-25" dirty="0">
                <a:latin typeface="Segoe Print"/>
                <a:cs typeface="Segoe Print"/>
              </a:rPr>
              <a:t> </a:t>
            </a:r>
            <a:r>
              <a:rPr sz="2000" dirty="0">
                <a:latin typeface="Segoe Print"/>
                <a:cs typeface="Segoe Print"/>
              </a:rPr>
              <a:t>to</a:t>
            </a:r>
            <a:r>
              <a:rPr sz="2000" spc="-35" dirty="0">
                <a:latin typeface="Segoe Print"/>
                <a:cs typeface="Segoe Print"/>
              </a:rPr>
              <a:t> </a:t>
            </a:r>
            <a:r>
              <a:rPr sz="2000" dirty="0">
                <a:latin typeface="Segoe Print"/>
                <a:cs typeface="Segoe Print"/>
              </a:rPr>
              <a:t>tune</a:t>
            </a:r>
            <a:r>
              <a:rPr sz="2000" spc="-35" dirty="0">
                <a:latin typeface="Segoe Print"/>
                <a:cs typeface="Segoe Print"/>
              </a:rPr>
              <a:t> </a:t>
            </a:r>
            <a:r>
              <a:rPr sz="2000" dirty="0">
                <a:latin typeface="Segoe Print"/>
                <a:cs typeface="Segoe Print"/>
              </a:rPr>
              <a:t>the</a:t>
            </a:r>
            <a:r>
              <a:rPr sz="2000" spc="-25" dirty="0">
                <a:latin typeface="Segoe Print"/>
                <a:cs typeface="Segoe Print"/>
              </a:rPr>
              <a:t> </a:t>
            </a:r>
            <a:r>
              <a:rPr sz="2000" spc="-10" dirty="0">
                <a:latin typeface="Segoe Print"/>
                <a:cs typeface="Segoe Print"/>
              </a:rPr>
              <a:t>hyper-</a:t>
            </a:r>
            <a:r>
              <a:rPr sz="2000" dirty="0">
                <a:latin typeface="Segoe Print"/>
                <a:cs typeface="Segoe Print"/>
              </a:rPr>
              <a:t>parameters</a:t>
            </a:r>
            <a:r>
              <a:rPr sz="2000" spc="-25" dirty="0">
                <a:latin typeface="Segoe Print"/>
                <a:cs typeface="Segoe Print"/>
              </a:rPr>
              <a:t> of </a:t>
            </a:r>
            <a:r>
              <a:rPr sz="2000" dirty="0">
                <a:latin typeface="Segoe Print"/>
                <a:cs typeface="Segoe Print"/>
              </a:rPr>
              <a:t>the</a:t>
            </a:r>
            <a:r>
              <a:rPr sz="2000" spc="-30" dirty="0">
                <a:latin typeface="Segoe Print"/>
                <a:cs typeface="Segoe Print"/>
              </a:rPr>
              <a:t> </a:t>
            </a:r>
            <a:r>
              <a:rPr sz="2000" dirty="0">
                <a:latin typeface="Segoe Print"/>
                <a:cs typeface="Segoe Print"/>
              </a:rPr>
              <a:t>hypothesis</a:t>
            </a:r>
            <a:r>
              <a:rPr sz="2000" spc="-30" dirty="0">
                <a:latin typeface="Segoe Print"/>
                <a:cs typeface="Segoe Print"/>
              </a:rPr>
              <a:t> </a:t>
            </a:r>
            <a:r>
              <a:rPr sz="2000" dirty="0">
                <a:latin typeface="Segoe Print"/>
                <a:cs typeface="Segoe Print"/>
              </a:rPr>
              <a:t>function,</a:t>
            </a:r>
            <a:r>
              <a:rPr sz="2000" spc="-25" dirty="0">
                <a:latin typeface="Segoe Print"/>
                <a:cs typeface="Segoe Print"/>
              </a:rPr>
              <a:t> </a:t>
            </a:r>
            <a:r>
              <a:rPr sz="2000" dirty="0">
                <a:latin typeface="Segoe Print"/>
                <a:cs typeface="Segoe Print"/>
              </a:rPr>
              <a:t>for</a:t>
            </a:r>
            <a:r>
              <a:rPr sz="2000" spc="-35" dirty="0">
                <a:latin typeface="Segoe Print"/>
                <a:cs typeface="Segoe Print"/>
              </a:rPr>
              <a:t> </a:t>
            </a:r>
            <a:r>
              <a:rPr sz="2000" dirty="0">
                <a:latin typeface="Segoe Print"/>
                <a:cs typeface="Segoe Print"/>
              </a:rPr>
              <a:t>example</a:t>
            </a:r>
            <a:r>
              <a:rPr sz="2000" spc="-35" dirty="0">
                <a:latin typeface="Segoe Print"/>
                <a:cs typeface="Segoe Print"/>
              </a:rPr>
              <a:t> </a:t>
            </a:r>
            <a:r>
              <a:rPr sz="2000" dirty="0">
                <a:latin typeface="Segoe Print"/>
                <a:cs typeface="Segoe Print"/>
              </a:rPr>
              <a:t>to</a:t>
            </a:r>
            <a:r>
              <a:rPr sz="2000" spc="-35" dirty="0">
                <a:latin typeface="Segoe Print"/>
                <a:cs typeface="Segoe Print"/>
              </a:rPr>
              <a:t> </a:t>
            </a:r>
            <a:r>
              <a:rPr sz="2000" dirty="0">
                <a:latin typeface="Segoe Print"/>
                <a:cs typeface="Segoe Print"/>
              </a:rPr>
              <a:t>choose</a:t>
            </a:r>
            <a:r>
              <a:rPr sz="2000" spc="-30" dirty="0">
                <a:latin typeface="Segoe Print"/>
                <a:cs typeface="Segoe Print"/>
              </a:rPr>
              <a:t> </a:t>
            </a:r>
            <a:r>
              <a:rPr sz="2000" dirty="0">
                <a:latin typeface="Segoe Print"/>
                <a:cs typeface="Segoe Print"/>
              </a:rPr>
              <a:t>the</a:t>
            </a:r>
            <a:r>
              <a:rPr sz="2000" spc="-35" dirty="0">
                <a:latin typeface="Segoe Print"/>
                <a:cs typeface="Segoe Print"/>
              </a:rPr>
              <a:t> </a:t>
            </a:r>
            <a:r>
              <a:rPr sz="2000" dirty="0">
                <a:latin typeface="Segoe Print"/>
                <a:cs typeface="Segoe Print"/>
              </a:rPr>
              <a:t>number</a:t>
            </a:r>
            <a:r>
              <a:rPr sz="2000" spc="-35" dirty="0">
                <a:latin typeface="Segoe Print"/>
                <a:cs typeface="Segoe Print"/>
              </a:rPr>
              <a:t> </a:t>
            </a:r>
            <a:r>
              <a:rPr sz="2000" dirty="0">
                <a:latin typeface="Segoe Print"/>
                <a:cs typeface="Segoe Print"/>
              </a:rPr>
              <a:t>of</a:t>
            </a:r>
            <a:r>
              <a:rPr sz="2000" spc="-30" dirty="0">
                <a:latin typeface="Segoe Print"/>
                <a:cs typeface="Segoe Print"/>
              </a:rPr>
              <a:t> </a:t>
            </a:r>
            <a:r>
              <a:rPr sz="2000" spc="-10" dirty="0">
                <a:latin typeface="Segoe Print"/>
                <a:cs typeface="Segoe Print"/>
              </a:rPr>
              <a:t>hidden </a:t>
            </a:r>
            <a:r>
              <a:rPr sz="2000" dirty="0">
                <a:latin typeface="Segoe Print"/>
                <a:cs typeface="Segoe Print"/>
              </a:rPr>
              <a:t>units</a:t>
            </a:r>
            <a:r>
              <a:rPr sz="2000" spc="-35" dirty="0">
                <a:latin typeface="Segoe Print"/>
                <a:cs typeface="Segoe Print"/>
              </a:rPr>
              <a:t> </a:t>
            </a:r>
            <a:r>
              <a:rPr sz="2000" dirty="0">
                <a:latin typeface="Segoe Print"/>
                <a:cs typeface="Segoe Print"/>
              </a:rPr>
              <a:t>in</a:t>
            </a:r>
            <a:r>
              <a:rPr sz="2000" spc="-35" dirty="0">
                <a:latin typeface="Segoe Print"/>
                <a:cs typeface="Segoe Print"/>
              </a:rPr>
              <a:t> </a:t>
            </a:r>
            <a:r>
              <a:rPr sz="2000" dirty="0">
                <a:latin typeface="Segoe Print"/>
                <a:cs typeface="Segoe Print"/>
              </a:rPr>
              <a:t>a</a:t>
            </a:r>
            <a:r>
              <a:rPr sz="2000" spc="-40" dirty="0">
                <a:latin typeface="Segoe Print"/>
                <a:cs typeface="Segoe Print"/>
              </a:rPr>
              <a:t> </a:t>
            </a:r>
            <a:r>
              <a:rPr sz="2000" dirty="0">
                <a:latin typeface="Segoe Print"/>
                <a:cs typeface="Segoe Print"/>
              </a:rPr>
              <a:t>neural</a:t>
            </a:r>
            <a:r>
              <a:rPr sz="2000" spc="-15" dirty="0">
                <a:latin typeface="Segoe Print"/>
                <a:cs typeface="Segoe Print"/>
              </a:rPr>
              <a:t> </a:t>
            </a:r>
            <a:r>
              <a:rPr sz="2000" dirty="0">
                <a:latin typeface="Segoe Print"/>
                <a:cs typeface="Segoe Print"/>
              </a:rPr>
              <a:t>network</a:t>
            </a:r>
            <a:r>
              <a:rPr sz="2000" spc="-35" dirty="0">
                <a:latin typeface="Segoe Print"/>
                <a:cs typeface="Segoe Print"/>
              </a:rPr>
              <a:t> </a:t>
            </a:r>
            <a:r>
              <a:rPr sz="2000" dirty="0">
                <a:latin typeface="Segoe Print"/>
                <a:cs typeface="Segoe Print"/>
              </a:rPr>
              <a:t>OR</a:t>
            </a:r>
            <a:r>
              <a:rPr sz="2000" spc="-25" dirty="0">
                <a:latin typeface="Segoe Print"/>
                <a:cs typeface="Segoe Print"/>
              </a:rPr>
              <a:t> </a:t>
            </a:r>
            <a:r>
              <a:rPr sz="2000" dirty="0">
                <a:latin typeface="Segoe Print"/>
                <a:cs typeface="Segoe Print"/>
              </a:rPr>
              <a:t>the</a:t>
            </a:r>
            <a:r>
              <a:rPr sz="2000" spc="-35" dirty="0">
                <a:latin typeface="Segoe Print"/>
                <a:cs typeface="Segoe Print"/>
              </a:rPr>
              <a:t> </a:t>
            </a:r>
            <a:r>
              <a:rPr sz="2000" dirty="0">
                <a:latin typeface="Segoe Print"/>
                <a:cs typeface="Segoe Print"/>
              </a:rPr>
              <a:t>order</a:t>
            </a:r>
            <a:r>
              <a:rPr sz="2000" spc="-50" dirty="0">
                <a:latin typeface="Segoe Print"/>
                <a:cs typeface="Segoe Print"/>
              </a:rPr>
              <a:t> </a:t>
            </a:r>
            <a:r>
              <a:rPr sz="2000" dirty="0">
                <a:latin typeface="Segoe Print"/>
                <a:cs typeface="Segoe Print"/>
              </a:rPr>
              <a:t>of</a:t>
            </a:r>
            <a:r>
              <a:rPr sz="2000" spc="-30" dirty="0">
                <a:latin typeface="Segoe Print"/>
                <a:cs typeface="Segoe Print"/>
              </a:rPr>
              <a:t> </a:t>
            </a:r>
            <a:r>
              <a:rPr sz="2000" dirty="0">
                <a:latin typeface="Segoe Print"/>
                <a:cs typeface="Segoe Print"/>
              </a:rPr>
              <a:t>polynomial</a:t>
            </a:r>
            <a:r>
              <a:rPr sz="2000" spc="-40" dirty="0">
                <a:latin typeface="Segoe Print"/>
                <a:cs typeface="Segoe Print"/>
              </a:rPr>
              <a:t> </a:t>
            </a:r>
            <a:r>
              <a:rPr sz="2000" spc="-10" dirty="0">
                <a:latin typeface="Segoe Print"/>
                <a:cs typeface="Segoe Print"/>
              </a:rPr>
              <a:t>approximating </a:t>
            </a:r>
            <a:r>
              <a:rPr sz="2000" dirty="0">
                <a:latin typeface="Segoe Print"/>
                <a:cs typeface="Segoe Print"/>
              </a:rPr>
              <a:t>the</a:t>
            </a:r>
            <a:r>
              <a:rPr sz="2000" spc="-5" dirty="0">
                <a:latin typeface="Segoe Print"/>
                <a:cs typeface="Segoe Print"/>
              </a:rPr>
              <a:t> </a:t>
            </a:r>
            <a:r>
              <a:rPr sz="2000" spc="-10" dirty="0">
                <a:latin typeface="Segoe Print"/>
                <a:cs typeface="Segoe Print"/>
              </a:rPr>
              <a:t>data.</a:t>
            </a:r>
            <a:endParaRPr sz="2000" dirty="0">
              <a:latin typeface="Segoe Print"/>
              <a:cs typeface="Segoe Print"/>
            </a:endParaRPr>
          </a:p>
          <a:p>
            <a:pPr marL="598805" marR="1968500" indent="-285750">
              <a:lnSpc>
                <a:spcPct val="100000"/>
              </a:lnSpc>
              <a:spcBef>
                <a:spcPts val="2400"/>
              </a:spcBef>
              <a:buFont typeface="Segoe Print"/>
              <a:buChar char="-"/>
              <a:tabLst>
                <a:tab pos="598805" algn="l"/>
              </a:tabLst>
            </a:pPr>
            <a:r>
              <a:rPr sz="2000" b="1" dirty="0">
                <a:latin typeface="Segoe Print"/>
                <a:cs typeface="Segoe Print"/>
              </a:rPr>
              <a:t>Test</a:t>
            </a:r>
            <a:r>
              <a:rPr sz="2000" b="1" spc="-25" dirty="0">
                <a:latin typeface="Segoe Print"/>
                <a:cs typeface="Segoe Print"/>
              </a:rPr>
              <a:t> </a:t>
            </a:r>
            <a:r>
              <a:rPr sz="2000" b="1" dirty="0">
                <a:latin typeface="Segoe Print"/>
                <a:cs typeface="Segoe Print"/>
              </a:rPr>
              <a:t>set:</a:t>
            </a:r>
            <a:r>
              <a:rPr sz="2000" b="1" spc="-25" dirty="0">
                <a:latin typeface="Segoe Print"/>
                <a:cs typeface="Segoe Print"/>
              </a:rPr>
              <a:t> </a:t>
            </a:r>
            <a:r>
              <a:rPr sz="2000" dirty="0">
                <a:latin typeface="Segoe Print"/>
                <a:cs typeface="Segoe Print"/>
              </a:rPr>
              <a:t>A</a:t>
            </a:r>
            <a:r>
              <a:rPr sz="2000" spc="-30" dirty="0">
                <a:latin typeface="Segoe Print"/>
                <a:cs typeface="Segoe Print"/>
              </a:rPr>
              <a:t> </a:t>
            </a:r>
            <a:r>
              <a:rPr sz="2000" dirty="0">
                <a:latin typeface="Segoe Print"/>
                <a:cs typeface="Segoe Print"/>
              </a:rPr>
              <a:t>set</a:t>
            </a:r>
            <a:r>
              <a:rPr sz="2000" spc="-35" dirty="0">
                <a:latin typeface="Segoe Print"/>
                <a:cs typeface="Segoe Print"/>
              </a:rPr>
              <a:t> </a:t>
            </a:r>
            <a:r>
              <a:rPr sz="2000" dirty="0">
                <a:latin typeface="Segoe Print"/>
                <a:cs typeface="Segoe Print"/>
              </a:rPr>
              <a:t>of</a:t>
            </a:r>
            <a:r>
              <a:rPr sz="2000" spc="-30" dirty="0">
                <a:latin typeface="Segoe Print"/>
                <a:cs typeface="Segoe Print"/>
              </a:rPr>
              <a:t> </a:t>
            </a:r>
            <a:r>
              <a:rPr sz="2000" dirty="0">
                <a:latin typeface="Segoe Print"/>
                <a:cs typeface="Segoe Print"/>
              </a:rPr>
              <a:t>examples</a:t>
            </a:r>
            <a:r>
              <a:rPr sz="2000" spc="-25" dirty="0">
                <a:latin typeface="Segoe Print"/>
                <a:cs typeface="Segoe Print"/>
              </a:rPr>
              <a:t> </a:t>
            </a:r>
            <a:r>
              <a:rPr sz="2000" b="1" dirty="0">
                <a:latin typeface="Segoe Print"/>
                <a:cs typeface="Segoe Print"/>
              </a:rPr>
              <a:t>used</a:t>
            </a:r>
            <a:r>
              <a:rPr sz="2000" b="1" spc="-25" dirty="0">
                <a:latin typeface="Segoe Print"/>
                <a:cs typeface="Segoe Print"/>
              </a:rPr>
              <a:t> </a:t>
            </a:r>
            <a:r>
              <a:rPr sz="2000" dirty="0">
                <a:latin typeface="Segoe Print"/>
                <a:cs typeface="Segoe Print"/>
              </a:rPr>
              <a:t>only</a:t>
            </a:r>
            <a:r>
              <a:rPr sz="2000" spc="-35" dirty="0">
                <a:latin typeface="Segoe Print"/>
                <a:cs typeface="Segoe Print"/>
              </a:rPr>
              <a:t> </a:t>
            </a:r>
            <a:r>
              <a:rPr sz="2000" dirty="0">
                <a:latin typeface="Segoe Print"/>
                <a:cs typeface="Segoe Print"/>
              </a:rPr>
              <a:t>to</a:t>
            </a:r>
            <a:r>
              <a:rPr sz="2000" spc="-35" dirty="0">
                <a:latin typeface="Segoe Print"/>
                <a:cs typeface="Segoe Print"/>
              </a:rPr>
              <a:t> </a:t>
            </a:r>
            <a:r>
              <a:rPr sz="2000" dirty="0">
                <a:latin typeface="Segoe Print"/>
                <a:cs typeface="Segoe Print"/>
              </a:rPr>
              <a:t>assess</a:t>
            </a:r>
            <a:r>
              <a:rPr sz="2000" spc="-20" dirty="0">
                <a:latin typeface="Segoe Print"/>
                <a:cs typeface="Segoe Print"/>
              </a:rPr>
              <a:t> </a:t>
            </a:r>
            <a:r>
              <a:rPr sz="2000" dirty="0">
                <a:latin typeface="Segoe Print"/>
                <a:cs typeface="Segoe Print"/>
              </a:rPr>
              <a:t>the</a:t>
            </a:r>
            <a:r>
              <a:rPr sz="2000" spc="-35" dirty="0">
                <a:latin typeface="Segoe Print"/>
                <a:cs typeface="Segoe Print"/>
              </a:rPr>
              <a:t> </a:t>
            </a:r>
            <a:r>
              <a:rPr sz="2000" dirty="0">
                <a:latin typeface="Segoe Print"/>
                <a:cs typeface="Segoe Print"/>
              </a:rPr>
              <a:t>performance</a:t>
            </a:r>
            <a:r>
              <a:rPr sz="2000" spc="-55" dirty="0">
                <a:latin typeface="Segoe Print"/>
                <a:cs typeface="Segoe Print"/>
              </a:rPr>
              <a:t> </a:t>
            </a:r>
            <a:r>
              <a:rPr sz="2000" dirty="0">
                <a:latin typeface="Segoe Print"/>
                <a:cs typeface="Segoe Print"/>
              </a:rPr>
              <a:t>of</a:t>
            </a:r>
            <a:r>
              <a:rPr sz="2000" spc="-30" dirty="0">
                <a:latin typeface="Segoe Print"/>
                <a:cs typeface="Segoe Print"/>
              </a:rPr>
              <a:t> </a:t>
            </a:r>
            <a:r>
              <a:rPr sz="2000" spc="-50" dirty="0">
                <a:latin typeface="Segoe Print"/>
                <a:cs typeface="Segoe Print"/>
              </a:rPr>
              <a:t>a </a:t>
            </a:r>
            <a:r>
              <a:rPr sz="2000" spc="-20" dirty="0">
                <a:latin typeface="Segoe Print"/>
                <a:cs typeface="Segoe Print"/>
              </a:rPr>
              <a:t>fully-</a:t>
            </a:r>
            <a:r>
              <a:rPr sz="2000" dirty="0">
                <a:latin typeface="Segoe Print"/>
                <a:cs typeface="Segoe Print"/>
              </a:rPr>
              <a:t>specified</a:t>
            </a:r>
            <a:r>
              <a:rPr sz="2000" spc="15" dirty="0">
                <a:latin typeface="Segoe Print"/>
                <a:cs typeface="Segoe Print"/>
              </a:rPr>
              <a:t> </a:t>
            </a:r>
            <a:r>
              <a:rPr sz="2000" dirty="0">
                <a:latin typeface="Segoe Print"/>
                <a:cs typeface="Segoe Print"/>
              </a:rPr>
              <a:t>model</a:t>
            </a:r>
            <a:r>
              <a:rPr sz="2000" spc="-10" dirty="0">
                <a:latin typeface="Segoe Print"/>
                <a:cs typeface="Segoe Print"/>
              </a:rPr>
              <a:t> </a:t>
            </a:r>
            <a:r>
              <a:rPr sz="2000" dirty="0">
                <a:latin typeface="Segoe Print"/>
                <a:cs typeface="Segoe Print"/>
              </a:rPr>
              <a:t>or</a:t>
            </a:r>
            <a:r>
              <a:rPr sz="2000" spc="-15" dirty="0">
                <a:latin typeface="Segoe Print"/>
                <a:cs typeface="Segoe Print"/>
              </a:rPr>
              <a:t> </a:t>
            </a:r>
            <a:r>
              <a:rPr sz="2000" spc="-10" dirty="0">
                <a:latin typeface="Segoe Print"/>
                <a:cs typeface="Segoe Print"/>
              </a:rPr>
              <a:t>hypothesis.</a:t>
            </a:r>
            <a:endParaRPr sz="2000" dirty="0">
              <a:latin typeface="Segoe Print"/>
              <a:cs typeface="Segoe Print"/>
            </a:endParaRPr>
          </a:p>
        </p:txBody>
      </p:sp>
      <p:sp>
        <p:nvSpPr>
          <p:cNvPr id="4" name="object 4"/>
          <p:cNvSpPr txBox="1"/>
          <p:nvPr/>
        </p:nvSpPr>
        <p:spPr>
          <a:xfrm>
            <a:off x="1914144" y="6316726"/>
            <a:ext cx="710184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Adapted</a:t>
            </a:r>
            <a:r>
              <a:rPr sz="1800" spc="-70" dirty="0">
                <a:latin typeface="Calibri"/>
                <a:cs typeface="Calibri"/>
              </a:rPr>
              <a:t> </a:t>
            </a:r>
            <a:r>
              <a:rPr sz="1800" dirty="0">
                <a:latin typeface="Calibri"/>
                <a:cs typeface="Calibri"/>
              </a:rPr>
              <a:t>from</a:t>
            </a:r>
            <a:r>
              <a:rPr sz="1800" spc="-55" dirty="0">
                <a:latin typeface="Calibri"/>
                <a:cs typeface="Calibri"/>
              </a:rPr>
              <a:t> </a:t>
            </a:r>
            <a:r>
              <a:rPr sz="1800" dirty="0">
                <a:latin typeface="Calibri"/>
                <a:cs typeface="Calibri"/>
              </a:rPr>
              <a:t>*Brian</a:t>
            </a:r>
            <a:r>
              <a:rPr sz="1800" spc="-45" dirty="0">
                <a:latin typeface="Calibri"/>
                <a:cs typeface="Calibri"/>
              </a:rPr>
              <a:t> </a:t>
            </a:r>
            <a:r>
              <a:rPr sz="1800" spc="-20" dirty="0">
                <a:latin typeface="Calibri"/>
                <a:cs typeface="Calibri"/>
              </a:rPr>
              <a:t>Ripley,</a:t>
            </a:r>
            <a:r>
              <a:rPr sz="1800" spc="-60" dirty="0">
                <a:latin typeface="Calibri"/>
                <a:cs typeface="Calibri"/>
              </a:rPr>
              <a:t> </a:t>
            </a:r>
            <a:r>
              <a:rPr sz="1800" spc="-20" dirty="0">
                <a:latin typeface="Calibri"/>
                <a:cs typeface="Calibri"/>
              </a:rPr>
              <a:t>Pattern</a:t>
            </a:r>
            <a:r>
              <a:rPr sz="1800" spc="-60" dirty="0">
                <a:latin typeface="Calibri"/>
                <a:cs typeface="Calibri"/>
              </a:rPr>
              <a:t> </a:t>
            </a:r>
            <a:r>
              <a:rPr sz="1800" spc="-10" dirty="0">
                <a:latin typeface="Calibri"/>
                <a:cs typeface="Calibri"/>
              </a:rPr>
              <a:t>Recognition</a:t>
            </a:r>
            <a:r>
              <a:rPr sz="1800" spc="-35" dirty="0">
                <a:latin typeface="Calibri"/>
                <a:cs typeface="Calibri"/>
              </a:rPr>
              <a:t> </a:t>
            </a:r>
            <a:r>
              <a:rPr sz="1800" dirty="0">
                <a:latin typeface="Calibri"/>
                <a:cs typeface="Calibri"/>
              </a:rPr>
              <a:t>and</a:t>
            </a:r>
            <a:r>
              <a:rPr sz="1800" spc="-50" dirty="0">
                <a:latin typeface="Calibri"/>
                <a:cs typeface="Calibri"/>
              </a:rPr>
              <a:t> </a:t>
            </a:r>
            <a:r>
              <a:rPr sz="1800" dirty="0">
                <a:latin typeface="Calibri"/>
                <a:cs typeface="Calibri"/>
              </a:rPr>
              <a:t>Neural</a:t>
            </a:r>
            <a:r>
              <a:rPr sz="1800" spc="-55" dirty="0">
                <a:latin typeface="Calibri"/>
                <a:cs typeface="Calibri"/>
              </a:rPr>
              <a:t> </a:t>
            </a:r>
            <a:r>
              <a:rPr sz="1800" dirty="0">
                <a:latin typeface="Calibri"/>
                <a:cs typeface="Calibri"/>
              </a:rPr>
              <a:t>Networks,</a:t>
            </a:r>
            <a:r>
              <a:rPr sz="1800" spc="-50" dirty="0">
                <a:latin typeface="Calibri"/>
                <a:cs typeface="Calibri"/>
              </a:rPr>
              <a:t> </a:t>
            </a:r>
            <a:r>
              <a:rPr sz="1800" spc="-20" dirty="0">
                <a:latin typeface="Calibri"/>
                <a:cs typeface="Calibri"/>
              </a:rPr>
              <a:t>1996</a:t>
            </a:r>
            <a:endParaRPr sz="18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06959" y="1416915"/>
            <a:ext cx="10095047" cy="3762032"/>
          </a:xfrm>
          <a:prstGeom prst="rect">
            <a:avLst/>
          </a:prstGeom>
        </p:spPr>
      </p:pic>
      <p:sp>
        <p:nvSpPr>
          <p:cNvPr id="3" name="object 3"/>
          <p:cNvSpPr txBox="1">
            <a:spLocks noGrp="1"/>
          </p:cNvSpPr>
          <p:nvPr>
            <p:ph type="title"/>
          </p:nvPr>
        </p:nvSpPr>
        <p:spPr>
          <a:xfrm>
            <a:off x="796682" y="27317"/>
            <a:ext cx="10515600" cy="1325563"/>
          </a:xfrm>
          <a:prstGeom prst="rect">
            <a:avLst/>
          </a:prstGeom>
        </p:spPr>
        <p:txBody>
          <a:bodyPr vert="horz" wrap="square" lIns="0" tIns="12700" rIns="0" bIns="0" rtlCol="0">
            <a:spAutoFit/>
          </a:bodyPr>
          <a:lstStyle/>
          <a:p>
            <a:pPr marL="216535">
              <a:lnSpc>
                <a:spcPct val="100000"/>
              </a:lnSpc>
              <a:spcBef>
                <a:spcPts val="100"/>
              </a:spcBef>
            </a:pPr>
            <a:r>
              <a:rPr dirty="0"/>
              <a:t>Supervised</a:t>
            </a:r>
            <a:r>
              <a:rPr spc="-160" dirty="0"/>
              <a:t> </a:t>
            </a:r>
            <a:r>
              <a:rPr dirty="0"/>
              <a:t>Learning</a:t>
            </a:r>
            <a:r>
              <a:rPr spc="-165" dirty="0"/>
              <a:t> </a:t>
            </a:r>
            <a:r>
              <a:rPr spc="-10" dirty="0"/>
              <a:t>Setup</a:t>
            </a:r>
          </a:p>
        </p:txBody>
      </p:sp>
      <p:sp>
        <p:nvSpPr>
          <p:cNvPr id="4" name="object 4"/>
          <p:cNvSpPr txBox="1"/>
          <p:nvPr/>
        </p:nvSpPr>
        <p:spPr>
          <a:xfrm>
            <a:off x="246772" y="1024880"/>
            <a:ext cx="5807710" cy="391160"/>
          </a:xfrm>
          <a:prstGeom prst="rect">
            <a:avLst/>
          </a:prstGeom>
        </p:spPr>
        <p:txBody>
          <a:bodyPr vert="horz" wrap="square" lIns="0" tIns="12700" rIns="0" bIns="0" rtlCol="0">
            <a:spAutoFit/>
          </a:bodyPr>
          <a:lstStyle/>
          <a:p>
            <a:pPr marL="12700">
              <a:lnSpc>
                <a:spcPct val="100000"/>
              </a:lnSpc>
              <a:spcBef>
                <a:spcPts val="100"/>
              </a:spcBef>
              <a:tabLst>
                <a:tab pos="2072005" algn="l"/>
              </a:tabLst>
            </a:pPr>
            <a:r>
              <a:rPr sz="2400" b="1" u="sng" spc="-10" dirty="0">
                <a:solidFill>
                  <a:srgbClr val="006FC0"/>
                </a:solidFill>
                <a:uFill>
                  <a:solidFill>
                    <a:srgbClr val="006FC0"/>
                  </a:solidFill>
                </a:uFill>
                <a:latin typeface="Calibri"/>
                <a:cs typeface="Calibri"/>
              </a:rPr>
              <a:t>Generalization:</a:t>
            </a:r>
            <a:r>
              <a:rPr sz="2400" b="1" u="sng" dirty="0">
                <a:solidFill>
                  <a:srgbClr val="006FC0"/>
                </a:solidFill>
                <a:uFill>
                  <a:solidFill>
                    <a:srgbClr val="006FC0"/>
                  </a:solidFill>
                </a:uFill>
                <a:latin typeface="Calibri"/>
                <a:cs typeface="Calibri"/>
              </a:rPr>
              <a:t>	The</a:t>
            </a:r>
            <a:r>
              <a:rPr sz="2400" b="1" u="sng" spc="-35" dirty="0">
                <a:solidFill>
                  <a:srgbClr val="006FC0"/>
                </a:solidFill>
                <a:uFill>
                  <a:solidFill>
                    <a:srgbClr val="006FC0"/>
                  </a:solidFill>
                </a:uFill>
                <a:latin typeface="Calibri"/>
                <a:cs typeface="Calibri"/>
              </a:rPr>
              <a:t> </a:t>
            </a:r>
            <a:r>
              <a:rPr sz="2400" b="1" u="sng" spc="-45" dirty="0">
                <a:solidFill>
                  <a:srgbClr val="006FC0"/>
                </a:solidFill>
                <a:uFill>
                  <a:solidFill>
                    <a:srgbClr val="006FC0"/>
                  </a:solidFill>
                </a:uFill>
                <a:latin typeface="Calibri"/>
                <a:cs typeface="Calibri"/>
              </a:rPr>
              <a:t>Train-Test</a:t>
            </a:r>
            <a:r>
              <a:rPr sz="2400" b="1" u="sng" spc="-5" dirty="0">
                <a:solidFill>
                  <a:srgbClr val="006FC0"/>
                </a:solidFill>
                <a:uFill>
                  <a:solidFill>
                    <a:srgbClr val="006FC0"/>
                  </a:solidFill>
                </a:uFill>
                <a:latin typeface="Calibri"/>
                <a:cs typeface="Calibri"/>
              </a:rPr>
              <a:t> </a:t>
            </a:r>
            <a:r>
              <a:rPr sz="2400" b="1" u="sng" dirty="0">
                <a:solidFill>
                  <a:srgbClr val="006FC0"/>
                </a:solidFill>
                <a:uFill>
                  <a:solidFill>
                    <a:srgbClr val="006FC0"/>
                  </a:solidFill>
                </a:uFill>
                <a:latin typeface="Calibri"/>
                <a:cs typeface="Calibri"/>
              </a:rPr>
              <a:t>Split</a:t>
            </a:r>
            <a:r>
              <a:rPr sz="2400" b="1" u="sng" spc="-25" dirty="0">
                <a:solidFill>
                  <a:srgbClr val="006FC0"/>
                </a:solidFill>
                <a:uFill>
                  <a:solidFill>
                    <a:srgbClr val="006FC0"/>
                  </a:solidFill>
                </a:uFill>
                <a:latin typeface="Calibri"/>
                <a:cs typeface="Calibri"/>
              </a:rPr>
              <a:t> </a:t>
            </a:r>
            <a:r>
              <a:rPr sz="2400" b="1" u="sng" spc="-10" dirty="0">
                <a:solidFill>
                  <a:srgbClr val="006FC0"/>
                </a:solidFill>
                <a:uFill>
                  <a:solidFill>
                    <a:srgbClr val="006FC0"/>
                  </a:solidFill>
                </a:uFill>
                <a:latin typeface="Calibri"/>
                <a:cs typeface="Calibri"/>
              </a:rPr>
              <a:t>(Example)</a:t>
            </a:r>
            <a:endParaRPr sz="2400" dirty="0">
              <a:latin typeface="Calibri"/>
              <a:cs typeface="Calibri"/>
            </a:endParaRPr>
          </a:p>
        </p:txBody>
      </p:sp>
      <p:grpSp>
        <p:nvGrpSpPr>
          <p:cNvPr id="5" name="object 5"/>
          <p:cNvGrpSpPr/>
          <p:nvPr/>
        </p:nvGrpSpPr>
        <p:grpSpPr>
          <a:xfrm>
            <a:off x="1285494" y="5570982"/>
            <a:ext cx="9345930" cy="674370"/>
            <a:chOff x="1285494" y="5570982"/>
            <a:chExt cx="9345930" cy="674370"/>
          </a:xfrm>
        </p:grpSpPr>
        <p:pic>
          <p:nvPicPr>
            <p:cNvPr id="6" name="object 6"/>
            <p:cNvPicPr/>
            <p:nvPr/>
          </p:nvPicPr>
          <p:blipFill>
            <a:blip r:embed="rId3" cstate="print"/>
            <a:stretch>
              <a:fillRect/>
            </a:stretch>
          </p:blipFill>
          <p:spPr>
            <a:xfrm>
              <a:off x="1285494" y="5570982"/>
              <a:ext cx="5471159" cy="674370"/>
            </a:xfrm>
            <a:prstGeom prst="rect">
              <a:avLst/>
            </a:prstGeom>
          </p:spPr>
        </p:pic>
        <p:pic>
          <p:nvPicPr>
            <p:cNvPr id="7" name="object 7"/>
            <p:cNvPicPr/>
            <p:nvPr/>
          </p:nvPicPr>
          <p:blipFill>
            <a:blip r:embed="rId4" cstate="print"/>
            <a:stretch>
              <a:fillRect/>
            </a:stretch>
          </p:blipFill>
          <p:spPr>
            <a:xfrm>
              <a:off x="6356603" y="5570982"/>
              <a:ext cx="493001" cy="674370"/>
            </a:xfrm>
            <a:prstGeom prst="rect">
              <a:avLst/>
            </a:prstGeom>
          </p:spPr>
        </p:pic>
        <p:pic>
          <p:nvPicPr>
            <p:cNvPr id="8" name="object 8"/>
            <p:cNvPicPr/>
            <p:nvPr/>
          </p:nvPicPr>
          <p:blipFill>
            <a:blip r:embed="rId5" cstate="print"/>
            <a:stretch>
              <a:fillRect/>
            </a:stretch>
          </p:blipFill>
          <p:spPr>
            <a:xfrm>
              <a:off x="6449567" y="5570982"/>
              <a:ext cx="4181855" cy="674370"/>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312</TotalTime>
  <Words>1720</Words>
  <Application>Microsoft Office PowerPoint</Application>
  <PresentationFormat>Widescreen</PresentationFormat>
  <Paragraphs>218</Paragraphs>
  <Slides>35</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-apple-system</vt:lpstr>
      <vt:lpstr>Aptos</vt:lpstr>
      <vt:lpstr>Aptos Display</vt:lpstr>
      <vt:lpstr>Arial</vt:lpstr>
      <vt:lpstr>Calibri</vt:lpstr>
      <vt:lpstr>Cambria</vt:lpstr>
      <vt:lpstr>Montserrat</vt:lpstr>
      <vt:lpstr>Segoe Print</vt:lpstr>
      <vt:lpstr>Symbol</vt:lpstr>
      <vt:lpstr>Wingdings</vt:lpstr>
      <vt:lpstr>Office Theme</vt:lpstr>
      <vt:lpstr>Machine Learning</vt:lpstr>
      <vt:lpstr>Types of supervised Machine learning Algorithms: </vt:lpstr>
      <vt:lpstr>Supervised Learning</vt:lpstr>
      <vt:lpstr>Popular Regression algorithms</vt:lpstr>
      <vt:lpstr>Supervised Learning</vt:lpstr>
      <vt:lpstr>Spam Filtering </vt:lpstr>
      <vt:lpstr>Types of Unsupervised Learning Algorithm: </vt:lpstr>
      <vt:lpstr>Clustering:</vt:lpstr>
      <vt:lpstr>Association Rule learning:</vt:lpstr>
      <vt:lpstr>Example of Association Rule</vt:lpstr>
      <vt:lpstr>Association rule learning can be divided into three types of algorithms:</vt:lpstr>
      <vt:lpstr>Apriori Algorithm </vt:lpstr>
      <vt:lpstr>Example</vt:lpstr>
      <vt:lpstr>Eclat Algorithm </vt:lpstr>
      <vt:lpstr>F-P Growth Algorithm </vt:lpstr>
      <vt:lpstr>Unsupervised Learning algorithms: </vt:lpstr>
      <vt:lpstr>Supervised Learning Setup</vt:lpstr>
      <vt:lpstr>Supervised Learning Setup</vt:lpstr>
      <vt:lpstr>Supervised Learning Setup</vt:lpstr>
      <vt:lpstr>Supervised Learning Setup</vt:lpstr>
      <vt:lpstr>Supervised Learning Setup</vt:lpstr>
      <vt:lpstr>Supervised Learning Setup</vt:lpstr>
      <vt:lpstr>Supervised Learning Setup</vt:lpstr>
      <vt:lpstr>Loss Function</vt:lpstr>
      <vt:lpstr>Types of Loss function</vt:lpstr>
      <vt:lpstr>1. Regression Cost Function </vt:lpstr>
      <vt:lpstr>Supervised Learning Setup</vt:lpstr>
      <vt:lpstr>Supervised Learning Setup</vt:lpstr>
      <vt:lpstr>Supervised Learning Setup</vt:lpstr>
      <vt:lpstr>Supervised Learning Setup</vt:lpstr>
      <vt:lpstr>Supervised Learning Setup</vt:lpstr>
      <vt:lpstr>Supervised Learning Setup</vt:lpstr>
      <vt:lpstr>Supervised Learning Setup</vt:lpstr>
      <vt:lpstr>Supervised Learning Setup</vt:lpstr>
      <vt:lpstr>Supervised Learning Setup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EE514-CS535 Machine Leaning 01-02</dc:title>
  <dc:creator>Zubair Khalid</dc:creator>
  <cp:lastModifiedBy>anwar khan</cp:lastModifiedBy>
  <cp:revision>73</cp:revision>
  <dcterms:created xsi:type="dcterms:W3CDTF">2024-10-17T09:45:53Z</dcterms:created>
  <dcterms:modified xsi:type="dcterms:W3CDTF">2025-10-16T03:17:38Z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2021-01-24T00:00:00Z</vt:filetime>
  </property>
  <property fmtid="{D5CDD505-2E9C-101B-9397-08002B2CF9AE}" pid="3" name="Creator">
    <vt:lpwstr>Microsoft® PowerPoint® for Office 365</vt:lpwstr>
  </property>
  <property fmtid="{D5CDD505-2E9C-101B-9397-08002B2CF9AE}" pid="4" name="LastSaved">
    <vt:filetime>2024-10-17T00:00:00Z</vt:filetime>
  </property>
  <property fmtid="{D5CDD505-2E9C-101B-9397-08002B2CF9AE}" pid="5" name="Producer">
    <vt:lpwstr>Microsoft® PowerPoint® for Office 365</vt:lpwstr>
  </property>
</Properties>
</file>