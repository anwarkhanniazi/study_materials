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  <p:sldId id="264" r:id="rId9"/>
    <p:sldId id="265" r:id="rId10"/>
    <p:sldId id="266" r:id="rId11"/>
    <p:sldId id="268" r:id="rId12"/>
    <p:sldId id="271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361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557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302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914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054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47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7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7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791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7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640B72-3CA4-4C8C-9EC9-85C2ACB24599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C34A42-F82D-4CBF-9599-BA6A0B5FDC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20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ircuit board&#10;&#10;Description automatically generated">
            <a:extLst>
              <a:ext uri="{FF2B5EF4-FFF2-40B4-BE49-F238E27FC236}">
                <a16:creationId xmlns:a16="http://schemas.microsoft.com/office/drawing/2014/main" id="{E70ABBF4-46E7-4969-82EB-C23BECC77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32"/>
            <a:ext cx="12192000" cy="2578768"/>
          </a:xfrm>
          <a:prstGeom prst="rect">
            <a:avLst/>
          </a:prstGeom>
        </p:spPr>
      </p:pic>
      <p:sp>
        <p:nvSpPr>
          <p:cNvPr id="6" name="object 20">
            <a:extLst>
              <a:ext uri="{FF2B5EF4-FFF2-40B4-BE49-F238E27FC236}">
                <a16:creationId xmlns:a16="http://schemas.microsoft.com/office/drawing/2014/main" id="{C284C4F3-473A-4C72-8240-E2DDCF0C6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33599" y="2871694"/>
            <a:ext cx="7834489" cy="633507"/>
          </a:xfrm>
          <a:prstGeom prst="rect">
            <a:avLst/>
          </a:prstGeom>
        </p:spPr>
        <p:txBody>
          <a:bodyPr vert="horz" wrap="square" lIns="0" tIns="81280" rIns="0" bIns="0" rtlCol="0" anchor="ctr">
            <a:spAutoFit/>
          </a:bodyPr>
          <a:lstStyle/>
          <a:p>
            <a:pPr marL="1468120" marR="5080" indent="-1456055" algn="ctr">
              <a:lnSpc>
                <a:spcPts val="4320"/>
              </a:lnSpc>
              <a:spcBef>
                <a:spcPts val="640"/>
              </a:spcBef>
            </a:pP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Artificial</a:t>
            </a:r>
            <a:r>
              <a:rPr sz="4000" b="1" spc="-55" dirty="0">
                <a:solidFill>
                  <a:srgbClr val="FFC000"/>
                </a:solidFill>
                <a:latin typeface="Gothic Uralic"/>
                <a:cs typeface="Gothic Uralic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Intelligence</a:t>
            </a:r>
            <a:endParaRPr sz="4000" dirty="0">
              <a:latin typeface="Gothic Uralic"/>
              <a:cs typeface="Gothic Urali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6C72A-45F5-482C-9BB9-CB04B0292B88}"/>
              </a:ext>
            </a:extLst>
          </p:cNvPr>
          <p:cNvSpPr/>
          <p:nvPr/>
        </p:nvSpPr>
        <p:spPr>
          <a:xfrm>
            <a:off x="1792705" y="4267202"/>
            <a:ext cx="7696200" cy="5411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1356360" algn="ctr">
              <a:lnSpc>
                <a:spcPts val="3460"/>
              </a:lnSpc>
              <a:spcBef>
                <a:spcPts val="535"/>
              </a:spcBef>
            </a:pPr>
            <a:r>
              <a:rPr lang="en-US" sz="3200" b="1" dirty="0">
                <a:solidFill>
                  <a:schemeClr val="tx2"/>
                </a:solidFill>
                <a:latin typeface="Arial Rounded MT Bold" panose="020F0704030504030204" pitchFamily="34" charset="0"/>
                <a:cs typeface="Gothic Uralic"/>
              </a:rPr>
              <a:t>Informed Search Strategies</a:t>
            </a:r>
          </a:p>
        </p:txBody>
      </p:sp>
    </p:spTree>
    <p:extLst>
      <p:ext uri="{BB962C8B-B14F-4D97-AF65-F5344CB8AC3E}">
        <p14:creationId xmlns:p14="http://schemas.microsoft.com/office/powerpoint/2010/main" val="125624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0070C0"/>
                </a:solidFill>
              </a:rPr>
              <a:t>Objectives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  <a:p>
            <a:r>
              <a:rPr lang="en-US" dirty="0"/>
              <a:t>Greedy Best first Search</a:t>
            </a:r>
          </a:p>
          <a:p>
            <a:r>
              <a:rPr lang="en-US" dirty="0"/>
              <a:t>A*</a:t>
            </a:r>
          </a:p>
        </p:txBody>
      </p:sp>
    </p:spTree>
    <p:extLst>
      <p:ext uri="{BB962C8B-B14F-4D97-AF65-F5344CB8AC3E}">
        <p14:creationId xmlns:p14="http://schemas.microsoft.com/office/powerpoint/2010/main" val="257143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Search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5169" y="1651000"/>
            <a:ext cx="10515600" cy="4351338"/>
          </a:xfrm>
        </p:spPr>
        <p:txBody>
          <a:bodyPr/>
          <a:lstStyle/>
          <a:p>
            <a:pPr fontAlgn="base">
              <a:buFont typeface="Wingdings" panose="05000000000000000000" pitchFamily="2" charset="2"/>
              <a:buChar char="§"/>
            </a:pPr>
            <a:r>
              <a:rPr lang="en-US" dirty="0"/>
              <a:t>The algorithms have additional information along with the goal state, which helps in more efficient searching. This information is obtained by something called a </a:t>
            </a:r>
            <a:r>
              <a:rPr lang="en-US" i="1" dirty="0"/>
              <a:t>heuristic.</a:t>
            </a:r>
          </a:p>
          <a:p>
            <a:pPr fontAlgn="base"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0070C0"/>
                </a:solidFill>
                <a:latin typeface="Calibri" pitchFamily="34" charset="0"/>
              </a:rPr>
              <a:t>A heuristic is</a:t>
            </a:r>
            <a:r>
              <a:rPr lang="en-US" kern="0" dirty="0">
                <a:latin typeface="Calibri" pitchFamily="34" charset="0"/>
              </a:rPr>
              <a:t>: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Calibri" pitchFamily="34" charset="0"/>
              </a:rPr>
              <a:t>A function that </a:t>
            </a:r>
            <a:r>
              <a:rPr lang="en-US" sz="2000" i="1" kern="0" dirty="0">
                <a:latin typeface="Calibri" pitchFamily="34" charset="0"/>
              </a:rPr>
              <a:t>estimates</a:t>
            </a:r>
            <a:r>
              <a:rPr lang="en-US" sz="2000" kern="0" dirty="0">
                <a:latin typeface="Calibri" pitchFamily="34" charset="0"/>
              </a:rPr>
              <a:t> how close a state is to a goal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Calibri" pitchFamily="34" charset="0"/>
              </a:rPr>
              <a:t>Designed for a particular search problem</a:t>
            </a:r>
          </a:p>
          <a:p>
            <a:pPr marL="800021" lvl="1" indent="-342866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§"/>
              <a:defRPr/>
            </a:pPr>
            <a:r>
              <a:rPr lang="en-US" sz="2000" kern="0" dirty="0">
                <a:latin typeface="Calibri" pitchFamily="34" charset="0"/>
              </a:rPr>
              <a:t>Examples: Manhattan distance, Euclidean distance for pathing</a:t>
            </a:r>
          </a:p>
          <a:p>
            <a:endParaRPr lang="en-US" dirty="0"/>
          </a:p>
        </p:txBody>
      </p:sp>
      <p:pic>
        <p:nvPicPr>
          <p:cNvPr id="4" name="Picture 2" descr="Z:\Shared with PC\smallMaze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68980" y="4546242"/>
            <a:ext cx="5184820" cy="19704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6671257" y="5249069"/>
            <a:ext cx="2051497" cy="971427"/>
            <a:chOff x="1653989" y="4572529"/>
            <a:chExt cx="2978334" cy="1505542"/>
          </a:xfrm>
        </p:grpSpPr>
        <p:cxnSp>
          <p:nvCxnSpPr>
            <p:cNvPr id="6" name="Straight Arrow Connector 5"/>
            <p:cNvCxnSpPr/>
            <p:nvPr/>
          </p:nvCxnSpPr>
          <p:spPr>
            <a:xfrm flipH="1">
              <a:off x="1653989" y="4572529"/>
              <a:ext cx="2978334" cy="1505542"/>
            </a:xfrm>
            <a:prstGeom prst="straightConnector1">
              <a:avLst/>
            </a:pr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17"/>
            <p:cNvSpPr txBox="1">
              <a:spLocks noChangeArrowheads="1"/>
            </p:cNvSpPr>
            <p:nvPr/>
          </p:nvSpPr>
          <p:spPr bwMode="auto">
            <a:xfrm>
              <a:off x="3016625" y="5356413"/>
              <a:ext cx="620787" cy="369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11.2</a:t>
              </a:r>
            </a:p>
          </p:txBody>
        </p:sp>
      </p:grpSp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6581104" y="4881093"/>
            <a:ext cx="2141650" cy="1339404"/>
            <a:chOff x="1573306" y="4155142"/>
            <a:chExt cx="3025588" cy="1922929"/>
          </a:xfrm>
        </p:grpSpPr>
        <p:sp>
          <p:nvSpPr>
            <p:cNvPr id="12" name="Freeform 11"/>
            <p:cNvSpPr/>
            <p:nvPr/>
          </p:nvSpPr>
          <p:spPr>
            <a:xfrm>
              <a:off x="1573306" y="4578757"/>
              <a:ext cx="3025588" cy="1499314"/>
            </a:xfrm>
            <a:custGeom>
              <a:avLst/>
              <a:gdLst>
                <a:gd name="connsiteX0" fmla="*/ 3065929 w 3065929"/>
                <a:gd name="connsiteY0" fmla="*/ 13447 h 1479177"/>
                <a:gd name="connsiteX1" fmla="*/ 0 w 3065929"/>
                <a:gd name="connsiteY1" fmla="*/ 0 h 1479177"/>
                <a:gd name="connsiteX2" fmla="*/ 26894 w 3065929"/>
                <a:gd name="connsiteY2" fmla="*/ 1479177 h 1479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65929" h="1479177">
                  <a:moveTo>
                    <a:pt x="3065929" y="13447"/>
                  </a:moveTo>
                  <a:lnTo>
                    <a:pt x="0" y="0"/>
                  </a:lnTo>
                  <a:lnTo>
                    <a:pt x="26894" y="1479177"/>
                  </a:lnTo>
                </a:path>
              </a:pathLst>
            </a:custGeom>
            <a:ln w="57150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TextBox 15"/>
            <p:cNvSpPr txBox="1">
              <a:spLocks noChangeArrowheads="1"/>
            </p:cNvSpPr>
            <p:nvPr/>
          </p:nvSpPr>
          <p:spPr bwMode="auto">
            <a:xfrm>
              <a:off x="2164976" y="4155142"/>
              <a:ext cx="441119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10</a:t>
              </a:r>
            </a:p>
          </p:txBody>
        </p:sp>
        <p:sp>
          <p:nvSpPr>
            <p:cNvPr id="14" name="TextBox 16"/>
            <p:cNvSpPr txBox="1">
              <a:spLocks noChangeArrowheads="1"/>
            </p:cNvSpPr>
            <p:nvPr/>
          </p:nvSpPr>
          <p:spPr bwMode="auto">
            <a:xfrm>
              <a:off x="1591236" y="4953001"/>
              <a:ext cx="312887" cy="3691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192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Greedy Best First Search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56379" y="1230770"/>
            <a:ext cx="11434607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In greedy search, we expand the node closest to the goal node. The “closeness” is estimated by a heuristic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h(x)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Roboto"/>
              </a:rPr>
              <a:t>Heuristic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A heuristic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is defined as-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h(x) =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Estimate of distance of node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x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from the goal node.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Lower the value of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h(x)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, closer is the node from the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Roboto"/>
              </a:rPr>
              <a:t>Strategy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Expand the node closest to the goal state, 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i.e.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expand the node with lower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value.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2078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0731"/>
            <a:ext cx="10515600" cy="1325563"/>
          </a:xfrm>
        </p:spPr>
        <p:txBody>
          <a:bodyPr>
            <a:normAutofit fontScale="90000"/>
          </a:bodyPr>
          <a:lstStyle/>
          <a:p>
            <a:pPr fontAlgn="base"/>
            <a:r>
              <a:rPr lang="en-US" b="1" dirty="0">
                <a:solidFill>
                  <a:srgbClr val="0070C0"/>
                </a:solidFill>
                <a:latin typeface="+mn-lt"/>
              </a:rPr>
              <a:t>Example:</a:t>
            </a:r>
            <a:br>
              <a:rPr lang="en-US" b="1" dirty="0">
                <a:solidFill>
                  <a:srgbClr val="0070C0"/>
                </a:solidFill>
                <a:latin typeface="+mn-lt"/>
              </a:rPr>
            </a:br>
            <a:br>
              <a:rPr lang="en-US" b="1" dirty="0">
                <a:solidFill>
                  <a:srgbClr val="0070C0"/>
                </a:solidFill>
                <a:latin typeface="+mn-lt"/>
              </a:rPr>
            </a:br>
            <a:endParaRPr lang="en-US" b="1" dirty="0">
              <a:solidFill>
                <a:srgbClr val="0070C0"/>
              </a:solidFill>
              <a:latin typeface="+mn-lt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963512"/>
            <a:ext cx="5823582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Find the path from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to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G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using greedy search.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390" y="197699"/>
            <a:ext cx="4161905" cy="63627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4202" y="525486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0" dirty="0">
                <a:effectLst/>
                <a:latin typeface="Roboto"/>
              </a:rPr>
              <a:t>Solution</a:t>
            </a:r>
            <a:endParaRPr lang="en-US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734962" y="5624197"/>
            <a:ext cx="8898436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Starting from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Consolas" panose="020B0609020204030204" pitchFamily="49" charset="0"/>
              </a:rPr>
              <a:t>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we can traverse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A(h=9)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or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D(h=5)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We choose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as it has the lower heuristic cost. Now from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we can move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B(h=4)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or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E(h=3)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We choose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 with lower heuristic cost. Finally, from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we go to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cs typeface="Consolas" panose="020B0609020204030204" pitchFamily="49" charset="0"/>
              </a:rPr>
              <a:t>G(h=0)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112" y="1479569"/>
            <a:ext cx="5589229" cy="3628571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5962918" y="3335628"/>
            <a:ext cx="553792" cy="437882"/>
          </a:xfrm>
          <a:prstGeom prst="rightArrow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9155817" y="6432095"/>
            <a:ext cx="2210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S -&gt; D -&gt; E -&gt; 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387630" y="6432095"/>
            <a:ext cx="7617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Roboto"/>
              </a:rPr>
              <a:t>Path: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212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4637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Travel Sales Man Problem using Greedy Search</a:t>
            </a:r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54675" y="1887973"/>
            <a:ext cx="8329612" cy="409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ounded Rectangle 4"/>
          <p:cNvSpPr/>
          <p:nvPr/>
        </p:nvSpPr>
        <p:spPr>
          <a:xfrm>
            <a:off x="8003784" y="1799867"/>
            <a:ext cx="1905000" cy="4267200"/>
          </a:xfrm>
          <a:prstGeom prst="round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682811" y="6090522"/>
            <a:ext cx="546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C00000"/>
                </a:solidFill>
              </a:rPr>
              <a:t>h(x)</a:t>
            </a:r>
          </a:p>
        </p:txBody>
      </p:sp>
      <p:sp>
        <p:nvSpPr>
          <p:cNvPr id="10" name="Oval 9"/>
          <p:cNvSpPr/>
          <p:nvPr/>
        </p:nvSpPr>
        <p:spPr>
          <a:xfrm>
            <a:off x="1865291" y="2998631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5586210" y="4958365"/>
            <a:ext cx="157767" cy="167425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3" name="Curved Connector 12"/>
          <p:cNvCxnSpPr/>
          <p:nvPr/>
        </p:nvCxnSpPr>
        <p:spPr>
          <a:xfrm rot="16200000" flipH="1">
            <a:off x="2810373" y="2241721"/>
            <a:ext cx="2022699" cy="3578013"/>
          </a:xfrm>
          <a:prstGeom prst="curvedConnector4">
            <a:avLst>
              <a:gd name="adj1" fmla="val -11302"/>
              <a:gd name="adj2" fmla="val 50343"/>
            </a:avLst>
          </a:prstGeom>
          <a:ln w="38100"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2502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+mn-lt"/>
              </a:rPr>
              <a:t>Greedy Search……</a:t>
            </a:r>
            <a:endParaRPr lang="en-US" b="1" dirty="0">
              <a:latin typeface="+mn-lt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821" y="1550987"/>
            <a:ext cx="7263491" cy="4351338"/>
          </a:xfr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21803"/>
          <a:stretch>
            <a:fillRect/>
          </a:stretch>
        </p:blipFill>
        <p:spPr bwMode="auto">
          <a:xfrm>
            <a:off x="5935964" y="180025"/>
            <a:ext cx="5690175" cy="30916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1517561" y="2586507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2959995" y="4003183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5780466" y="4505460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5188040" y="4994857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6012287" y="5548648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12482" y="5907111"/>
            <a:ext cx="2797304" cy="4247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0070C0"/>
                </a:solidFill>
              </a:rPr>
              <a:t>What can go wrong?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9020" y="6331843"/>
            <a:ext cx="2601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Not optimal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80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46" y="5331853"/>
            <a:ext cx="5558307" cy="1201291"/>
          </a:xfrm>
        </p:spPr>
        <p:txBody>
          <a:bodyPr>
            <a:noAutofit/>
          </a:bodyPr>
          <a:lstStyle/>
          <a:p>
            <a:pPr algn="just"/>
            <a:r>
              <a:rPr lang="en-US" sz="1600" dirty="0">
                <a:latin typeface="+mn-lt"/>
              </a:rPr>
              <a:t>Greedy search leads to a minimal cost search because no node off the solution path is expanded. However, it does not find the optimal path: the path it found via Sibiu and </a:t>
            </a:r>
            <a:r>
              <a:rPr lang="en-US" sz="1600" dirty="0" err="1">
                <a:latin typeface="+mn-lt"/>
              </a:rPr>
              <a:t>Fagaras</a:t>
            </a:r>
            <a:r>
              <a:rPr lang="en-US" sz="1600" dirty="0">
                <a:latin typeface="+mn-lt"/>
              </a:rPr>
              <a:t> to Bucharest is 13 miles longer than the path through </a:t>
            </a:r>
            <a:r>
              <a:rPr lang="en-US" sz="1600" dirty="0" err="1">
                <a:latin typeface="+mn-lt"/>
              </a:rPr>
              <a:t>Pimnicu</a:t>
            </a:r>
            <a:r>
              <a:rPr lang="en-US" sz="1600" dirty="0">
                <a:latin typeface="+mn-lt"/>
              </a:rPr>
              <a:t> </a:t>
            </a:r>
            <a:r>
              <a:rPr lang="en-US" sz="1600" dirty="0" err="1">
                <a:latin typeface="+mn-lt"/>
              </a:rPr>
              <a:t>Vilcea</a:t>
            </a:r>
            <a:r>
              <a:rPr lang="en-US" sz="1600" dirty="0">
                <a:latin typeface="+mn-lt"/>
              </a:rPr>
              <a:t> and Pitesti.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63495"/>
            <a:ext cx="10443693" cy="4351338"/>
          </a:xfrm>
        </p:spPr>
      </p:pic>
      <p:sp>
        <p:nvSpPr>
          <p:cNvPr id="5" name="TextBox 4"/>
          <p:cNvSpPr txBox="1"/>
          <p:nvPr/>
        </p:nvSpPr>
        <p:spPr>
          <a:xfrm>
            <a:off x="965915" y="5254580"/>
            <a:ext cx="3490175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Red Path (GBF)=431</a:t>
            </a:r>
          </a:p>
          <a:p>
            <a:endParaRPr lang="en-US" dirty="0"/>
          </a:p>
          <a:p>
            <a:r>
              <a:rPr lang="en-US" sz="2000" b="1" dirty="0">
                <a:solidFill>
                  <a:srgbClr val="00B050"/>
                </a:solidFill>
              </a:rPr>
              <a:t>Green Path (UCS)= 418</a:t>
            </a:r>
          </a:p>
        </p:txBody>
      </p:sp>
      <p:cxnSp>
        <p:nvCxnSpPr>
          <p:cNvPr id="7" name="Curved Connector 6"/>
          <p:cNvCxnSpPr/>
          <p:nvPr/>
        </p:nvCxnSpPr>
        <p:spPr>
          <a:xfrm>
            <a:off x="1378039" y="1790163"/>
            <a:ext cx="4682007" cy="2150772"/>
          </a:xfrm>
          <a:prstGeom prst="curvedConnector3">
            <a:avLst>
              <a:gd name="adj1" fmla="val 79158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/>
          <p:nvPr/>
        </p:nvCxnSpPr>
        <p:spPr>
          <a:xfrm>
            <a:off x="1493949" y="1841679"/>
            <a:ext cx="4566097" cy="2167642"/>
          </a:xfrm>
          <a:prstGeom prst="curvedConnector3">
            <a:avLst>
              <a:gd name="adj1" fmla="val 45487"/>
            </a:avLst>
          </a:prstGeom>
          <a:ln w="28575">
            <a:solidFill>
              <a:srgbClr val="00B050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356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A* Search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95080" y="1217478"/>
            <a:ext cx="10730754" cy="4284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A* Search, combines the strengths of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uniform-cost search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greedy 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. In this search, the </a:t>
            </a:r>
            <a:r>
              <a:rPr kumimoji="0" lang="en-US" altLang="en-US" sz="24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heuristic is the summation of the cost in UCS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denoted by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Consolas" panose="020B0609020204030204" pitchFamily="49" charset="0"/>
              </a:rPr>
              <a:t>g(x)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and the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cost in greedy search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, denoted by 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Consolas" panose="020B0609020204030204" pitchFamily="49" charset="0"/>
              </a:rPr>
              <a:t>h(x)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.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summed cost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is denoted by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  <a:cs typeface="Consolas" panose="020B0609020204030204" pitchFamily="49" charset="0"/>
              </a:rPr>
              <a:t>f(x)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+mn-lt"/>
            </a:endParaRP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Heuristic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: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The following points should be noted w.r.t heuristics in A*</a:t>
            </a:r>
            <a:r>
              <a:rPr lang="en-US" altLang="en-US" sz="2400" dirty="0"/>
              <a:t> search.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en-US" altLang="en-US" sz="2400" dirty="0">
              <a:latin typeface="+mn-lt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70C0"/>
                </a:solidFill>
                <a:latin typeface="Calibri"/>
                <a:cs typeface="Calibri"/>
              </a:rPr>
              <a:t>A* Search </a:t>
            </a:r>
            <a:r>
              <a:rPr lang="en-US" sz="2400" dirty="0">
                <a:latin typeface="Calibri"/>
                <a:cs typeface="Calibri"/>
              </a:rPr>
              <a:t>orders by the sum: </a:t>
            </a:r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F(N) = G(N) + H(N)</a:t>
            </a:r>
            <a:endParaRPr lang="en-US" sz="2400" b="1" i="1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2400" dirty="0">
              <a:latin typeface="+mn-lt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3333FF"/>
                </a:solidFill>
                <a:latin typeface="Calibri"/>
                <a:cs typeface="Calibri"/>
              </a:rPr>
              <a:t>Uniform-cost</a:t>
            </a:r>
            <a:r>
              <a:rPr lang="en-US" sz="2400" dirty="0">
                <a:latin typeface="Calibri"/>
                <a:cs typeface="Calibri"/>
              </a:rPr>
              <a:t> orders by path cost,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or </a:t>
            </a:r>
            <a:r>
              <a:rPr lang="en-US" sz="2400" i="1" dirty="0">
                <a:latin typeface="Calibri"/>
                <a:cs typeface="Calibri"/>
              </a:rPr>
              <a:t>backward cost  </a:t>
            </a:r>
            <a:r>
              <a:rPr lang="en-US" sz="2400" dirty="0">
                <a:latin typeface="Calibri"/>
                <a:cs typeface="Calibri"/>
              </a:rPr>
              <a:t>g(n)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solidFill>
                  <a:srgbClr val="CC0000"/>
                </a:solidFill>
                <a:latin typeface="Calibri"/>
                <a:cs typeface="Calibri"/>
              </a:rPr>
              <a:t>Greedy</a:t>
            </a:r>
            <a:r>
              <a:rPr lang="en-US" sz="2400" dirty="0">
                <a:latin typeface="Calibri"/>
                <a:cs typeface="Calibri"/>
              </a:rPr>
              <a:t> orders by goal proximity,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>
                <a:latin typeface="Calibri"/>
                <a:cs typeface="Calibri"/>
              </a:rPr>
              <a:t>or </a:t>
            </a:r>
            <a:r>
              <a:rPr lang="en-US" sz="2400" i="1" dirty="0">
                <a:latin typeface="Calibri"/>
                <a:cs typeface="Calibri"/>
              </a:rPr>
              <a:t>forward cost  </a:t>
            </a:r>
            <a:r>
              <a:rPr lang="en-US" sz="2400" dirty="0">
                <a:latin typeface="Calibri"/>
                <a:cs typeface="Calibri"/>
              </a:rPr>
              <a:t>h(n)</a:t>
            </a:r>
            <a:endParaRPr lang="en-US" sz="2400" i="1" dirty="0">
              <a:latin typeface="Calibri"/>
              <a:cs typeface="Calibri"/>
            </a:endParaRPr>
          </a:p>
        </p:txBody>
      </p:sp>
      <p:sp>
        <p:nvSpPr>
          <p:cNvPr id="9" name="AutoShape 6" descr=" f(x) = g(x) + h(x) "/>
          <p:cNvSpPr>
            <a:spLocks noChangeAspect="1" noChangeArrowheads="1"/>
          </p:cNvSpPr>
          <p:nvPr/>
        </p:nvSpPr>
        <p:spPr bwMode="auto">
          <a:xfrm>
            <a:off x="5263683" y="1431925"/>
            <a:ext cx="1802431" cy="257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6129" y="4042953"/>
            <a:ext cx="7325826" cy="24872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25332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A* Search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258952"/>
            <a:ext cx="10739907" cy="5489575"/>
          </a:xfrm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2923" y="0"/>
            <a:ext cx="5379078" cy="270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Oval 5"/>
          <p:cNvSpPr/>
          <p:nvPr/>
        </p:nvSpPr>
        <p:spPr>
          <a:xfrm>
            <a:off x="1607713" y="2290293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969099" y="3284111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6789312" y="3932907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7398913" y="4784501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9193370" y="5432738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9657009" y="6115318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8676069" y="4007108"/>
            <a:ext cx="167425" cy="14166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155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Admissible Heuristics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heuristic </a:t>
            </a:r>
            <a:r>
              <a:rPr lang="en-US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/>
              <a:t> is </a:t>
            </a:r>
            <a:r>
              <a:rPr lang="en-US" i="1" dirty="0">
                <a:solidFill>
                  <a:srgbClr val="C00000"/>
                </a:solidFill>
              </a:rPr>
              <a:t>admissible</a:t>
            </a:r>
            <a:r>
              <a:rPr lang="en-US" i="1" dirty="0"/>
              <a:t> </a:t>
            </a:r>
            <a:r>
              <a:rPr lang="en-US" dirty="0"/>
              <a:t>(optimistic) if: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>
              <a:buNone/>
            </a:pPr>
            <a:r>
              <a:rPr lang="en-US" dirty="0"/>
              <a:t>	where               is the true cost to a nearest goal</a:t>
            </a:r>
          </a:p>
          <a:p>
            <a:pPr>
              <a:buNone/>
            </a:pPr>
            <a:endParaRPr lang="en-US" sz="16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/>
          <a:stretch>
            <a:fillRect/>
          </a:stretch>
        </p:blipFill>
        <p:spPr bwMode="auto">
          <a:xfrm>
            <a:off x="3750972" y="2468450"/>
            <a:ext cx="3130785" cy="403304"/>
          </a:xfrm>
          <a:prstGeom prst="rect">
            <a:avLst/>
          </a:prstGeom>
          <a:noFill/>
          <a:ln/>
          <a:effectLst/>
        </p:spPr>
      </p:pic>
      <p:pic>
        <p:nvPicPr>
          <p:cNvPr id="5" name="Picture 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72237" y="3142758"/>
            <a:ext cx="979488" cy="403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04166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A* Search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1" y="1130076"/>
            <a:ext cx="5509185" cy="3733333"/>
          </a:xfr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08847" y="5926912"/>
            <a:ext cx="4787153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Path:</a:t>
            </a:r>
            <a:r>
              <a:rPr lang="en-US" altLang="en-US" sz="2000" dirty="0">
                <a:latin typeface="Roboto"/>
              </a:rPr>
              <a:t> </a:t>
            </a:r>
            <a:r>
              <a:rPr lang="en-US" altLang="en-US" sz="2000" b="1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 -&gt; D -&gt; B -&gt; E -&gt; G</a:t>
            </a:r>
          </a:p>
          <a:p>
            <a:pPr lvl="0"/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Cost: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979713"/>
              </p:ext>
            </p:extLst>
          </p:nvPr>
        </p:nvGraphicFramePr>
        <p:xfrm>
          <a:off x="5937161" y="512068"/>
          <a:ext cx="5699880" cy="6030397"/>
        </p:xfrm>
        <a:graphic>
          <a:graphicData uri="http://schemas.openxmlformats.org/drawingml/2006/table">
            <a:tbl>
              <a:tblPr/>
              <a:tblGrid>
                <a:gridCol w="1424970">
                  <a:extLst>
                    <a:ext uri="{9D8B030D-6E8A-4147-A177-3AD203B41FA5}">
                      <a16:colId xmlns:a16="http://schemas.microsoft.com/office/drawing/2014/main" val="2679135000"/>
                    </a:ext>
                  </a:extLst>
                </a:gridCol>
                <a:gridCol w="1424970">
                  <a:extLst>
                    <a:ext uri="{9D8B030D-6E8A-4147-A177-3AD203B41FA5}">
                      <a16:colId xmlns:a16="http://schemas.microsoft.com/office/drawing/2014/main" val="240089599"/>
                    </a:ext>
                  </a:extLst>
                </a:gridCol>
                <a:gridCol w="1424970">
                  <a:extLst>
                    <a:ext uri="{9D8B030D-6E8A-4147-A177-3AD203B41FA5}">
                      <a16:colId xmlns:a16="http://schemas.microsoft.com/office/drawing/2014/main" val="3936478480"/>
                    </a:ext>
                  </a:extLst>
                </a:gridCol>
                <a:gridCol w="1424970">
                  <a:extLst>
                    <a:ext uri="{9D8B030D-6E8A-4147-A177-3AD203B41FA5}">
                      <a16:colId xmlns:a16="http://schemas.microsoft.com/office/drawing/2014/main" val="3214995530"/>
                    </a:ext>
                  </a:extLst>
                </a:gridCol>
              </a:tblGrid>
              <a:tr h="377110"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cap="all">
                          <a:solidFill>
                            <a:srgbClr val="000000"/>
                          </a:solidFill>
                          <a:effectLst/>
                        </a:rPr>
                        <a:t>PATH</a:t>
                      </a:r>
                    </a:p>
                  </a:txBody>
                  <a:tcPr marL="48591" marR="48591" marT="48591" marB="4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cap="all">
                          <a:solidFill>
                            <a:srgbClr val="000000"/>
                          </a:solidFill>
                          <a:effectLst/>
                        </a:rPr>
                        <a:t>H(X)</a:t>
                      </a:r>
                    </a:p>
                  </a:txBody>
                  <a:tcPr marL="48591" marR="48591" marT="48591" marB="4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cap="all">
                          <a:solidFill>
                            <a:srgbClr val="000000"/>
                          </a:solidFill>
                          <a:effectLst/>
                        </a:rPr>
                        <a:t>G(X)</a:t>
                      </a:r>
                    </a:p>
                  </a:txBody>
                  <a:tcPr marL="48591" marR="48591" marT="48591" marB="4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5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100" b="1" cap="all">
                          <a:solidFill>
                            <a:srgbClr val="000000"/>
                          </a:solidFill>
                          <a:effectLst/>
                        </a:rPr>
                        <a:t>F(X)</a:t>
                      </a:r>
                    </a:p>
                  </a:txBody>
                  <a:tcPr marL="48591" marR="48591" marT="48591" marB="485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D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1867290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0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8072722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019420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A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9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3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12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433745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D  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5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2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03092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0329819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D -&gt; B  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dirty="0">
                          <a:effectLst/>
                        </a:rPr>
                        <a:t>4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2 + 1 = 3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40606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D -&gt; E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3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2 + 4 = 6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9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79018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751019"/>
                  </a:ext>
                </a:extLst>
              </a:tr>
              <a:tr h="6027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D -&gt; B -&gt; C  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2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3 + 2 = 5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9776042"/>
                  </a:ext>
                </a:extLst>
              </a:tr>
              <a:tr h="6027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dirty="0">
                          <a:effectLst/>
                        </a:rPr>
                        <a:t>S -&gt; D -&gt; B -&gt; E  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3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3 + 1 = 4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49179"/>
                  </a:ext>
                </a:extLst>
              </a:tr>
              <a:tr h="360275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 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3031086"/>
                  </a:ext>
                </a:extLst>
              </a:tr>
              <a:tr h="602703"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S -&gt; D -&gt; B -&gt; C -&gt; G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0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5 + 4 = 9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9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04435"/>
                  </a:ext>
                </a:extLst>
              </a:tr>
              <a:tr h="602703">
                <a:tc>
                  <a:txBody>
                    <a:bodyPr/>
                    <a:lstStyle/>
                    <a:p>
                      <a:pPr algn="l" fontAlgn="base"/>
                      <a:r>
                        <a:rPr lang="pt-BR" sz="1100" b="1">
                          <a:effectLst/>
                        </a:rPr>
                        <a:t>S -&gt; D -&gt; B -&gt; E -&gt; G   </a:t>
                      </a:r>
                      <a:endParaRPr lang="pt-BR" sz="1100" b="0">
                        <a:effectLst/>
                      </a:endParaRP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0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>
                          <a:effectLst/>
                        </a:rPr>
                        <a:t>4 + 3 = 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100" b="0" dirty="0">
                          <a:effectLst/>
                        </a:rPr>
                        <a:t>7</a:t>
                      </a:r>
                    </a:p>
                  </a:txBody>
                  <a:tcPr marL="85035" marR="85035" marT="42517" marB="42517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3933184"/>
                  </a:ext>
                </a:extLst>
              </a:tr>
            </a:tbl>
          </a:graphicData>
        </a:graphic>
      </p:graphicFrame>
      <p:sp>
        <p:nvSpPr>
          <p:cNvPr id="7" name="AutoShape 1" descr="✔"/>
          <p:cNvSpPr>
            <a:spLocks noChangeAspect="1" noChangeArrowheads="1"/>
          </p:cNvSpPr>
          <p:nvPr/>
        </p:nvSpPr>
        <p:spPr bwMode="auto">
          <a:xfrm>
            <a:off x="6687017" y="5120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" descr="✔"/>
          <p:cNvSpPr>
            <a:spLocks noChangeAspect="1" noChangeArrowheads="1"/>
          </p:cNvSpPr>
          <p:nvPr/>
        </p:nvSpPr>
        <p:spPr bwMode="auto">
          <a:xfrm>
            <a:off x="6687017" y="5120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3" descr="✔"/>
          <p:cNvSpPr>
            <a:spLocks noChangeAspect="1" noChangeArrowheads="1"/>
          </p:cNvSpPr>
          <p:nvPr/>
        </p:nvSpPr>
        <p:spPr bwMode="auto">
          <a:xfrm>
            <a:off x="6687017" y="5120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4" descr="✔"/>
          <p:cNvSpPr>
            <a:spLocks noChangeAspect="1" noChangeArrowheads="1"/>
          </p:cNvSpPr>
          <p:nvPr/>
        </p:nvSpPr>
        <p:spPr bwMode="auto">
          <a:xfrm>
            <a:off x="6687017" y="5120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5" descr="✔"/>
          <p:cNvSpPr>
            <a:spLocks noChangeAspect="1" noChangeArrowheads="1"/>
          </p:cNvSpPr>
          <p:nvPr/>
        </p:nvSpPr>
        <p:spPr bwMode="auto">
          <a:xfrm>
            <a:off x="6687017" y="51206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7982384" y="5718461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290" y="1983205"/>
            <a:ext cx="381744" cy="35389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906" y="2707639"/>
            <a:ext cx="381744" cy="3538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906" y="3948905"/>
            <a:ext cx="381744" cy="35389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906" y="4562760"/>
            <a:ext cx="381744" cy="353891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306" y="6011629"/>
            <a:ext cx="381744" cy="353891"/>
          </a:xfrm>
          <a:prstGeom prst="rect">
            <a:avLst/>
          </a:prstGeom>
        </p:spPr>
      </p:pic>
      <p:pic>
        <p:nvPicPr>
          <p:cNvPr id="19" name="Picture 18" descr="txp_fi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/>
          <a:stretch>
            <a:fillRect/>
          </a:stretch>
        </p:blipFill>
        <p:spPr bwMode="auto">
          <a:xfrm>
            <a:off x="1308847" y="5193508"/>
            <a:ext cx="3130785" cy="403304"/>
          </a:xfrm>
          <a:prstGeom prst="rect">
            <a:avLst/>
          </a:prstGeom>
          <a:noFill/>
          <a:ln/>
          <a:effectLst/>
        </p:spPr>
      </p:pic>
    </p:spTree>
    <p:extLst>
      <p:ext uri="{BB962C8B-B14F-4D97-AF65-F5344CB8AC3E}">
        <p14:creationId xmlns:p14="http://schemas.microsoft.com/office/powerpoint/2010/main" val="4200642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A* Search</a:t>
            </a:r>
            <a:br>
              <a:rPr lang="en-US" b="1" dirty="0">
                <a:solidFill>
                  <a:srgbClr val="0070C0"/>
                </a:solidFill>
              </a:rPr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792" y="1130076"/>
            <a:ext cx="4333268" cy="373333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581" y="1027906"/>
            <a:ext cx="9110337" cy="5742857"/>
          </a:xfrm>
          <a:prstGeom prst="rect">
            <a:avLst/>
          </a:prstGeom>
        </p:spPr>
      </p:pic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1398494" y="6182871"/>
            <a:ext cx="4787153" cy="6155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Path: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 -&gt; D -&gt; B -&gt; C -&gt; E -&gt; G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Cost: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oboto"/>
              </a:rPr>
              <a:t>  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7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37052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0 \le h(n) \le h^*(n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63"/>
  <p:tag name="PICTUREFILESIZE" val="1318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[usenames]{color}&#10;\begin{document}&#10;\[&#10;\textcolor{BrickRed}{h^*(n)}&#10;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85"/>
  <p:tag name="BOXHEIGHT" val="283"/>
  <p:tag name="BOXFONT" val="10"/>
  <p:tag name="BOXWRAP" val="False"/>
  <p:tag name="WORKAROUNDTRANSPARENCYBUG" val="False"/>
  <p:tag name="ALLOWFONTSUBSTITUTION" val="False"/>
  <p:tag name="BITMAPFORMAT" val="png16m"/>
  <p:tag name="ORIGWIDTH" val="51"/>
  <p:tag name="PICTUREFILESIZE" val="598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" val="latex"/>
  <p:tag name="SOURCE" val="\documentclass{slides}\pagestyle{empty}&#10;\usepackage[usenames]{color}&#10;\begin{document}&#10;\[&#10;\textcolor{BrickRed}{0 \le h(n) \le h^*(n)}&#10;\]&#10;\end{document}&#10;"/>
  <p:tag name="FILENAME" val="txp_fig"/>
  <p:tag name="FORMAT" val="png16m"/>
  <p:tag name="RES" val="1200"/>
  <p:tag name="BLEND" val="0"/>
  <p:tag name="TRANSPARENT" val="0"/>
  <p:tag name="TBUG" val="0"/>
  <p:tag name="ALLOWFS" val="0"/>
  <p:tag name="ORIGWIDTH" val="163"/>
  <p:tag name="PICTUREFILESIZE" val="1318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740</Words>
  <Application>Microsoft Office PowerPoint</Application>
  <PresentationFormat>Widescreen</PresentationFormat>
  <Paragraphs>114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</vt:lpstr>
      <vt:lpstr>Arial Rounded MT Bold</vt:lpstr>
      <vt:lpstr>Calibri</vt:lpstr>
      <vt:lpstr>Calibri Light</vt:lpstr>
      <vt:lpstr>Consolas</vt:lpstr>
      <vt:lpstr>Gothic Uralic</vt:lpstr>
      <vt:lpstr>Roboto</vt:lpstr>
      <vt:lpstr>Times New Roman</vt:lpstr>
      <vt:lpstr>Wingdings</vt:lpstr>
      <vt:lpstr>Office Theme</vt:lpstr>
      <vt:lpstr>Artificial Intelligence</vt:lpstr>
      <vt:lpstr>Objectives</vt:lpstr>
      <vt:lpstr>Search Heuristics</vt:lpstr>
      <vt:lpstr>Greedy Best First Search </vt:lpstr>
      <vt:lpstr>Example:  </vt:lpstr>
      <vt:lpstr>Travel Sales Man Problem using Greedy Search</vt:lpstr>
      <vt:lpstr>Greedy Search……</vt:lpstr>
      <vt:lpstr>Greedy search leads to a minimal cost search because no node off the solution path is expanded. However, it does not find the optimal path: the path it found via Sibiu and Fagaras to Bucharest is 13 miles longer than the path through Pimnicu Vilcea and Pitesti.</vt:lpstr>
      <vt:lpstr>A* Search </vt:lpstr>
      <vt:lpstr>A* Search </vt:lpstr>
      <vt:lpstr>Admissible Heuristics</vt:lpstr>
      <vt:lpstr>A* Search </vt:lpstr>
      <vt:lpstr>A* Search 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 (CS-401)</dc:title>
  <dc:creator>Saeeda Kanwal</dc:creator>
  <cp:lastModifiedBy>anwar khan</cp:lastModifiedBy>
  <cp:revision>34</cp:revision>
  <dcterms:created xsi:type="dcterms:W3CDTF">2020-02-10T06:02:55Z</dcterms:created>
  <dcterms:modified xsi:type="dcterms:W3CDTF">2025-11-27T03:28:11Z</dcterms:modified>
</cp:coreProperties>
</file>