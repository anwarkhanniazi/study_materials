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30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10" r:id="rId14"/>
    <p:sldId id="309" r:id="rId15"/>
    <p:sldId id="268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44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57BA1D-4FE6-4BF6-9974-C093C65A6356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F86859-284A-49BE-A3B2-FE0186FA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3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https://psych.fullerton.edu/mbirnbaum/psych101/eliza.htm</a:t>
            </a:r>
          </a:p>
          <a:p>
            <a:r>
              <a:rPr lang="en-US" dirty="0"/>
              <a:t>https://web.njit.edu/~ronkowit/eliza.html</a:t>
            </a:r>
          </a:p>
          <a:p>
            <a:r>
              <a:rPr lang="en-US" dirty="0"/>
              <a:t>https://www.coventry.ac.uk/primary-news/turing-test-transcripts-reveal-how-chatbot-eugene-duped-the-judges/</a:t>
            </a:r>
          </a:p>
          <a:p>
            <a:r>
              <a:rPr lang="en-US"/>
              <a:t>https://www.botlibre.com/browse?id=857177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F86859-284A-49BE-A3B2-FE0186FA1E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738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 Traveling Salesman Problem (TSP) is a classical discrete combinatorial optimization problem that is widely applied in various domains, including robotics, transportation, networking,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F86859-284A-49BE-A3B2-FE0186FA1E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62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61771" y="1057655"/>
            <a:ext cx="9212580" cy="1666239"/>
          </a:xfrm>
          <a:custGeom>
            <a:avLst/>
            <a:gdLst/>
            <a:ahLst/>
            <a:cxnLst/>
            <a:rect l="l" t="t" r="r" b="b"/>
            <a:pathLst>
              <a:path w="9212580" h="1666239">
                <a:moveTo>
                  <a:pt x="0" y="0"/>
                </a:moveTo>
                <a:lnTo>
                  <a:pt x="9212579" y="0"/>
                </a:lnTo>
                <a:lnTo>
                  <a:pt x="9212579" y="1665731"/>
                </a:lnTo>
                <a:lnTo>
                  <a:pt x="0" y="1665731"/>
                </a:lnTo>
                <a:lnTo>
                  <a:pt x="0" y="0"/>
                </a:lnTo>
                <a:close/>
              </a:path>
            </a:pathLst>
          </a:custGeom>
          <a:ln w="7619">
            <a:solidFill>
              <a:srgbClr val="E9E9E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3004" y="1708403"/>
            <a:ext cx="105410" cy="581025"/>
          </a:xfrm>
          <a:custGeom>
            <a:avLst/>
            <a:gdLst/>
            <a:ahLst/>
            <a:cxnLst/>
            <a:rect l="l" t="t" r="r" b="b"/>
            <a:pathLst>
              <a:path w="105409" h="581025">
                <a:moveTo>
                  <a:pt x="105155" y="0"/>
                </a:moveTo>
                <a:lnTo>
                  <a:pt x="0" y="0"/>
                </a:lnTo>
                <a:lnTo>
                  <a:pt x="0" y="580644"/>
                </a:lnTo>
                <a:lnTo>
                  <a:pt x="105155" y="580644"/>
                </a:lnTo>
                <a:lnTo>
                  <a:pt x="105155" y="0"/>
                </a:lnTo>
                <a:close/>
              </a:path>
            </a:pathLst>
          </a:custGeom>
          <a:solidFill>
            <a:srgbClr val="F5A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61771" y="1057655"/>
            <a:ext cx="9212580" cy="1666239"/>
          </a:xfrm>
          <a:custGeom>
            <a:avLst/>
            <a:gdLst/>
            <a:ahLst/>
            <a:cxnLst/>
            <a:rect l="l" t="t" r="r" b="b"/>
            <a:pathLst>
              <a:path w="9212580" h="1666239">
                <a:moveTo>
                  <a:pt x="0" y="0"/>
                </a:moveTo>
                <a:lnTo>
                  <a:pt x="9212579" y="0"/>
                </a:lnTo>
                <a:lnTo>
                  <a:pt x="9212579" y="1665731"/>
                </a:lnTo>
                <a:lnTo>
                  <a:pt x="0" y="1665731"/>
                </a:lnTo>
                <a:lnTo>
                  <a:pt x="0" y="0"/>
                </a:lnTo>
                <a:close/>
              </a:path>
            </a:pathLst>
          </a:custGeom>
          <a:ln w="7619">
            <a:solidFill>
              <a:srgbClr val="E9E9E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3004" y="1708403"/>
            <a:ext cx="105410" cy="581025"/>
          </a:xfrm>
          <a:custGeom>
            <a:avLst/>
            <a:gdLst/>
            <a:ahLst/>
            <a:cxnLst/>
            <a:rect l="l" t="t" r="r" b="b"/>
            <a:pathLst>
              <a:path w="105409" h="581025">
                <a:moveTo>
                  <a:pt x="105155" y="0"/>
                </a:moveTo>
                <a:lnTo>
                  <a:pt x="0" y="0"/>
                </a:lnTo>
                <a:lnTo>
                  <a:pt x="0" y="580644"/>
                </a:lnTo>
                <a:lnTo>
                  <a:pt x="105155" y="580644"/>
                </a:lnTo>
                <a:lnTo>
                  <a:pt x="105155" y="0"/>
                </a:lnTo>
                <a:close/>
              </a:path>
            </a:pathLst>
          </a:custGeom>
          <a:solidFill>
            <a:srgbClr val="F5A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3919" y="1689455"/>
            <a:ext cx="4943475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2578" y="2604015"/>
            <a:ext cx="8072755" cy="3357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57275"/>
            <a:ext cx="10058400" cy="565785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76200"/>
            <a:ext cx="10058400" cy="78486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47"/>
              <a:ext cx="8035543" cy="26715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" y="2353054"/>
              <a:ext cx="7328789" cy="446608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0" y="2398395"/>
              <a:ext cx="11004550" cy="0"/>
            </a:xfrm>
            <a:custGeom>
              <a:avLst/>
              <a:gdLst/>
              <a:ahLst/>
              <a:cxnLst/>
              <a:rect l="l" t="t" r="r" b="b"/>
              <a:pathLst>
                <a:path w="11004550">
                  <a:moveTo>
                    <a:pt x="11004296" y="0"/>
                  </a:moveTo>
                  <a:lnTo>
                    <a:pt x="0" y="0"/>
                  </a:lnTo>
                </a:path>
              </a:pathLst>
            </a:custGeom>
            <a:ln w="1295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0365" y="964235"/>
            <a:ext cx="9717671" cy="577791"/>
          </a:xfrm>
          <a:prstGeom prst="rect">
            <a:avLst/>
          </a:prstGeom>
        </p:spPr>
        <p:txBody>
          <a:bodyPr vert="horz" wrap="square" lIns="0" tIns="169867" rIns="0" bIns="0" rtlCol="0">
            <a:spAutoFit/>
          </a:bodyPr>
          <a:lstStyle/>
          <a:p>
            <a:pPr marL="4440365" algn="ctr">
              <a:spcBef>
                <a:spcPts val="305"/>
              </a:spcBef>
            </a:pPr>
            <a:r>
              <a:rPr lang="en-US" sz="2640" dirty="0">
                <a:solidFill>
                  <a:srgbClr val="FFFFFF"/>
                </a:solidFill>
              </a:rPr>
              <a:t>Artificial Intelligence</a:t>
            </a:r>
            <a:endParaRPr sz="1650" dirty="0"/>
          </a:p>
        </p:txBody>
      </p:sp>
      <p:sp>
        <p:nvSpPr>
          <p:cNvPr id="10" name="object 10"/>
          <p:cNvSpPr txBox="1"/>
          <p:nvPr/>
        </p:nvSpPr>
        <p:spPr>
          <a:xfrm>
            <a:off x="6740804" y="2059972"/>
            <a:ext cx="1018413" cy="315279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980" b="1" spc="-8" dirty="0">
                <a:solidFill>
                  <a:srgbClr val="FFFFFF"/>
                </a:solidFill>
                <a:latin typeface="Calibri"/>
                <a:cs typeface="Calibri"/>
              </a:rPr>
              <a:t>Overview</a:t>
            </a:r>
            <a:endParaRPr sz="198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22391" y="3676441"/>
            <a:ext cx="3464909" cy="467629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>
              <a:spcBef>
                <a:spcPts val="37"/>
              </a:spcBef>
            </a:pPr>
            <a:r>
              <a:rPr lang="en-US" sz="1485" dirty="0">
                <a:solidFill>
                  <a:schemeClr val="bg1"/>
                </a:solidFill>
                <a:latin typeface="Cambria"/>
                <a:cs typeface="Cambria"/>
              </a:rPr>
              <a:t>ANWAR KHAN</a:t>
            </a:r>
            <a:endParaRPr sz="1485" dirty="0">
              <a:solidFill>
                <a:schemeClr val="bg1"/>
              </a:solidFill>
              <a:latin typeface="Cambria"/>
              <a:cs typeface="Cambria"/>
            </a:endParaRPr>
          </a:p>
          <a:p>
            <a:pPr marL="10478" marR="4191" indent="356758">
              <a:spcBef>
                <a:spcPts val="4"/>
              </a:spcBef>
            </a:pPr>
            <a:r>
              <a:rPr lang="en-US" sz="1485" dirty="0">
                <a:solidFill>
                  <a:srgbClr val="FFFFFF"/>
                </a:solidFill>
                <a:latin typeface="Cambria"/>
                <a:cs typeface="Cambria"/>
              </a:rPr>
              <a:t>University of </a:t>
            </a:r>
            <a:r>
              <a:rPr sz="1485" dirty="0">
                <a:solidFill>
                  <a:srgbClr val="FFFFFF"/>
                </a:solidFill>
                <a:latin typeface="Cambria"/>
                <a:cs typeface="Cambria"/>
              </a:rPr>
              <a:t>Lahore</a:t>
            </a:r>
            <a:r>
              <a:rPr sz="1485" spc="-4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endParaRPr sz="1485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58517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120" dirty="0">
                          <a:latin typeface="Tahoma"/>
                          <a:cs typeface="Tahoma"/>
                        </a:rPr>
                        <a:t>Turing</a:t>
                      </a:r>
                      <a:r>
                        <a:rPr sz="3300" b="1" spc="-195" dirty="0">
                          <a:latin typeface="Tahoma"/>
                          <a:cs typeface="Tahoma"/>
                        </a:rPr>
                        <a:t> Test</a:t>
                      </a:r>
                      <a:r>
                        <a:rPr sz="3300" b="1" spc="-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7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3300" b="1" spc="-1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25" dirty="0">
                          <a:latin typeface="Tahoma"/>
                          <a:cs typeface="Tahoma"/>
                        </a:rPr>
                        <a:t>AI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348" y="3111531"/>
            <a:ext cx="8192134" cy="2948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0025" marR="154305" indent="-187960" algn="just">
              <a:lnSpc>
                <a:spcPct val="100400"/>
              </a:lnSpc>
              <a:spcBef>
                <a:spcPts val="10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spc="-110" dirty="0">
                <a:latin typeface="Tahoma"/>
                <a:cs typeface="Tahoma"/>
              </a:rPr>
              <a:t>In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1950,</a:t>
            </a:r>
            <a:r>
              <a:rPr sz="2300" spc="-22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Alan</a:t>
            </a:r>
            <a:r>
              <a:rPr sz="2300" spc="-1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Turing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introduced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test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70" dirty="0">
                <a:latin typeface="Tahoma"/>
                <a:cs typeface="Tahoma"/>
              </a:rPr>
              <a:t>check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whether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-50" dirty="0">
                <a:latin typeface="Tahoma"/>
                <a:cs typeface="Tahoma"/>
              </a:rPr>
              <a:t>a 	</a:t>
            </a:r>
            <a:r>
              <a:rPr sz="2300" spc="70" dirty="0">
                <a:latin typeface="Tahoma"/>
                <a:cs typeface="Tahoma"/>
              </a:rPr>
              <a:t>machine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can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think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like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human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or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not,</a:t>
            </a:r>
            <a:r>
              <a:rPr sz="2300" spc="-1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this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test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known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as 	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1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Turing</a:t>
            </a:r>
            <a:r>
              <a:rPr sz="2300" spc="-140" dirty="0">
                <a:latin typeface="Tahoma"/>
                <a:cs typeface="Tahoma"/>
              </a:rPr>
              <a:t> </a:t>
            </a:r>
            <a:r>
              <a:rPr sz="2300" spc="-65" dirty="0">
                <a:latin typeface="Tahoma"/>
                <a:cs typeface="Tahoma"/>
              </a:rPr>
              <a:t>Test.</a:t>
            </a:r>
            <a:r>
              <a:rPr sz="2300" spc="-185" dirty="0">
                <a:latin typeface="Tahoma"/>
                <a:cs typeface="Tahoma"/>
              </a:rPr>
              <a:t> </a:t>
            </a:r>
            <a:r>
              <a:rPr sz="2300" spc="-110" dirty="0">
                <a:latin typeface="Tahoma"/>
                <a:cs typeface="Tahoma"/>
              </a:rPr>
              <a:t>In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this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spc="-30" dirty="0">
                <a:latin typeface="Tahoma"/>
                <a:cs typeface="Tahoma"/>
              </a:rPr>
              <a:t>test,</a:t>
            </a:r>
            <a:r>
              <a:rPr sz="2300" spc="-22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Turing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114" dirty="0">
                <a:latin typeface="Tahoma"/>
                <a:cs typeface="Tahoma"/>
              </a:rPr>
              <a:t>proposed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that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the 	</a:t>
            </a:r>
            <a:r>
              <a:rPr sz="2300" spc="75" dirty="0">
                <a:latin typeface="Tahoma"/>
                <a:cs typeface="Tahoma"/>
              </a:rPr>
              <a:t>computer</a:t>
            </a:r>
            <a:r>
              <a:rPr sz="2300" spc="-15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can</a:t>
            </a:r>
            <a:r>
              <a:rPr sz="2300" spc="-145" dirty="0">
                <a:latin typeface="Tahoma"/>
                <a:cs typeface="Tahoma"/>
              </a:rPr>
              <a:t> </a:t>
            </a:r>
            <a:r>
              <a:rPr sz="2300" spc="145" dirty="0">
                <a:latin typeface="Tahoma"/>
                <a:cs typeface="Tahoma"/>
              </a:rPr>
              <a:t>be</a:t>
            </a:r>
            <a:r>
              <a:rPr sz="2300" spc="-13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said</a:t>
            </a:r>
            <a:r>
              <a:rPr sz="2300" spc="-14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spc="145" dirty="0">
                <a:latin typeface="Tahoma"/>
                <a:cs typeface="Tahoma"/>
              </a:rPr>
              <a:t>be</a:t>
            </a:r>
            <a:r>
              <a:rPr sz="2300" spc="-1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an</a:t>
            </a:r>
            <a:r>
              <a:rPr sz="2300" spc="-14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intelligent</a:t>
            </a:r>
            <a:r>
              <a:rPr sz="2300" spc="-1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if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it</a:t>
            </a:r>
            <a:r>
              <a:rPr sz="2300" spc="-13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can</a:t>
            </a:r>
            <a:r>
              <a:rPr sz="2300" spc="-14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mimic 	</a:t>
            </a:r>
            <a:r>
              <a:rPr sz="2300" spc="50" dirty="0">
                <a:latin typeface="Tahoma"/>
                <a:cs typeface="Tahoma"/>
              </a:rPr>
              <a:t>human</a:t>
            </a:r>
            <a:r>
              <a:rPr sz="2300" spc="-150" dirty="0">
                <a:latin typeface="Tahoma"/>
                <a:cs typeface="Tahoma"/>
              </a:rPr>
              <a:t> </a:t>
            </a:r>
            <a:r>
              <a:rPr sz="2300" spc="70" dirty="0">
                <a:latin typeface="Tahoma"/>
                <a:cs typeface="Tahoma"/>
              </a:rPr>
              <a:t>response</a:t>
            </a:r>
            <a:r>
              <a:rPr sz="2300" spc="-175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under</a:t>
            </a:r>
            <a:r>
              <a:rPr sz="2300" spc="-14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specific</a:t>
            </a:r>
            <a:r>
              <a:rPr sz="2300" spc="-170" dirty="0">
                <a:latin typeface="Tahoma"/>
                <a:cs typeface="Tahoma"/>
              </a:rPr>
              <a:t> </a:t>
            </a:r>
            <a:r>
              <a:rPr sz="2300" spc="45" dirty="0">
                <a:latin typeface="Tahoma"/>
                <a:cs typeface="Tahoma"/>
              </a:rPr>
              <a:t>conditions.</a:t>
            </a:r>
            <a:endParaRPr sz="2300" dirty="0">
              <a:latin typeface="Tahoma"/>
              <a:cs typeface="Tahoma"/>
            </a:endParaRPr>
          </a:p>
          <a:p>
            <a:pPr marL="200025" marR="5080" indent="-187960" algn="just">
              <a:lnSpc>
                <a:spcPct val="100400"/>
              </a:lnSpc>
              <a:spcBef>
                <a:spcPts val="830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dirty="0">
                <a:latin typeface="Tahoma"/>
                <a:cs typeface="Tahoma"/>
              </a:rPr>
              <a:t>Turing</a:t>
            </a:r>
            <a:r>
              <a:rPr sz="2300" spc="-165" dirty="0">
                <a:latin typeface="Tahoma"/>
                <a:cs typeface="Tahoma"/>
              </a:rPr>
              <a:t> </a:t>
            </a:r>
            <a:r>
              <a:rPr sz="2300" spc="-60" dirty="0">
                <a:latin typeface="Tahoma"/>
                <a:cs typeface="Tahoma"/>
              </a:rPr>
              <a:t>Test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was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introduced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by</a:t>
            </a:r>
            <a:r>
              <a:rPr sz="2300" spc="-1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Turing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in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his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1950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40" dirty="0">
                <a:latin typeface="Tahoma"/>
                <a:cs typeface="Tahoma"/>
              </a:rPr>
              <a:t>paper, 	</a:t>
            </a:r>
            <a:r>
              <a:rPr sz="2300" spc="95" dirty="0">
                <a:latin typeface="Tahoma"/>
                <a:cs typeface="Tahoma"/>
              </a:rPr>
              <a:t>"Computing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Machinery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and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Intelligence,"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which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considered 	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question,</a:t>
            </a:r>
            <a:r>
              <a:rPr sz="2300" spc="-220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"Can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spc="90" dirty="0">
                <a:latin typeface="Tahoma"/>
                <a:cs typeface="Tahoma"/>
              </a:rPr>
              <a:t>Machine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think?"</a:t>
            </a:r>
            <a:endParaRPr sz="23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120" dirty="0">
                          <a:latin typeface="Tahoma"/>
                          <a:cs typeface="Tahoma"/>
                        </a:rPr>
                        <a:t>Turing</a:t>
                      </a:r>
                      <a:r>
                        <a:rPr sz="3300" b="1" spc="-195" dirty="0">
                          <a:latin typeface="Tahoma"/>
                          <a:cs typeface="Tahoma"/>
                        </a:rPr>
                        <a:t> Test</a:t>
                      </a:r>
                      <a:r>
                        <a:rPr sz="3300" b="1" spc="-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7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3300" b="1" spc="-1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25" dirty="0">
                          <a:latin typeface="Tahoma"/>
                          <a:cs typeface="Tahoma"/>
                        </a:rPr>
                        <a:t>AI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5583" y="2763011"/>
            <a:ext cx="5320284" cy="36804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8155">
                        <a:lnSpc>
                          <a:spcPts val="3910"/>
                        </a:lnSpc>
                      </a:pPr>
                      <a:r>
                        <a:rPr sz="3300" b="1" spc="-120" dirty="0">
                          <a:latin typeface="Tahoma"/>
                          <a:cs typeface="Tahoma"/>
                        </a:rPr>
                        <a:t>Turing</a:t>
                      </a:r>
                      <a:r>
                        <a:rPr sz="3300" b="1" spc="-195" dirty="0">
                          <a:latin typeface="Tahoma"/>
                          <a:cs typeface="Tahoma"/>
                        </a:rPr>
                        <a:t> Test</a:t>
                      </a:r>
                      <a:r>
                        <a:rPr sz="3300" b="1" spc="-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7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3300" b="1" spc="-1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25" dirty="0">
                          <a:latin typeface="Tahoma"/>
                          <a:cs typeface="Tahoma"/>
                        </a:rPr>
                        <a:t>AI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168" y="2337816"/>
            <a:ext cx="8895588" cy="41193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2662" y="1688198"/>
            <a:ext cx="724979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Chatbots</a:t>
            </a:r>
            <a:r>
              <a:rPr spc="-150" dirty="0"/>
              <a:t> </a:t>
            </a:r>
            <a:r>
              <a:rPr spc="-20" dirty="0"/>
              <a:t>to</a:t>
            </a:r>
            <a:r>
              <a:rPr spc="-155" dirty="0"/>
              <a:t> </a:t>
            </a:r>
            <a:r>
              <a:rPr spc="-105" dirty="0"/>
              <a:t>attempt</a:t>
            </a:r>
            <a:r>
              <a:rPr spc="-135" dirty="0"/>
              <a:t> </a:t>
            </a:r>
            <a:r>
              <a:rPr spc="-85" dirty="0"/>
              <a:t>the</a:t>
            </a:r>
            <a:r>
              <a:rPr spc="-210" dirty="0"/>
              <a:t> </a:t>
            </a:r>
            <a:r>
              <a:rPr spc="-120" dirty="0"/>
              <a:t>Turing</a:t>
            </a:r>
            <a:r>
              <a:rPr spc="-130" dirty="0"/>
              <a:t> </a:t>
            </a:r>
            <a:r>
              <a:rPr spc="-55" dirty="0"/>
              <a:t>test:</a:t>
            </a:r>
          </a:p>
        </p:txBody>
      </p:sp>
      <p:sp>
        <p:nvSpPr>
          <p:cNvPr id="3" name="object 3"/>
          <p:cNvSpPr/>
          <p:nvPr/>
        </p:nvSpPr>
        <p:spPr>
          <a:xfrm>
            <a:off x="4922520" y="3956303"/>
            <a:ext cx="2604770" cy="280670"/>
          </a:xfrm>
          <a:custGeom>
            <a:avLst/>
            <a:gdLst/>
            <a:ahLst/>
            <a:cxnLst/>
            <a:rect l="l" t="t" r="r" b="b"/>
            <a:pathLst>
              <a:path w="2604770" h="280670">
                <a:moveTo>
                  <a:pt x="2604515" y="0"/>
                </a:moveTo>
                <a:lnTo>
                  <a:pt x="0" y="0"/>
                </a:lnTo>
                <a:lnTo>
                  <a:pt x="0" y="280416"/>
                </a:lnTo>
                <a:lnTo>
                  <a:pt x="2604515" y="280416"/>
                </a:lnTo>
                <a:lnTo>
                  <a:pt x="260451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2586" y="2587202"/>
            <a:ext cx="8237855" cy="1676356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00025" marR="5080" indent="-187960">
              <a:lnSpc>
                <a:spcPct val="90700"/>
              </a:lnSpc>
              <a:spcBef>
                <a:spcPts val="310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b="1" spc="-70" dirty="0">
                <a:latin typeface="Tahoma"/>
                <a:cs typeface="Tahoma"/>
              </a:rPr>
              <a:t>ELIZA:</a:t>
            </a:r>
            <a:r>
              <a:rPr sz="1800" b="1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ELIZA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was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Natural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language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processing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computer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program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created 	</a:t>
            </a:r>
            <a:r>
              <a:rPr sz="1800" spc="65" dirty="0">
                <a:latin typeface="Tahoma"/>
                <a:cs typeface="Tahoma"/>
              </a:rPr>
              <a:t>by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Joseph</a:t>
            </a:r>
            <a:r>
              <a:rPr sz="1800" spc="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Weizenbaum.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-130" dirty="0">
                <a:latin typeface="Tahoma"/>
                <a:cs typeface="Tahoma"/>
              </a:rPr>
              <a:t>It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was</a:t>
            </a:r>
            <a:r>
              <a:rPr sz="1800" spc="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created</a:t>
            </a:r>
            <a:r>
              <a:rPr sz="1800" spc="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demonstrate</a:t>
            </a:r>
            <a:r>
              <a:rPr sz="1800" spc="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ability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of 	</a:t>
            </a:r>
            <a:r>
              <a:rPr sz="1800" spc="55" dirty="0">
                <a:latin typeface="Tahoma"/>
                <a:cs typeface="Tahoma"/>
              </a:rPr>
              <a:t>communication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between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machine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and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humans.</a:t>
            </a:r>
            <a:r>
              <a:rPr sz="1800" spc="-130" dirty="0">
                <a:latin typeface="Tahoma"/>
                <a:cs typeface="Tahoma"/>
              </a:rPr>
              <a:t> It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was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one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first 	</a:t>
            </a:r>
            <a:r>
              <a:rPr sz="1800" dirty="0">
                <a:latin typeface="Tahoma"/>
                <a:cs typeface="Tahoma"/>
              </a:rPr>
              <a:t>chattbots,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which</a:t>
            </a:r>
            <a:r>
              <a:rPr sz="1800" spc="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has</a:t>
            </a:r>
            <a:r>
              <a:rPr sz="1800" spc="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attempted</a:t>
            </a:r>
            <a:r>
              <a:rPr sz="1800" spc="1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Turing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Test.</a:t>
            </a:r>
            <a:r>
              <a:rPr lang="en-US" sz="1800" spc="-10" dirty="0">
                <a:latin typeface="Tahoma"/>
                <a:cs typeface="Tahoma"/>
              </a:rPr>
              <a:t>(1966)</a:t>
            </a:r>
            <a:endParaRPr sz="1800" dirty="0">
              <a:latin typeface="Tahoma"/>
              <a:cs typeface="Tahoma"/>
            </a:endParaRPr>
          </a:p>
          <a:p>
            <a:pPr marL="200025" marR="97790" indent="-187960">
              <a:lnSpc>
                <a:spcPts val="1960"/>
              </a:lnSpc>
              <a:spcBef>
                <a:spcPts val="860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b="1" spc="-70" dirty="0">
                <a:latin typeface="Tahoma"/>
                <a:cs typeface="Tahoma"/>
              </a:rPr>
              <a:t>Parry:</a:t>
            </a:r>
            <a:r>
              <a:rPr sz="1800" b="1" spc="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Parry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was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chatterbot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created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by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Kenneth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spc="90" dirty="0">
                <a:latin typeface="Tahoma"/>
                <a:cs typeface="Tahoma"/>
              </a:rPr>
              <a:t>Colby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1972.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Parry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was 	</a:t>
            </a:r>
            <a:r>
              <a:rPr sz="1800" spc="80" dirty="0">
                <a:latin typeface="Tahoma"/>
                <a:cs typeface="Tahoma"/>
              </a:rPr>
              <a:t>designed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simulate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person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with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b="1" spc="-35" dirty="0">
                <a:latin typeface="Tahoma"/>
                <a:cs typeface="Tahoma"/>
              </a:rPr>
              <a:t>Paranoid</a:t>
            </a:r>
            <a:r>
              <a:rPr sz="1800" b="1" spc="5" dirty="0">
                <a:latin typeface="Tahoma"/>
                <a:cs typeface="Tahoma"/>
              </a:rPr>
              <a:t> </a:t>
            </a:r>
            <a:r>
              <a:rPr sz="1800" b="1" spc="-20" dirty="0">
                <a:latin typeface="Tahoma"/>
                <a:cs typeface="Tahoma"/>
              </a:rPr>
              <a:t>schizophrenia</a:t>
            </a:r>
            <a:r>
              <a:rPr sz="1800" spc="-20" dirty="0">
                <a:latin typeface="Tahoma"/>
                <a:cs typeface="Tahoma"/>
              </a:rPr>
              <a:t>(most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common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1518" y="4185874"/>
            <a:ext cx="7934959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50" dirty="0">
                <a:latin typeface="Tahoma"/>
                <a:cs typeface="Tahoma"/>
              </a:rPr>
              <a:t>chronic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mental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disorder).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Parry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was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described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"ELIZA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with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attitude."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Parry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2586" y="4357086"/>
            <a:ext cx="8225790" cy="172910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720"/>
              </a:spcBef>
            </a:pPr>
            <a:r>
              <a:rPr sz="1800" dirty="0">
                <a:latin typeface="Tahoma"/>
                <a:cs typeface="Tahoma"/>
              </a:rPr>
              <a:t>was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tested </a:t>
            </a:r>
            <a:r>
              <a:rPr sz="1800" spc="50" dirty="0">
                <a:latin typeface="Tahoma"/>
                <a:cs typeface="Tahoma"/>
              </a:rPr>
              <a:t>using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variation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Turing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Test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 early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1970s.</a:t>
            </a:r>
            <a:endParaRPr sz="1800" dirty="0">
              <a:latin typeface="Tahoma"/>
              <a:cs typeface="Tahoma"/>
            </a:endParaRPr>
          </a:p>
          <a:p>
            <a:pPr marL="200025" marR="5080" indent="-187960">
              <a:lnSpc>
                <a:spcPct val="9080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b="1" spc="-10" dirty="0">
                <a:latin typeface="Tahoma"/>
                <a:cs typeface="Tahoma"/>
              </a:rPr>
              <a:t>Eugene</a:t>
            </a:r>
            <a:r>
              <a:rPr sz="1800" b="1" spc="-55" dirty="0">
                <a:latin typeface="Tahoma"/>
                <a:cs typeface="Tahoma"/>
              </a:rPr>
              <a:t> </a:t>
            </a:r>
            <a:r>
              <a:rPr sz="1800" b="1" spc="-30" dirty="0">
                <a:latin typeface="Tahoma"/>
                <a:cs typeface="Tahoma"/>
              </a:rPr>
              <a:t>Goostman:</a:t>
            </a:r>
            <a:r>
              <a:rPr sz="1800" b="1" spc="-35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Eugene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Goostman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was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chatbot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90" dirty="0">
                <a:latin typeface="Tahoma"/>
                <a:cs typeface="Tahoma"/>
              </a:rPr>
              <a:t>developed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Saint 	</a:t>
            </a:r>
            <a:r>
              <a:rPr sz="1800" dirty="0">
                <a:latin typeface="Tahoma"/>
                <a:cs typeface="Tahoma"/>
              </a:rPr>
              <a:t>Petersburg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2001.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This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bot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has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competed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various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number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Turing 	</a:t>
            </a:r>
            <a:r>
              <a:rPr sz="1800" spc="-55" dirty="0">
                <a:latin typeface="Tahoma"/>
                <a:cs typeface="Tahoma"/>
              </a:rPr>
              <a:t>Test.</a:t>
            </a:r>
            <a:r>
              <a:rPr sz="1800" spc="-114" dirty="0">
                <a:latin typeface="Tahoma"/>
                <a:cs typeface="Tahoma"/>
              </a:rPr>
              <a:t> </a:t>
            </a:r>
            <a:r>
              <a:rPr sz="1800" spc="-90" dirty="0">
                <a:latin typeface="Tahoma"/>
                <a:cs typeface="Tahoma"/>
              </a:rPr>
              <a:t>In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June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2012,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at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event,</a:t>
            </a:r>
            <a:r>
              <a:rPr sz="1800" spc="-11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Goostman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won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competition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promoted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as 	</a:t>
            </a:r>
            <a:r>
              <a:rPr sz="1800" dirty="0">
                <a:latin typeface="Tahoma"/>
                <a:cs typeface="Tahoma"/>
              </a:rPr>
              <a:t>largest-ever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Turing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test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content,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which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it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has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convinced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29%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judges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 	</a:t>
            </a:r>
            <a:r>
              <a:rPr sz="1800" dirty="0">
                <a:latin typeface="Tahoma"/>
                <a:cs typeface="Tahoma"/>
              </a:rPr>
              <a:t>it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was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human.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2447" y="1512909"/>
            <a:ext cx="7896859" cy="88582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515"/>
              </a:spcBef>
            </a:pPr>
            <a:r>
              <a:rPr sz="2950" spc="-90" dirty="0"/>
              <a:t>Features</a:t>
            </a:r>
            <a:r>
              <a:rPr sz="2950" spc="-145" dirty="0"/>
              <a:t> </a:t>
            </a:r>
            <a:r>
              <a:rPr sz="2950" spc="-25" dirty="0"/>
              <a:t>required</a:t>
            </a:r>
            <a:r>
              <a:rPr sz="2950" spc="-185" dirty="0"/>
              <a:t> </a:t>
            </a:r>
            <a:r>
              <a:rPr sz="2950" dirty="0"/>
              <a:t>for</a:t>
            </a:r>
            <a:r>
              <a:rPr sz="2950" spc="-135" dirty="0"/>
              <a:t> </a:t>
            </a:r>
            <a:r>
              <a:rPr sz="2950" spc="-90" dirty="0"/>
              <a:t>a</a:t>
            </a:r>
            <a:r>
              <a:rPr sz="2950" spc="-130" dirty="0"/>
              <a:t> </a:t>
            </a:r>
            <a:r>
              <a:rPr sz="2950" spc="-60" dirty="0"/>
              <a:t>machine</a:t>
            </a:r>
            <a:r>
              <a:rPr sz="2950" spc="-155" dirty="0"/>
              <a:t> </a:t>
            </a:r>
            <a:r>
              <a:rPr sz="2950" spc="-20" dirty="0"/>
              <a:t>to</a:t>
            </a:r>
            <a:r>
              <a:rPr sz="2950" spc="-145" dirty="0"/>
              <a:t> </a:t>
            </a:r>
            <a:r>
              <a:rPr sz="2950" spc="-70" dirty="0"/>
              <a:t>pass</a:t>
            </a:r>
            <a:r>
              <a:rPr sz="2950" spc="-145" dirty="0"/>
              <a:t> </a:t>
            </a:r>
            <a:r>
              <a:rPr sz="2950" spc="-25" dirty="0"/>
              <a:t>the </a:t>
            </a:r>
            <a:r>
              <a:rPr sz="2950" spc="-95" dirty="0"/>
              <a:t>Turing </a:t>
            </a:r>
            <a:r>
              <a:rPr sz="2950" spc="-10" dirty="0"/>
              <a:t>test: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982586" y="2678792"/>
            <a:ext cx="7918450" cy="33147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00025" marR="501650" indent="-187960">
              <a:lnSpc>
                <a:spcPts val="1960"/>
              </a:lnSpc>
              <a:spcBef>
                <a:spcPts val="340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b="1" spc="-50" dirty="0">
                <a:latin typeface="Tahoma"/>
                <a:cs typeface="Tahoma"/>
              </a:rPr>
              <a:t>Natural</a:t>
            </a:r>
            <a:r>
              <a:rPr sz="1800" b="1" spc="-4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language</a:t>
            </a:r>
            <a:r>
              <a:rPr sz="1800" b="1" spc="-25" dirty="0">
                <a:latin typeface="Tahoma"/>
                <a:cs typeface="Tahoma"/>
              </a:rPr>
              <a:t> </a:t>
            </a:r>
            <a:r>
              <a:rPr sz="1800" b="1" spc="-30" dirty="0">
                <a:latin typeface="Tahoma"/>
                <a:cs typeface="Tahoma"/>
              </a:rPr>
              <a:t>processing:</a:t>
            </a:r>
            <a:r>
              <a:rPr sz="1800" b="1" spc="-1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NLP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required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communicate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with 	</a:t>
            </a:r>
            <a:r>
              <a:rPr sz="1800" dirty="0">
                <a:latin typeface="Tahoma"/>
                <a:cs typeface="Tahoma"/>
              </a:rPr>
              <a:t>Interrogator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general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human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language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like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English.</a:t>
            </a:r>
            <a:endParaRPr sz="1800">
              <a:latin typeface="Tahoma"/>
              <a:cs typeface="Tahoma"/>
            </a:endParaRPr>
          </a:p>
          <a:p>
            <a:pPr marL="200025" marR="5080" indent="-187960">
              <a:lnSpc>
                <a:spcPts val="1970"/>
              </a:lnSpc>
              <a:spcBef>
                <a:spcPts val="815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b="1" dirty="0">
                <a:latin typeface="Tahoma"/>
                <a:cs typeface="Tahoma"/>
              </a:rPr>
              <a:t>Knowledge</a:t>
            </a:r>
            <a:r>
              <a:rPr sz="1800" b="1" spc="40" dirty="0">
                <a:latin typeface="Tahoma"/>
                <a:cs typeface="Tahoma"/>
              </a:rPr>
              <a:t> </a:t>
            </a:r>
            <a:r>
              <a:rPr sz="1800" b="1" spc="-45" dirty="0">
                <a:latin typeface="Tahoma"/>
                <a:cs typeface="Tahoma"/>
              </a:rPr>
              <a:t>representation:</a:t>
            </a:r>
            <a:r>
              <a:rPr sz="1800" b="1" spc="5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To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store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and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retrieve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information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during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the 	</a:t>
            </a:r>
            <a:r>
              <a:rPr sz="1800" spc="-10" dirty="0">
                <a:latin typeface="Tahoma"/>
                <a:cs typeface="Tahoma"/>
              </a:rPr>
              <a:t>test.</a:t>
            </a:r>
            <a:endParaRPr sz="1800">
              <a:latin typeface="Tahoma"/>
              <a:cs typeface="Tahoma"/>
            </a:endParaRPr>
          </a:p>
          <a:p>
            <a:pPr marL="200025" marR="595630" indent="-187960">
              <a:lnSpc>
                <a:spcPts val="196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b="1" spc="-20" dirty="0">
                <a:latin typeface="Tahoma"/>
                <a:cs typeface="Tahoma"/>
              </a:rPr>
              <a:t>Automated</a:t>
            </a:r>
            <a:r>
              <a:rPr sz="1800" b="1" spc="114" dirty="0">
                <a:latin typeface="Tahoma"/>
                <a:cs typeface="Tahoma"/>
              </a:rPr>
              <a:t> </a:t>
            </a:r>
            <a:r>
              <a:rPr sz="1800" b="1" spc="-35" dirty="0">
                <a:latin typeface="Tahoma"/>
                <a:cs typeface="Tahoma"/>
              </a:rPr>
              <a:t>reasoning:</a:t>
            </a:r>
            <a:r>
              <a:rPr sz="1800" b="1" spc="8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To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use</a:t>
            </a:r>
            <a:r>
              <a:rPr sz="1800" spc="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previously</a:t>
            </a:r>
            <a:r>
              <a:rPr sz="1800" spc="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stored</a:t>
            </a:r>
            <a:r>
              <a:rPr sz="1800" spc="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information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for 	</a:t>
            </a:r>
            <a:r>
              <a:rPr sz="1800" dirty="0">
                <a:latin typeface="Tahoma"/>
                <a:cs typeface="Tahoma"/>
              </a:rPr>
              <a:t>answering</a:t>
            </a:r>
            <a:r>
              <a:rPr sz="1800" spc="1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1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questions.</a:t>
            </a:r>
            <a:endParaRPr sz="1800">
              <a:latin typeface="Tahoma"/>
              <a:cs typeface="Tahoma"/>
            </a:endParaRPr>
          </a:p>
          <a:p>
            <a:pPr marL="200025" marR="356235" indent="-187960">
              <a:lnSpc>
                <a:spcPts val="1970"/>
              </a:lnSpc>
              <a:spcBef>
                <a:spcPts val="810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b="1" spc="-10" dirty="0">
                <a:latin typeface="Tahoma"/>
                <a:cs typeface="Tahoma"/>
              </a:rPr>
              <a:t>Machine</a:t>
            </a:r>
            <a:r>
              <a:rPr sz="1800" b="1" spc="20" dirty="0">
                <a:latin typeface="Tahoma"/>
                <a:cs typeface="Tahoma"/>
              </a:rPr>
              <a:t> </a:t>
            </a:r>
            <a:r>
              <a:rPr sz="1800" b="1" spc="-35" dirty="0">
                <a:latin typeface="Tahoma"/>
                <a:cs typeface="Tahoma"/>
              </a:rPr>
              <a:t>learning:</a:t>
            </a:r>
            <a:r>
              <a:rPr sz="1800" b="1" spc="-5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To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adapt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new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changes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and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can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detect </a:t>
            </a:r>
            <a:r>
              <a:rPr sz="1800" spc="40" dirty="0">
                <a:latin typeface="Tahoma"/>
                <a:cs typeface="Tahoma"/>
              </a:rPr>
              <a:t>generalized 	</a:t>
            </a:r>
            <a:r>
              <a:rPr sz="1800" spc="-10" dirty="0">
                <a:latin typeface="Tahoma"/>
                <a:cs typeface="Tahoma"/>
              </a:rPr>
              <a:t>patterns.</a:t>
            </a:r>
            <a:endParaRPr sz="1800">
              <a:latin typeface="Tahoma"/>
              <a:cs typeface="Tahoma"/>
            </a:endParaRPr>
          </a:p>
          <a:p>
            <a:pPr marL="200025" marR="185420" indent="-187960">
              <a:lnSpc>
                <a:spcPts val="196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b="1" spc="-20" dirty="0">
                <a:latin typeface="Tahoma"/>
                <a:cs typeface="Tahoma"/>
              </a:rPr>
              <a:t>Vision</a:t>
            </a:r>
            <a:r>
              <a:rPr sz="1800" b="1" spc="20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(For</a:t>
            </a:r>
            <a:r>
              <a:rPr sz="1800" b="1" spc="25" dirty="0">
                <a:latin typeface="Tahoma"/>
                <a:cs typeface="Tahoma"/>
              </a:rPr>
              <a:t> </a:t>
            </a:r>
            <a:r>
              <a:rPr sz="1800" b="1" spc="-45" dirty="0">
                <a:latin typeface="Tahoma"/>
                <a:cs typeface="Tahoma"/>
              </a:rPr>
              <a:t>total</a:t>
            </a:r>
            <a:r>
              <a:rPr sz="1800" b="1" spc="-15" dirty="0">
                <a:latin typeface="Tahoma"/>
                <a:cs typeface="Tahoma"/>
              </a:rPr>
              <a:t> </a:t>
            </a:r>
            <a:r>
              <a:rPr sz="1800" b="1" spc="-65" dirty="0">
                <a:latin typeface="Tahoma"/>
                <a:cs typeface="Tahoma"/>
              </a:rPr>
              <a:t>Turing</a:t>
            </a:r>
            <a:r>
              <a:rPr sz="1800" b="1" spc="20" dirty="0">
                <a:latin typeface="Tahoma"/>
                <a:cs typeface="Tahoma"/>
              </a:rPr>
              <a:t> </a:t>
            </a:r>
            <a:r>
              <a:rPr sz="1800" b="1" spc="-95" dirty="0">
                <a:latin typeface="Tahoma"/>
                <a:cs typeface="Tahoma"/>
              </a:rPr>
              <a:t>test):</a:t>
            </a:r>
            <a:r>
              <a:rPr sz="1800" b="1" spc="-4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To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recognize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 interrogator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actions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40" dirty="0">
                <a:latin typeface="Tahoma"/>
                <a:cs typeface="Tahoma"/>
              </a:rPr>
              <a:t>and 	</a:t>
            </a:r>
            <a:r>
              <a:rPr sz="1800" dirty="0">
                <a:latin typeface="Tahoma"/>
                <a:cs typeface="Tahoma"/>
              </a:rPr>
              <a:t>other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objects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during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test.</a:t>
            </a:r>
            <a:endParaRPr sz="180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0660" algn="l"/>
              </a:tabLst>
            </a:pPr>
            <a:r>
              <a:rPr sz="1800" b="1" dirty="0">
                <a:latin typeface="Tahoma"/>
                <a:cs typeface="Tahoma"/>
              </a:rPr>
              <a:t>Motor</a:t>
            </a:r>
            <a:r>
              <a:rPr sz="1800" b="1" spc="-10" dirty="0">
                <a:latin typeface="Tahoma"/>
                <a:cs typeface="Tahoma"/>
              </a:rPr>
              <a:t> </a:t>
            </a:r>
            <a:r>
              <a:rPr sz="1800" b="1" spc="-20" dirty="0">
                <a:latin typeface="Tahoma"/>
                <a:cs typeface="Tahoma"/>
              </a:rPr>
              <a:t>Control</a:t>
            </a:r>
            <a:r>
              <a:rPr sz="1800" b="1" spc="-25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(For</a:t>
            </a:r>
            <a:r>
              <a:rPr sz="1800" b="1" spc="-40" dirty="0">
                <a:latin typeface="Tahoma"/>
                <a:cs typeface="Tahoma"/>
              </a:rPr>
              <a:t> </a:t>
            </a:r>
            <a:r>
              <a:rPr sz="1800" b="1" spc="-45" dirty="0">
                <a:latin typeface="Tahoma"/>
                <a:cs typeface="Tahoma"/>
              </a:rPr>
              <a:t>total</a:t>
            </a:r>
            <a:r>
              <a:rPr sz="1800" b="1" spc="-65" dirty="0">
                <a:latin typeface="Tahoma"/>
                <a:cs typeface="Tahoma"/>
              </a:rPr>
              <a:t> Turing</a:t>
            </a:r>
            <a:r>
              <a:rPr sz="1800" b="1" spc="-25" dirty="0">
                <a:latin typeface="Tahoma"/>
                <a:cs typeface="Tahoma"/>
              </a:rPr>
              <a:t> </a:t>
            </a:r>
            <a:r>
              <a:rPr sz="1800" b="1" spc="-95" dirty="0">
                <a:latin typeface="Tahoma"/>
                <a:cs typeface="Tahoma"/>
              </a:rPr>
              <a:t>test):</a:t>
            </a:r>
            <a:r>
              <a:rPr sz="1800" b="1" spc="-75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To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act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90" dirty="0">
                <a:latin typeface="Tahoma"/>
                <a:cs typeface="Tahoma"/>
              </a:rPr>
              <a:t>upon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objects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if</a:t>
            </a:r>
            <a:r>
              <a:rPr sz="1800" spc="-10" dirty="0">
                <a:latin typeface="Tahoma"/>
                <a:cs typeface="Tahoma"/>
              </a:rPr>
              <a:t> requested.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For</a:t>
            </a:r>
            <a:r>
              <a:rPr spc="-150" dirty="0"/>
              <a:t> </a:t>
            </a:r>
            <a:r>
              <a:rPr spc="-45" dirty="0"/>
              <a:t>General</a:t>
            </a:r>
            <a:r>
              <a:rPr spc="-170" dirty="0"/>
              <a:t> </a:t>
            </a:r>
            <a:r>
              <a:rPr spc="-10" dirty="0"/>
              <a:t>Knowledge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591" y="2825495"/>
            <a:ext cx="9264396" cy="28879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60" dirty="0">
                          <a:latin typeface="Tahoma"/>
                          <a:cs typeface="Tahoma"/>
                        </a:rPr>
                        <a:t>Problem</a:t>
                      </a:r>
                      <a:r>
                        <a:rPr sz="3300" b="1" spc="-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40" dirty="0">
                          <a:latin typeface="Tahoma"/>
                          <a:cs typeface="Tahoma"/>
                        </a:rPr>
                        <a:t>Solving</a:t>
                      </a:r>
                      <a:r>
                        <a:rPr sz="3300" b="1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Techniques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348" y="3089472"/>
            <a:ext cx="7781290" cy="2066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 marR="17145" indent="-187960">
              <a:lnSpc>
                <a:spcPct val="110400"/>
              </a:lnSpc>
              <a:spcBef>
                <a:spcPts val="9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spc="-110" dirty="0">
                <a:latin typeface="Tahoma"/>
                <a:cs typeface="Tahoma"/>
              </a:rPr>
              <a:t>In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artificial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intelligence,</a:t>
            </a:r>
            <a:r>
              <a:rPr sz="2300" spc="-235" dirty="0">
                <a:latin typeface="Tahoma"/>
                <a:cs typeface="Tahoma"/>
              </a:rPr>
              <a:t> </a:t>
            </a:r>
            <a:r>
              <a:rPr sz="2300" spc="90" dirty="0">
                <a:latin typeface="Tahoma"/>
                <a:cs typeface="Tahoma"/>
              </a:rPr>
              <a:t>problems</a:t>
            </a:r>
            <a:r>
              <a:rPr sz="2300" spc="-13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can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spc="145" dirty="0">
                <a:latin typeface="Tahoma"/>
                <a:cs typeface="Tahoma"/>
              </a:rPr>
              <a:t>be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solved</a:t>
            </a:r>
            <a:r>
              <a:rPr sz="2300" spc="-145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by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using 	searching</a:t>
            </a:r>
            <a:r>
              <a:rPr sz="2300" spc="125" dirty="0">
                <a:latin typeface="Tahoma"/>
                <a:cs typeface="Tahoma"/>
              </a:rPr>
              <a:t> </a:t>
            </a:r>
            <a:r>
              <a:rPr sz="2300" spc="10" dirty="0">
                <a:latin typeface="Tahoma"/>
                <a:cs typeface="Tahoma"/>
              </a:rPr>
              <a:t>algorithms,</a:t>
            </a:r>
            <a:r>
              <a:rPr sz="2300" spc="35" dirty="0">
                <a:latin typeface="Tahoma"/>
                <a:cs typeface="Tahoma"/>
              </a:rPr>
              <a:t> </a:t>
            </a:r>
            <a:r>
              <a:rPr lang="en-US" sz="2300" spc="10" dirty="0">
                <a:latin typeface="Tahoma"/>
                <a:cs typeface="Tahoma"/>
              </a:rPr>
              <a:t>evolutionary</a:t>
            </a:r>
            <a:r>
              <a:rPr sz="2300" spc="114" dirty="0">
                <a:latin typeface="Tahoma"/>
                <a:cs typeface="Tahoma"/>
              </a:rPr>
              <a:t> </a:t>
            </a:r>
            <a:r>
              <a:rPr sz="2300" spc="35" dirty="0">
                <a:latin typeface="Tahoma"/>
                <a:cs typeface="Tahoma"/>
              </a:rPr>
              <a:t>computations, 	</a:t>
            </a:r>
            <a:r>
              <a:rPr sz="2300" spc="100" dirty="0">
                <a:latin typeface="Tahoma"/>
                <a:cs typeface="Tahoma"/>
              </a:rPr>
              <a:t>knowledge</a:t>
            </a:r>
            <a:r>
              <a:rPr sz="2300" spc="30" dirty="0">
                <a:latin typeface="Tahoma"/>
                <a:cs typeface="Tahoma"/>
              </a:rPr>
              <a:t> </a:t>
            </a:r>
            <a:r>
              <a:rPr sz="2300" spc="10" dirty="0">
                <a:latin typeface="Tahoma"/>
                <a:cs typeface="Tahoma"/>
              </a:rPr>
              <a:t>representations,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-20" dirty="0">
                <a:latin typeface="Tahoma"/>
                <a:cs typeface="Tahoma"/>
              </a:rPr>
              <a:t>etc.</a:t>
            </a:r>
            <a:endParaRPr sz="2300" dirty="0">
              <a:latin typeface="Tahoma"/>
              <a:cs typeface="Tahoma"/>
            </a:endParaRPr>
          </a:p>
          <a:p>
            <a:pPr marL="200025" marR="5080" indent="-187960">
              <a:lnSpc>
                <a:spcPct val="110400"/>
              </a:lnSpc>
              <a:spcBef>
                <a:spcPts val="830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spc="-110" dirty="0">
                <a:latin typeface="Tahoma"/>
                <a:cs typeface="Tahoma"/>
              </a:rPr>
              <a:t>In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general,</a:t>
            </a:r>
            <a:r>
              <a:rPr sz="2300" spc="-17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searching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45" dirty="0">
                <a:latin typeface="Tahoma"/>
                <a:cs typeface="Tahoma"/>
              </a:rPr>
              <a:t>referred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as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finding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information 	</a:t>
            </a:r>
            <a:r>
              <a:rPr sz="2300" spc="100" dirty="0">
                <a:latin typeface="Tahoma"/>
                <a:cs typeface="Tahoma"/>
              </a:rPr>
              <a:t>one</a:t>
            </a:r>
            <a:r>
              <a:rPr sz="2300" spc="-150" dirty="0">
                <a:latin typeface="Tahoma"/>
                <a:cs typeface="Tahoma"/>
              </a:rPr>
              <a:t> </a:t>
            </a:r>
            <a:r>
              <a:rPr sz="2300" spc="45" dirty="0">
                <a:latin typeface="Tahoma"/>
                <a:cs typeface="Tahoma"/>
              </a:rPr>
              <a:t>needs.</a:t>
            </a:r>
            <a:endParaRPr sz="23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85" dirty="0">
                          <a:latin typeface="Tahoma"/>
                          <a:cs typeface="Tahoma"/>
                        </a:rPr>
                        <a:t>Properties</a:t>
                      </a:r>
                      <a:r>
                        <a:rPr sz="3300" b="1" spc="-1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dirty="0">
                          <a:latin typeface="Tahoma"/>
                          <a:cs typeface="Tahoma"/>
                        </a:rPr>
                        <a:t>of</a:t>
                      </a:r>
                      <a:r>
                        <a:rPr sz="3300" b="1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3300" b="1" spc="-1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algorithms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 marL="737235" indent="-187960">
                        <a:lnSpc>
                          <a:spcPct val="100000"/>
                        </a:lnSpc>
                        <a:spcBef>
                          <a:spcPts val="950"/>
                        </a:spcBef>
                        <a:buFont typeface="Arial MT"/>
                        <a:buChar char="•"/>
                        <a:tabLst>
                          <a:tab pos="737235" algn="l"/>
                        </a:tabLst>
                      </a:pPr>
                      <a:r>
                        <a:rPr sz="1450" b="1" spc="-10" dirty="0">
                          <a:latin typeface="Tahoma"/>
                          <a:cs typeface="Tahoma"/>
                        </a:rPr>
                        <a:t>Completeness</a:t>
                      </a:r>
                      <a:endParaRPr sz="1450">
                        <a:latin typeface="Tahoma"/>
                        <a:cs typeface="Tahoma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447" y="2700056"/>
            <a:ext cx="8221980" cy="322707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00025" marR="5080" indent="-187960">
              <a:lnSpc>
                <a:spcPts val="1610"/>
              </a:lnSpc>
              <a:spcBef>
                <a:spcPts val="300"/>
              </a:spcBef>
              <a:buFont typeface="Arial MT"/>
              <a:buChar char="•"/>
              <a:tabLst>
                <a:tab pos="201295" algn="l"/>
              </a:tabLst>
            </a:pPr>
            <a:r>
              <a:rPr sz="1450" spc="165" dirty="0">
                <a:latin typeface="Tahoma"/>
                <a:cs typeface="Tahoma"/>
              </a:rPr>
              <a:t>A</a:t>
            </a:r>
            <a:r>
              <a:rPr sz="1450" spc="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search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algorithm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is</a:t>
            </a:r>
            <a:r>
              <a:rPr sz="1450" spc="2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said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to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spc="114" dirty="0">
                <a:latin typeface="Tahoma"/>
                <a:cs typeface="Tahoma"/>
              </a:rPr>
              <a:t>be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spc="70" dirty="0">
                <a:latin typeface="Tahoma"/>
                <a:cs typeface="Tahoma"/>
              </a:rPr>
              <a:t>complete</a:t>
            </a:r>
            <a:r>
              <a:rPr sz="1450" spc="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when</a:t>
            </a:r>
            <a:r>
              <a:rPr sz="1450" spc="2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it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gives</a:t>
            </a:r>
            <a:r>
              <a:rPr sz="1450" spc="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solution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spc="65" dirty="0">
                <a:latin typeface="Tahoma"/>
                <a:cs typeface="Tahoma"/>
              </a:rPr>
              <a:t>or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returns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any</a:t>
            </a:r>
            <a:r>
              <a:rPr sz="1450" spc="2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solution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for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spc="-50" dirty="0">
                <a:latin typeface="Tahoma"/>
                <a:cs typeface="Tahoma"/>
              </a:rPr>
              <a:t>a 	</a:t>
            </a:r>
            <a:r>
              <a:rPr sz="1450" spc="50" dirty="0">
                <a:latin typeface="Tahoma"/>
                <a:cs typeface="Tahoma"/>
              </a:rPr>
              <a:t>given</a:t>
            </a:r>
            <a:r>
              <a:rPr sz="1450" spc="-75" dirty="0">
                <a:latin typeface="Tahoma"/>
                <a:cs typeface="Tahoma"/>
              </a:rPr>
              <a:t> </a:t>
            </a:r>
            <a:r>
              <a:rPr sz="1450" spc="70" dirty="0">
                <a:latin typeface="Tahoma"/>
                <a:cs typeface="Tahoma"/>
              </a:rPr>
              <a:t>random</a:t>
            </a:r>
            <a:r>
              <a:rPr sz="1450" spc="-75" dirty="0">
                <a:latin typeface="Tahoma"/>
                <a:cs typeface="Tahoma"/>
              </a:rPr>
              <a:t> </a:t>
            </a:r>
            <a:r>
              <a:rPr sz="1450" spc="-10" dirty="0">
                <a:latin typeface="Tahoma"/>
                <a:cs typeface="Tahoma"/>
              </a:rPr>
              <a:t>input.</a:t>
            </a:r>
            <a:endParaRPr sz="145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200660" algn="l"/>
              </a:tabLst>
            </a:pPr>
            <a:r>
              <a:rPr sz="1450" b="1" spc="-10" dirty="0">
                <a:latin typeface="Tahoma"/>
                <a:cs typeface="Tahoma"/>
              </a:rPr>
              <a:t>Optimality</a:t>
            </a:r>
            <a:endParaRPr sz="1450">
              <a:latin typeface="Tahoma"/>
              <a:cs typeface="Tahoma"/>
            </a:endParaRPr>
          </a:p>
          <a:p>
            <a:pPr marL="200025" marR="546735" indent="-187960">
              <a:lnSpc>
                <a:spcPts val="1610"/>
              </a:lnSpc>
              <a:spcBef>
                <a:spcPts val="860"/>
              </a:spcBef>
              <a:buFont typeface="Arial MT"/>
              <a:buChar char="•"/>
              <a:tabLst>
                <a:tab pos="201295" algn="l"/>
              </a:tabLst>
            </a:pPr>
            <a:r>
              <a:rPr sz="1450" spc="-90" dirty="0">
                <a:latin typeface="Tahoma"/>
                <a:cs typeface="Tahoma"/>
              </a:rPr>
              <a:t>If</a:t>
            </a:r>
            <a:r>
              <a:rPr sz="1450" spc="10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</a:t>
            </a:r>
            <a:r>
              <a:rPr sz="1450" spc="6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solution</a:t>
            </a:r>
            <a:r>
              <a:rPr sz="1450" spc="60" dirty="0">
                <a:latin typeface="Tahoma"/>
                <a:cs typeface="Tahoma"/>
              </a:rPr>
              <a:t> found</a:t>
            </a:r>
            <a:r>
              <a:rPr sz="1450" spc="4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is</a:t>
            </a:r>
            <a:r>
              <a:rPr sz="1450" spc="60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best</a:t>
            </a:r>
            <a:r>
              <a:rPr sz="1450" spc="6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(lowest</a:t>
            </a:r>
            <a:r>
              <a:rPr sz="1450" spc="2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path</a:t>
            </a:r>
            <a:r>
              <a:rPr sz="1450" spc="5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cost)</a:t>
            </a:r>
            <a:r>
              <a:rPr sz="1450" spc="60" dirty="0">
                <a:latin typeface="Tahoma"/>
                <a:cs typeface="Tahoma"/>
              </a:rPr>
              <a:t> </a:t>
            </a:r>
            <a:r>
              <a:rPr sz="1450" spc="80" dirty="0">
                <a:latin typeface="Tahoma"/>
                <a:cs typeface="Tahoma"/>
              </a:rPr>
              <a:t>among</a:t>
            </a:r>
            <a:r>
              <a:rPr sz="1450" spc="5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all</a:t>
            </a:r>
            <a:r>
              <a:rPr sz="1450" spc="5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6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solutions</a:t>
            </a:r>
            <a:r>
              <a:rPr sz="1450" spc="6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identified,</a:t>
            </a:r>
            <a:r>
              <a:rPr sz="1450" spc="-2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then</a:t>
            </a:r>
            <a:r>
              <a:rPr sz="1450" spc="60" dirty="0">
                <a:latin typeface="Tahoma"/>
                <a:cs typeface="Tahoma"/>
              </a:rPr>
              <a:t> </a:t>
            </a:r>
            <a:r>
              <a:rPr sz="1450" spc="-20" dirty="0">
                <a:latin typeface="Tahoma"/>
                <a:cs typeface="Tahoma"/>
              </a:rPr>
              <a:t>that 	</a:t>
            </a:r>
            <a:r>
              <a:rPr sz="1450" dirty="0">
                <a:latin typeface="Tahoma"/>
                <a:cs typeface="Tahoma"/>
              </a:rPr>
              <a:t>solution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is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said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to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spc="114" dirty="0">
                <a:latin typeface="Tahoma"/>
                <a:cs typeface="Tahoma"/>
              </a:rPr>
              <a:t>be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an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optimal</a:t>
            </a:r>
            <a:r>
              <a:rPr sz="1450" spc="-30" dirty="0">
                <a:latin typeface="Tahoma"/>
                <a:cs typeface="Tahoma"/>
              </a:rPr>
              <a:t> </a:t>
            </a:r>
            <a:r>
              <a:rPr sz="1450" spc="-20" dirty="0">
                <a:latin typeface="Tahoma"/>
                <a:cs typeface="Tahoma"/>
              </a:rPr>
              <a:t>one.</a:t>
            </a:r>
            <a:endParaRPr sz="145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00660" algn="l"/>
              </a:tabLst>
            </a:pPr>
            <a:r>
              <a:rPr sz="1450" b="1" dirty="0">
                <a:latin typeface="Tahoma"/>
                <a:cs typeface="Tahoma"/>
              </a:rPr>
              <a:t>Time</a:t>
            </a:r>
            <a:r>
              <a:rPr sz="1450" b="1" spc="-105" dirty="0">
                <a:latin typeface="Tahoma"/>
                <a:cs typeface="Tahoma"/>
              </a:rPr>
              <a:t> </a:t>
            </a:r>
            <a:r>
              <a:rPr sz="1450" b="1" spc="-10" dirty="0">
                <a:latin typeface="Tahoma"/>
                <a:cs typeface="Tahoma"/>
              </a:rPr>
              <a:t>complexity</a:t>
            </a:r>
            <a:endParaRPr sz="1450">
              <a:latin typeface="Tahoma"/>
              <a:cs typeface="Tahoma"/>
            </a:endParaRPr>
          </a:p>
          <a:p>
            <a:pPr marL="200025" marR="76835" indent="-187960">
              <a:lnSpc>
                <a:spcPts val="1610"/>
              </a:lnSpc>
              <a:spcBef>
                <a:spcPts val="844"/>
              </a:spcBef>
              <a:buFont typeface="Arial MT"/>
              <a:buChar char="•"/>
              <a:tabLst>
                <a:tab pos="201295" algn="l"/>
              </a:tabLst>
            </a:pPr>
            <a:r>
              <a:rPr sz="1450" dirty="0">
                <a:latin typeface="Tahoma"/>
                <a:cs typeface="Tahoma"/>
              </a:rPr>
              <a:t>The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time</a:t>
            </a:r>
            <a:r>
              <a:rPr sz="1450" spc="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taken </a:t>
            </a:r>
            <a:r>
              <a:rPr sz="1450" spc="65" dirty="0">
                <a:latin typeface="Tahoma"/>
                <a:cs typeface="Tahoma"/>
              </a:rPr>
              <a:t>by</a:t>
            </a:r>
            <a:r>
              <a:rPr sz="1450" dirty="0">
                <a:latin typeface="Tahoma"/>
                <a:cs typeface="Tahoma"/>
              </a:rPr>
              <a:t> an</a:t>
            </a:r>
            <a:r>
              <a:rPr sz="1450" spc="5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algorithm</a:t>
            </a:r>
            <a:r>
              <a:rPr sz="1450" spc="-15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to</a:t>
            </a:r>
            <a:r>
              <a:rPr sz="1450" spc="25" dirty="0">
                <a:latin typeface="Tahoma"/>
                <a:cs typeface="Tahoma"/>
              </a:rPr>
              <a:t> </a:t>
            </a:r>
            <a:r>
              <a:rPr sz="1450" spc="70" dirty="0">
                <a:latin typeface="Tahoma"/>
                <a:cs typeface="Tahoma"/>
              </a:rPr>
              <a:t>complete</a:t>
            </a:r>
            <a:r>
              <a:rPr sz="1450" spc="-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its task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is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spc="60" dirty="0">
                <a:latin typeface="Tahoma"/>
                <a:cs typeface="Tahoma"/>
              </a:rPr>
              <a:t>called</a:t>
            </a:r>
            <a:r>
              <a:rPr sz="1450" dirty="0">
                <a:latin typeface="Tahoma"/>
                <a:cs typeface="Tahoma"/>
              </a:rPr>
              <a:t> time complexity.</a:t>
            </a:r>
            <a:r>
              <a:rPr sz="1450" spc="-70" dirty="0">
                <a:latin typeface="Tahoma"/>
                <a:cs typeface="Tahoma"/>
              </a:rPr>
              <a:t> </a:t>
            </a:r>
            <a:r>
              <a:rPr sz="1450" spc="-90" dirty="0">
                <a:latin typeface="Tahoma"/>
                <a:cs typeface="Tahoma"/>
              </a:rPr>
              <a:t>If</a:t>
            </a:r>
            <a:r>
              <a:rPr sz="1450" spc="2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20" dirty="0">
                <a:latin typeface="Tahoma"/>
                <a:cs typeface="Tahoma"/>
              </a:rPr>
              <a:t> </a:t>
            </a:r>
            <a:r>
              <a:rPr sz="1450" spc="40" dirty="0">
                <a:latin typeface="Tahoma"/>
                <a:cs typeface="Tahoma"/>
              </a:rPr>
              <a:t>algorithm 	</a:t>
            </a:r>
            <a:r>
              <a:rPr sz="1450" spc="60" dirty="0">
                <a:latin typeface="Tahoma"/>
                <a:cs typeface="Tahoma"/>
              </a:rPr>
              <a:t>completes</a:t>
            </a:r>
            <a:r>
              <a:rPr sz="1450" spc="-4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 task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in a lesser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amount</a:t>
            </a:r>
            <a:r>
              <a:rPr sz="1450" spc="1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of</a:t>
            </a:r>
            <a:r>
              <a:rPr sz="1450" spc="4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time,</a:t>
            </a:r>
            <a:r>
              <a:rPr sz="1450" spc="-6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then it</a:t>
            </a:r>
            <a:r>
              <a:rPr sz="1450" spc="1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is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an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efficient</a:t>
            </a:r>
            <a:r>
              <a:rPr sz="1450" spc="-30" dirty="0">
                <a:latin typeface="Tahoma"/>
                <a:cs typeface="Tahoma"/>
              </a:rPr>
              <a:t> </a:t>
            </a:r>
            <a:r>
              <a:rPr sz="1450" spc="-20" dirty="0">
                <a:latin typeface="Tahoma"/>
                <a:cs typeface="Tahoma"/>
              </a:rPr>
              <a:t>one.</a:t>
            </a:r>
            <a:endParaRPr sz="145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00660" algn="l"/>
              </a:tabLst>
            </a:pPr>
            <a:r>
              <a:rPr sz="1450" b="1" dirty="0">
                <a:latin typeface="Tahoma"/>
                <a:cs typeface="Tahoma"/>
              </a:rPr>
              <a:t>Space</a:t>
            </a:r>
            <a:r>
              <a:rPr sz="1450" b="1" spc="-95" dirty="0">
                <a:latin typeface="Tahoma"/>
                <a:cs typeface="Tahoma"/>
              </a:rPr>
              <a:t> </a:t>
            </a:r>
            <a:r>
              <a:rPr sz="1450" b="1" spc="-10" dirty="0">
                <a:latin typeface="Tahoma"/>
                <a:cs typeface="Tahoma"/>
              </a:rPr>
              <a:t>complexity</a:t>
            </a:r>
            <a:endParaRPr sz="145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00660" algn="l"/>
              </a:tabLst>
            </a:pPr>
            <a:r>
              <a:rPr sz="1450" spc="-95" dirty="0">
                <a:latin typeface="Tahoma"/>
                <a:cs typeface="Tahoma"/>
              </a:rPr>
              <a:t>It</a:t>
            </a:r>
            <a:r>
              <a:rPr sz="1450" spc="-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is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maximum</a:t>
            </a:r>
            <a:r>
              <a:rPr sz="1450" spc="-15" dirty="0">
                <a:latin typeface="Tahoma"/>
                <a:cs typeface="Tahoma"/>
              </a:rPr>
              <a:t> </a:t>
            </a:r>
            <a:r>
              <a:rPr sz="1450" spc="45" dirty="0">
                <a:latin typeface="Tahoma"/>
                <a:cs typeface="Tahoma"/>
              </a:rPr>
              <a:t>storage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spc="65" dirty="0">
                <a:latin typeface="Tahoma"/>
                <a:cs typeface="Tahoma"/>
              </a:rPr>
              <a:t>or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spc="65" dirty="0">
                <a:latin typeface="Tahoma"/>
                <a:cs typeface="Tahoma"/>
              </a:rPr>
              <a:t>memory</a:t>
            </a:r>
            <a:r>
              <a:rPr sz="1450" spc="-2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taken</a:t>
            </a:r>
            <a:r>
              <a:rPr sz="1450" spc="-30" dirty="0">
                <a:latin typeface="Tahoma"/>
                <a:cs typeface="Tahoma"/>
              </a:rPr>
              <a:t> </a:t>
            </a:r>
            <a:r>
              <a:rPr sz="1450" spc="65" dirty="0">
                <a:latin typeface="Tahoma"/>
                <a:cs typeface="Tahoma"/>
              </a:rPr>
              <a:t>by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algorithm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at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any</a:t>
            </a:r>
            <a:r>
              <a:rPr sz="1450" spc="-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time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while</a:t>
            </a:r>
            <a:r>
              <a:rPr sz="1450" spc="-40" dirty="0">
                <a:latin typeface="Tahoma"/>
                <a:cs typeface="Tahoma"/>
              </a:rPr>
              <a:t> </a:t>
            </a:r>
            <a:r>
              <a:rPr sz="1450" spc="-10" dirty="0">
                <a:latin typeface="Tahoma"/>
                <a:cs typeface="Tahoma"/>
              </a:rPr>
              <a:t>searching.</a:t>
            </a:r>
            <a:endParaRPr sz="1450">
              <a:latin typeface="Tahoma"/>
              <a:cs typeface="Tahoma"/>
            </a:endParaRPr>
          </a:p>
          <a:p>
            <a:pPr marL="200025" marR="229235" indent="-187960">
              <a:lnSpc>
                <a:spcPts val="1610"/>
              </a:lnSpc>
              <a:spcBef>
                <a:spcPts val="844"/>
              </a:spcBef>
              <a:buFont typeface="Arial MT"/>
              <a:buChar char="•"/>
              <a:tabLst>
                <a:tab pos="201295" algn="l"/>
              </a:tabLst>
            </a:pPr>
            <a:r>
              <a:rPr sz="1450" dirty="0">
                <a:latin typeface="Tahoma"/>
                <a:cs typeface="Tahoma"/>
              </a:rPr>
              <a:t>These</a:t>
            </a:r>
            <a:r>
              <a:rPr sz="1450" spc="10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properties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are</a:t>
            </a:r>
            <a:r>
              <a:rPr sz="1450" spc="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also</a:t>
            </a:r>
            <a:r>
              <a:rPr sz="1450" spc="45" dirty="0">
                <a:latin typeface="Tahoma"/>
                <a:cs typeface="Tahoma"/>
              </a:rPr>
              <a:t> </a:t>
            </a:r>
            <a:r>
              <a:rPr sz="1450" spc="60" dirty="0">
                <a:latin typeface="Tahoma"/>
                <a:cs typeface="Tahoma"/>
              </a:rPr>
              <a:t>used</a:t>
            </a:r>
            <a:r>
              <a:rPr sz="1450" spc="45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to</a:t>
            </a:r>
            <a:r>
              <a:rPr sz="1450" spc="40" dirty="0">
                <a:latin typeface="Tahoma"/>
                <a:cs typeface="Tahoma"/>
              </a:rPr>
              <a:t> </a:t>
            </a:r>
            <a:r>
              <a:rPr sz="1450" spc="75" dirty="0">
                <a:latin typeface="Tahoma"/>
                <a:cs typeface="Tahoma"/>
              </a:rPr>
              <a:t>compare</a:t>
            </a:r>
            <a:r>
              <a:rPr sz="1450" spc="2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4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efficiency of</a:t>
            </a:r>
            <a:r>
              <a:rPr sz="1450" spc="7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4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different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types</a:t>
            </a:r>
            <a:r>
              <a:rPr sz="1450" spc="4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of</a:t>
            </a:r>
            <a:r>
              <a:rPr sz="1450" spc="70" dirty="0">
                <a:latin typeface="Tahoma"/>
                <a:cs typeface="Tahoma"/>
              </a:rPr>
              <a:t> </a:t>
            </a:r>
            <a:r>
              <a:rPr sz="1450" spc="-10" dirty="0">
                <a:latin typeface="Tahoma"/>
                <a:cs typeface="Tahoma"/>
              </a:rPr>
              <a:t>searching 	algorithms.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114" dirty="0">
                          <a:latin typeface="Tahoma"/>
                          <a:cs typeface="Tahoma"/>
                        </a:rPr>
                        <a:t>Types</a:t>
                      </a:r>
                      <a:r>
                        <a:rPr sz="3300" b="1" spc="-1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dirty="0">
                          <a:latin typeface="Tahoma"/>
                          <a:cs typeface="Tahoma"/>
                        </a:rPr>
                        <a:t>of</a:t>
                      </a:r>
                      <a:r>
                        <a:rPr sz="3300" b="1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3300" b="1" spc="-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algorithms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348" y="3089472"/>
            <a:ext cx="7814945" cy="178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 marR="5080" indent="-187960">
              <a:lnSpc>
                <a:spcPct val="110400"/>
              </a:lnSpc>
              <a:spcBef>
                <a:spcPts val="9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spc="80" dirty="0">
                <a:latin typeface="Tahoma"/>
                <a:cs typeface="Tahoma"/>
              </a:rPr>
              <a:t>Based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on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problems,</a:t>
            </a:r>
            <a:r>
              <a:rPr sz="2300" spc="-19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we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can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classify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search 	</a:t>
            </a:r>
            <a:r>
              <a:rPr sz="2300" spc="65" dirty="0">
                <a:latin typeface="Tahoma"/>
                <a:cs typeface="Tahoma"/>
              </a:rPr>
              <a:t>algorithm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as</a:t>
            </a:r>
            <a:endParaRPr sz="230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1120"/>
              </a:spcBef>
              <a:buFont typeface="Arial MT"/>
              <a:buChar char="•"/>
              <a:tabLst>
                <a:tab pos="200660" algn="l"/>
              </a:tabLst>
            </a:pPr>
            <a:r>
              <a:rPr sz="2300" spc="70" dirty="0">
                <a:latin typeface="Tahoma"/>
                <a:cs typeface="Tahoma"/>
              </a:rPr>
              <a:t>Uninformed</a:t>
            </a:r>
            <a:r>
              <a:rPr sz="2300" spc="-13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search</a:t>
            </a:r>
            <a:endParaRPr sz="230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200660" algn="l"/>
              </a:tabLst>
            </a:pPr>
            <a:r>
              <a:rPr sz="2300" dirty="0">
                <a:latin typeface="Tahoma"/>
                <a:cs typeface="Tahoma"/>
              </a:rPr>
              <a:t>Informed</a:t>
            </a:r>
            <a:r>
              <a:rPr sz="2300" spc="114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search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40" dirty="0">
                          <a:latin typeface="Tahoma"/>
                          <a:cs typeface="Tahoma"/>
                        </a:rPr>
                        <a:t>Uninformed</a:t>
                      </a:r>
                      <a:r>
                        <a:rPr sz="3300" b="1" spc="-1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3300" b="1" spc="-1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algorithms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348" y="3089472"/>
            <a:ext cx="8248650" cy="35486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 marR="5080" indent="-187960">
              <a:lnSpc>
                <a:spcPct val="110400"/>
              </a:lnSpc>
              <a:spcBef>
                <a:spcPts val="9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dirty="0">
                <a:latin typeface="Tahoma"/>
                <a:cs typeface="Tahoma"/>
              </a:rPr>
              <a:t>The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uninformed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algorithm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114" dirty="0">
                <a:latin typeface="Tahoma"/>
                <a:cs typeface="Tahoma"/>
              </a:rPr>
              <a:t>does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not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have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any</a:t>
            </a:r>
            <a:r>
              <a:rPr sz="2300" spc="575" dirty="0">
                <a:latin typeface="Tahoma"/>
                <a:cs typeface="Tahoma"/>
              </a:rPr>
              <a:t> 	</a:t>
            </a:r>
            <a:r>
              <a:rPr sz="2300" spc="85" dirty="0">
                <a:latin typeface="Tahoma"/>
                <a:cs typeface="Tahoma"/>
              </a:rPr>
              <a:t>domain</a:t>
            </a:r>
            <a:r>
              <a:rPr sz="2300" spc="-20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knowledge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such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as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closeness,</a:t>
            </a:r>
            <a:r>
              <a:rPr sz="2300" spc="-155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location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spc="85" dirty="0">
                <a:latin typeface="Tahoma"/>
                <a:cs typeface="Tahoma"/>
              </a:rPr>
              <a:t>goal 	</a:t>
            </a:r>
            <a:r>
              <a:rPr sz="2300" spc="-30" dirty="0">
                <a:latin typeface="Tahoma"/>
                <a:cs typeface="Tahoma"/>
              </a:rPr>
              <a:t>state,</a:t>
            </a:r>
            <a:r>
              <a:rPr sz="2300" spc="-1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etc.</a:t>
            </a:r>
            <a:r>
              <a:rPr sz="2300" spc="-1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it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behaves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in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b="1" spc="-80" dirty="0">
                <a:latin typeface="Tahoma"/>
                <a:cs typeface="Tahoma"/>
              </a:rPr>
              <a:t>brute-</a:t>
            </a:r>
            <a:r>
              <a:rPr sz="2300" b="1" spc="-35" dirty="0">
                <a:latin typeface="Tahoma"/>
                <a:cs typeface="Tahoma"/>
              </a:rPr>
              <a:t>force</a:t>
            </a:r>
            <a:r>
              <a:rPr sz="2300" b="1" spc="-55" dirty="0">
                <a:latin typeface="Tahoma"/>
                <a:cs typeface="Tahoma"/>
              </a:rPr>
              <a:t> </a:t>
            </a:r>
            <a:r>
              <a:rPr sz="2300" b="1" spc="-65" dirty="0">
                <a:latin typeface="Tahoma"/>
                <a:cs typeface="Tahoma"/>
              </a:rPr>
              <a:t>way</a:t>
            </a:r>
            <a:r>
              <a:rPr sz="2300" spc="-65" dirty="0">
                <a:latin typeface="Tahoma"/>
                <a:cs typeface="Tahoma"/>
              </a:rPr>
              <a:t>.</a:t>
            </a:r>
            <a:r>
              <a:rPr sz="2300" spc="-180" dirty="0">
                <a:latin typeface="Tahoma"/>
                <a:cs typeface="Tahoma"/>
              </a:rPr>
              <a:t> </a:t>
            </a:r>
            <a:r>
              <a:rPr sz="2300" spc="-165" dirty="0">
                <a:latin typeface="Tahoma"/>
                <a:cs typeface="Tahoma"/>
              </a:rPr>
              <a:t>It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only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knows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the 	</a:t>
            </a:r>
            <a:r>
              <a:rPr sz="2300" dirty="0">
                <a:latin typeface="Tahoma"/>
                <a:cs typeface="Tahoma"/>
              </a:rPr>
              <a:t>information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about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how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traverse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70" dirty="0">
                <a:latin typeface="Tahoma"/>
                <a:cs typeface="Tahoma"/>
              </a:rPr>
              <a:t>given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tree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and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how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35" dirty="0">
                <a:latin typeface="Tahoma"/>
                <a:cs typeface="Tahoma"/>
              </a:rPr>
              <a:t>to 	</a:t>
            </a:r>
            <a:r>
              <a:rPr sz="2300" spc="50" dirty="0">
                <a:latin typeface="Tahoma"/>
                <a:cs typeface="Tahoma"/>
              </a:rPr>
              <a:t>find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spc="105" dirty="0">
                <a:latin typeface="Tahoma"/>
                <a:cs typeface="Tahoma"/>
              </a:rPr>
              <a:t>goal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-30" dirty="0">
                <a:latin typeface="Tahoma"/>
                <a:cs typeface="Tahoma"/>
              </a:rPr>
              <a:t>state.</a:t>
            </a:r>
            <a:r>
              <a:rPr sz="2300" spc="-2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This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algorithm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also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known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as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70" dirty="0">
                <a:latin typeface="Tahoma"/>
                <a:cs typeface="Tahoma"/>
              </a:rPr>
              <a:t>Blind 	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algorithm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or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Brute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-105" dirty="0">
                <a:latin typeface="Tahoma"/>
                <a:cs typeface="Tahoma"/>
              </a:rPr>
              <a:t>-</a:t>
            </a:r>
            <a:r>
              <a:rPr sz="2300" spc="60" dirty="0">
                <a:latin typeface="Tahoma"/>
                <a:cs typeface="Tahoma"/>
              </a:rPr>
              <a:t>Force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algorithm.</a:t>
            </a:r>
            <a:endParaRPr lang="en-US" sz="2300" spc="-10" dirty="0">
              <a:latin typeface="Tahoma"/>
              <a:cs typeface="Tahoma"/>
            </a:endParaRPr>
          </a:p>
          <a:p>
            <a:pPr marL="200025" marR="5080" indent="-187960">
              <a:lnSpc>
                <a:spcPct val="110400"/>
              </a:lnSpc>
              <a:spcBef>
                <a:spcPts val="9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uninformed search algorithm is also known as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blind search,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we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don‟t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have any information about the number of steps or the path costs from the current state to the goal .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100" dirty="0">
                          <a:latin typeface="Tahoma"/>
                          <a:cs typeface="Tahoma"/>
                        </a:rPr>
                        <a:t>Brute</a:t>
                      </a:r>
                      <a:r>
                        <a:rPr sz="3300" b="1" spc="-1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Force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578" y="3093357"/>
            <a:ext cx="8227695" cy="27870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0025" marR="5080" indent="-187960">
              <a:lnSpc>
                <a:spcPct val="111800"/>
              </a:lnSpc>
              <a:spcBef>
                <a:spcPts val="90"/>
              </a:spcBef>
              <a:buFont typeface="Arial MT"/>
              <a:buChar char="•"/>
              <a:tabLst>
                <a:tab pos="201295" algn="l"/>
              </a:tabLst>
            </a:pPr>
            <a:r>
              <a:rPr sz="1950" dirty="0">
                <a:latin typeface="Tahoma"/>
                <a:cs typeface="Tahoma"/>
              </a:rPr>
              <a:t>Brute</a:t>
            </a:r>
            <a:r>
              <a:rPr sz="1950" spc="-20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force</a:t>
            </a:r>
            <a:r>
              <a:rPr sz="1950" spc="-3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is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a</a:t>
            </a:r>
            <a:r>
              <a:rPr sz="1950" spc="-3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straightforward </a:t>
            </a:r>
            <a:r>
              <a:rPr sz="1950" spc="85" dirty="0">
                <a:latin typeface="Tahoma"/>
                <a:cs typeface="Tahoma"/>
              </a:rPr>
              <a:t>approach</a:t>
            </a:r>
            <a:r>
              <a:rPr sz="1950" spc="-35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to</a:t>
            </a:r>
            <a:r>
              <a:rPr sz="1950" spc="-20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solve</a:t>
            </a:r>
            <a:r>
              <a:rPr sz="1950" spc="-5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a</a:t>
            </a:r>
            <a:r>
              <a:rPr sz="1950" spc="-35" dirty="0">
                <a:latin typeface="Tahoma"/>
                <a:cs typeface="Tahoma"/>
              </a:rPr>
              <a:t> </a:t>
            </a:r>
            <a:r>
              <a:rPr sz="1950" spc="100" dirty="0">
                <a:latin typeface="Tahoma"/>
                <a:cs typeface="Tahoma"/>
              </a:rPr>
              <a:t>problem</a:t>
            </a:r>
            <a:r>
              <a:rPr sz="1950" spc="-50" dirty="0">
                <a:latin typeface="Tahoma"/>
                <a:cs typeface="Tahoma"/>
              </a:rPr>
              <a:t> </a:t>
            </a:r>
            <a:r>
              <a:rPr sz="1950" spc="95" dirty="0">
                <a:latin typeface="Tahoma"/>
                <a:cs typeface="Tahoma"/>
              </a:rPr>
              <a:t>based</a:t>
            </a:r>
            <a:r>
              <a:rPr sz="1950" spc="-30" dirty="0">
                <a:latin typeface="Tahoma"/>
                <a:cs typeface="Tahoma"/>
              </a:rPr>
              <a:t> </a:t>
            </a:r>
            <a:r>
              <a:rPr sz="1950" spc="65" dirty="0">
                <a:latin typeface="Tahoma"/>
                <a:cs typeface="Tahoma"/>
              </a:rPr>
              <a:t>on 	</a:t>
            </a:r>
            <a:r>
              <a:rPr sz="1950" dirty="0">
                <a:latin typeface="Tahoma"/>
                <a:cs typeface="Tahoma"/>
              </a:rPr>
              <a:t>the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65" dirty="0">
                <a:latin typeface="Tahoma"/>
                <a:cs typeface="Tahoma"/>
              </a:rPr>
              <a:t>problem’s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statement.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-125" dirty="0">
                <a:latin typeface="Tahoma"/>
                <a:cs typeface="Tahoma"/>
              </a:rPr>
              <a:t>It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is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spc="75" dirty="0">
                <a:latin typeface="Tahoma"/>
                <a:cs typeface="Tahoma"/>
              </a:rPr>
              <a:t>considered</a:t>
            </a:r>
            <a:r>
              <a:rPr sz="1950" spc="-5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as</a:t>
            </a:r>
            <a:r>
              <a:rPr sz="1950" spc="-50" dirty="0">
                <a:latin typeface="Tahoma"/>
                <a:cs typeface="Tahoma"/>
              </a:rPr>
              <a:t> </a:t>
            </a:r>
            <a:r>
              <a:rPr sz="1950" spc="95" dirty="0">
                <a:latin typeface="Tahoma"/>
                <a:cs typeface="Tahoma"/>
              </a:rPr>
              <a:t>one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of</a:t>
            </a:r>
            <a:r>
              <a:rPr sz="1950" spc="-1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the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spc="-10" dirty="0">
                <a:latin typeface="Tahoma"/>
                <a:cs typeface="Tahoma"/>
              </a:rPr>
              <a:t>easiest 	</a:t>
            </a:r>
            <a:r>
              <a:rPr sz="1950" spc="85" dirty="0">
                <a:latin typeface="Tahoma"/>
                <a:cs typeface="Tahoma"/>
              </a:rPr>
              <a:t>approach</a:t>
            </a:r>
            <a:r>
              <a:rPr sz="1950" spc="-40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40" dirty="0">
                <a:latin typeface="Tahoma"/>
                <a:cs typeface="Tahoma"/>
              </a:rPr>
              <a:t> </a:t>
            </a:r>
            <a:r>
              <a:rPr sz="1950" spc="80" dirty="0">
                <a:latin typeface="Tahoma"/>
                <a:cs typeface="Tahoma"/>
              </a:rPr>
              <a:t>apply</a:t>
            </a:r>
            <a:r>
              <a:rPr sz="1950" spc="-40" dirty="0">
                <a:latin typeface="Tahoma"/>
                <a:cs typeface="Tahoma"/>
              </a:rPr>
              <a:t> </a:t>
            </a:r>
            <a:r>
              <a:rPr sz="1950" spc="80" dirty="0">
                <a:latin typeface="Tahoma"/>
                <a:cs typeface="Tahoma"/>
              </a:rPr>
              <a:t>and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is</a:t>
            </a:r>
            <a:r>
              <a:rPr sz="1950" spc="-3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useful</a:t>
            </a:r>
            <a:r>
              <a:rPr sz="1950" spc="-3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for</a:t>
            </a:r>
            <a:r>
              <a:rPr sz="1950" spc="-40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solving</a:t>
            </a:r>
            <a:r>
              <a:rPr sz="1950" spc="-4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small–size</a:t>
            </a:r>
            <a:r>
              <a:rPr sz="1950" spc="-5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instances</a:t>
            </a:r>
            <a:r>
              <a:rPr sz="1950" spc="-30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of</a:t>
            </a:r>
            <a:r>
              <a:rPr sz="1950" spc="15" dirty="0">
                <a:latin typeface="Tahoma"/>
                <a:cs typeface="Tahoma"/>
              </a:rPr>
              <a:t> </a:t>
            </a:r>
            <a:r>
              <a:rPr sz="1950" spc="-50" dirty="0">
                <a:latin typeface="Tahoma"/>
                <a:cs typeface="Tahoma"/>
              </a:rPr>
              <a:t>a 	</a:t>
            </a:r>
            <a:r>
              <a:rPr sz="1950" spc="70" dirty="0">
                <a:latin typeface="Tahoma"/>
                <a:cs typeface="Tahoma"/>
              </a:rPr>
              <a:t>problem.</a:t>
            </a:r>
            <a:endParaRPr sz="1950" dirty="0">
              <a:latin typeface="Tahoma"/>
              <a:cs typeface="Tahoma"/>
            </a:endParaRPr>
          </a:p>
          <a:p>
            <a:pPr marL="200025" marR="290830" indent="-187960">
              <a:lnSpc>
                <a:spcPct val="11180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sz="1950" dirty="0">
                <a:latin typeface="Tahoma"/>
                <a:cs typeface="Tahoma"/>
              </a:rPr>
              <a:t>Brute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spc="60" dirty="0">
                <a:latin typeface="Tahoma"/>
                <a:cs typeface="Tahoma"/>
              </a:rPr>
              <a:t>Force</a:t>
            </a:r>
            <a:r>
              <a:rPr sz="1950" spc="-110" dirty="0">
                <a:latin typeface="Tahoma"/>
                <a:cs typeface="Tahoma"/>
              </a:rPr>
              <a:t> </a:t>
            </a:r>
            <a:r>
              <a:rPr sz="1950" spc="70" dirty="0">
                <a:latin typeface="Tahoma"/>
                <a:cs typeface="Tahoma"/>
              </a:rPr>
              <a:t>Algorithms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refers</a:t>
            </a:r>
            <a:r>
              <a:rPr sz="1950" spc="-40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a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80" dirty="0">
                <a:latin typeface="Tahoma"/>
                <a:cs typeface="Tahoma"/>
              </a:rPr>
              <a:t>programming</a:t>
            </a:r>
            <a:r>
              <a:rPr sz="1950" spc="-4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style</a:t>
            </a:r>
            <a:r>
              <a:rPr sz="1950" spc="-5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that</a:t>
            </a:r>
            <a:r>
              <a:rPr sz="1950" spc="-40" dirty="0">
                <a:latin typeface="Tahoma"/>
                <a:cs typeface="Tahoma"/>
              </a:rPr>
              <a:t> </a:t>
            </a:r>
            <a:r>
              <a:rPr sz="1950" spc="110" dirty="0">
                <a:latin typeface="Tahoma"/>
                <a:cs typeface="Tahoma"/>
              </a:rPr>
              <a:t>does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30" dirty="0">
                <a:latin typeface="Tahoma"/>
                <a:cs typeface="Tahoma"/>
              </a:rPr>
              <a:t>not 	</a:t>
            </a:r>
            <a:r>
              <a:rPr sz="1950" spc="80" dirty="0">
                <a:latin typeface="Tahoma"/>
                <a:cs typeface="Tahoma"/>
              </a:rPr>
              <a:t>include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any</a:t>
            </a:r>
            <a:r>
              <a:rPr sz="1950" spc="-2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shortcuts</a:t>
            </a:r>
            <a:r>
              <a:rPr sz="1950" spc="-25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35" dirty="0">
                <a:latin typeface="Tahoma"/>
                <a:cs typeface="Tahoma"/>
              </a:rPr>
              <a:t> </a:t>
            </a:r>
            <a:r>
              <a:rPr sz="1950" spc="65" dirty="0">
                <a:latin typeface="Tahoma"/>
                <a:cs typeface="Tahoma"/>
              </a:rPr>
              <a:t>improve</a:t>
            </a:r>
            <a:r>
              <a:rPr sz="1950" spc="-20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performance,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spc="75" dirty="0">
                <a:latin typeface="Tahoma"/>
                <a:cs typeface="Tahoma"/>
              </a:rPr>
              <a:t>but</a:t>
            </a:r>
            <a:r>
              <a:rPr sz="1950" spc="-35" dirty="0">
                <a:latin typeface="Tahoma"/>
                <a:cs typeface="Tahoma"/>
              </a:rPr>
              <a:t> </a:t>
            </a:r>
            <a:r>
              <a:rPr sz="1950" spc="45" dirty="0">
                <a:latin typeface="Tahoma"/>
                <a:cs typeface="Tahoma"/>
              </a:rPr>
              <a:t>instead</a:t>
            </a:r>
            <a:r>
              <a:rPr sz="1950" spc="-1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relies</a:t>
            </a:r>
            <a:r>
              <a:rPr sz="1950" spc="-15" dirty="0">
                <a:latin typeface="Tahoma"/>
                <a:cs typeface="Tahoma"/>
              </a:rPr>
              <a:t> </a:t>
            </a:r>
            <a:r>
              <a:rPr sz="1950" spc="65" dirty="0">
                <a:latin typeface="Tahoma"/>
                <a:cs typeface="Tahoma"/>
              </a:rPr>
              <a:t>on 	</a:t>
            </a:r>
            <a:r>
              <a:rPr sz="1950" dirty="0">
                <a:latin typeface="Tahoma"/>
                <a:cs typeface="Tahoma"/>
              </a:rPr>
              <a:t>sheer</a:t>
            </a:r>
            <a:r>
              <a:rPr sz="1950" spc="-35" dirty="0">
                <a:latin typeface="Tahoma"/>
                <a:cs typeface="Tahoma"/>
              </a:rPr>
              <a:t> </a:t>
            </a:r>
            <a:r>
              <a:rPr sz="1950" spc="90" dirty="0">
                <a:latin typeface="Tahoma"/>
                <a:cs typeface="Tahoma"/>
              </a:rPr>
              <a:t>computing</a:t>
            </a:r>
            <a:r>
              <a:rPr sz="1950" spc="-55" dirty="0">
                <a:latin typeface="Tahoma"/>
                <a:cs typeface="Tahoma"/>
              </a:rPr>
              <a:t> </a:t>
            </a:r>
            <a:r>
              <a:rPr sz="1950" spc="85" dirty="0">
                <a:latin typeface="Tahoma"/>
                <a:cs typeface="Tahoma"/>
              </a:rPr>
              <a:t>power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try</a:t>
            </a:r>
            <a:r>
              <a:rPr sz="1950" spc="-3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all</a:t>
            </a:r>
            <a:r>
              <a:rPr sz="1950" spc="-55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possibilities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until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the</a:t>
            </a:r>
            <a:r>
              <a:rPr sz="1950" spc="-25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solution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spc="-50" dirty="0">
                <a:latin typeface="Tahoma"/>
                <a:cs typeface="Tahoma"/>
              </a:rPr>
              <a:t>a 	</a:t>
            </a:r>
            <a:r>
              <a:rPr sz="1950" spc="100" dirty="0">
                <a:latin typeface="Tahoma"/>
                <a:cs typeface="Tahoma"/>
              </a:rPr>
              <a:t>problem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is</a:t>
            </a:r>
            <a:r>
              <a:rPr sz="1950" spc="-100" dirty="0">
                <a:latin typeface="Tahoma"/>
                <a:cs typeface="Tahoma"/>
              </a:rPr>
              <a:t> </a:t>
            </a:r>
            <a:r>
              <a:rPr sz="1950" spc="45" dirty="0">
                <a:latin typeface="Tahoma"/>
                <a:cs typeface="Tahoma"/>
              </a:rPr>
              <a:t>found.</a:t>
            </a:r>
            <a:endParaRPr sz="19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A34886-826A-466E-A2DE-081D5999D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447800"/>
            <a:ext cx="8763000" cy="465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017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DD653-7CC3-C882-7AED-7F6E969D8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919" y="1689455"/>
            <a:ext cx="5340681" cy="507831"/>
          </a:xfrm>
        </p:spPr>
        <p:txBody>
          <a:bodyPr/>
          <a:lstStyle/>
          <a:p>
            <a:r>
              <a:rPr lang="en-US" spc="325" dirty="0"/>
              <a:t>Uninformed </a:t>
            </a:r>
            <a:r>
              <a:rPr lang="en-US" spc="185" dirty="0"/>
              <a:t>search</a:t>
            </a:r>
            <a:endParaRPr lang="en-US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5605E0C-C53E-3087-1583-6117EDB1BD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3124200"/>
            <a:ext cx="8758237" cy="335756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155" dirty="0">
                <a:latin typeface="Arial"/>
                <a:cs typeface="Arial"/>
              </a:rPr>
              <a:t>Use</a:t>
            </a:r>
            <a:r>
              <a:rPr sz="1950" b="1" spc="370" dirty="0">
                <a:latin typeface="Arial"/>
                <a:cs typeface="Arial"/>
              </a:rPr>
              <a:t> </a:t>
            </a:r>
            <a:r>
              <a:rPr sz="1950" b="1" spc="165" dirty="0">
                <a:latin typeface="Arial"/>
                <a:cs typeface="Arial"/>
              </a:rPr>
              <a:t>no</a:t>
            </a:r>
            <a:r>
              <a:rPr sz="1950" b="1" spc="370" dirty="0">
                <a:latin typeface="Arial"/>
                <a:cs typeface="Arial"/>
              </a:rPr>
              <a:t> </a:t>
            </a:r>
            <a:r>
              <a:rPr sz="1950" b="1" spc="180" dirty="0">
                <a:latin typeface="Arial"/>
                <a:cs typeface="Arial"/>
              </a:rPr>
              <a:t>domain</a:t>
            </a:r>
            <a:r>
              <a:rPr sz="1950" b="1" spc="370" dirty="0">
                <a:latin typeface="Arial"/>
                <a:cs typeface="Arial"/>
              </a:rPr>
              <a:t> </a:t>
            </a:r>
            <a:r>
              <a:rPr sz="1950" b="1" spc="140" dirty="0">
                <a:latin typeface="Arial"/>
                <a:cs typeface="Arial"/>
              </a:rPr>
              <a:t>knowledge!</a:t>
            </a:r>
            <a:endParaRPr sz="1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950" b="1" spc="145" dirty="0">
                <a:solidFill>
                  <a:srgbClr val="0000FF"/>
                </a:solidFill>
                <a:latin typeface="Arial"/>
                <a:cs typeface="Arial"/>
              </a:rPr>
              <a:t>Strategies:</a:t>
            </a:r>
            <a:endParaRPr sz="1950" dirty="0">
              <a:latin typeface="Arial"/>
              <a:cs typeface="Arial"/>
            </a:endParaRPr>
          </a:p>
          <a:p>
            <a:pPr marL="491490" indent="-369570">
              <a:lnSpc>
                <a:spcPct val="100000"/>
              </a:lnSpc>
              <a:spcBef>
                <a:spcPts val="1645"/>
              </a:spcBef>
              <a:buAutoNum type="arabicPeriod"/>
              <a:tabLst>
                <a:tab pos="491490" algn="l"/>
              </a:tabLst>
            </a:pPr>
            <a:r>
              <a:rPr sz="1950" spc="195" dirty="0">
                <a:latin typeface="Arial MT"/>
                <a:cs typeface="Arial MT"/>
              </a:rPr>
              <a:t>Breadth-</a:t>
            </a:r>
            <a:r>
              <a:rPr sz="1950" spc="130" dirty="0">
                <a:latin typeface="Arial MT"/>
                <a:cs typeface="Arial MT"/>
              </a:rPr>
              <a:t>first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70" dirty="0">
                <a:latin typeface="Arial MT"/>
                <a:cs typeface="Arial MT"/>
              </a:rPr>
              <a:t>search</a:t>
            </a:r>
            <a:r>
              <a:rPr sz="1950" spc="295" dirty="0">
                <a:latin typeface="Arial MT"/>
                <a:cs typeface="Arial MT"/>
              </a:rPr>
              <a:t> </a:t>
            </a:r>
            <a:r>
              <a:rPr sz="1950" spc="240" dirty="0">
                <a:latin typeface="Arial MT"/>
                <a:cs typeface="Arial MT"/>
              </a:rPr>
              <a:t>(BFS):</a:t>
            </a:r>
            <a:r>
              <a:rPr sz="1950" spc="295" dirty="0">
                <a:latin typeface="Arial MT"/>
                <a:cs typeface="Arial MT"/>
              </a:rPr>
              <a:t> </a:t>
            </a:r>
            <a:r>
              <a:rPr sz="1950" spc="140" dirty="0">
                <a:latin typeface="Arial MT"/>
                <a:cs typeface="Arial MT"/>
              </a:rPr>
              <a:t>Expand</a:t>
            </a:r>
            <a:r>
              <a:rPr sz="1950" spc="295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shallowest</a:t>
            </a:r>
            <a:r>
              <a:rPr sz="1950" spc="29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node</a:t>
            </a:r>
            <a:endParaRPr sz="1950" dirty="0">
              <a:latin typeface="Arial MT"/>
              <a:cs typeface="Arial MT"/>
            </a:endParaRPr>
          </a:p>
          <a:p>
            <a:pPr marL="491490" indent="-369570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491490" algn="l"/>
              </a:tabLst>
            </a:pPr>
            <a:r>
              <a:rPr sz="1950" spc="204" dirty="0">
                <a:latin typeface="Arial MT"/>
                <a:cs typeface="Arial MT"/>
              </a:rPr>
              <a:t>Depth-</a:t>
            </a:r>
            <a:r>
              <a:rPr sz="1950" spc="135" dirty="0">
                <a:latin typeface="Arial MT"/>
                <a:cs typeface="Arial MT"/>
              </a:rPr>
              <a:t>first</a:t>
            </a:r>
            <a:r>
              <a:rPr sz="1950" spc="300" dirty="0">
                <a:latin typeface="Arial MT"/>
                <a:cs typeface="Arial MT"/>
              </a:rPr>
              <a:t> </a:t>
            </a:r>
            <a:r>
              <a:rPr sz="1950" spc="70" dirty="0">
                <a:latin typeface="Arial MT"/>
                <a:cs typeface="Arial MT"/>
              </a:rPr>
              <a:t>search</a:t>
            </a:r>
            <a:r>
              <a:rPr sz="1950" spc="300" dirty="0">
                <a:latin typeface="Arial MT"/>
                <a:cs typeface="Arial MT"/>
              </a:rPr>
              <a:t> </a:t>
            </a:r>
            <a:r>
              <a:rPr sz="1950" spc="235" dirty="0">
                <a:latin typeface="Arial MT"/>
                <a:cs typeface="Arial MT"/>
              </a:rPr>
              <a:t>(DFS):</a:t>
            </a:r>
            <a:r>
              <a:rPr sz="1950" spc="305" dirty="0">
                <a:latin typeface="Arial MT"/>
                <a:cs typeface="Arial MT"/>
              </a:rPr>
              <a:t> </a:t>
            </a:r>
            <a:r>
              <a:rPr sz="1950" spc="140" dirty="0">
                <a:latin typeface="Arial MT"/>
                <a:cs typeface="Arial MT"/>
              </a:rPr>
              <a:t>Expand</a:t>
            </a:r>
            <a:r>
              <a:rPr sz="1950" spc="30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deepest</a:t>
            </a:r>
            <a:r>
              <a:rPr sz="1950" spc="30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node</a:t>
            </a:r>
            <a:endParaRPr sz="1950" dirty="0">
              <a:latin typeface="Arial MT"/>
              <a:cs typeface="Arial MT"/>
            </a:endParaRPr>
          </a:p>
          <a:p>
            <a:pPr marL="491490" indent="-369570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491490" algn="l"/>
              </a:tabLst>
            </a:pPr>
            <a:r>
              <a:rPr sz="1950" spc="195" dirty="0">
                <a:latin typeface="Arial MT"/>
                <a:cs typeface="Arial MT"/>
              </a:rPr>
              <a:t>Depth-</a:t>
            </a:r>
            <a:r>
              <a:rPr sz="1950" spc="160" dirty="0">
                <a:latin typeface="Arial MT"/>
                <a:cs typeface="Arial MT"/>
              </a:rPr>
              <a:t>limited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70" dirty="0">
                <a:latin typeface="Arial MT"/>
                <a:cs typeface="Arial MT"/>
              </a:rPr>
              <a:t>search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240" dirty="0">
                <a:latin typeface="Arial MT"/>
                <a:cs typeface="Arial MT"/>
              </a:rPr>
              <a:t>(DLS):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95" dirty="0">
                <a:latin typeface="Arial MT"/>
                <a:cs typeface="Arial MT"/>
              </a:rPr>
              <a:t>Depth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first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204" dirty="0">
                <a:latin typeface="Arial MT"/>
                <a:cs typeface="Arial MT"/>
              </a:rPr>
              <a:t>with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55" dirty="0">
                <a:latin typeface="Arial MT"/>
                <a:cs typeface="Arial MT"/>
              </a:rPr>
              <a:t>depth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limit</a:t>
            </a:r>
            <a:endParaRPr sz="1950" dirty="0">
              <a:latin typeface="Arial MT"/>
              <a:cs typeface="Arial MT"/>
            </a:endParaRPr>
          </a:p>
          <a:p>
            <a:pPr marL="491490" indent="-369570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491490" algn="l"/>
              </a:tabLst>
            </a:pPr>
            <a:r>
              <a:rPr sz="1950" spc="110" dirty="0">
                <a:latin typeface="Arial MT"/>
                <a:cs typeface="Arial MT"/>
              </a:rPr>
              <a:t>Iterative-</a:t>
            </a:r>
            <a:r>
              <a:rPr sz="1950" spc="140" dirty="0">
                <a:latin typeface="Arial MT"/>
                <a:cs typeface="Arial MT"/>
              </a:rPr>
              <a:t>deepening</a:t>
            </a:r>
            <a:r>
              <a:rPr sz="1950" spc="295" dirty="0">
                <a:latin typeface="Arial MT"/>
                <a:cs typeface="Arial MT"/>
              </a:rPr>
              <a:t> </a:t>
            </a:r>
            <a:r>
              <a:rPr sz="1950" spc="70" dirty="0">
                <a:latin typeface="Arial MT"/>
                <a:cs typeface="Arial MT"/>
              </a:rPr>
              <a:t>search</a:t>
            </a:r>
            <a:r>
              <a:rPr sz="1950" spc="300" dirty="0">
                <a:latin typeface="Arial MT"/>
                <a:cs typeface="Arial MT"/>
              </a:rPr>
              <a:t> </a:t>
            </a:r>
            <a:r>
              <a:rPr sz="1950" spc="210" dirty="0">
                <a:latin typeface="Arial MT"/>
                <a:cs typeface="Arial MT"/>
              </a:rPr>
              <a:t>(IDS):</a:t>
            </a:r>
            <a:r>
              <a:rPr sz="1950" spc="295" dirty="0">
                <a:latin typeface="Arial MT"/>
                <a:cs typeface="Arial MT"/>
              </a:rPr>
              <a:t> </a:t>
            </a:r>
            <a:r>
              <a:rPr sz="1950" spc="240" dirty="0">
                <a:latin typeface="Arial MT"/>
                <a:cs typeface="Arial MT"/>
              </a:rPr>
              <a:t>DLS</a:t>
            </a:r>
            <a:r>
              <a:rPr sz="1950" spc="300" dirty="0">
                <a:latin typeface="Arial MT"/>
                <a:cs typeface="Arial MT"/>
              </a:rPr>
              <a:t> </a:t>
            </a:r>
            <a:r>
              <a:rPr sz="1950" spc="204" dirty="0">
                <a:latin typeface="Arial MT"/>
                <a:cs typeface="Arial MT"/>
              </a:rPr>
              <a:t>with</a:t>
            </a:r>
            <a:r>
              <a:rPr sz="1950" spc="295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increasing</a:t>
            </a:r>
            <a:r>
              <a:rPr sz="1950" spc="30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limit</a:t>
            </a:r>
            <a:endParaRPr sz="1950" dirty="0">
              <a:latin typeface="Arial MT"/>
              <a:cs typeface="Arial MT"/>
            </a:endParaRPr>
          </a:p>
          <a:p>
            <a:pPr marL="491490" indent="-369570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491490" algn="l"/>
              </a:tabLst>
            </a:pPr>
            <a:r>
              <a:rPr sz="1950" spc="160" dirty="0">
                <a:latin typeface="Arial MT"/>
                <a:cs typeface="Arial MT"/>
              </a:rPr>
              <a:t>Uniform-</a:t>
            </a:r>
            <a:r>
              <a:rPr sz="1950" spc="165" dirty="0">
                <a:latin typeface="Arial MT"/>
                <a:cs typeface="Arial MT"/>
              </a:rPr>
              <a:t>cost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70" dirty="0">
                <a:latin typeface="Arial MT"/>
                <a:cs typeface="Arial MT"/>
              </a:rPr>
              <a:t>search</a:t>
            </a:r>
            <a:r>
              <a:rPr sz="1950" spc="295" dirty="0">
                <a:latin typeface="Arial MT"/>
                <a:cs typeface="Arial MT"/>
              </a:rPr>
              <a:t> </a:t>
            </a:r>
            <a:r>
              <a:rPr sz="1950" spc="195" dirty="0">
                <a:latin typeface="Arial MT"/>
                <a:cs typeface="Arial MT"/>
              </a:rPr>
              <a:t>(UCS):</a:t>
            </a:r>
            <a:r>
              <a:rPr sz="1950" spc="295" dirty="0">
                <a:latin typeface="Arial MT"/>
                <a:cs typeface="Arial MT"/>
              </a:rPr>
              <a:t> </a:t>
            </a:r>
            <a:r>
              <a:rPr sz="1950" spc="140" dirty="0">
                <a:latin typeface="Arial MT"/>
                <a:cs typeface="Arial MT"/>
              </a:rPr>
              <a:t>Expand</a:t>
            </a:r>
            <a:r>
              <a:rPr sz="1950" spc="29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least</a:t>
            </a:r>
            <a:r>
              <a:rPr sz="1950" spc="295" dirty="0">
                <a:latin typeface="Arial MT"/>
                <a:cs typeface="Arial MT"/>
              </a:rPr>
              <a:t> </a:t>
            </a:r>
            <a:r>
              <a:rPr sz="1950" spc="150" dirty="0">
                <a:latin typeface="Arial MT"/>
                <a:cs typeface="Arial MT"/>
              </a:rPr>
              <a:t>cost</a:t>
            </a:r>
            <a:r>
              <a:rPr sz="1950" spc="29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node</a:t>
            </a:r>
            <a:endParaRPr sz="195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930613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100" dirty="0">
                          <a:latin typeface="Tahoma"/>
                          <a:cs typeface="Tahoma"/>
                        </a:rPr>
                        <a:t>Brute</a:t>
                      </a:r>
                      <a:r>
                        <a:rPr sz="3300" b="1" spc="-1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Force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348" y="3111531"/>
            <a:ext cx="8209915" cy="2948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0025" marR="248285" indent="-187960">
              <a:lnSpc>
                <a:spcPct val="100400"/>
              </a:lnSpc>
              <a:spcBef>
                <a:spcPts val="10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spc="229" dirty="0">
                <a:latin typeface="Tahoma"/>
                <a:cs typeface="Tahoma"/>
              </a:rPr>
              <a:t>A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classic</a:t>
            </a:r>
            <a:r>
              <a:rPr sz="2300" spc="-25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example</a:t>
            </a:r>
            <a:r>
              <a:rPr sz="2300" spc="-2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 the</a:t>
            </a:r>
            <a:r>
              <a:rPr sz="2300" spc="2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traveling salesman</a:t>
            </a:r>
            <a:r>
              <a:rPr sz="2300" spc="-20" dirty="0">
                <a:latin typeface="Tahoma"/>
                <a:cs typeface="Tahoma"/>
              </a:rPr>
              <a:t> </a:t>
            </a:r>
            <a:r>
              <a:rPr sz="2300" spc="105" dirty="0">
                <a:latin typeface="Tahoma"/>
                <a:cs typeface="Tahoma"/>
              </a:rPr>
              <a:t>problem</a:t>
            </a:r>
            <a:r>
              <a:rPr sz="2300" spc="-25" dirty="0">
                <a:latin typeface="Tahoma"/>
                <a:cs typeface="Tahoma"/>
              </a:rPr>
              <a:t> </a:t>
            </a:r>
            <a:r>
              <a:rPr sz="2300" spc="-35" dirty="0">
                <a:latin typeface="Tahoma"/>
                <a:cs typeface="Tahoma"/>
              </a:rPr>
              <a:t>(TSP). 	</a:t>
            </a:r>
            <a:r>
              <a:rPr sz="2300" spc="100" dirty="0">
                <a:latin typeface="Tahoma"/>
                <a:cs typeface="Tahoma"/>
              </a:rPr>
              <a:t>Suppose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salesman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needs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visit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85" dirty="0">
                <a:latin typeface="Tahoma"/>
                <a:cs typeface="Tahoma"/>
              </a:rPr>
              <a:t>10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cities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across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the 	</a:t>
            </a:r>
            <a:r>
              <a:rPr sz="2300" spc="-10" dirty="0">
                <a:latin typeface="Tahoma"/>
                <a:cs typeface="Tahoma"/>
              </a:rPr>
              <a:t>country.</a:t>
            </a:r>
            <a:endParaRPr sz="2300">
              <a:latin typeface="Tahoma"/>
              <a:cs typeface="Tahoma"/>
            </a:endParaRPr>
          </a:p>
          <a:p>
            <a:pPr marL="200025" marR="5080" indent="-187960">
              <a:lnSpc>
                <a:spcPct val="100400"/>
              </a:lnSpc>
              <a:spcBef>
                <a:spcPts val="82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spc="85" dirty="0">
                <a:latin typeface="Tahoma"/>
                <a:cs typeface="Tahoma"/>
              </a:rPr>
              <a:t>How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spc="114" dirty="0">
                <a:latin typeface="Tahoma"/>
                <a:cs typeface="Tahoma"/>
              </a:rPr>
              <a:t>does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spc="100" dirty="0">
                <a:latin typeface="Tahoma"/>
                <a:cs typeface="Tahoma"/>
              </a:rPr>
              <a:t>one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determine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order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in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which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cities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spc="70" dirty="0">
                <a:latin typeface="Tahoma"/>
                <a:cs typeface="Tahoma"/>
              </a:rPr>
              <a:t>should 	</a:t>
            </a:r>
            <a:r>
              <a:rPr sz="2300" spc="145" dirty="0">
                <a:latin typeface="Tahoma"/>
                <a:cs typeface="Tahoma"/>
              </a:rPr>
              <a:t>be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45" dirty="0">
                <a:latin typeface="Tahoma"/>
                <a:cs typeface="Tahoma"/>
              </a:rPr>
              <a:t>visited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such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that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total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distance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traveled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minimized? 	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brute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force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solution</a:t>
            </a:r>
            <a:r>
              <a:rPr sz="2300" spc="-1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simply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spc="45" dirty="0">
                <a:latin typeface="Tahoma"/>
                <a:cs typeface="Tahoma"/>
              </a:rPr>
              <a:t>calculate</a:t>
            </a:r>
            <a:r>
              <a:rPr sz="2300" spc="-1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total 	</a:t>
            </a:r>
            <a:r>
              <a:rPr sz="2300" spc="60" dirty="0">
                <a:latin typeface="Tahoma"/>
                <a:cs typeface="Tahoma"/>
              </a:rPr>
              <a:t>distance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for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every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possible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route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and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then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select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the 	</a:t>
            </a:r>
            <a:r>
              <a:rPr sz="2300" dirty="0">
                <a:latin typeface="Tahoma"/>
                <a:cs typeface="Tahoma"/>
              </a:rPr>
              <a:t>shortest</a:t>
            </a:r>
            <a:r>
              <a:rPr sz="2300" spc="15" dirty="0">
                <a:latin typeface="Tahoma"/>
                <a:cs typeface="Tahoma"/>
              </a:rPr>
              <a:t> </a:t>
            </a:r>
            <a:r>
              <a:rPr sz="2300" spc="35" dirty="0">
                <a:latin typeface="Tahoma"/>
                <a:cs typeface="Tahoma"/>
              </a:rPr>
              <a:t>one.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130" dirty="0">
                          <a:latin typeface="Tahoma"/>
                          <a:cs typeface="Tahoma"/>
                        </a:rPr>
                        <a:t>Breadth-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First</a:t>
                      </a:r>
                      <a:r>
                        <a:rPr sz="3300" b="1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3300" b="1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(BFS)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348" y="3089472"/>
            <a:ext cx="7817484" cy="19615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 marR="5080" indent="-187960">
              <a:lnSpc>
                <a:spcPct val="110500"/>
              </a:lnSpc>
              <a:spcBef>
                <a:spcPts val="9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dirty="0">
                <a:latin typeface="Tahoma"/>
                <a:cs typeface="Tahoma"/>
              </a:rPr>
              <a:t>This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graph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algorithm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in</a:t>
            </a:r>
            <a:r>
              <a:rPr sz="2300" spc="-1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AI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that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traverses 	</a:t>
            </a:r>
            <a:r>
              <a:rPr sz="2300" spc="50" dirty="0">
                <a:latin typeface="Tahoma"/>
                <a:cs typeface="Tahoma"/>
              </a:rPr>
              <a:t>breadthwise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for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105" dirty="0">
                <a:latin typeface="Tahoma"/>
                <a:cs typeface="Tahoma"/>
              </a:rPr>
              <a:t>goal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in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tree.</a:t>
            </a:r>
            <a:r>
              <a:rPr sz="2300" spc="-165" dirty="0">
                <a:latin typeface="Tahoma"/>
                <a:cs typeface="Tahoma"/>
              </a:rPr>
              <a:t> It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85" dirty="0">
                <a:latin typeface="Tahoma"/>
                <a:cs typeface="Tahoma"/>
              </a:rPr>
              <a:t>begins 	</a:t>
            </a:r>
            <a:r>
              <a:rPr sz="2300" spc="55" dirty="0">
                <a:latin typeface="Tahoma"/>
                <a:cs typeface="Tahoma"/>
              </a:rPr>
              <a:t>searching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from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root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125" dirty="0">
                <a:latin typeface="Tahoma"/>
                <a:cs typeface="Tahoma"/>
              </a:rPr>
              <a:t>node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and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70" dirty="0">
                <a:latin typeface="Tahoma"/>
                <a:cs typeface="Tahoma"/>
              </a:rPr>
              <a:t>expands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40" dirty="0">
                <a:latin typeface="Tahoma"/>
                <a:cs typeface="Tahoma"/>
              </a:rPr>
              <a:t>successor 	</a:t>
            </a:r>
            <a:r>
              <a:rPr sz="2300" spc="125" dirty="0">
                <a:latin typeface="Tahoma"/>
                <a:cs typeface="Tahoma"/>
              </a:rPr>
              <a:t>node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before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spc="90" dirty="0">
                <a:latin typeface="Tahoma"/>
                <a:cs typeface="Tahoma"/>
              </a:rPr>
              <a:t>expanding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further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spc="85" dirty="0">
                <a:latin typeface="Tahoma"/>
                <a:cs typeface="Tahoma"/>
              </a:rPr>
              <a:t>along</a:t>
            </a:r>
            <a:r>
              <a:rPr sz="2300" spc="-14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breadthwise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and 	</a:t>
            </a:r>
            <a:r>
              <a:rPr sz="2300" dirty="0">
                <a:latin typeface="Tahoma"/>
                <a:cs typeface="Tahoma"/>
              </a:rPr>
              <a:t>traversing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those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nodes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rather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than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searching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70" dirty="0">
                <a:latin typeface="Tahoma"/>
                <a:cs typeface="Tahoma"/>
              </a:rPr>
              <a:t>depth-</a:t>
            </a:r>
            <a:r>
              <a:rPr sz="2300" spc="-10" dirty="0">
                <a:latin typeface="Tahoma"/>
                <a:cs typeface="Tahoma"/>
              </a:rPr>
              <a:t>wise.</a:t>
            </a:r>
            <a:endParaRPr sz="23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8155">
                        <a:lnSpc>
                          <a:spcPts val="3910"/>
                        </a:lnSpc>
                      </a:pPr>
                      <a:r>
                        <a:rPr sz="3300" b="1" spc="-130" dirty="0">
                          <a:latin typeface="Tahoma"/>
                          <a:cs typeface="Tahoma"/>
                        </a:rPr>
                        <a:t>Breadth-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First</a:t>
                      </a:r>
                      <a:r>
                        <a:rPr sz="3300" b="1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3300" b="1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210" dirty="0">
                          <a:latin typeface="Tahoma"/>
                          <a:cs typeface="Tahoma"/>
                        </a:rPr>
                        <a:t>(BFS)</a:t>
                      </a:r>
                      <a:r>
                        <a:rPr sz="3300" b="1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Example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2239" y="2804160"/>
            <a:ext cx="4363212" cy="35250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8155">
                        <a:lnSpc>
                          <a:spcPts val="3910"/>
                        </a:lnSpc>
                      </a:pPr>
                      <a:r>
                        <a:rPr sz="3300" b="1" spc="-130" dirty="0">
                          <a:latin typeface="Tahoma"/>
                          <a:cs typeface="Tahoma"/>
                        </a:rPr>
                        <a:t>Breadth-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First</a:t>
                      </a:r>
                      <a:r>
                        <a:rPr sz="3300" b="1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3300" b="1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210" dirty="0">
                          <a:latin typeface="Tahoma"/>
                          <a:cs typeface="Tahoma"/>
                        </a:rPr>
                        <a:t>(BFS)</a:t>
                      </a:r>
                      <a:r>
                        <a:rPr sz="3300" b="1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Example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987" y="2903220"/>
            <a:ext cx="7303008" cy="32095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8155">
                        <a:lnSpc>
                          <a:spcPts val="3910"/>
                        </a:lnSpc>
                      </a:pPr>
                      <a:r>
                        <a:rPr sz="3300" b="1" spc="-130" dirty="0">
                          <a:latin typeface="Tahoma"/>
                          <a:cs typeface="Tahoma"/>
                        </a:rPr>
                        <a:t>Breadth-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First</a:t>
                      </a:r>
                      <a:r>
                        <a:rPr sz="3300" b="1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3300" b="1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210" dirty="0">
                          <a:latin typeface="Tahoma"/>
                          <a:cs typeface="Tahoma"/>
                        </a:rPr>
                        <a:t>(BFS)</a:t>
                      </a:r>
                      <a:r>
                        <a:rPr sz="3300" b="1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Example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123" y="2919983"/>
            <a:ext cx="6771132" cy="32628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8155">
                        <a:lnSpc>
                          <a:spcPts val="3910"/>
                        </a:lnSpc>
                      </a:pPr>
                      <a:r>
                        <a:rPr sz="3300" b="1" spc="-130" dirty="0">
                          <a:latin typeface="Tahoma"/>
                          <a:cs typeface="Tahoma"/>
                        </a:rPr>
                        <a:t>Breadth-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First</a:t>
                      </a:r>
                      <a:r>
                        <a:rPr sz="3300" b="1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3300" b="1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210" dirty="0">
                          <a:latin typeface="Tahoma"/>
                          <a:cs typeface="Tahoma"/>
                        </a:rPr>
                        <a:t>(BFS)</a:t>
                      </a:r>
                      <a:r>
                        <a:rPr sz="3300" b="1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Example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855" y="2953511"/>
            <a:ext cx="7348728" cy="347014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8155">
                        <a:lnSpc>
                          <a:spcPts val="3910"/>
                        </a:lnSpc>
                      </a:pPr>
                      <a:r>
                        <a:rPr sz="3300" b="1" spc="-130" dirty="0">
                          <a:latin typeface="Tahoma"/>
                          <a:cs typeface="Tahoma"/>
                        </a:rPr>
                        <a:t>Breadth-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First</a:t>
                      </a:r>
                      <a:r>
                        <a:rPr sz="3300" b="1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3300" b="1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210" dirty="0">
                          <a:latin typeface="Tahoma"/>
                          <a:cs typeface="Tahoma"/>
                        </a:rPr>
                        <a:t>(BFS)</a:t>
                      </a:r>
                      <a:r>
                        <a:rPr sz="3300" b="1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Example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180" y="2962655"/>
            <a:ext cx="7365492" cy="341528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8155">
                        <a:lnSpc>
                          <a:spcPts val="3910"/>
                        </a:lnSpc>
                      </a:pPr>
                      <a:r>
                        <a:rPr sz="3300" b="1" spc="-130" dirty="0">
                          <a:latin typeface="Tahoma"/>
                          <a:cs typeface="Tahoma"/>
                        </a:rPr>
                        <a:t>Breadth-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First</a:t>
                      </a:r>
                      <a:r>
                        <a:rPr sz="3300" b="1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3300" b="1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210" dirty="0">
                          <a:latin typeface="Tahoma"/>
                          <a:cs typeface="Tahoma"/>
                        </a:rPr>
                        <a:t>(BFS)</a:t>
                      </a:r>
                      <a:r>
                        <a:rPr sz="3300" b="1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Example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708" y="2987039"/>
            <a:ext cx="7115556" cy="33329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8155">
                        <a:lnSpc>
                          <a:spcPts val="3910"/>
                        </a:lnSpc>
                      </a:pPr>
                      <a:r>
                        <a:rPr sz="3300" b="1" spc="-130" dirty="0">
                          <a:latin typeface="Tahoma"/>
                          <a:cs typeface="Tahoma"/>
                        </a:rPr>
                        <a:t>Breadth-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First</a:t>
                      </a:r>
                      <a:r>
                        <a:rPr sz="3300" b="1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3300" b="1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210" dirty="0">
                          <a:latin typeface="Tahoma"/>
                          <a:cs typeface="Tahoma"/>
                        </a:rPr>
                        <a:t>(BFS)</a:t>
                      </a:r>
                      <a:r>
                        <a:rPr sz="3300" b="1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Example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911" y="2763011"/>
            <a:ext cx="7289292" cy="350672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8155">
                        <a:lnSpc>
                          <a:spcPts val="3910"/>
                        </a:lnSpc>
                      </a:pPr>
                      <a:r>
                        <a:rPr sz="3300" b="1" spc="-130" dirty="0">
                          <a:latin typeface="Tahoma"/>
                          <a:cs typeface="Tahoma"/>
                        </a:rPr>
                        <a:t>Breadth-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First</a:t>
                      </a:r>
                      <a:r>
                        <a:rPr sz="3300" b="1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3300" b="1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210" dirty="0">
                          <a:latin typeface="Tahoma"/>
                          <a:cs typeface="Tahoma"/>
                        </a:rPr>
                        <a:t>(BFS)</a:t>
                      </a:r>
                      <a:r>
                        <a:rPr sz="3300" b="1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Example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9991" y="2912364"/>
            <a:ext cx="5626608" cy="335737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8155">
                        <a:lnSpc>
                          <a:spcPts val="3910"/>
                        </a:lnSpc>
                      </a:pPr>
                      <a:r>
                        <a:rPr sz="3300" b="1" spc="-130" dirty="0">
                          <a:latin typeface="Tahoma"/>
                          <a:cs typeface="Tahoma"/>
                        </a:rPr>
                        <a:t>Breadth-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First</a:t>
                      </a:r>
                      <a:r>
                        <a:rPr sz="3300" b="1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3300" b="1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210" dirty="0">
                          <a:latin typeface="Tahoma"/>
                          <a:cs typeface="Tahoma"/>
                        </a:rPr>
                        <a:t>(BFS)</a:t>
                      </a:r>
                      <a:r>
                        <a:rPr sz="3300" b="1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Example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3980" y="2932176"/>
            <a:ext cx="6092952" cy="361187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8155">
                        <a:lnSpc>
                          <a:spcPts val="3910"/>
                        </a:lnSpc>
                      </a:pPr>
                      <a:r>
                        <a:rPr sz="3300" b="1" spc="-130" dirty="0">
                          <a:latin typeface="Tahoma"/>
                          <a:cs typeface="Tahoma"/>
                        </a:rPr>
                        <a:t>Breadth-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First</a:t>
                      </a:r>
                      <a:r>
                        <a:rPr sz="3300" b="1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3300" b="1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210" dirty="0">
                          <a:latin typeface="Tahoma"/>
                          <a:cs typeface="Tahoma"/>
                        </a:rPr>
                        <a:t>(BFS)</a:t>
                      </a:r>
                      <a:r>
                        <a:rPr sz="3300" b="1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Example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472" y="2912364"/>
            <a:ext cx="7226808" cy="34244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8155">
                        <a:lnSpc>
                          <a:spcPts val="3910"/>
                        </a:lnSpc>
                      </a:pPr>
                      <a:r>
                        <a:rPr sz="3300" b="1" spc="-130" dirty="0">
                          <a:latin typeface="Tahoma"/>
                          <a:cs typeface="Tahoma"/>
                        </a:rPr>
                        <a:t>Breadth-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First</a:t>
                      </a:r>
                      <a:r>
                        <a:rPr sz="3300" b="1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3300" b="1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210" dirty="0">
                          <a:latin typeface="Tahoma"/>
                          <a:cs typeface="Tahoma"/>
                        </a:rPr>
                        <a:t>(BFS)</a:t>
                      </a:r>
                      <a:r>
                        <a:rPr sz="3300" b="1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Example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255" y="2621279"/>
            <a:ext cx="7202424" cy="26730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8155">
                        <a:lnSpc>
                          <a:spcPts val="3910"/>
                        </a:lnSpc>
                      </a:pPr>
                      <a:r>
                        <a:rPr sz="3300" b="1" spc="-130" dirty="0">
                          <a:latin typeface="Tahoma"/>
                          <a:cs typeface="Tahoma"/>
                        </a:rPr>
                        <a:t>Breadth-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First</a:t>
                      </a:r>
                      <a:r>
                        <a:rPr sz="3300" b="1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3300" b="1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(BFS)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6303" y="2927141"/>
            <a:ext cx="2621915" cy="2741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 marR="5080" indent="-187960">
              <a:lnSpc>
                <a:spcPct val="101499"/>
              </a:lnSpc>
              <a:spcBef>
                <a:spcPts val="95"/>
              </a:spcBef>
              <a:buFont typeface="Arial MT"/>
              <a:buChar char="•"/>
              <a:tabLst>
                <a:tab pos="201295" algn="l"/>
              </a:tabLst>
            </a:pPr>
            <a:r>
              <a:rPr sz="1950" dirty="0">
                <a:latin typeface="Tahoma"/>
                <a:cs typeface="Tahoma"/>
              </a:rPr>
              <a:t>The</a:t>
            </a:r>
            <a:r>
              <a:rPr sz="1950" spc="-55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time</a:t>
            </a:r>
            <a:r>
              <a:rPr sz="1950" spc="-50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complexity 	</a:t>
            </a:r>
            <a:r>
              <a:rPr sz="1950" spc="55" dirty="0">
                <a:latin typeface="Tahoma"/>
                <a:cs typeface="Tahoma"/>
              </a:rPr>
              <a:t>can</a:t>
            </a:r>
            <a:r>
              <a:rPr sz="1950" spc="-95" dirty="0">
                <a:latin typeface="Tahoma"/>
                <a:cs typeface="Tahoma"/>
              </a:rPr>
              <a:t> </a:t>
            </a:r>
            <a:r>
              <a:rPr sz="1950" spc="135" dirty="0">
                <a:latin typeface="Tahoma"/>
                <a:cs typeface="Tahoma"/>
              </a:rPr>
              <a:t>be</a:t>
            </a:r>
            <a:r>
              <a:rPr sz="1950" spc="-114" dirty="0">
                <a:latin typeface="Tahoma"/>
                <a:cs typeface="Tahoma"/>
              </a:rPr>
              <a:t> </a:t>
            </a:r>
            <a:r>
              <a:rPr sz="1950" spc="60" dirty="0">
                <a:latin typeface="Tahoma"/>
                <a:cs typeface="Tahoma"/>
              </a:rPr>
              <a:t>expressed</a:t>
            </a:r>
            <a:r>
              <a:rPr sz="1950" spc="-85" dirty="0">
                <a:latin typeface="Tahoma"/>
                <a:cs typeface="Tahoma"/>
              </a:rPr>
              <a:t> </a:t>
            </a:r>
            <a:r>
              <a:rPr sz="1950" spc="-25" dirty="0">
                <a:latin typeface="Tahoma"/>
                <a:cs typeface="Tahoma"/>
              </a:rPr>
              <a:t>as 	</a:t>
            </a:r>
            <a:r>
              <a:rPr sz="1950" spc="300" dirty="0">
                <a:latin typeface="Tahoma"/>
                <a:cs typeface="Tahoma"/>
              </a:rPr>
              <a:t>O</a:t>
            </a:r>
            <a:r>
              <a:rPr sz="1950" spc="-114" dirty="0">
                <a:latin typeface="Tahoma"/>
                <a:cs typeface="Tahoma"/>
              </a:rPr>
              <a:t> </a:t>
            </a:r>
            <a:r>
              <a:rPr sz="1950" spc="-165" dirty="0">
                <a:latin typeface="Tahoma"/>
                <a:cs typeface="Tahoma"/>
              </a:rPr>
              <a:t>(</a:t>
            </a:r>
            <a:r>
              <a:rPr sz="1950" spc="-114" dirty="0">
                <a:latin typeface="Tahoma"/>
                <a:cs typeface="Tahoma"/>
              </a:rPr>
              <a:t> </a:t>
            </a:r>
            <a:r>
              <a:rPr sz="1950" spc="-315" dirty="0">
                <a:latin typeface="Tahoma"/>
                <a:cs typeface="Tahoma"/>
              </a:rPr>
              <a:t>|</a:t>
            </a:r>
            <a:r>
              <a:rPr sz="1950" spc="-135" dirty="0">
                <a:latin typeface="Tahoma"/>
                <a:cs typeface="Tahoma"/>
              </a:rPr>
              <a:t> </a:t>
            </a:r>
            <a:r>
              <a:rPr sz="1950" spc="65" dirty="0">
                <a:latin typeface="Tahoma"/>
                <a:cs typeface="Tahoma"/>
              </a:rPr>
              <a:t>V</a:t>
            </a:r>
            <a:r>
              <a:rPr sz="1950" spc="-150" dirty="0">
                <a:latin typeface="Tahoma"/>
                <a:cs typeface="Tahoma"/>
              </a:rPr>
              <a:t> </a:t>
            </a:r>
            <a:r>
              <a:rPr sz="1950" spc="-315" dirty="0">
                <a:latin typeface="Tahoma"/>
                <a:cs typeface="Tahoma"/>
              </a:rPr>
              <a:t>|</a:t>
            </a:r>
            <a:r>
              <a:rPr sz="1950" spc="-110" dirty="0">
                <a:latin typeface="Tahoma"/>
                <a:cs typeface="Tahoma"/>
              </a:rPr>
              <a:t> </a:t>
            </a:r>
            <a:r>
              <a:rPr sz="1950" spc="-105" dirty="0">
                <a:latin typeface="Tahoma"/>
                <a:cs typeface="Tahoma"/>
              </a:rPr>
              <a:t>+</a:t>
            </a:r>
            <a:r>
              <a:rPr sz="1950" spc="-110" dirty="0">
                <a:latin typeface="Tahoma"/>
                <a:cs typeface="Tahoma"/>
              </a:rPr>
              <a:t> </a:t>
            </a:r>
            <a:r>
              <a:rPr sz="1950" spc="-315" dirty="0">
                <a:latin typeface="Tahoma"/>
                <a:cs typeface="Tahoma"/>
              </a:rPr>
              <a:t>|</a:t>
            </a:r>
            <a:r>
              <a:rPr sz="1950" spc="-105" dirty="0">
                <a:latin typeface="Tahoma"/>
                <a:cs typeface="Tahoma"/>
              </a:rPr>
              <a:t> </a:t>
            </a:r>
            <a:r>
              <a:rPr sz="1950" spc="65" dirty="0">
                <a:latin typeface="Tahoma"/>
                <a:cs typeface="Tahoma"/>
              </a:rPr>
              <a:t>E</a:t>
            </a:r>
            <a:r>
              <a:rPr sz="1950" spc="-110" dirty="0">
                <a:latin typeface="Tahoma"/>
                <a:cs typeface="Tahoma"/>
              </a:rPr>
              <a:t> </a:t>
            </a:r>
            <a:r>
              <a:rPr sz="1950" spc="-315" dirty="0">
                <a:latin typeface="Tahoma"/>
                <a:cs typeface="Tahoma"/>
              </a:rPr>
              <a:t>|</a:t>
            </a:r>
            <a:r>
              <a:rPr sz="1950" spc="-110" dirty="0">
                <a:latin typeface="Tahoma"/>
                <a:cs typeface="Tahoma"/>
              </a:rPr>
              <a:t> </a:t>
            </a:r>
            <a:r>
              <a:rPr sz="1950" spc="-165" dirty="0">
                <a:latin typeface="Tahoma"/>
                <a:cs typeface="Tahoma"/>
              </a:rPr>
              <a:t>)</a:t>
            </a:r>
            <a:r>
              <a:rPr sz="1950" spc="-114" dirty="0">
                <a:latin typeface="Tahoma"/>
                <a:cs typeface="Tahoma"/>
              </a:rPr>
              <a:t> </a:t>
            </a:r>
            <a:r>
              <a:rPr sz="1950" spc="-85" dirty="0">
                <a:latin typeface="Tahoma"/>
                <a:cs typeface="Tahoma"/>
              </a:rPr>
              <a:t>,</a:t>
            </a:r>
            <a:r>
              <a:rPr sz="1950" spc="-165" dirty="0">
                <a:latin typeface="Tahoma"/>
                <a:cs typeface="Tahoma"/>
              </a:rPr>
              <a:t> </a:t>
            </a:r>
            <a:r>
              <a:rPr sz="1950" spc="40" dirty="0">
                <a:latin typeface="Tahoma"/>
                <a:cs typeface="Tahoma"/>
              </a:rPr>
              <a:t>since 	</a:t>
            </a:r>
            <a:r>
              <a:rPr sz="1950" dirty="0">
                <a:latin typeface="Tahoma"/>
                <a:cs typeface="Tahoma"/>
              </a:rPr>
              <a:t>every</a:t>
            </a:r>
            <a:r>
              <a:rPr sz="1950" spc="3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vertex</a:t>
            </a:r>
            <a:r>
              <a:rPr sz="1950" spc="50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and 	</a:t>
            </a:r>
            <a:r>
              <a:rPr sz="1950" dirty="0">
                <a:latin typeface="Tahoma"/>
                <a:cs typeface="Tahoma"/>
              </a:rPr>
              <a:t>every</a:t>
            </a:r>
            <a:r>
              <a:rPr sz="1950" spc="25" dirty="0">
                <a:latin typeface="Tahoma"/>
                <a:cs typeface="Tahoma"/>
              </a:rPr>
              <a:t> </a:t>
            </a:r>
            <a:r>
              <a:rPr sz="1950" spc="130" dirty="0">
                <a:latin typeface="Tahoma"/>
                <a:cs typeface="Tahoma"/>
              </a:rPr>
              <a:t>edge</a:t>
            </a:r>
            <a:r>
              <a:rPr sz="1950" spc="-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will</a:t>
            </a:r>
            <a:r>
              <a:rPr sz="1950" spc="-15" dirty="0">
                <a:latin typeface="Tahoma"/>
                <a:cs typeface="Tahoma"/>
              </a:rPr>
              <a:t> </a:t>
            </a:r>
            <a:r>
              <a:rPr sz="1950" spc="110" dirty="0">
                <a:latin typeface="Tahoma"/>
                <a:cs typeface="Tahoma"/>
              </a:rPr>
              <a:t>be 	</a:t>
            </a:r>
            <a:r>
              <a:rPr sz="1950" spc="85" dirty="0">
                <a:latin typeface="Tahoma"/>
                <a:cs typeface="Tahoma"/>
              </a:rPr>
              <a:t>explored</a:t>
            </a:r>
            <a:r>
              <a:rPr sz="1950" spc="-114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in</a:t>
            </a:r>
            <a:r>
              <a:rPr sz="1950" spc="-100" dirty="0">
                <a:latin typeface="Tahoma"/>
                <a:cs typeface="Tahoma"/>
              </a:rPr>
              <a:t> </a:t>
            </a:r>
            <a:r>
              <a:rPr sz="1950" spc="-25" dirty="0">
                <a:latin typeface="Tahoma"/>
                <a:cs typeface="Tahoma"/>
              </a:rPr>
              <a:t>the</a:t>
            </a:r>
            <a:r>
              <a:rPr sz="1950" spc="500" dirty="0">
                <a:latin typeface="Tahoma"/>
                <a:cs typeface="Tahoma"/>
              </a:rPr>
              <a:t> 	</a:t>
            </a:r>
            <a:r>
              <a:rPr sz="1950" dirty="0">
                <a:latin typeface="Tahoma"/>
                <a:cs typeface="Tahoma"/>
              </a:rPr>
              <a:t>worst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case.</a:t>
            </a:r>
            <a:r>
              <a:rPr sz="1950" spc="-120" dirty="0">
                <a:latin typeface="Tahoma"/>
                <a:cs typeface="Tahoma"/>
              </a:rPr>
              <a:t> </a:t>
            </a:r>
            <a:r>
              <a:rPr sz="1950" spc="-315" dirty="0">
                <a:latin typeface="Tahoma"/>
                <a:cs typeface="Tahoma"/>
              </a:rPr>
              <a:t>|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spc="65" dirty="0">
                <a:latin typeface="Tahoma"/>
                <a:cs typeface="Tahoma"/>
              </a:rPr>
              <a:t>V</a:t>
            </a:r>
            <a:r>
              <a:rPr sz="1950" spc="-105" dirty="0">
                <a:latin typeface="Tahoma"/>
                <a:cs typeface="Tahoma"/>
              </a:rPr>
              <a:t> </a:t>
            </a:r>
            <a:r>
              <a:rPr sz="1950" spc="-315" dirty="0">
                <a:latin typeface="Tahoma"/>
                <a:cs typeface="Tahoma"/>
              </a:rPr>
              <a:t>|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is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spc="-25" dirty="0">
                <a:latin typeface="Tahoma"/>
                <a:cs typeface="Tahoma"/>
              </a:rPr>
              <a:t>the 	</a:t>
            </a:r>
            <a:r>
              <a:rPr sz="1950" spc="85" dirty="0">
                <a:latin typeface="Tahoma"/>
                <a:cs typeface="Tahoma"/>
              </a:rPr>
              <a:t>number</a:t>
            </a:r>
            <a:r>
              <a:rPr sz="1950" spc="-105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of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-10" dirty="0">
                <a:latin typeface="Tahoma"/>
                <a:cs typeface="Tahoma"/>
              </a:rPr>
              <a:t>vertices 	</a:t>
            </a:r>
            <a:r>
              <a:rPr sz="1950" spc="80" dirty="0">
                <a:latin typeface="Tahoma"/>
                <a:cs typeface="Tahoma"/>
              </a:rPr>
              <a:t>and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-315" dirty="0">
                <a:latin typeface="Tahoma"/>
                <a:cs typeface="Tahoma"/>
              </a:rPr>
              <a:t>|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spc="65" dirty="0">
                <a:latin typeface="Tahoma"/>
                <a:cs typeface="Tahoma"/>
              </a:rPr>
              <a:t>E</a:t>
            </a:r>
            <a:r>
              <a:rPr sz="1950" spc="-85" dirty="0">
                <a:latin typeface="Tahoma"/>
                <a:cs typeface="Tahoma"/>
              </a:rPr>
              <a:t> </a:t>
            </a:r>
            <a:r>
              <a:rPr sz="1950" spc="-315" dirty="0">
                <a:latin typeface="Tahoma"/>
                <a:cs typeface="Tahoma"/>
              </a:rPr>
              <a:t>|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is</a:t>
            </a:r>
            <a:r>
              <a:rPr sz="1950" spc="-8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the</a:t>
            </a:r>
            <a:r>
              <a:rPr sz="1950" spc="-85" dirty="0">
                <a:latin typeface="Tahoma"/>
                <a:cs typeface="Tahoma"/>
              </a:rPr>
              <a:t> </a:t>
            </a:r>
            <a:r>
              <a:rPr sz="1950" spc="65" dirty="0">
                <a:latin typeface="Tahoma"/>
                <a:cs typeface="Tahoma"/>
              </a:rPr>
              <a:t>edges.</a:t>
            </a:r>
            <a:endParaRPr sz="19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0192" y="3220211"/>
            <a:ext cx="6819900" cy="274624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10" dirty="0">
                          <a:latin typeface="Tahoma"/>
                          <a:cs typeface="Tahoma"/>
                        </a:rPr>
                        <a:t>Depth</a:t>
                      </a:r>
                      <a:r>
                        <a:rPr sz="3300" b="1" spc="-1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First</a:t>
                      </a:r>
                      <a:r>
                        <a:rPr sz="3300" b="1" spc="-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3300" b="1" spc="-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(DFS)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6934200" y="4309871"/>
            <a:ext cx="1720850" cy="356870"/>
          </a:xfrm>
          <a:custGeom>
            <a:avLst/>
            <a:gdLst/>
            <a:ahLst/>
            <a:cxnLst/>
            <a:rect l="l" t="t" r="r" b="b"/>
            <a:pathLst>
              <a:path w="1720850" h="356870">
                <a:moveTo>
                  <a:pt x="1720596" y="0"/>
                </a:moveTo>
                <a:lnTo>
                  <a:pt x="0" y="0"/>
                </a:lnTo>
                <a:lnTo>
                  <a:pt x="0" y="356615"/>
                </a:lnTo>
                <a:lnTo>
                  <a:pt x="1720596" y="356615"/>
                </a:lnTo>
                <a:lnTo>
                  <a:pt x="172059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2348" y="3089472"/>
            <a:ext cx="8176259" cy="2348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 marR="5080" indent="-187960">
              <a:lnSpc>
                <a:spcPct val="110400"/>
              </a:lnSpc>
              <a:spcBef>
                <a:spcPts val="9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spc="-165" dirty="0">
                <a:latin typeface="Tahoma"/>
                <a:cs typeface="Tahoma"/>
              </a:rPr>
              <a:t>It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</a:t>
            </a:r>
            <a:r>
              <a:rPr sz="2300" spc="-1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algorithm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where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2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tree</a:t>
            </a:r>
            <a:r>
              <a:rPr sz="2300" spc="-3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will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120" dirty="0">
                <a:latin typeface="Tahoma"/>
                <a:cs typeface="Tahoma"/>
              </a:rPr>
              <a:t>be 	</a:t>
            </a:r>
            <a:r>
              <a:rPr sz="2300" dirty="0">
                <a:latin typeface="Tahoma"/>
                <a:cs typeface="Tahoma"/>
              </a:rPr>
              <a:t>traversed</a:t>
            </a:r>
            <a:r>
              <a:rPr sz="2300" spc="-3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from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root</a:t>
            </a:r>
            <a:r>
              <a:rPr sz="2300" spc="-25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node.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-165" dirty="0">
                <a:latin typeface="Tahoma"/>
                <a:cs typeface="Tahoma"/>
              </a:rPr>
              <a:t>It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will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145" dirty="0">
                <a:latin typeface="Tahoma"/>
                <a:cs typeface="Tahoma"/>
              </a:rPr>
              <a:t>be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traversing,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45" dirty="0">
                <a:latin typeface="Tahoma"/>
                <a:cs typeface="Tahoma"/>
              </a:rPr>
              <a:t>searching 	</a:t>
            </a:r>
            <a:r>
              <a:rPr sz="2300" dirty="0">
                <a:latin typeface="Tahoma"/>
                <a:cs typeface="Tahoma"/>
              </a:rPr>
              <a:t>for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key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-20" dirty="0">
                <a:latin typeface="Tahoma"/>
                <a:cs typeface="Tahoma"/>
              </a:rPr>
              <a:t>at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leaf</a:t>
            </a:r>
            <a:r>
              <a:rPr sz="2300" spc="-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3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particular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branch.</a:t>
            </a:r>
            <a:r>
              <a:rPr sz="2300" spc="-145" dirty="0">
                <a:latin typeface="Tahoma"/>
                <a:cs typeface="Tahoma"/>
              </a:rPr>
              <a:t> </a:t>
            </a:r>
            <a:r>
              <a:rPr sz="2300" spc="-160" dirty="0">
                <a:latin typeface="Tahoma"/>
                <a:cs typeface="Tahoma"/>
              </a:rPr>
              <a:t>If</a:t>
            </a:r>
            <a:r>
              <a:rPr sz="2300" spc="2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key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30" dirty="0">
                <a:latin typeface="Tahoma"/>
                <a:cs typeface="Tahoma"/>
              </a:rPr>
              <a:t>not 	</a:t>
            </a:r>
            <a:r>
              <a:rPr sz="2300" spc="50" dirty="0">
                <a:latin typeface="Tahoma"/>
                <a:cs typeface="Tahoma"/>
              </a:rPr>
              <a:t>found,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1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searcher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retraces</a:t>
            </a:r>
            <a:r>
              <a:rPr sz="2300" spc="-1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its</a:t>
            </a:r>
            <a:r>
              <a:rPr sz="2300" spc="-2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steps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back</a:t>
            </a:r>
            <a:r>
              <a:rPr sz="2300" spc="-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(backtracking)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35" dirty="0">
                <a:latin typeface="Tahoma"/>
                <a:cs typeface="Tahoma"/>
              </a:rPr>
              <a:t>to 	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point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from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where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other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branch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was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left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unexplored, 	</a:t>
            </a:r>
            <a:r>
              <a:rPr sz="2300" spc="80" dirty="0">
                <a:latin typeface="Tahoma"/>
                <a:cs typeface="Tahoma"/>
              </a:rPr>
              <a:t>and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same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spc="90" dirty="0">
                <a:latin typeface="Tahoma"/>
                <a:cs typeface="Tahoma"/>
              </a:rPr>
              <a:t>procedure</a:t>
            </a:r>
            <a:r>
              <a:rPr sz="2300" spc="-1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70" dirty="0">
                <a:latin typeface="Tahoma"/>
                <a:cs typeface="Tahoma"/>
              </a:rPr>
              <a:t>repeated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for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that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other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branch.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3004" y="1053845"/>
            <a:ext cx="9265285" cy="1673860"/>
            <a:chOff x="413004" y="1053845"/>
            <a:chExt cx="9265285" cy="1673860"/>
          </a:xfrm>
        </p:grpSpPr>
        <p:sp>
          <p:nvSpPr>
            <p:cNvPr id="3" name="object 3"/>
            <p:cNvSpPr/>
            <p:nvPr/>
          </p:nvSpPr>
          <p:spPr>
            <a:xfrm>
              <a:off x="461771" y="1057655"/>
              <a:ext cx="9212580" cy="1666239"/>
            </a:xfrm>
            <a:custGeom>
              <a:avLst/>
              <a:gdLst/>
              <a:ahLst/>
              <a:cxnLst/>
              <a:rect l="l" t="t" r="r" b="b"/>
              <a:pathLst>
                <a:path w="9212580" h="1666239">
                  <a:moveTo>
                    <a:pt x="0" y="0"/>
                  </a:moveTo>
                  <a:lnTo>
                    <a:pt x="9212579" y="0"/>
                  </a:lnTo>
                  <a:lnTo>
                    <a:pt x="9212579" y="1665731"/>
                  </a:lnTo>
                  <a:lnTo>
                    <a:pt x="0" y="1665731"/>
                  </a:lnTo>
                  <a:lnTo>
                    <a:pt x="0" y="0"/>
                  </a:lnTo>
                  <a:close/>
                </a:path>
              </a:pathLst>
            </a:custGeom>
            <a:ln w="7619">
              <a:solidFill>
                <a:srgbClr val="E9E9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3004" y="1708403"/>
              <a:ext cx="105410" cy="581025"/>
            </a:xfrm>
            <a:custGeom>
              <a:avLst/>
              <a:gdLst/>
              <a:ahLst/>
              <a:cxnLst/>
              <a:rect l="l" t="t" r="r" b="b"/>
              <a:pathLst>
                <a:path w="105409" h="581025">
                  <a:moveTo>
                    <a:pt x="105155" y="0"/>
                  </a:moveTo>
                  <a:lnTo>
                    <a:pt x="0" y="0"/>
                  </a:lnTo>
                  <a:lnTo>
                    <a:pt x="0" y="580644"/>
                  </a:lnTo>
                  <a:lnTo>
                    <a:pt x="105155" y="580644"/>
                  </a:lnTo>
                  <a:lnTo>
                    <a:pt x="105155" y="0"/>
                  </a:lnTo>
                  <a:close/>
                </a:path>
              </a:pathLst>
            </a:custGeom>
            <a:solidFill>
              <a:srgbClr val="F5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58033" y="3406927"/>
            <a:ext cx="3103245" cy="11715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270"/>
              </a:lnSpc>
              <a:spcBef>
                <a:spcPts val="640"/>
              </a:spcBef>
            </a:pPr>
            <a:r>
              <a:rPr sz="3950" b="1" spc="-10" dirty="0">
                <a:latin typeface="Tahoma"/>
                <a:cs typeface="Tahoma"/>
              </a:rPr>
              <a:t>Depth</a:t>
            </a:r>
            <a:r>
              <a:rPr sz="3950" b="1" spc="-250" dirty="0">
                <a:latin typeface="Tahoma"/>
                <a:cs typeface="Tahoma"/>
              </a:rPr>
              <a:t> </a:t>
            </a:r>
            <a:r>
              <a:rPr sz="3950" b="1" spc="-20" dirty="0">
                <a:latin typeface="Tahoma"/>
                <a:cs typeface="Tahoma"/>
              </a:rPr>
              <a:t>First </a:t>
            </a:r>
            <a:r>
              <a:rPr sz="3950" b="1" spc="-135" dirty="0">
                <a:latin typeface="Tahoma"/>
                <a:cs typeface="Tahoma"/>
              </a:rPr>
              <a:t>Search</a:t>
            </a:r>
            <a:r>
              <a:rPr sz="3950" b="1" spc="-145" dirty="0">
                <a:latin typeface="Tahoma"/>
                <a:cs typeface="Tahoma"/>
              </a:rPr>
              <a:t> </a:t>
            </a:r>
            <a:r>
              <a:rPr sz="3950" b="1" spc="-190" dirty="0">
                <a:latin typeface="Tahoma"/>
                <a:cs typeface="Tahoma"/>
              </a:rPr>
              <a:t>(DFS)</a:t>
            </a:r>
            <a:endParaRPr sz="39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7284" y="1502663"/>
            <a:ext cx="5279136" cy="435559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Depth</a:t>
            </a:r>
            <a:r>
              <a:rPr spc="-180" dirty="0"/>
              <a:t> </a:t>
            </a:r>
            <a:r>
              <a:rPr spc="-110" dirty="0"/>
              <a:t>First</a:t>
            </a:r>
            <a:r>
              <a:rPr spc="-135" dirty="0"/>
              <a:t> </a:t>
            </a:r>
            <a:r>
              <a:rPr spc="-110" dirty="0"/>
              <a:t>Search</a:t>
            </a:r>
            <a:r>
              <a:rPr spc="-135" dirty="0"/>
              <a:t> (DFS)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2977895"/>
            <a:ext cx="7437120" cy="315467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Depth</a:t>
            </a:r>
            <a:r>
              <a:rPr spc="-180" dirty="0"/>
              <a:t> </a:t>
            </a:r>
            <a:r>
              <a:rPr spc="-110" dirty="0"/>
              <a:t>First</a:t>
            </a:r>
            <a:r>
              <a:rPr spc="-135" dirty="0"/>
              <a:t> </a:t>
            </a:r>
            <a:r>
              <a:rPr spc="-110" dirty="0"/>
              <a:t>Search</a:t>
            </a:r>
            <a:r>
              <a:rPr spc="-135" dirty="0"/>
              <a:t> (DFS)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39" y="3191255"/>
            <a:ext cx="7298435" cy="310438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Depth</a:t>
            </a:r>
            <a:r>
              <a:rPr spc="-180" dirty="0"/>
              <a:t> </a:t>
            </a:r>
            <a:r>
              <a:rPr spc="-110" dirty="0"/>
              <a:t>First</a:t>
            </a:r>
            <a:r>
              <a:rPr spc="-135" dirty="0"/>
              <a:t> </a:t>
            </a:r>
            <a:r>
              <a:rPr spc="-110" dirty="0"/>
              <a:t>Search</a:t>
            </a:r>
            <a:r>
              <a:rPr spc="-135" dirty="0"/>
              <a:t> (DFS)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71600" y="2871216"/>
            <a:ext cx="7315200" cy="3586479"/>
            <a:chOff x="1371600" y="2871216"/>
            <a:chExt cx="7315200" cy="35864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0" y="2871216"/>
              <a:ext cx="7315200" cy="35859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19728" y="4605527"/>
              <a:ext cx="1228725" cy="302260"/>
            </a:xfrm>
            <a:custGeom>
              <a:avLst/>
              <a:gdLst/>
              <a:ahLst/>
              <a:cxnLst/>
              <a:rect l="l" t="t" r="r" b="b"/>
              <a:pathLst>
                <a:path w="1228725" h="302260">
                  <a:moveTo>
                    <a:pt x="181356" y="252984"/>
                  </a:moveTo>
                  <a:lnTo>
                    <a:pt x="176784" y="248412"/>
                  </a:lnTo>
                  <a:lnTo>
                    <a:pt x="164592" y="248412"/>
                  </a:lnTo>
                  <a:lnTo>
                    <a:pt x="160020" y="252984"/>
                  </a:lnTo>
                  <a:lnTo>
                    <a:pt x="160020" y="263652"/>
                  </a:lnTo>
                  <a:lnTo>
                    <a:pt x="164592" y="268224"/>
                  </a:lnTo>
                  <a:lnTo>
                    <a:pt x="176784" y="268224"/>
                  </a:lnTo>
                  <a:lnTo>
                    <a:pt x="181356" y="263652"/>
                  </a:lnTo>
                  <a:lnTo>
                    <a:pt x="181356" y="257556"/>
                  </a:lnTo>
                  <a:lnTo>
                    <a:pt x="181356" y="252984"/>
                  </a:lnTo>
                  <a:close/>
                </a:path>
                <a:path w="1228725" h="302260">
                  <a:moveTo>
                    <a:pt x="265176" y="15240"/>
                  </a:moveTo>
                  <a:lnTo>
                    <a:pt x="263652" y="6096"/>
                  </a:lnTo>
                  <a:lnTo>
                    <a:pt x="263652" y="3048"/>
                  </a:lnTo>
                  <a:lnTo>
                    <a:pt x="260604" y="0"/>
                  </a:lnTo>
                  <a:lnTo>
                    <a:pt x="254508" y="0"/>
                  </a:lnTo>
                  <a:lnTo>
                    <a:pt x="251460" y="1524"/>
                  </a:lnTo>
                  <a:lnTo>
                    <a:pt x="249936" y="4572"/>
                  </a:lnTo>
                  <a:lnTo>
                    <a:pt x="246888" y="12192"/>
                  </a:lnTo>
                  <a:lnTo>
                    <a:pt x="246888" y="13716"/>
                  </a:lnTo>
                  <a:lnTo>
                    <a:pt x="242316" y="28956"/>
                  </a:lnTo>
                  <a:lnTo>
                    <a:pt x="239268" y="38100"/>
                  </a:lnTo>
                  <a:lnTo>
                    <a:pt x="236220" y="42672"/>
                  </a:lnTo>
                  <a:lnTo>
                    <a:pt x="234696" y="47244"/>
                  </a:lnTo>
                  <a:lnTo>
                    <a:pt x="231648" y="51816"/>
                  </a:lnTo>
                  <a:lnTo>
                    <a:pt x="231648" y="50292"/>
                  </a:lnTo>
                  <a:lnTo>
                    <a:pt x="213360" y="77724"/>
                  </a:lnTo>
                  <a:lnTo>
                    <a:pt x="214884" y="76200"/>
                  </a:lnTo>
                  <a:lnTo>
                    <a:pt x="199644" y="94488"/>
                  </a:lnTo>
                  <a:lnTo>
                    <a:pt x="157670" y="140970"/>
                  </a:lnTo>
                  <a:lnTo>
                    <a:pt x="158496" y="140208"/>
                  </a:lnTo>
                  <a:lnTo>
                    <a:pt x="156972" y="141732"/>
                  </a:lnTo>
                  <a:lnTo>
                    <a:pt x="157670" y="140970"/>
                  </a:lnTo>
                  <a:lnTo>
                    <a:pt x="141732" y="155448"/>
                  </a:lnTo>
                  <a:lnTo>
                    <a:pt x="135636" y="160020"/>
                  </a:lnTo>
                  <a:lnTo>
                    <a:pt x="137160" y="160020"/>
                  </a:lnTo>
                  <a:lnTo>
                    <a:pt x="129540" y="164592"/>
                  </a:lnTo>
                  <a:lnTo>
                    <a:pt x="123444" y="169164"/>
                  </a:lnTo>
                  <a:lnTo>
                    <a:pt x="115824" y="172212"/>
                  </a:lnTo>
                  <a:lnTo>
                    <a:pt x="117348" y="172212"/>
                  </a:lnTo>
                  <a:lnTo>
                    <a:pt x="109728" y="176784"/>
                  </a:lnTo>
                  <a:lnTo>
                    <a:pt x="111252" y="175260"/>
                  </a:lnTo>
                  <a:lnTo>
                    <a:pt x="102108" y="178308"/>
                  </a:lnTo>
                  <a:lnTo>
                    <a:pt x="103632" y="178308"/>
                  </a:lnTo>
                  <a:lnTo>
                    <a:pt x="100584" y="179832"/>
                  </a:lnTo>
                  <a:lnTo>
                    <a:pt x="100584" y="178308"/>
                  </a:lnTo>
                  <a:lnTo>
                    <a:pt x="97536" y="179832"/>
                  </a:lnTo>
                  <a:lnTo>
                    <a:pt x="92964" y="179832"/>
                  </a:lnTo>
                  <a:lnTo>
                    <a:pt x="89916" y="181356"/>
                  </a:lnTo>
                  <a:lnTo>
                    <a:pt x="82296" y="181356"/>
                  </a:lnTo>
                  <a:lnTo>
                    <a:pt x="57912" y="178308"/>
                  </a:lnTo>
                  <a:lnTo>
                    <a:pt x="48768" y="176784"/>
                  </a:lnTo>
                  <a:lnTo>
                    <a:pt x="21336" y="173736"/>
                  </a:lnTo>
                  <a:lnTo>
                    <a:pt x="10668" y="172212"/>
                  </a:lnTo>
                  <a:lnTo>
                    <a:pt x="7620" y="172212"/>
                  </a:lnTo>
                  <a:lnTo>
                    <a:pt x="4572" y="175260"/>
                  </a:lnTo>
                  <a:lnTo>
                    <a:pt x="3048" y="178308"/>
                  </a:lnTo>
                  <a:lnTo>
                    <a:pt x="0" y="181356"/>
                  </a:lnTo>
                  <a:lnTo>
                    <a:pt x="0" y="184404"/>
                  </a:lnTo>
                  <a:lnTo>
                    <a:pt x="3048" y="190500"/>
                  </a:lnTo>
                  <a:lnTo>
                    <a:pt x="7620" y="193548"/>
                  </a:lnTo>
                  <a:lnTo>
                    <a:pt x="18288" y="193548"/>
                  </a:lnTo>
                  <a:lnTo>
                    <a:pt x="45720" y="196596"/>
                  </a:lnTo>
                  <a:lnTo>
                    <a:pt x="54864" y="199644"/>
                  </a:lnTo>
                  <a:lnTo>
                    <a:pt x="79248" y="201168"/>
                  </a:lnTo>
                  <a:lnTo>
                    <a:pt x="97536" y="201168"/>
                  </a:lnTo>
                  <a:lnTo>
                    <a:pt x="99060" y="199644"/>
                  </a:lnTo>
                  <a:lnTo>
                    <a:pt x="105156" y="199644"/>
                  </a:lnTo>
                  <a:lnTo>
                    <a:pt x="105156" y="198120"/>
                  </a:lnTo>
                  <a:lnTo>
                    <a:pt x="109728" y="198120"/>
                  </a:lnTo>
                  <a:lnTo>
                    <a:pt x="117348" y="195072"/>
                  </a:lnTo>
                  <a:lnTo>
                    <a:pt x="118872" y="193548"/>
                  </a:lnTo>
                  <a:lnTo>
                    <a:pt x="126492" y="190500"/>
                  </a:lnTo>
                  <a:lnTo>
                    <a:pt x="134112" y="185928"/>
                  </a:lnTo>
                  <a:lnTo>
                    <a:pt x="140208" y="181356"/>
                  </a:lnTo>
                  <a:lnTo>
                    <a:pt x="147828" y="176784"/>
                  </a:lnTo>
                  <a:lnTo>
                    <a:pt x="155448" y="170688"/>
                  </a:lnTo>
                  <a:lnTo>
                    <a:pt x="172212" y="155448"/>
                  </a:lnTo>
                  <a:lnTo>
                    <a:pt x="184594" y="141732"/>
                  </a:lnTo>
                  <a:lnTo>
                    <a:pt x="185966" y="140208"/>
                  </a:lnTo>
                  <a:lnTo>
                    <a:pt x="214884" y="108204"/>
                  </a:lnTo>
                  <a:lnTo>
                    <a:pt x="222504" y="97536"/>
                  </a:lnTo>
                  <a:lnTo>
                    <a:pt x="224028" y="97536"/>
                  </a:lnTo>
                  <a:lnTo>
                    <a:pt x="230124" y="89916"/>
                  </a:lnTo>
                  <a:lnTo>
                    <a:pt x="230124" y="88392"/>
                  </a:lnTo>
                  <a:lnTo>
                    <a:pt x="238721" y="76200"/>
                  </a:lnTo>
                  <a:lnTo>
                    <a:pt x="248412" y="62484"/>
                  </a:lnTo>
                  <a:lnTo>
                    <a:pt x="249936" y="60960"/>
                  </a:lnTo>
                  <a:lnTo>
                    <a:pt x="252984" y="56388"/>
                  </a:lnTo>
                  <a:lnTo>
                    <a:pt x="254508" y="51816"/>
                  </a:lnTo>
                  <a:lnTo>
                    <a:pt x="254508" y="50292"/>
                  </a:lnTo>
                  <a:lnTo>
                    <a:pt x="257556" y="45720"/>
                  </a:lnTo>
                  <a:lnTo>
                    <a:pt x="259080" y="41148"/>
                  </a:lnTo>
                  <a:lnTo>
                    <a:pt x="259080" y="39624"/>
                  </a:lnTo>
                  <a:lnTo>
                    <a:pt x="260604" y="35052"/>
                  </a:lnTo>
                  <a:lnTo>
                    <a:pt x="265176" y="18288"/>
                  </a:lnTo>
                  <a:lnTo>
                    <a:pt x="265176" y="15240"/>
                  </a:lnTo>
                  <a:close/>
                </a:path>
                <a:path w="1228725" h="302260">
                  <a:moveTo>
                    <a:pt x="1228344" y="286512"/>
                  </a:moveTo>
                  <a:lnTo>
                    <a:pt x="1223772" y="281940"/>
                  </a:lnTo>
                  <a:lnTo>
                    <a:pt x="1213104" y="281940"/>
                  </a:lnTo>
                  <a:lnTo>
                    <a:pt x="1208532" y="286512"/>
                  </a:lnTo>
                  <a:lnTo>
                    <a:pt x="1208532" y="297180"/>
                  </a:lnTo>
                  <a:lnTo>
                    <a:pt x="1213104" y="301752"/>
                  </a:lnTo>
                  <a:lnTo>
                    <a:pt x="1223772" y="301752"/>
                  </a:lnTo>
                  <a:lnTo>
                    <a:pt x="1228344" y="297180"/>
                  </a:lnTo>
                  <a:lnTo>
                    <a:pt x="1228344" y="291084"/>
                  </a:lnTo>
                  <a:lnTo>
                    <a:pt x="1228344" y="286512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2059" y="4602480"/>
              <a:ext cx="185927" cy="1386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Depth</a:t>
            </a:r>
            <a:r>
              <a:rPr spc="-180" dirty="0"/>
              <a:t> </a:t>
            </a:r>
            <a:r>
              <a:rPr spc="-110" dirty="0"/>
              <a:t>First</a:t>
            </a:r>
            <a:r>
              <a:rPr spc="-135" dirty="0"/>
              <a:t> </a:t>
            </a:r>
            <a:r>
              <a:rPr spc="-110" dirty="0"/>
              <a:t>Search</a:t>
            </a:r>
            <a:r>
              <a:rPr spc="-135" dirty="0"/>
              <a:t> (DFS)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4359" y="2883407"/>
            <a:ext cx="8106409" cy="3386454"/>
            <a:chOff x="594359" y="2883407"/>
            <a:chExt cx="8106409" cy="338645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59" y="2883407"/>
              <a:ext cx="8106156" cy="338632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18360" y="3294887"/>
              <a:ext cx="848994" cy="882650"/>
            </a:xfrm>
            <a:custGeom>
              <a:avLst/>
              <a:gdLst/>
              <a:ahLst/>
              <a:cxnLst/>
              <a:rect l="l" t="t" r="r" b="b"/>
              <a:pathLst>
                <a:path w="848994" h="882650">
                  <a:moveTo>
                    <a:pt x="217932" y="870204"/>
                  </a:moveTo>
                  <a:lnTo>
                    <a:pt x="216408" y="867156"/>
                  </a:lnTo>
                  <a:lnTo>
                    <a:pt x="213360" y="865632"/>
                  </a:lnTo>
                  <a:lnTo>
                    <a:pt x="207264" y="864108"/>
                  </a:lnTo>
                  <a:lnTo>
                    <a:pt x="204216" y="862584"/>
                  </a:lnTo>
                  <a:lnTo>
                    <a:pt x="7620" y="862584"/>
                  </a:lnTo>
                  <a:lnTo>
                    <a:pt x="3048" y="864108"/>
                  </a:lnTo>
                  <a:lnTo>
                    <a:pt x="0" y="870204"/>
                  </a:lnTo>
                  <a:lnTo>
                    <a:pt x="0" y="874776"/>
                  </a:lnTo>
                  <a:lnTo>
                    <a:pt x="3048" y="880872"/>
                  </a:lnTo>
                  <a:lnTo>
                    <a:pt x="7620" y="882396"/>
                  </a:lnTo>
                  <a:lnTo>
                    <a:pt x="10668" y="882396"/>
                  </a:lnTo>
                  <a:lnTo>
                    <a:pt x="207264" y="882396"/>
                  </a:lnTo>
                  <a:lnTo>
                    <a:pt x="213360" y="879348"/>
                  </a:lnTo>
                  <a:lnTo>
                    <a:pt x="216408" y="879348"/>
                  </a:lnTo>
                  <a:lnTo>
                    <a:pt x="217932" y="876300"/>
                  </a:lnTo>
                  <a:lnTo>
                    <a:pt x="217932" y="870204"/>
                  </a:lnTo>
                  <a:close/>
                </a:path>
                <a:path w="848994" h="882650">
                  <a:moveTo>
                    <a:pt x="848868" y="94488"/>
                  </a:moveTo>
                  <a:lnTo>
                    <a:pt x="847344" y="91440"/>
                  </a:lnTo>
                  <a:lnTo>
                    <a:pt x="847344" y="88392"/>
                  </a:lnTo>
                  <a:lnTo>
                    <a:pt x="845820" y="83820"/>
                  </a:lnTo>
                  <a:lnTo>
                    <a:pt x="844804" y="82296"/>
                  </a:lnTo>
                  <a:lnTo>
                    <a:pt x="844067" y="81216"/>
                  </a:lnTo>
                  <a:lnTo>
                    <a:pt x="843686" y="79248"/>
                  </a:lnTo>
                  <a:lnTo>
                    <a:pt x="843381" y="77724"/>
                  </a:lnTo>
                  <a:lnTo>
                    <a:pt x="842772" y="74676"/>
                  </a:lnTo>
                  <a:lnTo>
                    <a:pt x="842772" y="4572"/>
                  </a:lnTo>
                  <a:lnTo>
                    <a:pt x="838200" y="0"/>
                  </a:lnTo>
                  <a:lnTo>
                    <a:pt x="827532" y="0"/>
                  </a:lnTo>
                  <a:lnTo>
                    <a:pt x="822960" y="4572"/>
                  </a:lnTo>
                  <a:lnTo>
                    <a:pt x="822960" y="79248"/>
                  </a:lnTo>
                  <a:lnTo>
                    <a:pt x="824484" y="86868"/>
                  </a:lnTo>
                  <a:lnTo>
                    <a:pt x="824484" y="89916"/>
                  </a:lnTo>
                  <a:lnTo>
                    <a:pt x="829056" y="94488"/>
                  </a:lnTo>
                  <a:lnTo>
                    <a:pt x="830580" y="97536"/>
                  </a:lnTo>
                  <a:lnTo>
                    <a:pt x="832104" y="99060"/>
                  </a:lnTo>
                  <a:lnTo>
                    <a:pt x="835152" y="100584"/>
                  </a:lnTo>
                  <a:lnTo>
                    <a:pt x="844296" y="100584"/>
                  </a:lnTo>
                  <a:lnTo>
                    <a:pt x="845820" y="97536"/>
                  </a:lnTo>
                  <a:lnTo>
                    <a:pt x="848868" y="94488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Depth</a:t>
            </a:r>
            <a:r>
              <a:rPr spc="-180" dirty="0"/>
              <a:t> </a:t>
            </a:r>
            <a:r>
              <a:rPr spc="-110" dirty="0"/>
              <a:t>First</a:t>
            </a:r>
            <a:r>
              <a:rPr spc="-135" dirty="0"/>
              <a:t> </a:t>
            </a:r>
            <a:r>
              <a:rPr spc="-110" dirty="0"/>
              <a:t>Search</a:t>
            </a:r>
            <a:r>
              <a:rPr spc="-135" dirty="0"/>
              <a:t> (DFS)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7467" y="3086100"/>
            <a:ext cx="7156704" cy="330098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Depth</a:t>
            </a:r>
            <a:r>
              <a:rPr spc="-180" dirty="0"/>
              <a:t> </a:t>
            </a:r>
            <a:r>
              <a:rPr spc="-110" dirty="0"/>
              <a:t>First</a:t>
            </a:r>
            <a:r>
              <a:rPr spc="-135" dirty="0"/>
              <a:t> </a:t>
            </a:r>
            <a:r>
              <a:rPr spc="-110" dirty="0"/>
              <a:t>Search</a:t>
            </a:r>
            <a:r>
              <a:rPr spc="-135" dirty="0"/>
              <a:t> (DFS)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175" y="2994660"/>
            <a:ext cx="7552944" cy="338785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Depth</a:t>
            </a:r>
            <a:r>
              <a:rPr spc="-180" dirty="0"/>
              <a:t> </a:t>
            </a:r>
            <a:r>
              <a:rPr spc="-110" dirty="0"/>
              <a:t>First</a:t>
            </a:r>
            <a:r>
              <a:rPr spc="-135" dirty="0"/>
              <a:t> </a:t>
            </a:r>
            <a:r>
              <a:rPr spc="-110" dirty="0"/>
              <a:t>Search</a:t>
            </a:r>
            <a:r>
              <a:rPr spc="-135" dirty="0"/>
              <a:t> (DFS)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6463" y="2878835"/>
            <a:ext cx="6650736" cy="35128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Depth</a:t>
            </a:r>
            <a:r>
              <a:rPr spc="-180" dirty="0"/>
              <a:t> </a:t>
            </a:r>
            <a:r>
              <a:rPr spc="-110" dirty="0"/>
              <a:t>First</a:t>
            </a:r>
            <a:r>
              <a:rPr spc="-135" dirty="0"/>
              <a:t> </a:t>
            </a:r>
            <a:r>
              <a:rPr spc="-110" dirty="0"/>
              <a:t>Search</a:t>
            </a:r>
            <a:r>
              <a:rPr spc="-135" dirty="0"/>
              <a:t> (DFS)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862072"/>
            <a:ext cx="7360920" cy="319277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Depth</a:t>
            </a:r>
            <a:r>
              <a:rPr spc="-180" dirty="0"/>
              <a:t> </a:t>
            </a:r>
            <a:r>
              <a:rPr spc="-110" dirty="0"/>
              <a:t>First</a:t>
            </a:r>
            <a:r>
              <a:rPr spc="-135" dirty="0"/>
              <a:t> </a:t>
            </a:r>
            <a:r>
              <a:rPr spc="-110" dirty="0"/>
              <a:t>Search</a:t>
            </a:r>
            <a:r>
              <a:rPr spc="-135" dirty="0"/>
              <a:t> (DFS)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84020" y="2924555"/>
            <a:ext cx="6936105" cy="3133725"/>
            <a:chOff x="1684020" y="2924555"/>
            <a:chExt cx="6936105" cy="31337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4020" y="2924555"/>
              <a:ext cx="6088380" cy="31333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23944" y="3759453"/>
              <a:ext cx="156971" cy="1435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299204" y="3520439"/>
              <a:ext cx="800100" cy="579120"/>
            </a:xfrm>
            <a:custGeom>
              <a:avLst/>
              <a:gdLst/>
              <a:ahLst/>
              <a:cxnLst/>
              <a:rect l="l" t="t" r="r" b="b"/>
              <a:pathLst>
                <a:path w="800100" h="579120">
                  <a:moveTo>
                    <a:pt x="33528" y="562356"/>
                  </a:moveTo>
                  <a:lnTo>
                    <a:pt x="29222" y="537972"/>
                  </a:lnTo>
                  <a:lnTo>
                    <a:pt x="28956" y="536448"/>
                  </a:lnTo>
                  <a:lnTo>
                    <a:pt x="28956" y="537972"/>
                  </a:lnTo>
                  <a:lnTo>
                    <a:pt x="25908" y="518160"/>
                  </a:lnTo>
                  <a:lnTo>
                    <a:pt x="21336" y="483108"/>
                  </a:lnTo>
                  <a:lnTo>
                    <a:pt x="19989" y="472440"/>
                  </a:lnTo>
                  <a:lnTo>
                    <a:pt x="19812" y="470916"/>
                  </a:lnTo>
                  <a:lnTo>
                    <a:pt x="19812" y="28956"/>
                  </a:lnTo>
                  <a:lnTo>
                    <a:pt x="15240" y="24384"/>
                  </a:lnTo>
                  <a:lnTo>
                    <a:pt x="4572" y="24384"/>
                  </a:lnTo>
                  <a:lnTo>
                    <a:pt x="0" y="28956"/>
                  </a:lnTo>
                  <a:lnTo>
                    <a:pt x="0" y="486156"/>
                  </a:lnTo>
                  <a:lnTo>
                    <a:pt x="4572" y="521208"/>
                  </a:lnTo>
                  <a:lnTo>
                    <a:pt x="7620" y="541020"/>
                  </a:lnTo>
                  <a:lnTo>
                    <a:pt x="13716" y="565404"/>
                  </a:lnTo>
                  <a:lnTo>
                    <a:pt x="19812" y="577596"/>
                  </a:lnTo>
                  <a:lnTo>
                    <a:pt x="22860" y="579120"/>
                  </a:lnTo>
                  <a:lnTo>
                    <a:pt x="25908" y="577596"/>
                  </a:lnTo>
                  <a:lnTo>
                    <a:pt x="30480" y="577596"/>
                  </a:lnTo>
                  <a:lnTo>
                    <a:pt x="32004" y="574548"/>
                  </a:lnTo>
                  <a:lnTo>
                    <a:pt x="32004" y="571500"/>
                  </a:lnTo>
                  <a:lnTo>
                    <a:pt x="33528" y="565404"/>
                  </a:lnTo>
                  <a:lnTo>
                    <a:pt x="33528" y="562356"/>
                  </a:lnTo>
                  <a:close/>
                </a:path>
                <a:path w="800100" h="579120">
                  <a:moveTo>
                    <a:pt x="800100" y="446532"/>
                  </a:moveTo>
                  <a:lnTo>
                    <a:pt x="797293" y="403186"/>
                  </a:lnTo>
                  <a:lnTo>
                    <a:pt x="797242" y="402348"/>
                  </a:lnTo>
                  <a:lnTo>
                    <a:pt x="797140" y="400812"/>
                  </a:lnTo>
                  <a:lnTo>
                    <a:pt x="797052" y="399288"/>
                  </a:lnTo>
                  <a:lnTo>
                    <a:pt x="790956" y="365760"/>
                  </a:lnTo>
                  <a:lnTo>
                    <a:pt x="786384" y="348996"/>
                  </a:lnTo>
                  <a:lnTo>
                    <a:pt x="779424" y="316992"/>
                  </a:lnTo>
                  <a:lnTo>
                    <a:pt x="778764" y="313944"/>
                  </a:lnTo>
                  <a:lnTo>
                    <a:pt x="778764" y="312420"/>
                  </a:lnTo>
                  <a:lnTo>
                    <a:pt x="745236" y="178308"/>
                  </a:lnTo>
                  <a:lnTo>
                    <a:pt x="745236" y="176784"/>
                  </a:lnTo>
                  <a:lnTo>
                    <a:pt x="727176" y="114300"/>
                  </a:lnTo>
                  <a:lnTo>
                    <a:pt x="725424" y="108204"/>
                  </a:lnTo>
                  <a:lnTo>
                    <a:pt x="715378" y="83820"/>
                  </a:lnTo>
                  <a:lnTo>
                    <a:pt x="714756" y="82296"/>
                  </a:lnTo>
                  <a:lnTo>
                    <a:pt x="714756" y="83820"/>
                  </a:lnTo>
                  <a:lnTo>
                    <a:pt x="712038" y="71628"/>
                  </a:lnTo>
                  <a:lnTo>
                    <a:pt x="711708" y="70104"/>
                  </a:lnTo>
                  <a:lnTo>
                    <a:pt x="711708" y="71628"/>
                  </a:lnTo>
                  <a:lnTo>
                    <a:pt x="710184" y="65532"/>
                  </a:lnTo>
                  <a:lnTo>
                    <a:pt x="708660" y="60960"/>
                  </a:lnTo>
                  <a:lnTo>
                    <a:pt x="710184" y="62484"/>
                  </a:lnTo>
                  <a:lnTo>
                    <a:pt x="709790" y="60960"/>
                  </a:lnTo>
                  <a:lnTo>
                    <a:pt x="708660" y="56388"/>
                  </a:lnTo>
                  <a:lnTo>
                    <a:pt x="708660" y="51816"/>
                  </a:lnTo>
                  <a:lnTo>
                    <a:pt x="707136" y="18288"/>
                  </a:lnTo>
                  <a:lnTo>
                    <a:pt x="707136" y="4572"/>
                  </a:lnTo>
                  <a:lnTo>
                    <a:pt x="702564" y="0"/>
                  </a:lnTo>
                  <a:lnTo>
                    <a:pt x="691896" y="0"/>
                  </a:lnTo>
                  <a:lnTo>
                    <a:pt x="687324" y="4572"/>
                  </a:lnTo>
                  <a:lnTo>
                    <a:pt x="687324" y="53340"/>
                  </a:lnTo>
                  <a:lnTo>
                    <a:pt x="688848" y="59436"/>
                  </a:lnTo>
                  <a:lnTo>
                    <a:pt x="688848" y="65532"/>
                  </a:lnTo>
                  <a:lnTo>
                    <a:pt x="690372" y="70104"/>
                  </a:lnTo>
                  <a:lnTo>
                    <a:pt x="691896" y="76200"/>
                  </a:lnTo>
                  <a:lnTo>
                    <a:pt x="696468" y="89916"/>
                  </a:lnTo>
                  <a:lnTo>
                    <a:pt x="705612" y="115824"/>
                  </a:lnTo>
                  <a:lnTo>
                    <a:pt x="705612" y="114300"/>
                  </a:lnTo>
                  <a:lnTo>
                    <a:pt x="725424" y="182880"/>
                  </a:lnTo>
                  <a:lnTo>
                    <a:pt x="740664" y="243840"/>
                  </a:lnTo>
                  <a:lnTo>
                    <a:pt x="758952" y="318516"/>
                  </a:lnTo>
                  <a:lnTo>
                    <a:pt x="758952" y="316992"/>
                  </a:lnTo>
                  <a:lnTo>
                    <a:pt x="766572" y="353568"/>
                  </a:lnTo>
                  <a:lnTo>
                    <a:pt x="771144" y="370332"/>
                  </a:lnTo>
                  <a:lnTo>
                    <a:pt x="774192" y="385572"/>
                  </a:lnTo>
                  <a:lnTo>
                    <a:pt x="777240" y="402348"/>
                  </a:lnTo>
                  <a:lnTo>
                    <a:pt x="777240" y="400812"/>
                  </a:lnTo>
                  <a:lnTo>
                    <a:pt x="780186" y="446532"/>
                  </a:lnTo>
                  <a:lnTo>
                    <a:pt x="780288" y="475488"/>
                  </a:lnTo>
                  <a:lnTo>
                    <a:pt x="783336" y="481584"/>
                  </a:lnTo>
                  <a:lnTo>
                    <a:pt x="783336" y="484632"/>
                  </a:lnTo>
                  <a:lnTo>
                    <a:pt x="786384" y="486156"/>
                  </a:lnTo>
                  <a:lnTo>
                    <a:pt x="792480" y="486156"/>
                  </a:lnTo>
                  <a:lnTo>
                    <a:pt x="795528" y="484632"/>
                  </a:lnTo>
                  <a:lnTo>
                    <a:pt x="797052" y="481584"/>
                  </a:lnTo>
                  <a:lnTo>
                    <a:pt x="798576" y="475488"/>
                  </a:lnTo>
                  <a:lnTo>
                    <a:pt x="800100" y="472440"/>
                  </a:lnTo>
                  <a:lnTo>
                    <a:pt x="800100" y="446532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09388" y="3952747"/>
              <a:ext cx="996696" cy="4272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87896" y="4820157"/>
              <a:ext cx="147827" cy="23495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048500" y="4812791"/>
              <a:ext cx="20320" cy="21590"/>
            </a:xfrm>
            <a:custGeom>
              <a:avLst/>
              <a:gdLst/>
              <a:ahLst/>
              <a:cxnLst/>
              <a:rect l="l" t="t" r="r" b="b"/>
              <a:pathLst>
                <a:path w="20320" h="21589">
                  <a:moveTo>
                    <a:pt x="15240" y="0"/>
                  </a:moveTo>
                  <a:lnTo>
                    <a:pt x="4572" y="0"/>
                  </a:lnTo>
                  <a:lnTo>
                    <a:pt x="0" y="4571"/>
                  </a:lnTo>
                  <a:lnTo>
                    <a:pt x="0" y="9143"/>
                  </a:lnTo>
                  <a:lnTo>
                    <a:pt x="0" y="16763"/>
                  </a:lnTo>
                  <a:lnTo>
                    <a:pt x="4572" y="21335"/>
                  </a:lnTo>
                  <a:lnTo>
                    <a:pt x="15240" y="21335"/>
                  </a:lnTo>
                  <a:lnTo>
                    <a:pt x="19811" y="16763"/>
                  </a:lnTo>
                  <a:lnTo>
                    <a:pt x="19811" y="4571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71360" y="4794504"/>
              <a:ext cx="347472" cy="2026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65720" y="4678172"/>
              <a:ext cx="954024" cy="3632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75020" y="5474207"/>
              <a:ext cx="1505711" cy="3901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10" dirty="0">
                          <a:latin typeface="Tahoma"/>
                          <a:cs typeface="Tahoma"/>
                        </a:rPr>
                        <a:t>Depth</a:t>
                      </a:r>
                      <a:r>
                        <a:rPr sz="3300" b="1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60" dirty="0">
                          <a:latin typeface="Tahoma"/>
                          <a:cs typeface="Tahoma"/>
                        </a:rPr>
                        <a:t>Limited</a:t>
                      </a:r>
                      <a:r>
                        <a:rPr sz="3300" b="1" spc="-1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4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3300" b="1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Algorithm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348" y="2985643"/>
            <a:ext cx="8197215" cy="255714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00660" algn="l"/>
              </a:tabLst>
            </a:pPr>
            <a:r>
              <a:rPr sz="2300" spc="-90" dirty="0">
                <a:latin typeface="Tahoma"/>
                <a:cs typeface="Tahoma"/>
              </a:rPr>
              <a:t>It’s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modification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20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Depth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First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13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Algorithm.</a:t>
            </a:r>
            <a:endParaRPr sz="2300">
              <a:latin typeface="Tahoma"/>
              <a:cs typeface="Tahoma"/>
            </a:endParaRPr>
          </a:p>
          <a:p>
            <a:pPr marL="200025" marR="5080" indent="-187960">
              <a:lnSpc>
                <a:spcPct val="110500"/>
              </a:lnSpc>
              <a:spcBef>
                <a:spcPts val="81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spc="229" dirty="0">
                <a:latin typeface="Tahoma"/>
                <a:cs typeface="Tahoma"/>
              </a:rPr>
              <a:t>A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depth-limited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algorithm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similar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depth-</a:t>
            </a:r>
            <a:r>
              <a:rPr sz="2300" spc="-10" dirty="0">
                <a:latin typeface="Tahoma"/>
                <a:cs typeface="Tahoma"/>
              </a:rPr>
              <a:t>first 	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with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predetermined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limit.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Depth-</a:t>
            </a:r>
            <a:r>
              <a:rPr sz="2300" spc="65" dirty="0">
                <a:latin typeface="Tahoma"/>
                <a:cs typeface="Tahoma"/>
              </a:rPr>
              <a:t>limited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25" dirty="0">
                <a:latin typeface="Tahoma"/>
                <a:cs typeface="Tahoma"/>
              </a:rPr>
              <a:t>can 	</a:t>
            </a:r>
            <a:r>
              <a:rPr sz="2300" spc="60" dirty="0">
                <a:latin typeface="Tahoma"/>
                <a:cs typeface="Tahoma"/>
              </a:rPr>
              <a:t>solve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drawback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1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infinite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path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in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3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Depth-</a:t>
            </a:r>
            <a:r>
              <a:rPr sz="2300" spc="-10" dirty="0">
                <a:latin typeface="Tahoma"/>
                <a:cs typeface="Tahoma"/>
              </a:rPr>
              <a:t>first 	</a:t>
            </a:r>
            <a:r>
              <a:rPr sz="2300" dirty="0">
                <a:latin typeface="Tahoma"/>
                <a:cs typeface="Tahoma"/>
              </a:rPr>
              <a:t>search.</a:t>
            </a:r>
            <a:r>
              <a:rPr sz="2300" spc="-140" dirty="0">
                <a:latin typeface="Tahoma"/>
                <a:cs typeface="Tahoma"/>
              </a:rPr>
              <a:t> </a:t>
            </a:r>
            <a:r>
              <a:rPr sz="2300" spc="-110" dirty="0">
                <a:latin typeface="Tahoma"/>
                <a:cs typeface="Tahoma"/>
              </a:rPr>
              <a:t>In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this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algorithm,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125" dirty="0">
                <a:latin typeface="Tahoma"/>
                <a:cs typeface="Tahoma"/>
              </a:rPr>
              <a:t>node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spc="-20" dirty="0">
                <a:latin typeface="Tahoma"/>
                <a:cs typeface="Tahoma"/>
              </a:rPr>
              <a:t>at</a:t>
            </a:r>
            <a:r>
              <a:rPr sz="2300" spc="-2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25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depth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limit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-20" dirty="0">
                <a:latin typeface="Tahoma"/>
                <a:cs typeface="Tahoma"/>
              </a:rPr>
              <a:t>will 	</a:t>
            </a:r>
            <a:r>
              <a:rPr sz="2300" spc="-10" dirty="0">
                <a:latin typeface="Tahoma"/>
                <a:cs typeface="Tahoma"/>
              </a:rPr>
              <a:t>treat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as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it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has</a:t>
            </a:r>
            <a:r>
              <a:rPr sz="2300" spc="-140" dirty="0">
                <a:latin typeface="Tahoma"/>
                <a:cs typeface="Tahoma"/>
              </a:rPr>
              <a:t> </a:t>
            </a:r>
            <a:r>
              <a:rPr sz="2300" spc="100" dirty="0">
                <a:latin typeface="Tahoma"/>
                <a:cs typeface="Tahoma"/>
              </a:rPr>
              <a:t>no</a:t>
            </a:r>
            <a:r>
              <a:rPr sz="2300" spc="-14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successor</a:t>
            </a:r>
            <a:r>
              <a:rPr sz="2300" spc="-165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nodes</a:t>
            </a:r>
            <a:r>
              <a:rPr sz="2300" spc="-14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further.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3959" y="1718515"/>
            <a:ext cx="819658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-30" dirty="0"/>
              <a:t>Problem</a:t>
            </a:r>
            <a:r>
              <a:rPr sz="2950" spc="-190" dirty="0"/>
              <a:t> </a:t>
            </a:r>
            <a:r>
              <a:rPr sz="2950" spc="-10" dirty="0"/>
              <a:t>in</a:t>
            </a:r>
            <a:r>
              <a:rPr sz="2950" spc="-160" dirty="0"/>
              <a:t> </a:t>
            </a:r>
            <a:r>
              <a:rPr sz="2950" dirty="0"/>
              <a:t>Depth</a:t>
            </a:r>
            <a:r>
              <a:rPr sz="2950" spc="-160" dirty="0"/>
              <a:t> </a:t>
            </a:r>
            <a:r>
              <a:rPr sz="2950" spc="-85" dirty="0"/>
              <a:t>Search</a:t>
            </a:r>
            <a:r>
              <a:rPr sz="2950" spc="-204" dirty="0"/>
              <a:t> </a:t>
            </a:r>
            <a:r>
              <a:rPr sz="2950" spc="-10" dirty="0"/>
              <a:t>Algorithm</a:t>
            </a:r>
            <a:r>
              <a:rPr sz="2950" spc="-170" dirty="0"/>
              <a:t> </a:t>
            </a:r>
            <a:r>
              <a:rPr sz="2950" spc="-10" dirty="0"/>
              <a:t>Example</a:t>
            </a:r>
            <a:endParaRPr sz="2950"/>
          </a:p>
        </p:txBody>
      </p:sp>
      <p:grpSp>
        <p:nvGrpSpPr>
          <p:cNvPr id="3" name="object 3"/>
          <p:cNvGrpSpPr/>
          <p:nvPr/>
        </p:nvGrpSpPr>
        <p:grpSpPr>
          <a:xfrm>
            <a:off x="396240" y="2290572"/>
            <a:ext cx="9363710" cy="3817620"/>
            <a:chOff x="396240" y="2290572"/>
            <a:chExt cx="9363710" cy="38176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240" y="2609088"/>
              <a:ext cx="9363456" cy="34991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241036" y="2290572"/>
              <a:ext cx="90170" cy="3583304"/>
            </a:xfrm>
            <a:custGeom>
              <a:avLst/>
              <a:gdLst/>
              <a:ahLst/>
              <a:cxnLst/>
              <a:rect l="l" t="t" r="r" b="b"/>
              <a:pathLst>
                <a:path w="90170" h="3583304">
                  <a:moveTo>
                    <a:pt x="88582" y="3517391"/>
                  </a:moveTo>
                  <a:lnTo>
                    <a:pt x="74675" y="3517391"/>
                  </a:lnTo>
                  <a:lnTo>
                    <a:pt x="76200" y="3529583"/>
                  </a:lnTo>
                  <a:lnTo>
                    <a:pt x="76200" y="3570731"/>
                  </a:lnTo>
                  <a:lnTo>
                    <a:pt x="77724" y="3578352"/>
                  </a:lnTo>
                  <a:lnTo>
                    <a:pt x="79248" y="3581400"/>
                  </a:lnTo>
                  <a:lnTo>
                    <a:pt x="80772" y="3582924"/>
                  </a:lnTo>
                  <a:lnTo>
                    <a:pt x="85343" y="3582924"/>
                  </a:lnTo>
                  <a:lnTo>
                    <a:pt x="88391" y="3581400"/>
                  </a:lnTo>
                  <a:lnTo>
                    <a:pt x="88391" y="3578352"/>
                  </a:lnTo>
                  <a:lnTo>
                    <a:pt x="89915" y="3572255"/>
                  </a:lnTo>
                  <a:lnTo>
                    <a:pt x="89915" y="3528059"/>
                  </a:lnTo>
                  <a:lnTo>
                    <a:pt x="88582" y="3517391"/>
                  </a:lnTo>
                  <a:close/>
                </a:path>
                <a:path w="90170" h="3583304">
                  <a:moveTo>
                    <a:pt x="84581" y="3494531"/>
                  </a:moveTo>
                  <a:lnTo>
                    <a:pt x="70103" y="3494531"/>
                  </a:lnTo>
                  <a:lnTo>
                    <a:pt x="73151" y="3506724"/>
                  </a:lnTo>
                  <a:lnTo>
                    <a:pt x="74675" y="3518916"/>
                  </a:lnTo>
                  <a:lnTo>
                    <a:pt x="74675" y="3517391"/>
                  </a:lnTo>
                  <a:lnTo>
                    <a:pt x="88582" y="3517391"/>
                  </a:lnTo>
                  <a:lnTo>
                    <a:pt x="86867" y="3503676"/>
                  </a:lnTo>
                  <a:lnTo>
                    <a:pt x="84581" y="3494531"/>
                  </a:lnTo>
                  <a:close/>
                </a:path>
                <a:path w="90170" h="3583304">
                  <a:moveTo>
                    <a:pt x="74675" y="3057144"/>
                  </a:moveTo>
                  <a:lnTo>
                    <a:pt x="59436" y="3057144"/>
                  </a:lnTo>
                  <a:lnTo>
                    <a:pt x="59436" y="3438144"/>
                  </a:lnTo>
                  <a:lnTo>
                    <a:pt x="62484" y="3459479"/>
                  </a:lnTo>
                  <a:lnTo>
                    <a:pt x="62484" y="3461004"/>
                  </a:lnTo>
                  <a:lnTo>
                    <a:pt x="67055" y="3483864"/>
                  </a:lnTo>
                  <a:lnTo>
                    <a:pt x="70103" y="3496055"/>
                  </a:lnTo>
                  <a:lnTo>
                    <a:pt x="70103" y="3494531"/>
                  </a:lnTo>
                  <a:lnTo>
                    <a:pt x="84581" y="3494531"/>
                  </a:lnTo>
                  <a:lnTo>
                    <a:pt x="83819" y="3491483"/>
                  </a:lnTo>
                  <a:lnTo>
                    <a:pt x="80772" y="3480816"/>
                  </a:lnTo>
                  <a:lnTo>
                    <a:pt x="82296" y="3480816"/>
                  </a:lnTo>
                  <a:lnTo>
                    <a:pt x="76200" y="3457955"/>
                  </a:lnTo>
                  <a:lnTo>
                    <a:pt x="74675" y="3447288"/>
                  </a:lnTo>
                  <a:lnTo>
                    <a:pt x="76200" y="3447288"/>
                  </a:lnTo>
                  <a:lnTo>
                    <a:pt x="73151" y="3425952"/>
                  </a:lnTo>
                  <a:lnTo>
                    <a:pt x="73151" y="3415283"/>
                  </a:lnTo>
                  <a:lnTo>
                    <a:pt x="74675" y="3281172"/>
                  </a:lnTo>
                  <a:lnTo>
                    <a:pt x="74675" y="3057144"/>
                  </a:lnTo>
                  <a:close/>
                </a:path>
                <a:path w="90170" h="3583304">
                  <a:moveTo>
                    <a:pt x="10667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1726691"/>
                  </a:lnTo>
                  <a:lnTo>
                    <a:pt x="9143" y="1860803"/>
                  </a:lnTo>
                  <a:lnTo>
                    <a:pt x="16763" y="1964436"/>
                  </a:lnTo>
                  <a:lnTo>
                    <a:pt x="18287" y="2246376"/>
                  </a:lnTo>
                  <a:lnTo>
                    <a:pt x="16763" y="2372867"/>
                  </a:lnTo>
                  <a:lnTo>
                    <a:pt x="16763" y="2439923"/>
                  </a:lnTo>
                  <a:lnTo>
                    <a:pt x="18270" y="2589109"/>
                  </a:lnTo>
                  <a:lnTo>
                    <a:pt x="18287" y="2590800"/>
                  </a:lnTo>
                  <a:lnTo>
                    <a:pt x="28955" y="2709672"/>
                  </a:lnTo>
                  <a:lnTo>
                    <a:pt x="41148" y="2816352"/>
                  </a:lnTo>
                  <a:lnTo>
                    <a:pt x="42605" y="2849879"/>
                  </a:lnTo>
                  <a:lnTo>
                    <a:pt x="42672" y="2851404"/>
                  </a:lnTo>
                  <a:lnTo>
                    <a:pt x="48650" y="2929128"/>
                  </a:lnTo>
                  <a:lnTo>
                    <a:pt x="48767" y="2941320"/>
                  </a:lnTo>
                  <a:lnTo>
                    <a:pt x="59436" y="3058667"/>
                  </a:lnTo>
                  <a:lnTo>
                    <a:pt x="59436" y="3057144"/>
                  </a:lnTo>
                  <a:lnTo>
                    <a:pt x="74675" y="3057144"/>
                  </a:lnTo>
                  <a:lnTo>
                    <a:pt x="64008" y="2939796"/>
                  </a:lnTo>
                  <a:lnTo>
                    <a:pt x="62484" y="2929128"/>
                  </a:lnTo>
                  <a:lnTo>
                    <a:pt x="56505" y="2851404"/>
                  </a:lnTo>
                  <a:lnTo>
                    <a:pt x="56387" y="2849879"/>
                  </a:lnTo>
                  <a:lnTo>
                    <a:pt x="54930" y="2816352"/>
                  </a:lnTo>
                  <a:lnTo>
                    <a:pt x="54863" y="2814828"/>
                  </a:lnTo>
                  <a:lnTo>
                    <a:pt x="44196" y="2708147"/>
                  </a:lnTo>
                  <a:lnTo>
                    <a:pt x="32160" y="2590800"/>
                  </a:lnTo>
                  <a:lnTo>
                    <a:pt x="32003" y="2590800"/>
                  </a:lnTo>
                  <a:lnTo>
                    <a:pt x="30479" y="2439923"/>
                  </a:lnTo>
                  <a:lnTo>
                    <a:pt x="32003" y="2372867"/>
                  </a:lnTo>
                  <a:lnTo>
                    <a:pt x="32003" y="2246376"/>
                  </a:lnTo>
                  <a:lnTo>
                    <a:pt x="30488" y="1966082"/>
                  </a:lnTo>
                  <a:lnTo>
                    <a:pt x="30479" y="1964436"/>
                  </a:lnTo>
                  <a:lnTo>
                    <a:pt x="22860" y="1860803"/>
                  </a:lnTo>
                  <a:lnTo>
                    <a:pt x="15325" y="1726691"/>
                  </a:lnTo>
                  <a:lnTo>
                    <a:pt x="15239" y="3048"/>
                  </a:lnTo>
                  <a:lnTo>
                    <a:pt x="10667" y="0"/>
                  </a:lnTo>
                  <a:close/>
                </a:path>
                <a:path w="90170" h="3583304">
                  <a:moveTo>
                    <a:pt x="32003" y="2589274"/>
                  </a:moveTo>
                  <a:lnTo>
                    <a:pt x="32003" y="2590800"/>
                  </a:lnTo>
                  <a:lnTo>
                    <a:pt x="32160" y="2590800"/>
                  </a:lnTo>
                  <a:lnTo>
                    <a:pt x="32003" y="2589274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88791" y="6175247"/>
            <a:ext cx="3457406" cy="36118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3919" y="1689455"/>
            <a:ext cx="655828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Depth</a:t>
            </a:r>
            <a:r>
              <a:rPr spc="-190" dirty="0"/>
              <a:t> </a:t>
            </a:r>
            <a:r>
              <a:rPr spc="-60" dirty="0"/>
              <a:t>Limited</a:t>
            </a:r>
            <a:r>
              <a:rPr spc="-155" dirty="0"/>
              <a:t> </a:t>
            </a:r>
            <a:r>
              <a:rPr spc="-114" dirty="0"/>
              <a:t>Search</a:t>
            </a:r>
            <a:r>
              <a:rPr spc="-19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0783" y="3049523"/>
            <a:ext cx="6234684" cy="295960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3919" y="1689455"/>
            <a:ext cx="655828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Depth</a:t>
            </a:r>
            <a:r>
              <a:rPr spc="-190" dirty="0"/>
              <a:t> </a:t>
            </a:r>
            <a:r>
              <a:rPr spc="-60" dirty="0"/>
              <a:t>Limited</a:t>
            </a:r>
            <a:r>
              <a:rPr spc="-155" dirty="0"/>
              <a:t> </a:t>
            </a:r>
            <a:r>
              <a:rPr spc="-114" dirty="0"/>
              <a:t>Search</a:t>
            </a:r>
            <a:r>
              <a:rPr spc="-19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9" y="2886455"/>
            <a:ext cx="7423404" cy="317144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10" dirty="0">
                          <a:latin typeface="Tahoma"/>
                          <a:cs typeface="Tahoma"/>
                        </a:rPr>
                        <a:t>Depth</a:t>
                      </a:r>
                      <a:r>
                        <a:rPr sz="3300" b="1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60" dirty="0">
                          <a:latin typeface="Tahoma"/>
                          <a:cs typeface="Tahoma"/>
                        </a:rPr>
                        <a:t>Limited</a:t>
                      </a:r>
                      <a:r>
                        <a:rPr sz="3300" b="1" spc="-1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4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3300" b="1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Algorithm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348" y="3007408"/>
            <a:ext cx="7598409" cy="301434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200660" algn="l"/>
              </a:tabLst>
            </a:pPr>
            <a:r>
              <a:rPr sz="2300" b="1" spc="-10" dirty="0">
                <a:latin typeface="Tahoma"/>
                <a:cs typeface="Tahoma"/>
              </a:rPr>
              <a:t>Advantages:</a:t>
            </a:r>
            <a:endParaRPr sz="230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200660" algn="l"/>
              </a:tabLst>
            </a:pPr>
            <a:r>
              <a:rPr sz="2300" spc="60" dirty="0">
                <a:latin typeface="Tahoma"/>
                <a:cs typeface="Tahoma"/>
              </a:rPr>
              <a:t>Depth-</a:t>
            </a:r>
            <a:r>
              <a:rPr sz="2300" spc="65" dirty="0">
                <a:latin typeface="Tahoma"/>
                <a:cs typeface="Tahoma"/>
              </a:rPr>
              <a:t>limited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Memory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efficient.</a:t>
            </a:r>
            <a:endParaRPr sz="230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200660" algn="l"/>
              </a:tabLst>
            </a:pPr>
            <a:r>
              <a:rPr sz="2300" b="1" spc="-10" dirty="0">
                <a:latin typeface="Tahoma"/>
                <a:cs typeface="Tahoma"/>
              </a:rPr>
              <a:t>Disadvantages:</a:t>
            </a:r>
            <a:endParaRPr sz="2300">
              <a:latin typeface="Tahoma"/>
              <a:cs typeface="Tahoma"/>
            </a:endParaRPr>
          </a:p>
          <a:p>
            <a:pPr marL="200025" marR="983615" indent="-187960">
              <a:lnSpc>
                <a:spcPct val="100400"/>
              </a:lnSpc>
              <a:spcBef>
                <a:spcPts val="830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spc="60" dirty="0">
                <a:latin typeface="Tahoma"/>
                <a:cs typeface="Tahoma"/>
              </a:rPr>
              <a:t>Depth-</a:t>
            </a:r>
            <a:r>
              <a:rPr sz="2300" spc="65" dirty="0">
                <a:latin typeface="Tahoma"/>
                <a:cs typeface="Tahoma"/>
              </a:rPr>
              <a:t>limited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also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has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disadvantage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of 	</a:t>
            </a:r>
            <a:r>
              <a:rPr sz="2300" spc="45" dirty="0">
                <a:latin typeface="Tahoma"/>
                <a:cs typeface="Tahoma"/>
              </a:rPr>
              <a:t>incompleteness.</a:t>
            </a:r>
            <a:endParaRPr sz="2300">
              <a:latin typeface="Tahoma"/>
              <a:cs typeface="Tahoma"/>
            </a:endParaRPr>
          </a:p>
          <a:p>
            <a:pPr marL="200025" marR="5080" indent="-187960">
              <a:lnSpc>
                <a:spcPct val="100400"/>
              </a:lnSpc>
              <a:spcBef>
                <a:spcPts val="81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spc="-165" dirty="0">
                <a:latin typeface="Tahoma"/>
                <a:cs typeface="Tahoma"/>
              </a:rPr>
              <a:t>It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may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not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145" dirty="0">
                <a:latin typeface="Tahoma"/>
                <a:cs typeface="Tahoma"/>
              </a:rPr>
              <a:t>be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70" dirty="0">
                <a:latin typeface="Tahoma"/>
                <a:cs typeface="Tahoma"/>
              </a:rPr>
              <a:t>optimal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if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spc="105" dirty="0">
                <a:latin typeface="Tahoma"/>
                <a:cs typeface="Tahoma"/>
              </a:rPr>
              <a:t>problem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has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more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than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one 	</a:t>
            </a:r>
            <a:r>
              <a:rPr sz="2300" spc="-10" dirty="0">
                <a:latin typeface="Tahoma"/>
                <a:cs typeface="Tahoma"/>
              </a:rPr>
              <a:t>solution.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2662" y="1688198"/>
            <a:ext cx="501523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Iterative</a:t>
            </a:r>
            <a:r>
              <a:rPr spc="-110" dirty="0"/>
              <a:t> </a:t>
            </a:r>
            <a:r>
              <a:rPr dirty="0"/>
              <a:t>Deepening</a:t>
            </a:r>
            <a:r>
              <a:rPr spc="-114" dirty="0"/>
              <a:t> </a:t>
            </a:r>
            <a:r>
              <a:rPr spc="-25" dirty="0"/>
              <a:t>DFS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 marR="163830" indent="-187960" algn="just">
              <a:lnSpc>
                <a:spcPct val="101499"/>
              </a:lnSpc>
              <a:spcBef>
                <a:spcPts val="9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/>
              <a:t>The</a:t>
            </a:r>
            <a:r>
              <a:rPr spc="-75" dirty="0"/>
              <a:t> </a:t>
            </a:r>
            <a:r>
              <a:rPr dirty="0"/>
              <a:t>iterative</a:t>
            </a:r>
            <a:r>
              <a:rPr spc="-30" dirty="0"/>
              <a:t> </a:t>
            </a:r>
            <a:r>
              <a:rPr spc="105" dirty="0"/>
              <a:t>deepening</a:t>
            </a:r>
            <a:r>
              <a:rPr spc="-50" dirty="0"/>
              <a:t> </a:t>
            </a:r>
            <a:r>
              <a:rPr spc="65" dirty="0"/>
              <a:t>algorithm</a:t>
            </a:r>
            <a:r>
              <a:rPr spc="-70" dirty="0"/>
              <a:t> </a:t>
            </a:r>
            <a:r>
              <a:rPr dirty="0"/>
              <a:t>is</a:t>
            </a:r>
            <a:r>
              <a:rPr spc="-75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spc="70" dirty="0"/>
              <a:t>combination</a:t>
            </a:r>
            <a:r>
              <a:rPr spc="-65" dirty="0"/>
              <a:t> </a:t>
            </a:r>
            <a:r>
              <a:rPr spc="50" dirty="0"/>
              <a:t>of</a:t>
            </a:r>
            <a:r>
              <a:rPr spc="-15" dirty="0"/>
              <a:t> </a:t>
            </a:r>
            <a:r>
              <a:rPr spc="90" dirty="0"/>
              <a:t>DFS</a:t>
            </a:r>
            <a:r>
              <a:rPr spc="-90" dirty="0"/>
              <a:t> </a:t>
            </a:r>
            <a:r>
              <a:rPr spc="80" dirty="0"/>
              <a:t>and</a:t>
            </a:r>
            <a:r>
              <a:rPr spc="-70" dirty="0"/>
              <a:t> </a:t>
            </a:r>
            <a:r>
              <a:rPr spc="50" dirty="0"/>
              <a:t>BFS 	</a:t>
            </a:r>
            <a:r>
              <a:rPr dirty="0"/>
              <a:t>algorithms.</a:t>
            </a:r>
            <a:r>
              <a:rPr spc="-105" dirty="0"/>
              <a:t> </a:t>
            </a:r>
            <a:r>
              <a:rPr dirty="0"/>
              <a:t>This</a:t>
            </a:r>
            <a:r>
              <a:rPr spc="15" dirty="0"/>
              <a:t> </a:t>
            </a:r>
            <a:r>
              <a:rPr dirty="0"/>
              <a:t>search</a:t>
            </a:r>
            <a:r>
              <a:rPr spc="45" dirty="0"/>
              <a:t> </a:t>
            </a:r>
            <a:r>
              <a:rPr spc="65" dirty="0"/>
              <a:t>algorithm</a:t>
            </a:r>
            <a:r>
              <a:rPr spc="40" dirty="0"/>
              <a:t> </a:t>
            </a:r>
            <a:r>
              <a:rPr dirty="0"/>
              <a:t>finds</a:t>
            </a:r>
            <a:r>
              <a:rPr spc="30" dirty="0"/>
              <a:t> </a:t>
            </a:r>
            <a:r>
              <a:rPr spc="55" dirty="0"/>
              <a:t>out</a:t>
            </a:r>
            <a:r>
              <a:rPr spc="2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65" dirty="0"/>
              <a:t>best</a:t>
            </a:r>
            <a:r>
              <a:rPr spc="30" dirty="0"/>
              <a:t> </a:t>
            </a:r>
            <a:r>
              <a:rPr spc="95" dirty="0"/>
              <a:t>depth</a:t>
            </a:r>
            <a:r>
              <a:rPr spc="45" dirty="0"/>
              <a:t> </a:t>
            </a:r>
            <a:r>
              <a:rPr dirty="0"/>
              <a:t>limit</a:t>
            </a:r>
            <a:r>
              <a:rPr spc="25" dirty="0"/>
              <a:t> </a:t>
            </a:r>
            <a:r>
              <a:rPr spc="55" dirty="0"/>
              <a:t>and 	</a:t>
            </a:r>
            <a:r>
              <a:rPr spc="110" dirty="0"/>
              <a:t>does</a:t>
            </a:r>
            <a:r>
              <a:rPr spc="-70" dirty="0"/>
              <a:t> </a:t>
            </a:r>
            <a:r>
              <a:rPr dirty="0"/>
              <a:t>it</a:t>
            </a:r>
            <a:r>
              <a:rPr spc="-55" dirty="0"/>
              <a:t> </a:t>
            </a:r>
            <a:r>
              <a:rPr spc="80" dirty="0"/>
              <a:t>by</a:t>
            </a:r>
            <a:r>
              <a:rPr spc="-50" dirty="0"/>
              <a:t> </a:t>
            </a:r>
            <a:r>
              <a:rPr spc="60" dirty="0"/>
              <a:t>gradually</a:t>
            </a:r>
            <a:r>
              <a:rPr spc="-55" dirty="0"/>
              <a:t> </a:t>
            </a:r>
            <a:r>
              <a:rPr spc="50" dirty="0"/>
              <a:t>increasing</a:t>
            </a:r>
            <a:r>
              <a:rPr spc="-3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limit</a:t>
            </a:r>
            <a:r>
              <a:rPr spc="-55" dirty="0"/>
              <a:t> </a:t>
            </a:r>
            <a:r>
              <a:rPr dirty="0"/>
              <a:t>until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95" dirty="0"/>
              <a:t>goal</a:t>
            </a:r>
            <a:r>
              <a:rPr spc="-75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spc="45" dirty="0"/>
              <a:t>found.</a:t>
            </a:r>
          </a:p>
          <a:p>
            <a:pPr marL="200025" marR="5080" indent="-187960">
              <a:lnSpc>
                <a:spcPct val="101499"/>
              </a:lnSpc>
              <a:spcBef>
                <a:spcPts val="82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/>
              <a:t>This</a:t>
            </a:r>
            <a:r>
              <a:rPr spc="-65" dirty="0"/>
              <a:t> </a:t>
            </a:r>
            <a:r>
              <a:rPr spc="60" dirty="0"/>
              <a:t>algorithm</a:t>
            </a:r>
            <a:r>
              <a:rPr spc="-40" dirty="0"/>
              <a:t> </a:t>
            </a:r>
            <a:r>
              <a:rPr spc="55" dirty="0"/>
              <a:t>performs</a:t>
            </a:r>
            <a:r>
              <a:rPr spc="-50" dirty="0"/>
              <a:t> </a:t>
            </a:r>
            <a:r>
              <a:rPr spc="65" dirty="0"/>
              <a:t>depth-</a:t>
            </a:r>
            <a:r>
              <a:rPr dirty="0"/>
              <a:t>first</a:t>
            </a:r>
            <a:r>
              <a:rPr spc="-35" dirty="0"/>
              <a:t> </a:t>
            </a:r>
            <a:r>
              <a:rPr dirty="0"/>
              <a:t>search</a:t>
            </a:r>
            <a:r>
              <a:rPr spc="-45" dirty="0"/>
              <a:t> </a:t>
            </a:r>
            <a:r>
              <a:rPr spc="114" dirty="0"/>
              <a:t>up</a:t>
            </a:r>
            <a:r>
              <a:rPr spc="-45" dirty="0"/>
              <a:t> </a:t>
            </a:r>
            <a:r>
              <a:rPr spc="55" dirty="0"/>
              <a:t>to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certain</a:t>
            </a:r>
            <a:r>
              <a:rPr spc="-30" dirty="0"/>
              <a:t> </a:t>
            </a:r>
            <a:r>
              <a:rPr spc="75" dirty="0"/>
              <a:t>"depth 	</a:t>
            </a:r>
            <a:r>
              <a:rPr dirty="0"/>
              <a:t>limit",</a:t>
            </a:r>
            <a:r>
              <a:rPr spc="-95" dirty="0"/>
              <a:t> </a:t>
            </a:r>
            <a:r>
              <a:rPr spc="80" dirty="0"/>
              <a:t>and</a:t>
            </a:r>
            <a:r>
              <a:rPr spc="-35" dirty="0"/>
              <a:t> </a:t>
            </a:r>
            <a:r>
              <a:rPr dirty="0"/>
              <a:t>it</a:t>
            </a:r>
            <a:r>
              <a:rPr spc="-35" dirty="0"/>
              <a:t> </a:t>
            </a:r>
            <a:r>
              <a:rPr spc="70" dirty="0"/>
              <a:t>keeps</a:t>
            </a:r>
            <a:r>
              <a:rPr spc="-15" dirty="0"/>
              <a:t> </a:t>
            </a:r>
            <a:r>
              <a:rPr spc="50" dirty="0"/>
              <a:t>increasing</a:t>
            </a:r>
            <a:r>
              <a:rPr spc="-1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95" dirty="0"/>
              <a:t>depth</a:t>
            </a:r>
            <a:r>
              <a:rPr spc="-15" dirty="0"/>
              <a:t> </a:t>
            </a:r>
            <a:r>
              <a:rPr dirty="0"/>
              <a:t>limit</a:t>
            </a:r>
            <a:r>
              <a:rPr spc="-40" dirty="0"/>
              <a:t> </a:t>
            </a:r>
            <a:r>
              <a:rPr dirty="0"/>
              <a:t>after</a:t>
            </a:r>
            <a:r>
              <a:rPr spc="-15" dirty="0"/>
              <a:t> </a:t>
            </a:r>
            <a:r>
              <a:rPr spc="65" dirty="0"/>
              <a:t>each</a:t>
            </a:r>
            <a:r>
              <a:rPr spc="-25" dirty="0"/>
              <a:t> </a:t>
            </a:r>
            <a:r>
              <a:rPr dirty="0"/>
              <a:t>iteration</a:t>
            </a:r>
            <a:r>
              <a:rPr spc="5" dirty="0"/>
              <a:t> </a:t>
            </a:r>
            <a:r>
              <a:rPr spc="-10" dirty="0"/>
              <a:t>until 	</a:t>
            </a:r>
            <a:r>
              <a:rPr dirty="0"/>
              <a:t>the</a:t>
            </a:r>
            <a:r>
              <a:rPr spc="-75" dirty="0"/>
              <a:t> </a:t>
            </a:r>
            <a:r>
              <a:rPr spc="95" dirty="0"/>
              <a:t>goal</a:t>
            </a:r>
            <a:r>
              <a:rPr spc="-65" dirty="0"/>
              <a:t> </a:t>
            </a:r>
            <a:r>
              <a:rPr spc="114" dirty="0"/>
              <a:t>node</a:t>
            </a:r>
            <a:r>
              <a:rPr spc="-65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spc="40" dirty="0"/>
              <a:t>found.</a:t>
            </a:r>
          </a:p>
          <a:p>
            <a:pPr marL="200025" marR="26034" indent="-187960">
              <a:lnSpc>
                <a:spcPct val="101499"/>
              </a:lnSpc>
              <a:spcBef>
                <a:spcPts val="83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/>
              <a:t>This</a:t>
            </a:r>
            <a:r>
              <a:rPr spc="-40" dirty="0"/>
              <a:t> </a:t>
            </a:r>
            <a:r>
              <a:rPr dirty="0"/>
              <a:t>Search</a:t>
            </a:r>
            <a:r>
              <a:rPr spc="-5" dirty="0"/>
              <a:t> </a:t>
            </a:r>
            <a:r>
              <a:rPr spc="65" dirty="0"/>
              <a:t>algorithm</a:t>
            </a:r>
            <a:r>
              <a:rPr spc="-15" dirty="0"/>
              <a:t> </a:t>
            </a:r>
            <a:r>
              <a:rPr spc="90" dirty="0"/>
              <a:t>combines</a:t>
            </a:r>
            <a:r>
              <a:rPr spc="-3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50" dirty="0"/>
              <a:t>benefits</a:t>
            </a:r>
            <a:r>
              <a:rPr spc="-5" dirty="0"/>
              <a:t> </a:t>
            </a:r>
            <a:r>
              <a:rPr spc="50" dirty="0"/>
              <a:t>of</a:t>
            </a:r>
            <a:r>
              <a:rPr spc="35" dirty="0"/>
              <a:t> </a:t>
            </a:r>
            <a:r>
              <a:rPr dirty="0"/>
              <a:t>Breadth-first</a:t>
            </a:r>
            <a:r>
              <a:rPr spc="10" dirty="0"/>
              <a:t> </a:t>
            </a:r>
            <a:r>
              <a:rPr spc="-10" dirty="0"/>
              <a:t>search's 	</a:t>
            </a:r>
            <a:r>
              <a:rPr dirty="0"/>
              <a:t>fast</a:t>
            </a:r>
            <a:r>
              <a:rPr spc="-30" dirty="0"/>
              <a:t> </a:t>
            </a:r>
            <a:r>
              <a:rPr dirty="0"/>
              <a:t>search</a:t>
            </a:r>
            <a:r>
              <a:rPr spc="-10" dirty="0"/>
              <a:t> </a:t>
            </a:r>
            <a:r>
              <a:rPr spc="80" dirty="0"/>
              <a:t>and</a:t>
            </a:r>
            <a:r>
              <a:rPr spc="-25" dirty="0"/>
              <a:t> </a:t>
            </a:r>
            <a:r>
              <a:rPr spc="60" dirty="0"/>
              <a:t>depth-</a:t>
            </a:r>
            <a:r>
              <a:rPr dirty="0"/>
              <a:t>first</a:t>
            </a:r>
            <a:r>
              <a:rPr spc="-30" dirty="0"/>
              <a:t> </a:t>
            </a:r>
            <a:r>
              <a:rPr dirty="0"/>
              <a:t>search's</a:t>
            </a:r>
            <a:r>
              <a:rPr spc="-5" dirty="0"/>
              <a:t> </a:t>
            </a:r>
            <a:r>
              <a:rPr spc="70" dirty="0"/>
              <a:t>memory</a:t>
            </a:r>
            <a:r>
              <a:rPr spc="-25" dirty="0"/>
              <a:t> </a:t>
            </a:r>
            <a:r>
              <a:rPr spc="-10" dirty="0"/>
              <a:t>efficiency.</a:t>
            </a:r>
          </a:p>
          <a:p>
            <a:pPr marL="200025" marR="575945" indent="-187960">
              <a:lnSpc>
                <a:spcPct val="101499"/>
              </a:lnSpc>
              <a:spcBef>
                <a:spcPts val="81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/>
              <a:t>The iterative</a:t>
            </a:r>
            <a:r>
              <a:rPr spc="55" dirty="0"/>
              <a:t> </a:t>
            </a:r>
            <a:r>
              <a:rPr dirty="0"/>
              <a:t>search</a:t>
            </a:r>
            <a:r>
              <a:rPr spc="35" dirty="0"/>
              <a:t> </a:t>
            </a:r>
            <a:r>
              <a:rPr spc="65" dirty="0"/>
              <a:t>algorithm</a:t>
            </a:r>
            <a:r>
              <a:rPr spc="2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useful</a:t>
            </a:r>
            <a:r>
              <a:rPr spc="30" dirty="0"/>
              <a:t> </a:t>
            </a:r>
            <a:r>
              <a:rPr spc="70" dirty="0"/>
              <a:t>uninformed</a:t>
            </a:r>
            <a:r>
              <a:rPr spc="5" dirty="0"/>
              <a:t> </a:t>
            </a:r>
            <a:r>
              <a:rPr dirty="0"/>
              <a:t>search</a:t>
            </a:r>
            <a:r>
              <a:rPr spc="25" dirty="0"/>
              <a:t> </a:t>
            </a:r>
            <a:r>
              <a:rPr spc="35" dirty="0"/>
              <a:t>when 	</a:t>
            </a:r>
            <a:r>
              <a:rPr dirty="0"/>
              <a:t>search</a:t>
            </a:r>
            <a:r>
              <a:rPr spc="-50" dirty="0"/>
              <a:t> </a:t>
            </a:r>
            <a:r>
              <a:rPr spc="75" dirty="0"/>
              <a:t>space</a:t>
            </a:r>
            <a:r>
              <a:rPr spc="-50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dirty="0"/>
              <a:t>large,</a:t>
            </a:r>
            <a:r>
              <a:rPr spc="-114" dirty="0"/>
              <a:t> </a:t>
            </a:r>
            <a:r>
              <a:rPr spc="80" dirty="0"/>
              <a:t>and</a:t>
            </a:r>
            <a:r>
              <a:rPr spc="-55" dirty="0"/>
              <a:t> </a:t>
            </a:r>
            <a:r>
              <a:rPr spc="95" dirty="0"/>
              <a:t>depth</a:t>
            </a:r>
            <a:r>
              <a:rPr spc="-40" dirty="0"/>
              <a:t> </a:t>
            </a:r>
            <a:r>
              <a:rPr spc="50" dirty="0"/>
              <a:t>of</a:t>
            </a:r>
            <a:r>
              <a:rPr spc="-20" dirty="0"/>
              <a:t> </a:t>
            </a:r>
            <a:r>
              <a:rPr spc="95" dirty="0"/>
              <a:t>goal</a:t>
            </a:r>
            <a:r>
              <a:rPr spc="-60" dirty="0"/>
              <a:t> </a:t>
            </a:r>
            <a:r>
              <a:rPr spc="114" dirty="0"/>
              <a:t>node</a:t>
            </a:r>
            <a:r>
              <a:rPr spc="-55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spc="-10" dirty="0"/>
              <a:t>unknown.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3919" y="1689455"/>
            <a:ext cx="689800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Iterative</a:t>
            </a:r>
            <a:r>
              <a:rPr spc="-130" dirty="0"/>
              <a:t> </a:t>
            </a:r>
            <a:r>
              <a:rPr dirty="0"/>
              <a:t>Deepening</a:t>
            </a:r>
            <a:r>
              <a:rPr spc="-155" dirty="0"/>
              <a:t> </a:t>
            </a:r>
            <a:r>
              <a:rPr spc="-20" dirty="0"/>
              <a:t>DFS</a:t>
            </a:r>
            <a:r>
              <a:rPr spc="-150" dirty="0"/>
              <a:t> </a:t>
            </a:r>
            <a:r>
              <a:rPr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504" y="3040379"/>
            <a:ext cx="3636264" cy="281025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306823" y="2938272"/>
            <a:ext cx="5087620" cy="3441700"/>
            <a:chOff x="4306823" y="2938272"/>
            <a:chExt cx="5087620" cy="34417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6823" y="2948940"/>
              <a:ext cx="5087527" cy="29519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360163" y="2938272"/>
              <a:ext cx="568960" cy="3441700"/>
            </a:xfrm>
            <a:custGeom>
              <a:avLst/>
              <a:gdLst/>
              <a:ahLst/>
              <a:cxnLst/>
              <a:rect l="l" t="t" r="r" b="b"/>
              <a:pathLst>
                <a:path w="568960" h="3441700">
                  <a:moveTo>
                    <a:pt x="100848" y="2761488"/>
                  </a:moveTo>
                  <a:lnTo>
                    <a:pt x="86868" y="2761488"/>
                  </a:lnTo>
                  <a:lnTo>
                    <a:pt x="120396" y="2956560"/>
                  </a:lnTo>
                  <a:lnTo>
                    <a:pt x="135636" y="3064764"/>
                  </a:lnTo>
                  <a:lnTo>
                    <a:pt x="141732" y="3102864"/>
                  </a:lnTo>
                  <a:lnTo>
                    <a:pt x="153924" y="3172967"/>
                  </a:lnTo>
                  <a:lnTo>
                    <a:pt x="166115" y="3215640"/>
                  </a:lnTo>
                  <a:lnTo>
                    <a:pt x="166115" y="3217164"/>
                  </a:lnTo>
                  <a:lnTo>
                    <a:pt x="172212" y="3233928"/>
                  </a:lnTo>
                  <a:lnTo>
                    <a:pt x="181356" y="3270504"/>
                  </a:lnTo>
                  <a:lnTo>
                    <a:pt x="184403" y="3291840"/>
                  </a:lnTo>
                  <a:lnTo>
                    <a:pt x="185927" y="3305555"/>
                  </a:lnTo>
                  <a:lnTo>
                    <a:pt x="195072" y="3345179"/>
                  </a:lnTo>
                  <a:lnTo>
                    <a:pt x="199644" y="3358896"/>
                  </a:lnTo>
                  <a:lnTo>
                    <a:pt x="205739" y="3383279"/>
                  </a:lnTo>
                  <a:lnTo>
                    <a:pt x="208787" y="3396996"/>
                  </a:lnTo>
                  <a:lnTo>
                    <a:pt x="211836" y="3429000"/>
                  </a:lnTo>
                  <a:lnTo>
                    <a:pt x="213360" y="3436619"/>
                  </a:lnTo>
                  <a:lnTo>
                    <a:pt x="214884" y="3439667"/>
                  </a:lnTo>
                  <a:lnTo>
                    <a:pt x="216408" y="3441191"/>
                  </a:lnTo>
                  <a:lnTo>
                    <a:pt x="220980" y="3441191"/>
                  </a:lnTo>
                  <a:lnTo>
                    <a:pt x="224027" y="3439667"/>
                  </a:lnTo>
                  <a:lnTo>
                    <a:pt x="224027" y="3436619"/>
                  </a:lnTo>
                  <a:lnTo>
                    <a:pt x="225551" y="3429000"/>
                  </a:lnTo>
                  <a:lnTo>
                    <a:pt x="225551" y="3427476"/>
                  </a:lnTo>
                  <a:lnTo>
                    <a:pt x="222503" y="3395472"/>
                  </a:lnTo>
                  <a:lnTo>
                    <a:pt x="222503" y="3393948"/>
                  </a:lnTo>
                  <a:lnTo>
                    <a:pt x="219456" y="3381755"/>
                  </a:lnTo>
                  <a:lnTo>
                    <a:pt x="219456" y="3380231"/>
                  </a:lnTo>
                  <a:lnTo>
                    <a:pt x="216408" y="3368040"/>
                  </a:lnTo>
                  <a:lnTo>
                    <a:pt x="213360" y="3354324"/>
                  </a:lnTo>
                  <a:lnTo>
                    <a:pt x="209296" y="3342131"/>
                  </a:lnTo>
                  <a:lnTo>
                    <a:pt x="208787" y="3342131"/>
                  </a:lnTo>
                  <a:lnTo>
                    <a:pt x="199995" y="3304031"/>
                  </a:lnTo>
                  <a:lnTo>
                    <a:pt x="199644" y="3304031"/>
                  </a:lnTo>
                  <a:lnTo>
                    <a:pt x="198120" y="3288791"/>
                  </a:lnTo>
                  <a:lnTo>
                    <a:pt x="195072" y="3267455"/>
                  </a:lnTo>
                  <a:lnTo>
                    <a:pt x="185927" y="3230879"/>
                  </a:lnTo>
                  <a:lnTo>
                    <a:pt x="185927" y="3229355"/>
                  </a:lnTo>
                  <a:lnTo>
                    <a:pt x="179832" y="3212591"/>
                  </a:lnTo>
                  <a:lnTo>
                    <a:pt x="167639" y="3168396"/>
                  </a:lnTo>
                  <a:lnTo>
                    <a:pt x="168898" y="3168396"/>
                  </a:lnTo>
                  <a:lnTo>
                    <a:pt x="157237" y="3101340"/>
                  </a:lnTo>
                  <a:lnTo>
                    <a:pt x="156972" y="3101340"/>
                  </a:lnTo>
                  <a:lnTo>
                    <a:pt x="150875" y="3063240"/>
                  </a:lnTo>
                  <a:lnTo>
                    <a:pt x="134112" y="2955035"/>
                  </a:lnTo>
                  <a:lnTo>
                    <a:pt x="134112" y="2953511"/>
                  </a:lnTo>
                  <a:lnTo>
                    <a:pt x="100848" y="2761488"/>
                  </a:lnTo>
                  <a:close/>
                </a:path>
                <a:path w="568960" h="3441700">
                  <a:moveTo>
                    <a:pt x="208787" y="3340607"/>
                  </a:moveTo>
                  <a:lnTo>
                    <a:pt x="208787" y="3342131"/>
                  </a:lnTo>
                  <a:lnTo>
                    <a:pt x="209296" y="3342131"/>
                  </a:lnTo>
                  <a:lnTo>
                    <a:pt x="208787" y="3340607"/>
                  </a:lnTo>
                  <a:close/>
                </a:path>
                <a:path w="568960" h="3441700">
                  <a:moveTo>
                    <a:pt x="199644" y="3302507"/>
                  </a:moveTo>
                  <a:lnTo>
                    <a:pt x="199644" y="3304031"/>
                  </a:lnTo>
                  <a:lnTo>
                    <a:pt x="199995" y="3304031"/>
                  </a:lnTo>
                  <a:lnTo>
                    <a:pt x="199644" y="3302507"/>
                  </a:lnTo>
                  <a:close/>
                </a:path>
                <a:path w="568960" h="3441700">
                  <a:moveTo>
                    <a:pt x="168898" y="3168396"/>
                  </a:moveTo>
                  <a:lnTo>
                    <a:pt x="167639" y="3168396"/>
                  </a:lnTo>
                  <a:lnTo>
                    <a:pt x="169163" y="3169920"/>
                  </a:lnTo>
                  <a:lnTo>
                    <a:pt x="168898" y="3168396"/>
                  </a:lnTo>
                  <a:close/>
                </a:path>
                <a:path w="568960" h="3441700">
                  <a:moveTo>
                    <a:pt x="156972" y="3099816"/>
                  </a:moveTo>
                  <a:lnTo>
                    <a:pt x="156972" y="3101340"/>
                  </a:lnTo>
                  <a:lnTo>
                    <a:pt x="157237" y="3101340"/>
                  </a:lnTo>
                  <a:lnTo>
                    <a:pt x="156972" y="3099816"/>
                  </a:lnTo>
                  <a:close/>
                </a:path>
                <a:path w="568960" h="3441700">
                  <a:moveTo>
                    <a:pt x="76754" y="2695955"/>
                  </a:moveTo>
                  <a:lnTo>
                    <a:pt x="62484" y="2695955"/>
                  </a:lnTo>
                  <a:lnTo>
                    <a:pt x="70103" y="2712720"/>
                  </a:lnTo>
                  <a:lnTo>
                    <a:pt x="86868" y="2763011"/>
                  </a:lnTo>
                  <a:lnTo>
                    <a:pt x="86868" y="2761488"/>
                  </a:lnTo>
                  <a:lnTo>
                    <a:pt x="100848" y="2761488"/>
                  </a:lnTo>
                  <a:lnTo>
                    <a:pt x="100584" y="2759964"/>
                  </a:lnTo>
                  <a:lnTo>
                    <a:pt x="100584" y="2758440"/>
                  </a:lnTo>
                  <a:lnTo>
                    <a:pt x="82296" y="2708147"/>
                  </a:lnTo>
                  <a:lnTo>
                    <a:pt x="76754" y="2695955"/>
                  </a:lnTo>
                  <a:close/>
                </a:path>
                <a:path w="568960" h="3441700">
                  <a:moveTo>
                    <a:pt x="47244" y="2025395"/>
                  </a:moveTo>
                  <a:lnTo>
                    <a:pt x="42672" y="2042159"/>
                  </a:lnTo>
                  <a:lnTo>
                    <a:pt x="21336" y="2093976"/>
                  </a:lnTo>
                  <a:lnTo>
                    <a:pt x="16763" y="2107691"/>
                  </a:lnTo>
                  <a:lnTo>
                    <a:pt x="16763" y="2109216"/>
                  </a:lnTo>
                  <a:lnTo>
                    <a:pt x="7620" y="2150364"/>
                  </a:lnTo>
                  <a:lnTo>
                    <a:pt x="7620" y="2151888"/>
                  </a:lnTo>
                  <a:lnTo>
                    <a:pt x="0" y="2231135"/>
                  </a:lnTo>
                  <a:lnTo>
                    <a:pt x="0" y="2369820"/>
                  </a:lnTo>
                  <a:lnTo>
                    <a:pt x="4572" y="2508504"/>
                  </a:lnTo>
                  <a:lnTo>
                    <a:pt x="4572" y="2510028"/>
                  </a:lnTo>
                  <a:lnTo>
                    <a:pt x="5969" y="2526791"/>
                  </a:lnTo>
                  <a:lnTo>
                    <a:pt x="6096" y="2529840"/>
                  </a:lnTo>
                  <a:lnTo>
                    <a:pt x="9144" y="2548128"/>
                  </a:lnTo>
                  <a:lnTo>
                    <a:pt x="13715" y="2567940"/>
                  </a:lnTo>
                  <a:lnTo>
                    <a:pt x="22860" y="2604516"/>
                  </a:lnTo>
                  <a:lnTo>
                    <a:pt x="22860" y="2606040"/>
                  </a:lnTo>
                  <a:lnTo>
                    <a:pt x="38100" y="2644140"/>
                  </a:lnTo>
                  <a:lnTo>
                    <a:pt x="38100" y="2645664"/>
                  </a:lnTo>
                  <a:lnTo>
                    <a:pt x="53339" y="2680716"/>
                  </a:lnTo>
                  <a:lnTo>
                    <a:pt x="62484" y="2697479"/>
                  </a:lnTo>
                  <a:lnTo>
                    <a:pt x="62484" y="2695955"/>
                  </a:lnTo>
                  <a:lnTo>
                    <a:pt x="76754" y="2695955"/>
                  </a:lnTo>
                  <a:lnTo>
                    <a:pt x="74675" y="2691384"/>
                  </a:lnTo>
                  <a:lnTo>
                    <a:pt x="74675" y="2689860"/>
                  </a:lnTo>
                  <a:lnTo>
                    <a:pt x="67056" y="2674620"/>
                  </a:lnTo>
                  <a:lnTo>
                    <a:pt x="50291" y="2639567"/>
                  </a:lnTo>
                  <a:lnTo>
                    <a:pt x="37103" y="2601467"/>
                  </a:lnTo>
                  <a:lnTo>
                    <a:pt x="36575" y="2601467"/>
                  </a:lnTo>
                  <a:lnTo>
                    <a:pt x="27432" y="2564891"/>
                  </a:lnTo>
                  <a:lnTo>
                    <a:pt x="23211" y="2546604"/>
                  </a:lnTo>
                  <a:lnTo>
                    <a:pt x="22860" y="2546604"/>
                  </a:lnTo>
                  <a:lnTo>
                    <a:pt x="19812" y="2526791"/>
                  </a:lnTo>
                  <a:lnTo>
                    <a:pt x="21336" y="2526791"/>
                  </a:lnTo>
                  <a:lnTo>
                    <a:pt x="18287" y="2508504"/>
                  </a:lnTo>
                  <a:lnTo>
                    <a:pt x="13715" y="2369820"/>
                  </a:lnTo>
                  <a:lnTo>
                    <a:pt x="13715" y="2232660"/>
                  </a:lnTo>
                  <a:lnTo>
                    <a:pt x="21336" y="2151888"/>
                  </a:lnTo>
                  <a:lnTo>
                    <a:pt x="21674" y="2151888"/>
                  </a:lnTo>
                  <a:lnTo>
                    <a:pt x="30480" y="2112264"/>
                  </a:lnTo>
                  <a:lnTo>
                    <a:pt x="30988" y="2112264"/>
                  </a:lnTo>
                  <a:lnTo>
                    <a:pt x="35051" y="2100072"/>
                  </a:lnTo>
                  <a:lnTo>
                    <a:pt x="54863" y="2046732"/>
                  </a:lnTo>
                  <a:lnTo>
                    <a:pt x="56387" y="2046732"/>
                  </a:lnTo>
                  <a:lnTo>
                    <a:pt x="60960" y="2029967"/>
                  </a:lnTo>
                  <a:lnTo>
                    <a:pt x="61722" y="2026920"/>
                  </a:lnTo>
                  <a:lnTo>
                    <a:pt x="47244" y="2026920"/>
                  </a:lnTo>
                  <a:lnTo>
                    <a:pt x="47244" y="2025395"/>
                  </a:lnTo>
                  <a:close/>
                </a:path>
                <a:path w="568960" h="3441700">
                  <a:moveTo>
                    <a:pt x="36575" y="2599944"/>
                  </a:moveTo>
                  <a:lnTo>
                    <a:pt x="36575" y="2601467"/>
                  </a:lnTo>
                  <a:lnTo>
                    <a:pt x="37103" y="2601467"/>
                  </a:lnTo>
                  <a:lnTo>
                    <a:pt x="36575" y="2599944"/>
                  </a:lnTo>
                  <a:close/>
                </a:path>
                <a:path w="568960" h="3441700">
                  <a:moveTo>
                    <a:pt x="22860" y="2545079"/>
                  </a:moveTo>
                  <a:lnTo>
                    <a:pt x="22860" y="2546604"/>
                  </a:lnTo>
                  <a:lnTo>
                    <a:pt x="23211" y="2546604"/>
                  </a:lnTo>
                  <a:lnTo>
                    <a:pt x="22860" y="2545079"/>
                  </a:lnTo>
                  <a:close/>
                </a:path>
                <a:path w="568960" h="3441700">
                  <a:moveTo>
                    <a:pt x="21674" y="2151888"/>
                  </a:moveTo>
                  <a:lnTo>
                    <a:pt x="21336" y="2151888"/>
                  </a:lnTo>
                  <a:lnTo>
                    <a:pt x="21336" y="2153411"/>
                  </a:lnTo>
                  <a:lnTo>
                    <a:pt x="21674" y="2151888"/>
                  </a:lnTo>
                  <a:close/>
                </a:path>
                <a:path w="568960" h="3441700">
                  <a:moveTo>
                    <a:pt x="30988" y="2112264"/>
                  </a:moveTo>
                  <a:lnTo>
                    <a:pt x="30480" y="2112264"/>
                  </a:lnTo>
                  <a:lnTo>
                    <a:pt x="30480" y="2113788"/>
                  </a:lnTo>
                  <a:lnTo>
                    <a:pt x="30988" y="2112264"/>
                  </a:lnTo>
                  <a:close/>
                </a:path>
                <a:path w="568960" h="3441700">
                  <a:moveTo>
                    <a:pt x="50291" y="2013203"/>
                  </a:moveTo>
                  <a:lnTo>
                    <a:pt x="48768" y="2019300"/>
                  </a:lnTo>
                  <a:lnTo>
                    <a:pt x="47244" y="2026920"/>
                  </a:lnTo>
                  <a:lnTo>
                    <a:pt x="61722" y="2026920"/>
                  </a:lnTo>
                  <a:lnTo>
                    <a:pt x="62484" y="2023871"/>
                  </a:lnTo>
                  <a:lnTo>
                    <a:pt x="64008" y="2016252"/>
                  </a:lnTo>
                  <a:lnTo>
                    <a:pt x="64388" y="2014727"/>
                  </a:lnTo>
                  <a:lnTo>
                    <a:pt x="50291" y="2014727"/>
                  </a:lnTo>
                  <a:lnTo>
                    <a:pt x="50291" y="2013203"/>
                  </a:lnTo>
                  <a:close/>
                </a:path>
                <a:path w="568960" h="3441700">
                  <a:moveTo>
                    <a:pt x="128015" y="1347215"/>
                  </a:moveTo>
                  <a:lnTo>
                    <a:pt x="96012" y="1418843"/>
                  </a:lnTo>
                  <a:lnTo>
                    <a:pt x="89915" y="1434083"/>
                  </a:lnTo>
                  <a:lnTo>
                    <a:pt x="82296" y="1449324"/>
                  </a:lnTo>
                  <a:lnTo>
                    <a:pt x="82296" y="1450848"/>
                  </a:lnTo>
                  <a:lnTo>
                    <a:pt x="77724" y="1466088"/>
                  </a:lnTo>
                  <a:lnTo>
                    <a:pt x="71627" y="1482852"/>
                  </a:lnTo>
                  <a:lnTo>
                    <a:pt x="67056" y="1499615"/>
                  </a:lnTo>
                  <a:lnTo>
                    <a:pt x="59436" y="1543812"/>
                  </a:lnTo>
                  <a:lnTo>
                    <a:pt x="50291" y="1673352"/>
                  </a:lnTo>
                  <a:lnTo>
                    <a:pt x="50291" y="1879091"/>
                  </a:lnTo>
                  <a:lnTo>
                    <a:pt x="51815" y="1981200"/>
                  </a:lnTo>
                  <a:lnTo>
                    <a:pt x="51815" y="2001011"/>
                  </a:lnTo>
                  <a:lnTo>
                    <a:pt x="50291" y="2008632"/>
                  </a:lnTo>
                  <a:lnTo>
                    <a:pt x="50291" y="2014727"/>
                  </a:lnTo>
                  <a:lnTo>
                    <a:pt x="64388" y="2014727"/>
                  </a:lnTo>
                  <a:lnTo>
                    <a:pt x="65532" y="2010155"/>
                  </a:lnTo>
                  <a:lnTo>
                    <a:pt x="65532" y="1673352"/>
                  </a:lnTo>
                  <a:lnTo>
                    <a:pt x="73013" y="1547663"/>
                  </a:lnTo>
                  <a:lnTo>
                    <a:pt x="73092" y="1546336"/>
                  </a:lnTo>
                  <a:lnTo>
                    <a:pt x="73151" y="1545336"/>
                  </a:lnTo>
                  <a:lnTo>
                    <a:pt x="73414" y="1545336"/>
                  </a:lnTo>
                  <a:lnTo>
                    <a:pt x="80772" y="1502664"/>
                  </a:lnTo>
                  <a:lnTo>
                    <a:pt x="85344" y="1487424"/>
                  </a:lnTo>
                  <a:lnTo>
                    <a:pt x="91439" y="1470660"/>
                  </a:lnTo>
                  <a:lnTo>
                    <a:pt x="89915" y="1470660"/>
                  </a:lnTo>
                  <a:lnTo>
                    <a:pt x="102108" y="1440179"/>
                  </a:lnTo>
                  <a:lnTo>
                    <a:pt x="109727" y="1424939"/>
                  </a:lnTo>
                  <a:lnTo>
                    <a:pt x="141732" y="1353312"/>
                  </a:lnTo>
                  <a:lnTo>
                    <a:pt x="143256" y="1348739"/>
                  </a:lnTo>
                  <a:lnTo>
                    <a:pt x="128015" y="1348739"/>
                  </a:lnTo>
                  <a:lnTo>
                    <a:pt x="128015" y="1347215"/>
                  </a:lnTo>
                  <a:close/>
                </a:path>
                <a:path w="568960" h="3441700">
                  <a:moveTo>
                    <a:pt x="73414" y="1545336"/>
                  </a:moveTo>
                  <a:lnTo>
                    <a:pt x="73151" y="1545336"/>
                  </a:lnTo>
                  <a:lnTo>
                    <a:pt x="73151" y="1546336"/>
                  </a:lnTo>
                  <a:lnTo>
                    <a:pt x="73414" y="1545336"/>
                  </a:lnTo>
                  <a:close/>
                </a:path>
                <a:path w="568960" h="3441700">
                  <a:moveTo>
                    <a:pt x="137160" y="1315212"/>
                  </a:moveTo>
                  <a:lnTo>
                    <a:pt x="134112" y="1325879"/>
                  </a:lnTo>
                  <a:lnTo>
                    <a:pt x="135636" y="1325879"/>
                  </a:lnTo>
                  <a:lnTo>
                    <a:pt x="128015" y="1348739"/>
                  </a:lnTo>
                  <a:lnTo>
                    <a:pt x="143256" y="1348739"/>
                  </a:lnTo>
                  <a:lnTo>
                    <a:pt x="149351" y="1330452"/>
                  </a:lnTo>
                  <a:lnTo>
                    <a:pt x="150875" y="1319783"/>
                  </a:lnTo>
                  <a:lnTo>
                    <a:pt x="151746" y="1316736"/>
                  </a:lnTo>
                  <a:lnTo>
                    <a:pt x="137160" y="1316736"/>
                  </a:lnTo>
                  <a:lnTo>
                    <a:pt x="137160" y="1315212"/>
                  </a:lnTo>
                  <a:close/>
                </a:path>
                <a:path w="568960" h="3441700">
                  <a:moveTo>
                    <a:pt x="187451" y="891539"/>
                  </a:moveTo>
                  <a:lnTo>
                    <a:pt x="173736" y="955548"/>
                  </a:lnTo>
                  <a:lnTo>
                    <a:pt x="169163" y="979931"/>
                  </a:lnTo>
                  <a:lnTo>
                    <a:pt x="150875" y="1088136"/>
                  </a:lnTo>
                  <a:lnTo>
                    <a:pt x="150822" y="1090629"/>
                  </a:lnTo>
                  <a:lnTo>
                    <a:pt x="143256" y="1226819"/>
                  </a:lnTo>
                  <a:lnTo>
                    <a:pt x="143256" y="1274064"/>
                  </a:lnTo>
                  <a:lnTo>
                    <a:pt x="140208" y="1295400"/>
                  </a:lnTo>
                  <a:lnTo>
                    <a:pt x="140208" y="1306067"/>
                  </a:lnTo>
                  <a:lnTo>
                    <a:pt x="137160" y="1316736"/>
                  </a:lnTo>
                  <a:lnTo>
                    <a:pt x="151746" y="1316736"/>
                  </a:lnTo>
                  <a:lnTo>
                    <a:pt x="153924" y="1309115"/>
                  </a:lnTo>
                  <a:lnTo>
                    <a:pt x="153924" y="1307591"/>
                  </a:lnTo>
                  <a:lnTo>
                    <a:pt x="156972" y="1286255"/>
                  </a:lnTo>
                  <a:lnTo>
                    <a:pt x="156972" y="1274064"/>
                  </a:lnTo>
                  <a:lnTo>
                    <a:pt x="158496" y="1226819"/>
                  </a:lnTo>
                  <a:lnTo>
                    <a:pt x="165982" y="1092054"/>
                  </a:lnTo>
                  <a:lnTo>
                    <a:pt x="166062" y="1090629"/>
                  </a:lnTo>
                  <a:lnTo>
                    <a:pt x="166115" y="1089660"/>
                  </a:lnTo>
                  <a:lnTo>
                    <a:pt x="166348" y="1089660"/>
                  </a:lnTo>
                  <a:lnTo>
                    <a:pt x="182880" y="981455"/>
                  </a:lnTo>
                  <a:lnTo>
                    <a:pt x="183261" y="981455"/>
                  </a:lnTo>
                  <a:lnTo>
                    <a:pt x="188975" y="958595"/>
                  </a:lnTo>
                  <a:lnTo>
                    <a:pt x="201168" y="894588"/>
                  </a:lnTo>
                  <a:lnTo>
                    <a:pt x="201371" y="893063"/>
                  </a:lnTo>
                  <a:lnTo>
                    <a:pt x="187451" y="893063"/>
                  </a:lnTo>
                  <a:lnTo>
                    <a:pt x="187451" y="891539"/>
                  </a:lnTo>
                  <a:close/>
                </a:path>
                <a:path w="568960" h="3441700">
                  <a:moveTo>
                    <a:pt x="166348" y="1089660"/>
                  </a:moveTo>
                  <a:lnTo>
                    <a:pt x="166115" y="1089660"/>
                  </a:lnTo>
                  <a:lnTo>
                    <a:pt x="166115" y="1090629"/>
                  </a:lnTo>
                  <a:lnTo>
                    <a:pt x="166348" y="1089660"/>
                  </a:lnTo>
                  <a:close/>
                </a:path>
                <a:path w="568960" h="3441700">
                  <a:moveTo>
                    <a:pt x="183261" y="981455"/>
                  </a:moveTo>
                  <a:lnTo>
                    <a:pt x="182880" y="981455"/>
                  </a:lnTo>
                  <a:lnTo>
                    <a:pt x="182880" y="982979"/>
                  </a:lnTo>
                  <a:lnTo>
                    <a:pt x="183261" y="981455"/>
                  </a:lnTo>
                  <a:close/>
                </a:path>
                <a:path w="568960" h="3441700">
                  <a:moveTo>
                    <a:pt x="565403" y="0"/>
                  </a:moveTo>
                  <a:lnTo>
                    <a:pt x="550163" y="0"/>
                  </a:lnTo>
                  <a:lnTo>
                    <a:pt x="486156" y="1524"/>
                  </a:lnTo>
                  <a:lnTo>
                    <a:pt x="472439" y="1524"/>
                  </a:lnTo>
                  <a:lnTo>
                    <a:pt x="461772" y="4572"/>
                  </a:lnTo>
                  <a:lnTo>
                    <a:pt x="449580" y="6095"/>
                  </a:lnTo>
                  <a:lnTo>
                    <a:pt x="448056" y="6095"/>
                  </a:lnTo>
                  <a:lnTo>
                    <a:pt x="420624" y="12191"/>
                  </a:lnTo>
                  <a:lnTo>
                    <a:pt x="420624" y="13715"/>
                  </a:lnTo>
                  <a:lnTo>
                    <a:pt x="406908" y="16763"/>
                  </a:lnTo>
                  <a:lnTo>
                    <a:pt x="393191" y="22860"/>
                  </a:lnTo>
                  <a:lnTo>
                    <a:pt x="381000" y="27431"/>
                  </a:lnTo>
                  <a:lnTo>
                    <a:pt x="368808" y="33527"/>
                  </a:lnTo>
                  <a:lnTo>
                    <a:pt x="367284" y="33527"/>
                  </a:lnTo>
                  <a:lnTo>
                    <a:pt x="355091" y="39624"/>
                  </a:lnTo>
                  <a:lnTo>
                    <a:pt x="342900" y="47243"/>
                  </a:lnTo>
                  <a:lnTo>
                    <a:pt x="332232" y="54863"/>
                  </a:lnTo>
                  <a:lnTo>
                    <a:pt x="330708" y="54863"/>
                  </a:lnTo>
                  <a:lnTo>
                    <a:pt x="306324" y="74675"/>
                  </a:lnTo>
                  <a:lnTo>
                    <a:pt x="304800" y="74675"/>
                  </a:lnTo>
                  <a:lnTo>
                    <a:pt x="298703" y="80772"/>
                  </a:lnTo>
                  <a:lnTo>
                    <a:pt x="286512" y="96012"/>
                  </a:lnTo>
                  <a:lnTo>
                    <a:pt x="280415" y="102107"/>
                  </a:lnTo>
                  <a:lnTo>
                    <a:pt x="280415" y="103631"/>
                  </a:lnTo>
                  <a:lnTo>
                    <a:pt x="274320" y="109727"/>
                  </a:lnTo>
                  <a:lnTo>
                    <a:pt x="274320" y="111251"/>
                  </a:lnTo>
                  <a:lnTo>
                    <a:pt x="269748" y="118872"/>
                  </a:lnTo>
                  <a:lnTo>
                    <a:pt x="268224" y="118872"/>
                  </a:lnTo>
                  <a:lnTo>
                    <a:pt x="259080" y="135636"/>
                  </a:lnTo>
                  <a:lnTo>
                    <a:pt x="228600" y="204215"/>
                  </a:lnTo>
                  <a:lnTo>
                    <a:pt x="214884" y="240791"/>
                  </a:lnTo>
                  <a:lnTo>
                    <a:pt x="204215" y="278891"/>
                  </a:lnTo>
                  <a:lnTo>
                    <a:pt x="204215" y="280415"/>
                  </a:lnTo>
                  <a:lnTo>
                    <a:pt x="199644" y="298703"/>
                  </a:lnTo>
                  <a:lnTo>
                    <a:pt x="196596" y="318515"/>
                  </a:lnTo>
                  <a:lnTo>
                    <a:pt x="193548" y="358139"/>
                  </a:lnTo>
                  <a:lnTo>
                    <a:pt x="193548" y="600455"/>
                  </a:lnTo>
                  <a:lnTo>
                    <a:pt x="195072" y="659891"/>
                  </a:lnTo>
                  <a:lnTo>
                    <a:pt x="193548" y="829055"/>
                  </a:lnTo>
                  <a:lnTo>
                    <a:pt x="193548" y="847343"/>
                  </a:lnTo>
                  <a:lnTo>
                    <a:pt x="187451" y="893063"/>
                  </a:lnTo>
                  <a:lnTo>
                    <a:pt x="201371" y="893063"/>
                  </a:lnTo>
                  <a:lnTo>
                    <a:pt x="207263" y="848867"/>
                  </a:lnTo>
                  <a:lnTo>
                    <a:pt x="208787" y="829055"/>
                  </a:lnTo>
                  <a:lnTo>
                    <a:pt x="208787" y="600455"/>
                  </a:lnTo>
                  <a:lnTo>
                    <a:pt x="207263" y="519683"/>
                  </a:lnTo>
                  <a:lnTo>
                    <a:pt x="207381" y="358139"/>
                  </a:lnTo>
                  <a:lnTo>
                    <a:pt x="210136" y="322325"/>
                  </a:lnTo>
                  <a:lnTo>
                    <a:pt x="210233" y="321062"/>
                  </a:lnTo>
                  <a:lnTo>
                    <a:pt x="210312" y="320039"/>
                  </a:lnTo>
                  <a:lnTo>
                    <a:pt x="210663" y="320039"/>
                  </a:lnTo>
                  <a:lnTo>
                    <a:pt x="214884" y="301751"/>
                  </a:lnTo>
                  <a:lnTo>
                    <a:pt x="213360" y="301751"/>
                  </a:lnTo>
                  <a:lnTo>
                    <a:pt x="217932" y="281939"/>
                  </a:lnTo>
                  <a:lnTo>
                    <a:pt x="218283" y="281939"/>
                  </a:lnTo>
                  <a:lnTo>
                    <a:pt x="222503" y="263651"/>
                  </a:lnTo>
                  <a:lnTo>
                    <a:pt x="234696" y="227075"/>
                  </a:lnTo>
                  <a:lnTo>
                    <a:pt x="242315" y="208787"/>
                  </a:lnTo>
                  <a:lnTo>
                    <a:pt x="242993" y="208787"/>
                  </a:lnTo>
                  <a:lnTo>
                    <a:pt x="272796" y="141731"/>
                  </a:lnTo>
                  <a:lnTo>
                    <a:pt x="281939" y="126491"/>
                  </a:lnTo>
                  <a:lnTo>
                    <a:pt x="280415" y="126491"/>
                  </a:lnTo>
                  <a:lnTo>
                    <a:pt x="286512" y="118872"/>
                  </a:lnTo>
                  <a:lnTo>
                    <a:pt x="291084" y="111251"/>
                  </a:lnTo>
                  <a:lnTo>
                    <a:pt x="297180" y="105155"/>
                  </a:lnTo>
                  <a:lnTo>
                    <a:pt x="303275" y="97536"/>
                  </a:lnTo>
                  <a:lnTo>
                    <a:pt x="315468" y="85343"/>
                  </a:lnTo>
                  <a:lnTo>
                    <a:pt x="339851" y="67055"/>
                  </a:lnTo>
                  <a:lnTo>
                    <a:pt x="350520" y="59436"/>
                  </a:lnTo>
                  <a:lnTo>
                    <a:pt x="362712" y="53339"/>
                  </a:lnTo>
                  <a:lnTo>
                    <a:pt x="374903" y="45719"/>
                  </a:lnTo>
                  <a:lnTo>
                    <a:pt x="376809" y="45719"/>
                  </a:lnTo>
                  <a:lnTo>
                    <a:pt x="387096" y="41148"/>
                  </a:lnTo>
                  <a:lnTo>
                    <a:pt x="385572" y="41148"/>
                  </a:lnTo>
                  <a:lnTo>
                    <a:pt x="399288" y="35051"/>
                  </a:lnTo>
                  <a:lnTo>
                    <a:pt x="411480" y="30479"/>
                  </a:lnTo>
                  <a:lnTo>
                    <a:pt x="425196" y="25907"/>
                  </a:lnTo>
                  <a:lnTo>
                    <a:pt x="429463" y="25907"/>
                  </a:lnTo>
                  <a:lnTo>
                    <a:pt x="452627" y="19812"/>
                  </a:lnTo>
                  <a:lnTo>
                    <a:pt x="451103" y="19812"/>
                  </a:lnTo>
                  <a:lnTo>
                    <a:pt x="475488" y="16763"/>
                  </a:lnTo>
                  <a:lnTo>
                    <a:pt x="473963" y="16763"/>
                  </a:lnTo>
                  <a:lnTo>
                    <a:pt x="486156" y="15239"/>
                  </a:lnTo>
                  <a:lnTo>
                    <a:pt x="551688" y="13715"/>
                  </a:lnTo>
                  <a:lnTo>
                    <a:pt x="565403" y="13715"/>
                  </a:lnTo>
                  <a:lnTo>
                    <a:pt x="568451" y="10667"/>
                  </a:lnTo>
                  <a:lnTo>
                    <a:pt x="568451" y="3048"/>
                  </a:lnTo>
                  <a:lnTo>
                    <a:pt x="565403" y="0"/>
                  </a:lnTo>
                  <a:close/>
                </a:path>
                <a:path w="568960" h="3441700">
                  <a:moveTo>
                    <a:pt x="210663" y="320039"/>
                  </a:moveTo>
                  <a:lnTo>
                    <a:pt x="210312" y="320039"/>
                  </a:lnTo>
                  <a:lnTo>
                    <a:pt x="210312" y="321062"/>
                  </a:lnTo>
                  <a:lnTo>
                    <a:pt x="210663" y="320039"/>
                  </a:lnTo>
                  <a:close/>
                </a:path>
                <a:path w="568960" h="3441700">
                  <a:moveTo>
                    <a:pt x="218283" y="281939"/>
                  </a:moveTo>
                  <a:lnTo>
                    <a:pt x="217932" y="281939"/>
                  </a:lnTo>
                  <a:lnTo>
                    <a:pt x="217932" y="283463"/>
                  </a:lnTo>
                  <a:lnTo>
                    <a:pt x="218283" y="281939"/>
                  </a:lnTo>
                  <a:close/>
                </a:path>
                <a:path w="568960" h="3441700">
                  <a:moveTo>
                    <a:pt x="242993" y="208787"/>
                  </a:moveTo>
                  <a:lnTo>
                    <a:pt x="242315" y="208787"/>
                  </a:lnTo>
                  <a:lnTo>
                    <a:pt x="242315" y="210312"/>
                  </a:lnTo>
                  <a:lnTo>
                    <a:pt x="242993" y="208787"/>
                  </a:lnTo>
                  <a:close/>
                </a:path>
                <a:path w="568960" h="3441700">
                  <a:moveTo>
                    <a:pt x="376809" y="45719"/>
                  </a:moveTo>
                  <a:lnTo>
                    <a:pt x="374903" y="45719"/>
                  </a:lnTo>
                  <a:lnTo>
                    <a:pt x="373380" y="47243"/>
                  </a:lnTo>
                  <a:lnTo>
                    <a:pt x="376809" y="45719"/>
                  </a:lnTo>
                  <a:close/>
                </a:path>
                <a:path w="568960" h="3441700">
                  <a:moveTo>
                    <a:pt x="429463" y="25907"/>
                  </a:moveTo>
                  <a:lnTo>
                    <a:pt x="425196" y="25907"/>
                  </a:lnTo>
                  <a:lnTo>
                    <a:pt x="423672" y="27431"/>
                  </a:lnTo>
                  <a:lnTo>
                    <a:pt x="429463" y="25907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2108" y="3168396"/>
              <a:ext cx="1569720" cy="7802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3919" y="1689455"/>
            <a:ext cx="689800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Iterative</a:t>
            </a:r>
            <a:r>
              <a:rPr spc="-130" dirty="0"/>
              <a:t> </a:t>
            </a:r>
            <a:r>
              <a:rPr dirty="0"/>
              <a:t>Deepening</a:t>
            </a:r>
            <a:r>
              <a:rPr spc="-155" dirty="0"/>
              <a:t> </a:t>
            </a:r>
            <a:r>
              <a:rPr spc="-20" dirty="0"/>
              <a:t>DFS</a:t>
            </a:r>
            <a:r>
              <a:rPr spc="-150" dirty="0"/>
              <a:t> </a:t>
            </a:r>
            <a:r>
              <a:rPr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2080" y="2517648"/>
            <a:ext cx="6998208" cy="342442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3919" y="1689455"/>
            <a:ext cx="689800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Iterative</a:t>
            </a:r>
            <a:r>
              <a:rPr spc="-130" dirty="0"/>
              <a:t> </a:t>
            </a:r>
            <a:r>
              <a:rPr dirty="0"/>
              <a:t>Deepening</a:t>
            </a:r>
            <a:r>
              <a:rPr spc="-155" dirty="0"/>
              <a:t> </a:t>
            </a:r>
            <a:r>
              <a:rPr spc="-20" dirty="0"/>
              <a:t>DFS</a:t>
            </a:r>
            <a:r>
              <a:rPr spc="-150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05483" y="2891027"/>
            <a:ext cx="6776084" cy="3183890"/>
            <a:chOff x="1205483" y="2891027"/>
            <a:chExt cx="6776084" cy="31838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5483" y="2891027"/>
              <a:ext cx="6775704" cy="31836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18916" y="3764280"/>
              <a:ext cx="1290955" cy="247015"/>
            </a:xfrm>
            <a:custGeom>
              <a:avLst/>
              <a:gdLst/>
              <a:ahLst/>
              <a:cxnLst/>
              <a:rect l="l" t="t" r="r" b="b"/>
              <a:pathLst>
                <a:path w="1290954" h="247014">
                  <a:moveTo>
                    <a:pt x="10668" y="225552"/>
                  </a:moveTo>
                  <a:lnTo>
                    <a:pt x="4572" y="225552"/>
                  </a:lnTo>
                  <a:lnTo>
                    <a:pt x="0" y="230124"/>
                  </a:lnTo>
                  <a:lnTo>
                    <a:pt x="0" y="242316"/>
                  </a:lnTo>
                  <a:lnTo>
                    <a:pt x="4572" y="246887"/>
                  </a:lnTo>
                  <a:lnTo>
                    <a:pt x="132587" y="246887"/>
                  </a:lnTo>
                  <a:lnTo>
                    <a:pt x="140208" y="245364"/>
                  </a:lnTo>
                  <a:lnTo>
                    <a:pt x="149351" y="243840"/>
                  </a:lnTo>
                  <a:lnTo>
                    <a:pt x="172212" y="239268"/>
                  </a:lnTo>
                  <a:lnTo>
                    <a:pt x="173736" y="239268"/>
                  </a:lnTo>
                  <a:lnTo>
                    <a:pt x="192024" y="231648"/>
                  </a:lnTo>
                  <a:lnTo>
                    <a:pt x="193548" y="231648"/>
                  </a:lnTo>
                  <a:lnTo>
                    <a:pt x="202692" y="227075"/>
                  </a:lnTo>
                  <a:lnTo>
                    <a:pt x="48768" y="227075"/>
                  </a:lnTo>
                  <a:lnTo>
                    <a:pt x="10668" y="225552"/>
                  </a:lnTo>
                  <a:close/>
                </a:path>
                <a:path w="1290954" h="247014">
                  <a:moveTo>
                    <a:pt x="185928" y="211836"/>
                  </a:moveTo>
                  <a:lnTo>
                    <a:pt x="166116" y="219456"/>
                  </a:lnTo>
                  <a:lnTo>
                    <a:pt x="167639" y="219456"/>
                  </a:lnTo>
                  <a:lnTo>
                    <a:pt x="137160" y="225552"/>
                  </a:lnTo>
                  <a:lnTo>
                    <a:pt x="131063" y="225552"/>
                  </a:lnTo>
                  <a:lnTo>
                    <a:pt x="48768" y="227075"/>
                  </a:lnTo>
                  <a:lnTo>
                    <a:pt x="202692" y="227075"/>
                  </a:lnTo>
                  <a:lnTo>
                    <a:pt x="230124" y="213360"/>
                  </a:lnTo>
                  <a:lnTo>
                    <a:pt x="184404" y="213360"/>
                  </a:lnTo>
                  <a:lnTo>
                    <a:pt x="185928" y="211836"/>
                  </a:lnTo>
                  <a:close/>
                </a:path>
                <a:path w="1290954" h="247014">
                  <a:moveTo>
                    <a:pt x="402336" y="96012"/>
                  </a:moveTo>
                  <a:lnTo>
                    <a:pt x="397763" y="99060"/>
                  </a:lnTo>
                  <a:lnTo>
                    <a:pt x="394716" y="100584"/>
                  </a:lnTo>
                  <a:lnTo>
                    <a:pt x="396239" y="100584"/>
                  </a:lnTo>
                  <a:lnTo>
                    <a:pt x="390144" y="103632"/>
                  </a:lnTo>
                  <a:lnTo>
                    <a:pt x="385572" y="103632"/>
                  </a:lnTo>
                  <a:lnTo>
                    <a:pt x="384048" y="105156"/>
                  </a:lnTo>
                  <a:lnTo>
                    <a:pt x="374904" y="108204"/>
                  </a:lnTo>
                  <a:lnTo>
                    <a:pt x="373380" y="108204"/>
                  </a:lnTo>
                  <a:lnTo>
                    <a:pt x="370332" y="109728"/>
                  </a:lnTo>
                  <a:lnTo>
                    <a:pt x="368808" y="109728"/>
                  </a:lnTo>
                  <a:lnTo>
                    <a:pt x="365760" y="111252"/>
                  </a:lnTo>
                  <a:lnTo>
                    <a:pt x="364236" y="112775"/>
                  </a:lnTo>
                  <a:lnTo>
                    <a:pt x="316992" y="141732"/>
                  </a:lnTo>
                  <a:lnTo>
                    <a:pt x="257556" y="176784"/>
                  </a:lnTo>
                  <a:lnTo>
                    <a:pt x="259080" y="176784"/>
                  </a:lnTo>
                  <a:lnTo>
                    <a:pt x="239268" y="185928"/>
                  </a:lnTo>
                  <a:lnTo>
                    <a:pt x="184404" y="213360"/>
                  </a:lnTo>
                  <a:lnTo>
                    <a:pt x="230124" y="213360"/>
                  </a:lnTo>
                  <a:lnTo>
                    <a:pt x="248412" y="204216"/>
                  </a:lnTo>
                  <a:lnTo>
                    <a:pt x="268224" y="195072"/>
                  </a:lnTo>
                  <a:lnTo>
                    <a:pt x="374904" y="129540"/>
                  </a:lnTo>
                  <a:lnTo>
                    <a:pt x="377951" y="128016"/>
                  </a:lnTo>
                  <a:lnTo>
                    <a:pt x="381000" y="128016"/>
                  </a:lnTo>
                  <a:lnTo>
                    <a:pt x="390144" y="124968"/>
                  </a:lnTo>
                  <a:lnTo>
                    <a:pt x="393192" y="123444"/>
                  </a:lnTo>
                  <a:lnTo>
                    <a:pt x="394716" y="123444"/>
                  </a:lnTo>
                  <a:lnTo>
                    <a:pt x="397763" y="121920"/>
                  </a:lnTo>
                  <a:lnTo>
                    <a:pt x="399288" y="121920"/>
                  </a:lnTo>
                  <a:lnTo>
                    <a:pt x="402336" y="120396"/>
                  </a:lnTo>
                  <a:lnTo>
                    <a:pt x="403860" y="118872"/>
                  </a:lnTo>
                  <a:lnTo>
                    <a:pt x="405384" y="118872"/>
                  </a:lnTo>
                  <a:lnTo>
                    <a:pt x="408432" y="117348"/>
                  </a:lnTo>
                  <a:lnTo>
                    <a:pt x="413004" y="114300"/>
                  </a:lnTo>
                  <a:lnTo>
                    <a:pt x="414528" y="112775"/>
                  </a:lnTo>
                  <a:lnTo>
                    <a:pt x="435210" y="97536"/>
                  </a:lnTo>
                  <a:lnTo>
                    <a:pt x="402336" y="97536"/>
                  </a:lnTo>
                  <a:lnTo>
                    <a:pt x="402336" y="96012"/>
                  </a:lnTo>
                  <a:close/>
                </a:path>
                <a:path w="1290954" h="247014">
                  <a:moveTo>
                    <a:pt x="1289304" y="128016"/>
                  </a:moveTo>
                  <a:lnTo>
                    <a:pt x="1251204" y="128016"/>
                  </a:lnTo>
                  <a:lnTo>
                    <a:pt x="1254252" y="129540"/>
                  </a:lnTo>
                  <a:lnTo>
                    <a:pt x="1254252" y="131064"/>
                  </a:lnTo>
                  <a:lnTo>
                    <a:pt x="1257300" y="131064"/>
                  </a:lnTo>
                  <a:lnTo>
                    <a:pt x="1258824" y="132587"/>
                  </a:lnTo>
                  <a:lnTo>
                    <a:pt x="1261872" y="132587"/>
                  </a:lnTo>
                  <a:lnTo>
                    <a:pt x="1264920" y="134112"/>
                  </a:lnTo>
                  <a:lnTo>
                    <a:pt x="1266444" y="134112"/>
                  </a:lnTo>
                  <a:lnTo>
                    <a:pt x="1274064" y="135636"/>
                  </a:lnTo>
                  <a:lnTo>
                    <a:pt x="1284732" y="135636"/>
                  </a:lnTo>
                  <a:lnTo>
                    <a:pt x="1287780" y="134112"/>
                  </a:lnTo>
                  <a:lnTo>
                    <a:pt x="1289304" y="131064"/>
                  </a:lnTo>
                  <a:lnTo>
                    <a:pt x="1289304" y="128016"/>
                  </a:lnTo>
                  <a:close/>
                </a:path>
                <a:path w="1290954" h="247014">
                  <a:moveTo>
                    <a:pt x="381000" y="128016"/>
                  </a:moveTo>
                  <a:lnTo>
                    <a:pt x="377951" y="128016"/>
                  </a:lnTo>
                  <a:lnTo>
                    <a:pt x="377951" y="129540"/>
                  </a:lnTo>
                  <a:lnTo>
                    <a:pt x="381000" y="128016"/>
                  </a:lnTo>
                  <a:close/>
                </a:path>
                <a:path w="1290954" h="247014">
                  <a:moveTo>
                    <a:pt x="1092708" y="60960"/>
                  </a:moveTo>
                  <a:lnTo>
                    <a:pt x="1053084" y="60960"/>
                  </a:lnTo>
                  <a:lnTo>
                    <a:pt x="1068324" y="70104"/>
                  </a:lnTo>
                  <a:lnTo>
                    <a:pt x="1074420" y="73152"/>
                  </a:lnTo>
                  <a:lnTo>
                    <a:pt x="1080516" y="77724"/>
                  </a:lnTo>
                  <a:lnTo>
                    <a:pt x="1086612" y="80772"/>
                  </a:lnTo>
                  <a:lnTo>
                    <a:pt x="1088136" y="80772"/>
                  </a:lnTo>
                  <a:lnTo>
                    <a:pt x="1101852" y="86868"/>
                  </a:lnTo>
                  <a:lnTo>
                    <a:pt x="1103376" y="86868"/>
                  </a:lnTo>
                  <a:lnTo>
                    <a:pt x="1205484" y="115824"/>
                  </a:lnTo>
                  <a:lnTo>
                    <a:pt x="1220724" y="118872"/>
                  </a:lnTo>
                  <a:lnTo>
                    <a:pt x="1223772" y="118872"/>
                  </a:lnTo>
                  <a:lnTo>
                    <a:pt x="1226820" y="120396"/>
                  </a:lnTo>
                  <a:lnTo>
                    <a:pt x="1229868" y="120396"/>
                  </a:lnTo>
                  <a:lnTo>
                    <a:pt x="1232916" y="121920"/>
                  </a:lnTo>
                  <a:lnTo>
                    <a:pt x="1235964" y="121920"/>
                  </a:lnTo>
                  <a:lnTo>
                    <a:pt x="1239012" y="123444"/>
                  </a:lnTo>
                  <a:lnTo>
                    <a:pt x="1237488" y="123444"/>
                  </a:lnTo>
                  <a:lnTo>
                    <a:pt x="1245108" y="124968"/>
                  </a:lnTo>
                  <a:lnTo>
                    <a:pt x="1243584" y="124968"/>
                  </a:lnTo>
                  <a:lnTo>
                    <a:pt x="1246632" y="126492"/>
                  </a:lnTo>
                  <a:lnTo>
                    <a:pt x="1248156" y="128016"/>
                  </a:lnTo>
                  <a:lnTo>
                    <a:pt x="1251204" y="129540"/>
                  </a:lnTo>
                  <a:lnTo>
                    <a:pt x="1251204" y="128016"/>
                  </a:lnTo>
                  <a:lnTo>
                    <a:pt x="1289304" y="128016"/>
                  </a:lnTo>
                  <a:lnTo>
                    <a:pt x="1290828" y="124968"/>
                  </a:lnTo>
                  <a:lnTo>
                    <a:pt x="1289304" y="121920"/>
                  </a:lnTo>
                  <a:lnTo>
                    <a:pt x="1286256" y="120396"/>
                  </a:lnTo>
                  <a:lnTo>
                    <a:pt x="1280160" y="118872"/>
                  </a:lnTo>
                  <a:lnTo>
                    <a:pt x="1278636" y="117348"/>
                  </a:lnTo>
                  <a:lnTo>
                    <a:pt x="1271016" y="115824"/>
                  </a:lnTo>
                  <a:lnTo>
                    <a:pt x="1267968" y="114300"/>
                  </a:lnTo>
                  <a:lnTo>
                    <a:pt x="1266444" y="114300"/>
                  </a:lnTo>
                  <a:lnTo>
                    <a:pt x="1261872" y="112775"/>
                  </a:lnTo>
                  <a:lnTo>
                    <a:pt x="1263396" y="112775"/>
                  </a:lnTo>
                  <a:lnTo>
                    <a:pt x="1260348" y="111252"/>
                  </a:lnTo>
                  <a:lnTo>
                    <a:pt x="1258824" y="111252"/>
                  </a:lnTo>
                  <a:lnTo>
                    <a:pt x="1255776" y="109728"/>
                  </a:lnTo>
                  <a:lnTo>
                    <a:pt x="1257300" y="109728"/>
                  </a:lnTo>
                  <a:lnTo>
                    <a:pt x="1254252" y="108204"/>
                  </a:lnTo>
                  <a:lnTo>
                    <a:pt x="1252728" y="106680"/>
                  </a:lnTo>
                  <a:lnTo>
                    <a:pt x="1246632" y="103632"/>
                  </a:lnTo>
                  <a:lnTo>
                    <a:pt x="1242060" y="102108"/>
                  </a:lnTo>
                  <a:lnTo>
                    <a:pt x="1239012" y="102108"/>
                  </a:lnTo>
                  <a:lnTo>
                    <a:pt x="1235964" y="100584"/>
                  </a:lnTo>
                  <a:lnTo>
                    <a:pt x="1234439" y="100584"/>
                  </a:lnTo>
                  <a:lnTo>
                    <a:pt x="1231392" y="99060"/>
                  </a:lnTo>
                  <a:lnTo>
                    <a:pt x="1225296" y="99060"/>
                  </a:lnTo>
                  <a:lnTo>
                    <a:pt x="1210056" y="96012"/>
                  </a:lnTo>
                  <a:lnTo>
                    <a:pt x="1211580" y="96012"/>
                  </a:lnTo>
                  <a:lnTo>
                    <a:pt x="1178052" y="86868"/>
                  </a:lnTo>
                  <a:lnTo>
                    <a:pt x="1114747" y="68580"/>
                  </a:lnTo>
                  <a:lnTo>
                    <a:pt x="1109472" y="68580"/>
                  </a:lnTo>
                  <a:lnTo>
                    <a:pt x="1095756" y="62484"/>
                  </a:lnTo>
                  <a:lnTo>
                    <a:pt x="1092708" y="60960"/>
                  </a:lnTo>
                  <a:close/>
                </a:path>
                <a:path w="1290954" h="247014">
                  <a:moveTo>
                    <a:pt x="1264920" y="112775"/>
                  </a:moveTo>
                  <a:lnTo>
                    <a:pt x="1266444" y="114300"/>
                  </a:lnTo>
                  <a:lnTo>
                    <a:pt x="1267968" y="114300"/>
                  </a:lnTo>
                  <a:lnTo>
                    <a:pt x="1264920" y="112775"/>
                  </a:lnTo>
                  <a:close/>
                </a:path>
                <a:path w="1290954" h="247014">
                  <a:moveTo>
                    <a:pt x="391668" y="102108"/>
                  </a:moveTo>
                  <a:lnTo>
                    <a:pt x="388620" y="103632"/>
                  </a:lnTo>
                  <a:lnTo>
                    <a:pt x="390144" y="103632"/>
                  </a:lnTo>
                  <a:lnTo>
                    <a:pt x="391668" y="102108"/>
                  </a:lnTo>
                  <a:close/>
                </a:path>
                <a:path w="1290954" h="247014">
                  <a:moveTo>
                    <a:pt x="473093" y="43325"/>
                  </a:moveTo>
                  <a:lnTo>
                    <a:pt x="431292" y="74675"/>
                  </a:lnTo>
                  <a:lnTo>
                    <a:pt x="402336" y="97536"/>
                  </a:lnTo>
                  <a:lnTo>
                    <a:pt x="435210" y="97536"/>
                  </a:lnTo>
                  <a:lnTo>
                    <a:pt x="443484" y="91440"/>
                  </a:lnTo>
                  <a:lnTo>
                    <a:pt x="486156" y="59436"/>
                  </a:lnTo>
                  <a:lnTo>
                    <a:pt x="496824" y="48768"/>
                  </a:lnTo>
                  <a:lnTo>
                    <a:pt x="502538" y="44196"/>
                  </a:lnTo>
                  <a:lnTo>
                    <a:pt x="472439" y="44196"/>
                  </a:lnTo>
                  <a:lnTo>
                    <a:pt x="473093" y="43325"/>
                  </a:lnTo>
                  <a:close/>
                </a:path>
                <a:path w="1290954" h="247014">
                  <a:moveTo>
                    <a:pt x="1109472" y="67056"/>
                  </a:moveTo>
                  <a:lnTo>
                    <a:pt x="1109472" y="68580"/>
                  </a:lnTo>
                  <a:lnTo>
                    <a:pt x="1114747" y="68580"/>
                  </a:lnTo>
                  <a:lnTo>
                    <a:pt x="1109472" y="67056"/>
                  </a:lnTo>
                  <a:close/>
                </a:path>
                <a:path w="1290954" h="247014">
                  <a:moveTo>
                    <a:pt x="1000505" y="19812"/>
                  </a:moveTo>
                  <a:lnTo>
                    <a:pt x="900684" y="19812"/>
                  </a:lnTo>
                  <a:lnTo>
                    <a:pt x="911351" y="21336"/>
                  </a:lnTo>
                  <a:lnTo>
                    <a:pt x="922020" y="21336"/>
                  </a:lnTo>
                  <a:lnTo>
                    <a:pt x="934212" y="22860"/>
                  </a:lnTo>
                  <a:lnTo>
                    <a:pt x="932688" y="22860"/>
                  </a:lnTo>
                  <a:lnTo>
                    <a:pt x="944880" y="24384"/>
                  </a:lnTo>
                  <a:lnTo>
                    <a:pt x="943356" y="24384"/>
                  </a:lnTo>
                  <a:lnTo>
                    <a:pt x="969263" y="30480"/>
                  </a:lnTo>
                  <a:lnTo>
                    <a:pt x="967739" y="30480"/>
                  </a:lnTo>
                  <a:lnTo>
                    <a:pt x="1036320" y="53340"/>
                  </a:lnTo>
                  <a:lnTo>
                    <a:pt x="1040892" y="56387"/>
                  </a:lnTo>
                  <a:lnTo>
                    <a:pt x="1046988" y="57912"/>
                  </a:lnTo>
                  <a:lnTo>
                    <a:pt x="1054608" y="62484"/>
                  </a:lnTo>
                  <a:lnTo>
                    <a:pt x="1053084" y="60960"/>
                  </a:lnTo>
                  <a:lnTo>
                    <a:pt x="1092708" y="60960"/>
                  </a:lnTo>
                  <a:lnTo>
                    <a:pt x="1089660" y="59436"/>
                  </a:lnTo>
                  <a:lnTo>
                    <a:pt x="1091184" y="59436"/>
                  </a:lnTo>
                  <a:lnTo>
                    <a:pt x="1085088" y="56387"/>
                  </a:lnTo>
                  <a:lnTo>
                    <a:pt x="1078992" y="51816"/>
                  </a:lnTo>
                  <a:lnTo>
                    <a:pt x="1063752" y="44196"/>
                  </a:lnTo>
                  <a:lnTo>
                    <a:pt x="1062228" y="42672"/>
                  </a:lnTo>
                  <a:lnTo>
                    <a:pt x="1056132" y="39624"/>
                  </a:lnTo>
                  <a:lnTo>
                    <a:pt x="1048512" y="36575"/>
                  </a:lnTo>
                  <a:lnTo>
                    <a:pt x="1042416" y="35052"/>
                  </a:lnTo>
                  <a:lnTo>
                    <a:pt x="1000505" y="19812"/>
                  </a:lnTo>
                  <a:close/>
                </a:path>
                <a:path w="1290954" h="247014">
                  <a:moveTo>
                    <a:pt x="473963" y="42672"/>
                  </a:moveTo>
                  <a:lnTo>
                    <a:pt x="473093" y="43325"/>
                  </a:lnTo>
                  <a:lnTo>
                    <a:pt x="472439" y="44196"/>
                  </a:lnTo>
                  <a:lnTo>
                    <a:pt x="473963" y="42672"/>
                  </a:lnTo>
                  <a:close/>
                </a:path>
                <a:path w="1290954" h="247014">
                  <a:moveTo>
                    <a:pt x="504443" y="42672"/>
                  </a:moveTo>
                  <a:lnTo>
                    <a:pt x="473963" y="42672"/>
                  </a:lnTo>
                  <a:lnTo>
                    <a:pt x="472439" y="44196"/>
                  </a:lnTo>
                  <a:lnTo>
                    <a:pt x="502538" y="44196"/>
                  </a:lnTo>
                  <a:lnTo>
                    <a:pt x="504443" y="42672"/>
                  </a:lnTo>
                  <a:close/>
                </a:path>
                <a:path w="1290954" h="247014">
                  <a:moveTo>
                    <a:pt x="912876" y="0"/>
                  </a:moveTo>
                  <a:lnTo>
                    <a:pt x="595884" y="0"/>
                  </a:lnTo>
                  <a:lnTo>
                    <a:pt x="544068" y="4572"/>
                  </a:lnTo>
                  <a:lnTo>
                    <a:pt x="528828" y="7620"/>
                  </a:lnTo>
                  <a:lnTo>
                    <a:pt x="527304" y="7620"/>
                  </a:lnTo>
                  <a:lnTo>
                    <a:pt x="518160" y="10668"/>
                  </a:lnTo>
                  <a:lnTo>
                    <a:pt x="512063" y="13716"/>
                  </a:lnTo>
                  <a:lnTo>
                    <a:pt x="510539" y="13716"/>
                  </a:lnTo>
                  <a:lnTo>
                    <a:pt x="509016" y="15240"/>
                  </a:lnTo>
                  <a:lnTo>
                    <a:pt x="499872" y="19812"/>
                  </a:lnTo>
                  <a:lnTo>
                    <a:pt x="498348" y="21336"/>
                  </a:lnTo>
                  <a:lnTo>
                    <a:pt x="484632" y="33528"/>
                  </a:lnTo>
                  <a:lnTo>
                    <a:pt x="483108" y="33528"/>
                  </a:lnTo>
                  <a:lnTo>
                    <a:pt x="478536" y="38100"/>
                  </a:lnTo>
                  <a:lnTo>
                    <a:pt x="477012" y="38100"/>
                  </a:lnTo>
                  <a:lnTo>
                    <a:pt x="473093" y="43325"/>
                  </a:lnTo>
                  <a:lnTo>
                    <a:pt x="473963" y="42672"/>
                  </a:lnTo>
                  <a:lnTo>
                    <a:pt x="504443" y="42672"/>
                  </a:lnTo>
                  <a:lnTo>
                    <a:pt x="512063" y="36575"/>
                  </a:lnTo>
                  <a:lnTo>
                    <a:pt x="513588" y="35052"/>
                  </a:lnTo>
                  <a:lnTo>
                    <a:pt x="515112" y="35052"/>
                  </a:lnTo>
                  <a:lnTo>
                    <a:pt x="521208" y="32004"/>
                  </a:lnTo>
                  <a:lnTo>
                    <a:pt x="519684" y="32004"/>
                  </a:lnTo>
                  <a:lnTo>
                    <a:pt x="522732" y="30480"/>
                  </a:lnTo>
                  <a:lnTo>
                    <a:pt x="524256" y="30480"/>
                  </a:lnTo>
                  <a:lnTo>
                    <a:pt x="533400" y="27432"/>
                  </a:lnTo>
                  <a:lnTo>
                    <a:pt x="531876" y="27432"/>
                  </a:lnTo>
                  <a:lnTo>
                    <a:pt x="547116" y="24384"/>
                  </a:lnTo>
                  <a:lnTo>
                    <a:pt x="555498" y="24384"/>
                  </a:lnTo>
                  <a:lnTo>
                    <a:pt x="563880" y="22860"/>
                  </a:lnTo>
                  <a:lnTo>
                    <a:pt x="562356" y="22860"/>
                  </a:lnTo>
                  <a:lnTo>
                    <a:pt x="597408" y="19812"/>
                  </a:lnTo>
                  <a:lnTo>
                    <a:pt x="1000505" y="19812"/>
                  </a:lnTo>
                  <a:lnTo>
                    <a:pt x="975360" y="10668"/>
                  </a:lnTo>
                  <a:lnTo>
                    <a:pt x="973836" y="10668"/>
                  </a:lnTo>
                  <a:lnTo>
                    <a:pt x="947928" y="4572"/>
                  </a:lnTo>
                  <a:lnTo>
                    <a:pt x="937260" y="3048"/>
                  </a:lnTo>
                  <a:lnTo>
                    <a:pt x="935736" y="3048"/>
                  </a:lnTo>
                  <a:lnTo>
                    <a:pt x="925068" y="1524"/>
                  </a:lnTo>
                  <a:lnTo>
                    <a:pt x="912876" y="0"/>
                  </a:lnTo>
                  <a:close/>
                </a:path>
                <a:path w="1290954" h="247014">
                  <a:moveTo>
                    <a:pt x="515112" y="35052"/>
                  </a:moveTo>
                  <a:lnTo>
                    <a:pt x="513588" y="35052"/>
                  </a:lnTo>
                  <a:lnTo>
                    <a:pt x="513588" y="36575"/>
                  </a:lnTo>
                  <a:lnTo>
                    <a:pt x="515112" y="35052"/>
                  </a:lnTo>
                  <a:close/>
                </a:path>
                <a:path w="1290954" h="247014">
                  <a:moveTo>
                    <a:pt x="555498" y="24384"/>
                  </a:moveTo>
                  <a:lnTo>
                    <a:pt x="547116" y="24384"/>
                  </a:lnTo>
                  <a:lnTo>
                    <a:pt x="547116" y="25908"/>
                  </a:lnTo>
                  <a:lnTo>
                    <a:pt x="555498" y="24384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6592" y="3788663"/>
              <a:ext cx="123444" cy="2026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3919" y="1689455"/>
            <a:ext cx="689800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Iterative</a:t>
            </a:r>
            <a:r>
              <a:rPr spc="-130" dirty="0"/>
              <a:t> </a:t>
            </a:r>
            <a:r>
              <a:rPr dirty="0"/>
              <a:t>Deepening</a:t>
            </a:r>
            <a:r>
              <a:rPr spc="-155" dirty="0"/>
              <a:t> </a:t>
            </a:r>
            <a:r>
              <a:rPr spc="-20" dirty="0"/>
              <a:t>DFS</a:t>
            </a:r>
            <a:r>
              <a:rPr spc="-150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47572" y="2977895"/>
            <a:ext cx="7307580" cy="3308985"/>
            <a:chOff x="1147572" y="2977895"/>
            <a:chExt cx="7307580" cy="33089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7572" y="2977895"/>
              <a:ext cx="7307580" cy="33086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72611" y="3538727"/>
              <a:ext cx="762000" cy="448309"/>
            </a:xfrm>
            <a:custGeom>
              <a:avLst/>
              <a:gdLst/>
              <a:ahLst/>
              <a:cxnLst/>
              <a:rect l="l" t="t" r="r" b="b"/>
              <a:pathLst>
                <a:path w="762000" h="448310">
                  <a:moveTo>
                    <a:pt x="3048" y="402336"/>
                  </a:moveTo>
                  <a:lnTo>
                    <a:pt x="0" y="432816"/>
                  </a:lnTo>
                  <a:lnTo>
                    <a:pt x="0" y="441960"/>
                  </a:lnTo>
                  <a:lnTo>
                    <a:pt x="1524" y="445008"/>
                  </a:lnTo>
                  <a:lnTo>
                    <a:pt x="3048" y="446532"/>
                  </a:lnTo>
                  <a:lnTo>
                    <a:pt x="6096" y="448056"/>
                  </a:lnTo>
                  <a:lnTo>
                    <a:pt x="9143" y="448056"/>
                  </a:lnTo>
                  <a:lnTo>
                    <a:pt x="22860" y="405384"/>
                  </a:lnTo>
                  <a:lnTo>
                    <a:pt x="23077" y="403860"/>
                  </a:lnTo>
                  <a:lnTo>
                    <a:pt x="3048" y="403860"/>
                  </a:lnTo>
                  <a:lnTo>
                    <a:pt x="3048" y="402336"/>
                  </a:lnTo>
                  <a:close/>
                </a:path>
                <a:path w="762000" h="448310">
                  <a:moveTo>
                    <a:pt x="24384" y="393192"/>
                  </a:moveTo>
                  <a:lnTo>
                    <a:pt x="4572" y="393192"/>
                  </a:lnTo>
                  <a:lnTo>
                    <a:pt x="4572" y="394716"/>
                  </a:lnTo>
                  <a:lnTo>
                    <a:pt x="4354" y="394716"/>
                  </a:lnTo>
                  <a:lnTo>
                    <a:pt x="3048" y="403860"/>
                  </a:lnTo>
                  <a:lnTo>
                    <a:pt x="23077" y="403860"/>
                  </a:lnTo>
                  <a:lnTo>
                    <a:pt x="24384" y="394716"/>
                  </a:lnTo>
                  <a:lnTo>
                    <a:pt x="4572" y="394716"/>
                  </a:lnTo>
                  <a:lnTo>
                    <a:pt x="4463" y="393954"/>
                  </a:lnTo>
                  <a:lnTo>
                    <a:pt x="24384" y="393954"/>
                  </a:lnTo>
                  <a:lnTo>
                    <a:pt x="24384" y="393192"/>
                  </a:lnTo>
                  <a:close/>
                </a:path>
                <a:path w="762000" h="448310">
                  <a:moveTo>
                    <a:pt x="53339" y="134112"/>
                  </a:moveTo>
                  <a:lnTo>
                    <a:pt x="47243" y="141732"/>
                  </a:lnTo>
                  <a:lnTo>
                    <a:pt x="47243" y="143256"/>
                  </a:lnTo>
                  <a:lnTo>
                    <a:pt x="42672" y="150875"/>
                  </a:lnTo>
                  <a:lnTo>
                    <a:pt x="41148" y="150875"/>
                  </a:lnTo>
                  <a:lnTo>
                    <a:pt x="36575" y="160020"/>
                  </a:lnTo>
                  <a:lnTo>
                    <a:pt x="32003" y="167639"/>
                  </a:lnTo>
                  <a:lnTo>
                    <a:pt x="27432" y="176784"/>
                  </a:lnTo>
                  <a:lnTo>
                    <a:pt x="24384" y="185927"/>
                  </a:lnTo>
                  <a:lnTo>
                    <a:pt x="22860" y="185927"/>
                  </a:lnTo>
                  <a:lnTo>
                    <a:pt x="19812" y="195072"/>
                  </a:lnTo>
                  <a:lnTo>
                    <a:pt x="19812" y="196596"/>
                  </a:lnTo>
                  <a:lnTo>
                    <a:pt x="16763" y="204216"/>
                  </a:lnTo>
                  <a:lnTo>
                    <a:pt x="16763" y="205739"/>
                  </a:lnTo>
                  <a:lnTo>
                    <a:pt x="13715" y="214884"/>
                  </a:lnTo>
                  <a:lnTo>
                    <a:pt x="12191" y="224027"/>
                  </a:lnTo>
                  <a:lnTo>
                    <a:pt x="12191" y="225551"/>
                  </a:lnTo>
                  <a:lnTo>
                    <a:pt x="7620" y="245363"/>
                  </a:lnTo>
                  <a:lnTo>
                    <a:pt x="4572" y="275844"/>
                  </a:lnTo>
                  <a:lnTo>
                    <a:pt x="4572" y="277368"/>
                  </a:lnTo>
                  <a:lnTo>
                    <a:pt x="3048" y="362712"/>
                  </a:lnTo>
                  <a:lnTo>
                    <a:pt x="3048" y="384048"/>
                  </a:lnTo>
                  <a:lnTo>
                    <a:pt x="4354" y="393192"/>
                  </a:lnTo>
                  <a:lnTo>
                    <a:pt x="4463" y="393954"/>
                  </a:lnTo>
                  <a:lnTo>
                    <a:pt x="4572" y="393192"/>
                  </a:lnTo>
                  <a:lnTo>
                    <a:pt x="24384" y="393192"/>
                  </a:lnTo>
                  <a:lnTo>
                    <a:pt x="24384" y="362712"/>
                  </a:lnTo>
                  <a:lnTo>
                    <a:pt x="25908" y="277368"/>
                  </a:lnTo>
                  <a:lnTo>
                    <a:pt x="28955" y="248412"/>
                  </a:lnTo>
                  <a:lnTo>
                    <a:pt x="32003" y="228600"/>
                  </a:lnTo>
                  <a:lnTo>
                    <a:pt x="33527" y="219456"/>
                  </a:lnTo>
                  <a:lnTo>
                    <a:pt x="33963" y="219456"/>
                  </a:lnTo>
                  <a:lnTo>
                    <a:pt x="36575" y="210312"/>
                  </a:lnTo>
                  <a:lnTo>
                    <a:pt x="37084" y="210312"/>
                  </a:lnTo>
                  <a:lnTo>
                    <a:pt x="42672" y="193548"/>
                  </a:lnTo>
                  <a:lnTo>
                    <a:pt x="43180" y="193548"/>
                  </a:lnTo>
                  <a:lnTo>
                    <a:pt x="45720" y="185927"/>
                  </a:lnTo>
                  <a:lnTo>
                    <a:pt x="50291" y="176784"/>
                  </a:lnTo>
                  <a:lnTo>
                    <a:pt x="51053" y="176784"/>
                  </a:lnTo>
                  <a:lnTo>
                    <a:pt x="54863" y="169163"/>
                  </a:lnTo>
                  <a:lnTo>
                    <a:pt x="64008" y="153924"/>
                  </a:lnTo>
                  <a:lnTo>
                    <a:pt x="70103" y="146304"/>
                  </a:lnTo>
                  <a:lnTo>
                    <a:pt x="77215" y="135636"/>
                  </a:lnTo>
                  <a:lnTo>
                    <a:pt x="53339" y="135636"/>
                  </a:lnTo>
                  <a:lnTo>
                    <a:pt x="53339" y="134112"/>
                  </a:lnTo>
                  <a:close/>
                </a:path>
                <a:path w="762000" h="448310">
                  <a:moveTo>
                    <a:pt x="33963" y="219456"/>
                  </a:moveTo>
                  <a:lnTo>
                    <a:pt x="33527" y="219456"/>
                  </a:lnTo>
                  <a:lnTo>
                    <a:pt x="33527" y="220980"/>
                  </a:lnTo>
                  <a:lnTo>
                    <a:pt x="33963" y="219456"/>
                  </a:lnTo>
                  <a:close/>
                </a:path>
                <a:path w="762000" h="448310">
                  <a:moveTo>
                    <a:pt x="37084" y="210312"/>
                  </a:moveTo>
                  <a:lnTo>
                    <a:pt x="36575" y="210312"/>
                  </a:lnTo>
                  <a:lnTo>
                    <a:pt x="36575" y="211836"/>
                  </a:lnTo>
                  <a:lnTo>
                    <a:pt x="37084" y="210312"/>
                  </a:lnTo>
                  <a:close/>
                </a:path>
                <a:path w="762000" h="448310">
                  <a:moveTo>
                    <a:pt x="43180" y="193548"/>
                  </a:moveTo>
                  <a:lnTo>
                    <a:pt x="42672" y="193548"/>
                  </a:lnTo>
                  <a:lnTo>
                    <a:pt x="42672" y="195072"/>
                  </a:lnTo>
                  <a:lnTo>
                    <a:pt x="43180" y="193548"/>
                  </a:lnTo>
                  <a:close/>
                </a:path>
                <a:path w="762000" h="448310">
                  <a:moveTo>
                    <a:pt x="51053" y="176784"/>
                  </a:moveTo>
                  <a:lnTo>
                    <a:pt x="50291" y="176784"/>
                  </a:lnTo>
                  <a:lnTo>
                    <a:pt x="50291" y="178308"/>
                  </a:lnTo>
                  <a:lnTo>
                    <a:pt x="51053" y="176784"/>
                  </a:lnTo>
                  <a:close/>
                </a:path>
                <a:path w="762000" h="448310">
                  <a:moveTo>
                    <a:pt x="96774" y="103632"/>
                  </a:moveTo>
                  <a:lnTo>
                    <a:pt x="74675" y="103632"/>
                  </a:lnTo>
                  <a:lnTo>
                    <a:pt x="53339" y="135636"/>
                  </a:lnTo>
                  <a:lnTo>
                    <a:pt x="77215" y="135636"/>
                  </a:lnTo>
                  <a:lnTo>
                    <a:pt x="91439" y="114300"/>
                  </a:lnTo>
                  <a:lnTo>
                    <a:pt x="96774" y="103632"/>
                  </a:lnTo>
                  <a:close/>
                </a:path>
                <a:path w="762000" h="448310">
                  <a:moveTo>
                    <a:pt x="757427" y="0"/>
                  </a:moveTo>
                  <a:lnTo>
                    <a:pt x="224027" y="0"/>
                  </a:lnTo>
                  <a:lnTo>
                    <a:pt x="214884" y="1524"/>
                  </a:lnTo>
                  <a:lnTo>
                    <a:pt x="207263" y="3048"/>
                  </a:lnTo>
                  <a:lnTo>
                    <a:pt x="205739" y="3048"/>
                  </a:lnTo>
                  <a:lnTo>
                    <a:pt x="198120" y="6096"/>
                  </a:lnTo>
                  <a:lnTo>
                    <a:pt x="196596" y="6096"/>
                  </a:lnTo>
                  <a:lnTo>
                    <a:pt x="188975" y="7620"/>
                  </a:lnTo>
                  <a:lnTo>
                    <a:pt x="188975" y="9144"/>
                  </a:lnTo>
                  <a:lnTo>
                    <a:pt x="179832" y="10668"/>
                  </a:lnTo>
                  <a:lnTo>
                    <a:pt x="172212" y="13716"/>
                  </a:lnTo>
                  <a:lnTo>
                    <a:pt x="170687" y="15239"/>
                  </a:lnTo>
                  <a:lnTo>
                    <a:pt x="149351" y="24384"/>
                  </a:lnTo>
                  <a:lnTo>
                    <a:pt x="147827" y="25908"/>
                  </a:lnTo>
                  <a:lnTo>
                    <a:pt x="143255" y="27432"/>
                  </a:lnTo>
                  <a:lnTo>
                    <a:pt x="144779" y="27432"/>
                  </a:lnTo>
                  <a:lnTo>
                    <a:pt x="135636" y="32004"/>
                  </a:lnTo>
                  <a:lnTo>
                    <a:pt x="117348" y="42672"/>
                  </a:lnTo>
                  <a:lnTo>
                    <a:pt x="114300" y="45720"/>
                  </a:lnTo>
                  <a:lnTo>
                    <a:pt x="111251" y="47244"/>
                  </a:lnTo>
                  <a:lnTo>
                    <a:pt x="111251" y="48768"/>
                  </a:lnTo>
                  <a:lnTo>
                    <a:pt x="108203" y="50292"/>
                  </a:lnTo>
                  <a:lnTo>
                    <a:pt x="106679" y="53339"/>
                  </a:lnTo>
                  <a:lnTo>
                    <a:pt x="105155" y="53339"/>
                  </a:lnTo>
                  <a:lnTo>
                    <a:pt x="103632" y="56387"/>
                  </a:lnTo>
                  <a:lnTo>
                    <a:pt x="100584" y="57912"/>
                  </a:lnTo>
                  <a:lnTo>
                    <a:pt x="100584" y="59436"/>
                  </a:lnTo>
                  <a:lnTo>
                    <a:pt x="94487" y="68580"/>
                  </a:lnTo>
                  <a:lnTo>
                    <a:pt x="80772" y="91439"/>
                  </a:lnTo>
                  <a:lnTo>
                    <a:pt x="80772" y="92963"/>
                  </a:lnTo>
                  <a:lnTo>
                    <a:pt x="73151" y="105156"/>
                  </a:lnTo>
                  <a:lnTo>
                    <a:pt x="74675" y="103632"/>
                  </a:lnTo>
                  <a:lnTo>
                    <a:pt x="96774" y="103632"/>
                  </a:lnTo>
                  <a:lnTo>
                    <a:pt x="97536" y="102108"/>
                  </a:lnTo>
                  <a:lnTo>
                    <a:pt x="111251" y="79248"/>
                  </a:lnTo>
                  <a:lnTo>
                    <a:pt x="116128" y="73151"/>
                  </a:lnTo>
                  <a:lnTo>
                    <a:pt x="115824" y="73151"/>
                  </a:lnTo>
                  <a:lnTo>
                    <a:pt x="117348" y="70104"/>
                  </a:lnTo>
                  <a:lnTo>
                    <a:pt x="118872" y="70104"/>
                  </a:lnTo>
                  <a:lnTo>
                    <a:pt x="120396" y="67056"/>
                  </a:lnTo>
                  <a:lnTo>
                    <a:pt x="123443" y="65532"/>
                  </a:lnTo>
                  <a:lnTo>
                    <a:pt x="124967" y="62484"/>
                  </a:lnTo>
                  <a:lnTo>
                    <a:pt x="126491" y="62484"/>
                  </a:lnTo>
                  <a:lnTo>
                    <a:pt x="129539" y="59436"/>
                  </a:lnTo>
                  <a:lnTo>
                    <a:pt x="131635" y="59436"/>
                  </a:lnTo>
                  <a:lnTo>
                    <a:pt x="146303" y="48768"/>
                  </a:lnTo>
                  <a:lnTo>
                    <a:pt x="147827" y="48768"/>
                  </a:lnTo>
                  <a:lnTo>
                    <a:pt x="153924" y="45720"/>
                  </a:lnTo>
                  <a:lnTo>
                    <a:pt x="158496" y="42672"/>
                  </a:lnTo>
                  <a:lnTo>
                    <a:pt x="156972" y="42672"/>
                  </a:lnTo>
                  <a:lnTo>
                    <a:pt x="179832" y="33527"/>
                  </a:lnTo>
                  <a:lnTo>
                    <a:pt x="178308" y="33527"/>
                  </a:lnTo>
                  <a:lnTo>
                    <a:pt x="187451" y="30480"/>
                  </a:lnTo>
                  <a:lnTo>
                    <a:pt x="185927" y="30480"/>
                  </a:lnTo>
                  <a:lnTo>
                    <a:pt x="195072" y="27432"/>
                  </a:lnTo>
                  <a:lnTo>
                    <a:pt x="202691" y="25908"/>
                  </a:lnTo>
                  <a:lnTo>
                    <a:pt x="210312" y="22860"/>
                  </a:lnTo>
                  <a:lnTo>
                    <a:pt x="219455" y="22860"/>
                  </a:lnTo>
                  <a:lnTo>
                    <a:pt x="234696" y="19812"/>
                  </a:lnTo>
                  <a:lnTo>
                    <a:pt x="757427" y="19812"/>
                  </a:lnTo>
                  <a:lnTo>
                    <a:pt x="762000" y="15239"/>
                  </a:lnTo>
                  <a:lnTo>
                    <a:pt x="762000" y="4572"/>
                  </a:lnTo>
                  <a:lnTo>
                    <a:pt x="757427" y="0"/>
                  </a:lnTo>
                  <a:close/>
                </a:path>
                <a:path w="762000" h="448310">
                  <a:moveTo>
                    <a:pt x="117348" y="71627"/>
                  </a:moveTo>
                  <a:lnTo>
                    <a:pt x="115824" y="73151"/>
                  </a:lnTo>
                  <a:lnTo>
                    <a:pt x="116128" y="73151"/>
                  </a:lnTo>
                  <a:lnTo>
                    <a:pt x="117348" y="71627"/>
                  </a:lnTo>
                  <a:close/>
                </a:path>
                <a:path w="762000" h="448310">
                  <a:moveTo>
                    <a:pt x="126491" y="62484"/>
                  </a:moveTo>
                  <a:lnTo>
                    <a:pt x="124967" y="62484"/>
                  </a:lnTo>
                  <a:lnTo>
                    <a:pt x="124967" y="64008"/>
                  </a:lnTo>
                  <a:lnTo>
                    <a:pt x="126491" y="62484"/>
                  </a:lnTo>
                  <a:close/>
                </a:path>
                <a:path w="762000" h="448310">
                  <a:moveTo>
                    <a:pt x="131635" y="59436"/>
                  </a:moveTo>
                  <a:lnTo>
                    <a:pt x="129539" y="59436"/>
                  </a:lnTo>
                  <a:lnTo>
                    <a:pt x="129539" y="60960"/>
                  </a:lnTo>
                  <a:lnTo>
                    <a:pt x="131635" y="59436"/>
                  </a:lnTo>
                  <a:close/>
                </a:path>
                <a:path w="762000" h="448310">
                  <a:moveTo>
                    <a:pt x="147827" y="48768"/>
                  </a:moveTo>
                  <a:lnTo>
                    <a:pt x="146303" y="48768"/>
                  </a:lnTo>
                  <a:lnTo>
                    <a:pt x="144779" y="50292"/>
                  </a:lnTo>
                  <a:lnTo>
                    <a:pt x="147827" y="48768"/>
                  </a:lnTo>
                  <a:close/>
                </a:path>
                <a:path w="762000" h="448310">
                  <a:moveTo>
                    <a:pt x="219455" y="22860"/>
                  </a:moveTo>
                  <a:lnTo>
                    <a:pt x="210312" y="22860"/>
                  </a:lnTo>
                  <a:lnTo>
                    <a:pt x="210312" y="24384"/>
                  </a:lnTo>
                  <a:lnTo>
                    <a:pt x="219455" y="22860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3927" y="3906011"/>
              <a:ext cx="216408" cy="868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79191" y="4190999"/>
              <a:ext cx="2343911" cy="89306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60975" y="5155691"/>
              <a:ext cx="781812" cy="19659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155" dirty="0">
                          <a:latin typeface="Tahoma"/>
                          <a:cs typeface="Tahoma"/>
                        </a:rPr>
                        <a:t>Iterative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dirty="0">
                          <a:latin typeface="Tahoma"/>
                          <a:cs typeface="Tahoma"/>
                        </a:rPr>
                        <a:t>Deepening</a:t>
                      </a:r>
                      <a:r>
                        <a:rPr sz="3300" b="1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25" dirty="0">
                          <a:latin typeface="Tahoma"/>
                          <a:cs typeface="Tahoma"/>
                        </a:rPr>
                        <a:t>DFS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348" y="2985643"/>
            <a:ext cx="8222615" cy="276606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00660" algn="l"/>
              </a:tabLst>
            </a:pPr>
            <a:r>
              <a:rPr sz="2300" b="1" spc="-10" dirty="0">
                <a:latin typeface="Tahoma"/>
                <a:cs typeface="Tahoma"/>
              </a:rPr>
              <a:t>Advantages:</a:t>
            </a:r>
            <a:endParaRPr sz="2300">
              <a:latin typeface="Tahoma"/>
              <a:cs typeface="Tahoma"/>
            </a:endParaRPr>
          </a:p>
          <a:p>
            <a:pPr marL="200025" marR="14604" indent="-187960">
              <a:lnSpc>
                <a:spcPct val="110800"/>
              </a:lnSpc>
              <a:spcBef>
                <a:spcPts val="810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spc="-165" dirty="0">
                <a:latin typeface="Tahoma"/>
                <a:cs typeface="Tahoma"/>
              </a:rPr>
              <a:t>It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85" dirty="0">
                <a:latin typeface="Tahoma"/>
                <a:cs typeface="Tahoma"/>
              </a:rPr>
              <a:t>combines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benefits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20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BFS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and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90" dirty="0">
                <a:latin typeface="Tahoma"/>
                <a:cs typeface="Tahoma"/>
              </a:rPr>
              <a:t>DFS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algorithm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in 	</a:t>
            </a:r>
            <a:r>
              <a:rPr sz="2300" dirty="0">
                <a:latin typeface="Tahoma"/>
                <a:cs typeface="Tahoma"/>
              </a:rPr>
              <a:t>terms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10" dirty="0">
                <a:latin typeface="Tahoma"/>
                <a:cs typeface="Tahoma"/>
              </a:rPr>
              <a:t> </a:t>
            </a:r>
            <a:r>
              <a:rPr sz="2300" spc="-20" dirty="0">
                <a:latin typeface="Tahoma"/>
                <a:cs typeface="Tahoma"/>
              </a:rPr>
              <a:t>fast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and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memory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efficiency.</a:t>
            </a:r>
            <a:endParaRPr sz="230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200660" algn="l"/>
              </a:tabLst>
            </a:pPr>
            <a:r>
              <a:rPr sz="2300" b="1" spc="-10" dirty="0">
                <a:latin typeface="Tahoma"/>
                <a:cs typeface="Tahoma"/>
              </a:rPr>
              <a:t>Disadvantages:</a:t>
            </a:r>
            <a:endParaRPr sz="2300">
              <a:latin typeface="Tahoma"/>
              <a:cs typeface="Tahoma"/>
            </a:endParaRPr>
          </a:p>
          <a:p>
            <a:pPr marL="200025" marR="5080" indent="-187960">
              <a:lnSpc>
                <a:spcPct val="110400"/>
              </a:lnSpc>
              <a:spcBef>
                <a:spcPts val="830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dirty="0">
                <a:latin typeface="Tahoma"/>
                <a:cs typeface="Tahoma"/>
              </a:rPr>
              <a:t>The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main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drawback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IDDFS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that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it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repeats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all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work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of 	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previous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phase.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</TotalTime>
  <Words>1621</Words>
  <Application>Microsoft Office PowerPoint</Application>
  <PresentationFormat>Custom</PresentationFormat>
  <Paragraphs>118</Paragraphs>
  <Slides>50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Arial MT</vt:lpstr>
      <vt:lpstr>Calibri</vt:lpstr>
      <vt:lpstr>Cambria</vt:lpstr>
      <vt:lpstr>Tahoma</vt:lpstr>
      <vt:lpstr>Times New Roman</vt:lpstr>
      <vt:lpstr>Office Theme</vt:lpstr>
      <vt:lpstr>Artificial Intelligence</vt:lpstr>
      <vt:lpstr>PowerPoint Presentation</vt:lpstr>
      <vt:lpstr>PowerPoint Presentation</vt:lpstr>
      <vt:lpstr>PowerPoint Presentation</vt:lpstr>
      <vt:lpstr>Chatbots to attempt the Turing test:</vt:lpstr>
      <vt:lpstr>Features required for a machine to pass the Turing test:</vt:lpstr>
      <vt:lpstr>For General Knowledge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Uninformed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PowerPoint Presentation</vt:lpstr>
      <vt:lpstr>Problem in Depth Search Algorithm Example</vt:lpstr>
      <vt:lpstr>Depth Limited Search Algorithm</vt:lpstr>
      <vt:lpstr>Depth Limited Search Algorithm</vt:lpstr>
      <vt:lpstr>PowerPoint Presentation</vt:lpstr>
      <vt:lpstr>Iterative Deepening DFS</vt:lpstr>
      <vt:lpstr>Iterative Deepening DFS Example</vt:lpstr>
      <vt:lpstr>Iterative Deepening DFS Example</vt:lpstr>
      <vt:lpstr>Iterative Deepening DFS Example</vt:lpstr>
      <vt:lpstr>Iterative Deepening DFS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cp:lastModifiedBy>anwar khan</cp:lastModifiedBy>
  <cp:revision>16</cp:revision>
  <dcterms:created xsi:type="dcterms:W3CDTF">2025-02-24T05:53:36Z</dcterms:created>
  <dcterms:modified xsi:type="dcterms:W3CDTF">2025-11-05T06:28:59Z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2024-03-26T00:00:00Z</vt:filetime>
  </property>
  <property fmtid="{D5CDD505-2E9C-101B-9397-08002B2CF9AE}" pid="3" name="LastSaved">
    <vt:filetime>2025-02-24T00:00:00Z</vt:filetime>
  </property>
  <property fmtid="{D5CDD505-2E9C-101B-9397-08002B2CF9AE}" pid="4" name="Producer">
    <vt:lpwstr>Foxit Reader PDF Printer Version 9.7.0.2220</vt:lpwstr>
  </property>
</Properties>
</file>