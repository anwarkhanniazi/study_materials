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150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771" y="1057655"/>
            <a:ext cx="9212580" cy="1666239"/>
          </a:xfrm>
          <a:custGeom>
            <a:avLst/>
            <a:gdLst/>
            <a:ahLst/>
            <a:cxnLst/>
            <a:rect l="l" t="t" r="r" b="b"/>
            <a:pathLst>
              <a:path w="9212580" h="1666239">
                <a:moveTo>
                  <a:pt x="0" y="0"/>
                </a:moveTo>
                <a:lnTo>
                  <a:pt x="9212579" y="0"/>
                </a:lnTo>
                <a:lnTo>
                  <a:pt x="9212579" y="1665731"/>
                </a:lnTo>
                <a:lnTo>
                  <a:pt x="0" y="1665731"/>
                </a:lnTo>
                <a:lnTo>
                  <a:pt x="0" y="0"/>
                </a:lnTo>
                <a:close/>
              </a:path>
            </a:pathLst>
          </a:custGeom>
          <a:ln w="7619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3004" y="1708403"/>
            <a:ext cx="105410" cy="581025"/>
          </a:xfrm>
          <a:custGeom>
            <a:avLst/>
            <a:gdLst/>
            <a:ahLst/>
            <a:cxnLst/>
            <a:rect l="l" t="t" r="r" b="b"/>
            <a:pathLst>
              <a:path w="105409" h="581025">
                <a:moveTo>
                  <a:pt x="105155" y="0"/>
                </a:moveTo>
                <a:lnTo>
                  <a:pt x="0" y="0"/>
                </a:lnTo>
                <a:lnTo>
                  <a:pt x="0" y="580644"/>
                </a:lnTo>
                <a:lnTo>
                  <a:pt x="105155" y="580644"/>
                </a:lnTo>
                <a:lnTo>
                  <a:pt x="105155" y="0"/>
                </a:lnTo>
                <a:close/>
              </a:path>
            </a:pathLst>
          </a:custGeom>
          <a:solidFill>
            <a:srgbClr val="F5A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2662" y="1514421"/>
            <a:ext cx="6860566" cy="885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348" y="2545622"/>
            <a:ext cx="8149590" cy="322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7275"/>
            <a:ext cx="10058400" cy="56578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76200"/>
            <a:ext cx="10058400" cy="78486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365" y="964235"/>
            <a:ext cx="9717671" cy="577791"/>
          </a:xfrm>
          <a:prstGeom prst="rect">
            <a:avLst/>
          </a:prstGeom>
        </p:spPr>
        <p:txBody>
          <a:bodyPr vert="horz" wrap="square" lIns="0" tIns="169867" rIns="0" bIns="0" rtlCol="0">
            <a:spAutoFit/>
          </a:bodyPr>
          <a:lstStyle/>
          <a:p>
            <a:pPr marL="4440365" algn="ctr">
              <a:spcBef>
                <a:spcPts val="305"/>
              </a:spcBef>
            </a:pPr>
            <a:r>
              <a:rPr lang="en-US" sz="2640" dirty="0" smtClean="0">
                <a:solidFill>
                  <a:srgbClr val="FFFFFF"/>
                </a:solidFill>
              </a:rPr>
              <a:t>Artificial Intelligence</a:t>
            </a:r>
            <a:endParaRPr sz="1650" dirty="0"/>
          </a:p>
        </p:txBody>
      </p:sp>
      <p:sp>
        <p:nvSpPr>
          <p:cNvPr id="10" name="object 10"/>
          <p:cNvSpPr txBox="1"/>
          <p:nvPr/>
        </p:nvSpPr>
        <p:spPr>
          <a:xfrm>
            <a:off x="6740804" y="2059972"/>
            <a:ext cx="1018413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980" b="1" spc="-8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2391" y="3676441"/>
            <a:ext cx="3464909" cy="46762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>
              <a:spcBef>
                <a:spcPts val="37"/>
              </a:spcBef>
            </a:pPr>
            <a:r>
              <a:rPr lang="en-US" sz="1485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485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0478" marR="4191" indent="356758">
              <a:spcBef>
                <a:spcPts val="4"/>
              </a:spcBef>
            </a:pPr>
            <a:r>
              <a:rPr lang="en-US" sz="1485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485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485" spc="-4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485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8690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22845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32090" cy="284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32893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55" dirty="0">
                <a:latin typeface="Tahoma"/>
                <a:cs typeface="Tahoma"/>
              </a:rPr>
              <a:t>Adversarial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search,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examine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105" dirty="0">
                <a:latin typeface="Tahoma"/>
                <a:cs typeface="Tahoma"/>
              </a:rPr>
              <a:t>problem</a:t>
            </a:r>
            <a:r>
              <a:rPr sz="2300" spc="-15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arises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when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try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plan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ahead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85" dirty="0">
                <a:latin typeface="Tahoma"/>
                <a:cs typeface="Tahoma"/>
              </a:rPr>
              <a:t>world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agents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planning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against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us.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-110" dirty="0">
                <a:latin typeface="Tahoma"/>
                <a:cs typeface="Tahoma"/>
              </a:rPr>
              <a:t>In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previous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topics,</a:t>
            </a:r>
            <a:r>
              <a:rPr sz="2300" spc="-15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have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studied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strategies 	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are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associated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with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single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aims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25" dirty="0">
                <a:latin typeface="Tahoma"/>
                <a:cs typeface="Tahoma"/>
              </a:rPr>
              <a:t>to 	</a:t>
            </a:r>
            <a:r>
              <a:rPr sz="2300" spc="50" dirty="0">
                <a:latin typeface="Tahoma"/>
                <a:cs typeface="Tahoma"/>
              </a:rPr>
              <a:t>find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solution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often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expressed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form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a 	</a:t>
            </a:r>
            <a:r>
              <a:rPr sz="2300" spc="80" dirty="0">
                <a:latin typeface="Tahoma"/>
                <a:cs typeface="Tahoma"/>
              </a:rPr>
              <a:t>sequence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actions.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111531"/>
            <a:ext cx="8228965" cy="294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5080" indent="-187960">
              <a:lnSpc>
                <a:spcPct val="100400"/>
              </a:lnSpc>
              <a:spcBef>
                <a:spcPts val="10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But,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there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might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some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situations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where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more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one 	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searching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solution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same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search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40" dirty="0">
                <a:latin typeface="Tahoma"/>
                <a:cs typeface="Tahoma"/>
              </a:rPr>
              <a:t>space, 	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situation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usually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occurs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game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playing.</a:t>
            </a:r>
            <a:endParaRPr sz="2300">
              <a:latin typeface="Tahoma"/>
              <a:cs typeface="Tahoma"/>
            </a:endParaRPr>
          </a:p>
          <a:p>
            <a:pPr marL="200025" marR="73660" indent="-187960">
              <a:lnSpc>
                <a:spcPct val="1004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environment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with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more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than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100" dirty="0">
                <a:latin typeface="Tahoma"/>
                <a:cs typeface="Tahoma"/>
              </a:rPr>
              <a:t>one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termed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as 	</a:t>
            </a:r>
            <a:r>
              <a:rPr sz="2300" b="1" spc="-90" dirty="0">
                <a:latin typeface="Tahoma"/>
                <a:cs typeface="Tahoma"/>
              </a:rPr>
              <a:t>multi-</a:t>
            </a:r>
            <a:r>
              <a:rPr sz="2300" b="1" spc="-45" dirty="0">
                <a:latin typeface="Tahoma"/>
                <a:cs typeface="Tahoma"/>
              </a:rPr>
              <a:t>agent</a:t>
            </a:r>
            <a:r>
              <a:rPr sz="2300" b="1" spc="-90" dirty="0">
                <a:latin typeface="Tahoma"/>
                <a:cs typeface="Tahoma"/>
              </a:rPr>
              <a:t> </a:t>
            </a:r>
            <a:r>
              <a:rPr sz="2300" b="1" spc="-60" dirty="0">
                <a:latin typeface="Tahoma"/>
                <a:cs typeface="Tahoma"/>
              </a:rPr>
              <a:t>environment</a:t>
            </a:r>
            <a:r>
              <a:rPr sz="2300" spc="-60" dirty="0">
                <a:latin typeface="Tahoma"/>
                <a:cs typeface="Tahoma"/>
              </a:rPr>
              <a:t>,</a:t>
            </a:r>
            <a:r>
              <a:rPr sz="2300" spc="-22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in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which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each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an 	</a:t>
            </a:r>
            <a:r>
              <a:rPr sz="2300" spc="105" dirty="0">
                <a:latin typeface="Tahoma"/>
                <a:cs typeface="Tahoma"/>
              </a:rPr>
              <a:t>opponent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playing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against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each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other. 	</a:t>
            </a:r>
            <a:r>
              <a:rPr sz="2300" spc="60" dirty="0">
                <a:latin typeface="Tahoma"/>
                <a:cs typeface="Tahoma"/>
              </a:rPr>
              <a:t>Each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needs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consider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action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other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agent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and 	</a:t>
            </a:r>
            <a:r>
              <a:rPr sz="2300" dirty="0">
                <a:latin typeface="Tahoma"/>
                <a:cs typeface="Tahoma"/>
              </a:rPr>
              <a:t>effect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3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action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on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their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performance.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40" dirty="0">
                          <a:latin typeface="Tahoma"/>
                          <a:cs typeface="Tahoma"/>
                        </a:rPr>
                        <a:t>Adversarial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Search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3088643"/>
            <a:ext cx="8219440" cy="30010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00025" marR="5080" indent="-187960">
              <a:lnSpc>
                <a:spcPct val="90900"/>
              </a:lnSpc>
              <a:spcBef>
                <a:spcPts val="30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dirty="0">
                <a:latin typeface="Tahoma"/>
                <a:cs typeface="Tahoma"/>
              </a:rPr>
              <a:t>So,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Searches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more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players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conflicting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goals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 trying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 	</a:t>
            </a:r>
            <a:r>
              <a:rPr sz="1800" spc="60" dirty="0">
                <a:latin typeface="Tahoma"/>
                <a:cs typeface="Tahoma"/>
              </a:rPr>
              <a:t>explore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space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solution,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adversarial 	</a:t>
            </a:r>
            <a:r>
              <a:rPr sz="1800" dirty="0">
                <a:latin typeface="Tahoma"/>
                <a:cs typeface="Tahoma"/>
              </a:rPr>
              <a:t>searches,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often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known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Games.</a:t>
            </a:r>
            <a:endParaRPr sz="1800">
              <a:latin typeface="Tahoma"/>
              <a:cs typeface="Tahoma"/>
            </a:endParaRPr>
          </a:p>
          <a:p>
            <a:pPr marL="200025" marR="220345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games: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those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which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follow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a 	</a:t>
            </a:r>
            <a:r>
              <a:rPr sz="1800" dirty="0">
                <a:latin typeface="Tahoma"/>
                <a:cs typeface="Tahoma"/>
              </a:rPr>
              <a:t>strict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rules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games,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no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randomness 	</a:t>
            </a:r>
            <a:r>
              <a:rPr sz="1800" dirty="0">
                <a:latin typeface="Tahoma"/>
                <a:cs typeface="Tahoma"/>
              </a:rPr>
              <a:t>associated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them.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Examples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chess,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Checkers,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Go,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tic-</a:t>
            </a:r>
            <a:r>
              <a:rPr sz="1800" spc="-10" dirty="0">
                <a:latin typeface="Tahoma"/>
                <a:cs typeface="Tahoma"/>
              </a:rPr>
              <a:t>tac-</a:t>
            </a:r>
            <a:r>
              <a:rPr sz="1800" dirty="0">
                <a:latin typeface="Tahoma"/>
                <a:cs typeface="Tahoma"/>
              </a:rPr>
              <a:t>toe,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  <a:p>
            <a:pPr marL="200025" marR="219075" indent="-187960">
              <a:lnSpc>
                <a:spcPct val="90700"/>
              </a:lnSpc>
              <a:spcBef>
                <a:spcPts val="80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65" dirty="0">
                <a:latin typeface="Tahoma"/>
                <a:cs typeface="Tahoma"/>
              </a:rPr>
              <a:t>Non-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games: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Non-</a:t>
            </a:r>
            <a:r>
              <a:rPr sz="1800" spc="10" dirty="0">
                <a:latin typeface="Tahoma"/>
                <a:cs typeface="Tahoma"/>
              </a:rPr>
              <a:t>deterministic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those</a:t>
            </a:r>
            <a:r>
              <a:rPr sz="1800" spc="1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spc="11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which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have 	</a:t>
            </a:r>
            <a:r>
              <a:rPr sz="1800" dirty="0">
                <a:latin typeface="Tahoma"/>
                <a:cs typeface="Tahoma"/>
              </a:rPr>
              <a:t>various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unpredictable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factor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chance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luck.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factor 	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chance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luck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introduced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either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dice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cards.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These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random, 	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each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response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fixed.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games</a:t>
            </a:r>
            <a:r>
              <a:rPr sz="1800" dirty="0">
                <a:latin typeface="Tahoma"/>
                <a:cs typeface="Tahoma"/>
              </a:rPr>
              <a:t> 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as 	</a:t>
            </a:r>
            <a:r>
              <a:rPr sz="1800" dirty="0">
                <a:latin typeface="Tahoma"/>
                <a:cs typeface="Tahoma"/>
              </a:rPr>
              <a:t>stochastic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games.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Example: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Backgammon,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Monopoly,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Poker,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etc.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14" dirty="0">
                          <a:latin typeface="Tahoma"/>
                          <a:cs typeface="Tahoma"/>
                        </a:rPr>
                        <a:t>Zero-</a:t>
                      </a:r>
                      <a:r>
                        <a:rPr sz="3300" b="1" spc="-130" dirty="0">
                          <a:latin typeface="Tahoma"/>
                          <a:cs typeface="Tahoma"/>
                        </a:rPr>
                        <a:t>Sum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0" dirty="0">
                          <a:latin typeface="Tahoma"/>
                          <a:cs typeface="Tahoma"/>
                        </a:rPr>
                        <a:t>Game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459" y="3080975"/>
            <a:ext cx="7995284" cy="28308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1295" marR="436880" indent="-189230">
              <a:lnSpc>
                <a:spcPts val="2320"/>
              </a:lnSpc>
              <a:spcBef>
                <a:spcPts val="39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5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games</a:t>
            </a:r>
            <a:r>
              <a:rPr sz="2150" spc="2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are</a:t>
            </a:r>
            <a:r>
              <a:rPr sz="2150" spc="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adversarial</a:t>
            </a:r>
            <a:r>
              <a:rPr sz="2150" spc="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search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which</a:t>
            </a:r>
            <a:r>
              <a:rPr sz="2150" spc="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involves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pure </a:t>
            </a:r>
            <a:r>
              <a:rPr sz="2150" spc="40" dirty="0">
                <a:latin typeface="Tahoma"/>
                <a:cs typeface="Tahoma"/>
              </a:rPr>
              <a:t>competition.</a:t>
            </a:r>
            <a:endParaRPr sz="2150">
              <a:latin typeface="Tahoma"/>
              <a:cs typeface="Tahoma"/>
            </a:endParaRPr>
          </a:p>
          <a:p>
            <a:pPr marL="201295" marR="162560" indent="-189230">
              <a:lnSpc>
                <a:spcPts val="232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-105" dirty="0">
                <a:latin typeface="Tahoma"/>
                <a:cs typeface="Tahoma"/>
              </a:rPr>
              <a:t>In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each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agent's</a:t>
            </a:r>
            <a:r>
              <a:rPr sz="2150" spc="-75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gain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or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loss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 utility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exactly </a:t>
            </a:r>
            <a:r>
              <a:rPr sz="2150" spc="80" dirty="0">
                <a:latin typeface="Tahoma"/>
                <a:cs typeface="Tahoma"/>
              </a:rPr>
              <a:t>balanced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by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losses</a:t>
            </a:r>
            <a:r>
              <a:rPr sz="2150" spc="-2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or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gains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utility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another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agent.</a:t>
            </a:r>
            <a:endParaRPr sz="2150">
              <a:latin typeface="Tahoma"/>
              <a:cs typeface="Tahoma"/>
            </a:endParaRPr>
          </a:p>
          <a:p>
            <a:pPr marL="201295" marR="5080" indent="-189230">
              <a:lnSpc>
                <a:spcPts val="232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140" dirty="0">
                <a:latin typeface="Tahoma"/>
                <a:cs typeface="Tahoma"/>
              </a:rPr>
              <a:t>One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 the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-35" dirty="0">
                <a:latin typeface="Tahoma"/>
                <a:cs typeface="Tahoma"/>
              </a:rPr>
              <a:t>try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to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maximize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one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single</a:t>
            </a:r>
            <a:r>
              <a:rPr sz="2150" spc="-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value,</a:t>
            </a:r>
            <a:r>
              <a:rPr sz="2150" spc="-135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while </a:t>
            </a:r>
            <a:r>
              <a:rPr sz="2150" dirty="0">
                <a:latin typeface="Tahoma"/>
                <a:cs typeface="Tahoma"/>
              </a:rPr>
              <a:t>other</a:t>
            </a:r>
            <a:r>
              <a:rPr sz="2150" spc="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tries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to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minimize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it.</a:t>
            </a:r>
            <a:endParaRPr sz="2150">
              <a:latin typeface="Tahoma"/>
              <a:cs typeface="Tahoma"/>
            </a:endParaRPr>
          </a:p>
          <a:p>
            <a:pPr marL="201295" indent="-188595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55" dirty="0">
                <a:latin typeface="Tahoma"/>
                <a:cs typeface="Tahoma"/>
              </a:rPr>
              <a:t>Each</a:t>
            </a:r>
            <a:r>
              <a:rPr sz="2150" spc="-125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move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by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one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player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game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75" dirty="0">
                <a:latin typeface="Tahoma"/>
                <a:cs typeface="Tahoma"/>
              </a:rPr>
              <a:t>called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ply.</a:t>
            </a:r>
            <a:endParaRPr sz="2150">
              <a:latin typeface="Tahoma"/>
              <a:cs typeface="Tahoma"/>
            </a:endParaRPr>
          </a:p>
          <a:p>
            <a:pPr marL="201295" indent="-18859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70" dirty="0">
                <a:latin typeface="Tahoma"/>
                <a:cs typeface="Tahoma"/>
              </a:rPr>
              <a:t>Chess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75" dirty="0">
                <a:latin typeface="Tahoma"/>
                <a:cs typeface="Tahoma"/>
              </a:rPr>
              <a:t>and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tic-</a:t>
            </a:r>
            <a:r>
              <a:rPr sz="2150" spc="-20" dirty="0">
                <a:latin typeface="Tahoma"/>
                <a:cs typeface="Tahoma"/>
              </a:rPr>
              <a:t>tac-</a:t>
            </a:r>
            <a:r>
              <a:rPr sz="2150" spc="60" dirty="0">
                <a:latin typeface="Tahoma"/>
                <a:cs typeface="Tahoma"/>
              </a:rPr>
              <a:t>toe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are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50" dirty="0">
                <a:latin typeface="Tahoma"/>
                <a:cs typeface="Tahoma"/>
              </a:rPr>
              <a:t>examples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-4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Zero-sum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game.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114" dirty="0">
                          <a:latin typeface="Tahoma"/>
                          <a:cs typeface="Tahoma"/>
                        </a:rPr>
                        <a:t>Zero-</a:t>
                      </a:r>
                      <a:r>
                        <a:rPr sz="3300" b="1" spc="-130" dirty="0">
                          <a:latin typeface="Tahoma"/>
                          <a:cs typeface="Tahoma"/>
                        </a:rPr>
                        <a:t>Sum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20" dirty="0">
                          <a:latin typeface="Tahoma"/>
                          <a:cs typeface="Tahoma"/>
                        </a:rPr>
                        <a:t>Game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78" y="3084052"/>
            <a:ext cx="8142605" cy="30251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00025" marR="5080" indent="-187960">
              <a:lnSpc>
                <a:spcPts val="2150"/>
              </a:lnSpc>
              <a:spcBef>
                <a:spcPts val="360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Zero-sum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game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involved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embedded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thinking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in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which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one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agent 	</a:t>
            </a:r>
            <a:r>
              <a:rPr sz="1950" spc="75" dirty="0">
                <a:latin typeface="Tahoma"/>
                <a:cs typeface="Tahoma"/>
              </a:rPr>
              <a:t>or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player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trying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figure</a:t>
            </a:r>
            <a:r>
              <a:rPr sz="1950" spc="-20" dirty="0">
                <a:latin typeface="Tahoma"/>
                <a:cs typeface="Tahoma"/>
              </a:rPr>
              <a:t> out: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dirty="0">
                <a:latin typeface="Tahoma"/>
                <a:cs typeface="Tahoma"/>
              </a:rPr>
              <a:t>What</a:t>
            </a:r>
            <a:r>
              <a:rPr sz="1950" spc="1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do.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spc="85" dirty="0">
                <a:latin typeface="Tahoma"/>
                <a:cs typeface="Tahoma"/>
              </a:rPr>
              <a:t>How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120" dirty="0">
                <a:latin typeface="Tahoma"/>
                <a:cs typeface="Tahoma"/>
              </a:rPr>
              <a:t>decide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60" dirty="0">
                <a:latin typeface="Tahoma"/>
                <a:cs typeface="Tahoma"/>
              </a:rPr>
              <a:t>move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spc="110" dirty="0">
                <a:latin typeface="Tahoma"/>
                <a:cs typeface="Tahoma"/>
              </a:rPr>
              <a:t>Needs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think</a:t>
            </a:r>
            <a:r>
              <a:rPr sz="1950" spc="-70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about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his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100" dirty="0">
                <a:latin typeface="Tahoma"/>
                <a:cs typeface="Tahoma"/>
              </a:rPr>
              <a:t>opponent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30" dirty="0">
                <a:latin typeface="Tahoma"/>
                <a:cs typeface="Tahoma"/>
              </a:rPr>
              <a:t>well</a:t>
            </a:r>
            <a:endParaRPr sz="19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dirty="0">
                <a:latin typeface="Tahoma"/>
                <a:cs typeface="Tahoma"/>
              </a:rPr>
              <a:t>The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100" dirty="0">
                <a:latin typeface="Tahoma"/>
                <a:cs typeface="Tahoma"/>
              </a:rPr>
              <a:t>opponent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also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thinks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what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5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do</a:t>
            </a:r>
            <a:endParaRPr sz="1950">
              <a:latin typeface="Tahoma"/>
              <a:cs typeface="Tahoma"/>
            </a:endParaRPr>
          </a:p>
          <a:p>
            <a:pPr marL="200025" marR="109220" indent="-187960">
              <a:lnSpc>
                <a:spcPct val="915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spc="60" dirty="0">
                <a:latin typeface="Tahoma"/>
                <a:cs typeface="Tahoma"/>
              </a:rPr>
              <a:t>Each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45" dirty="0">
                <a:latin typeface="Tahoma"/>
                <a:cs typeface="Tahoma"/>
              </a:rPr>
              <a:t>players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is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trying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find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out</a:t>
            </a:r>
            <a:r>
              <a:rPr sz="1950" spc="-6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65" dirty="0">
                <a:latin typeface="Tahoma"/>
                <a:cs typeface="Tahoma"/>
              </a:rPr>
              <a:t>response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of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his</a:t>
            </a:r>
            <a:r>
              <a:rPr sz="1950" spc="-60" dirty="0">
                <a:latin typeface="Tahoma"/>
                <a:cs typeface="Tahoma"/>
              </a:rPr>
              <a:t> </a:t>
            </a:r>
            <a:r>
              <a:rPr sz="1950" spc="90" dirty="0">
                <a:latin typeface="Tahoma"/>
                <a:cs typeface="Tahoma"/>
              </a:rPr>
              <a:t>opponent 	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their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actions.</a:t>
            </a:r>
            <a:r>
              <a:rPr sz="1950" spc="-16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This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requires</a:t>
            </a:r>
            <a:r>
              <a:rPr sz="1950" spc="-35" dirty="0">
                <a:latin typeface="Tahoma"/>
                <a:cs typeface="Tahoma"/>
              </a:rPr>
              <a:t> </a:t>
            </a:r>
            <a:r>
              <a:rPr sz="1950" spc="135" dirty="0">
                <a:latin typeface="Tahoma"/>
                <a:cs typeface="Tahoma"/>
              </a:rPr>
              <a:t>embedded</a:t>
            </a:r>
            <a:r>
              <a:rPr sz="1950" spc="-40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thinking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spc="75" dirty="0">
                <a:latin typeface="Tahoma"/>
                <a:cs typeface="Tahoma"/>
              </a:rPr>
              <a:t>or</a:t>
            </a:r>
            <a:r>
              <a:rPr sz="1950" spc="-45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backward 	</a:t>
            </a:r>
            <a:r>
              <a:rPr sz="1950" spc="55" dirty="0">
                <a:latin typeface="Tahoma"/>
                <a:cs typeface="Tahoma"/>
              </a:rPr>
              <a:t>reasoning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55" dirty="0">
                <a:latin typeface="Tahoma"/>
                <a:cs typeface="Tahoma"/>
              </a:rPr>
              <a:t>to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solve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the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95" dirty="0">
                <a:latin typeface="Tahoma"/>
                <a:cs typeface="Tahoma"/>
              </a:rPr>
              <a:t>game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85" dirty="0">
                <a:latin typeface="Tahoma"/>
                <a:cs typeface="Tahoma"/>
              </a:rPr>
              <a:t>problems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50" dirty="0">
                <a:latin typeface="Tahoma"/>
                <a:cs typeface="Tahoma"/>
              </a:rPr>
              <a:t>in</a:t>
            </a:r>
            <a:r>
              <a:rPr sz="1950" spc="-120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AI.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5" dirty="0">
                          <a:latin typeface="Tahoma"/>
                          <a:cs typeface="Tahoma"/>
                        </a:rPr>
                        <a:t>Formalization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3300" b="1" spc="-75" dirty="0">
                          <a:latin typeface="Tahoma"/>
                          <a:cs typeface="Tahoma"/>
                        </a:rPr>
                        <a:t> the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problem: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2601470"/>
            <a:ext cx="8245475" cy="33921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80" dirty="0">
                <a:latin typeface="Tahoma"/>
                <a:cs typeface="Tahoma"/>
              </a:rPr>
              <a:t>Initial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state: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specifies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how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up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at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start.</a:t>
            </a:r>
            <a:endParaRPr sz="18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75" dirty="0">
                <a:latin typeface="Tahoma"/>
                <a:cs typeface="Tahoma"/>
              </a:rPr>
              <a:t>Player(s):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specifies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moved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sz="1800" b="1" spc="-70" dirty="0">
                <a:latin typeface="Tahoma"/>
                <a:cs typeface="Tahoma"/>
              </a:rPr>
              <a:t>Action(s):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returns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legal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moves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025" marR="172720" indent="-187960">
              <a:lnSpc>
                <a:spcPts val="197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75" dirty="0">
                <a:latin typeface="Tahoma"/>
                <a:cs typeface="Tahoma"/>
              </a:rPr>
              <a:t>Result(s,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a):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transition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model,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specifies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result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moves</a:t>
            </a:r>
            <a:r>
              <a:rPr sz="1800" spc="-25" dirty="0">
                <a:latin typeface="Tahoma"/>
                <a:cs typeface="Tahoma"/>
              </a:rPr>
              <a:t> in 	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200025" marR="5080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100" dirty="0">
                <a:latin typeface="Tahoma"/>
                <a:cs typeface="Tahoma"/>
              </a:rPr>
              <a:t>Terminal-</a:t>
            </a:r>
            <a:r>
              <a:rPr sz="1800" b="1" spc="-120" dirty="0">
                <a:latin typeface="Tahoma"/>
                <a:cs typeface="Tahoma"/>
              </a:rPr>
              <a:t>Test(s):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test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true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over,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else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false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at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any 	</a:t>
            </a:r>
            <a:r>
              <a:rPr sz="1800" dirty="0">
                <a:latin typeface="Tahoma"/>
                <a:cs typeface="Tahoma"/>
              </a:rPr>
              <a:t>case.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 state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where 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ends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states.</a:t>
            </a:r>
            <a:endParaRPr sz="1800">
              <a:latin typeface="Tahoma"/>
              <a:cs typeface="Tahoma"/>
            </a:endParaRPr>
          </a:p>
          <a:p>
            <a:pPr marL="200025" marR="193675" indent="-187960">
              <a:lnSpc>
                <a:spcPct val="90900"/>
              </a:lnSpc>
              <a:spcBef>
                <a:spcPts val="78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b="1" spc="-55" dirty="0">
                <a:latin typeface="Tahoma"/>
                <a:cs typeface="Tahoma"/>
              </a:rPr>
              <a:t>Utility(s,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p):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spc="19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utility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function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gives 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final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numeric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 	</a:t>
            </a:r>
            <a:r>
              <a:rPr sz="1800" spc="65" dirty="0">
                <a:latin typeface="Tahoma"/>
                <a:cs typeface="Tahoma"/>
              </a:rPr>
              <a:t>ends</a:t>
            </a:r>
            <a:r>
              <a:rPr sz="1800" dirty="0">
                <a:latin typeface="Tahoma"/>
                <a:cs typeface="Tahoma"/>
              </a:rPr>
              <a:t> 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terminal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states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player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p.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called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payoff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function.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For 	</a:t>
            </a:r>
            <a:r>
              <a:rPr sz="1800" dirty="0">
                <a:latin typeface="Tahoma"/>
                <a:cs typeface="Tahoma"/>
              </a:rPr>
              <a:t>Chess,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outcomes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win,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loss,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draw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payoff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+1,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0,</a:t>
            </a:r>
            <a:endParaRPr sz="1800">
              <a:latin typeface="Tahoma"/>
              <a:cs typeface="Tahoma"/>
            </a:endParaRPr>
          </a:p>
          <a:p>
            <a:pPr marL="201295">
              <a:lnSpc>
                <a:spcPts val="1955"/>
              </a:lnSpc>
            </a:pPr>
            <a:r>
              <a:rPr sz="1800" spc="-195" dirty="0">
                <a:latin typeface="Tahoma"/>
                <a:cs typeface="Tahoma"/>
              </a:rPr>
              <a:t>½.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125" dirty="0">
                <a:latin typeface="Tahoma"/>
                <a:cs typeface="Tahoma"/>
              </a:rPr>
              <a:t>And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tic-tac-toe,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utility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+1,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-</a:t>
            </a:r>
            <a:r>
              <a:rPr sz="1800" spc="-25" dirty="0">
                <a:latin typeface="Tahoma"/>
                <a:cs typeface="Tahoma"/>
              </a:rPr>
              <a:t>1,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0.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7873365" cy="234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minimax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algorithm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b="1" spc="-20" dirty="0">
                <a:latin typeface="Tahoma"/>
                <a:cs typeface="Tahoma"/>
              </a:rPr>
              <a:t>helps</a:t>
            </a:r>
            <a:r>
              <a:rPr sz="2300" b="1" spc="-50" dirty="0">
                <a:latin typeface="Tahoma"/>
                <a:cs typeface="Tahoma"/>
              </a:rPr>
              <a:t> </a:t>
            </a:r>
            <a:r>
              <a:rPr sz="2300" b="1" spc="-10" dirty="0">
                <a:latin typeface="Tahoma"/>
                <a:cs typeface="Tahoma"/>
              </a:rPr>
              <a:t>find</a:t>
            </a:r>
            <a:r>
              <a:rPr sz="2300" b="1" spc="-75" dirty="0">
                <a:latin typeface="Tahoma"/>
                <a:cs typeface="Tahoma"/>
              </a:rPr>
              <a:t> </a:t>
            </a:r>
            <a:r>
              <a:rPr sz="2300" b="1" spc="-50" dirty="0">
                <a:latin typeface="Tahoma"/>
                <a:cs typeface="Tahoma"/>
              </a:rPr>
              <a:t>the </a:t>
            </a:r>
            <a:r>
              <a:rPr sz="2300" b="1" spc="-20" dirty="0">
                <a:latin typeface="Tahoma"/>
                <a:cs typeface="Tahoma"/>
              </a:rPr>
              <a:t>best</a:t>
            </a:r>
            <a:r>
              <a:rPr sz="2300" b="1" spc="-55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move,</a:t>
            </a:r>
            <a:r>
              <a:rPr sz="2300" b="1" spc="-125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by 	</a:t>
            </a:r>
            <a:r>
              <a:rPr sz="2300" b="1" spc="-20" dirty="0">
                <a:latin typeface="Tahoma"/>
                <a:cs typeface="Tahoma"/>
              </a:rPr>
              <a:t>working</a:t>
            </a:r>
            <a:r>
              <a:rPr sz="2300" b="1" spc="-114" dirty="0">
                <a:latin typeface="Tahoma"/>
                <a:cs typeface="Tahoma"/>
              </a:rPr>
              <a:t> </a:t>
            </a:r>
            <a:r>
              <a:rPr sz="2300" b="1" spc="-40" dirty="0">
                <a:latin typeface="Tahoma"/>
                <a:cs typeface="Tahoma"/>
              </a:rPr>
              <a:t>backwards</a:t>
            </a:r>
            <a:r>
              <a:rPr sz="2300" b="1" spc="-100" dirty="0">
                <a:latin typeface="Tahoma"/>
                <a:cs typeface="Tahoma"/>
              </a:rPr>
              <a:t> </a:t>
            </a:r>
            <a:r>
              <a:rPr sz="2300" b="1" spc="-55" dirty="0">
                <a:latin typeface="Tahoma"/>
                <a:cs typeface="Tahoma"/>
              </a:rPr>
              <a:t>from</a:t>
            </a:r>
            <a:r>
              <a:rPr sz="2300" b="1" spc="-85" dirty="0">
                <a:latin typeface="Tahoma"/>
                <a:cs typeface="Tahoma"/>
              </a:rPr>
              <a:t> </a:t>
            </a:r>
            <a:r>
              <a:rPr sz="2300" b="1" spc="-60" dirty="0">
                <a:latin typeface="Tahoma"/>
                <a:cs typeface="Tahoma"/>
              </a:rPr>
              <a:t>the</a:t>
            </a:r>
            <a:r>
              <a:rPr sz="2300" b="1" spc="-95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end</a:t>
            </a:r>
            <a:r>
              <a:rPr sz="2300" b="1" spc="-95" dirty="0">
                <a:latin typeface="Tahoma"/>
                <a:cs typeface="Tahoma"/>
              </a:rPr>
              <a:t> </a:t>
            </a:r>
            <a:r>
              <a:rPr sz="2300" b="1" dirty="0">
                <a:latin typeface="Tahoma"/>
                <a:cs typeface="Tahoma"/>
              </a:rPr>
              <a:t>of</a:t>
            </a:r>
            <a:r>
              <a:rPr sz="2300" b="1" spc="-25" dirty="0">
                <a:latin typeface="Tahoma"/>
                <a:cs typeface="Tahoma"/>
              </a:rPr>
              <a:t> </a:t>
            </a:r>
            <a:r>
              <a:rPr sz="2300" b="1" spc="-55" dirty="0">
                <a:latin typeface="Tahoma"/>
                <a:cs typeface="Tahoma"/>
              </a:rPr>
              <a:t>the</a:t>
            </a:r>
            <a:r>
              <a:rPr sz="2300" b="1" spc="-100" dirty="0">
                <a:latin typeface="Tahoma"/>
                <a:cs typeface="Tahoma"/>
              </a:rPr>
              <a:t> </a:t>
            </a:r>
            <a:r>
              <a:rPr sz="2300" b="1" spc="-40" dirty="0">
                <a:latin typeface="Tahoma"/>
                <a:cs typeface="Tahoma"/>
              </a:rPr>
              <a:t>game</a:t>
            </a:r>
            <a:r>
              <a:rPr sz="2300" spc="-40" dirty="0">
                <a:latin typeface="Tahoma"/>
                <a:cs typeface="Tahoma"/>
              </a:rPr>
              <a:t>.</a:t>
            </a:r>
            <a:r>
              <a:rPr sz="2300" spc="-25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At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each 	</a:t>
            </a:r>
            <a:r>
              <a:rPr sz="2300" spc="60" dirty="0">
                <a:latin typeface="Tahoma"/>
                <a:cs typeface="Tahoma"/>
              </a:rPr>
              <a:t>step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assumes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that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130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trying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maximize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55" dirty="0">
                <a:latin typeface="Tahoma"/>
                <a:cs typeface="Tahoma"/>
              </a:rPr>
              <a:t>chances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winning,</a:t>
            </a:r>
            <a:r>
              <a:rPr sz="2300" spc="-16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while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on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next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turn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120" dirty="0">
                <a:latin typeface="Tahoma"/>
                <a:cs typeface="Tahoma"/>
              </a:rPr>
              <a:t>B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is 	</a:t>
            </a:r>
            <a:r>
              <a:rPr sz="2300" dirty="0">
                <a:latin typeface="Tahoma"/>
                <a:cs typeface="Tahoma"/>
              </a:rPr>
              <a:t>trying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minimize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chances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229" dirty="0">
                <a:latin typeface="Tahoma"/>
                <a:cs typeface="Tahoma"/>
              </a:rPr>
              <a:t>A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winning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65" dirty="0">
                <a:latin typeface="Tahoma"/>
                <a:cs typeface="Tahoma"/>
              </a:rPr>
              <a:t>(i.e.,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spc="35" dirty="0">
                <a:latin typeface="Tahoma"/>
                <a:cs typeface="Tahoma"/>
              </a:rPr>
              <a:t>to 	</a:t>
            </a:r>
            <a:r>
              <a:rPr sz="2300" dirty="0">
                <a:latin typeface="Tahoma"/>
                <a:cs typeface="Tahoma"/>
              </a:rPr>
              <a:t>maximize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B's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own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chances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1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winning).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 marL="737235" indent="-187960">
                        <a:lnSpc>
                          <a:spcPct val="100000"/>
                        </a:lnSpc>
                        <a:spcBef>
                          <a:spcPts val="1010"/>
                        </a:spcBef>
                        <a:buFont typeface="Arial MT"/>
                        <a:buChar char="•"/>
                        <a:tabLst>
                          <a:tab pos="737235" algn="l"/>
                        </a:tabLst>
                      </a:pPr>
                      <a:r>
                        <a:rPr sz="1450" spc="5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145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5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45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recursive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65" dirty="0">
                          <a:latin typeface="Tahoma"/>
                          <a:cs typeface="Tahoma"/>
                        </a:rPr>
                        <a:t>or</a:t>
                      </a:r>
                      <a:r>
                        <a:rPr sz="145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backtracking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5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4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which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60" dirty="0">
                          <a:latin typeface="Tahoma"/>
                          <a:cs typeface="Tahoma"/>
                        </a:rPr>
                        <a:t>used</a:t>
                      </a:r>
                      <a:r>
                        <a:rPr sz="14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1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50" spc="20" dirty="0">
                          <a:latin typeface="Tahoma"/>
                          <a:cs typeface="Tahoma"/>
                        </a:rPr>
                        <a:t>decision-</a:t>
                      </a:r>
                      <a:r>
                        <a:rPr sz="1450" spc="45" dirty="0">
                          <a:latin typeface="Tahoma"/>
                          <a:cs typeface="Tahoma"/>
                        </a:rPr>
                        <a:t>making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71423" y="2604056"/>
            <a:ext cx="78898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75" dirty="0">
                <a:latin typeface="Tahoma"/>
                <a:cs typeface="Tahoma"/>
              </a:rPr>
              <a:t>game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theory.</a:t>
            </a:r>
            <a:r>
              <a:rPr sz="1450" spc="-80" dirty="0">
                <a:latin typeface="Tahoma"/>
                <a:cs typeface="Tahoma"/>
              </a:rPr>
              <a:t> </a:t>
            </a:r>
            <a:r>
              <a:rPr sz="1450" spc="-95" dirty="0">
                <a:latin typeface="Tahoma"/>
                <a:cs typeface="Tahoma"/>
              </a:rPr>
              <a:t>It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provides</a:t>
            </a:r>
            <a:r>
              <a:rPr sz="1450" spc="-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an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optimal</a:t>
            </a:r>
            <a:r>
              <a:rPr sz="1450" spc="-45" dirty="0">
                <a:latin typeface="Tahoma"/>
                <a:cs typeface="Tahoma"/>
              </a:rPr>
              <a:t> </a:t>
            </a:r>
            <a:r>
              <a:rPr sz="1450" spc="70" dirty="0">
                <a:latin typeface="Tahoma"/>
                <a:cs typeface="Tahoma"/>
              </a:rPr>
              <a:t>move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assuming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that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spc="-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also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447" y="2724056"/>
            <a:ext cx="8237220" cy="371665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785"/>
              </a:spcBef>
            </a:pPr>
            <a:r>
              <a:rPr sz="1450" spc="55" dirty="0">
                <a:latin typeface="Tahoma"/>
                <a:cs typeface="Tahoma"/>
              </a:rPr>
              <a:t>playing</a:t>
            </a:r>
            <a:r>
              <a:rPr sz="1450" spc="-6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optimally.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spc="50" dirty="0">
                <a:latin typeface="Tahoma"/>
                <a:cs typeface="Tahoma"/>
              </a:rPr>
              <a:t>Mini-</a:t>
            </a:r>
            <a:r>
              <a:rPr sz="1450" spc="75" dirty="0">
                <a:latin typeface="Tahoma"/>
                <a:cs typeface="Tahoma"/>
              </a:rPr>
              <a:t>Max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algorithm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uses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recursion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search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through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the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game-</a:t>
            </a:r>
            <a:r>
              <a:rPr sz="1450" spc="-10" dirty="0">
                <a:latin typeface="Tahoma"/>
                <a:cs typeface="Tahoma"/>
              </a:rPr>
              <a:t>tree.</a:t>
            </a:r>
            <a:endParaRPr sz="1450">
              <a:latin typeface="Tahoma"/>
              <a:cs typeface="Tahoma"/>
            </a:endParaRPr>
          </a:p>
          <a:p>
            <a:pPr marL="200025" marR="5080" indent="-187960">
              <a:lnSpc>
                <a:spcPct val="921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0" dirty="0">
                <a:latin typeface="Tahoma"/>
                <a:cs typeface="Tahoma"/>
              </a:rPr>
              <a:t>Min-</a:t>
            </a:r>
            <a:r>
              <a:rPr sz="1450" spc="75" dirty="0">
                <a:latin typeface="Tahoma"/>
                <a:cs typeface="Tahoma"/>
              </a:rPr>
              <a:t>Max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algorithm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mostly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used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playing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AI.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Such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Chess,</a:t>
            </a:r>
            <a:r>
              <a:rPr sz="1450" spc="-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Checkers,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tic-tac-</a:t>
            </a:r>
            <a:r>
              <a:rPr sz="1450" spc="-20" dirty="0">
                <a:latin typeface="Tahoma"/>
                <a:cs typeface="Tahoma"/>
              </a:rPr>
              <a:t>toe, 	</a:t>
            </a:r>
            <a:r>
              <a:rPr sz="1450" spc="55" dirty="0">
                <a:latin typeface="Tahoma"/>
                <a:cs typeface="Tahoma"/>
              </a:rPr>
              <a:t>go,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various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two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player's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game.</a:t>
            </a:r>
            <a:r>
              <a:rPr sz="1450" spc="-11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This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Algorithm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computes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the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minimax </a:t>
            </a:r>
            <a:r>
              <a:rPr sz="1450" spc="60" dirty="0">
                <a:latin typeface="Tahoma"/>
                <a:cs typeface="Tahoma"/>
              </a:rPr>
              <a:t>decision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10" dirty="0">
                <a:latin typeface="Tahoma"/>
                <a:cs typeface="Tahoma"/>
              </a:rPr>
              <a:t>for</a:t>
            </a:r>
            <a:r>
              <a:rPr sz="1450" spc="-25" dirty="0">
                <a:latin typeface="Tahoma"/>
                <a:cs typeface="Tahoma"/>
              </a:rPr>
              <a:t> the 	</a:t>
            </a:r>
            <a:r>
              <a:rPr sz="1450" dirty="0">
                <a:latin typeface="Tahoma"/>
                <a:cs typeface="Tahoma"/>
              </a:rPr>
              <a:t>current</a:t>
            </a:r>
            <a:r>
              <a:rPr sz="1450" spc="13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state.</a:t>
            </a:r>
            <a:endParaRPr sz="145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sz="1450" spc="-65" dirty="0">
                <a:latin typeface="Tahoma"/>
                <a:cs typeface="Tahoma"/>
              </a:rPr>
              <a:t>In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this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two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-4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play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game,</a:t>
            </a:r>
            <a:r>
              <a:rPr sz="1450" spc="-85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one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called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spc="160" dirty="0">
                <a:latin typeface="Tahoma"/>
                <a:cs typeface="Tahoma"/>
              </a:rPr>
              <a:t>MAX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other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is</a:t>
            </a:r>
            <a:r>
              <a:rPr sz="1450" spc="-20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called</a:t>
            </a:r>
            <a:r>
              <a:rPr sz="1450" spc="-20" dirty="0">
                <a:latin typeface="Tahoma"/>
                <a:cs typeface="Tahoma"/>
              </a:rPr>
              <a:t> MIN.</a:t>
            </a:r>
            <a:endParaRPr sz="1450">
              <a:latin typeface="Tahoma"/>
              <a:cs typeface="Tahoma"/>
            </a:endParaRPr>
          </a:p>
          <a:p>
            <a:pPr marL="200025" marR="163195" indent="-187960">
              <a:lnSpc>
                <a:spcPts val="161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5" dirty="0">
                <a:latin typeface="Tahoma"/>
                <a:cs typeface="Tahoma"/>
              </a:rPr>
              <a:t>Both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fight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it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dirty="0">
                <a:latin typeface="Tahoma"/>
                <a:cs typeface="Tahoma"/>
              </a:rPr>
              <a:t> player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gets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minimum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benefit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while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they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60" dirty="0">
                <a:latin typeface="Tahoma"/>
                <a:cs typeface="Tahoma"/>
              </a:rPr>
              <a:t>get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-25" dirty="0">
                <a:latin typeface="Tahoma"/>
                <a:cs typeface="Tahoma"/>
              </a:rPr>
              <a:t>the 	</a:t>
            </a:r>
            <a:r>
              <a:rPr sz="1450" spc="50" dirty="0">
                <a:latin typeface="Tahoma"/>
                <a:cs typeface="Tahoma"/>
              </a:rPr>
              <a:t>maximum</a:t>
            </a:r>
            <a:r>
              <a:rPr sz="1450" spc="-6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benefit.</a:t>
            </a:r>
            <a:endParaRPr sz="1450">
              <a:latin typeface="Tahoma"/>
              <a:cs typeface="Tahoma"/>
            </a:endParaRPr>
          </a:p>
          <a:p>
            <a:pPr marL="200025" marR="210185" indent="-187960">
              <a:lnSpc>
                <a:spcPts val="16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spc="55" dirty="0">
                <a:latin typeface="Tahoma"/>
                <a:cs typeface="Tahoma"/>
              </a:rPr>
              <a:t>Both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Players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5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are </a:t>
            </a:r>
            <a:r>
              <a:rPr sz="1450" spc="85" dirty="0">
                <a:latin typeface="Tahoma"/>
                <a:cs typeface="Tahoma"/>
              </a:rPr>
              <a:t>opponent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4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each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other,</a:t>
            </a:r>
            <a:r>
              <a:rPr sz="1450" spc="-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where</a:t>
            </a:r>
            <a:r>
              <a:rPr sz="1450" spc="-30" dirty="0">
                <a:latin typeface="Tahoma"/>
                <a:cs typeface="Tahoma"/>
              </a:rPr>
              <a:t> </a:t>
            </a:r>
            <a:r>
              <a:rPr sz="1450" spc="160" dirty="0">
                <a:latin typeface="Tahoma"/>
                <a:cs typeface="Tahoma"/>
              </a:rPr>
              <a:t>MAX</a:t>
            </a:r>
            <a:r>
              <a:rPr sz="1450" spc="-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will select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40" dirty="0">
                <a:latin typeface="Tahoma"/>
                <a:cs typeface="Tahoma"/>
              </a:rPr>
              <a:t>maximized 	</a:t>
            </a:r>
            <a:r>
              <a:rPr sz="1450" dirty="0">
                <a:latin typeface="Tahoma"/>
                <a:cs typeface="Tahoma"/>
              </a:rPr>
              <a:t>value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and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spc="65" dirty="0">
                <a:latin typeface="Tahoma"/>
                <a:cs typeface="Tahoma"/>
              </a:rPr>
              <a:t>MIN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will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select the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minimized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value.</a:t>
            </a:r>
            <a:endParaRPr sz="1450">
              <a:latin typeface="Tahoma"/>
              <a:cs typeface="Tahoma"/>
            </a:endParaRPr>
          </a:p>
          <a:p>
            <a:pPr marL="200025" marR="461009" indent="-187960">
              <a:lnSpc>
                <a:spcPts val="161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minimax</a:t>
            </a:r>
            <a:r>
              <a:rPr sz="1450" spc="50" dirty="0">
                <a:latin typeface="Tahoma"/>
                <a:cs typeface="Tahoma"/>
              </a:rPr>
              <a:t> algorithm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performs</a:t>
            </a:r>
            <a:r>
              <a:rPr sz="1450" spc="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</a:t>
            </a:r>
            <a:r>
              <a:rPr sz="1450" spc="45" dirty="0">
                <a:latin typeface="Tahoma"/>
                <a:cs typeface="Tahoma"/>
              </a:rPr>
              <a:t> </a:t>
            </a:r>
            <a:r>
              <a:rPr sz="1450" spc="55" dirty="0">
                <a:latin typeface="Tahoma"/>
                <a:cs typeface="Tahoma"/>
              </a:rPr>
              <a:t>depth-</a:t>
            </a:r>
            <a:r>
              <a:rPr sz="1450" dirty="0">
                <a:latin typeface="Tahoma"/>
                <a:cs typeface="Tahoma"/>
              </a:rPr>
              <a:t>first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search</a:t>
            </a:r>
            <a:r>
              <a:rPr sz="1450" spc="3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for</a:t>
            </a:r>
            <a:r>
              <a:rPr sz="1450" spc="2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exploration</a:t>
            </a:r>
            <a:r>
              <a:rPr sz="1450" spc="3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of</a:t>
            </a:r>
            <a:r>
              <a:rPr sz="1450" spc="95" dirty="0">
                <a:latin typeface="Tahoma"/>
                <a:cs typeface="Tahoma"/>
              </a:rPr>
              <a:t> </a:t>
            </a:r>
            <a:r>
              <a:rPr sz="1450" spc="-25" dirty="0">
                <a:latin typeface="Tahoma"/>
                <a:cs typeface="Tahoma"/>
              </a:rPr>
              <a:t>the 	</a:t>
            </a:r>
            <a:r>
              <a:rPr sz="1450" spc="70" dirty="0">
                <a:latin typeface="Tahoma"/>
                <a:cs typeface="Tahoma"/>
              </a:rPr>
              <a:t>complete</a:t>
            </a:r>
            <a:r>
              <a:rPr sz="1450" spc="-95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game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tree.</a:t>
            </a:r>
            <a:endParaRPr sz="1450">
              <a:latin typeface="Tahoma"/>
              <a:cs typeface="Tahoma"/>
            </a:endParaRPr>
          </a:p>
          <a:p>
            <a:pPr marL="200025" marR="495934" indent="-187960">
              <a:lnSpc>
                <a:spcPts val="16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450" dirty="0">
                <a:latin typeface="Tahoma"/>
                <a:cs typeface="Tahoma"/>
              </a:rPr>
              <a:t>The</a:t>
            </a:r>
            <a:r>
              <a:rPr sz="1450" spc="-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minimax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algorithm</a:t>
            </a:r>
            <a:r>
              <a:rPr sz="1450" spc="25" dirty="0">
                <a:latin typeface="Tahoma"/>
                <a:cs typeface="Tahoma"/>
              </a:rPr>
              <a:t> </a:t>
            </a:r>
            <a:r>
              <a:rPr sz="1450" spc="75" dirty="0">
                <a:latin typeface="Tahoma"/>
                <a:cs typeface="Tahoma"/>
              </a:rPr>
              <a:t>proceeds</a:t>
            </a:r>
            <a:r>
              <a:rPr sz="1450" spc="-2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all</a:t>
            </a:r>
            <a:r>
              <a:rPr sz="1450" spc="1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way</a:t>
            </a:r>
            <a:r>
              <a:rPr sz="1450" spc="-10" dirty="0">
                <a:latin typeface="Tahoma"/>
                <a:cs typeface="Tahoma"/>
              </a:rPr>
              <a:t> </a:t>
            </a:r>
            <a:r>
              <a:rPr sz="1450" spc="80" dirty="0">
                <a:latin typeface="Tahoma"/>
                <a:cs typeface="Tahoma"/>
              </a:rPr>
              <a:t>down</a:t>
            </a:r>
            <a:r>
              <a:rPr sz="1450" dirty="0">
                <a:latin typeface="Tahoma"/>
                <a:cs typeface="Tahoma"/>
              </a:rPr>
              <a:t> </a:t>
            </a:r>
            <a:r>
              <a:rPr sz="1450" spc="50" dirty="0">
                <a:latin typeface="Tahoma"/>
                <a:cs typeface="Tahoma"/>
              </a:rPr>
              <a:t>to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terminal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spc="90" dirty="0">
                <a:latin typeface="Tahoma"/>
                <a:cs typeface="Tahoma"/>
              </a:rPr>
              <a:t>node</a:t>
            </a:r>
            <a:r>
              <a:rPr sz="1450" dirty="0">
                <a:latin typeface="Tahoma"/>
                <a:cs typeface="Tahoma"/>
              </a:rPr>
              <a:t> of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1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tree,</a:t>
            </a:r>
            <a:r>
              <a:rPr sz="1450" spc="-65" dirty="0">
                <a:latin typeface="Tahoma"/>
                <a:cs typeface="Tahoma"/>
              </a:rPr>
              <a:t> </a:t>
            </a:r>
            <a:r>
              <a:rPr sz="1450" spc="-20" dirty="0">
                <a:latin typeface="Tahoma"/>
                <a:cs typeface="Tahoma"/>
              </a:rPr>
              <a:t>then 	</a:t>
            </a:r>
            <a:r>
              <a:rPr sz="1450" dirty="0">
                <a:latin typeface="Tahoma"/>
                <a:cs typeface="Tahoma"/>
              </a:rPr>
              <a:t>backtrack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tree</a:t>
            </a:r>
            <a:r>
              <a:rPr sz="1450" spc="5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as</a:t>
            </a:r>
            <a:r>
              <a:rPr sz="1450" spc="60" dirty="0">
                <a:latin typeface="Tahoma"/>
                <a:cs typeface="Tahoma"/>
              </a:rPr>
              <a:t> </a:t>
            </a:r>
            <a:r>
              <a:rPr sz="1450" dirty="0">
                <a:latin typeface="Tahoma"/>
                <a:cs typeface="Tahoma"/>
              </a:rPr>
              <a:t>the</a:t>
            </a:r>
            <a:r>
              <a:rPr sz="1450" spc="65" dirty="0">
                <a:latin typeface="Tahoma"/>
                <a:cs typeface="Tahoma"/>
              </a:rPr>
              <a:t> </a:t>
            </a:r>
            <a:r>
              <a:rPr sz="1450" spc="-10" dirty="0">
                <a:latin typeface="Tahoma"/>
                <a:cs typeface="Tahoma"/>
              </a:rPr>
              <a:t>recursion.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35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3300" b="1" spc="-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Solved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" y="2849879"/>
            <a:ext cx="7456932" cy="3262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8155">
                        <a:lnSpc>
                          <a:spcPts val="391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35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3300" b="1" spc="-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Solved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Example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208276" y="2717292"/>
            <a:ext cx="4695825" cy="3999229"/>
            <a:chOff x="2208276" y="2717292"/>
            <a:chExt cx="4695825" cy="39992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276" y="2717292"/>
              <a:ext cx="4695444" cy="39989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2784" y="5237988"/>
              <a:ext cx="382524" cy="7330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923032" y="2933700"/>
            <a:ext cx="3816350" cy="3390900"/>
            <a:chOff x="2923032" y="2933700"/>
            <a:chExt cx="3816350" cy="33909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3032" y="2933700"/>
              <a:ext cx="3311652" cy="31546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9308" y="3057144"/>
              <a:ext cx="128015" cy="2697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92396" y="2991611"/>
              <a:ext cx="81280" cy="266700"/>
            </a:xfrm>
            <a:custGeom>
              <a:avLst/>
              <a:gdLst/>
              <a:ahLst/>
              <a:cxnLst/>
              <a:rect l="l" t="t" r="r" b="b"/>
              <a:pathLst>
                <a:path w="81279" h="266700">
                  <a:moveTo>
                    <a:pt x="44195" y="265175"/>
                  </a:moveTo>
                  <a:lnTo>
                    <a:pt x="36575" y="265175"/>
                  </a:lnTo>
                  <a:lnTo>
                    <a:pt x="39624" y="266700"/>
                  </a:lnTo>
                  <a:lnTo>
                    <a:pt x="41148" y="266700"/>
                  </a:lnTo>
                  <a:lnTo>
                    <a:pt x="44195" y="265175"/>
                  </a:lnTo>
                  <a:close/>
                </a:path>
                <a:path w="81279" h="266700">
                  <a:moveTo>
                    <a:pt x="56387" y="263651"/>
                  </a:moveTo>
                  <a:lnTo>
                    <a:pt x="24383" y="263651"/>
                  </a:lnTo>
                  <a:lnTo>
                    <a:pt x="25907" y="265175"/>
                  </a:lnTo>
                  <a:lnTo>
                    <a:pt x="53339" y="265175"/>
                  </a:lnTo>
                  <a:lnTo>
                    <a:pt x="56387" y="263651"/>
                  </a:lnTo>
                  <a:close/>
                </a:path>
                <a:path w="81279" h="266700">
                  <a:moveTo>
                    <a:pt x="62483" y="262127"/>
                  </a:moveTo>
                  <a:lnTo>
                    <a:pt x="18287" y="262127"/>
                  </a:lnTo>
                  <a:lnTo>
                    <a:pt x="19812" y="263651"/>
                  </a:lnTo>
                  <a:lnTo>
                    <a:pt x="59436" y="263651"/>
                  </a:lnTo>
                  <a:lnTo>
                    <a:pt x="62483" y="262127"/>
                  </a:lnTo>
                  <a:close/>
                </a:path>
                <a:path w="81279" h="266700">
                  <a:moveTo>
                    <a:pt x="65531" y="259079"/>
                  </a:moveTo>
                  <a:lnTo>
                    <a:pt x="13715" y="259079"/>
                  </a:lnTo>
                  <a:lnTo>
                    <a:pt x="13715" y="259841"/>
                  </a:lnTo>
                  <a:lnTo>
                    <a:pt x="15239" y="260603"/>
                  </a:lnTo>
                  <a:lnTo>
                    <a:pt x="13715" y="260603"/>
                  </a:lnTo>
                  <a:lnTo>
                    <a:pt x="15239" y="262127"/>
                  </a:lnTo>
                  <a:lnTo>
                    <a:pt x="64007" y="262127"/>
                  </a:lnTo>
                  <a:lnTo>
                    <a:pt x="65531" y="260603"/>
                  </a:lnTo>
                  <a:lnTo>
                    <a:pt x="15239" y="260603"/>
                  </a:lnTo>
                  <a:lnTo>
                    <a:pt x="13715" y="259841"/>
                  </a:lnTo>
                  <a:lnTo>
                    <a:pt x="65531" y="259841"/>
                  </a:lnTo>
                  <a:lnTo>
                    <a:pt x="65531" y="259079"/>
                  </a:lnTo>
                  <a:close/>
                </a:path>
                <a:path w="81279" h="266700">
                  <a:moveTo>
                    <a:pt x="12191" y="259079"/>
                  </a:moveTo>
                  <a:lnTo>
                    <a:pt x="13715" y="260603"/>
                  </a:lnTo>
                  <a:lnTo>
                    <a:pt x="13715" y="259841"/>
                  </a:lnTo>
                  <a:lnTo>
                    <a:pt x="12191" y="259079"/>
                  </a:lnTo>
                  <a:close/>
                </a:path>
                <a:path w="81279" h="266700">
                  <a:moveTo>
                    <a:pt x="74675" y="251460"/>
                  </a:moveTo>
                  <a:lnTo>
                    <a:pt x="6095" y="251460"/>
                  </a:lnTo>
                  <a:lnTo>
                    <a:pt x="7619" y="254508"/>
                  </a:lnTo>
                  <a:lnTo>
                    <a:pt x="9143" y="256032"/>
                  </a:lnTo>
                  <a:lnTo>
                    <a:pt x="9143" y="257555"/>
                  </a:lnTo>
                  <a:lnTo>
                    <a:pt x="12191" y="259079"/>
                  </a:lnTo>
                  <a:lnTo>
                    <a:pt x="10667" y="257555"/>
                  </a:lnTo>
                  <a:lnTo>
                    <a:pt x="70103" y="257555"/>
                  </a:lnTo>
                  <a:lnTo>
                    <a:pt x="70103" y="256032"/>
                  </a:lnTo>
                  <a:lnTo>
                    <a:pt x="71627" y="256032"/>
                  </a:lnTo>
                  <a:lnTo>
                    <a:pt x="71627" y="254508"/>
                  </a:lnTo>
                  <a:lnTo>
                    <a:pt x="73151" y="254508"/>
                  </a:lnTo>
                  <a:lnTo>
                    <a:pt x="73151" y="252984"/>
                  </a:lnTo>
                  <a:lnTo>
                    <a:pt x="74675" y="251460"/>
                  </a:lnTo>
                  <a:close/>
                </a:path>
                <a:path w="81279" h="266700">
                  <a:moveTo>
                    <a:pt x="68579" y="257555"/>
                  </a:moveTo>
                  <a:lnTo>
                    <a:pt x="10667" y="257555"/>
                  </a:lnTo>
                  <a:lnTo>
                    <a:pt x="12191" y="259079"/>
                  </a:lnTo>
                  <a:lnTo>
                    <a:pt x="67055" y="259079"/>
                  </a:lnTo>
                  <a:lnTo>
                    <a:pt x="68579" y="257555"/>
                  </a:lnTo>
                  <a:close/>
                </a:path>
                <a:path w="81279" h="266700">
                  <a:moveTo>
                    <a:pt x="6095" y="251460"/>
                  </a:moveTo>
                  <a:lnTo>
                    <a:pt x="6095" y="252984"/>
                  </a:lnTo>
                  <a:lnTo>
                    <a:pt x="7619" y="254508"/>
                  </a:lnTo>
                  <a:lnTo>
                    <a:pt x="6095" y="251460"/>
                  </a:lnTo>
                  <a:close/>
                </a:path>
                <a:path w="81279" h="266700">
                  <a:moveTo>
                    <a:pt x="24383" y="0"/>
                  </a:moveTo>
                  <a:lnTo>
                    <a:pt x="13715" y="0"/>
                  </a:lnTo>
                  <a:lnTo>
                    <a:pt x="9143" y="4572"/>
                  </a:lnTo>
                  <a:lnTo>
                    <a:pt x="9143" y="10667"/>
                  </a:lnTo>
                  <a:lnTo>
                    <a:pt x="3048" y="128015"/>
                  </a:lnTo>
                  <a:lnTo>
                    <a:pt x="1394" y="176784"/>
                  </a:lnTo>
                  <a:lnTo>
                    <a:pt x="1343" y="178308"/>
                  </a:lnTo>
                  <a:lnTo>
                    <a:pt x="1239" y="181355"/>
                  </a:lnTo>
                  <a:lnTo>
                    <a:pt x="1136" y="184403"/>
                  </a:lnTo>
                  <a:lnTo>
                    <a:pt x="671" y="198120"/>
                  </a:lnTo>
                  <a:lnTo>
                    <a:pt x="619" y="199643"/>
                  </a:lnTo>
                  <a:lnTo>
                    <a:pt x="516" y="202691"/>
                  </a:lnTo>
                  <a:lnTo>
                    <a:pt x="413" y="205739"/>
                  </a:lnTo>
                  <a:lnTo>
                    <a:pt x="309" y="208787"/>
                  </a:lnTo>
                  <a:lnTo>
                    <a:pt x="206" y="211836"/>
                  </a:lnTo>
                  <a:lnTo>
                    <a:pt x="103" y="214884"/>
                  </a:lnTo>
                  <a:lnTo>
                    <a:pt x="0" y="237743"/>
                  </a:lnTo>
                  <a:lnTo>
                    <a:pt x="1524" y="239267"/>
                  </a:lnTo>
                  <a:lnTo>
                    <a:pt x="1524" y="243839"/>
                  </a:lnTo>
                  <a:lnTo>
                    <a:pt x="3048" y="245363"/>
                  </a:lnTo>
                  <a:lnTo>
                    <a:pt x="4571" y="248412"/>
                  </a:lnTo>
                  <a:lnTo>
                    <a:pt x="4571" y="251460"/>
                  </a:lnTo>
                  <a:lnTo>
                    <a:pt x="6095" y="252984"/>
                  </a:lnTo>
                  <a:lnTo>
                    <a:pt x="6095" y="251460"/>
                  </a:lnTo>
                  <a:lnTo>
                    <a:pt x="74675" y="251460"/>
                  </a:lnTo>
                  <a:lnTo>
                    <a:pt x="74675" y="249936"/>
                  </a:lnTo>
                  <a:lnTo>
                    <a:pt x="76200" y="248412"/>
                  </a:lnTo>
                  <a:lnTo>
                    <a:pt x="76200" y="246887"/>
                  </a:lnTo>
                  <a:lnTo>
                    <a:pt x="77724" y="246887"/>
                  </a:lnTo>
                  <a:lnTo>
                    <a:pt x="77724" y="245363"/>
                  </a:lnTo>
                  <a:lnTo>
                    <a:pt x="27431" y="245363"/>
                  </a:lnTo>
                  <a:lnTo>
                    <a:pt x="26669" y="244601"/>
                  </a:lnTo>
                  <a:lnTo>
                    <a:pt x="24383" y="243839"/>
                  </a:lnTo>
                  <a:lnTo>
                    <a:pt x="24129" y="243331"/>
                  </a:lnTo>
                  <a:lnTo>
                    <a:pt x="24002" y="243077"/>
                  </a:lnTo>
                  <a:lnTo>
                    <a:pt x="23875" y="242824"/>
                  </a:lnTo>
                  <a:lnTo>
                    <a:pt x="22859" y="242315"/>
                  </a:lnTo>
                  <a:lnTo>
                    <a:pt x="22605" y="241807"/>
                  </a:lnTo>
                  <a:lnTo>
                    <a:pt x="22478" y="241553"/>
                  </a:lnTo>
                  <a:lnTo>
                    <a:pt x="22402" y="241401"/>
                  </a:lnTo>
                  <a:lnTo>
                    <a:pt x="22555" y="241401"/>
                  </a:lnTo>
                  <a:lnTo>
                    <a:pt x="21336" y="240791"/>
                  </a:lnTo>
                  <a:lnTo>
                    <a:pt x="21336" y="239267"/>
                  </a:lnTo>
                  <a:lnTo>
                    <a:pt x="21843" y="239267"/>
                  </a:lnTo>
                  <a:lnTo>
                    <a:pt x="21336" y="237743"/>
                  </a:lnTo>
                  <a:lnTo>
                    <a:pt x="21336" y="233172"/>
                  </a:lnTo>
                  <a:lnTo>
                    <a:pt x="19812" y="233172"/>
                  </a:lnTo>
                  <a:lnTo>
                    <a:pt x="19812" y="230124"/>
                  </a:lnTo>
                  <a:lnTo>
                    <a:pt x="21336" y="230124"/>
                  </a:lnTo>
                  <a:lnTo>
                    <a:pt x="21336" y="228600"/>
                  </a:lnTo>
                  <a:lnTo>
                    <a:pt x="19812" y="217932"/>
                  </a:lnTo>
                  <a:lnTo>
                    <a:pt x="24383" y="129539"/>
                  </a:lnTo>
                  <a:lnTo>
                    <a:pt x="28955" y="10667"/>
                  </a:lnTo>
                  <a:lnTo>
                    <a:pt x="28955" y="4572"/>
                  </a:lnTo>
                  <a:lnTo>
                    <a:pt x="24383" y="0"/>
                  </a:lnTo>
                  <a:close/>
                </a:path>
                <a:path w="81279" h="266700">
                  <a:moveTo>
                    <a:pt x="26669" y="244601"/>
                  </a:moveTo>
                  <a:lnTo>
                    <a:pt x="27431" y="245363"/>
                  </a:lnTo>
                  <a:lnTo>
                    <a:pt x="28955" y="245363"/>
                  </a:lnTo>
                  <a:lnTo>
                    <a:pt x="26669" y="244601"/>
                  </a:lnTo>
                  <a:close/>
                </a:path>
                <a:path w="81279" h="266700">
                  <a:moveTo>
                    <a:pt x="27431" y="243839"/>
                  </a:moveTo>
                  <a:lnTo>
                    <a:pt x="25907" y="243839"/>
                  </a:lnTo>
                  <a:lnTo>
                    <a:pt x="26669" y="244601"/>
                  </a:lnTo>
                  <a:lnTo>
                    <a:pt x="28955" y="245363"/>
                  </a:lnTo>
                  <a:lnTo>
                    <a:pt x="27431" y="243839"/>
                  </a:lnTo>
                  <a:close/>
                </a:path>
                <a:path w="81279" h="266700">
                  <a:moveTo>
                    <a:pt x="27431" y="243839"/>
                  </a:moveTo>
                  <a:lnTo>
                    <a:pt x="28955" y="245363"/>
                  </a:lnTo>
                  <a:lnTo>
                    <a:pt x="30479" y="245363"/>
                  </a:lnTo>
                  <a:lnTo>
                    <a:pt x="27431" y="243839"/>
                  </a:lnTo>
                  <a:close/>
                </a:path>
                <a:path w="81279" h="266700">
                  <a:moveTo>
                    <a:pt x="51815" y="243839"/>
                  </a:moveTo>
                  <a:lnTo>
                    <a:pt x="44195" y="245363"/>
                  </a:lnTo>
                  <a:lnTo>
                    <a:pt x="50291" y="245363"/>
                  </a:lnTo>
                  <a:lnTo>
                    <a:pt x="51815" y="243839"/>
                  </a:lnTo>
                  <a:close/>
                </a:path>
                <a:path w="81279" h="266700">
                  <a:moveTo>
                    <a:pt x="53339" y="243839"/>
                  </a:moveTo>
                  <a:lnTo>
                    <a:pt x="51815" y="243839"/>
                  </a:lnTo>
                  <a:lnTo>
                    <a:pt x="50291" y="245363"/>
                  </a:lnTo>
                  <a:lnTo>
                    <a:pt x="53339" y="243839"/>
                  </a:lnTo>
                  <a:close/>
                </a:path>
                <a:path w="81279" h="266700">
                  <a:moveTo>
                    <a:pt x="53339" y="243839"/>
                  </a:moveTo>
                  <a:lnTo>
                    <a:pt x="50291" y="245363"/>
                  </a:lnTo>
                  <a:lnTo>
                    <a:pt x="51815" y="245363"/>
                  </a:lnTo>
                  <a:lnTo>
                    <a:pt x="53339" y="243839"/>
                  </a:lnTo>
                  <a:close/>
                </a:path>
                <a:path w="81279" h="266700">
                  <a:moveTo>
                    <a:pt x="54863" y="242315"/>
                  </a:moveTo>
                  <a:lnTo>
                    <a:pt x="51815" y="245363"/>
                  </a:lnTo>
                  <a:lnTo>
                    <a:pt x="54863" y="243331"/>
                  </a:lnTo>
                  <a:lnTo>
                    <a:pt x="54863" y="242315"/>
                  </a:lnTo>
                  <a:close/>
                </a:path>
                <a:path w="81279" h="266700">
                  <a:moveTo>
                    <a:pt x="54863" y="243331"/>
                  </a:moveTo>
                  <a:lnTo>
                    <a:pt x="51815" y="245363"/>
                  </a:lnTo>
                  <a:lnTo>
                    <a:pt x="77724" y="245363"/>
                  </a:lnTo>
                  <a:lnTo>
                    <a:pt x="77724" y="243839"/>
                  </a:lnTo>
                  <a:lnTo>
                    <a:pt x="54863" y="243839"/>
                  </a:lnTo>
                  <a:lnTo>
                    <a:pt x="54863" y="243331"/>
                  </a:lnTo>
                  <a:close/>
                </a:path>
                <a:path w="81279" h="266700">
                  <a:moveTo>
                    <a:pt x="24383" y="243077"/>
                  </a:moveTo>
                  <a:lnTo>
                    <a:pt x="24383" y="243839"/>
                  </a:lnTo>
                  <a:lnTo>
                    <a:pt x="26669" y="244601"/>
                  </a:lnTo>
                  <a:lnTo>
                    <a:pt x="25907" y="243839"/>
                  </a:lnTo>
                  <a:lnTo>
                    <a:pt x="24383" y="243077"/>
                  </a:lnTo>
                  <a:close/>
                </a:path>
                <a:path w="81279" h="266700">
                  <a:moveTo>
                    <a:pt x="23875" y="242824"/>
                  </a:moveTo>
                  <a:lnTo>
                    <a:pt x="24383" y="243839"/>
                  </a:lnTo>
                  <a:lnTo>
                    <a:pt x="24383" y="243077"/>
                  </a:lnTo>
                  <a:lnTo>
                    <a:pt x="23875" y="242824"/>
                  </a:lnTo>
                  <a:close/>
                </a:path>
                <a:path w="81279" h="266700">
                  <a:moveTo>
                    <a:pt x="24383" y="242315"/>
                  </a:moveTo>
                  <a:lnTo>
                    <a:pt x="24383" y="243077"/>
                  </a:lnTo>
                  <a:lnTo>
                    <a:pt x="25907" y="243839"/>
                  </a:lnTo>
                  <a:lnTo>
                    <a:pt x="24383" y="242315"/>
                  </a:lnTo>
                  <a:close/>
                </a:path>
                <a:path w="81279" h="266700">
                  <a:moveTo>
                    <a:pt x="56387" y="242315"/>
                  </a:moveTo>
                  <a:lnTo>
                    <a:pt x="54863" y="243331"/>
                  </a:lnTo>
                  <a:lnTo>
                    <a:pt x="54863" y="243839"/>
                  </a:lnTo>
                  <a:lnTo>
                    <a:pt x="56387" y="242315"/>
                  </a:lnTo>
                  <a:close/>
                </a:path>
                <a:path w="81279" h="266700">
                  <a:moveTo>
                    <a:pt x="80771" y="216408"/>
                  </a:moveTo>
                  <a:lnTo>
                    <a:pt x="60959" y="216408"/>
                  </a:lnTo>
                  <a:lnTo>
                    <a:pt x="60959" y="230124"/>
                  </a:lnTo>
                  <a:lnTo>
                    <a:pt x="59436" y="230124"/>
                  </a:lnTo>
                  <a:lnTo>
                    <a:pt x="59436" y="237743"/>
                  </a:lnTo>
                  <a:lnTo>
                    <a:pt x="57912" y="239267"/>
                  </a:lnTo>
                  <a:lnTo>
                    <a:pt x="57912" y="240791"/>
                  </a:lnTo>
                  <a:lnTo>
                    <a:pt x="54863" y="243839"/>
                  </a:lnTo>
                  <a:lnTo>
                    <a:pt x="77724" y="243839"/>
                  </a:lnTo>
                  <a:lnTo>
                    <a:pt x="79248" y="242315"/>
                  </a:lnTo>
                  <a:lnTo>
                    <a:pt x="79248" y="239267"/>
                  </a:lnTo>
                  <a:lnTo>
                    <a:pt x="80771" y="236220"/>
                  </a:lnTo>
                  <a:lnTo>
                    <a:pt x="80771" y="216408"/>
                  </a:lnTo>
                  <a:close/>
                </a:path>
                <a:path w="81279" h="266700">
                  <a:moveTo>
                    <a:pt x="56387" y="242315"/>
                  </a:moveTo>
                  <a:lnTo>
                    <a:pt x="54863" y="242315"/>
                  </a:lnTo>
                  <a:lnTo>
                    <a:pt x="54863" y="243331"/>
                  </a:lnTo>
                  <a:lnTo>
                    <a:pt x="56387" y="242315"/>
                  </a:lnTo>
                  <a:close/>
                </a:path>
                <a:path w="81279" h="266700">
                  <a:moveTo>
                    <a:pt x="23367" y="241807"/>
                  </a:moveTo>
                  <a:lnTo>
                    <a:pt x="23875" y="242824"/>
                  </a:lnTo>
                  <a:lnTo>
                    <a:pt x="24383" y="243077"/>
                  </a:lnTo>
                  <a:lnTo>
                    <a:pt x="24383" y="242315"/>
                  </a:lnTo>
                  <a:lnTo>
                    <a:pt x="23367" y="241807"/>
                  </a:lnTo>
                  <a:close/>
                </a:path>
                <a:path w="81279" h="266700">
                  <a:moveTo>
                    <a:pt x="23621" y="242315"/>
                  </a:moveTo>
                  <a:lnTo>
                    <a:pt x="22859" y="242315"/>
                  </a:lnTo>
                  <a:lnTo>
                    <a:pt x="23875" y="242824"/>
                  </a:lnTo>
                  <a:lnTo>
                    <a:pt x="23621" y="242315"/>
                  </a:lnTo>
                  <a:close/>
                </a:path>
                <a:path w="81279" h="266700">
                  <a:moveTo>
                    <a:pt x="22555" y="241401"/>
                  </a:moveTo>
                  <a:lnTo>
                    <a:pt x="22859" y="242315"/>
                  </a:lnTo>
                  <a:lnTo>
                    <a:pt x="22859" y="241553"/>
                  </a:lnTo>
                  <a:lnTo>
                    <a:pt x="22555" y="241401"/>
                  </a:lnTo>
                  <a:close/>
                </a:path>
                <a:path w="81279" h="266700">
                  <a:moveTo>
                    <a:pt x="57912" y="239267"/>
                  </a:moveTo>
                  <a:lnTo>
                    <a:pt x="56387" y="240791"/>
                  </a:lnTo>
                  <a:lnTo>
                    <a:pt x="56387" y="242315"/>
                  </a:lnTo>
                  <a:lnTo>
                    <a:pt x="57912" y="240791"/>
                  </a:lnTo>
                  <a:lnTo>
                    <a:pt x="57912" y="239267"/>
                  </a:lnTo>
                  <a:close/>
                </a:path>
                <a:path w="81279" h="266700">
                  <a:moveTo>
                    <a:pt x="22859" y="240791"/>
                  </a:moveTo>
                  <a:lnTo>
                    <a:pt x="22859" y="241553"/>
                  </a:lnTo>
                  <a:lnTo>
                    <a:pt x="23367" y="241807"/>
                  </a:lnTo>
                  <a:lnTo>
                    <a:pt x="22859" y="240791"/>
                  </a:lnTo>
                  <a:close/>
                </a:path>
                <a:path w="81279" h="266700">
                  <a:moveTo>
                    <a:pt x="21843" y="239267"/>
                  </a:moveTo>
                  <a:lnTo>
                    <a:pt x="21336" y="239267"/>
                  </a:lnTo>
                  <a:lnTo>
                    <a:pt x="22402" y="241401"/>
                  </a:lnTo>
                  <a:lnTo>
                    <a:pt x="22478" y="241553"/>
                  </a:lnTo>
                  <a:lnTo>
                    <a:pt x="22555" y="241401"/>
                  </a:lnTo>
                  <a:lnTo>
                    <a:pt x="21843" y="239267"/>
                  </a:lnTo>
                  <a:close/>
                </a:path>
                <a:path w="81279" h="266700">
                  <a:moveTo>
                    <a:pt x="59436" y="237743"/>
                  </a:moveTo>
                  <a:lnTo>
                    <a:pt x="57912" y="237743"/>
                  </a:lnTo>
                  <a:lnTo>
                    <a:pt x="57912" y="239267"/>
                  </a:lnTo>
                  <a:lnTo>
                    <a:pt x="59436" y="237743"/>
                  </a:lnTo>
                  <a:close/>
                </a:path>
                <a:path w="81279" h="266700">
                  <a:moveTo>
                    <a:pt x="19812" y="230124"/>
                  </a:moveTo>
                  <a:lnTo>
                    <a:pt x="19812" y="233172"/>
                  </a:lnTo>
                  <a:lnTo>
                    <a:pt x="21336" y="231648"/>
                  </a:lnTo>
                  <a:lnTo>
                    <a:pt x="19812" y="230124"/>
                  </a:lnTo>
                  <a:close/>
                </a:path>
                <a:path w="81279" h="266700">
                  <a:moveTo>
                    <a:pt x="21336" y="231648"/>
                  </a:moveTo>
                  <a:lnTo>
                    <a:pt x="19812" y="233172"/>
                  </a:lnTo>
                  <a:lnTo>
                    <a:pt x="21336" y="233172"/>
                  </a:lnTo>
                  <a:lnTo>
                    <a:pt x="21336" y="231648"/>
                  </a:lnTo>
                  <a:close/>
                </a:path>
                <a:path w="81279" h="266700">
                  <a:moveTo>
                    <a:pt x="21336" y="230124"/>
                  </a:moveTo>
                  <a:lnTo>
                    <a:pt x="19812" y="230124"/>
                  </a:lnTo>
                  <a:lnTo>
                    <a:pt x="21336" y="231648"/>
                  </a:lnTo>
                  <a:lnTo>
                    <a:pt x="21336" y="230124"/>
                  </a:lnTo>
                  <a:close/>
                </a:path>
                <a:path w="81279" h="266700">
                  <a:moveTo>
                    <a:pt x="76200" y="198120"/>
                  </a:moveTo>
                  <a:lnTo>
                    <a:pt x="51815" y="198120"/>
                  </a:lnTo>
                  <a:lnTo>
                    <a:pt x="57912" y="204215"/>
                  </a:lnTo>
                  <a:lnTo>
                    <a:pt x="57912" y="205739"/>
                  </a:lnTo>
                  <a:lnTo>
                    <a:pt x="59436" y="207263"/>
                  </a:lnTo>
                  <a:lnTo>
                    <a:pt x="59436" y="210312"/>
                  </a:lnTo>
                  <a:lnTo>
                    <a:pt x="60959" y="217932"/>
                  </a:lnTo>
                  <a:lnTo>
                    <a:pt x="60959" y="216408"/>
                  </a:lnTo>
                  <a:lnTo>
                    <a:pt x="80771" y="216408"/>
                  </a:lnTo>
                  <a:lnTo>
                    <a:pt x="80771" y="214884"/>
                  </a:lnTo>
                  <a:lnTo>
                    <a:pt x="79248" y="207263"/>
                  </a:lnTo>
                  <a:lnTo>
                    <a:pt x="79248" y="202691"/>
                  </a:lnTo>
                  <a:lnTo>
                    <a:pt x="77724" y="201167"/>
                  </a:lnTo>
                  <a:lnTo>
                    <a:pt x="77724" y="199643"/>
                  </a:lnTo>
                  <a:lnTo>
                    <a:pt x="76200" y="198120"/>
                  </a:lnTo>
                  <a:close/>
                </a:path>
                <a:path w="81279" h="266700">
                  <a:moveTo>
                    <a:pt x="59436" y="207263"/>
                  </a:moveTo>
                  <a:lnTo>
                    <a:pt x="57912" y="207263"/>
                  </a:lnTo>
                  <a:lnTo>
                    <a:pt x="59436" y="208787"/>
                  </a:lnTo>
                  <a:lnTo>
                    <a:pt x="59436" y="207263"/>
                  </a:lnTo>
                  <a:close/>
                </a:path>
                <a:path w="81279" h="266700">
                  <a:moveTo>
                    <a:pt x="54863" y="201167"/>
                  </a:moveTo>
                  <a:lnTo>
                    <a:pt x="54863" y="202691"/>
                  </a:lnTo>
                  <a:lnTo>
                    <a:pt x="56387" y="204215"/>
                  </a:lnTo>
                  <a:lnTo>
                    <a:pt x="56387" y="202691"/>
                  </a:lnTo>
                  <a:lnTo>
                    <a:pt x="54863" y="201167"/>
                  </a:lnTo>
                  <a:close/>
                </a:path>
                <a:path w="81279" h="266700">
                  <a:moveTo>
                    <a:pt x="56387" y="202691"/>
                  </a:moveTo>
                  <a:lnTo>
                    <a:pt x="56387" y="204215"/>
                  </a:lnTo>
                  <a:lnTo>
                    <a:pt x="57912" y="204215"/>
                  </a:lnTo>
                  <a:lnTo>
                    <a:pt x="56387" y="202691"/>
                  </a:lnTo>
                  <a:close/>
                </a:path>
                <a:path w="81279" h="266700">
                  <a:moveTo>
                    <a:pt x="51815" y="198120"/>
                  </a:moveTo>
                  <a:lnTo>
                    <a:pt x="51815" y="199643"/>
                  </a:lnTo>
                  <a:lnTo>
                    <a:pt x="53339" y="201167"/>
                  </a:lnTo>
                  <a:lnTo>
                    <a:pt x="54863" y="201167"/>
                  </a:lnTo>
                  <a:lnTo>
                    <a:pt x="51815" y="198120"/>
                  </a:lnTo>
                  <a:close/>
                </a:path>
                <a:path w="81279" h="266700">
                  <a:moveTo>
                    <a:pt x="76200" y="195072"/>
                  </a:moveTo>
                  <a:lnTo>
                    <a:pt x="42671" y="195072"/>
                  </a:lnTo>
                  <a:lnTo>
                    <a:pt x="51815" y="199643"/>
                  </a:lnTo>
                  <a:lnTo>
                    <a:pt x="50291" y="198120"/>
                  </a:lnTo>
                  <a:lnTo>
                    <a:pt x="76200" y="198120"/>
                  </a:lnTo>
                  <a:lnTo>
                    <a:pt x="76200" y="195072"/>
                  </a:lnTo>
                  <a:close/>
                </a:path>
                <a:path w="81279" h="266700">
                  <a:moveTo>
                    <a:pt x="51815" y="198120"/>
                  </a:moveTo>
                  <a:lnTo>
                    <a:pt x="50291" y="198120"/>
                  </a:lnTo>
                  <a:lnTo>
                    <a:pt x="51815" y="199643"/>
                  </a:lnTo>
                  <a:lnTo>
                    <a:pt x="51815" y="198120"/>
                  </a:lnTo>
                  <a:close/>
                </a:path>
                <a:path w="81279" h="266700">
                  <a:moveTo>
                    <a:pt x="56387" y="178308"/>
                  </a:moveTo>
                  <a:lnTo>
                    <a:pt x="33527" y="178308"/>
                  </a:lnTo>
                  <a:lnTo>
                    <a:pt x="30479" y="184403"/>
                  </a:lnTo>
                  <a:lnTo>
                    <a:pt x="30479" y="187451"/>
                  </a:lnTo>
                  <a:lnTo>
                    <a:pt x="32003" y="190500"/>
                  </a:lnTo>
                  <a:lnTo>
                    <a:pt x="41148" y="195072"/>
                  </a:lnTo>
                  <a:lnTo>
                    <a:pt x="74675" y="195072"/>
                  </a:lnTo>
                  <a:lnTo>
                    <a:pt x="74675" y="193548"/>
                  </a:lnTo>
                  <a:lnTo>
                    <a:pt x="71627" y="190500"/>
                  </a:lnTo>
                  <a:lnTo>
                    <a:pt x="70103" y="187451"/>
                  </a:lnTo>
                  <a:lnTo>
                    <a:pt x="68579" y="185927"/>
                  </a:lnTo>
                  <a:lnTo>
                    <a:pt x="67055" y="185927"/>
                  </a:lnTo>
                  <a:lnTo>
                    <a:pt x="62483" y="181355"/>
                  </a:lnTo>
                  <a:lnTo>
                    <a:pt x="60959" y="181355"/>
                  </a:lnTo>
                  <a:lnTo>
                    <a:pt x="59436" y="179832"/>
                  </a:lnTo>
                  <a:lnTo>
                    <a:pt x="56387" y="178308"/>
                  </a:lnTo>
                  <a:close/>
                </a:path>
                <a:path w="81279" h="266700">
                  <a:moveTo>
                    <a:pt x="47243" y="176784"/>
                  </a:moveTo>
                  <a:lnTo>
                    <a:pt x="42671" y="176784"/>
                  </a:lnTo>
                  <a:lnTo>
                    <a:pt x="36575" y="178308"/>
                  </a:lnTo>
                  <a:lnTo>
                    <a:pt x="54863" y="178308"/>
                  </a:lnTo>
                  <a:lnTo>
                    <a:pt x="47243" y="176784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39" y="4642104"/>
              <a:ext cx="76200" cy="1798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87112" y="5574791"/>
              <a:ext cx="850900" cy="426720"/>
            </a:xfrm>
            <a:custGeom>
              <a:avLst/>
              <a:gdLst/>
              <a:ahLst/>
              <a:cxnLst/>
              <a:rect l="l" t="t" r="r" b="b"/>
              <a:pathLst>
                <a:path w="850900" h="426720">
                  <a:moveTo>
                    <a:pt x="88392" y="208788"/>
                  </a:moveTo>
                  <a:lnTo>
                    <a:pt x="86868" y="205740"/>
                  </a:lnTo>
                  <a:lnTo>
                    <a:pt x="82296" y="205740"/>
                  </a:lnTo>
                  <a:lnTo>
                    <a:pt x="79248" y="204216"/>
                  </a:lnTo>
                  <a:lnTo>
                    <a:pt x="76200" y="205740"/>
                  </a:lnTo>
                  <a:lnTo>
                    <a:pt x="74676" y="208788"/>
                  </a:lnTo>
                  <a:lnTo>
                    <a:pt x="68580" y="219456"/>
                  </a:lnTo>
                  <a:lnTo>
                    <a:pt x="68580" y="222504"/>
                  </a:lnTo>
                  <a:lnTo>
                    <a:pt x="64008" y="239268"/>
                  </a:lnTo>
                  <a:lnTo>
                    <a:pt x="60960" y="260604"/>
                  </a:lnTo>
                  <a:lnTo>
                    <a:pt x="59702" y="279323"/>
                  </a:lnTo>
                  <a:lnTo>
                    <a:pt x="59651" y="278892"/>
                  </a:lnTo>
                  <a:lnTo>
                    <a:pt x="59436" y="277368"/>
                  </a:lnTo>
                  <a:lnTo>
                    <a:pt x="59436" y="275844"/>
                  </a:lnTo>
                  <a:lnTo>
                    <a:pt x="57912" y="268224"/>
                  </a:lnTo>
                  <a:lnTo>
                    <a:pt x="57912" y="266700"/>
                  </a:lnTo>
                  <a:lnTo>
                    <a:pt x="56388" y="257556"/>
                  </a:lnTo>
                  <a:lnTo>
                    <a:pt x="53848" y="249936"/>
                  </a:lnTo>
                  <a:lnTo>
                    <a:pt x="53340" y="248412"/>
                  </a:lnTo>
                  <a:lnTo>
                    <a:pt x="53340" y="249936"/>
                  </a:lnTo>
                  <a:lnTo>
                    <a:pt x="47561" y="222504"/>
                  </a:lnTo>
                  <a:lnTo>
                    <a:pt x="47244" y="220980"/>
                  </a:lnTo>
                  <a:lnTo>
                    <a:pt x="47244" y="222504"/>
                  </a:lnTo>
                  <a:lnTo>
                    <a:pt x="45720" y="211836"/>
                  </a:lnTo>
                  <a:lnTo>
                    <a:pt x="45720" y="210312"/>
                  </a:lnTo>
                  <a:lnTo>
                    <a:pt x="35496" y="140208"/>
                  </a:lnTo>
                  <a:lnTo>
                    <a:pt x="35052" y="137160"/>
                  </a:lnTo>
                  <a:lnTo>
                    <a:pt x="28956" y="105156"/>
                  </a:lnTo>
                  <a:lnTo>
                    <a:pt x="21501" y="36576"/>
                  </a:lnTo>
                  <a:lnTo>
                    <a:pt x="21323" y="35052"/>
                  </a:lnTo>
                  <a:lnTo>
                    <a:pt x="21336" y="36576"/>
                  </a:lnTo>
                  <a:lnTo>
                    <a:pt x="19888" y="10668"/>
                  </a:lnTo>
                  <a:lnTo>
                    <a:pt x="19812" y="4572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0" y="4572"/>
                  </a:lnTo>
                  <a:lnTo>
                    <a:pt x="0" y="10668"/>
                  </a:lnTo>
                  <a:lnTo>
                    <a:pt x="1257" y="33464"/>
                  </a:lnTo>
                  <a:lnTo>
                    <a:pt x="1346" y="35052"/>
                  </a:lnTo>
                  <a:lnTo>
                    <a:pt x="1435" y="36576"/>
                  </a:lnTo>
                  <a:lnTo>
                    <a:pt x="1524" y="38100"/>
                  </a:lnTo>
                  <a:lnTo>
                    <a:pt x="9144" y="106680"/>
                  </a:lnTo>
                  <a:lnTo>
                    <a:pt x="9144" y="108204"/>
                  </a:lnTo>
                  <a:lnTo>
                    <a:pt x="15240" y="141732"/>
                  </a:lnTo>
                  <a:lnTo>
                    <a:pt x="15240" y="140208"/>
                  </a:lnTo>
                  <a:lnTo>
                    <a:pt x="25908" y="213360"/>
                  </a:lnTo>
                  <a:lnTo>
                    <a:pt x="27432" y="225552"/>
                  </a:lnTo>
                  <a:lnTo>
                    <a:pt x="33528" y="254508"/>
                  </a:lnTo>
                  <a:lnTo>
                    <a:pt x="36576" y="263652"/>
                  </a:lnTo>
                  <a:lnTo>
                    <a:pt x="38100" y="271272"/>
                  </a:lnTo>
                  <a:lnTo>
                    <a:pt x="39624" y="280416"/>
                  </a:lnTo>
                  <a:lnTo>
                    <a:pt x="39624" y="278892"/>
                  </a:lnTo>
                  <a:lnTo>
                    <a:pt x="42672" y="300228"/>
                  </a:lnTo>
                  <a:lnTo>
                    <a:pt x="41148" y="368808"/>
                  </a:lnTo>
                  <a:lnTo>
                    <a:pt x="42672" y="409956"/>
                  </a:lnTo>
                  <a:lnTo>
                    <a:pt x="42672" y="413004"/>
                  </a:lnTo>
                  <a:lnTo>
                    <a:pt x="44196" y="420624"/>
                  </a:lnTo>
                  <a:lnTo>
                    <a:pt x="45720" y="423672"/>
                  </a:lnTo>
                  <a:lnTo>
                    <a:pt x="48768" y="426720"/>
                  </a:lnTo>
                  <a:lnTo>
                    <a:pt x="54864" y="426720"/>
                  </a:lnTo>
                  <a:lnTo>
                    <a:pt x="57912" y="423672"/>
                  </a:lnTo>
                  <a:lnTo>
                    <a:pt x="59436" y="420624"/>
                  </a:lnTo>
                  <a:lnTo>
                    <a:pt x="60960" y="413004"/>
                  </a:lnTo>
                  <a:lnTo>
                    <a:pt x="60960" y="409956"/>
                  </a:lnTo>
                  <a:lnTo>
                    <a:pt x="61861" y="385572"/>
                  </a:lnTo>
                  <a:lnTo>
                    <a:pt x="64008" y="385572"/>
                  </a:lnTo>
                  <a:lnTo>
                    <a:pt x="68580" y="384048"/>
                  </a:lnTo>
                  <a:lnTo>
                    <a:pt x="70104" y="379476"/>
                  </a:lnTo>
                  <a:lnTo>
                    <a:pt x="73152" y="371856"/>
                  </a:lnTo>
                  <a:lnTo>
                    <a:pt x="73152" y="368808"/>
                  </a:lnTo>
                  <a:lnTo>
                    <a:pt x="73825" y="365760"/>
                  </a:lnTo>
                  <a:lnTo>
                    <a:pt x="76200" y="355092"/>
                  </a:lnTo>
                  <a:lnTo>
                    <a:pt x="76314" y="352044"/>
                  </a:lnTo>
                  <a:lnTo>
                    <a:pt x="77724" y="333756"/>
                  </a:lnTo>
                  <a:lnTo>
                    <a:pt x="79248" y="309372"/>
                  </a:lnTo>
                  <a:lnTo>
                    <a:pt x="79349" y="283464"/>
                  </a:lnTo>
                  <a:lnTo>
                    <a:pt x="80581" y="264985"/>
                  </a:lnTo>
                  <a:lnTo>
                    <a:pt x="80670" y="263652"/>
                  </a:lnTo>
                  <a:lnTo>
                    <a:pt x="80772" y="262128"/>
                  </a:lnTo>
                  <a:lnTo>
                    <a:pt x="80772" y="262966"/>
                  </a:lnTo>
                  <a:lnTo>
                    <a:pt x="80987" y="262128"/>
                  </a:lnTo>
                  <a:lnTo>
                    <a:pt x="83820" y="242316"/>
                  </a:lnTo>
                  <a:lnTo>
                    <a:pt x="83820" y="243840"/>
                  </a:lnTo>
                  <a:lnTo>
                    <a:pt x="84226" y="242316"/>
                  </a:lnTo>
                  <a:lnTo>
                    <a:pt x="88392" y="227076"/>
                  </a:lnTo>
                  <a:lnTo>
                    <a:pt x="88392" y="208788"/>
                  </a:lnTo>
                  <a:close/>
                </a:path>
                <a:path w="850900" h="426720">
                  <a:moveTo>
                    <a:pt x="850392" y="64008"/>
                  </a:moveTo>
                  <a:lnTo>
                    <a:pt x="844296" y="57912"/>
                  </a:lnTo>
                  <a:lnTo>
                    <a:pt x="841248" y="56388"/>
                  </a:lnTo>
                  <a:lnTo>
                    <a:pt x="838200" y="56388"/>
                  </a:lnTo>
                  <a:lnTo>
                    <a:pt x="833628" y="57912"/>
                  </a:lnTo>
                  <a:lnTo>
                    <a:pt x="830580" y="60960"/>
                  </a:lnTo>
                  <a:lnTo>
                    <a:pt x="829056" y="64008"/>
                  </a:lnTo>
                  <a:lnTo>
                    <a:pt x="829056" y="67056"/>
                  </a:lnTo>
                  <a:lnTo>
                    <a:pt x="829056" y="379476"/>
                  </a:lnTo>
                  <a:lnTo>
                    <a:pt x="830580" y="382524"/>
                  </a:lnTo>
                  <a:lnTo>
                    <a:pt x="832104" y="388620"/>
                  </a:lnTo>
                  <a:lnTo>
                    <a:pt x="833628" y="391668"/>
                  </a:lnTo>
                  <a:lnTo>
                    <a:pt x="836676" y="393192"/>
                  </a:lnTo>
                  <a:lnTo>
                    <a:pt x="842772" y="393192"/>
                  </a:lnTo>
                  <a:lnTo>
                    <a:pt x="845820" y="391668"/>
                  </a:lnTo>
                  <a:lnTo>
                    <a:pt x="845820" y="388620"/>
                  </a:lnTo>
                  <a:lnTo>
                    <a:pt x="848868" y="382524"/>
                  </a:lnTo>
                  <a:lnTo>
                    <a:pt x="850392" y="64008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5020" y="5827776"/>
              <a:ext cx="108203" cy="1295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4372" y="4668011"/>
              <a:ext cx="714755" cy="13456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3840" y="3128771"/>
              <a:ext cx="934212" cy="31958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spc="-70" dirty="0">
                          <a:latin typeface="Tahoma"/>
                          <a:cs typeface="Tahoma"/>
                        </a:rPr>
                        <a:t>Mini-</a:t>
                      </a:r>
                      <a:r>
                        <a:rPr sz="3300" b="1" dirty="0">
                          <a:latin typeface="Tahoma"/>
                          <a:cs typeface="Tahoma"/>
                        </a:rPr>
                        <a:t>Max</a:t>
                      </a:r>
                      <a:r>
                        <a:rPr sz="3300" b="1" spc="-1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3089472"/>
            <a:ext cx="8182609" cy="245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05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Tahoma"/>
                <a:cs typeface="Tahoma"/>
              </a:rPr>
              <a:t>Time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complexity-</a:t>
            </a:r>
            <a:r>
              <a:rPr sz="2300" spc="-170" dirty="0">
                <a:latin typeface="Tahoma"/>
                <a:cs typeface="Tahoma"/>
              </a:rPr>
              <a:t> </a:t>
            </a:r>
            <a:r>
              <a:rPr sz="2300" spc="120" dirty="0">
                <a:latin typeface="Tahoma"/>
                <a:cs typeface="Tahoma"/>
              </a:rPr>
              <a:t>As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it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performs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DFS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for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game-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so 	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time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Min-</a:t>
            </a:r>
            <a:r>
              <a:rPr sz="2300" spc="80" dirty="0">
                <a:latin typeface="Tahoma"/>
                <a:cs typeface="Tahoma"/>
              </a:rPr>
              <a:t>Max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algorithm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O(b^m),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where 	</a:t>
            </a:r>
            <a:r>
              <a:rPr sz="2300" spc="190" dirty="0">
                <a:latin typeface="Tahoma"/>
                <a:cs typeface="Tahoma"/>
              </a:rPr>
              <a:t>b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branching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factor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game-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m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the 	</a:t>
            </a:r>
            <a:r>
              <a:rPr sz="2300" spc="50" dirty="0">
                <a:latin typeface="Tahoma"/>
                <a:cs typeface="Tahoma"/>
              </a:rPr>
              <a:t>maximum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depth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2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tree.</a:t>
            </a:r>
            <a:endParaRPr sz="2300">
              <a:latin typeface="Tahoma"/>
              <a:cs typeface="Tahoma"/>
            </a:endParaRPr>
          </a:p>
          <a:p>
            <a:pPr marL="200025" marR="8255" indent="-187960">
              <a:lnSpc>
                <a:spcPct val="1104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0" dirty="0">
                <a:latin typeface="Tahoma"/>
                <a:cs typeface="Tahoma"/>
              </a:rPr>
              <a:t>Space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Complexity-</a:t>
            </a:r>
            <a:r>
              <a:rPr sz="2300" spc="-135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Space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complexity</a:t>
            </a:r>
            <a:r>
              <a:rPr sz="2300" spc="-14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Mini-</a:t>
            </a:r>
            <a:r>
              <a:rPr sz="2300" dirty="0">
                <a:latin typeface="Tahoma"/>
                <a:cs typeface="Tahoma"/>
              </a:rPr>
              <a:t>max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algorithm 	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also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similar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spc="90" dirty="0">
                <a:latin typeface="Tahoma"/>
                <a:cs typeface="Tahoma"/>
              </a:rPr>
              <a:t>DFS</a:t>
            </a:r>
            <a:r>
              <a:rPr sz="2300" spc="-5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which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is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O(b^m).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Alpha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 marL="737235" indent="-187960">
                        <a:lnSpc>
                          <a:spcPts val="1785"/>
                        </a:lnSpc>
                        <a:spcBef>
                          <a:spcPts val="1535"/>
                        </a:spcBef>
                        <a:buFont typeface="Arial MT"/>
                        <a:buChar char="•"/>
                        <a:tabLst>
                          <a:tab pos="737235" algn="l"/>
                        </a:tabLst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Alpha–beta</a:t>
                      </a:r>
                      <a:r>
                        <a:rPr sz="18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65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18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is</a:t>
                      </a:r>
                      <a:r>
                        <a:rPr sz="18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search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latin typeface="Tahoma"/>
                          <a:cs typeface="Tahoma"/>
                        </a:rPr>
                        <a:t>algorithm</a:t>
                      </a:r>
                      <a:r>
                        <a:rPr sz="1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80" dirty="0">
                          <a:latin typeface="Tahoma"/>
                          <a:cs typeface="Tahoma"/>
                        </a:rPr>
                        <a:t>that</a:t>
                      </a:r>
                      <a:r>
                        <a:rPr sz="18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30" dirty="0">
                          <a:latin typeface="Tahoma"/>
                          <a:cs typeface="Tahoma"/>
                        </a:rPr>
                        <a:t>seeks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18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decrease</a:t>
                      </a:r>
                      <a:r>
                        <a:rPr sz="1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latin typeface="Tahoma"/>
                          <a:cs typeface="Tahoma"/>
                        </a:rPr>
                        <a:t>the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586" y="2718373"/>
            <a:ext cx="8241665" cy="289750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01295" marR="499109">
              <a:lnSpc>
                <a:spcPct val="90700"/>
              </a:lnSpc>
              <a:spcBef>
                <a:spcPts val="310"/>
              </a:spcBef>
            </a:pPr>
            <a:r>
              <a:rPr sz="1800" b="1" spc="-20" dirty="0">
                <a:latin typeface="Tahoma"/>
                <a:cs typeface="Tahoma"/>
              </a:rPr>
              <a:t>number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nodes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that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are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evaluated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by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the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minimax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algorithm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its </a:t>
            </a:r>
            <a:r>
              <a:rPr sz="1800" b="1" spc="-60" dirty="0">
                <a:latin typeface="Tahoma"/>
                <a:cs typeface="Tahoma"/>
              </a:rPr>
              <a:t>search</a:t>
            </a:r>
            <a:r>
              <a:rPr sz="1800" b="1" spc="30" dirty="0">
                <a:latin typeface="Tahoma"/>
                <a:cs typeface="Tahoma"/>
              </a:rPr>
              <a:t> </a:t>
            </a:r>
            <a:r>
              <a:rPr sz="1800" b="1" spc="-60" dirty="0">
                <a:latin typeface="Tahoma"/>
                <a:cs typeface="Tahoma"/>
              </a:rPr>
              <a:t>tree</a:t>
            </a:r>
            <a:r>
              <a:rPr sz="1800" spc="-60" dirty="0">
                <a:latin typeface="Tahoma"/>
                <a:cs typeface="Tahoma"/>
              </a:rPr>
              <a:t>.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adversarial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algorithm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used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commonly</a:t>
            </a:r>
            <a:r>
              <a:rPr sz="1800" spc="-25" dirty="0">
                <a:latin typeface="Tahoma"/>
                <a:cs typeface="Tahoma"/>
              </a:rPr>
              <a:t> for </a:t>
            </a:r>
            <a:r>
              <a:rPr sz="1800" spc="55" dirty="0">
                <a:latin typeface="Tahoma"/>
                <a:cs typeface="Tahoma"/>
              </a:rPr>
              <a:t>machine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playing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two-player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combinatorial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games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(Tic-</a:t>
            </a:r>
            <a:r>
              <a:rPr sz="1800" dirty="0">
                <a:latin typeface="Tahoma"/>
                <a:cs typeface="Tahoma"/>
              </a:rPr>
              <a:t>tac-toe,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Chess, </a:t>
            </a:r>
            <a:r>
              <a:rPr sz="1800" spc="80" dirty="0">
                <a:latin typeface="Tahoma"/>
                <a:cs typeface="Tahoma"/>
              </a:rPr>
              <a:t>Connect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4,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etc.).</a:t>
            </a:r>
            <a:endParaRPr sz="1800">
              <a:latin typeface="Tahoma"/>
              <a:cs typeface="Tahoma"/>
            </a:endParaRPr>
          </a:p>
          <a:p>
            <a:pPr marL="200025" marR="5080" indent="-187960">
              <a:lnSpc>
                <a:spcPct val="908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spc="90" dirty="0">
                <a:latin typeface="Tahoma"/>
                <a:cs typeface="Tahoma"/>
              </a:rPr>
              <a:t>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seen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minimax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algorithm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number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game 	</a:t>
            </a:r>
            <a:r>
              <a:rPr sz="1800" dirty="0">
                <a:latin typeface="Tahoma"/>
                <a:cs typeface="Tahoma"/>
              </a:rPr>
              <a:t>states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it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has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examine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exponential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in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depth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of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tree.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Since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we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cannot 	</a:t>
            </a:r>
            <a:r>
              <a:rPr sz="1800" dirty="0">
                <a:latin typeface="Tahoma"/>
                <a:cs typeface="Tahoma"/>
              </a:rPr>
              <a:t>eliminate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exponent,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but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we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cut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half.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Hence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there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technique 	</a:t>
            </a:r>
            <a:r>
              <a:rPr sz="1800" spc="65" dirty="0">
                <a:latin typeface="Tahoma"/>
                <a:cs typeface="Tahoma"/>
              </a:rPr>
              <a:t>by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without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checking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each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node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game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compute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	</a:t>
            </a:r>
            <a:r>
              <a:rPr sz="1800" dirty="0">
                <a:latin typeface="Tahoma"/>
                <a:cs typeface="Tahoma"/>
              </a:rPr>
              <a:t>correct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minimax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decision,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technique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pruning</a:t>
            </a:r>
            <a:r>
              <a:rPr sz="1800" spc="-30" dirty="0">
                <a:latin typeface="Tahoma"/>
                <a:cs typeface="Tahoma"/>
              </a:rPr>
              <a:t>.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involves 	</a:t>
            </a:r>
            <a:r>
              <a:rPr sz="1800" dirty="0">
                <a:latin typeface="Tahoma"/>
                <a:cs typeface="Tahoma"/>
              </a:rPr>
              <a:t>two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threshold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parameter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Alpha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and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beta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future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expansion,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so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called 	</a:t>
            </a:r>
            <a:r>
              <a:rPr sz="1800" b="1" spc="-60" dirty="0">
                <a:latin typeface="Tahoma"/>
                <a:cs typeface="Tahoma"/>
              </a:rPr>
              <a:t>alpha-</a:t>
            </a:r>
            <a:r>
              <a:rPr sz="1800" b="1" dirty="0">
                <a:latin typeface="Tahoma"/>
                <a:cs typeface="Tahoma"/>
              </a:rPr>
              <a:t>beta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pruning</a:t>
            </a:r>
            <a:r>
              <a:rPr sz="1800" spc="-30" dirty="0">
                <a:latin typeface="Tahoma"/>
                <a:cs typeface="Tahoma"/>
              </a:rPr>
              <a:t>.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It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called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Alpha-</a:t>
            </a:r>
            <a:r>
              <a:rPr sz="1800" b="1" spc="-55" dirty="0">
                <a:latin typeface="Tahoma"/>
                <a:cs typeface="Tahoma"/>
              </a:rPr>
              <a:t>Beta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Algorithm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Alpha</a:t>
                      </a:r>
                      <a:r>
                        <a:rPr sz="3300" b="1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90" dirty="0">
                          <a:latin typeface="Tahoma"/>
                          <a:cs typeface="Tahoma"/>
                        </a:rPr>
                        <a:t>Pruning</a:t>
                      </a:r>
                      <a:r>
                        <a:rPr sz="3300" b="1" spc="-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Algorithm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459" y="3112893"/>
            <a:ext cx="8221345" cy="285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226060" indent="-189230">
              <a:lnSpc>
                <a:spcPct val="99800"/>
              </a:lnSpc>
              <a:spcBef>
                <a:spcPts val="10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55" dirty="0">
                <a:latin typeface="Tahoma"/>
                <a:cs typeface="Tahoma"/>
              </a:rPr>
              <a:t>Alpha-</a:t>
            </a:r>
            <a:r>
              <a:rPr sz="2150" dirty="0">
                <a:latin typeface="Tahoma"/>
                <a:cs typeface="Tahoma"/>
              </a:rPr>
              <a:t>beta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pruning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can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125" dirty="0">
                <a:latin typeface="Tahoma"/>
                <a:cs typeface="Tahoma"/>
              </a:rPr>
              <a:t>be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100" dirty="0">
                <a:latin typeface="Tahoma"/>
                <a:cs typeface="Tahoma"/>
              </a:rPr>
              <a:t>applied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-30" dirty="0">
                <a:latin typeface="Tahoma"/>
                <a:cs typeface="Tahoma"/>
              </a:rPr>
              <a:t>at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any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85" dirty="0">
                <a:latin typeface="Tahoma"/>
                <a:cs typeface="Tahoma"/>
              </a:rPr>
              <a:t>depth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-4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tree,</a:t>
            </a:r>
            <a:r>
              <a:rPr sz="2150" spc="-160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and </a:t>
            </a:r>
            <a:r>
              <a:rPr sz="2150" dirty="0">
                <a:latin typeface="Tahoma"/>
                <a:cs typeface="Tahoma"/>
              </a:rPr>
              <a:t>sometimes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it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not</a:t>
            </a:r>
            <a:r>
              <a:rPr sz="2150" spc="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only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prune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tree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leaves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spc="50" dirty="0">
                <a:latin typeface="Tahoma"/>
                <a:cs typeface="Tahoma"/>
              </a:rPr>
              <a:t>but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also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entire</a:t>
            </a:r>
            <a:r>
              <a:rPr sz="2150" spc="-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sub- </a:t>
            </a:r>
            <a:r>
              <a:rPr sz="2150" spc="-10" dirty="0">
                <a:latin typeface="Tahoma"/>
                <a:cs typeface="Tahoma"/>
              </a:rPr>
              <a:t>tree.</a:t>
            </a:r>
            <a:endParaRPr sz="2150">
              <a:latin typeface="Tahoma"/>
              <a:cs typeface="Tahoma"/>
            </a:endParaRPr>
          </a:p>
          <a:p>
            <a:pPr marL="201295" marR="201930" indent="-189230" algn="just">
              <a:lnSpc>
                <a:spcPct val="99700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b="1" spc="-10" dirty="0">
                <a:latin typeface="Tahoma"/>
                <a:cs typeface="Tahoma"/>
              </a:rPr>
              <a:t>Alpha:</a:t>
            </a:r>
            <a:r>
              <a:rPr sz="2150" b="1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best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10" dirty="0">
                <a:latin typeface="Tahoma"/>
                <a:cs typeface="Tahoma"/>
              </a:rPr>
              <a:t>(highest-value)</a:t>
            </a:r>
            <a:r>
              <a:rPr sz="2150" spc="-114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choice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we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have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found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so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far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at </a:t>
            </a:r>
            <a:r>
              <a:rPr sz="2150" dirty="0">
                <a:latin typeface="Tahoma"/>
                <a:cs typeface="Tahoma"/>
              </a:rPr>
              <a:t>any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spc="65" dirty="0">
                <a:latin typeface="Tahoma"/>
                <a:cs typeface="Tahoma"/>
              </a:rPr>
              <a:t>point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along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2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path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Maximizer.</a:t>
            </a:r>
            <a:r>
              <a:rPr sz="2150" spc="-17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initial</a:t>
            </a:r>
            <a:r>
              <a:rPr sz="2150" spc="-5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</a:t>
            </a:r>
            <a:r>
              <a:rPr sz="2150" spc="-6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25" dirty="0">
                <a:latin typeface="Tahoma"/>
                <a:cs typeface="Tahoma"/>
              </a:rPr>
              <a:t> </a:t>
            </a:r>
            <a:r>
              <a:rPr sz="2150" spc="45" dirty="0">
                <a:latin typeface="Tahoma"/>
                <a:cs typeface="Tahoma"/>
              </a:rPr>
              <a:t>alpha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114" dirty="0">
                <a:latin typeface="Tahoma"/>
                <a:cs typeface="Tahoma"/>
              </a:rPr>
              <a:t> </a:t>
            </a:r>
            <a:r>
              <a:rPr sz="2150" spc="-105" dirty="0">
                <a:latin typeface="Tahoma"/>
                <a:cs typeface="Tahoma"/>
              </a:rPr>
              <a:t>-</a:t>
            </a:r>
            <a:r>
              <a:rPr sz="2150" spc="-25" dirty="0">
                <a:latin typeface="Tahoma"/>
                <a:cs typeface="Tahoma"/>
              </a:rPr>
              <a:t>∞.</a:t>
            </a:r>
            <a:endParaRPr sz="2150">
              <a:latin typeface="Tahoma"/>
              <a:cs typeface="Tahoma"/>
            </a:endParaRPr>
          </a:p>
          <a:p>
            <a:pPr marL="201295" marR="5080" indent="-189230" algn="just">
              <a:lnSpc>
                <a:spcPts val="2570"/>
              </a:lnSpc>
              <a:spcBef>
                <a:spcPts val="910"/>
              </a:spcBef>
              <a:buFont typeface="Arial MT"/>
              <a:buChar char="•"/>
              <a:tabLst>
                <a:tab pos="201295" algn="l"/>
                <a:tab pos="269875" algn="l"/>
              </a:tabLst>
            </a:pPr>
            <a:r>
              <a:rPr sz="2150" dirty="0">
                <a:latin typeface="Tahoma"/>
                <a:cs typeface="Tahoma"/>
              </a:rPr>
              <a:t>	</a:t>
            </a:r>
            <a:r>
              <a:rPr sz="2150" b="1" spc="-70" dirty="0">
                <a:latin typeface="Tahoma"/>
                <a:cs typeface="Tahoma"/>
              </a:rPr>
              <a:t>Beta: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best</a:t>
            </a:r>
            <a:r>
              <a:rPr sz="2150" spc="-70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(lowest-</a:t>
            </a:r>
            <a:r>
              <a:rPr sz="2150" spc="-10" dirty="0">
                <a:latin typeface="Tahoma"/>
                <a:cs typeface="Tahoma"/>
              </a:rPr>
              <a:t>value)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choice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we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have</a:t>
            </a:r>
            <a:r>
              <a:rPr sz="2150" spc="-95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found</a:t>
            </a:r>
            <a:r>
              <a:rPr sz="2150" spc="-8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so</a:t>
            </a:r>
            <a:r>
              <a:rPr sz="2150" spc="-85" dirty="0">
                <a:latin typeface="Tahoma"/>
                <a:cs typeface="Tahoma"/>
              </a:rPr>
              <a:t> </a:t>
            </a:r>
            <a:r>
              <a:rPr sz="2150" spc="-20" dirty="0">
                <a:latin typeface="Tahoma"/>
                <a:cs typeface="Tahoma"/>
              </a:rPr>
              <a:t>far</a:t>
            </a:r>
            <a:r>
              <a:rPr sz="2150" spc="-90" dirty="0">
                <a:latin typeface="Tahoma"/>
                <a:cs typeface="Tahoma"/>
              </a:rPr>
              <a:t> </a:t>
            </a:r>
            <a:r>
              <a:rPr sz="2150" spc="-30" dirty="0">
                <a:latin typeface="Tahoma"/>
                <a:cs typeface="Tahoma"/>
              </a:rPr>
              <a:t>at</a:t>
            </a:r>
            <a:r>
              <a:rPr sz="2150" spc="-75" dirty="0">
                <a:latin typeface="Tahoma"/>
                <a:cs typeface="Tahoma"/>
              </a:rPr>
              <a:t> </a:t>
            </a:r>
            <a:r>
              <a:rPr sz="2150" spc="-25" dirty="0">
                <a:latin typeface="Tahoma"/>
                <a:cs typeface="Tahoma"/>
              </a:rPr>
              <a:t>any </a:t>
            </a:r>
            <a:r>
              <a:rPr sz="2150" spc="65" dirty="0">
                <a:latin typeface="Tahoma"/>
                <a:cs typeface="Tahoma"/>
              </a:rPr>
              <a:t>point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along</a:t>
            </a:r>
            <a:r>
              <a:rPr sz="2150" spc="-4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1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path</a:t>
            </a:r>
            <a:r>
              <a:rPr sz="2150" spc="-3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Minimizer.</a:t>
            </a:r>
            <a:r>
              <a:rPr sz="2150" spc="-16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The</a:t>
            </a:r>
            <a:r>
              <a:rPr sz="2150" spc="-2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initial</a:t>
            </a:r>
            <a:r>
              <a:rPr sz="2150" spc="-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value</a:t>
            </a:r>
            <a:r>
              <a:rPr sz="2150" spc="-3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of</a:t>
            </a:r>
            <a:r>
              <a:rPr sz="2150" spc="50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beta</a:t>
            </a:r>
            <a:r>
              <a:rPr sz="2150" spc="-15" dirty="0">
                <a:latin typeface="Tahoma"/>
                <a:cs typeface="Tahoma"/>
              </a:rPr>
              <a:t> </a:t>
            </a:r>
            <a:r>
              <a:rPr sz="2150" dirty="0">
                <a:latin typeface="Tahoma"/>
                <a:cs typeface="Tahoma"/>
              </a:rPr>
              <a:t>is</a:t>
            </a:r>
            <a:r>
              <a:rPr sz="2150" spc="-25" dirty="0">
                <a:latin typeface="Tahoma"/>
                <a:cs typeface="Tahoma"/>
              </a:rPr>
              <a:t> +∞.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4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Alpha</a:t>
            </a:r>
            <a:r>
              <a:rPr sz="3300" spc="-125" dirty="0"/>
              <a:t> </a:t>
            </a:r>
            <a:r>
              <a:rPr sz="3300" spc="-95" dirty="0"/>
              <a:t>Beta</a:t>
            </a:r>
            <a:r>
              <a:rPr sz="3300" spc="-114" dirty="0"/>
              <a:t> </a:t>
            </a:r>
            <a:r>
              <a:rPr sz="3300" spc="-90" dirty="0"/>
              <a:t>Pruning</a:t>
            </a:r>
            <a:r>
              <a:rPr sz="3300" spc="-175" dirty="0"/>
              <a:t> </a:t>
            </a:r>
            <a:r>
              <a:rPr sz="3300" spc="-10" dirty="0"/>
              <a:t>Algorithm</a:t>
            </a:r>
            <a:endParaRPr sz="33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335915" indent="-187960" algn="just">
              <a:lnSpc>
                <a:spcPct val="110400"/>
              </a:lnSpc>
              <a:spcBef>
                <a:spcPts val="95"/>
              </a:spcBef>
              <a:buFont typeface="Arial MT"/>
              <a:buChar char="•"/>
              <a:tabLst>
                <a:tab pos="201295" algn="l"/>
              </a:tabLst>
            </a:pPr>
            <a:r>
              <a:rPr spc="75" dirty="0"/>
              <a:t>Alpha-</a:t>
            </a:r>
            <a:r>
              <a:rPr spc="65" dirty="0"/>
              <a:t>beta</a:t>
            </a:r>
            <a:r>
              <a:rPr spc="-95" dirty="0"/>
              <a:t> </a:t>
            </a:r>
            <a:r>
              <a:rPr spc="80" dirty="0"/>
              <a:t>pruning</a:t>
            </a:r>
            <a:r>
              <a:rPr spc="-8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95" dirty="0"/>
              <a:t>modified</a:t>
            </a:r>
            <a:r>
              <a:rPr spc="-65" dirty="0"/>
              <a:t> </a:t>
            </a:r>
            <a:r>
              <a:rPr dirty="0"/>
              <a:t>version</a:t>
            </a:r>
            <a:r>
              <a:rPr spc="-9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35" dirty="0"/>
              <a:t>minimax 	</a:t>
            </a:r>
            <a:r>
              <a:rPr dirty="0"/>
              <a:t>algorithm.</a:t>
            </a:r>
            <a:r>
              <a:rPr spc="-185" dirty="0"/>
              <a:t> </a:t>
            </a:r>
            <a:r>
              <a:rPr spc="-285" dirty="0"/>
              <a:t>It</a:t>
            </a:r>
            <a:r>
              <a:rPr spc="10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55" dirty="0"/>
              <a:t>optimization</a:t>
            </a:r>
            <a:r>
              <a:rPr spc="-20" dirty="0"/>
              <a:t> </a:t>
            </a:r>
            <a:r>
              <a:rPr spc="70" dirty="0"/>
              <a:t>technique</a:t>
            </a:r>
            <a:r>
              <a:rPr spc="-3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35" dirty="0"/>
              <a:t>minimax 	</a:t>
            </a:r>
            <a:r>
              <a:rPr spc="-10" dirty="0"/>
              <a:t>algorithm.</a:t>
            </a:r>
          </a:p>
          <a:p>
            <a:pPr marL="200025" marR="5080" indent="-187960">
              <a:lnSpc>
                <a:spcPct val="1105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The</a:t>
            </a:r>
            <a:r>
              <a:rPr spc="-130" dirty="0"/>
              <a:t> </a:t>
            </a:r>
            <a:r>
              <a:rPr spc="75" dirty="0"/>
              <a:t>Alpha-</a:t>
            </a:r>
            <a:r>
              <a:rPr spc="65" dirty="0"/>
              <a:t>beta</a:t>
            </a:r>
            <a:r>
              <a:rPr spc="-100" dirty="0"/>
              <a:t> </a:t>
            </a:r>
            <a:r>
              <a:rPr spc="80" dirty="0"/>
              <a:t>pruning</a:t>
            </a:r>
            <a:r>
              <a:rPr spc="-90" dirty="0"/>
              <a:t> </a:t>
            </a:r>
            <a:r>
              <a:rPr spc="60" dirty="0"/>
              <a:t>to</a:t>
            </a:r>
            <a:r>
              <a:rPr spc="-7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45" dirty="0"/>
              <a:t>standard</a:t>
            </a:r>
            <a:r>
              <a:rPr spc="-90" dirty="0"/>
              <a:t> </a:t>
            </a:r>
            <a:r>
              <a:rPr dirty="0"/>
              <a:t>minimax</a:t>
            </a:r>
            <a:r>
              <a:rPr spc="-80" dirty="0"/>
              <a:t> </a:t>
            </a:r>
            <a:r>
              <a:rPr spc="55" dirty="0"/>
              <a:t>algorithm 	</a:t>
            </a:r>
            <a:r>
              <a:rPr dirty="0"/>
              <a:t>returns</a:t>
            </a:r>
            <a:r>
              <a:rPr spc="-10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55" dirty="0"/>
              <a:t>same</a:t>
            </a:r>
            <a:r>
              <a:rPr spc="-100" dirty="0"/>
              <a:t> </a:t>
            </a:r>
            <a:r>
              <a:rPr spc="75" dirty="0"/>
              <a:t>move</a:t>
            </a:r>
            <a:r>
              <a:rPr spc="-110" dirty="0"/>
              <a:t> </a:t>
            </a:r>
            <a:r>
              <a:rPr dirty="0"/>
              <a:t>as</a:t>
            </a:r>
            <a:r>
              <a:rPr spc="-9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45" dirty="0"/>
              <a:t>standard</a:t>
            </a:r>
            <a:r>
              <a:rPr spc="-105" dirty="0"/>
              <a:t> </a:t>
            </a:r>
            <a:r>
              <a:rPr spc="65" dirty="0"/>
              <a:t>algorithm</a:t>
            </a:r>
            <a:r>
              <a:rPr spc="-90" dirty="0"/>
              <a:t> </a:t>
            </a:r>
            <a:r>
              <a:rPr spc="65" dirty="0"/>
              <a:t>does,</a:t>
            </a:r>
            <a:r>
              <a:rPr spc="-185" dirty="0"/>
              <a:t> </a:t>
            </a:r>
            <a:r>
              <a:rPr spc="40" dirty="0"/>
              <a:t>but 	</a:t>
            </a:r>
            <a:r>
              <a:rPr dirty="0"/>
              <a:t>it</a:t>
            </a:r>
            <a:r>
              <a:rPr spc="-70" dirty="0"/>
              <a:t> </a:t>
            </a:r>
            <a:r>
              <a:rPr spc="55" dirty="0"/>
              <a:t>removes</a:t>
            </a:r>
            <a:r>
              <a:rPr spc="-75" dirty="0"/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95" dirty="0"/>
              <a:t>nodes</a:t>
            </a:r>
            <a:r>
              <a:rPr spc="-80" dirty="0"/>
              <a:t> </a:t>
            </a:r>
            <a:r>
              <a:rPr spc="50" dirty="0"/>
              <a:t>which</a:t>
            </a:r>
            <a:r>
              <a:rPr spc="-8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spc="55" dirty="0"/>
              <a:t>not</a:t>
            </a:r>
            <a:r>
              <a:rPr spc="-60" dirty="0"/>
              <a:t> </a:t>
            </a:r>
            <a:r>
              <a:rPr dirty="0"/>
              <a:t>really</a:t>
            </a:r>
            <a:r>
              <a:rPr spc="-90" dirty="0"/>
              <a:t> </a:t>
            </a:r>
            <a:r>
              <a:rPr dirty="0"/>
              <a:t>affecting</a:t>
            </a:r>
            <a:r>
              <a:rPr spc="-80" dirty="0"/>
              <a:t> </a:t>
            </a:r>
            <a:r>
              <a:rPr spc="-25" dirty="0"/>
              <a:t>the 	</a:t>
            </a:r>
            <a:r>
              <a:rPr dirty="0"/>
              <a:t>final</a:t>
            </a:r>
            <a:r>
              <a:rPr spc="-125" dirty="0"/>
              <a:t> </a:t>
            </a:r>
            <a:r>
              <a:rPr spc="85" dirty="0"/>
              <a:t>decision</a:t>
            </a:r>
            <a:r>
              <a:rPr spc="-145" dirty="0"/>
              <a:t> </a:t>
            </a:r>
            <a:r>
              <a:rPr spc="65" dirty="0"/>
              <a:t>but</a:t>
            </a:r>
            <a:r>
              <a:rPr spc="-120" dirty="0"/>
              <a:t> </a:t>
            </a:r>
            <a:r>
              <a:rPr spc="65" dirty="0"/>
              <a:t>making</a:t>
            </a:r>
            <a:r>
              <a:rPr spc="-120" dirty="0"/>
              <a:t> </a:t>
            </a:r>
            <a:r>
              <a:rPr spc="65" dirty="0"/>
              <a:t>algorithm</a:t>
            </a:r>
            <a:r>
              <a:rPr spc="-105" dirty="0"/>
              <a:t> </a:t>
            </a:r>
            <a:r>
              <a:rPr dirty="0"/>
              <a:t>slow.</a:t>
            </a:r>
            <a:r>
              <a:rPr spc="-229" dirty="0"/>
              <a:t> </a:t>
            </a:r>
            <a:r>
              <a:rPr spc="85" dirty="0"/>
              <a:t>Hence</a:t>
            </a:r>
            <a:r>
              <a:rPr spc="-125" dirty="0"/>
              <a:t> </a:t>
            </a:r>
            <a:r>
              <a:rPr spc="80" dirty="0"/>
              <a:t>by</a:t>
            </a:r>
            <a:r>
              <a:rPr spc="-130" dirty="0"/>
              <a:t> </a:t>
            </a:r>
            <a:r>
              <a:rPr spc="70" dirty="0"/>
              <a:t>pruning 	</a:t>
            </a:r>
            <a:r>
              <a:rPr dirty="0"/>
              <a:t>these</a:t>
            </a:r>
            <a:r>
              <a:rPr spc="-65" dirty="0"/>
              <a:t> </a:t>
            </a:r>
            <a:r>
              <a:rPr spc="65" dirty="0"/>
              <a:t>nodes,</a:t>
            </a:r>
            <a:r>
              <a:rPr spc="-16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makes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65" dirty="0"/>
              <a:t>algorithm</a:t>
            </a:r>
            <a:r>
              <a:rPr spc="-40" dirty="0"/>
              <a:t> </a:t>
            </a:r>
            <a:r>
              <a:rPr spc="-10" dirty="0"/>
              <a:t>fast.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9193" y="1053845"/>
          <a:ext cx="93452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T w="9525">
                      <a:solidFill>
                        <a:srgbClr val="E9E9E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solidFill>
                      <a:srgbClr val="F5A700"/>
                    </a:solidFill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ts val="3900"/>
                        </a:lnSpc>
                      </a:pPr>
                      <a:r>
                        <a:rPr sz="3300" b="1" dirty="0">
                          <a:latin typeface="Tahoma"/>
                          <a:cs typeface="Tahoma"/>
                        </a:rPr>
                        <a:t>Key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60" dirty="0">
                          <a:latin typeface="Tahoma"/>
                          <a:cs typeface="Tahoma"/>
                        </a:rPr>
                        <a:t>points</a:t>
                      </a:r>
                      <a:r>
                        <a:rPr sz="3300" b="1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55" dirty="0">
                          <a:latin typeface="Tahoma"/>
                          <a:cs typeface="Tahoma"/>
                        </a:rPr>
                        <a:t>about</a:t>
                      </a:r>
                      <a:r>
                        <a:rPr sz="3300" b="1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10" dirty="0">
                          <a:latin typeface="Tahoma"/>
                          <a:cs typeface="Tahoma"/>
                        </a:rPr>
                        <a:t>alpha-</a:t>
                      </a:r>
                      <a:r>
                        <a:rPr sz="3300" b="1" spc="-55" dirty="0">
                          <a:latin typeface="Tahoma"/>
                          <a:cs typeface="Tahoma"/>
                        </a:rPr>
                        <a:t>beta</a:t>
                      </a:r>
                      <a:r>
                        <a:rPr sz="3300" b="1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3300" b="1" spc="-10" dirty="0">
                          <a:latin typeface="Tahoma"/>
                          <a:cs typeface="Tahoma"/>
                        </a:rPr>
                        <a:t>pruning:</a:t>
                      </a:r>
                      <a:endParaRPr sz="33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E9E9E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9E9E9"/>
                      </a:solidFill>
                      <a:prstDash val="solid"/>
                    </a:lnL>
                    <a:lnR w="9525">
                      <a:solidFill>
                        <a:srgbClr val="E9E9E9"/>
                      </a:solidFill>
                      <a:prstDash val="solid"/>
                    </a:lnR>
                    <a:lnB w="9525">
                      <a:solidFill>
                        <a:srgbClr val="E9E9E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82348" y="2985643"/>
            <a:ext cx="8127365" cy="23793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Max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update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10" dirty="0">
                <a:latin typeface="Tahoma"/>
                <a:cs typeface="Tahoma"/>
              </a:rPr>
              <a:t> alpha.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Tahoma"/>
                <a:cs typeface="Tahoma"/>
              </a:rPr>
              <a:t>The</a:t>
            </a:r>
            <a:r>
              <a:rPr sz="2300" spc="-80" dirty="0">
                <a:latin typeface="Tahoma"/>
                <a:cs typeface="Tahoma"/>
              </a:rPr>
              <a:t> </a:t>
            </a:r>
            <a:r>
              <a:rPr sz="2300" spc="114" dirty="0">
                <a:latin typeface="Tahoma"/>
                <a:cs typeface="Tahoma"/>
              </a:rPr>
              <a:t>Min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player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75" dirty="0">
                <a:latin typeface="Tahoma"/>
                <a:cs typeface="Tahoma"/>
              </a:rPr>
              <a:t>update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5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beta.</a:t>
            </a:r>
            <a:endParaRPr sz="2300">
              <a:latin typeface="Tahoma"/>
              <a:cs typeface="Tahoma"/>
            </a:endParaRPr>
          </a:p>
          <a:p>
            <a:pPr marL="200025" marR="5080" indent="-187960">
              <a:lnSpc>
                <a:spcPct val="1104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spc="85" dirty="0">
                <a:latin typeface="Tahoma"/>
                <a:cs typeface="Tahoma"/>
              </a:rPr>
              <a:t>While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backtracking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tree,</a:t>
            </a:r>
            <a:r>
              <a:rPr sz="2300" spc="-14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125" dirty="0">
                <a:latin typeface="Tahoma"/>
                <a:cs typeface="Tahoma"/>
              </a:rPr>
              <a:t>node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145" dirty="0">
                <a:latin typeface="Tahoma"/>
                <a:cs typeface="Tahoma"/>
              </a:rPr>
              <a:t>be</a:t>
            </a:r>
            <a:r>
              <a:rPr sz="2300" spc="-75" dirty="0">
                <a:latin typeface="Tahoma"/>
                <a:cs typeface="Tahoma"/>
              </a:rPr>
              <a:t> </a:t>
            </a:r>
            <a:r>
              <a:rPr sz="2300" spc="70" dirty="0">
                <a:latin typeface="Tahoma"/>
                <a:cs typeface="Tahoma"/>
              </a:rPr>
              <a:t>passed 	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105" dirty="0">
                <a:latin typeface="Tahoma"/>
                <a:cs typeface="Tahoma"/>
              </a:rPr>
              <a:t>upper</a:t>
            </a:r>
            <a:r>
              <a:rPr sz="2300" spc="-125" dirty="0">
                <a:latin typeface="Tahoma"/>
                <a:cs typeface="Tahoma"/>
              </a:rPr>
              <a:t> </a:t>
            </a:r>
            <a:r>
              <a:rPr sz="2300" spc="95" dirty="0">
                <a:latin typeface="Tahoma"/>
                <a:cs typeface="Tahoma"/>
              </a:rPr>
              <a:t>nodes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spc="45" dirty="0">
                <a:latin typeface="Tahoma"/>
                <a:cs typeface="Tahoma"/>
              </a:rPr>
              <a:t>instead</a:t>
            </a:r>
            <a:r>
              <a:rPr sz="2300" spc="-11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3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of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alpha</a:t>
            </a:r>
            <a:r>
              <a:rPr sz="2300" spc="-114" dirty="0">
                <a:latin typeface="Tahoma"/>
                <a:cs typeface="Tahoma"/>
              </a:rPr>
              <a:t> </a:t>
            </a:r>
            <a:r>
              <a:rPr sz="2300" spc="80" dirty="0">
                <a:latin typeface="Tahoma"/>
                <a:cs typeface="Tahoma"/>
              </a:rPr>
              <a:t>and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beta.</a:t>
            </a:r>
            <a:endParaRPr sz="23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95" dirty="0">
                <a:latin typeface="Tahoma"/>
                <a:cs typeface="Tahoma"/>
              </a:rPr>
              <a:t>We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will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only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pass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alpha,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spc="65" dirty="0">
                <a:latin typeface="Tahoma"/>
                <a:cs typeface="Tahoma"/>
              </a:rPr>
              <a:t>beta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values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to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the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300" spc="85" dirty="0">
                <a:latin typeface="Tahoma"/>
                <a:cs typeface="Tahoma"/>
              </a:rPr>
              <a:t>child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55" dirty="0">
                <a:latin typeface="Tahoma"/>
                <a:cs typeface="Tahoma"/>
              </a:rPr>
              <a:t>nodes.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3970" marR="5080">
              <a:lnSpc>
                <a:spcPts val="3200"/>
              </a:lnSpc>
              <a:spcBef>
                <a:spcPts val="515"/>
              </a:spcBef>
            </a:pPr>
            <a:r>
              <a:rPr dirty="0"/>
              <a:t>Alpha</a:t>
            </a:r>
            <a:r>
              <a:rPr spc="-114" dirty="0"/>
              <a:t> </a:t>
            </a:r>
            <a:r>
              <a:rPr spc="-70" dirty="0"/>
              <a:t>Beta</a:t>
            </a:r>
            <a:r>
              <a:rPr spc="-120" dirty="0"/>
              <a:t> </a:t>
            </a:r>
            <a:r>
              <a:rPr spc="-60" dirty="0"/>
              <a:t>Pruning</a:t>
            </a:r>
            <a:r>
              <a:rPr spc="-175" dirty="0"/>
              <a:t> </a:t>
            </a:r>
            <a:r>
              <a:rPr spc="-10" dirty="0"/>
              <a:t>Algorithm</a:t>
            </a:r>
            <a:r>
              <a:rPr spc="-125" dirty="0"/>
              <a:t> </a:t>
            </a:r>
            <a:r>
              <a:rPr spc="-10" dirty="0"/>
              <a:t>Solved 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17192" y="2589276"/>
            <a:ext cx="5739765" cy="3771900"/>
            <a:chOff x="1917192" y="2589276"/>
            <a:chExt cx="5739765" cy="3771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2" y="2820924"/>
              <a:ext cx="5739383" cy="35402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9768" y="5171186"/>
              <a:ext cx="70104" cy="16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6616" y="2858008"/>
              <a:ext cx="94487" cy="2235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7408" y="3646932"/>
              <a:ext cx="45719" cy="2438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2940" y="5634227"/>
              <a:ext cx="387096" cy="4038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49140" y="2683510"/>
              <a:ext cx="88900" cy="280670"/>
            </a:xfrm>
            <a:custGeom>
              <a:avLst/>
              <a:gdLst/>
              <a:ahLst/>
              <a:cxnLst/>
              <a:rect l="l" t="t" r="r" b="b"/>
              <a:pathLst>
                <a:path w="88900" h="280669">
                  <a:moveTo>
                    <a:pt x="51815" y="279400"/>
                  </a:moveTo>
                  <a:lnTo>
                    <a:pt x="30480" y="279400"/>
                  </a:lnTo>
                  <a:lnTo>
                    <a:pt x="32004" y="280670"/>
                  </a:lnTo>
                  <a:lnTo>
                    <a:pt x="48768" y="280670"/>
                  </a:lnTo>
                  <a:lnTo>
                    <a:pt x="51815" y="279400"/>
                  </a:lnTo>
                  <a:close/>
                </a:path>
                <a:path w="88900" h="280669">
                  <a:moveTo>
                    <a:pt x="56387" y="278130"/>
                  </a:moveTo>
                  <a:lnTo>
                    <a:pt x="25908" y="278130"/>
                  </a:lnTo>
                  <a:lnTo>
                    <a:pt x="25908" y="279400"/>
                  </a:lnTo>
                  <a:lnTo>
                    <a:pt x="54863" y="279400"/>
                  </a:lnTo>
                  <a:lnTo>
                    <a:pt x="56387" y="278130"/>
                  </a:lnTo>
                  <a:close/>
                </a:path>
                <a:path w="88900" h="280669">
                  <a:moveTo>
                    <a:pt x="19812" y="275590"/>
                  </a:moveTo>
                  <a:lnTo>
                    <a:pt x="22860" y="278130"/>
                  </a:lnTo>
                  <a:lnTo>
                    <a:pt x="59436" y="278130"/>
                  </a:lnTo>
                  <a:lnTo>
                    <a:pt x="60960" y="276860"/>
                  </a:lnTo>
                  <a:lnTo>
                    <a:pt x="22860" y="276860"/>
                  </a:lnTo>
                  <a:lnTo>
                    <a:pt x="19812" y="275590"/>
                  </a:lnTo>
                  <a:close/>
                </a:path>
                <a:path w="88900" h="280669">
                  <a:moveTo>
                    <a:pt x="62484" y="276860"/>
                  </a:moveTo>
                  <a:lnTo>
                    <a:pt x="60960" y="276860"/>
                  </a:lnTo>
                  <a:lnTo>
                    <a:pt x="60960" y="278130"/>
                  </a:lnTo>
                  <a:lnTo>
                    <a:pt x="62484" y="276860"/>
                  </a:lnTo>
                  <a:close/>
                </a:path>
                <a:path w="88900" h="280669">
                  <a:moveTo>
                    <a:pt x="71627" y="271780"/>
                  </a:moveTo>
                  <a:lnTo>
                    <a:pt x="15239" y="271780"/>
                  </a:lnTo>
                  <a:lnTo>
                    <a:pt x="19812" y="276860"/>
                  </a:lnTo>
                  <a:lnTo>
                    <a:pt x="21335" y="276860"/>
                  </a:lnTo>
                  <a:lnTo>
                    <a:pt x="19812" y="275590"/>
                  </a:lnTo>
                  <a:lnTo>
                    <a:pt x="67056" y="275590"/>
                  </a:lnTo>
                  <a:lnTo>
                    <a:pt x="68580" y="274320"/>
                  </a:lnTo>
                  <a:lnTo>
                    <a:pt x="70104" y="274320"/>
                  </a:lnTo>
                  <a:lnTo>
                    <a:pt x="71627" y="271780"/>
                  </a:lnTo>
                  <a:close/>
                </a:path>
                <a:path w="88900" h="280669">
                  <a:moveTo>
                    <a:pt x="65532" y="275590"/>
                  </a:moveTo>
                  <a:lnTo>
                    <a:pt x="19812" y="275590"/>
                  </a:lnTo>
                  <a:lnTo>
                    <a:pt x="22860" y="276860"/>
                  </a:lnTo>
                  <a:lnTo>
                    <a:pt x="64008" y="276860"/>
                  </a:lnTo>
                  <a:lnTo>
                    <a:pt x="65532" y="275590"/>
                  </a:lnTo>
                  <a:close/>
                </a:path>
                <a:path w="88900" h="280669">
                  <a:moveTo>
                    <a:pt x="75819" y="267970"/>
                  </a:moveTo>
                  <a:lnTo>
                    <a:pt x="10668" y="267970"/>
                  </a:lnTo>
                  <a:lnTo>
                    <a:pt x="13715" y="270510"/>
                  </a:lnTo>
                  <a:lnTo>
                    <a:pt x="13715" y="271780"/>
                  </a:lnTo>
                  <a:lnTo>
                    <a:pt x="70104" y="271780"/>
                  </a:lnTo>
                  <a:lnTo>
                    <a:pt x="74675" y="269240"/>
                  </a:lnTo>
                  <a:lnTo>
                    <a:pt x="75184" y="268816"/>
                  </a:lnTo>
                  <a:lnTo>
                    <a:pt x="75819" y="267970"/>
                  </a:lnTo>
                  <a:close/>
                </a:path>
                <a:path w="88900" h="280669">
                  <a:moveTo>
                    <a:pt x="11176" y="268816"/>
                  </a:moveTo>
                  <a:lnTo>
                    <a:pt x="12192" y="270510"/>
                  </a:lnTo>
                  <a:lnTo>
                    <a:pt x="13715" y="270510"/>
                  </a:lnTo>
                  <a:lnTo>
                    <a:pt x="12192" y="269240"/>
                  </a:lnTo>
                  <a:lnTo>
                    <a:pt x="11176" y="268816"/>
                  </a:lnTo>
                  <a:close/>
                </a:path>
                <a:path w="88900" h="280669">
                  <a:moveTo>
                    <a:pt x="10668" y="267970"/>
                  </a:moveTo>
                  <a:lnTo>
                    <a:pt x="11176" y="268816"/>
                  </a:lnTo>
                  <a:lnTo>
                    <a:pt x="12192" y="269240"/>
                  </a:lnTo>
                  <a:lnTo>
                    <a:pt x="10668" y="267970"/>
                  </a:lnTo>
                  <a:close/>
                </a:path>
                <a:path w="88900" h="280669">
                  <a:moveTo>
                    <a:pt x="48768" y="20320"/>
                  </a:moveTo>
                  <a:lnTo>
                    <a:pt x="27432" y="76200"/>
                  </a:lnTo>
                  <a:lnTo>
                    <a:pt x="13715" y="106680"/>
                  </a:lnTo>
                  <a:lnTo>
                    <a:pt x="13715" y="107950"/>
                  </a:lnTo>
                  <a:lnTo>
                    <a:pt x="3048" y="139700"/>
                  </a:lnTo>
                  <a:lnTo>
                    <a:pt x="3048" y="140970"/>
                  </a:lnTo>
                  <a:lnTo>
                    <a:pt x="0" y="162560"/>
                  </a:lnTo>
                  <a:lnTo>
                    <a:pt x="0" y="210820"/>
                  </a:lnTo>
                  <a:lnTo>
                    <a:pt x="1451" y="236220"/>
                  </a:lnTo>
                  <a:lnTo>
                    <a:pt x="1524" y="247650"/>
                  </a:lnTo>
                  <a:lnTo>
                    <a:pt x="3048" y="248920"/>
                  </a:lnTo>
                  <a:lnTo>
                    <a:pt x="3048" y="255270"/>
                  </a:lnTo>
                  <a:lnTo>
                    <a:pt x="4572" y="255270"/>
                  </a:lnTo>
                  <a:lnTo>
                    <a:pt x="4572" y="259080"/>
                  </a:lnTo>
                  <a:lnTo>
                    <a:pt x="6096" y="260350"/>
                  </a:lnTo>
                  <a:lnTo>
                    <a:pt x="7620" y="262890"/>
                  </a:lnTo>
                  <a:lnTo>
                    <a:pt x="7620" y="264160"/>
                  </a:lnTo>
                  <a:lnTo>
                    <a:pt x="9144" y="266700"/>
                  </a:lnTo>
                  <a:lnTo>
                    <a:pt x="9144" y="267970"/>
                  </a:lnTo>
                  <a:lnTo>
                    <a:pt x="11176" y="268816"/>
                  </a:lnTo>
                  <a:lnTo>
                    <a:pt x="10668" y="267970"/>
                  </a:lnTo>
                  <a:lnTo>
                    <a:pt x="75819" y="267970"/>
                  </a:lnTo>
                  <a:lnTo>
                    <a:pt x="79248" y="264160"/>
                  </a:lnTo>
                  <a:lnTo>
                    <a:pt x="79756" y="264160"/>
                  </a:lnTo>
                  <a:lnTo>
                    <a:pt x="80772" y="262890"/>
                  </a:lnTo>
                  <a:lnTo>
                    <a:pt x="80772" y="261620"/>
                  </a:lnTo>
                  <a:lnTo>
                    <a:pt x="39624" y="261620"/>
                  </a:lnTo>
                  <a:lnTo>
                    <a:pt x="38100" y="260350"/>
                  </a:lnTo>
                  <a:lnTo>
                    <a:pt x="30480" y="260350"/>
                  </a:lnTo>
                  <a:lnTo>
                    <a:pt x="29464" y="259080"/>
                  </a:lnTo>
                  <a:lnTo>
                    <a:pt x="28956" y="259080"/>
                  </a:lnTo>
                  <a:lnTo>
                    <a:pt x="27432" y="256540"/>
                  </a:lnTo>
                  <a:lnTo>
                    <a:pt x="22860" y="252730"/>
                  </a:lnTo>
                  <a:lnTo>
                    <a:pt x="24384" y="252730"/>
                  </a:lnTo>
                  <a:lnTo>
                    <a:pt x="24384" y="248920"/>
                  </a:lnTo>
                  <a:lnTo>
                    <a:pt x="22860" y="248920"/>
                  </a:lnTo>
                  <a:lnTo>
                    <a:pt x="22860" y="242570"/>
                  </a:lnTo>
                  <a:lnTo>
                    <a:pt x="21336" y="242570"/>
                  </a:lnTo>
                  <a:lnTo>
                    <a:pt x="21336" y="209550"/>
                  </a:lnTo>
                  <a:lnTo>
                    <a:pt x="20635" y="197879"/>
                  </a:lnTo>
                  <a:lnTo>
                    <a:pt x="16763" y="193040"/>
                  </a:lnTo>
                  <a:lnTo>
                    <a:pt x="15239" y="190500"/>
                  </a:lnTo>
                  <a:lnTo>
                    <a:pt x="15239" y="185420"/>
                  </a:lnTo>
                  <a:lnTo>
                    <a:pt x="16763" y="184150"/>
                  </a:lnTo>
                  <a:lnTo>
                    <a:pt x="18287" y="180340"/>
                  </a:lnTo>
                  <a:lnTo>
                    <a:pt x="19812" y="179916"/>
                  </a:lnTo>
                  <a:lnTo>
                    <a:pt x="19812" y="175260"/>
                  </a:lnTo>
                  <a:lnTo>
                    <a:pt x="21336" y="163830"/>
                  </a:lnTo>
                  <a:lnTo>
                    <a:pt x="22860" y="154940"/>
                  </a:lnTo>
                  <a:lnTo>
                    <a:pt x="21336" y="154940"/>
                  </a:lnTo>
                  <a:lnTo>
                    <a:pt x="22860" y="144780"/>
                  </a:lnTo>
                  <a:lnTo>
                    <a:pt x="23286" y="144780"/>
                  </a:lnTo>
                  <a:lnTo>
                    <a:pt x="33527" y="114300"/>
                  </a:lnTo>
                  <a:lnTo>
                    <a:pt x="33996" y="114300"/>
                  </a:lnTo>
                  <a:lnTo>
                    <a:pt x="39624" y="99060"/>
                  </a:lnTo>
                  <a:lnTo>
                    <a:pt x="40132" y="99060"/>
                  </a:lnTo>
                  <a:lnTo>
                    <a:pt x="45720" y="85090"/>
                  </a:lnTo>
                  <a:lnTo>
                    <a:pt x="45720" y="83820"/>
                  </a:lnTo>
                  <a:lnTo>
                    <a:pt x="62484" y="43180"/>
                  </a:lnTo>
                  <a:lnTo>
                    <a:pt x="65532" y="34290"/>
                  </a:lnTo>
                  <a:lnTo>
                    <a:pt x="66039" y="34290"/>
                  </a:lnTo>
                  <a:lnTo>
                    <a:pt x="68580" y="27940"/>
                  </a:lnTo>
                  <a:lnTo>
                    <a:pt x="70104" y="26670"/>
                  </a:lnTo>
                  <a:lnTo>
                    <a:pt x="70104" y="22860"/>
                  </a:lnTo>
                  <a:lnTo>
                    <a:pt x="48768" y="22860"/>
                  </a:lnTo>
                  <a:lnTo>
                    <a:pt x="48768" y="20320"/>
                  </a:lnTo>
                  <a:close/>
                </a:path>
                <a:path w="88900" h="280669">
                  <a:moveTo>
                    <a:pt x="79756" y="264160"/>
                  </a:moveTo>
                  <a:lnTo>
                    <a:pt x="79248" y="264160"/>
                  </a:lnTo>
                  <a:lnTo>
                    <a:pt x="77724" y="266700"/>
                  </a:lnTo>
                  <a:lnTo>
                    <a:pt x="79756" y="264160"/>
                  </a:lnTo>
                  <a:close/>
                </a:path>
                <a:path w="88900" h="280669">
                  <a:moveTo>
                    <a:pt x="47244" y="260350"/>
                  </a:moveTo>
                  <a:lnTo>
                    <a:pt x="44196" y="260350"/>
                  </a:lnTo>
                  <a:lnTo>
                    <a:pt x="42672" y="261620"/>
                  </a:lnTo>
                  <a:lnTo>
                    <a:pt x="45720" y="261620"/>
                  </a:lnTo>
                  <a:lnTo>
                    <a:pt x="47244" y="260350"/>
                  </a:lnTo>
                  <a:close/>
                </a:path>
                <a:path w="88900" h="280669">
                  <a:moveTo>
                    <a:pt x="48768" y="260350"/>
                  </a:moveTo>
                  <a:lnTo>
                    <a:pt x="47244" y="260350"/>
                  </a:lnTo>
                  <a:lnTo>
                    <a:pt x="45720" y="261620"/>
                  </a:lnTo>
                  <a:lnTo>
                    <a:pt x="48768" y="260350"/>
                  </a:lnTo>
                  <a:close/>
                </a:path>
                <a:path w="88900" h="280669">
                  <a:moveTo>
                    <a:pt x="51815" y="259080"/>
                  </a:moveTo>
                  <a:lnTo>
                    <a:pt x="45720" y="261620"/>
                  </a:lnTo>
                  <a:lnTo>
                    <a:pt x="82296" y="261620"/>
                  </a:lnTo>
                  <a:lnTo>
                    <a:pt x="82296" y="260350"/>
                  </a:lnTo>
                  <a:lnTo>
                    <a:pt x="50292" y="260350"/>
                  </a:lnTo>
                  <a:lnTo>
                    <a:pt x="51815" y="259080"/>
                  </a:lnTo>
                  <a:close/>
                </a:path>
                <a:path w="88900" h="280669">
                  <a:moveTo>
                    <a:pt x="28956" y="256540"/>
                  </a:moveTo>
                  <a:lnTo>
                    <a:pt x="28956" y="258445"/>
                  </a:lnTo>
                  <a:lnTo>
                    <a:pt x="30480" y="260350"/>
                  </a:lnTo>
                  <a:lnTo>
                    <a:pt x="30480" y="259080"/>
                  </a:lnTo>
                  <a:lnTo>
                    <a:pt x="28956" y="256540"/>
                  </a:lnTo>
                  <a:close/>
                </a:path>
                <a:path w="88900" h="280669">
                  <a:moveTo>
                    <a:pt x="30480" y="259080"/>
                  </a:moveTo>
                  <a:lnTo>
                    <a:pt x="30480" y="260350"/>
                  </a:lnTo>
                  <a:lnTo>
                    <a:pt x="32004" y="260350"/>
                  </a:lnTo>
                  <a:lnTo>
                    <a:pt x="30480" y="259080"/>
                  </a:lnTo>
                  <a:close/>
                </a:path>
                <a:path w="88900" h="280669">
                  <a:moveTo>
                    <a:pt x="32004" y="259080"/>
                  </a:moveTo>
                  <a:lnTo>
                    <a:pt x="30480" y="259080"/>
                  </a:lnTo>
                  <a:lnTo>
                    <a:pt x="32004" y="260350"/>
                  </a:lnTo>
                  <a:lnTo>
                    <a:pt x="32004" y="259080"/>
                  </a:lnTo>
                  <a:close/>
                </a:path>
                <a:path w="88900" h="280669">
                  <a:moveTo>
                    <a:pt x="53339" y="259080"/>
                  </a:moveTo>
                  <a:lnTo>
                    <a:pt x="51815" y="259080"/>
                  </a:lnTo>
                  <a:lnTo>
                    <a:pt x="50292" y="260350"/>
                  </a:lnTo>
                  <a:lnTo>
                    <a:pt x="53339" y="259080"/>
                  </a:lnTo>
                  <a:close/>
                </a:path>
                <a:path w="88900" h="280669">
                  <a:moveTo>
                    <a:pt x="62483" y="252730"/>
                  </a:moveTo>
                  <a:lnTo>
                    <a:pt x="57912" y="255270"/>
                  </a:lnTo>
                  <a:lnTo>
                    <a:pt x="56387" y="256540"/>
                  </a:lnTo>
                  <a:lnTo>
                    <a:pt x="54863" y="259080"/>
                  </a:lnTo>
                  <a:lnTo>
                    <a:pt x="53339" y="259080"/>
                  </a:lnTo>
                  <a:lnTo>
                    <a:pt x="50292" y="260350"/>
                  </a:lnTo>
                  <a:lnTo>
                    <a:pt x="82296" y="260350"/>
                  </a:lnTo>
                  <a:lnTo>
                    <a:pt x="83820" y="259080"/>
                  </a:lnTo>
                  <a:lnTo>
                    <a:pt x="84836" y="256540"/>
                  </a:lnTo>
                  <a:lnTo>
                    <a:pt x="83820" y="256540"/>
                  </a:lnTo>
                  <a:lnTo>
                    <a:pt x="85344" y="254000"/>
                  </a:lnTo>
                  <a:lnTo>
                    <a:pt x="60960" y="254000"/>
                  </a:lnTo>
                  <a:lnTo>
                    <a:pt x="62483" y="252730"/>
                  </a:lnTo>
                  <a:close/>
                </a:path>
                <a:path w="88900" h="280669">
                  <a:moveTo>
                    <a:pt x="27432" y="256540"/>
                  </a:moveTo>
                  <a:lnTo>
                    <a:pt x="28956" y="259080"/>
                  </a:lnTo>
                  <a:lnTo>
                    <a:pt x="28956" y="258445"/>
                  </a:lnTo>
                  <a:lnTo>
                    <a:pt x="27432" y="256540"/>
                  </a:lnTo>
                  <a:close/>
                </a:path>
                <a:path w="88900" h="280669">
                  <a:moveTo>
                    <a:pt x="28956" y="256540"/>
                  </a:moveTo>
                  <a:lnTo>
                    <a:pt x="27432" y="256540"/>
                  </a:lnTo>
                  <a:lnTo>
                    <a:pt x="28956" y="258445"/>
                  </a:lnTo>
                  <a:lnTo>
                    <a:pt x="28956" y="256540"/>
                  </a:lnTo>
                  <a:close/>
                </a:path>
                <a:path w="88900" h="280669">
                  <a:moveTo>
                    <a:pt x="25908" y="254635"/>
                  </a:moveTo>
                  <a:lnTo>
                    <a:pt x="25908" y="255270"/>
                  </a:lnTo>
                  <a:lnTo>
                    <a:pt x="27432" y="256540"/>
                  </a:lnTo>
                  <a:lnTo>
                    <a:pt x="27432" y="255270"/>
                  </a:lnTo>
                  <a:lnTo>
                    <a:pt x="25908" y="254635"/>
                  </a:lnTo>
                  <a:close/>
                </a:path>
                <a:path w="88900" h="280669">
                  <a:moveTo>
                    <a:pt x="85344" y="254000"/>
                  </a:moveTo>
                  <a:lnTo>
                    <a:pt x="83820" y="256540"/>
                  </a:lnTo>
                  <a:lnTo>
                    <a:pt x="84836" y="256540"/>
                  </a:lnTo>
                  <a:lnTo>
                    <a:pt x="85344" y="255270"/>
                  </a:lnTo>
                  <a:lnTo>
                    <a:pt x="85344" y="254000"/>
                  </a:lnTo>
                  <a:close/>
                </a:path>
                <a:path w="88900" h="280669">
                  <a:moveTo>
                    <a:pt x="24384" y="254000"/>
                  </a:moveTo>
                  <a:lnTo>
                    <a:pt x="25908" y="255270"/>
                  </a:lnTo>
                  <a:lnTo>
                    <a:pt x="25908" y="254635"/>
                  </a:lnTo>
                  <a:lnTo>
                    <a:pt x="24384" y="254000"/>
                  </a:lnTo>
                  <a:close/>
                </a:path>
                <a:path w="88900" h="280669">
                  <a:moveTo>
                    <a:pt x="24384" y="251460"/>
                  </a:moveTo>
                  <a:lnTo>
                    <a:pt x="24384" y="252730"/>
                  </a:lnTo>
                  <a:lnTo>
                    <a:pt x="22860" y="252730"/>
                  </a:lnTo>
                  <a:lnTo>
                    <a:pt x="24384" y="254000"/>
                  </a:lnTo>
                  <a:lnTo>
                    <a:pt x="25908" y="254635"/>
                  </a:lnTo>
                  <a:lnTo>
                    <a:pt x="25908" y="254000"/>
                  </a:lnTo>
                  <a:lnTo>
                    <a:pt x="24384" y="251460"/>
                  </a:lnTo>
                  <a:close/>
                </a:path>
                <a:path w="88900" h="280669">
                  <a:moveTo>
                    <a:pt x="62484" y="252730"/>
                  </a:moveTo>
                  <a:lnTo>
                    <a:pt x="60960" y="254000"/>
                  </a:lnTo>
                  <a:lnTo>
                    <a:pt x="62484" y="254000"/>
                  </a:lnTo>
                  <a:lnTo>
                    <a:pt x="62484" y="252730"/>
                  </a:lnTo>
                  <a:close/>
                </a:path>
                <a:path w="88900" h="280669">
                  <a:moveTo>
                    <a:pt x="64008" y="251460"/>
                  </a:moveTo>
                  <a:lnTo>
                    <a:pt x="62484" y="252730"/>
                  </a:lnTo>
                  <a:lnTo>
                    <a:pt x="62484" y="254000"/>
                  </a:lnTo>
                  <a:lnTo>
                    <a:pt x="64007" y="252730"/>
                  </a:lnTo>
                  <a:lnTo>
                    <a:pt x="64008" y="251460"/>
                  </a:lnTo>
                  <a:close/>
                </a:path>
                <a:path w="88900" h="280669">
                  <a:moveTo>
                    <a:pt x="65532" y="248920"/>
                  </a:moveTo>
                  <a:lnTo>
                    <a:pt x="64008" y="248920"/>
                  </a:lnTo>
                  <a:lnTo>
                    <a:pt x="64007" y="252730"/>
                  </a:lnTo>
                  <a:lnTo>
                    <a:pt x="62484" y="254000"/>
                  </a:lnTo>
                  <a:lnTo>
                    <a:pt x="85344" y="254000"/>
                  </a:lnTo>
                  <a:lnTo>
                    <a:pt x="85344" y="252730"/>
                  </a:lnTo>
                  <a:lnTo>
                    <a:pt x="86868" y="252730"/>
                  </a:lnTo>
                  <a:lnTo>
                    <a:pt x="86868" y="251460"/>
                  </a:lnTo>
                  <a:lnTo>
                    <a:pt x="65532" y="251460"/>
                  </a:lnTo>
                  <a:lnTo>
                    <a:pt x="65532" y="248920"/>
                  </a:lnTo>
                  <a:close/>
                </a:path>
                <a:path w="88900" h="280669">
                  <a:moveTo>
                    <a:pt x="86868" y="231140"/>
                  </a:moveTo>
                  <a:lnTo>
                    <a:pt x="64008" y="231140"/>
                  </a:lnTo>
                  <a:lnTo>
                    <a:pt x="65532" y="233680"/>
                  </a:lnTo>
                  <a:lnTo>
                    <a:pt x="67056" y="237490"/>
                  </a:lnTo>
                  <a:lnTo>
                    <a:pt x="67056" y="246380"/>
                  </a:lnTo>
                  <a:lnTo>
                    <a:pt x="65532" y="248920"/>
                  </a:lnTo>
                  <a:lnTo>
                    <a:pt x="65532" y="251460"/>
                  </a:lnTo>
                  <a:lnTo>
                    <a:pt x="67056" y="247650"/>
                  </a:lnTo>
                  <a:lnTo>
                    <a:pt x="86868" y="247650"/>
                  </a:lnTo>
                  <a:lnTo>
                    <a:pt x="86868" y="242570"/>
                  </a:lnTo>
                  <a:lnTo>
                    <a:pt x="87884" y="242570"/>
                  </a:lnTo>
                  <a:lnTo>
                    <a:pt x="88392" y="241300"/>
                  </a:lnTo>
                  <a:lnTo>
                    <a:pt x="87630" y="240030"/>
                  </a:lnTo>
                  <a:lnTo>
                    <a:pt x="86868" y="240030"/>
                  </a:lnTo>
                  <a:lnTo>
                    <a:pt x="86868" y="231140"/>
                  </a:lnTo>
                  <a:close/>
                </a:path>
                <a:path w="88900" h="280669">
                  <a:moveTo>
                    <a:pt x="86868" y="247650"/>
                  </a:moveTo>
                  <a:lnTo>
                    <a:pt x="67056" y="247650"/>
                  </a:lnTo>
                  <a:lnTo>
                    <a:pt x="65532" y="251460"/>
                  </a:lnTo>
                  <a:lnTo>
                    <a:pt x="86868" y="251460"/>
                  </a:lnTo>
                  <a:lnTo>
                    <a:pt x="86868" y="247650"/>
                  </a:lnTo>
                  <a:close/>
                </a:path>
                <a:path w="88900" h="280669">
                  <a:moveTo>
                    <a:pt x="66294" y="247650"/>
                  </a:moveTo>
                  <a:lnTo>
                    <a:pt x="65532" y="247650"/>
                  </a:lnTo>
                  <a:lnTo>
                    <a:pt x="65532" y="248920"/>
                  </a:lnTo>
                  <a:lnTo>
                    <a:pt x="66294" y="247650"/>
                  </a:lnTo>
                  <a:close/>
                </a:path>
                <a:path w="88900" h="280669">
                  <a:moveTo>
                    <a:pt x="67056" y="245110"/>
                  </a:moveTo>
                  <a:lnTo>
                    <a:pt x="65532" y="247650"/>
                  </a:lnTo>
                  <a:lnTo>
                    <a:pt x="67056" y="246380"/>
                  </a:lnTo>
                  <a:lnTo>
                    <a:pt x="67056" y="245110"/>
                  </a:lnTo>
                  <a:close/>
                </a:path>
                <a:path w="88900" h="280669">
                  <a:moveTo>
                    <a:pt x="87884" y="242570"/>
                  </a:moveTo>
                  <a:lnTo>
                    <a:pt x="86868" y="242570"/>
                  </a:lnTo>
                  <a:lnTo>
                    <a:pt x="86868" y="245110"/>
                  </a:lnTo>
                  <a:lnTo>
                    <a:pt x="87884" y="242570"/>
                  </a:lnTo>
                  <a:close/>
                </a:path>
                <a:path w="88900" h="280669">
                  <a:moveTo>
                    <a:pt x="86868" y="238760"/>
                  </a:moveTo>
                  <a:lnTo>
                    <a:pt x="86868" y="240030"/>
                  </a:lnTo>
                  <a:lnTo>
                    <a:pt x="87630" y="240030"/>
                  </a:lnTo>
                  <a:lnTo>
                    <a:pt x="86868" y="238760"/>
                  </a:lnTo>
                  <a:close/>
                </a:path>
                <a:path w="88900" h="280669">
                  <a:moveTo>
                    <a:pt x="84836" y="228600"/>
                  </a:moveTo>
                  <a:lnTo>
                    <a:pt x="62484" y="228600"/>
                  </a:lnTo>
                  <a:lnTo>
                    <a:pt x="62484" y="229870"/>
                  </a:lnTo>
                  <a:lnTo>
                    <a:pt x="64008" y="232410"/>
                  </a:lnTo>
                  <a:lnTo>
                    <a:pt x="65532" y="233680"/>
                  </a:lnTo>
                  <a:lnTo>
                    <a:pt x="64008" y="231140"/>
                  </a:lnTo>
                  <a:lnTo>
                    <a:pt x="85344" y="231140"/>
                  </a:lnTo>
                  <a:lnTo>
                    <a:pt x="85344" y="229870"/>
                  </a:lnTo>
                  <a:lnTo>
                    <a:pt x="84836" y="228600"/>
                  </a:lnTo>
                  <a:close/>
                </a:path>
                <a:path w="88900" h="280669">
                  <a:moveTo>
                    <a:pt x="57912" y="224790"/>
                  </a:moveTo>
                  <a:lnTo>
                    <a:pt x="62484" y="229870"/>
                  </a:lnTo>
                  <a:lnTo>
                    <a:pt x="62484" y="228600"/>
                  </a:lnTo>
                  <a:lnTo>
                    <a:pt x="84836" y="228600"/>
                  </a:lnTo>
                  <a:lnTo>
                    <a:pt x="83820" y="226060"/>
                  </a:lnTo>
                  <a:lnTo>
                    <a:pt x="59436" y="226060"/>
                  </a:lnTo>
                  <a:lnTo>
                    <a:pt x="57912" y="224790"/>
                  </a:lnTo>
                  <a:close/>
                </a:path>
                <a:path w="88900" h="280669">
                  <a:moveTo>
                    <a:pt x="82296" y="222250"/>
                  </a:moveTo>
                  <a:lnTo>
                    <a:pt x="54863" y="222250"/>
                  </a:lnTo>
                  <a:lnTo>
                    <a:pt x="59436" y="226060"/>
                  </a:lnTo>
                  <a:lnTo>
                    <a:pt x="83820" y="226060"/>
                  </a:lnTo>
                  <a:lnTo>
                    <a:pt x="83820" y="224790"/>
                  </a:lnTo>
                  <a:lnTo>
                    <a:pt x="82296" y="222250"/>
                  </a:lnTo>
                  <a:close/>
                </a:path>
                <a:path w="88900" h="280669">
                  <a:moveTo>
                    <a:pt x="22860" y="179070"/>
                  </a:moveTo>
                  <a:lnTo>
                    <a:pt x="19812" y="179916"/>
                  </a:lnTo>
                  <a:lnTo>
                    <a:pt x="19888" y="185420"/>
                  </a:lnTo>
                  <a:lnTo>
                    <a:pt x="20635" y="197879"/>
                  </a:lnTo>
                  <a:lnTo>
                    <a:pt x="22860" y="200660"/>
                  </a:lnTo>
                  <a:lnTo>
                    <a:pt x="25908" y="201930"/>
                  </a:lnTo>
                  <a:lnTo>
                    <a:pt x="38100" y="210820"/>
                  </a:lnTo>
                  <a:lnTo>
                    <a:pt x="56388" y="223520"/>
                  </a:lnTo>
                  <a:lnTo>
                    <a:pt x="54863" y="222250"/>
                  </a:lnTo>
                  <a:lnTo>
                    <a:pt x="82296" y="222250"/>
                  </a:lnTo>
                  <a:lnTo>
                    <a:pt x="80772" y="220980"/>
                  </a:lnTo>
                  <a:lnTo>
                    <a:pt x="80772" y="218440"/>
                  </a:lnTo>
                  <a:lnTo>
                    <a:pt x="74675" y="213360"/>
                  </a:lnTo>
                  <a:lnTo>
                    <a:pt x="74675" y="210820"/>
                  </a:lnTo>
                  <a:lnTo>
                    <a:pt x="73151" y="209550"/>
                  </a:lnTo>
                  <a:lnTo>
                    <a:pt x="50292" y="194310"/>
                  </a:lnTo>
                  <a:lnTo>
                    <a:pt x="50292" y="193040"/>
                  </a:lnTo>
                  <a:lnTo>
                    <a:pt x="36575" y="185420"/>
                  </a:lnTo>
                  <a:lnTo>
                    <a:pt x="35051" y="185420"/>
                  </a:lnTo>
                  <a:lnTo>
                    <a:pt x="22860" y="179070"/>
                  </a:lnTo>
                  <a:close/>
                </a:path>
                <a:path w="88900" h="280669">
                  <a:moveTo>
                    <a:pt x="19812" y="179916"/>
                  </a:moveTo>
                  <a:lnTo>
                    <a:pt x="18287" y="180340"/>
                  </a:lnTo>
                  <a:lnTo>
                    <a:pt x="16763" y="184150"/>
                  </a:lnTo>
                  <a:lnTo>
                    <a:pt x="15239" y="185420"/>
                  </a:lnTo>
                  <a:lnTo>
                    <a:pt x="15239" y="190500"/>
                  </a:lnTo>
                  <a:lnTo>
                    <a:pt x="16763" y="193040"/>
                  </a:lnTo>
                  <a:lnTo>
                    <a:pt x="20635" y="197879"/>
                  </a:lnTo>
                  <a:lnTo>
                    <a:pt x="19888" y="185420"/>
                  </a:lnTo>
                  <a:lnTo>
                    <a:pt x="19812" y="179916"/>
                  </a:lnTo>
                  <a:close/>
                </a:path>
                <a:path w="88900" h="280669">
                  <a:moveTo>
                    <a:pt x="23286" y="144780"/>
                  </a:moveTo>
                  <a:lnTo>
                    <a:pt x="22860" y="144780"/>
                  </a:lnTo>
                  <a:lnTo>
                    <a:pt x="22860" y="146050"/>
                  </a:lnTo>
                  <a:lnTo>
                    <a:pt x="23286" y="144780"/>
                  </a:lnTo>
                  <a:close/>
                </a:path>
                <a:path w="88900" h="280669">
                  <a:moveTo>
                    <a:pt x="33996" y="114300"/>
                  </a:moveTo>
                  <a:lnTo>
                    <a:pt x="33527" y="114300"/>
                  </a:lnTo>
                  <a:lnTo>
                    <a:pt x="33527" y="115570"/>
                  </a:lnTo>
                  <a:lnTo>
                    <a:pt x="33996" y="114300"/>
                  </a:lnTo>
                  <a:close/>
                </a:path>
                <a:path w="88900" h="280669">
                  <a:moveTo>
                    <a:pt x="40132" y="99060"/>
                  </a:moveTo>
                  <a:lnTo>
                    <a:pt x="39624" y="99060"/>
                  </a:lnTo>
                  <a:lnTo>
                    <a:pt x="39624" y="100330"/>
                  </a:lnTo>
                  <a:lnTo>
                    <a:pt x="40132" y="99060"/>
                  </a:lnTo>
                  <a:close/>
                </a:path>
                <a:path w="88900" h="280669">
                  <a:moveTo>
                    <a:pt x="66039" y="34290"/>
                  </a:moveTo>
                  <a:lnTo>
                    <a:pt x="65532" y="34290"/>
                  </a:lnTo>
                  <a:lnTo>
                    <a:pt x="65532" y="35560"/>
                  </a:lnTo>
                  <a:lnTo>
                    <a:pt x="66039" y="34290"/>
                  </a:lnTo>
                  <a:close/>
                </a:path>
                <a:path w="88900" h="280669">
                  <a:moveTo>
                    <a:pt x="50292" y="19050"/>
                  </a:moveTo>
                  <a:lnTo>
                    <a:pt x="48768" y="22860"/>
                  </a:lnTo>
                  <a:lnTo>
                    <a:pt x="70104" y="22860"/>
                  </a:lnTo>
                  <a:lnTo>
                    <a:pt x="71627" y="20320"/>
                  </a:lnTo>
                  <a:lnTo>
                    <a:pt x="50292" y="20320"/>
                  </a:lnTo>
                  <a:lnTo>
                    <a:pt x="50292" y="19050"/>
                  </a:lnTo>
                  <a:close/>
                </a:path>
                <a:path w="88900" h="280669">
                  <a:moveTo>
                    <a:pt x="67056" y="0"/>
                  </a:moveTo>
                  <a:lnTo>
                    <a:pt x="56387" y="0"/>
                  </a:lnTo>
                  <a:lnTo>
                    <a:pt x="51815" y="3810"/>
                  </a:lnTo>
                  <a:lnTo>
                    <a:pt x="51815" y="13970"/>
                  </a:lnTo>
                  <a:lnTo>
                    <a:pt x="50292" y="17780"/>
                  </a:lnTo>
                  <a:lnTo>
                    <a:pt x="50292" y="20320"/>
                  </a:lnTo>
                  <a:lnTo>
                    <a:pt x="71627" y="20320"/>
                  </a:lnTo>
                  <a:lnTo>
                    <a:pt x="71627" y="3810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4560" y="5079492"/>
              <a:ext cx="414527" cy="8686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30424" y="4418076"/>
              <a:ext cx="566927" cy="10073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4472" y="5564124"/>
              <a:ext cx="364236" cy="4419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17748" y="4751832"/>
              <a:ext cx="277367" cy="5303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54196" y="5533644"/>
              <a:ext cx="59690" cy="715010"/>
            </a:xfrm>
            <a:custGeom>
              <a:avLst/>
              <a:gdLst/>
              <a:ahLst/>
              <a:cxnLst/>
              <a:rect l="l" t="t" r="r" b="b"/>
              <a:pathLst>
                <a:path w="59689" h="715010">
                  <a:moveTo>
                    <a:pt x="39624" y="710183"/>
                  </a:moveTo>
                  <a:lnTo>
                    <a:pt x="40005" y="710945"/>
                  </a:lnTo>
                  <a:lnTo>
                    <a:pt x="45719" y="714755"/>
                  </a:lnTo>
                  <a:lnTo>
                    <a:pt x="51815" y="714755"/>
                  </a:lnTo>
                  <a:lnTo>
                    <a:pt x="52831" y="713231"/>
                  </a:lnTo>
                  <a:lnTo>
                    <a:pt x="45719" y="713231"/>
                  </a:lnTo>
                  <a:lnTo>
                    <a:pt x="39624" y="710183"/>
                  </a:lnTo>
                  <a:close/>
                </a:path>
                <a:path w="59689" h="715010">
                  <a:moveTo>
                    <a:pt x="35051" y="705611"/>
                  </a:moveTo>
                  <a:lnTo>
                    <a:pt x="35051" y="708659"/>
                  </a:lnTo>
                  <a:lnTo>
                    <a:pt x="39624" y="713231"/>
                  </a:lnTo>
                  <a:lnTo>
                    <a:pt x="41148" y="713231"/>
                  </a:lnTo>
                  <a:lnTo>
                    <a:pt x="36575" y="708659"/>
                  </a:lnTo>
                  <a:lnTo>
                    <a:pt x="36194" y="707135"/>
                  </a:lnTo>
                  <a:lnTo>
                    <a:pt x="36067" y="706627"/>
                  </a:lnTo>
                  <a:lnTo>
                    <a:pt x="35051" y="705611"/>
                  </a:lnTo>
                  <a:close/>
                </a:path>
                <a:path w="59689" h="715010">
                  <a:moveTo>
                    <a:pt x="37718" y="709421"/>
                  </a:moveTo>
                  <a:lnTo>
                    <a:pt x="38100" y="710183"/>
                  </a:lnTo>
                  <a:lnTo>
                    <a:pt x="41148" y="713231"/>
                  </a:lnTo>
                  <a:lnTo>
                    <a:pt x="40005" y="710945"/>
                  </a:lnTo>
                  <a:lnTo>
                    <a:pt x="37718" y="709421"/>
                  </a:lnTo>
                  <a:close/>
                </a:path>
                <a:path w="59689" h="715010">
                  <a:moveTo>
                    <a:pt x="40005" y="710945"/>
                  </a:moveTo>
                  <a:lnTo>
                    <a:pt x="41148" y="713231"/>
                  </a:lnTo>
                  <a:lnTo>
                    <a:pt x="43433" y="713231"/>
                  </a:lnTo>
                  <a:lnTo>
                    <a:pt x="40005" y="710945"/>
                  </a:lnTo>
                  <a:close/>
                </a:path>
                <a:path w="59689" h="715010">
                  <a:moveTo>
                    <a:pt x="42671" y="710183"/>
                  </a:moveTo>
                  <a:lnTo>
                    <a:pt x="39624" y="710183"/>
                  </a:lnTo>
                  <a:lnTo>
                    <a:pt x="45719" y="713231"/>
                  </a:lnTo>
                  <a:lnTo>
                    <a:pt x="42671" y="710183"/>
                  </a:lnTo>
                  <a:close/>
                </a:path>
                <a:path w="59689" h="715010">
                  <a:moveTo>
                    <a:pt x="36575" y="702563"/>
                  </a:moveTo>
                  <a:lnTo>
                    <a:pt x="36677" y="703579"/>
                  </a:lnTo>
                  <a:lnTo>
                    <a:pt x="37084" y="704595"/>
                  </a:lnTo>
                  <a:lnTo>
                    <a:pt x="45719" y="713231"/>
                  </a:lnTo>
                  <a:lnTo>
                    <a:pt x="36575" y="702563"/>
                  </a:lnTo>
                  <a:close/>
                </a:path>
                <a:path w="59689" h="715010">
                  <a:moveTo>
                    <a:pt x="48767" y="691895"/>
                  </a:moveTo>
                  <a:lnTo>
                    <a:pt x="45719" y="693419"/>
                  </a:lnTo>
                  <a:lnTo>
                    <a:pt x="41148" y="693419"/>
                  </a:lnTo>
                  <a:lnTo>
                    <a:pt x="39624" y="694943"/>
                  </a:lnTo>
                  <a:lnTo>
                    <a:pt x="38100" y="697991"/>
                  </a:lnTo>
                  <a:lnTo>
                    <a:pt x="36575" y="700277"/>
                  </a:lnTo>
                  <a:lnTo>
                    <a:pt x="36575" y="702563"/>
                  </a:lnTo>
                  <a:lnTo>
                    <a:pt x="45719" y="713231"/>
                  </a:lnTo>
                  <a:lnTo>
                    <a:pt x="50291" y="711707"/>
                  </a:lnTo>
                  <a:lnTo>
                    <a:pt x="53339" y="710183"/>
                  </a:lnTo>
                  <a:lnTo>
                    <a:pt x="56387" y="707135"/>
                  </a:lnTo>
                  <a:lnTo>
                    <a:pt x="56387" y="701039"/>
                  </a:lnTo>
                  <a:lnTo>
                    <a:pt x="54863" y="701039"/>
                  </a:lnTo>
                  <a:lnTo>
                    <a:pt x="52425" y="694943"/>
                  </a:lnTo>
                  <a:lnTo>
                    <a:pt x="51815" y="694943"/>
                  </a:lnTo>
                  <a:lnTo>
                    <a:pt x="51815" y="693419"/>
                  </a:lnTo>
                  <a:lnTo>
                    <a:pt x="48767" y="691895"/>
                  </a:lnTo>
                  <a:close/>
                </a:path>
                <a:path w="59689" h="715010">
                  <a:moveTo>
                    <a:pt x="54863" y="708659"/>
                  </a:moveTo>
                  <a:lnTo>
                    <a:pt x="53339" y="710183"/>
                  </a:lnTo>
                  <a:lnTo>
                    <a:pt x="50291" y="711707"/>
                  </a:lnTo>
                  <a:lnTo>
                    <a:pt x="45719" y="713231"/>
                  </a:lnTo>
                  <a:lnTo>
                    <a:pt x="50291" y="713231"/>
                  </a:lnTo>
                  <a:lnTo>
                    <a:pt x="53339" y="711707"/>
                  </a:lnTo>
                  <a:lnTo>
                    <a:pt x="54863" y="708659"/>
                  </a:lnTo>
                  <a:close/>
                </a:path>
                <a:path w="59689" h="715010">
                  <a:moveTo>
                    <a:pt x="53339" y="711707"/>
                  </a:moveTo>
                  <a:lnTo>
                    <a:pt x="50291" y="713231"/>
                  </a:lnTo>
                  <a:lnTo>
                    <a:pt x="51815" y="713231"/>
                  </a:lnTo>
                  <a:lnTo>
                    <a:pt x="53339" y="711707"/>
                  </a:lnTo>
                  <a:close/>
                </a:path>
                <a:path w="59689" h="715010">
                  <a:moveTo>
                    <a:pt x="54863" y="710183"/>
                  </a:moveTo>
                  <a:lnTo>
                    <a:pt x="51815" y="713231"/>
                  </a:lnTo>
                  <a:lnTo>
                    <a:pt x="52831" y="713231"/>
                  </a:lnTo>
                  <a:lnTo>
                    <a:pt x="54863" y="710183"/>
                  </a:lnTo>
                  <a:close/>
                </a:path>
                <a:path w="59689" h="715010">
                  <a:moveTo>
                    <a:pt x="56387" y="707135"/>
                  </a:moveTo>
                  <a:lnTo>
                    <a:pt x="54863" y="708659"/>
                  </a:lnTo>
                  <a:lnTo>
                    <a:pt x="53339" y="711707"/>
                  </a:lnTo>
                  <a:lnTo>
                    <a:pt x="54863" y="710183"/>
                  </a:lnTo>
                  <a:lnTo>
                    <a:pt x="56387" y="707897"/>
                  </a:lnTo>
                  <a:lnTo>
                    <a:pt x="56387" y="707135"/>
                  </a:lnTo>
                  <a:close/>
                </a:path>
                <a:path w="59689" h="715010">
                  <a:moveTo>
                    <a:pt x="36575" y="707135"/>
                  </a:moveTo>
                  <a:lnTo>
                    <a:pt x="37718" y="709421"/>
                  </a:lnTo>
                  <a:lnTo>
                    <a:pt x="40005" y="710945"/>
                  </a:lnTo>
                  <a:lnTo>
                    <a:pt x="39624" y="710183"/>
                  </a:lnTo>
                  <a:lnTo>
                    <a:pt x="42671" y="710183"/>
                  </a:lnTo>
                  <a:lnTo>
                    <a:pt x="41148" y="708659"/>
                  </a:lnTo>
                  <a:lnTo>
                    <a:pt x="38100" y="708659"/>
                  </a:lnTo>
                  <a:lnTo>
                    <a:pt x="36575" y="707135"/>
                  </a:lnTo>
                  <a:close/>
                </a:path>
                <a:path w="59689" h="715010">
                  <a:moveTo>
                    <a:pt x="36575" y="708659"/>
                  </a:moveTo>
                  <a:lnTo>
                    <a:pt x="38100" y="710183"/>
                  </a:lnTo>
                  <a:lnTo>
                    <a:pt x="37718" y="709421"/>
                  </a:lnTo>
                  <a:lnTo>
                    <a:pt x="36575" y="708659"/>
                  </a:lnTo>
                  <a:close/>
                </a:path>
                <a:path w="59689" h="715010">
                  <a:moveTo>
                    <a:pt x="56387" y="707897"/>
                  </a:moveTo>
                  <a:lnTo>
                    <a:pt x="54863" y="710183"/>
                  </a:lnTo>
                  <a:lnTo>
                    <a:pt x="56387" y="708659"/>
                  </a:lnTo>
                  <a:lnTo>
                    <a:pt x="56387" y="707897"/>
                  </a:lnTo>
                  <a:close/>
                </a:path>
                <a:path w="59689" h="715010">
                  <a:moveTo>
                    <a:pt x="36575" y="707135"/>
                  </a:moveTo>
                  <a:lnTo>
                    <a:pt x="36575" y="708659"/>
                  </a:lnTo>
                  <a:lnTo>
                    <a:pt x="37718" y="709421"/>
                  </a:lnTo>
                  <a:lnTo>
                    <a:pt x="36575" y="707135"/>
                  </a:lnTo>
                  <a:close/>
                </a:path>
                <a:path w="59689" h="715010">
                  <a:moveTo>
                    <a:pt x="36067" y="706627"/>
                  </a:moveTo>
                  <a:lnTo>
                    <a:pt x="36575" y="708659"/>
                  </a:lnTo>
                  <a:lnTo>
                    <a:pt x="36575" y="707135"/>
                  </a:lnTo>
                  <a:lnTo>
                    <a:pt x="36067" y="706627"/>
                  </a:lnTo>
                  <a:close/>
                </a:path>
                <a:path w="59689" h="715010">
                  <a:moveTo>
                    <a:pt x="36575" y="705611"/>
                  </a:moveTo>
                  <a:lnTo>
                    <a:pt x="36575" y="707135"/>
                  </a:lnTo>
                  <a:lnTo>
                    <a:pt x="38100" y="708659"/>
                  </a:lnTo>
                  <a:lnTo>
                    <a:pt x="37795" y="707897"/>
                  </a:lnTo>
                  <a:lnTo>
                    <a:pt x="37337" y="707135"/>
                  </a:lnTo>
                  <a:lnTo>
                    <a:pt x="36575" y="705611"/>
                  </a:lnTo>
                  <a:close/>
                </a:path>
                <a:path w="59689" h="715010">
                  <a:moveTo>
                    <a:pt x="36575" y="704087"/>
                  </a:moveTo>
                  <a:lnTo>
                    <a:pt x="36575" y="704849"/>
                  </a:lnTo>
                  <a:lnTo>
                    <a:pt x="37490" y="707135"/>
                  </a:lnTo>
                  <a:lnTo>
                    <a:pt x="37719" y="707897"/>
                  </a:lnTo>
                  <a:lnTo>
                    <a:pt x="38100" y="708659"/>
                  </a:lnTo>
                  <a:lnTo>
                    <a:pt x="41148" y="708659"/>
                  </a:lnTo>
                  <a:lnTo>
                    <a:pt x="39624" y="707135"/>
                  </a:lnTo>
                  <a:lnTo>
                    <a:pt x="38100" y="707135"/>
                  </a:lnTo>
                  <a:lnTo>
                    <a:pt x="37185" y="704849"/>
                  </a:lnTo>
                  <a:lnTo>
                    <a:pt x="37084" y="704595"/>
                  </a:lnTo>
                  <a:lnTo>
                    <a:pt x="36575" y="704087"/>
                  </a:lnTo>
                  <a:close/>
                </a:path>
                <a:path w="59689" h="715010">
                  <a:moveTo>
                    <a:pt x="36575" y="704849"/>
                  </a:moveTo>
                  <a:lnTo>
                    <a:pt x="36575" y="705611"/>
                  </a:lnTo>
                  <a:lnTo>
                    <a:pt x="37719" y="707897"/>
                  </a:lnTo>
                  <a:lnTo>
                    <a:pt x="37490" y="707135"/>
                  </a:lnTo>
                  <a:lnTo>
                    <a:pt x="36575" y="704849"/>
                  </a:lnTo>
                  <a:close/>
                </a:path>
                <a:path w="59689" h="715010">
                  <a:moveTo>
                    <a:pt x="57912" y="705611"/>
                  </a:moveTo>
                  <a:lnTo>
                    <a:pt x="56387" y="707135"/>
                  </a:lnTo>
                  <a:lnTo>
                    <a:pt x="56387" y="707897"/>
                  </a:lnTo>
                  <a:lnTo>
                    <a:pt x="57912" y="705611"/>
                  </a:lnTo>
                  <a:close/>
                </a:path>
                <a:path w="59689" h="715010">
                  <a:moveTo>
                    <a:pt x="35813" y="705611"/>
                  </a:moveTo>
                  <a:lnTo>
                    <a:pt x="36067" y="706627"/>
                  </a:lnTo>
                  <a:lnTo>
                    <a:pt x="36575" y="707135"/>
                  </a:lnTo>
                  <a:lnTo>
                    <a:pt x="35813" y="705611"/>
                  </a:lnTo>
                  <a:close/>
                </a:path>
                <a:path w="59689" h="715010">
                  <a:moveTo>
                    <a:pt x="35813" y="704849"/>
                  </a:moveTo>
                  <a:lnTo>
                    <a:pt x="36575" y="707135"/>
                  </a:lnTo>
                  <a:lnTo>
                    <a:pt x="36575" y="705611"/>
                  </a:lnTo>
                  <a:lnTo>
                    <a:pt x="35813" y="704849"/>
                  </a:lnTo>
                  <a:close/>
                </a:path>
                <a:path w="59689" h="715010">
                  <a:moveTo>
                    <a:pt x="37084" y="704595"/>
                  </a:moveTo>
                  <a:lnTo>
                    <a:pt x="38100" y="707135"/>
                  </a:lnTo>
                  <a:lnTo>
                    <a:pt x="39624" y="707135"/>
                  </a:lnTo>
                  <a:lnTo>
                    <a:pt x="37084" y="704595"/>
                  </a:lnTo>
                  <a:close/>
                </a:path>
                <a:path w="59689" h="715010">
                  <a:moveTo>
                    <a:pt x="55625" y="697991"/>
                  </a:moveTo>
                  <a:lnTo>
                    <a:pt x="56387" y="699515"/>
                  </a:lnTo>
                  <a:lnTo>
                    <a:pt x="56387" y="707135"/>
                  </a:lnTo>
                  <a:lnTo>
                    <a:pt x="57912" y="705611"/>
                  </a:lnTo>
                  <a:lnTo>
                    <a:pt x="57912" y="699515"/>
                  </a:lnTo>
                  <a:lnTo>
                    <a:pt x="55625" y="697991"/>
                  </a:lnTo>
                  <a:close/>
                </a:path>
                <a:path w="59689" h="715010">
                  <a:moveTo>
                    <a:pt x="35051" y="704087"/>
                  </a:moveTo>
                  <a:lnTo>
                    <a:pt x="35051" y="705611"/>
                  </a:lnTo>
                  <a:lnTo>
                    <a:pt x="36067" y="706627"/>
                  </a:lnTo>
                  <a:lnTo>
                    <a:pt x="35813" y="705611"/>
                  </a:lnTo>
                  <a:lnTo>
                    <a:pt x="35051" y="704087"/>
                  </a:lnTo>
                  <a:close/>
                </a:path>
                <a:path w="59689" h="715010">
                  <a:moveTo>
                    <a:pt x="35560" y="704595"/>
                  </a:moveTo>
                  <a:lnTo>
                    <a:pt x="35813" y="705611"/>
                  </a:lnTo>
                  <a:lnTo>
                    <a:pt x="36322" y="706627"/>
                  </a:lnTo>
                  <a:lnTo>
                    <a:pt x="36067" y="705611"/>
                  </a:lnTo>
                  <a:lnTo>
                    <a:pt x="35813" y="704849"/>
                  </a:lnTo>
                  <a:lnTo>
                    <a:pt x="35560" y="704595"/>
                  </a:lnTo>
                  <a:close/>
                </a:path>
                <a:path w="59689" h="715010">
                  <a:moveTo>
                    <a:pt x="35051" y="704087"/>
                  </a:moveTo>
                  <a:lnTo>
                    <a:pt x="35813" y="705611"/>
                  </a:lnTo>
                  <a:lnTo>
                    <a:pt x="35623" y="704849"/>
                  </a:lnTo>
                  <a:lnTo>
                    <a:pt x="35560" y="704595"/>
                  </a:lnTo>
                  <a:lnTo>
                    <a:pt x="35051" y="704087"/>
                  </a:lnTo>
                  <a:close/>
                </a:path>
                <a:path w="59689" h="715010">
                  <a:moveTo>
                    <a:pt x="35432" y="703325"/>
                  </a:moveTo>
                  <a:lnTo>
                    <a:pt x="35390" y="703579"/>
                  </a:lnTo>
                  <a:lnTo>
                    <a:pt x="35729" y="704595"/>
                  </a:lnTo>
                  <a:lnTo>
                    <a:pt x="35813" y="704849"/>
                  </a:lnTo>
                  <a:lnTo>
                    <a:pt x="36575" y="705611"/>
                  </a:lnTo>
                  <a:lnTo>
                    <a:pt x="35432" y="703325"/>
                  </a:lnTo>
                  <a:close/>
                </a:path>
                <a:path w="59689" h="715010">
                  <a:moveTo>
                    <a:pt x="35051" y="702563"/>
                  </a:moveTo>
                  <a:lnTo>
                    <a:pt x="36575" y="705611"/>
                  </a:lnTo>
                  <a:lnTo>
                    <a:pt x="36474" y="704595"/>
                  </a:lnTo>
                  <a:lnTo>
                    <a:pt x="36067" y="703579"/>
                  </a:lnTo>
                  <a:lnTo>
                    <a:pt x="35051" y="702563"/>
                  </a:lnTo>
                  <a:close/>
                </a:path>
                <a:path w="59689" h="715010">
                  <a:moveTo>
                    <a:pt x="59436" y="676655"/>
                  </a:moveTo>
                  <a:lnTo>
                    <a:pt x="50291" y="676655"/>
                  </a:lnTo>
                  <a:lnTo>
                    <a:pt x="54466" y="694745"/>
                  </a:lnTo>
                  <a:lnTo>
                    <a:pt x="54863" y="694943"/>
                  </a:lnTo>
                  <a:lnTo>
                    <a:pt x="54863" y="696467"/>
                  </a:lnTo>
                  <a:lnTo>
                    <a:pt x="55625" y="697991"/>
                  </a:lnTo>
                  <a:lnTo>
                    <a:pt x="57912" y="699515"/>
                  </a:lnTo>
                  <a:lnTo>
                    <a:pt x="57912" y="705611"/>
                  </a:lnTo>
                  <a:lnTo>
                    <a:pt x="59436" y="704087"/>
                  </a:lnTo>
                  <a:lnTo>
                    <a:pt x="59436" y="676655"/>
                  </a:lnTo>
                  <a:close/>
                </a:path>
                <a:path w="59689" h="715010">
                  <a:moveTo>
                    <a:pt x="35560" y="704087"/>
                  </a:moveTo>
                  <a:lnTo>
                    <a:pt x="35560" y="704595"/>
                  </a:lnTo>
                  <a:lnTo>
                    <a:pt x="35813" y="704849"/>
                  </a:lnTo>
                  <a:lnTo>
                    <a:pt x="35560" y="704087"/>
                  </a:lnTo>
                  <a:close/>
                </a:path>
                <a:path w="59689" h="715010">
                  <a:moveTo>
                    <a:pt x="35051" y="702563"/>
                  </a:moveTo>
                  <a:lnTo>
                    <a:pt x="35051" y="704087"/>
                  </a:lnTo>
                  <a:lnTo>
                    <a:pt x="35560" y="704595"/>
                  </a:lnTo>
                  <a:lnTo>
                    <a:pt x="35051" y="702563"/>
                  </a:lnTo>
                  <a:close/>
                </a:path>
                <a:path w="59689" h="715010">
                  <a:moveTo>
                    <a:pt x="36067" y="703579"/>
                  </a:moveTo>
                  <a:lnTo>
                    <a:pt x="36474" y="704595"/>
                  </a:lnTo>
                  <a:lnTo>
                    <a:pt x="36575" y="704087"/>
                  </a:lnTo>
                  <a:lnTo>
                    <a:pt x="36067" y="703579"/>
                  </a:lnTo>
                  <a:close/>
                </a:path>
                <a:path w="59689" h="715010">
                  <a:moveTo>
                    <a:pt x="36677" y="703579"/>
                  </a:moveTo>
                  <a:lnTo>
                    <a:pt x="36575" y="704087"/>
                  </a:lnTo>
                  <a:lnTo>
                    <a:pt x="37084" y="704595"/>
                  </a:lnTo>
                  <a:lnTo>
                    <a:pt x="36677" y="703579"/>
                  </a:lnTo>
                  <a:close/>
                </a:path>
                <a:path w="59689" h="715010">
                  <a:moveTo>
                    <a:pt x="35813" y="701420"/>
                  </a:moveTo>
                  <a:lnTo>
                    <a:pt x="35432" y="701992"/>
                  </a:lnTo>
                  <a:lnTo>
                    <a:pt x="35966" y="703325"/>
                  </a:lnTo>
                  <a:lnTo>
                    <a:pt x="36067" y="703579"/>
                  </a:lnTo>
                  <a:lnTo>
                    <a:pt x="36575" y="704087"/>
                  </a:lnTo>
                  <a:lnTo>
                    <a:pt x="36575" y="703325"/>
                  </a:lnTo>
                  <a:lnTo>
                    <a:pt x="35813" y="701420"/>
                  </a:lnTo>
                  <a:close/>
                </a:path>
                <a:path w="59689" h="715010">
                  <a:moveTo>
                    <a:pt x="35432" y="701992"/>
                  </a:moveTo>
                  <a:lnTo>
                    <a:pt x="35051" y="702563"/>
                  </a:lnTo>
                  <a:lnTo>
                    <a:pt x="36067" y="703579"/>
                  </a:lnTo>
                  <a:lnTo>
                    <a:pt x="35432" y="701992"/>
                  </a:lnTo>
                  <a:close/>
                </a:path>
                <a:path w="59689" h="715010">
                  <a:moveTo>
                    <a:pt x="36575" y="700277"/>
                  </a:moveTo>
                  <a:lnTo>
                    <a:pt x="35813" y="701420"/>
                  </a:lnTo>
                  <a:lnTo>
                    <a:pt x="36575" y="703325"/>
                  </a:lnTo>
                  <a:lnTo>
                    <a:pt x="36575" y="700277"/>
                  </a:lnTo>
                  <a:close/>
                </a:path>
                <a:path w="59689" h="715010">
                  <a:moveTo>
                    <a:pt x="35119" y="701209"/>
                  </a:moveTo>
                  <a:lnTo>
                    <a:pt x="35051" y="702563"/>
                  </a:lnTo>
                  <a:lnTo>
                    <a:pt x="35433" y="701992"/>
                  </a:lnTo>
                  <a:lnTo>
                    <a:pt x="35204" y="701420"/>
                  </a:lnTo>
                  <a:lnTo>
                    <a:pt x="35119" y="701209"/>
                  </a:lnTo>
                  <a:close/>
                </a:path>
                <a:path w="59689" h="715010">
                  <a:moveTo>
                    <a:pt x="35051" y="699515"/>
                  </a:moveTo>
                  <a:lnTo>
                    <a:pt x="35119" y="701209"/>
                  </a:lnTo>
                  <a:lnTo>
                    <a:pt x="35432" y="701992"/>
                  </a:lnTo>
                  <a:lnTo>
                    <a:pt x="35623" y="701420"/>
                  </a:lnTo>
                  <a:lnTo>
                    <a:pt x="35661" y="701039"/>
                  </a:lnTo>
                  <a:lnTo>
                    <a:pt x="35051" y="699515"/>
                  </a:lnTo>
                  <a:close/>
                </a:path>
                <a:path w="59689" h="715010">
                  <a:moveTo>
                    <a:pt x="35729" y="701209"/>
                  </a:moveTo>
                  <a:lnTo>
                    <a:pt x="35337" y="701992"/>
                  </a:lnTo>
                  <a:lnTo>
                    <a:pt x="35813" y="701420"/>
                  </a:lnTo>
                  <a:lnTo>
                    <a:pt x="35729" y="701209"/>
                  </a:lnTo>
                  <a:close/>
                </a:path>
                <a:path w="59689" h="715010">
                  <a:moveTo>
                    <a:pt x="36575" y="699515"/>
                  </a:moveTo>
                  <a:lnTo>
                    <a:pt x="35813" y="701039"/>
                  </a:lnTo>
                  <a:lnTo>
                    <a:pt x="35813" y="701420"/>
                  </a:lnTo>
                  <a:lnTo>
                    <a:pt x="36575" y="700277"/>
                  </a:lnTo>
                  <a:lnTo>
                    <a:pt x="36575" y="699515"/>
                  </a:lnTo>
                  <a:close/>
                </a:path>
                <a:path w="59689" h="715010">
                  <a:moveTo>
                    <a:pt x="40132" y="691895"/>
                  </a:moveTo>
                  <a:lnTo>
                    <a:pt x="39624" y="691895"/>
                  </a:lnTo>
                  <a:lnTo>
                    <a:pt x="35051" y="696467"/>
                  </a:lnTo>
                  <a:lnTo>
                    <a:pt x="35051" y="699515"/>
                  </a:lnTo>
                  <a:lnTo>
                    <a:pt x="35661" y="701039"/>
                  </a:lnTo>
                  <a:lnTo>
                    <a:pt x="35729" y="701209"/>
                  </a:lnTo>
                  <a:lnTo>
                    <a:pt x="36575" y="699515"/>
                  </a:lnTo>
                  <a:lnTo>
                    <a:pt x="36575" y="697991"/>
                  </a:lnTo>
                  <a:lnTo>
                    <a:pt x="37337" y="697229"/>
                  </a:lnTo>
                  <a:lnTo>
                    <a:pt x="38100" y="694943"/>
                  </a:lnTo>
                  <a:lnTo>
                    <a:pt x="39624" y="693419"/>
                  </a:lnTo>
                  <a:lnTo>
                    <a:pt x="40132" y="691895"/>
                  </a:lnTo>
                  <a:close/>
                </a:path>
                <a:path w="59689" h="715010">
                  <a:moveTo>
                    <a:pt x="15239" y="0"/>
                  </a:moveTo>
                  <a:lnTo>
                    <a:pt x="4571" y="0"/>
                  </a:lnTo>
                  <a:lnTo>
                    <a:pt x="0" y="4571"/>
                  </a:lnTo>
                  <a:lnTo>
                    <a:pt x="0" y="42671"/>
                  </a:lnTo>
                  <a:lnTo>
                    <a:pt x="3048" y="172211"/>
                  </a:lnTo>
                  <a:lnTo>
                    <a:pt x="16763" y="512063"/>
                  </a:lnTo>
                  <a:lnTo>
                    <a:pt x="16763" y="550163"/>
                  </a:lnTo>
                  <a:lnTo>
                    <a:pt x="24134" y="640090"/>
                  </a:lnTo>
                  <a:lnTo>
                    <a:pt x="24258" y="641593"/>
                  </a:lnTo>
                  <a:lnTo>
                    <a:pt x="24383" y="643127"/>
                  </a:lnTo>
                  <a:lnTo>
                    <a:pt x="28955" y="670559"/>
                  </a:lnTo>
                  <a:lnTo>
                    <a:pt x="30479" y="681227"/>
                  </a:lnTo>
                  <a:lnTo>
                    <a:pt x="35051" y="701039"/>
                  </a:lnTo>
                  <a:lnTo>
                    <a:pt x="35051" y="696467"/>
                  </a:lnTo>
                  <a:lnTo>
                    <a:pt x="39624" y="691895"/>
                  </a:lnTo>
                  <a:lnTo>
                    <a:pt x="40132" y="691895"/>
                  </a:lnTo>
                  <a:lnTo>
                    <a:pt x="41148" y="688847"/>
                  </a:lnTo>
                  <a:lnTo>
                    <a:pt x="41148" y="687323"/>
                  </a:lnTo>
                  <a:lnTo>
                    <a:pt x="44195" y="675131"/>
                  </a:lnTo>
                  <a:lnTo>
                    <a:pt x="45719" y="672083"/>
                  </a:lnTo>
                  <a:lnTo>
                    <a:pt x="48767" y="670559"/>
                  </a:lnTo>
                  <a:lnTo>
                    <a:pt x="49203" y="670559"/>
                  </a:lnTo>
                  <a:lnTo>
                    <a:pt x="48767" y="667511"/>
                  </a:lnTo>
                  <a:lnTo>
                    <a:pt x="47243" y="658367"/>
                  </a:lnTo>
                  <a:lnTo>
                    <a:pt x="38224" y="550163"/>
                  </a:lnTo>
                  <a:lnTo>
                    <a:pt x="38100" y="512063"/>
                  </a:lnTo>
                  <a:lnTo>
                    <a:pt x="22859" y="172211"/>
                  </a:lnTo>
                  <a:lnTo>
                    <a:pt x="19847" y="42671"/>
                  </a:lnTo>
                  <a:lnTo>
                    <a:pt x="19812" y="4571"/>
                  </a:lnTo>
                  <a:lnTo>
                    <a:pt x="15239" y="0"/>
                  </a:lnTo>
                  <a:close/>
                </a:path>
                <a:path w="59689" h="715010">
                  <a:moveTo>
                    <a:pt x="51815" y="693419"/>
                  </a:moveTo>
                  <a:lnTo>
                    <a:pt x="54863" y="701039"/>
                  </a:lnTo>
                  <a:lnTo>
                    <a:pt x="54863" y="697483"/>
                  </a:lnTo>
                  <a:lnTo>
                    <a:pt x="53339" y="696467"/>
                  </a:lnTo>
                  <a:lnTo>
                    <a:pt x="53339" y="694943"/>
                  </a:lnTo>
                  <a:lnTo>
                    <a:pt x="51815" y="693419"/>
                  </a:lnTo>
                  <a:close/>
                </a:path>
                <a:path w="59689" h="715010">
                  <a:moveTo>
                    <a:pt x="54863" y="697483"/>
                  </a:moveTo>
                  <a:lnTo>
                    <a:pt x="54863" y="701039"/>
                  </a:lnTo>
                  <a:lnTo>
                    <a:pt x="56387" y="701039"/>
                  </a:lnTo>
                  <a:lnTo>
                    <a:pt x="56387" y="699515"/>
                  </a:lnTo>
                  <a:lnTo>
                    <a:pt x="55625" y="697991"/>
                  </a:lnTo>
                  <a:lnTo>
                    <a:pt x="54863" y="697483"/>
                  </a:lnTo>
                  <a:close/>
                </a:path>
                <a:path w="59689" h="715010">
                  <a:moveTo>
                    <a:pt x="38862" y="695705"/>
                  </a:moveTo>
                  <a:lnTo>
                    <a:pt x="37337" y="697229"/>
                  </a:lnTo>
                  <a:lnTo>
                    <a:pt x="36575" y="699515"/>
                  </a:lnTo>
                  <a:lnTo>
                    <a:pt x="36575" y="700277"/>
                  </a:lnTo>
                  <a:lnTo>
                    <a:pt x="38100" y="697991"/>
                  </a:lnTo>
                  <a:lnTo>
                    <a:pt x="38862" y="695705"/>
                  </a:lnTo>
                  <a:close/>
                </a:path>
                <a:path w="59689" h="715010">
                  <a:moveTo>
                    <a:pt x="37337" y="697229"/>
                  </a:moveTo>
                  <a:lnTo>
                    <a:pt x="36575" y="697991"/>
                  </a:lnTo>
                  <a:lnTo>
                    <a:pt x="36575" y="699515"/>
                  </a:lnTo>
                  <a:lnTo>
                    <a:pt x="37253" y="697483"/>
                  </a:lnTo>
                  <a:lnTo>
                    <a:pt x="37337" y="697229"/>
                  </a:lnTo>
                  <a:close/>
                </a:path>
                <a:path w="59689" h="715010">
                  <a:moveTo>
                    <a:pt x="54863" y="696467"/>
                  </a:moveTo>
                  <a:lnTo>
                    <a:pt x="54863" y="697483"/>
                  </a:lnTo>
                  <a:lnTo>
                    <a:pt x="55625" y="697991"/>
                  </a:lnTo>
                  <a:lnTo>
                    <a:pt x="54863" y="696467"/>
                  </a:lnTo>
                  <a:close/>
                </a:path>
                <a:path w="59689" h="715010">
                  <a:moveTo>
                    <a:pt x="53339" y="694943"/>
                  </a:moveTo>
                  <a:lnTo>
                    <a:pt x="53339" y="696467"/>
                  </a:lnTo>
                  <a:lnTo>
                    <a:pt x="54863" y="697483"/>
                  </a:lnTo>
                  <a:lnTo>
                    <a:pt x="54863" y="696467"/>
                  </a:lnTo>
                  <a:lnTo>
                    <a:pt x="53339" y="694943"/>
                  </a:lnTo>
                  <a:close/>
                </a:path>
                <a:path w="59689" h="715010">
                  <a:moveTo>
                    <a:pt x="39624" y="693419"/>
                  </a:moveTo>
                  <a:lnTo>
                    <a:pt x="38100" y="694943"/>
                  </a:lnTo>
                  <a:lnTo>
                    <a:pt x="37337" y="697229"/>
                  </a:lnTo>
                  <a:lnTo>
                    <a:pt x="38862" y="695705"/>
                  </a:lnTo>
                  <a:lnTo>
                    <a:pt x="39624" y="693419"/>
                  </a:lnTo>
                  <a:close/>
                </a:path>
                <a:path w="59689" h="715010">
                  <a:moveTo>
                    <a:pt x="39624" y="694943"/>
                  </a:moveTo>
                  <a:lnTo>
                    <a:pt x="38862" y="695705"/>
                  </a:lnTo>
                  <a:lnTo>
                    <a:pt x="38353" y="697229"/>
                  </a:lnTo>
                  <a:lnTo>
                    <a:pt x="38862" y="696467"/>
                  </a:lnTo>
                  <a:lnTo>
                    <a:pt x="39624" y="694943"/>
                  </a:lnTo>
                  <a:close/>
                </a:path>
                <a:path w="59689" h="715010">
                  <a:moveTo>
                    <a:pt x="52831" y="693927"/>
                  </a:moveTo>
                  <a:lnTo>
                    <a:pt x="53240" y="694745"/>
                  </a:lnTo>
                  <a:lnTo>
                    <a:pt x="53339" y="694943"/>
                  </a:lnTo>
                  <a:lnTo>
                    <a:pt x="54863" y="696467"/>
                  </a:lnTo>
                  <a:lnTo>
                    <a:pt x="53339" y="694181"/>
                  </a:lnTo>
                  <a:lnTo>
                    <a:pt x="52831" y="693927"/>
                  </a:lnTo>
                  <a:close/>
                </a:path>
                <a:path w="59689" h="715010">
                  <a:moveTo>
                    <a:pt x="53339" y="694181"/>
                  </a:moveTo>
                  <a:lnTo>
                    <a:pt x="54863" y="696467"/>
                  </a:lnTo>
                  <a:lnTo>
                    <a:pt x="54512" y="694943"/>
                  </a:lnTo>
                  <a:lnTo>
                    <a:pt x="54466" y="694745"/>
                  </a:lnTo>
                  <a:lnTo>
                    <a:pt x="53339" y="694181"/>
                  </a:lnTo>
                  <a:close/>
                </a:path>
                <a:path w="59689" h="715010">
                  <a:moveTo>
                    <a:pt x="54466" y="694745"/>
                  </a:moveTo>
                  <a:lnTo>
                    <a:pt x="54863" y="696467"/>
                  </a:lnTo>
                  <a:lnTo>
                    <a:pt x="54863" y="694943"/>
                  </a:lnTo>
                  <a:lnTo>
                    <a:pt x="54466" y="694745"/>
                  </a:lnTo>
                  <a:close/>
                </a:path>
                <a:path w="59689" h="715010">
                  <a:moveTo>
                    <a:pt x="48767" y="691895"/>
                  </a:moveTo>
                  <a:lnTo>
                    <a:pt x="41148" y="691895"/>
                  </a:lnTo>
                  <a:lnTo>
                    <a:pt x="39624" y="693419"/>
                  </a:lnTo>
                  <a:lnTo>
                    <a:pt x="38862" y="695705"/>
                  </a:lnTo>
                  <a:lnTo>
                    <a:pt x="41148" y="693419"/>
                  </a:lnTo>
                  <a:lnTo>
                    <a:pt x="45719" y="693419"/>
                  </a:lnTo>
                  <a:lnTo>
                    <a:pt x="48767" y="691895"/>
                  </a:lnTo>
                  <a:close/>
                </a:path>
                <a:path w="59689" h="715010">
                  <a:moveTo>
                    <a:pt x="51815" y="693419"/>
                  </a:moveTo>
                  <a:lnTo>
                    <a:pt x="51815" y="694943"/>
                  </a:lnTo>
                  <a:lnTo>
                    <a:pt x="52425" y="694943"/>
                  </a:lnTo>
                  <a:lnTo>
                    <a:pt x="51815" y="693419"/>
                  </a:lnTo>
                  <a:close/>
                </a:path>
                <a:path w="59689" h="715010">
                  <a:moveTo>
                    <a:pt x="51815" y="693419"/>
                  </a:moveTo>
                  <a:lnTo>
                    <a:pt x="53141" y="694745"/>
                  </a:lnTo>
                  <a:lnTo>
                    <a:pt x="52958" y="694181"/>
                  </a:lnTo>
                  <a:lnTo>
                    <a:pt x="52831" y="693927"/>
                  </a:lnTo>
                  <a:lnTo>
                    <a:pt x="51815" y="693419"/>
                  </a:lnTo>
                  <a:close/>
                </a:path>
                <a:path w="59689" h="715010">
                  <a:moveTo>
                    <a:pt x="53808" y="691895"/>
                  </a:moveTo>
                  <a:lnTo>
                    <a:pt x="51815" y="691895"/>
                  </a:lnTo>
                  <a:lnTo>
                    <a:pt x="53339" y="694181"/>
                  </a:lnTo>
                  <a:lnTo>
                    <a:pt x="54466" y="694745"/>
                  </a:lnTo>
                  <a:lnTo>
                    <a:pt x="53808" y="691895"/>
                  </a:lnTo>
                  <a:close/>
                </a:path>
                <a:path w="59689" h="715010">
                  <a:moveTo>
                    <a:pt x="51815" y="691895"/>
                  </a:moveTo>
                  <a:lnTo>
                    <a:pt x="52831" y="693927"/>
                  </a:lnTo>
                  <a:lnTo>
                    <a:pt x="53339" y="694181"/>
                  </a:lnTo>
                  <a:lnTo>
                    <a:pt x="51815" y="691895"/>
                  </a:lnTo>
                  <a:close/>
                </a:path>
                <a:path w="59689" h="715010">
                  <a:moveTo>
                    <a:pt x="51815" y="691895"/>
                  </a:moveTo>
                  <a:lnTo>
                    <a:pt x="48767" y="691895"/>
                  </a:lnTo>
                  <a:lnTo>
                    <a:pt x="52831" y="693927"/>
                  </a:lnTo>
                  <a:lnTo>
                    <a:pt x="51815" y="691895"/>
                  </a:lnTo>
                  <a:close/>
                </a:path>
                <a:path w="59689" h="715010">
                  <a:moveTo>
                    <a:pt x="49203" y="670559"/>
                  </a:moveTo>
                  <a:lnTo>
                    <a:pt x="48767" y="670559"/>
                  </a:lnTo>
                  <a:lnTo>
                    <a:pt x="45719" y="672083"/>
                  </a:lnTo>
                  <a:lnTo>
                    <a:pt x="44195" y="675131"/>
                  </a:lnTo>
                  <a:lnTo>
                    <a:pt x="41148" y="687323"/>
                  </a:lnTo>
                  <a:lnTo>
                    <a:pt x="41148" y="688847"/>
                  </a:lnTo>
                  <a:lnTo>
                    <a:pt x="39624" y="693419"/>
                  </a:lnTo>
                  <a:lnTo>
                    <a:pt x="41148" y="691895"/>
                  </a:lnTo>
                  <a:lnTo>
                    <a:pt x="53808" y="691895"/>
                  </a:lnTo>
                  <a:lnTo>
                    <a:pt x="50643" y="678179"/>
                  </a:lnTo>
                  <a:lnTo>
                    <a:pt x="50291" y="678179"/>
                  </a:lnTo>
                  <a:lnTo>
                    <a:pt x="49203" y="670559"/>
                  </a:lnTo>
                  <a:close/>
                </a:path>
                <a:path w="59689" h="715010">
                  <a:moveTo>
                    <a:pt x="54863" y="670559"/>
                  </a:moveTo>
                  <a:lnTo>
                    <a:pt x="49203" y="670559"/>
                  </a:lnTo>
                  <a:lnTo>
                    <a:pt x="50291" y="678179"/>
                  </a:lnTo>
                  <a:lnTo>
                    <a:pt x="50291" y="676655"/>
                  </a:lnTo>
                  <a:lnTo>
                    <a:pt x="59436" y="676655"/>
                  </a:lnTo>
                  <a:lnTo>
                    <a:pt x="57912" y="673607"/>
                  </a:lnTo>
                  <a:lnTo>
                    <a:pt x="54863" y="670559"/>
                  </a:lnTo>
                  <a:close/>
                </a:path>
                <a:path w="59689" h="715010">
                  <a:moveTo>
                    <a:pt x="50291" y="676655"/>
                  </a:moveTo>
                  <a:lnTo>
                    <a:pt x="50291" y="678179"/>
                  </a:lnTo>
                  <a:lnTo>
                    <a:pt x="50643" y="678179"/>
                  </a:lnTo>
                  <a:lnTo>
                    <a:pt x="50291" y="676655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35452" y="3193542"/>
              <a:ext cx="2532888" cy="281711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79748" y="5449824"/>
              <a:ext cx="36830" cy="551815"/>
            </a:xfrm>
            <a:custGeom>
              <a:avLst/>
              <a:gdLst/>
              <a:ahLst/>
              <a:cxnLst/>
              <a:rect l="l" t="t" r="r" b="b"/>
              <a:pathLst>
                <a:path w="36829" h="551814">
                  <a:moveTo>
                    <a:pt x="36575" y="528827"/>
                  </a:moveTo>
                  <a:lnTo>
                    <a:pt x="16763" y="528827"/>
                  </a:lnTo>
                  <a:lnTo>
                    <a:pt x="16763" y="537971"/>
                  </a:lnTo>
                  <a:lnTo>
                    <a:pt x="21336" y="547115"/>
                  </a:lnTo>
                  <a:lnTo>
                    <a:pt x="21336" y="550163"/>
                  </a:lnTo>
                  <a:lnTo>
                    <a:pt x="24384" y="551688"/>
                  </a:lnTo>
                  <a:lnTo>
                    <a:pt x="32003" y="551688"/>
                  </a:lnTo>
                  <a:lnTo>
                    <a:pt x="33527" y="550163"/>
                  </a:lnTo>
                  <a:lnTo>
                    <a:pt x="35051" y="547115"/>
                  </a:lnTo>
                  <a:lnTo>
                    <a:pt x="36575" y="539495"/>
                  </a:lnTo>
                  <a:lnTo>
                    <a:pt x="36575" y="528827"/>
                  </a:lnTo>
                  <a:close/>
                </a:path>
                <a:path w="36829" h="551814">
                  <a:moveTo>
                    <a:pt x="33250" y="513588"/>
                  </a:moveTo>
                  <a:lnTo>
                    <a:pt x="12191" y="513588"/>
                  </a:lnTo>
                  <a:lnTo>
                    <a:pt x="16763" y="530351"/>
                  </a:lnTo>
                  <a:lnTo>
                    <a:pt x="16763" y="528827"/>
                  </a:lnTo>
                  <a:lnTo>
                    <a:pt x="36575" y="528827"/>
                  </a:lnTo>
                  <a:lnTo>
                    <a:pt x="36575" y="525780"/>
                  </a:lnTo>
                  <a:lnTo>
                    <a:pt x="33250" y="513588"/>
                  </a:lnTo>
                  <a:close/>
                </a:path>
                <a:path w="36829" h="551814">
                  <a:moveTo>
                    <a:pt x="32003" y="509015"/>
                  </a:moveTo>
                  <a:lnTo>
                    <a:pt x="10667" y="509015"/>
                  </a:lnTo>
                  <a:lnTo>
                    <a:pt x="12191" y="515112"/>
                  </a:lnTo>
                  <a:lnTo>
                    <a:pt x="12191" y="513588"/>
                  </a:lnTo>
                  <a:lnTo>
                    <a:pt x="33250" y="513588"/>
                  </a:lnTo>
                  <a:lnTo>
                    <a:pt x="32003" y="509015"/>
                  </a:lnTo>
                  <a:close/>
                </a:path>
                <a:path w="36829" h="551814">
                  <a:moveTo>
                    <a:pt x="16763" y="0"/>
                  </a:moveTo>
                  <a:lnTo>
                    <a:pt x="4572" y="0"/>
                  </a:lnTo>
                  <a:lnTo>
                    <a:pt x="0" y="4571"/>
                  </a:lnTo>
                  <a:lnTo>
                    <a:pt x="0" y="470915"/>
                  </a:lnTo>
                  <a:lnTo>
                    <a:pt x="1524" y="475488"/>
                  </a:lnTo>
                  <a:lnTo>
                    <a:pt x="1524" y="481583"/>
                  </a:lnTo>
                  <a:lnTo>
                    <a:pt x="3048" y="484631"/>
                  </a:lnTo>
                  <a:lnTo>
                    <a:pt x="3048" y="486156"/>
                  </a:lnTo>
                  <a:lnTo>
                    <a:pt x="9143" y="504444"/>
                  </a:lnTo>
                  <a:lnTo>
                    <a:pt x="10667" y="510539"/>
                  </a:lnTo>
                  <a:lnTo>
                    <a:pt x="10667" y="509015"/>
                  </a:lnTo>
                  <a:lnTo>
                    <a:pt x="32003" y="509015"/>
                  </a:lnTo>
                  <a:lnTo>
                    <a:pt x="30479" y="502919"/>
                  </a:lnTo>
                  <a:lnTo>
                    <a:pt x="27431" y="496824"/>
                  </a:lnTo>
                  <a:lnTo>
                    <a:pt x="24891" y="489203"/>
                  </a:lnTo>
                  <a:lnTo>
                    <a:pt x="24384" y="489203"/>
                  </a:lnTo>
                  <a:lnTo>
                    <a:pt x="24384" y="484631"/>
                  </a:lnTo>
                  <a:lnTo>
                    <a:pt x="23368" y="481583"/>
                  </a:lnTo>
                  <a:lnTo>
                    <a:pt x="22860" y="481583"/>
                  </a:lnTo>
                  <a:lnTo>
                    <a:pt x="21336" y="477012"/>
                  </a:lnTo>
                  <a:lnTo>
                    <a:pt x="22860" y="477012"/>
                  </a:lnTo>
                  <a:lnTo>
                    <a:pt x="21336" y="472439"/>
                  </a:lnTo>
                  <a:lnTo>
                    <a:pt x="21336" y="4571"/>
                  </a:lnTo>
                  <a:lnTo>
                    <a:pt x="16763" y="0"/>
                  </a:lnTo>
                  <a:close/>
                </a:path>
                <a:path w="36829" h="551814">
                  <a:moveTo>
                    <a:pt x="24384" y="487680"/>
                  </a:moveTo>
                  <a:lnTo>
                    <a:pt x="24384" y="489203"/>
                  </a:lnTo>
                  <a:lnTo>
                    <a:pt x="24891" y="489203"/>
                  </a:lnTo>
                  <a:lnTo>
                    <a:pt x="24384" y="487680"/>
                  </a:lnTo>
                  <a:close/>
                </a:path>
                <a:path w="36829" h="551814">
                  <a:moveTo>
                    <a:pt x="22860" y="480059"/>
                  </a:moveTo>
                  <a:lnTo>
                    <a:pt x="22860" y="481583"/>
                  </a:lnTo>
                  <a:lnTo>
                    <a:pt x="23368" y="481583"/>
                  </a:lnTo>
                  <a:lnTo>
                    <a:pt x="22860" y="480059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2984" y="5847588"/>
              <a:ext cx="94487" cy="1813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92168" y="5490972"/>
              <a:ext cx="280670" cy="402590"/>
            </a:xfrm>
            <a:custGeom>
              <a:avLst/>
              <a:gdLst/>
              <a:ahLst/>
              <a:cxnLst/>
              <a:rect l="l" t="t" r="r" b="b"/>
              <a:pathLst>
                <a:path w="280670" h="402589">
                  <a:moveTo>
                    <a:pt x="30480" y="341375"/>
                  </a:moveTo>
                  <a:lnTo>
                    <a:pt x="28956" y="342900"/>
                  </a:lnTo>
                  <a:lnTo>
                    <a:pt x="9144" y="342900"/>
                  </a:lnTo>
                  <a:lnTo>
                    <a:pt x="7620" y="344423"/>
                  </a:lnTo>
                  <a:lnTo>
                    <a:pt x="7620" y="345947"/>
                  </a:lnTo>
                  <a:lnTo>
                    <a:pt x="6096" y="352044"/>
                  </a:lnTo>
                  <a:lnTo>
                    <a:pt x="3048" y="365759"/>
                  </a:lnTo>
                  <a:lnTo>
                    <a:pt x="0" y="385571"/>
                  </a:lnTo>
                  <a:lnTo>
                    <a:pt x="0" y="390144"/>
                  </a:lnTo>
                  <a:lnTo>
                    <a:pt x="3048" y="396239"/>
                  </a:lnTo>
                  <a:lnTo>
                    <a:pt x="3048" y="399288"/>
                  </a:lnTo>
                  <a:lnTo>
                    <a:pt x="9144" y="402335"/>
                  </a:lnTo>
                  <a:lnTo>
                    <a:pt x="12192" y="402335"/>
                  </a:lnTo>
                  <a:lnTo>
                    <a:pt x="15240" y="400811"/>
                  </a:lnTo>
                  <a:lnTo>
                    <a:pt x="16764" y="397763"/>
                  </a:lnTo>
                  <a:lnTo>
                    <a:pt x="18287" y="391667"/>
                  </a:lnTo>
                  <a:lnTo>
                    <a:pt x="19812" y="390144"/>
                  </a:lnTo>
                  <a:lnTo>
                    <a:pt x="24384" y="368807"/>
                  </a:lnTo>
                  <a:lnTo>
                    <a:pt x="25908" y="355091"/>
                  </a:lnTo>
                  <a:lnTo>
                    <a:pt x="26289" y="355091"/>
                  </a:lnTo>
                  <a:lnTo>
                    <a:pt x="27432" y="350519"/>
                  </a:lnTo>
                  <a:lnTo>
                    <a:pt x="27432" y="347471"/>
                  </a:lnTo>
                  <a:lnTo>
                    <a:pt x="28956" y="345947"/>
                  </a:lnTo>
                  <a:lnTo>
                    <a:pt x="28956" y="344423"/>
                  </a:lnTo>
                  <a:lnTo>
                    <a:pt x="30480" y="341375"/>
                  </a:lnTo>
                  <a:close/>
                </a:path>
                <a:path w="280670" h="402589">
                  <a:moveTo>
                    <a:pt x="26289" y="355091"/>
                  </a:moveTo>
                  <a:lnTo>
                    <a:pt x="25908" y="355091"/>
                  </a:lnTo>
                  <a:lnTo>
                    <a:pt x="25908" y="356615"/>
                  </a:lnTo>
                  <a:lnTo>
                    <a:pt x="26289" y="355091"/>
                  </a:lnTo>
                  <a:close/>
                </a:path>
                <a:path w="280670" h="402589">
                  <a:moveTo>
                    <a:pt x="25908" y="312419"/>
                  </a:moveTo>
                  <a:lnTo>
                    <a:pt x="21336" y="316991"/>
                  </a:lnTo>
                  <a:lnTo>
                    <a:pt x="19812" y="320039"/>
                  </a:lnTo>
                  <a:lnTo>
                    <a:pt x="16764" y="323088"/>
                  </a:lnTo>
                  <a:lnTo>
                    <a:pt x="15240" y="326135"/>
                  </a:lnTo>
                  <a:lnTo>
                    <a:pt x="15240" y="327659"/>
                  </a:lnTo>
                  <a:lnTo>
                    <a:pt x="12192" y="330707"/>
                  </a:lnTo>
                  <a:lnTo>
                    <a:pt x="10668" y="333755"/>
                  </a:lnTo>
                  <a:lnTo>
                    <a:pt x="10668" y="336803"/>
                  </a:lnTo>
                  <a:lnTo>
                    <a:pt x="9144" y="339851"/>
                  </a:lnTo>
                  <a:lnTo>
                    <a:pt x="9144" y="341375"/>
                  </a:lnTo>
                  <a:lnTo>
                    <a:pt x="7620" y="342900"/>
                  </a:lnTo>
                  <a:lnTo>
                    <a:pt x="28956" y="342900"/>
                  </a:lnTo>
                  <a:lnTo>
                    <a:pt x="30480" y="339851"/>
                  </a:lnTo>
                  <a:lnTo>
                    <a:pt x="31242" y="339851"/>
                  </a:lnTo>
                  <a:lnTo>
                    <a:pt x="32004" y="338327"/>
                  </a:lnTo>
                  <a:lnTo>
                    <a:pt x="33528" y="336803"/>
                  </a:lnTo>
                  <a:lnTo>
                    <a:pt x="32004" y="336803"/>
                  </a:lnTo>
                  <a:lnTo>
                    <a:pt x="35052" y="333755"/>
                  </a:lnTo>
                  <a:lnTo>
                    <a:pt x="36576" y="330707"/>
                  </a:lnTo>
                  <a:lnTo>
                    <a:pt x="38100" y="329183"/>
                  </a:lnTo>
                  <a:lnTo>
                    <a:pt x="39624" y="329183"/>
                  </a:lnTo>
                  <a:lnTo>
                    <a:pt x="41148" y="326135"/>
                  </a:lnTo>
                  <a:lnTo>
                    <a:pt x="50901" y="313944"/>
                  </a:lnTo>
                  <a:lnTo>
                    <a:pt x="25908" y="313944"/>
                  </a:lnTo>
                  <a:lnTo>
                    <a:pt x="25908" y="312419"/>
                  </a:lnTo>
                  <a:close/>
                </a:path>
                <a:path w="280670" h="402589">
                  <a:moveTo>
                    <a:pt x="31242" y="339851"/>
                  </a:moveTo>
                  <a:lnTo>
                    <a:pt x="30480" y="339851"/>
                  </a:lnTo>
                  <a:lnTo>
                    <a:pt x="30480" y="341375"/>
                  </a:lnTo>
                  <a:lnTo>
                    <a:pt x="31242" y="339851"/>
                  </a:lnTo>
                  <a:close/>
                </a:path>
                <a:path w="280670" h="402589">
                  <a:moveTo>
                    <a:pt x="39624" y="329183"/>
                  </a:moveTo>
                  <a:lnTo>
                    <a:pt x="38100" y="329183"/>
                  </a:lnTo>
                  <a:lnTo>
                    <a:pt x="36576" y="330707"/>
                  </a:lnTo>
                  <a:lnTo>
                    <a:pt x="39624" y="329183"/>
                  </a:lnTo>
                  <a:close/>
                </a:path>
                <a:path w="280670" h="402589">
                  <a:moveTo>
                    <a:pt x="48768" y="283463"/>
                  </a:moveTo>
                  <a:lnTo>
                    <a:pt x="25908" y="313944"/>
                  </a:lnTo>
                  <a:lnTo>
                    <a:pt x="50901" y="313944"/>
                  </a:lnTo>
                  <a:lnTo>
                    <a:pt x="65532" y="295655"/>
                  </a:lnTo>
                  <a:lnTo>
                    <a:pt x="72999" y="284988"/>
                  </a:lnTo>
                  <a:lnTo>
                    <a:pt x="48768" y="284988"/>
                  </a:lnTo>
                  <a:lnTo>
                    <a:pt x="48768" y="283463"/>
                  </a:lnTo>
                  <a:close/>
                </a:path>
                <a:path w="280670" h="402589">
                  <a:moveTo>
                    <a:pt x="91744" y="254507"/>
                  </a:moveTo>
                  <a:lnTo>
                    <a:pt x="68580" y="254507"/>
                  </a:lnTo>
                  <a:lnTo>
                    <a:pt x="57912" y="269747"/>
                  </a:lnTo>
                  <a:lnTo>
                    <a:pt x="59436" y="269747"/>
                  </a:lnTo>
                  <a:lnTo>
                    <a:pt x="48768" y="284988"/>
                  </a:lnTo>
                  <a:lnTo>
                    <a:pt x="72999" y="284988"/>
                  </a:lnTo>
                  <a:lnTo>
                    <a:pt x="76200" y="280415"/>
                  </a:lnTo>
                  <a:lnTo>
                    <a:pt x="85344" y="266700"/>
                  </a:lnTo>
                  <a:lnTo>
                    <a:pt x="85344" y="265175"/>
                  </a:lnTo>
                  <a:lnTo>
                    <a:pt x="91744" y="254507"/>
                  </a:lnTo>
                  <a:close/>
                </a:path>
                <a:path w="280670" h="402589">
                  <a:moveTo>
                    <a:pt x="224028" y="27431"/>
                  </a:moveTo>
                  <a:lnTo>
                    <a:pt x="222504" y="30479"/>
                  </a:lnTo>
                  <a:lnTo>
                    <a:pt x="220980" y="32003"/>
                  </a:lnTo>
                  <a:lnTo>
                    <a:pt x="181356" y="80771"/>
                  </a:lnTo>
                  <a:lnTo>
                    <a:pt x="181356" y="82295"/>
                  </a:lnTo>
                  <a:lnTo>
                    <a:pt x="89916" y="217931"/>
                  </a:lnTo>
                  <a:lnTo>
                    <a:pt x="67056" y="256031"/>
                  </a:lnTo>
                  <a:lnTo>
                    <a:pt x="68580" y="254507"/>
                  </a:lnTo>
                  <a:lnTo>
                    <a:pt x="91744" y="254507"/>
                  </a:lnTo>
                  <a:lnTo>
                    <a:pt x="94487" y="249935"/>
                  </a:lnTo>
                  <a:lnTo>
                    <a:pt x="106680" y="228600"/>
                  </a:lnTo>
                  <a:lnTo>
                    <a:pt x="107696" y="228600"/>
                  </a:lnTo>
                  <a:lnTo>
                    <a:pt x="198120" y="92963"/>
                  </a:lnTo>
                  <a:lnTo>
                    <a:pt x="199320" y="92963"/>
                  </a:lnTo>
                  <a:lnTo>
                    <a:pt x="236543" y="45719"/>
                  </a:lnTo>
                  <a:lnTo>
                    <a:pt x="236220" y="45719"/>
                  </a:lnTo>
                  <a:lnTo>
                    <a:pt x="239268" y="42671"/>
                  </a:lnTo>
                  <a:lnTo>
                    <a:pt x="248412" y="32003"/>
                  </a:lnTo>
                  <a:lnTo>
                    <a:pt x="246887" y="32003"/>
                  </a:lnTo>
                  <a:lnTo>
                    <a:pt x="251460" y="28955"/>
                  </a:lnTo>
                  <a:lnTo>
                    <a:pt x="224028" y="28955"/>
                  </a:lnTo>
                  <a:lnTo>
                    <a:pt x="224028" y="27431"/>
                  </a:lnTo>
                  <a:close/>
                </a:path>
                <a:path w="280670" h="402589">
                  <a:moveTo>
                    <a:pt x="107696" y="228600"/>
                  </a:moveTo>
                  <a:lnTo>
                    <a:pt x="106680" y="228600"/>
                  </a:lnTo>
                  <a:lnTo>
                    <a:pt x="106680" y="230123"/>
                  </a:lnTo>
                  <a:lnTo>
                    <a:pt x="107696" y="228600"/>
                  </a:lnTo>
                  <a:close/>
                </a:path>
                <a:path w="280670" h="402589">
                  <a:moveTo>
                    <a:pt x="199320" y="92963"/>
                  </a:moveTo>
                  <a:lnTo>
                    <a:pt x="198120" y="92963"/>
                  </a:lnTo>
                  <a:lnTo>
                    <a:pt x="198120" y="94487"/>
                  </a:lnTo>
                  <a:lnTo>
                    <a:pt x="199320" y="92963"/>
                  </a:lnTo>
                  <a:close/>
                </a:path>
                <a:path w="280670" h="402589">
                  <a:moveTo>
                    <a:pt x="237744" y="44195"/>
                  </a:moveTo>
                  <a:lnTo>
                    <a:pt x="236220" y="45719"/>
                  </a:lnTo>
                  <a:lnTo>
                    <a:pt x="236543" y="45719"/>
                  </a:lnTo>
                  <a:lnTo>
                    <a:pt x="237744" y="44195"/>
                  </a:lnTo>
                  <a:close/>
                </a:path>
                <a:path w="280670" h="402589">
                  <a:moveTo>
                    <a:pt x="275844" y="0"/>
                  </a:moveTo>
                  <a:lnTo>
                    <a:pt x="260604" y="0"/>
                  </a:lnTo>
                  <a:lnTo>
                    <a:pt x="259080" y="1523"/>
                  </a:lnTo>
                  <a:lnTo>
                    <a:pt x="256032" y="1523"/>
                  </a:lnTo>
                  <a:lnTo>
                    <a:pt x="254508" y="3047"/>
                  </a:lnTo>
                  <a:lnTo>
                    <a:pt x="251460" y="3047"/>
                  </a:lnTo>
                  <a:lnTo>
                    <a:pt x="251460" y="4571"/>
                  </a:lnTo>
                  <a:lnTo>
                    <a:pt x="249936" y="4571"/>
                  </a:lnTo>
                  <a:lnTo>
                    <a:pt x="248412" y="6095"/>
                  </a:lnTo>
                  <a:lnTo>
                    <a:pt x="246887" y="6095"/>
                  </a:lnTo>
                  <a:lnTo>
                    <a:pt x="245364" y="7619"/>
                  </a:lnTo>
                  <a:lnTo>
                    <a:pt x="242316" y="9143"/>
                  </a:lnTo>
                  <a:lnTo>
                    <a:pt x="242316" y="10667"/>
                  </a:lnTo>
                  <a:lnTo>
                    <a:pt x="237744" y="13715"/>
                  </a:lnTo>
                  <a:lnTo>
                    <a:pt x="236220" y="13715"/>
                  </a:lnTo>
                  <a:lnTo>
                    <a:pt x="233172" y="18287"/>
                  </a:lnTo>
                  <a:lnTo>
                    <a:pt x="224028" y="28955"/>
                  </a:lnTo>
                  <a:lnTo>
                    <a:pt x="251460" y="28955"/>
                  </a:lnTo>
                  <a:lnTo>
                    <a:pt x="254508" y="25907"/>
                  </a:lnTo>
                  <a:lnTo>
                    <a:pt x="257556" y="24383"/>
                  </a:lnTo>
                  <a:lnTo>
                    <a:pt x="259080" y="22859"/>
                  </a:lnTo>
                  <a:lnTo>
                    <a:pt x="260604" y="22859"/>
                  </a:lnTo>
                  <a:lnTo>
                    <a:pt x="260604" y="21335"/>
                  </a:lnTo>
                  <a:lnTo>
                    <a:pt x="262128" y="21335"/>
                  </a:lnTo>
                  <a:lnTo>
                    <a:pt x="265176" y="19811"/>
                  </a:lnTo>
                  <a:lnTo>
                    <a:pt x="275844" y="19811"/>
                  </a:lnTo>
                  <a:lnTo>
                    <a:pt x="280416" y="15239"/>
                  </a:lnTo>
                  <a:lnTo>
                    <a:pt x="280416" y="4571"/>
                  </a:lnTo>
                  <a:lnTo>
                    <a:pt x="275844" y="0"/>
                  </a:lnTo>
                  <a:close/>
                </a:path>
                <a:path w="280670" h="402589">
                  <a:moveTo>
                    <a:pt x="262128" y="21335"/>
                  </a:moveTo>
                  <a:lnTo>
                    <a:pt x="260604" y="21335"/>
                  </a:lnTo>
                  <a:lnTo>
                    <a:pt x="260604" y="22859"/>
                  </a:lnTo>
                  <a:lnTo>
                    <a:pt x="262128" y="21335"/>
                  </a:lnTo>
                  <a:close/>
                </a:path>
                <a:path w="280670" h="402589">
                  <a:moveTo>
                    <a:pt x="265176" y="19811"/>
                  </a:moveTo>
                  <a:lnTo>
                    <a:pt x="262128" y="21335"/>
                  </a:lnTo>
                  <a:lnTo>
                    <a:pt x="263652" y="21335"/>
                  </a:lnTo>
                  <a:lnTo>
                    <a:pt x="265176" y="19811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18888" y="5120640"/>
              <a:ext cx="54863" cy="2026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76700" y="2749296"/>
              <a:ext cx="294640" cy="410209"/>
            </a:xfrm>
            <a:custGeom>
              <a:avLst/>
              <a:gdLst/>
              <a:ahLst/>
              <a:cxnLst/>
              <a:rect l="l" t="t" r="r" b="b"/>
              <a:pathLst>
                <a:path w="294639" h="410210">
                  <a:moveTo>
                    <a:pt x="96012" y="286512"/>
                  </a:moveTo>
                  <a:lnTo>
                    <a:pt x="83820" y="304800"/>
                  </a:lnTo>
                  <a:lnTo>
                    <a:pt x="71627" y="321563"/>
                  </a:lnTo>
                  <a:lnTo>
                    <a:pt x="57912" y="338327"/>
                  </a:lnTo>
                  <a:lnTo>
                    <a:pt x="18287" y="377951"/>
                  </a:lnTo>
                  <a:lnTo>
                    <a:pt x="18287" y="379475"/>
                  </a:lnTo>
                  <a:lnTo>
                    <a:pt x="1524" y="396239"/>
                  </a:lnTo>
                  <a:lnTo>
                    <a:pt x="0" y="399288"/>
                  </a:lnTo>
                  <a:lnTo>
                    <a:pt x="0" y="403859"/>
                  </a:lnTo>
                  <a:lnTo>
                    <a:pt x="1524" y="406907"/>
                  </a:lnTo>
                  <a:lnTo>
                    <a:pt x="4572" y="409955"/>
                  </a:lnTo>
                  <a:lnTo>
                    <a:pt x="9144" y="409955"/>
                  </a:lnTo>
                  <a:lnTo>
                    <a:pt x="12191" y="406907"/>
                  </a:lnTo>
                  <a:lnTo>
                    <a:pt x="30479" y="393191"/>
                  </a:lnTo>
                  <a:lnTo>
                    <a:pt x="73151" y="350519"/>
                  </a:lnTo>
                  <a:lnTo>
                    <a:pt x="100584" y="316991"/>
                  </a:lnTo>
                  <a:lnTo>
                    <a:pt x="119887" y="288036"/>
                  </a:lnTo>
                  <a:lnTo>
                    <a:pt x="96012" y="288036"/>
                  </a:lnTo>
                  <a:lnTo>
                    <a:pt x="96012" y="286512"/>
                  </a:lnTo>
                  <a:close/>
                </a:path>
                <a:path w="294639" h="410210">
                  <a:moveTo>
                    <a:pt x="108203" y="268224"/>
                  </a:moveTo>
                  <a:lnTo>
                    <a:pt x="96012" y="288036"/>
                  </a:lnTo>
                  <a:lnTo>
                    <a:pt x="119887" y="288036"/>
                  </a:lnTo>
                  <a:lnTo>
                    <a:pt x="124967" y="280415"/>
                  </a:lnTo>
                  <a:lnTo>
                    <a:pt x="126491" y="278891"/>
                  </a:lnTo>
                  <a:lnTo>
                    <a:pt x="131063" y="269748"/>
                  </a:lnTo>
                  <a:lnTo>
                    <a:pt x="108203" y="269748"/>
                  </a:lnTo>
                  <a:lnTo>
                    <a:pt x="108203" y="268224"/>
                  </a:lnTo>
                  <a:close/>
                </a:path>
                <a:path w="294639" h="410210">
                  <a:moveTo>
                    <a:pt x="135636" y="208787"/>
                  </a:moveTo>
                  <a:lnTo>
                    <a:pt x="126491" y="230124"/>
                  </a:lnTo>
                  <a:lnTo>
                    <a:pt x="108203" y="269748"/>
                  </a:lnTo>
                  <a:lnTo>
                    <a:pt x="131063" y="269748"/>
                  </a:lnTo>
                  <a:lnTo>
                    <a:pt x="146303" y="239267"/>
                  </a:lnTo>
                  <a:lnTo>
                    <a:pt x="146303" y="237743"/>
                  </a:lnTo>
                  <a:lnTo>
                    <a:pt x="156101" y="210312"/>
                  </a:lnTo>
                  <a:lnTo>
                    <a:pt x="135636" y="210312"/>
                  </a:lnTo>
                  <a:lnTo>
                    <a:pt x="135636" y="208787"/>
                  </a:lnTo>
                  <a:close/>
                </a:path>
                <a:path w="294639" h="410210">
                  <a:moveTo>
                    <a:pt x="230124" y="36575"/>
                  </a:moveTo>
                  <a:lnTo>
                    <a:pt x="219455" y="48767"/>
                  </a:lnTo>
                  <a:lnTo>
                    <a:pt x="210312" y="60959"/>
                  </a:lnTo>
                  <a:lnTo>
                    <a:pt x="208787" y="62483"/>
                  </a:lnTo>
                  <a:lnTo>
                    <a:pt x="181355" y="102107"/>
                  </a:lnTo>
                  <a:lnTo>
                    <a:pt x="143255" y="188975"/>
                  </a:lnTo>
                  <a:lnTo>
                    <a:pt x="135636" y="210312"/>
                  </a:lnTo>
                  <a:lnTo>
                    <a:pt x="156101" y="210312"/>
                  </a:lnTo>
                  <a:lnTo>
                    <a:pt x="161544" y="195071"/>
                  </a:lnTo>
                  <a:lnTo>
                    <a:pt x="162145" y="195071"/>
                  </a:lnTo>
                  <a:lnTo>
                    <a:pt x="184403" y="138683"/>
                  </a:lnTo>
                  <a:lnTo>
                    <a:pt x="185206" y="138683"/>
                  </a:lnTo>
                  <a:lnTo>
                    <a:pt x="198841" y="112775"/>
                  </a:lnTo>
                  <a:lnTo>
                    <a:pt x="198120" y="112775"/>
                  </a:lnTo>
                  <a:lnTo>
                    <a:pt x="207263" y="99059"/>
                  </a:lnTo>
                  <a:lnTo>
                    <a:pt x="234696" y="62483"/>
                  </a:lnTo>
                  <a:lnTo>
                    <a:pt x="245363" y="50291"/>
                  </a:lnTo>
                  <a:lnTo>
                    <a:pt x="249936" y="45719"/>
                  </a:lnTo>
                  <a:lnTo>
                    <a:pt x="256467" y="38100"/>
                  </a:lnTo>
                  <a:lnTo>
                    <a:pt x="230124" y="38100"/>
                  </a:lnTo>
                  <a:lnTo>
                    <a:pt x="230124" y="36575"/>
                  </a:lnTo>
                  <a:close/>
                </a:path>
                <a:path w="294639" h="410210">
                  <a:moveTo>
                    <a:pt x="162145" y="195071"/>
                  </a:moveTo>
                  <a:lnTo>
                    <a:pt x="161544" y="195071"/>
                  </a:lnTo>
                  <a:lnTo>
                    <a:pt x="161544" y="196595"/>
                  </a:lnTo>
                  <a:lnTo>
                    <a:pt x="162145" y="195071"/>
                  </a:lnTo>
                  <a:close/>
                </a:path>
                <a:path w="294639" h="410210">
                  <a:moveTo>
                    <a:pt x="185206" y="138683"/>
                  </a:moveTo>
                  <a:lnTo>
                    <a:pt x="184403" y="138683"/>
                  </a:lnTo>
                  <a:lnTo>
                    <a:pt x="184403" y="140207"/>
                  </a:lnTo>
                  <a:lnTo>
                    <a:pt x="185206" y="138683"/>
                  </a:lnTo>
                  <a:close/>
                </a:path>
                <a:path w="294639" h="410210">
                  <a:moveTo>
                    <a:pt x="199644" y="111251"/>
                  </a:moveTo>
                  <a:lnTo>
                    <a:pt x="198120" y="112775"/>
                  </a:lnTo>
                  <a:lnTo>
                    <a:pt x="198841" y="112775"/>
                  </a:lnTo>
                  <a:lnTo>
                    <a:pt x="199644" y="111251"/>
                  </a:lnTo>
                  <a:close/>
                </a:path>
                <a:path w="294639" h="410210">
                  <a:moveTo>
                    <a:pt x="277367" y="21336"/>
                  </a:moveTo>
                  <a:lnTo>
                    <a:pt x="243839" y="21336"/>
                  </a:lnTo>
                  <a:lnTo>
                    <a:pt x="234696" y="32003"/>
                  </a:lnTo>
                  <a:lnTo>
                    <a:pt x="230124" y="38100"/>
                  </a:lnTo>
                  <a:lnTo>
                    <a:pt x="256467" y="38100"/>
                  </a:lnTo>
                  <a:lnTo>
                    <a:pt x="259079" y="35051"/>
                  </a:lnTo>
                  <a:lnTo>
                    <a:pt x="263651" y="32003"/>
                  </a:lnTo>
                  <a:lnTo>
                    <a:pt x="268224" y="27431"/>
                  </a:lnTo>
                  <a:lnTo>
                    <a:pt x="271272" y="25907"/>
                  </a:lnTo>
                  <a:lnTo>
                    <a:pt x="269748" y="25907"/>
                  </a:lnTo>
                  <a:lnTo>
                    <a:pt x="271272" y="24383"/>
                  </a:lnTo>
                  <a:lnTo>
                    <a:pt x="272796" y="24383"/>
                  </a:lnTo>
                  <a:lnTo>
                    <a:pt x="274320" y="22859"/>
                  </a:lnTo>
                  <a:lnTo>
                    <a:pt x="275844" y="22859"/>
                  </a:lnTo>
                  <a:lnTo>
                    <a:pt x="277367" y="21336"/>
                  </a:lnTo>
                  <a:close/>
                </a:path>
                <a:path w="294639" h="410210">
                  <a:moveTo>
                    <a:pt x="289560" y="0"/>
                  </a:moveTo>
                  <a:lnTo>
                    <a:pt x="280415" y="0"/>
                  </a:lnTo>
                  <a:lnTo>
                    <a:pt x="278891" y="1524"/>
                  </a:lnTo>
                  <a:lnTo>
                    <a:pt x="274320" y="1524"/>
                  </a:lnTo>
                  <a:lnTo>
                    <a:pt x="271272" y="3048"/>
                  </a:lnTo>
                  <a:lnTo>
                    <a:pt x="268224" y="3048"/>
                  </a:lnTo>
                  <a:lnTo>
                    <a:pt x="266700" y="4571"/>
                  </a:lnTo>
                  <a:lnTo>
                    <a:pt x="265175" y="4571"/>
                  </a:lnTo>
                  <a:lnTo>
                    <a:pt x="263651" y="6095"/>
                  </a:lnTo>
                  <a:lnTo>
                    <a:pt x="260603" y="7619"/>
                  </a:lnTo>
                  <a:lnTo>
                    <a:pt x="259079" y="9143"/>
                  </a:lnTo>
                  <a:lnTo>
                    <a:pt x="257555" y="9143"/>
                  </a:lnTo>
                  <a:lnTo>
                    <a:pt x="249936" y="16763"/>
                  </a:lnTo>
                  <a:lnTo>
                    <a:pt x="248412" y="16763"/>
                  </a:lnTo>
                  <a:lnTo>
                    <a:pt x="245363" y="21336"/>
                  </a:lnTo>
                  <a:lnTo>
                    <a:pt x="289560" y="21336"/>
                  </a:lnTo>
                  <a:lnTo>
                    <a:pt x="294132" y="16763"/>
                  </a:lnTo>
                  <a:lnTo>
                    <a:pt x="294132" y="4571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60720" y="4445508"/>
              <a:ext cx="990600" cy="183337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36236" y="2782824"/>
              <a:ext cx="147827" cy="2240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10328" y="2589275"/>
              <a:ext cx="288290" cy="520065"/>
            </a:xfrm>
            <a:custGeom>
              <a:avLst/>
              <a:gdLst/>
              <a:ahLst/>
              <a:cxnLst/>
              <a:rect l="l" t="t" r="r" b="b"/>
              <a:pathLst>
                <a:path w="288289" h="520064">
                  <a:moveTo>
                    <a:pt x="288036" y="210312"/>
                  </a:moveTo>
                  <a:lnTo>
                    <a:pt x="286512" y="208788"/>
                  </a:lnTo>
                  <a:lnTo>
                    <a:pt x="283464" y="207264"/>
                  </a:lnTo>
                  <a:lnTo>
                    <a:pt x="278892" y="204216"/>
                  </a:lnTo>
                  <a:lnTo>
                    <a:pt x="257556" y="204216"/>
                  </a:lnTo>
                  <a:lnTo>
                    <a:pt x="248412" y="202692"/>
                  </a:lnTo>
                  <a:lnTo>
                    <a:pt x="236220" y="202692"/>
                  </a:lnTo>
                  <a:lnTo>
                    <a:pt x="220980" y="201168"/>
                  </a:lnTo>
                  <a:lnTo>
                    <a:pt x="222504" y="201168"/>
                  </a:lnTo>
                  <a:lnTo>
                    <a:pt x="204216" y="198120"/>
                  </a:lnTo>
                  <a:lnTo>
                    <a:pt x="181356" y="193548"/>
                  </a:lnTo>
                  <a:lnTo>
                    <a:pt x="156972" y="188976"/>
                  </a:lnTo>
                  <a:lnTo>
                    <a:pt x="137160" y="185674"/>
                  </a:lnTo>
                  <a:lnTo>
                    <a:pt x="137160" y="4572"/>
                  </a:lnTo>
                  <a:lnTo>
                    <a:pt x="132588" y="0"/>
                  </a:lnTo>
                  <a:lnTo>
                    <a:pt x="121920" y="0"/>
                  </a:lnTo>
                  <a:lnTo>
                    <a:pt x="117348" y="4572"/>
                  </a:lnTo>
                  <a:lnTo>
                    <a:pt x="117348" y="183057"/>
                  </a:lnTo>
                  <a:lnTo>
                    <a:pt x="102108" y="181356"/>
                  </a:lnTo>
                  <a:lnTo>
                    <a:pt x="100584" y="181356"/>
                  </a:lnTo>
                  <a:lnTo>
                    <a:pt x="50292" y="178308"/>
                  </a:lnTo>
                  <a:lnTo>
                    <a:pt x="4572" y="178308"/>
                  </a:lnTo>
                  <a:lnTo>
                    <a:pt x="0" y="182880"/>
                  </a:lnTo>
                  <a:lnTo>
                    <a:pt x="0" y="193548"/>
                  </a:lnTo>
                  <a:lnTo>
                    <a:pt x="4572" y="198120"/>
                  </a:lnTo>
                  <a:lnTo>
                    <a:pt x="48768" y="198120"/>
                  </a:lnTo>
                  <a:lnTo>
                    <a:pt x="100571" y="201168"/>
                  </a:lnTo>
                  <a:lnTo>
                    <a:pt x="99047" y="201168"/>
                  </a:lnTo>
                  <a:lnTo>
                    <a:pt x="117348" y="203098"/>
                  </a:lnTo>
                  <a:lnTo>
                    <a:pt x="117348" y="435864"/>
                  </a:lnTo>
                  <a:lnTo>
                    <a:pt x="115824" y="441960"/>
                  </a:lnTo>
                  <a:lnTo>
                    <a:pt x="115824" y="451104"/>
                  </a:lnTo>
                  <a:lnTo>
                    <a:pt x="114300" y="457200"/>
                  </a:lnTo>
                  <a:lnTo>
                    <a:pt x="114300" y="455676"/>
                  </a:lnTo>
                  <a:lnTo>
                    <a:pt x="109728" y="473964"/>
                  </a:lnTo>
                  <a:lnTo>
                    <a:pt x="106680" y="481584"/>
                  </a:lnTo>
                  <a:lnTo>
                    <a:pt x="102108" y="501396"/>
                  </a:lnTo>
                  <a:lnTo>
                    <a:pt x="102108" y="505968"/>
                  </a:lnTo>
                  <a:lnTo>
                    <a:pt x="103632" y="513588"/>
                  </a:lnTo>
                  <a:lnTo>
                    <a:pt x="103632" y="516636"/>
                  </a:lnTo>
                  <a:lnTo>
                    <a:pt x="109728" y="519684"/>
                  </a:lnTo>
                  <a:lnTo>
                    <a:pt x="112776" y="519684"/>
                  </a:lnTo>
                  <a:lnTo>
                    <a:pt x="115824" y="518160"/>
                  </a:lnTo>
                  <a:lnTo>
                    <a:pt x="120396" y="509016"/>
                  </a:lnTo>
                  <a:lnTo>
                    <a:pt x="120396" y="505968"/>
                  </a:lnTo>
                  <a:lnTo>
                    <a:pt x="126022" y="487680"/>
                  </a:lnTo>
                  <a:lnTo>
                    <a:pt x="126492" y="486156"/>
                  </a:lnTo>
                  <a:lnTo>
                    <a:pt x="124968" y="487680"/>
                  </a:lnTo>
                  <a:lnTo>
                    <a:pt x="128016" y="480060"/>
                  </a:lnTo>
                  <a:lnTo>
                    <a:pt x="132588" y="467868"/>
                  </a:lnTo>
                  <a:lnTo>
                    <a:pt x="135255" y="457200"/>
                  </a:lnTo>
                  <a:lnTo>
                    <a:pt x="135636" y="455676"/>
                  </a:lnTo>
                  <a:lnTo>
                    <a:pt x="135636" y="452628"/>
                  </a:lnTo>
                  <a:lnTo>
                    <a:pt x="135636" y="449580"/>
                  </a:lnTo>
                  <a:lnTo>
                    <a:pt x="137160" y="443484"/>
                  </a:lnTo>
                  <a:lnTo>
                    <a:pt x="137160" y="437388"/>
                  </a:lnTo>
                  <a:lnTo>
                    <a:pt x="137160" y="205994"/>
                  </a:lnTo>
                  <a:lnTo>
                    <a:pt x="153924" y="208788"/>
                  </a:lnTo>
                  <a:lnTo>
                    <a:pt x="178308" y="213360"/>
                  </a:lnTo>
                  <a:lnTo>
                    <a:pt x="199644" y="217932"/>
                  </a:lnTo>
                  <a:lnTo>
                    <a:pt x="217932" y="220980"/>
                  </a:lnTo>
                  <a:lnTo>
                    <a:pt x="219456" y="220980"/>
                  </a:lnTo>
                  <a:lnTo>
                    <a:pt x="233172" y="222504"/>
                  </a:lnTo>
                  <a:lnTo>
                    <a:pt x="234696" y="222504"/>
                  </a:lnTo>
                  <a:lnTo>
                    <a:pt x="246888" y="224028"/>
                  </a:lnTo>
                  <a:lnTo>
                    <a:pt x="274320" y="224028"/>
                  </a:lnTo>
                  <a:lnTo>
                    <a:pt x="283464" y="220980"/>
                  </a:lnTo>
                  <a:lnTo>
                    <a:pt x="286512" y="219456"/>
                  </a:lnTo>
                  <a:lnTo>
                    <a:pt x="288036" y="216408"/>
                  </a:lnTo>
                  <a:lnTo>
                    <a:pt x="288036" y="210312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490</Words>
  <Application>Microsoft Office PowerPoint</Application>
  <PresentationFormat>Custom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MT</vt:lpstr>
      <vt:lpstr>Calibri</vt:lpstr>
      <vt:lpstr>Cambria</vt:lpstr>
      <vt:lpstr>Tahoma</vt:lpstr>
      <vt:lpstr>Times New Roman</vt:lpstr>
      <vt:lpstr>Office Theme</vt:lpstr>
      <vt:lpstr>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Alpha Beta Pruning Algorithm</vt:lpstr>
      <vt:lpstr>PowerPoint Presentation</vt:lpstr>
      <vt:lpstr>Alpha Beta Pruning Algorithm Solved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lastModifiedBy>anwar khan</cp:lastModifiedBy>
  <cp:revision>1</cp:revision>
  <dcterms:created xsi:type="dcterms:W3CDTF">2025-02-24T06:00:44Z</dcterms:created>
  <dcterms:modified xsi:type="dcterms:W3CDTF">2025-02-24T06:16:09Z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2024-04-24T00:00:00Z</vt:filetime>
  </property>
  <property fmtid="{D5CDD505-2E9C-101B-9397-08002B2CF9AE}" pid="3" name="LastSaved">
    <vt:filetime>2025-02-24T00:00:00Z</vt:filetime>
  </property>
  <property fmtid="{D5CDD505-2E9C-101B-9397-08002B2CF9AE}" pid="4" name="Producer">
    <vt:lpwstr>Foxit Reader PDF Printer Version 9.7.0.2220</vt:lpwstr>
  </property>
</Properties>
</file>