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82" r:id="rId3"/>
    <p:sldId id="260" r:id="rId4"/>
    <p:sldId id="283" r:id="rId5"/>
    <p:sldId id="261" r:id="rId6"/>
    <p:sldId id="284" r:id="rId7"/>
    <p:sldId id="285" r:id="rId8"/>
    <p:sldId id="286" r:id="rId9"/>
    <p:sldId id="287" r:id="rId10"/>
    <p:sldId id="293" r:id="rId11"/>
    <p:sldId id="289" r:id="rId12"/>
    <p:sldId id="290" r:id="rId13"/>
    <p:sldId id="291" r:id="rId14"/>
    <p:sldId id="292" r:id="rId15"/>
    <p:sldId id="288" r:id="rId16"/>
    <p:sldId id="262" r:id="rId17"/>
    <p:sldId id="263" r:id="rId18"/>
    <p:sldId id="264" r:id="rId19"/>
    <p:sldId id="265" r:id="rId20"/>
    <p:sldId id="266" r:id="rId21"/>
    <p:sldId id="267" r:id="rId22"/>
    <p:sldId id="270" r:id="rId23"/>
    <p:sldId id="294" r:id="rId24"/>
    <p:sldId id="295" r:id="rId25"/>
    <p:sldId id="296" r:id="rId26"/>
    <p:sldId id="272" r:id="rId27"/>
    <p:sldId id="273" r:id="rId28"/>
    <p:sldId id="274" r:id="rId29"/>
    <p:sldId id="275" r:id="rId30"/>
    <p:sldId id="276" r:id="rId31"/>
    <p:sldId id="277" r:id="rId32"/>
    <p:sldId id="279" r:id="rId33"/>
    <p:sldId id="280" r:id="rId34"/>
    <p:sldId id="281" r:id="rId3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05878-1A7F-6232-0811-01A614C3E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B4102-D29D-9B14-D3C5-5EBA25CC0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C2344-760C-C67C-B36A-C35B3F2A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50345-195A-3452-39BF-A48945CF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7D4B7-5EEC-8A78-58B0-AB283CF40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5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5DFC-BB50-D74D-AEFE-10BDFF61D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1B70-07CB-1088-A2A3-098CD47A6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7E53A-AEF0-D81D-F39A-0DAEF420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5622B-A4E4-06FA-EEE8-1661788D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73E88-F4B1-197B-341E-56AC8081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0D79-DE10-3674-4E13-5FEFBACC5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61B9D-391C-A50A-A29B-01823E3C3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F3E1A-8ADA-5572-9103-67C4D9EE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B519F-A8D5-D0D4-EC0C-86402AD0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92AFE-AEFD-BFC0-9BE9-10B885655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0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C54B-3679-B438-E172-345EEBBCD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FF6FC-D9DE-E391-F14C-29EA2F5E2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236A6-5729-5317-E3E4-1162551F5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087F4-7835-4074-7F4A-4DEDBBDE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6709A-4495-0649-3DF5-153BD6BC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96372-2718-9517-5DE5-16B1EF2E8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0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43B26-60A8-50B6-DD02-4DA59A15C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ACB7F-FF7A-16DC-E248-CC1A8076B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8A43-EB2C-4190-42F6-32329B77C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4FE4B-54DB-A7EB-978A-20EBBD464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776EC-E0F0-846B-87FB-F2263E0CA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FEFB6-AD4F-8E5D-E08F-7073EE52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972996-5CE9-C0EF-C091-BE8028858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908ED5-2631-2A71-BD5F-32EF1608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5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AD61-C5BE-D658-FAD9-8F1E94E9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76418D-BAEF-F835-5920-206B4E8FE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40334-01FC-660D-ECF4-14234DE9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09B16-B863-36D8-9971-6E40AE11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59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C59AD-551A-1A17-C8FB-5D79D757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C60D33-692B-06EF-9442-A46161E8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912D1-1AB0-19E9-2464-E6F38B052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0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8C71-A47F-E02C-D51B-566A45DB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36504-41E6-9AC5-D0C4-A6936228D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D48B7-922D-C51D-47D2-BDCDB89A0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98516-996B-F7CA-C3C4-0D2F3542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0E721-1105-C726-0C83-4EEDFF94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E9D35-067E-8245-7DA5-78AA9C1B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0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E06F-EFB3-69F1-58C6-660F4A25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E2AFCB-0EC3-F0F3-5FE9-12E569C5A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FB0E5-0E04-9221-ECB3-9C3ABF0E8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AB024-EA80-86D6-F459-CFF62EB6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884CB-1291-24CB-7D38-E745DDA5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192EC-2DEA-D115-985F-D925E82C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3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D409-193A-7AF6-8564-96CF60D0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95E1A-A8D5-6B8E-AF5D-96A108B3A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C3C4-5AD7-03C1-6229-053CBFEBC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7F64-9863-5AAE-CA28-93B6ACA7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DC1D-A77A-70E8-AF8A-230B5271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1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BB471-117A-7798-3D2B-AB77896C7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B5321-1D68-BB4F-707F-A27C4EF4F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571B7-7B56-7622-78E2-73E06FE8C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72DF1-E3E7-9BC8-1D24-0C1592C8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05FAB-8707-33D0-7C5D-1001C57C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8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D0D7D-285A-2A32-6FE7-A01EADCE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EC67E-2C2C-2E9D-0CE3-97FC545C3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CBED5-FDB5-686A-01C2-809B7194D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40DBE-66CB-858B-2C88-C21D163A0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C03EF-34D5-DE02-8E32-E96E3BE20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6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ridge-regression-vs-lasso-regressio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47"/>
              <a:ext cx="8035543" cy="2671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" y="2353054"/>
              <a:ext cx="7328789" cy="44660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" y="2398395"/>
              <a:ext cx="11004550" cy="0"/>
            </a:xfrm>
            <a:custGeom>
              <a:avLst/>
              <a:gdLst/>
              <a:ahLst/>
              <a:cxnLst/>
              <a:rect l="l" t="t" r="r" b="b"/>
              <a:pathLst>
                <a:path w="11004550">
                  <a:moveTo>
                    <a:pt x="11004296" y="0"/>
                  </a:moveTo>
                  <a:lnTo>
                    <a:pt x="0" y="0"/>
                  </a:lnTo>
                </a:path>
              </a:pathLst>
            </a:custGeom>
            <a:ln w="1295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364983" y="53340"/>
            <a:ext cx="284480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565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</a:rPr>
              <a:t>Machine</a:t>
            </a:r>
            <a:r>
              <a:rPr sz="3000" spc="-35" dirty="0">
                <a:solidFill>
                  <a:srgbClr val="FFFFFF"/>
                </a:solidFill>
              </a:rPr>
              <a:t> </a:t>
            </a:r>
            <a:r>
              <a:rPr sz="3000" spc="-10" dirty="0">
                <a:solidFill>
                  <a:srgbClr val="FFFFFF"/>
                </a:solidFill>
              </a:rPr>
              <a:t>Learning</a:t>
            </a:r>
            <a:endParaRPr sz="3000" dirty="0"/>
          </a:p>
        </p:txBody>
      </p:sp>
      <p:sp>
        <p:nvSpPr>
          <p:cNvPr id="10" name="object 10"/>
          <p:cNvSpPr txBox="1"/>
          <p:nvPr/>
        </p:nvSpPr>
        <p:spPr>
          <a:xfrm>
            <a:off x="6995414" y="1044702"/>
            <a:ext cx="3583304" cy="59626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75260" marR="5080" indent="-163195">
              <a:lnSpc>
                <a:spcPct val="70000"/>
              </a:lnSpc>
              <a:spcBef>
                <a:spcPts val="890"/>
              </a:spcBef>
            </a:pP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Supervised</a:t>
            </a:r>
            <a:r>
              <a:rPr sz="2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sz="2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Calibri"/>
                <a:cs typeface="Calibri"/>
              </a:rPr>
              <a:t>Overview, </a:t>
            </a: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Formulation,</a:t>
            </a:r>
            <a:r>
              <a:rPr sz="22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40" dirty="0">
                <a:solidFill>
                  <a:srgbClr val="FFFFFF"/>
                </a:solidFill>
                <a:latin typeface="Calibri"/>
                <a:cs typeface="Calibri"/>
              </a:rPr>
              <a:t>Train-</a:t>
            </a: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sz="22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36231" y="3174746"/>
            <a:ext cx="41998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 dirty="0">
              <a:latin typeface="Cambria"/>
              <a:cs typeface="Cambria"/>
            </a:endParaRPr>
          </a:p>
          <a:p>
            <a:pPr marL="12700" marR="5080" indent="432434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mbria"/>
                <a:cs typeface="Cambria"/>
              </a:rPr>
              <a:t>University</a:t>
            </a:r>
            <a:r>
              <a:rPr lang="en-US" sz="1800" spc="-10" dirty="0">
                <a:solidFill>
                  <a:srgbClr val="FFFFFF"/>
                </a:solidFill>
                <a:latin typeface="Cambria"/>
                <a:cs typeface="Cambria"/>
              </a:rPr>
              <a:t> of Lahore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85356" y="5360923"/>
            <a:ext cx="4499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664B-870A-40D6-EF5B-C609278E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Types of supervised Machine learning Algorithms:</a:t>
            </a:r>
            <a:b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8FB8-BAB7-0268-9C3F-1ED8A5DEB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Supervised learning can be further divided into two types of problems:</a:t>
            </a:r>
            <a:endParaRPr lang="en-US" dirty="0"/>
          </a:p>
        </p:txBody>
      </p:sp>
      <p:pic>
        <p:nvPicPr>
          <p:cNvPr id="5" name="Picture 4" descr="A diagram of a class&#10;&#10;Description automatically generated">
            <a:extLst>
              <a:ext uri="{FF2B5EF4-FFF2-40B4-BE49-F238E27FC236}">
                <a16:creationId xmlns:a16="http://schemas.microsoft.com/office/drawing/2014/main" id="{30AC9610-7868-5FD2-C1E1-FB9A7A014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048000"/>
            <a:ext cx="100584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0" y="356236"/>
            <a:ext cx="58060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838200"/>
            <a:ext cx="10363200" cy="1647887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5083810">
              <a:lnSpc>
                <a:spcPct val="100000"/>
              </a:lnSpc>
              <a:spcBef>
                <a:spcPts val="1130"/>
              </a:spcBef>
            </a:pPr>
            <a:r>
              <a:rPr lang="en-US" sz="2800" i="1" spc="-10" dirty="0">
                <a:solidFill>
                  <a:srgbClr val="006FC0"/>
                </a:solidFill>
                <a:latin typeface="Calibri"/>
                <a:cs typeface="Calibri"/>
              </a:rPr>
              <a:t>                                     </a:t>
            </a:r>
            <a:r>
              <a:rPr sz="2800" i="1" spc="-10" dirty="0">
                <a:solidFill>
                  <a:srgbClr val="006FC0"/>
                </a:solidFill>
                <a:latin typeface="Calibri"/>
                <a:cs typeface="Calibri"/>
              </a:rPr>
              <a:t>Regression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Regression:</a:t>
            </a:r>
            <a:r>
              <a:rPr sz="2400" b="1" spc="-7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Quantitative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Prediction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on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continuous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scale</a:t>
            </a:r>
            <a:endParaRPr sz="2400" dirty="0">
              <a:latin typeface="Segoe Print"/>
              <a:cs typeface="Segoe Print"/>
            </a:endParaRPr>
          </a:p>
          <a:p>
            <a:pPr marL="12700">
              <a:lnSpc>
                <a:spcPct val="100000"/>
              </a:lnSpc>
              <a:spcBef>
                <a:spcPts val="174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Examples: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Prediction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7355" y="1137269"/>
            <a:ext cx="1879251" cy="17537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4800" y="2466502"/>
            <a:ext cx="7128509" cy="33178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Age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person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from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his/her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photo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Price</a:t>
            </a:r>
            <a:r>
              <a:rPr sz="1800" spc="-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10 Marla,</a:t>
            </a:r>
            <a:r>
              <a:rPr sz="1800" spc="-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5-</a:t>
            </a:r>
            <a:r>
              <a:rPr sz="1800" dirty="0">
                <a:latin typeface="Segoe Print"/>
                <a:cs typeface="Segoe Print"/>
              </a:rPr>
              <a:t>bedroom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house</a:t>
            </a:r>
            <a:r>
              <a:rPr sz="1800" spc="-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spc="-20" dirty="0">
                <a:latin typeface="Segoe Print"/>
                <a:cs typeface="Segoe Print"/>
              </a:rPr>
              <a:t>2050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USD/PKR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exchange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rate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after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one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spc="-20" dirty="0">
                <a:latin typeface="Segoe Print"/>
                <a:cs typeface="Segoe Print"/>
              </a:rPr>
              <a:t>week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Efficacy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Pfizer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Covid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vaccine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Average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temperature/Rainfall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during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monsoon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Cumulative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score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ML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course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Probability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decrease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electricity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prices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Pakistan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No.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steps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per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spc="-25" dirty="0">
                <a:latin typeface="Segoe Print"/>
                <a:cs typeface="Segoe Print"/>
              </a:rPr>
              <a:t>day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08468" y="3482756"/>
            <a:ext cx="35280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What</a:t>
            </a:r>
            <a:r>
              <a:rPr sz="2000" spc="-2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do</a:t>
            </a:r>
            <a:r>
              <a:rPr sz="2000" spc="-3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all</a:t>
            </a:r>
            <a:r>
              <a:rPr sz="2000" spc="-1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these</a:t>
            </a:r>
            <a:r>
              <a:rPr sz="2000" spc="-3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Segoe Print"/>
                <a:cs typeface="Segoe Print"/>
              </a:rPr>
              <a:t>problems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have</a:t>
            </a:r>
            <a:r>
              <a:rPr sz="2000" spc="-1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in</a:t>
            </a:r>
            <a:r>
              <a:rPr sz="2000" spc="-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Segoe Print"/>
                <a:cs typeface="Segoe Print"/>
              </a:rPr>
              <a:t>common?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8468" y="4349657"/>
            <a:ext cx="24993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Continuous</a:t>
            </a:r>
            <a:r>
              <a:rPr sz="2000" spc="-16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/>
                <a:cs typeface="Segoe Print"/>
              </a:rPr>
              <a:t>outputs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8918" y="6153150"/>
            <a:ext cx="6568440" cy="40005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latin typeface="Segoe Print"/>
                <a:cs typeface="Segoe Print"/>
              </a:rPr>
              <a:t>Predicting</a:t>
            </a:r>
            <a:r>
              <a:rPr sz="2000" spc="-7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continuous</a:t>
            </a:r>
            <a:r>
              <a:rPr sz="2000" spc="-6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outputs</a:t>
            </a:r>
            <a:r>
              <a:rPr sz="2000" spc="-6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6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called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regression</a:t>
            </a:r>
            <a:endParaRPr sz="20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587A-365C-EB73-9C00-C70662386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B2A29"/>
                </a:solidFill>
                <a:latin typeface="Montserrat" panose="02000505000000020004" pitchFamily="2" charset="0"/>
              </a:rPr>
              <a:t>P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opular Regression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0D4A1-E5DC-37ED-1F58-B003A7EE4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Linear Regression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M</a:t>
            </a:r>
            <a:r>
              <a:rPr lang="en-US" sz="2400" dirty="0">
                <a:solidFill>
                  <a:srgbClr val="2B2A29"/>
                </a:solidFill>
                <a:latin typeface="Montserrat" panose="02000505000000020004" pitchFamily="2" charset="0"/>
              </a:rPr>
              <a:t>ulti-Linear </a:t>
            </a:r>
            <a:r>
              <a:rPr lang="en-US" sz="2400" dirty="0" err="1">
                <a:solidFill>
                  <a:srgbClr val="2B2A29"/>
                </a:solidFill>
                <a:latin typeface="Montserrat" panose="02000505000000020004" pitchFamily="2" charset="0"/>
              </a:rPr>
              <a:t>Regession</a:t>
            </a:r>
            <a:endParaRPr lang="en-US" sz="24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Polynomial Regression</a:t>
            </a:r>
          </a:p>
          <a:p>
            <a:r>
              <a:rPr lang="en-US" sz="24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Ridge Regression &amp; Lasso Regression</a:t>
            </a:r>
          </a:p>
          <a:p>
            <a:r>
              <a:rPr lang="en-US" sz="2400" u="sng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Suport</a:t>
            </a:r>
            <a:r>
              <a:rPr lang="en-US" sz="24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Vector Regression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310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2694" y="475454"/>
            <a:ext cx="507314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5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576" y="907302"/>
            <a:ext cx="9713624" cy="169735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4916805">
              <a:lnSpc>
                <a:spcPct val="100000"/>
              </a:lnSpc>
              <a:spcBef>
                <a:spcPts val="1525"/>
              </a:spcBef>
            </a:pPr>
            <a:r>
              <a:rPr lang="en-US" sz="2800" i="1" spc="-10" dirty="0">
                <a:solidFill>
                  <a:srgbClr val="006FC0"/>
                </a:solidFill>
                <a:latin typeface="Calibri"/>
                <a:cs typeface="Calibri"/>
              </a:rPr>
              <a:t>                                   </a:t>
            </a:r>
            <a:r>
              <a:rPr sz="2800" i="1" spc="-10" dirty="0">
                <a:solidFill>
                  <a:srgbClr val="006FC0"/>
                </a:solidFill>
                <a:latin typeface="Calibri"/>
                <a:cs typeface="Calibri"/>
              </a:rPr>
              <a:t>Classification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Classification:</a:t>
            </a:r>
            <a:r>
              <a:rPr sz="2400" b="1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Given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sample,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predict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its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b="1" spc="-10" dirty="0">
                <a:latin typeface="Segoe Print"/>
                <a:cs typeface="Segoe Print"/>
              </a:rPr>
              <a:t>(discrete)</a:t>
            </a:r>
            <a:endParaRPr sz="2400" dirty="0">
              <a:latin typeface="Segoe Print"/>
              <a:cs typeface="Segoe Print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Examples: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Prediction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2812" y="1251498"/>
            <a:ext cx="1575497" cy="16049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8576" y="2585720"/>
            <a:ext cx="7531100" cy="33178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Gender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of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person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using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his/her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photo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or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hand-</a:t>
            </a:r>
            <a:r>
              <a:rPr sz="1800" dirty="0">
                <a:latin typeface="Segoe Print"/>
                <a:cs typeface="Segoe Print"/>
              </a:rPr>
              <a:t>writing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style</a:t>
            </a:r>
            <a:endParaRPr sz="18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Spam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filtering</a:t>
            </a:r>
            <a:endParaRPr sz="18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Object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or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face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detection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photo</a:t>
            </a:r>
            <a:endParaRPr sz="18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We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will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back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Campus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Feb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spc="-50" dirty="0">
                <a:latin typeface="Segoe Print"/>
                <a:cs typeface="Segoe Print"/>
              </a:rPr>
              <a:t>1</a:t>
            </a:r>
            <a:endParaRPr sz="18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spc="-10" dirty="0">
                <a:latin typeface="Segoe Print"/>
                <a:cs typeface="Segoe Print"/>
              </a:rPr>
              <a:t>Temperature/Rainfall</a:t>
            </a:r>
            <a:r>
              <a:rPr sz="1800" spc="-2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normal</a:t>
            </a:r>
            <a:r>
              <a:rPr sz="1800" spc="-4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or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abnormal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during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monsoon</a:t>
            </a:r>
            <a:endParaRPr sz="18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Letter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grade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ML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course</a:t>
            </a:r>
            <a:endParaRPr sz="18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Decrease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expected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electricity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prices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in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Pakistan</a:t>
            </a:r>
            <a:r>
              <a:rPr sz="1800" spc="-3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next</a:t>
            </a:r>
            <a:r>
              <a:rPr sz="1800" spc="-50" dirty="0">
                <a:latin typeface="Segoe Print"/>
                <a:cs typeface="Segoe Print"/>
              </a:rPr>
              <a:t> </a:t>
            </a:r>
            <a:r>
              <a:rPr sz="1800" spc="-20" dirty="0">
                <a:latin typeface="Segoe Print"/>
                <a:cs typeface="Segoe Print"/>
              </a:rPr>
              <a:t>year</a:t>
            </a:r>
            <a:endParaRPr sz="180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latin typeface="Segoe Print"/>
                <a:cs typeface="Segoe Print"/>
              </a:rPr>
              <a:t>More</a:t>
            </a:r>
            <a:r>
              <a:rPr sz="1800" spc="-6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than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10000</a:t>
            </a:r>
            <a:r>
              <a:rPr sz="1800" spc="-5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Steps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taken</a:t>
            </a:r>
            <a:r>
              <a:rPr sz="1800" spc="-40" dirty="0">
                <a:latin typeface="Segoe Print"/>
                <a:cs typeface="Segoe Print"/>
              </a:rPr>
              <a:t> </a:t>
            </a:r>
            <a:r>
              <a:rPr sz="1800" spc="-10" dirty="0">
                <a:latin typeface="Segoe Print"/>
                <a:cs typeface="Segoe Print"/>
              </a:rPr>
              <a:t>today</a:t>
            </a:r>
            <a:endParaRPr sz="1800">
              <a:latin typeface="Segoe Print"/>
              <a:cs typeface="Segoe Prin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99625" y="2958846"/>
            <a:ext cx="3710304" cy="1084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669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What</a:t>
            </a:r>
            <a:r>
              <a:rPr sz="2000" spc="-2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do</a:t>
            </a:r>
            <a:r>
              <a:rPr sz="2000" spc="-3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all</a:t>
            </a:r>
            <a:r>
              <a:rPr sz="2000" spc="-1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these</a:t>
            </a:r>
            <a:r>
              <a:rPr sz="2000" spc="-3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Segoe Print"/>
                <a:cs typeface="Segoe Print"/>
              </a:rPr>
              <a:t>problems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have</a:t>
            </a:r>
            <a:r>
              <a:rPr sz="2000" spc="-10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C00000"/>
                </a:solidFill>
                <a:latin typeface="Segoe Print"/>
                <a:cs typeface="Segoe Print"/>
              </a:rPr>
              <a:t>in</a:t>
            </a:r>
            <a:r>
              <a:rPr sz="2000" spc="-5" dirty="0">
                <a:solidFill>
                  <a:srgbClr val="C0000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Segoe Print"/>
                <a:cs typeface="Segoe Print"/>
              </a:rPr>
              <a:t>common?</a:t>
            </a:r>
            <a:endParaRPr sz="2000">
              <a:latin typeface="Segoe Print"/>
              <a:cs typeface="Segoe Print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Discrete</a:t>
            </a:r>
            <a:r>
              <a:rPr sz="2000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outputs:</a:t>
            </a:r>
            <a:r>
              <a:rPr sz="2000" spc="-3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/>
                <a:cs typeface="Segoe Print"/>
              </a:rPr>
              <a:t>Categorical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99625" y="4322825"/>
            <a:ext cx="381825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Yes/No</a:t>
            </a:r>
            <a:r>
              <a:rPr sz="2000" spc="-6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(Binary</a:t>
            </a:r>
            <a:r>
              <a:rPr sz="2000" spc="-5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/>
                <a:cs typeface="Segoe Print"/>
              </a:rPr>
              <a:t>Classification)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99625" y="4932425"/>
            <a:ext cx="3179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solidFill>
                  <a:srgbClr val="00AF50"/>
                </a:solidFill>
                <a:latin typeface="Segoe Print"/>
                <a:cs typeface="Segoe Print"/>
              </a:rPr>
              <a:t>Multi-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class</a:t>
            </a:r>
            <a:r>
              <a:rPr sz="2000" spc="1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/>
                <a:cs typeface="Segoe Print"/>
              </a:rPr>
              <a:t>classification: </a:t>
            </a:r>
            <a:r>
              <a:rPr sz="2000" dirty="0">
                <a:solidFill>
                  <a:srgbClr val="00AF50"/>
                </a:solidFill>
                <a:latin typeface="Segoe Print"/>
                <a:cs typeface="Segoe Print"/>
              </a:rPr>
              <a:t>multiple</a:t>
            </a:r>
            <a:r>
              <a:rPr sz="2000" spc="-8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Segoe Print"/>
                <a:cs typeface="Segoe Print"/>
              </a:rPr>
              <a:t>classes</a:t>
            </a:r>
            <a:endParaRPr sz="2000">
              <a:latin typeface="Segoe Print"/>
              <a:cs typeface="Segoe Prin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2694" y="6219570"/>
            <a:ext cx="7196455" cy="400050"/>
          </a:xfrm>
          <a:prstGeom prst="rect">
            <a:avLst/>
          </a:prstGeom>
          <a:ln w="990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5"/>
              </a:spcBef>
            </a:pPr>
            <a:r>
              <a:rPr sz="2000" dirty="0">
                <a:latin typeface="Segoe Print"/>
                <a:cs typeface="Segoe Print"/>
              </a:rPr>
              <a:t>Predicting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categorical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output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called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classification</a:t>
            </a:r>
            <a:endParaRPr sz="20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0C02-7EC6-7BB9-C3E4-4FB89917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Spam Filtering</a:t>
            </a:r>
            <a:b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D7779-FC9E-E526-334A-FB99508E2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Random Forest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Decision Trees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Logistic Regression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Support vector Machines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24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0431-C3AC-C267-AEB7-AEF740A8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Types of Unsupervised Learning Algorithm:</a:t>
            </a:r>
            <a:b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</a:br>
            <a:endParaRPr lang="en-US" dirty="0"/>
          </a:p>
        </p:txBody>
      </p:sp>
      <p:pic>
        <p:nvPicPr>
          <p:cNvPr id="5" name="Content Placeholder 4" descr="A diagram of a learning process&#10;&#10;Description automatically generated">
            <a:extLst>
              <a:ext uri="{FF2B5EF4-FFF2-40B4-BE49-F238E27FC236}">
                <a16:creationId xmlns:a16="http://schemas.microsoft.com/office/drawing/2014/main" id="{6AC587EF-7648-E7E0-FF20-85B56AA56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524000"/>
            <a:ext cx="8534400" cy="3906044"/>
          </a:xfrm>
        </p:spPr>
      </p:pic>
    </p:spTree>
    <p:extLst>
      <p:ext uri="{BB962C8B-B14F-4D97-AF65-F5344CB8AC3E}">
        <p14:creationId xmlns:p14="http://schemas.microsoft.com/office/powerpoint/2010/main" val="423364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2464A-D2C2-8879-7A61-8D1B3B64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 i="0">
                <a:effectLst/>
                <a:latin typeface="Montserrat" panose="02000505000000020004" pitchFamily="2" charset="0"/>
              </a:rPr>
              <a:t>Clustering</a:t>
            </a:r>
            <a:r>
              <a:rPr lang="en-US" sz="4800" b="0" i="0">
                <a:effectLst/>
                <a:latin typeface="Montserrat" panose="02000505000000020004" pitchFamily="2" charset="0"/>
              </a:rPr>
              <a:t>:</a:t>
            </a:r>
            <a:endParaRPr lang="en-US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8B7F3-58BB-5D3C-42A5-B509F1CA1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400" b="0" i="0" dirty="0">
                <a:effectLst/>
                <a:latin typeface="Montserrat" panose="02000505000000020004" pitchFamily="2" charset="0"/>
              </a:rPr>
              <a:t>Clustering is a method of grouping the objects into </a:t>
            </a:r>
            <a:r>
              <a:rPr lang="en-US" sz="14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clusters such that objects with most similarities remains into a group and has less or no similarities with the objects of another group.</a:t>
            </a:r>
            <a:r>
              <a:rPr lang="en-US" sz="1400" b="0" i="0" dirty="0">
                <a:effectLst/>
                <a:latin typeface="Montserrat" panose="02000505000000020004" pitchFamily="2" charset="0"/>
              </a:rPr>
              <a:t> Cluster analysis finds the commonalities between the data objects and categorizes them as per the presence and absence of those commonalities.</a:t>
            </a:r>
          </a:p>
          <a:p>
            <a:r>
              <a:rPr lang="en-US" sz="1400" b="0" i="0" dirty="0">
                <a:effectLst/>
                <a:latin typeface="Montserrat" panose="02000505000000020004" pitchFamily="2" charset="0"/>
              </a:rPr>
              <a:t>The clustering technique can be widely used in various tasks. Some most common uses of this technique are:</a:t>
            </a:r>
          </a:p>
          <a:p>
            <a:pPr lvl="1"/>
            <a:r>
              <a:rPr lang="en-US" sz="1400" b="0" i="0" dirty="0">
                <a:effectLst/>
                <a:latin typeface="Montserrat" panose="02000505000000020004" pitchFamily="2" charset="0"/>
              </a:rPr>
              <a:t>Market Segmentation</a:t>
            </a:r>
          </a:p>
          <a:p>
            <a:pPr lvl="1"/>
            <a:r>
              <a:rPr lang="en-US" sz="1400" b="0" i="0" dirty="0">
                <a:effectLst/>
                <a:latin typeface="Montserrat" panose="02000505000000020004" pitchFamily="2" charset="0"/>
              </a:rPr>
              <a:t>Statistical data analysis</a:t>
            </a:r>
          </a:p>
          <a:p>
            <a:pPr lvl="1"/>
            <a:r>
              <a:rPr lang="en-US" sz="1400" b="0" i="0" dirty="0">
                <a:effectLst/>
                <a:latin typeface="Montserrat" panose="02000505000000020004" pitchFamily="2" charset="0"/>
              </a:rPr>
              <a:t>Social network analysis</a:t>
            </a:r>
          </a:p>
          <a:p>
            <a:pPr lvl="1"/>
            <a:r>
              <a:rPr lang="en-US" sz="1400" b="0" i="0" dirty="0">
                <a:effectLst/>
                <a:latin typeface="Montserrat" panose="02000505000000020004" pitchFamily="2" charset="0"/>
              </a:rPr>
              <a:t>Image segmentation</a:t>
            </a:r>
          </a:p>
          <a:p>
            <a:pPr lvl="1"/>
            <a:r>
              <a:rPr lang="en-US" sz="1400" b="0" i="0" dirty="0">
                <a:effectLst/>
                <a:latin typeface="Montserrat" panose="02000505000000020004" pitchFamily="2" charset="0"/>
              </a:rPr>
              <a:t>Anomaly detection, etc.</a:t>
            </a:r>
          </a:p>
          <a:p>
            <a:endParaRPr lang="en-US" sz="1400" b="0" i="0" dirty="0">
              <a:effectLst/>
              <a:latin typeface="Montserrat" panose="02000505000000020004" pitchFamily="2" charset="0"/>
            </a:endParaRPr>
          </a:p>
          <a:p>
            <a:endParaRPr lang="en-US" sz="1400" dirty="0"/>
          </a:p>
        </p:txBody>
      </p:sp>
      <p:pic>
        <p:nvPicPr>
          <p:cNvPr id="5" name="Picture 4" descr="A diagram of fruit being made&#10;&#10;Description automatically generated with medium confidence">
            <a:extLst>
              <a:ext uri="{FF2B5EF4-FFF2-40B4-BE49-F238E27FC236}">
                <a16:creationId xmlns:a16="http://schemas.microsoft.com/office/drawing/2014/main" id="{410D4AF8-F9DC-7A37-A10D-315920583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26335"/>
            <a:ext cx="5150277" cy="343008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84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9F160-E2B4-9B92-8717-75EDB49F0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62225"/>
            <a:ext cx="5291328" cy="1454051"/>
          </a:xfrm>
        </p:spPr>
        <p:txBody>
          <a:bodyPr>
            <a:normAutofit/>
          </a:bodyPr>
          <a:lstStyle/>
          <a:p>
            <a:r>
              <a:rPr lang="en-US" sz="3600" b="1" i="0" dirty="0">
                <a:solidFill>
                  <a:schemeClr val="tx2"/>
                </a:solidFill>
                <a:effectLst/>
                <a:latin typeface="Montserrat" panose="02000505000000020004" pitchFamily="2" charset="0"/>
              </a:rPr>
              <a:t>Association Rule learning</a:t>
            </a:r>
            <a:r>
              <a:rPr lang="en-US" sz="3600" b="0" i="0" dirty="0">
                <a:solidFill>
                  <a:schemeClr val="tx2"/>
                </a:solidFill>
                <a:effectLst/>
                <a:latin typeface="Montserrat" panose="02000505000000020004" pitchFamily="2" charset="0"/>
              </a:rPr>
              <a:t>: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1B06E-1D26-BCD7-88BC-A20B9D2DB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1905000"/>
            <a:ext cx="4765949" cy="3870159"/>
          </a:xfrm>
        </p:spPr>
        <p:txBody>
          <a:bodyPr anchor="t">
            <a:normAutofit/>
          </a:bodyPr>
          <a:lstStyle/>
          <a:p>
            <a:pPr algn="just"/>
            <a:r>
              <a:rPr lang="en-US" sz="1800" b="0" i="0" dirty="0">
                <a:solidFill>
                  <a:schemeClr val="tx2"/>
                </a:solidFill>
                <a:effectLst/>
                <a:latin typeface="Montserrat" panose="02000505000000020004" pitchFamily="2" charset="0"/>
              </a:rPr>
              <a:t>An association rule is an unsupervised learning method which is used for 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finding the relationships between variables in the large database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Montserrat" panose="02000505000000020004" pitchFamily="2" charset="0"/>
              </a:rPr>
              <a:t>. It determines the set of items that occurs together in the dataset. Association rule makes 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marketing strategy more effective</a:t>
            </a:r>
            <a:r>
              <a:rPr lang="en-US" sz="1800" b="0" i="0" dirty="0">
                <a:solidFill>
                  <a:schemeClr val="tx2"/>
                </a:solidFill>
                <a:effectLst/>
                <a:latin typeface="Montserrat" panose="02000505000000020004" pitchFamily="2" charset="0"/>
              </a:rPr>
              <a:t>. Such as people who buy X item (suppose a bread) are also tend to purchase Y (Butter/Jam) item. A typical example of Association rule is 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Market Basket Analysis, Web usage mining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collage of different shopping bags&#10;&#10;Description automatically generated">
            <a:extLst>
              <a:ext uri="{FF2B5EF4-FFF2-40B4-BE49-F238E27FC236}">
                <a16:creationId xmlns:a16="http://schemas.microsoft.com/office/drawing/2014/main" id="{8B55FE0A-8147-235A-36DB-7C9628274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2489944"/>
            <a:ext cx="4142232" cy="280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1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B977-E52C-A9AC-E66E-37B9A0ED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Association Rule</a:t>
            </a:r>
          </a:p>
        </p:txBody>
      </p:sp>
      <p:pic>
        <p:nvPicPr>
          <p:cNvPr id="4" name="Picture 59">
            <a:extLst>
              <a:ext uri="{FF2B5EF4-FFF2-40B4-BE49-F238E27FC236}">
                <a16:creationId xmlns:a16="http://schemas.microsoft.com/office/drawing/2014/main" id="{A0D68C20-7F65-0356-F553-AB2BE131AB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905000"/>
            <a:ext cx="8458200" cy="3325438"/>
          </a:xfrm>
          <a:noFill/>
        </p:spPr>
      </p:pic>
      <p:sp>
        <p:nvSpPr>
          <p:cNvPr id="5" name="Text Box 57">
            <a:extLst>
              <a:ext uri="{FF2B5EF4-FFF2-40B4-BE49-F238E27FC236}">
                <a16:creationId xmlns:a16="http://schemas.microsoft.com/office/drawing/2014/main" id="{D7CBF57A-A7F8-E6A3-BD47-297A6A7A0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385804"/>
            <a:ext cx="7696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Example of Association Rule: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 dirty="0"/>
              <a:t>       {Gender=Male</a:t>
            </a:r>
            <a:r>
              <a:rPr lang="en-US" altLang="en-US" sz="2000" b="0" dirty="0">
                <a:sym typeface="Symbol" panose="05050102010706020507" pitchFamily="18" charset="2"/>
              </a:rPr>
              <a:t>, Age  [21,30)}  {No of hours online  10}</a:t>
            </a:r>
          </a:p>
        </p:txBody>
      </p:sp>
    </p:spTree>
    <p:extLst>
      <p:ext uri="{BB962C8B-B14F-4D97-AF65-F5344CB8AC3E}">
        <p14:creationId xmlns:p14="http://schemas.microsoft.com/office/powerpoint/2010/main" val="271051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821C-168C-6D1C-012D-F0098D8DD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Association rule learning can be divided into three types of algorithms: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8B1B4-7513-4CAC-FD12-8374248E3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+mj-lt"/>
              <a:buAutoNum type="arabicPeriod"/>
            </a:pPr>
            <a:r>
              <a:rPr lang="en-US" sz="2000" b="1" i="0" dirty="0" err="1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Apriori</a:t>
            </a:r>
            <a:endParaRPr lang="en-US" sz="20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0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Eclat</a:t>
            </a:r>
            <a:endParaRPr lang="en-US" sz="20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0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F-P Growth Algorithm</a:t>
            </a:r>
            <a:endParaRPr lang="en-US" sz="20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834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573C-4F7C-5930-96AF-9CEB9F672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Apriori</a:t>
            </a:r>
            <a: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 Algorithm</a:t>
            </a:r>
            <a:b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C2ABB-73BC-1398-91AB-852F65629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This algorithm uses frequent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datasets to generate association rules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. It is designed to work on 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databases that contain transactions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. This algorithm uses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a breadth-first search and Hash Tree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 to calculate the itemset efficiently.</a:t>
            </a:r>
          </a:p>
          <a:p>
            <a:pPr marL="0" indent="0" algn="just">
              <a:buNone/>
            </a:pPr>
            <a:endParaRPr lang="en-US" sz="24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/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It is mainly used for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market basket analysis 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and helps to understand the products that can be bought together. It can also be used in the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healthcare field to find drug reactions for patients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3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AA4A-0494-4B24-9FBE-FA1FEC4E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Eclat Algorithm</a:t>
            </a:r>
            <a:b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33473-6397-0A5E-9A28-F07CD76B0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Eclat algorithm stands for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Equivalence Class Transformation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. This algorithm uses a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depth-first search technique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 to find frequent </a:t>
            </a:r>
            <a:r>
              <a:rPr lang="en-US" sz="2400" b="0" i="0" dirty="0" err="1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itemsets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 in a transaction database. It performs faster execution than </a:t>
            </a:r>
            <a:r>
              <a:rPr lang="en-US" sz="2400" b="0" i="0" dirty="0" err="1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Apriori</a:t>
            </a:r>
            <a:r>
              <a:rPr lang="en-US" sz="24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 Algorithm.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1444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0F62-261D-2FDA-0EBE-BA5560246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11237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F-P Growth Algorithm</a:t>
            </a:r>
            <a:b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B05F3-42A1-ADF1-D8EE-9084F680A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447800"/>
            <a:ext cx="10668000" cy="3810000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The F-P growth algorithm stands for </a:t>
            </a:r>
            <a:r>
              <a:rPr lang="en-US" b="1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Frequent Pattern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, and it is the improved version of the </a:t>
            </a:r>
            <a:r>
              <a:rPr lang="en-US" b="0" i="0" dirty="0" err="1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Apriori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 Algorithm. It represents the database in the form of a tree structure that is known as </a:t>
            </a:r>
            <a:r>
              <a:rPr lang="en-US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a frequent pattern or tree</a:t>
            </a:r>
            <a:r>
              <a:rPr lang="en-US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. The purpose of this frequent tree is to extract the most frequent patterns.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0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8A33-9F25-52AC-7058-D47428DE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Unsupervised Learning algorithms:</a:t>
            </a:r>
            <a:b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8A7EA-463B-5804-B5D4-CB5FF7F1B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K-means clustering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KNN (k-nearest neighbors)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Hierarchal clustering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Anomaly detection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Neural Networks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Principle Component Analysis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Independent Component Analysis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 err="1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Apriori</a:t>
            </a: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 algorithm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Singular value decomposition</a:t>
            </a:r>
            <a:endParaRPr lang="en-US" sz="1800" b="0" i="0" dirty="0">
              <a:solidFill>
                <a:srgbClr val="2B2A29"/>
              </a:solidFill>
              <a:effectLst/>
              <a:latin typeface="Montserrat" panose="02000505000000020004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298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460" y="1371600"/>
            <a:ext cx="11305540" cy="4778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sz="2400" dirty="0">
                <a:latin typeface="Segoe Print"/>
                <a:cs typeface="Segoe Print"/>
              </a:rPr>
              <a:t>In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these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regression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or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classification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problems,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have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Inputs</a:t>
            </a:r>
            <a:r>
              <a:rPr sz="2400" spc="-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–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referred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as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Features</a:t>
            </a:r>
            <a:endParaRPr sz="2400" dirty="0">
              <a:latin typeface="Segoe Print"/>
              <a:cs typeface="Segoe Print"/>
            </a:endParaRPr>
          </a:p>
          <a:p>
            <a:pPr marL="355600" indent="-342900">
              <a:lnSpc>
                <a:spcPct val="100000"/>
              </a:lnSpc>
              <a:spcBef>
                <a:spcPts val="1440"/>
              </a:spcBef>
              <a:buChar char="-"/>
              <a:tabLst>
                <a:tab pos="355600" algn="l"/>
              </a:tabLst>
            </a:pP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Output</a:t>
            </a:r>
            <a:r>
              <a:rPr sz="2400" spc="-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–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referred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Label</a:t>
            </a:r>
            <a:endParaRPr sz="2400" dirty="0">
              <a:latin typeface="Segoe Print"/>
              <a:cs typeface="Segoe Print"/>
            </a:endParaRPr>
          </a:p>
          <a:p>
            <a:pPr marL="354965" marR="152400" indent="-342900">
              <a:lnSpc>
                <a:spcPct val="150000"/>
              </a:lnSpc>
              <a:buChar char="-"/>
              <a:tabLst>
                <a:tab pos="354965" algn="l"/>
              </a:tabLst>
            </a:pP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Training</a:t>
            </a:r>
            <a:r>
              <a:rPr sz="2400" spc="-5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data</a:t>
            </a:r>
            <a:r>
              <a:rPr sz="2400" spc="-2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–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(input,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output)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which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output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is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known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and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is </a:t>
            </a:r>
            <a:r>
              <a:rPr sz="2400" dirty="0">
                <a:latin typeface="Segoe Print"/>
                <a:cs typeface="Segoe Print"/>
              </a:rPr>
              <a:t>used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model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by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ML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algorithm</a:t>
            </a:r>
            <a:endParaRPr sz="2400" dirty="0">
              <a:latin typeface="Segoe Print"/>
              <a:cs typeface="Segoe Print"/>
            </a:endParaRPr>
          </a:p>
          <a:p>
            <a:pPr marL="354965" marR="5080" indent="-342900">
              <a:lnSpc>
                <a:spcPct val="150000"/>
              </a:lnSpc>
              <a:buChar char="-"/>
              <a:tabLst>
                <a:tab pos="354965" algn="l"/>
              </a:tabLst>
            </a:pP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A</a:t>
            </a:r>
            <a:r>
              <a:rPr sz="2400" spc="-5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Loss,</a:t>
            </a:r>
            <a:r>
              <a:rPr sz="2400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an</a:t>
            </a:r>
            <a:r>
              <a:rPr sz="2400" spc="-5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objective</a:t>
            </a:r>
            <a:r>
              <a:rPr sz="24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or</a:t>
            </a:r>
            <a:r>
              <a:rPr sz="2400" spc="-4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a</a:t>
            </a:r>
            <a:r>
              <a:rPr sz="2400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cost</a:t>
            </a:r>
            <a:r>
              <a:rPr sz="2400" spc="-4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function</a:t>
            </a:r>
            <a:r>
              <a:rPr sz="2400" spc="-30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–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determines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how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well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trined </a:t>
            </a:r>
            <a:r>
              <a:rPr sz="2400" dirty="0">
                <a:latin typeface="Segoe Print"/>
                <a:cs typeface="Segoe Print"/>
              </a:rPr>
              <a:t>model</a:t>
            </a:r>
            <a:r>
              <a:rPr sz="2400" spc="-9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approximates</a:t>
            </a:r>
            <a:r>
              <a:rPr sz="2400" spc="-10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9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100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data</a:t>
            </a:r>
            <a:endParaRPr sz="2400" dirty="0">
              <a:latin typeface="Segoe Print"/>
              <a:cs typeface="Segoe Print"/>
            </a:endParaRPr>
          </a:p>
          <a:p>
            <a:pPr marL="354965" marR="13970" indent="-342900">
              <a:lnSpc>
                <a:spcPts val="4320"/>
              </a:lnSpc>
              <a:spcBef>
                <a:spcPts val="185"/>
              </a:spcBef>
              <a:buChar char="-"/>
              <a:tabLst>
                <a:tab pos="354965" algn="l"/>
              </a:tabLst>
            </a:pP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Test</a:t>
            </a:r>
            <a:r>
              <a:rPr sz="2400" spc="-1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solidFill>
                  <a:srgbClr val="00AF50"/>
                </a:solidFill>
                <a:latin typeface="Segoe Print"/>
                <a:cs typeface="Segoe Print"/>
              </a:rPr>
              <a:t>data</a:t>
            </a:r>
            <a:r>
              <a:rPr sz="2400" spc="-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–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(input,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output)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which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output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is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known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and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is</a:t>
            </a:r>
            <a:r>
              <a:rPr sz="2400" spc="-10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used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evaluation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performance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of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trained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model</a:t>
            </a:r>
            <a:endParaRPr sz="24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242" y="1981200"/>
            <a:ext cx="3285490" cy="231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lang="en-US"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Example</a:t>
            </a:r>
            <a:endParaRPr lang="en-US" sz="2400" dirty="0">
              <a:latin typeface="Calibri"/>
              <a:cs typeface="Calibri"/>
            </a:endParaRPr>
          </a:p>
          <a:p>
            <a:pPr marL="161290">
              <a:lnSpc>
                <a:spcPct val="100000"/>
              </a:lnSpc>
              <a:spcBef>
                <a:spcPts val="1870"/>
              </a:spcBef>
            </a:pPr>
            <a:r>
              <a:rPr sz="1800" dirty="0">
                <a:latin typeface="Calibri"/>
                <a:cs typeface="Calibri"/>
              </a:rPr>
              <a:t>Predict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Stock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Index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Price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-"/>
              <a:tabLst>
                <a:tab pos="354965" algn="l"/>
              </a:tabLst>
            </a:pPr>
            <a:r>
              <a:rPr sz="1800" dirty="0">
                <a:solidFill>
                  <a:srgbClr val="006FC0"/>
                </a:solidFill>
                <a:latin typeface="Segoe Print"/>
                <a:cs typeface="Segoe Print"/>
              </a:rPr>
              <a:t>Features</a:t>
            </a:r>
            <a:r>
              <a:rPr sz="1800" spc="-105" dirty="0">
                <a:solidFill>
                  <a:srgbClr val="006FC0"/>
                </a:solidFill>
                <a:latin typeface="Segoe Print"/>
                <a:cs typeface="Segoe Print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Segoe Print"/>
                <a:cs typeface="Segoe Print"/>
              </a:rPr>
              <a:t>(Input)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solidFill>
                  <a:srgbClr val="BE9000"/>
                </a:solidFill>
                <a:latin typeface="Segoe Print"/>
                <a:cs typeface="Segoe Print"/>
              </a:rPr>
              <a:t>Labels</a:t>
            </a:r>
            <a:r>
              <a:rPr sz="1800" spc="-70" dirty="0">
                <a:solidFill>
                  <a:srgbClr val="BE9000"/>
                </a:solidFill>
                <a:latin typeface="Segoe Print"/>
                <a:cs typeface="Segoe Print"/>
              </a:rPr>
              <a:t> </a:t>
            </a:r>
            <a:r>
              <a:rPr sz="1800" spc="-10" dirty="0">
                <a:solidFill>
                  <a:srgbClr val="BE9000"/>
                </a:solidFill>
                <a:latin typeface="Segoe Print"/>
                <a:cs typeface="Segoe Print"/>
              </a:rPr>
              <a:t>(Output)</a:t>
            </a:r>
            <a:endParaRPr sz="1800" dirty="0">
              <a:latin typeface="Segoe Print"/>
              <a:cs typeface="Segoe Print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Char char="-"/>
              <a:tabLst>
                <a:tab pos="354965" algn="l"/>
              </a:tabLst>
            </a:pPr>
            <a:r>
              <a:rPr sz="1800" dirty="0">
                <a:solidFill>
                  <a:srgbClr val="00AF50"/>
                </a:solidFill>
                <a:latin typeface="Segoe Print"/>
                <a:cs typeface="Segoe Print"/>
              </a:rPr>
              <a:t>Training</a:t>
            </a:r>
            <a:r>
              <a:rPr sz="1800" spc="-65" dirty="0">
                <a:solidFill>
                  <a:srgbClr val="00AF50"/>
                </a:solidFill>
                <a:latin typeface="Segoe Print"/>
                <a:cs typeface="Segoe Print"/>
              </a:rPr>
              <a:t> </a:t>
            </a:r>
            <a:r>
              <a:rPr sz="1800" spc="-20" dirty="0">
                <a:solidFill>
                  <a:srgbClr val="00AF50"/>
                </a:solidFill>
                <a:latin typeface="Segoe Print"/>
                <a:cs typeface="Segoe Print"/>
              </a:rPr>
              <a:t>data</a:t>
            </a:r>
            <a:endParaRPr sz="18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467782"/>
            <a:ext cx="5570093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743700" y="860579"/>
            <a:ext cx="5072380" cy="6055360"/>
            <a:chOff x="5757671" y="646176"/>
            <a:chExt cx="5072380" cy="60553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7671" y="646176"/>
              <a:ext cx="5071872" cy="60548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644252" y="5958459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528827" y="185927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44252" y="5958459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7"/>
                  </a:moveTo>
                  <a:lnTo>
                    <a:pt x="528827" y="185927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7"/>
                  </a:lnTo>
                  <a:close/>
                </a:path>
              </a:pathLst>
            </a:custGeom>
            <a:ln w="1295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44252" y="6203060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528827" y="185927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44252" y="6203060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7"/>
                  </a:moveTo>
                  <a:lnTo>
                    <a:pt x="528827" y="185927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7"/>
                  </a:lnTo>
                  <a:close/>
                </a:path>
              </a:pathLst>
            </a:custGeom>
            <a:ln w="1295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44252" y="6448424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528827" y="185928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44252" y="6448424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8"/>
                  </a:moveTo>
                  <a:lnTo>
                    <a:pt x="528827" y="185928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1295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995407" y="6010354"/>
            <a:ext cx="131445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5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3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45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705600" y="830722"/>
            <a:ext cx="5149215" cy="5344160"/>
            <a:chOff x="5819394" y="600455"/>
            <a:chExt cx="5149215" cy="5344160"/>
          </a:xfrm>
        </p:grpSpPr>
        <p:sp>
          <p:nvSpPr>
            <p:cNvPr id="14" name="object 14"/>
            <p:cNvSpPr/>
            <p:nvPr/>
          </p:nvSpPr>
          <p:spPr>
            <a:xfrm>
              <a:off x="5857494" y="638555"/>
              <a:ext cx="5073015" cy="5260340"/>
            </a:xfrm>
            <a:custGeom>
              <a:avLst/>
              <a:gdLst/>
              <a:ahLst/>
              <a:cxnLst/>
              <a:rect l="l" t="t" r="r" b="b"/>
              <a:pathLst>
                <a:path w="5073015" h="5260340">
                  <a:moveTo>
                    <a:pt x="0" y="5260086"/>
                  </a:moveTo>
                  <a:lnTo>
                    <a:pt x="5072634" y="5260086"/>
                  </a:lnTo>
                  <a:lnTo>
                    <a:pt x="5072634" y="0"/>
                  </a:lnTo>
                  <a:lnTo>
                    <a:pt x="0" y="0"/>
                  </a:lnTo>
                  <a:lnTo>
                    <a:pt x="0" y="5260086"/>
                  </a:lnTo>
                  <a:close/>
                </a:path>
              </a:pathLst>
            </a:custGeom>
            <a:ln w="761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6381" y="654176"/>
              <a:ext cx="2734310" cy="5260340"/>
            </a:xfrm>
            <a:custGeom>
              <a:avLst/>
              <a:gdLst/>
              <a:ahLst/>
              <a:cxnLst/>
              <a:rect l="l" t="t" r="r" b="b"/>
              <a:pathLst>
                <a:path w="2734309" h="5260340">
                  <a:moveTo>
                    <a:pt x="0" y="5260086"/>
                  </a:moveTo>
                  <a:lnTo>
                    <a:pt x="2734055" y="5260086"/>
                  </a:lnTo>
                  <a:lnTo>
                    <a:pt x="2734055" y="0"/>
                  </a:lnTo>
                  <a:lnTo>
                    <a:pt x="0" y="0"/>
                  </a:lnTo>
                  <a:lnTo>
                    <a:pt x="0" y="5260086"/>
                  </a:lnTo>
                  <a:close/>
                </a:path>
              </a:pathLst>
            </a:custGeom>
            <a:ln w="57150">
              <a:solidFill>
                <a:srgbClr val="64A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13698" y="646175"/>
              <a:ext cx="1816100" cy="5260340"/>
            </a:xfrm>
            <a:custGeom>
              <a:avLst/>
              <a:gdLst/>
              <a:ahLst/>
              <a:cxnLst/>
              <a:rect l="l" t="t" r="r" b="b"/>
              <a:pathLst>
                <a:path w="1816100" h="5260340">
                  <a:moveTo>
                    <a:pt x="0" y="5260086"/>
                  </a:moveTo>
                  <a:lnTo>
                    <a:pt x="1815846" y="5260086"/>
                  </a:lnTo>
                  <a:lnTo>
                    <a:pt x="1815846" y="0"/>
                  </a:lnTo>
                  <a:lnTo>
                    <a:pt x="0" y="0"/>
                  </a:lnTo>
                  <a:lnTo>
                    <a:pt x="0" y="5260086"/>
                  </a:lnTo>
                  <a:close/>
                </a:path>
              </a:pathLst>
            </a:custGeom>
            <a:ln w="76200">
              <a:solidFill>
                <a:srgbClr val="CCA7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233" y="-19547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838" y="795782"/>
            <a:ext cx="157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Formulation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1390650"/>
            <a:ext cx="5734050" cy="25321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5750" y="4383023"/>
            <a:ext cx="5683758" cy="5334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970776" y="591312"/>
            <a:ext cx="5072380" cy="6054090"/>
            <a:chOff x="6970776" y="591312"/>
            <a:chExt cx="5072380" cy="60540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0776" y="591312"/>
              <a:ext cx="5071872" cy="60540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857357" y="5902833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528827" y="185928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57357" y="5902833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8"/>
                  </a:moveTo>
                  <a:lnTo>
                    <a:pt x="528827" y="185928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1295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57357" y="6148196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528827" y="185927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857357" y="6148196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7"/>
                  </a:moveTo>
                  <a:lnTo>
                    <a:pt x="528827" y="185927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7"/>
                  </a:lnTo>
                  <a:close/>
                </a:path>
              </a:pathLst>
            </a:custGeom>
            <a:ln w="1295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857357" y="6392798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528827" y="0"/>
                  </a:moveTo>
                  <a:lnTo>
                    <a:pt x="0" y="0"/>
                  </a:lnTo>
                  <a:lnTo>
                    <a:pt x="0" y="185927"/>
                  </a:lnTo>
                  <a:lnTo>
                    <a:pt x="528827" y="185927"/>
                  </a:lnTo>
                  <a:lnTo>
                    <a:pt x="52882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857357" y="6392798"/>
              <a:ext cx="528955" cy="186055"/>
            </a:xfrm>
            <a:custGeom>
              <a:avLst/>
              <a:gdLst/>
              <a:ahLst/>
              <a:cxnLst/>
              <a:rect l="l" t="t" r="r" b="b"/>
              <a:pathLst>
                <a:path w="528954" h="186054">
                  <a:moveTo>
                    <a:pt x="0" y="185927"/>
                  </a:moveTo>
                  <a:lnTo>
                    <a:pt x="528827" y="185927"/>
                  </a:lnTo>
                  <a:lnTo>
                    <a:pt x="528827" y="0"/>
                  </a:lnTo>
                  <a:lnTo>
                    <a:pt x="0" y="0"/>
                  </a:lnTo>
                  <a:lnTo>
                    <a:pt x="0" y="185927"/>
                  </a:lnTo>
                  <a:close/>
                </a:path>
              </a:pathLst>
            </a:custGeom>
            <a:ln w="12954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056111" y="5831585"/>
            <a:ext cx="131445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45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3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045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70776" y="830580"/>
            <a:ext cx="5072380" cy="5012690"/>
          </a:xfrm>
          <a:custGeom>
            <a:avLst/>
            <a:gdLst/>
            <a:ahLst/>
            <a:cxnLst/>
            <a:rect l="l" t="t" r="r" b="b"/>
            <a:pathLst>
              <a:path w="5072380" h="5012690">
                <a:moveTo>
                  <a:pt x="0" y="5012436"/>
                </a:moveTo>
                <a:lnTo>
                  <a:pt x="5071872" y="5012436"/>
                </a:lnTo>
                <a:lnTo>
                  <a:pt x="5071872" y="0"/>
                </a:lnTo>
                <a:lnTo>
                  <a:pt x="0" y="0"/>
                </a:lnTo>
                <a:lnTo>
                  <a:pt x="0" y="5012436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60042" y="5121402"/>
            <a:ext cx="2585466" cy="25450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5750" y="5545073"/>
            <a:ext cx="600075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175" y="-315058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838" y="795782"/>
            <a:ext cx="1576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Formulation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1447800"/>
            <a:ext cx="8705088" cy="533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5565" y="2224277"/>
            <a:ext cx="5155692" cy="2788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794" y="2951226"/>
            <a:ext cx="7021830" cy="2636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7838" y="3827017"/>
            <a:ext cx="1765300" cy="145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Regression: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35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Classification: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3545" y="3916679"/>
            <a:ext cx="4327398" cy="2545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3545" y="5725667"/>
            <a:ext cx="4531613" cy="25450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63545" y="4948428"/>
            <a:ext cx="6896861" cy="2545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838" y="795782"/>
            <a:ext cx="3383279" cy="128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Example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00" dirty="0">
              <a:latin typeface="Calibri"/>
              <a:cs typeface="Calibri"/>
            </a:endParaRPr>
          </a:p>
          <a:p>
            <a:pPr marL="739775">
              <a:lnSpc>
                <a:spcPct val="100000"/>
              </a:lnSpc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200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Patients: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67125" y="2719958"/>
            <a:ext cx="914400" cy="223520"/>
          </a:xfrm>
          <a:custGeom>
            <a:avLst/>
            <a:gdLst/>
            <a:ahLst/>
            <a:cxnLst/>
            <a:rect l="l" t="t" r="r" b="b"/>
            <a:pathLst>
              <a:path w="914400" h="223519">
                <a:moveTo>
                  <a:pt x="802766" y="0"/>
                </a:moveTo>
                <a:lnTo>
                  <a:pt x="802766" y="55752"/>
                </a:lnTo>
                <a:lnTo>
                  <a:pt x="0" y="55752"/>
                </a:lnTo>
                <a:lnTo>
                  <a:pt x="0" y="167512"/>
                </a:lnTo>
                <a:lnTo>
                  <a:pt x="802766" y="167512"/>
                </a:lnTo>
                <a:lnTo>
                  <a:pt x="802766" y="223265"/>
                </a:lnTo>
                <a:lnTo>
                  <a:pt x="914400" y="111632"/>
                </a:lnTo>
                <a:lnTo>
                  <a:pt x="802766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9744" y="2490977"/>
            <a:ext cx="1981200" cy="6797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30697" y="2667000"/>
            <a:ext cx="939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(h)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0407" y="2663698"/>
            <a:ext cx="3295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Calibri"/>
                <a:cs typeface="Calibri"/>
              </a:rPr>
              <a:t>Prediction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Oxygen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Saturation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43725" y="2719958"/>
            <a:ext cx="914400" cy="223520"/>
          </a:xfrm>
          <a:custGeom>
            <a:avLst/>
            <a:gdLst/>
            <a:ahLst/>
            <a:cxnLst/>
            <a:rect l="l" t="t" r="r" b="b"/>
            <a:pathLst>
              <a:path w="914400" h="223519">
                <a:moveTo>
                  <a:pt x="802767" y="0"/>
                </a:moveTo>
                <a:lnTo>
                  <a:pt x="802767" y="55752"/>
                </a:lnTo>
                <a:lnTo>
                  <a:pt x="0" y="55752"/>
                </a:lnTo>
                <a:lnTo>
                  <a:pt x="0" y="167512"/>
                </a:lnTo>
                <a:lnTo>
                  <a:pt x="802767" y="167512"/>
                </a:lnTo>
                <a:lnTo>
                  <a:pt x="802767" y="223265"/>
                </a:lnTo>
                <a:lnTo>
                  <a:pt x="914400" y="111632"/>
                </a:lnTo>
                <a:lnTo>
                  <a:pt x="802767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55039" y="2055876"/>
            <a:ext cx="253936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-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Age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patient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spc="-10" dirty="0">
                <a:latin typeface="Calibri"/>
                <a:cs typeface="Calibri"/>
              </a:rPr>
              <a:t>Cholesterol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levels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Glucose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levels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spc="-25" dirty="0">
                <a:latin typeface="Calibri"/>
                <a:cs typeface="Calibri"/>
              </a:rPr>
              <a:t>BMI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spc="-10" dirty="0">
                <a:latin typeface="Calibri"/>
                <a:cs typeface="Calibri"/>
              </a:rPr>
              <a:t>Height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Heart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Calories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intake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No.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taken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430" y="-206418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838" y="795782"/>
            <a:ext cx="1099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Example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000" y="1694900"/>
            <a:ext cx="3341468" cy="273956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200144" y="2710433"/>
            <a:ext cx="933450" cy="242570"/>
            <a:chOff x="4200144" y="2710433"/>
            <a:chExt cx="933450" cy="242570"/>
          </a:xfrm>
        </p:grpSpPr>
        <p:sp>
          <p:nvSpPr>
            <p:cNvPr id="6" name="object 6"/>
            <p:cNvSpPr/>
            <p:nvPr/>
          </p:nvSpPr>
          <p:spPr>
            <a:xfrm>
              <a:off x="4209669" y="2719958"/>
              <a:ext cx="914400" cy="223520"/>
            </a:xfrm>
            <a:custGeom>
              <a:avLst/>
              <a:gdLst/>
              <a:ahLst/>
              <a:cxnLst/>
              <a:rect l="l" t="t" r="r" b="b"/>
              <a:pathLst>
                <a:path w="914400" h="223519">
                  <a:moveTo>
                    <a:pt x="802766" y="0"/>
                  </a:moveTo>
                  <a:lnTo>
                    <a:pt x="802766" y="55752"/>
                  </a:lnTo>
                  <a:lnTo>
                    <a:pt x="0" y="55752"/>
                  </a:lnTo>
                  <a:lnTo>
                    <a:pt x="0" y="167512"/>
                  </a:lnTo>
                  <a:lnTo>
                    <a:pt x="802766" y="167512"/>
                  </a:lnTo>
                  <a:lnTo>
                    <a:pt x="802766" y="223265"/>
                  </a:lnTo>
                  <a:lnTo>
                    <a:pt x="914400" y="111632"/>
                  </a:lnTo>
                  <a:lnTo>
                    <a:pt x="80276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09669" y="2719958"/>
              <a:ext cx="914400" cy="223520"/>
            </a:xfrm>
            <a:custGeom>
              <a:avLst/>
              <a:gdLst/>
              <a:ahLst/>
              <a:cxnLst/>
              <a:rect l="l" t="t" r="r" b="b"/>
              <a:pathLst>
                <a:path w="914400" h="223519">
                  <a:moveTo>
                    <a:pt x="0" y="55752"/>
                  </a:moveTo>
                  <a:lnTo>
                    <a:pt x="802766" y="55752"/>
                  </a:lnTo>
                  <a:lnTo>
                    <a:pt x="802766" y="0"/>
                  </a:lnTo>
                  <a:lnTo>
                    <a:pt x="914400" y="111632"/>
                  </a:lnTo>
                  <a:lnTo>
                    <a:pt x="802766" y="223265"/>
                  </a:lnTo>
                  <a:lnTo>
                    <a:pt x="802766" y="167512"/>
                  </a:lnTo>
                  <a:lnTo>
                    <a:pt x="0" y="167512"/>
                  </a:lnTo>
                  <a:lnTo>
                    <a:pt x="0" y="55752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2288" y="2490977"/>
            <a:ext cx="1981200" cy="67970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873496" y="2667000"/>
            <a:ext cx="939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(h)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33459" y="2665221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Prediction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86268" y="2719958"/>
            <a:ext cx="914400" cy="223520"/>
          </a:xfrm>
          <a:custGeom>
            <a:avLst/>
            <a:gdLst/>
            <a:ahLst/>
            <a:cxnLst/>
            <a:rect l="l" t="t" r="r" b="b"/>
            <a:pathLst>
              <a:path w="914400" h="223519">
                <a:moveTo>
                  <a:pt x="802766" y="0"/>
                </a:moveTo>
                <a:lnTo>
                  <a:pt x="802766" y="55752"/>
                </a:lnTo>
                <a:lnTo>
                  <a:pt x="0" y="55752"/>
                </a:lnTo>
                <a:lnTo>
                  <a:pt x="0" y="167512"/>
                </a:lnTo>
                <a:lnTo>
                  <a:pt x="802766" y="167512"/>
                </a:lnTo>
                <a:lnTo>
                  <a:pt x="802766" y="223265"/>
                </a:lnTo>
                <a:lnTo>
                  <a:pt x="914400" y="111632"/>
                </a:lnTo>
                <a:lnTo>
                  <a:pt x="802766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6805" y="4508245"/>
            <a:ext cx="413004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MNIST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Data: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28x28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pixel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image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60,000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2400" dirty="0">
                <a:latin typeface="Calibri"/>
                <a:cs typeface="Calibri"/>
              </a:rPr>
              <a:t>10,000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32366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4858631"/>
            <a:ext cx="10457688" cy="6362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869" y="3963923"/>
            <a:ext cx="1888998" cy="2758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553" y="1632204"/>
            <a:ext cx="7131558" cy="2301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5769" y="935990"/>
            <a:ext cx="5421631" cy="46061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699"/>
              </a:lnSpc>
              <a:spcBef>
                <a:spcPts val="100"/>
              </a:spcBef>
            </a:pP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Q:</a:t>
            </a:r>
            <a:r>
              <a:rPr sz="2400" b="1" u="sng" spc="-4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How</a:t>
            </a:r>
            <a:r>
              <a:rPr sz="2400" b="1" u="sng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do</a:t>
            </a:r>
            <a:r>
              <a:rPr sz="2400" b="1" u="sng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we</a:t>
            </a:r>
            <a:r>
              <a:rPr sz="2400" b="1" u="sng" spc="-4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evaluate</a:t>
            </a:r>
            <a:r>
              <a:rPr sz="2400" b="1" u="sng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the</a:t>
            </a:r>
            <a:r>
              <a:rPr sz="2400" b="1" u="sng" spc="-4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performance?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u="sng" spc="-2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libri"/>
                <a:cs typeface="Calibri"/>
              </a:rPr>
              <a:t>A: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360"/>
              </a:spcBef>
            </a:pPr>
            <a:r>
              <a:rPr lang="en-US" sz="2400" dirty="0">
                <a:solidFill>
                  <a:srgbClr val="FF0000"/>
                </a:solidFill>
              </a:rPr>
              <a:t>But, how do the algorithm knew that the predictions are wrong?</a:t>
            </a:r>
          </a:p>
          <a:p>
            <a:pPr>
              <a:spcBef>
                <a:spcPts val="1360"/>
              </a:spcBef>
            </a:pPr>
            <a:r>
              <a:rPr lang="en-US" sz="2400" dirty="0"/>
              <a:t>Cost function/ loss function tell it</a:t>
            </a:r>
          </a:p>
          <a:p>
            <a:pPr>
              <a:spcBef>
                <a:spcPts val="1360"/>
              </a:spcBef>
            </a:pPr>
            <a:r>
              <a:rPr lang="en-US"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Loss</a:t>
            </a:r>
            <a:r>
              <a:rPr lang="en-US"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Function</a:t>
            </a:r>
            <a:endParaRPr lang="en-US" sz="2400" dirty="0">
              <a:latin typeface="Calibri"/>
              <a:cs typeface="Calibri"/>
            </a:endParaRPr>
          </a:p>
          <a:p>
            <a:pPr>
              <a:spcBef>
                <a:spcPts val="1360"/>
              </a:spcBef>
            </a:pPr>
            <a:endParaRPr lang="en-US" sz="24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lang="en-US"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F9AC-1FB1-4D3D-6ABB-BF590F745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AA3FB-E962-3827-5D93-6CEAFE4BA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-apple-system"/>
              </a:rPr>
              <a:t>Loss functions are used to quantify how well or bad a model can reproduce the values of the training set.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The appropriate loss function depends on the type of problems and the algorithm we use.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Let's denote with y^ the prediction of the model and y the true value.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071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A8AD-54BC-CE9F-7C7A-904F9FA0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2B09-0361-C9DA-5127-8A6CB4A99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0" i="0" dirty="0">
                <a:solidFill>
                  <a:srgbClr val="2B2A29"/>
                </a:solidFill>
                <a:effectLst/>
              </a:rPr>
              <a:t>Cost functions can be of various types depending on the problem. However, mainly it is of three types, which are as follows:</a:t>
            </a:r>
          </a:p>
          <a:p>
            <a:pPr lvl="1" algn="just">
              <a:buFont typeface="+mj-lt"/>
              <a:buAutoNum type="arabicPeriod"/>
            </a:pPr>
            <a:r>
              <a:rPr lang="en-US" sz="20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Regression Cost Function</a:t>
            </a:r>
          </a:p>
          <a:p>
            <a:pPr lvl="1" algn="just">
              <a:buFont typeface="+mj-lt"/>
              <a:buAutoNum type="arabicPeriod"/>
            </a:pPr>
            <a:r>
              <a:rPr lang="en-US" sz="20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Binary Classification cost Functions</a:t>
            </a:r>
          </a:p>
          <a:p>
            <a:pPr lvl="1" algn="just">
              <a:buFont typeface="+mj-lt"/>
              <a:buAutoNum type="arabicPeriod"/>
            </a:pPr>
            <a:r>
              <a:rPr lang="en-US" sz="20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Multi-class Classification Cost Function.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098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40FA3-1864-68D1-ECFE-FBE4299D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1. </a:t>
            </a:r>
            <a:r>
              <a:rPr lang="en-US" sz="3200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  <a:t>Regression Cost Function</a:t>
            </a:r>
            <a:br>
              <a:rPr lang="en-US" b="0" i="0" dirty="0">
                <a:solidFill>
                  <a:srgbClr val="1D1D27"/>
                </a:solidFill>
                <a:effectLst/>
                <a:latin typeface="Montserrat" panose="02000505000000020004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D8FE5-08A6-6BAB-8AA8-F35DD3118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Regression models are used to make a prediction for the continuous variables such as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Montserrat" panose="02000505000000020004" pitchFamily="2" charset="0"/>
              </a:rPr>
              <a:t>the price of houses, weather prediction, loan predictions</a:t>
            </a:r>
            <a:r>
              <a:rPr lang="en-US" sz="2000" b="0" i="0" dirty="0">
                <a:solidFill>
                  <a:srgbClr val="2B2A29"/>
                </a:solidFill>
                <a:effectLst/>
                <a:latin typeface="Montserrat" panose="02000505000000020004" pitchFamily="2" charset="0"/>
              </a:rPr>
              <a:t>, etc. When a cost function is used with Regression, it is known as the "Regression Cost Function." In this, the cost function is calculated as the error based on the distance, such as:</a:t>
            </a:r>
          </a:p>
          <a:p>
            <a:pPr marL="0" indent="0">
              <a:buNone/>
            </a:pPr>
            <a:r>
              <a:rPr lang="en-US" sz="1600" b="0" i="0" dirty="0">
                <a:solidFill>
                  <a:srgbClr val="2B2A29"/>
                </a:solidFill>
                <a:effectLst/>
                <a:highlight>
                  <a:srgbClr val="FFFF00"/>
                </a:highlight>
                <a:latin typeface="Montserrat" panose="02000505000000020004" pitchFamily="2" charset="0"/>
              </a:rPr>
              <a:t>                                                                      Error= </a:t>
            </a:r>
            <a:r>
              <a:rPr lang="en-US" sz="1600" b="0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Montserrat" panose="02000505000000020004" pitchFamily="2" charset="0"/>
              </a:rPr>
              <a:t>Actual</a:t>
            </a:r>
            <a:r>
              <a:rPr lang="en-US" sz="1600" b="0" i="0" dirty="0">
                <a:solidFill>
                  <a:srgbClr val="2B2A29"/>
                </a:solidFill>
                <a:effectLst/>
                <a:highlight>
                  <a:srgbClr val="FFFF00"/>
                </a:highlight>
                <a:latin typeface="Montserrat" panose="02000505000000020004" pitchFamily="2" charset="0"/>
              </a:rPr>
              <a:t> Output-Predicted output                   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7503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6863" y="33047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422" y="1072388"/>
            <a:ext cx="9378950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Squared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Loss</a:t>
            </a:r>
            <a:r>
              <a:rPr sz="24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Function:</a:t>
            </a:r>
            <a:endParaRPr sz="2400">
              <a:latin typeface="Calibri"/>
              <a:cs typeface="Calibri"/>
            </a:endParaRPr>
          </a:p>
          <a:p>
            <a:pPr marL="65405">
              <a:lnSpc>
                <a:spcPct val="100000"/>
              </a:lnSpc>
              <a:spcBef>
                <a:spcPts val="1664"/>
              </a:spcBef>
            </a:pPr>
            <a:r>
              <a:rPr sz="2000" dirty="0">
                <a:latin typeface="Segoe Print"/>
                <a:cs typeface="Segoe Print"/>
              </a:rPr>
              <a:t>Squared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loss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defined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as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(also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referred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as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b="1" spc="-20" dirty="0">
                <a:latin typeface="Segoe Print"/>
                <a:cs typeface="Segoe Print"/>
              </a:rPr>
              <a:t>mean-</a:t>
            </a:r>
            <a:r>
              <a:rPr sz="2000" b="1" dirty="0">
                <a:latin typeface="Segoe Print"/>
                <a:cs typeface="Segoe Print"/>
              </a:rPr>
              <a:t>square</a:t>
            </a:r>
            <a:r>
              <a:rPr sz="2000" b="1" spc="-30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error,</a:t>
            </a:r>
            <a:r>
              <a:rPr sz="2000" b="1" spc="-50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MSE</a:t>
            </a:r>
            <a:r>
              <a:rPr sz="2000" b="1" spc="-45" dirty="0">
                <a:latin typeface="Segoe Print"/>
                <a:cs typeface="Segoe Print"/>
              </a:rPr>
              <a:t> </a:t>
            </a:r>
            <a:r>
              <a:rPr sz="2000" spc="-50" dirty="0">
                <a:latin typeface="Segoe Print"/>
                <a:cs typeface="Segoe Print"/>
              </a:rPr>
              <a:t>)</a:t>
            </a:r>
            <a:endParaRPr sz="2000">
              <a:latin typeface="Segoe Print"/>
              <a:cs typeface="Segoe Prin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8415" y="2169414"/>
            <a:ext cx="3742943" cy="8321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1359" y="5081015"/>
            <a:ext cx="4261104" cy="10934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8422" y="2916580"/>
            <a:ext cx="9937750" cy="280987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Interpretation:</a:t>
            </a:r>
            <a:endParaRPr sz="2400">
              <a:latin typeface="Calibri"/>
              <a:cs typeface="Calibri"/>
            </a:endParaRPr>
          </a:p>
          <a:p>
            <a:pPr marL="549910" indent="-342900">
              <a:lnSpc>
                <a:spcPct val="100000"/>
              </a:lnSpc>
              <a:spcBef>
                <a:spcPts val="715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/>
                <a:cs typeface="Segoe Print"/>
              </a:rPr>
              <a:t>Again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note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normalization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by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number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samples.</a:t>
            </a:r>
            <a:endParaRPr sz="2000">
              <a:latin typeface="Segoe Print"/>
              <a:cs typeface="Segoe Print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/>
                <a:cs typeface="Segoe Print"/>
              </a:rPr>
              <a:t>Loss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always</a:t>
            </a:r>
            <a:r>
              <a:rPr sz="2000" spc="-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nonnegative.</a:t>
            </a:r>
            <a:endParaRPr sz="2000">
              <a:latin typeface="Segoe Print"/>
              <a:cs typeface="Segoe Print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/>
                <a:cs typeface="Segoe Print"/>
              </a:rPr>
              <a:t>Loss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grows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quadratically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with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absolute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error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amount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in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each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sample.</a:t>
            </a:r>
            <a:endParaRPr sz="2000">
              <a:latin typeface="Segoe Print"/>
              <a:cs typeface="Segoe Prin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Root</a:t>
            </a:r>
            <a:r>
              <a:rPr sz="2400" b="1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Mean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Squared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Error</a:t>
            </a:r>
            <a:r>
              <a:rPr sz="2400" b="1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(RMSE):</a:t>
            </a:r>
            <a:endParaRPr sz="2400">
              <a:latin typeface="Calibri"/>
              <a:cs typeface="Calibri"/>
            </a:endParaRPr>
          </a:p>
          <a:p>
            <a:pPr marL="65405">
              <a:lnSpc>
                <a:spcPct val="100000"/>
              </a:lnSpc>
              <a:spcBef>
                <a:spcPts val="1670"/>
              </a:spcBef>
              <a:tabLst>
                <a:tab pos="1878330" algn="l"/>
              </a:tabLst>
            </a:pPr>
            <a:r>
              <a:rPr sz="2000" dirty="0">
                <a:latin typeface="Segoe Print"/>
                <a:cs typeface="Segoe Print"/>
              </a:rPr>
              <a:t>RMSE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spc="-20" dirty="0">
                <a:latin typeface="Segoe Print"/>
                <a:cs typeface="Segoe Print"/>
              </a:rPr>
              <a:t>just</a:t>
            </a:r>
            <a:r>
              <a:rPr sz="2000" dirty="0">
                <a:latin typeface="Segoe Print"/>
                <a:cs typeface="Segoe Print"/>
              </a:rPr>
              <a:t>	square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root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squared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loss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function:</a:t>
            </a:r>
            <a:endParaRPr sz="20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2554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422" y="1072388"/>
            <a:ext cx="3365500" cy="908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Absolute</a:t>
            </a:r>
            <a:r>
              <a:rPr sz="2400" b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Loss</a:t>
            </a:r>
            <a:r>
              <a:rPr sz="2400" b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Function:</a:t>
            </a:r>
            <a:endParaRPr sz="2400">
              <a:latin typeface="Calibri"/>
              <a:cs typeface="Calibri"/>
            </a:endParaRPr>
          </a:p>
          <a:p>
            <a:pPr marL="65405">
              <a:lnSpc>
                <a:spcPct val="100000"/>
              </a:lnSpc>
              <a:spcBef>
                <a:spcPts val="1664"/>
              </a:spcBef>
            </a:pPr>
            <a:r>
              <a:rPr sz="2000" dirty="0">
                <a:latin typeface="Segoe Print"/>
                <a:cs typeface="Segoe Print"/>
              </a:rPr>
              <a:t>Absolute</a:t>
            </a:r>
            <a:r>
              <a:rPr sz="2000" spc="-6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loss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6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defined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spc="-25" dirty="0">
                <a:latin typeface="Segoe Print"/>
                <a:cs typeface="Segoe Print"/>
              </a:rPr>
              <a:t>as</a:t>
            </a:r>
            <a:endParaRPr sz="2000">
              <a:latin typeface="Segoe Print"/>
              <a:cs typeface="Segoe Prin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8415" y="2169414"/>
            <a:ext cx="3618738" cy="8321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8422" y="2916580"/>
            <a:ext cx="9389745" cy="13531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Interpretation:</a:t>
            </a:r>
            <a:endParaRPr sz="2400" dirty="0">
              <a:latin typeface="Calibri"/>
              <a:cs typeface="Calibri"/>
            </a:endParaRPr>
          </a:p>
          <a:p>
            <a:pPr marL="549910" indent="-342900">
              <a:lnSpc>
                <a:spcPct val="100000"/>
              </a:lnSpc>
              <a:spcBef>
                <a:spcPts val="715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/>
                <a:cs typeface="Segoe Print"/>
              </a:rPr>
              <a:t>Loss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grows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linearly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with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absolute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error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in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each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prediction.</a:t>
            </a:r>
            <a:endParaRPr sz="2000" dirty="0">
              <a:latin typeface="Segoe Print"/>
              <a:cs typeface="Segoe Print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dirty="0">
                <a:latin typeface="Segoe Print"/>
                <a:cs typeface="Segoe Print"/>
              </a:rPr>
              <a:t>Used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in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regression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and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suited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for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noisy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data.</a:t>
            </a:r>
            <a:endParaRPr sz="2000" dirty="0">
              <a:latin typeface="Segoe Print"/>
              <a:cs typeface="Segoe Prin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1338" y="5076697"/>
            <a:ext cx="45377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Segoe Print"/>
                <a:cs typeface="Segoe Print"/>
              </a:rPr>
              <a:t>*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All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losses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are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non-negative</a:t>
            </a:r>
            <a:endParaRPr sz="20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4579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29" y="1487424"/>
            <a:ext cx="7464552" cy="11079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2825" y="946150"/>
            <a:ext cx="111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Learning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8655" y="2782061"/>
            <a:ext cx="8708390" cy="662305"/>
            <a:chOff x="1438655" y="2782061"/>
            <a:chExt cx="8708390" cy="6623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8655" y="2886455"/>
              <a:ext cx="8708136" cy="557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202167" y="2801111"/>
              <a:ext cx="1243330" cy="486409"/>
            </a:xfrm>
            <a:custGeom>
              <a:avLst/>
              <a:gdLst/>
              <a:ahLst/>
              <a:cxnLst/>
              <a:rect l="l" t="t" r="r" b="b"/>
              <a:pathLst>
                <a:path w="1243329" h="486410">
                  <a:moveTo>
                    <a:pt x="0" y="486156"/>
                  </a:moveTo>
                  <a:lnTo>
                    <a:pt x="1242822" y="486156"/>
                  </a:lnTo>
                  <a:lnTo>
                    <a:pt x="1242822" y="0"/>
                  </a:lnTo>
                  <a:lnTo>
                    <a:pt x="0" y="0"/>
                  </a:lnTo>
                  <a:lnTo>
                    <a:pt x="0" y="486156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33323" y="2789935"/>
            <a:ext cx="77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Recall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84642" y="2130297"/>
            <a:ext cx="2748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38235"/>
                </a:solidFill>
                <a:latin typeface="Segoe Print"/>
                <a:cs typeface="Segoe Print"/>
              </a:rPr>
              <a:t>(Optimization</a:t>
            </a:r>
            <a:r>
              <a:rPr sz="1800" spc="-155" dirty="0">
                <a:solidFill>
                  <a:srgbClr val="538235"/>
                </a:solidFill>
                <a:latin typeface="Segoe Print"/>
                <a:cs typeface="Segoe Print"/>
              </a:rPr>
              <a:t> </a:t>
            </a:r>
            <a:r>
              <a:rPr sz="1800" spc="-10" dirty="0">
                <a:solidFill>
                  <a:srgbClr val="538235"/>
                </a:solidFill>
                <a:latin typeface="Segoe Print"/>
                <a:cs typeface="Segoe Print"/>
              </a:rPr>
              <a:t>problem)</a:t>
            </a:r>
            <a:endParaRPr sz="1800">
              <a:latin typeface="Segoe Print"/>
              <a:cs typeface="Segoe Prin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4329" y="3900678"/>
            <a:ext cx="8711946" cy="5334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33323" y="4975352"/>
            <a:ext cx="10139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Q: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How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can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we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ensure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that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hypothesis</a:t>
            </a:r>
            <a:r>
              <a:rPr sz="24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sz="2400" b="1" i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will</a:t>
            </a:r>
            <a:r>
              <a:rPr sz="24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give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low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loss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input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not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24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247" y="25463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483279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Interpretation:</a:t>
            </a:r>
          </a:p>
          <a:p>
            <a:pPr marL="549910" indent="-342900">
              <a:lnSpc>
                <a:spcPct val="100000"/>
              </a:lnSpc>
              <a:spcBef>
                <a:spcPts val="715"/>
              </a:spcBef>
              <a:buChar char="-"/>
              <a:tabLst>
                <a:tab pos="549910" algn="l"/>
              </a:tabLst>
            </a:pPr>
            <a:endParaRPr lang="en-US" sz="2000" b="0" u="none" dirty="0">
              <a:solidFill>
                <a:srgbClr val="000000"/>
              </a:solidFill>
              <a:latin typeface="Segoe Print"/>
              <a:cs typeface="Segoe Print"/>
            </a:endParaRPr>
          </a:p>
          <a:p>
            <a:pPr marL="549910" indent="-342900">
              <a:lnSpc>
                <a:spcPct val="100000"/>
              </a:lnSpc>
              <a:spcBef>
                <a:spcPts val="715"/>
              </a:spcBef>
              <a:buChar char="-"/>
              <a:tabLst>
                <a:tab pos="549910" algn="l"/>
              </a:tabLst>
            </a:pP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0%</a:t>
            </a:r>
            <a:r>
              <a:rPr sz="2000" b="0" u="none" spc="-1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loss</a:t>
            </a:r>
            <a:r>
              <a:rPr sz="2000" b="0" u="none" spc="-20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error</a:t>
            </a:r>
            <a:r>
              <a:rPr sz="2000" b="0" u="none" spc="-40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on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the</a:t>
            </a:r>
            <a:r>
              <a:rPr sz="2000" b="0" u="none" spc="-30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training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data</a:t>
            </a:r>
            <a:r>
              <a:rPr sz="2000" b="0" u="none" spc="-1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(Model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is</a:t>
            </a:r>
            <a:r>
              <a:rPr sz="2000" b="0" u="none" spc="-30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fit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to</a:t>
            </a:r>
            <a:r>
              <a:rPr sz="2000" b="0" u="none" spc="-20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every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data</a:t>
            </a:r>
            <a:r>
              <a:rPr sz="2000" b="0" u="none" spc="-1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point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in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D).</a:t>
            </a:r>
            <a:endParaRPr sz="2000" dirty="0">
              <a:latin typeface="Segoe Print"/>
              <a:cs typeface="Segoe Print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Large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error</a:t>
            </a:r>
            <a:r>
              <a:rPr sz="2000" b="0" u="none" spc="-40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for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some</a:t>
            </a:r>
            <a:r>
              <a:rPr sz="2000" b="0" u="none" spc="-30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input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not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in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spc="-50" dirty="0">
                <a:solidFill>
                  <a:srgbClr val="000000"/>
                </a:solidFill>
                <a:latin typeface="Segoe Print"/>
                <a:cs typeface="Segoe Print"/>
              </a:rPr>
              <a:t>D</a:t>
            </a:r>
            <a:endParaRPr sz="2000" dirty="0">
              <a:latin typeface="Segoe Print"/>
              <a:cs typeface="Segoe Print"/>
            </a:endParaRPr>
          </a:p>
          <a:p>
            <a:pPr marL="549910" indent="-342900">
              <a:lnSpc>
                <a:spcPct val="100000"/>
              </a:lnSpc>
              <a:spcBef>
                <a:spcPts val="1200"/>
              </a:spcBef>
              <a:buChar char="-"/>
              <a:tabLst>
                <a:tab pos="549910" algn="l"/>
              </a:tabLst>
            </a:pP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First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glimpse</a:t>
            </a:r>
            <a:r>
              <a:rPr sz="2000" b="0" u="none" spc="-25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b="0" u="none" dirty="0">
                <a:solidFill>
                  <a:srgbClr val="000000"/>
                </a:solidFill>
                <a:latin typeface="Segoe Print"/>
                <a:cs typeface="Segoe Print"/>
              </a:rPr>
              <a:t>of</a:t>
            </a:r>
            <a:r>
              <a:rPr sz="2000" b="0" u="none" spc="-10" dirty="0">
                <a:solidFill>
                  <a:srgbClr val="000000"/>
                </a:solidFill>
                <a:latin typeface="Segoe Print"/>
                <a:cs typeface="Segoe Print"/>
              </a:rPr>
              <a:t> </a:t>
            </a:r>
            <a:r>
              <a:rPr sz="2000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Segoe Print"/>
                <a:cs typeface="Segoe Print"/>
              </a:rPr>
              <a:t>overfitting.</a:t>
            </a:r>
            <a:endParaRPr sz="2000" dirty="0">
              <a:latin typeface="Segoe Print"/>
              <a:cs typeface="Segoe Print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pc="-10" dirty="0"/>
              <a:t>Revisit:</a:t>
            </a:r>
          </a:p>
          <a:p>
            <a:pPr marL="135890">
              <a:lnSpc>
                <a:spcPct val="100000"/>
              </a:lnSpc>
              <a:spcBef>
                <a:spcPts val="815"/>
              </a:spcBef>
            </a:pPr>
            <a:r>
              <a:rPr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</a:rPr>
              <a:t>Q:</a:t>
            </a:r>
            <a:r>
              <a:rPr u="none" spc="-3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How</a:t>
            </a:r>
            <a:r>
              <a:rPr u="none" spc="-4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can</a:t>
            </a:r>
            <a:r>
              <a:rPr u="none" spc="-4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we</a:t>
            </a:r>
            <a:r>
              <a:rPr u="none" spc="-3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ensure</a:t>
            </a:r>
            <a:r>
              <a:rPr u="none" spc="-3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that</a:t>
            </a:r>
            <a:r>
              <a:rPr u="none" spc="-30" dirty="0">
                <a:solidFill>
                  <a:srgbClr val="C00000"/>
                </a:solidFill>
              </a:rPr>
              <a:t> </a:t>
            </a:r>
            <a:r>
              <a:rPr u="none" spc="-10" dirty="0">
                <a:solidFill>
                  <a:srgbClr val="C00000"/>
                </a:solidFill>
              </a:rPr>
              <a:t>hypothesis </a:t>
            </a:r>
            <a:r>
              <a:rPr i="1" u="none" dirty="0">
                <a:solidFill>
                  <a:srgbClr val="C00000"/>
                </a:solidFill>
                <a:latin typeface="Calibri"/>
                <a:cs typeface="Calibri"/>
              </a:rPr>
              <a:t>h</a:t>
            </a:r>
            <a:r>
              <a:rPr i="1" u="none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u="none" dirty="0">
                <a:solidFill>
                  <a:srgbClr val="C00000"/>
                </a:solidFill>
              </a:rPr>
              <a:t>will</a:t>
            </a:r>
            <a:r>
              <a:rPr u="none" spc="-4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give</a:t>
            </a:r>
            <a:r>
              <a:rPr u="none" spc="-3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low</a:t>
            </a:r>
            <a:r>
              <a:rPr u="none" spc="-4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loss</a:t>
            </a:r>
            <a:r>
              <a:rPr u="none" spc="-3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on</a:t>
            </a:r>
            <a:r>
              <a:rPr u="none" spc="-4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the</a:t>
            </a:r>
            <a:r>
              <a:rPr u="none" spc="-35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input</a:t>
            </a:r>
            <a:r>
              <a:rPr u="none" spc="-4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not</a:t>
            </a:r>
            <a:r>
              <a:rPr u="none" spc="-40" dirty="0">
                <a:solidFill>
                  <a:srgbClr val="C00000"/>
                </a:solidFill>
              </a:rPr>
              <a:t> </a:t>
            </a:r>
            <a:r>
              <a:rPr u="none" dirty="0">
                <a:solidFill>
                  <a:srgbClr val="C00000"/>
                </a:solidFill>
              </a:rPr>
              <a:t>in</a:t>
            </a:r>
            <a:r>
              <a:rPr u="none" spc="-30" dirty="0">
                <a:solidFill>
                  <a:srgbClr val="C00000"/>
                </a:solidFill>
              </a:rPr>
              <a:t> </a:t>
            </a:r>
            <a:r>
              <a:rPr i="1" u="none" spc="-25" dirty="0">
                <a:solidFill>
                  <a:srgbClr val="C00000"/>
                </a:solidFill>
                <a:latin typeface="Calibri"/>
                <a:cs typeface="Calibri"/>
              </a:rPr>
              <a:t>D</a:t>
            </a:r>
            <a:r>
              <a:rPr u="none" spc="-25" dirty="0">
                <a:solidFill>
                  <a:srgbClr val="C00000"/>
                </a:solidFill>
              </a:rPr>
              <a:t>?</a:t>
            </a:r>
          </a:p>
          <a:p>
            <a:pPr marL="135890">
              <a:lnSpc>
                <a:spcPct val="100000"/>
              </a:lnSpc>
              <a:spcBef>
                <a:spcPts val="2045"/>
              </a:spcBef>
            </a:pPr>
            <a:r>
              <a:rPr u="sng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</a:rPr>
              <a:t>A:</a:t>
            </a:r>
            <a:r>
              <a:rPr u="none" spc="-45" dirty="0">
                <a:solidFill>
                  <a:srgbClr val="00AF50"/>
                </a:solidFill>
              </a:rPr>
              <a:t> Train/Test</a:t>
            </a:r>
            <a:r>
              <a:rPr u="none" spc="-30" dirty="0">
                <a:solidFill>
                  <a:srgbClr val="00AF50"/>
                </a:solidFill>
              </a:rPr>
              <a:t> </a:t>
            </a:r>
            <a:r>
              <a:rPr u="none" spc="-10" dirty="0">
                <a:solidFill>
                  <a:srgbClr val="00AF50"/>
                </a:solidFill>
              </a:rPr>
              <a:t>Split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436" y="1158024"/>
            <a:ext cx="8714994" cy="784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6200" y="1825625"/>
            <a:ext cx="5350002" cy="91058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849" y="52452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083" y="3912108"/>
            <a:ext cx="9995154" cy="12435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509" y="1573595"/>
            <a:ext cx="6637782" cy="16351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7838" y="3257550"/>
            <a:ext cx="3384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How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carry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out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splitting?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56557" y="476846"/>
            <a:ext cx="3053322" cy="31410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82121" y="1182435"/>
            <a:ext cx="4476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2005" algn="l"/>
              </a:tabLst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Generalization: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	The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Train-Test</a:t>
            </a:r>
            <a:r>
              <a:rPr sz="2400" b="1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Split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220" y="5862941"/>
            <a:ext cx="11211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You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can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only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use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test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dataset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once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after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deciding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on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model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using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training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dataset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76136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975011"/>
            <a:ext cx="4742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Learning</a:t>
            </a:r>
            <a:r>
              <a:rPr sz="2400" b="1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(Revisit</a:t>
            </a:r>
            <a:r>
              <a:rPr sz="24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after</a:t>
            </a:r>
            <a:r>
              <a:rPr sz="2400" b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train-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test</a:t>
            </a:r>
            <a:r>
              <a:rPr sz="2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split)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29" y="1487424"/>
            <a:ext cx="5975604" cy="10751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329" y="2635757"/>
            <a:ext cx="7276338" cy="143332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3323" y="4197604"/>
            <a:ext cx="1350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Evaluation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060" y="4760214"/>
            <a:ext cx="6979158" cy="143408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9145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522" y="1445513"/>
            <a:ext cx="10453878" cy="25405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2250" y="947733"/>
            <a:ext cx="4476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2005" algn="l"/>
              </a:tabLst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Generalization: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	The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Train-Test</a:t>
            </a:r>
            <a:r>
              <a:rPr sz="2400" b="1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Split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250" y="3926077"/>
            <a:ext cx="10669270" cy="20008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Q: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Idea:</a:t>
            </a:r>
            <a:endParaRPr sz="2400" dirty="0">
              <a:latin typeface="Calibri"/>
              <a:cs typeface="Calibri"/>
            </a:endParaRPr>
          </a:p>
          <a:p>
            <a:pPr marL="406400" marR="508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Print"/>
                <a:cs typeface="Segoe Print"/>
              </a:rPr>
              <a:t>Validation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is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used</a:t>
            </a:r>
            <a:r>
              <a:rPr sz="2400" spc="-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evaluate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loss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function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that</a:t>
            </a:r>
            <a:r>
              <a:rPr sz="2400" spc="-55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is </a:t>
            </a:r>
            <a:r>
              <a:rPr sz="2400" dirty="0">
                <a:latin typeface="Segoe Print"/>
                <a:cs typeface="Segoe Print"/>
              </a:rPr>
              <a:t>determined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using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learning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on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training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data-</a:t>
            </a:r>
            <a:r>
              <a:rPr sz="2400" dirty="0">
                <a:latin typeface="Segoe Print"/>
                <a:cs typeface="Segoe Print"/>
              </a:rPr>
              <a:t>set.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If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spc="-20" dirty="0">
                <a:latin typeface="Segoe Print"/>
                <a:cs typeface="Segoe Print"/>
              </a:rPr>
              <a:t>loss </a:t>
            </a:r>
            <a:r>
              <a:rPr sz="2400" dirty="0">
                <a:latin typeface="Segoe Print"/>
                <a:cs typeface="Segoe Print"/>
              </a:rPr>
              <a:t>on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validation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is</a:t>
            </a:r>
            <a:r>
              <a:rPr sz="2400" spc="-5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high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for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given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h,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the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hypothesis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or</a:t>
            </a:r>
            <a:r>
              <a:rPr sz="2400" spc="-40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model </a:t>
            </a:r>
            <a:r>
              <a:rPr sz="2400" dirty="0">
                <a:latin typeface="Segoe Print"/>
                <a:cs typeface="Segoe Print"/>
              </a:rPr>
              <a:t>needs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be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changed.</a:t>
            </a:r>
            <a:endParaRPr sz="2400" dirty="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0064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212532"/>
            <a:ext cx="11301730" cy="4432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2005" algn="l"/>
              </a:tabLst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Generalization: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	The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Train-Test</a:t>
            </a:r>
            <a:r>
              <a:rPr sz="2400" b="1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Split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30"/>
              </a:spcBef>
            </a:pPr>
            <a:r>
              <a:rPr sz="2400" b="1" dirty="0">
                <a:latin typeface="Calibri"/>
                <a:cs typeface="Calibri"/>
              </a:rPr>
              <a:t>More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explanation*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better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understand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difference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between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validation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test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data:</a:t>
            </a:r>
            <a:endParaRPr sz="2400" dirty="0">
              <a:latin typeface="Calibri"/>
              <a:cs typeface="Calibri"/>
            </a:endParaRPr>
          </a:p>
          <a:p>
            <a:pPr marL="598805" marR="2174240" indent="-285750">
              <a:lnSpc>
                <a:spcPct val="100000"/>
              </a:lnSpc>
              <a:spcBef>
                <a:spcPts val="2510"/>
              </a:spcBef>
              <a:buFont typeface="Segoe Print"/>
              <a:buChar char="-"/>
              <a:tabLst>
                <a:tab pos="598805" algn="l"/>
              </a:tabLst>
            </a:pPr>
            <a:r>
              <a:rPr sz="2000" b="1" dirty="0">
                <a:latin typeface="Segoe Print"/>
                <a:cs typeface="Segoe Print"/>
              </a:rPr>
              <a:t>Training</a:t>
            </a:r>
            <a:r>
              <a:rPr sz="2000" b="1" spc="-20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set:</a:t>
            </a:r>
            <a:r>
              <a:rPr sz="2000" b="1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set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examples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used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for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learning,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that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is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fit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spc="-25" dirty="0">
                <a:latin typeface="Segoe Print"/>
                <a:cs typeface="Segoe Print"/>
              </a:rPr>
              <a:t>the </a:t>
            </a:r>
            <a:r>
              <a:rPr sz="2000" dirty="0">
                <a:latin typeface="Segoe Print"/>
                <a:cs typeface="Segoe Print"/>
              </a:rPr>
              <a:t>parameters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hypothesis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(model).</a:t>
            </a:r>
            <a:endParaRPr sz="2000" dirty="0">
              <a:latin typeface="Segoe Print"/>
              <a:cs typeface="Segoe Print"/>
            </a:endParaRPr>
          </a:p>
          <a:p>
            <a:pPr marL="598805" marR="1485900" indent="-285750">
              <a:lnSpc>
                <a:spcPct val="100000"/>
              </a:lnSpc>
              <a:spcBef>
                <a:spcPts val="2400"/>
              </a:spcBef>
              <a:buFont typeface="Segoe Print"/>
              <a:buChar char="-"/>
              <a:tabLst>
                <a:tab pos="598805" algn="l"/>
              </a:tabLst>
            </a:pPr>
            <a:r>
              <a:rPr sz="2000" b="1" dirty="0">
                <a:latin typeface="Segoe Print"/>
                <a:cs typeface="Segoe Print"/>
              </a:rPr>
              <a:t>Validation</a:t>
            </a:r>
            <a:r>
              <a:rPr sz="2000" b="1" spc="-35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set:</a:t>
            </a:r>
            <a:r>
              <a:rPr sz="2000" b="1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set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examples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used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tune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hyper-</a:t>
            </a:r>
            <a:r>
              <a:rPr sz="2000" dirty="0">
                <a:latin typeface="Segoe Print"/>
                <a:cs typeface="Segoe Print"/>
              </a:rPr>
              <a:t>parameters</a:t>
            </a:r>
            <a:r>
              <a:rPr sz="2000" spc="-25" dirty="0">
                <a:latin typeface="Segoe Print"/>
                <a:cs typeface="Segoe Print"/>
              </a:rPr>
              <a:t> of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hypothesis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function,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for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example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choose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number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hidden </a:t>
            </a:r>
            <a:r>
              <a:rPr sz="2000" dirty="0">
                <a:latin typeface="Segoe Print"/>
                <a:cs typeface="Segoe Print"/>
              </a:rPr>
              <a:t>units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in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neural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network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OR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order</a:t>
            </a:r>
            <a:r>
              <a:rPr sz="2000" spc="-5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polynomial</a:t>
            </a:r>
            <a:r>
              <a:rPr sz="2000" spc="-40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approximating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data.</a:t>
            </a:r>
            <a:endParaRPr sz="2000" dirty="0">
              <a:latin typeface="Segoe Print"/>
              <a:cs typeface="Segoe Print"/>
            </a:endParaRPr>
          </a:p>
          <a:p>
            <a:pPr marL="598805" marR="1968500" indent="-285750">
              <a:lnSpc>
                <a:spcPct val="100000"/>
              </a:lnSpc>
              <a:spcBef>
                <a:spcPts val="2400"/>
              </a:spcBef>
              <a:buFont typeface="Segoe Print"/>
              <a:buChar char="-"/>
              <a:tabLst>
                <a:tab pos="598805" algn="l"/>
              </a:tabLst>
            </a:pPr>
            <a:r>
              <a:rPr sz="2000" b="1" dirty="0">
                <a:latin typeface="Segoe Print"/>
                <a:cs typeface="Segoe Print"/>
              </a:rPr>
              <a:t>Test</a:t>
            </a:r>
            <a:r>
              <a:rPr sz="2000" b="1" spc="-25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set:</a:t>
            </a:r>
            <a:r>
              <a:rPr sz="2000" b="1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set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examples</a:t>
            </a:r>
            <a:r>
              <a:rPr sz="2000" spc="-25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used</a:t>
            </a:r>
            <a:r>
              <a:rPr sz="2000" b="1" spc="-2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only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assess</a:t>
            </a:r>
            <a:r>
              <a:rPr sz="2000" spc="-2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performance</a:t>
            </a:r>
            <a:r>
              <a:rPr sz="2000" spc="-5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spc="-50" dirty="0">
                <a:latin typeface="Segoe Print"/>
                <a:cs typeface="Segoe Print"/>
              </a:rPr>
              <a:t>a </a:t>
            </a:r>
            <a:r>
              <a:rPr sz="2000" spc="-20" dirty="0">
                <a:latin typeface="Segoe Print"/>
                <a:cs typeface="Segoe Print"/>
              </a:rPr>
              <a:t>fully-</a:t>
            </a:r>
            <a:r>
              <a:rPr sz="2000" dirty="0">
                <a:latin typeface="Segoe Print"/>
                <a:cs typeface="Segoe Print"/>
              </a:rPr>
              <a:t>specified</a:t>
            </a:r>
            <a:r>
              <a:rPr sz="2000" spc="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model</a:t>
            </a:r>
            <a:r>
              <a:rPr sz="2000" spc="-1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or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spc="-10" dirty="0">
                <a:latin typeface="Segoe Print"/>
                <a:cs typeface="Segoe Print"/>
              </a:rPr>
              <a:t>hypothesis.</a:t>
            </a:r>
            <a:endParaRPr sz="2000" dirty="0">
              <a:latin typeface="Segoe Print"/>
              <a:cs typeface="Segoe Prin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4144" y="6316726"/>
            <a:ext cx="710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Adapted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*Brian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Ripley,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Pattern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Recognition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Neural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1996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959" y="1416915"/>
            <a:ext cx="10095047" cy="37620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6682" y="27317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dirty="0"/>
              <a:t>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65" dirty="0"/>
              <a:t> </a:t>
            </a:r>
            <a:r>
              <a:rPr spc="-10" dirty="0"/>
              <a:t>Setup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6772" y="1024880"/>
            <a:ext cx="5807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2005" algn="l"/>
              </a:tabLst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Generalization: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	The</a:t>
            </a:r>
            <a:r>
              <a:rPr sz="24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Train-Test</a:t>
            </a:r>
            <a:r>
              <a:rPr sz="2400" b="1" u="sng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Split</a:t>
            </a:r>
            <a:r>
              <a:rPr sz="2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(Example)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85494" y="5570982"/>
            <a:ext cx="9345930" cy="674370"/>
            <a:chOff x="1285494" y="5570982"/>
            <a:chExt cx="9345930" cy="6743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5494" y="5570982"/>
              <a:ext cx="5471159" cy="674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6603" y="5570982"/>
              <a:ext cx="493001" cy="67437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9567" y="5570982"/>
              <a:ext cx="4181855" cy="6743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</TotalTime>
  <Words>1542</Words>
  <Application>Microsoft Office PowerPoint</Application>
  <PresentationFormat>Widescreen</PresentationFormat>
  <Paragraphs>203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-apple-system</vt:lpstr>
      <vt:lpstr>Aptos</vt:lpstr>
      <vt:lpstr>Aptos Display</vt:lpstr>
      <vt:lpstr>Arial</vt:lpstr>
      <vt:lpstr>Calibri</vt:lpstr>
      <vt:lpstr>Cambria</vt:lpstr>
      <vt:lpstr>Montserrat</vt:lpstr>
      <vt:lpstr>Segoe Print</vt:lpstr>
      <vt:lpstr>Symbol</vt:lpstr>
      <vt:lpstr>Wingdings</vt:lpstr>
      <vt:lpstr>Office Theme</vt:lpstr>
      <vt:lpstr>Machine Learning</vt:lpstr>
      <vt:lpstr>Types of supervised Machine learning Algorithms: </vt:lpstr>
      <vt:lpstr>Supervised Learning</vt:lpstr>
      <vt:lpstr>Popular Regression algorithms</vt:lpstr>
      <vt:lpstr>Supervised Learning</vt:lpstr>
      <vt:lpstr>Spam Filtering </vt:lpstr>
      <vt:lpstr>Types of Unsupervised Learning Algorithm: </vt:lpstr>
      <vt:lpstr>Clustering:</vt:lpstr>
      <vt:lpstr>Association Rule learning:</vt:lpstr>
      <vt:lpstr>Example of Association Rule</vt:lpstr>
      <vt:lpstr>Association rule learning can be divided into three types of algorithms:</vt:lpstr>
      <vt:lpstr>Apriori Algorithm </vt:lpstr>
      <vt:lpstr>Eclat Algorithm </vt:lpstr>
      <vt:lpstr>F-P Growth Algorithm </vt:lpstr>
      <vt:lpstr>Unsupervised Learning algorithms: 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Loss Function</vt:lpstr>
      <vt:lpstr>Types of Loss function</vt:lpstr>
      <vt:lpstr>1. Regression Cost Function 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  <vt:lpstr>Supervised Learning Setup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EE514-CS535 Machine Leaning 01-02</dc:title>
  <dc:creator>Zubair Khalid</dc:creator>
  <cp:lastModifiedBy>anwar khan</cp:lastModifiedBy>
  <cp:revision>70</cp:revision>
  <dcterms:created xsi:type="dcterms:W3CDTF">2024-10-17T09:45:53Z</dcterms:created>
  <dcterms:modified xsi:type="dcterms:W3CDTF">2025-10-22T06:06:21Z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2021-01-24T00:00:00Z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2024-10-17T00:00:00Z</vt:filetime>
  </property>
  <property fmtid="{D5CDD505-2E9C-101B-9397-08002B2CF9AE}" pid="5" name="Producer">
    <vt:lpwstr>Microsoft® PowerPoint® for Office 365</vt:lpwstr>
  </property>
</Properties>
</file>