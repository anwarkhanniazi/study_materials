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jpeg"/>
  <Override PartName="/ppt/media/image13.JPG" ContentType="image/jpeg"/>
  <Override PartName="/ppt/notesSlides/notesSlide1.xml" ContentType="application/vnd.openxmlformats-officedocument.presentationml.notesSlide+xml"/>
  <Override PartName="/ppt/media/image21.JPG" ContentType="image/jpeg"/>
  <Override PartName="/ppt/media/image22.JPG" ContentType="image/jpeg"/>
  <Override PartName="/ppt/media/image23.JPG" ContentType="image/jpeg"/>
  <Override PartName="/ppt/media/image24.JPG" ContentType="image/jpeg"/>
  <Override PartName="/ppt/media/image25.JPG" ContentType="image/jpeg"/>
  <Override PartName="/ppt/media/image26.JPG" ContentType="image/jpeg"/>
  <Override PartName="/ppt/media/image27.JPG" ContentType="image/jpeg"/>
  <Override PartName="/ppt/media/image28.JPG" ContentType="image/jpeg"/>
  <Override PartName="/ppt/media/image29.JPG" ContentType="image/jpeg"/>
  <Override PartName="/ppt/media/image30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432" r:id="rId3"/>
    <p:sldId id="440" r:id="rId4"/>
    <p:sldId id="258" r:id="rId5"/>
    <p:sldId id="443" r:id="rId6"/>
    <p:sldId id="444" r:id="rId7"/>
    <p:sldId id="263" r:id="rId8"/>
    <p:sldId id="445" r:id="rId9"/>
    <p:sldId id="446" r:id="rId10"/>
    <p:sldId id="441" r:id="rId11"/>
    <p:sldId id="447" r:id="rId12"/>
    <p:sldId id="448" r:id="rId13"/>
    <p:sldId id="449" r:id="rId14"/>
    <p:sldId id="450" r:id="rId15"/>
    <p:sldId id="451" r:id="rId16"/>
    <p:sldId id="452" r:id="rId17"/>
    <p:sldId id="442" r:id="rId18"/>
    <p:sldId id="453" r:id="rId19"/>
    <p:sldId id="455" r:id="rId20"/>
    <p:sldId id="456" r:id="rId21"/>
    <p:sldId id="457" r:id="rId22"/>
    <p:sldId id="458" r:id="rId23"/>
    <p:sldId id="459" r:id="rId24"/>
    <p:sldId id="460" r:id="rId25"/>
    <p:sldId id="46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89FC5E-E3BE-4B84-8CF5-F469664D47AA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059BC-6BFB-41F5-8589-C2C8534B9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73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4059BC-6BFB-41F5-8589-C2C8534B90A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001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10900-445F-9D88-4175-32B30F0BD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27724-CA64-749C-9ECD-72CB82318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E20F8-A9F2-5DFF-AF74-41C5DD9A0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EA80E-4F53-C98C-9BE5-63D922ADA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3ECBB-A2D7-D23A-D4C6-DC3BEF9E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984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32244-623C-A2E8-04BD-8CF580656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BEC21-B46E-8191-D0FE-91689B989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320EC-6E5C-7678-75FF-4585EF7FC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B91F0-C1FC-A623-8811-E8D35A5A1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35147-797F-FDBC-2F73-EE6F4820B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567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556AF-C94C-1D0E-482A-9405B117F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01D02-436A-C694-9448-28C22704A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79233-5917-8B77-5A47-015B0FE04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8B7FB-0357-4628-E1D1-79C1B8356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94B29-2AAA-E80C-E48B-3745C9AD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1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CAB1-C79C-67F6-611F-2349D0057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25607-DF5C-4726-ED70-23A3B786C4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7C847-F010-9173-EC7F-5C4078131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68C14-F16E-3AF8-1054-CF54F3C88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E6614-CBEF-FE22-9915-D682E2783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CB57E-4EFB-97CA-62A5-FBED9612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612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454C7-BE94-5901-68FD-36B046EE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11454-B1E0-5501-8E57-BF7070D04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F07729-AE21-CDCD-509A-C4DC7F433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E3ECEB-9CCE-8A8D-562E-56E2BB877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2A99CD-0329-7A0A-B78B-0434F0367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09EB6C-3859-8A58-BC07-4CB1E3BA2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54C9F-F788-36A0-C3A9-CB59B8A59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33EB4E-4646-C00E-86AB-6CBBB8639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70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AA51A-C96E-8A6D-EC07-05783836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440739-065B-C15D-A51A-FBFA53018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D6094D-C32E-40B6-918D-E23F5F37D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E3D86-1265-DED9-7042-F71E82C41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07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4AD85-41AD-FAD5-96F1-2D15CD615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DEADA-E350-C307-A3E8-876B8E0B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F4EB1-6077-0C33-4D38-91982D4F4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07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44593-9EEA-D7A2-76D0-BE84D15C4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98892-E0E7-770D-C815-CF6375B56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A30605-EE34-60CC-58CF-725575D34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4562A-8905-91E8-18AC-B0D10E50D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8AA2F-DBA6-C6BD-0686-0FC7D8CDA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91780C-BB22-6BAA-7292-EBFDD725D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11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18519-64E8-2D4E-7596-E5C6AD288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741152-AA41-4AB8-FB2F-62CA4DCB78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31A3D-478D-8E6D-EFA1-C75E97633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5476C-C3E1-0E7A-2F4B-82220697C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9728C-7700-F4CF-92AD-51C8CD02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04D94-09C8-C024-3647-35B5B9FC4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71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235EA-6F6D-127A-0069-3DAD58D73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DD6D62-AA68-E03E-3150-4B4D90511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42C33-E5E0-2226-BEB7-A3A0789C4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4F504-6A4F-5612-7881-3DB9E539A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FCA13-A05A-1C0A-FA76-402EB6B1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354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E86697-7120-B4DB-F1DB-8184FE4CD0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8A5CD9-0D9C-8413-8F6A-F2CCEDD515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B0413-3708-7A25-299D-1ECBA39CB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79FE-96FC-4CC5-9FE3-C60B8989B4B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49AAD-D9E1-19A2-CD83-B7F3838B8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A07DA-D781-2534-3A7C-9382E63B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761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069C4C-F422-8BBE-984E-3B0EF9123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F344D-59CD-5885-8196-34DC1713B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0525E-DB7A-AAB3-6746-B972B537F2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6A79FE-96FC-4CC5-9FE3-C60B8989B4B9}" type="datetimeFigureOut">
              <a:rPr lang="en-US" smtClean="0"/>
              <a:t>11/26/2024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2CCE1-426E-FB21-F25D-BF619CD03A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C4143-19D3-7B0C-89A1-5B6D9C3BC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C57F37-4605-4BEB-A6DC-959B332B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36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19.jpg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slide" Target="slide2.xml"/><Relationship Id="rId4" Type="http://schemas.openxmlformats.org/officeDocument/2006/relationships/slide" Target="slide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emf"/><Relationship Id="rId4" Type="http://schemas.openxmlformats.org/officeDocument/2006/relationships/slide" Target="slide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D0D0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047"/>
              <a:ext cx="8035543" cy="26715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6" y="2353054"/>
              <a:ext cx="7328789" cy="446608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0" y="2398395"/>
              <a:ext cx="11004550" cy="0"/>
            </a:xfrm>
            <a:custGeom>
              <a:avLst/>
              <a:gdLst/>
              <a:ahLst/>
              <a:cxnLst/>
              <a:rect l="l" t="t" r="r" b="b"/>
              <a:pathLst>
                <a:path w="11004550">
                  <a:moveTo>
                    <a:pt x="11004296" y="0"/>
                  </a:moveTo>
                  <a:lnTo>
                    <a:pt x="0" y="0"/>
                  </a:lnTo>
                </a:path>
              </a:pathLst>
            </a:custGeom>
            <a:ln w="12954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06502" y="-112776"/>
            <a:ext cx="11778995" cy="1033777"/>
          </a:xfrm>
          <a:prstGeom prst="rect">
            <a:avLst/>
          </a:prstGeom>
        </p:spPr>
        <p:txBody>
          <a:bodyPr vert="horz" wrap="square" lIns="0" tIns="205899" rIns="0" bIns="0" rtlCol="0">
            <a:spAutoFit/>
          </a:bodyPr>
          <a:lstStyle/>
          <a:p>
            <a:pPr marL="5382260" algn="ctr">
              <a:lnSpc>
                <a:spcPct val="100000"/>
              </a:lnSpc>
              <a:spcBef>
                <a:spcPts val="370"/>
              </a:spcBef>
            </a:pPr>
            <a:r>
              <a:rPr sz="3200" dirty="0">
                <a:solidFill>
                  <a:srgbClr val="FFFFFF"/>
                </a:solidFill>
              </a:rPr>
              <a:t>Machine</a:t>
            </a:r>
            <a:r>
              <a:rPr sz="3200" spc="-35" dirty="0">
                <a:solidFill>
                  <a:srgbClr val="FFFFFF"/>
                </a:solidFill>
              </a:rPr>
              <a:t> </a:t>
            </a:r>
            <a:r>
              <a:rPr sz="3200" spc="-10" dirty="0">
                <a:solidFill>
                  <a:srgbClr val="FFFFFF"/>
                </a:solidFill>
              </a:rPr>
              <a:t>Learning</a:t>
            </a:r>
            <a:endParaRPr sz="3200" dirty="0"/>
          </a:p>
          <a:p>
            <a:pPr marL="5384165" algn="ctr">
              <a:lnSpc>
                <a:spcPct val="100000"/>
              </a:lnSpc>
              <a:spcBef>
                <a:spcPts val="165"/>
              </a:spcBef>
            </a:pPr>
            <a:endParaRPr sz="2000" dirty="0"/>
          </a:p>
        </p:txBody>
      </p:sp>
      <p:sp>
        <p:nvSpPr>
          <p:cNvPr id="10" name="object 10"/>
          <p:cNvSpPr txBox="1"/>
          <p:nvPr/>
        </p:nvSpPr>
        <p:spPr>
          <a:xfrm>
            <a:off x="8170671" y="1215390"/>
            <a:ext cx="220690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10" dirty="0">
                <a:solidFill>
                  <a:srgbClr val="FFFFFF"/>
                </a:solidFill>
                <a:latin typeface="Calibri"/>
                <a:cs typeface="Calibri"/>
              </a:rPr>
              <a:t>Gradient Descent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36231" y="3174746"/>
            <a:ext cx="419989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r>
              <a:rPr lang="en-US" sz="1800" dirty="0">
                <a:solidFill>
                  <a:schemeClr val="bg1"/>
                </a:solidFill>
                <a:latin typeface="Cambria"/>
                <a:cs typeface="Cambria"/>
              </a:rPr>
              <a:t>ANWAR KHAN</a:t>
            </a:r>
            <a:endParaRPr sz="1800" dirty="0">
              <a:solidFill>
                <a:schemeClr val="bg1"/>
              </a:solidFill>
              <a:latin typeface="Cambria"/>
              <a:cs typeface="Cambria"/>
            </a:endParaRPr>
          </a:p>
          <a:p>
            <a:pPr marL="12700" marR="5080" indent="432434">
              <a:lnSpc>
                <a:spcPct val="100000"/>
              </a:lnSpc>
              <a:spcBef>
                <a:spcPts val="5"/>
              </a:spcBef>
            </a:pPr>
            <a:r>
              <a:rPr lang="en-US" sz="1800" dirty="0">
                <a:solidFill>
                  <a:srgbClr val="FFFFFF"/>
                </a:solidFill>
                <a:latin typeface="Cambria"/>
                <a:cs typeface="Cambria"/>
              </a:rPr>
              <a:t>University of </a:t>
            </a: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Lahore</a:t>
            </a:r>
            <a:r>
              <a:rPr sz="1800" spc="-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B1A4D-0604-9F7A-C079-6C85D44E1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1A14856-B618-1988-A9CA-5A13CDB3D009}"/>
              </a:ext>
            </a:extLst>
          </p:cNvPr>
          <p:cNvGrpSpPr/>
          <p:nvPr/>
        </p:nvGrpSpPr>
        <p:grpSpPr>
          <a:xfrm>
            <a:off x="2983" y="0"/>
            <a:ext cx="12173957" cy="434832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2C07159-5F74-87BE-C319-A836D7EC5F1B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44EBE2E-7429-2B9E-D3E0-AD0C279DF5CE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8FB68F8-C9D7-E170-2351-D55408457D4C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762E4C3A-E07C-658E-6848-1F8C7E3B6EAD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35146260-ACBD-12A0-E19B-1808920F57B4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F23F1535-C594-C041-0A17-366D3844B7DB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A27DC5FF-4E2A-A1ED-0D40-0B5D71C8F697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3FB147F7-379A-1E0A-796F-D0F6EF196916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9E4075B-85A7-1CE8-6932-E0DFC05F48A6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BDF8A7CE-0256-B2C6-FAF6-00F04FE6020D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7FAEC57-DC0C-ACEB-0357-011DC761BA7E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01708CF7-93B3-6995-3F61-31FCEBE4756B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47371B02-B80D-E5A4-BBEB-190DD1633C90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97F19DF9-3C2A-26E6-A767-D4C720BFA4C6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0BD9E96D-29F2-114D-1A32-29948756F944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4F5CCE9E-897A-EE4B-7F6B-34B25134A0FF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0D72A31E-6CFB-466B-B2A1-AB3F53E83CF2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B2B15A42-F511-0CCD-DBC3-A359FB2949C7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87A93D4D-3F80-69EF-31B2-C1B89F653A9C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92FB0DF0-1828-817B-30B4-4AC26FE6750A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5BDE5F81-0A78-1968-09A2-FCEFDA01CEFE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77EACBF4-30A3-F4A8-6972-C72F57F3ECAF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744F1472-C73B-35F4-1A22-5F2A23B28CDD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9D5B61BE-FDC3-E861-DC76-179C8D466CF9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E0A08264-AB05-798C-68C2-4A8D1C429C4A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1CAC6245-9546-BD1D-EC72-CCA90A3AA25B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4B019701-B66D-7BFF-9C1A-DC391401610D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885E0BD4-9496-4725-2F0E-486BA5077D61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EAB74EDB-71F3-A3DD-2F31-4135B01BC39B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734CE140-11DA-E3F2-80BB-A919B16FCA29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FD23555E-A178-BE0C-1C45-F3FB93914C46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CA0CC973-1A75-3F8A-3D60-E7E692905A3D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6279748B-C4C0-F139-E8FC-FF7107499A9F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62AFD968-3C01-736B-C001-5D75BEA898ED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C651728C-CEAD-9CFD-B2EF-F9F88F913E84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A6416675-C1D8-0781-12E4-FB6DBE955D7B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2A1F8FA6-1198-A966-C847-3C5A67A1742B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BC9C2969-7284-9C3A-233D-4C41A1C446D9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61C4F51A-DB43-14B8-FAD0-A999975FFA8E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7768351B-B16F-44C1-2809-948870943F49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D2C005B5-B770-5273-86F3-BED89FCEA0BF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B6E7170E-A985-C125-1391-C68AF2069300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F99F6CF6-9482-4244-0162-16CAAC4CFBD6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6039B500-15B0-E6EC-94CF-7E2E19BCFD9B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1B21C834-33AB-EEC5-D58F-F04FD60B400F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33EB38C0-0C74-CFB7-BB8B-C8FA35FC7194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0B96A564-DC34-9980-A644-7A99FED14962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6F7A9BD0-3D12-C290-8A7C-9E1BDA699443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CA6B0E8A-AEF5-DF73-B7F1-3F589A2DE21A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D28ED936-7927-4C4D-2065-D375E934AD14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55A5458D-2A54-13CF-579C-071FFF5697FB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DCCC235C-77BB-097E-E66D-3507CB592B36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8E27973C-B893-F5E5-2E9F-A0E92EC76450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5E58115D-768C-3C04-A4F0-9D2B40B5B98A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7D5E7C8E-4EA2-E482-8B14-1CE324B449DD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033222A8-386E-ECC1-411C-8304D8718C96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800C1A3A-9D6A-15B3-5F38-F3E4337AFF7A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E8180390-08EF-7795-475B-9C1C7DD8095B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6206D017-7FB5-B877-E1C8-F44E21CCF510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53BD91EA-A12D-4AFD-EEE3-182135D3A036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8087BEFF-62A1-FA78-6B8F-46E81CD570AE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68FBE2C2-80E7-82AD-83E0-DA9A0182A225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F5CB7F27-8B1D-5E45-67DE-C6F03FFEA088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B00A2718-1E46-1D64-2CC5-B8E2AC1A5629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E91A997F-B702-8994-D208-3043F81AD7D7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8B547930-2C07-FFAD-54E2-64C8F8C12643}"/>
              </a:ext>
            </a:extLst>
          </p:cNvPr>
          <p:cNvSpPr txBox="1"/>
          <p:nvPr/>
        </p:nvSpPr>
        <p:spPr>
          <a:xfrm>
            <a:off x="204400" y="53379"/>
            <a:ext cx="11771334" cy="188421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  <a:tabLst>
                <a:tab pos="1399782" algn="l"/>
                <a:tab pos="2970006" algn="l"/>
                <a:tab pos="6278215" algn="l"/>
                <a:tab pos="8167853" algn="l"/>
                <a:tab pos="9119383" algn="l"/>
                <a:tab pos="11296224" algn="l"/>
              </a:tabLst>
            </a:pP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16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Cost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48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Function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and</a:t>
            </a:r>
            <a:r>
              <a:rPr sz="1057" spc="2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Gradient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37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Descent</a:t>
            </a:r>
            <a:r>
              <a:rPr sz="1057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1057" spc="25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LR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with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232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GD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59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3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1057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8AEFF3E8-7EAB-B07C-8DE5-59BF9FE8B9A9}"/>
              </a:ext>
            </a:extLst>
          </p:cNvPr>
          <p:cNvGrpSpPr/>
          <p:nvPr/>
        </p:nvGrpSpPr>
        <p:grpSpPr>
          <a:xfrm>
            <a:off x="2983" y="6660660"/>
            <a:ext cx="12173957" cy="18789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5C2EFB22-33CE-CF5A-CEC1-4DB7C7F7D2DF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98044BAB-A21A-E508-A212-B1E81152B529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8E9663ED-2F61-DC77-B006-A347A8830436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9160747A-5211-DF80-15CF-A13A2CB10850}"/>
              </a:ext>
            </a:extLst>
          </p:cNvPr>
          <p:cNvSpPr txBox="1"/>
          <p:nvPr/>
        </p:nvSpPr>
        <p:spPr>
          <a:xfrm>
            <a:off x="8409414" y="6612778"/>
            <a:ext cx="903216" cy="206039"/>
          </a:xfrm>
          <a:prstGeom prst="rect">
            <a:avLst/>
          </a:prstGeom>
        </p:spPr>
        <p:txBody>
          <a:bodyPr vert="horz" wrap="square" lIns="0" tIns="42946" rIns="0" bIns="0" rtlCol="0">
            <a:spAutoFit/>
          </a:bodyPr>
          <a:lstStyle/>
          <a:p>
            <a:pPr marL="26841">
              <a:spcBef>
                <a:spcPts val="338"/>
              </a:spcBef>
            </a:pPr>
            <a:r>
              <a:rPr sz="1057" spc="127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Regression</a:t>
            </a:r>
            <a:endParaRPr sz="1057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1E9AEBA5-AF9B-AD42-8F5F-610842BE35B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5282831" y="3128823"/>
            <a:ext cx="326389" cy="116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59055">
              <a:spcBef>
                <a:spcPts val="160"/>
              </a:spcBef>
            </a:pPr>
            <a:fld id="{81D60167-4931-47E6-BA6A-407CBD079E47}" type="slidenum">
              <a:rPr lang="en-US" spc="125" smtClean="0"/>
              <a:pPr marL="59055">
                <a:spcBef>
                  <a:spcPts val="160"/>
                </a:spcBef>
              </a:pPr>
              <a:t>2</a:t>
            </a:fld>
            <a:r>
              <a:rPr lang="en-US" spc="114"/>
              <a:t> </a:t>
            </a:r>
            <a:r>
              <a:rPr lang="en-US" spc="95"/>
              <a:t>/</a:t>
            </a:r>
            <a:r>
              <a:rPr lang="en-US" spc="120"/>
              <a:t> </a:t>
            </a:r>
            <a:r>
              <a:rPr lang="en-US" spc="20"/>
              <a:t>65</a:t>
            </a:r>
            <a:endParaRPr spc="63" dirty="0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AFBF82FB-C686-90A1-647B-6413C81F5D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483" y="764050"/>
            <a:ext cx="8750807" cy="540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792538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EB33B-E46F-8C86-3BEF-6B89B3817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7C9C7CB-AE62-0988-F3A7-D734C52FC0F8}"/>
              </a:ext>
            </a:extLst>
          </p:cNvPr>
          <p:cNvGrpSpPr/>
          <p:nvPr/>
        </p:nvGrpSpPr>
        <p:grpSpPr>
          <a:xfrm>
            <a:off x="2983" y="0"/>
            <a:ext cx="12173957" cy="434832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2090051-239E-5A13-75C8-501373CDD14B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F8DB5ED-1BB0-26CA-0792-CC31B2F74581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F39B54E-D1EC-626E-492D-9710641DA74B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70CE10D-A13D-3717-5CE6-8942B0CEDCA7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3C295E8A-64C2-D65B-AB1F-CA543D5C7FC3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126A81C9-FCB7-D2B0-D7FA-EEE406577A58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39BF73D1-3148-A742-7A8A-9DF2242765DF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76F9E956-2E66-72FF-FE66-97CA93FBA8AC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DCBD5C07-C7EE-5A47-9E2F-DF011B5AFDB3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55C6346-FF1E-B897-7BAB-253EFB665672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BDB99677-DDDE-1B6D-8C6A-2FB448B11D33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55ADE49B-ADC1-0873-2CC7-6A1B1293209C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EB6C28DA-50ED-FDDA-BE8C-4FEEFFE9942A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0B290037-1FA4-6C4A-DBBE-D0C25BAEF28C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513DBDEE-6972-1A96-6E87-64C633330FB2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0737DB95-2681-2BDC-0497-FD02B0129999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6F7C0B7B-93F8-2BC3-1864-B8BA344881FD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B5AD5738-6624-5F2E-8132-953BBB954CA9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0AA42903-CA64-94F3-ECF6-CF9D1F676E30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D7C81201-BA34-1CB4-FFC9-EE772585FBD9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07576E44-49EC-C975-6ECA-C89D74049A69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83716E48-3E2A-6F60-C9F5-D5EDD9A88785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B959A317-0E0A-7861-B60E-8FFAE9A768ED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4F24FB1F-1ACB-6677-37D5-18406257F887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48DE1AF9-0134-D5B5-95CD-6AAE5607B564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261B2FB0-3C1E-A783-C56E-73EFBCA54147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F36ED3B9-D639-2D79-927B-0712F6ED97EC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E1853013-1259-81CC-D70D-760FF84FB6B1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9A30C40F-557B-36F2-1086-1130FDD5C2C6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4326F984-265D-FD90-4A75-DC6342AFF8EA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37CF414A-DB02-F488-4735-B20FFB4735DD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9E750627-60D2-5A7B-2CC9-45296AF48B7F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20C05DBF-1B77-BD50-8B83-F475E194D0C0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7B836C44-717D-7F17-1A0E-3E0BF876B40C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FC8D60D7-6954-8004-A076-A3A0B1CBA018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B5AEC6A0-2650-767E-BB48-F0B68D3E524B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FE731458-CE4E-F0D3-4246-CE00B9326EB7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A2674548-9483-2F18-0E2C-60D9398AF590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B2086377-B13B-73C4-6D06-9ABD9BCC4805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FFD7D0D1-AD7B-997E-431C-97988D0385F7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B3EEA6E0-F084-A1E8-588D-5F390FA39AC9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2250D4F6-0012-7E94-3590-3D60986173D7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F8E7C9D3-1C8A-BEC5-4120-0DCE186F32CF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54A23FF7-3D73-5B08-FA49-4737385C6BC8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CCFCAF8C-7CA7-660D-F649-34A639746F55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333E8E19-C416-DF09-7C9C-F016AA7B06EF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477ACC94-7806-0669-4886-5F7B87EC7F70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09D70190-BEFF-FAAF-3CF6-B71B79592D8E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7348623C-4121-6156-2C80-DAB8B854CE1E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C4FB622D-3BEB-F89F-A090-8EC460CDCCB6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CE1DA743-CC75-1C87-D2B6-FBE6BC221AA9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C56E6D16-F9FA-5789-CD13-FA6555A42565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2C916C91-AE78-47FD-3194-864667AC09A4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557141B4-37D3-C34C-29B1-8B4FDE9BE835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573BF755-BB79-7E9B-1126-CFD9622D0742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0B0CF59A-16C3-84F5-EF97-AC221F0E18B4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B2D8B381-7D6A-DFEA-D60A-27F8E6EB4DD1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493594C3-EADF-A3A1-50C1-C42074AD07BD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BC08AC5A-8F5B-E20D-D430-F72E75B49F9E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2C7A58F2-3C6C-84D9-A2E3-34DDC125AADD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DA75712B-EB1E-A335-C352-230793365382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4AC99765-24D6-DA82-7EC3-4FEA5060E925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F4EDCA87-234C-89CE-35DB-A1A8BB0AC8F0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C92BDD92-F339-1DA8-A4B8-4FF7FF74B836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F75D9AA3-02D5-7BA8-996B-8644F07D0C23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AB4DDE6D-1C53-3CC1-AD02-94A35CEBEAD9}"/>
              </a:ext>
            </a:extLst>
          </p:cNvPr>
          <p:cNvSpPr txBox="1"/>
          <p:nvPr/>
        </p:nvSpPr>
        <p:spPr>
          <a:xfrm>
            <a:off x="204400" y="53379"/>
            <a:ext cx="11771334" cy="188421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  <a:tabLst>
                <a:tab pos="1399782" algn="l"/>
                <a:tab pos="2970006" algn="l"/>
                <a:tab pos="6278215" algn="l"/>
                <a:tab pos="8167853" algn="l"/>
                <a:tab pos="9119383" algn="l"/>
                <a:tab pos="11296224" algn="l"/>
              </a:tabLst>
            </a:pP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16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Cost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48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Function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and</a:t>
            </a:r>
            <a:r>
              <a:rPr sz="1057" spc="2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Gradient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37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Descent</a:t>
            </a:r>
            <a:r>
              <a:rPr sz="1057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1057" spc="25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LR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with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232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GD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59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3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1057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96679AD3-FEC3-EAFB-6BCD-173F0A4D8C3D}"/>
              </a:ext>
            </a:extLst>
          </p:cNvPr>
          <p:cNvGrpSpPr/>
          <p:nvPr/>
        </p:nvGrpSpPr>
        <p:grpSpPr>
          <a:xfrm>
            <a:off x="2983" y="6660660"/>
            <a:ext cx="12173957" cy="18789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A8A216A4-40C8-7EB2-0845-BD3DE9A4C2C5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C677B4C3-F47A-E67C-2F59-082BC8B5952E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61736EEF-EA83-3817-CD9F-B787CA6E3390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BBFF519D-5B3B-39AA-30EB-B51F31A602CD}"/>
              </a:ext>
            </a:extLst>
          </p:cNvPr>
          <p:cNvSpPr txBox="1"/>
          <p:nvPr/>
        </p:nvSpPr>
        <p:spPr>
          <a:xfrm>
            <a:off x="8409414" y="6612778"/>
            <a:ext cx="903216" cy="206039"/>
          </a:xfrm>
          <a:prstGeom prst="rect">
            <a:avLst/>
          </a:prstGeom>
        </p:spPr>
        <p:txBody>
          <a:bodyPr vert="horz" wrap="square" lIns="0" tIns="42946" rIns="0" bIns="0" rtlCol="0">
            <a:spAutoFit/>
          </a:bodyPr>
          <a:lstStyle/>
          <a:p>
            <a:pPr marL="26841">
              <a:spcBef>
                <a:spcPts val="338"/>
              </a:spcBef>
            </a:pPr>
            <a:r>
              <a:rPr sz="1057" spc="127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Regression</a:t>
            </a:r>
            <a:endParaRPr sz="1057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22775094-2330-35D3-08BE-4BA14CEEBC9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5282831" y="3128823"/>
            <a:ext cx="326389" cy="116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59055">
              <a:spcBef>
                <a:spcPts val="160"/>
              </a:spcBef>
            </a:pPr>
            <a:fld id="{81D60167-4931-47E6-BA6A-407CBD079E47}" type="slidenum">
              <a:rPr lang="en-US" spc="125" smtClean="0"/>
              <a:pPr marL="59055">
                <a:spcBef>
                  <a:spcPts val="160"/>
                </a:spcBef>
              </a:pPr>
              <a:t>3</a:t>
            </a:fld>
            <a:r>
              <a:rPr lang="en-US" spc="114"/>
              <a:t> </a:t>
            </a:r>
            <a:r>
              <a:rPr lang="en-US" spc="95"/>
              <a:t>/</a:t>
            </a:r>
            <a:r>
              <a:rPr lang="en-US" spc="120"/>
              <a:t> </a:t>
            </a:r>
            <a:r>
              <a:rPr lang="en-US" spc="20"/>
              <a:t>65</a:t>
            </a:r>
            <a:endParaRPr spc="63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8B3B31-1A31-2877-B23D-9F074417B080}"/>
              </a:ext>
            </a:extLst>
          </p:cNvPr>
          <p:cNvSpPr txBox="1"/>
          <p:nvPr/>
        </p:nvSpPr>
        <p:spPr>
          <a:xfrm>
            <a:off x="781385" y="739483"/>
            <a:ext cx="4670419" cy="677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841">
              <a:spcBef>
                <a:spcPts val="211"/>
              </a:spcBef>
            </a:pPr>
            <a:r>
              <a:rPr lang="en-US" sz="3804" b="1">
                <a:latin typeface="Arial"/>
                <a:cs typeface="Arial"/>
              </a:rPr>
              <a:t>Gardient</a:t>
            </a:r>
            <a:r>
              <a:rPr lang="en-US" sz="3804" b="1" spc="-106">
                <a:latin typeface="Arial"/>
                <a:cs typeface="Arial"/>
              </a:rPr>
              <a:t> </a:t>
            </a:r>
            <a:r>
              <a:rPr lang="en-US" sz="3804" b="1">
                <a:latin typeface="Arial"/>
                <a:cs typeface="Arial"/>
              </a:rPr>
              <a:t>Descent</a:t>
            </a:r>
            <a:endParaRPr lang="en-US" sz="3804" dirty="0">
              <a:latin typeface="Arial"/>
              <a:cs typeface="Arial"/>
            </a:endParaRPr>
          </a:p>
        </p:txBody>
      </p:sp>
      <p:sp>
        <p:nvSpPr>
          <p:cNvPr id="71" name="object 73">
            <a:extLst>
              <a:ext uri="{FF2B5EF4-FFF2-40B4-BE49-F238E27FC236}">
                <a16:creationId xmlns:a16="http://schemas.microsoft.com/office/drawing/2014/main" id="{91CFFFC8-B159-95A5-DABF-15CD761C59AB}"/>
              </a:ext>
            </a:extLst>
          </p:cNvPr>
          <p:cNvSpPr txBox="1"/>
          <p:nvPr/>
        </p:nvSpPr>
        <p:spPr>
          <a:xfrm>
            <a:off x="1009510" y="1791907"/>
            <a:ext cx="10158751" cy="3655844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442884" marR="64419" indent="-362360" algn="just">
              <a:spcBef>
                <a:spcPts val="201"/>
              </a:spcBef>
              <a:buFont typeface="Arial" panose="020B0604020202020204" pitchFamily="34" charset="0"/>
              <a:buChar char="•"/>
            </a:pPr>
            <a:r>
              <a:rPr lang="en-US" sz="2114" dirty="0">
                <a:latin typeface="Arial MT"/>
                <a:cs typeface="Arial MT"/>
              </a:rPr>
              <a:t>Gradient</a:t>
            </a:r>
            <a:r>
              <a:rPr lang="en-US" sz="2114" spc="-2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Descent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is</a:t>
            </a:r>
            <a:r>
              <a:rPr lang="en-US" sz="2114" spc="-2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an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optimization</a:t>
            </a:r>
            <a:r>
              <a:rPr lang="en-US" sz="2114" spc="-2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algorithm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used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for</a:t>
            </a:r>
            <a:r>
              <a:rPr lang="en-US" sz="2114" spc="-2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minimizing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the</a:t>
            </a:r>
            <a:r>
              <a:rPr lang="en-US" sz="2114" spc="-2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cost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function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in</a:t>
            </a:r>
            <a:r>
              <a:rPr lang="en-US" sz="2114" spc="-2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various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machine </a:t>
            </a:r>
            <a:r>
              <a:rPr lang="en-US" sz="2114" spc="-592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learning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algorithms.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It is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basically used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for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updating the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parameters of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the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learning model.</a:t>
            </a:r>
          </a:p>
          <a:p>
            <a:pPr marL="442884" marR="64419" indent="-362360" algn="just">
              <a:spcBef>
                <a:spcPts val="201"/>
              </a:spcBef>
              <a:buFont typeface="Arial" panose="020B0604020202020204" pitchFamily="34" charset="0"/>
              <a:buChar char="•"/>
            </a:pPr>
            <a:r>
              <a:rPr lang="en-US" sz="2114" dirty="0">
                <a:latin typeface="Arial MT"/>
                <a:cs typeface="Arial MT"/>
              </a:rPr>
              <a:t>Lets </a:t>
            </a:r>
            <a:r>
              <a:rPr lang="en-US" sz="2114" dirty="0" err="1">
                <a:latin typeface="Arial MT"/>
                <a:cs typeface="Arial MT"/>
              </a:rPr>
              <a:t>i</a:t>
            </a:r>
            <a:r>
              <a:rPr lang="en-US" sz="2114" dirty="0">
                <a:latin typeface="Arial MT"/>
                <a:cs typeface="Arial MT"/>
              </a:rPr>
              <a:t> give you a example : Suppose you are lost in the mountains in a dense fog; you can only feel the </a:t>
            </a:r>
            <a:r>
              <a:rPr lang="en-US" sz="2114" spc="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slope of the ground below your feet. A good strategy to get to the bottom of the valley quickly is to go </a:t>
            </a:r>
            <a:r>
              <a:rPr lang="en-US" sz="2114" spc="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downhill</a:t>
            </a:r>
            <a:r>
              <a:rPr lang="en-US" sz="2114" spc="-2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in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the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direction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of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the</a:t>
            </a:r>
            <a:r>
              <a:rPr lang="en-US" sz="2114" spc="-2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steepest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slope.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This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is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exactly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what</a:t>
            </a:r>
            <a:r>
              <a:rPr lang="en-US" sz="2114" spc="-2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Gradient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Descent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does: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it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measures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the </a:t>
            </a:r>
            <a:r>
              <a:rPr lang="en-US" sz="2114" spc="-592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local gradient of the error function with regards to the parameter vector </a:t>
            </a:r>
            <a:r>
              <a:rPr lang="en-US" sz="2114" spc="-497" dirty="0">
                <a:latin typeface="Arial MT"/>
                <a:cs typeface="Arial MT"/>
              </a:rPr>
              <a:t>θ</a:t>
            </a:r>
            <a:r>
              <a:rPr lang="en-US" sz="2114" dirty="0">
                <a:latin typeface="Arial MT"/>
                <a:cs typeface="Arial MT"/>
              </a:rPr>
              <a:t>  and it goes in the direction of  descending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gradient. Once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the gradient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is zero, you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have reached</a:t>
            </a:r>
            <a:r>
              <a:rPr lang="en-US" sz="2114" spc="-11" dirty="0">
                <a:latin typeface="Arial MT"/>
                <a:cs typeface="Arial MT"/>
              </a:rPr>
              <a:t> </a:t>
            </a:r>
            <a:r>
              <a:rPr lang="en-US" sz="2114" dirty="0">
                <a:latin typeface="Arial MT"/>
                <a:cs typeface="Arial MT"/>
              </a:rPr>
              <a:t>a minimum!</a:t>
            </a:r>
          </a:p>
          <a:p>
            <a:pPr marL="442884" marR="64419" indent="-362360" algn="just">
              <a:spcBef>
                <a:spcPts val="201"/>
              </a:spcBef>
              <a:buFont typeface="Arial" panose="020B0604020202020204" pitchFamily="34" charset="0"/>
              <a:buChar char="•"/>
            </a:pPr>
            <a:endParaRPr sz="2114" dirty="0">
              <a:latin typeface="Georgia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315872037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284" y="274321"/>
            <a:ext cx="10967432" cy="585438"/>
          </a:xfrm>
        </p:spPr>
        <p:txBody>
          <a:bodyPr>
            <a:normAutofit fontScale="90000"/>
          </a:bodyPr>
          <a:lstStyle/>
          <a:p>
            <a:r>
              <a:rPr lang="en-US" dirty="0"/>
              <a:t>Hill-Descent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828802"/>
            <a:ext cx="7543800" cy="2744056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2362199" y="1676401"/>
            <a:ext cx="0" cy="281940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2362201" y="4495799"/>
            <a:ext cx="8077200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 rot="16200000">
                <a:off x="1256847" y="2971026"/>
                <a:ext cx="1277722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256847" y="2971026"/>
                <a:ext cx="1277722" cy="677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356543" y="4659868"/>
                <a:ext cx="1008032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543" y="4659868"/>
                <a:ext cx="1008032" cy="6777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2131232" y="5410201"/>
            <a:ext cx="8079569" cy="1200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599" dirty="0"/>
              <a:t>“Climbing down from Everest in thick fog with amnesia"</a:t>
            </a:r>
          </a:p>
        </p:txBody>
      </p:sp>
    </p:spTree>
    <p:extLst>
      <p:ext uri="{BB962C8B-B14F-4D97-AF65-F5344CB8AC3E}">
        <p14:creationId xmlns:p14="http://schemas.microsoft.com/office/powerpoint/2010/main" val="3785812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284" y="274321"/>
            <a:ext cx="10967432" cy="585438"/>
          </a:xfrm>
        </p:spPr>
        <p:txBody>
          <a:bodyPr>
            <a:normAutofit fontScale="90000"/>
          </a:bodyPr>
          <a:lstStyle/>
          <a:p>
            <a:r>
              <a:rPr lang="en-US" dirty="0"/>
              <a:t>Hill-Descent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828802"/>
            <a:ext cx="7543800" cy="2744056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2362199" y="1676401"/>
            <a:ext cx="0" cy="281940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2362201" y="4495799"/>
            <a:ext cx="8077200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 rot="16200000">
                <a:off x="914212" y="2811455"/>
                <a:ext cx="1712726" cy="6777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914212" y="2811455"/>
                <a:ext cx="1712726" cy="677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356543" y="4659868"/>
                <a:ext cx="1008032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543" y="4659868"/>
                <a:ext cx="1008032" cy="6777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2131232" y="5352871"/>
            <a:ext cx="8079569" cy="1200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599" dirty="0"/>
              <a:t>Question 1: What we need to take a step downwards ?</a:t>
            </a:r>
          </a:p>
        </p:txBody>
      </p:sp>
    </p:spTree>
    <p:extLst>
      <p:ext uri="{BB962C8B-B14F-4D97-AF65-F5344CB8AC3E}">
        <p14:creationId xmlns:p14="http://schemas.microsoft.com/office/powerpoint/2010/main" val="1883874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284" y="274321"/>
            <a:ext cx="10967432" cy="585438"/>
          </a:xfrm>
        </p:spPr>
        <p:txBody>
          <a:bodyPr>
            <a:normAutofit fontScale="90000"/>
          </a:bodyPr>
          <a:lstStyle/>
          <a:p>
            <a:r>
              <a:rPr lang="en-US" dirty="0"/>
              <a:t>Hill-Descent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714073"/>
            <a:ext cx="7543800" cy="2744056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2362199" y="1676401"/>
            <a:ext cx="0" cy="281940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2362201" y="4495799"/>
            <a:ext cx="8077200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 rot="16200000">
                <a:off x="1300927" y="2922016"/>
                <a:ext cx="1277722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300927" y="2922016"/>
                <a:ext cx="1277722" cy="677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356543" y="4659868"/>
                <a:ext cx="1008032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543" y="4659868"/>
                <a:ext cx="1008032" cy="6777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2131232" y="5178362"/>
            <a:ext cx="8785221" cy="1200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599" dirty="0"/>
              <a:t>Question 1: What we need to take a step downwards ?: Direction and step size</a:t>
            </a:r>
          </a:p>
        </p:txBody>
      </p:sp>
    </p:spTree>
    <p:extLst>
      <p:ext uri="{BB962C8B-B14F-4D97-AF65-F5344CB8AC3E}">
        <p14:creationId xmlns:p14="http://schemas.microsoft.com/office/powerpoint/2010/main" val="681966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Hill-Descent to Gradient-Descent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828802"/>
            <a:ext cx="7543800" cy="2744056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2362199" y="1676401"/>
            <a:ext cx="0" cy="281940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2362201" y="4495799"/>
            <a:ext cx="8077200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 rot="16200000">
                <a:off x="1309791" y="2861953"/>
                <a:ext cx="1277722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309791" y="2861953"/>
                <a:ext cx="1277722" cy="677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356543" y="4659868"/>
                <a:ext cx="1008032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543" y="4659868"/>
                <a:ext cx="1008032" cy="6777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264537" y="5225524"/>
                <a:ext cx="9823974" cy="15098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599" dirty="0"/>
                  <a:t>Question 2: How do we find direction of decreasing </a:t>
                </a:r>
                <a14:m>
                  <m:oMath xmlns:m="http://schemas.openxmlformats.org/officeDocument/2006/math">
                    <m:r>
                      <a:rPr lang="en-US" sz="3599" i="1">
                        <a:latin typeface="Cambria Math"/>
                      </a:rPr>
                      <m:t>𝐿</m:t>
                    </m:r>
                    <m:d>
                      <m:dPr>
                        <m:ctrlPr>
                          <a:rPr lang="en-US" sz="3382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 sz="3382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lang="en-US" sz="3599" dirty="0"/>
                  <a:t>?: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599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3599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3599" i="1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sz="3599" i="1">
                            <a:latin typeface="Cambria Math"/>
                          </a:rPr>
                          <m:t>𝐿</m:t>
                        </m:r>
                        <m:d>
                          <m:dPr>
                            <m:ctrlPr>
                              <a:rPr lang="en-US" sz="338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sz="3382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  <m:r>
                          <a:rPr lang="en-US" sz="3599" i="1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US" sz="3599" i="1">
                            <a:latin typeface="Cambria Math"/>
                            <a:ea typeface="Cambria Math"/>
                          </a:rPr>
                          <m:t>𝜕</m:t>
                        </m:r>
                        <m:d>
                          <m:dPr>
                            <m:ctrlPr>
                              <a:rPr lang="en-US" sz="338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sz="3382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den>
                    </m:f>
                  </m:oMath>
                </a14:m>
                <a:endParaRPr lang="en-US" sz="3599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537" y="5225524"/>
                <a:ext cx="9823974" cy="1509837"/>
              </a:xfrm>
              <a:prstGeom prst="rect">
                <a:avLst/>
              </a:prstGeom>
              <a:blipFill>
                <a:blip r:embed="rId5"/>
                <a:stretch>
                  <a:fillRect l="-1861" t="-6048" b="-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0829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Hill-Descent to Gradient-Descent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828802"/>
            <a:ext cx="7543800" cy="2744056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2362199" y="1676401"/>
            <a:ext cx="0" cy="281940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2362201" y="4495799"/>
            <a:ext cx="8077200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 rot="16200000">
                <a:off x="1249194" y="2878755"/>
                <a:ext cx="1277722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249194" y="2878755"/>
                <a:ext cx="1277722" cy="677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356542" y="4659868"/>
                <a:ext cx="766364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𝑊</m:t>
                      </m:r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542" y="4659868"/>
                <a:ext cx="766364" cy="6777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497764" y="5034204"/>
                <a:ext cx="8946255" cy="15804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599" dirty="0"/>
                  <a:t>Knowing direction is not enough, we take a step towards the direction: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3599" i="1">
                        <a:latin typeface="Cambria Math"/>
                        <a:ea typeface="Cambria Math"/>
                      </a:rPr>
                      <m:t>α</m:t>
                    </m:r>
                    <m:f>
                      <m:fPr>
                        <m:ctrlPr>
                          <a:rPr lang="en-US" sz="3599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3599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3599" i="1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sz="3599" i="1">
                            <a:latin typeface="Cambria Math"/>
                          </a:rPr>
                          <m:t>𝐿</m:t>
                        </m:r>
                        <m:d>
                          <m:dPr>
                            <m:ctrlPr>
                              <a:rPr lang="en-US" sz="359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3382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l-GR" sz="3382" i="1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d>
                          </m:e>
                        </m:d>
                        <m:r>
                          <a:rPr lang="en-US" sz="3599" i="1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US" sz="3599" i="1">
                            <a:latin typeface="Cambria Math"/>
                            <a:ea typeface="Cambria Math"/>
                          </a:rPr>
                          <m:t>𝜕</m:t>
                        </m:r>
                        <m:d>
                          <m:dPr>
                            <m:ctrlPr>
                              <a:rPr lang="en-US" sz="338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sz="3382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den>
                    </m:f>
                  </m:oMath>
                </a14:m>
                <a:endParaRPr lang="en-US" sz="3599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764" y="5034204"/>
                <a:ext cx="8946255" cy="1580433"/>
              </a:xfrm>
              <a:prstGeom prst="rect">
                <a:avLst/>
              </a:prstGeom>
              <a:blipFill>
                <a:blip r:embed="rId5"/>
                <a:stretch>
                  <a:fillRect l="-2113" t="-6178" b="-4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3383381" y="3505201"/>
                <a:ext cx="838819" cy="5409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1400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sz="1400" i="1">
                              <a:latin typeface="Cambria Math"/>
                            </a:rPr>
                            <m:t>𝐿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  <m:r>
                            <a:rPr lang="en-US" sz="1400" i="1">
                              <a:latin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400" i="1">
                              <a:latin typeface="Cambria Math"/>
                              <a:ea typeface="Cambria Math"/>
                            </a:rPr>
                            <m:t>𝜕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381" y="3505201"/>
                <a:ext cx="838819" cy="54091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>
            <a:off x="4366211" y="2667169"/>
            <a:ext cx="281990" cy="38083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/>
          <p:nvPr/>
        </p:nvCxnSpPr>
        <p:spPr>
          <a:xfrm rot="5400000">
            <a:off x="3890541" y="2888536"/>
            <a:ext cx="665715" cy="567613"/>
          </a:xfrm>
          <a:prstGeom prst="curvedConnector3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350327" y="2604581"/>
            <a:ext cx="466095" cy="392289"/>
          </a:xfrm>
          <a:custGeom>
            <a:avLst/>
            <a:gdLst>
              <a:gd name="connsiteX0" fmla="*/ 0 w 466096"/>
              <a:gd name="connsiteY0" fmla="*/ 41639 h 392289"/>
              <a:gd name="connsiteX1" fmla="*/ 457200 w 466096"/>
              <a:gd name="connsiteY1" fmla="*/ 27785 h 392289"/>
              <a:gd name="connsiteX2" fmla="*/ 304800 w 466096"/>
              <a:gd name="connsiteY2" fmla="*/ 360294 h 392289"/>
              <a:gd name="connsiteX3" fmla="*/ 332509 w 466096"/>
              <a:gd name="connsiteY3" fmla="*/ 360294 h 392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096" h="392289">
                <a:moveTo>
                  <a:pt x="0" y="41639"/>
                </a:moveTo>
                <a:cubicBezTo>
                  <a:pt x="203200" y="8157"/>
                  <a:pt x="406400" y="-25324"/>
                  <a:pt x="457200" y="27785"/>
                </a:cubicBezTo>
                <a:cubicBezTo>
                  <a:pt x="508000" y="80894"/>
                  <a:pt x="325582" y="304876"/>
                  <a:pt x="304800" y="360294"/>
                </a:cubicBezTo>
                <a:cubicBezTo>
                  <a:pt x="284018" y="415712"/>
                  <a:pt x="308263" y="388003"/>
                  <a:pt x="332509" y="360294"/>
                </a:cubicBezTo>
              </a:path>
            </a:pathLst>
          </a:cu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cxnSp>
        <p:nvCxnSpPr>
          <p:cNvPr id="20" name="Curved Connector 19"/>
          <p:cNvCxnSpPr/>
          <p:nvPr/>
        </p:nvCxnSpPr>
        <p:spPr>
          <a:xfrm flipV="1">
            <a:off x="4812006" y="2133601"/>
            <a:ext cx="826796" cy="477282"/>
          </a:xfrm>
          <a:prstGeom prst="curvedConnector3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5562601" y="1916668"/>
                <a:ext cx="564578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804" i="1">
                          <a:latin typeface="Cambria Math"/>
                          <a:ea typeface="Cambria Math"/>
                        </a:rPr>
                        <m:t>α</m:t>
                      </m:r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1" y="1916668"/>
                <a:ext cx="564578" cy="6777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8144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From Hill-Descent to Gradient-Descent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828802"/>
            <a:ext cx="7543800" cy="2744056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2362199" y="1676401"/>
            <a:ext cx="0" cy="281940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2362201" y="4495799"/>
            <a:ext cx="8077200" cy="0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 rot="16200000">
                <a:off x="1167558" y="2861951"/>
                <a:ext cx="1277722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167558" y="2861951"/>
                <a:ext cx="1277722" cy="677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356543" y="4659868"/>
                <a:ext cx="1008032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80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</m:d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543" y="4659868"/>
                <a:ext cx="1008032" cy="6777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586630" y="5008960"/>
                <a:ext cx="9107317" cy="15804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599" dirty="0"/>
                  <a:t>Knowing direction is not enough, we take a step towards the direction: </a:t>
                </a:r>
                <a14:m>
                  <m:oMath xmlns:m="http://schemas.openxmlformats.org/officeDocument/2006/math">
                    <m:r>
                      <a:rPr lang="en-US" sz="3599">
                        <a:latin typeface="Cambria Math"/>
                        <a:ea typeface="Cambria Math"/>
                      </a:rPr>
                      <m:t>−</m:t>
                    </m:r>
                    <m:r>
                      <m:rPr>
                        <m:sty m:val="p"/>
                      </m:rPr>
                      <a:rPr lang="el-GR" sz="3599" i="1">
                        <a:latin typeface="Cambria Math"/>
                        <a:ea typeface="Cambria Math"/>
                      </a:rPr>
                      <m:t>α</m:t>
                    </m:r>
                    <m:f>
                      <m:fPr>
                        <m:ctrlPr>
                          <a:rPr lang="en-US" sz="3599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3599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3599" i="1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sz="3599" i="1">
                            <a:latin typeface="Cambria Math"/>
                          </a:rPr>
                          <m:t>𝐿</m:t>
                        </m:r>
                        <m:d>
                          <m:dPr>
                            <m:ctrlPr>
                              <a:rPr lang="en-US" sz="3599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3382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l-GR" sz="3382" i="1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d>
                          </m:e>
                        </m:d>
                        <m:r>
                          <a:rPr lang="en-US" sz="3599" i="1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US" sz="3599" i="1">
                            <a:latin typeface="Cambria Math"/>
                            <a:ea typeface="Cambria Math"/>
                          </a:rPr>
                          <m:t>𝜕</m:t>
                        </m:r>
                        <m:d>
                          <m:dPr>
                            <m:ctrlPr>
                              <a:rPr lang="en-US" sz="3382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sz="3382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den>
                    </m:f>
                  </m:oMath>
                </a14:m>
                <a:endParaRPr lang="en-US" sz="3599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630" y="5008960"/>
                <a:ext cx="9107317" cy="1580433"/>
              </a:xfrm>
              <a:prstGeom prst="rect">
                <a:avLst/>
              </a:prstGeom>
              <a:blipFill>
                <a:blip r:embed="rId5"/>
                <a:stretch>
                  <a:fillRect l="-2008" t="-6178" b="-4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383379" y="3505201"/>
                <a:ext cx="2179218" cy="10250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804" dirty="0">
                    <a:ea typeface="Cambria Math"/>
                  </a:rPr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804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3804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3804" i="1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sz="3804" i="1">
                            <a:latin typeface="Cambria Math"/>
                          </a:rPr>
                          <m:t>𝐿</m:t>
                        </m:r>
                        <m:d>
                          <m:dPr>
                            <m:ctrlPr>
                              <a:rPr lang="en-US" sz="3804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sz="3804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  <m:r>
                          <a:rPr lang="en-US" sz="3804" i="1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en-US" sz="3804" i="1">
                            <a:latin typeface="Cambria Math"/>
                            <a:ea typeface="Cambria Math"/>
                          </a:rPr>
                          <m:t>𝜕</m:t>
                        </m:r>
                        <m:d>
                          <m:dPr>
                            <m:ctrlPr>
                              <a:rPr lang="en-US" sz="3804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l-GR" sz="3804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den>
                    </m:f>
                  </m:oMath>
                </a14:m>
                <a:endParaRPr lang="en-US" sz="3804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379" y="3505201"/>
                <a:ext cx="2179218" cy="1025024"/>
              </a:xfrm>
              <a:prstGeom prst="rect">
                <a:avLst/>
              </a:prstGeom>
              <a:blipFill>
                <a:blip r:embed="rId6"/>
                <a:stretch>
                  <a:fillRect l="-9244" b="-5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>
            <a:off x="4366211" y="2667169"/>
            <a:ext cx="281990" cy="38083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/>
          <p:nvPr/>
        </p:nvCxnSpPr>
        <p:spPr>
          <a:xfrm rot="5400000">
            <a:off x="3890541" y="2888536"/>
            <a:ext cx="665715" cy="567613"/>
          </a:xfrm>
          <a:prstGeom prst="curvedConnector3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350327" y="2604581"/>
            <a:ext cx="466095" cy="392289"/>
          </a:xfrm>
          <a:custGeom>
            <a:avLst/>
            <a:gdLst>
              <a:gd name="connsiteX0" fmla="*/ 0 w 466096"/>
              <a:gd name="connsiteY0" fmla="*/ 41639 h 392289"/>
              <a:gd name="connsiteX1" fmla="*/ 457200 w 466096"/>
              <a:gd name="connsiteY1" fmla="*/ 27785 h 392289"/>
              <a:gd name="connsiteX2" fmla="*/ 304800 w 466096"/>
              <a:gd name="connsiteY2" fmla="*/ 360294 h 392289"/>
              <a:gd name="connsiteX3" fmla="*/ 332509 w 466096"/>
              <a:gd name="connsiteY3" fmla="*/ 360294 h 392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096" h="392289">
                <a:moveTo>
                  <a:pt x="0" y="41639"/>
                </a:moveTo>
                <a:cubicBezTo>
                  <a:pt x="203200" y="8157"/>
                  <a:pt x="406400" y="-25324"/>
                  <a:pt x="457200" y="27785"/>
                </a:cubicBezTo>
                <a:cubicBezTo>
                  <a:pt x="508000" y="80894"/>
                  <a:pt x="325582" y="304876"/>
                  <a:pt x="304800" y="360294"/>
                </a:cubicBezTo>
                <a:cubicBezTo>
                  <a:pt x="284018" y="415712"/>
                  <a:pt x="308263" y="388003"/>
                  <a:pt x="332509" y="360294"/>
                </a:cubicBezTo>
              </a:path>
            </a:pathLst>
          </a:cu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cxnSp>
        <p:nvCxnSpPr>
          <p:cNvPr id="20" name="Curved Connector 19"/>
          <p:cNvCxnSpPr/>
          <p:nvPr/>
        </p:nvCxnSpPr>
        <p:spPr>
          <a:xfrm flipV="1">
            <a:off x="4812006" y="2133601"/>
            <a:ext cx="826796" cy="477282"/>
          </a:xfrm>
          <a:prstGeom prst="curvedConnector3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5562601" y="1916668"/>
                <a:ext cx="564578" cy="6777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804" i="1">
                          <a:latin typeface="Cambria Math"/>
                          <a:ea typeface="Cambria Math"/>
                        </a:rPr>
                        <m:t>α</m:t>
                      </m:r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1" y="1916668"/>
                <a:ext cx="564578" cy="6777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1053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DC3CD-4812-8CDD-0E86-8C1242E95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CC8A4849-12C2-D300-D97B-D1554139A8AC}"/>
              </a:ext>
            </a:extLst>
          </p:cNvPr>
          <p:cNvGrpSpPr/>
          <p:nvPr/>
        </p:nvGrpSpPr>
        <p:grpSpPr>
          <a:xfrm>
            <a:off x="2983" y="0"/>
            <a:ext cx="12173957" cy="434832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BC9FD6D-BD68-B745-BBD0-474CFD32990C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2212341-C405-FBA5-0615-2810EB139023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20BB7C6-3015-572D-3889-E13833145F1A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AF863D5-A8B7-478A-0DC6-102C0DB6A3FD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4789441B-5414-4F08-1C94-E570C6B0299B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0714C3DE-9C88-2E00-9C92-BB1E8A4F3E19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BFEB17A-7C52-B893-58D3-844E5C23315A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93B7D160-7D43-6693-007F-AA72D5BFE169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D7D345F2-ACCF-CDD8-477C-A34443C6AA5F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FD79B8F0-86F3-04BD-C057-DCB3D9E059FE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533D54C6-6046-D617-CD90-8D8F90038570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F6660441-0CEA-36BA-4D6D-B535518FF3E1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EFD8E955-35BC-5960-3963-D19C11D86705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4D71DC21-83AB-9C6F-38D2-5C90A9B96F3B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8B8C018F-9B50-A799-93F1-7C4C3D60BAD6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27F9DE10-228C-62B9-C127-49FF03B4190A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DA10BBE7-79EF-896B-E666-B0E2F171DFBF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88F881CF-77F0-C153-1B22-0884D347CB64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1534A067-FF20-1EF9-F8E3-09714D6058AF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AFD127A5-1CFC-7B35-8CA4-D14F486BC170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47587033-5F35-09FF-C262-89618BB01189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E7F0DBBF-8888-3D85-DCF0-982D065C0B51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34CA2CF6-F6C5-218E-F16E-B3B0EBCBD215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F78104D2-6A07-3F51-10E3-F5B7372890B0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28FF5FBF-622F-4360-C91F-4E093BF011B1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07081550-4257-FC3F-9A97-D460FEE3443D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BE7B0490-0F8A-50A1-2CC3-374B72C1489D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755A9124-FCD5-6EED-1114-353C6FA743ED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5EFB1E4F-9FED-E738-28F8-C9E3098E6DAF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D678B81E-C372-52ED-07F3-1CFD967EB59D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365FD877-79F5-3E73-0796-BE887C0E23BA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69AE8E72-8AA3-34D5-11C0-922F3B35791A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F0C4A4D6-C56D-DC33-9870-7FC2BEDAB23C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25393DA0-E054-B024-3F61-771C60DDE487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4DCB1622-5DD6-787E-024D-E63E84526D5B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1EE125A5-4C45-4F1C-5FB1-0BD4932241C4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05C09455-4DBC-B814-F18A-BDA8F5A76ABB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B8E54A46-C72E-3184-F92D-52ED5E4841CC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E782BFF0-EDE4-C7D0-EC9E-DEB9447C6AA9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405260B0-3178-B382-016F-6C26B63D1D77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324D9E72-D869-ED1F-3779-C366AD1B3FF5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74AB38A1-357C-18E9-75DF-246EEA822C67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B5C2E10F-D511-2526-78B0-E247072709AC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C7B521C7-466D-2672-A18D-FC097C0782FA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187B7A0B-2CE9-F52E-3359-D76A7EF6B625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6B795322-E894-4CDC-3C14-3C7DBAC1F6F2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080C241F-038D-9FD5-0A98-B7BCC70E3A0F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A568A8DC-F492-904D-29F4-4AF4F8B4837E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5F12272C-238B-22B6-D2D7-15E97A59FD9F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326AF539-7C71-6185-86B6-14967CDAE9DB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03BC97FC-1682-072D-D792-0B018D6B5CB8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F5DE42C8-548F-793F-79F1-97894642AAC2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D689F1EF-AF95-87BA-9EB0-E68C583980B9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0457D825-2D25-8B2D-6F1E-19890D6661E6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EAC8B3BE-AD20-245A-CB7A-CAC831B8DDF7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D5CEB0FE-3A33-6468-B06B-E747EB6B72CE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7DA404FD-2776-A5FE-5459-A2B8F5DC6CFD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131D02B6-F16F-9082-459D-44A5D91C7081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43ED602D-AAA9-4673-2893-5EA13913274D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BFF0D731-1433-5FEE-9A6E-B6612FA16915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7F25636D-DDBA-3CB6-253D-929C958A4876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F8A2F5F2-2EFD-E597-F4A3-33BBB907A24E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A7876ED5-FB3E-2634-F77B-6B6E4F0B33A2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85E87B6B-3057-AC9A-6D4F-F28DBB087DC5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0A8D7D71-7E94-F874-A4DE-FDCDAB379C53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6F18926A-5DC1-E58C-A0EA-405A5B1CB799}"/>
              </a:ext>
            </a:extLst>
          </p:cNvPr>
          <p:cNvSpPr txBox="1"/>
          <p:nvPr/>
        </p:nvSpPr>
        <p:spPr>
          <a:xfrm>
            <a:off x="204400" y="53379"/>
            <a:ext cx="11771334" cy="188421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  <a:tabLst>
                <a:tab pos="1399782" algn="l"/>
                <a:tab pos="2970006" algn="l"/>
                <a:tab pos="6278215" algn="l"/>
                <a:tab pos="8167853" algn="l"/>
                <a:tab pos="9119383" algn="l"/>
                <a:tab pos="11296224" algn="l"/>
              </a:tabLst>
            </a:pP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16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Cost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48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Function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and</a:t>
            </a:r>
            <a:r>
              <a:rPr sz="1057" spc="2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Gradient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37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Descent</a:t>
            </a:r>
            <a:r>
              <a:rPr sz="1057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1057" spc="25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LR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with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232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GD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59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3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1057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4DB6299B-6203-3C37-7643-B7D0470831B4}"/>
              </a:ext>
            </a:extLst>
          </p:cNvPr>
          <p:cNvGrpSpPr/>
          <p:nvPr/>
        </p:nvGrpSpPr>
        <p:grpSpPr>
          <a:xfrm>
            <a:off x="2983" y="6660660"/>
            <a:ext cx="12173957" cy="18789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BF89530F-C417-06A4-C983-6CB2BBA8FE9A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27CF9F33-8F68-BF5E-872C-EDA105DCDC70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1515459B-AE74-AA96-4EC8-F87E83F07DA1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C1568BDA-A7A4-FC6A-8067-9D15E29050B8}"/>
              </a:ext>
            </a:extLst>
          </p:cNvPr>
          <p:cNvSpPr txBox="1"/>
          <p:nvPr/>
        </p:nvSpPr>
        <p:spPr>
          <a:xfrm>
            <a:off x="8409414" y="6612778"/>
            <a:ext cx="903216" cy="206039"/>
          </a:xfrm>
          <a:prstGeom prst="rect">
            <a:avLst/>
          </a:prstGeom>
        </p:spPr>
        <p:txBody>
          <a:bodyPr vert="horz" wrap="square" lIns="0" tIns="42946" rIns="0" bIns="0" rtlCol="0">
            <a:spAutoFit/>
          </a:bodyPr>
          <a:lstStyle/>
          <a:p>
            <a:pPr marL="26841">
              <a:spcBef>
                <a:spcPts val="338"/>
              </a:spcBef>
            </a:pPr>
            <a:r>
              <a:rPr sz="1057" spc="127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Regression</a:t>
            </a:r>
            <a:endParaRPr sz="1057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754B9EBD-9F0E-E3BF-F99A-5FE1E5B27E9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5282831" y="3128823"/>
            <a:ext cx="326389" cy="116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59055">
              <a:spcBef>
                <a:spcPts val="160"/>
              </a:spcBef>
            </a:pPr>
            <a:fld id="{81D60167-4931-47E6-BA6A-407CBD079E47}" type="slidenum">
              <a:rPr lang="en-US" spc="125" smtClean="0"/>
              <a:pPr marL="59055">
                <a:spcBef>
                  <a:spcPts val="160"/>
                </a:spcBef>
              </a:pPr>
              <a:t>10</a:t>
            </a:fld>
            <a:r>
              <a:rPr lang="en-US" spc="114"/>
              <a:t> </a:t>
            </a:r>
            <a:r>
              <a:rPr lang="en-US" spc="95"/>
              <a:t>/</a:t>
            </a:r>
            <a:r>
              <a:rPr lang="en-US" spc="120"/>
              <a:t> </a:t>
            </a:r>
            <a:r>
              <a:rPr lang="en-US" spc="20"/>
              <a:t>65</a:t>
            </a:r>
            <a:endParaRPr spc="63" dirty="0"/>
          </a:p>
        </p:txBody>
      </p:sp>
      <p:pic>
        <p:nvPicPr>
          <p:cNvPr id="73" name="Picture 72" descr="A diagram of a cost reduction&#10;&#10;Description automatically generated">
            <a:extLst>
              <a:ext uri="{FF2B5EF4-FFF2-40B4-BE49-F238E27FC236}">
                <a16:creationId xmlns:a16="http://schemas.microsoft.com/office/drawing/2014/main" id="{FE87CA65-C9DD-1D12-A2CF-9F9E00E6A2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968" y="890843"/>
            <a:ext cx="11270280" cy="5603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33442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683" y="161916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Gradient-Descent Algorithm: Why It Works ?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258682" y="1854192"/>
            <a:ext cx="0" cy="182879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2258684" y="3682990"/>
            <a:ext cx="38861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2847502" y="2011109"/>
            <a:ext cx="2550470" cy="1332794"/>
          </a:xfrm>
          <a:custGeom>
            <a:avLst/>
            <a:gdLst>
              <a:gd name="connsiteX0" fmla="*/ 0 w 2550469"/>
              <a:gd name="connsiteY0" fmla="*/ 85540 h 1332795"/>
              <a:gd name="connsiteX1" fmla="*/ 720437 w 2550469"/>
              <a:gd name="connsiteY1" fmla="*/ 1332449 h 1332795"/>
              <a:gd name="connsiteX2" fmla="*/ 2286000 w 2550469"/>
              <a:gd name="connsiteY2" fmla="*/ 210230 h 1332795"/>
              <a:gd name="connsiteX3" fmla="*/ 2535382 w 2550469"/>
              <a:gd name="connsiteY3" fmla="*/ 2412 h 13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0469" h="1332795">
                <a:moveTo>
                  <a:pt x="0" y="85540"/>
                </a:moveTo>
                <a:cubicBezTo>
                  <a:pt x="169718" y="698603"/>
                  <a:pt x="339437" y="1311667"/>
                  <a:pt x="720437" y="1332449"/>
                </a:cubicBezTo>
                <a:cubicBezTo>
                  <a:pt x="1101437" y="1353231"/>
                  <a:pt x="1983509" y="431903"/>
                  <a:pt x="2286000" y="210230"/>
                </a:cubicBezTo>
                <a:cubicBezTo>
                  <a:pt x="2588491" y="-11443"/>
                  <a:pt x="2561936" y="-4516"/>
                  <a:pt x="2535382" y="2412"/>
                </a:cubicBezTo>
              </a:path>
            </a:pathLst>
          </a:cu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 rot="16200000">
                <a:off x="1113935" y="2652483"/>
                <a:ext cx="1317155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sz="3804" i="1" smtClean="0">
                        <a:latin typeface="Cambria Math"/>
                      </a:rPr>
                      <m:t>𝐿</m:t>
                    </m:r>
                    <m:sSub>
                      <m:sSubPr>
                        <m:ctrlPr>
                          <a:rPr lang="en-US" sz="380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804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l-GR" sz="3804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3804" i="1" dirty="0" smtClean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3804" dirty="0"/>
                  <a:t>)</a:t>
                </a:r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113935" y="2652483"/>
                <a:ext cx="1317155" cy="724942"/>
              </a:xfrm>
              <a:prstGeom prst="rect">
                <a:avLst/>
              </a:prstGeom>
              <a:blipFill>
                <a:blip r:embed="rId2"/>
                <a:stretch>
                  <a:fillRect l="-11765" t="-14352" r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069067" y="3682990"/>
                <a:ext cx="758797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114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9067" y="3682990"/>
                <a:ext cx="758797" cy="7249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2293318" y="4304260"/>
            <a:ext cx="0" cy="182879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2293318" y="6133058"/>
            <a:ext cx="38861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2882136" y="4461177"/>
            <a:ext cx="2550470" cy="1332794"/>
          </a:xfrm>
          <a:custGeom>
            <a:avLst/>
            <a:gdLst>
              <a:gd name="connsiteX0" fmla="*/ 0 w 2550469"/>
              <a:gd name="connsiteY0" fmla="*/ 85540 h 1332795"/>
              <a:gd name="connsiteX1" fmla="*/ 720437 w 2550469"/>
              <a:gd name="connsiteY1" fmla="*/ 1332449 h 1332795"/>
              <a:gd name="connsiteX2" fmla="*/ 2286000 w 2550469"/>
              <a:gd name="connsiteY2" fmla="*/ 210230 h 1332795"/>
              <a:gd name="connsiteX3" fmla="*/ 2535382 w 2550469"/>
              <a:gd name="connsiteY3" fmla="*/ 2412 h 13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0469" h="1332795">
                <a:moveTo>
                  <a:pt x="0" y="85540"/>
                </a:moveTo>
                <a:cubicBezTo>
                  <a:pt x="169718" y="698603"/>
                  <a:pt x="339437" y="1311667"/>
                  <a:pt x="720437" y="1332449"/>
                </a:cubicBezTo>
                <a:cubicBezTo>
                  <a:pt x="1101437" y="1353231"/>
                  <a:pt x="1983509" y="431903"/>
                  <a:pt x="2286000" y="210230"/>
                </a:cubicBezTo>
                <a:cubicBezTo>
                  <a:pt x="2588491" y="-11443"/>
                  <a:pt x="2561936" y="-4516"/>
                  <a:pt x="2535382" y="2412"/>
                </a:cubicBezTo>
              </a:path>
            </a:pathLst>
          </a:cu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 rot="16200000">
                <a:off x="1214626" y="4987366"/>
                <a:ext cx="1432443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r>
                        <a:rPr lang="en-US" sz="3804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3804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 smtClean="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n-US" sz="3804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214626" y="4987366"/>
                <a:ext cx="1432443" cy="7249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5103700" y="6133058"/>
                <a:ext cx="758797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804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804" dirty="0"/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3700" y="6133058"/>
                <a:ext cx="758797" cy="7249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/>
          <p:cNvSpPr/>
          <p:nvPr/>
        </p:nvSpPr>
        <p:spPr>
          <a:xfrm>
            <a:off x="5001883" y="2200556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6525883" y="2192831"/>
                <a:ext cx="3818096" cy="8543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𝑛𝑒𝑤</m:t>
                        </m:r>
                      </m:sup>
                    </m:sSup>
                    <m:r>
                      <a:rPr lang="en-US" sz="28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𝑜𝑙𝑑</m:t>
                        </m:r>
                      </m:sup>
                    </m:sSup>
                  </m:oMath>
                </a14:m>
                <a:r>
                  <a:rPr lang="en-US" sz="2800" dirty="0"/>
                  <a:t>-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𝐿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)</m:t>
                        </m:r>
                      </m:num>
                      <m:den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883" y="2192831"/>
                <a:ext cx="3818096" cy="8543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/>
          <p:cNvSpPr/>
          <p:nvPr/>
        </p:nvSpPr>
        <p:spPr>
          <a:xfrm>
            <a:off x="2944483" y="5054591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525883" y="4633616"/>
                <a:ext cx="3818096" cy="8543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𝑛𝑒𝑤</m:t>
                        </m:r>
                      </m:sup>
                    </m:sSup>
                    <m:r>
                      <a:rPr lang="en-US" sz="28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𝑜𝑙𝑑</m:t>
                        </m:r>
                      </m:sup>
                    </m:sSup>
                  </m:oMath>
                </a14:m>
                <a:r>
                  <a:rPr lang="en-US" sz="2800" dirty="0"/>
                  <a:t>-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𝐿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)</m:t>
                        </m:r>
                      </m:num>
                      <m:den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883" y="4633616"/>
                <a:ext cx="3818096" cy="8543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6973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288" y="68775"/>
            <a:ext cx="10967432" cy="1097280"/>
          </a:xfrm>
        </p:spPr>
        <p:txBody>
          <a:bodyPr>
            <a:normAutofit/>
          </a:bodyPr>
          <a:lstStyle/>
          <a:p>
            <a:r>
              <a:rPr lang="en-US" dirty="0"/>
              <a:t>Gradient-Descent Algorithm: Why It Works ?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209203" y="1851857"/>
            <a:ext cx="0" cy="182879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2209205" y="3680655"/>
            <a:ext cx="38861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2798022" y="2008774"/>
            <a:ext cx="2550470" cy="1332794"/>
          </a:xfrm>
          <a:custGeom>
            <a:avLst/>
            <a:gdLst>
              <a:gd name="connsiteX0" fmla="*/ 0 w 2550469"/>
              <a:gd name="connsiteY0" fmla="*/ 85540 h 1332795"/>
              <a:gd name="connsiteX1" fmla="*/ 720437 w 2550469"/>
              <a:gd name="connsiteY1" fmla="*/ 1332449 h 1332795"/>
              <a:gd name="connsiteX2" fmla="*/ 2286000 w 2550469"/>
              <a:gd name="connsiteY2" fmla="*/ 210230 h 1332795"/>
              <a:gd name="connsiteX3" fmla="*/ 2535382 w 2550469"/>
              <a:gd name="connsiteY3" fmla="*/ 2412 h 13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0469" h="1332795">
                <a:moveTo>
                  <a:pt x="0" y="85540"/>
                </a:moveTo>
                <a:cubicBezTo>
                  <a:pt x="169718" y="698603"/>
                  <a:pt x="339437" y="1311667"/>
                  <a:pt x="720437" y="1332449"/>
                </a:cubicBezTo>
                <a:cubicBezTo>
                  <a:pt x="1101437" y="1353231"/>
                  <a:pt x="1983509" y="431903"/>
                  <a:pt x="2286000" y="210230"/>
                </a:cubicBezTo>
                <a:cubicBezTo>
                  <a:pt x="2588491" y="-11443"/>
                  <a:pt x="2561936" y="-4516"/>
                  <a:pt x="2535382" y="2412"/>
                </a:cubicBezTo>
              </a:path>
            </a:pathLst>
          </a:cu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 rot="16200000">
                <a:off x="1044009" y="2686717"/>
                <a:ext cx="1475852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804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n-US" sz="3804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44009" y="2686717"/>
                <a:ext cx="1475852" cy="7249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019588" y="3680655"/>
                <a:ext cx="758797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588" y="3680655"/>
                <a:ext cx="758797" cy="7249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2243839" y="4301924"/>
            <a:ext cx="0" cy="182879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2243839" y="6130723"/>
            <a:ext cx="38861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2832656" y="4458841"/>
            <a:ext cx="2550470" cy="1332794"/>
          </a:xfrm>
          <a:custGeom>
            <a:avLst/>
            <a:gdLst>
              <a:gd name="connsiteX0" fmla="*/ 0 w 2550469"/>
              <a:gd name="connsiteY0" fmla="*/ 85540 h 1332795"/>
              <a:gd name="connsiteX1" fmla="*/ 720437 w 2550469"/>
              <a:gd name="connsiteY1" fmla="*/ 1332449 h 1332795"/>
              <a:gd name="connsiteX2" fmla="*/ 2286000 w 2550469"/>
              <a:gd name="connsiteY2" fmla="*/ 210230 h 1332795"/>
              <a:gd name="connsiteX3" fmla="*/ 2535382 w 2550469"/>
              <a:gd name="connsiteY3" fmla="*/ 2412 h 13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0469" h="1332795">
                <a:moveTo>
                  <a:pt x="0" y="85540"/>
                </a:moveTo>
                <a:cubicBezTo>
                  <a:pt x="169718" y="698603"/>
                  <a:pt x="339437" y="1311667"/>
                  <a:pt x="720437" y="1332449"/>
                </a:cubicBezTo>
                <a:cubicBezTo>
                  <a:pt x="1101437" y="1353231"/>
                  <a:pt x="1983509" y="431903"/>
                  <a:pt x="2286000" y="210230"/>
                </a:cubicBezTo>
                <a:cubicBezTo>
                  <a:pt x="2588491" y="-11443"/>
                  <a:pt x="2561936" y="-4516"/>
                  <a:pt x="2535382" y="2412"/>
                </a:cubicBezTo>
              </a:path>
            </a:pathLst>
          </a:cu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 rot="16200000">
                <a:off x="1096430" y="4934751"/>
                <a:ext cx="1432443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r>
                        <a:rPr lang="en-US" sz="3804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n-US" sz="3804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096430" y="4934751"/>
                <a:ext cx="1432443" cy="7249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5054222" y="6130724"/>
                <a:ext cx="631390" cy="5843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959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959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959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959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4222" y="6130724"/>
                <a:ext cx="631390" cy="5843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/>
          <p:cNvSpPr/>
          <p:nvPr/>
        </p:nvSpPr>
        <p:spPr>
          <a:xfrm>
            <a:off x="4952404" y="2198221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sp>
        <p:nvSpPr>
          <p:cNvPr id="21" name="Oval 20"/>
          <p:cNvSpPr/>
          <p:nvPr/>
        </p:nvSpPr>
        <p:spPr>
          <a:xfrm>
            <a:off x="2895004" y="5052255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4723805" y="2004257"/>
            <a:ext cx="566987" cy="670912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4038005" y="3909255"/>
            <a:ext cx="99060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2437804" y="6271456"/>
            <a:ext cx="990601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6476403" y="2190496"/>
                <a:ext cx="3818096" cy="8543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𝑛𝑒𝑤</m:t>
                        </m:r>
                      </m:sup>
                    </m:sSup>
                    <m:r>
                      <a:rPr lang="en-US" sz="28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𝑜𝑙𝑑</m:t>
                        </m:r>
                      </m:sup>
                    </m:sSup>
                  </m:oMath>
                </a14:m>
                <a:r>
                  <a:rPr lang="en-US" sz="2800" dirty="0"/>
                  <a:t>-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𝐿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)</m:t>
                        </m:r>
                      </m:num>
                      <m:den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403" y="2190496"/>
                <a:ext cx="3818096" cy="8543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6476403" y="4631281"/>
                <a:ext cx="3709092" cy="7548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𝑛𝑒𝑤</m:t>
                        </m:r>
                      </m:sup>
                    </m:sSup>
                    <m:r>
                      <a:rPr lang="en-US" sz="28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𝑜𝑙𝑑</m:t>
                        </m:r>
                      </m:sup>
                    </m:sSup>
                  </m:oMath>
                </a14:m>
                <a:r>
                  <a:rPr lang="en-US" sz="2800" dirty="0"/>
                  <a:t>-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𝐿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)</m:t>
                        </m:r>
                      </m:num>
                      <m:den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𝑤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403" y="4631281"/>
                <a:ext cx="3709092" cy="754822"/>
              </a:xfrm>
              <a:prstGeom prst="rect">
                <a:avLst/>
              </a:prstGeom>
              <a:blipFill>
                <a:blip r:embed="rId7"/>
                <a:stretch>
                  <a:fillRect b="-10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6476404" y="2954880"/>
                <a:ext cx="3509487" cy="6192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𝑛𝑒𝑤</m:t>
                        </m:r>
                      </m:sup>
                    </m:sSup>
                    <m:r>
                      <a:rPr lang="en-US" sz="28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𝑜𝑙𝑑</m:t>
                        </m:r>
                      </m:sup>
                    </m:sSup>
                  </m:oMath>
                </a14:m>
                <a:r>
                  <a:rPr lang="en-US" sz="2800" dirty="0"/>
                  <a:t>-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(+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𝑣𝑒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404" y="2954880"/>
                <a:ext cx="3509487" cy="619272"/>
              </a:xfrm>
              <a:prstGeom prst="rect">
                <a:avLst/>
              </a:prstGeom>
              <a:blipFill>
                <a:blip r:embed="rId8"/>
                <a:stretch>
                  <a:fillRect b="-22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476404" y="5280856"/>
                <a:ext cx="3509487" cy="6192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𝑛𝑒𝑤</m:t>
                        </m:r>
                      </m:sup>
                    </m:sSup>
                    <m:r>
                      <a:rPr lang="en-US" sz="28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𝑜𝑙𝑑</m:t>
                        </m:r>
                      </m:sup>
                    </m:sSup>
                  </m:oMath>
                </a14:m>
                <a:r>
                  <a:rPr lang="en-US" sz="2800" dirty="0"/>
                  <a:t>-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(−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𝑣𝑒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404" y="5280856"/>
                <a:ext cx="3509487" cy="619272"/>
              </a:xfrm>
              <a:prstGeom prst="rect">
                <a:avLst/>
              </a:prstGeom>
              <a:blipFill>
                <a:blip r:embed="rId9"/>
                <a:stretch>
                  <a:fillRect b="-2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6476406" y="3604457"/>
                <a:ext cx="2442015" cy="6192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959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  <m:sup>
                          <m:r>
                            <a:rPr lang="en-US" sz="2800" i="1" dirty="0">
                              <a:latin typeface="Cambria Math"/>
                            </a:rPr>
                            <m:t>𝑛𝑒𝑤</m:t>
                          </m:r>
                        </m:sup>
                      </m:sSup>
                      <m:r>
                        <a:rPr lang="en-US" sz="2800" i="1" dirty="0">
                          <a:latin typeface="Cambria Math"/>
                        </a:rPr>
                        <m:t>&lt;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959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  <m:sup>
                          <m:r>
                            <a:rPr lang="en-US" sz="2800" i="1" dirty="0">
                              <a:latin typeface="Cambria Math"/>
                            </a:rPr>
                            <m:t>𝑜𝑙𝑑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406" y="3604457"/>
                <a:ext cx="2442015" cy="6192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6476406" y="5772114"/>
                <a:ext cx="2442015" cy="6192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959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  <m:sup>
                          <m:r>
                            <a:rPr lang="en-US" sz="2800" i="1" dirty="0">
                              <a:latin typeface="Cambria Math"/>
                            </a:rPr>
                            <m:t>𝑛𝑒𝑤</m:t>
                          </m:r>
                        </m:sup>
                      </m:sSup>
                      <m:r>
                        <a:rPr lang="en-US" sz="2800" i="1" dirty="0">
                          <a:latin typeface="Cambria Math"/>
                        </a:rPr>
                        <m:t>&gt;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959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  <m:sup>
                          <m:r>
                            <a:rPr lang="en-US" sz="2800" i="1" dirty="0">
                              <a:latin typeface="Cambria Math"/>
                            </a:rPr>
                            <m:t>𝑜𝑙𝑑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406" y="5772114"/>
                <a:ext cx="2442015" cy="61927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/>
          <p:cNvCxnSpPr/>
          <p:nvPr/>
        </p:nvCxnSpPr>
        <p:spPr>
          <a:xfrm>
            <a:off x="2798024" y="4823656"/>
            <a:ext cx="461185" cy="7449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3082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Gradient-Descent Algorithm: Why It Works ?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362199" y="2057401"/>
            <a:ext cx="0" cy="182879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2362201" y="3886199"/>
            <a:ext cx="38861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2951019" y="2214318"/>
            <a:ext cx="2550470" cy="1332794"/>
          </a:xfrm>
          <a:custGeom>
            <a:avLst/>
            <a:gdLst>
              <a:gd name="connsiteX0" fmla="*/ 0 w 2550469"/>
              <a:gd name="connsiteY0" fmla="*/ 85540 h 1332795"/>
              <a:gd name="connsiteX1" fmla="*/ 720437 w 2550469"/>
              <a:gd name="connsiteY1" fmla="*/ 1332449 h 1332795"/>
              <a:gd name="connsiteX2" fmla="*/ 2286000 w 2550469"/>
              <a:gd name="connsiteY2" fmla="*/ 210230 h 1332795"/>
              <a:gd name="connsiteX3" fmla="*/ 2535382 w 2550469"/>
              <a:gd name="connsiteY3" fmla="*/ 2412 h 1332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0469" h="1332795">
                <a:moveTo>
                  <a:pt x="0" y="85540"/>
                </a:moveTo>
                <a:cubicBezTo>
                  <a:pt x="169718" y="698603"/>
                  <a:pt x="339437" y="1311667"/>
                  <a:pt x="720437" y="1332449"/>
                </a:cubicBezTo>
                <a:cubicBezTo>
                  <a:pt x="1101437" y="1353231"/>
                  <a:pt x="1983509" y="431903"/>
                  <a:pt x="2286000" y="210230"/>
                </a:cubicBezTo>
                <a:cubicBezTo>
                  <a:pt x="2588491" y="-11443"/>
                  <a:pt x="2561936" y="-4516"/>
                  <a:pt x="2535382" y="2412"/>
                </a:cubicBezTo>
              </a:path>
            </a:pathLst>
          </a:cu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 rot="16200000">
                <a:off x="1118685" y="2767569"/>
                <a:ext cx="1475852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804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n-US" sz="3804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118685" y="2767569"/>
                <a:ext cx="1475852" cy="7249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172584" y="3886199"/>
                <a:ext cx="758797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584" y="3886199"/>
                <a:ext cx="758797" cy="7249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/>
          <p:cNvSpPr/>
          <p:nvPr/>
        </p:nvSpPr>
        <p:spPr>
          <a:xfrm>
            <a:off x="3648584" y="3429000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2971799" y="3553690"/>
            <a:ext cx="1524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6629400" y="2396040"/>
                <a:ext cx="3818096" cy="8543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𝑛𝑒𝑤</m:t>
                        </m:r>
                      </m:sup>
                    </m:sSup>
                    <m:r>
                      <a:rPr lang="en-US" sz="28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𝑜𝑙𝑑</m:t>
                        </m:r>
                      </m:sup>
                    </m:sSup>
                  </m:oMath>
                </a14:m>
                <a:r>
                  <a:rPr lang="en-US" sz="2800" dirty="0"/>
                  <a:t>-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𝐿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)</m:t>
                        </m:r>
                      </m:num>
                      <m:den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2396040"/>
                <a:ext cx="3818096" cy="8543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6629403" y="3160425"/>
                <a:ext cx="2518958" cy="6192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959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  <m:sup>
                          <m:r>
                            <a:rPr lang="en-US" sz="2800" i="1" dirty="0">
                              <a:latin typeface="Cambria Math"/>
                            </a:rPr>
                            <m:t>𝑛𝑒𝑤</m:t>
                          </m:r>
                        </m:sup>
                      </m:sSup>
                      <m:r>
                        <a:rPr lang="en-US" sz="2800" i="1" dirty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959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  <m:sup>
                          <m:r>
                            <a:rPr lang="en-US" sz="2800" i="1" dirty="0">
                              <a:latin typeface="Cambria Math"/>
                            </a:rPr>
                            <m:t>𝑜𝑙𝑑</m:t>
                          </m:r>
                        </m:sup>
                      </m:sSup>
                      <m:r>
                        <a:rPr lang="en-US" sz="2800" dirty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3" y="3160425"/>
                <a:ext cx="2518958" cy="6192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7259583" y="3657602"/>
            <a:ext cx="1274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Why ?</a:t>
            </a:r>
          </a:p>
        </p:txBody>
      </p:sp>
    </p:spTree>
    <p:extLst>
      <p:ext uri="{BB962C8B-B14F-4D97-AF65-F5344CB8AC3E}">
        <p14:creationId xmlns:p14="http://schemas.microsoft.com/office/powerpoint/2010/main" val="865043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284" y="46973"/>
            <a:ext cx="10967432" cy="1097280"/>
          </a:xfrm>
        </p:spPr>
        <p:txBody>
          <a:bodyPr>
            <a:normAutofit fontScale="90000"/>
          </a:bodyPr>
          <a:lstStyle/>
          <a:p>
            <a:r>
              <a:rPr lang="en-GB" dirty="0"/>
              <a:t>Gradient Descent Algorithm: Semantics of Learning Rate</a:t>
            </a:r>
            <a:endParaRPr lang="en-US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1905000" y="1830054"/>
            <a:ext cx="0" cy="182879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1905000" y="3658852"/>
            <a:ext cx="38861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905000" y="4344655"/>
            <a:ext cx="0" cy="182879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1905000" y="6173453"/>
            <a:ext cx="38861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 rot="16200000">
                <a:off x="783284" y="2535437"/>
                <a:ext cx="1273747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804" i="1">
                        <a:latin typeface="Cambria Math"/>
                      </a:rPr>
                      <m:t>𝐿</m:t>
                    </m:r>
                    <m:r>
                      <a:rPr lang="en-US" sz="3804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3804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3804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3804" i="1" dirty="0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3804" dirty="0"/>
                  <a:t>)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83284" y="2535437"/>
                <a:ext cx="1273747" cy="724942"/>
              </a:xfrm>
              <a:prstGeom prst="rect">
                <a:avLst/>
              </a:prstGeom>
              <a:blipFill>
                <a:blip r:embed="rId2"/>
                <a:stretch>
                  <a:fillRect l="-12712" t="-14833" r="-28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4761176" y="3648206"/>
                <a:ext cx="758797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176" y="3648206"/>
                <a:ext cx="758797" cy="7249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 rot="16200000">
                <a:off x="657057" y="5125577"/>
                <a:ext cx="1695904" cy="7249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r>
                        <a:rPr lang="en-US" sz="3804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n-US" sz="3804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657057" y="5125577"/>
                <a:ext cx="1695904" cy="7249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784659" y="6162806"/>
                <a:ext cx="758797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4659" y="6162806"/>
                <a:ext cx="758797" cy="7249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6400801" y="1830052"/>
                <a:ext cx="3818096" cy="8543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𝑛𝑒𝑤</m:t>
                        </m:r>
                      </m:sup>
                    </m:sSup>
                    <m:r>
                      <a:rPr lang="en-US" sz="28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𝑜𝑙𝑑</m:t>
                        </m:r>
                      </m:sup>
                    </m:sSup>
                  </m:oMath>
                </a14:m>
                <a:r>
                  <a:rPr lang="en-US" sz="2800" dirty="0"/>
                  <a:t>-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𝐿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)</m:t>
                        </m:r>
                      </m:num>
                      <m:den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1" y="1830052"/>
                <a:ext cx="3818096" cy="8543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6400801" y="4420854"/>
                <a:ext cx="3818096" cy="8543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𝑛𝑒𝑤</m:t>
                        </m:r>
                      </m:sup>
                    </m:sSup>
                    <m:r>
                      <a:rPr lang="en-US" sz="28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800" i="1" dirty="0">
                            <a:latin typeface="Cambria Math"/>
                          </a:rPr>
                          <m:t>𝑜𝑙𝑑</m:t>
                        </m:r>
                      </m:sup>
                    </m:sSup>
                  </m:oMath>
                </a14:m>
                <a:r>
                  <a:rPr lang="en-US" sz="2800" dirty="0"/>
                  <a:t>-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sz="2800" i="1">
                        <a:latin typeface="Cambria Math"/>
                        <a:ea typeface="Cambria Math"/>
                      </a:rPr>
                      <m:t> 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𝐿</m:t>
                        </m:r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)</m:t>
                        </m:r>
                      </m:num>
                      <m:den>
                        <m:r>
                          <a:rPr lang="en-US" sz="2800" i="1">
                            <a:latin typeface="Cambria Math"/>
                            <a:ea typeface="Cambria Math"/>
                          </a:rPr>
                          <m:t>𝜕</m:t>
                        </m:r>
                        <m:sSub>
                          <m:sSubPr>
                            <m:ctrlPr>
                              <a:rPr lang="en-US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959" i="1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US" sz="2800" i="1" dirty="0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1" y="4420854"/>
                <a:ext cx="3818096" cy="8543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476999" y="2708229"/>
                <a:ext cx="4114800" cy="830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399" dirty="0"/>
                  <a:t>If </a:t>
                </a:r>
                <a14:m>
                  <m:oMath xmlns:m="http://schemas.openxmlformats.org/officeDocument/2006/math">
                    <m:r>
                      <a:rPr lang="en-US" sz="2399" i="1">
                        <a:latin typeface="Cambria Math"/>
                        <a:ea typeface="Cambria Math"/>
                      </a:rPr>
                      <m:t>𝛼</m:t>
                    </m:r>
                  </m:oMath>
                </a14:m>
                <a:r>
                  <a:rPr lang="en-US" sz="2399" dirty="0"/>
                  <a:t> is small gradient descent convergence is slow 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6999" y="2708229"/>
                <a:ext cx="4114800" cy="830740"/>
              </a:xfrm>
              <a:prstGeom prst="rect">
                <a:avLst/>
              </a:prstGeom>
              <a:blipFill>
                <a:blip r:embed="rId8"/>
                <a:stretch>
                  <a:fillRect l="-2222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570754" y="5186249"/>
                <a:ext cx="4157983" cy="1569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399" dirty="0"/>
                  <a:t>If </a:t>
                </a:r>
                <a14:m>
                  <m:oMath xmlns:m="http://schemas.openxmlformats.org/officeDocument/2006/math">
                    <m:r>
                      <a:rPr lang="en-US" sz="2399" i="1">
                        <a:latin typeface="Cambria Math"/>
                        <a:ea typeface="Cambria Math"/>
                      </a:rPr>
                      <m:t>𝛼</m:t>
                    </m:r>
                  </m:oMath>
                </a14:m>
                <a:r>
                  <a:rPr lang="en-US" sz="2399" dirty="0"/>
                  <a:t> is large gradient descent convergence fast but it can overshoot the minimum or diverge  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0754" y="5186249"/>
                <a:ext cx="4157983" cy="1569148"/>
              </a:xfrm>
              <a:prstGeom prst="rect">
                <a:avLst/>
              </a:prstGeom>
              <a:blipFill>
                <a:blip r:embed="rId9"/>
                <a:stretch>
                  <a:fillRect l="-2346" t="-3113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3243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284" y="274321"/>
            <a:ext cx="10967432" cy="585438"/>
          </a:xfrm>
        </p:spPr>
        <p:txBody>
          <a:bodyPr>
            <a:normAutofit fontScale="90000"/>
          </a:bodyPr>
          <a:lstStyle/>
          <a:p>
            <a:r>
              <a:rPr lang="en-US" dirty="0"/>
              <a:t>Convergence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809999" y="2514603"/>
            <a:ext cx="0" cy="182879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3810002" y="4343401"/>
            <a:ext cx="38861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 rot="16200000">
                <a:off x="2728418" y="3272756"/>
                <a:ext cx="1432443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r>
                        <a:rPr lang="en-US" sz="3804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n-US" sz="3804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728418" y="3272756"/>
                <a:ext cx="1432443" cy="7249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666175" y="4332753"/>
                <a:ext cx="758797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804" i="1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175" y="4332753"/>
                <a:ext cx="758797" cy="7249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 9"/>
          <p:cNvSpPr/>
          <p:nvPr/>
        </p:nvSpPr>
        <p:spPr>
          <a:xfrm>
            <a:off x="5167745" y="2452255"/>
            <a:ext cx="2452255" cy="1801089"/>
          </a:xfrm>
          <a:custGeom>
            <a:avLst/>
            <a:gdLst>
              <a:gd name="connsiteX0" fmla="*/ 2452255 w 2452255"/>
              <a:gd name="connsiteY0" fmla="*/ 0 h 1801090"/>
              <a:gd name="connsiteX1" fmla="*/ 1939637 w 2452255"/>
              <a:gd name="connsiteY1" fmla="*/ 1343890 h 1801090"/>
              <a:gd name="connsiteX2" fmla="*/ 1163782 w 2452255"/>
              <a:gd name="connsiteY2" fmla="*/ 1704109 h 1801090"/>
              <a:gd name="connsiteX3" fmla="*/ 0 w 2452255"/>
              <a:gd name="connsiteY3" fmla="*/ 1801090 h 1801090"/>
              <a:gd name="connsiteX4" fmla="*/ 0 w 2452255"/>
              <a:gd name="connsiteY4" fmla="*/ 1801090 h 1801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2255" h="1801090">
                <a:moveTo>
                  <a:pt x="2452255" y="0"/>
                </a:moveTo>
                <a:cubicBezTo>
                  <a:pt x="2303318" y="529936"/>
                  <a:pt x="2154382" y="1059872"/>
                  <a:pt x="1939637" y="1343890"/>
                </a:cubicBezTo>
                <a:cubicBezTo>
                  <a:pt x="1724892" y="1627908"/>
                  <a:pt x="1487055" y="1627909"/>
                  <a:pt x="1163782" y="1704109"/>
                </a:cubicBezTo>
                <a:cubicBezTo>
                  <a:pt x="840509" y="1780309"/>
                  <a:pt x="0" y="1801090"/>
                  <a:pt x="0" y="1801090"/>
                </a:cubicBezTo>
                <a:lnTo>
                  <a:pt x="0" y="1801090"/>
                </a:lnTo>
              </a:path>
            </a:pathLst>
          </a:cu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sp>
        <p:nvSpPr>
          <p:cNvPr id="11" name="Oval 10"/>
          <p:cNvSpPr/>
          <p:nvPr/>
        </p:nvSpPr>
        <p:spPr>
          <a:xfrm>
            <a:off x="7467601" y="2590800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7391400" y="2452256"/>
            <a:ext cx="300291" cy="5872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252856" y="3276600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8330708" y="1524000"/>
                <a:ext cx="1758366" cy="13304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599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3804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3804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3804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3804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3804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3804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599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0708" y="1524000"/>
                <a:ext cx="1758366" cy="13304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H="1">
            <a:off x="7139316" y="3048000"/>
            <a:ext cx="399976" cy="5872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8610600" y="2820793"/>
                <a:ext cx="1406475" cy="1049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959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959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2820793"/>
                <a:ext cx="1406475" cy="10496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8610600" y="3887593"/>
                <a:ext cx="1238608" cy="91768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399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53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536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536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536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536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536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399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3887593"/>
                <a:ext cx="1238608" cy="9176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/>
          <p:cNvSpPr/>
          <p:nvPr/>
        </p:nvSpPr>
        <p:spPr>
          <a:xfrm>
            <a:off x="7077584" y="3657601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cxnSp>
        <p:nvCxnSpPr>
          <p:cNvPr id="34" name="Curved Connector 33"/>
          <p:cNvCxnSpPr/>
          <p:nvPr/>
        </p:nvCxnSpPr>
        <p:spPr>
          <a:xfrm>
            <a:off x="7162801" y="3733801"/>
            <a:ext cx="1600201" cy="519546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858001" y="3809999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8688577" y="4800600"/>
                <a:ext cx="1057917" cy="7802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999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114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114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114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2114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114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114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999" dirty="0"/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8577" y="4800600"/>
                <a:ext cx="1057917" cy="7802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Oval 44"/>
          <p:cNvSpPr/>
          <p:nvPr/>
        </p:nvSpPr>
        <p:spPr>
          <a:xfrm>
            <a:off x="6705601" y="3962400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6938709" y="3429001"/>
            <a:ext cx="528891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/>
          <p:cNvCxnSpPr>
            <a:endCxn id="42" idx="1"/>
          </p:cNvCxnSpPr>
          <p:nvPr/>
        </p:nvCxnSpPr>
        <p:spPr>
          <a:xfrm>
            <a:off x="6934200" y="3886199"/>
            <a:ext cx="1754377" cy="1304508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6705602" y="3854197"/>
            <a:ext cx="497552" cy="1844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553200" y="4017820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8763002" y="5569881"/>
                <a:ext cx="1823128" cy="13895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804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3804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3804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3804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3804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3804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3804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002" y="5569881"/>
                <a:ext cx="1823128" cy="13895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Curved Connector 47"/>
          <p:cNvCxnSpPr>
            <a:endCxn id="47" idx="1"/>
          </p:cNvCxnSpPr>
          <p:nvPr/>
        </p:nvCxnSpPr>
        <p:spPr>
          <a:xfrm rot="16200000" flipH="1">
            <a:off x="6659373" y="4161025"/>
            <a:ext cx="2226057" cy="1981202"/>
          </a:xfrm>
          <a:prstGeom prst="curvedConnector2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8839200" y="6238021"/>
                <a:ext cx="883639" cy="6426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9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691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1691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sz="169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691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1691" i="1" dirty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0" y="6238021"/>
                <a:ext cx="883639" cy="6426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Curved Connector 50"/>
          <p:cNvCxnSpPr>
            <a:endCxn id="50" idx="1"/>
          </p:cNvCxnSpPr>
          <p:nvPr/>
        </p:nvCxnSpPr>
        <p:spPr>
          <a:xfrm rot="16200000" flipH="1">
            <a:off x="6512017" y="4232175"/>
            <a:ext cx="2444563" cy="2209803"/>
          </a:xfrm>
          <a:prstGeom prst="curvedConnector2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/>
          <p:nvPr/>
        </p:nvCxnSpPr>
        <p:spPr>
          <a:xfrm flipV="1">
            <a:off x="7315202" y="3047999"/>
            <a:ext cx="1373375" cy="30480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/>
          <p:cNvCxnSpPr/>
          <p:nvPr/>
        </p:nvCxnSpPr>
        <p:spPr>
          <a:xfrm flipV="1">
            <a:off x="7543801" y="1981201"/>
            <a:ext cx="914401" cy="685800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657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284" y="274321"/>
            <a:ext cx="10967432" cy="585438"/>
          </a:xfrm>
        </p:spPr>
        <p:txBody>
          <a:bodyPr>
            <a:normAutofit fontScale="90000"/>
          </a:bodyPr>
          <a:lstStyle/>
          <a:p>
            <a:r>
              <a:rPr lang="en-US" dirty="0"/>
              <a:t>Convergence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809999" y="2514603"/>
            <a:ext cx="0" cy="1828799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/>
          <p:nvPr/>
        </p:nvCxnSpPr>
        <p:spPr>
          <a:xfrm flipH="1">
            <a:off x="3810002" y="4343401"/>
            <a:ext cx="3886199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 rot="16200000">
                <a:off x="2647072" y="3272756"/>
                <a:ext cx="1486561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804" i="1">
                          <a:latin typeface="Cambria Math"/>
                        </a:rPr>
                        <m:t>𝐿</m:t>
                      </m:r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804" i="1" dirty="0">
                              <a:latin typeface="Cambria Math"/>
                            </a:rPr>
                            <m:t>(</m:t>
                          </m:r>
                          <m:r>
                            <a:rPr lang="en-US" sz="3804" i="1" dirty="0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en-US" sz="3804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647072" y="3272756"/>
                <a:ext cx="1486561" cy="7249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666175" y="4332753"/>
                <a:ext cx="784253" cy="7249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804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804" i="1" dirty="0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sz="3804" i="1" dirty="0"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175" y="4332753"/>
                <a:ext cx="784253" cy="7249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 9"/>
          <p:cNvSpPr/>
          <p:nvPr/>
        </p:nvSpPr>
        <p:spPr>
          <a:xfrm>
            <a:off x="5167745" y="2452255"/>
            <a:ext cx="2452255" cy="1801089"/>
          </a:xfrm>
          <a:custGeom>
            <a:avLst/>
            <a:gdLst>
              <a:gd name="connsiteX0" fmla="*/ 2452255 w 2452255"/>
              <a:gd name="connsiteY0" fmla="*/ 0 h 1801090"/>
              <a:gd name="connsiteX1" fmla="*/ 1939637 w 2452255"/>
              <a:gd name="connsiteY1" fmla="*/ 1343890 h 1801090"/>
              <a:gd name="connsiteX2" fmla="*/ 1163782 w 2452255"/>
              <a:gd name="connsiteY2" fmla="*/ 1704109 h 1801090"/>
              <a:gd name="connsiteX3" fmla="*/ 0 w 2452255"/>
              <a:gd name="connsiteY3" fmla="*/ 1801090 h 1801090"/>
              <a:gd name="connsiteX4" fmla="*/ 0 w 2452255"/>
              <a:gd name="connsiteY4" fmla="*/ 1801090 h 1801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2255" h="1801090">
                <a:moveTo>
                  <a:pt x="2452255" y="0"/>
                </a:moveTo>
                <a:cubicBezTo>
                  <a:pt x="2303318" y="529936"/>
                  <a:pt x="2154382" y="1059872"/>
                  <a:pt x="1939637" y="1343890"/>
                </a:cubicBezTo>
                <a:cubicBezTo>
                  <a:pt x="1724892" y="1627908"/>
                  <a:pt x="1487055" y="1627909"/>
                  <a:pt x="1163782" y="1704109"/>
                </a:cubicBezTo>
                <a:cubicBezTo>
                  <a:pt x="840509" y="1780309"/>
                  <a:pt x="0" y="1801090"/>
                  <a:pt x="0" y="1801090"/>
                </a:cubicBezTo>
                <a:lnTo>
                  <a:pt x="0" y="1801090"/>
                </a:lnTo>
              </a:path>
            </a:pathLst>
          </a:cu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sp>
        <p:nvSpPr>
          <p:cNvPr id="11" name="Oval 10"/>
          <p:cNvSpPr/>
          <p:nvPr/>
        </p:nvSpPr>
        <p:spPr>
          <a:xfrm>
            <a:off x="7467601" y="2590800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7391400" y="2452256"/>
            <a:ext cx="300291" cy="5872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252856" y="3276600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8330709" y="1524000"/>
                <a:ext cx="2168863" cy="11474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599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𝑊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3599" i="1">
                              <a:latin typeface="Cambria Math"/>
                              <a:ea typeface="Cambria Math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sz="3599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0709" y="1524000"/>
                <a:ext cx="2168863" cy="11474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H="1">
            <a:off x="7139316" y="3048000"/>
            <a:ext cx="399976" cy="5872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8610599" y="2820794"/>
                <a:ext cx="1733616" cy="9130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𝑊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599" y="2820794"/>
                <a:ext cx="1733616" cy="9130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8610599" y="3887593"/>
                <a:ext cx="1509579" cy="7956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399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𝑊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2399" i="1">
                              <a:latin typeface="Cambria Math"/>
                              <a:ea typeface="Cambria Math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sz="2399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599" y="3887593"/>
                <a:ext cx="1509579" cy="7956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/>
          <p:cNvSpPr/>
          <p:nvPr/>
        </p:nvSpPr>
        <p:spPr>
          <a:xfrm>
            <a:off x="7077584" y="3657601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cxnSp>
        <p:nvCxnSpPr>
          <p:cNvPr id="34" name="Curved Connector 33"/>
          <p:cNvCxnSpPr/>
          <p:nvPr/>
        </p:nvCxnSpPr>
        <p:spPr>
          <a:xfrm>
            <a:off x="7162801" y="3733801"/>
            <a:ext cx="1600201" cy="519546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858001" y="3809999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8688577" y="4800601"/>
                <a:ext cx="1287211" cy="6784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999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𝑊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1999" i="1">
                              <a:latin typeface="Cambria Math"/>
                              <a:ea typeface="Cambria Math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sz="1999" dirty="0"/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8577" y="4800601"/>
                <a:ext cx="1287211" cy="67845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Oval 44"/>
          <p:cNvSpPr/>
          <p:nvPr/>
        </p:nvSpPr>
        <p:spPr>
          <a:xfrm>
            <a:off x="6705601" y="3962400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p:cxnSp>
        <p:nvCxnSpPr>
          <p:cNvPr id="32" name="Straight Arrow Connector 31"/>
          <p:cNvCxnSpPr/>
          <p:nvPr/>
        </p:nvCxnSpPr>
        <p:spPr>
          <a:xfrm flipH="1">
            <a:off x="6938709" y="3429001"/>
            <a:ext cx="528891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/>
          <p:cNvCxnSpPr>
            <a:endCxn id="42" idx="1"/>
          </p:cNvCxnSpPr>
          <p:nvPr/>
        </p:nvCxnSpPr>
        <p:spPr>
          <a:xfrm>
            <a:off x="6934200" y="3886200"/>
            <a:ext cx="1754377" cy="1253629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6705602" y="3854197"/>
            <a:ext cx="497552" cy="1844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553200" y="4017820"/>
            <a:ext cx="161419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804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8763002" y="5569881"/>
                <a:ext cx="2284984" cy="12076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804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𝑊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3804" i="1">
                              <a:latin typeface="Cambria Math"/>
                              <a:ea typeface="Cambria Math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sz="3804" dirty="0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002" y="5569881"/>
                <a:ext cx="2284984" cy="12076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Curved Connector 47"/>
          <p:cNvCxnSpPr>
            <a:endCxn id="47" idx="1"/>
          </p:cNvCxnSpPr>
          <p:nvPr/>
        </p:nvCxnSpPr>
        <p:spPr>
          <a:xfrm rot="16200000" flipH="1">
            <a:off x="6704850" y="4115547"/>
            <a:ext cx="2135101" cy="1981203"/>
          </a:xfrm>
          <a:prstGeom prst="curvedConnector2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8839201" y="6238021"/>
                <a:ext cx="1067921" cy="5613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𝐿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(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𝑊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𝑏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)</m:t>
                          </m:r>
                        </m:num>
                        <m:den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1" y="6238021"/>
                <a:ext cx="1067921" cy="5613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Curved Connector 50"/>
          <p:cNvCxnSpPr>
            <a:endCxn id="50" idx="1"/>
          </p:cNvCxnSpPr>
          <p:nvPr/>
        </p:nvCxnSpPr>
        <p:spPr>
          <a:xfrm rot="16200000" flipH="1">
            <a:off x="6532346" y="4211851"/>
            <a:ext cx="2403907" cy="2209804"/>
          </a:xfrm>
          <a:prstGeom prst="curvedConnector2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/>
          <p:nvPr/>
        </p:nvCxnSpPr>
        <p:spPr>
          <a:xfrm flipV="1">
            <a:off x="7315202" y="3047999"/>
            <a:ext cx="1373375" cy="304801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/>
          <p:cNvCxnSpPr/>
          <p:nvPr/>
        </p:nvCxnSpPr>
        <p:spPr>
          <a:xfrm flipV="1">
            <a:off x="7543801" y="1981201"/>
            <a:ext cx="914401" cy="685800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752599" y="4724401"/>
            <a:ext cx="5486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As it approaches to local minimum, gradient descent automatically takes smaller steps</a:t>
            </a:r>
          </a:p>
        </p:txBody>
      </p:sp>
    </p:spTree>
    <p:extLst>
      <p:ext uri="{BB962C8B-B14F-4D97-AF65-F5344CB8AC3E}">
        <p14:creationId xmlns:p14="http://schemas.microsoft.com/office/powerpoint/2010/main" val="4037829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85474-A8F1-0ABB-81EC-B44CD7759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132786C-0016-3A3C-72D4-1D013AC20862}"/>
              </a:ext>
            </a:extLst>
          </p:cNvPr>
          <p:cNvGrpSpPr/>
          <p:nvPr/>
        </p:nvGrpSpPr>
        <p:grpSpPr>
          <a:xfrm>
            <a:off x="2983" y="0"/>
            <a:ext cx="12173957" cy="434832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5EAE98E-D439-CED8-C7E9-D9C718FA19A8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2C47C71-62CA-26FB-6A31-684353059E98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0AF61F6D-79BB-5ABE-3BB2-943EDC8E0BEE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8020302-CDCA-E211-1BEE-0FB43F2F03ED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82D6C548-76B7-7146-C531-264DBC581946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64AB70B9-FCE8-E4CF-F851-C9D3D39862FB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C4B4F36D-15F4-573D-2878-5FBC8B1F7F16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693B5AC-CF87-64A7-1E03-C6F72B7A2AAA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4745497E-1C8A-4EC6-D70B-98888357654F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8D7B224F-FCF2-F352-E5C8-3D3803931200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3325E2D2-8012-062D-D110-3797D0161B53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277A2892-D47C-2945-5003-0C09E8265845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2C737579-1919-381D-096E-2D6949D96DCE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8A7E46B5-B4E2-BD96-C8FD-30F852B82D78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1BCFF232-0570-7AD2-B58A-5F632D771A97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ECDB6D54-5F99-B1D2-1C41-291DFC25555F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537B864E-77E3-A970-E23E-3BB217DC29E1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92633ACA-9744-7411-49CF-A0BC37B6A7C2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ED7262A4-A3D9-DA5D-8C26-AD502D38C972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63000410-25AA-DB43-6ED3-C2BA399F20B4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931DB2E6-61AE-8207-680F-83E114E248A4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64888C74-6AB4-CF01-9289-0C5F28D87558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7BA73BDF-2552-C77F-81F4-1CE72E865E44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674FC1E0-C273-0BC0-8CF0-53ED57DE65AF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AD44FBD0-C416-0070-EE23-A2E1ACA7D781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DA1E4F61-F59D-F6BD-2CE3-7036609BDBE5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7092EFB8-61E8-7587-15EF-A3CC9BD99D9C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53D9C7D7-C18E-1424-AC42-4D21DD58C9CB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F2EF39EF-704D-3119-6A4F-38E22D934C5C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24AFD4CC-5580-C08F-6919-DA1AA510CDAD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EC4CD09B-3476-80F0-91DD-9AF3DA74C87F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F252E59D-BA45-777F-9546-ED347EAC0092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AD34A7B9-6B63-1D79-3268-5B323100A2AC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DFE033C8-3CDD-9AB5-70BD-357EE40659B1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2651DFA8-23CC-18F9-E87D-8F6FA6137DF8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D995E607-128A-186B-855F-83B143CECD6E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15F26F59-64F8-9C3B-290A-30223FB8F172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D7DDA9AA-EAFB-DA3F-C49B-3293F1384693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60AAC59F-638A-EFD1-0612-3C667C93E79A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5ECF557E-13C6-C546-E2EA-5E049D091C11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01C8369E-BD0A-0671-8702-38FF94CE1E7B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1FD0D0E1-4522-8CE4-183E-EF46543EAF81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D72919B9-A43A-8C2F-9CD2-D56D03D64763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2E546147-3BC1-A6ED-6289-E758584F2D9E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8651957D-CDB0-6C5A-3938-9F4C16F6F5E2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9DAE2458-B386-50FF-1486-2270ACD5FFEB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8D767E13-85CF-FB81-75F3-9EAD38404C2B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3D6BECCD-C298-648C-8FE5-DD9069F26056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172E8DC0-B238-4018-A237-A19DA6CE49AD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C0A25A97-9CB7-FDDC-0EE2-768F5ED7E471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7627FF07-9C13-AAF7-CDFA-2316978EF0A0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32EB821B-2B5E-637F-E717-F63BE329F460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415ACD33-B41D-A812-52D5-D3F9769E7689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8A8B9063-B09C-DDC4-458B-E2332DC7F47B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FA34DD28-4D17-0394-812D-C8E116C6A461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EA8C9666-E6CA-DE91-51A6-480E3CCB2602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0D468D1D-9093-39ED-CCA4-0485CBCA4734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43CCC073-2528-CA7C-3093-86F28AC2CCE6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4E568B4E-2CCC-8C98-91C3-C2D52CA23EE8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16643326-5C81-7B81-3A32-240FBC9A50F0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0BDC992A-1794-330C-2B80-31CDF6456280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3DE40256-8162-2998-9A89-C0F120EBB02D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BB8FD375-4E2B-A455-E407-D20C2B9A8EB8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D22513FD-5CF6-7234-7C0F-54348ED1B56A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32E3C1CD-7307-4D53-D7BF-9E377E790BB1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865B4129-AB7E-6595-CF0B-879DFDA7FC5D}"/>
              </a:ext>
            </a:extLst>
          </p:cNvPr>
          <p:cNvSpPr txBox="1"/>
          <p:nvPr/>
        </p:nvSpPr>
        <p:spPr>
          <a:xfrm>
            <a:off x="204400" y="53379"/>
            <a:ext cx="11771334" cy="188421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  <a:tabLst>
                <a:tab pos="1399782" algn="l"/>
                <a:tab pos="2970006" algn="l"/>
                <a:tab pos="6278215" algn="l"/>
                <a:tab pos="8167853" algn="l"/>
                <a:tab pos="9119383" algn="l"/>
                <a:tab pos="11296224" algn="l"/>
              </a:tabLst>
            </a:pP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16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Cost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48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Function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and</a:t>
            </a:r>
            <a:r>
              <a:rPr sz="1057" spc="2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Gradient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37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Descent</a:t>
            </a:r>
            <a:r>
              <a:rPr sz="1057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1057" spc="25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LR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with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232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GD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59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3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1057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CD911CC8-7E73-3379-9767-852B2DEB57FD}"/>
              </a:ext>
            </a:extLst>
          </p:cNvPr>
          <p:cNvGrpSpPr/>
          <p:nvPr/>
        </p:nvGrpSpPr>
        <p:grpSpPr>
          <a:xfrm>
            <a:off x="2983" y="6660660"/>
            <a:ext cx="12173957" cy="18789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A6AB8E87-49CE-D58F-5EA1-6A07A9BE2253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6EC0F3B7-E54F-8D15-D3E0-79F849BBFDAB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4178C42F-5A4C-3D14-BFE8-7043DF3AC2AC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C759C4C2-1764-CAFD-D5D5-D39F07EBCB86}"/>
              </a:ext>
            </a:extLst>
          </p:cNvPr>
          <p:cNvSpPr txBox="1"/>
          <p:nvPr/>
        </p:nvSpPr>
        <p:spPr>
          <a:xfrm>
            <a:off x="8409414" y="6612778"/>
            <a:ext cx="903216" cy="206039"/>
          </a:xfrm>
          <a:prstGeom prst="rect">
            <a:avLst/>
          </a:prstGeom>
        </p:spPr>
        <p:txBody>
          <a:bodyPr vert="horz" wrap="square" lIns="0" tIns="42946" rIns="0" bIns="0" rtlCol="0">
            <a:spAutoFit/>
          </a:bodyPr>
          <a:lstStyle/>
          <a:p>
            <a:pPr marL="26841">
              <a:spcBef>
                <a:spcPts val="338"/>
              </a:spcBef>
            </a:pPr>
            <a:r>
              <a:rPr sz="1057" spc="127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Regression</a:t>
            </a:r>
            <a:endParaRPr sz="1057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26A27506-DB70-5193-1E58-1FC3AC489D3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5282831" y="3128823"/>
            <a:ext cx="326389" cy="116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59055">
              <a:spcBef>
                <a:spcPts val="160"/>
              </a:spcBef>
            </a:pPr>
            <a:fld id="{81D60167-4931-47E6-BA6A-407CBD079E47}" type="slidenum">
              <a:rPr lang="en-US" spc="125" smtClean="0"/>
              <a:pPr marL="59055">
                <a:spcBef>
                  <a:spcPts val="160"/>
                </a:spcBef>
              </a:pPr>
              <a:t>17</a:t>
            </a:fld>
            <a:r>
              <a:rPr lang="en-US" spc="114"/>
              <a:t> </a:t>
            </a:r>
            <a:r>
              <a:rPr lang="en-US" spc="95"/>
              <a:t>/</a:t>
            </a:r>
            <a:r>
              <a:rPr lang="en-US" spc="120"/>
              <a:t> </a:t>
            </a:r>
            <a:r>
              <a:rPr lang="en-US" spc="20"/>
              <a:t>65</a:t>
            </a:r>
            <a:endParaRPr spc="63" dirty="0"/>
          </a:p>
        </p:txBody>
      </p:sp>
      <p:pic>
        <p:nvPicPr>
          <p:cNvPr id="2" name="object 2">
            <a:extLst>
              <a:ext uri="{FF2B5EF4-FFF2-40B4-BE49-F238E27FC236}">
                <a16:creationId xmlns:a16="http://schemas.microsoft.com/office/drawing/2014/main" id="{CD90CF35-F02E-02E9-0044-7BD5EB9139E7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93092" y="2441455"/>
            <a:ext cx="5035116" cy="2739104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BF54F811-7F62-7731-607E-0622CAA4CA14}"/>
              </a:ext>
            </a:extLst>
          </p:cNvPr>
          <p:cNvSpPr txBox="1"/>
          <p:nvPr/>
        </p:nvSpPr>
        <p:spPr>
          <a:xfrm>
            <a:off x="561208" y="5193438"/>
            <a:ext cx="11163186" cy="145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36" dirty="0">
                <a:latin typeface="Arial MT"/>
                <a:cs typeface="Arial MT"/>
              </a:rPr>
              <a:t>Convergence</a:t>
            </a:r>
            <a:r>
              <a:rPr lang="en-US" sz="2536" spc="-11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is a</a:t>
            </a:r>
            <a:r>
              <a:rPr lang="en-US" sz="2536" spc="-11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name given</a:t>
            </a:r>
            <a:r>
              <a:rPr lang="en-US" sz="2536" spc="-11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to the</a:t>
            </a:r>
            <a:r>
              <a:rPr lang="en-US" sz="2536" spc="-11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situation where the</a:t>
            </a:r>
            <a:r>
              <a:rPr lang="en-US" sz="2536" spc="-11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loss function</a:t>
            </a:r>
            <a:r>
              <a:rPr lang="en-US" sz="2536" spc="-11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does not</a:t>
            </a:r>
            <a:r>
              <a:rPr lang="en-US" sz="2536" spc="-11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improve </a:t>
            </a:r>
            <a:r>
              <a:rPr lang="en-US" sz="2536" spc="-21" dirty="0">
                <a:latin typeface="Arial MT"/>
                <a:cs typeface="Arial MT"/>
              </a:rPr>
              <a:t>significantly,</a:t>
            </a:r>
            <a:r>
              <a:rPr lang="en-US" sz="2536" spc="-11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and we are </a:t>
            </a:r>
            <a:r>
              <a:rPr lang="en-US" sz="2536" spc="-592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stuck</a:t>
            </a:r>
            <a:r>
              <a:rPr lang="en-US" sz="2536" spc="-11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in a point near to the</a:t>
            </a:r>
            <a:r>
              <a:rPr lang="en-US" sz="2536" spc="-11" dirty="0">
                <a:latin typeface="Arial MT"/>
                <a:cs typeface="Arial MT"/>
              </a:rPr>
              <a:t> </a:t>
            </a:r>
            <a:r>
              <a:rPr lang="en-US" sz="2536" dirty="0">
                <a:latin typeface="Arial MT"/>
                <a:cs typeface="Arial MT"/>
              </a:rPr>
              <a:t>minima.</a:t>
            </a:r>
          </a:p>
          <a:p>
            <a:endParaRPr lang="en-US" sz="3804" dirty="0"/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156935BD-4D07-9EF7-DE98-DB3E95282299}"/>
              </a:ext>
            </a:extLst>
          </p:cNvPr>
          <p:cNvSpPr txBox="1">
            <a:spLocks/>
          </p:cNvSpPr>
          <p:nvPr/>
        </p:nvSpPr>
        <p:spPr>
          <a:xfrm>
            <a:off x="-28974" y="799102"/>
            <a:ext cx="6965459" cy="68515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4" dirty="0"/>
              <a:t>Gradient-Descent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623B0D3-5DBF-6DA3-C1A3-7C71E4EBBFE3}"/>
                  </a:ext>
                </a:extLst>
              </p:cNvPr>
              <p:cNvSpPr txBox="1"/>
              <p:nvPr/>
            </p:nvSpPr>
            <p:spPr>
              <a:xfrm>
                <a:off x="121201" y="1822715"/>
                <a:ext cx="6161229" cy="5477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959" i="1">
                          <a:latin typeface="Cambria Math"/>
                        </a:rPr>
                        <m:t>𝑅𝑒𝑝𝑒𝑎𝑡</m:t>
                      </m:r>
                      <m:r>
                        <a:rPr lang="en-US" sz="2959" i="1">
                          <a:latin typeface="Cambria Math"/>
                        </a:rPr>
                        <m:t> </m:t>
                      </m:r>
                      <m:r>
                        <a:rPr lang="en-US" sz="2959" i="1">
                          <a:latin typeface="Cambria Math"/>
                        </a:rPr>
                        <m:t>𝑢𝑛𝑡𝑖𝑙𝑙</m:t>
                      </m:r>
                      <m:r>
                        <a:rPr lang="en-US" sz="2959" i="1">
                          <a:latin typeface="Cambria Math"/>
                        </a:rPr>
                        <m:t> </m:t>
                      </m:r>
                      <m:r>
                        <a:rPr lang="en-US" sz="2959" i="1">
                          <a:latin typeface="Cambria Math"/>
                        </a:rPr>
                        <m:t>𝑐𝑜𝑛𝑣𝑒𝑟𝑔𝑒𝑛𝑐𝑒</m:t>
                      </m:r>
                      <m:r>
                        <a:rPr lang="en-US" sz="2959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2959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623B0D3-5DBF-6DA3-C1A3-7C71E4EBB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01" y="1822715"/>
                <a:ext cx="6161229" cy="5477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8239058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40BCB-B604-4555-8EDE-8BD86DCCD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BE2B627-598B-574C-A28F-B0BD92C764EA}"/>
              </a:ext>
            </a:extLst>
          </p:cNvPr>
          <p:cNvGrpSpPr/>
          <p:nvPr/>
        </p:nvGrpSpPr>
        <p:grpSpPr>
          <a:xfrm>
            <a:off x="2983" y="0"/>
            <a:ext cx="12173957" cy="434832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56D50DE-BC05-AFAF-32F8-71E6B34D0297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F5988C2-0744-1965-DCA2-EF95FB2B9ED0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A2C97A4-775A-B66F-6239-C16A57F7489B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59E15EC-43F4-E879-7E3D-64BFC653870A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FE5899A6-E657-EF68-06B3-F08D8FFBF388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FAE4D3E9-F7D4-47D4-D927-4B2D029D5DC6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8AA53DDE-8679-CBEE-DE5F-3D9A060C0217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DB7EF120-C1B6-3368-3D7C-614CCE6B90BF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7A000C8F-48DF-8A31-5455-BFCF1A2A33F6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3438AA3C-FAD5-9EAE-730B-440089FFDC81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73496938-1ADB-3F6C-7B77-F6557112DEEC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8FCB3C84-A0C2-965B-1F7F-DF0CA7C45E8F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56A967C2-F4C7-DEA5-F921-420D308685FA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014AE7B0-E55B-EA5C-63D8-EF7F75ECBD7A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718418D5-C304-E63C-BCFA-9096894DEB8E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4E67268B-832C-4A86-C798-F986A4578086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96825CE0-A2A0-C341-93DD-1FDB2B0D869E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31D1F83A-C3D3-4348-0693-F706491232F0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285F8E7D-4210-BA23-8874-26D5F10961F9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E3089334-89EF-3363-3A0B-4BE966CF92D9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0114BD4C-88FF-84D8-CB5B-19D50437ED1A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4D733587-944A-63B4-1A58-2DA21B8AE162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B7C4A83A-8C6C-0C1E-F83E-8FFC018E0624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1F541485-2A6B-A16C-38C3-CDF5295FE840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4DDC69BE-BFC9-E141-38CC-B7E509AEBE76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93EBDDFD-2979-7B16-7D4F-8E5D001EDA45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0AE75656-639A-D7BB-D8E5-592C5E82D929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CBCAD11B-2159-1480-CCB6-3C0AEAF24CD5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D0AA789A-D2E9-C70A-E14E-B41BE7A0CF8D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7B2E4437-CE41-0509-1033-C1E1EA830C1E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F0E3BCE5-712D-28F4-7D28-1E82A6F81F8A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A245C59E-0455-C61D-C47C-52F73295D726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7FBE3E05-AFBF-A16B-1660-E93A077857F4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327543F5-6513-B353-C3E2-E44026A7D0A7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CB08CDE6-2C4D-3942-F7C4-2929EF18F94E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3EC960CB-24BD-6AE5-BC69-D1DE91073166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71D7B5E0-5DEF-F735-7099-85AF6A3E0E69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75DE4715-37FB-FA12-1E43-68AD91A6875B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AA1F4D9C-9BDB-05CE-BF7C-C32A08EAF0A7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7B9B7957-FAB3-7C1F-16C8-E856737C08D3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6AD4DA9D-A5DD-4D8E-62D6-FC32B1296298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4CB4583C-6B20-6080-3201-29BE792A25FD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720B5F16-1C2F-B864-DD2D-745849C1BF8D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446CDF19-F6AE-F687-8DCD-702D23956EAD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C0A611E2-9B67-28C1-579D-E3AE1A50A34D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6B41173C-E9C9-FB97-1B8F-3F3CFCAF6007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E4EA5563-0637-AAB7-E9D8-CD8A102F0B1E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5ABB910D-CD0F-A391-2E2E-0411E9F62F56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E3C2A6C2-7A3E-0489-0007-C834096524CC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D9FEB745-5435-945D-0F20-15A520FB0C1D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1C7B37D4-0B17-C897-1E92-BDDB80A2912D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000A65D7-C5C5-220F-D1D0-47295871CE0E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43786B25-5F66-7FFC-7395-A01895AA6253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6EE92DBE-C9F9-2123-1B52-0ED14F23290D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81580245-1480-7AF0-1474-32FA3E842E06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5DB4D8EB-BDF9-873C-10F5-39AD75FC2D2E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AB9ABBA2-23FA-CB80-C00A-E917635CC630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29AB851D-C7F5-992E-AA0F-543A46DBFB50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2FC0B024-519D-5EED-ADA6-6877669CD35D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1D578AE3-20B5-E0E2-06E9-022A83A06A8E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6BFFC9F3-287F-130D-E4AE-851EBE5CE67A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AAC7275D-DAAC-4AA6-7417-2457A747355B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9A5D4948-C99A-C4F4-704A-D946C7CF9EE1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87DDFF35-80E4-A26C-EB34-39093B6F3C0E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47A06C61-DB5C-AE3C-2F9E-39A2BE216EE9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85EC82FD-5E3C-2554-E1EA-92F54CA96233}"/>
              </a:ext>
            </a:extLst>
          </p:cNvPr>
          <p:cNvSpPr txBox="1"/>
          <p:nvPr/>
        </p:nvSpPr>
        <p:spPr>
          <a:xfrm>
            <a:off x="204400" y="53379"/>
            <a:ext cx="11771334" cy="188421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  <a:tabLst>
                <a:tab pos="1399782" algn="l"/>
                <a:tab pos="2970006" algn="l"/>
                <a:tab pos="6278215" algn="l"/>
                <a:tab pos="8167853" algn="l"/>
                <a:tab pos="9119383" algn="l"/>
                <a:tab pos="11296224" algn="l"/>
              </a:tabLst>
            </a:pP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Introduction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16" dirty="0">
                <a:solidFill>
                  <a:srgbClr val="8C8CAC"/>
                </a:solidFill>
                <a:latin typeface="Georgia"/>
                <a:cs typeface="Georgia"/>
                <a:hlinkClick r:id="rId4" action="ppaction://hlinksldjump"/>
              </a:rPr>
              <a:t>Intuition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Cost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48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Function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and</a:t>
            </a:r>
            <a:r>
              <a:rPr sz="1057" spc="2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Gradient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37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Descent</a:t>
            </a:r>
            <a:r>
              <a:rPr sz="1057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1057" spc="25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LR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with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232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GD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59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3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1057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71CAC35A-6B00-0603-410F-646D774FEE22}"/>
              </a:ext>
            </a:extLst>
          </p:cNvPr>
          <p:cNvGrpSpPr/>
          <p:nvPr/>
        </p:nvGrpSpPr>
        <p:grpSpPr>
          <a:xfrm>
            <a:off x="2983" y="6660660"/>
            <a:ext cx="12173957" cy="18789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C0ADA001-DE47-574A-C4EB-151470F86833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91343109-11C3-72AA-F210-963B24FA9852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550DF1D9-3E42-D054-2A06-38AA9DA4131C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529B63EA-B837-F465-4D87-C60AC6D5F762}"/>
              </a:ext>
            </a:extLst>
          </p:cNvPr>
          <p:cNvSpPr txBox="1"/>
          <p:nvPr/>
        </p:nvSpPr>
        <p:spPr>
          <a:xfrm>
            <a:off x="8409414" y="6612778"/>
            <a:ext cx="903216" cy="206039"/>
          </a:xfrm>
          <a:prstGeom prst="rect">
            <a:avLst/>
          </a:prstGeom>
        </p:spPr>
        <p:txBody>
          <a:bodyPr vert="horz" wrap="square" lIns="0" tIns="42946" rIns="0" bIns="0" rtlCol="0">
            <a:spAutoFit/>
          </a:bodyPr>
          <a:lstStyle/>
          <a:p>
            <a:pPr marL="26841">
              <a:spcBef>
                <a:spcPts val="338"/>
              </a:spcBef>
            </a:pPr>
            <a:r>
              <a:rPr sz="1057" spc="127" dirty="0">
                <a:solidFill>
                  <a:srgbClr val="FFFFFF"/>
                </a:solidFill>
                <a:latin typeface="Georgia"/>
                <a:cs typeface="Georgia"/>
                <a:hlinkClick r:id="rId5" action="ppaction://hlinksldjump"/>
              </a:rPr>
              <a:t>Regression</a:t>
            </a:r>
            <a:endParaRPr sz="1057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D3AE1039-5D32-61C2-7762-97FC0B88117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5282831" y="3128823"/>
            <a:ext cx="326389" cy="116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59055">
              <a:spcBef>
                <a:spcPts val="160"/>
              </a:spcBef>
            </a:pPr>
            <a:fld id="{81D60167-4931-47E6-BA6A-407CBD079E47}" type="slidenum">
              <a:rPr lang="en-US" spc="125" smtClean="0"/>
              <a:pPr marL="59055">
                <a:spcBef>
                  <a:spcPts val="160"/>
                </a:spcBef>
              </a:pPr>
              <a:t>18</a:t>
            </a:fld>
            <a:r>
              <a:rPr lang="en-US" spc="114"/>
              <a:t> </a:t>
            </a:r>
            <a:r>
              <a:rPr lang="en-US" spc="95"/>
              <a:t>/</a:t>
            </a:r>
            <a:r>
              <a:rPr lang="en-US" spc="120"/>
              <a:t> </a:t>
            </a:r>
            <a:r>
              <a:rPr lang="en-US" spc="20"/>
              <a:t>65</a:t>
            </a:r>
            <a:endParaRPr spc="63" dirty="0"/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1C2BDF9E-C8E4-E681-8665-E1279F00FFCA}"/>
              </a:ext>
            </a:extLst>
          </p:cNvPr>
          <p:cNvSpPr txBox="1">
            <a:spLocks/>
          </p:cNvSpPr>
          <p:nvPr/>
        </p:nvSpPr>
        <p:spPr>
          <a:xfrm>
            <a:off x="-28974" y="799102"/>
            <a:ext cx="6965459" cy="68515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endParaRPr lang="en-US" sz="3804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9217EA-177B-D237-8359-0FCACCBC0355}"/>
              </a:ext>
            </a:extLst>
          </p:cNvPr>
          <p:cNvSpPr txBox="1"/>
          <p:nvPr/>
        </p:nvSpPr>
        <p:spPr>
          <a:xfrm>
            <a:off x="121201" y="498249"/>
            <a:ext cx="6161229" cy="1040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spc="-25" dirty="0">
                <a:latin typeface="Arial"/>
                <a:cs typeface="Arial"/>
              </a:rPr>
              <a:t>Types</a:t>
            </a:r>
            <a:r>
              <a:rPr lang="en-US" sz="3200" b="1" spc="-20" dirty="0">
                <a:latin typeface="Arial"/>
                <a:cs typeface="Arial"/>
              </a:rPr>
              <a:t> </a:t>
            </a:r>
            <a:r>
              <a:rPr lang="en-US" sz="3200" b="1" dirty="0">
                <a:latin typeface="Arial"/>
                <a:cs typeface="Arial"/>
              </a:rPr>
              <a:t>of</a:t>
            </a:r>
            <a:r>
              <a:rPr lang="en-US" sz="3200" b="1" spc="-20" dirty="0">
                <a:latin typeface="Arial"/>
                <a:cs typeface="Arial"/>
              </a:rPr>
              <a:t> </a:t>
            </a:r>
            <a:r>
              <a:rPr lang="en-US" sz="3200" b="1" dirty="0">
                <a:latin typeface="Arial"/>
                <a:cs typeface="Arial"/>
              </a:rPr>
              <a:t>gradient</a:t>
            </a:r>
            <a:r>
              <a:rPr lang="en-US" sz="3200" b="1" spc="-20" dirty="0">
                <a:latin typeface="Arial"/>
                <a:cs typeface="Arial"/>
              </a:rPr>
              <a:t> </a:t>
            </a:r>
            <a:r>
              <a:rPr lang="en-US" sz="3200" b="1" dirty="0">
                <a:latin typeface="Arial"/>
                <a:cs typeface="Arial"/>
              </a:rPr>
              <a:t>Descent:</a:t>
            </a:r>
            <a:endParaRPr lang="en-US" sz="3200" dirty="0">
              <a:latin typeface="Arial"/>
              <a:cs typeface="Arial"/>
            </a:endParaRPr>
          </a:p>
          <a:p>
            <a:endParaRPr lang="en-US" sz="2959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884E96F-E9D2-51AE-9438-C7AC90C0B745}"/>
              </a:ext>
            </a:extLst>
          </p:cNvPr>
          <p:cNvSpPr txBox="1"/>
          <p:nvPr/>
        </p:nvSpPr>
        <p:spPr>
          <a:xfrm>
            <a:off x="204399" y="1104765"/>
            <a:ext cx="11506301" cy="5278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73075" marR="158115" indent="-342900" algn="just">
              <a:lnSpc>
                <a:spcPct val="119100"/>
              </a:lnSpc>
              <a:spcBef>
                <a:spcPts val="840"/>
              </a:spcBef>
              <a:buFont typeface="+mj-lt"/>
              <a:buAutoNum type="arabicPeriod"/>
              <a:tabLst>
                <a:tab pos="280035" algn="l"/>
              </a:tabLst>
            </a:pPr>
            <a:r>
              <a:rPr lang="en-US" sz="1800" b="1" dirty="0">
                <a:latin typeface="Arial MT"/>
                <a:cs typeface="Arial MT"/>
              </a:rPr>
              <a:t>Batch Gradient Descent</a:t>
            </a:r>
            <a:r>
              <a:rPr lang="en-US" sz="1800" dirty="0">
                <a:latin typeface="Arial MT"/>
                <a:cs typeface="Arial MT"/>
              </a:rPr>
              <a:t>: This is a type of gradient descent which processes all the training examples for </a:t>
            </a:r>
            <a:r>
              <a:rPr lang="en-US" sz="1800" spc="-28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each iteration of gradient descent. But if the number of training examples is large, then batch gradient </a:t>
            </a:r>
            <a:r>
              <a:rPr lang="en-US" sz="1800" spc="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descent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is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computationally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very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expensive.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Hence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if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the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number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of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training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examples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is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large,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then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batch </a:t>
            </a:r>
            <a:r>
              <a:rPr lang="en-US" sz="1800" spc="-28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gradient descent is not preferred. Instead, we prefer to use stochastic gradient descent or mini-batch </a:t>
            </a:r>
            <a:r>
              <a:rPr lang="en-US" sz="1800" spc="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gradient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descent.</a:t>
            </a:r>
          </a:p>
          <a:p>
            <a:pPr marL="473075" indent="-342900" algn="just">
              <a:lnSpc>
                <a:spcPct val="100000"/>
              </a:lnSpc>
              <a:buFont typeface="+mj-lt"/>
              <a:buAutoNum type="arabicPeriod"/>
              <a:tabLst>
                <a:tab pos="280035" algn="l"/>
              </a:tabLst>
            </a:pPr>
            <a:r>
              <a:rPr lang="en-US" sz="1800" b="1" dirty="0">
                <a:latin typeface="Arial MT"/>
                <a:cs typeface="Arial MT"/>
              </a:rPr>
              <a:t>Stochastic</a:t>
            </a:r>
            <a:r>
              <a:rPr lang="en-US" sz="1800" b="1" spc="-10" dirty="0">
                <a:latin typeface="Arial MT"/>
                <a:cs typeface="Arial MT"/>
              </a:rPr>
              <a:t> </a:t>
            </a:r>
            <a:r>
              <a:rPr lang="en-US" sz="1800" b="1" dirty="0">
                <a:latin typeface="Arial MT"/>
                <a:cs typeface="Arial MT"/>
              </a:rPr>
              <a:t>Gradient</a:t>
            </a:r>
            <a:r>
              <a:rPr lang="en-US" sz="1800" b="1" spc="-5" dirty="0">
                <a:latin typeface="Arial MT"/>
                <a:cs typeface="Arial MT"/>
              </a:rPr>
              <a:t> </a:t>
            </a:r>
            <a:r>
              <a:rPr lang="en-US" sz="1800" b="1" dirty="0">
                <a:latin typeface="Arial MT"/>
                <a:cs typeface="Arial MT"/>
              </a:rPr>
              <a:t>Descent:</a:t>
            </a:r>
            <a:r>
              <a:rPr lang="en-US" sz="1800" b="1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This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is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type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of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gradient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descent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which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processes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1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training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example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per iteration. Hence, the parameters are being updated even after one iteration in which only a single example </a:t>
            </a:r>
            <a:r>
              <a:rPr lang="en-US" sz="1800" spc="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has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been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processed.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Hence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this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is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quite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faster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than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batch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gradient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descent.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But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again,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when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the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number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of </a:t>
            </a:r>
            <a:r>
              <a:rPr lang="en-US" sz="1800" spc="-28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training examples is large, even then it processes only one example which can be additional overhead for </a:t>
            </a:r>
            <a:r>
              <a:rPr lang="en-US" sz="1800" spc="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the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system as the number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of iterations will be quite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large.</a:t>
            </a:r>
          </a:p>
          <a:p>
            <a:pPr marL="473075" marR="158115" indent="-342900" algn="just">
              <a:lnSpc>
                <a:spcPct val="119100"/>
              </a:lnSpc>
              <a:spcBef>
                <a:spcPts val="840"/>
              </a:spcBef>
              <a:buFont typeface="+mj-lt"/>
              <a:buAutoNum type="arabicPeriod"/>
              <a:tabLst>
                <a:tab pos="280035" algn="l"/>
              </a:tabLst>
            </a:pPr>
            <a:r>
              <a:rPr lang="en-US" sz="1800" b="1" dirty="0">
                <a:latin typeface="Arial MT"/>
                <a:cs typeface="Arial MT"/>
              </a:rPr>
              <a:t>Mini</a:t>
            </a:r>
            <a:r>
              <a:rPr lang="en-US" sz="1800" b="1" spc="-10" dirty="0">
                <a:latin typeface="Arial MT"/>
                <a:cs typeface="Arial MT"/>
              </a:rPr>
              <a:t> </a:t>
            </a:r>
            <a:r>
              <a:rPr lang="en-US" sz="1800" b="1" dirty="0">
                <a:latin typeface="Arial MT"/>
                <a:cs typeface="Arial MT"/>
              </a:rPr>
              <a:t>Batch</a:t>
            </a:r>
            <a:r>
              <a:rPr lang="en-US" sz="1800" b="1" spc="-5" dirty="0">
                <a:latin typeface="Arial MT"/>
                <a:cs typeface="Arial MT"/>
              </a:rPr>
              <a:t> </a:t>
            </a:r>
            <a:r>
              <a:rPr lang="en-US" sz="1800" b="1" dirty="0">
                <a:latin typeface="Arial MT"/>
                <a:cs typeface="Arial MT"/>
              </a:rPr>
              <a:t>gradient</a:t>
            </a:r>
            <a:r>
              <a:rPr lang="en-US" sz="1800" b="1" spc="-5" dirty="0">
                <a:latin typeface="Arial MT"/>
                <a:cs typeface="Arial MT"/>
              </a:rPr>
              <a:t> </a:t>
            </a:r>
            <a:r>
              <a:rPr lang="en-US" sz="1800" b="1" dirty="0">
                <a:latin typeface="Arial MT"/>
                <a:cs typeface="Arial MT"/>
              </a:rPr>
              <a:t>descent:</a:t>
            </a:r>
            <a:r>
              <a:rPr lang="en-US" sz="1800" b="1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This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is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a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type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of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gradient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descent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which</a:t>
            </a:r>
            <a:r>
              <a:rPr lang="en-US" sz="1800" spc="-1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works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faster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than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both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batch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gradient </a:t>
            </a:r>
            <a:r>
              <a:rPr lang="en-US" sz="1800" spc="-280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descent and stochastic gradient descent. Here b examples where b&lt;m are processed per iteration. So </a:t>
            </a:r>
            <a:r>
              <a:rPr lang="en-US" sz="1800" spc="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even if the number of training examples is large, it is processed in batches of b training examples in one </a:t>
            </a:r>
            <a:r>
              <a:rPr lang="en-US" sz="1800" spc="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go.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Thus, it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works for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larger training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examples and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that too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with lesser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number of</a:t>
            </a:r>
            <a:r>
              <a:rPr lang="en-US" sz="1800" spc="-5" dirty="0">
                <a:latin typeface="Arial MT"/>
                <a:cs typeface="Arial MT"/>
              </a:rPr>
              <a:t> </a:t>
            </a:r>
            <a:r>
              <a:rPr lang="en-US" sz="1800" dirty="0">
                <a:latin typeface="Arial MT"/>
                <a:cs typeface="Arial MT"/>
              </a:rPr>
              <a:t>iterations.</a:t>
            </a:r>
          </a:p>
          <a:p>
            <a:pPr marL="279400" marR="158115" indent="-149225">
              <a:lnSpc>
                <a:spcPct val="119100"/>
              </a:lnSpc>
              <a:spcBef>
                <a:spcPts val="840"/>
              </a:spcBef>
              <a:buAutoNum type="arabicPeriod"/>
              <a:tabLst>
                <a:tab pos="280035" algn="l"/>
              </a:tabLst>
            </a:pPr>
            <a:endParaRPr lang="en-US" sz="1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402040322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8F8CC-1537-972F-054D-411758525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3882419-A34A-009B-7DE2-FB0FA567903A}"/>
              </a:ext>
            </a:extLst>
          </p:cNvPr>
          <p:cNvGrpSpPr/>
          <p:nvPr/>
        </p:nvGrpSpPr>
        <p:grpSpPr>
          <a:xfrm>
            <a:off x="2983" y="0"/>
            <a:ext cx="12173957" cy="434832"/>
            <a:chOff x="0" y="0"/>
            <a:chExt cx="5760085" cy="2057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049CAD5-4230-7397-6953-78DA05DF9DD8}"/>
                </a:ext>
              </a:extLst>
            </p:cNvPr>
            <p:cNvSpPr/>
            <p:nvPr/>
          </p:nvSpPr>
          <p:spPr>
            <a:xfrm>
              <a:off x="0" y="0"/>
              <a:ext cx="5760085" cy="205740"/>
            </a:xfrm>
            <a:custGeom>
              <a:avLst/>
              <a:gdLst/>
              <a:ahLst/>
              <a:cxnLst/>
              <a:rect l="l" t="t" r="r" b="b"/>
              <a:pathLst>
                <a:path w="5760085" h="205740">
                  <a:moveTo>
                    <a:pt x="5759996" y="0"/>
                  </a:moveTo>
                  <a:lnTo>
                    <a:pt x="0" y="0"/>
                  </a:lnTo>
                  <a:lnTo>
                    <a:pt x="0" y="205727"/>
                  </a:lnTo>
                  <a:lnTo>
                    <a:pt x="5759996" y="205727"/>
                  </a:lnTo>
                  <a:lnTo>
                    <a:pt x="575999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784BABB-181D-EA06-E2F6-BC3B98D5596F}"/>
                </a:ext>
              </a:extLst>
            </p:cNvPr>
            <p:cNvSpPr/>
            <p:nvPr/>
          </p:nvSpPr>
          <p:spPr>
            <a:xfrm>
              <a:off x="12065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C2AB275F-5714-FFC4-1391-1BCA0557D9EF}"/>
                </a:ext>
              </a:extLst>
            </p:cNvPr>
            <p:cNvSpPr/>
            <p:nvPr/>
          </p:nvSpPr>
          <p:spPr>
            <a:xfrm>
              <a:off x="171056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D23398B-FE90-D06F-B93C-9869400CECCC}"/>
                </a:ext>
              </a:extLst>
            </p:cNvPr>
            <p:cNvSpPr/>
            <p:nvPr/>
          </p:nvSpPr>
          <p:spPr>
            <a:xfrm>
              <a:off x="22144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EB2B71CE-E301-1972-0FE5-59BFF26264F7}"/>
                </a:ext>
              </a:extLst>
            </p:cNvPr>
            <p:cNvSpPr/>
            <p:nvPr/>
          </p:nvSpPr>
          <p:spPr>
            <a:xfrm>
              <a:off x="7706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1FC10C6A-43CF-8875-107D-013F6C378919}"/>
                </a:ext>
              </a:extLst>
            </p:cNvPr>
            <p:cNvSpPr/>
            <p:nvPr/>
          </p:nvSpPr>
          <p:spPr>
            <a:xfrm>
              <a:off x="821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BCDD12C-8644-39CB-DB8E-5B0855CE8A3A}"/>
                </a:ext>
              </a:extLst>
            </p:cNvPr>
            <p:cNvSpPr/>
            <p:nvPr/>
          </p:nvSpPr>
          <p:spPr>
            <a:xfrm>
              <a:off x="8714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97DB1AD-6452-4FD9-D681-B95DC65E3AE0}"/>
                </a:ext>
              </a:extLst>
            </p:cNvPr>
            <p:cNvSpPr/>
            <p:nvPr/>
          </p:nvSpPr>
          <p:spPr>
            <a:xfrm>
              <a:off x="9218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7E8845D4-81F7-8437-00A9-C8C9363BC94C}"/>
                </a:ext>
              </a:extLst>
            </p:cNvPr>
            <p:cNvSpPr/>
            <p:nvPr/>
          </p:nvSpPr>
          <p:spPr>
            <a:xfrm>
              <a:off x="97222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FA383881-87C9-D751-93BB-778728E086E0}"/>
                </a:ext>
              </a:extLst>
            </p:cNvPr>
            <p:cNvSpPr/>
            <p:nvPr/>
          </p:nvSpPr>
          <p:spPr>
            <a:xfrm>
              <a:off x="10226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93613EC4-1F99-25AC-266F-713A4A096807}"/>
                </a:ext>
              </a:extLst>
            </p:cNvPr>
            <p:cNvSpPr/>
            <p:nvPr/>
          </p:nvSpPr>
          <p:spPr>
            <a:xfrm>
              <a:off x="10730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2E2334DD-202A-277A-2124-CA8AFFD39907}"/>
                </a:ext>
              </a:extLst>
            </p:cNvPr>
            <p:cNvSpPr/>
            <p:nvPr/>
          </p:nvSpPr>
          <p:spPr>
            <a:xfrm>
              <a:off x="11234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6F879CAF-BE43-2F90-9239-F3719B124BBD}"/>
                </a:ext>
              </a:extLst>
            </p:cNvPr>
            <p:cNvSpPr/>
            <p:nvPr/>
          </p:nvSpPr>
          <p:spPr>
            <a:xfrm>
              <a:off x="11738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D74AF91A-86E8-D7E9-0989-4B6410D1147D}"/>
                </a:ext>
              </a:extLst>
            </p:cNvPr>
            <p:cNvSpPr/>
            <p:nvPr/>
          </p:nvSpPr>
          <p:spPr>
            <a:xfrm>
              <a:off x="12242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65CBAC52-48FC-E00B-A66D-249AD28702A7}"/>
                </a:ext>
              </a:extLst>
            </p:cNvPr>
            <p:cNvSpPr/>
            <p:nvPr/>
          </p:nvSpPr>
          <p:spPr>
            <a:xfrm>
              <a:off x="12746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BEF91A11-5E8A-9FEB-632D-F25B6655296A}"/>
                </a:ext>
              </a:extLst>
            </p:cNvPr>
            <p:cNvSpPr/>
            <p:nvPr/>
          </p:nvSpPr>
          <p:spPr>
            <a:xfrm>
              <a:off x="1325029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F77FCD3D-C742-0B06-00B0-EC537BE0134B}"/>
                </a:ext>
              </a:extLst>
            </p:cNvPr>
            <p:cNvSpPr/>
            <p:nvPr/>
          </p:nvSpPr>
          <p:spPr>
            <a:xfrm>
              <a:off x="1513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C50EFBA6-8676-8CA7-5C3E-8B34CF64A17A}"/>
                </a:ext>
              </a:extLst>
            </p:cNvPr>
            <p:cNvSpPr/>
            <p:nvPr/>
          </p:nvSpPr>
          <p:spPr>
            <a:xfrm>
              <a:off x="1563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89918D2D-7DCC-C0D8-A9A1-5CE7A201E985}"/>
                </a:ext>
              </a:extLst>
            </p:cNvPr>
            <p:cNvSpPr/>
            <p:nvPr/>
          </p:nvSpPr>
          <p:spPr>
            <a:xfrm>
              <a:off x="16143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1AF3F899-FA04-FD8A-D057-B5B87EAE32EB}"/>
                </a:ext>
              </a:extLst>
            </p:cNvPr>
            <p:cNvSpPr/>
            <p:nvPr/>
          </p:nvSpPr>
          <p:spPr>
            <a:xfrm>
              <a:off x="1664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CC509BA7-4E58-A771-3382-6DC7F9BEDEE0}"/>
                </a:ext>
              </a:extLst>
            </p:cNvPr>
            <p:cNvSpPr/>
            <p:nvPr/>
          </p:nvSpPr>
          <p:spPr>
            <a:xfrm>
              <a:off x="17151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1CC78F6A-09FA-B463-95EB-2953BA32C934}"/>
                </a:ext>
              </a:extLst>
            </p:cNvPr>
            <p:cNvSpPr/>
            <p:nvPr/>
          </p:nvSpPr>
          <p:spPr>
            <a:xfrm>
              <a:off x="1765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98D5225B-5FB5-4A6A-3FDB-B36FB08963A0}"/>
                </a:ext>
              </a:extLst>
            </p:cNvPr>
            <p:cNvSpPr/>
            <p:nvPr/>
          </p:nvSpPr>
          <p:spPr>
            <a:xfrm>
              <a:off x="18159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40337297-A2AB-865E-11D8-41991BEC0937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18000" y="0"/>
                  </a:move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3374CB7B-3EB9-CDB2-6046-7529E4A7ED91}"/>
                </a:ext>
              </a:extLst>
            </p:cNvPr>
            <p:cNvSpPr/>
            <p:nvPr/>
          </p:nvSpPr>
          <p:spPr>
            <a:xfrm>
              <a:off x="18663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4A42E81A-A6E8-30CA-DFD8-639FF590F2CB}"/>
                </a:ext>
              </a:extLst>
            </p:cNvPr>
            <p:cNvSpPr/>
            <p:nvPr/>
          </p:nvSpPr>
          <p:spPr>
            <a:xfrm>
              <a:off x="19167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759FABF7-3467-479A-83EC-04B0508B1146}"/>
                </a:ext>
              </a:extLst>
            </p:cNvPr>
            <p:cNvSpPr/>
            <p:nvPr/>
          </p:nvSpPr>
          <p:spPr>
            <a:xfrm>
              <a:off x="19671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25FF72C9-9A91-9AD9-4A9C-144120CA6B9C}"/>
                </a:ext>
              </a:extLst>
            </p:cNvPr>
            <p:cNvSpPr/>
            <p:nvPr/>
          </p:nvSpPr>
          <p:spPr>
            <a:xfrm>
              <a:off x="2017522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E665272F-8FD4-1886-53C7-FE0EC4F1126E}"/>
                </a:ext>
              </a:extLst>
            </p:cNvPr>
            <p:cNvSpPr/>
            <p:nvPr/>
          </p:nvSpPr>
          <p:spPr>
            <a:xfrm>
              <a:off x="20679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C8620A70-FB92-D216-809A-64A236B874AD}"/>
                </a:ext>
              </a:extLst>
            </p:cNvPr>
            <p:cNvSpPr/>
            <p:nvPr/>
          </p:nvSpPr>
          <p:spPr>
            <a:xfrm>
              <a:off x="21183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BD30AF6C-5F0D-3D07-5D37-DBC9D3CE76D9}"/>
                </a:ext>
              </a:extLst>
            </p:cNvPr>
            <p:cNvSpPr/>
            <p:nvPr/>
          </p:nvSpPr>
          <p:spPr>
            <a:xfrm>
              <a:off x="21687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09D7930D-7498-6A27-AE8E-550DE474373F}"/>
                </a:ext>
              </a:extLst>
            </p:cNvPr>
            <p:cNvSpPr/>
            <p:nvPr/>
          </p:nvSpPr>
          <p:spPr>
            <a:xfrm>
              <a:off x="22191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42ED1D52-7966-A7FB-DBA9-C9BB93E58012}"/>
                </a:ext>
              </a:extLst>
            </p:cNvPr>
            <p:cNvSpPr/>
            <p:nvPr/>
          </p:nvSpPr>
          <p:spPr>
            <a:xfrm>
              <a:off x="226952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E43881C3-12BB-1459-6EF9-9885510527D2}"/>
                </a:ext>
              </a:extLst>
            </p:cNvPr>
            <p:cNvSpPr/>
            <p:nvPr/>
          </p:nvSpPr>
          <p:spPr>
            <a:xfrm>
              <a:off x="231992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9567294E-FE1D-323E-E194-FCAFE9DF71BD}"/>
                </a:ext>
              </a:extLst>
            </p:cNvPr>
            <p:cNvSpPr/>
            <p:nvPr/>
          </p:nvSpPr>
          <p:spPr>
            <a:xfrm>
              <a:off x="30789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452DA9C3-CC88-041A-599E-E55D7A3CDA39}"/>
                </a:ext>
              </a:extLst>
            </p:cNvPr>
            <p:cNvSpPr/>
            <p:nvPr/>
          </p:nvSpPr>
          <p:spPr>
            <a:xfrm>
              <a:off x="31293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C89EBF14-1442-B365-AC3B-FE3391BB1930}"/>
                </a:ext>
              </a:extLst>
            </p:cNvPr>
            <p:cNvSpPr/>
            <p:nvPr/>
          </p:nvSpPr>
          <p:spPr>
            <a:xfrm>
              <a:off x="31797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2CB73523-5DDB-F8B5-97D5-74F127ED4CFD}"/>
                </a:ext>
              </a:extLst>
            </p:cNvPr>
            <p:cNvSpPr/>
            <p:nvPr/>
          </p:nvSpPr>
          <p:spPr>
            <a:xfrm>
              <a:off x="32301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C26D7F85-AD47-C83D-6E54-2624730B4D9A}"/>
                </a:ext>
              </a:extLst>
            </p:cNvPr>
            <p:cNvSpPr/>
            <p:nvPr/>
          </p:nvSpPr>
          <p:spPr>
            <a:xfrm>
              <a:off x="3280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55E0D510-59E0-88AE-6059-F06A16D990D2}"/>
                </a:ext>
              </a:extLst>
            </p:cNvPr>
            <p:cNvSpPr/>
            <p:nvPr/>
          </p:nvSpPr>
          <p:spPr>
            <a:xfrm>
              <a:off x="33309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A6BB0B51-A18E-E2A4-059A-C0D8AA1A4930}"/>
                </a:ext>
              </a:extLst>
            </p:cNvPr>
            <p:cNvSpPr/>
            <p:nvPr/>
          </p:nvSpPr>
          <p:spPr>
            <a:xfrm>
              <a:off x="33813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52B55628-5F9A-69F6-C657-BEFCA7B5DC5D}"/>
                </a:ext>
              </a:extLst>
            </p:cNvPr>
            <p:cNvSpPr/>
            <p:nvPr/>
          </p:nvSpPr>
          <p:spPr>
            <a:xfrm>
              <a:off x="34317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066C5031-50F2-490D-029A-0A23FFD1EE4B}"/>
                </a:ext>
              </a:extLst>
            </p:cNvPr>
            <p:cNvSpPr/>
            <p:nvPr/>
          </p:nvSpPr>
          <p:spPr>
            <a:xfrm>
              <a:off x="3482175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32947D26-65E0-2B61-EE36-815572619D9C}"/>
                </a:ext>
              </a:extLst>
            </p:cNvPr>
            <p:cNvSpPr/>
            <p:nvPr/>
          </p:nvSpPr>
          <p:spPr>
            <a:xfrm>
              <a:off x="3532581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FD9C0605-C458-125B-8BC2-1D9A9B5A92A7}"/>
                </a:ext>
              </a:extLst>
            </p:cNvPr>
            <p:cNvSpPr/>
            <p:nvPr/>
          </p:nvSpPr>
          <p:spPr>
            <a:xfrm>
              <a:off x="35829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ECB45454-8B7F-6C46-77EA-DB1660B867F7}"/>
                </a:ext>
              </a:extLst>
            </p:cNvPr>
            <p:cNvSpPr/>
            <p:nvPr/>
          </p:nvSpPr>
          <p:spPr>
            <a:xfrm>
              <a:off x="36333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8A1AE2F9-55E0-7118-EDBD-1C568F8F439A}"/>
                </a:ext>
              </a:extLst>
            </p:cNvPr>
            <p:cNvSpPr/>
            <p:nvPr/>
          </p:nvSpPr>
          <p:spPr>
            <a:xfrm>
              <a:off x="36837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3C443A44-3BB8-6D37-2AE5-BFD0E93CD417}"/>
                </a:ext>
              </a:extLst>
            </p:cNvPr>
            <p:cNvSpPr/>
            <p:nvPr/>
          </p:nvSpPr>
          <p:spPr>
            <a:xfrm>
              <a:off x="37341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1E10D12F-5D28-9039-BF0A-A4E3447B9374}"/>
                </a:ext>
              </a:extLst>
            </p:cNvPr>
            <p:cNvSpPr/>
            <p:nvPr/>
          </p:nvSpPr>
          <p:spPr>
            <a:xfrm>
              <a:off x="37845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D109B48A-0C60-1EF8-8A5B-2DDF9BFB28FB}"/>
                </a:ext>
              </a:extLst>
            </p:cNvPr>
            <p:cNvSpPr/>
            <p:nvPr/>
          </p:nvSpPr>
          <p:spPr>
            <a:xfrm>
              <a:off x="397308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87C845B8-A554-A400-F272-4DC52A664CCC}"/>
                </a:ext>
              </a:extLst>
            </p:cNvPr>
            <p:cNvSpPr/>
            <p:nvPr/>
          </p:nvSpPr>
          <p:spPr>
            <a:xfrm>
              <a:off x="40234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EE92CB60-9697-2AB4-EF15-49532EB8986A}"/>
                </a:ext>
              </a:extLst>
            </p:cNvPr>
            <p:cNvSpPr/>
            <p:nvPr/>
          </p:nvSpPr>
          <p:spPr>
            <a:xfrm>
              <a:off x="4073868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EF6C1CC7-4843-262A-B3F0-0906EA3A9491}"/>
                </a:ext>
              </a:extLst>
            </p:cNvPr>
            <p:cNvSpPr/>
            <p:nvPr/>
          </p:nvSpPr>
          <p:spPr>
            <a:xfrm>
              <a:off x="4124274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E23FD1E5-CC4D-F101-7B10-79660BA711DD}"/>
                </a:ext>
              </a:extLst>
            </p:cNvPr>
            <p:cNvSpPr/>
            <p:nvPr/>
          </p:nvSpPr>
          <p:spPr>
            <a:xfrm>
              <a:off x="417466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39BF1A34-F835-AEE9-6ECB-E2E3F472837A}"/>
                </a:ext>
              </a:extLst>
            </p:cNvPr>
            <p:cNvSpPr/>
            <p:nvPr/>
          </p:nvSpPr>
          <p:spPr>
            <a:xfrm>
              <a:off x="44233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9EBBF70E-9E72-B760-BB14-C5D7A01E52C3}"/>
                </a:ext>
              </a:extLst>
            </p:cNvPr>
            <p:cNvSpPr/>
            <p:nvPr/>
          </p:nvSpPr>
          <p:spPr>
            <a:xfrm>
              <a:off x="44737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E16A7A58-68C9-3D39-CF27-0F29B3540DA0}"/>
                </a:ext>
              </a:extLst>
            </p:cNvPr>
            <p:cNvSpPr/>
            <p:nvPr/>
          </p:nvSpPr>
          <p:spPr>
            <a:xfrm>
              <a:off x="45241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1691A162-867E-16DE-7FED-F83A614887C5}"/>
                </a:ext>
              </a:extLst>
            </p:cNvPr>
            <p:cNvSpPr/>
            <p:nvPr/>
          </p:nvSpPr>
          <p:spPr>
            <a:xfrm>
              <a:off x="45745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61D2F7B0-3C8A-4A85-7B41-08C42625CB54}"/>
                </a:ext>
              </a:extLst>
            </p:cNvPr>
            <p:cNvSpPr/>
            <p:nvPr/>
          </p:nvSpPr>
          <p:spPr>
            <a:xfrm>
              <a:off x="46249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C256E265-0B64-523E-74D9-C558DBCB1A3C}"/>
                </a:ext>
              </a:extLst>
            </p:cNvPr>
            <p:cNvSpPr/>
            <p:nvPr/>
          </p:nvSpPr>
          <p:spPr>
            <a:xfrm>
              <a:off x="46753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EC4FEAC6-EB07-3E88-8872-653BA08ED9E8}"/>
                </a:ext>
              </a:extLst>
            </p:cNvPr>
            <p:cNvSpPr/>
            <p:nvPr/>
          </p:nvSpPr>
          <p:spPr>
            <a:xfrm>
              <a:off x="4725733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8E0E25EF-B799-DCC6-F17B-F80C9898631C}"/>
                </a:ext>
              </a:extLst>
            </p:cNvPr>
            <p:cNvSpPr/>
            <p:nvPr/>
          </p:nvSpPr>
          <p:spPr>
            <a:xfrm>
              <a:off x="477612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27B10798-0A88-9701-69F6-3B7007CE2961}"/>
                </a:ext>
              </a:extLst>
            </p:cNvPr>
            <p:cNvSpPr/>
            <p:nvPr/>
          </p:nvSpPr>
          <p:spPr>
            <a:xfrm>
              <a:off x="482652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C1DE6245-174E-478E-A596-F1F395DB2991}"/>
                </a:ext>
              </a:extLst>
            </p:cNvPr>
            <p:cNvSpPr/>
            <p:nvPr/>
          </p:nvSpPr>
          <p:spPr>
            <a:xfrm>
              <a:off x="5452897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7D130E0A-090C-4780-D94D-683BAF8F7F26}"/>
                </a:ext>
              </a:extLst>
            </p:cNvPr>
            <p:cNvSpPr/>
            <p:nvPr/>
          </p:nvSpPr>
          <p:spPr>
            <a:xfrm>
              <a:off x="5503290" y="144413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5" h="36194">
                  <a:moveTo>
                    <a:pt x="36002" y="18001"/>
                  </a:moveTo>
                  <a:lnTo>
                    <a:pt x="34587" y="10994"/>
                  </a:lnTo>
                  <a:lnTo>
                    <a:pt x="30729" y="5272"/>
                  </a:lnTo>
                  <a:lnTo>
                    <a:pt x="25007" y="1414"/>
                  </a:lnTo>
                  <a:lnTo>
                    <a:pt x="18000" y="0"/>
                  </a:lnTo>
                  <a:lnTo>
                    <a:pt x="10994" y="1414"/>
                  </a:lnTo>
                  <a:lnTo>
                    <a:pt x="5272" y="5272"/>
                  </a:lnTo>
                  <a:lnTo>
                    <a:pt x="1414" y="10994"/>
                  </a:lnTo>
                  <a:lnTo>
                    <a:pt x="0" y="18001"/>
                  </a:lnTo>
                  <a:lnTo>
                    <a:pt x="1414" y="25008"/>
                  </a:lnTo>
                  <a:lnTo>
                    <a:pt x="5272" y="30729"/>
                  </a:lnTo>
                  <a:lnTo>
                    <a:pt x="10994" y="34587"/>
                  </a:lnTo>
                  <a:lnTo>
                    <a:pt x="18000" y="36002"/>
                  </a:lnTo>
                  <a:lnTo>
                    <a:pt x="25007" y="34587"/>
                  </a:lnTo>
                  <a:lnTo>
                    <a:pt x="30729" y="30729"/>
                  </a:lnTo>
                  <a:lnTo>
                    <a:pt x="34587" y="25008"/>
                  </a:lnTo>
                  <a:lnTo>
                    <a:pt x="36002" y="18001"/>
                  </a:lnTo>
                  <a:close/>
                </a:path>
              </a:pathLst>
            </a:custGeom>
            <a:ln w="5060">
              <a:solidFill>
                <a:srgbClr val="8C8CAC"/>
              </a:solidFill>
            </a:ln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69" name="object 69">
            <a:extLst>
              <a:ext uri="{FF2B5EF4-FFF2-40B4-BE49-F238E27FC236}">
                <a16:creationId xmlns:a16="http://schemas.microsoft.com/office/drawing/2014/main" id="{8B36A474-66EB-0F61-ED48-A55D31C96C43}"/>
              </a:ext>
            </a:extLst>
          </p:cNvPr>
          <p:cNvSpPr txBox="1"/>
          <p:nvPr/>
        </p:nvSpPr>
        <p:spPr>
          <a:xfrm>
            <a:off x="204400" y="53379"/>
            <a:ext cx="11771334" cy="188421"/>
          </a:xfrm>
          <a:prstGeom prst="rect">
            <a:avLst/>
          </a:prstGeom>
        </p:spPr>
        <p:txBody>
          <a:bodyPr vert="horz" wrap="square" lIns="0" tIns="25499" rIns="0" bIns="0" rtlCol="0">
            <a:spAutoFit/>
          </a:bodyPr>
          <a:lstStyle/>
          <a:p>
            <a:pPr marL="26841">
              <a:spcBef>
                <a:spcPts val="201"/>
              </a:spcBef>
              <a:tabLst>
                <a:tab pos="1399782" algn="l"/>
                <a:tab pos="2970006" algn="l"/>
                <a:tab pos="6278215" algn="l"/>
                <a:tab pos="8167853" algn="l"/>
                <a:tab pos="9119383" algn="l"/>
                <a:tab pos="11296224" algn="l"/>
              </a:tabLst>
            </a:pP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rId2" action="ppaction://hlinksldjump"/>
              </a:rPr>
              <a:t>Introduction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16" dirty="0">
                <a:solidFill>
                  <a:srgbClr val="8C8CAC"/>
                </a:solidFill>
                <a:latin typeface="Georgia"/>
                <a:cs typeface="Georgia"/>
                <a:hlinkClick r:id="rId3" action="ppaction://hlinksldjump"/>
              </a:rPr>
              <a:t>Intuition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Cost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48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Function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and</a:t>
            </a:r>
            <a:r>
              <a:rPr sz="1057" spc="275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69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Gradient</a:t>
            </a:r>
            <a:r>
              <a:rPr sz="1057" spc="264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37" dirty="0">
                <a:solidFill>
                  <a:srgbClr val="FFFFFF"/>
                </a:solidFill>
                <a:latin typeface="Georgia"/>
                <a:cs typeface="Georgia"/>
                <a:hlinkClick r:id="" action="ppaction://noaction"/>
              </a:rPr>
              <a:t>Descent</a:t>
            </a:r>
            <a:r>
              <a:rPr sz="1057" dirty="0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sz="1057" spc="254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LR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with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232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GD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80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Python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59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Polynomial</a:t>
            </a:r>
            <a:r>
              <a:rPr sz="1057" spc="241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 </a:t>
            </a:r>
            <a:r>
              <a:rPr sz="1057" spc="12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Regression</a:t>
            </a:r>
            <a:r>
              <a:rPr sz="1057" dirty="0">
                <a:solidFill>
                  <a:srgbClr val="8C8CAC"/>
                </a:solidFill>
                <a:latin typeface="Georgia"/>
                <a:cs typeface="Georgia"/>
              </a:rPr>
              <a:t>	</a:t>
            </a:r>
            <a:r>
              <a:rPr sz="1057" spc="137" dirty="0">
                <a:solidFill>
                  <a:srgbClr val="8C8CAC"/>
                </a:solidFill>
                <a:latin typeface="Georgia"/>
                <a:cs typeface="Georgia"/>
                <a:hlinkClick r:id="" action="ppaction://noaction"/>
              </a:rPr>
              <a:t>Tasks</a:t>
            </a:r>
            <a:endParaRPr sz="1057">
              <a:latin typeface="Georgia"/>
              <a:cs typeface="Georgia"/>
            </a:endParaRPr>
          </a:p>
        </p:txBody>
      </p:sp>
      <p:grpSp>
        <p:nvGrpSpPr>
          <p:cNvPr id="87" name="object 87">
            <a:extLst>
              <a:ext uri="{FF2B5EF4-FFF2-40B4-BE49-F238E27FC236}">
                <a16:creationId xmlns:a16="http://schemas.microsoft.com/office/drawing/2014/main" id="{99AA2532-E24F-CE0E-A7DB-89DA25516DAE}"/>
              </a:ext>
            </a:extLst>
          </p:cNvPr>
          <p:cNvGrpSpPr/>
          <p:nvPr/>
        </p:nvGrpSpPr>
        <p:grpSpPr>
          <a:xfrm>
            <a:off x="2983" y="6660660"/>
            <a:ext cx="12173957" cy="187890"/>
            <a:chOff x="0" y="3151479"/>
            <a:chExt cx="5760085" cy="88900"/>
          </a:xfrm>
        </p:grpSpPr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3B584D7D-DF71-8190-B8FA-3FF44CF0B8AC}"/>
                </a:ext>
              </a:extLst>
            </p:cNvPr>
            <p:cNvSpPr/>
            <p:nvPr/>
          </p:nvSpPr>
          <p:spPr>
            <a:xfrm>
              <a:off x="0" y="3151479"/>
              <a:ext cx="3456304" cy="88900"/>
            </a:xfrm>
            <a:custGeom>
              <a:avLst/>
              <a:gdLst/>
              <a:ahLst/>
              <a:cxnLst/>
              <a:rect l="l" t="t" r="r" b="b"/>
              <a:pathLst>
                <a:path w="3456304" h="88900">
                  <a:moveTo>
                    <a:pt x="3456038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3456038" y="88519"/>
                  </a:lnTo>
                  <a:lnTo>
                    <a:pt x="3456038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7368365E-8274-45BD-BA86-73DDA4A0CE2A}"/>
                </a:ext>
              </a:extLst>
            </p:cNvPr>
            <p:cNvSpPr/>
            <p:nvPr/>
          </p:nvSpPr>
          <p:spPr>
            <a:xfrm>
              <a:off x="3456038" y="3151479"/>
              <a:ext cx="1728470" cy="88900"/>
            </a:xfrm>
            <a:custGeom>
              <a:avLst/>
              <a:gdLst/>
              <a:ahLst/>
              <a:cxnLst/>
              <a:rect l="l" t="t" r="r" b="b"/>
              <a:pathLst>
                <a:path w="1728470" h="88900">
                  <a:moveTo>
                    <a:pt x="1728012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1728012" y="88519"/>
                  </a:lnTo>
                  <a:lnTo>
                    <a:pt x="1728012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6FC944D2-A7EA-0BB5-4B62-2C3DE580C8C0}"/>
                </a:ext>
              </a:extLst>
            </p:cNvPr>
            <p:cNvSpPr/>
            <p:nvPr/>
          </p:nvSpPr>
          <p:spPr>
            <a:xfrm>
              <a:off x="5184051" y="3151479"/>
              <a:ext cx="576580" cy="88900"/>
            </a:xfrm>
            <a:custGeom>
              <a:avLst/>
              <a:gdLst/>
              <a:ahLst/>
              <a:cxnLst/>
              <a:rect l="l" t="t" r="r" b="b"/>
              <a:pathLst>
                <a:path w="576579" h="88900">
                  <a:moveTo>
                    <a:pt x="576033" y="0"/>
                  </a:moveTo>
                  <a:lnTo>
                    <a:pt x="0" y="0"/>
                  </a:lnTo>
                  <a:lnTo>
                    <a:pt x="0" y="88519"/>
                  </a:lnTo>
                  <a:lnTo>
                    <a:pt x="576033" y="88519"/>
                  </a:lnTo>
                  <a:lnTo>
                    <a:pt x="576033" y="0"/>
                  </a:lnTo>
                  <a:close/>
                </a:path>
              </a:pathLst>
            </a:custGeom>
            <a:solidFill>
              <a:srgbClr val="FE0000"/>
            </a:solidFill>
          </p:spPr>
          <p:txBody>
            <a:bodyPr wrap="square" lIns="0" tIns="0" rIns="0" bIns="0" rtlCol="0"/>
            <a:lstStyle/>
            <a:p>
              <a:endParaRPr sz="3804"/>
            </a:p>
          </p:txBody>
        </p:sp>
      </p:grpSp>
      <p:sp>
        <p:nvSpPr>
          <p:cNvPr id="92" name="object 92">
            <a:extLst>
              <a:ext uri="{FF2B5EF4-FFF2-40B4-BE49-F238E27FC236}">
                <a16:creationId xmlns:a16="http://schemas.microsoft.com/office/drawing/2014/main" id="{BAABA23A-FC8A-3221-7794-1E1940784BFA}"/>
              </a:ext>
            </a:extLst>
          </p:cNvPr>
          <p:cNvSpPr txBox="1"/>
          <p:nvPr/>
        </p:nvSpPr>
        <p:spPr>
          <a:xfrm>
            <a:off x="8409414" y="6612778"/>
            <a:ext cx="903216" cy="206039"/>
          </a:xfrm>
          <a:prstGeom prst="rect">
            <a:avLst/>
          </a:prstGeom>
        </p:spPr>
        <p:txBody>
          <a:bodyPr vert="horz" wrap="square" lIns="0" tIns="42946" rIns="0" bIns="0" rtlCol="0">
            <a:spAutoFit/>
          </a:bodyPr>
          <a:lstStyle/>
          <a:p>
            <a:pPr marL="26841">
              <a:spcBef>
                <a:spcPts val="338"/>
              </a:spcBef>
            </a:pPr>
            <a:r>
              <a:rPr sz="1057" spc="127" dirty="0">
                <a:solidFill>
                  <a:srgbClr val="FFFFFF"/>
                </a:solidFill>
                <a:latin typeface="Georgia"/>
                <a:cs typeface="Georgia"/>
                <a:hlinkClick r:id="rId4" action="ppaction://hlinksldjump"/>
              </a:rPr>
              <a:t>Regression</a:t>
            </a:r>
            <a:endParaRPr sz="1057">
              <a:latin typeface="Georgia"/>
              <a:cs typeface="Georgia"/>
            </a:endParaRPr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7C67A654-A0FE-B2F4-B43C-293ACA75E32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5282831" y="3128823"/>
            <a:ext cx="326389" cy="116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5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59055">
              <a:spcBef>
                <a:spcPts val="160"/>
              </a:spcBef>
            </a:pPr>
            <a:fld id="{81D60167-4931-47E6-BA6A-407CBD079E47}" type="slidenum">
              <a:rPr lang="en-US" spc="125" smtClean="0"/>
              <a:pPr marL="59055">
                <a:spcBef>
                  <a:spcPts val="160"/>
                </a:spcBef>
              </a:pPr>
              <a:t>19</a:t>
            </a:fld>
            <a:r>
              <a:rPr lang="en-US" spc="114"/>
              <a:t> </a:t>
            </a:r>
            <a:r>
              <a:rPr lang="en-US" spc="95"/>
              <a:t>/</a:t>
            </a:r>
            <a:r>
              <a:rPr lang="en-US" spc="120"/>
              <a:t> </a:t>
            </a:r>
            <a:r>
              <a:rPr lang="en-US" spc="20"/>
              <a:t>65</a:t>
            </a:r>
            <a:endParaRPr spc="63" dirty="0"/>
          </a:p>
        </p:txBody>
      </p:sp>
      <p:sp>
        <p:nvSpPr>
          <p:cNvPr id="72" name="Title 1">
            <a:extLst>
              <a:ext uri="{FF2B5EF4-FFF2-40B4-BE49-F238E27FC236}">
                <a16:creationId xmlns:a16="http://schemas.microsoft.com/office/drawing/2014/main" id="{815DE2EA-B12E-2918-F0C7-8B8BC7D7E864}"/>
              </a:ext>
            </a:extLst>
          </p:cNvPr>
          <p:cNvSpPr txBox="1">
            <a:spLocks/>
          </p:cNvSpPr>
          <p:nvPr/>
        </p:nvSpPr>
        <p:spPr>
          <a:xfrm>
            <a:off x="-28974" y="799102"/>
            <a:ext cx="6965459" cy="68515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endParaRPr lang="en-US" sz="3804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B6CFFE-66CE-E655-1F8C-DC80355423D4}"/>
              </a:ext>
            </a:extLst>
          </p:cNvPr>
          <p:cNvSpPr txBox="1"/>
          <p:nvPr/>
        </p:nvSpPr>
        <p:spPr>
          <a:xfrm>
            <a:off x="227735" y="431855"/>
            <a:ext cx="8355370" cy="1040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3200" b="1" dirty="0">
                <a:latin typeface="Arial"/>
                <a:cs typeface="Arial"/>
              </a:rPr>
              <a:t>Gradient</a:t>
            </a:r>
            <a:r>
              <a:rPr lang="en-US" sz="3200" b="1" spc="-10" dirty="0">
                <a:latin typeface="Arial"/>
                <a:cs typeface="Arial"/>
              </a:rPr>
              <a:t> </a:t>
            </a:r>
            <a:r>
              <a:rPr lang="en-US" sz="3200" b="1" dirty="0">
                <a:latin typeface="Arial"/>
                <a:cs typeface="Arial"/>
              </a:rPr>
              <a:t>Descent</a:t>
            </a:r>
            <a:r>
              <a:rPr lang="en-US" sz="3200" b="1" spc="-15" dirty="0">
                <a:latin typeface="Arial"/>
                <a:cs typeface="Arial"/>
              </a:rPr>
              <a:t> </a:t>
            </a:r>
            <a:r>
              <a:rPr lang="en-US" sz="3200" b="1" dirty="0">
                <a:latin typeface="Arial"/>
                <a:cs typeface="Arial"/>
              </a:rPr>
              <a:t>In</a:t>
            </a:r>
            <a:r>
              <a:rPr lang="en-US" sz="3200" b="1" spc="-10" dirty="0">
                <a:latin typeface="Arial"/>
                <a:cs typeface="Arial"/>
              </a:rPr>
              <a:t> </a:t>
            </a:r>
            <a:r>
              <a:rPr lang="en-US" sz="3200" b="1" dirty="0">
                <a:latin typeface="Arial"/>
                <a:cs typeface="Arial"/>
              </a:rPr>
              <a:t>Linear</a:t>
            </a:r>
            <a:r>
              <a:rPr lang="en-US" sz="3200" b="1" spc="-15" dirty="0">
                <a:latin typeface="Arial"/>
                <a:cs typeface="Arial"/>
              </a:rPr>
              <a:t> </a:t>
            </a:r>
            <a:r>
              <a:rPr lang="en-US" sz="3200" b="1" dirty="0">
                <a:latin typeface="Arial"/>
                <a:cs typeface="Arial"/>
              </a:rPr>
              <a:t>Regression</a:t>
            </a:r>
            <a:endParaRPr lang="en-US" sz="3200" dirty="0">
              <a:latin typeface="Arial"/>
              <a:cs typeface="Arial"/>
            </a:endParaRPr>
          </a:p>
          <a:p>
            <a:endParaRPr lang="en-US" sz="2959" dirty="0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DE2B0B39-E46B-58A4-2222-77745CCA5A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6178" y="1052423"/>
            <a:ext cx="7513443" cy="4675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98758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8A17C-D72B-D861-B5A2-14F42FBC88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765" y="216589"/>
            <a:ext cx="10458091" cy="922097"/>
          </a:xfrm>
        </p:spPr>
        <p:txBody>
          <a:bodyPr/>
          <a:lstStyle/>
          <a:p>
            <a:r>
              <a:rPr lang="en-US" sz="1800" b="1" i="0" u="none" strike="noStrike" baseline="0" dirty="0">
                <a:latin typeface="Arial-BoldMT"/>
              </a:rPr>
              <a:t>Now Time To Implement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3B98D9-1778-3791-B58B-E5C9B44B1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54" y="1337454"/>
            <a:ext cx="10662248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58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4B2D9F-0E51-9217-D6A0-E8760B82D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98" y="330859"/>
            <a:ext cx="10084279" cy="33439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4EB93A-A953-BF7C-409E-6BDC16B71F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97" y="3821501"/>
            <a:ext cx="10084279" cy="288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650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3BDA60-4C73-CFF4-782D-1562D1A3B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298" y="0"/>
            <a:ext cx="10929667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0B7C16-2C6A-4878-11F5-651F37E5F6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257" y="3669580"/>
            <a:ext cx="10713707" cy="206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517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4D0CFB-D9F4-279A-F1AE-95926DC4B6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34" y="112803"/>
            <a:ext cx="10315995" cy="41227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008721-FC91-8C9A-FE80-95C0178714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033" y="4389587"/>
            <a:ext cx="10315995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7343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8779B2-D0FB-B4C4-E85A-E5108696CE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92" y="180855"/>
            <a:ext cx="10596712" cy="25971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0A0519-DD32-BDA8-DDC7-1913486B26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92" y="2933700"/>
            <a:ext cx="10717482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6459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13FBCC-5BC3-4432-9297-C563BE893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425" y="1489075"/>
            <a:ext cx="7931150" cy="387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021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891</Words>
  <Application>Microsoft Office PowerPoint</Application>
  <PresentationFormat>Widescreen</PresentationFormat>
  <Paragraphs>115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 MT</vt:lpstr>
      <vt:lpstr>Arial-BoldMT</vt:lpstr>
      <vt:lpstr>Aptos</vt:lpstr>
      <vt:lpstr>Aptos Display</vt:lpstr>
      <vt:lpstr>Arial</vt:lpstr>
      <vt:lpstr>Calibri</vt:lpstr>
      <vt:lpstr>Cambria</vt:lpstr>
      <vt:lpstr>Cambria Math</vt:lpstr>
      <vt:lpstr>Georgia</vt:lpstr>
      <vt:lpstr>Office Theme</vt:lpstr>
      <vt:lpstr>Machine Learning </vt:lpstr>
      <vt:lpstr>PowerPoint Presentation</vt:lpstr>
      <vt:lpstr>PowerPoint Presentation</vt:lpstr>
      <vt:lpstr>Hill-Descent</vt:lpstr>
      <vt:lpstr>Hill-Descent</vt:lpstr>
      <vt:lpstr>Hill-Descent</vt:lpstr>
      <vt:lpstr>From Hill-Descent to Gradient-Descent</vt:lpstr>
      <vt:lpstr>From Hill-Descent to Gradient-Descent</vt:lpstr>
      <vt:lpstr>From Hill-Descent to Gradient-Descent</vt:lpstr>
      <vt:lpstr>PowerPoint Presentation</vt:lpstr>
      <vt:lpstr>Gradient-Descent Algorithm: Why It Works ?</vt:lpstr>
      <vt:lpstr>Gradient-Descent Algorithm: Why It Works ?</vt:lpstr>
      <vt:lpstr>Gradient-Descent Algorithm: Why It Works ?</vt:lpstr>
      <vt:lpstr>Gradient Descent Algorithm: Semantics of Learning Rate</vt:lpstr>
      <vt:lpstr>Convergence</vt:lpstr>
      <vt:lpstr>Convergence</vt:lpstr>
      <vt:lpstr>PowerPoint Presentation</vt:lpstr>
      <vt:lpstr>PowerPoint Presentation</vt:lpstr>
      <vt:lpstr>PowerPoint Presentation</vt:lpstr>
      <vt:lpstr>Now Time To Implement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anwar khan</dc:creator>
  <cp:lastModifiedBy>anwar khan</cp:lastModifiedBy>
  <cp:revision>16</cp:revision>
  <dcterms:created xsi:type="dcterms:W3CDTF">2024-11-26T00:39:48Z</dcterms:created>
  <dcterms:modified xsi:type="dcterms:W3CDTF">2024-11-26T04:47:58Z</dcterms:modified>
</cp:coreProperties>
</file>