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91" r:id="rId3"/>
    <p:sldId id="322" r:id="rId4"/>
    <p:sldId id="3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4510b0218625f80" providerId="LiveId" clId="{8D647C0F-C0C7-4450-97C9-85FCD227EC7B}"/>
    <pc:docChg chg="custSel addSld delSld modSld">
      <pc:chgData name="" userId="04510b0218625f80" providerId="LiveId" clId="{8D647C0F-C0C7-4450-97C9-85FCD227EC7B}" dt="2025-12-15T14:32:20.569" v="107" actId="2696"/>
      <pc:docMkLst>
        <pc:docMk/>
      </pc:docMkLst>
      <pc:sldChg chg="delSp modSp">
        <pc:chgData name="" userId="04510b0218625f80" providerId="LiveId" clId="{8D647C0F-C0C7-4450-97C9-85FCD227EC7B}" dt="2025-12-15T14:21:51.539" v="3"/>
        <pc:sldMkLst>
          <pc:docMk/>
          <pc:sldMk cId="0" sldId="256"/>
        </pc:sldMkLst>
        <pc:spChg chg="del">
          <ac:chgData name="" userId="04510b0218625f80" providerId="LiveId" clId="{8D647C0F-C0C7-4450-97C9-85FCD227EC7B}" dt="2025-12-15T14:21:45.100" v="0"/>
          <ac:spMkLst>
            <pc:docMk/>
            <pc:sldMk cId="0" sldId="256"/>
            <ac:spMk id="7" creationId="{00000000-0000-0000-0000-000000000000}"/>
          </ac:spMkLst>
        </pc:spChg>
        <pc:picChg chg="del">
          <ac:chgData name="" userId="04510b0218625f80" providerId="LiveId" clId="{8D647C0F-C0C7-4450-97C9-85FCD227EC7B}" dt="2025-12-15T14:21:49.327" v="1"/>
          <ac:picMkLst>
            <pc:docMk/>
            <pc:sldMk cId="0" sldId="256"/>
            <ac:picMk id="6" creationId="{00000000-0000-0000-0000-000000000000}"/>
          </ac:picMkLst>
        </pc:picChg>
        <pc:picChg chg="del mod">
          <ac:chgData name="" userId="04510b0218625f80" providerId="LiveId" clId="{8D647C0F-C0C7-4450-97C9-85FCD227EC7B}" dt="2025-12-15T14:21:51.539" v="3"/>
          <ac:picMkLst>
            <pc:docMk/>
            <pc:sldMk cId="0" sldId="256"/>
            <ac:picMk id="8" creationId="{00000000-0000-0000-0000-000000000000}"/>
          </ac:picMkLst>
        </pc:picChg>
      </pc:sldChg>
      <pc:sldChg chg="delSp modSp del">
        <pc:chgData name="" userId="04510b0218625f80" providerId="LiveId" clId="{8D647C0F-C0C7-4450-97C9-85FCD227EC7B}" dt="2025-12-15T14:28:32.605" v="61" actId="2696"/>
        <pc:sldMkLst>
          <pc:docMk/>
          <pc:sldMk cId="0" sldId="257"/>
        </pc:sldMkLst>
        <pc:picChg chg="del">
          <ac:chgData name="" userId="04510b0218625f80" providerId="LiveId" clId="{8D647C0F-C0C7-4450-97C9-85FCD227EC7B}" dt="2025-12-15T14:22:17.486" v="4"/>
          <ac:picMkLst>
            <pc:docMk/>
            <pc:sldMk cId="0" sldId="257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2:21.156" v="6"/>
          <ac:picMkLst>
            <pc:docMk/>
            <pc:sldMk cId="0" sldId="257"/>
            <ac:picMk id="5" creationId="{00000000-0000-0000-0000-000000000000}"/>
          </ac:picMkLst>
        </pc:picChg>
      </pc:sldChg>
      <pc:sldChg chg="delSp modSp del">
        <pc:chgData name="" userId="04510b0218625f80" providerId="LiveId" clId="{8D647C0F-C0C7-4450-97C9-85FCD227EC7B}" dt="2025-12-15T14:28:41.656" v="62" actId="2696"/>
        <pc:sldMkLst>
          <pc:docMk/>
          <pc:sldMk cId="0" sldId="258"/>
        </pc:sldMkLst>
        <pc:picChg chg="del">
          <ac:chgData name="" userId="04510b0218625f80" providerId="LiveId" clId="{8D647C0F-C0C7-4450-97C9-85FCD227EC7B}" dt="2025-12-15T14:22:28.771" v="7" actId="478"/>
          <ac:picMkLst>
            <pc:docMk/>
            <pc:sldMk cId="0" sldId="258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2:30.664" v="9" actId="478"/>
          <ac:picMkLst>
            <pc:docMk/>
            <pc:sldMk cId="0" sldId="258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2:34.130" v="11" actId="478"/>
        <pc:sldMkLst>
          <pc:docMk/>
          <pc:sldMk cId="0" sldId="259"/>
        </pc:sldMkLst>
        <pc:picChg chg="del mod">
          <ac:chgData name="" userId="04510b0218625f80" providerId="LiveId" clId="{8D647C0F-C0C7-4450-97C9-85FCD227EC7B}" dt="2025-12-15T14:22:34.130" v="11" actId="478"/>
          <ac:picMkLst>
            <pc:docMk/>
            <pc:sldMk cId="0" sldId="259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2:41.621" v="14" actId="478"/>
        <pc:sldMkLst>
          <pc:docMk/>
          <pc:sldMk cId="0" sldId="260"/>
        </pc:sldMkLst>
        <pc:picChg chg="del">
          <ac:chgData name="" userId="04510b0218625f80" providerId="LiveId" clId="{8D647C0F-C0C7-4450-97C9-85FCD227EC7B}" dt="2025-12-15T14:22:41.621" v="14" actId="478"/>
          <ac:picMkLst>
            <pc:docMk/>
            <pc:sldMk cId="0" sldId="260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2:39.890" v="13" actId="478"/>
          <ac:picMkLst>
            <pc:docMk/>
            <pc:sldMk cId="0" sldId="260"/>
            <ac:picMk id="7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2:47.212" v="17" actId="478"/>
        <pc:sldMkLst>
          <pc:docMk/>
          <pc:sldMk cId="0" sldId="261"/>
        </pc:sldMkLst>
        <pc:picChg chg="del">
          <ac:chgData name="" userId="04510b0218625f80" providerId="LiveId" clId="{8D647C0F-C0C7-4450-97C9-85FCD227EC7B}" dt="2025-12-15T14:22:47.212" v="17" actId="478"/>
          <ac:picMkLst>
            <pc:docMk/>
            <pc:sldMk cId="0" sldId="261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2:45.317" v="16" actId="478"/>
          <ac:picMkLst>
            <pc:docMk/>
            <pc:sldMk cId="0" sldId="261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2:50.782" v="19" actId="478"/>
        <pc:sldMkLst>
          <pc:docMk/>
          <pc:sldMk cId="0" sldId="262"/>
        </pc:sldMkLst>
        <pc:picChg chg="del mod">
          <ac:chgData name="" userId="04510b0218625f80" providerId="LiveId" clId="{8D647C0F-C0C7-4450-97C9-85FCD227EC7B}" dt="2025-12-15T14:22:50.782" v="19" actId="478"/>
          <ac:picMkLst>
            <pc:docMk/>
            <pc:sldMk cId="0" sldId="262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2:53.250" v="21" actId="478"/>
        <pc:sldMkLst>
          <pc:docMk/>
          <pc:sldMk cId="0" sldId="263"/>
        </pc:sldMkLst>
        <pc:picChg chg="del mod">
          <ac:chgData name="" userId="04510b0218625f80" providerId="LiveId" clId="{8D647C0F-C0C7-4450-97C9-85FCD227EC7B}" dt="2025-12-15T14:22:53.250" v="21" actId="478"/>
          <ac:picMkLst>
            <pc:docMk/>
            <pc:sldMk cId="0" sldId="263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2:57.304" v="23" actId="478"/>
        <pc:sldMkLst>
          <pc:docMk/>
          <pc:sldMk cId="0" sldId="264"/>
        </pc:sldMkLst>
        <pc:picChg chg="del mod">
          <ac:chgData name="" userId="04510b0218625f80" providerId="LiveId" clId="{8D647C0F-C0C7-4450-97C9-85FCD227EC7B}" dt="2025-12-15T14:22:57.304" v="23" actId="478"/>
          <ac:picMkLst>
            <pc:docMk/>
            <pc:sldMk cId="0" sldId="264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3:01.334" v="26" actId="478"/>
        <pc:sldMkLst>
          <pc:docMk/>
          <pc:sldMk cId="0" sldId="265"/>
        </pc:sldMkLst>
        <pc:picChg chg="del">
          <ac:chgData name="" userId="04510b0218625f80" providerId="LiveId" clId="{8D647C0F-C0C7-4450-97C9-85FCD227EC7B}" dt="2025-12-15T14:23:01.334" v="26" actId="478"/>
          <ac:picMkLst>
            <pc:docMk/>
            <pc:sldMk cId="0" sldId="265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2:59.519" v="25" actId="478"/>
          <ac:picMkLst>
            <pc:docMk/>
            <pc:sldMk cId="0" sldId="265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9:46.559" v="64" actId="478"/>
        <pc:sldMkLst>
          <pc:docMk/>
          <pc:sldMk cId="0" sldId="266"/>
        </pc:sldMkLst>
        <pc:picChg chg="del mod">
          <ac:chgData name="" userId="04510b0218625f80" providerId="LiveId" clId="{8D647C0F-C0C7-4450-97C9-85FCD227EC7B}" dt="2025-12-15T14:29:46.559" v="64" actId="478"/>
          <ac:picMkLst>
            <pc:docMk/>
            <pc:sldMk cId="0" sldId="266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0:02.539" v="67" actId="478"/>
        <pc:sldMkLst>
          <pc:docMk/>
          <pc:sldMk cId="0" sldId="267"/>
        </pc:sldMkLst>
        <pc:picChg chg="del">
          <ac:chgData name="" userId="04510b0218625f80" providerId="LiveId" clId="{8D647C0F-C0C7-4450-97C9-85FCD227EC7B}" dt="2025-12-15T14:30:00.333" v="65" actId="478"/>
          <ac:picMkLst>
            <pc:docMk/>
            <pc:sldMk cId="0" sldId="267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30:02.539" v="67" actId="478"/>
          <ac:picMkLst>
            <pc:docMk/>
            <pc:sldMk cId="0" sldId="267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3:05.600" v="28" actId="478"/>
        <pc:sldMkLst>
          <pc:docMk/>
          <pc:sldMk cId="0" sldId="268"/>
        </pc:sldMkLst>
        <pc:picChg chg="del mod">
          <ac:chgData name="" userId="04510b0218625f80" providerId="LiveId" clId="{8D647C0F-C0C7-4450-97C9-85FCD227EC7B}" dt="2025-12-15T14:23:05.600" v="28" actId="478"/>
          <ac:picMkLst>
            <pc:docMk/>
            <pc:sldMk cId="0" sldId="268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3:08.185" v="30" actId="478"/>
        <pc:sldMkLst>
          <pc:docMk/>
          <pc:sldMk cId="0" sldId="269"/>
        </pc:sldMkLst>
        <pc:picChg chg="del mod">
          <ac:chgData name="" userId="04510b0218625f80" providerId="LiveId" clId="{8D647C0F-C0C7-4450-97C9-85FCD227EC7B}" dt="2025-12-15T14:23:08.185" v="30" actId="478"/>
          <ac:picMkLst>
            <pc:docMk/>
            <pc:sldMk cId="0" sldId="269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3:13.135" v="32" actId="478"/>
        <pc:sldMkLst>
          <pc:docMk/>
          <pc:sldMk cId="0" sldId="270"/>
        </pc:sldMkLst>
        <pc:picChg chg="del mod">
          <ac:chgData name="" userId="04510b0218625f80" providerId="LiveId" clId="{8D647C0F-C0C7-4450-97C9-85FCD227EC7B}" dt="2025-12-15T14:23:13.135" v="32" actId="478"/>
          <ac:picMkLst>
            <pc:docMk/>
            <pc:sldMk cId="0" sldId="270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3:17.220" v="35" actId="478"/>
        <pc:sldMkLst>
          <pc:docMk/>
          <pc:sldMk cId="0" sldId="271"/>
        </pc:sldMkLst>
        <pc:picChg chg="del">
          <ac:chgData name="" userId="04510b0218625f80" providerId="LiveId" clId="{8D647C0F-C0C7-4450-97C9-85FCD227EC7B}" dt="2025-12-15T14:23:17.220" v="35" actId="478"/>
          <ac:picMkLst>
            <pc:docMk/>
            <pc:sldMk cId="0" sldId="271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3:15.131" v="34" actId="478"/>
          <ac:picMkLst>
            <pc:docMk/>
            <pc:sldMk cId="0" sldId="271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23:22.002" v="38" actId="478"/>
        <pc:sldMkLst>
          <pc:docMk/>
          <pc:sldMk cId="0" sldId="272"/>
        </pc:sldMkLst>
        <pc:picChg chg="del">
          <ac:chgData name="" userId="04510b0218625f80" providerId="LiveId" clId="{8D647C0F-C0C7-4450-97C9-85FCD227EC7B}" dt="2025-12-15T14:23:19.879" v="36" actId="478"/>
          <ac:picMkLst>
            <pc:docMk/>
            <pc:sldMk cId="0" sldId="272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23:22.002" v="38" actId="478"/>
          <ac:picMkLst>
            <pc:docMk/>
            <pc:sldMk cId="0" sldId="272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02.882" v="70" actId="478"/>
        <pc:sldMkLst>
          <pc:docMk/>
          <pc:sldMk cId="0" sldId="273"/>
        </pc:sldMkLst>
        <pc:picChg chg="del">
          <ac:chgData name="" userId="04510b0218625f80" providerId="LiveId" clId="{8D647C0F-C0C7-4450-97C9-85FCD227EC7B}" dt="2025-12-15T14:31:02.882" v="70" actId="478"/>
          <ac:picMkLst>
            <pc:docMk/>
            <pc:sldMk cId="0" sldId="273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31:01.028" v="69" actId="478"/>
          <ac:picMkLst>
            <pc:docMk/>
            <pc:sldMk cId="0" sldId="273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05.838" v="72" actId="478"/>
        <pc:sldMkLst>
          <pc:docMk/>
          <pc:sldMk cId="0" sldId="274"/>
        </pc:sldMkLst>
        <pc:picChg chg="del mod">
          <ac:chgData name="" userId="04510b0218625f80" providerId="LiveId" clId="{8D647C0F-C0C7-4450-97C9-85FCD227EC7B}" dt="2025-12-15T14:31:05.838" v="72" actId="478"/>
          <ac:picMkLst>
            <pc:docMk/>
            <pc:sldMk cId="0" sldId="274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08.990" v="74" actId="478"/>
        <pc:sldMkLst>
          <pc:docMk/>
          <pc:sldMk cId="0" sldId="275"/>
        </pc:sldMkLst>
        <pc:picChg chg="del mod">
          <ac:chgData name="" userId="04510b0218625f80" providerId="LiveId" clId="{8D647C0F-C0C7-4450-97C9-85FCD227EC7B}" dt="2025-12-15T14:31:08.990" v="74" actId="478"/>
          <ac:picMkLst>
            <pc:docMk/>
            <pc:sldMk cId="0" sldId="275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12.388" v="76" actId="478"/>
        <pc:sldMkLst>
          <pc:docMk/>
          <pc:sldMk cId="0" sldId="276"/>
        </pc:sldMkLst>
        <pc:picChg chg="del mod">
          <ac:chgData name="" userId="04510b0218625f80" providerId="LiveId" clId="{8D647C0F-C0C7-4450-97C9-85FCD227EC7B}" dt="2025-12-15T14:31:12.388" v="76" actId="478"/>
          <ac:picMkLst>
            <pc:docMk/>
            <pc:sldMk cId="0" sldId="276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14.966" v="78" actId="478"/>
        <pc:sldMkLst>
          <pc:docMk/>
          <pc:sldMk cId="0" sldId="277"/>
        </pc:sldMkLst>
        <pc:picChg chg="del mod">
          <ac:chgData name="" userId="04510b0218625f80" providerId="LiveId" clId="{8D647C0F-C0C7-4450-97C9-85FCD227EC7B}" dt="2025-12-15T14:31:14.966" v="78" actId="478"/>
          <ac:picMkLst>
            <pc:docMk/>
            <pc:sldMk cId="0" sldId="277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22.385" v="80" actId="478"/>
        <pc:sldMkLst>
          <pc:docMk/>
          <pc:sldMk cId="0" sldId="278"/>
        </pc:sldMkLst>
        <pc:picChg chg="del mod">
          <ac:chgData name="" userId="04510b0218625f80" providerId="LiveId" clId="{8D647C0F-C0C7-4450-97C9-85FCD227EC7B}" dt="2025-12-15T14:31:22.385" v="80" actId="478"/>
          <ac:picMkLst>
            <pc:docMk/>
            <pc:sldMk cId="0" sldId="278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26.700" v="82" actId="478"/>
        <pc:sldMkLst>
          <pc:docMk/>
          <pc:sldMk cId="0" sldId="279"/>
        </pc:sldMkLst>
        <pc:picChg chg="del mod">
          <ac:chgData name="" userId="04510b0218625f80" providerId="LiveId" clId="{8D647C0F-C0C7-4450-97C9-85FCD227EC7B}" dt="2025-12-15T14:31:26.700" v="82" actId="478"/>
          <ac:picMkLst>
            <pc:docMk/>
            <pc:sldMk cId="0" sldId="279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29.440" v="84" actId="478"/>
        <pc:sldMkLst>
          <pc:docMk/>
          <pc:sldMk cId="0" sldId="280"/>
        </pc:sldMkLst>
        <pc:picChg chg="del mod">
          <ac:chgData name="" userId="04510b0218625f80" providerId="LiveId" clId="{8D647C0F-C0C7-4450-97C9-85FCD227EC7B}" dt="2025-12-15T14:31:29.440" v="84" actId="478"/>
          <ac:picMkLst>
            <pc:docMk/>
            <pc:sldMk cId="0" sldId="280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40.241" v="87"/>
        <pc:sldMkLst>
          <pc:docMk/>
          <pc:sldMk cId="0" sldId="281"/>
        </pc:sldMkLst>
        <pc:grpChg chg="del">
          <ac:chgData name="" userId="04510b0218625f80" providerId="LiveId" clId="{8D647C0F-C0C7-4450-97C9-85FCD227EC7B}" dt="2025-12-15T14:31:40.241" v="87"/>
          <ac:grpSpMkLst>
            <pc:docMk/>
            <pc:sldMk cId="0" sldId="281"/>
            <ac:grpSpMk id="4" creationId="{00000000-0000-0000-0000-000000000000}"/>
          </ac:grpSpMkLst>
        </pc:grpChg>
        <pc:picChg chg="del mod">
          <ac:chgData name="" userId="04510b0218625f80" providerId="LiveId" clId="{8D647C0F-C0C7-4450-97C9-85FCD227EC7B}" dt="2025-12-15T14:31:33.239" v="86" actId="478"/>
          <ac:picMkLst>
            <pc:docMk/>
            <pc:sldMk cId="0" sldId="281"/>
            <ac:picMk id="7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49.617" v="90" actId="478"/>
        <pc:sldMkLst>
          <pc:docMk/>
          <pc:sldMk cId="0" sldId="282"/>
        </pc:sldMkLst>
        <pc:picChg chg="del">
          <ac:chgData name="" userId="04510b0218625f80" providerId="LiveId" clId="{8D647C0F-C0C7-4450-97C9-85FCD227EC7B}" dt="2025-12-15T14:31:47.829" v="88" actId="478"/>
          <ac:picMkLst>
            <pc:docMk/>
            <pc:sldMk cId="0" sldId="282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31:49.617" v="90" actId="478"/>
          <ac:picMkLst>
            <pc:docMk/>
            <pc:sldMk cId="0" sldId="282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54.921" v="93" actId="478"/>
        <pc:sldMkLst>
          <pc:docMk/>
          <pc:sldMk cId="0" sldId="283"/>
        </pc:sldMkLst>
        <pc:picChg chg="del">
          <ac:chgData name="" userId="04510b0218625f80" providerId="LiveId" clId="{8D647C0F-C0C7-4450-97C9-85FCD227EC7B}" dt="2025-12-15T14:31:54.921" v="93" actId="478"/>
          <ac:picMkLst>
            <pc:docMk/>
            <pc:sldMk cId="0" sldId="283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31:52.756" v="92" actId="478"/>
          <ac:picMkLst>
            <pc:docMk/>
            <pc:sldMk cId="0" sldId="283"/>
            <ac:picMk id="5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1:57.925" v="95" actId="478"/>
        <pc:sldMkLst>
          <pc:docMk/>
          <pc:sldMk cId="0" sldId="284"/>
        </pc:sldMkLst>
        <pc:picChg chg="del mod">
          <ac:chgData name="" userId="04510b0218625f80" providerId="LiveId" clId="{8D647C0F-C0C7-4450-97C9-85FCD227EC7B}" dt="2025-12-15T14:31:57.925" v="95" actId="478"/>
          <ac:picMkLst>
            <pc:docMk/>
            <pc:sldMk cId="0" sldId="284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2:00.119" v="97" actId="478"/>
        <pc:sldMkLst>
          <pc:docMk/>
          <pc:sldMk cId="0" sldId="285"/>
        </pc:sldMkLst>
        <pc:picChg chg="del mod">
          <ac:chgData name="" userId="04510b0218625f80" providerId="LiveId" clId="{8D647C0F-C0C7-4450-97C9-85FCD227EC7B}" dt="2025-12-15T14:32:00.119" v="97" actId="478"/>
          <ac:picMkLst>
            <pc:docMk/>
            <pc:sldMk cId="0" sldId="285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2:04.771" v="99" actId="478"/>
        <pc:sldMkLst>
          <pc:docMk/>
          <pc:sldMk cId="0" sldId="286"/>
        </pc:sldMkLst>
        <pc:picChg chg="del mod">
          <ac:chgData name="" userId="04510b0218625f80" providerId="LiveId" clId="{8D647C0F-C0C7-4450-97C9-85FCD227EC7B}" dt="2025-12-15T14:32:04.771" v="99" actId="478"/>
          <ac:picMkLst>
            <pc:docMk/>
            <pc:sldMk cId="0" sldId="286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2:06.962" v="101" actId="478"/>
        <pc:sldMkLst>
          <pc:docMk/>
          <pc:sldMk cId="0" sldId="287"/>
        </pc:sldMkLst>
        <pc:picChg chg="del mod">
          <ac:chgData name="" userId="04510b0218625f80" providerId="LiveId" clId="{8D647C0F-C0C7-4450-97C9-85FCD227EC7B}" dt="2025-12-15T14:32:06.962" v="101" actId="478"/>
          <ac:picMkLst>
            <pc:docMk/>
            <pc:sldMk cId="0" sldId="287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2:11.230" v="103" actId="478"/>
        <pc:sldMkLst>
          <pc:docMk/>
          <pc:sldMk cId="0" sldId="288"/>
        </pc:sldMkLst>
        <pc:picChg chg="del mod">
          <ac:chgData name="" userId="04510b0218625f80" providerId="LiveId" clId="{8D647C0F-C0C7-4450-97C9-85FCD227EC7B}" dt="2025-12-15T14:32:11.230" v="103" actId="478"/>
          <ac:picMkLst>
            <pc:docMk/>
            <pc:sldMk cId="0" sldId="288"/>
            <ac:picMk id="3" creationId="{00000000-0000-0000-0000-000000000000}"/>
          </ac:picMkLst>
        </pc:picChg>
      </pc:sldChg>
      <pc:sldChg chg="delSp modSp">
        <pc:chgData name="" userId="04510b0218625f80" providerId="LiveId" clId="{8D647C0F-C0C7-4450-97C9-85FCD227EC7B}" dt="2025-12-15T14:32:16.265" v="106" actId="478"/>
        <pc:sldMkLst>
          <pc:docMk/>
          <pc:sldMk cId="0" sldId="289"/>
        </pc:sldMkLst>
        <pc:picChg chg="del">
          <ac:chgData name="" userId="04510b0218625f80" providerId="LiveId" clId="{8D647C0F-C0C7-4450-97C9-85FCD227EC7B}" dt="2025-12-15T14:32:16.265" v="106" actId="478"/>
          <ac:picMkLst>
            <pc:docMk/>
            <pc:sldMk cId="0" sldId="289"/>
            <ac:picMk id="2" creationId="{00000000-0000-0000-0000-000000000000}"/>
          </ac:picMkLst>
        </pc:picChg>
        <pc:picChg chg="del mod">
          <ac:chgData name="" userId="04510b0218625f80" providerId="LiveId" clId="{8D647C0F-C0C7-4450-97C9-85FCD227EC7B}" dt="2025-12-15T14:32:14.184" v="105" actId="478"/>
          <ac:picMkLst>
            <pc:docMk/>
            <pc:sldMk cId="0" sldId="289"/>
            <ac:picMk id="5" creationId="{00000000-0000-0000-0000-000000000000}"/>
          </ac:picMkLst>
        </pc:picChg>
      </pc:sldChg>
      <pc:sldChg chg="del">
        <pc:chgData name="" userId="04510b0218625f80" providerId="LiveId" clId="{8D647C0F-C0C7-4450-97C9-85FCD227EC7B}" dt="2025-12-15T14:32:20.569" v="107" actId="2696"/>
        <pc:sldMkLst>
          <pc:docMk/>
          <pc:sldMk cId="0" sldId="290"/>
        </pc:sldMkLst>
      </pc:sldChg>
      <pc:sldChg chg="modSp add modAnim">
        <pc:chgData name="" userId="04510b0218625f80" providerId="LiveId" clId="{8D647C0F-C0C7-4450-97C9-85FCD227EC7B}" dt="2025-12-15T14:26:14.061" v="54" actId="255"/>
        <pc:sldMkLst>
          <pc:docMk/>
          <pc:sldMk cId="2987145271" sldId="291"/>
        </pc:sldMkLst>
        <pc:spChg chg="mod">
          <ac:chgData name="" userId="04510b0218625f80" providerId="LiveId" clId="{8D647C0F-C0C7-4450-97C9-85FCD227EC7B}" dt="2025-12-15T14:24:36.612" v="49" actId="20577"/>
          <ac:spMkLst>
            <pc:docMk/>
            <pc:sldMk cId="2987145271" sldId="291"/>
            <ac:spMk id="3" creationId="{A1483873-9D99-1A48-AA62-2E340E100769}"/>
          </ac:spMkLst>
        </pc:spChg>
        <pc:spChg chg="mod">
          <ac:chgData name="" userId="04510b0218625f80" providerId="LiveId" clId="{8D647C0F-C0C7-4450-97C9-85FCD227EC7B}" dt="2025-12-15T14:26:14.061" v="54" actId="255"/>
          <ac:spMkLst>
            <pc:docMk/>
            <pc:sldMk cId="2987145271" sldId="291"/>
            <ac:spMk id="5" creationId="{00000000-0000-0000-0000-000000000000}"/>
          </ac:spMkLst>
        </pc:spChg>
      </pc:sldChg>
      <pc:sldChg chg="modSp add">
        <pc:chgData name="" userId="04510b0218625f80" providerId="LiveId" clId="{8D647C0F-C0C7-4450-97C9-85FCD227EC7B}" dt="2025-12-15T14:28:00.792" v="60" actId="255"/>
        <pc:sldMkLst>
          <pc:docMk/>
          <pc:sldMk cId="2556947572" sldId="322"/>
        </pc:sldMkLst>
        <pc:spChg chg="mod">
          <ac:chgData name="" userId="04510b0218625f80" providerId="LiveId" clId="{8D647C0F-C0C7-4450-97C9-85FCD227EC7B}" dt="2025-12-15T14:28:00.792" v="60" actId="255"/>
          <ac:spMkLst>
            <pc:docMk/>
            <pc:sldMk cId="2556947572" sldId="322"/>
            <ac:spMk id="3" creationId="{00000000-0000-0000-0000-000000000000}"/>
          </ac:spMkLst>
        </pc:spChg>
        <pc:spChg chg="mod">
          <ac:chgData name="" userId="04510b0218625f80" providerId="LiveId" clId="{8D647C0F-C0C7-4450-97C9-85FCD227EC7B}" dt="2025-12-15T14:26:22.040" v="55" actId="255"/>
          <ac:spMkLst>
            <pc:docMk/>
            <pc:sldMk cId="2556947572" sldId="322"/>
            <ac:spMk id="5" creationId="{00000000-0000-0000-0000-000000000000}"/>
          </ac:spMkLst>
        </pc:spChg>
      </pc:sldChg>
      <pc:sldChg chg="modSp add">
        <pc:chgData name="" userId="04510b0218625f80" providerId="LiveId" clId="{8D647C0F-C0C7-4450-97C9-85FCD227EC7B}" dt="2025-12-15T14:27:31.493" v="58" actId="15"/>
        <pc:sldMkLst>
          <pc:docMk/>
          <pc:sldMk cId="2368727804" sldId="367"/>
        </pc:sldMkLst>
        <pc:spChg chg="mod">
          <ac:chgData name="" userId="04510b0218625f80" providerId="LiveId" clId="{8D647C0F-C0C7-4450-97C9-85FCD227EC7B}" dt="2025-12-15T14:27:31.493" v="58" actId="15"/>
          <ac:spMkLst>
            <pc:docMk/>
            <pc:sldMk cId="2368727804" sldId="3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F6A-1305-4CEE-99CC-5E8B6E283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F048C-0C67-4A52-9858-F9C5C2E91C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2EB45-4EFD-4EB1-A630-870BE438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195BE-AD3F-4B19-978C-9054B96E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1C349-818F-48B2-B618-1F6F88A44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79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73D1-53D4-4E40-BFFF-21FB867EF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CA1F8-969C-46F7-BB16-AAEE72787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C8F50-22C2-48A5-AE35-8C102EF7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EC0A0-E960-46B9-8332-96F735D3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96975-57E2-4961-8165-E0719A43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6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A08A-E1CE-4F68-BADC-7620E4D4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B33A-E14E-4FC4-A2A2-5F32905A4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E02BE-ECE8-4941-92B0-ED4CB8D2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8EFE1-3CA4-4644-AF44-9FBD80C76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B610B-B6C2-4CD4-9B8C-2E96E904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0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EEEF-114D-4968-80B0-358B6230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5FBA-E735-407A-BEB1-590716FE7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62BE3-DD8F-401F-A5CA-332EAC112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9408C-9D0F-4D0D-A53E-99D39F6E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9028B-4B1F-4EE0-B3AF-02404F3A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9D79F-58E3-429A-8B3E-7EDB366B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97B1-94EF-4670-A30F-578C2EB67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4948F-07BF-40BF-9CE3-C688331E5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A4359-587E-4EF3-9198-123C243D0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AFFE2E-9313-4800-9ED2-36B21F35EA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3E81D-5049-4EF3-ACB1-E9BFFCDAE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F9BC49-64CC-41CE-A462-82C0DA1E0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97295-1C8A-40C0-9DE4-711628B8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E4A7F-EDBD-40C6-89BC-91669611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24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D8FC5-43A7-4D7D-A6ED-B5638374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92B03-F551-46EF-AF22-23241D25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DB1A7-6B49-47E5-8560-42E48145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A75D9-F7A7-4718-943F-E465D0BC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6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31BF94-524E-4C98-B0DB-2ABE07F4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7988D1-FAB7-4451-86E9-0B1D0B8B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2181A-9859-40B7-A49D-3A4CC519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9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07AB-71B8-47B5-A7BB-B465D6006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36DB-910C-4FEF-8598-E1A586FF6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88EE2C-5CE5-470B-BC6E-8361FE51B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BD326-BC7B-4B1B-823B-34A0DBB67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B988-939D-480F-8209-085CFC64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118F-9DEE-4BE2-B694-DD5D5309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0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44CD-8FEC-4969-8122-B053E314B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A250B1-9CB9-42BC-8C09-E93734155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BDAE0-C978-4390-9436-5A5BD61E2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B20CD-1834-4AAD-A672-7B138A89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04DD7-8483-4897-9149-6D3A3B6A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CA28C-10E8-47C5-ACDB-F5AF1EDA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6510-2EFA-4B46-84F8-57F8676B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B09F75-664F-4C77-824F-804676DC6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83DB9-EE7F-42EC-B14D-9CE66A602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9A183-82F2-4FD8-B02C-9225CD0E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0391B-0E27-47BD-B0FF-7435A5B2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9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622F5-4E50-4E85-975C-1665B67DB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18A93-1E2F-4F5C-A5B3-FD6C080908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D4EC5-C6F3-4C0A-A02A-CA2129C7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5EBA4-5D12-439C-9D93-97C9E2E7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DBC96-904E-4CF0-8383-7E54938D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04F381-15D3-42BA-ADFF-71B75531C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2210A-BEDD-415A-8CFB-CA1895CF8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AE7F5-CDDD-4135-A2BD-21E2B376A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3A33B-63B7-4094-8D8C-53A5337C56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B21A1-CC28-4745-9E35-1B04B4088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42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://archive.ics.uci.edu/ml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://scikit-learn.org/" TargetMode="External"/><Relationship Id="rId3" Type="http://schemas.openxmlformats.org/officeDocument/2006/relationships/hyperlink" Target="https://superdatascience.com/" TargetMode="External"/><Relationship Id="rId7" Type="http://schemas.openxmlformats.org/officeDocument/2006/relationships/hyperlink" Target="https://www.datacamp.com/" TargetMode="External"/><Relationship Id="rId2" Type="http://schemas.openxmlformats.org/officeDocument/2006/relationships/hyperlink" Target="https://mitu.co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" TargetMode="External"/><Relationship Id="rId5" Type="http://schemas.openxmlformats.org/officeDocument/2006/relationships/hyperlink" Target="https://jakevdp.github.io/" TargetMode="External"/><Relationship Id="rId4" Type="http://schemas.openxmlformats.org/officeDocument/2006/relationships/hyperlink" Target="https://stackabus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4478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imes New Roman"/>
                <a:cs typeface="Times New Roman"/>
              </a:rPr>
              <a:t>Support</a:t>
            </a:r>
            <a:r>
              <a:rPr spc="-140" dirty="0">
                <a:latin typeface="Times New Roman"/>
                <a:cs typeface="Times New Roman"/>
              </a:rPr>
              <a:t> </a:t>
            </a:r>
            <a:r>
              <a:rPr spc="-65" dirty="0">
                <a:latin typeface="Times New Roman"/>
                <a:cs typeface="Times New Roman"/>
              </a:rPr>
              <a:t>Vector</a:t>
            </a:r>
            <a:r>
              <a:rPr spc="-8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Machine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9547" y="5136082"/>
            <a:ext cx="1468325" cy="977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7FBD-E688-B941-8B82-31BE2440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Boundaries Revisited </a:t>
            </a:r>
            <a:endParaRPr lang="en-US" b="1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83873-9D99-1A48-AA62-2E340E100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57" y="1371600"/>
            <a:ext cx="7745256" cy="1952326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In logistic regression, we learn a </a:t>
            </a:r>
            <a:r>
              <a:rPr lang="en-US" sz="9600" b="1" i="1" dirty="0"/>
              <a:t>decision boundary </a:t>
            </a:r>
            <a:r>
              <a:rPr lang="en-US" sz="9600" dirty="0"/>
              <a:t>that separates the training classes in the feature space. </a:t>
            </a:r>
          </a:p>
          <a:p>
            <a:r>
              <a:rPr lang="en-US" sz="9600" dirty="0"/>
              <a:t>When the data can be perfectly separated by a linear boundary, we call the data </a:t>
            </a:r>
            <a:r>
              <a:rPr lang="en-US" sz="9600" b="1" i="1" dirty="0"/>
              <a:t>linearly separable</a:t>
            </a:r>
            <a:r>
              <a:rPr lang="en-US" sz="9600" dirty="0"/>
              <a:t>. </a:t>
            </a:r>
          </a:p>
          <a:p>
            <a:r>
              <a:rPr lang="en-US" sz="9600" dirty="0"/>
              <a:t>In this case, multiple decision boundaries can fit the data. How do we choose the best? </a:t>
            </a:r>
          </a:p>
          <a:p>
            <a:endParaRPr lang="en-US" sz="9600" dirty="0"/>
          </a:p>
          <a:p>
            <a:endParaRPr lang="en-US" sz="9600" dirty="0"/>
          </a:p>
          <a:p>
            <a:endParaRPr lang="en-US" sz="9600" dirty="0"/>
          </a:p>
          <a:p>
            <a:endParaRPr lang="en-US" sz="9600" dirty="0"/>
          </a:p>
          <a:p>
            <a:endParaRPr lang="en-US" sz="9600" b="1" dirty="0"/>
          </a:p>
          <a:p>
            <a:endParaRPr lang="en-US" sz="9600" b="1" dirty="0"/>
          </a:p>
          <a:p>
            <a:r>
              <a:rPr lang="en-US" sz="9600" b="1" dirty="0"/>
              <a:t>Question: </a:t>
            </a:r>
            <a:r>
              <a:rPr lang="en-US" sz="9600" dirty="0"/>
              <a:t>What happens to our logistic regression model when training on linearly separable datasets? </a:t>
            </a:r>
          </a:p>
          <a:p>
            <a:endParaRPr lang="en-US" sz="1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z="1400" smtClean="0"/>
              <a:t>2</a:t>
            </a:fld>
            <a:endParaRPr lang="en-US" sz="1400"/>
          </a:p>
        </p:txBody>
      </p:sp>
      <p:pic>
        <p:nvPicPr>
          <p:cNvPr id="1025" name="Picture 1" descr="page4image3861568">
            <a:extLst>
              <a:ext uri="{FF2B5EF4-FFF2-40B4-BE49-F238E27FC236}">
                <a16:creationId xmlns:a16="http://schemas.microsoft.com/office/drawing/2014/main" id="{110A3442-974A-984C-AA70-7CDA19B34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1760" y="3288660"/>
            <a:ext cx="1667433" cy="161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4image3819232">
            <a:extLst>
              <a:ext uri="{FF2B5EF4-FFF2-40B4-BE49-F238E27FC236}">
                <a16:creationId xmlns:a16="http://schemas.microsoft.com/office/drawing/2014/main" id="{6AD721A5-77E7-BE4F-8618-F891719B7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7533" y="3323926"/>
            <a:ext cx="1662032" cy="1587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4image3818560">
            <a:extLst>
              <a:ext uri="{FF2B5EF4-FFF2-40B4-BE49-F238E27FC236}">
                <a16:creationId xmlns:a16="http://schemas.microsoft.com/office/drawing/2014/main" id="{78DE62BC-A6B5-6B4B-88D6-01C03FBF1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7904" y="3352138"/>
            <a:ext cx="1669178" cy="155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14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Boundaries Revisited (cont.)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5061" y="1740569"/>
                <a:ext cx="7745256" cy="3288631"/>
              </a:xfrm>
            </p:spPr>
            <p:txBody>
              <a:bodyPr>
                <a:normAutofit/>
              </a:bodyPr>
              <a:lstStyle/>
              <a:p>
                <a:r>
                  <a:rPr lang="en-US" sz="2400" b="1" dirty="0">
                    <a:latin typeface="+mj-lt"/>
                  </a:rPr>
                  <a:t>Constraints on the decision boundary:</a:t>
                </a:r>
              </a:p>
              <a:p>
                <a:pPr marL="685800" lvl="1" indent="-342900"/>
                <a:r>
                  <a:rPr lang="en-US" sz="2400" dirty="0">
                    <a:latin typeface="+mj-lt"/>
                  </a:rPr>
                  <a:t>In logistic regression, we typically learn 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>
                    <a:latin typeface="+mj-lt"/>
                  </a:rPr>
                  <a:t>1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en-US" sz="2400" dirty="0">
                    <a:latin typeface="+mj-lt"/>
                  </a:rPr>
                  <a:t>2 regularized model. </a:t>
                </a:r>
              </a:p>
              <a:p>
                <a:pPr marL="685800" lvl="1" indent="-342900"/>
                <a:r>
                  <a:rPr lang="en-US" sz="2400" dirty="0">
                    <a:latin typeface="+mj-lt"/>
                  </a:rPr>
                  <a:t>So, when the data is linearly separable, we choose a model with the ‘smallest coefficients’ that still separate the classes. </a:t>
                </a:r>
              </a:p>
              <a:p>
                <a:pPr marL="685800" lvl="1" indent="-342900"/>
                <a:r>
                  <a:rPr lang="en-US" sz="2400" dirty="0">
                    <a:latin typeface="+mj-lt"/>
                  </a:rPr>
                  <a:t>The purpose of regularization is to prevent overfitting. </a:t>
                </a:r>
                <a:endParaRPr lang="en-US" sz="2400" dirty="0">
                  <a:effectLst/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061" y="1740569"/>
                <a:ext cx="7745256" cy="3288631"/>
              </a:xfrm>
              <a:blipFill>
                <a:blip r:embed="rId2"/>
                <a:stretch>
                  <a:fillRect l="-1102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z="1400" smtClean="0"/>
              <a:t>3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5694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Decision Boundaries Revisited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061" y="1740569"/>
            <a:ext cx="7745256" cy="3423840"/>
          </a:xfrm>
        </p:spPr>
        <p:txBody>
          <a:bodyPr/>
          <a:lstStyle/>
          <a:p>
            <a:r>
              <a:rPr lang="en-US" sz="2400" dirty="0"/>
              <a:t>Constraints on the decision boundary: </a:t>
            </a:r>
          </a:p>
          <a:p>
            <a:pPr marL="685800" lvl="1" indent="-342900"/>
            <a:r>
              <a:rPr lang="en-US" sz="2100" dirty="0"/>
              <a:t>We can consider alternative constraints that prevent overfitting. </a:t>
            </a:r>
          </a:p>
          <a:p>
            <a:pPr marL="685800" lvl="1" indent="-342900"/>
            <a:r>
              <a:rPr lang="en-US" sz="2100" dirty="0"/>
              <a:t>For example, we may prefer a decision boundary that does not ‘favor’ any class (esp. when the classes are roughly equally populous). </a:t>
            </a:r>
          </a:p>
          <a:p>
            <a:pPr marL="685800" lvl="1" indent="-342900"/>
            <a:r>
              <a:rPr lang="en-US" sz="2100" dirty="0"/>
              <a:t>Geometrically, this means choosing a boundary that maximizes the distance or </a:t>
            </a:r>
            <a:r>
              <a:rPr lang="en-US" sz="2100" b="1" i="1" dirty="0"/>
              <a:t>margin </a:t>
            </a:r>
            <a:r>
              <a:rPr lang="en-US" sz="2100" dirty="0"/>
              <a:t>between the boundary and both classes</a:t>
            </a:r>
            <a:r>
              <a:rPr lang="en-US" dirty="0"/>
              <a:t>. </a:t>
            </a:r>
            <a:endParaRPr lang="en-US" sz="1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45CB2-BF6F-6E49-AC61-7BDDE2E02F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2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Decision</a:t>
            </a:r>
            <a:r>
              <a:rPr spc="-170" dirty="0"/>
              <a:t> </a:t>
            </a:r>
            <a:r>
              <a:rPr spc="40" dirty="0"/>
              <a:t>Vectors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672564"/>
            <a:ext cx="8356320" cy="43030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5" dirty="0"/>
              <a:t>Definitions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00022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1424536"/>
            <a:ext cx="7444740" cy="411797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600" spc="45" dirty="0">
                <a:latin typeface="Microsoft Sans Serif"/>
                <a:cs typeface="Microsoft Sans Serif"/>
              </a:rPr>
              <a:t>Support</a:t>
            </a:r>
            <a:r>
              <a:rPr sz="2600" spc="-7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Vectors</a:t>
            </a:r>
            <a:endParaRPr sz="2600">
              <a:latin typeface="Microsoft Sans Serif"/>
              <a:cs typeface="Microsoft Sans Serif"/>
            </a:endParaRPr>
          </a:p>
          <a:p>
            <a:pPr marL="410209" marR="95885" indent="-284480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400" dirty="0">
                <a:latin typeface="Microsoft Sans Serif"/>
                <a:cs typeface="Microsoft Sans Serif"/>
              </a:rPr>
              <a:t>Support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vectors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data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points,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which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are 	</a:t>
            </a:r>
            <a:r>
              <a:rPr sz="2400" dirty="0">
                <a:latin typeface="Microsoft Sans Serif"/>
                <a:cs typeface="Microsoft Sans Serif"/>
              </a:rPr>
              <a:t>closest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hyperplane.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These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points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will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define 	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separating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50" dirty="0">
                <a:latin typeface="Microsoft Sans Serif"/>
                <a:cs typeface="Microsoft Sans Serif"/>
              </a:rPr>
              <a:t>line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125" dirty="0">
                <a:latin typeface="Microsoft Sans Serif"/>
                <a:cs typeface="Microsoft Sans Serif"/>
              </a:rPr>
              <a:t>better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by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calculating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margins.</a:t>
            </a:r>
            <a:endParaRPr sz="2400">
              <a:latin typeface="Microsoft Sans Serif"/>
              <a:cs typeface="Microsoft Sans Serif"/>
            </a:endParaRPr>
          </a:p>
          <a:p>
            <a:pPr marL="412115" marR="5080">
              <a:lnSpc>
                <a:spcPct val="100000"/>
              </a:lnSpc>
            </a:pPr>
            <a:r>
              <a:rPr sz="2400" spc="-50" dirty="0">
                <a:latin typeface="Microsoft Sans Serif"/>
                <a:cs typeface="Microsoft Sans Serif"/>
              </a:rPr>
              <a:t>These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points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are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more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relevant</a:t>
            </a:r>
            <a:r>
              <a:rPr sz="2400" spc="-8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construction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classifier.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-10" dirty="0">
                <a:latin typeface="Microsoft Sans Serif"/>
                <a:cs typeface="Microsoft Sans Serif"/>
              </a:rPr>
              <a:t>Hyperplane</a:t>
            </a:r>
            <a:endParaRPr sz="2600">
              <a:latin typeface="Microsoft Sans Serif"/>
              <a:cs typeface="Microsoft Sans Serif"/>
            </a:endParaRPr>
          </a:p>
          <a:p>
            <a:pPr marL="410209" marR="342900" indent="-284480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412115" algn="l"/>
              </a:tabLst>
            </a:pP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hyperplane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decision</a:t>
            </a:r>
            <a:r>
              <a:rPr sz="2400" spc="-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plane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which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separates 	</a:t>
            </a:r>
            <a:r>
              <a:rPr sz="2400" spc="70" dirty="0">
                <a:latin typeface="Microsoft Sans Serif"/>
                <a:cs typeface="Microsoft Sans Serif"/>
              </a:rPr>
              <a:t>between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set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60" dirty="0">
                <a:latin typeface="Microsoft Sans Serif"/>
                <a:cs typeface="Microsoft Sans Serif"/>
              </a:rPr>
              <a:t>of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objects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having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different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class 	memberships.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915613"/>
            <a:ext cx="140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85" dirty="0"/>
              <a:t>Definitions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22089"/>
            <a:ext cx="7767320" cy="398716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Margin</a:t>
            </a:r>
            <a:endParaRPr sz="2800" dirty="0">
              <a:latin typeface="Microsoft Sans Serif"/>
              <a:cs typeface="Microsoft Sans Serif"/>
            </a:endParaRPr>
          </a:p>
          <a:p>
            <a:pPr marL="755650" marR="9525" lvl="1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600" dirty="0">
                <a:latin typeface="Microsoft Sans Serif"/>
                <a:cs typeface="Microsoft Sans Serif"/>
              </a:rPr>
              <a:t>A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margin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-60" dirty="0">
                <a:latin typeface="Microsoft Sans Serif"/>
                <a:cs typeface="Microsoft Sans Serif"/>
              </a:rPr>
              <a:t> </a:t>
            </a:r>
            <a:r>
              <a:rPr sz="2600" spc="-110" dirty="0">
                <a:latin typeface="Microsoft Sans Serif"/>
                <a:cs typeface="Microsoft Sans Serif"/>
              </a:rPr>
              <a:t>a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gap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between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65" dirty="0">
                <a:latin typeface="Microsoft Sans Serif"/>
                <a:cs typeface="Microsoft Sans Serif"/>
              </a:rPr>
              <a:t> </a:t>
            </a:r>
            <a:r>
              <a:rPr sz="2600" spc="175" dirty="0">
                <a:latin typeface="Microsoft Sans Serif"/>
                <a:cs typeface="Microsoft Sans Serif"/>
              </a:rPr>
              <a:t>two</a:t>
            </a:r>
            <a:r>
              <a:rPr sz="2600" spc="-7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lines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on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85" dirty="0">
                <a:latin typeface="Microsoft Sans Serif"/>
                <a:cs typeface="Microsoft Sans Serif"/>
              </a:rPr>
              <a:t>the </a:t>
            </a:r>
            <a:r>
              <a:rPr sz="2600" dirty="0">
                <a:latin typeface="Microsoft Sans Serif"/>
                <a:cs typeface="Microsoft Sans Serif"/>
              </a:rPr>
              <a:t>closest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75" dirty="0">
                <a:latin typeface="Microsoft Sans Serif"/>
                <a:cs typeface="Microsoft Sans Serif"/>
              </a:rPr>
              <a:t>class</a:t>
            </a:r>
            <a:r>
              <a:rPr sz="2600" spc="-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points.</a:t>
            </a:r>
            <a:endParaRPr sz="2600" dirty="0">
              <a:latin typeface="Microsoft Sans Serif"/>
              <a:cs typeface="Microsoft Sans Serif"/>
            </a:endParaRPr>
          </a:p>
          <a:p>
            <a:pPr marL="755650" marR="5080" lvl="1" indent="-286385">
              <a:lnSpc>
                <a:spcPct val="1000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600" spc="-35" dirty="0">
                <a:latin typeface="Microsoft Sans Serif"/>
                <a:cs typeface="Microsoft Sans Serif"/>
              </a:rPr>
              <a:t>This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is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calculated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spc="-135" dirty="0">
                <a:latin typeface="Microsoft Sans Serif"/>
                <a:cs typeface="Microsoft Sans Serif"/>
              </a:rPr>
              <a:t>as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perpendicular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distance </a:t>
            </a:r>
            <a:r>
              <a:rPr sz="2600" spc="135" dirty="0">
                <a:latin typeface="Microsoft Sans Serif"/>
                <a:cs typeface="Microsoft Sans Serif"/>
              </a:rPr>
              <a:t>from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line</a:t>
            </a:r>
            <a:r>
              <a:rPr sz="2600" spc="-50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to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spc="80" dirty="0">
                <a:latin typeface="Microsoft Sans Serif"/>
                <a:cs typeface="Microsoft Sans Serif"/>
              </a:rPr>
              <a:t>support</a:t>
            </a:r>
            <a:r>
              <a:rPr sz="2600" spc="-5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vectors</a:t>
            </a:r>
            <a:r>
              <a:rPr sz="2600" spc="-40" dirty="0">
                <a:latin typeface="Microsoft Sans Serif"/>
                <a:cs typeface="Microsoft Sans Serif"/>
              </a:rPr>
              <a:t> </a:t>
            </a:r>
            <a:r>
              <a:rPr sz="2600" spc="100" dirty="0">
                <a:latin typeface="Microsoft Sans Serif"/>
                <a:cs typeface="Microsoft Sans Serif"/>
              </a:rPr>
              <a:t>or</a:t>
            </a:r>
            <a:r>
              <a:rPr sz="2600" spc="-4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closest </a:t>
            </a:r>
            <a:r>
              <a:rPr sz="2600" spc="35" dirty="0">
                <a:latin typeface="Microsoft Sans Serif"/>
                <a:cs typeface="Microsoft Sans Serif"/>
              </a:rPr>
              <a:t>points.</a:t>
            </a:r>
            <a:endParaRPr sz="2600" dirty="0">
              <a:latin typeface="Microsoft Sans Serif"/>
              <a:cs typeface="Microsoft Sans Serif"/>
            </a:endParaRPr>
          </a:p>
          <a:p>
            <a:pPr marL="755650" marR="252095" lvl="1" indent="-286385" algn="just">
              <a:lnSpc>
                <a:spcPct val="100000"/>
              </a:lnSpc>
              <a:spcBef>
                <a:spcPts val="710"/>
              </a:spcBef>
              <a:buClr>
                <a:srgbClr val="6697CC"/>
              </a:buClr>
              <a:buFont typeface="Arial MT"/>
              <a:buChar char="–"/>
              <a:tabLst>
                <a:tab pos="755650" algn="l"/>
              </a:tabLst>
            </a:pPr>
            <a:r>
              <a:rPr sz="2600" spc="120" dirty="0">
                <a:latin typeface="Microsoft Sans Serif"/>
                <a:cs typeface="Microsoft Sans Serif"/>
              </a:rPr>
              <a:t>If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10" dirty="0">
                <a:latin typeface="Microsoft Sans Serif"/>
                <a:cs typeface="Microsoft Sans Serif"/>
              </a:rPr>
              <a:t>the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margin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larger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</a:rPr>
              <a:t>in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75" dirty="0">
                <a:latin typeface="Microsoft Sans Serif"/>
                <a:cs typeface="Microsoft Sans Serif"/>
              </a:rPr>
              <a:t>between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14" dirty="0">
                <a:latin typeface="Microsoft Sans Serif"/>
                <a:cs typeface="Microsoft Sans Serif"/>
              </a:rPr>
              <a:t>the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75" dirty="0">
                <a:latin typeface="Microsoft Sans Serif"/>
                <a:cs typeface="Microsoft Sans Serif"/>
              </a:rPr>
              <a:t>classes,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90" dirty="0">
                <a:latin typeface="Microsoft Sans Serif"/>
                <a:cs typeface="Microsoft Sans Serif"/>
              </a:rPr>
              <a:t>then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190" dirty="0">
                <a:latin typeface="Microsoft Sans Serif"/>
                <a:cs typeface="Microsoft Sans Serif"/>
              </a:rPr>
              <a:t>it</a:t>
            </a:r>
            <a:r>
              <a:rPr sz="2600" spc="-90" dirty="0">
                <a:latin typeface="Microsoft Sans Serif"/>
                <a:cs typeface="Microsoft Sans Serif"/>
              </a:rPr>
              <a:t> </a:t>
            </a:r>
            <a:r>
              <a:rPr sz="2600" spc="-40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considered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-105" dirty="0">
                <a:latin typeface="Microsoft Sans Serif"/>
                <a:cs typeface="Microsoft Sans Serif"/>
              </a:rPr>
              <a:t>a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60" dirty="0">
                <a:latin typeface="Microsoft Sans Serif"/>
                <a:cs typeface="Microsoft Sans Serif"/>
              </a:rPr>
              <a:t>good</a:t>
            </a:r>
            <a:r>
              <a:rPr sz="2600" spc="-8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margin,</a:t>
            </a:r>
            <a:r>
              <a:rPr sz="2600" spc="-105" dirty="0">
                <a:latin typeface="Microsoft Sans Serif"/>
                <a:cs typeface="Microsoft Sans Serif"/>
              </a:rPr>
              <a:t> 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5" dirty="0">
                <a:latin typeface="Microsoft Sans Serif"/>
                <a:cs typeface="Microsoft Sans Serif"/>
              </a:rPr>
              <a:t>smaller</a:t>
            </a:r>
            <a:r>
              <a:rPr sz="2600" spc="110" dirty="0">
                <a:latin typeface="Microsoft Sans Serif"/>
                <a:cs typeface="Microsoft Sans Serif"/>
              </a:rPr>
              <a:t> </a:t>
            </a:r>
            <a:r>
              <a:rPr sz="2600" spc="35" dirty="0">
                <a:latin typeface="Microsoft Sans Serif"/>
                <a:cs typeface="Microsoft Sans Serif"/>
              </a:rPr>
              <a:t>margin</a:t>
            </a:r>
            <a:r>
              <a:rPr sz="2600" spc="-100" dirty="0">
                <a:latin typeface="Microsoft Sans Serif"/>
                <a:cs typeface="Microsoft Sans Serif"/>
              </a:rPr>
              <a:t> </a:t>
            </a:r>
            <a:r>
              <a:rPr sz="2600" spc="-35" dirty="0">
                <a:latin typeface="Microsoft Sans Serif"/>
                <a:cs typeface="Microsoft Sans Serif"/>
              </a:rPr>
              <a:t>is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-105" dirty="0">
                <a:latin typeface="Microsoft Sans Serif"/>
                <a:cs typeface="Microsoft Sans Serif"/>
              </a:rPr>
              <a:t>a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10" dirty="0">
                <a:latin typeface="Microsoft Sans Serif"/>
                <a:cs typeface="Microsoft Sans Serif"/>
              </a:rPr>
              <a:t>bad</a:t>
            </a:r>
            <a:r>
              <a:rPr sz="2600" spc="-95" dirty="0">
                <a:latin typeface="Microsoft Sans Serif"/>
                <a:cs typeface="Microsoft Sans Serif"/>
              </a:rPr>
              <a:t> </a:t>
            </a:r>
            <a:r>
              <a:rPr sz="2600" spc="20" dirty="0">
                <a:latin typeface="Microsoft Sans Serif"/>
                <a:cs typeface="Microsoft Sans Serif"/>
              </a:rPr>
              <a:t>margin.</a:t>
            </a:r>
            <a:endParaRPr sz="2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Why</a:t>
            </a:r>
            <a:r>
              <a:rPr b="1" spc="-240" dirty="0"/>
              <a:t> </a:t>
            </a:r>
            <a:r>
              <a:rPr b="1" spc="-130" dirty="0"/>
              <a:t>SVM</a:t>
            </a:r>
            <a:r>
              <a:rPr b="1" spc="-135" dirty="0"/>
              <a:t> </a:t>
            </a:r>
            <a:r>
              <a:rPr b="1" spc="-20" dirty="0"/>
              <a:t>is</a:t>
            </a:r>
            <a:r>
              <a:rPr b="1" spc="-185" dirty="0"/>
              <a:t> </a:t>
            </a:r>
            <a:r>
              <a:rPr b="1" dirty="0"/>
              <a:t>so</a:t>
            </a:r>
            <a:r>
              <a:rPr b="1" spc="-185" dirty="0"/>
              <a:t> </a:t>
            </a:r>
            <a:r>
              <a:rPr b="1" spc="-10" dirty="0"/>
              <a:t>special</a:t>
            </a:r>
            <a:r>
              <a:rPr b="1" spc="-190" dirty="0"/>
              <a:t> </a:t>
            </a:r>
            <a:r>
              <a:rPr b="1" spc="-610" dirty="0"/>
              <a:t>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995" y="1817281"/>
            <a:ext cx="6912000" cy="36543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12144" y="6008293"/>
            <a:ext cx="4117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Example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Reference: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Super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Science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75" dirty="0"/>
              <a:t>How</a:t>
            </a:r>
            <a:r>
              <a:rPr b="1" spc="-140" dirty="0"/>
              <a:t> SVM</a:t>
            </a:r>
            <a:r>
              <a:rPr b="1" spc="-125" dirty="0"/>
              <a:t> </a:t>
            </a:r>
            <a:r>
              <a:rPr b="1" spc="65" dirty="0"/>
              <a:t>works</a:t>
            </a:r>
            <a:r>
              <a:rPr b="1" spc="-120" dirty="0"/>
              <a:t> </a:t>
            </a:r>
            <a:r>
              <a:rPr b="1" spc="229" dirty="0"/>
              <a:t>for</a:t>
            </a:r>
            <a:r>
              <a:rPr b="1" spc="-130" dirty="0"/>
              <a:t> </a:t>
            </a:r>
            <a:r>
              <a:rPr b="1" spc="-10" dirty="0"/>
              <a:t>this?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1997" y="1871637"/>
            <a:ext cx="7742516" cy="37425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75" dirty="0"/>
              <a:t>How</a:t>
            </a:r>
            <a:r>
              <a:rPr b="1" spc="-10" dirty="0"/>
              <a:t> </a:t>
            </a:r>
            <a:r>
              <a:rPr b="1" dirty="0"/>
              <a:t>classification</a:t>
            </a:r>
            <a:r>
              <a:rPr b="1" spc="-5" dirty="0"/>
              <a:t> </a:t>
            </a:r>
            <a:r>
              <a:rPr b="1" spc="140" dirty="0"/>
              <a:t>will</a:t>
            </a:r>
            <a:r>
              <a:rPr b="1" dirty="0"/>
              <a:t> </a:t>
            </a:r>
            <a:r>
              <a:rPr b="1" spc="125" dirty="0"/>
              <a:t>work</a:t>
            </a:r>
            <a:r>
              <a:rPr b="1" spc="10" dirty="0"/>
              <a:t> </a:t>
            </a:r>
            <a:r>
              <a:rPr b="1" spc="-610" dirty="0"/>
              <a:t>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692351"/>
            <a:ext cx="8364601" cy="41392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75" dirty="0"/>
              <a:t>How</a:t>
            </a:r>
            <a:r>
              <a:rPr b="1" spc="-125" dirty="0"/>
              <a:t> </a:t>
            </a:r>
            <a:r>
              <a:rPr b="1" spc="-140" dirty="0"/>
              <a:t>SVM</a:t>
            </a:r>
            <a:r>
              <a:rPr b="1" spc="-130" dirty="0"/>
              <a:t> </a:t>
            </a:r>
            <a:r>
              <a:rPr b="1" spc="65" dirty="0"/>
              <a:t>works</a:t>
            </a:r>
            <a:r>
              <a:rPr b="1" spc="-110" dirty="0"/>
              <a:t> </a:t>
            </a:r>
            <a:r>
              <a:rPr b="1" spc="-610" dirty="0"/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17662"/>
            <a:ext cx="8101330" cy="451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240" marR="300355" indent="-257175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main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objective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segregate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given</a:t>
            </a:r>
            <a:r>
              <a:rPr sz="2400" spc="-4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dataset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in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best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possible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way.</a:t>
            </a:r>
            <a:endParaRPr sz="2400">
              <a:latin typeface="Microsoft Sans Serif"/>
              <a:cs typeface="Microsoft Sans Serif"/>
            </a:endParaRPr>
          </a:p>
          <a:p>
            <a:pPr marL="269240" marR="5080" indent="-257175">
              <a:lnSpc>
                <a:spcPct val="100000"/>
              </a:lnSpc>
              <a:spcBef>
                <a:spcPts val="595"/>
              </a:spcBef>
              <a:buClr>
                <a:srgbClr val="6697CC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distance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between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either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nearest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points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spc="-20" dirty="0">
                <a:latin typeface="Microsoft Sans Serif"/>
                <a:cs typeface="Microsoft Sans Serif"/>
              </a:rPr>
              <a:t>is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35" dirty="0">
                <a:latin typeface="Microsoft Sans Serif"/>
                <a:cs typeface="Microsoft Sans Serif"/>
              </a:rPr>
              <a:t>known </a:t>
            </a:r>
            <a:r>
              <a:rPr sz="2400" spc="-125" dirty="0">
                <a:latin typeface="Microsoft Sans Serif"/>
                <a:cs typeface="Microsoft Sans Serif"/>
              </a:rPr>
              <a:t>as</a:t>
            </a:r>
            <a:r>
              <a:rPr sz="2400" spc="-80" dirty="0">
                <a:latin typeface="Microsoft Sans Serif"/>
                <a:cs typeface="Microsoft Sans Serif"/>
              </a:rPr>
              <a:t>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margin.</a:t>
            </a:r>
            <a:endParaRPr sz="2400">
              <a:latin typeface="Microsoft Sans Serif"/>
              <a:cs typeface="Microsoft Sans Serif"/>
            </a:endParaRPr>
          </a:p>
          <a:p>
            <a:pPr marL="269240" marR="355600" indent="-257175">
              <a:lnSpc>
                <a:spcPct val="1000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•"/>
              <a:tabLst>
                <a:tab pos="269240" algn="l"/>
              </a:tabLst>
            </a:pPr>
            <a:r>
              <a:rPr sz="2400" spc="-20" dirty="0">
                <a:latin typeface="Microsoft Sans Serif"/>
                <a:cs typeface="Microsoft Sans Serif"/>
              </a:rPr>
              <a:t>The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objective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80" dirty="0">
                <a:latin typeface="Microsoft Sans Serif"/>
                <a:cs typeface="Microsoft Sans Serif"/>
              </a:rPr>
              <a:t>to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select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a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hyperplane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with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the </a:t>
            </a:r>
            <a:r>
              <a:rPr sz="2400" dirty="0">
                <a:latin typeface="Microsoft Sans Serif"/>
                <a:cs typeface="Microsoft Sans Serif"/>
              </a:rPr>
              <a:t>maximum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possible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margin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between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support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vectors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in </a:t>
            </a:r>
            <a:r>
              <a:rPr sz="2400" spc="105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given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dataset.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5" dirty="0">
                <a:latin typeface="Microsoft Sans Serif"/>
                <a:cs typeface="Microsoft Sans Serif"/>
              </a:rPr>
              <a:t>SVM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searches</a:t>
            </a:r>
            <a:r>
              <a:rPr sz="2400" spc="-35" dirty="0">
                <a:latin typeface="Microsoft Sans Serif"/>
                <a:cs typeface="Microsoft Sans Serif"/>
              </a:rPr>
              <a:t> </a:t>
            </a:r>
            <a:r>
              <a:rPr sz="2400" spc="145" dirty="0">
                <a:latin typeface="Microsoft Sans Serif"/>
                <a:cs typeface="Microsoft Sans Serif"/>
              </a:rPr>
              <a:t>for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maximum </a:t>
            </a:r>
            <a:r>
              <a:rPr sz="2400" dirty="0">
                <a:latin typeface="Microsoft Sans Serif"/>
                <a:cs typeface="Microsoft Sans Serif"/>
              </a:rPr>
              <a:t>marginal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hyperplane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the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following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steps:</a:t>
            </a:r>
            <a:endParaRPr sz="2400">
              <a:latin typeface="Microsoft Sans Serif"/>
              <a:cs typeface="Microsoft Sans Serif"/>
            </a:endParaRPr>
          </a:p>
          <a:p>
            <a:pPr marL="570230" marR="563880" lvl="1" indent="-214629">
              <a:lnSpc>
                <a:spcPts val="2510"/>
              </a:lnSpc>
              <a:spcBef>
                <a:spcPts val="610"/>
              </a:spcBef>
              <a:buClr>
                <a:srgbClr val="6697CC"/>
              </a:buClr>
              <a:buFont typeface="Arial MT"/>
              <a:buChar char="–"/>
              <a:tabLst>
                <a:tab pos="570230" algn="l"/>
              </a:tabLst>
            </a:pPr>
            <a:r>
              <a:rPr sz="2100" dirty="0">
                <a:latin typeface="Microsoft Sans Serif"/>
                <a:cs typeface="Microsoft Sans Serif"/>
              </a:rPr>
              <a:t>Generate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hyperplanes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which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segregates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95" dirty="0">
                <a:latin typeface="Microsoft Sans Serif"/>
                <a:cs typeface="Microsoft Sans Serif"/>
              </a:rPr>
              <a:t>the</a:t>
            </a:r>
            <a:r>
              <a:rPr sz="2100" spc="10" dirty="0">
                <a:latin typeface="Microsoft Sans Serif"/>
                <a:cs typeface="Microsoft Sans Serif"/>
              </a:rPr>
              <a:t> </a:t>
            </a:r>
            <a:r>
              <a:rPr sz="2100" spc="-60" dirty="0">
                <a:latin typeface="Microsoft Sans Serif"/>
                <a:cs typeface="Microsoft Sans Serif"/>
              </a:rPr>
              <a:t>classes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in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70" dirty="0">
                <a:latin typeface="Microsoft Sans Serif"/>
                <a:cs typeface="Microsoft Sans Serif"/>
              </a:rPr>
              <a:t>the </a:t>
            </a:r>
            <a:r>
              <a:rPr sz="2100" dirty="0">
                <a:latin typeface="Microsoft Sans Serif"/>
                <a:cs typeface="Microsoft Sans Serif"/>
              </a:rPr>
              <a:t>best</a:t>
            </a:r>
            <a:r>
              <a:rPr sz="2100" spc="100" dirty="0">
                <a:latin typeface="Microsoft Sans Serif"/>
                <a:cs typeface="Microsoft Sans Serif"/>
              </a:rPr>
              <a:t> </a:t>
            </a:r>
            <a:r>
              <a:rPr sz="2100" spc="-20" dirty="0">
                <a:latin typeface="Microsoft Sans Serif"/>
                <a:cs typeface="Microsoft Sans Serif"/>
              </a:rPr>
              <a:t>way.</a:t>
            </a:r>
            <a:endParaRPr sz="2100">
              <a:latin typeface="Microsoft Sans Serif"/>
              <a:cs typeface="Microsoft Sans Serif"/>
            </a:endParaRPr>
          </a:p>
          <a:p>
            <a:pPr marL="570230" marR="421005" lvl="1" indent="-214629">
              <a:lnSpc>
                <a:spcPts val="2510"/>
              </a:lnSpc>
              <a:spcBef>
                <a:spcPts val="520"/>
              </a:spcBef>
              <a:buClr>
                <a:srgbClr val="6697CC"/>
              </a:buClr>
              <a:buFont typeface="Arial MT"/>
              <a:buChar char="–"/>
              <a:tabLst>
                <a:tab pos="570230" algn="l"/>
              </a:tabLst>
            </a:pPr>
            <a:r>
              <a:rPr sz="2100" dirty="0">
                <a:latin typeface="Microsoft Sans Serif"/>
                <a:cs typeface="Microsoft Sans Serif"/>
              </a:rPr>
              <a:t>Select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95" dirty="0">
                <a:latin typeface="Microsoft Sans Serif"/>
                <a:cs typeface="Microsoft Sans Serif"/>
              </a:rPr>
              <a:t>the</a:t>
            </a:r>
            <a:r>
              <a:rPr sz="2100" spc="-10" dirty="0">
                <a:latin typeface="Microsoft Sans Serif"/>
                <a:cs typeface="Microsoft Sans Serif"/>
              </a:rPr>
              <a:t> </a:t>
            </a:r>
            <a:r>
              <a:rPr sz="2100" spc="95" dirty="0">
                <a:latin typeface="Microsoft Sans Serif"/>
                <a:cs typeface="Microsoft Sans Serif"/>
              </a:rPr>
              <a:t>right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hyperplane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spc="105" dirty="0">
                <a:latin typeface="Microsoft Sans Serif"/>
                <a:cs typeface="Microsoft Sans Serif"/>
              </a:rPr>
              <a:t>with</a:t>
            </a:r>
            <a:r>
              <a:rPr sz="2100" spc="-25" dirty="0">
                <a:latin typeface="Microsoft Sans Serif"/>
                <a:cs typeface="Microsoft Sans Serif"/>
              </a:rPr>
              <a:t> </a:t>
            </a:r>
            <a:r>
              <a:rPr sz="2100" spc="95" dirty="0">
                <a:latin typeface="Microsoft Sans Serif"/>
                <a:cs typeface="Microsoft Sans Serif"/>
              </a:rPr>
              <a:t>the</a:t>
            </a:r>
            <a:r>
              <a:rPr sz="2100" spc="-20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maximum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segregation </a:t>
            </a:r>
            <a:r>
              <a:rPr sz="2100" spc="105" dirty="0">
                <a:latin typeface="Microsoft Sans Serif"/>
                <a:cs typeface="Microsoft Sans Serif"/>
              </a:rPr>
              <a:t>from</a:t>
            </a:r>
            <a:r>
              <a:rPr sz="2100" dirty="0">
                <a:latin typeface="Microsoft Sans Serif"/>
                <a:cs typeface="Microsoft Sans Serif"/>
              </a:rPr>
              <a:t> </a:t>
            </a:r>
            <a:r>
              <a:rPr sz="2100" spc="95" dirty="0">
                <a:latin typeface="Microsoft Sans Serif"/>
                <a:cs typeface="Microsoft Sans Serif"/>
              </a:rPr>
              <a:t>the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70" dirty="0">
                <a:latin typeface="Microsoft Sans Serif"/>
                <a:cs typeface="Microsoft Sans Serif"/>
              </a:rPr>
              <a:t>either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dirty="0">
                <a:latin typeface="Microsoft Sans Serif"/>
                <a:cs typeface="Microsoft Sans Serif"/>
              </a:rPr>
              <a:t>nearest data</a:t>
            </a:r>
            <a:r>
              <a:rPr sz="2100" spc="-5" dirty="0">
                <a:latin typeface="Microsoft Sans Serif"/>
                <a:cs typeface="Microsoft Sans Serif"/>
              </a:rPr>
              <a:t> </a:t>
            </a:r>
            <a:r>
              <a:rPr sz="2100" spc="-10" dirty="0">
                <a:latin typeface="Microsoft Sans Serif"/>
                <a:cs typeface="Microsoft Sans Serif"/>
              </a:rPr>
              <a:t>points.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75" dirty="0"/>
              <a:t>How</a:t>
            </a:r>
            <a:r>
              <a:rPr b="1" spc="-125" dirty="0"/>
              <a:t> </a:t>
            </a:r>
            <a:r>
              <a:rPr b="1" spc="-140" dirty="0"/>
              <a:t>SVM</a:t>
            </a:r>
            <a:r>
              <a:rPr b="1" spc="-130" dirty="0"/>
              <a:t> </a:t>
            </a:r>
            <a:r>
              <a:rPr b="1" spc="65" dirty="0"/>
              <a:t>works</a:t>
            </a:r>
            <a:r>
              <a:rPr b="1" spc="-110" dirty="0"/>
              <a:t> </a:t>
            </a:r>
            <a:r>
              <a:rPr b="1" spc="-610" dirty="0"/>
              <a:t>?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762" y="2015642"/>
            <a:ext cx="7089309" cy="292131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Non-linear</a:t>
            </a:r>
            <a:r>
              <a:rPr b="1" spc="105" dirty="0"/>
              <a:t> </a:t>
            </a:r>
            <a:r>
              <a:rPr b="1" dirty="0"/>
              <a:t>and</a:t>
            </a:r>
            <a:r>
              <a:rPr b="1" spc="110" dirty="0"/>
              <a:t> </a:t>
            </a:r>
            <a:r>
              <a:rPr b="1" dirty="0"/>
              <a:t>inseparable</a:t>
            </a:r>
            <a:r>
              <a:rPr b="1" spc="105" dirty="0"/>
              <a:t> </a:t>
            </a:r>
            <a:r>
              <a:rPr b="1" spc="-10" dirty="0"/>
              <a:t>planes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18742"/>
            <a:ext cx="8379460" cy="325262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10515" marR="837565" indent="-298450">
              <a:lnSpc>
                <a:spcPct val="101299"/>
              </a:lnSpc>
              <a:spcBef>
                <a:spcPts val="8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</a:tabLst>
            </a:pPr>
            <a:r>
              <a:rPr sz="2400" spc="-25" dirty="0">
                <a:latin typeface="+mj-lt"/>
                <a:cs typeface="Microsoft Sans Serif"/>
              </a:rPr>
              <a:t>Some</a:t>
            </a:r>
            <a:r>
              <a:rPr sz="2400" spc="-40" dirty="0">
                <a:latin typeface="+mj-lt"/>
                <a:cs typeface="Microsoft Sans Serif"/>
              </a:rPr>
              <a:t> </a:t>
            </a:r>
            <a:r>
              <a:rPr sz="2400" spc="70" dirty="0">
                <a:latin typeface="+mj-lt"/>
                <a:cs typeface="Microsoft Sans Serif"/>
              </a:rPr>
              <a:t>problems</a:t>
            </a:r>
            <a:r>
              <a:rPr sz="2400" spc="-35" dirty="0">
                <a:latin typeface="+mj-lt"/>
                <a:cs typeface="Microsoft Sans Serif"/>
              </a:rPr>
              <a:t> </a:t>
            </a:r>
            <a:r>
              <a:rPr sz="2400" spc="55" dirty="0">
                <a:latin typeface="+mj-lt"/>
                <a:cs typeface="Microsoft Sans Serif"/>
              </a:rPr>
              <a:t>can’t</a:t>
            </a:r>
            <a:r>
              <a:rPr sz="2400" spc="-45" dirty="0">
                <a:latin typeface="+mj-lt"/>
                <a:cs typeface="Microsoft Sans Serif"/>
              </a:rPr>
              <a:t> </a:t>
            </a:r>
            <a:r>
              <a:rPr sz="2400" spc="65" dirty="0">
                <a:latin typeface="+mj-lt"/>
                <a:cs typeface="Microsoft Sans Serif"/>
              </a:rPr>
              <a:t>be</a:t>
            </a:r>
            <a:r>
              <a:rPr sz="2400" spc="-3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solved</a:t>
            </a:r>
            <a:r>
              <a:rPr sz="2400" spc="-25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using</a:t>
            </a:r>
            <a:r>
              <a:rPr sz="2400" spc="-35" dirty="0">
                <a:latin typeface="+mj-lt"/>
                <a:cs typeface="Microsoft Sans Serif"/>
              </a:rPr>
              <a:t> </a:t>
            </a:r>
            <a:r>
              <a:rPr sz="2400" spc="45" dirty="0">
                <a:latin typeface="+mj-lt"/>
                <a:cs typeface="Microsoft Sans Serif"/>
              </a:rPr>
              <a:t>linear </a:t>
            </a:r>
            <a:r>
              <a:rPr sz="2400" spc="-10" dirty="0">
                <a:latin typeface="+mj-lt"/>
                <a:cs typeface="Microsoft Sans Serif"/>
              </a:rPr>
              <a:t>hyperplane.</a:t>
            </a:r>
            <a:endParaRPr sz="2400" dirty="0">
              <a:latin typeface="+mj-lt"/>
              <a:cs typeface="Microsoft Sans Serif"/>
            </a:endParaRPr>
          </a:p>
          <a:p>
            <a:pPr marL="310515" marR="845819" indent="-298450">
              <a:lnSpc>
                <a:spcPct val="101200"/>
              </a:lnSpc>
              <a:spcBef>
                <a:spcPts val="700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</a:tabLst>
            </a:pPr>
            <a:r>
              <a:rPr sz="2400" dirty="0">
                <a:latin typeface="+mj-lt"/>
                <a:cs typeface="Microsoft Sans Serif"/>
              </a:rPr>
              <a:t>In</a:t>
            </a:r>
            <a:r>
              <a:rPr sz="2400" spc="-110" dirty="0">
                <a:latin typeface="+mj-lt"/>
                <a:cs typeface="Microsoft Sans Serif"/>
              </a:rPr>
              <a:t> </a:t>
            </a:r>
            <a:r>
              <a:rPr sz="2400" spc="-10" dirty="0">
                <a:latin typeface="+mj-lt"/>
                <a:cs typeface="Microsoft Sans Serif"/>
              </a:rPr>
              <a:t>such</a:t>
            </a:r>
            <a:r>
              <a:rPr sz="2400" spc="-90" dirty="0">
                <a:latin typeface="+mj-lt"/>
                <a:cs typeface="Microsoft Sans Serif"/>
              </a:rPr>
              <a:t> </a:t>
            </a:r>
            <a:r>
              <a:rPr sz="2400" spc="75" dirty="0">
                <a:latin typeface="+mj-lt"/>
                <a:cs typeface="Microsoft Sans Serif"/>
              </a:rPr>
              <a:t>situation,</a:t>
            </a:r>
            <a:r>
              <a:rPr sz="2400" spc="-100" dirty="0">
                <a:latin typeface="+mj-lt"/>
                <a:cs typeface="Microsoft Sans Serif"/>
              </a:rPr>
              <a:t> </a:t>
            </a:r>
            <a:r>
              <a:rPr sz="2400" spc="-105" dirty="0">
                <a:latin typeface="+mj-lt"/>
                <a:cs typeface="Microsoft Sans Serif"/>
              </a:rPr>
              <a:t>SVM</a:t>
            </a:r>
            <a:r>
              <a:rPr sz="2400" spc="-85" dirty="0">
                <a:latin typeface="+mj-lt"/>
                <a:cs typeface="Microsoft Sans Serif"/>
              </a:rPr>
              <a:t> </a:t>
            </a:r>
            <a:r>
              <a:rPr sz="2400" spc="-45" dirty="0">
                <a:latin typeface="+mj-lt"/>
                <a:cs typeface="Microsoft Sans Serif"/>
              </a:rPr>
              <a:t>uses</a:t>
            </a:r>
            <a:r>
              <a:rPr sz="2400" spc="-9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a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70" dirty="0">
                <a:latin typeface="+mj-lt"/>
                <a:cs typeface="Microsoft Sans Serif"/>
              </a:rPr>
              <a:t>kernel</a:t>
            </a:r>
            <a:r>
              <a:rPr sz="2400" spc="-100" dirty="0">
                <a:latin typeface="+mj-lt"/>
                <a:cs typeface="Microsoft Sans Serif"/>
              </a:rPr>
              <a:t> </a:t>
            </a:r>
            <a:r>
              <a:rPr sz="2400" spc="110" dirty="0">
                <a:latin typeface="+mj-lt"/>
                <a:cs typeface="Microsoft Sans Serif"/>
              </a:rPr>
              <a:t>trick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195" dirty="0">
                <a:latin typeface="+mj-lt"/>
                <a:cs typeface="Microsoft Sans Serif"/>
              </a:rPr>
              <a:t>t</a:t>
            </a:r>
            <a:r>
              <a:rPr lang="en-US" sz="2400" spc="195" dirty="0">
                <a:latin typeface="+mj-lt"/>
                <a:cs typeface="Microsoft Sans Serif"/>
              </a:rPr>
              <a:t>o </a:t>
            </a:r>
            <a:r>
              <a:rPr sz="2400" spc="110" dirty="0">
                <a:latin typeface="+mj-lt"/>
                <a:cs typeface="Microsoft Sans Serif"/>
              </a:rPr>
              <a:t>transform</a:t>
            </a:r>
            <a:r>
              <a:rPr sz="2400" spc="-100" dirty="0">
                <a:latin typeface="+mj-lt"/>
                <a:cs typeface="Microsoft Sans Serif"/>
              </a:rPr>
              <a:t> </a:t>
            </a:r>
            <a:r>
              <a:rPr sz="2400" spc="135" dirty="0">
                <a:latin typeface="+mj-lt"/>
                <a:cs typeface="Microsoft Sans Serif"/>
              </a:rPr>
              <a:t>the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130" dirty="0">
                <a:latin typeface="+mj-lt"/>
                <a:cs typeface="Microsoft Sans Serif"/>
              </a:rPr>
              <a:t>input</a:t>
            </a:r>
            <a:r>
              <a:rPr sz="2400" spc="-105" dirty="0">
                <a:latin typeface="+mj-lt"/>
                <a:cs typeface="Microsoft Sans Serif"/>
              </a:rPr>
              <a:t> </a:t>
            </a:r>
            <a:r>
              <a:rPr sz="2400" spc="-25" dirty="0">
                <a:latin typeface="+mj-lt"/>
                <a:cs typeface="Microsoft Sans Serif"/>
              </a:rPr>
              <a:t>space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225" dirty="0">
                <a:latin typeface="+mj-lt"/>
                <a:cs typeface="Microsoft Sans Serif"/>
              </a:rPr>
              <a:t>to</a:t>
            </a:r>
            <a:r>
              <a:rPr sz="2400" spc="-10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a</a:t>
            </a:r>
            <a:r>
              <a:rPr sz="2400" spc="-105" dirty="0">
                <a:latin typeface="+mj-lt"/>
                <a:cs typeface="Microsoft Sans Serif"/>
              </a:rPr>
              <a:t> </a:t>
            </a:r>
            <a:r>
              <a:rPr sz="2400" spc="55" dirty="0">
                <a:latin typeface="+mj-lt"/>
                <a:cs typeface="Microsoft Sans Serif"/>
              </a:rPr>
              <a:t>higher </a:t>
            </a:r>
            <a:r>
              <a:rPr sz="2400" dirty="0">
                <a:latin typeface="+mj-lt"/>
                <a:cs typeface="Microsoft Sans Serif"/>
              </a:rPr>
              <a:t>dimensional</a:t>
            </a:r>
            <a:r>
              <a:rPr sz="2400" spc="20" dirty="0">
                <a:latin typeface="+mj-lt"/>
                <a:cs typeface="Microsoft Sans Serif"/>
              </a:rPr>
              <a:t> </a:t>
            </a:r>
            <a:r>
              <a:rPr sz="2400" spc="-25" dirty="0">
                <a:latin typeface="+mj-lt"/>
                <a:cs typeface="Microsoft Sans Serif"/>
              </a:rPr>
              <a:t>space</a:t>
            </a:r>
            <a:r>
              <a:rPr sz="2400" spc="35" dirty="0">
                <a:latin typeface="+mj-lt"/>
                <a:cs typeface="Microsoft Sans Serif"/>
              </a:rPr>
              <a:t> </a:t>
            </a:r>
            <a:r>
              <a:rPr sz="2400" spc="-125" dirty="0">
                <a:latin typeface="+mj-lt"/>
                <a:cs typeface="Microsoft Sans Serif"/>
              </a:rPr>
              <a:t>as</a:t>
            </a:r>
            <a:r>
              <a:rPr sz="2400" spc="3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shown</a:t>
            </a:r>
            <a:r>
              <a:rPr sz="2400" spc="30" dirty="0">
                <a:latin typeface="+mj-lt"/>
                <a:cs typeface="Microsoft Sans Serif"/>
              </a:rPr>
              <a:t> </a:t>
            </a:r>
            <a:r>
              <a:rPr sz="2400" spc="90" dirty="0">
                <a:latin typeface="+mj-lt"/>
                <a:cs typeface="Microsoft Sans Serif"/>
              </a:rPr>
              <a:t>on</a:t>
            </a:r>
            <a:r>
              <a:rPr sz="2400" spc="25" dirty="0">
                <a:latin typeface="+mj-lt"/>
                <a:cs typeface="Microsoft Sans Serif"/>
              </a:rPr>
              <a:t> </a:t>
            </a:r>
            <a:r>
              <a:rPr sz="2400" spc="135" dirty="0">
                <a:latin typeface="+mj-lt"/>
                <a:cs typeface="Microsoft Sans Serif"/>
              </a:rPr>
              <a:t>the</a:t>
            </a:r>
            <a:r>
              <a:rPr sz="2400" spc="35" dirty="0">
                <a:latin typeface="+mj-lt"/>
                <a:cs typeface="Microsoft Sans Serif"/>
              </a:rPr>
              <a:t> </a:t>
            </a:r>
            <a:r>
              <a:rPr sz="2400" spc="90" dirty="0">
                <a:latin typeface="+mj-lt"/>
                <a:cs typeface="Microsoft Sans Serif"/>
              </a:rPr>
              <a:t>right.</a:t>
            </a:r>
            <a:endParaRPr sz="2400" dirty="0">
              <a:latin typeface="+mj-lt"/>
              <a:cs typeface="Microsoft Sans Serif"/>
            </a:endParaRPr>
          </a:p>
          <a:p>
            <a:pPr marL="310515" marR="233045" indent="-298450">
              <a:lnSpc>
                <a:spcPct val="101200"/>
              </a:lnSpc>
              <a:spcBef>
                <a:spcPts val="70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</a:tabLst>
            </a:pPr>
            <a:r>
              <a:rPr sz="2400" dirty="0">
                <a:latin typeface="+mj-lt"/>
                <a:cs typeface="Microsoft Sans Serif"/>
              </a:rPr>
              <a:t>The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spc="75" dirty="0">
                <a:latin typeface="+mj-lt"/>
                <a:cs typeface="Microsoft Sans Serif"/>
              </a:rPr>
              <a:t>data</a:t>
            </a:r>
            <a:r>
              <a:rPr sz="2400" spc="-75" dirty="0">
                <a:latin typeface="+mj-lt"/>
                <a:cs typeface="Microsoft Sans Serif"/>
              </a:rPr>
              <a:t> </a:t>
            </a:r>
            <a:r>
              <a:rPr sz="2400" spc="95" dirty="0">
                <a:latin typeface="+mj-lt"/>
                <a:cs typeface="Microsoft Sans Serif"/>
              </a:rPr>
              <a:t>points</a:t>
            </a:r>
            <a:r>
              <a:rPr sz="2400" spc="-85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are</a:t>
            </a:r>
            <a:r>
              <a:rPr sz="2400" spc="-80" dirty="0">
                <a:latin typeface="+mj-lt"/>
                <a:cs typeface="Microsoft Sans Serif"/>
              </a:rPr>
              <a:t> </a:t>
            </a:r>
            <a:r>
              <a:rPr sz="2400" spc="165" dirty="0">
                <a:latin typeface="+mj-lt"/>
                <a:cs typeface="Microsoft Sans Serif"/>
              </a:rPr>
              <a:t>plotted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spc="85" dirty="0">
                <a:latin typeface="+mj-lt"/>
                <a:cs typeface="Microsoft Sans Serif"/>
              </a:rPr>
              <a:t>on</a:t>
            </a:r>
            <a:r>
              <a:rPr sz="2400" spc="-80" dirty="0">
                <a:latin typeface="+mj-lt"/>
                <a:cs typeface="Microsoft Sans Serif"/>
              </a:rPr>
              <a:t> </a:t>
            </a:r>
            <a:r>
              <a:rPr sz="2400" spc="135" dirty="0">
                <a:latin typeface="+mj-lt"/>
                <a:cs typeface="Microsoft Sans Serif"/>
              </a:rPr>
              <a:t>the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spc="-35" dirty="0">
                <a:latin typeface="+mj-lt"/>
                <a:cs typeface="Microsoft Sans Serif"/>
              </a:rPr>
              <a:t>x-</a:t>
            </a:r>
            <a:r>
              <a:rPr sz="2400" dirty="0">
                <a:latin typeface="+mj-lt"/>
                <a:cs typeface="Microsoft Sans Serif"/>
              </a:rPr>
              <a:t>axis</a:t>
            </a:r>
            <a:r>
              <a:rPr sz="2400" spc="-75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and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spc="-25" dirty="0">
                <a:latin typeface="+mj-lt"/>
                <a:cs typeface="Microsoft Sans Serif"/>
              </a:rPr>
              <a:t>z- </a:t>
            </a:r>
            <a:r>
              <a:rPr sz="2400" spc="-10" dirty="0">
                <a:latin typeface="+mj-lt"/>
                <a:cs typeface="Microsoft Sans Serif"/>
              </a:rPr>
              <a:t>axis</a:t>
            </a:r>
            <a:r>
              <a:rPr sz="2400" spc="-80" dirty="0">
                <a:latin typeface="+mj-lt"/>
                <a:cs typeface="Microsoft Sans Serif"/>
              </a:rPr>
              <a:t> </a:t>
            </a:r>
            <a:r>
              <a:rPr sz="2400" spc="-20" dirty="0">
                <a:latin typeface="+mj-lt"/>
                <a:cs typeface="Microsoft Sans Serif"/>
              </a:rPr>
              <a:t>(Z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is</a:t>
            </a:r>
            <a:r>
              <a:rPr sz="2400" spc="-65" dirty="0">
                <a:latin typeface="+mj-lt"/>
                <a:cs typeface="Microsoft Sans Serif"/>
              </a:rPr>
              <a:t> </a:t>
            </a:r>
            <a:r>
              <a:rPr sz="2400" spc="135" dirty="0">
                <a:latin typeface="+mj-lt"/>
                <a:cs typeface="Microsoft Sans Serif"/>
              </a:rPr>
              <a:t>the</a:t>
            </a:r>
            <a:r>
              <a:rPr sz="2400" spc="-6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squared</a:t>
            </a:r>
            <a:r>
              <a:rPr sz="2400" spc="-6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sum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spc="204" dirty="0">
                <a:latin typeface="+mj-lt"/>
                <a:cs typeface="Microsoft Sans Serif"/>
              </a:rPr>
              <a:t>of</a:t>
            </a:r>
            <a:r>
              <a:rPr sz="2400" spc="-70" dirty="0">
                <a:latin typeface="+mj-lt"/>
                <a:cs typeface="Microsoft Sans Serif"/>
              </a:rPr>
              <a:t> </a:t>
            </a:r>
            <a:r>
              <a:rPr sz="2400" spc="160" dirty="0">
                <a:latin typeface="+mj-lt"/>
                <a:cs typeface="Microsoft Sans Serif"/>
              </a:rPr>
              <a:t>both</a:t>
            </a:r>
            <a:r>
              <a:rPr sz="2400" spc="-75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x</a:t>
            </a:r>
            <a:r>
              <a:rPr sz="2400" spc="-60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and</a:t>
            </a:r>
            <a:r>
              <a:rPr sz="2400" spc="-55" dirty="0">
                <a:latin typeface="+mj-lt"/>
                <a:cs typeface="Microsoft Sans Serif"/>
              </a:rPr>
              <a:t> </a:t>
            </a:r>
            <a:r>
              <a:rPr sz="2400" spc="-25" dirty="0">
                <a:latin typeface="+mj-lt"/>
                <a:cs typeface="Microsoft Sans Serif"/>
              </a:rPr>
              <a:t>y: </a:t>
            </a:r>
            <a:r>
              <a:rPr sz="2400" spc="-10" dirty="0">
                <a:latin typeface="+mj-lt"/>
                <a:cs typeface="Microsoft Sans Serif"/>
              </a:rPr>
              <a:t>z=x^2=y^2).</a:t>
            </a:r>
            <a:endParaRPr sz="2400" dirty="0">
              <a:latin typeface="+mj-lt"/>
              <a:cs typeface="Microsoft Sans Serif"/>
            </a:endParaRPr>
          </a:p>
          <a:p>
            <a:pPr marL="310515" marR="5080" indent="-298450">
              <a:lnSpc>
                <a:spcPct val="101299"/>
              </a:lnSpc>
              <a:spcBef>
                <a:spcPts val="695"/>
              </a:spcBef>
              <a:buClr>
                <a:srgbClr val="6697CC"/>
              </a:buClr>
              <a:buFont typeface="Arial MT"/>
              <a:buChar char="•"/>
              <a:tabLst>
                <a:tab pos="310515" algn="l"/>
              </a:tabLst>
            </a:pPr>
            <a:r>
              <a:rPr sz="2400" spc="95" dirty="0">
                <a:latin typeface="+mj-lt"/>
                <a:cs typeface="Microsoft Sans Serif"/>
              </a:rPr>
              <a:t>Now</a:t>
            </a:r>
            <a:r>
              <a:rPr sz="2400" spc="-90" dirty="0">
                <a:latin typeface="+mj-lt"/>
                <a:cs typeface="Microsoft Sans Serif"/>
              </a:rPr>
              <a:t> </a:t>
            </a:r>
            <a:r>
              <a:rPr sz="2400" spc="55" dirty="0">
                <a:latin typeface="+mj-lt"/>
                <a:cs typeface="Microsoft Sans Serif"/>
              </a:rPr>
              <a:t>you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-10" dirty="0">
                <a:latin typeface="+mj-lt"/>
                <a:cs typeface="Microsoft Sans Serif"/>
              </a:rPr>
              <a:t>can</a:t>
            </a:r>
            <a:r>
              <a:rPr sz="2400" spc="-85" dirty="0">
                <a:latin typeface="+mj-lt"/>
                <a:cs typeface="Microsoft Sans Serif"/>
              </a:rPr>
              <a:t> </a:t>
            </a:r>
            <a:r>
              <a:rPr sz="2400" dirty="0">
                <a:latin typeface="+mj-lt"/>
                <a:cs typeface="Microsoft Sans Serif"/>
              </a:rPr>
              <a:t>easily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50" dirty="0">
                <a:latin typeface="+mj-lt"/>
                <a:cs typeface="Microsoft Sans Serif"/>
              </a:rPr>
              <a:t>segregate</a:t>
            </a:r>
            <a:r>
              <a:rPr sz="2400" spc="-95" dirty="0">
                <a:latin typeface="+mj-lt"/>
                <a:cs typeface="Microsoft Sans Serif"/>
              </a:rPr>
              <a:t> </a:t>
            </a:r>
            <a:r>
              <a:rPr sz="2400" spc="55" dirty="0">
                <a:latin typeface="+mj-lt"/>
                <a:cs typeface="Microsoft Sans Serif"/>
              </a:rPr>
              <a:t>these</a:t>
            </a:r>
            <a:r>
              <a:rPr sz="2400" spc="-85" dirty="0">
                <a:latin typeface="+mj-lt"/>
                <a:cs typeface="Microsoft Sans Serif"/>
              </a:rPr>
              <a:t> </a:t>
            </a:r>
            <a:r>
              <a:rPr sz="2400" spc="90" dirty="0">
                <a:latin typeface="+mj-lt"/>
                <a:cs typeface="Microsoft Sans Serif"/>
              </a:rPr>
              <a:t>points</a:t>
            </a:r>
            <a:r>
              <a:rPr sz="2400" spc="-100" dirty="0">
                <a:latin typeface="+mj-lt"/>
                <a:cs typeface="Microsoft Sans Serif"/>
              </a:rPr>
              <a:t> </a:t>
            </a:r>
            <a:r>
              <a:rPr sz="2400" spc="-10" dirty="0">
                <a:latin typeface="+mj-lt"/>
                <a:cs typeface="Microsoft Sans Serif"/>
              </a:rPr>
              <a:t>using </a:t>
            </a:r>
            <a:r>
              <a:rPr sz="2400" spc="55" dirty="0">
                <a:latin typeface="+mj-lt"/>
                <a:cs typeface="Microsoft Sans Serif"/>
              </a:rPr>
              <a:t>linear</a:t>
            </a:r>
            <a:r>
              <a:rPr sz="2400" spc="-65" dirty="0">
                <a:latin typeface="+mj-lt"/>
                <a:cs typeface="Microsoft Sans Serif"/>
              </a:rPr>
              <a:t> </a:t>
            </a:r>
            <a:r>
              <a:rPr sz="2400" spc="-10" dirty="0">
                <a:latin typeface="+mj-lt"/>
                <a:cs typeface="Microsoft Sans Serif"/>
              </a:rPr>
              <a:t>separation.</a:t>
            </a:r>
            <a:endParaRPr sz="2400" dirty="0">
              <a:latin typeface="+mj-lt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Non-linear</a:t>
            </a:r>
            <a:r>
              <a:rPr b="1" spc="105" dirty="0"/>
              <a:t> </a:t>
            </a:r>
            <a:r>
              <a:rPr b="1" dirty="0"/>
              <a:t>and</a:t>
            </a:r>
            <a:r>
              <a:rPr b="1" spc="110" dirty="0"/>
              <a:t> </a:t>
            </a:r>
            <a:r>
              <a:rPr b="1" dirty="0"/>
              <a:t>inseparable</a:t>
            </a:r>
            <a:r>
              <a:rPr b="1" spc="105" dirty="0"/>
              <a:t> </a:t>
            </a:r>
            <a:r>
              <a:rPr b="1" spc="-10" dirty="0"/>
              <a:t>planes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057" y="2070804"/>
            <a:ext cx="7455399" cy="2872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High</a:t>
            </a:r>
            <a:r>
              <a:rPr b="1" spc="-10" dirty="0"/>
              <a:t> </a:t>
            </a:r>
            <a:r>
              <a:rPr b="1" dirty="0"/>
              <a:t>Dimensional</a:t>
            </a:r>
            <a:r>
              <a:rPr b="1" spc="-5" dirty="0"/>
              <a:t> </a:t>
            </a:r>
            <a:r>
              <a:rPr b="1" spc="-140" dirty="0"/>
              <a:t>Space</a:t>
            </a:r>
            <a:r>
              <a:rPr b="1" spc="-10" dirty="0"/>
              <a:t> </a:t>
            </a:r>
            <a:r>
              <a:rPr b="1" spc="45" dirty="0"/>
              <a:t>Mapping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1743125"/>
            <a:ext cx="8390521" cy="37285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High</a:t>
            </a:r>
            <a:r>
              <a:rPr b="1" spc="-10" dirty="0"/>
              <a:t> </a:t>
            </a:r>
            <a:r>
              <a:rPr b="1" dirty="0"/>
              <a:t>Dimensional</a:t>
            </a:r>
            <a:r>
              <a:rPr b="1" spc="-5" dirty="0"/>
              <a:t> </a:t>
            </a:r>
            <a:r>
              <a:rPr b="1" spc="-140" dirty="0"/>
              <a:t>Space</a:t>
            </a:r>
            <a:r>
              <a:rPr b="1" spc="-10" dirty="0"/>
              <a:t> </a:t>
            </a:r>
            <a:r>
              <a:rPr b="1" spc="45" dirty="0"/>
              <a:t>Mapping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696" y="2081945"/>
            <a:ext cx="7729926" cy="31016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35" dirty="0"/>
              <a:t>SVM</a:t>
            </a:r>
            <a:r>
              <a:rPr b="1" spc="-125" dirty="0"/>
              <a:t> </a:t>
            </a:r>
            <a:r>
              <a:rPr b="1" spc="-10" dirty="0"/>
              <a:t>Kernels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7180" marR="276860" indent="-254635">
              <a:lnSpc>
                <a:spcPct val="1008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50" spc="-10" dirty="0"/>
              <a:t>The</a:t>
            </a:r>
            <a:r>
              <a:rPr sz="2350" spc="-40" dirty="0"/>
              <a:t> </a:t>
            </a:r>
            <a:r>
              <a:rPr sz="2350" spc="-70" dirty="0"/>
              <a:t>SVM</a:t>
            </a:r>
            <a:r>
              <a:rPr sz="2350" spc="-25" dirty="0"/>
              <a:t> </a:t>
            </a:r>
            <a:r>
              <a:rPr sz="2350" spc="75" dirty="0"/>
              <a:t>algorithm</a:t>
            </a:r>
            <a:r>
              <a:rPr sz="2350" spc="-35" dirty="0"/>
              <a:t> </a:t>
            </a:r>
            <a:r>
              <a:rPr sz="2350" dirty="0"/>
              <a:t>is</a:t>
            </a:r>
            <a:r>
              <a:rPr sz="2350" spc="-25" dirty="0"/>
              <a:t> </a:t>
            </a:r>
            <a:r>
              <a:rPr sz="2350" spc="65" dirty="0"/>
              <a:t>implemented</a:t>
            </a:r>
            <a:r>
              <a:rPr sz="2350" spc="-40" dirty="0"/>
              <a:t> </a:t>
            </a:r>
            <a:r>
              <a:rPr sz="2350" dirty="0"/>
              <a:t>in</a:t>
            </a:r>
            <a:r>
              <a:rPr sz="2350" spc="-30" dirty="0"/>
              <a:t> </a:t>
            </a:r>
            <a:r>
              <a:rPr sz="2350" dirty="0"/>
              <a:t>practice</a:t>
            </a:r>
            <a:r>
              <a:rPr sz="2350" spc="-40" dirty="0"/>
              <a:t> </a:t>
            </a:r>
            <a:r>
              <a:rPr sz="2350" dirty="0"/>
              <a:t>using</a:t>
            </a:r>
            <a:r>
              <a:rPr sz="2350" spc="-30" dirty="0"/>
              <a:t> </a:t>
            </a:r>
            <a:r>
              <a:rPr sz="2350" spc="-50" dirty="0"/>
              <a:t>a </a:t>
            </a:r>
            <a:r>
              <a:rPr sz="2350" dirty="0"/>
              <a:t>kernel.</a:t>
            </a:r>
            <a:r>
              <a:rPr sz="2350" spc="-55" dirty="0"/>
              <a:t> </a:t>
            </a:r>
            <a:r>
              <a:rPr sz="2350" dirty="0"/>
              <a:t>A</a:t>
            </a:r>
            <a:r>
              <a:rPr sz="2350" spc="-55" dirty="0"/>
              <a:t> </a:t>
            </a:r>
            <a:r>
              <a:rPr sz="2350" spc="50" dirty="0"/>
              <a:t>kernel</a:t>
            </a:r>
            <a:r>
              <a:rPr sz="2350" spc="-55" dirty="0"/>
              <a:t> </a:t>
            </a:r>
            <a:r>
              <a:rPr sz="2350" spc="65" dirty="0"/>
              <a:t>transforms</a:t>
            </a:r>
            <a:r>
              <a:rPr sz="2350" spc="-50" dirty="0"/>
              <a:t> </a:t>
            </a:r>
            <a:r>
              <a:rPr sz="2350" dirty="0"/>
              <a:t>an</a:t>
            </a:r>
            <a:r>
              <a:rPr sz="2350" spc="-50" dirty="0"/>
              <a:t> </a:t>
            </a:r>
            <a:r>
              <a:rPr sz="2350" spc="100" dirty="0"/>
              <a:t>input</a:t>
            </a:r>
            <a:r>
              <a:rPr sz="2350" spc="-55" dirty="0"/>
              <a:t> </a:t>
            </a:r>
            <a:r>
              <a:rPr sz="2350" spc="50" dirty="0"/>
              <a:t>data</a:t>
            </a:r>
            <a:r>
              <a:rPr sz="2350" spc="-55" dirty="0"/>
              <a:t> </a:t>
            </a:r>
            <a:r>
              <a:rPr sz="2350" spc="-45" dirty="0"/>
              <a:t>space</a:t>
            </a:r>
            <a:r>
              <a:rPr sz="2350" spc="-60" dirty="0"/>
              <a:t> </a:t>
            </a:r>
            <a:r>
              <a:rPr sz="2350" spc="110" dirty="0"/>
              <a:t>into</a:t>
            </a:r>
            <a:r>
              <a:rPr sz="2350" spc="-55" dirty="0"/>
              <a:t> </a:t>
            </a:r>
            <a:r>
              <a:rPr sz="2350" spc="80" dirty="0"/>
              <a:t>the </a:t>
            </a:r>
            <a:r>
              <a:rPr sz="2350" spc="55" dirty="0"/>
              <a:t>required</a:t>
            </a:r>
            <a:r>
              <a:rPr sz="2350" spc="-65" dirty="0"/>
              <a:t> </a:t>
            </a:r>
            <a:r>
              <a:rPr sz="2350" spc="70" dirty="0"/>
              <a:t>form.</a:t>
            </a:r>
            <a:endParaRPr sz="2350"/>
          </a:p>
          <a:p>
            <a:pPr marL="297180" marR="461645" indent="-254635">
              <a:lnSpc>
                <a:spcPct val="100899"/>
              </a:lnSpc>
              <a:spcBef>
                <a:spcPts val="580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50" spc="-80" dirty="0"/>
              <a:t>SVM</a:t>
            </a:r>
            <a:r>
              <a:rPr sz="2350" spc="-65" dirty="0"/>
              <a:t> </a:t>
            </a:r>
            <a:r>
              <a:rPr sz="2350" spc="-55" dirty="0"/>
              <a:t>uses</a:t>
            </a:r>
            <a:r>
              <a:rPr sz="2350" spc="-70" dirty="0"/>
              <a:t> </a:t>
            </a:r>
            <a:r>
              <a:rPr sz="2350" dirty="0"/>
              <a:t>a</a:t>
            </a:r>
            <a:r>
              <a:rPr sz="2350" spc="-65" dirty="0"/>
              <a:t> </a:t>
            </a:r>
            <a:r>
              <a:rPr sz="2350" spc="50" dirty="0"/>
              <a:t>technique</a:t>
            </a:r>
            <a:r>
              <a:rPr sz="2350" spc="-75" dirty="0"/>
              <a:t> </a:t>
            </a:r>
            <a:r>
              <a:rPr sz="2350" dirty="0"/>
              <a:t>called</a:t>
            </a:r>
            <a:r>
              <a:rPr sz="2350" spc="-75" dirty="0"/>
              <a:t> </a:t>
            </a:r>
            <a:r>
              <a:rPr sz="2350" spc="105" dirty="0"/>
              <a:t>the</a:t>
            </a:r>
            <a:r>
              <a:rPr sz="2350" spc="-75" dirty="0"/>
              <a:t> </a:t>
            </a:r>
            <a:r>
              <a:rPr sz="2350" spc="50" dirty="0"/>
              <a:t>kernel</a:t>
            </a:r>
            <a:r>
              <a:rPr sz="2350" spc="-70" dirty="0"/>
              <a:t> </a:t>
            </a:r>
            <a:r>
              <a:rPr sz="2350" spc="60" dirty="0"/>
              <a:t>trick.</a:t>
            </a:r>
            <a:r>
              <a:rPr sz="2350" spc="-70" dirty="0"/>
              <a:t> </a:t>
            </a:r>
            <a:r>
              <a:rPr sz="2350" dirty="0"/>
              <a:t>Here,</a:t>
            </a:r>
            <a:r>
              <a:rPr sz="2350" spc="-70" dirty="0"/>
              <a:t> </a:t>
            </a:r>
            <a:r>
              <a:rPr sz="2350" spc="80" dirty="0"/>
              <a:t>the </a:t>
            </a:r>
            <a:r>
              <a:rPr sz="2350" spc="50" dirty="0"/>
              <a:t>kernel</a:t>
            </a:r>
            <a:r>
              <a:rPr sz="2350" spc="-30" dirty="0"/>
              <a:t> </a:t>
            </a:r>
            <a:r>
              <a:rPr sz="2350" dirty="0"/>
              <a:t>takes</a:t>
            </a:r>
            <a:r>
              <a:rPr sz="2350" spc="-30" dirty="0"/>
              <a:t> </a:t>
            </a:r>
            <a:r>
              <a:rPr sz="2350" dirty="0"/>
              <a:t>a</a:t>
            </a:r>
            <a:r>
              <a:rPr sz="2350" spc="-20" dirty="0"/>
              <a:t> </a:t>
            </a:r>
            <a:r>
              <a:rPr sz="2350" spc="70" dirty="0"/>
              <a:t>low-</a:t>
            </a:r>
            <a:r>
              <a:rPr sz="2350" dirty="0"/>
              <a:t>dimensional</a:t>
            </a:r>
            <a:r>
              <a:rPr sz="2350" spc="-30" dirty="0"/>
              <a:t> </a:t>
            </a:r>
            <a:r>
              <a:rPr sz="2350" spc="95" dirty="0"/>
              <a:t>input</a:t>
            </a:r>
            <a:r>
              <a:rPr sz="2350" spc="-25" dirty="0"/>
              <a:t> </a:t>
            </a:r>
            <a:r>
              <a:rPr sz="2350" spc="-45" dirty="0"/>
              <a:t>space</a:t>
            </a:r>
            <a:r>
              <a:rPr sz="2350" spc="-35" dirty="0"/>
              <a:t> </a:t>
            </a:r>
            <a:r>
              <a:rPr sz="2350" spc="-25" dirty="0"/>
              <a:t>and </a:t>
            </a:r>
            <a:r>
              <a:rPr sz="2350" spc="60" dirty="0"/>
              <a:t>transforms</a:t>
            </a:r>
            <a:r>
              <a:rPr sz="2350" spc="15" dirty="0"/>
              <a:t> </a:t>
            </a:r>
            <a:r>
              <a:rPr sz="2350" spc="175" dirty="0"/>
              <a:t>it</a:t>
            </a:r>
            <a:r>
              <a:rPr sz="2350" spc="20" dirty="0"/>
              <a:t> </a:t>
            </a:r>
            <a:r>
              <a:rPr sz="2350" spc="110" dirty="0"/>
              <a:t>into</a:t>
            </a:r>
            <a:r>
              <a:rPr sz="2350" spc="20" dirty="0"/>
              <a:t> </a:t>
            </a:r>
            <a:r>
              <a:rPr sz="2350" spc="-80" dirty="0"/>
              <a:t>a</a:t>
            </a:r>
            <a:r>
              <a:rPr sz="2350" spc="20" dirty="0"/>
              <a:t> </a:t>
            </a:r>
            <a:r>
              <a:rPr sz="2350" dirty="0"/>
              <a:t>higher</a:t>
            </a:r>
            <a:r>
              <a:rPr sz="2350" spc="15" dirty="0"/>
              <a:t> </a:t>
            </a:r>
            <a:r>
              <a:rPr sz="2350" dirty="0"/>
              <a:t>dimensional</a:t>
            </a:r>
            <a:r>
              <a:rPr sz="2350" spc="15" dirty="0"/>
              <a:t> </a:t>
            </a:r>
            <a:r>
              <a:rPr sz="2350" spc="-10" dirty="0"/>
              <a:t>space.</a:t>
            </a:r>
            <a:endParaRPr sz="2350"/>
          </a:p>
          <a:p>
            <a:pPr marL="297180" marR="5080" indent="-254635">
              <a:lnSpc>
                <a:spcPct val="100899"/>
              </a:lnSpc>
              <a:spcBef>
                <a:spcPts val="585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50" dirty="0"/>
              <a:t>In</a:t>
            </a:r>
            <a:r>
              <a:rPr sz="2350" spc="-5" dirty="0"/>
              <a:t> </a:t>
            </a:r>
            <a:r>
              <a:rPr sz="2350" spc="100" dirty="0"/>
              <a:t>other</a:t>
            </a:r>
            <a:r>
              <a:rPr sz="2350" dirty="0"/>
              <a:t> words, you</a:t>
            </a:r>
            <a:r>
              <a:rPr sz="2350" spc="-5" dirty="0"/>
              <a:t> </a:t>
            </a:r>
            <a:r>
              <a:rPr sz="2350" spc="-40" dirty="0"/>
              <a:t>can</a:t>
            </a:r>
            <a:r>
              <a:rPr sz="2350" dirty="0"/>
              <a:t> </a:t>
            </a:r>
            <a:r>
              <a:rPr sz="2350" spc="-75" dirty="0"/>
              <a:t>say</a:t>
            </a:r>
            <a:r>
              <a:rPr sz="2350" dirty="0"/>
              <a:t> </a:t>
            </a:r>
            <a:r>
              <a:rPr sz="2350" spc="130" dirty="0"/>
              <a:t>that</a:t>
            </a:r>
            <a:r>
              <a:rPr sz="2350" spc="-5" dirty="0"/>
              <a:t> </a:t>
            </a:r>
            <a:r>
              <a:rPr sz="2350" spc="175" dirty="0"/>
              <a:t>it</a:t>
            </a:r>
            <a:r>
              <a:rPr sz="2350" spc="-5" dirty="0"/>
              <a:t> </a:t>
            </a:r>
            <a:r>
              <a:rPr sz="2350" dirty="0"/>
              <a:t>converts</a:t>
            </a:r>
            <a:r>
              <a:rPr sz="2350" spc="-10" dirty="0"/>
              <a:t> </a:t>
            </a:r>
            <a:r>
              <a:rPr sz="2350" dirty="0"/>
              <a:t>non-</a:t>
            </a:r>
            <a:r>
              <a:rPr sz="2350" spc="-10" dirty="0"/>
              <a:t>separable </a:t>
            </a:r>
            <a:r>
              <a:rPr sz="2350" spc="70" dirty="0"/>
              <a:t>problem</a:t>
            </a:r>
            <a:r>
              <a:rPr sz="2350" spc="30" dirty="0"/>
              <a:t> </a:t>
            </a:r>
            <a:r>
              <a:rPr sz="2350" spc="185" dirty="0"/>
              <a:t>to</a:t>
            </a:r>
            <a:r>
              <a:rPr sz="2350" spc="45" dirty="0"/>
              <a:t> </a:t>
            </a:r>
            <a:r>
              <a:rPr sz="2350" dirty="0"/>
              <a:t>separable</a:t>
            </a:r>
            <a:r>
              <a:rPr sz="2350" spc="40" dirty="0"/>
              <a:t> </a:t>
            </a:r>
            <a:r>
              <a:rPr sz="2350" dirty="0"/>
              <a:t>problems</a:t>
            </a:r>
            <a:r>
              <a:rPr sz="2350" spc="40" dirty="0"/>
              <a:t> </a:t>
            </a:r>
            <a:r>
              <a:rPr sz="2350" dirty="0"/>
              <a:t>by</a:t>
            </a:r>
            <a:r>
              <a:rPr sz="2350" spc="40" dirty="0"/>
              <a:t> </a:t>
            </a:r>
            <a:r>
              <a:rPr sz="2350" dirty="0"/>
              <a:t>adding</a:t>
            </a:r>
            <a:r>
              <a:rPr sz="2350" spc="45" dirty="0"/>
              <a:t> </a:t>
            </a:r>
            <a:r>
              <a:rPr sz="2350" spc="40" dirty="0"/>
              <a:t>more </a:t>
            </a:r>
            <a:r>
              <a:rPr sz="2350" dirty="0"/>
              <a:t>dimension</a:t>
            </a:r>
            <a:r>
              <a:rPr sz="2350" spc="40" dirty="0"/>
              <a:t> </a:t>
            </a:r>
            <a:r>
              <a:rPr sz="2350" spc="185" dirty="0"/>
              <a:t>to</a:t>
            </a:r>
            <a:r>
              <a:rPr sz="2350" spc="25" dirty="0"/>
              <a:t> </a:t>
            </a:r>
            <a:r>
              <a:rPr sz="2350" spc="65" dirty="0"/>
              <a:t>it.</a:t>
            </a:r>
            <a:endParaRPr sz="2350"/>
          </a:p>
          <a:p>
            <a:pPr marL="297180" marR="133350" indent="-254635">
              <a:lnSpc>
                <a:spcPct val="100699"/>
              </a:lnSpc>
              <a:spcBef>
                <a:spcPts val="590"/>
              </a:spcBef>
              <a:buClr>
                <a:srgbClr val="6697CC"/>
              </a:buClr>
              <a:buFont typeface="Arial MT"/>
              <a:buChar char="•"/>
              <a:tabLst>
                <a:tab pos="297180" algn="l"/>
              </a:tabLst>
            </a:pPr>
            <a:r>
              <a:rPr sz="2350" spc="135" dirty="0"/>
              <a:t>It</a:t>
            </a:r>
            <a:r>
              <a:rPr sz="2350" spc="10" dirty="0"/>
              <a:t> </a:t>
            </a:r>
            <a:r>
              <a:rPr sz="2350" dirty="0"/>
              <a:t>is</a:t>
            </a:r>
            <a:r>
              <a:rPr sz="2350" spc="10" dirty="0"/>
              <a:t> </a:t>
            </a:r>
            <a:r>
              <a:rPr sz="2350" spc="75" dirty="0"/>
              <a:t>most</a:t>
            </a:r>
            <a:r>
              <a:rPr sz="2350" spc="10" dirty="0"/>
              <a:t> </a:t>
            </a:r>
            <a:r>
              <a:rPr sz="2350" spc="50" dirty="0"/>
              <a:t>useful</a:t>
            </a:r>
            <a:r>
              <a:rPr sz="2350" spc="10" dirty="0"/>
              <a:t> </a:t>
            </a:r>
            <a:r>
              <a:rPr sz="2350" dirty="0"/>
              <a:t>in</a:t>
            </a:r>
            <a:r>
              <a:rPr sz="2350" spc="10" dirty="0"/>
              <a:t> </a:t>
            </a:r>
            <a:r>
              <a:rPr sz="2350" dirty="0"/>
              <a:t>non-linear</a:t>
            </a:r>
            <a:r>
              <a:rPr sz="2350" spc="5" dirty="0"/>
              <a:t> </a:t>
            </a:r>
            <a:r>
              <a:rPr sz="2350" dirty="0"/>
              <a:t>separation</a:t>
            </a:r>
            <a:r>
              <a:rPr sz="2350" spc="10" dirty="0"/>
              <a:t> </a:t>
            </a:r>
            <a:r>
              <a:rPr sz="2350" spc="50" dirty="0"/>
              <a:t>problem.</a:t>
            </a:r>
            <a:r>
              <a:rPr sz="2350" spc="10" dirty="0"/>
              <a:t> </a:t>
            </a:r>
            <a:r>
              <a:rPr sz="2350" spc="-10" dirty="0"/>
              <a:t>Kernel </a:t>
            </a:r>
            <a:r>
              <a:rPr sz="2350" spc="85" dirty="0"/>
              <a:t>trick</a:t>
            </a:r>
            <a:r>
              <a:rPr sz="2350" spc="-35" dirty="0"/>
              <a:t> </a:t>
            </a:r>
            <a:r>
              <a:rPr sz="2350" dirty="0"/>
              <a:t>helps</a:t>
            </a:r>
            <a:r>
              <a:rPr sz="2350" spc="-40" dirty="0"/>
              <a:t> </a:t>
            </a:r>
            <a:r>
              <a:rPr sz="2350" dirty="0"/>
              <a:t>you</a:t>
            </a:r>
            <a:r>
              <a:rPr sz="2350" spc="-35" dirty="0"/>
              <a:t> </a:t>
            </a:r>
            <a:r>
              <a:rPr sz="2350" spc="180" dirty="0"/>
              <a:t>to</a:t>
            </a:r>
            <a:r>
              <a:rPr sz="2350" spc="-40" dirty="0"/>
              <a:t> </a:t>
            </a:r>
            <a:r>
              <a:rPr sz="2350" spc="70" dirty="0"/>
              <a:t>build</a:t>
            </a:r>
            <a:r>
              <a:rPr sz="2350" spc="-30" dirty="0"/>
              <a:t> </a:t>
            </a:r>
            <a:r>
              <a:rPr sz="2350" spc="-80" dirty="0"/>
              <a:t>a</a:t>
            </a:r>
            <a:r>
              <a:rPr sz="2350" spc="-45" dirty="0"/>
              <a:t> </a:t>
            </a:r>
            <a:r>
              <a:rPr sz="2350" spc="60" dirty="0"/>
              <a:t>more</a:t>
            </a:r>
            <a:r>
              <a:rPr sz="2350" spc="-45" dirty="0"/>
              <a:t> </a:t>
            </a:r>
            <a:r>
              <a:rPr sz="2350" dirty="0"/>
              <a:t>accurate</a:t>
            </a:r>
            <a:r>
              <a:rPr sz="2350" spc="-40" dirty="0"/>
              <a:t> </a:t>
            </a:r>
            <a:r>
              <a:rPr sz="2350" spc="-10" dirty="0"/>
              <a:t>classifier.</a:t>
            </a:r>
            <a:endParaRPr sz="23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/>
              <a:t>Kernel</a:t>
            </a:r>
            <a:r>
              <a:rPr b="1" spc="135" dirty="0"/>
              <a:t> </a:t>
            </a:r>
            <a:r>
              <a:rPr b="1" spc="-40" dirty="0"/>
              <a:t>Types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447800"/>
            <a:ext cx="5546090" cy="19005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Linear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Kernel</a:t>
            </a:r>
            <a:endParaRPr sz="24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Polynomial</a:t>
            </a:r>
            <a:r>
              <a:rPr sz="2400" spc="2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Kernel</a:t>
            </a:r>
            <a:endParaRPr sz="24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Radial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100" dirty="0">
                <a:latin typeface="Microsoft Sans Serif"/>
                <a:cs typeface="Microsoft Sans Serif"/>
              </a:rPr>
              <a:t>Basis</a:t>
            </a:r>
            <a:r>
              <a:rPr sz="2400" spc="-114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Function</a:t>
            </a:r>
            <a:r>
              <a:rPr sz="2400" spc="-1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Kernel</a:t>
            </a:r>
            <a:endParaRPr sz="2400" dirty="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Sigmoid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Kernel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/>
              <a:t>Radial</a:t>
            </a:r>
            <a:r>
              <a:rPr b="1" spc="-155" dirty="0"/>
              <a:t> </a:t>
            </a:r>
            <a:r>
              <a:rPr b="1" spc="-110" dirty="0"/>
              <a:t>Basis</a:t>
            </a:r>
            <a:r>
              <a:rPr b="1" spc="-130" dirty="0"/>
              <a:t> </a:t>
            </a:r>
            <a:r>
              <a:rPr b="1" spc="45" dirty="0"/>
              <a:t>Function</a:t>
            </a:r>
            <a:r>
              <a:rPr b="1" spc="-155" dirty="0"/>
              <a:t> </a:t>
            </a:r>
            <a:r>
              <a:rPr b="1" spc="-10" dirty="0"/>
              <a:t>Kernel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18729"/>
            <a:ext cx="8123555" cy="4227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270" marR="94615" indent="-243204">
              <a:lnSpc>
                <a:spcPct val="100899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55270" algn="l"/>
              </a:tabLst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-90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Radial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Microsoft Sans Serif"/>
                <a:cs typeface="Microsoft Sans Serif"/>
              </a:rPr>
              <a:t>basis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spc="85" dirty="0">
                <a:latin typeface="Microsoft Sans Serif"/>
                <a:cs typeface="Microsoft Sans Serif"/>
              </a:rPr>
              <a:t>function</a:t>
            </a:r>
            <a:r>
              <a:rPr sz="2250" spc="-85" dirty="0">
                <a:latin typeface="Microsoft Sans Serif"/>
                <a:cs typeface="Microsoft Sans Serif"/>
              </a:rPr>
              <a:t> </a:t>
            </a:r>
            <a:r>
              <a:rPr sz="2250" spc="55" dirty="0">
                <a:latin typeface="Microsoft Sans Serif"/>
                <a:cs typeface="Microsoft Sans Serif"/>
              </a:rPr>
              <a:t>kernel</a:t>
            </a:r>
            <a:r>
              <a:rPr sz="2250" spc="-8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is</a:t>
            </a:r>
            <a:r>
              <a:rPr sz="2250" spc="-80" dirty="0">
                <a:latin typeface="Microsoft Sans Serif"/>
                <a:cs typeface="Microsoft Sans Serif"/>
              </a:rPr>
              <a:t> a </a:t>
            </a:r>
            <a:r>
              <a:rPr sz="2250" spc="60" dirty="0">
                <a:latin typeface="Microsoft Sans Serif"/>
                <a:cs typeface="Microsoft Sans Serif"/>
              </a:rPr>
              <a:t>popular</a:t>
            </a:r>
            <a:r>
              <a:rPr sz="2250" spc="-90" dirty="0">
                <a:latin typeface="Microsoft Sans Serif"/>
                <a:cs typeface="Microsoft Sans Serif"/>
              </a:rPr>
              <a:t> </a:t>
            </a:r>
            <a:r>
              <a:rPr sz="2250" spc="55" dirty="0">
                <a:latin typeface="Microsoft Sans Serif"/>
                <a:cs typeface="Microsoft Sans Serif"/>
              </a:rPr>
              <a:t>kernel</a:t>
            </a:r>
            <a:r>
              <a:rPr sz="2250" spc="-85" dirty="0">
                <a:latin typeface="Microsoft Sans Serif"/>
                <a:cs typeface="Microsoft Sans Serif"/>
              </a:rPr>
              <a:t> </a:t>
            </a:r>
            <a:r>
              <a:rPr sz="2250" spc="75" dirty="0">
                <a:latin typeface="Microsoft Sans Serif"/>
                <a:cs typeface="Microsoft Sans Serif"/>
              </a:rPr>
              <a:t>function </a:t>
            </a:r>
            <a:r>
              <a:rPr sz="2250" dirty="0">
                <a:latin typeface="Microsoft Sans Serif"/>
                <a:cs typeface="Microsoft Sans Serif"/>
              </a:rPr>
              <a:t>commonly</a:t>
            </a:r>
            <a:r>
              <a:rPr sz="2250" spc="-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used </a:t>
            </a:r>
            <a:r>
              <a:rPr sz="2250" spc="55" dirty="0">
                <a:latin typeface="Microsoft Sans Serif"/>
                <a:cs typeface="Microsoft Sans Serif"/>
              </a:rPr>
              <a:t>in</a:t>
            </a:r>
            <a:r>
              <a:rPr sz="2250" dirty="0">
                <a:latin typeface="Microsoft Sans Serif"/>
                <a:cs typeface="Microsoft Sans Serif"/>
              </a:rPr>
              <a:t> </a:t>
            </a:r>
            <a:r>
              <a:rPr sz="2250" spc="75" dirty="0">
                <a:latin typeface="Microsoft Sans Serif"/>
                <a:cs typeface="Microsoft Sans Serif"/>
              </a:rPr>
              <a:t>support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65" dirty="0">
                <a:latin typeface="Microsoft Sans Serif"/>
                <a:cs typeface="Microsoft Sans Serif"/>
              </a:rPr>
              <a:t>vector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machine</a:t>
            </a:r>
            <a:r>
              <a:rPr sz="2250" spc="1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classification. </a:t>
            </a:r>
            <a:r>
              <a:rPr sz="2250" spc="-135" dirty="0">
                <a:latin typeface="Microsoft Sans Serif"/>
                <a:cs typeface="Microsoft Sans Serif"/>
              </a:rPr>
              <a:t>RBF</a:t>
            </a:r>
            <a:r>
              <a:rPr sz="2250" spc="-35" dirty="0">
                <a:latin typeface="Microsoft Sans Serif"/>
                <a:cs typeface="Microsoft Sans Serif"/>
              </a:rPr>
              <a:t> </a:t>
            </a:r>
            <a:r>
              <a:rPr sz="2250" spc="-20" dirty="0">
                <a:latin typeface="Microsoft Sans Serif"/>
                <a:cs typeface="Microsoft Sans Serif"/>
              </a:rPr>
              <a:t>can</a:t>
            </a:r>
            <a:r>
              <a:rPr sz="2250" spc="-4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map</a:t>
            </a:r>
            <a:r>
              <a:rPr sz="2250" spc="-4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an</a:t>
            </a:r>
            <a:r>
              <a:rPr sz="2250" spc="-45" dirty="0">
                <a:latin typeface="Microsoft Sans Serif"/>
                <a:cs typeface="Microsoft Sans Serif"/>
              </a:rPr>
              <a:t> </a:t>
            </a:r>
            <a:r>
              <a:rPr sz="2250" spc="95" dirty="0">
                <a:latin typeface="Microsoft Sans Serif"/>
                <a:cs typeface="Microsoft Sans Serif"/>
              </a:rPr>
              <a:t>input</a:t>
            </a:r>
            <a:r>
              <a:rPr sz="2250" spc="-35" dirty="0">
                <a:latin typeface="Microsoft Sans Serif"/>
                <a:cs typeface="Microsoft Sans Serif"/>
              </a:rPr>
              <a:t> </a:t>
            </a:r>
            <a:r>
              <a:rPr sz="2250" spc="-40" dirty="0">
                <a:latin typeface="Microsoft Sans Serif"/>
                <a:cs typeface="Microsoft Sans Serif"/>
              </a:rPr>
              <a:t>space</a:t>
            </a:r>
            <a:r>
              <a:rPr sz="2250" spc="-35" dirty="0">
                <a:latin typeface="Microsoft Sans Serif"/>
                <a:cs typeface="Microsoft Sans Serif"/>
              </a:rPr>
              <a:t> </a:t>
            </a:r>
            <a:r>
              <a:rPr sz="2250" spc="55" dirty="0">
                <a:latin typeface="Microsoft Sans Serif"/>
                <a:cs typeface="Microsoft Sans Serif"/>
              </a:rPr>
              <a:t>in</a:t>
            </a:r>
            <a:r>
              <a:rPr sz="2250" spc="-40" dirty="0">
                <a:latin typeface="Microsoft Sans Serif"/>
                <a:cs typeface="Microsoft Sans Serif"/>
              </a:rPr>
              <a:t> </a:t>
            </a:r>
            <a:r>
              <a:rPr sz="2250" spc="100" dirty="0">
                <a:latin typeface="Microsoft Sans Serif"/>
                <a:cs typeface="Microsoft Sans Serif"/>
              </a:rPr>
              <a:t>infinite</a:t>
            </a:r>
            <a:r>
              <a:rPr sz="2250" spc="-3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dimensional</a:t>
            </a:r>
            <a:r>
              <a:rPr sz="2250" spc="-3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space.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250">
              <a:latin typeface="Microsoft Sans Serif"/>
              <a:cs typeface="Microsoft Sans Serif"/>
            </a:endParaRPr>
          </a:p>
          <a:p>
            <a:pPr marL="539115">
              <a:lnSpc>
                <a:spcPct val="100000"/>
              </a:lnSpc>
            </a:pPr>
            <a:r>
              <a:rPr sz="1950" dirty="0">
                <a:latin typeface="Microsoft Sans Serif"/>
                <a:cs typeface="Microsoft Sans Serif"/>
              </a:rPr>
              <a:t>K(x,xi)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=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exp(-gamma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spc="190" dirty="0">
                <a:latin typeface="Microsoft Sans Serif"/>
                <a:cs typeface="Microsoft Sans Serif"/>
              </a:rPr>
              <a:t>*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sum((x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spc="405" dirty="0">
                <a:latin typeface="Microsoft Sans Serif"/>
                <a:cs typeface="Microsoft Sans Serif"/>
              </a:rPr>
              <a:t>–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xi^2))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255270" marR="5080" indent="-243204">
              <a:lnSpc>
                <a:spcPct val="101000"/>
              </a:lnSpc>
              <a:spcBef>
                <a:spcPts val="5"/>
              </a:spcBef>
              <a:buClr>
                <a:srgbClr val="6697CC"/>
              </a:buClr>
              <a:buFont typeface="Arial MT"/>
              <a:buChar char="•"/>
              <a:tabLst>
                <a:tab pos="255270" algn="l"/>
              </a:tabLst>
            </a:pPr>
            <a:r>
              <a:rPr sz="2250" dirty="0">
                <a:latin typeface="Microsoft Sans Serif"/>
                <a:cs typeface="Microsoft Sans Serif"/>
              </a:rPr>
              <a:t>Here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gamma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is</a:t>
            </a:r>
            <a:r>
              <a:rPr sz="2250" spc="-6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a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45" dirty="0">
                <a:latin typeface="Microsoft Sans Serif"/>
                <a:cs typeface="Microsoft Sans Serif"/>
              </a:rPr>
              <a:t>parameter,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which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ranges</a:t>
            </a:r>
            <a:r>
              <a:rPr sz="2250" spc="-65" dirty="0">
                <a:latin typeface="Microsoft Sans Serif"/>
                <a:cs typeface="Microsoft Sans Serif"/>
              </a:rPr>
              <a:t> </a:t>
            </a:r>
            <a:r>
              <a:rPr sz="2250" spc="130" dirty="0">
                <a:latin typeface="Microsoft Sans Serif"/>
                <a:cs typeface="Microsoft Sans Serif"/>
              </a:rPr>
              <a:t>from</a:t>
            </a:r>
            <a:r>
              <a:rPr sz="2250" spc="-6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0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spc="185" dirty="0">
                <a:latin typeface="Microsoft Sans Serif"/>
                <a:cs typeface="Microsoft Sans Serif"/>
              </a:rPr>
              <a:t>to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1.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spc="-50" dirty="0">
                <a:latin typeface="Microsoft Sans Serif"/>
                <a:cs typeface="Microsoft Sans Serif"/>
              </a:rPr>
              <a:t>A </a:t>
            </a:r>
            <a:r>
              <a:rPr sz="2250" spc="50" dirty="0">
                <a:latin typeface="Microsoft Sans Serif"/>
                <a:cs typeface="Microsoft Sans Serif"/>
              </a:rPr>
              <a:t>higher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value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170" dirty="0">
                <a:latin typeface="Microsoft Sans Serif"/>
                <a:cs typeface="Microsoft Sans Serif"/>
              </a:rPr>
              <a:t>of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gamma</a:t>
            </a:r>
            <a:r>
              <a:rPr sz="2250" spc="-45" dirty="0">
                <a:latin typeface="Microsoft Sans Serif"/>
                <a:cs typeface="Microsoft Sans Serif"/>
              </a:rPr>
              <a:t> </a:t>
            </a:r>
            <a:r>
              <a:rPr sz="2250" spc="95" dirty="0">
                <a:latin typeface="Microsoft Sans Serif"/>
                <a:cs typeface="Microsoft Sans Serif"/>
              </a:rPr>
              <a:t>will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80" dirty="0">
                <a:latin typeface="Microsoft Sans Serif"/>
                <a:cs typeface="Microsoft Sans Serif"/>
              </a:rPr>
              <a:t>perfectly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195" dirty="0">
                <a:latin typeface="Microsoft Sans Serif"/>
                <a:cs typeface="Microsoft Sans Serif"/>
              </a:rPr>
              <a:t>fit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110" dirty="0">
                <a:latin typeface="Microsoft Sans Serif"/>
                <a:cs typeface="Microsoft Sans Serif"/>
              </a:rPr>
              <a:t>the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70" dirty="0">
                <a:latin typeface="Microsoft Sans Serif"/>
                <a:cs typeface="Microsoft Sans Serif"/>
              </a:rPr>
              <a:t>training</a:t>
            </a:r>
            <a:r>
              <a:rPr sz="2250" spc="-50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dataset, </a:t>
            </a:r>
            <a:r>
              <a:rPr sz="2250" dirty="0">
                <a:latin typeface="Microsoft Sans Serif"/>
                <a:cs typeface="Microsoft Sans Serif"/>
              </a:rPr>
              <a:t>which</a:t>
            </a:r>
            <a:r>
              <a:rPr sz="2250" spc="-10" dirty="0">
                <a:latin typeface="Microsoft Sans Serif"/>
                <a:cs typeface="Microsoft Sans Serif"/>
              </a:rPr>
              <a:t> </a:t>
            </a:r>
            <a:r>
              <a:rPr sz="2250" spc="-60" dirty="0">
                <a:latin typeface="Microsoft Sans Serif"/>
                <a:cs typeface="Microsoft Sans Serif"/>
              </a:rPr>
              <a:t>causes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spc="60" dirty="0">
                <a:latin typeface="Microsoft Sans Serif"/>
                <a:cs typeface="Microsoft Sans Serif"/>
              </a:rPr>
              <a:t>over-</a:t>
            </a:r>
            <a:r>
              <a:rPr sz="2250" spc="95" dirty="0">
                <a:latin typeface="Microsoft Sans Serif"/>
                <a:cs typeface="Microsoft Sans Serif"/>
              </a:rPr>
              <a:t>fitting.</a:t>
            </a:r>
            <a:r>
              <a:rPr sz="2250" spc="-10" dirty="0">
                <a:latin typeface="Microsoft Sans Serif"/>
                <a:cs typeface="Microsoft Sans Serif"/>
              </a:rPr>
              <a:t> </a:t>
            </a:r>
            <a:r>
              <a:rPr sz="2250" spc="-30" dirty="0">
                <a:latin typeface="Microsoft Sans Serif"/>
                <a:cs typeface="Microsoft Sans Serif"/>
              </a:rPr>
              <a:t>Gamma=0.1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is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considered</a:t>
            </a:r>
            <a:r>
              <a:rPr sz="2250" spc="-10" dirty="0">
                <a:latin typeface="Microsoft Sans Serif"/>
                <a:cs typeface="Microsoft Sans Serif"/>
              </a:rPr>
              <a:t> </a:t>
            </a:r>
            <a:r>
              <a:rPr sz="2250" spc="185" dirty="0">
                <a:latin typeface="Microsoft Sans Serif"/>
                <a:cs typeface="Microsoft Sans Serif"/>
              </a:rPr>
              <a:t>to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spc="-50" dirty="0">
                <a:latin typeface="Microsoft Sans Serif"/>
                <a:cs typeface="Microsoft Sans Serif"/>
              </a:rPr>
              <a:t>a </a:t>
            </a:r>
            <a:r>
              <a:rPr sz="2250" spc="75" dirty="0">
                <a:latin typeface="Microsoft Sans Serif"/>
                <a:cs typeface="Microsoft Sans Serif"/>
              </a:rPr>
              <a:t>good</a:t>
            </a:r>
            <a:r>
              <a:rPr sz="2250" spc="-70" dirty="0">
                <a:latin typeface="Microsoft Sans Serif"/>
                <a:cs typeface="Microsoft Sans Serif"/>
              </a:rPr>
              <a:t> </a:t>
            </a:r>
            <a:r>
              <a:rPr sz="2250" spc="95" dirty="0">
                <a:latin typeface="Microsoft Sans Serif"/>
                <a:cs typeface="Microsoft Sans Serif"/>
              </a:rPr>
              <a:t>default</a:t>
            </a:r>
            <a:r>
              <a:rPr sz="2250" spc="-55" dirty="0">
                <a:latin typeface="Microsoft Sans Serif"/>
                <a:cs typeface="Microsoft Sans Serif"/>
              </a:rPr>
              <a:t> </a:t>
            </a:r>
            <a:r>
              <a:rPr sz="2250" spc="-10" dirty="0">
                <a:latin typeface="Microsoft Sans Serif"/>
                <a:cs typeface="Microsoft Sans Serif"/>
              </a:rPr>
              <a:t>value.</a:t>
            </a:r>
            <a:endParaRPr sz="2250">
              <a:latin typeface="Microsoft Sans Serif"/>
              <a:cs typeface="Microsoft Sans Serif"/>
            </a:endParaRPr>
          </a:p>
          <a:p>
            <a:pPr marL="255270" marR="313690" indent="-243204">
              <a:lnSpc>
                <a:spcPct val="101099"/>
              </a:lnSpc>
              <a:spcBef>
                <a:spcPts val="560"/>
              </a:spcBef>
              <a:buClr>
                <a:srgbClr val="6697CC"/>
              </a:buClr>
              <a:buFont typeface="Arial MT"/>
              <a:buChar char="•"/>
              <a:tabLst>
                <a:tab pos="255270" algn="l"/>
              </a:tabLst>
            </a:pPr>
            <a:r>
              <a:rPr sz="2250" dirty="0">
                <a:latin typeface="Microsoft Sans Serif"/>
                <a:cs typeface="Microsoft Sans Serif"/>
              </a:rPr>
              <a:t>The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value </a:t>
            </a:r>
            <a:r>
              <a:rPr sz="2250" spc="170" dirty="0">
                <a:latin typeface="Microsoft Sans Serif"/>
                <a:cs typeface="Microsoft Sans Serif"/>
              </a:rPr>
              <a:t>of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gamma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needs</a:t>
            </a:r>
            <a:r>
              <a:rPr sz="2250" spc="-10" dirty="0">
                <a:latin typeface="Microsoft Sans Serif"/>
                <a:cs typeface="Microsoft Sans Serif"/>
              </a:rPr>
              <a:t> </a:t>
            </a:r>
            <a:r>
              <a:rPr sz="2250" spc="185" dirty="0">
                <a:latin typeface="Microsoft Sans Serif"/>
                <a:cs typeface="Microsoft Sans Serif"/>
              </a:rPr>
              <a:t>to</a:t>
            </a:r>
            <a:r>
              <a:rPr sz="2250" spc="10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be</a:t>
            </a:r>
            <a:r>
              <a:rPr sz="2250" spc="5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manually specified</a:t>
            </a:r>
            <a:r>
              <a:rPr sz="2250" spc="-5" dirty="0">
                <a:latin typeface="Microsoft Sans Serif"/>
                <a:cs typeface="Microsoft Sans Serif"/>
              </a:rPr>
              <a:t> </a:t>
            </a:r>
            <a:r>
              <a:rPr sz="2250" spc="50" dirty="0">
                <a:latin typeface="Microsoft Sans Serif"/>
                <a:cs typeface="Microsoft Sans Serif"/>
              </a:rPr>
              <a:t>in</a:t>
            </a:r>
            <a:r>
              <a:rPr sz="2250" dirty="0">
                <a:latin typeface="Microsoft Sans Serif"/>
                <a:cs typeface="Microsoft Sans Serif"/>
              </a:rPr>
              <a:t> </a:t>
            </a:r>
            <a:r>
              <a:rPr sz="2250" spc="80" dirty="0">
                <a:latin typeface="Microsoft Sans Serif"/>
                <a:cs typeface="Microsoft Sans Serif"/>
              </a:rPr>
              <a:t>the </a:t>
            </a:r>
            <a:r>
              <a:rPr sz="2250" spc="45" dirty="0">
                <a:latin typeface="Microsoft Sans Serif"/>
                <a:cs typeface="Microsoft Sans Serif"/>
              </a:rPr>
              <a:t>learning</a:t>
            </a:r>
            <a:r>
              <a:rPr sz="2250" spc="-75" dirty="0">
                <a:latin typeface="Microsoft Sans Serif"/>
                <a:cs typeface="Microsoft Sans Serif"/>
              </a:rPr>
              <a:t> </a:t>
            </a:r>
            <a:r>
              <a:rPr sz="2250" spc="55" dirty="0">
                <a:latin typeface="Microsoft Sans Serif"/>
                <a:cs typeface="Microsoft Sans Serif"/>
              </a:rPr>
              <a:t>algorithm.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/>
              <a:t>Radial</a:t>
            </a:r>
            <a:r>
              <a:rPr b="1" spc="-155" dirty="0"/>
              <a:t> </a:t>
            </a:r>
            <a:r>
              <a:rPr b="1" spc="-110" dirty="0"/>
              <a:t>Basis</a:t>
            </a:r>
            <a:r>
              <a:rPr b="1" spc="-130" dirty="0"/>
              <a:t> </a:t>
            </a:r>
            <a:r>
              <a:rPr b="1" spc="45" dirty="0"/>
              <a:t>Function</a:t>
            </a:r>
            <a:r>
              <a:rPr b="1" spc="-155" dirty="0"/>
              <a:t> </a:t>
            </a:r>
            <a:r>
              <a:rPr b="1" spc="-10" dirty="0"/>
              <a:t>Kernel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3193" y="2620968"/>
            <a:ext cx="5562316" cy="15999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/>
              <a:t>Radial</a:t>
            </a:r>
            <a:r>
              <a:rPr b="1" spc="-155" dirty="0"/>
              <a:t> </a:t>
            </a:r>
            <a:r>
              <a:rPr b="1" spc="-110" dirty="0"/>
              <a:t>Basis</a:t>
            </a:r>
            <a:r>
              <a:rPr b="1" spc="-130" dirty="0"/>
              <a:t> </a:t>
            </a:r>
            <a:r>
              <a:rPr b="1" spc="45" dirty="0"/>
              <a:t>Function</a:t>
            </a:r>
            <a:r>
              <a:rPr b="1" spc="-155" dirty="0"/>
              <a:t> </a:t>
            </a:r>
            <a:r>
              <a:rPr b="1" spc="-10" dirty="0"/>
              <a:t>Kernel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2505" y="2015642"/>
            <a:ext cx="7616777" cy="35956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/>
              <a:t>Radial</a:t>
            </a:r>
            <a:r>
              <a:rPr b="1" spc="-155" dirty="0"/>
              <a:t> </a:t>
            </a:r>
            <a:r>
              <a:rPr b="1" spc="-110" dirty="0"/>
              <a:t>Basis</a:t>
            </a:r>
            <a:r>
              <a:rPr b="1" spc="-130" dirty="0"/>
              <a:t> </a:t>
            </a:r>
            <a:r>
              <a:rPr b="1" spc="45" dirty="0"/>
              <a:t>Function</a:t>
            </a:r>
            <a:r>
              <a:rPr b="1" spc="-155" dirty="0"/>
              <a:t> </a:t>
            </a:r>
            <a:r>
              <a:rPr b="1" spc="-10" dirty="0"/>
              <a:t>Kernel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001" y="1768381"/>
            <a:ext cx="8652243" cy="39192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0" dirty="0"/>
              <a:t>Radial</a:t>
            </a:r>
            <a:r>
              <a:rPr b="1" spc="-155" dirty="0"/>
              <a:t> </a:t>
            </a:r>
            <a:r>
              <a:rPr b="1" spc="-110" dirty="0"/>
              <a:t>Basis</a:t>
            </a:r>
            <a:r>
              <a:rPr b="1" spc="-130" dirty="0"/>
              <a:t> </a:t>
            </a:r>
            <a:r>
              <a:rPr b="1" spc="45" dirty="0"/>
              <a:t>Function</a:t>
            </a:r>
            <a:r>
              <a:rPr b="1" spc="-155" dirty="0"/>
              <a:t> </a:t>
            </a:r>
            <a:r>
              <a:rPr b="1" spc="-10" dirty="0"/>
              <a:t>Kernel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843" y="1979295"/>
            <a:ext cx="8405279" cy="35814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0" dirty="0"/>
              <a:t>Types</a:t>
            </a:r>
            <a:r>
              <a:rPr b="1" spc="-170" dirty="0"/>
              <a:t> </a:t>
            </a:r>
            <a:r>
              <a:rPr b="1" spc="250" dirty="0"/>
              <a:t>of</a:t>
            </a:r>
            <a:r>
              <a:rPr b="1" spc="-155" dirty="0"/>
              <a:t> </a:t>
            </a:r>
            <a:r>
              <a:rPr b="1" spc="-10" dirty="0"/>
              <a:t>Kernels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206" y="1842183"/>
            <a:ext cx="8189790" cy="37011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767580"/>
            <a:ext cx="78867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40" dirty="0"/>
              <a:t>Types</a:t>
            </a:r>
            <a:r>
              <a:rPr b="1" spc="-170" dirty="0"/>
              <a:t> </a:t>
            </a:r>
            <a:r>
              <a:rPr b="1" spc="250" dirty="0"/>
              <a:t>of</a:t>
            </a:r>
            <a:r>
              <a:rPr b="1" spc="-155" dirty="0"/>
              <a:t> </a:t>
            </a:r>
            <a:r>
              <a:rPr b="1" spc="-10" dirty="0"/>
              <a:t>Kernels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837" y="1606982"/>
            <a:ext cx="6552913" cy="43686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The</a:t>
            </a:r>
            <a:r>
              <a:rPr spc="-215" dirty="0"/>
              <a:t> </a:t>
            </a:r>
            <a:r>
              <a:rPr spc="40" dirty="0"/>
              <a:t>Dataset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1206500" indent="-260350">
              <a:lnSpc>
                <a:spcPct val="101000"/>
              </a:lnSpc>
              <a:spcBef>
                <a:spcPts val="100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</a:tabLst>
            </a:pPr>
            <a:r>
              <a:rPr sz="2400" spc="60" dirty="0"/>
              <a:t>We'll</a:t>
            </a:r>
            <a:r>
              <a:rPr sz="2400" spc="-90" dirty="0"/>
              <a:t> </a:t>
            </a:r>
            <a:r>
              <a:rPr sz="2400" dirty="0"/>
              <a:t>use</a:t>
            </a:r>
            <a:r>
              <a:rPr sz="2400" spc="-90" dirty="0"/>
              <a:t> </a:t>
            </a:r>
            <a:r>
              <a:rPr sz="2400" dirty="0"/>
              <a:t>a</a:t>
            </a:r>
            <a:r>
              <a:rPr sz="2400" spc="-75" dirty="0"/>
              <a:t> </a:t>
            </a:r>
            <a:r>
              <a:rPr sz="2400" spc="60" dirty="0"/>
              <a:t>dataset</a:t>
            </a:r>
            <a:r>
              <a:rPr sz="2400" spc="-75" dirty="0"/>
              <a:t> </a:t>
            </a:r>
            <a:r>
              <a:rPr sz="2400" spc="80" dirty="0"/>
              <a:t>donated</a:t>
            </a:r>
            <a:r>
              <a:rPr sz="2400" spc="-85" dirty="0"/>
              <a:t> </a:t>
            </a:r>
            <a:r>
              <a:rPr sz="2400" spc="204" dirty="0"/>
              <a:t>to</a:t>
            </a:r>
            <a:r>
              <a:rPr sz="2400" spc="-80" dirty="0"/>
              <a:t> </a:t>
            </a:r>
            <a:r>
              <a:rPr sz="2400" spc="120" dirty="0"/>
              <a:t>the</a:t>
            </a:r>
            <a:r>
              <a:rPr sz="2400" spc="-75" dirty="0"/>
              <a:t> </a:t>
            </a:r>
            <a:r>
              <a:rPr sz="2400" spc="-110" dirty="0"/>
              <a:t>UCI</a:t>
            </a:r>
            <a:r>
              <a:rPr sz="2400" spc="-75" dirty="0"/>
              <a:t> </a:t>
            </a:r>
            <a:r>
              <a:rPr sz="2400" spc="-10" dirty="0"/>
              <a:t>Machine </a:t>
            </a:r>
            <a:r>
              <a:rPr sz="2400" dirty="0"/>
              <a:t>Learning</a:t>
            </a:r>
            <a:r>
              <a:rPr sz="2400" spc="190" dirty="0"/>
              <a:t> </a:t>
            </a:r>
            <a:r>
              <a:rPr sz="2400" dirty="0"/>
              <a:t>Data</a:t>
            </a:r>
            <a:r>
              <a:rPr sz="2400" spc="190" dirty="0"/>
              <a:t> </a:t>
            </a:r>
            <a:r>
              <a:rPr sz="2400" dirty="0"/>
              <a:t>Repository</a:t>
            </a:r>
            <a:r>
              <a:rPr sz="2400" spc="190" dirty="0"/>
              <a:t> </a:t>
            </a:r>
            <a:r>
              <a:rPr sz="2400" spc="-50" dirty="0"/>
              <a:t>(</a:t>
            </a:r>
            <a:endParaRPr sz="2400"/>
          </a:p>
          <a:p>
            <a:pPr marL="302895">
              <a:lnSpc>
                <a:spcPct val="100000"/>
              </a:lnSpc>
              <a:spcBef>
                <a:spcPts val="40"/>
              </a:spcBef>
            </a:pPr>
            <a:r>
              <a:rPr spc="55" dirty="0">
                <a:hlinkClick r:id="rId2"/>
              </a:rPr>
              <a:t>http://archive.ics.uci.edu/ml</a:t>
            </a:r>
            <a:r>
              <a:rPr spc="-80" dirty="0"/>
              <a:t> </a:t>
            </a:r>
            <a:r>
              <a:rPr dirty="0"/>
              <a:t>)</a:t>
            </a:r>
            <a:r>
              <a:rPr spc="-85" dirty="0"/>
              <a:t> </a:t>
            </a:r>
            <a:r>
              <a:rPr dirty="0"/>
              <a:t>by</a:t>
            </a:r>
            <a:r>
              <a:rPr spc="-75" dirty="0"/>
              <a:t> </a:t>
            </a:r>
            <a:r>
              <a:rPr spc="-10" dirty="0"/>
              <a:t>W.</a:t>
            </a:r>
            <a:r>
              <a:rPr spc="-85" dirty="0"/>
              <a:t> </a:t>
            </a:r>
            <a:r>
              <a:rPr dirty="0"/>
              <a:t>Frey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D.</a:t>
            </a:r>
            <a:r>
              <a:rPr spc="-85" dirty="0"/>
              <a:t> </a:t>
            </a:r>
            <a:r>
              <a:rPr dirty="0"/>
              <a:t>J.</a:t>
            </a:r>
            <a:r>
              <a:rPr spc="-85" dirty="0"/>
              <a:t> </a:t>
            </a:r>
            <a:r>
              <a:rPr spc="-10" dirty="0"/>
              <a:t>Slate.</a:t>
            </a:r>
          </a:p>
          <a:p>
            <a:pPr marL="302895" marR="5080" indent="-260350">
              <a:lnSpc>
                <a:spcPct val="101400"/>
              </a:lnSpc>
              <a:spcBef>
                <a:spcPts val="600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</a:tabLst>
            </a:pPr>
            <a:r>
              <a:rPr sz="2400" dirty="0"/>
              <a:t>The</a:t>
            </a:r>
            <a:r>
              <a:rPr sz="2400" spc="-5" dirty="0"/>
              <a:t> </a:t>
            </a:r>
            <a:r>
              <a:rPr sz="2400" spc="60" dirty="0"/>
              <a:t>dataset</a:t>
            </a:r>
            <a:r>
              <a:rPr sz="2400" spc="10" dirty="0"/>
              <a:t> </a:t>
            </a:r>
            <a:r>
              <a:rPr sz="2400" dirty="0"/>
              <a:t>contains</a:t>
            </a:r>
            <a:r>
              <a:rPr sz="2400" spc="15" dirty="0"/>
              <a:t> </a:t>
            </a:r>
            <a:r>
              <a:rPr sz="2400" dirty="0"/>
              <a:t>20,000 examples</a:t>
            </a:r>
            <a:r>
              <a:rPr sz="2400" spc="15" dirty="0"/>
              <a:t> </a:t>
            </a:r>
            <a:r>
              <a:rPr sz="2400" spc="180" dirty="0"/>
              <a:t>of</a:t>
            </a:r>
            <a:r>
              <a:rPr sz="2400" spc="-5" dirty="0"/>
              <a:t> </a:t>
            </a:r>
            <a:r>
              <a:rPr sz="2400" dirty="0"/>
              <a:t>26 </a:t>
            </a:r>
            <a:r>
              <a:rPr sz="2400" spc="-10" dirty="0"/>
              <a:t>English </a:t>
            </a:r>
            <a:r>
              <a:rPr sz="2400" spc="60" dirty="0"/>
              <a:t>alphabet</a:t>
            </a:r>
            <a:r>
              <a:rPr sz="2400" spc="5" dirty="0"/>
              <a:t> </a:t>
            </a:r>
            <a:r>
              <a:rPr sz="2400" dirty="0"/>
              <a:t>capital</a:t>
            </a:r>
            <a:r>
              <a:rPr sz="2400" spc="-10" dirty="0"/>
              <a:t> </a:t>
            </a:r>
            <a:r>
              <a:rPr sz="2400" spc="110" dirty="0"/>
              <a:t>letters</a:t>
            </a:r>
            <a:r>
              <a:rPr sz="2400" dirty="0"/>
              <a:t> </a:t>
            </a:r>
            <a:r>
              <a:rPr sz="2400" spc="-105" dirty="0"/>
              <a:t>as</a:t>
            </a:r>
            <a:r>
              <a:rPr sz="2400" dirty="0"/>
              <a:t> </a:t>
            </a:r>
            <a:r>
              <a:rPr sz="2400" spc="100" dirty="0"/>
              <a:t>printed</a:t>
            </a:r>
            <a:r>
              <a:rPr sz="2400" spc="15" dirty="0"/>
              <a:t> </a:t>
            </a:r>
            <a:r>
              <a:rPr sz="2400" dirty="0"/>
              <a:t>using 20</a:t>
            </a:r>
            <a:r>
              <a:rPr sz="2400" spc="-5" dirty="0"/>
              <a:t> </a:t>
            </a:r>
            <a:r>
              <a:rPr sz="2400" spc="125" dirty="0"/>
              <a:t>different </a:t>
            </a:r>
            <a:r>
              <a:rPr sz="2400" spc="55" dirty="0"/>
              <a:t>randomly</a:t>
            </a:r>
            <a:r>
              <a:rPr sz="2400" spc="-10" dirty="0"/>
              <a:t> </a:t>
            </a:r>
            <a:r>
              <a:rPr sz="2400" dirty="0"/>
              <a:t>reshaped</a:t>
            </a:r>
            <a:r>
              <a:rPr sz="2400" spc="-10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spc="105" dirty="0"/>
              <a:t>distorted</a:t>
            </a:r>
            <a:r>
              <a:rPr sz="2400" spc="-10" dirty="0"/>
              <a:t> </a:t>
            </a:r>
            <a:r>
              <a:rPr sz="2400" dirty="0"/>
              <a:t>black</a:t>
            </a:r>
            <a:r>
              <a:rPr sz="2400" spc="-5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spc="110" dirty="0"/>
              <a:t>white</a:t>
            </a:r>
            <a:r>
              <a:rPr sz="2400" spc="-20" dirty="0"/>
              <a:t> </a:t>
            </a:r>
            <a:r>
              <a:rPr sz="2400" spc="80" dirty="0"/>
              <a:t>fonts.</a:t>
            </a:r>
            <a:endParaRPr sz="2400"/>
          </a:p>
          <a:p>
            <a:pPr marL="302895" marR="648335" indent="-260350">
              <a:lnSpc>
                <a:spcPct val="101400"/>
              </a:lnSpc>
              <a:spcBef>
                <a:spcPts val="600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</a:tabLst>
            </a:pPr>
            <a:r>
              <a:rPr sz="2400" dirty="0"/>
              <a:t>The</a:t>
            </a:r>
            <a:r>
              <a:rPr sz="2400" spc="-60" dirty="0"/>
              <a:t> </a:t>
            </a:r>
            <a:r>
              <a:rPr sz="2400" spc="105" dirty="0"/>
              <a:t>following</a:t>
            </a:r>
            <a:r>
              <a:rPr sz="2400" spc="-50" dirty="0"/>
              <a:t> </a:t>
            </a:r>
            <a:r>
              <a:rPr sz="2400" spc="70" dirty="0"/>
              <a:t>figure,</a:t>
            </a:r>
            <a:r>
              <a:rPr sz="2400" spc="-55" dirty="0"/>
              <a:t> </a:t>
            </a:r>
            <a:r>
              <a:rPr sz="2400" spc="45" dirty="0"/>
              <a:t>published</a:t>
            </a:r>
            <a:r>
              <a:rPr sz="2400" spc="-50" dirty="0"/>
              <a:t> </a:t>
            </a:r>
            <a:r>
              <a:rPr sz="2400" dirty="0"/>
              <a:t>by</a:t>
            </a:r>
            <a:r>
              <a:rPr sz="2400" spc="-45" dirty="0"/>
              <a:t> </a:t>
            </a:r>
            <a:r>
              <a:rPr sz="2400" dirty="0"/>
              <a:t>Frey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40" dirty="0"/>
              <a:t> </a:t>
            </a:r>
            <a:r>
              <a:rPr sz="2400" spc="-10" dirty="0"/>
              <a:t>Slate, </a:t>
            </a:r>
            <a:r>
              <a:rPr sz="2400" dirty="0"/>
              <a:t>provides</a:t>
            </a:r>
            <a:r>
              <a:rPr sz="2400" spc="10" dirty="0"/>
              <a:t> </a:t>
            </a:r>
            <a:r>
              <a:rPr sz="2400" dirty="0"/>
              <a:t>an</a:t>
            </a:r>
            <a:r>
              <a:rPr sz="2400" spc="20" dirty="0"/>
              <a:t> </a:t>
            </a:r>
            <a:r>
              <a:rPr sz="2400" dirty="0"/>
              <a:t>example</a:t>
            </a:r>
            <a:r>
              <a:rPr sz="2400" spc="10" dirty="0"/>
              <a:t> </a:t>
            </a:r>
            <a:r>
              <a:rPr sz="2400" spc="180" dirty="0"/>
              <a:t>of</a:t>
            </a:r>
            <a:r>
              <a:rPr sz="2400" spc="5" dirty="0"/>
              <a:t> </a:t>
            </a:r>
            <a:r>
              <a:rPr sz="2400" dirty="0"/>
              <a:t>some</a:t>
            </a:r>
            <a:r>
              <a:rPr sz="2400" spc="10" dirty="0"/>
              <a:t> </a:t>
            </a:r>
            <a:r>
              <a:rPr sz="2400" spc="180" dirty="0"/>
              <a:t>of</a:t>
            </a:r>
            <a:r>
              <a:rPr sz="2400" spc="10" dirty="0"/>
              <a:t> </a:t>
            </a:r>
            <a:r>
              <a:rPr sz="2400" spc="120" dirty="0"/>
              <a:t>the</a:t>
            </a:r>
            <a:r>
              <a:rPr sz="2400" spc="5" dirty="0"/>
              <a:t> </a:t>
            </a:r>
            <a:r>
              <a:rPr sz="2400" spc="100" dirty="0"/>
              <a:t>printed</a:t>
            </a:r>
            <a:r>
              <a:rPr sz="2400" spc="15" dirty="0"/>
              <a:t> </a:t>
            </a:r>
            <a:r>
              <a:rPr sz="2400" spc="-10" dirty="0"/>
              <a:t>glyphs.</a:t>
            </a:r>
            <a:endParaRPr sz="2400"/>
          </a:p>
          <a:p>
            <a:pPr marL="302895" marR="385445" indent="-260350">
              <a:lnSpc>
                <a:spcPct val="101200"/>
              </a:lnSpc>
              <a:spcBef>
                <a:spcPts val="605"/>
              </a:spcBef>
              <a:buClr>
                <a:srgbClr val="6697CC"/>
              </a:buClr>
              <a:buFont typeface="Arial MT"/>
              <a:buChar char="•"/>
              <a:tabLst>
                <a:tab pos="302895" algn="l"/>
              </a:tabLst>
            </a:pPr>
            <a:r>
              <a:rPr sz="2400" spc="90" dirty="0"/>
              <a:t>Distorted</a:t>
            </a:r>
            <a:r>
              <a:rPr sz="2400" spc="-10" dirty="0"/>
              <a:t> </a:t>
            </a:r>
            <a:r>
              <a:rPr sz="2400" spc="50" dirty="0"/>
              <a:t>in</a:t>
            </a:r>
            <a:r>
              <a:rPr sz="2400" spc="-10" dirty="0"/>
              <a:t> </a:t>
            </a:r>
            <a:r>
              <a:rPr sz="2400" spc="70" dirty="0"/>
              <a:t>this</a:t>
            </a:r>
            <a:r>
              <a:rPr sz="2400" spc="-15" dirty="0"/>
              <a:t> </a:t>
            </a:r>
            <a:r>
              <a:rPr sz="2400" dirty="0"/>
              <a:t>way,</a:t>
            </a:r>
            <a:r>
              <a:rPr sz="2400" spc="-15" dirty="0"/>
              <a:t> </a:t>
            </a:r>
            <a:r>
              <a:rPr sz="2400" spc="120" dirty="0"/>
              <a:t>the</a:t>
            </a:r>
            <a:r>
              <a:rPr sz="2400" spc="-20" dirty="0"/>
              <a:t> </a:t>
            </a:r>
            <a:r>
              <a:rPr sz="2400" spc="110" dirty="0"/>
              <a:t>letters</a:t>
            </a:r>
            <a:r>
              <a:rPr sz="2400" spc="-20" dirty="0"/>
              <a:t> </a:t>
            </a:r>
            <a:r>
              <a:rPr sz="2400" dirty="0"/>
              <a:t>are</a:t>
            </a:r>
            <a:r>
              <a:rPr sz="2400" spc="-20" dirty="0"/>
              <a:t> </a:t>
            </a:r>
            <a:r>
              <a:rPr sz="2400" dirty="0"/>
              <a:t>challenging</a:t>
            </a:r>
            <a:r>
              <a:rPr sz="2400" spc="-25" dirty="0"/>
              <a:t> </a:t>
            </a:r>
            <a:r>
              <a:rPr sz="2400" spc="165" dirty="0"/>
              <a:t>for</a:t>
            </a:r>
            <a:r>
              <a:rPr sz="2400" spc="-20" dirty="0"/>
              <a:t> </a:t>
            </a:r>
            <a:r>
              <a:rPr sz="2400" spc="-50" dirty="0"/>
              <a:t>a </a:t>
            </a:r>
            <a:r>
              <a:rPr sz="2400" spc="85" dirty="0"/>
              <a:t>computer</a:t>
            </a:r>
            <a:r>
              <a:rPr sz="2400" spc="-15" dirty="0"/>
              <a:t> </a:t>
            </a:r>
            <a:r>
              <a:rPr sz="2400" spc="204" dirty="0"/>
              <a:t>to</a:t>
            </a:r>
            <a:r>
              <a:rPr sz="2400" spc="-5" dirty="0"/>
              <a:t> </a:t>
            </a:r>
            <a:r>
              <a:rPr sz="2400" spc="80" dirty="0"/>
              <a:t>identify,</a:t>
            </a:r>
            <a:r>
              <a:rPr sz="2400" spc="-5" dirty="0"/>
              <a:t> </a:t>
            </a:r>
            <a:r>
              <a:rPr sz="2400" spc="105" dirty="0"/>
              <a:t>yet</a:t>
            </a:r>
            <a:r>
              <a:rPr sz="2400" dirty="0"/>
              <a:t> are</a:t>
            </a:r>
            <a:r>
              <a:rPr sz="2400" spc="-15" dirty="0"/>
              <a:t> </a:t>
            </a:r>
            <a:r>
              <a:rPr sz="2400" dirty="0"/>
              <a:t>easily recognized</a:t>
            </a:r>
            <a:r>
              <a:rPr sz="2400" spc="-5" dirty="0"/>
              <a:t> </a:t>
            </a:r>
            <a:r>
              <a:rPr sz="2400" dirty="0"/>
              <a:t>by</a:t>
            </a:r>
            <a:r>
              <a:rPr sz="2400" spc="-5" dirty="0"/>
              <a:t> </a:t>
            </a:r>
            <a:r>
              <a:rPr sz="2400" spc="-50" dirty="0"/>
              <a:t>a </a:t>
            </a:r>
            <a:r>
              <a:rPr sz="2400" dirty="0"/>
              <a:t>human</a:t>
            </a:r>
            <a:r>
              <a:rPr sz="2400" spc="55" dirty="0"/>
              <a:t> </a:t>
            </a:r>
            <a:r>
              <a:rPr sz="2400" spc="-10" dirty="0"/>
              <a:t>being: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Actual</a:t>
            </a:r>
            <a:r>
              <a:rPr spc="-110" dirty="0"/>
              <a:t> </a:t>
            </a:r>
            <a:r>
              <a:rPr spc="45" dirty="0"/>
              <a:t>Dataset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918" y="1526755"/>
            <a:ext cx="8542083" cy="40888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Working</a:t>
            </a:r>
            <a:r>
              <a:rPr spc="-110" dirty="0"/>
              <a:t> </a:t>
            </a:r>
            <a:r>
              <a:rPr spc="180" dirty="0"/>
              <a:t>with</a:t>
            </a:r>
            <a:r>
              <a:rPr spc="-120" dirty="0"/>
              <a:t> </a:t>
            </a:r>
            <a:r>
              <a:rPr spc="70" dirty="0"/>
              <a:t>dataset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049" y="1466606"/>
            <a:ext cx="6124085" cy="44857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Training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spc="60" dirty="0"/>
              <a:t>Prediction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564" y="1540202"/>
            <a:ext cx="8410148" cy="44954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Characterization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521" y="1568788"/>
            <a:ext cx="8057711" cy="352399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25" dirty="0"/>
              <a:t>Output: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004" y="1379880"/>
            <a:ext cx="3688918" cy="473975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5996" y="1439633"/>
            <a:ext cx="1052283" cy="43200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17149"/>
            <a:ext cx="6322060" cy="415226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90" dirty="0">
                <a:latin typeface="Microsoft Sans Serif"/>
                <a:cs typeface="Microsoft Sans Serif"/>
                <a:hlinkClick r:id="rId2"/>
              </a:rPr>
              <a:t>https://mitu.co.in</a:t>
            </a:r>
            <a:endParaRPr sz="3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-10" dirty="0">
                <a:latin typeface="Microsoft Sans Serif"/>
                <a:cs typeface="Microsoft Sans Serif"/>
                <a:hlinkClick r:id="rId3"/>
              </a:rPr>
              <a:t>https://superdatascience.com</a:t>
            </a:r>
            <a:endParaRPr sz="3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55" dirty="0">
                <a:latin typeface="Microsoft Sans Serif"/>
                <a:cs typeface="Microsoft Sans Serif"/>
                <a:hlinkClick r:id="rId4"/>
              </a:rPr>
              <a:t>https://stackabuse.com/</a:t>
            </a:r>
            <a:endParaRPr sz="3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75" dirty="0">
                <a:latin typeface="Microsoft Sans Serif"/>
                <a:cs typeface="Microsoft Sans Serif"/>
                <a:hlinkClick r:id="rId5"/>
              </a:rPr>
              <a:t>https://jakevdp.github.io</a:t>
            </a:r>
            <a:endParaRPr sz="3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50" dirty="0">
                <a:latin typeface="Microsoft Sans Serif"/>
                <a:cs typeface="Microsoft Sans Serif"/>
                <a:hlinkClick r:id="rId6"/>
              </a:rPr>
              <a:t>https://towardsdatascience.com</a:t>
            </a:r>
            <a:endParaRPr sz="3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65" dirty="0">
                <a:latin typeface="Microsoft Sans Serif"/>
                <a:cs typeface="Microsoft Sans Serif"/>
                <a:hlinkClick r:id="rId7"/>
              </a:rPr>
              <a:t>https://www.datacamp.com</a:t>
            </a:r>
            <a:endParaRPr sz="32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3200" spc="120" dirty="0">
                <a:latin typeface="Microsoft Sans Serif"/>
                <a:cs typeface="Microsoft Sans Serif"/>
                <a:hlinkClick r:id="rId8"/>
              </a:rPr>
              <a:t>http://scikit-</a:t>
            </a:r>
            <a:r>
              <a:rPr sz="3200" spc="60" dirty="0">
                <a:latin typeface="Microsoft Sans Serif"/>
                <a:cs typeface="Microsoft Sans Serif"/>
                <a:hlinkClick r:id="rId8"/>
              </a:rPr>
              <a:t>learn.org/</a:t>
            </a:r>
            <a:endParaRPr sz="3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949</Words>
  <Application>Microsoft Office PowerPoint</Application>
  <PresentationFormat>On-screen Show (4:3)</PresentationFormat>
  <Paragraphs>100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Arial MT</vt:lpstr>
      <vt:lpstr>Calibri</vt:lpstr>
      <vt:lpstr>Calibri Light</vt:lpstr>
      <vt:lpstr>Cambria Math</vt:lpstr>
      <vt:lpstr>Microsoft Sans Serif</vt:lpstr>
      <vt:lpstr>Times New Roman</vt:lpstr>
      <vt:lpstr>Office Theme</vt:lpstr>
      <vt:lpstr>Support Vector Machine</vt:lpstr>
      <vt:lpstr>Decision Boundaries Revisited </vt:lpstr>
      <vt:lpstr>Decision Boundaries Revisited (cont.)</vt:lpstr>
      <vt:lpstr>Decision Boundaries Revisited (cont.)</vt:lpstr>
      <vt:lpstr>Decision Vectors</vt:lpstr>
      <vt:lpstr>Definitions</vt:lpstr>
      <vt:lpstr>Definitions</vt:lpstr>
      <vt:lpstr>Why SVM is so special ?</vt:lpstr>
      <vt:lpstr>How SVM works for this?</vt:lpstr>
      <vt:lpstr>How classification will work ?</vt:lpstr>
      <vt:lpstr>How SVM works ?</vt:lpstr>
      <vt:lpstr>How SVM works ?</vt:lpstr>
      <vt:lpstr>Non-linear and inseparable planes</vt:lpstr>
      <vt:lpstr>Non-linear and inseparable planes</vt:lpstr>
      <vt:lpstr>High Dimensional Space Mapping</vt:lpstr>
      <vt:lpstr>High Dimensional Space Mapping</vt:lpstr>
      <vt:lpstr>SVM Kernels</vt:lpstr>
      <vt:lpstr>Kernel Types</vt:lpstr>
      <vt:lpstr>Radial Basis Function Kernel</vt:lpstr>
      <vt:lpstr>Radial Basis Function Kernel</vt:lpstr>
      <vt:lpstr>Radial Basis Function Kernel</vt:lpstr>
      <vt:lpstr>Radial Basis Function Kernel</vt:lpstr>
      <vt:lpstr>Radial Basis Function Kernel</vt:lpstr>
      <vt:lpstr>Types of Kernels</vt:lpstr>
      <vt:lpstr>Types of Kernels</vt:lpstr>
      <vt:lpstr>The Dataset</vt:lpstr>
      <vt:lpstr>Actual Dataset</vt:lpstr>
      <vt:lpstr>Working with dataset</vt:lpstr>
      <vt:lpstr>Training and Prediction</vt:lpstr>
      <vt:lpstr>Characterization</vt:lpstr>
      <vt:lpstr>Output:</vt:lpstr>
      <vt:lpstr>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anwar khan</cp:lastModifiedBy>
  <cp:revision>7</cp:revision>
  <dcterms:created xsi:type="dcterms:W3CDTF">2025-12-15T14:21:15Z</dcterms:created>
  <dcterms:modified xsi:type="dcterms:W3CDTF">2025-12-16T03:29:56Z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2022-01-12T00:00:00Z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2022-01-12T00:00:00Z</vt:filetime>
  </property>
</Properties>
</file>