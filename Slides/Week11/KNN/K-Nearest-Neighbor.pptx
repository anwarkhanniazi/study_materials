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571" r:id="rId3"/>
    <p:sldId id="572" r:id="rId4"/>
    <p:sldId id="573" r:id="rId5"/>
    <p:sldId id="574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576" r:id="rId17"/>
    <p:sldId id="575" r:id="rId18"/>
    <p:sldId id="271" r:id="rId19"/>
    <p:sldId id="272" r:id="rId20"/>
    <p:sldId id="273" r:id="rId21"/>
    <p:sldId id="274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BD91-59CA-E075-4567-94D7C62844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AF586-69D2-F81B-4C8B-D780EF2EF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958EB-F5EF-609C-A3AB-A615D1C7F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C8D29-1000-4C1F-D651-0DADDB80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9218D-FE4F-EA35-3879-4ED29BC03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01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8C7B9-741F-3B40-1D09-57C6CAD3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20EAB-5A6A-922A-D19F-289AB49E1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CB107-877C-9678-4B0D-6F245CA8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77AE6-0925-C1D6-ACFC-FCAB462C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B1808-EAC7-87F2-2137-BDF97B63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90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3115-772E-6414-17EF-E4E87D08C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29D3C-A92F-793A-44F2-B7B92074A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F110F-B6F4-5732-B708-7EDCA7D0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8639E-906C-936D-A65A-DFAA362A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9AEE8-F767-8F96-4F00-61A33075A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62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F70C6-A116-1593-EEF2-CED8CC83E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77899-E263-8A30-4240-03A0EE9E4F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B9321-094F-38D1-1831-50C0F8D78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6A6847-571B-D724-9C0F-E52425389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5CC96F-BE2A-901C-6B01-CAF20D09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0A806-134A-4F82-4B92-C85BB7117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246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9FA7-3E33-252C-4276-4683D2C0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D6B8C-7594-54C6-06F6-C41484B4A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9F673-CF33-9EC4-8829-7283F8E39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72C15-E426-F5EC-28CE-D43EF9296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48157-019B-7DC4-C027-9481F49013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61FE0-BF63-0F2D-6313-C7E2FCE4A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B7B96-1EFB-A7CA-AE77-5603E120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222D8-547B-67CC-3C12-B3AA5B75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33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4541-A3C4-3935-AEC0-85BDB391B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80F7A-B752-3DDF-D70C-F91733D3F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EF945D-EB5C-5546-22A4-620247F5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E7D251-53B8-E4AC-3FF8-8C9279DC5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13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A80F5-6393-ECF1-F791-389DF1919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274375-C557-10A7-D2DC-712986360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3712E-AE47-C9C9-2756-44F76DDB4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222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82BC-71DF-82A9-3ED9-3466D8DCA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014F4-6453-4106-4177-2CD66A805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312CA-61B7-990C-6F4F-5245A3329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11708-FCF5-CF18-DF41-0CF95CE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EF445-D044-A460-2BCD-089A457D0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3AE56-0633-AF41-5015-AB0726EE1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36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DDAB0-7052-CA28-A216-431743FEA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C16086-51B7-30A1-265A-D2428DCCD2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46560-925C-721E-1A62-5AAC6FD55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C736C-E774-8EDC-7332-8CE89BCB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60E89-1A46-2A5E-383A-83C4CBFC5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6FA14-BDA3-17B1-A5F2-0EFE5E24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81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78A67-F9BD-B271-AC2A-5A053EFAF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0FEEA-E281-0659-989E-6C9BCB6D8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07962-6544-92F7-C0C8-F0F7DEA5F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92BDB-9262-B998-1F52-F38967FB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08502-65B7-B502-DDAA-C328D2B8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701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2643E-4E19-0546-7254-FADEF1FCB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E86FB-A493-20F7-A27B-970A5D559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3843C-718B-A6AF-518E-9B3B46C57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976F-2231-0FFA-3E2A-40ABFDE8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56298-14EE-CE01-3018-F4EF1A18E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7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6EFD1B-B715-3F1D-A1DB-D878CA9C4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46A16-B3E9-7DB5-9903-EAB856106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EB491-7457-D3C5-3FC0-B4E9AE3FC2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E4FFD-EF8E-0CB1-FE70-B793BA254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85BDC-0F0F-9833-FFF3-CF9F1AD124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7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9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kaggle.com/" TargetMode="External"/><Relationship Id="rId3" Type="http://schemas.openxmlformats.org/officeDocument/2006/relationships/hyperlink" Target="http://www.pythonprogramminglanguage.com/" TargetMode="External"/><Relationship Id="rId7" Type="http://schemas.openxmlformats.org/officeDocument/2006/relationships/hyperlink" Target="http://www.analyticsvidhya.com/" TargetMode="External"/><Relationship Id="rId2" Type="http://schemas.openxmlformats.org/officeDocument/2006/relationships/hyperlink" Target="http://www.mitu.co.i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medium.com/" TargetMode="External"/><Relationship Id="rId5" Type="http://schemas.openxmlformats.org/officeDocument/2006/relationships/hyperlink" Target="http://www.towardsdatascience.com/" TargetMode="External"/><Relationship Id="rId10" Type="http://schemas.openxmlformats.org/officeDocument/2006/relationships/hyperlink" Target="http://www.github.com/" TargetMode="External"/><Relationship Id="rId4" Type="http://schemas.openxmlformats.org/officeDocument/2006/relationships/hyperlink" Target="http://www.scikit-learn.org/" TargetMode="External"/><Relationship Id="rId9" Type="http://schemas.openxmlformats.org/officeDocument/2006/relationships/hyperlink" Target="http://www.stephacking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55"/>
            <a:ext cx="9144000" cy="2421255"/>
          </a:xfrm>
          <a:custGeom>
            <a:avLst/>
            <a:gdLst/>
            <a:ahLst/>
            <a:cxnLst/>
            <a:rect l="l" t="t" r="r" b="b"/>
            <a:pathLst>
              <a:path w="9144000" h="2421255">
                <a:moveTo>
                  <a:pt x="9144000" y="0"/>
                </a:moveTo>
                <a:lnTo>
                  <a:pt x="0" y="0"/>
                </a:lnTo>
                <a:lnTo>
                  <a:pt x="0" y="2421001"/>
                </a:lnTo>
                <a:lnTo>
                  <a:pt x="4572000" y="2421001"/>
                </a:lnTo>
                <a:lnTo>
                  <a:pt x="9144000" y="2421001"/>
                </a:lnTo>
                <a:lnTo>
                  <a:pt x="914400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5638"/>
            <a:ext cx="9139555" cy="252729"/>
          </a:xfrm>
          <a:custGeom>
            <a:avLst/>
            <a:gdLst/>
            <a:ahLst/>
            <a:cxnLst/>
            <a:rect l="l" t="t" r="r" b="b"/>
            <a:pathLst>
              <a:path w="9139555" h="252729">
                <a:moveTo>
                  <a:pt x="0" y="0"/>
                </a:moveTo>
                <a:lnTo>
                  <a:pt x="9138958" y="0"/>
                </a:lnTo>
                <a:lnTo>
                  <a:pt x="9138958" y="252361"/>
                </a:lnTo>
                <a:lnTo>
                  <a:pt x="0" y="252361"/>
                </a:lnTo>
                <a:lnTo>
                  <a:pt x="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2421001"/>
            <a:ext cx="9144000" cy="216535"/>
          </a:xfrm>
          <a:custGeom>
            <a:avLst/>
            <a:gdLst/>
            <a:ahLst/>
            <a:cxnLst/>
            <a:rect l="l" t="t" r="r" b="b"/>
            <a:pathLst>
              <a:path w="9144000" h="216535">
                <a:moveTo>
                  <a:pt x="9143644" y="0"/>
                </a:moveTo>
                <a:lnTo>
                  <a:pt x="0" y="0"/>
                </a:lnTo>
                <a:lnTo>
                  <a:pt x="0" y="216001"/>
                </a:lnTo>
                <a:lnTo>
                  <a:pt x="9143644" y="216001"/>
                </a:lnTo>
                <a:lnTo>
                  <a:pt x="9143644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47458" y="838339"/>
            <a:ext cx="3971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>
                <a:latin typeface="Times New Roman"/>
                <a:cs typeface="Times New Roman"/>
              </a:rPr>
              <a:t>K-</a:t>
            </a:r>
            <a:r>
              <a:rPr dirty="0">
                <a:latin typeface="Times New Roman"/>
                <a:cs typeface="Times New Roman"/>
              </a:rPr>
              <a:t>Nearest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Neighbour</a:t>
            </a: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5316" y="5084635"/>
            <a:ext cx="1263599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Nearest Neighbor Classifiers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Basic idea:</a:t>
            </a:r>
          </a:p>
          <a:p>
            <a:pPr lvl="1"/>
            <a:r>
              <a:rPr lang="en-US" altLang="en-US"/>
              <a:t>If it walks like a duck, quacks like a duck, then it’s probably a duck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04800" y="2819400"/>
            <a:ext cx="8229600" cy="3429000"/>
            <a:chOff x="192" y="1776"/>
            <a:chExt cx="5184" cy="2160"/>
          </a:xfrm>
        </p:grpSpPr>
        <p:pic>
          <p:nvPicPr>
            <p:cNvPr id="38930" name="Picture 5" descr="j0345807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6" y="2160"/>
              <a:ext cx="528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1" name="Picture 6" descr="j023958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56" y="2640"/>
              <a:ext cx="720" cy="4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2" name="Picture 7" descr="j035038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6" y="1968"/>
              <a:ext cx="444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3" name="Picture 8" descr="j033063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" y="2976"/>
              <a:ext cx="373" cy="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4" name="Picture 9" descr="j0350389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8" y="3168"/>
              <a:ext cx="624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935" name="Picture 10" descr="j0350356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6" y="2448"/>
              <a:ext cx="720" cy="6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936" name="Oval 11"/>
            <p:cNvSpPr>
              <a:spLocks noChangeArrowheads="1"/>
            </p:cNvSpPr>
            <p:nvPr/>
          </p:nvSpPr>
          <p:spPr bwMode="auto">
            <a:xfrm>
              <a:off x="816" y="1776"/>
              <a:ext cx="2544" cy="2160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7" name="Text Box 12"/>
            <p:cNvSpPr txBox="1">
              <a:spLocks noChangeArrowheads="1"/>
            </p:cNvSpPr>
            <p:nvPr/>
          </p:nvSpPr>
          <p:spPr bwMode="auto">
            <a:xfrm>
              <a:off x="192" y="3312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Training Records</a:t>
              </a:r>
            </a:p>
          </p:txBody>
        </p:sp>
        <p:sp>
          <p:nvSpPr>
            <p:cNvPr id="38938" name="Text Box 13"/>
            <p:cNvSpPr txBox="1">
              <a:spLocks noChangeArrowheads="1"/>
            </p:cNvSpPr>
            <p:nvPr/>
          </p:nvSpPr>
          <p:spPr bwMode="auto">
            <a:xfrm>
              <a:off x="4512" y="2064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en-US" sz="1800"/>
                <a:t>Test Record</a:t>
              </a:r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2667000" y="3048000"/>
            <a:ext cx="4572000" cy="2286000"/>
            <a:chOff x="1680" y="1920"/>
            <a:chExt cx="2880" cy="1440"/>
          </a:xfrm>
        </p:grpSpPr>
        <p:sp>
          <p:nvSpPr>
            <p:cNvPr id="38923" name="Text Box 15"/>
            <p:cNvSpPr txBox="1">
              <a:spLocks noChangeArrowheads="1"/>
            </p:cNvSpPr>
            <p:nvPr/>
          </p:nvSpPr>
          <p:spPr bwMode="auto">
            <a:xfrm>
              <a:off x="3312" y="1920"/>
              <a:ext cx="864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Compute Distance</a:t>
              </a:r>
            </a:p>
          </p:txBody>
        </p:sp>
        <p:grpSp>
          <p:nvGrpSpPr>
            <p:cNvPr id="38924" name="Group 16"/>
            <p:cNvGrpSpPr>
              <a:grpSpLocks/>
            </p:cNvGrpSpPr>
            <p:nvPr/>
          </p:nvGrpSpPr>
          <p:grpSpPr bwMode="auto">
            <a:xfrm>
              <a:off x="1680" y="2256"/>
              <a:ext cx="2880" cy="1104"/>
              <a:chOff x="1680" y="2256"/>
              <a:chExt cx="2880" cy="1104"/>
            </a:xfrm>
          </p:grpSpPr>
          <p:sp>
            <p:nvSpPr>
              <p:cNvPr id="38925" name="Line 17"/>
              <p:cNvSpPr>
                <a:spLocks noChangeShapeType="1"/>
              </p:cNvSpPr>
              <p:nvPr/>
            </p:nvSpPr>
            <p:spPr bwMode="auto">
              <a:xfrm>
                <a:off x="2832" y="2256"/>
                <a:ext cx="1680" cy="57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6" name="Line 18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7" name="Line 19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8" name="Line 20"/>
              <p:cNvSpPr>
                <a:spLocks noChangeShapeType="1"/>
              </p:cNvSpPr>
              <p:nvPr/>
            </p:nvSpPr>
            <p:spPr bwMode="auto">
              <a:xfrm flipV="1">
                <a:off x="1680" y="3024"/>
                <a:ext cx="2832" cy="192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9" name="Line 21"/>
              <p:cNvSpPr>
                <a:spLocks noChangeShapeType="1"/>
              </p:cNvSpPr>
              <p:nvPr/>
            </p:nvSpPr>
            <p:spPr bwMode="auto">
              <a:xfrm>
                <a:off x="1920" y="2352"/>
                <a:ext cx="2544" cy="528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038600" y="4572000"/>
            <a:ext cx="3352800" cy="1327150"/>
            <a:chOff x="2544" y="2880"/>
            <a:chExt cx="2112" cy="836"/>
          </a:xfrm>
        </p:grpSpPr>
        <p:sp>
          <p:nvSpPr>
            <p:cNvPr id="38919" name="Text Box 23"/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Choose k of the “nearest” records</a:t>
              </a:r>
            </a:p>
          </p:txBody>
        </p:sp>
        <p:grpSp>
          <p:nvGrpSpPr>
            <p:cNvPr id="38920" name="Group 24"/>
            <p:cNvGrpSpPr>
              <a:grpSpLocks/>
            </p:cNvGrpSpPr>
            <p:nvPr/>
          </p:nvGrpSpPr>
          <p:grpSpPr bwMode="auto">
            <a:xfrm>
              <a:off x="2544" y="2880"/>
              <a:ext cx="2016" cy="480"/>
              <a:chOff x="2544" y="2880"/>
              <a:chExt cx="2016" cy="480"/>
            </a:xfrm>
          </p:grpSpPr>
          <p:sp>
            <p:nvSpPr>
              <p:cNvPr id="38921" name="Line 25"/>
              <p:cNvSpPr>
                <a:spLocks noChangeShapeType="1"/>
              </p:cNvSpPr>
              <p:nvPr/>
            </p:nvSpPr>
            <p:spPr bwMode="auto">
              <a:xfrm>
                <a:off x="2544" y="2880"/>
                <a:ext cx="2016" cy="4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22" name="Line 26"/>
              <p:cNvSpPr>
                <a:spLocks noChangeShapeType="1"/>
              </p:cNvSpPr>
              <p:nvPr/>
            </p:nvSpPr>
            <p:spPr bwMode="auto">
              <a:xfrm flipV="1">
                <a:off x="2928" y="3072"/>
                <a:ext cx="1584" cy="288"/>
              </a:xfrm>
              <a:prstGeom prst="line">
                <a:avLst/>
              </a:prstGeom>
              <a:noFill/>
              <a:ln w="4445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AD5D-6E7D-4A37-856D-735AB0614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</a:t>
            </a:r>
            <a:r>
              <a:rPr lang="en-US" spc="-135" dirty="0"/>
              <a:t> </a:t>
            </a:r>
            <a:r>
              <a:rPr lang="en-US" dirty="0"/>
              <a:t>Neighbor</a:t>
            </a:r>
            <a:r>
              <a:rPr lang="en-US" spc="-120" dirty="0"/>
              <a:t> </a:t>
            </a:r>
            <a:r>
              <a:rPr lang="en-US" dirty="0"/>
              <a:t>(</a:t>
            </a:r>
            <a:r>
              <a:rPr lang="en-US" dirty="0" err="1"/>
              <a:t>kNN</a:t>
            </a:r>
            <a:r>
              <a:rPr lang="en-US" dirty="0"/>
              <a:t>)</a:t>
            </a:r>
            <a:r>
              <a:rPr lang="en-US" spc="-125" dirty="0"/>
              <a:t> </a:t>
            </a:r>
            <a:r>
              <a:rPr lang="en-US" spc="-10" dirty="0"/>
              <a:t>Algorithm</a:t>
            </a:r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981E09D-E622-4A0E-8745-2F77E610AAC0}"/>
              </a:ext>
            </a:extLst>
          </p:cNvPr>
          <p:cNvSpPr txBox="1"/>
          <p:nvPr/>
        </p:nvSpPr>
        <p:spPr>
          <a:xfrm>
            <a:off x="299402" y="1495109"/>
            <a:ext cx="6584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1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Idea: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E7BE7FB2-8006-4B16-AC72-90DB9FFE9DE6}"/>
              </a:ext>
            </a:extLst>
          </p:cNvPr>
          <p:cNvGrpSpPr/>
          <p:nvPr/>
        </p:nvGrpSpPr>
        <p:grpSpPr>
          <a:xfrm>
            <a:off x="471401" y="2063750"/>
            <a:ext cx="3795799" cy="4605501"/>
            <a:chOff x="911075" y="1211961"/>
            <a:chExt cx="4936132" cy="4605501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2C85A82-40FA-4716-AEB7-2FE074048AD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1075" y="1211961"/>
              <a:ext cx="4936132" cy="4605501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CA2EFC7B-1774-46F1-9346-33F673476C8E}"/>
                </a:ext>
              </a:extLst>
            </p:cNvPr>
            <p:cNvSpPr/>
            <p:nvPr/>
          </p:nvSpPr>
          <p:spPr>
            <a:xfrm>
              <a:off x="1244727" y="1211961"/>
              <a:ext cx="4602480" cy="4434840"/>
            </a:xfrm>
            <a:custGeom>
              <a:avLst/>
              <a:gdLst/>
              <a:ahLst/>
              <a:cxnLst/>
              <a:rect l="l" t="t" r="r" b="b"/>
              <a:pathLst>
                <a:path w="4602480" h="4434840">
                  <a:moveTo>
                    <a:pt x="0" y="4434840"/>
                  </a:moveTo>
                  <a:lnTo>
                    <a:pt x="4602480" y="4434840"/>
                  </a:lnTo>
                  <a:lnTo>
                    <a:pt x="4602480" y="0"/>
                  </a:lnTo>
                  <a:lnTo>
                    <a:pt x="0" y="0"/>
                  </a:lnTo>
                  <a:lnTo>
                    <a:pt x="0" y="443484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C7200984-FF05-426E-AC13-40D201E029F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9664" y="4431220"/>
              <a:ext cx="238125" cy="238125"/>
            </a:xfrm>
            <a:prstGeom prst="rect">
              <a:avLst/>
            </a:prstGeom>
          </p:spPr>
        </p:pic>
        <p:pic>
          <p:nvPicPr>
            <p:cNvPr id="8" name="object 8">
              <a:extLst>
                <a:ext uri="{FF2B5EF4-FFF2-40B4-BE49-F238E27FC236}">
                  <a16:creationId xmlns:a16="http://schemas.microsoft.com/office/drawing/2014/main" id="{AACC934A-422F-4919-8149-25C8EDF7EBB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30764" y="2631376"/>
              <a:ext cx="238125" cy="238125"/>
            </a:xfrm>
            <a:prstGeom prst="rect">
              <a:avLst/>
            </a:prstGeom>
          </p:spPr>
        </p:pic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4FA7C37E-1AFF-44B3-8E1E-A043A26DF2AB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6412" y="4321492"/>
              <a:ext cx="238125" cy="238125"/>
            </a:xfrm>
            <a:prstGeom prst="rect">
              <a:avLst/>
            </a:prstGeom>
          </p:spPr>
        </p:pic>
        <p:pic>
          <p:nvPicPr>
            <p:cNvPr id="10" name="object 10">
              <a:extLst>
                <a:ext uri="{FF2B5EF4-FFF2-40B4-BE49-F238E27FC236}">
                  <a16:creationId xmlns:a16="http://schemas.microsoft.com/office/drawing/2014/main" id="{F6555D0F-177F-4D04-8279-BAC1A558925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6660" y="3840670"/>
              <a:ext cx="238125" cy="238125"/>
            </a:xfrm>
            <a:prstGeom prst="rect">
              <a:avLst/>
            </a:prstGeom>
          </p:spPr>
        </p:pic>
        <p:pic>
          <p:nvPicPr>
            <p:cNvPr id="11" name="object 11">
              <a:extLst>
                <a:ext uri="{FF2B5EF4-FFF2-40B4-BE49-F238E27FC236}">
                  <a16:creationId xmlns:a16="http://schemas.microsoft.com/office/drawing/2014/main" id="{CB268153-7A61-46A4-872F-55B1BC003C4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1116" y="2600134"/>
              <a:ext cx="238125" cy="238125"/>
            </a:xfrm>
            <a:prstGeom prst="rect">
              <a:avLst/>
            </a:prstGeom>
          </p:spPr>
        </p:pic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2CF7BA5C-6213-4CA7-884B-CC9F5E7DFE1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6904" y="2371534"/>
              <a:ext cx="238125" cy="238125"/>
            </a:xfrm>
            <a:prstGeom prst="rect">
              <a:avLst/>
            </a:prstGeom>
          </p:spPr>
        </p:pic>
        <p:pic>
          <p:nvPicPr>
            <p:cNvPr id="13" name="object 13">
              <a:extLst>
                <a:ext uri="{FF2B5EF4-FFF2-40B4-BE49-F238E27FC236}">
                  <a16:creationId xmlns:a16="http://schemas.microsoft.com/office/drawing/2014/main" id="{D6AEA40D-A3BB-46AE-B22F-191EA0267EC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6660" y="4448746"/>
              <a:ext cx="238125" cy="238125"/>
            </a:xfrm>
            <a:prstGeom prst="rect">
              <a:avLst/>
            </a:prstGeom>
          </p:spPr>
        </p:pic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7CC08EB4-1A59-4DED-BF3D-DF137DEDE8C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5064" y="2310574"/>
              <a:ext cx="238125" cy="238125"/>
            </a:xfrm>
            <a:prstGeom prst="rect">
              <a:avLst/>
            </a:prstGeom>
          </p:spPr>
        </p:pic>
        <p:pic>
          <p:nvPicPr>
            <p:cNvPr id="15" name="object 15">
              <a:extLst>
                <a:ext uri="{FF2B5EF4-FFF2-40B4-BE49-F238E27FC236}">
                  <a16:creationId xmlns:a16="http://schemas.microsoft.com/office/drawing/2014/main" id="{50161F1D-7C59-4690-B0ED-3B94044B7E3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92639" y="2745290"/>
              <a:ext cx="238125" cy="238125"/>
            </a:xfrm>
            <a:prstGeom prst="rect">
              <a:avLst/>
            </a:prstGeom>
          </p:spPr>
        </p:pic>
        <p:pic>
          <p:nvPicPr>
            <p:cNvPr id="16" name="object 16">
              <a:extLst>
                <a:ext uri="{FF2B5EF4-FFF2-40B4-BE49-F238E27FC236}">
                  <a16:creationId xmlns:a16="http://schemas.microsoft.com/office/drawing/2014/main" id="{0FAE6E41-0919-4916-B4F5-A9927146FD8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3046" y="1789366"/>
              <a:ext cx="238125" cy="238125"/>
            </a:xfrm>
            <a:prstGeom prst="rect">
              <a:avLst/>
            </a:prstGeom>
          </p:spPr>
        </p:pic>
        <p:pic>
          <p:nvPicPr>
            <p:cNvPr id="17" name="object 17">
              <a:extLst>
                <a:ext uri="{FF2B5EF4-FFF2-40B4-BE49-F238E27FC236}">
                  <a16:creationId xmlns:a16="http://schemas.microsoft.com/office/drawing/2014/main" id="{7115BB6C-250C-4C60-9C10-95117D9A1E0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6464" y="1825180"/>
              <a:ext cx="238125" cy="238125"/>
            </a:xfrm>
            <a:prstGeom prst="rect">
              <a:avLst/>
            </a:prstGeom>
          </p:spPr>
        </p:pic>
      </p:grpSp>
      <p:sp>
        <p:nvSpPr>
          <p:cNvPr id="18" name="object 25">
            <a:extLst>
              <a:ext uri="{FF2B5EF4-FFF2-40B4-BE49-F238E27FC236}">
                <a16:creationId xmlns:a16="http://schemas.microsoft.com/office/drawing/2014/main" id="{88586AF9-1EE8-4A85-856F-4AB4DE2B3DDC}"/>
              </a:ext>
            </a:extLst>
          </p:cNvPr>
          <p:cNvSpPr txBox="1"/>
          <p:nvPr/>
        </p:nvSpPr>
        <p:spPr>
          <a:xfrm>
            <a:off x="4482542" y="2174081"/>
            <a:ext cx="42570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Two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classes,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two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features</a:t>
            </a:r>
            <a:endParaRPr sz="2400">
              <a:latin typeface="Segoe Print"/>
              <a:cs typeface="Segoe Print"/>
            </a:endParaRPr>
          </a:p>
        </p:txBody>
      </p:sp>
      <p:sp>
        <p:nvSpPr>
          <p:cNvPr id="19" name="object 26">
            <a:extLst>
              <a:ext uri="{FF2B5EF4-FFF2-40B4-BE49-F238E27FC236}">
                <a16:creationId xmlns:a16="http://schemas.microsoft.com/office/drawing/2014/main" id="{E40F1007-45CC-4BF1-AA34-F049B5190889}"/>
              </a:ext>
            </a:extLst>
          </p:cNvPr>
          <p:cNvSpPr txBox="1"/>
          <p:nvPr/>
        </p:nvSpPr>
        <p:spPr>
          <a:xfrm>
            <a:off x="4482542" y="3088227"/>
            <a:ext cx="44602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7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We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want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to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assign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</a:t>
            </a:r>
            <a:r>
              <a:rPr sz="2400" spc="-15" dirty="0">
                <a:latin typeface="Segoe Print"/>
                <a:cs typeface="Segoe Print"/>
              </a:rPr>
              <a:t> </a:t>
            </a:r>
            <a:r>
              <a:rPr sz="2400" spc="-25" dirty="0">
                <a:latin typeface="Segoe Print"/>
                <a:cs typeface="Segoe Print"/>
              </a:rPr>
              <a:t>to </a:t>
            </a:r>
            <a:r>
              <a:rPr sz="2400" dirty="0">
                <a:latin typeface="Segoe Print"/>
                <a:cs typeface="Segoe Print"/>
              </a:rPr>
              <a:t>unknown</a:t>
            </a:r>
            <a:r>
              <a:rPr sz="2400" spc="-4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data</a:t>
            </a:r>
            <a:r>
              <a:rPr sz="2400" spc="-35" dirty="0">
                <a:latin typeface="Segoe Print"/>
                <a:cs typeface="Segoe Print"/>
              </a:rPr>
              <a:t> </a:t>
            </a:r>
            <a:r>
              <a:rPr sz="2400" spc="-10" dirty="0">
                <a:latin typeface="Segoe Print"/>
                <a:cs typeface="Segoe Print"/>
              </a:rPr>
              <a:t>point?</a:t>
            </a:r>
            <a:endParaRPr sz="2400" dirty="0">
              <a:latin typeface="Segoe Print"/>
              <a:cs typeface="Segoe Print"/>
            </a:endParaRPr>
          </a:p>
        </p:txBody>
      </p:sp>
      <p:sp>
        <p:nvSpPr>
          <p:cNvPr id="20" name="object 27">
            <a:extLst>
              <a:ext uri="{FF2B5EF4-FFF2-40B4-BE49-F238E27FC236}">
                <a16:creationId xmlns:a16="http://schemas.microsoft.com/office/drawing/2014/main" id="{B9D090AC-DE05-4417-9322-3AAF5A505248}"/>
              </a:ext>
            </a:extLst>
          </p:cNvPr>
          <p:cNvSpPr txBox="1"/>
          <p:nvPr/>
        </p:nvSpPr>
        <p:spPr>
          <a:xfrm>
            <a:off x="4482542" y="4917534"/>
            <a:ext cx="3423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Segoe Print"/>
                <a:cs typeface="Segoe Print"/>
              </a:rPr>
              <a:t>-</a:t>
            </a:r>
            <a:r>
              <a:rPr sz="2400" spc="16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Label</a:t>
            </a:r>
            <a:r>
              <a:rPr sz="2400" spc="-25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should</a:t>
            </a:r>
            <a:r>
              <a:rPr sz="2400" spc="-30" dirty="0">
                <a:latin typeface="Segoe Print"/>
                <a:cs typeface="Segoe Print"/>
              </a:rPr>
              <a:t> </a:t>
            </a:r>
            <a:r>
              <a:rPr sz="2400" dirty="0">
                <a:latin typeface="Segoe Print"/>
                <a:cs typeface="Segoe Print"/>
              </a:rPr>
              <a:t>be</a:t>
            </a:r>
            <a:r>
              <a:rPr sz="2400" spc="-20" dirty="0">
                <a:latin typeface="Segoe Print"/>
                <a:cs typeface="Segoe Print"/>
              </a:rPr>
              <a:t> </a:t>
            </a:r>
            <a:r>
              <a:rPr sz="2400" b="1" spc="-20" dirty="0">
                <a:solidFill>
                  <a:srgbClr val="FF0000"/>
                </a:solidFill>
                <a:latin typeface="Segoe Print"/>
                <a:cs typeface="Segoe Print"/>
              </a:rPr>
              <a:t>red</a:t>
            </a:r>
            <a:r>
              <a:rPr sz="2400" spc="-20" dirty="0">
                <a:latin typeface="Segoe Print"/>
                <a:cs typeface="Segoe Print"/>
              </a:rPr>
              <a:t>.</a:t>
            </a:r>
            <a:endParaRPr sz="2400">
              <a:latin typeface="Segoe Print"/>
              <a:cs typeface="Segoe Print"/>
            </a:endParaRPr>
          </a:p>
        </p:txBody>
      </p:sp>
    </p:spTree>
    <p:extLst>
      <p:ext uri="{BB962C8B-B14F-4D97-AF65-F5344CB8AC3E}">
        <p14:creationId xmlns:p14="http://schemas.microsoft.com/office/powerpoint/2010/main" val="296086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054" y="1291399"/>
            <a:ext cx="8507730" cy="502381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0968">
              <a:spcBef>
                <a:spcPts val="75"/>
              </a:spcBef>
            </a:pPr>
            <a:r>
              <a:rPr sz="2000" b="1" u="sng" spc="-8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Idea:</a:t>
            </a:r>
            <a:endParaRPr sz="2000" dirty="0">
              <a:latin typeface="Calibri"/>
              <a:cs typeface="Calibri"/>
            </a:endParaRPr>
          </a:p>
          <a:p>
            <a:pPr marL="378143" indent="-257175">
              <a:spcBef>
                <a:spcPts val="1631"/>
              </a:spcBef>
              <a:buChar char="-"/>
              <a:tabLst>
                <a:tab pos="378143" algn="l"/>
              </a:tabLst>
            </a:pPr>
            <a:r>
              <a:rPr sz="2000" dirty="0">
                <a:latin typeface="Segoe Print"/>
                <a:cs typeface="Segoe Print"/>
              </a:rPr>
              <a:t>We</a:t>
            </a:r>
            <a:r>
              <a:rPr sz="2000" spc="-5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have</a:t>
            </a:r>
            <a:r>
              <a:rPr sz="2000" spc="-4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similar</a:t>
            </a:r>
            <a:r>
              <a:rPr sz="2000" spc="-5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labels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for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similar</a:t>
            </a:r>
            <a:r>
              <a:rPr sz="2000" spc="-53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features.</a:t>
            </a:r>
            <a:endParaRPr sz="2000" dirty="0">
              <a:latin typeface="Segoe Print"/>
              <a:cs typeface="Segoe Print"/>
            </a:endParaRPr>
          </a:p>
          <a:p>
            <a:pPr marL="378143" indent="-257175">
              <a:spcBef>
                <a:spcPts val="1080"/>
              </a:spcBef>
              <a:buChar char="-"/>
              <a:tabLst>
                <a:tab pos="378143" algn="l"/>
              </a:tabLst>
            </a:pPr>
            <a:r>
              <a:rPr sz="2000" dirty="0">
                <a:latin typeface="Segoe Print"/>
                <a:cs typeface="Segoe Print"/>
              </a:rPr>
              <a:t>We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classify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new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test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point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using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similar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training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data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points.</a:t>
            </a:r>
            <a:endParaRPr sz="2000" dirty="0">
              <a:latin typeface="Segoe Print"/>
              <a:cs typeface="Segoe Print"/>
            </a:endParaRPr>
          </a:p>
          <a:p>
            <a:pPr marL="120968">
              <a:spcBef>
                <a:spcPts val="855"/>
              </a:spcBef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</a:t>
            </a:r>
            <a:r>
              <a:rPr sz="2000" b="1" u="sng" spc="-6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overview:</a:t>
            </a:r>
            <a:endParaRPr sz="2000" dirty="0">
              <a:latin typeface="Calibri"/>
              <a:cs typeface="Calibri"/>
            </a:endParaRPr>
          </a:p>
          <a:p>
            <a:pPr marL="378143" indent="-257175">
              <a:spcBef>
                <a:spcPts val="472"/>
              </a:spcBef>
              <a:buChar char="-"/>
              <a:tabLst>
                <a:tab pos="378143" algn="l"/>
              </a:tabLst>
            </a:pPr>
            <a:r>
              <a:rPr sz="2000" dirty="0">
                <a:latin typeface="Segoe Print"/>
                <a:cs typeface="Segoe Print"/>
              </a:rPr>
              <a:t>Given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some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new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test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point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x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for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which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we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need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predict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class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spc="-19" dirty="0">
                <a:latin typeface="Segoe Print"/>
                <a:cs typeface="Segoe Print"/>
              </a:rPr>
              <a:t>y.</a:t>
            </a:r>
            <a:endParaRPr sz="2000" dirty="0">
              <a:latin typeface="Segoe Print"/>
              <a:cs typeface="Segoe Print"/>
            </a:endParaRPr>
          </a:p>
          <a:p>
            <a:pPr marL="378143" indent="-257175">
              <a:spcBef>
                <a:spcPts val="1080"/>
              </a:spcBef>
              <a:buChar char="-"/>
              <a:tabLst>
                <a:tab pos="378143" algn="l"/>
              </a:tabLst>
            </a:pPr>
            <a:r>
              <a:rPr sz="2000" dirty="0">
                <a:latin typeface="Segoe Print"/>
                <a:cs typeface="Segoe Print"/>
              </a:rPr>
              <a:t>Find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most</a:t>
            </a:r>
            <a:r>
              <a:rPr sz="2000" b="1" spc="-34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similar</a:t>
            </a:r>
            <a:r>
              <a:rPr sz="2000" b="1" spc="-34" dirty="0">
                <a:latin typeface="Segoe Print"/>
                <a:cs typeface="Segoe Print"/>
              </a:rPr>
              <a:t> </a:t>
            </a:r>
            <a:r>
              <a:rPr sz="2000" spc="-15" dirty="0">
                <a:latin typeface="Segoe Print"/>
                <a:cs typeface="Segoe Print"/>
              </a:rPr>
              <a:t>data-</a:t>
            </a:r>
            <a:r>
              <a:rPr sz="2000" dirty="0">
                <a:latin typeface="Segoe Print"/>
                <a:cs typeface="Segoe Print"/>
              </a:rPr>
              <a:t>points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training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data.</a:t>
            </a:r>
            <a:endParaRPr sz="2000" dirty="0">
              <a:latin typeface="Segoe Print"/>
              <a:cs typeface="Segoe Print"/>
            </a:endParaRPr>
          </a:p>
          <a:p>
            <a:pPr marL="378143" indent="-257175">
              <a:spcBef>
                <a:spcPts val="1080"/>
              </a:spcBef>
              <a:buChar char="-"/>
              <a:tabLst>
                <a:tab pos="378143" algn="l"/>
              </a:tabLst>
            </a:pPr>
            <a:r>
              <a:rPr sz="2000" dirty="0">
                <a:latin typeface="Segoe Print"/>
                <a:cs typeface="Segoe Print"/>
              </a:rPr>
              <a:t>Classify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x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“like”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these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most</a:t>
            </a:r>
            <a:r>
              <a:rPr sz="2000" b="1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similar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data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points.</a:t>
            </a:r>
            <a:endParaRPr sz="2000" dirty="0">
              <a:latin typeface="Segoe Print"/>
              <a:cs typeface="Segoe Print"/>
            </a:endParaRPr>
          </a:p>
          <a:p>
            <a:pPr marL="120968">
              <a:spcBef>
                <a:spcPts val="975"/>
              </a:spcBef>
            </a:pPr>
            <a:r>
              <a:rPr sz="2000" b="1" u="sng" spc="-8" dirty="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alibri"/>
                <a:cs typeface="Calibri"/>
              </a:rPr>
              <a:t>Questions:</a:t>
            </a:r>
            <a:endParaRPr sz="2000" dirty="0">
              <a:latin typeface="Calibri"/>
              <a:cs typeface="Calibri"/>
            </a:endParaRPr>
          </a:p>
          <a:p>
            <a:pPr marL="266700" indent="-257175">
              <a:spcBef>
                <a:spcPts val="750"/>
              </a:spcBef>
              <a:buChar char="-"/>
              <a:tabLst>
                <a:tab pos="266700" algn="l"/>
              </a:tabLst>
            </a:pPr>
            <a:r>
              <a:rPr sz="2000" dirty="0">
                <a:latin typeface="Segoe Print"/>
                <a:cs typeface="Segoe Print"/>
              </a:rPr>
              <a:t>How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do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we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determine</a:t>
            </a:r>
            <a:r>
              <a:rPr sz="2000" spc="-3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similarity?</a:t>
            </a:r>
            <a:endParaRPr sz="2000" dirty="0">
              <a:latin typeface="Segoe Print"/>
              <a:cs typeface="Segoe Print"/>
            </a:endParaRPr>
          </a:p>
          <a:p>
            <a:pPr marL="266700" indent="-257175">
              <a:spcBef>
                <a:spcPts val="1080"/>
              </a:spcBef>
              <a:buChar char="-"/>
              <a:tabLst>
                <a:tab pos="266700" algn="l"/>
              </a:tabLst>
            </a:pPr>
            <a:r>
              <a:rPr sz="2000" dirty="0">
                <a:latin typeface="Segoe Print"/>
                <a:cs typeface="Segoe Print"/>
              </a:rPr>
              <a:t>How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many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similar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training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data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points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consider?</a:t>
            </a:r>
            <a:endParaRPr sz="2000" dirty="0">
              <a:latin typeface="Segoe Print"/>
              <a:cs typeface="Segoe Print"/>
            </a:endParaRPr>
          </a:p>
          <a:p>
            <a:pPr marL="266700" indent="-257175">
              <a:spcBef>
                <a:spcPts val="1084"/>
              </a:spcBef>
              <a:buChar char="-"/>
              <a:tabLst>
                <a:tab pos="266700" algn="l"/>
              </a:tabLst>
            </a:pPr>
            <a:r>
              <a:rPr sz="2000" dirty="0">
                <a:latin typeface="Segoe Print"/>
                <a:cs typeface="Segoe Print"/>
              </a:rPr>
              <a:t>How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to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resolve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inconsistencies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among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training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data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points?</a:t>
            </a:r>
            <a:endParaRPr sz="20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417756"/>
            <a:ext cx="754380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k-Nearest</a:t>
            </a:r>
            <a:r>
              <a:rPr spc="-101" dirty="0"/>
              <a:t> </a:t>
            </a:r>
            <a:r>
              <a:rPr dirty="0"/>
              <a:t>Neighbor</a:t>
            </a:r>
            <a:r>
              <a:rPr spc="-90" dirty="0"/>
              <a:t> </a:t>
            </a:r>
            <a:r>
              <a:rPr dirty="0"/>
              <a:t>(kNN)</a:t>
            </a:r>
            <a:r>
              <a:rPr spc="-94" dirty="0"/>
              <a:t> </a:t>
            </a:r>
            <a:r>
              <a:rPr spc="-8" dirty="0"/>
              <a:t>Algorithm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0878" y="1391032"/>
            <a:ext cx="1940243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u="sng" spc="-8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1-</a:t>
            </a:r>
            <a:r>
              <a:rPr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Nearest</a:t>
            </a:r>
            <a:r>
              <a:rPr b="1" u="sng" spc="-90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8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Neighbor:</a:t>
            </a:r>
            <a:endParaRPr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3648" y="487431"/>
            <a:ext cx="7311152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k-Nearest</a:t>
            </a:r>
            <a:r>
              <a:rPr spc="-101" dirty="0"/>
              <a:t> </a:t>
            </a:r>
            <a:r>
              <a:rPr dirty="0"/>
              <a:t>Neighbor</a:t>
            </a:r>
            <a:r>
              <a:rPr spc="-90" dirty="0"/>
              <a:t> </a:t>
            </a:r>
            <a:r>
              <a:rPr dirty="0"/>
              <a:t>(kNN)</a:t>
            </a:r>
            <a:r>
              <a:rPr spc="-94" dirty="0"/>
              <a:t> </a:t>
            </a:r>
            <a:r>
              <a:rPr spc="-8" dirty="0"/>
              <a:t>Algorithm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414" y="1767077"/>
            <a:ext cx="5069586" cy="8406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dirty="0">
                <a:latin typeface="Segoe Print"/>
                <a:cs typeface="Segoe Print"/>
              </a:rPr>
              <a:t>Simplest</a:t>
            </a:r>
            <a:r>
              <a:rPr spc="-34" dirty="0">
                <a:latin typeface="Segoe Print"/>
                <a:cs typeface="Segoe Print"/>
              </a:rPr>
              <a:t> </a:t>
            </a:r>
            <a:r>
              <a:rPr dirty="0">
                <a:latin typeface="Segoe Print"/>
                <a:cs typeface="Segoe Print"/>
              </a:rPr>
              <a:t>ML</a:t>
            </a:r>
            <a:r>
              <a:rPr spc="-45" dirty="0">
                <a:latin typeface="Segoe Print"/>
                <a:cs typeface="Segoe Print"/>
              </a:rPr>
              <a:t> </a:t>
            </a:r>
            <a:r>
              <a:rPr spc="-8" dirty="0">
                <a:latin typeface="Segoe Print"/>
                <a:cs typeface="Segoe Print"/>
              </a:rPr>
              <a:t>Classifier</a:t>
            </a:r>
            <a:endParaRPr>
              <a:latin typeface="Segoe Print"/>
              <a:cs typeface="Segoe Print"/>
            </a:endParaRPr>
          </a:p>
          <a:p>
            <a:pPr marL="9525">
              <a:tabLst>
                <a:tab pos="556736" algn="l"/>
              </a:tabLst>
            </a:pPr>
            <a:r>
              <a:rPr spc="-8" dirty="0">
                <a:solidFill>
                  <a:srgbClr val="FF0000"/>
                </a:solidFill>
                <a:latin typeface="Segoe Print"/>
                <a:cs typeface="Segoe Print"/>
              </a:rPr>
              <a:t>Idea:</a:t>
            </a:r>
            <a:r>
              <a:rPr dirty="0">
                <a:solidFill>
                  <a:srgbClr val="FF0000"/>
                </a:solidFill>
                <a:latin typeface="Segoe Print"/>
                <a:cs typeface="Segoe Print"/>
              </a:rPr>
              <a:t>	</a:t>
            </a:r>
            <a:r>
              <a:rPr dirty="0">
                <a:latin typeface="Segoe Print"/>
                <a:cs typeface="Segoe Print"/>
              </a:rPr>
              <a:t>Use</a:t>
            </a:r>
            <a:r>
              <a:rPr spc="-15" dirty="0">
                <a:latin typeface="Segoe Print"/>
                <a:cs typeface="Segoe Print"/>
              </a:rPr>
              <a:t> </a:t>
            </a:r>
            <a:r>
              <a:rPr dirty="0">
                <a:latin typeface="Segoe Print"/>
                <a:cs typeface="Segoe Print"/>
              </a:rPr>
              <a:t>the</a:t>
            </a:r>
            <a:r>
              <a:rPr spc="-19" dirty="0">
                <a:latin typeface="Segoe Print"/>
                <a:cs typeface="Segoe Print"/>
              </a:rPr>
              <a:t> </a:t>
            </a:r>
            <a:r>
              <a:rPr dirty="0">
                <a:latin typeface="Segoe Print"/>
                <a:cs typeface="Segoe Print"/>
              </a:rPr>
              <a:t>label</a:t>
            </a:r>
            <a:r>
              <a:rPr spc="-19" dirty="0">
                <a:latin typeface="Segoe Print"/>
                <a:cs typeface="Segoe Print"/>
              </a:rPr>
              <a:t> </a:t>
            </a:r>
            <a:r>
              <a:rPr dirty="0">
                <a:latin typeface="Segoe Print"/>
                <a:cs typeface="Segoe Print"/>
              </a:rPr>
              <a:t>of</a:t>
            </a:r>
            <a:r>
              <a:rPr spc="-23" dirty="0">
                <a:latin typeface="Segoe Print"/>
                <a:cs typeface="Segoe Print"/>
              </a:rPr>
              <a:t> </a:t>
            </a:r>
            <a:r>
              <a:rPr dirty="0">
                <a:latin typeface="Segoe Print"/>
                <a:cs typeface="Segoe Print"/>
              </a:rPr>
              <a:t>the</a:t>
            </a:r>
            <a:r>
              <a:rPr spc="-15" dirty="0">
                <a:latin typeface="Segoe Print"/>
                <a:cs typeface="Segoe Print"/>
              </a:rPr>
              <a:t> </a:t>
            </a:r>
            <a:r>
              <a:rPr b="1" dirty="0">
                <a:latin typeface="Segoe Print"/>
                <a:cs typeface="Segoe Print"/>
              </a:rPr>
              <a:t>closest</a:t>
            </a:r>
            <a:r>
              <a:rPr b="1" spc="-11" dirty="0">
                <a:latin typeface="Segoe Print"/>
                <a:cs typeface="Segoe Print"/>
              </a:rPr>
              <a:t> </a:t>
            </a:r>
            <a:r>
              <a:rPr dirty="0">
                <a:latin typeface="Segoe Print"/>
                <a:cs typeface="Segoe Print"/>
              </a:rPr>
              <a:t>known</a:t>
            </a:r>
            <a:r>
              <a:rPr spc="-34" dirty="0">
                <a:latin typeface="Segoe Print"/>
                <a:cs typeface="Segoe Print"/>
              </a:rPr>
              <a:t> </a:t>
            </a:r>
            <a:r>
              <a:rPr spc="-8" dirty="0">
                <a:latin typeface="Segoe Print"/>
                <a:cs typeface="Segoe Print"/>
              </a:rPr>
              <a:t>point</a:t>
            </a:r>
            <a:endParaRPr>
              <a:latin typeface="Segoe Print"/>
              <a:cs typeface="Segoe Prin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8579" y="1794653"/>
            <a:ext cx="178594" cy="1785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4329" y="2880503"/>
            <a:ext cx="178594" cy="17859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7279" y="1566053"/>
            <a:ext cx="178594" cy="17859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1429" y="2366153"/>
            <a:ext cx="178594" cy="1785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21629" y="2480453"/>
            <a:ext cx="178594" cy="17859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350079" y="2071783"/>
            <a:ext cx="811530" cy="616268"/>
            <a:chOff x="8466772" y="1619377"/>
            <a:chExt cx="1082040" cy="82169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66772" y="1630870"/>
              <a:ext cx="238125" cy="23812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47772" y="1935670"/>
              <a:ext cx="238125" cy="23812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585834" y="1673733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lnTo>
                    <a:pt x="2968" y="333204"/>
                  </a:lnTo>
                  <a:lnTo>
                    <a:pt x="11634" y="287181"/>
                  </a:lnTo>
                  <a:lnTo>
                    <a:pt x="25643" y="243288"/>
                  </a:lnTo>
                  <a:lnTo>
                    <a:pt x="44636" y="201881"/>
                  </a:lnTo>
                  <a:lnTo>
                    <a:pt x="68257" y="163318"/>
                  </a:lnTo>
                  <a:lnTo>
                    <a:pt x="96149" y="127955"/>
                  </a:lnTo>
                  <a:lnTo>
                    <a:pt x="127955" y="96149"/>
                  </a:lnTo>
                  <a:lnTo>
                    <a:pt x="163318" y="68257"/>
                  </a:lnTo>
                  <a:lnTo>
                    <a:pt x="201881" y="44636"/>
                  </a:lnTo>
                  <a:lnTo>
                    <a:pt x="243288" y="25643"/>
                  </a:lnTo>
                  <a:lnTo>
                    <a:pt x="287181" y="11634"/>
                  </a:lnTo>
                  <a:lnTo>
                    <a:pt x="333204" y="2968"/>
                  </a:lnTo>
                  <a:lnTo>
                    <a:pt x="381000" y="0"/>
                  </a:lnTo>
                  <a:lnTo>
                    <a:pt x="428795" y="2968"/>
                  </a:lnTo>
                  <a:lnTo>
                    <a:pt x="474818" y="11634"/>
                  </a:lnTo>
                  <a:lnTo>
                    <a:pt x="518711" y="25643"/>
                  </a:lnTo>
                  <a:lnTo>
                    <a:pt x="560118" y="44636"/>
                  </a:lnTo>
                  <a:lnTo>
                    <a:pt x="598681" y="68257"/>
                  </a:lnTo>
                  <a:lnTo>
                    <a:pt x="634044" y="96149"/>
                  </a:lnTo>
                  <a:lnTo>
                    <a:pt x="665850" y="127955"/>
                  </a:lnTo>
                  <a:lnTo>
                    <a:pt x="693742" y="163318"/>
                  </a:lnTo>
                  <a:lnTo>
                    <a:pt x="717363" y="201881"/>
                  </a:lnTo>
                  <a:lnTo>
                    <a:pt x="736356" y="243288"/>
                  </a:lnTo>
                  <a:lnTo>
                    <a:pt x="750365" y="287181"/>
                  </a:lnTo>
                  <a:lnTo>
                    <a:pt x="759031" y="333204"/>
                  </a:lnTo>
                  <a:lnTo>
                    <a:pt x="762000" y="381000"/>
                  </a:lnTo>
                  <a:lnTo>
                    <a:pt x="759031" y="428795"/>
                  </a:lnTo>
                  <a:lnTo>
                    <a:pt x="750365" y="474818"/>
                  </a:lnTo>
                  <a:lnTo>
                    <a:pt x="736356" y="518711"/>
                  </a:lnTo>
                  <a:lnTo>
                    <a:pt x="717363" y="560118"/>
                  </a:lnTo>
                  <a:lnTo>
                    <a:pt x="693742" y="598681"/>
                  </a:lnTo>
                  <a:lnTo>
                    <a:pt x="665850" y="634044"/>
                  </a:lnTo>
                  <a:lnTo>
                    <a:pt x="634044" y="665850"/>
                  </a:lnTo>
                  <a:lnTo>
                    <a:pt x="598681" y="693742"/>
                  </a:lnTo>
                  <a:lnTo>
                    <a:pt x="560118" y="717363"/>
                  </a:lnTo>
                  <a:lnTo>
                    <a:pt x="518711" y="736356"/>
                  </a:lnTo>
                  <a:lnTo>
                    <a:pt x="474818" y="750365"/>
                  </a:lnTo>
                  <a:lnTo>
                    <a:pt x="428795" y="759031"/>
                  </a:lnTo>
                  <a:lnTo>
                    <a:pt x="381000" y="762000"/>
                  </a:lnTo>
                  <a:lnTo>
                    <a:pt x="333204" y="759031"/>
                  </a:lnTo>
                  <a:lnTo>
                    <a:pt x="287181" y="750365"/>
                  </a:lnTo>
                  <a:lnTo>
                    <a:pt x="243288" y="736356"/>
                  </a:lnTo>
                  <a:lnTo>
                    <a:pt x="201881" y="717363"/>
                  </a:lnTo>
                  <a:lnTo>
                    <a:pt x="163318" y="693742"/>
                  </a:lnTo>
                  <a:lnTo>
                    <a:pt x="127955" y="665850"/>
                  </a:lnTo>
                  <a:lnTo>
                    <a:pt x="96149" y="634044"/>
                  </a:lnTo>
                  <a:lnTo>
                    <a:pt x="68257" y="598681"/>
                  </a:lnTo>
                  <a:lnTo>
                    <a:pt x="44636" y="560118"/>
                  </a:lnTo>
                  <a:lnTo>
                    <a:pt x="25643" y="518711"/>
                  </a:lnTo>
                  <a:lnTo>
                    <a:pt x="11634" y="474818"/>
                  </a:lnTo>
                  <a:lnTo>
                    <a:pt x="2968" y="428795"/>
                  </a:lnTo>
                  <a:lnTo>
                    <a:pt x="0" y="381000"/>
                  </a:lnTo>
                  <a:close/>
                </a:path>
                <a:path w="762000" h="762000">
                  <a:moveTo>
                    <a:pt x="38100" y="381000"/>
                  </a:moveTo>
                  <a:lnTo>
                    <a:pt x="41230" y="334475"/>
                  </a:lnTo>
                  <a:lnTo>
                    <a:pt x="50350" y="289851"/>
                  </a:lnTo>
                  <a:lnTo>
                    <a:pt x="65049" y="247536"/>
                  </a:lnTo>
                  <a:lnTo>
                    <a:pt x="84920" y="207941"/>
                  </a:lnTo>
                  <a:lnTo>
                    <a:pt x="109554" y="171473"/>
                  </a:lnTo>
                  <a:lnTo>
                    <a:pt x="138541" y="138541"/>
                  </a:lnTo>
                  <a:lnTo>
                    <a:pt x="171473" y="109554"/>
                  </a:lnTo>
                  <a:lnTo>
                    <a:pt x="207941" y="84920"/>
                  </a:lnTo>
                  <a:lnTo>
                    <a:pt x="247536" y="65049"/>
                  </a:lnTo>
                  <a:lnTo>
                    <a:pt x="289851" y="50350"/>
                  </a:lnTo>
                  <a:lnTo>
                    <a:pt x="334475" y="41230"/>
                  </a:lnTo>
                  <a:lnTo>
                    <a:pt x="381000" y="38100"/>
                  </a:lnTo>
                  <a:lnTo>
                    <a:pt x="427524" y="41230"/>
                  </a:lnTo>
                  <a:lnTo>
                    <a:pt x="472148" y="50350"/>
                  </a:lnTo>
                  <a:lnTo>
                    <a:pt x="514463" y="65049"/>
                  </a:lnTo>
                  <a:lnTo>
                    <a:pt x="554058" y="84920"/>
                  </a:lnTo>
                  <a:lnTo>
                    <a:pt x="590526" y="109554"/>
                  </a:lnTo>
                  <a:lnTo>
                    <a:pt x="623458" y="138541"/>
                  </a:lnTo>
                  <a:lnTo>
                    <a:pt x="652445" y="171473"/>
                  </a:lnTo>
                  <a:lnTo>
                    <a:pt x="677079" y="207941"/>
                  </a:lnTo>
                  <a:lnTo>
                    <a:pt x="696950" y="247536"/>
                  </a:lnTo>
                  <a:lnTo>
                    <a:pt x="711649" y="289851"/>
                  </a:lnTo>
                  <a:lnTo>
                    <a:pt x="720769" y="334475"/>
                  </a:lnTo>
                  <a:lnTo>
                    <a:pt x="723900" y="381000"/>
                  </a:lnTo>
                  <a:lnTo>
                    <a:pt x="720769" y="427524"/>
                  </a:lnTo>
                  <a:lnTo>
                    <a:pt x="711649" y="472148"/>
                  </a:lnTo>
                  <a:lnTo>
                    <a:pt x="696950" y="514463"/>
                  </a:lnTo>
                  <a:lnTo>
                    <a:pt x="677079" y="554058"/>
                  </a:lnTo>
                  <a:lnTo>
                    <a:pt x="652445" y="590526"/>
                  </a:lnTo>
                  <a:lnTo>
                    <a:pt x="623458" y="623458"/>
                  </a:lnTo>
                  <a:lnTo>
                    <a:pt x="590526" y="652445"/>
                  </a:lnTo>
                  <a:lnTo>
                    <a:pt x="554058" y="677079"/>
                  </a:lnTo>
                  <a:lnTo>
                    <a:pt x="514463" y="696950"/>
                  </a:lnTo>
                  <a:lnTo>
                    <a:pt x="472148" y="711649"/>
                  </a:lnTo>
                  <a:lnTo>
                    <a:pt x="427524" y="720769"/>
                  </a:lnTo>
                  <a:lnTo>
                    <a:pt x="381000" y="723900"/>
                  </a:lnTo>
                  <a:lnTo>
                    <a:pt x="334475" y="720769"/>
                  </a:lnTo>
                  <a:lnTo>
                    <a:pt x="289851" y="711649"/>
                  </a:lnTo>
                  <a:lnTo>
                    <a:pt x="247536" y="696950"/>
                  </a:lnTo>
                  <a:lnTo>
                    <a:pt x="207941" y="677079"/>
                  </a:lnTo>
                  <a:lnTo>
                    <a:pt x="171473" y="652445"/>
                  </a:lnTo>
                  <a:lnTo>
                    <a:pt x="138541" y="623458"/>
                  </a:lnTo>
                  <a:lnTo>
                    <a:pt x="109554" y="590526"/>
                  </a:lnTo>
                  <a:lnTo>
                    <a:pt x="84920" y="554058"/>
                  </a:lnTo>
                  <a:lnTo>
                    <a:pt x="65049" y="514463"/>
                  </a:lnTo>
                  <a:lnTo>
                    <a:pt x="50350" y="472148"/>
                  </a:lnTo>
                  <a:lnTo>
                    <a:pt x="41230" y="427524"/>
                  </a:lnTo>
                  <a:lnTo>
                    <a:pt x="38100" y="381000"/>
                  </a:lnTo>
                  <a:close/>
                </a:path>
                <a:path w="762000" h="762000">
                  <a:moveTo>
                    <a:pt x="76200" y="381000"/>
                  </a:moveTo>
                  <a:lnTo>
                    <a:pt x="80190" y="331574"/>
                  </a:lnTo>
                  <a:lnTo>
                    <a:pt x="91744" y="284683"/>
                  </a:lnTo>
                  <a:lnTo>
                    <a:pt x="110232" y="240953"/>
                  </a:lnTo>
                  <a:lnTo>
                    <a:pt x="135026" y="201015"/>
                  </a:lnTo>
                  <a:lnTo>
                    <a:pt x="165496" y="165496"/>
                  </a:lnTo>
                  <a:lnTo>
                    <a:pt x="201015" y="135026"/>
                  </a:lnTo>
                  <a:lnTo>
                    <a:pt x="240953" y="110232"/>
                  </a:lnTo>
                  <a:lnTo>
                    <a:pt x="284683" y="91744"/>
                  </a:lnTo>
                  <a:lnTo>
                    <a:pt x="331574" y="80190"/>
                  </a:lnTo>
                  <a:lnTo>
                    <a:pt x="381000" y="76200"/>
                  </a:lnTo>
                  <a:lnTo>
                    <a:pt x="430425" y="80190"/>
                  </a:lnTo>
                  <a:lnTo>
                    <a:pt x="477316" y="91744"/>
                  </a:lnTo>
                  <a:lnTo>
                    <a:pt x="521046" y="110232"/>
                  </a:lnTo>
                  <a:lnTo>
                    <a:pt x="560984" y="135026"/>
                  </a:lnTo>
                  <a:lnTo>
                    <a:pt x="596503" y="165496"/>
                  </a:lnTo>
                  <a:lnTo>
                    <a:pt x="626973" y="201015"/>
                  </a:lnTo>
                  <a:lnTo>
                    <a:pt x="651767" y="240953"/>
                  </a:lnTo>
                  <a:lnTo>
                    <a:pt x="670255" y="284683"/>
                  </a:lnTo>
                  <a:lnTo>
                    <a:pt x="681809" y="331574"/>
                  </a:lnTo>
                  <a:lnTo>
                    <a:pt x="685800" y="381000"/>
                  </a:lnTo>
                  <a:lnTo>
                    <a:pt x="681809" y="430425"/>
                  </a:lnTo>
                  <a:lnTo>
                    <a:pt x="670255" y="477316"/>
                  </a:lnTo>
                  <a:lnTo>
                    <a:pt x="651767" y="521046"/>
                  </a:lnTo>
                  <a:lnTo>
                    <a:pt x="626973" y="560984"/>
                  </a:lnTo>
                  <a:lnTo>
                    <a:pt x="596503" y="596503"/>
                  </a:lnTo>
                  <a:lnTo>
                    <a:pt x="560984" y="626973"/>
                  </a:lnTo>
                  <a:lnTo>
                    <a:pt x="521046" y="651767"/>
                  </a:lnTo>
                  <a:lnTo>
                    <a:pt x="477316" y="670255"/>
                  </a:lnTo>
                  <a:lnTo>
                    <a:pt x="430425" y="681809"/>
                  </a:lnTo>
                  <a:lnTo>
                    <a:pt x="381000" y="685800"/>
                  </a:lnTo>
                  <a:lnTo>
                    <a:pt x="331574" y="681809"/>
                  </a:lnTo>
                  <a:lnTo>
                    <a:pt x="284683" y="670255"/>
                  </a:lnTo>
                  <a:lnTo>
                    <a:pt x="240953" y="651767"/>
                  </a:lnTo>
                  <a:lnTo>
                    <a:pt x="201015" y="626973"/>
                  </a:lnTo>
                  <a:lnTo>
                    <a:pt x="165496" y="596503"/>
                  </a:lnTo>
                  <a:lnTo>
                    <a:pt x="135026" y="560984"/>
                  </a:lnTo>
                  <a:lnTo>
                    <a:pt x="110232" y="521046"/>
                  </a:lnTo>
                  <a:lnTo>
                    <a:pt x="91744" y="477316"/>
                  </a:lnTo>
                  <a:lnTo>
                    <a:pt x="80190" y="430425"/>
                  </a:lnTo>
                  <a:lnTo>
                    <a:pt x="76200" y="381000"/>
                  </a:lnTo>
                  <a:close/>
                </a:path>
                <a:path w="762000" h="762000">
                  <a:moveTo>
                    <a:pt x="114300" y="381000"/>
                  </a:moveTo>
                  <a:lnTo>
                    <a:pt x="118596" y="333053"/>
                  </a:lnTo>
                  <a:lnTo>
                    <a:pt x="130982" y="287929"/>
                  </a:lnTo>
                  <a:lnTo>
                    <a:pt x="150706" y="246380"/>
                  </a:lnTo>
                  <a:lnTo>
                    <a:pt x="177016" y="209158"/>
                  </a:lnTo>
                  <a:lnTo>
                    <a:pt x="209158" y="177016"/>
                  </a:lnTo>
                  <a:lnTo>
                    <a:pt x="246380" y="150706"/>
                  </a:lnTo>
                  <a:lnTo>
                    <a:pt x="287929" y="130982"/>
                  </a:lnTo>
                  <a:lnTo>
                    <a:pt x="333053" y="118596"/>
                  </a:lnTo>
                  <a:lnTo>
                    <a:pt x="381000" y="114300"/>
                  </a:lnTo>
                  <a:lnTo>
                    <a:pt x="428946" y="118596"/>
                  </a:lnTo>
                  <a:lnTo>
                    <a:pt x="474070" y="130982"/>
                  </a:lnTo>
                  <a:lnTo>
                    <a:pt x="515620" y="150706"/>
                  </a:lnTo>
                  <a:lnTo>
                    <a:pt x="552841" y="177016"/>
                  </a:lnTo>
                  <a:lnTo>
                    <a:pt x="584983" y="209158"/>
                  </a:lnTo>
                  <a:lnTo>
                    <a:pt x="611293" y="246379"/>
                  </a:lnTo>
                  <a:lnTo>
                    <a:pt x="631017" y="287929"/>
                  </a:lnTo>
                  <a:lnTo>
                    <a:pt x="643403" y="333053"/>
                  </a:lnTo>
                  <a:lnTo>
                    <a:pt x="647700" y="381000"/>
                  </a:lnTo>
                  <a:lnTo>
                    <a:pt x="643403" y="428946"/>
                  </a:lnTo>
                  <a:lnTo>
                    <a:pt x="631017" y="474070"/>
                  </a:lnTo>
                  <a:lnTo>
                    <a:pt x="611293" y="515619"/>
                  </a:lnTo>
                  <a:lnTo>
                    <a:pt x="584983" y="552841"/>
                  </a:lnTo>
                  <a:lnTo>
                    <a:pt x="552841" y="584983"/>
                  </a:lnTo>
                  <a:lnTo>
                    <a:pt x="515620" y="611293"/>
                  </a:lnTo>
                  <a:lnTo>
                    <a:pt x="474070" y="631017"/>
                  </a:lnTo>
                  <a:lnTo>
                    <a:pt x="428946" y="643403"/>
                  </a:lnTo>
                  <a:lnTo>
                    <a:pt x="381000" y="647700"/>
                  </a:lnTo>
                  <a:lnTo>
                    <a:pt x="333053" y="643403"/>
                  </a:lnTo>
                  <a:lnTo>
                    <a:pt x="287929" y="631017"/>
                  </a:lnTo>
                  <a:lnTo>
                    <a:pt x="246380" y="611293"/>
                  </a:lnTo>
                  <a:lnTo>
                    <a:pt x="209158" y="584983"/>
                  </a:lnTo>
                  <a:lnTo>
                    <a:pt x="177016" y="552841"/>
                  </a:lnTo>
                  <a:lnTo>
                    <a:pt x="150706" y="515620"/>
                  </a:lnTo>
                  <a:lnTo>
                    <a:pt x="130982" y="474070"/>
                  </a:lnTo>
                  <a:lnTo>
                    <a:pt x="118596" y="428946"/>
                  </a:lnTo>
                  <a:lnTo>
                    <a:pt x="114300" y="381000"/>
                  </a:lnTo>
                  <a:close/>
                </a:path>
                <a:path w="762000" h="762000">
                  <a:moveTo>
                    <a:pt x="152400" y="381000"/>
                  </a:moveTo>
                  <a:lnTo>
                    <a:pt x="157044" y="334933"/>
                  </a:lnTo>
                  <a:lnTo>
                    <a:pt x="170366" y="292024"/>
                  </a:lnTo>
                  <a:lnTo>
                    <a:pt x="191445" y="253193"/>
                  </a:lnTo>
                  <a:lnTo>
                    <a:pt x="219360" y="219360"/>
                  </a:lnTo>
                  <a:lnTo>
                    <a:pt x="253193" y="191445"/>
                  </a:lnTo>
                  <a:lnTo>
                    <a:pt x="292024" y="170366"/>
                  </a:lnTo>
                  <a:lnTo>
                    <a:pt x="334933" y="157044"/>
                  </a:lnTo>
                  <a:lnTo>
                    <a:pt x="381000" y="152400"/>
                  </a:lnTo>
                  <a:lnTo>
                    <a:pt x="427066" y="157044"/>
                  </a:lnTo>
                  <a:lnTo>
                    <a:pt x="469975" y="170366"/>
                  </a:lnTo>
                  <a:lnTo>
                    <a:pt x="508806" y="191445"/>
                  </a:lnTo>
                  <a:lnTo>
                    <a:pt x="542639" y="219360"/>
                  </a:lnTo>
                  <a:lnTo>
                    <a:pt x="570554" y="253193"/>
                  </a:lnTo>
                  <a:lnTo>
                    <a:pt x="591633" y="292024"/>
                  </a:lnTo>
                  <a:lnTo>
                    <a:pt x="604955" y="334933"/>
                  </a:lnTo>
                  <a:lnTo>
                    <a:pt x="609600" y="381000"/>
                  </a:lnTo>
                  <a:lnTo>
                    <a:pt x="604955" y="427066"/>
                  </a:lnTo>
                  <a:lnTo>
                    <a:pt x="591633" y="469975"/>
                  </a:lnTo>
                  <a:lnTo>
                    <a:pt x="570554" y="508806"/>
                  </a:lnTo>
                  <a:lnTo>
                    <a:pt x="542639" y="542639"/>
                  </a:lnTo>
                  <a:lnTo>
                    <a:pt x="508806" y="570554"/>
                  </a:lnTo>
                  <a:lnTo>
                    <a:pt x="469975" y="591633"/>
                  </a:lnTo>
                  <a:lnTo>
                    <a:pt x="427066" y="604955"/>
                  </a:lnTo>
                  <a:lnTo>
                    <a:pt x="381000" y="609600"/>
                  </a:lnTo>
                  <a:lnTo>
                    <a:pt x="334933" y="604955"/>
                  </a:lnTo>
                  <a:lnTo>
                    <a:pt x="292024" y="591633"/>
                  </a:lnTo>
                  <a:lnTo>
                    <a:pt x="253193" y="570554"/>
                  </a:lnTo>
                  <a:lnTo>
                    <a:pt x="219360" y="542639"/>
                  </a:lnTo>
                  <a:lnTo>
                    <a:pt x="191445" y="508806"/>
                  </a:lnTo>
                  <a:lnTo>
                    <a:pt x="170366" y="469975"/>
                  </a:lnTo>
                  <a:lnTo>
                    <a:pt x="157044" y="427066"/>
                  </a:lnTo>
                  <a:lnTo>
                    <a:pt x="152400" y="381000"/>
                  </a:lnTo>
                  <a:close/>
                </a:path>
                <a:path w="762000" h="762000">
                  <a:moveTo>
                    <a:pt x="190500" y="381000"/>
                  </a:moveTo>
                  <a:lnTo>
                    <a:pt x="195534" y="337337"/>
                  </a:lnTo>
                  <a:lnTo>
                    <a:pt x="209872" y="297246"/>
                  </a:lnTo>
                  <a:lnTo>
                    <a:pt x="232367" y="261874"/>
                  </a:lnTo>
                  <a:lnTo>
                    <a:pt x="261874" y="232367"/>
                  </a:lnTo>
                  <a:lnTo>
                    <a:pt x="297246" y="209872"/>
                  </a:lnTo>
                  <a:lnTo>
                    <a:pt x="337337" y="195534"/>
                  </a:lnTo>
                  <a:lnTo>
                    <a:pt x="381000" y="190500"/>
                  </a:lnTo>
                  <a:lnTo>
                    <a:pt x="424662" y="195534"/>
                  </a:lnTo>
                  <a:lnTo>
                    <a:pt x="464753" y="209872"/>
                  </a:lnTo>
                  <a:lnTo>
                    <a:pt x="500125" y="232367"/>
                  </a:lnTo>
                  <a:lnTo>
                    <a:pt x="529632" y="261874"/>
                  </a:lnTo>
                  <a:lnTo>
                    <a:pt x="552127" y="297246"/>
                  </a:lnTo>
                  <a:lnTo>
                    <a:pt x="566465" y="337337"/>
                  </a:lnTo>
                  <a:lnTo>
                    <a:pt x="571500" y="381000"/>
                  </a:lnTo>
                  <a:lnTo>
                    <a:pt x="566465" y="424662"/>
                  </a:lnTo>
                  <a:lnTo>
                    <a:pt x="552127" y="464753"/>
                  </a:lnTo>
                  <a:lnTo>
                    <a:pt x="529632" y="500125"/>
                  </a:lnTo>
                  <a:lnTo>
                    <a:pt x="500125" y="529632"/>
                  </a:lnTo>
                  <a:lnTo>
                    <a:pt x="464753" y="552127"/>
                  </a:lnTo>
                  <a:lnTo>
                    <a:pt x="424662" y="566465"/>
                  </a:lnTo>
                  <a:lnTo>
                    <a:pt x="381000" y="571500"/>
                  </a:lnTo>
                  <a:lnTo>
                    <a:pt x="337337" y="566465"/>
                  </a:lnTo>
                  <a:lnTo>
                    <a:pt x="297246" y="552127"/>
                  </a:lnTo>
                  <a:lnTo>
                    <a:pt x="261874" y="529632"/>
                  </a:lnTo>
                  <a:lnTo>
                    <a:pt x="232367" y="500125"/>
                  </a:lnTo>
                  <a:lnTo>
                    <a:pt x="209872" y="464753"/>
                  </a:lnTo>
                  <a:lnTo>
                    <a:pt x="195534" y="424662"/>
                  </a:lnTo>
                  <a:lnTo>
                    <a:pt x="190500" y="381000"/>
                  </a:lnTo>
                  <a:close/>
                </a:path>
                <a:path w="762000" h="762000">
                  <a:moveTo>
                    <a:pt x="228600" y="381000"/>
                  </a:moveTo>
                  <a:lnTo>
                    <a:pt x="236366" y="332817"/>
                  </a:lnTo>
                  <a:lnTo>
                    <a:pt x="257994" y="290980"/>
                  </a:lnTo>
                  <a:lnTo>
                    <a:pt x="290980" y="257994"/>
                  </a:lnTo>
                  <a:lnTo>
                    <a:pt x="332817" y="236366"/>
                  </a:lnTo>
                  <a:lnTo>
                    <a:pt x="381000" y="228600"/>
                  </a:lnTo>
                  <a:lnTo>
                    <a:pt x="429182" y="236366"/>
                  </a:lnTo>
                  <a:lnTo>
                    <a:pt x="471019" y="257994"/>
                  </a:lnTo>
                  <a:lnTo>
                    <a:pt x="504005" y="290980"/>
                  </a:lnTo>
                  <a:lnTo>
                    <a:pt x="525633" y="332817"/>
                  </a:lnTo>
                  <a:lnTo>
                    <a:pt x="533400" y="381000"/>
                  </a:lnTo>
                  <a:lnTo>
                    <a:pt x="525633" y="429182"/>
                  </a:lnTo>
                  <a:lnTo>
                    <a:pt x="504005" y="471019"/>
                  </a:lnTo>
                  <a:lnTo>
                    <a:pt x="471019" y="504005"/>
                  </a:lnTo>
                  <a:lnTo>
                    <a:pt x="429182" y="525633"/>
                  </a:lnTo>
                  <a:lnTo>
                    <a:pt x="381000" y="533400"/>
                  </a:lnTo>
                  <a:lnTo>
                    <a:pt x="332817" y="525633"/>
                  </a:lnTo>
                  <a:lnTo>
                    <a:pt x="290980" y="504005"/>
                  </a:lnTo>
                  <a:lnTo>
                    <a:pt x="257994" y="471019"/>
                  </a:lnTo>
                  <a:lnTo>
                    <a:pt x="236366" y="429182"/>
                  </a:lnTo>
                  <a:lnTo>
                    <a:pt x="228600" y="3810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52153" y="1940052"/>
              <a:ext cx="228600" cy="2286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8852153" y="1940052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300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600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3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6" name="object 16"/>
            <p:cNvSpPr/>
            <p:nvPr/>
          </p:nvSpPr>
          <p:spPr>
            <a:xfrm>
              <a:off x="9080753" y="1619377"/>
              <a:ext cx="467995" cy="320675"/>
            </a:xfrm>
            <a:custGeom>
              <a:avLst/>
              <a:gdLst/>
              <a:ahLst/>
              <a:cxnLst/>
              <a:rect l="l" t="t" r="r" b="b"/>
              <a:pathLst>
                <a:path w="467995" h="320675">
                  <a:moveTo>
                    <a:pt x="63373" y="209676"/>
                  </a:moveTo>
                  <a:lnTo>
                    <a:pt x="0" y="320675"/>
                  </a:lnTo>
                  <a:lnTo>
                    <a:pt x="126746" y="304800"/>
                  </a:lnTo>
                  <a:lnTo>
                    <a:pt x="112700" y="283718"/>
                  </a:lnTo>
                  <a:lnTo>
                    <a:pt x="89789" y="283718"/>
                  </a:lnTo>
                  <a:lnTo>
                    <a:pt x="68706" y="251968"/>
                  </a:lnTo>
                  <a:lnTo>
                    <a:pt x="84523" y="241423"/>
                  </a:lnTo>
                  <a:lnTo>
                    <a:pt x="63373" y="209676"/>
                  </a:lnTo>
                  <a:close/>
                </a:path>
                <a:path w="467995" h="320675">
                  <a:moveTo>
                    <a:pt x="84523" y="241423"/>
                  </a:moveTo>
                  <a:lnTo>
                    <a:pt x="68706" y="251968"/>
                  </a:lnTo>
                  <a:lnTo>
                    <a:pt x="89789" y="283718"/>
                  </a:lnTo>
                  <a:lnTo>
                    <a:pt x="105654" y="273141"/>
                  </a:lnTo>
                  <a:lnTo>
                    <a:pt x="84523" y="241423"/>
                  </a:lnTo>
                  <a:close/>
                </a:path>
                <a:path w="467995" h="320675">
                  <a:moveTo>
                    <a:pt x="105654" y="273141"/>
                  </a:moveTo>
                  <a:lnTo>
                    <a:pt x="89789" y="283718"/>
                  </a:lnTo>
                  <a:lnTo>
                    <a:pt x="112700" y="283718"/>
                  </a:lnTo>
                  <a:lnTo>
                    <a:pt x="105654" y="273141"/>
                  </a:lnTo>
                  <a:close/>
                </a:path>
                <a:path w="467995" h="320675">
                  <a:moveTo>
                    <a:pt x="446659" y="0"/>
                  </a:moveTo>
                  <a:lnTo>
                    <a:pt x="84523" y="241423"/>
                  </a:lnTo>
                  <a:lnTo>
                    <a:pt x="105654" y="273141"/>
                  </a:lnTo>
                  <a:lnTo>
                    <a:pt x="467741" y="31750"/>
                  </a:lnTo>
                  <a:lnTo>
                    <a:pt x="446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64429" y="2994803"/>
            <a:ext cx="178594" cy="178594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7143941" y="1841373"/>
            <a:ext cx="156543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Palatino Linotype"/>
                <a:cs typeface="Palatino Linotype"/>
              </a:rPr>
              <a:t>Label</a:t>
            </a:r>
            <a:r>
              <a:rPr sz="1350" spc="-34" dirty="0">
                <a:latin typeface="Palatino Linotype"/>
                <a:cs typeface="Palatino Linotype"/>
              </a:rPr>
              <a:t> </a:t>
            </a:r>
            <a:r>
              <a:rPr sz="1350" dirty="0">
                <a:latin typeface="Palatino Linotype"/>
                <a:cs typeface="Palatino Linotype"/>
              </a:rPr>
              <a:t>should</a:t>
            </a:r>
            <a:r>
              <a:rPr sz="1350" spc="-26" dirty="0">
                <a:latin typeface="Palatino Linotype"/>
                <a:cs typeface="Palatino Linotype"/>
              </a:rPr>
              <a:t> </a:t>
            </a:r>
            <a:r>
              <a:rPr sz="1350" dirty="0">
                <a:latin typeface="Palatino Linotype"/>
                <a:cs typeface="Palatino Linotype"/>
              </a:rPr>
              <a:t>be</a:t>
            </a:r>
            <a:r>
              <a:rPr sz="1350" spc="-30" dirty="0">
                <a:latin typeface="Palatino Linotype"/>
                <a:cs typeface="Palatino Linotype"/>
              </a:rPr>
              <a:t> </a:t>
            </a:r>
            <a:r>
              <a:rPr sz="1350" spc="-15" dirty="0">
                <a:latin typeface="Palatino Linotype"/>
                <a:cs typeface="Palatino Linotype"/>
              </a:rPr>
              <a:t>red.</a:t>
            </a:r>
            <a:endParaRPr sz="1350">
              <a:latin typeface="Palatino Linotype"/>
              <a:cs typeface="Palatino Linotype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5374" y="4558855"/>
            <a:ext cx="178594" cy="17859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1124" y="5644705"/>
            <a:ext cx="178594" cy="17859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074" y="4330255"/>
            <a:ext cx="178594" cy="17859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8224" y="5130355"/>
            <a:ext cx="178594" cy="17859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1276874" y="4844605"/>
            <a:ext cx="921544" cy="807244"/>
            <a:chOff x="2004250" y="4634674"/>
            <a:chExt cx="1228725" cy="107632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94850" y="4939474"/>
              <a:ext cx="238125" cy="2381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4250" y="4634674"/>
              <a:ext cx="238125" cy="23812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13850" y="5472874"/>
              <a:ext cx="238125" cy="23812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70878" y="2808542"/>
            <a:ext cx="4869513" cy="1928092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9525">
              <a:spcBef>
                <a:spcPts val="735"/>
              </a:spcBef>
            </a:pPr>
            <a:r>
              <a:rPr b="1" u="sng" spc="-8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Generalization:</a:t>
            </a:r>
            <a:endParaRPr dirty="0">
              <a:latin typeface="Calibri"/>
              <a:cs typeface="Calibri"/>
            </a:endParaRPr>
          </a:p>
          <a:p>
            <a:pPr marL="102870" marR="3810">
              <a:spcBef>
                <a:spcPts val="495"/>
              </a:spcBef>
            </a:pPr>
            <a:r>
              <a:rPr sz="2000" dirty="0">
                <a:latin typeface="Segoe Print"/>
                <a:cs typeface="Segoe Print"/>
              </a:rPr>
              <a:t>Determine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label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b="1" dirty="0">
                <a:latin typeface="Segoe Print"/>
                <a:cs typeface="Segoe Print"/>
              </a:rPr>
              <a:t>k</a:t>
            </a:r>
            <a:r>
              <a:rPr sz="2000" b="1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nearest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neighbors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spc="-19" dirty="0">
                <a:latin typeface="Segoe Print"/>
                <a:cs typeface="Segoe Print"/>
              </a:rPr>
              <a:t>and </a:t>
            </a:r>
            <a:r>
              <a:rPr sz="2000" dirty="0">
                <a:latin typeface="Segoe Print"/>
                <a:cs typeface="Segoe Print"/>
              </a:rPr>
              <a:t>assign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2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most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frequent</a:t>
            </a:r>
            <a:r>
              <a:rPr sz="2000" spc="-23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label</a:t>
            </a:r>
            <a:endParaRPr sz="2000" dirty="0">
              <a:latin typeface="Segoe Print"/>
              <a:cs typeface="Segoe Print"/>
            </a:endParaRPr>
          </a:p>
          <a:p>
            <a:pPr>
              <a:spcBef>
                <a:spcPts val="1185"/>
              </a:spcBef>
            </a:pPr>
            <a:endParaRPr sz="1350" dirty="0">
              <a:latin typeface="Segoe Print"/>
              <a:cs typeface="Segoe Print"/>
            </a:endParaRPr>
          </a:p>
          <a:p>
            <a:pPr marL="2135505"/>
            <a:r>
              <a:rPr sz="1350" dirty="0">
                <a:latin typeface="Palatino Linotype"/>
                <a:cs typeface="Palatino Linotype"/>
              </a:rPr>
              <a:t>Label</a:t>
            </a:r>
            <a:r>
              <a:rPr sz="1350" spc="-34" dirty="0">
                <a:latin typeface="Palatino Linotype"/>
                <a:cs typeface="Palatino Linotype"/>
              </a:rPr>
              <a:t> </a:t>
            </a:r>
            <a:r>
              <a:rPr sz="1350" dirty="0">
                <a:latin typeface="Palatino Linotype"/>
                <a:cs typeface="Palatino Linotype"/>
              </a:rPr>
              <a:t>should</a:t>
            </a:r>
            <a:r>
              <a:rPr sz="1350" spc="-26" dirty="0">
                <a:latin typeface="Palatino Linotype"/>
                <a:cs typeface="Palatino Linotype"/>
              </a:rPr>
              <a:t> </a:t>
            </a:r>
            <a:r>
              <a:rPr sz="1350" dirty="0">
                <a:latin typeface="Palatino Linotype"/>
                <a:cs typeface="Palatino Linotype"/>
              </a:rPr>
              <a:t>be</a:t>
            </a:r>
            <a:r>
              <a:rPr sz="1350" spc="-30" dirty="0">
                <a:latin typeface="Palatino Linotype"/>
                <a:cs typeface="Palatino Linotype"/>
              </a:rPr>
              <a:t> </a:t>
            </a:r>
            <a:r>
              <a:rPr sz="1350" spc="-19" dirty="0">
                <a:latin typeface="Palatino Linotype"/>
                <a:cs typeface="Palatino Linotype"/>
              </a:rPr>
              <a:t>red</a:t>
            </a:r>
            <a:endParaRPr sz="1350" dirty="0">
              <a:latin typeface="Palatino Linotype"/>
              <a:cs typeface="Palatino Linotype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19724" y="4787455"/>
            <a:ext cx="868680" cy="807244"/>
            <a:chOff x="1928050" y="4558474"/>
            <a:chExt cx="1158240" cy="1076325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51532" y="4981955"/>
              <a:ext cx="228600" cy="22860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51532" y="498195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300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300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600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300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1" name="object 31"/>
            <p:cNvSpPr/>
            <p:nvPr/>
          </p:nvSpPr>
          <p:spPr>
            <a:xfrm>
              <a:off x="2618232" y="4623180"/>
              <a:ext cx="467995" cy="320675"/>
            </a:xfrm>
            <a:custGeom>
              <a:avLst/>
              <a:gdLst/>
              <a:ahLst/>
              <a:cxnLst/>
              <a:rect l="l" t="t" r="r" b="b"/>
              <a:pathLst>
                <a:path w="467994" h="320675">
                  <a:moveTo>
                    <a:pt x="63373" y="209677"/>
                  </a:moveTo>
                  <a:lnTo>
                    <a:pt x="0" y="320675"/>
                  </a:lnTo>
                  <a:lnTo>
                    <a:pt x="126745" y="304800"/>
                  </a:lnTo>
                  <a:lnTo>
                    <a:pt x="112700" y="283718"/>
                  </a:lnTo>
                  <a:lnTo>
                    <a:pt x="89788" y="283718"/>
                  </a:lnTo>
                  <a:lnTo>
                    <a:pt x="68706" y="251968"/>
                  </a:lnTo>
                  <a:lnTo>
                    <a:pt x="84523" y="241423"/>
                  </a:lnTo>
                  <a:lnTo>
                    <a:pt x="63373" y="209677"/>
                  </a:lnTo>
                  <a:close/>
                </a:path>
                <a:path w="467994" h="320675">
                  <a:moveTo>
                    <a:pt x="84523" y="241423"/>
                  </a:moveTo>
                  <a:lnTo>
                    <a:pt x="68706" y="251968"/>
                  </a:lnTo>
                  <a:lnTo>
                    <a:pt x="89788" y="283718"/>
                  </a:lnTo>
                  <a:lnTo>
                    <a:pt x="105654" y="273141"/>
                  </a:lnTo>
                  <a:lnTo>
                    <a:pt x="84523" y="241423"/>
                  </a:lnTo>
                  <a:close/>
                </a:path>
                <a:path w="467994" h="320675">
                  <a:moveTo>
                    <a:pt x="105654" y="273141"/>
                  </a:moveTo>
                  <a:lnTo>
                    <a:pt x="89788" y="283718"/>
                  </a:lnTo>
                  <a:lnTo>
                    <a:pt x="112700" y="283718"/>
                  </a:lnTo>
                  <a:lnTo>
                    <a:pt x="105654" y="273141"/>
                  </a:lnTo>
                  <a:close/>
                </a:path>
                <a:path w="467994" h="320675">
                  <a:moveTo>
                    <a:pt x="446659" y="0"/>
                  </a:moveTo>
                  <a:lnTo>
                    <a:pt x="84523" y="241423"/>
                  </a:lnTo>
                  <a:lnTo>
                    <a:pt x="105654" y="273141"/>
                  </a:lnTo>
                  <a:lnTo>
                    <a:pt x="467741" y="31750"/>
                  </a:lnTo>
                  <a:lnTo>
                    <a:pt x="446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2" name="object 32"/>
            <p:cNvSpPr/>
            <p:nvPr/>
          </p:nvSpPr>
          <p:spPr>
            <a:xfrm>
              <a:off x="1932813" y="4563236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533400"/>
                  </a:moveTo>
                  <a:lnTo>
                    <a:pt x="2179" y="484842"/>
                  </a:lnTo>
                  <a:lnTo>
                    <a:pt x="8592" y="437507"/>
                  </a:lnTo>
                  <a:lnTo>
                    <a:pt x="19050" y="391583"/>
                  </a:lnTo>
                  <a:lnTo>
                    <a:pt x="33364" y="347258"/>
                  </a:lnTo>
                  <a:lnTo>
                    <a:pt x="51348" y="304721"/>
                  </a:lnTo>
                  <a:lnTo>
                    <a:pt x="72813" y="264159"/>
                  </a:lnTo>
                  <a:lnTo>
                    <a:pt x="97570" y="225762"/>
                  </a:lnTo>
                  <a:lnTo>
                    <a:pt x="125432" y="189716"/>
                  </a:lnTo>
                  <a:lnTo>
                    <a:pt x="156209" y="156210"/>
                  </a:lnTo>
                  <a:lnTo>
                    <a:pt x="189716" y="125432"/>
                  </a:lnTo>
                  <a:lnTo>
                    <a:pt x="225762" y="97570"/>
                  </a:lnTo>
                  <a:lnTo>
                    <a:pt x="264159" y="72813"/>
                  </a:lnTo>
                  <a:lnTo>
                    <a:pt x="304721" y="51348"/>
                  </a:lnTo>
                  <a:lnTo>
                    <a:pt x="347258" y="33364"/>
                  </a:lnTo>
                  <a:lnTo>
                    <a:pt x="391583" y="19050"/>
                  </a:lnTo>
                  <a:lnTo>
                    <a:pt x="437507" y="8592"/>
                  </a:lnTo>
                  <a:lnTo>
                    <a:pt x="484842" y="2179"/>
                  </a:lnTo>
                  <a:lnTo>
                    <a:pt x="533400" y="0"/>
                  </a:lnTo>
                  <a:lnTo>
                    <a:pt x="581957" y="2179"/>
                  </a:lnTo>
                  <a:lnTo>
                    <a:pt x="629292" y="8592"/>
                  </a:lnTo>
                  <a:lnTo>
                    <a:pt x="675216" y="19050"/>
                  </a:lnTo>
                  <a:lnTo>
                    <a:pt x="719541" y="33364"/>
                  </a:lnTo>
                  <a:lnTo>
                    <a:pt x="762078" y="51348"/>
                  </a:lnTo>
                  <a:lnTo>
                    <a:pt x="802640" y="72813"/>
                  </a:lnTo>
                  <a:lnTo>
                    <a:pt x="841037" y="97570"/>
                  </a:lnTo>
                  <a:lnTo>
                    <a:pt x="877083" y="125432"/>
                  </a:lnTo>
                  <a:lnTo>
                    <a:pt x="910589" y="156209"/>
                  </a:lnTo>
                  <a:lnTo>
                    <a:pt x="941367" y="189716"/>
                  </a:lnTo>
                  <a:lnTo>
                    <a:pt x="969229" y="225762"/>
                  </a:lnTo>
                  <a:lnTo>
                    <a:pt x="993986" y="264159"/>
                  </a:lnTo>
                  <a:lnTo>
                    <a:pt x="1015451" y="304721"/>
                  </a:lnTo>
                  <a:lnTo>
                    <a:pt x="1033435" y="347258"/>
                  </a:lnTo>
                  <a:lnTo>
                    <a:pt x="1047749" y="391583"/>
                  </a:lnTo>
                  <a:lnTo>
                    <a:pt x="1058207" y="437507"/>
                  </a:lnTo>
                  <a:lnTo>
                    <a:pt x="1064620" y="484842"/>
                  </a:lnTo>
                  <a:lnTo>
                    <a:pt x="1066800" y="533400"/>
                  </a:lnTo>
                  <a:lnTo>
                    <a:pt x="1064620" y="581957"/>
                  </a:lnTo>
                  <a:lnTo>
                    <a:pt x="1058207" y="629292"/>
                  </a:lnTo>
                  <a:lnTo>
                    <a:pt x="1047750" y="675216"/>
                  </a:lnTo>
                  <a:lnTo>
                    <a:pt x="1033435" y="719541"/>
                  </a:lnTo>
                  <a:lnTo>
                    <a:pt x="1015451" y="762078"/>
                  </a:lnTo>
                  <a:lnTo>
                    <a:pt x="993986" y="802640"/>
                  </a:lnTo>
                  <a:lnTo>
                    <a:pt x="969229" y="841037"/>
                  </a:lnTo>
                  <a:lnTo>
                    <a:pt x="941367" y="877083"/>
                  </a:lnTo>
                  <a:lnTo>
                    <a:pt x="910590" y="910590"/>
                  </a:lnTo>
                  <a:lnTo>
                    <a:pt x="877083" y="941367"/>
                  </a:lnTo>
                  <a:lnTo>
                    <a:pt x="841037" y="969229"/>
                  </a:lnTo>
                  <a:lnTo>
                    <a:pt x="802640" y="993986"/>
                  </a:lnTo>
                  <a:lnTo>
                    <a:pt x="762078" y="1015451"/>
                  </a:lnTo>
                  <a:lnTo>
                    <a:pt x="719541" y="1033435"/>
                  </a:lnTo>
                  <a:lnTo>
                    <a:pt x="675216" y="1047750"/>
                  </a:lnTo>
                  <a:lnTo>
                    <a:pt x="629292" y="1058207"/>
                  </a:lnTo>
                  <a:lnTo>
                    <a:pt x="581957" y="1064620"/>
                  </a:lnTo>
                  <a:lnTo>
                    <a:pt x="533400" y="1066800"/>
                  </a:lnTo>
                  <a:lnTo>
                    <a:pt x="484842" y="1064620"/>
                  </a:lnTo>
                  <a:lnTo>
                    <a:pt x="437507" y="1058207"/>
                  </a:lnTo>
                  <a:lnTo>
                    <a:pt x="391583" y="1047750"/>
                  </a:lnTo>
                  <a:lnTo>
                    <a:pt x="347258" y="1033435"/>
                  </a:lnTo>
                  <a:lnTo>
                    <a:pt x="304721" y="1015451"/>
                  </a:lnTo>
                  <a:lnTo>
                    <a:pt x="264159" y="993986"/>
                  </a:lnTo>
                  <a:lnTo>
                    <a:pt x="225762" y="969229"/>
                  </a:lnTo>
                  <a:lnTo>
                    <a:pt x="189716" y="941367"/>
                  </a:lnTo>
                  <a:lnTo>
                    <a:pt x="156210" y="910590"/>
                  </a:lnTo>
                  <a:lnTo>
                    <a:pt x="125432" y="877083"/>
                  </a:lnTo>
                  <a:lnTo>
                    <a:pt x="97570" y="841037"/>
                  </a:lnTo>
                  <a:lnTo>
                    <a:pt x="72813" y="802640"/>
                  </a:lnTo>
                  <a:lnTo>
                    <a:pt x="51348" y="762078"/>
                  </a:lnTo>
                  <a:lnTo>
                    <a:pt x="33364" y="719541"/>
                  </a:lnTo>
                  <a:lnTo>
                    <a:pt x="19050" y="675216"/>
                  </a:lnTo>
                  <a:lnTo>
                    <a:pt x="8592" y="629292"/>
                  </a:lnTo>
                  <a:lnTo>
                    <a:pt x="2179" y="581957"/>
                  </a:lnTo>
                  <a:lnTo>
                    <a:pt x="0" y="533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654111" y="5966697"/>
            <a:ext cx="35861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19" dirty="0">
                <a:latin typeface="Calibri"/>
                <a:cs typeface="Calibri"/>
              </a:rPr>
              <a:t>k=3</a:t>
            </a:r>
            <a:endParaRPr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515689" y="3619452"/>
            <a:ext cx="1550194" cy="1493044"/>
            <a:chOff x="7354252" y="3682936"/>
            <a:chExt cx="2066925" cy="199072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30452" y="3987736"/>
              <a:ext cx="238125" cy="23812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11452" y="5435536"/>
              <a:ext cx="238125" cy="2381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052" y="3682936"/>
              <a:ext cx="238125" cy="2381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54252" y="4749736"/>
              <a:ext cx="238125" cy="23812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83052" y="4673536"/>
              <a:ext cx="238125" cy="23812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92452" y="4368736"/>
              <a:ext cx="238125" cy="23812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02052" y="5206936"/>
              <a:ext cx="238125" cy="23812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298817" y="5087493"/>
            <a:ext cx="159781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dirty="0">
                <a:latin typeface="Palatino Linotype"/>
                <a:cs typeface="Palatino Linotype"/>
              </a:rPr>
              <a:t>Label</a:t>
            </a:r>
            <a:r>
              <a:rPr sz="1350" spc="-34" dirty="0">
                <a:latin typeface="Palatino Linotype"/>
                <a:cs typeface="Palatino Linotype"/>
              </a:rPr>
              <a:t> </a:t>
            </a:r>
            <a:r>
              <a:rPr sz="1350" dirty="0">
                <a:latin typeface="Palatino Linotype"/>
                <a:cs typeface="Palatino Linotype"/>
              </a:rPr>
              <a:t>should</a:t>
            </a:r>
            <a:r>
              <a:rPr sz="1350" spc="-26" dirty="0">
                <a:latin typeface="Palatino Linotype"/>
                <a:cs typeface="Palatino Linotype"/>
              </a:rPr>
              <a:t> </a:t>
            </a:r>
            <a:r>
              <a:rPr sz="1350" dirty="0">
                <a:latin typeface="Palatino Linotype"/>
                <a:cs typeface="Palatino Linotype"/>
              </a:rPr>
              <a:t>be</a:t>
            </a:r>
            <a:r>
              <a:rPr sz="1350" spc="-30" dirty="0">
                <a:latin typeface="Palatino Linotype"/>
                <a:cs typeface="Palatino Linotype"/>
              </a:rPr>
              <a:t> </a:t>
            </a:r>
            <a:r>
              <a:rPr sz="1350" spc="-15" dirty="0">
                <a:latin typeface="Palatino Linotype"/>
                <a:cs typeface="Palatino Linotype"/>
              </a:rPr>
              <a:t>blue</a:t>
            </a:r>
            <a:endParaRPr sz="1350">
              <a:latin typeface="Palatino Linotype"/>
              <a:cs typeface="Palatino Linotype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451681" y="3470291"/>
            <a:ext cx="2032635" cy="2032159"/>
            <a:chOff x="7268908" y="3484054"/>
            <a:chExt cx="2710180" cy="2709545"/>
          </a:xfrm>
        </p:grpSpPr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39733" y="4716017"/>
              <a:ext cx="228600" cy="2286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8539733" y="4716017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81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6" name="object 46"/>
            <p:cNvSpPr/>
            <p:nvPr/>
          </p:nvSpPr>
          <p:spPr>
            <a:xfrm>
              <a:off x="8806433" y="4906517"/>
              <a:ext cx="954405" cy="596265"/>
            </a:xfrm>
            <a:custGeom>
              <a:avLst/>
              <a:gdLst/>
              <a:ahLst/>
              <a:cxnLst/>
              <a:rect l="l" t="t" r="r" b="b"/>
              <a:pathLst>
                <a:path w="954404" h="596264">
                  <a:moveTo>
                    <a:pt x="107333" y="43573"/>
                  </a:moveTo>
                  <a:lnTo>
                    <a:pt x="87412" y="75971"/>
                  </a:lnTo>
                  <a:lnTo>
                    <a:pt x="934085" y="596137"/>
                  </a:lnTo>
                  <a:lnTo>
                    <a:pt x="954024" y="563625"/>
                  </a:lnTo>
                  <a:lnTo>
                    <a:pt x="107333" y="43573"/>
                  </a:lnTo>
                  <a:close/>
                </a:path>
                <a:path w="954404" h="596264">
                  <a:moveTo>
                    <a:pt x="0" y="0"/>
                  </a:moveTo>
                  <a:lnTo>
                    <a:pt x="67437" y="108457"/>
                  </a:lnTo>
                  <a:lnTo>
                    <a:pt x="87412" y="75971"/>
                  </a:lnTo>
                  <a:lnTo>
                    <a:pt x="71247" y="66039"/>
                  </a:lnTo>
                  <a:lnTo>
                    <a:pt x="91186" y="33654"/>
                  </a:lnTo>
                  <a:lnTo>
                    <a:pt x="113432" y="33654"/>
                  </a:lnTo>
                  <a:lnTo>
                    <a:pt x="127254" y="11175"/>
                  </a:lnTo>
                  <a:lnTo>
                    <a:pt x="0" y="0"/>
                  </a:lnTo>
                  <a:close/>
                </a:path>
                <a:path w="954404" h="596264">
                  <a:moveTo>
                    <a:pt x="91186" y="33654"/>
                  </a:moveTo>
                  <a:lnTo>
                    <a:pt x="71247" y="66039"/>
                  </a:lnTo>
                  <a:lnTo>
                    <a:pt x="87412" y="75971"/>
                  </a:lnTo>
                  <a:lnTo>
                    <a:pt x="107333" y="43573"/>
                  </a:lnTo>
                  <a:lnTo>
                    <a:pt x="91186" y="33654"/>
                  </a:lnTo>
                  <a:close/>
                </a:path>
                <a:path w="954404" h="596264">
                  <a:moveTo>
                    <a:pt x="113432" y="33654"/>
                  </a:moveTo>
                  <a:lnTo>
                    <a:pt x="91186" y="33654"/>
                  </a:lnTo>
                  <a:lnTo>
                    <a:pt x="107333" y="43573"/>
                  </a:lnTo>
                  <a:lnTo>
                    <a:pt x="113432" y="336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7" name="object 47"/>
            <p:cNvSpPr/>
            <p:nvPr/>
          </p:nvSpPr>
          <p:spPr>
            <a:xfrm>
              <a:off x="7273670" y="3488816"/>
              <a:ext cx="2700655" cy="2700020"/>
            </a:xfrm>
            <a:custGeom>
              <a:avLst/>
              <a:gdLst/>
              <a:ahLst/>
              <a:cxnLst/>
              <a:rect l="l" t="t" r="r" b="b"/>
              <a:pathLst>
                <a:path w="2700654" h="2700020">
                  <a:moveTo>
                    <a:pt x="0" y="1349883"/>
                  </a:moveTo>
                  <a:lnTo>
                    <a:pt x="852" y="1301468"/>
                  </a:lnTo>
                  <a:lnTo>
                    <a:pt x="3390" y="1253483"/>
                  </a:lnTo>
                  <a:lnTo>
                    <a:pt x="7585" y="1205955"/>
                  </a:lnTo>
                  <a:lnTo>
                    <a:pt x="13408" y="1158912"/>
                  </a:lnTo>
                  <a:lnTo>
                    <a:pt x="20831" y="1112384"/>
                  </a:lnTo>
                  <a:lnTo>
                    <a:pt x="29826" y="1066399"/>
                  </a:lnTo>
                  <a:lnTo>
                    <a:pt x="40363" y="1020985"/>
                  </a:lnTo>
                  <a:lnTo>
                    <a:pt x="52415" y="976171"/>
                  </a:lnTo>
                  <a:lnTo>
                    <a:pt x="65952" y="931986"/>
                  </a:lnTo>
                  <a:lnTo>
                    <a:pt x="80947" y="888457"/>
                  </a:lnTo>
                  <a:lnTo>
                    <a:pt x="97370" y="845615"/>
                  </a:lnTo>
                  <a:lnTo>
                    <a:pt x="115193" y="803487"/>
                  </a:lnTo>
                  <a:lnTo>
                    <a:pt x="134387" y="762101"/>
                  </a:lnTo>
                  <a:lnTo>
                    <a:pt x="154924" y="721487"/>
                  </a:lnTo>
                  <a:lnTo>
                    <a:pt x="176776" y="681673"/>
                  </a:lnTo>
                  <a:lnTo>
                    <a:pt x="199913" y="642687"/>
                  </a:lnTo>
                  <a:lnTo>
                    <a:pt x="224308" y="604558"/>
                  </a:lnTo>
                  <a:lnTo>
                    <a:pt x="249931" y="567315"/>
                  </a:lnTo>
                  <a:lnTo>
                    <a:pt x="276755" y="530986"/>
                  </a:lnTo>
                  <a:lnTo>
                    <a:pt x="304749" y="495600"/>
                  </a:lnTo>
                  <a:lnTo>
                    <a:pt x="333887" y="461184"/>
                  </a:lnTo>
                  <a:lnTo>
                    <a:pt x="364139" y="427769"/>
                  </a:lnTo>
                  <a:lnTo>
                    <a:pt x="395477" y="395382"/>
                  </a:lnTo>
                  <a:lnTo>
                    <a:pt x="427873" y="364052"/>
                  </a:lnTo>
                  <a:lnTo>
                    <a:pt x="461297" y="333808"/>
                  </a:lnTo>
                  <a:lnTo>
                    <a:pt x="495721" y="304677"/>
                  </a:lnTo>
                  <a:lnTo>
                    <a:pt x="531117" y="276690"/>
                  </a:lnTo>
                  <a:lnTo>
                    <a:pt x="567456" y="249873"/>
                  </a:lnTo>
                  <a:lnTo>
                    <a:pt x="604710" y="224256"/>
                  </a:lnTo>
                  <a:lnTo>
                    <a:pt x="642849" y="199867"/>
                  </a:lnTo>
                  <a:lnTo>
                    <a:pt x="681846" y="176736"/>
                  </a:lnTo>
                  <a:lnTo>
                    <a:pt x="721671" y="154889"/>
                  </a:lnTo>
                  <a:lnTo>
                    <a:pt x="762297" y="134357"/>
                  </a:lnTo>
                  <a:lnTo>
                    <a:pt x="803695" y="115167"/>
                  </a:lnTo>
                  <a:lnTo>
                    <a:pt x="845835" y="97348"/>
                  </a:lnTo>
                  <a:lnTo>
                    <a:pt x="888691" y="80929"/>
                  </a:lnTo>
                  <a:lnTo>
                    <a:pt x="932232" y="65938"/>
                  </a:lnTo>
                  <a:lnTo>
                    <a:pt x="976431" y="52403"/>
                  </a:lnTo>
                  <a:lnTo>
                    <a:pt x="1021259" y="40355"/>
                  </a:lnTo>
                  <a:lnTo>
                    <a:pt x="1066687" y="29819"/>
                  </a:lnTo>
                  <a:lnTo>
                    <a:pt x="1112687" y="20827"/>
                  </a:lnTo>
                  <a:lnTo>
                    <a:pt x="1159230" y="13405"/>
                  </a:lnTo>
                  <a:lnTo>
                    <a:pt x="1206288" y="7583"/>
                  </a:lnTo>
                  <a:lnTo>
                    <a:pt x="1253832" y="3389"/>
                  </a:lnTo>
                  <a:lnTo>
                    <a:pt x="1301833" y="852"/>
                  </a:lnTo>
                  <a:lnTo>
                    <a:pt x="1350263" y="0"/>
                  </a:lnTo>
                  <a:lnTo>
                    <a:pt x="1398694" y="852"/>
                  </a:lnTo>
                  <a:lnTo>
                    <a:pt x="1446695" y="3389"/>
                  </a:lnTo>
                  <a:lnTo>
                    <a:pt x="1494239" y="7583"/>
                  </a:lnTo>
                  <a:lnTo>
                    <a:pt x="1541297" y="13405"/>
                  </a:lnTo>
                  <a:lnTo>
                    <a:pt x="1587840" y="20827"/>
                  </a:lnTo>
                  <a:lnTo>
                    <a:pt x="1633840" y="29819"/>
                  </a:lnTo>
                  <a:lnTo>
                    <a:pt x="1679268" y="40355"/>
                  </a:lnTo>
                  <a:lnTo>
                    <a:pt x="1724096" y="52403"/>
                  </a:lnTo>
                  <a:lnTo>
                    <a:pt x="1768295" y="65938"/>
                  </a:lnTo>
                  <a:lnTo>
                    <a:pt x="1811836" y="80929"/>
                  </a:lnTo>
                  <a:lnTo>
                    <a:pt x="1854692" y="97348"/>
                  </a:lnTo>
                  <a:lnTo>
                    <a:pt x="1896832" y="115167"/>
                  </a:lnTo>
                  <a:lnTo>
                    <a:pt x="1938230" y="134357"/>
                  </a:lnTo>
                  <a:lnTo>
                    <a:pt x="1978856" y="154889"/>
                  </a:lnTo>
                  <a:lnTo>
                    <a:pt x="2018681" y="176736"/>
                  </a:lnTo>
                  <a:lnTo>
                    <a:pt x="2057678" y="199867"/>
                  </a:lnTo>
                  <a:lnTo>
                    <a:pt x="2095817" y="224256"/>
                  </a:lnTo>
                  <a:lnTo>
                    <a:pt x="2133071" y="249873"/>
                  </a:lnTo>
                  <a:lnTo>
                    <a:pt x="2169410" y="276690"/>
                  </a:lnTo>
                  <a:lnTo>
                    <a:pt x="2204806" y="304677"/>
                  </a:lnTo>
                  <a:lnTo>
                    <a:pt x="2239230" y="333808"/>
                  </a:lnTo>
                  <a:lnTo>
                    <a:pt x="2272654" y="364052"/>
                  </a:lnTo>
                  <a:lnTo>
                    <a:pt x="2305050" y="395382"/>
                  </a:lnTo>
                  <a:lnTo>
                    <a:pt x="2336388" y="427769"/>
                  </a:lnTo>
                  <a:lnTo>
                    <a:pt x="2366640" y="461184"/>
                  </a:lnTo>
                  <a:lnTo>
                    <a:pt x="2395778" y="495600"/>
                  </a:lnTo>
                  <a:lnTo>
                    <a:pt x="2423772" y="530986"/>
                  </a:lnTo>
                  <a:lnTo>
                    <a:pt x="2450596" y="567315"/>
                  </a:lnTo>
                  <a:lnTo>
                    <a:pt x="2476219" y="604558"/>
                  </a:lnTo>
                  <a:lnTo>
                    <a:pt x="2500614" y="642687"/>
                  </a:lnTo>
                  <a:lnTo>
                    <a:pt x="2523751" y="681673"/>
                  </a:lnTo>
                  <a:lnTo>
                    <a:pt x="2545603" y="721487"/>
                  </a:lnTo>
                  <a:lnTo>
                    <a:pt x="2566140" y="762101"/>
                  </a:lnTo>
                  <a:lnTo>
                    <a:pt x="2585334" y="803487"/>
                  </a:lnTo>
                  <a:lnTo>
                    <a:pt x="2603157" y="845615"/>
                  </a:lnTo>
                  <a:lnTo>
                    <a:pt x="2619580" y="888457"/>
                  </a:lnTo>
                  <a:lnTo>
                    <a:pt x="2634575" y="931986"/>
                  </a:lnTo>
                  <a:lnTo>
                    <a:pt x="2648112" y="976171"/>
                  </a:lnTo>
                  <a:lnTo>
                    <a:pt x="2660164" y="1020985"/>
                  </a:lnTo>
                  <a:lnTo>
                    <a:pt x="2670701" y="1066399"/>
                  </a:lnTo>
                  <a:lnTo>
                    <a:pt x="2679696" y="1112384"/>
                  </a:lnTo>
                  <a:lnTo>
                    <a:pt x="2687119" y="1158912"/>
                  </a:lnTo>
                  <a:lnTo>
                    <a:pt x="2692942" y="1205955"/>
                  </a:lnTo>
                  <a:lnTo>
                    <a:pt x="2697137" y="1253483"/>
                  </a:lnTo>
                  <a:lnTo>
                    <a:pt x="2699675" y="1301468"/>
                  </a:lnTo>
                  <a:lnTo>
                    <a:pt x="2700528" y="1349883"/>
                  </a:lnTo>
                  <a:lnTo>
                    <a:pt x="2699675" y="1398297"/>
                  </a:lnTo>
                  <a:lnTo>
                    <a:pt x="2697137" y="1446282"/>
                  </a:lnTo>
                  <a:lnTo>
                    <a:pt x="2692942" y="1493810"/>
                  </a:lnTo>
                  <a:lnTo>
                    <a:pt x="2687119" y="1540853"/>
                  </a:lnTo>
                  <a:lnTo>
                    <a:pt x="2679696" y="1587381"/>
                  </a:lnTo>
                  <a:lnTo>
                    <a:pt x="2670701" y="1633366"/>
                  </a:lnTo>
                  <a:lnTo>
                    <a:pt x="2660164" y="1678780"/>
                  </a:lnTo>
                  <a:lnTo>
                    <a:pt x="2648112" y="1723594"/>
                  </a:lnTo>
                  <a:lnTo>
                    <a:pt x="2634575" y="1767779"/>
                  </a:lnTo>
                  <a:lnTo>
                    <a:pt x="2619580" y="1811308"/>
                  </a:lnTo>
                  <a:lnTo>
                    <a:pt x="2603157" y="1854150"/>
                  </a:lnTo>
                  <a:lnTo>
                    <a:pt x="2585334" y="1896278"/>
                  </a:lnTo>
                  <a:lnTo>
                    <a:pt x="2566140" y="1937664"/>
                  </a:lnTo>
                  <a:lnTo>
                    <a:pt x="2545603" y="1978278"/>
                  </a:lnTo>
                  <a:lnTo>
                    <a:pt x="2523751" y="2018092"/>
                  </a:lnTo>
                  <a:lnTo>
                    <a:pt x="2500614" y="2057078"/>
                  </a:lnTo>
                  <a:lnTo>
                    <a:pt x="2476219" y="2095207"/>
                  </a:lnTo>
                  <a:lnTo>
                    <a:pt x="2450596" y="2132450"/>
                  </a:lnTo>
                  <a:lnTo>
                    <a:pt x="2423772" y="2168779"/>
                  </a:lnTo>
                  <a:lnTo>
                    <a:pt x="2395778" y="2204165"/>
                  </a:lnTo>
                  <a:lnTo>
                    <a:pt x="2366640" y="2238581"/>
                  </a:lnTo>
                  <a:lnTo>
                    <a:pt x="2336388" y="2271996"/>
                  </a:lnTo>
                  <a:lnTo>
                    <a:pt x="2305050" y="2304383"/>
                  </a:lnTo>
                  <a:lnTo>
                    <a:pt x="2272654" y="2335713"/>
                  </a:lnTo>
                  <a:lnTo>
                    <a:pt x="2239230" y="2365957"/>
                  </a:lnTo>
                  <a:lnTo>
                    <a:pt x="2204806" y="2395088"/>
                  </a:lnTo>
                  <a:lnTo>
                    <a:pt x="2169410" y="2423075"/>
                  </a:lnTo>
                  <a:lnTo>
                    <a:pt x="2133071" y="2449892"/>
                  </a:lnTo>
                  <a:lnTo>
                    <a:pt x="2095817" y="2475509"/>
                  </a:lnTo>
                  <a:lnTo>
                    <a:pt x="2057678" y="2499898"/>
                  </a:lnTo>
                  <a:lnTo>
                    <a:pt x="2018681" y="2523029"/>
                  </a:lnTo>
                  <a:lnTo>
                    <a:pt x="1978856" y="2544876"/>
                  </a:lnTo>
                  <a:lnTo>
                    <a:pt x="1938230" y="2565408"/>
                  </a:lnTo>
                  <a:lnTo>
                    <a:pt x="1896832" y="2584598"/>
                  </a:lnTo>
                  <a:lnTo>
                    <a:pt x="1854692" y="2602417"/>
                  </a:lnTo>
                  <a:lnTo>
                    <a:pt x="1811836" y="2618836"/>
                  </a:lnTo>
                  <a:lnTo>
                    <a:pt x="1768295" y="2633827"/>
                  </a:lnTo>
                  <a:lnTo>
                    <a:pt x="1724096" y="2647362"/>
                  </a:lnTo>
                  <a:lnTo>
                    <a:pt x="1679268" y="2659410"/>
                  </a:lnTo>
                  <a:lnTo>
                    <a:pt x="1633840" y="2669946"/>
                  </a:lnTo>
                  <a:lnTo>
                    <a:pt x="1587840" y="2678938"/>
                  </a:lnTo>
                  <a:lnTo>
                    <a:pt x="1541297" y="2686360"/>
                  </a:lnTo>
                  <a:lnTo>
                    <a:pt x="1494239" y="2692182"/>
                  </a:lnTo>
                  <a:lnTo>
                    <a:pt x="1446695" y="2696376"/>
                  </a:lnTo>
                  <a:lnTo>
                    <a:pt x="1398694" y="2698913"/>
                  </a:lnTo>
                  <a:lnTo>
                    <a:pt x="1350263" y="2699766"/>
                  </a:lnTo>
                  <a:lnTo>
                    <a:pt x="1301833" y="2698913"/>
                  </a:lnTo>
                  <a:lnTo>
                    <a:pt x="1253832" y="2696376"/>
                  </a:lnTo>
                  <a:lnTo>
                    <a:pt x="1206288" y="2692182"/>
                  </a:lnTo>
                  <a:lnTo>
                    <a:pt x="1159230" y="2686360"/>
                  </a:lnTo>
                  <a:lnTo>
                    <a:pt x="1112687" y="2678938"/>
                  </a:lnTo>
                  <a:lnTo>
                    <a:pt x="1066687" y="2669946"/>
                  </a:lnTo>
                  <a:lnTo>
                    <a:pt x="1021259" y="2659410"/>
                  </a:lnTo>
                  <a:lnTo>
                    <a:pt x="976431" y="2647362"/>
                  </a:lnTo>
                  <a:lnTo>
                    <a:pt x="932232" y="2633827"/>
                  </a:lnTo>
                  <a:lnTo>
                    <a:pt x="888691" y="2618836"/>
                  </a:lnTo>
                  <a:lnTo>
                    <a:pt x="845835" y="2602417"/>
                  </a:lnTo>
                  <a:lnTo>
                    <a:pt x="803695" y="2584598"/>
                  </a:lnTo>
                  <a:lnTo>
                    <a:pt x="762297" y="2565408"/>
                  </a:lnTo>
                  <a:lnTo>
                    <a:pt x="721671" y="2544876"/>
                  </a:lnTo>
                  <a:lnTo>
                    <a:pt x="681846" y="2523029"/>
                  </a:lnTo>
                  <a:lnTo>
                    <a:pt x="642849" y="2499898"/>
                  </a:lnTo>
                  <a:lnTo>
                    <a:pt x="604710" y="2475509"/>
                  </a:lnTo>
                  <a:lnTo>
                    <a:pt x="567456" y="2449892"/>
                  </a:lnTo>
                  <a:lnTo>
                    <a:pt x="531117" y="2423075"/>
                  </a:lnTo>
                  <a:lnTo>
                    <a:pt x="495721" y="2395088"/>
                  </a:lnTo>
                  <a:lnTo>
                    <a:pt x="461297" y="2365957"/>
                  </a:lnTo>
                  <a:lnTo>
                    <a:pt x="427873" y="2335713"/>
                  </a:lnTo>
                  <a:lnTo>
                    <a:pt x="395478" y="2304383"/>
                  </a:lnTo>
                  <a:lnTo>
                    <a:pt x="364139" y="2271996"/>
                  </a:lnTo>
                  <a:lnTo>
                    <a:pt x="333887" y="2238581"/>
                  </a:lnTo>
                  <a:lnTo>
                    <a:pt x="304749" y="2204165"/>
                  </a:lnTo>
                  <a:lnTo>
                    <a:pt x="276755" y="2168779"/>
                  </a:lnTo>
                  <a:lnTo>
                    <a:pt x="249931" y="2132450"/>
                  </a:lnTo>
                  <a:lnTo>
                    <a:pt x="224308" y="2095207"/>
                  </a:lnTo>
                  <a:lnTo>
                    <a:pt x="199913" y="2057078"/>
                  </a:lnTo>
                  <a:lnTo>
                    <a:pt x="176776" y="2018092"/>
                  </a:lnTo>
                  <a:lnTo>
                    <a:pt x="154924" y="1978278"/>
                  </a:lnTo>
                  <a:lnTo>
                    <a:pt x="134387" y="1937664"/>
                  </a:lnTo>
                  <a:lnTo>
                    <a:pt x="115193" y="1896278"/>
                  </a:lnTo>
                  <a:lnTo>
                    <a:pt x="97370" y="1854150"/>
                  </a:lnTo>
                  <a:lnTo>
                    <a:pt x="80947" y="1811308"/>
                  </a:lnTo>
                  <a:lnTo>
                    <a:pt x="65952" y="1767779"/>
                  </a:lnTo>
                  <a:lnTo>
                    <a:pt x="52415" y="1723594"/>
                  </a:lnTo>
                  <a:lnTo>
                    <a:pt x="40363" y="1678780"/>
                  </a:lnTo>
                  <a:lnTo>
                    <a:pt x="29826" y="1633366"/>
                  </a:lnTo>
                  <a:lnTo>
                    <a:pt x="20831" y="1587381"/>
                  </a:lnTo>
                  <a:lnTo>
                    <a:pt x="13408" y="1540853"/>
                  </a:lnTo>
                  <a:lnTo>
                    <a:pt x="7585" y="1493810"/>
                  </a:lnTo>
                  <a:lnTo>
                    <a:pt x="3390" y="1446282"/>
                  </a:lnTo>
                  <a:lnTo>
                    <a:pt x="852" y="1398297"/>
                  </a:lnTo>
                  <a:lnTo>
                    <a:pt x="0" y="134988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411088" y="5454016"/>
            <a:ext cx="358616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spc="-19" dirty="0">
                <a:latin typeface="Calibri"/>
                <a:cs typeface="Calibri"/>
              </a:rPr>
              <a:t>k=7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9475" y="2078878"/>
            <a:ext cx="7314798" cy="304762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82065" y="5859614"/>
            <a:ext cx="6107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Reference: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Machine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Brett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Lantz,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Packt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Publishing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8607" y="1575942"/>
            <a:ext cx="4886947" cy="43080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6200" y="1730039"/>
            <a:ext cx="4952820" cy="449550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Classify</a:t>
            </a:r>
            <a:r>
              <a:rPr spc="-165" dirty="0"/>
              <a:t> </a:t>
            </a:r>
            <a:r>
              <a:rPr spc="50" dirty="0"/>
              <a:t>me</a:t>
            </a:r>
            <a:r>
              <a:rPr spc="-155" dirty="0"/>
              <a:t> </a:t>
            </a:r>
            <a:r>
              <a:rPr spc="65" dirty="0"/>
              <a:t>now!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004" y="2395499"/>
            <a:ext cx="7952007" cy="22444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Example: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08193" y="1609425"/>
            <a:ext cx="4876386" cy="43429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Calculating</a:t>
            </a:r>
            <a:r>
              <a:rPr spc="70" dirty="0"/>
              <a:t> </a:t>
            </a:r>
            <a:r>
              <a:rPr spc="-10" dirty="0"/>
              <a:t>Distance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6214"/>
            <a:ext cx="8097520" cy="430847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41630" marR="133985" indent="-329565">
              <a:lnSpc>
                <a:spcPts val="3220"/>
              </a:lnSpc>
              <a:spcBef>
                <a:spcPts val="215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</a:tabLst>
            </a:pPr>
            <a:r>
              <a:rPr sz="2700" dirty="0">
                <a:latin typeface="Microsoft Sans Serif"/>
                <a:cs typeface="Microsoft Sans Serif"/>
              </a:rPr>
              <a:t>Locating</a:t>
            </a:r>
            <a:r>
              <a:rPr sz="2700" spc="10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spc="10" dirty="0">
                <a:latin typeface="Microsoft Sans Serif"/>
                <a:cs typeface="Microsoft Sans Serif"/>
              </a:rPr>
              <a:t> </a:t>
            </a:r>
            <a:r>
              <a:rPr sz="2700" spc="85" dirty="0">
                <a:latin typeface="Microsoft Sans Serif"/>
                <a:cs typeface="Microsoft Sans Serif"/>
              </a:rPr>
              <a:t>tomato's</a:t>
            </a:r>
            <a:r>
              <a:rPr sz="2700" spc="1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nearest</a:t>
            </a:r>
            <a:r>
              <a:rPr sz="2700" spc="2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neighbors</a:t>
            </a:r>
            <a:r>
              <a:rPr sz="2700" spc="1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requires </a:t>
            </a:r>
            <a:r>
              <a:rPr sz="2700" spc="-105" dirty="0">
                <a:latin typeface="Microsoft Sans Serif"/>
                <a:cs typeface="Microsoft Sans Serif"/>
              </a:rPr>
              <a:t>a </a:t>
            </a:r>
            <a:r>
              <a:rPr sz="2700" dirty="0">
                <a:latin typeface="Microsoft Sans Serif"/>
                <a:cs typeface="Microsoft Sans Serif"/>
              </a:rPr>
              <a:t>distance</a:t>
            </a:r>
            <a:r>
              <a:rPr sz="2700" spc="-95" dirty="0">
                <a:latin typeface="Microsoft Sans Serif"/>
                <a:cs typeface="Microsoft Sans Serif"/>
              </a:rPr>
              <a:t> </a:t>
            </a:r>
            <a:r>
              <a:rPr sz="2700" spc="65" dirty="0">
                <a:latin typeface="Microsoft Sans Serif"/>
                <a:cs typeface="Microsoft Sans Serif"/>
              </a:rPr>
              <a:t>function,</a:t>
            </a:r>
            <a:r>
              <a:rPr sz="2700" spc="-95" dirty="0">
                <a:latin typeface="Microsoft Sans Serif"/>
                <a:cs typeface="Microsoft Sans Serif"/>
              </a:rPr>
              <a:t> </a:t>
            </a:r>
            <a:r>
              <a:rPr sz="2700" spc="105" dirty="0">
                <a:latin typeface="Microsoft Sans Serif"/>
                <a:cs typeface="Microsoft Sans Serif"/>
              </a:rPr>
              <a:t>or</a:t>
            </a:r>
            <a:r>
              <a:rPr sz="2700" spc="-100" dirty="0">
                <a:latin typeface="Microsoft Sans Serif"/>
                <a:cs typeface="Microsoft Sans Serif"/>
              </a:rPr>
              <a:t> </a:t>
            </a:r>
            <a:r>
              <a:rPr sz="2700" spc="-105" dirty="0">
                <a:latin typeface="Microsoft Sans Serif"/>
                <a:cs typeface="Microsoft Sans Serif"/>
              </a:rPr>
              <a:t>a</a:t>
            </a:r>
            <a:r>
              <a:rPr sz="2700" spc="-90" dirty="0">
                <a:latin typeface="Microsoft Sans Serif"/>
                <a:cs typeface="Microsoft Sans Serif"/>
              </a:rPr>
              <a:t> </a:t>
            </a:r>
            <a:r>
              <a:rPr sz="2700" spc="75" dirty="0">
                <a:latin typeface="Microsoft Sans Serif"/>
                <a:cs typeface="Microsoft Sans Serif"/>
              </a:rPr>
              <a:t>formula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135" dirty="0">
                <a:latin typeface="Microsoft Sans Serif"/>
                <a:cs typeface="Microsoft Sans Serif"/>
              </a:rPr>
              <a:t>that</a:t>
            </a:r>
            <a:r>
              <a:rPr sz="2700" spc="-8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measures </a:t>
            </a:r>
            <a:r>
              <a:rPr sz="2700" spc="110" dirty="0">
                <a:latin typeface="Microsoft Sans Serif"/>
                <a:cs typeface="Microsoft Sans Serif"/>
              </a:rPr>
              <a:t>the</a:t>
            </a:r>
            <a:r>
              <a:rPr sz="2700" spc="2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similarity</a:t>
            </a:r>
            <a:r>
              <a:rPr sz="2700" spc="10" dirty="0">
                <a:latin typeface="Microsoft Sans Serif"/>
                <a:cs typeface="Microsoft Sans Serif"/>
              </a:rPr>
              <a:t> </a:t>
            </a:r>
            <a:r>
              <a:rPr sz="2700" spc="70" dirty="0">
                <a:latin typeface="Microsoft Sans Serif"/>
                <a:cs typeface="Microsoft Sans Serif"/>
              </a:rPr>
              <a:t>between</a:t>
            </a:r>
            <a:r>
              <a:rPr sz="2700" spc="20" dirty="0">
                <a:latin typeface="Microsoft Sans Serif"/>
                <a:cs typeface="Microsoft Sans Serif"/>
              </a:rPr>
              <a:t> </a:t>
            </a:r>
            <a:r>
              <a:rPr sz="2700" spc="170" dirty="0">
                <a:latin typeface="Microsoft Sans Serif"/>
                <a:cs typeface="Microsoft Sans Serif"/>
              </a:rPr>
              <a:t>two</a:t>
            </a:r>
            <a:r>
              <a:rPr sz="2700" spc="2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instances.</a:t>
            </a:r>
            <a:endParaRPr sz="2700">
              <a:latin typeface="Microsoft Sans Serif"/>
              <a:cs typeface="Microsoft Sans Serif"/>
            </a:endParaRPr>
          </a:p>
          <a:p>
            <a:pPr marL="341630" marR="1173480" indent="-329565">
              <a:lnSpc>
                <a:spcPts val="3220"/>
              </a:lnSpc>
              <a:spcBef>
                <a:spcPts val="760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</a:tabLst>
            </a:pPr>
            <a:r>
              <a:rPr sz="2700" dirty="0">
                <a:latin typeface="Microsoft Sans Serif"/>
                <a:cs typeface="Microsoft Sans Serif"/>
              </a:rPr>
              <a:t>There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are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many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125" dirty="0">
                <a:latin typeface="Microsoft Sans Serif"/>
                <a:cs typeface="Microsoft Sans Serif"/>
              </a:rPr>
              <a:t>different</a:t>
            </a:r>
            <a:r>
              <a:rPr sz="2700" spc="-105" dirty="0">
                <a:latin typeface="Microsoft Sans Serif"/>
                <a:cs typeface="Microsoft Sans Serif"/>
              </a:rPr>
              <a:t> </a:t>
            </a:r>
            <a:r>
              <a:rPr sz="2700" spc="-45" dirty="0">
                <a:latin typeface="Microsoft Sans Serif"/>
                <a:cs typeface="Microsoft Sans Serif"/>
              </a:rPr>
              <a:t>ways</a:t>
            </a:r>
            <a:r>
              <a:rPr sz="2700" spc="-114" dirty="0">
                <a:latin typeface="Microsoft Sans Serif"/>
                <a:cs typeface="Microsoft Sans Serif"/>
              </a:rPr>
              <a:t> </a:t>
            </a:r>
            <a:r>
              <a:rPr sz="2700" spc="200" dirty="0">
                <a:latin typeface="Microsoft Sans Serif"/>
                <a:cs typeface="Microsoft Sans Serif"/>
              </a:rPr>
              <a:t>to</a:t>
            </a:r>
            <a:r>
              <a:rPr sz="2700" spc="-11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calculate distance.</a:t>
            </a:r>
            <a:endParaRPr sz="2700">
              <a:latin typeface="Microsoft Sans Serif"/>
              <a:cs typeface="Microsoft Sans Serif"/>
            </a:endParaRPr>
          </a:p>
          <a:p>
            <a:pPr marL="341630" marR="5080" indent="-329565">
              <a:lnSpc>
                <a:spcPct val="99300"/>
              </a:lnSpc>
              <a:spcBef>
                <a:spcPts val="655"/>
              </a:spcBef>
              <a:buClr>
                <a:srgbClr val="6697CC"/>
              </a:buClr>
              <a:buFont typeface="Arial MT"/>
              <a:buChar char="•"/>
              <a:tabLst>
                <a:tab pos="341630" algn="l"/>
              </a:tabLst>
            </a:pPr>
            <a:r>
              <a:rPr sz="2700" dirty="0">
                <a:latin typeface="Microsoft Sans Serif"/>
                <a:cs typeface="Microsoft Sans Serif"/>
              </a:rPr>
              <a:t>Traditionally,</a:t>
            </a:r>
            <a:r>
              <a:rPr sz="2700" spc="-5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dirty="0">
                <a:latin typeface="Microsoft Sans Serif"/>
                <a:cs typeface="Microsoft Sans Serif"/>
              </a:rPr>
              <a:t> kNN</a:t>
            </a:r>
            <a:r>
              <a:rPr sz="2700" spc="-15" dirty="0">
                <a:latin typeface="Microsoft Sans Serif"/>
                <a:cs typeface="Microsoft Sans Serif"/>
              </a:rPr>
              <a:t> </a:t>
            </a:r>
            <a:r>
              <a:rPr sz="2700" spc="70" dirty="0">
                <a:latin typeface="Microsoft Sans Serif"/>
                <a:cs typeface="Microsoft Sans Serif"/>
              </a:rPr>
              <a:t>algorithm</a:t>
            </a:r>
            <a:r>
              <a:rPr sz="2700" spc="-5" dirty="0">
                <a:latin typeface="Microsoft Sans Serif"/>
                <a:cs typeface="Microsoft Sans Serif"/>
              </a:rPr>
              <a:t> </a:t>
            </a:r>
            <a:r>
              <a:rPr sz="2700" spc="-90" dirty="0">
                <a:latin typeface="Microsoft Sans Serif"/>
                <a:cs typeface="Microsoft Sans Serif"/>
              </a:rPr>
              <a:t>uses</a:t>
            </a:r>
            <a:r>
              <a:rPr sz="2700" spc="-5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Euclidean </a:t>
            </a:r>
            <a:r>
              <a:rPr sz="2700" dirty="0">
                <a:latin typeface="Microsoft Sans Serif"/>
                <a:cs typeface="Microsoft Sans Serif"/>
              </a:rPr>
              <a:t>distance,</a:t>
            </a:r>
            <a:r>
              <a:rPr sz="2700" spc="-8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which</a:t>
            </a:r>
            <a:r>
              <a:rPr sz="2700" spc="-85" dirty="0">
                <a:latin typeface="Microsoft Sans Serif"/>
                <a:cs typeface="Microsoft Sans Serif"/>
              </a:rPr>
              <a:t> </a:t>
            </a:r>
            <a:r>
              <a:rPr sz="2700" spc="-50" dirty="0">
                <a:latin typeface="Microsoft Sans Serif"/>
                <a:cs typeface="Microsoft Sans Serif"/>
              </a:rPr>
              <a:t>is</a:t>
            </a:r>
            <a:r>
              <a:rPr sz="2700" spc="-85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spc="-8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distance</a:t>
            </a:r>
            <a:r>
              <a:rPr sz="2700" spc="-8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one</a:t>
            </a:r>
            <a:r>
              <a:rPr sz="2700" spc="-70" dirty="0">
                <a:latin typeface="Microsoft Sans Serif"/>
                <a:cs typeface="Microsoft Sans Serif"/>
              </a:rPr>
              <a:t> </a:t>
            </a:r>
            <a:r>
              <a:rPr sz="2700" spc="80" dirty="0">
                <a:latin typeface="Microsoft Sans Serif"/>
                <a:cs typeface="Microsoft Sans Serif"/>
              </a:rPr>
              <a:t>would</a:t>
            </a:r>
            <a:r>
              <a:rPr sz="2700" spc="-8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measure </a:t>
            </a:r>
            <a:r>
              <a:rPr sz="2700" spc="165" dirty="0">
                <a:latin typeface="Microsoft Sans Serif"/>
                <a:cs typeface="Microsoft Sans Serif"/>
              </a:rPr>
              <a:t>if</a:t>
            </a:r>
            <a:r>
              <a:rPr sz="2700" spc="-5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you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could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-45" dirty="0">
                <a:latin typeface="Microsoft Sans Serif"/>
                <a:cs typeface="Microsoft Sans Serif"/>
              </a:rPr>
              <a:t>use</a:t>
            </a:r>
            <a:r>
              <a:rPr sz="2700" spc="-40" dirty="0">
                <a:latin typeface="Microsoft Sans Serif"/>
                <a:cs typeface="Microsoft Sans Serif"/>
              </a:rPr>
              <a:t> </a:t>
            </a:r>
            <a:r>
              <a:rPr sz="2700" spc="-105" dirty="0">
                <a:latin typeface="Microsoft Sans Serif"/>
                <a:cs typeface="Microsoft Sans Serif"/>
              </a:rPr>
              <a:t>a</a:t>
            </a:r>
            <a:r>
              <a:rPr sz="2700" spc="-65" dirty="0">
                <a:latin typeface="Microsoft Sans Serif"/>
                <a:cs typeface="Microsoft Sans Serif"/>
              </a:rPr>
              <a:t> </a:t>
            </a:r>
            <a:r>
              <a:rPr sz="2700" spc="75" dirty="0">
                <a:latin typeface="Microsoft Sans Serif"/>
                <a:cs typeface="Microsoft Sans Serif"/>
              </a:rPr>
              <a:t>ruler</a:t>
            </a:r>
            <a:r>
              <a:rPr sz="2700" spc="-50" dirty="0">
                <a:latin typeface="Microsoft Sans Serif"/>
                <a:cs typeface="Microsoft Sans Serif"/>
              </a:rPr>
              <a:t> </a:t>
            </a:r>
            <a:r>
              <a:rPr sz="2700" spc="200" dirty="0">
                <a:latin typeface="Microsoft Sans Serif"/>
                <a:cs typeface="Microsoft Sans Serif"/>
              </a:rPr>
              <a:t>to</a:t>
            </a:r>
            <a:r>
              <a:rPr sz="2700" spc="-5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connect</a:t>
            </a:r>
            <a:r>
              <a:rPr sz="2700" spc="-50" dirty="0">
                <a:latin typeface="Microsoft Sans Serif"/>
                <a:cs typeface="Microsoft Sans Serif"/>
              </a:rPr>
              <a:t> </a:t>
            </a:r>
            <a:r>
              <a:rPr sz="2700" spc="170" dirty="0">
                <a:latin typeface="Microsoft Sans Serif"/>
                <a:cs typeface="Microsoft Sans Serif"/>
              </a:rPr>
              <a:t>two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points, </a:t>
            </a:r>
            <a:r>
              <a:rPr sz="2700" spc="75" dirty="0">
                <a:latin typeface="Microsoft Sans Serif"/>
                <a:cs typeface="Microsoft Sans Serif"/>
              </a:rPr>
              <a:t>illustrated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in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110" dirty="0">
                <a:latin typeface="Microsoft Sans Serif"/>
                <a:cs typeface="Microsoft Sans Serif"/>
              </a:rPr>
              <a:t>the</a:t>
            </a:r>
            <a:r>
              <a:rPr sz="2700" spc="-50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previous</a:t>
            </a:r>
            <a:r>
              <a:rPr sz="2700" spc="-60" dirty="0">
                <a:latin typeface="Microsoft Sans Serif"/>
                <a:cs typeface="Microsoft Sans Serif"/>
              </a:rPr>
              <a:t> </a:t>
            </a:r>
            <a:r>
              <a:rPr sz="2700" spc="80" dirty="0">
                <a:latin typeface="Microsoft Sans Serif"/>
                <a:cs typeface="Microsoft Sans Serif"/>
              </a:rPr>
              <a:t>figure</a:t>
            </a:r>
            <a:r>
              <a:rPr sz="2700" spc="-4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by</a:t>
            </a:r>
            <a:r>
              <a:rPr sz="2700" spc="-65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130" dirty="0">
                <a:latin typeface="Microsoft Sans Serif"/>
                <a:cs typeface="Microsoft Sans Serif"/>
              </a:rPr>
              <a:t>dotted </a:t>
            </a:r>
            <a:r>
              <a:rPr sz="2700" dirty="0">
                <a:latin typeface="Microsoft Sans Serif"/>
                <a:cs typeface="Microsoft Sans Serif"/>
              </a:rPr>
              <a:t>lines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dirty="0">
                <a:latin typeface="Microsoft Sans Serif"/>
                <a:cs typeface="Microsoft Sans Serif"/>
              </a:rPr>
              <a:t>connecting</a:t>
            </a:r>
            <a:r>
              <a:rPr sz="2700" spc="-45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the</a:t>
            </a:r>
            <a:r>
              <a:rPr sz="2700" spc="-50" dirty="0">
                <a:latin typeface="Microsoft Sans Serif"/>
                <a:cs typeface="Microsoft Sans Serif"/>
              </a:rPr>
              <a:t> </a:t>
            </a:r>
            <a:r>
              <a:rPr sz="2700" spc="114" dirty="0">
                <a:latin typeface="Microsoft Sans Serif"/>
                <a:cs typeface="Microsoft Sans Serif"/>
              </a:rPr>
              <a:t>tomato</a:t>
            </a:r>
            <a:r>
              <a:rPr sz="2700" spc="-40" dirty="0">
                <a:latin typeface="Microsoft Sans Serif"/>
                <a:cs typeface="Microsoft Sans Serif"/>
              </a:rPr>
              <a:t> </a:t>
            </a:r>
            <a:r>
              <a:rPr sz="2700" spc="200" dirty="0">
                <a:latin typeface="Microsoft Sans Serif"/>
                <a:cs typeface="Microsoft Sans Serif"/>
              </a:rPr>
              <a:t>to</a:t>
            </a:r>
            <a:r>
              <a:rPr sz="2700" spc="-55" dirty="0">
                <a:latin typeface="Microsoft Sans Serif"/>
                <a:cs typeface="Microsoft Sans Serif"/>
              </a:rPr>
              <a:t> </a:t>
            </a:r>
            <a:r>
              <a:rPr sz="2700" spc="75" dirty="0">
                <a:latin typeface="Microsoft Sans Serif"/>
                <a:cs typeface="Microsoft Sans Serif"/>
              </a:rPr>
              <a:t>its</a:t>
            </a:r>
            <a:r>
              <a:rPr sz="2700" spc="-50" dirty="0">
                <a:latin typeface="Microsoft Sans Serif"/>
                <a:cs typeface="Microsoft Sans Serif"/>
              </a:rPr>
              <a:t> </a:t>
            </a:r>
            <a:r>
              <a:rPr sz="2700" spc="-10" dirty="0">
                <a:latin typeface="Microsoft Sans Serif"/>
                <a:cs typeface="Microsoft Sans Serif"/>
              </a:rPr>
              <a:t>neighbors.</a:t>
            </a:r>
            <a:endParaRPr sz="27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Calculating</a:t>
            </a:r>
            <a:r>
              <a:rPr spc="70" dirty="0"/>
              <a:t> </a:t>
            </a:r>
            <a:r>
              <a:rPr spc="-10" dirty="0"/>
              <a:t>Distance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1232" y="1452600"/>
            <a:ext cx="7200727" cy="442871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376258" y="6147980"/>
            <a:ext cx="2858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Reference: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Science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3616"/>
            <a:ext cx="11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017" y="1518729"/>
            <a:ext cx="7708900" cy="1246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2000" spc="-10" dirty="0">
                <a:latin typeface="Microsoft Sans Serif"/>
                <a:cs typeface="Microsoft Sans Serif"/>
              </a:rPr>
              <a:t>Euclidean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is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specified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by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90" dirty="0">
                <a:latin typeface="Microsoft Sans Serif"/>
                <a:cs typeface="Microsoft Sans Serif"/>
              </a:rPr>
              <a:t>the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following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formula,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where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5" dirty="0">
                <a:latin typeface="Microsoft Sans Serif"/>
                <a:cs typeface="Microsoft Sans Serif"/>
              </a:rPr>
              <a:t>p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q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are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135" dirty="0">
                <a:latin typeface="Microsoft Sans Serif"/>
                <a:cs typeface="Microsoft Sans Serif"/>
              </a:rPr>
              <a:t>th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examples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155" dirty="0">
                <a:latin typeface="Microsoft Sans Serif"/>
                <a:cs typeface="Microsoft Sans Serif"/>
              </a:rPr>
              <a:t>to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compared,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each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having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features.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The </a:t>
            </a:r>
            <a:r>
              <a:rPr sz="2000" spc="95" dirty="0">
                <a:latin typeface="Microsoft Sans Serif"/>
                <a:cs typeface="Microsoft Sans Serif"/>
              </a:rPr>
              <a:t>term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p1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refers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155" dirty="0">
                <a:latin typeface="Microsoft Sans Serif"/>
                <a:cs typeface="Microsoft Sans Serif"/>
              </a:rPr>
              <a:t>to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the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value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140" dirty="0">
                <a:latin typeface="Microsoft Sans Serif"/>
                <a:cs typeface="Microsoft Sans Serif"/>
              </a:rPr>
              <a:t>of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first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feature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145" dirty="0">
                <a:latin typeface="Microsoft Sans Serif"/>
                <a:cs typeface="Microsoft Sans Serif"/>
              </a:rPr>
              <a:t>of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example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40" dirty="0">
                <a:latin typeface="Microsoft Sans Serif"/>
                <a:cs typeface="Microsoft Sans Serif"/>
              </a:rPr>
              <a:t>while </a:t>
            </a:r>
            <a:r>
              <a:rPr sz="2000" dirty="0">
                <a:latin typeface="Microsoft Sans Serif"/>
                <a:cs typeface="Microsoft Sans Serif"/>
              </a:rPr>
              <a:t>q1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refers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155" dirty="0">
                <a:latin typeface="Microsoft Sans Serif"/>
                <a:cs typeface="Microsoft Sans Serif"/>
              </a:rPr>
              <a:t>to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90" dirty="0">
                <a:latin typeface="Microsoft Sans Serif"/>
                <a:cs typeface="Microsoft Sans Serif"/>
              </a:rPr>
              <a:t>the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value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145" dirty="0">
                <a:latin typeface="Microsoft Sans Serif"/>
                <a:cs typeface="Microsoft Sans Serif"/>
              </a:rPr>
              <a:t>of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90" dirty="0">
                <a:latin typeface="Microsoft Sans Serif"/>
                <a:cs typeface="Microsoft Sans Serif"/>
              </a:rPr>
              <a:t>the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first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feature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145" dirty="0">
                <a:latin typeface="Microsoft Sans Serif"/>
                <a:cs typeface="Microsoft Sans Serif"/>
              </a:rPr>
              <a:t>of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example</a:t>
            </a:r>
            <a:r>
              <a:rPr sz="2000" spc="-25" dirty="0">
                <a:latin typeface="Microsoft Sans Serif"/>
                <a:cs typeface="Microsoft Sans Serif"/>
              </a:rPr>
              <a:t> q: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639489"/>
            <a:ext cx="1149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017" y="3654971"/>
            <a:ext cx="7756525" cy="1246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sz="2000" spc="-10" dirty="0">
                <a:latin typeface="Microsoft Sans Serif"/>
                <a:cs typeface="Microsoft Sans Serif"/>
              </a:rPr>
              <a:t>The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formula</a:t>
            </a:r>
            <a:r>
              <a:rPr sz="2000" dirty="0">
                <a:latin typeface="Microsoft Sans Serif"/>
                <a:cs typeface="Microsoft Sans Serif"/>
              </a:rPr>
              <a:t> involves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comparing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the</a:t>
            </a:r>
            <a:r>
              <a:rPr sz="2000" spc="-10" dirty="0">
                <a:latin typeface="Microsoft Sans Serif"/>
                <a:cs typeface="Microsoft Sans Serif"/>
              </a:rPr>
              <a:t> values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145" dirty="0">
                <a:latin typeface="Microsoft Sans Serif"/>
                <a:cs typeface="Microsoft Sans Serif"/>
              </a:rPr>
              <a:t>of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each </a:t>
            </a:r>
            <a:r>
              <a:rPr sz="2000" spc="55" dirty="0">
                <a:latin typeface="Microsoft Sans Serif"/>
                <a:cs typeface="Microsoft Sans Serif"/>
              </a:rPr>
              <a:t>feature.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For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example,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155" dirty="0">
                <a:latin typeface="Microsoft Sans Serif"/>
                <a:cs typeface="Microsoft Sans Serif"/>
              </a:rPr>
              <a:t>to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calculate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the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distance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between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the</a:t>
            </a:r>
            <a:r>
              <a:rPr sz="2000" spc="100" dirty="0">
                <a:latin typeface="Microsoft Sans Serif"/>
                <a:cs typeface="Microsoft Sans Serif"/>
              </a:rPr>
              <a:t> tomato</a:t>
            </a:r>
            <a:r>
              <a:rPr sz="2000" spc="-7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(sweetness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6,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crunchiness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4),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and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90" dirty="0">
                <a:latin typeface="Microsoft Sans Serif"/>
                <a:cs typeface="Microsoft Sans Serif"/>
              </a:rPr>
              <a:t>the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green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bean </a:t>
            </a:r>
            <a:r>
              <a:rPr sz="2000" dirty="0">
                <a:latin typeface="Microsoft Sans Serif"/>
                <a:cs typeface="Microsoft Sans Serif"/>
              </a:rPr>
              <a:t>(sweetness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3,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crunchiness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7),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we</a:t>
            </a:r>
            <a:r>
              <a:rPr sz="2000" spc="-9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can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use</a:t>
            </a:r>
            <a:r>
              <a:rPr sz="2000" spc="-80" dirty="0">
                <a:latin typeface="Microsoft Sans Serif"/>
                <a:cs typeface="Microsoft Sans Serif"/>
              </a:rPr>
              <a:t> </a:t>
            </a:r>
            <a:r>
              <a:rPr sz="2000" spc="85" dirty="0">
                <a:latin typeface="Microsoft Sans Serif"/>
                <a:cs typeface="Microsoft Sans Serif"/>
              </a:rPr>
              <a:t>the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formula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00" dirty="0">
                <a:latin typeface="Microsoft Sans Serif"/>
                <a:cs typeface="Microsoft Sans Serif"/>
              </a:rPr>
              <a:t>as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45" dirty="0">
                <a:latin typeface="Microsoft Sans Serif"/>
                <a:cs typeface="Microsoft Sans Serif"/>
              </a:rPr>
              <a:t>follows: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47441" y="2931405"/>
            <a:ext cx="6552938" cy="5426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309" y="5134828"/>
            <a:ext cx="7000452" cy="5711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Distance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64766" y="1619046"/>
            <a:ext cx="3447824" cy="17291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89963" y="3779036"/>
            <a:ext cx="3447824" cy="172919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40942" y="2407945"/>
            <a:ext cx="19456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Manhattan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Distance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0942" y="4460303"/>
            <a:ext cx="1807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Euclidean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Distance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Closest</a:t>
            </a:r>
            <a:r>
              <a:rPr spc="-195" dirty="0"/>
              <a:t> </a:t>
            </a:r>
            <a:r>
              <a:rPr spc="-10" dirty="0"/>
              <a:t>Neighbors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790" y="1778842"/>
            <a:ext cx="8215210" cy="166760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4119" y="1456564"/>
            <a:ext cx="173974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Formal</a:t>
            </a:r>
            <a:r>
              <a:rPr b="1" u="sng" spc="-38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b="1" u="sng" spc="-8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Definition:</a:t>
            </a:r>
            <a:endParaRPr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0870" y="281148"/>
            <a:ext cx="7036730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k-Nearest</a:t>
            </a:r>
            <a:r>
              <a:rPr spc="-101" dirty="0"/>
              <a:t> </a:t>
            </a:r>
            <a:r>
              <a:rPr dirty="0"/>
              <a:t>Neighbor</a:t>
            </a:r>
            <a:r>
              <a:rPr spc="-90" dirty="0"/>
              <a:t> </a:t>
            </a:r>
            <a:r>
              <a:rPr dirty="0"/>
              <a:t>(kNN)</a:t>
            </a:r>
            <a:r>
              <a:rPr spc="-94" dirty="0"/>
              <a:t> </a:t>
            </a:r>
            <a:r>
              <a:rPr spc="-8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873" y="1793366"/>
            <a:ext cx="6178487" cy="71551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873" y="2840354"/>
            <a:ext cx="4301109" cy="22917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873" y="3792474"/>
            <a:ext cx="7493508" cy="11309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873" y="3316986"/>
            <a:ext cx="6916293" cy="24002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00821" y="5280088"/>
            <a:ext cx="4789170" cy="48005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5091" y="4958525"/>
            <a:ext cx="1419225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b="1" u="sng" spc="-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Interpretation:</a:t>
            </a:r>
            <a:endParaRPr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600" y="1456563"/>
            <a:ext cx="6087904" cy="375423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2000" b="1" u="sng" spc="-8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Characteristics</a:t>
            </a:r>
            <a:r>
              <a:rPr sz="2000" b="1" u="sng" spc="-41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of</a:t>
            </a:r>
            <a:r>
              <a:rPr sz="2000" b="1" u="sng" spc="-4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5" dirty="0">
                <a:solidFill>
                  <a:srgbClr val="006FC0"/>
                </a:solidFill>
                <a:uFill>
                  <a:solidFill>
                    <a:srgbClr val="006FC0"/>
                  </a:solidFill>
                </a:uFill>
                <a:latin typeface="Calibri"/>
                <a:cs typeface="Calibri"/>
              </a:rPr>
              <a:t>kNN:</a:t>
            </a:r>
            <a:endParaRPr sz="2000" dirty="0">
              <a:latin typeface="Calibri"/>
              <a:cs typeface="Calibri"/>
            </a:endParaRPr>
          </a:p>
          <a:p>
            <a:pPr marL="266700" indent="-257175">
              <a:spcBef>
                <a:spcPts val="2063"/>
              </a:spcBef>
              <a:buChar char="-"/>
              <a:tabLst>
                <a:tab pos="266700" algn="l"/>
              </a:tabLst>
            </a:pPr>
            <a:r>
              <a:rPr sz="2000" dirty="0">
                <a:latin typeface="Segoe Print"/>
                <a:cs typeface="Segoe Print"/>
              </a:rPr>
              <a:t>No</a:t>
            </a:r>
            <a:r>
              <a:rPr sz="2000" spc="-4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assumptions</a:t>
            </a:r>
            <a:r>
              <a:rPr sz="2000" spc="-5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about</a:t>
            </a:r>
            <a:r>
              <a:rPr sz="2000" spc="-38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distribution</a:t>
            </a:r>
            <a:r>
              <a:rPr sz="2000" spc="-41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the</a:t>
            </a:r>
            <a:r>
              <a:rPr sz="2000" spc="-45" dirty="0">
                <a:latin typeface="Segoe Print"/>
                <a:cs typeface="Segoe Print"/>
              </a:rPr>
              <a:t> </a:t>
            </a:r>
            <a:r>
              <a:rPr sz="2000" spc="-15" dirty="0">
                <a:latin typeface="Segoe Print"/>
                <a:cs typeface="Segoe Print"/>
              </a:rPr>
              <a:t>data</a:t>
            </a:r>
            <a:endParaRPr sz="2000" dirty="0">
              <a:latin typeface="Segoe Print"/>
              <a:cs typeface="Segoe Print"/>
            </a:endParaRPr>
          </a:p>
          <a:p>
            <a:pPr marL="266700" indent="-257175">
              <a:spcBef>
                <a:spcPts val="1080"/>
              </a:spcBef>
              <a:buChar char="-"/>
              <a:tabLst>
                <a:tab pos="266700" algn="l"/>
              </a:tabLst>
            </a:pPr>
            <a:r>
              <a:rPr sz="2000" spc="-8" dirty="0">
                <a:latin typeface="Segoe Print"/>
                <a:cs typeface="Segoe Print"/>
              </a:rPr>
              <a:t>Non-</a:t>
            </a:r>
            <a:r>
              <a:rPr sz="2000" dirty="0">
                <a:latin typeface="Segoe Print"/>
                <a:cs typeface="Segoe Print"/>
              </a:rPr>
              <a:t>parametric</a:t>
            </a:r>
            <a:r>
              <a:rPr sz="2000" spc="-71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algorithm</a:t>
            </a:r>
            <a:endParaRPr sz="2000" dirty="0">
              <a:latin typeface="Segoe Print"/>
              <a:cs typeface="Segoe Print"/>
            </a:endParaRPr>
          </a:p>
          <a:p>
            <a:pPr marL="609600" lvl="1" indent="-257175">
              <a:spcBef>
                <a:spcPts val="1084"/>
              </a:spcBef>
              <a:buChar char="-"/>
              <a:tabLst>
                <a:tab pos="609600" algn="l"/>
              </a:tabLst>
            </a:pPr>
            <a:r>
              <a:rPr sz="2000" dirty="0">
                <a:latin typeface="Segoe Print"/>
                <a:cs typeface="Segoe Print"/>
              </a:rPr>
              <a:t>No</a:t>
            </a:r>
            <a:r>
              <a:rPr sz="2000" spc="-34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parameters</a:t>
            </a:r>
            <a:endParaRPr sz="2000" dirty="0">
              <a:latin typeface="Segoe Print"/>
              <a:cs typeface="Segoe Print"/>
            </a:endParaRPr>
          </a:p>
          <a:p>
            <a:pPr lvl="1">
              <a:spcBef>
                <a:spcPts val="1140"/>
              </a:spcBef>
              <a:buFont typeface="Segoe Print"/>
              <a:buChar char="-"/>
            </a:pPr>
            <a:endParaRPr sz="2000" dirty="0">
              <a:latin typeface="Segoe Print"/>
              <a:cs typeface="Segoe Print"/>
            </a:endParaRPr>
          </a:p>
          <a:p>
            <a:pPr marL="266700" indent="-257175">
              <a:spcBef>
                <a:spcPts val="4"/>
              </a:spcBef>
              <a:buChar char="-"/>
              <a:tabLst>
                <a:tab pos="266700" algn="l"/>
              </a:tabLst>
            </a:pPr>
            <a:r>
              <a:rPr sz="2000" spc="-19" dirty="0">
                <a:latin typeface="Segoe Print"/>
                <a:cs typeface="Segoe Print"/>
              </a:rPr>
              <a:t>Hyper-</a:t>
            </a:r>
            <a:r>
              <a:rPr sz="2000" spc="-8" dirty="0">
                <a:latin typeface="Segoe Print"/>
                <a:cs typeface="Segoe Print"/>
              </a:rPr>
              <a:t>Parameters</a:t>
            </a:r>
            <a:endParaRPr sz="2000" dirty="0">
              <a:latin typeface="Segoe Print"/>
              <a:cs typeface="Segoe Print"/>
            </a:endParaRPr>
          </a:p>
          <a:p>
            <a:pPr marL="609600" lvl="1" indent="-257175">
              <a:spcBef>
                <a:spcPts val="1080"/>
              </a:spcBef>
              <a:buChar char="-"/>
              <a:tabLst>
                <a:tab pos="609600" algn="l"/>
              </a:tabLst>
            </a:pPr>
            <a:r>
              <a:rPr sz="2000" dirty="0">
                <a:latin typeface="Segoe Print"/>
                <a:cs typeface="Segoe Print"/>
              </a:rPr>
              <a:t>k</a:t>
            </a:r>
            <a:r>
              <a:rPr sz="2000" spc="-15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(number</a:t>
            </a:r>
            <a:r>
              <a:rPr sz="2000" spc="-19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of</a:t>
            </a:r>
            <a:r>
              <a:rPr sz="2000" spc="-11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neighbors)</a:t>
            </a:r>
            <a:endParaRPr sz="2000" dirty="0">
              <a:latin typeface="Segoe Print"/>
              <a:cs typeface="Segoe Print"/>
            </a:endParaRPr>
          </a:p>
          <a:p>
            <a:pPr marL="609600" lvl="1" indent="-257175">
              <a:spcBef>
                <a:spcPts val="1080"/>
              </a:spcBef>
              <a:buChar char="-"/>
              <a:tabLst>
                <a:tab pos="609600" algn="l"/>
              </a:tabLst>
            </a:pPr>
            <a:r>
              <a:rPr sz="2000" dirty="0">
                <a:latin typeface="Segoe Print"/>
                <a:cs typeface="Segoe Print"/>
              </a:rPr>
              <a:t>Distance</a:t>
            </a:r>
            <a:r>
              <a:rPr sz="2000" spc="-5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metric</a:t>
            </a:r>
            <a:r>
              <a:rPr sz="2000" spc="-56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(to</a:t>
            </a:r>
            <a:r>
              <a:rPr sz="2000" spc="-60" dirty="0">
                <a:latin typeface="Segoe Print"/>
                <a:cs typeface="Segoe Print"/>
              </a:rPr>
              <a:t> </a:t>
            </a:r>
            <a:r>
              <a:rPr sz="2000" dirty="0">
                <a:latin typeface="Segoe Print"/>
                <a:cs typeface="Segoe Print"/>
              </a:rPr>
              <a:t>quantify</a:t>
            </a:r>
            <a:r>
              <a:rPr sz="2000" spc="-56" dirty="0">
                <a:latin typeface="Segoe Print"/>
                <a:cs typeface="Segoe Print"/>
              </a:rPr>
              <a:t> </a:t>
            </a:r>
            <a:r>
              <a:rPr sz="2000" spc="-8" dirty="0">
                <a:latin typeface="Segoe Print"/>
                <a:cs typeface="Segoe Print"/>
              </a:rPr>
              <a:t>similarity)</a:t>
            </a:r>
            <a:endParaRPr sz="2000" dirty="0">
              <a:latin typeface="Segoe Print"/>
              <a:cs typeface="Segoe Prin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685198"/>
            <a:ext cx="7134225" cy="517449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lnSpc>
                <a:spcPct val="100000"/>
              </a:lnSpc>
              <a:spcBef>
                <a:spcPts val="75"/>
              </a:spcBef>
            </a:pPr>
            <a:r>
              <a:rPr dirty="0"/>
              <a:t>k-Nearest</a:t>
            </a:r>
            <a:r>
              <a:rPr spc="-101" dirty="0"/>
              <a:t> </a:t>
            </a:r>
            <a:r>
              <a:rPr dirty="0"/>
              <a:t>Neighbor</a:t>
            </a:r>
            <a:r>
              <a:rPr spc="-90" dirty="0"/>
              <a:t> </a:t>
            </a:r>
            <a:r>
              <a:rPr dirty="0"/>
              <a:t>(kNN)</a:t>
            </a:r>
            <a:r>
              <a:rPr spc="-94" dirty="0"/>
              <a:t> </a:t>
            </a:r>
            <a:r>
              <a:rPr spc="-8" dirty="0"/>
              <a:t>Algorithm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Choosing</a:t>
            </a:r>
            <a:r>
              <a:rPr spc="-145" dirty="0"/>
              <a:t> </a:t>
            </a:r>
            <a:r>
              <a:rPr spc="95" dirty="0"/>
              <a:t>appropriate</a:t>
            </a:r>
            <a:r>
              <a:rPr spc="-140" dirty="0"/>
              <a:t> </a:t>
            </a:r>
            <a:r>
              <a:rPr spc="20" dirty="0"/>
              <a:t>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628650" y="1825625"/>
            <a:ext cx="7886700" cy="24788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07670">
              <a:lnSpc>
                <a:spcPct val="100200"/>
              </a:lnSpc>
              <a:spcBef>
                <a:spcPts val="90"/>
              </a:spcBef>
            </a:pPr>
            <a:r>
              <a:rPr dirty="0"/>
              <a:t>Deciding</a:t>
            </a:r>
            <a:r>
              <a:rPr spc="-40" dirty="0"/>
              <a:t> </a:t>
            </a:r>
            <a:r>
              <a:rPr spc="70" dirty="0"/>
              <a:t>how</a:t>
            </a:r>
            <a:r>
              <a:rPr spc="-30" dirty="0"/>
              <a:t> </a:t>
            </a:r>
            <a:r>
              <a:rPr dirty="0"/>
              <a:t>many</a:t>
            </a:r>
            <a:r>
              <a:rPr spc="-25" dirty="0"/>
              <a:t> </a:t>
            </a:r>
            <a:r>
              <a:rPr dirty="0"/>
              <a:t>neighbors</a:t>
            </a:r>
            <a:r>
              <a:rPr spc="-40" dirty="0"/>
              <a:t> </a:t>
            </a:r>
            <a:r>
              <a:rPr spc="195" dirty="0"/>
              <a:t>to</a:t>
            </a:r>
            <a:r>
              <a:rPr spc="-40" dirty="0"/>
              <a:t> </a:t>
            </a:r>
            <a:r>
              <a:rPr spc="-10" dirty="0"/>
              <a:t>use</a:t>
            </a:r>
            <a:r>
              <a:rPr spc="-30" dirty="0"/>
              <a:t> </a:t>
            </a:r>
            <a:r>
              <a:rPr spc="155" dirty="0"/>
              <a:t>for</a:t>
            </a:r>
            <a:r>
              <a:rPr spc="-30" dirty="0"/>
              <a:t> </a:t>
            </a:r>
            <a:r>
              <a:rPr spc="-25" dirty="0"/>
              <a:t>kNN </a:t>
            </a:r>
            <a:r>
              <a:rPr spc="50" dirty="0"/>
              <a:t>determines</a:t>
            </a:r>
            <a:r>
              <a:rPr spc="-55" dirty="0"/>
              <a:t> </a:t>
            </a:r>
            <a:r>
              <a:rPr spc="70" dirty="0"/>
              <a:t>how</a:t>
            </a:r>
            <a:r>
              <a:rPr spc="-45" dirty="0"/>
              <a:t> </a:t>
            </a:r>
            <a:r>
              <a:rPr spc="90" dirty="0"/>
              <a:t>well</a:t>
            </a:r>
            <a:r>
              <a:rPr spc="-55" dirty="0"/>
              <a:t> </a:t>
            </a:r>
            <a:r>
              <a:rPr spc="110" dirty="0"/>
              <a:t>the</a:t>
            </a:r>
            <a:r>
              <a:rPr spc="-50" dirty="0"/>
              <a:t> </a:t>
            </a:r>
            <a:r>
              <a:rPr spc="50" dirty="0"/>
              <a:t>mode</a:t>
            </a:r>
            <a:r>
              <a:rPr spc="-55" dirty="0"/>
              <a:t> </a:t>
            </a:r>
            <a:r>
              <a:rPr spc="105" dirty="0"/>
              <a:t>will</a:t>
            </a:r>
            <a:r>
              <a:rPr spc="-65" dirty="0"/>
              <a:t> </a:t>
            </a:r>
            <a:r>
              <a:rPr dirty="0"/>
              <a:t>generalize</a:t>
            </a:r>
            <a:r>
              <a:rPr spc="-45" dirty="0"/>
              <a:t> </a:t>
            </a:r>
            <a:r>
              <a:rPr spc="165" dirty="0"/>
              <a:t>to </a:t>
            </a:r>
            <a:r>
              <a:rPr spc="130" dirty="0"/>
              <a:t>future</a:t>
            </a:r>
            <a:r>
              <a:rPr spc="-85" dirty="0"/>
              <a:t> </a:t>
            </a:r>
            <a:r>
              <a:rPr spc="-20" dirty="0"/>
              <a:t>data.</a:t>
            </a:r>
          </a:p>
          <a:p>
            <a:pPr marL="12700" marR="264795">
              <a:lnSpc>
                <a:spcPct val="100000"/>
              </a:lnSpc>
              <a:spcBef>
                <a:spcPts val="800"/>
              </a:spcBef>
            </a:pPr>
            <a:r>
              <a:rPr spc="-10" dirty="0"/>
              <a:t>The</a:t>
            </a:r>
            <a:r>
              <a:rPr spc="-105" dirty="0"/>
              <a:t> </a:t>
            </a:r>
            <a:r>
              <a:rPr spc="-10" dirty="0"/>
              <a:t>balance</a:t>
            </a:r>
            <a:r>
              <a:rPr spc="-95" dirty="0"/>
              <a:t> </a:t>
            </a:r>
            <a:r>
              <a:rPr spc="75" dirty="0"/>
              <a:t>between</a:t>
            </a:r>
            <a:r>
              <a:rPr spc="-90" dirty="0"/>
              <a:t> </a:t>
            </a:r>
            <a:r>
              <a:rPr spc="120" dirty="0"/>
              <a:t>overfitting</a:t>
            </a:r>
            <a:r>
              <a:rPr spc="-105" dirty="0"/>
              <a:t> </a:t>
            </a:r>
            <a:r>
              <a:rPr dirty="0"/>
              <a:t>and</a:t>
            </a:r>
            <a:r>
              <a:rPr spc="-100" dirty="0"/>
              <a:t> </a:t>
            </a:r>
            <a:r>
              <a:rPr spc="105" dirty="0"/>
              <a:t>underfitting </a:t>
            </a:r>
            <a:r>
              <a:rPr spc="110" dirty="0"/>
              <a:t>the</a:t>
            </a:r>
            <a:r>
              <a:rPr spc="-75" dirty="0"/>
              <a:t> </a:t>
            </a:r>
            <a:r>
              <a:rPr spc="75" dirty="0"/>
              <a:t>training</a:t>
            </a:r>
            <a:r>
              <a:rPr spc="-80" dirty="0"/>
              <a:t> </a:t>
            </a: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spc="-110" dirty="0"/>
              <a:t>a</a:t>
            </a:r>
            <a:r>
              <a:rPr spc="-85" dirty="0"/>
              <a:t> </a:t>
            </a:r>
            <a:r>
              <a:rPr spc="75" dirty="0"/>
              <a:t>problem</a:t>
            </a:r>
            <a:r>
              <a:rPr spc="-75" dirty="0"/>
              <a:t> </a:t>
            </a:r>
            <a:r>
              <a:rPr spc="60" dirty="0"/>
              <a:t>known</a:t>
            </a:r>
            <a:r>
              <a:rPr spc="-60" dirty="0"/>
              <a:t> </a:t>
            </a:r>
            <a:r>
              <a:rPr spc="-130" dirty="0"/>
              <a:t>as</a:t>
            </a:r>
            <a:r>
              <a:rPr spc="-75" dirty="0"/>
              <a:t> </a:t>
            </a:r>
            <a:r>
              <a:rPr spc="110" dirty="0"/>
              <a:t>the</a:t>
            </a:r>
            <a:r>
              <a:rPr spc="-65" dirty="0"/>
              <a:t> </a:t>
            </a:r>
            <a:r>
              <a:rPr spc="-10" dirty="0"/>
              <a:t>bias- variance</a:t>
            </a:r>
            <a:r>
              <a:rPr spc="-95" dirty="0"/>
              <a:t> </a:t>
            </a:r>
            <a:r>
              <a:rPr spc="95" dirty="0"/>
              <a:t>tradeoff.</a:t>
            </a:r>
          </a:p>
          <a:p>
            <a:pPr marL="12700" marR="5080">
              <a:lnSpc>
                <a:spcPct val="100000"/>
              </a:lnSpc>
              <a:spcBef>
                <a:spcPts val="810"/>
              </a:spcBef>
            </a:pPr>
            <a:r>
              <a:rPr spc="-10" dirty="0"/>
              <a:t>Choosing</a:t>
            </a:r>
            <a:r>
              <a:rPr spc="-70" dirty="0"/>
              <a:t> </a:t>
            </a:r>
            <a:r>
              <a:rPr spc="-110" dirty="0"/>
              <a:t>a</a:t>
            </a:r>
            <a:r>
              <a:rPr spc="-70" dirty="0"/>
              <a:t> </a:t>
            </a:r>
            <a:r>
              <a:rPr dirty="0"/>
              <a:t>large</a:t>
            </a:r>
            <a:r>
              <a:rPr spc="-70" dirty="0"/>
              <a:t> </a:t>
            </a:r>
            <a:r>
              <a:rPr spc="50" dirty="0"/>
              <a:t>k</a:t>
            </a:r>
            <a:r>
              <a:rPr spc="-65" dirty="0"/>
              <a:t> </a:t>
            </a:r>
            <a:r>
              <a:rPr dirty="0"/>
              <a:t>reduces</a:t>
            </a:r>
            <a:r>
              <a:rPr spc="-70" dirty="0"/>
              <a:t> </a:t>
            </a:r>
            <a:r>
              <a:rPr spc="114" dirty="0"/>
              <a:t>the</a:t>
            </a:r>
            <a:r>
              <a:rPr spc="-70" dirty="0"/>
              <a:t> </a:t>
            </a:r>
            <a:r>
              <a:rPr spc="50" dirty="0"/>
              <a:t>impact</a:t>
            </a:r>
            <a:r>
              <a:rPr spc="-65" dirty="0"/>
              <a:t> </a:t>
            </a:r>
            <a:r>
              <a:rPr spc="105" dirty="0"/>
              <a:t>or</a:t>
            </a:r>
            <a:r>
              <a:rPr spc="-65" dirty="0"/>
              <a:t> </a:t>
            </a:r>
            <a:r>
              <a:rPr spc="-10" dirty="0"/>
              <a:t>variance </a:t>
            </a:r>
            <a:r>
              <a:rPr spc="-30" dirty="0"/>
              <a:t>caused</a:t>
            </a:r>
            <a:r>
              <a:rPr spc="-85" dirty="0"/>
              <a:t> </a:t>
            </a:r>
            <a:r>
              <a:rPr dirty="0"/>
              <a:t>by</a:t>
            </a:r>
            <a:r>
              <a:rPr spc="-85" dirty="0"/>
              <a:t> </a:t>
            </a:r>
            <a:r>
              <a:rPr dirty="0"/>
              <a:t>noisy</a:t>
            </a:r>
            <a:r>
              <a:rPr spc="-85" dirty="0"/>
              <a:t> </a:t>
            </a:r>
            <a:r>
              <a:rPr lang="en-US" spc="-85" dirty="0"/>
              <a:t> </a:t>
            </a:r>
            <a:r>
              <a:rPr dirty="0"/>
              <a:t>data,</a:t>
            </a:r>
            <a:r>
              <a:rPr spc="-95" dirty="0"/>
              <a:t> </a:t>
            </a:r>
            <a:r>
              <a:rPr spc="140" dirty="0"/>
              <a:t>but</a:t>
            </a:r>
            <a:r>
              <a:rPr spc="-90" dirty="0"/>
              <a:t> </a:t>
            </a:r>
            <a:r>
              <a:rPr spc="-45" dirty="0"/>
              <a:t>can</a:t>
            </a:r>
            <a:r>
              <a:rPr spc="-85" dirty="0"/>
              <a:t> </a:t>
            </a:r>
            <a:r>
              <a:rPr spc="-10" dirty="0"/>
              <a:t>bias</a:t>
            </a:r>
            <a:r>
              <a:rPr spc="-85" dirty="0"/>
              <a:t> </a:t>
            </a:r>
            <a:r>
              <a:rPr spc="110" dirty="0"/>
              <a:t>the</a:t>
            </a:r>
            <a:r>
              <a:rPr spc="-95" dirty="0"/>
              <a:t> </a:t>
            </a:r>
            <a:r>
              <a:rPr spc="45" dirty="0"/>
              <a:t>learner</a:t>
            </a:r>
            <a:r>
              <a:rPr spc="-90" dirty="0"/>
              <a:t> </a:t>
            </a:r>
            <a:r>
              <a:rPr spc="-20" dirty="0"/>
              <a:t>such </a:t>
            </a:r>
            <a:r>
              <a:rPr spc="135" dirty="0"/>
              <a:t>that</a:t>
            </a:r>
            <a:r>
              <a:rPr spc="-80" dirty="0"/>
              <a:t> </a:t>
            </a:r>
            <a:r>
              <a:rPr spc="190" dirty="0"/>
              <a:t>it</a:t>
            </a:r>
            <a:r>
              <a:rPr spc="-75" dirty="0"/>
              <a:t> </a:t>
            </a:r>
            <a:r>
              <a:rPr dirty="0"/>
              <a:t>runs</a:t>
            </a:r>
            <a:r>
              <a:rPr spc="-60" dirty="0"/>
              <a:t> </a:t>
            </a:r>
            <a:r>
              <a:rPr spc="110" dirty="0"/>
              <a:t>the</a:t>
            </a:r>
            <a:r>
              <a:rPr spc="-70" dirty="0"/>
              <a:t> </a:t>
            </a:r>
            <a:r>
              <a:rPr dirty="0"/>
              <a:t>risk</a:t>
            </a:r>
            <a:r>
              <a:rPr spc="-70" dirty="0"/>
              <a:t> </a:t>
            </a:r>
            <a:r>
              <a:rPr spc="170" dirty="0"/>
              <a:t>of</a:t>
            </a:r>
            <a:r>
              <a:rPr spc="-70" dirty="0"/>
              <a:t> </a:t>
            </a:r>
            <a:r>
              <a:rPr spc="60" dirty="0"/>
              <a:t>ignoring</a:t>
            </a:r>
            <a:r>
              <a:rPr spc="-70" dirty="0"/>
              <a:t> </a:t>
            </a:r>
            <a:r>
              <a:rPr dirty="0"/>
              <a:t>small,</a:t>
            </a:r>
            <a:r>
              <a:rPr spc="-80" dirty="0"/>
              <a:t> </a:t>
            </a:r>
            <a:r>
              <a:rPr spc="140" dirty="0"/>
              <a:t>but</a:t>
            </a:r>
            <a:r>
              <a:rPr spc="-75" dirty="0"/>
              <a:t> </a:t>
            </a:r>
            <a:r>
              <a:rPr spc="100" dirty="0"/>
              <a:t>important </a:t>
            </a:r>
            <a:r>
              <a:rPr spc="45" dirty="0"/>
              <a:t>patterns.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Choosing</a:t>
            </a:r>
            <a:r>
              <a:rPr spc="-145" dirty="0"/>
              <a:t> </a:t>
            </a:r>
            <a:r>
              <a:rPr spc="95" dirty="0"/>
              <a:t>appropriate</a:t>
            </a:r>
            <a:r>
              <a:rPr spc="-140" dirty="0"/>
              <a:t> </a:t>
            </a:r>
            <a:r>
              <a:rPr spc="20" dirty="0"/>
              <a:t>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790" y="1604815"/>
            <a:ext cx="8302066" cy="39282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Choosing</a:t>
            </a:r>
            <a:r>
              <a:rPr spc="-145" dirty="0"/>
              <a:t> </a:t>
            </a:r>
            <a:r>
              <a:rPr spc="95" dirty="0"/>
              <a:t>appropriate</a:t>
            </a:r>
            <a:r>
              <a:rPr spc="-140" dirty="0"/>
              <a:t> </a:t>
            </a:r>
            <a:r>
              <a:rPr spc="20" dirty="0"/>
              <a:t>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62"/>
            <a:ext cx="8108950" cy="4062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4330" marR="70485" indent="-342265" algn="just">
              <a:lnSpc>
                <a:spcPct val="99700"/>
              </a:lnSpc>
              <a:spcBef>
                <a:spcPts val="11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In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practice,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choosing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k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depends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on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110" dirty="0">
                <a:latin typeface="Microsoft Sans Serif"/>
                <a:cs typeface="Microsoft Sans Serif"/>
              </a:rPr>
              <a:t>difficulty 	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concept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204" dirty="0">
                <a:latin typeface="Microsoft Sans Serif"/>
                <a:cs typeface="Microsoft Sans Serif"/>
              </a:rPr>
              <a:t>to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be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learned</a:t>
            </a:r>
            <a:r>
              <a:rPr sz="2800" spc="-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dirty="0">
                <a:latin typeface="Microsoft Sans Serif"/>
                <a:cs typeface="Microsoft Sans Serif"/>
              </a:rPr>
              <a:t> number </a:t>
            </a:r>
            <a:r>
              <a:rPr sz="2800" spc="155" dirty="0">
                <a:latin typeface="Microsoft Sans Serif"/>
                <a:cs typeface="Microsoft Sans Serif"/>
              </a:rPr>
              <a:t>of 	</a:t>
            </a:r>
            <a:r>
              <a:rPr sz="2800" dirty="0">
                <a:latin typeface="Microsoft Sans Serif"/>
                <a:cs typeface="Microsoft Sans Serif"/>
              </a:rPr>
              <a:t>records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training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data.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Typically,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k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set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somewhere</a:t>
            </a:r>
            <a:r>
              <a:rPr sz="2800" spc="-80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between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8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10. </a:t>
            </a:r>
            <a:r>
              <a:rPr sz="2800" dirty="0">
                <a:latin typeface="Microsoft Sans Serif"/>
                <a:cs typeface="Microsoft Sans Serif"/>
              </a:rPr>
              <a:t>One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common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practice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is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spc="210" dirty="0">
                <a:latin typeface="Microsoft Sans Serif"/>
                <a:cs typeface="Microsoft Sans Serif"/>
              </a:rPr>
              <a:t>to</a:t>
            </a:r>
            <a:r>
              <a:rPr sz="2800" spc="-5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set</a:t>
            </a:r>
            <a:r>
              <a:rPr sz="2800" spc="-4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k</a:t>
            </a:r>
            <a:r>
              <a:rPr sz="2800" spc="-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equal</a:t>
            </a:r>
            <a:r>
              <a:rPr sz="2800" spc="-35" dirty="0">
                <a:latin typeface="Microsoft Sans Serif"/>
                <a:cs typeface="Microsoft Sans Serif"/>
              </a:rPr>
              <a:t> </a:t>
            </a:r>
            <a:r>
              <a:rPr sz="2800" spc="210" dirty="0">
                <a:latin typeface="Microsoft Sans Serif"/>
                <a:cs typeface="Microsoft Sans Serif"/>
              </a:rPr>
              <a:t>to</a:t>
            </a:r>
            <a:r>
              <a:rPr sz="2800" spc="-50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dirty="0">
                <a:latin typeface="Microsoft Sans Serif"/>
                <a:cs typeface="Microsoft Sans Serif"/>
              </a:rPr>
              <a:t>square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155" dirty="0">
                <a:latin typeface="Microsoft Sans Serif"/>
                <a:cs typeface="Microsoft Sans Serif"/>
              </a:rPr>
              <a:t>root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20" dirty="0">
                <a:latin typeface="Microsoft Sans Serif"/>
                <a:cs typeface="Microsoft Sans Serif"/>
              </a:rPr>
              <a:t>the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number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180" dirty="0">
                <a:latin typeface="Microsoft Sans Serif"/>
                <a:cs typeface="Microsoft Sans Serif"/>
              </a:rPr>
              <a:t>of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75" dirty="0">
                <a:latin typeface="Microsoft Sans Serif"/>
                <a:cs typeface="Microsoft Sans Serif"/>
              </a:rPr>
              <a:t>training</a:t>
            </a:r>
            <a:r>
              <a:rPr sz="2800" spc="-9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examples.</a:t>
            </a:r>
            <a:endParaRPr sz="2800">
              <a:latin typeface="Microsoft Sans Serif"/>
              <a:cs typeface="Microsoft Sans Serif"/>
            </a:endParaRPr>
          </a:p>
          <a:p>
            <a:pPr marL="355600" marR="323215" indent="-343535">
              <a:lnSpc>
                <a:spcPct val="100000"/>
              </a:lnSpc>
              <a:spcBef>
                <a:spcPts val="78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In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classifier,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65" dirty="0">
                <a:latin typeface="Microsoft Sans Serif"/>
                <a:cs typeface="Microsoft Sans Serif"/>
              </a:rPr>
              <a:t>we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00" dirty="0">
                <a:latin typeface="Microsoft Sans Serif"/>
                <a:cs typeface="Microsoft Sans Serif"/>
              </a:rPr>
              <a:t>might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set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k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=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4,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because </a:t>
            </a:r>
            <a:r>
              <a:rPr sz="2800" spc="95" dirty="0">
                <a:latin typeface="Microsoft Sans Serif"/>
                <a:cs typeface="Microsoft Sans Serif"/>
              </a:rPr>
              <a:t>there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60" dirty="0">
                <a:latin typeface="Microsoft Sans Serif"/>
                <a:cs typeface="Microsoft Sans Serif"/>
              </a:rPr>
              <a:t>were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15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example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ingredients</a:t>
            </a:r>
            <a:r>
              <a:rPr sz="2800" spc="-65" dirty="0">
                <a:latin typeface="Microsoft Sans Serif"/>
                <a:cs typeface="Microsoft Sans Serif"/>
              </a:rPr>
              <a:t> </a:t>
            </a:r>
            <a:r>
              <a:rPr sz="2800" spc="55" dirty="0">
                <a:latin typeface="Microsoft Sans Serif"/>
                <a:cs typeface="Microsoft Sans Serif"/>
              </a:rPr>
              <a:t>in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95" dirty="0">
                <a:latin typeface="Microsoft Sans Serif"/>
                <a:cs typeface="Microsoft Sans Serif"/>
              </a:rPr>
              <a:t>the </a:t>
            </a:r>
            <a:r>
              <a:rPr sz="2800" spc="75" dirty="0">
                <a:latin typeface="Microsoft Sans Serif"/>
                <a:cs typeface="Microsoft Sans Serif"/>
              </a:rPr>
              <a:t>training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50" dirty="0">
                <a:latin typeface="Microsoft Sans Serif"/>
                <a:cs typeface="Microsoft Sans Serif"/>
              </a:rPr>
              <a:t>data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25" dirty="0">
                <a:latin typeface="Microsoft Sans Serif"/>
                <a:cs typeface="Microsoft Sans Serif"/>
              </a:rPr>
              <a:t>the</a:t>
            </a:r>
            <a:r>
              <a:rPr sz="2800" spc="-11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square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spc="155" dirty="0">
                <a:latin typeface="Microsoft Sans Serif"/>
                <a:cs typeface="Microsoft Sans Serif"/>
              </a:rPr>
              <a:t>root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185" dirty="0">
                <a:latin typeface="Microsoft Sans Serif"/>
                <a:cs typeface="Microsoft Sans Serif"/>
              </a:rPr>
              <a:t>of</a:t>
            </a:r>
            <a:r>
              <a:rPr sz="2800" spc="-10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15</a:t>
            </a:r>
            <a:r>
              <a:rPr sz="2800" spc="-114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is</a:t>
            </a:r>
            <a:r>
              <a:rPr sz="2800" spc="-1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3.87.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Min-</a:t>
            </a:r>
            <a:r>
              <a:rPr spc="-10" dirty="0"/>
              <a:t>Max</a:t>
            </a:r>
            <a:r>
              <a:rPr spc="-215" dirty="0"/>
              <a:t> </a:t>
            </a:r>
            <a:r>
              <a:rPr spc="65" dirty="0"/>
              <a:t>normalization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8085455" cy="2397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 marR="453390" indent="-264795">
              <a:lnSpc>
                <a:spcPct val="100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</a:tabLst>
            </a:pPr>
            <a:r>
              <a:rPr sz="2150" spc="-20" dirty="0">
                <a:latin typeface="Microsoft Sans Serif"/>
                <a:cs typeface="Microsoft Sans Serif"/>
              </a:rPr>
              <a:t>The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traditional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method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spc="140" dirty="0">
                <a:latin typeface="Microsoft Sans Serif"/>
                <a:cs typeface="Microsoft Sans Serif"/>
              </a:rPr>
              <a:t>of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rescaling</a:t>
            </a:r>
            <a:r>
              <a:rPr sz="2150" spc="-90" dirty="0">
                <a:latin typeface="Microsoft Sans Serif"/>
                <a:cs typeface="Microsoft Sans Serif"/>
              </a:rPr>
              <a:t> </a:t>
            </a:r>
            <a:r>
              <a:rPr sz="2150" spc="45" dirty="0">
                <a:latin typeface="Microsoft Sans Serif"/>
                <a:cs typeface="Microsoft Sans Serif"/>
              </a:rPr>
              <a:t>features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spc="130" dirty="0">
                <a:latin typeface="Microsoft Sans Serif"/>
                <a:cs typeface="Microsoft Sans Serif"/>
              </a:rPr>
              <a:t>for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kNN</a:t>
            </a:r>
            <a:r>
              <a:rPr sz="2150" spc="-8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is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min- </a:t>
            </a:r>
            <a:r>
              <a:rPr sz="2150" dirty="0">
                <a:latin typeface="Microsoft Sans Serif"/>
                <a:cs typeface="Microsoft Sans Serif"/>
              </a:rPr>
              <a:t>max</a:t>
            </a:r>
            <a:r>
              <a:rPr sz="2150" spc="-12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normalization.</a:t>
            </a:r>
            <a:endParaRPr sz="2150">
              <a:latin typeface="Microsoft Sans Serif"/>
              <a:cs typeface="Microsoft Sans Serif"/>
            </a:endParaRPr>
          </a:p>
          <a:p>
            <a:pPr marL="276860" marR="5080" indent="-264795">
              <a:lnSpc>
                <a:spcPct val="100000"/>
              </a:lnSpc>
              <a:spcBef>
                <a:spcPts val="62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</a:tabLst>
            </a:pPr>
            <a:r>
              <a:rPr sz="2150" spc="-40" dirty="0">
                <a:latin typeface="Microsoft Sans Serif"/>
                <a:cs typeface="Microsoft Sans Serif"/>
              </a:rPr>
              <a:t>This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process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45" dirty="0">
                <a:latin typeface="Microsoft Sans Serif"/>
                <a:cs typeface="Microsoft Sans Serif"/>
              </a:rPr>
              <a:t>transforms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-85" dirty="0">
                <a:latin typeface="Microsoft Sans Serif"/>
                <a:cs typeface="Microsoft Sans Serif"/>
              </a:rPr>
              <a:t>a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feature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-45" dirty="0">
                <a:latin typeface="Microsoft Sans Serif"/>
                <a:cs typeface="Microsoft Sans Serif"/>
              </a:rPr>
              <a:t>such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105" dirty="0">
                <a:latin typeface="Microsoft Sans Serif"/>
                <a:cs typeface="Microsoft Sans Serif"/>
              </a:rPr>
              <a:t>that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all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140" dirty="0">
                <a:latin typeface="Microsoft Sans Serif"/>
                <a:cs typeface="Microsoft Sans Serif"/>
              </a:rPr>
              <a:t>of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its</a:t>
            </a:r>
            <a:r>
              <a:rPr sz="2150" spc="-7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values</a:t>
            </a:r>
            <a:r>
              <a:rPr sz="2150" spc="-65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fall </a:t>
            </a:r>
            <a:r>
              <a:rPr sz="2150" dirty="0">
                <a:latin typeface="Microsoft Sans Serif"/>
                <a:cs typeface="Microsoft Sans Serif"/>
              </a:rPr>
              <a:t>in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-90" dirty="0">
                <a:latin typeface="Microsoft Sans Serif"/>
                <a:cs typeface="Microsoft Sans Serif"/>
              </a:rPr>
              <a:t>a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range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55" dirty="0">
                <a:latin typeface="Microsoft Sans Serif"/>
                <a:cs typeface="Microsoft Sans Serif"/>
              </a:rPr>
              <a:t>between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0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1.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The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formula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130" dirty="0">
                <a:latin typeface="Microsoft Sans Serif"/>
                <a:cs typeface="Microsoft Sans Serif"/>
              </a:rPr>
              <a:t>for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normalizing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50" dirty="0">
                <a:latin typeface="Microsoft Sans Serif"/>
                <a:cs typeface="Microsoft Sans Serif"/>
              </a:rPr>
              <a:t>a </a:t>
            </a:r>
            <a:r>
              <a:rPr sz="2150" spc="70" dirty="0">
                <a:latin typeface="Microsoft Sans Serif"/>
                <a:cs typeface="Microsoft Sans Serif"/>
              </a:rPr>
              <a:t>feature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20" dirty="0">
                <a:latin typeface="Microsoft Sans Serif"/>
                <a:cs typeface="Microsoft Sans Serif"/>
              </a:rPr>
              <a:t>is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110" dirty="0">
                <a:latin typeface="Microsoft Sans Serif"/>
                <a:cs typeface="Microsoft Sans Serif"/>
              </a:rPr>
              <a:t>as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50" dirty="0">
                <a:latin typeface="Microsoft Sans Serif"/>
                <a:cs typeface="Microsoft Sans Serif"/>
              </a:rPr>
              <a:t>follows.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Essentially,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the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formula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subtracts</a:t>
            </a:r>
            <a:r>
              <a:rPr sz="2150" spc="-35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the </a:t>
            </a:r>
            <a:r>
              <a:rPr sz="2150" dirty="0">
                <a:latin typeface="Microsoft Sans Serif"/>
                <a:cs typeface="Microsoft Sans Serif"/>
              </a:rPr>
              <a:t>minimum</a:t>
            </a:r>
            <a:r>
              <a:rPr sz="2150" spc="-60" dirty="0">
                <a:latin typeface="Microsoft Sans Serif"/>
                <a:cs typeface="Microsoft Sans Serif"/>
              </a:rPr>
              <a:t> </a:t>
            </a:r>
            <a:r>
              <a:rPr sz="2150" spc="145" dirty="0">
                <a:latin typeface="Microsoft Sans Serif"/>
                <a:cs typeface="Microsoft Sans Serif"/>
              </a:rPr>
              <a:t>of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feature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90" dirty="0">
                <a:latin typeface="Microsoft Sans Serif"/>
                <a:cs typeface="Microsoft Sans Serif"/>
              </a:rPr>
              <a:t>X</a:t>
            </a:r>
            <a:r>
              <a:rPr sz="2150" spc="-40" dirty="0">
                <a:latin typeface="Microsoft Sans Serif"/>
                <a:cs typeface="Microsoft Sans Serif"/>
              </a:rPr>
              <a:t> </a:t>
            </a:r>
            <a:r>
              <a:rPr sz="2150" spc="114" dirty="0">
                <a:latin typeface="Microsoft Sans Serif"/>
                <a:cs typeface="Microsoft Sans Serif"/>
              </a:rPr>
              <a:t>from</a:t>
            </a:r>
            <a:r>
              <a:rPr sz="2150" spc="-45" dirty="0">
                <a:latin typeface="Microsoft Sans Serif"/>
                <a:cs typeface="Microsoft Sans Serif"/>
              </a:rPr>
              <a:t> each </a:t>
            </a:r>
            <a:r>
              <a:rPr sz="2150" dirty="0">
                <a:latin typeface="Microsoft Sans Serif"/>
                <a:cs typeface="Microsoft Sans Serif"/>
              </a:rPr>
              <a:t>value</a:t>
            </a:r>
            <a:r>
              <a:rPr sz="2150" spc="-5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-5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divides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by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the</a:t>
            </a:r>
            <a:r>
              <a:rPr sz="2150" spc="-4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range </a:t>
            </a:r>
            <a:r>
              <a:rPr sz="2150" spc="140" dirty="0">
                <a:latin typeface="Microsoft Sans Serif"/>
                <a:cs typeface="Microsoft Sans Serif"/>
              </a:rPr>
              <a:t>of</a:t>
            </a:r>
            <a:r>
              <a:rPr sz="2150" spc="-80" dirty="0">
                <a:latin typeface="Microsoft Sans Serif"/>
                <a:cs typeface="Microsoft Sans Serif"/>
              </a:rPr>
              <a:t> </a:t>
            </a:r>
            <a:r>
              <a:rPr sz="2150" spc="-25" dirty="0">
                <a:latin typeface="Microsoft Sans Serif"/>
                <a:cs typeface="Microsoft Sans Serif"/>
              </a:rPr>
              <a:t>X:</a:t>
            </a:r>
            <a:endParaRPr sz="21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779251"/>
            <a:ext cx="809244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6860" marR="5080" indent="-264795">
              <a:lnSpc>
                <a:spcPct val="100000"/>
              </a:lnSpc>
              <a:spcBef>
                <a:spcPts val="95"/>
              </a:spcBef>
              <a:buClr>
                <a:srgbClr val="6697CC"/>
              </a:buClr>
              <a:buFont typeface="Arial MT"/>
              <a:buChar char="•"/>
              <a:tabLst>
                <a:tab pos="276860" algn="l"/>
              </a:tabLst>
            </a:pPr>
            <a:r>
              <a:rPr sz="2150" dirty="0">
                <a:latin typeface="Microsoft Sans Serif"/>
                <a:cs typeface="Microsoft Sans Serif"/>
              </a:rPr>
              <a:t>Normalized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spc="70" dirty="0">
                <a:latin typeface="Microsoft Sans Serif"/>
                <a:cs typeface="Microsoft Sans Serif"/>
              </a:rPr>
              <a:t>feature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values</a:t>
            </a:r>
            <a:r>
              <a:rPr sz="2150" dirty="0">
                <a:latin typeface="Microsoft Sans Serif"/>
                <a:cs typeface="Microsoft Sans Serif"/>
              </a:rPr>
              <a:t> </a:t>
            </a:r>
            <a:r>
              <a:rPr sz="2150" spc="-45" dirty="0">
                <a:latin typeface="Microsoft Sans Serif"/>
                <a:cs typeface="Microsoft Sans Serif"/>
              </a:rPr>
              <a:t>can</a:t>
            </a:r>
            <a:r>
              <a:rPr sz="2150" dirty="0">
                <a:latin typeface="Microsoft Sans Serif"/>
                <a:cs typeface="Microsoft Sans Serif"/>
              </a:rPr>
              <a:t> be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80" dirty="0">
                <a:latin typeface="Microsoft Sans Serif"/>
                <a:cs typeface="Microsoft Sans Serif"/>
              </a:rPr>
              <a:t>interpreted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spc="-110" dirty="0">
                <a:latin typeface="Microsoft Sans Serif"/>
                <a:cs typeface="Microsoft Sans Serif"/>
              </a:rPr>
              <a:t>as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indicating</a:t>
            </a:r>
            <a:r>
              <a:rPr sz="2150" spc="-15" dirty="0">
                <a:latin typeface="Microsoft Sans Serif"/>
                <a:cs typeface="Microsoft Sans Serif"/>
              </a:rPr>
              <a:t> </a:t>
            </a:r>
            <a:r>
              <a:rPr sz="2150" spc="40" dirty="0">
                <a:latin typeface="Microsoft Sans Serif"/>
                <a:cs typeface="Microsoft Sans Serif"/>
              </a:rPr>
              <a:t>how </a:t>
            </a:r>
            <a:r>
              <a:rPr sz="2150" dirty="0">
                <a:latin typeface="Microsoft Sans Serif"/>
                <a:cs typeface="Microsoft Sans Serif"/>
              </a:rPr>
              <a:t>far,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spc="114" dirty="0">
                <a:latin typeface="Microsoft Sans Serif"/>
                <a:cs typeface="Microsoft Sans Serif"/>
              </a:rPr>
              <a:t>from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0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45" dirty="0">
                <a:latin typeface="Microsoft Sans Serif"/>
                <a:cs typeface="Microsoft Sans Serif"/>
              </a:rPr>
              <a:t>percent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155" dirty="0">
                <a:latin typeface="Microsoft Sans Serif"/>
                <a:cs typeface="Microsoft Sans Serif"/>
              </a:rPr>
              <a:t>to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100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percent,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spc="90" dirty="0">
                <a:latin typeface="Microsoft Sans Serif"/>
                <a:cs typeface="Microsoft Sans Serif"/>
              </a:rPr>
              <a:t>the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original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value</a:t>
            </a:r>
            <a:r>
              <a:rPr sz="2150" spc="-10" dirty="0">
                <a:latin typeface="Microsoft Sans Serif"/>
                <a:cs typeface="Microsoft Sans Serif"/>
              </a:rPr>
              <a:t> </a:t>
            </a:r>
            <a:r>
              <a:rPr sz="2150" spc="95" dirty="0">
                <a:latin typeface="Microsoft Sans Serif"/>
                <a:cs typeface="Microsoft Sans Serif"/>
              </a:rPr>
              <a:t>fell</a:t>
            </a:r>
            <a:r>
              <a:rPr sz="2150" spc="-5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along </a:t>
            </a:r>
            <a:r>
              <a:rPr sz="2150" spc="90" dirty="0">
                <a:latin typeface="Microsoft Sans Serif"/>
                <a:cs typeface="Microsoft Sans Serif"/>
              </a:rPr>
              <a:t>the</a:t>
            </a:r>
            <a:r>
              <a:rPr sz="2150" dirty="0">
                <a:latin typeface="Microsoft Sans Serif"/>
                <a:cs typeface="Microsoft Sans Serif"/>
              </a:rPr>
              <a:t> range</a:t>
            </a:r>
            <a:r>
              <a:rPr sz="2150" spc="25" dirty="0">
                <a:latin typeface="Microsoft Sans Serif"/>
                <a:cs typeface="Microsoft Sans Serif"/>
              </a:rPr>
              <a:t> </a:t>
            </a:r>
            <a:r>
              <a:rPr sz="2150" spc="60" dirty="0">
                <a:latin typeface="Microsoft Sans Serif"/>
                <a:cs typeface="Microsoft Sans Serif"/>
              </a:rPr>
              <a:t>between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85" dirty="0">
                <a:latin typeface="Microsoft Sans Serif"/>
                <a:cs typeface="Microsoft Sans Serif"/>
              </a:rPr>
              <a:t>the</a:t>
            </a:r>
            <a:r>
              <a:rPr sz="2150" spc="30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original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minimum</a:t>
            </a:r>
            <a:r>
              <a:rPr sz="2150" spc="15" dirty="0">
                <a:latin typeface="Microsoft Sans Serif"/>
                <a:cs typeface="Microsoft Sans Serif"/>
              </a:rPr>
              <a:t> </a:t>
            </a:r>
            <a:r>
              <a:rPr sz="2150" dirty="0">
                <a:latin typeface="Microsoft Sans Serif"/>
                <a:cs typeface="Microsoft Sans Serif"/>
              </a:rPr>
              <a:t>and</a:t>
            </a:r>
            <a:r>
              <a:rPr sz="2150" spc="20" dirty="0">
                <a:latin typeface="Microsoft Sans Serif"/>
                <a:cs typeface="Microsoft Sans Serif"/>
              </a:rPr>
              <a:t> </a:t>
            </a:r>
            <a:r>
              <a:rPr sz="2150" spc="-10" dirty="0">
                <a:latin typeface="Microsoft Sans Serif"/>
                <a:cs typeface="Microsoft Sans Serif"/>
              </a:rPr>
              <a:t>maximum.</a:t>
            </a:r>
            <a:endParaRPr sz="215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0184" y="3853716"/>
            <a:ext cx="2752266" cy="70444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The</a:t>
            </a:r>
            <a:r>
              <a:rPr spc="-135" dirty="0"/>
              <a:t> </a:t>
            </a:r>
            <a:r>
              <a:rPr dirty="0"/>
              <a:t>kNN</a:t>
            </a:r>
            <a:r>
              <a:rPr spc="-130" dirty="0"/>
              <a:t> </a:t>
            </a:r>
            <a:r>
              <a:rPr spc="114" dirty="0"/>
              <a:t>Algorithm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135" y="1733183"/>
            <a:ext cx="8050865" cy="23824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70" dirty="0"/>
              <a:t>Python</a:t>
            </a:r>
            <a:r>
              <a:rPr spc="-120" dirty="0"/>
              <a:t> </a:t>
            </a:r>
            <a:r>
              <a:rPr spc="-90" dirty="0"/>
              <a:t>Packages</a:t>
            </a:r>
            <a:r>
              <a:rPr spc="-110" dirty="0"/>
              <a:t> </a:t>
            </a:r>
            <a:r>
              <a:rPr spc="-10" dirty="0"/>
              <a:t>needed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0034"/>
            <a:ext cx="6705600" cy="417957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pandas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5015" algn="l"/>
              </a:tabLst>
            </a:pPr>
            <a:r>
              <a:rPr sz="2800" dirty="0">
                <a:latin typeface="Microsoft Sans Serif"/>
                <a:cs typeface="Microsoft Sans Serif"/>
              </a:rPr>
              <a:t>Data</a:t>
            </a:r>
            <a:r>
              <a:rPr sz="2800" spc="-3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Analytics</a:t>
            </a:r>
            <a:endParaRPr sz="28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20" dirty="0">
                <a:latin typeface="Microsoft Sans Serif"/>
                <a:cs typeface="Microsoft Sans Serif"/>
              </a:rPr>
              <a:t>numpy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Arial MT"/>
              <a:buChar char="–"/>
              <a:tabLst>
                <a:tab pos="755015" algn="l"/>
              </a:tabLst>
            </a:pPr>
            <a:r>
              <a:rPr sz="2800" dirty="0">
                <a:latin typeface="Microsoft Sans Serif"/>
                <a:cs typeface="Microsoft Sans Serif"/>
              </a:rPr>
              <a:t>Numerical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35" dirty="0">
                <a:latin typeface="Microsoft Sans Serif"/>
                <a:cs typeface="Microsoft Sans Serif"/>
              </a:rPr>
              <a:t>Computing</a:t>
            </a:r>
            <a:endParaRPr sz="28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785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  <a:tab pos="469900" algn="l"/>
              </a:tabLst>
            </a:pPr>
            <a:r>
              <a:rPr sz="2800" spc="90" dirty="0">
                <a:latin typeface="Microsoft Sans Serif"/>
                <a:cs typeface="Microsoft Sans Serif"/>
              </a:rPr>
              <a:t>matplotlib.pyplot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705"/>
              </a:spcBef>
              <a:buClr>
                <a:srgbClr val="6697CC"/>
              </a:buClr>
              <a:buFont typeface="Arial MT"/>
              <a:buChar char="–"/>
              <a:tabLst>
                <a:tab pos="755015" algn="l"/>
              </a:tabLst>
            </a:pPr>
            <a:r>
              <a:rPr sz="2800" spc="105" dirty="0">
                <a:latin typeface="Microsoft Sans Serif"/>
                <a:cs typeface="Microsoft Sans Serif"/>
              </a:rPr>
              <a:t>Plotting</a:t>
            </a:r>
            <a:r>
              <a:rPr sz="2800" spc="-9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graphs</a:t>
            </a:r>
            <a:endParaRPr sz="28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Arial MT"/>
              <a:buChar char="•"/>
              <a:tabLst>
                <a:tab pos="355600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sklearn</a:t>
            </a:r>
            <a:endParaRPr sz="2800">
              <a:latin typeface="Microsoft Sans Serif"/>
              <a:cs typeface="Microsoft Sans Serif"/>
            </a:endParaRPr>
          </a:p>
          <a:p>
            <a:pPr marL="755015" lvl="1" indent="-285115">
              <a:lnSpc>
                <a:spcPct val="100000"/>
              </a:lnSpc>
              <a:spcBef>
                <a:spcPts val="685"/>
              </a:spcBef>
              <a:buClr>
                <a:srgbClr val="6697CC"/>
              </a:buClr>
              <a:buFont typeface="Arial MT"/>
              <a:buChar char="–"/>
              <a:tabLst>
                <a:tab pos="755015" algn="l"/>
              </a:tabLst>
            </a:pPr>
            <a:r>
              <a:rPr sz="2800" dirty="0">
                <a:latin typeface="Microsoft Sans Serif"/>
                <a:cs typeface="Microsoft Sans Serif"/>
              </a:rPr>
              <a:t>Classification</a:t>
            </a:r>
            <a:r>
              <a:rPr sz="2800" spc="-6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and</a:t>
            </a:r>
            <a:r>
              <a:rPr sz="2800" spc="-75" dirty="0">
                <a:latin typeface="Microsoft Sans Serif"/>
                <a:cs typeface="Microsoft Sans Serif"/>
              </a:rPr>
              <a:t> </a:t>
            </a:r>
            <a:r>
              <a:rPr sz="2800" spc="-25" dirty="0">
                <a:latin typeface="Microsoft Sans Serif"/>
                <a:cs typeface="Microsoft Sans Serif"/>
              </a:rPr>
              <a:t>Regression</a:t>
            </a:r>
            <a:r>
              <a:rPr sz="2800" spc="-70" dirty="0">
                <a:latin typeface="Microsoft Sans Serif"/>
                <a:cs typeface="Microsoft Sans Serif"/>
              </a:rPr>
              <a:t> </a:t>
            </a:r>
            <a:r>
              <a:rPr sz="2800" spc="-75" dirty="0">
                <a:latin typeface="Microsoft Sans Serif"/>
                <a:cs typeface="Microsoft Sans Serif"/>
              </a:rPr>
              <a:t>Classes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Sample</a:t>
            </a:r>
            <a:r>
              <a:rPr spc="-200" dirty="0"/>
              <a:t> </a:t>
            </a:r>
            <a:r>
              <a:rPr spc="65" dirty="0"/>
              <a:t>Application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674" y="1457009"/>
            <a:ext cx="7392894" cy="46739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KNN</a:t>
            </a:r>
            <a:r>
              <a:rPr spc="-90" dirty="0"/>
              <a:t> </a:t>
            </a:r>
            <a:r>
              <a:rPr spc="735" dirty="0"/>
              <a:t>–</a:t>
            </a:r>
            <a:r>
              <a:rPr spc="-100" dirty="0"/>
              <a:t> </a:t>
            </a:r>
            <a:r>
              <a:rPr dirty="0"/>
              <a:t>Classification</a:t>
            </a:r>
            <a:r>
              <a:rPr spc="-95" dirty="0"/>
              <a:t> </a:t>
            </a:r>
            <a:r>
              <a:rPr spc="-120" dirty="0"/>
              <a:t>:</a:t>
            </a:r>
            <a:r>
              <a:rPr spc="-90" dirty="0"/>
              <a:t> </a:t>
            </a:r>
            <a:r>
              <a:rPr spc="35" dirty="0"/>
              <a:t>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9097"/>
            <a:ext cx="8098155" cy="4410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2729" marR="754380" indent="-240665">
              <a:lnSpc>
                <a:spcPct val="101899"/>
              </a:lnSpc>
              <a:spcBef>
                <a:spcPts val="90"/>
              </a:spcBef>
              <a:buClr>
                <a:srgbClr val="6697CC"/>
              </a:buClr>
              <a:buFont typeface="Arial MT"/>
              <a:buChar char="•"/>
              <a:tabLst>
                <a:tab pos="252729" algn="l"/>
              </a:tabLst>
            </a:pPr>
            <a:r>
              <a:rPr sz="2200" dirty="0">
                <a:latin typeface="Microsoft Sans Serif"/>
                <a:cs typeface="Microsoft Sans Serif"/>
              </a:rPr>
              <a:t>The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65" dirty="0">
                <a:latin typeface="Microsoft Sans Serif"/>
                <a:cs typeface="Microsoft Sans Serif"/>
              </a:rPr>
              <a:t>best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small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85" dirty="0">
                <a:latin typeface="Microsoft Sans Serif"/>
                <a:cs typeface="Microsoft Sans Serif"/>
              </a:rPr>
              <a:t>project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180" dirty="0">
                <a:latin typeface="Microsoft Sans Serif"/>
                <a:cs typeface="Microsoft Sans Serif"/>
              </a:rPr>
              <a:t>to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100" dirty="0">
                <a:latin typeface="Microsoft Sans Serif"/>
                <a:cs typeface="Microsoft Sans Serif"/>
              </a:rPr>
              <a:t>start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130" dirty="0">
                <a:latin typeface="Microsoft Sans Serif"/>
                <a:cs typeface="Microsoft Sans Serif"/>
              </a:rPr>
              <a:t>with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60" dirty="0">
                <a:latin typeface="Microsoft Sans Serif"/>
                <a:cs typeface="Microsoft Sans Serif"/>
              </a:rPr>
              <a:t>on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70" dirty="0">
                <a:latin typeface="Microsoft Sans Serif"/>
                <a:cs typeface="Microsoft Sans Serif"/>
              </a:rPr>
              <a:t>new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spc="135" dirty="0">
                <a:latin typeface="Microsoft Sans Serif"/>
                <a:cs typeface="Microsoft Sans Serif"/>
              </a:rPr>
              <a:t>tool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95" dirty="0">
                <a:latin typeface="Microsoft Sans Serif"/>
                <a:cs typeface="Microsoft Sans Serif"/>
              </a:rPr>
              <a:t>the </a:t>
            </a:r>
            <a:r>
              <a:rPr sz="2200" dirty="0">
                <a:latin typeface="Microsoft Sans Serif"/>
                <a:cs typeface="Microsoft Sans Serif"/>
              </a:rPr>
              <a:t>classification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165" dirty="0">
                <a:latin typeface="Microsoft Sans Serif"/>
                <a:cs typeface="Microsoft Sans Serif"/>
              </a:rPr>
              <a:t>of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iris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90" dirty="0">
                <a:latin typeface="Microsoft Sans Serif"/>
                <a:cs typeface="Microsoft Sans Serif"/>
              </a:rPr>
              <a:t>flowers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(e.g.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120" dirty="0">
                <a:latin typeface="Microsoft Sans Serif"/>
                <a:cs typeface="Microsoft Sans Serif"/>
              </a:rPr>
              <a:t>the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iris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dataset).</a:t>
            </a:r>
            <a:endParaRPr sz="2200">
              <a:latin typeface="Microsoft Sans Serif"/>
              <a:cs typeface="Microsoft Sans Serif"/>
            </a:endParaRPr>
          </a:p>
          <a:p>
            <a:pPr marL="252729" indent="-240029">
              <a:lnSpc>
                <a:spcPct val="100000"/>
              </a:lnSpc>
              <a:spcBef>
                <a:spcPts val="600"/>
              </a:spcBef>
              <a:buClr>
                <a:srgbClr val="6697CC"/>
              </a:buClr>
              <a:buFont typeface="Arial MT"/>
              <a:buChar char="•"/>
              <a:tabLst>
                <a:tab pos="252729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This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a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70" dirty="0">
                <a:latin typeface="Microsoft Sans Serif"/>
                <a:cs typeface="Microsoft Sans Serif"/>
              </a:rPr>
              <a:t>good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spc="80" dirty="0">
                <a:latin typeface="Microsoft Sans Serif"/>
                <a:cs typeface="Microsoft Sans Serif"/>
              </a:rPr>
              <a:t>project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because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170" dirty="0">
                <a:latin typeface="Microsoft Sans Serif"/>
                <a:cs typeface="Microsoft Sans Serif"/>
              </a:rPr>
              <a:t>it</a:t>
            </a:r>
            <a:r>
              <a:rPr sz="2200" spc="-9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is</a:t>
            </a:r>
            <a:r>
              <a:rPr sz="2200" spc="-10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so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95" dirty="0">
                <a:latin typeface="Microsoft Sans Serif"/>
                <a:cs typeface="Microsoft Sans Serif"/>
              </a:rPr>
              <a:t>well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spc="50" dirty="0">
                <a:latin typeface="Microsoft Sans Serif"/>
                <a:cs typeface="Microsoft Sans Serif"/>
              </a:rPr>
              <a:t>understood.</a:t>
            </a:r>
            <a:endParaRPr sz="2200">
              <a:latin typeface="Microsoft Sans Serif"/>
              <a:cs typeface="Microsoft Sans Serif"/>
            </a:endParaRPr>
          </a:p>
          <a:p>
            <a:pPr marL="530225" marR="270510" lvl="1" indent="-198120">
              <a:lnSpc>
                <a:spcPct val="100000"/>
              </a:lnSpc>
              <a:spcBef>
                <a:spcPts val="509"/>
              </a:spcBef>
              <a:buClr>
                <a:srgbClr val="6697CC"/>
              </a:buClr>
              <a:buFont typeface="Arial MT"/>
              <a:buChar char="–"/>
              <a:tabLst>
                <a:tab pos="532130" algn="l"/>
              </a:tabLst>
            </a:pPr>
            <a:r>
              <a:rPr sz="1950" spc="80" dirty="0">
                <a:latin typeface="Microsoft Sans Serif"/>
                <a:cs typeface="Microsoft Sans Serif"/>
              </a:rPr>
              <a:t>Attributes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are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numeric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so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you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have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spc="150" dirty="0">
                <a:latin typeface="Microsoft Sans Serif"/>
                <a:cs typeface="Microsoft Sans Serif"/>
              </a:rPr>
              <a:t>to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spc="70" dirty="0">
                <a:latin typeface="Microsoft Sans Serif"/>
                <a:cs typeface="Microsoft Sans Serif"/>
              </a:rPr>
              <a:t>figure</a:t>
            </a:r>
            <a:r>
              <a:rPr sz="1950" spc="-45" dirty="0">
                <a:latin typeface="Microsoft Sans Serif"/>
                <a:cs typeface="Microsoft Sans Serif"/>
              </a:rPr>
              <a:t> </a:t>
            </a:r>
            <a:r>
              <a:rPr sz="1950" spc="114" dirty="0">
                <a:latin typeface="Microsoft Sans Serif"/>
                <a:cs typeface="Microsoft Sans Serif"/>
              </a:rPr>
              <a:t>out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spc="55" dirty="0">
                <a:latin typeface="Microsoft Sans Serif"/>
                <a:cs typeface="Microsoft Sans Serif"/>
              </a:rPr>
              <a:t>how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spc="150" dirty="0">
                <a:latin typeface="Microsoft Sans Serif"/>
                <a:cs typeface="Microsoft Sans Serif"/>
              </a:rPr>
              <a:t>to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load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and 	</a:t>
            </a:r>
            <a:r>
              <a:rPr sz="1950" dirty="0">
                <a:latin typeface="Microsoft Sans Serif"/>
                <a:cs typeface="Microsoft Sans Serif"/>
              </a:rPr>
              <a:t>handle</a:t>
            </a:r>
            <a:r>
              <a:rPr sz="1950" spc="40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data.</a:t>
            </a:r>
            <a:endParaRPr sz="1950">
              <a:latin typeface="Microsoft Sans Serif"/>
              <a:cs typeface="Microsoft Sans Serif"/>
            </a:endParaRPr>
          </a:p>
          <a:p>
            <a:pPr marL="530225" marR="121285" lvl="1" indent="-198120">
              <a:lnSpc>
                <a:spcPct val="100000"/>
              </a:lnSpc>
              <a:spcBef>
                <a:spcPts val="495"/>
              </a:spcBef>
              <a:buClr>
                <a:srgbClr val="6697CC"/>
              </a:buClr>
              <a:buFont typeface="Arial MT"/>
              <a:buChar char="–"/>
              <a:tabLst>
                <a:tab pos="532130" algn="l"/>
              </a:tabLst>
            </a:pPr>
            <a:r>
              <a:rPr sz="1950" spc="114" dirty="0">
                <a:latin typeface="Microsoft Sans Serif"/>
                <a:cs typeface="Microsoft Sans Serif"/>
              </a:rPr>
              <a:t>It</a:t>
            </a:r>
            <a:r>
              <a:rPr sz="1950" spc="6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is</a:t>
            </a:r>
            <a:r>
              <a:rPr sz="1950" spc="50" dirty="0">
                <a:latin typeface="Microsoft Sans Serif"/>
                <a:cs typeface="Microsoft Sans Serif"/>
              </a:rPr>
              <a:t> </a:t>
            </a:r>
            <a:r>
              <a:rPr sz="1950" spc="-70" dirty="0">
                <a:latin typeface="Microsoft Sans Serif"/>
                <a:cs typeface="Microsoft Sans Serif"/>
              </a:rPr>
              <a:t>a</a:t>
            </a:r>
            <a:r>
              <a:rPr sz="1950" spc="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classification</a:t>
            </a:r>
            <a:r>
              <a:rPr sz="1950" spc="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problem,</a:t>
            </a:r>
            <a:r>
              <a:rPr sz="1950" spc="5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allowing</a:t>
            </a:r>
            <a:r>
              <a:rPr sz="1950" spc="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you</a:t>
            </a:r>
            <a:r>
              <a:rPr sz="1950" spc="60" dirty="0">
                <a:latin typeface="Microsoft Sans Serif"/>
                <a:cs typeface="Microsoft Sans Serif"/>
              </a:rPr>
              <a:t> </a:t>
            </a:r>
            <a:r>
              <a:rPr sz="1950" spc="150" dirty="0">
                <a:latin typeface="Microsoft Sans Serif"/>
                <a:cs typeface="Microsoft Sans Serif"/>
              </a:rPr>
              <a:t>to</a:t>
            </a:r>
            <a:r>
              <a:rPr sz="1950" spc="5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practice</a:t>
            </a:r>
            <a:r>
              <a:rPr sz="1950" spc="45" dirty="0">
                <a:latin typeface="Microsoft Sans Serif"/>
                <a:cs typeface="Microsoft Sans Serif"/>
              </a:rPr>
              <a:t> </a:t>
            </a:r>
            <a:r>
              <a:rPr sz="1950" spc="100" dirty="0">
                <a:latin typeface="Microsoft Sans Serif"/>
                <a:cs typeface="Microsoft Sans Serif"/>
              </a:rPr>
              <a:t>with</a:t>
            </a:r>
            <a:r>
              <a:rPr sz="1950" spc="5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perhaps 	</a:t>
            </a:r>
            <a:r>
              <a:rPr sz="1950" dirty="0">
                <a:latin typeface="Microsoft Sans Serif"/>
                <a:cs typeface="Microsoft Sans Serif"/>
              </a:rPr>
              <a:t>an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easier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spc="75" dirty="0">
                <a:latin typeface="Microsoft Sans Serif"/>
                <a:cs typeface="Microsoft Sans Serif"/>
              </a:rPr>
              <a:t>type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spc="135" dirty="0">
                <a:latin typeface="Microsoft Sans Serif"/>
                <a:cs typeface="Microsoft Sans Serif"/>
              </a:rPr>
              <a:t>of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supervised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learning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algorithm.</a:t>
            </a:r>
            <a:endParaRPr sz="1950">
              <a:latin typeface="Microsoft Sans Serif"/>
              <a:cs typeface="Microsoft Sans Serif"/>
            </a:endParaRPr>
          </a:p>
          <a:p>
            <a:pPr marL="530225" marR="361950" lvl="1" indent="-198120">
              <a:lnSpc>
                <a:spcPct val="100000"/>
              </a:lnSpc>
              <a:spcBef>
                <a:spcPts val="505"/>
              </a:spcBef>
              <a:buClr>
                <a:srgbClr val="6697CC"/>
              </a:buClr>
              <a:buFont typeface="Arial MT"/>
              <a:buChar char="–"/>
              <a:tabLst>
                <a:tab pos="532130" algn="l"/>
              </a:tabLst>
            </a:pPr>
            <a:r>
              <a:rPr sz="1950" spc="114" dirty="0">
                <a:latin typeface="Microsoft Sans Serif"/>
                <a:cs typeface="Microsoft Sans Serif"/>
              </a:rPr>
              <a:t>It</a:t>
            </a:r>
            <a:r>
              <a:rPr sz="1950" spc="-10" dirty="0">
                <a:latin typeface="Microsoft Sans Serif"/>
                <a:cs typeface="Microsoft Sans Serif"/>
              </a:rPr>
              <a:t> is </a:t>
            </a:r>
            <a:r>
              <a:rPr sz="1950" spc="-70" dirty="0">
                <a:latin typeface="Microsoft Sans Serif"/>
                <a:cs typeface="Microsoft Sans Serif"/>
              </a:rPr>
              <a:t>a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55" dirty="0">
                <a:latin typeface="Microsoft Sans Serif"/>
                <a:cs typeface="Microsoft Sans Serif"/>
              </a:rPr>
              <a:t>multi-</a:t>
            </a:r>
            <a:r>
              <a:rPr sz="1950" spc="-60" dirty="0">
                <a:latin typeface="Microsoft Sans Serif"/>
                <a:cs typeface="Microsoft Sans Serif"/>
              </a:rPr>
              <a:t>class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classification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spc="55" dirty="0">
                <a:latin typeface="Microsoft Sans Serif"/>
                <a:cs typeface="Microsoft Sans Serif"/>
              </a:rPr>
              <a:t>problem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spc="45" dirty="0">
                <a:latin typeface="Microsoft Sans Serif"/>
                <a:cs typeface="Microsoft Sans Serif"/>
              </a:rPr>
              <a:t>(multi-</a:t>
            </a:r>
            <a:r>
              <a:rPr sz="1950" dirty="0">
                <a:latin typeface="Microsoft Sans Serif"/>
                <a:cs typeface="Microsoft Sans Serif"/>
              </a:rPr>
              <a:t>nominal)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105" dirty="0">
                <a:latin typeface="Microsoft Sans Serif"/>
                <a:cs typeface="Microsoft Sans Serif"/>
              </a:rPr>
              <a:t>that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may 	</a:t>
            </a:r>
            <a:r>
              <a:rPr sz="1950" spc="45" dirty="0">
                <a:latin typeface="Microsoft Sans Serif"/>
                <a:cs typeface="Microsoft Sans Serif"/>
              </a:rPr>
              <a:t>require</a:t>
            </a:r>
            <a:r>
              <a:rPr sz="1950" spc="-9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some</a:t>
            </a:r>
            <a:r>
              <a:rPr sz="1950" spc="-9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specialized</a:t>
            </a:r>
            <a:r>
              <a:rPr sz="1950" spc="-8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handling.</a:t>
            </a:r>
            <a:endParaRPr sz="1950">
              <a:latin typeface="Microsoft Sans Serif"/>
              <a:cs typeface="Microsoft Sans Serif"/>
            </a:endParaRPr>
          </a:p>
          <a:p>
            <a:pPr marL="530225" marR="117475" lvl="1" indent="-198120">
              <a:lnSpc>
                <a:spcPct val="100000"/>
              </a:lnSpc>
              <a:spcBef>
                <a:spcPts val="495"/>
              </a:spcBef>
              <a:buClr>
                <a:srgbClr val="6697CC"/>
              </a:buClr>
              <a:buFont typeface="Arial MT"/>
              <a:buChar char="–"/>
              <a:tabLst>
                <a:tab pos="532130" algn="l"/>
              </a:tabLst>
            </a:pPr>
            <a:r>
              <a:rPr sz="1950" spc="114" dirty="0">
                <a:latin typeface="Microsoft Sans Serif"/>
                <a:cs typeface="Microsoft Sans Serif"/>
              </a:rPr>
              <a:t>It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only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spc="-60" dirty="0">
                <a:latin typeface="Microsoft Sans Serif"/>
                <a:cs typeface="Microsoft Sans Serif"/>
              </a:rPr>
              <a:t>has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4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spc="75" dirty="0">
                <a:latin typeface="Microsoft Sans Serif"/>
                <a:cs typeface="Microsoft Sans Serif"/>
              </a:rPr>
              <a:t>attributes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and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150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rows,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meaning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spc="140" dirty="0">
                <a:latin typeface="Microsoft Sans Serif"/>
                <a:cs typeface="Microsoft Sans Serif"/>
              </a:rPr>
              <a:t>it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is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small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and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easily 	</a:t>
            </a:r>
            <a:r>
              <a:rPr sz="1950" spc="100" dirty="0">
                <a:latin typeface="Microsoft Sans Serif"/>
                <a:cs typeface="Microsoft Sans Serif"/>
              </a:rPr>
              <a:t>fits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spc="90" dirty="0">
                <a:latin typeface="Microsoft Sans Serif"/>
                <a:cs typeface="Microsoft Sans Serif"/>
              </a:rPr>
              <a:t>into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memory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(and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spc="-70" dirty="0">
                <a:latin typeface="Microsoft Sans Serif"/>
                <a:cs typeface="Microsoft Sans Serif"/>
              </a:rPr>
              <a:t>a</a:t>
            </a:r>
            <a:r>
              <a:rPr sz="1950" spc="-4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screen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spc="80" dirty="0">
                <a:latin typeface="Microsoft Sans Serif"/>
                <a:cs typeface="Microsoft Sans Serif"/>
              </a:rPr>
              <a:t>or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A4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page).</a:t>
            </a:r>
            <a:endParaRPr sz="1950">
              <a:latin typeface="Microsoft Sans Serif"/>
              <a:cs typeface="Microsoft Sans Serif"/>
            </a:endParaRPr>
          </a:p>
          <a:p>
            <a:pPr marL="530225" marR="5080" lvl="1" indent="-198120">
              <a:lnSpc>
                <a:spcPct val="100000"/>
              </a:lnSpc>
              <a:spcBef>
                <a:spcPts val="500"/>
              </a:spcBef>
              <a:buClr>
                <a:srgbClr val="6697CC"/>
              </a:buClr>
              <a:buFont typeface="Arial MT"/>
              <a:buChar char="–"/>
              <a:tabLst>
                <a:tab pos="532130" algn="l"/>
              </a:tabLst>
            </a:pPr>
            <a:r>
              <a:rPr sz="1950" dirty="0">
                <a:latin typeface="Microsoft Sans Serif"/>
                <a:cs typeface="Microsoft Sans Serif"/>
              </a:rPr>
              <a:t>All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spc="135" dirty="0">
                <a:latin typeface="Microsoft Sans Serif"/>
                <a:cs typeface="Microsoft Sans Serif"/>
              </a:rPr>
              <a:t>of</a:t>
            </a:r>
            <a:r>
              <a:rPr sz="1950" spc="5" dirty="0">
                <a:latin typeface="Microsoft Sans Serif"/>
                <a:cs typeface="Microsoft Sans Serif"/>
              </a:rPr>
              <a:t> </a:t>
            </a:r>
            <a:r>
              <a:rPr sz="1950" spc="85" dirty="0">
                <a:latin typeface="Microsoft Sans Serif"/>
                <a:cs typeface="Microsoft Sans Serif"/>
              </a:rPr>
              <a:t>the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numeric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75" dirty="0">
                <a:latin typeface="Microsoft Sans Serif"/>
                <a:cs typeface="Microsoft Sans Serif"/>
              </a:rPr>
              <a:t>attributes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are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in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spc="85" dirty="0">
                <a:latin typeface="Microsoft Sans Serif"/>
                <a:cs typeface="Microsoft Sans Serif"/>
              </a:rPr>
              <a:t>the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-35" dirty="0">
                <a:latin typeface="Microsoft Sans Serif"/>
                <a:cs typeface="Microsoft Sans Serif"/>
              </a:rPr>
              <a:t>same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units and </a:t>
            </a:r>
            <a:r>
              <a:rPr sz="1950" spc="90" dirty="0">
                <a:latin typeface="Microsoft Sans Serif"/>
                <a:cs typeface="Microsoft Sans Serif"/>
              </a:rPr>
              <a:t>the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same 	</a:t>
            </a:r>
            <a:r>
              <a:rPr sz="1950" spc="-40" dirty="0">
                <a:latin typeface="Microsoft Sans Serif"/>
                <a:cs typeface="Microsoft Sans Serif"/>
              </a:rPr>
              <a:t>scale,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spc="110" dirty="0">
                <a:latin typeface="Microsoft Sans Serif"/>
                <a:cs typeface="Microsoft Sans Serif"/>
              </a:rPr>
              <a:t>not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45" dirty="0">
                <a:latin typeface="Microsoft Sans Serif"/>
                <a:cs typeface="Microsoft Sans Serif"/>
              </a:rPr>
              <a:t>requiring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any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special</a:t>
            </a:r>
            <a:r>
              <a:rPr sz="1950" spc="-8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scaling</a:t>
            </a:r>
            <a:r>
              <a:rPr sz="1950" spc="-75" dirty="0">
                <a:latin typeface="Microsoft Sans Serif"/>
                <a:cs typeface="Microsoft Sans Serif"/>
              </a:rPr>
              <a:t> </a:t>
            </a:r>
            <a:r>
              <a:rPr sz="1950" spc="75" dirty="0">
                <a:latin typeface="Microsoft Sans Serif"/>
                <a:cs typeface="Microsoft Sans Serif"/>
              </a:rPr>
              <a:t>or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spc="50" dirty="0">
                <a:latin typeface="Microsoft Sans Serif"/>
                <a:cs typeface="Microsoft Sans Serif"/>
              </a:rPr>
              <a:t>transforms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spc="150" dirty="0">
                <a:latin typeface="Microsoft Sans Serif"/>
                <a:cs typeface="Microsoft Sans Serif"/>
              </a:rPr>
              <a:t>to</a:t>
            </a:r>
            <a:r>
              <a:rPr sz="1950" spc="-75" dirty="0">
                <a:latin typeface="Microsoft Sans Serif"/>
                <a:cs typeface="Microsoft Sans Serif"/>
              </a:rPr>
              <a:t> </a:t>
            </a:r>
            <a:r>
              <a:rPr sz="1950" spc="90" dirty="0">
                <a:latin typeface="Microsoft Sans Serif"/>
                <a:cs typeface="Microsoft Sans Serif"/>
              </a:rPr>
              <a:t>get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40" dirty="0">
                <a:latin typeface="Microsoft Sans Serif"/>
                <a:cs typeface="Microsoft Sans Serif"/>
              </a:rPr>
              <a:t>started.</a:t>
            </a:r>
            <a:endParaRPr sz="19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Dataset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32003" y="1439633"/>
            <a:ext cx="8538210" cy="4662805"/>
            <a:chOff x="432003" y="1439633"/>
            <a:chExt cx="8538210" cy="46628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003" y="1439633"/>
              <a:ext cx="5213515" cy="46627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12880" y="4679632"/>
              <a:ext cx="3656876" cy="136800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14922" y="1511642"/>
            <a:ext cx="1909076" cy="206171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KNN</a:t>
            </a:r>
            <a:r>
              <a:rPr spc="-90" dirty="0"/>
              <a:t> </a:t>
            </a:r>
            <a:r>
              <a:rPr spc="735" dirty="0"/>
              <a:t>–</a:t>
            </a:r>
            <a:r>
              <a:rPr spc="-100" dirty="0"/>
              <a:t> </a:t>
            </a:r>
            <a:r>
              <a:rPr dirty="0"/>
              <a:t>Classification</a:t>
            </a:r>
            <a:r>
              <a:rPr spc="-95" dirty="0"/>
              <a:t> </a:t>
            </a:r>
            <a:r>
              <a:rPr spc="-120" dirty="0"/>
              <a:t>:</a:t>
            </a:r>
            <a:r>
              <a:rPr spc="-90" dirty="0"/>
              <a:t> </a:t>
            </a:r>
            <a:r>
              <a:rPr spc="35" dirty="0"/>
              <a:t>Dataset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766" y="1406894"/>
            <a:ext cx="6247541" cy="472340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Pre-</a:t>
            </a:r>
            <a:r>
              <a:rPr spc="-10" dirty="0"/>
              <a:t>processing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955" y="1494355"/>
            <a:ext cx="8062442" cy="461483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Characterize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048" y="1506313"/>
            <a:ext cx="8095770" cy="352380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Finding</a:t>
            </a:r>
            <a:r>
              <a:rPr spc="-85" dirty="0"/>
              <a:t> </a:t>
            </a:r>
            <a:r>
              <a:rPr spc="130" dirty="0"/>
              <a:t>error</a:t>
            </a:r>
            <a:r>
              <a:rPr spc="-70" dirty="0"/>
              <a:t> </a:t>
            </a:r>
            <a:r>
              <a:rPr spc="185" dirty="0"/>
              <a:t>with</a:t>
            </a:r>
            <a:r>
              <a:rPr spc="-80" dirty="0"/>
              <a:t> </a:t>
            </a:r>
            <a:r>
              <a:rPr dirty="0"/>
              <a:t>changed</a:t>
            </a:r>
            <a:r>
              <a:rPr spc="-65" dirty="0"/>
              <a:t> </a:t>
            </a:r>
            <a:r>
              <a:rPr spc="20" dirty="0"/>
              <a:t>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562" y="1504449"/>
            <a:ext cx="8634212" cy="435598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662" y="1455473"/>
            <a:ext cx="8324607" cy="46983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Error</a:t>
            </a:r>
            <a:r>
              <a:rPr spc="-120" dirty="0"/>
              <a:t> </a:t>
            </a:r>
            <a:r>
              <a:rPr spc="105" dirty="0"/>
              <a:t>rate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Useful</a:t>
            </a:r>
            <a:r>
              <a:rPr spc="13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397212"/>
            <a:ext cx="140970" cy="451104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600" spc="-50" dirty="0">
                <a:solidFill>
                  <a:srgbClr val="6697CC"/>
                </a:solidFill>
                <a:latin typeface="Arial MT"/>
                <a:cs typeface="Arial MT"/>
              </a:rPr>
              <a:t>•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9017" y="1417368"/>
            <a:ext cx="6076950" cy="450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5699"/>
              </a:lnSpc>
              <a:spcBef>
                <a:spcPts val="95"/>
              </a:spcBef>
            </a:pPr>
            <a:r>
              <a:rPr sz="2600" spc="35" dirty="0">
                <a:latin typeface="Microsoft Sans Serif"/>
                <a:cs typeface="Microsoft Sans Serif"/>
                <a:hlinkClick r:id="rId2"/>
              </a:rPr>
              <a:t>www.mitu.co.in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  <a:hlinkClick r:id="rId3"/>
              </a:rPr>
              <a:t>www.pythonprogramminglanguage.com</a:t>
            </a:r>
            <a:r>
              <a:rPr sz="2600" spc="650" dirty="0">
                <a:latin typeface="Microsoft Sans Serif"/>
                <a:cs typeface="Microsoft Sans Serif"/>
              </a:rPr>
              <a:t> </a:t>
            </a:r>
            <a:r>
              <a:rPr sz="2600" spc="50" dirty="0">
                <a:latin typeface="Microsoft Sans Serif"/>
                <a:cs typeface="Microsoft Sans Serif"/>
                <a:hlinkClick r:id="rId4"/>
              </a:rPr>
              <a:t>www.scikit-</a:t>
            </a:r>
            <a:r>
              <a:rPr sz="2600" spc="-10" dirty="0">
                <a:latin typeface="Microsoft Sans Serif"/>
                <a:cs typeface="Microsoft Sans Serif"/>
                <a:hlinkClick r:id="rId4"/>
              </a:rPr>
              <a:t>learn.org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  <a:hlinkClick r:id="rId5"/>
              </a:rPr>
              <a:t>www.towardsdatascience.com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  <a:hlinkClick r:id="rId6"/>
              </a:rPr>
              <a:t>www.medium.com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  <a:hlinkClick r:id="rId7"/>
              </a:rPr>
              <a:t>www.analyticsvidhya.com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  <a:hlinkClick r:id="rId8"/>
              </a:rPr>
              <a:t>www.kaggle.com</a:t>
            </a:r>
            <a:endParaRPr sz="2600">
              <a:latin typeface="Microsoft Sans Serif"/>
              <a:cs typeface="Microsoft Sans Serif"/>
            </a:endParaRPr>
          </a:p>
          <a:p>
            <a:pPr marL="12700" marR="2680970">
              <a:lnSpc>
                <a:spcPts val="3920"/>
              </a:lnSpc>
              <a:spcBef>
                <a:spcPts val="105"/>
              </a:spcBef>
            </a:pPr>
            <a:r>
              <a:rPr sz="2600" spc="-10" dirty="0">
                <a:latin typeface="Microsoft Sans Serif"/>
                <a:cs typeface="Microsoft Sans Serif"/>
                <a:hlinkClick r:id="rId9"/>
              </a:rPr>
              <a:t>www.stephacking.com</a:t>
            </a:r>
            <a:r>
              <a:rPr sz="2600" spc="-10" dirty="0">
                <a:latin typeface="Microsoft Sans Serif"/>
                <a:cs typeface="Microsoft Sans Serif"/>
              </a:rPr>
              <a:t> </a:t>
            </a:r>
            <a:r>
              <a:rPr sz="2600" spc="45" dirty="0">
                <a:latin typeface="Microsoft Sans Serif"/>
                <a:cs typeface="Microsoft Sans Serif"/>
                <a:hlinkClick r:id="rId10"/>
              </a:rPr>
              <a:t>www.github.com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1003</Words>
  <Application>Microsoft Office PowerPoint</Application>
  <PresentationFormat>On-screen Show (4:3)</PresentationFormat>
  <Paragraphs>120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Aptos</vt:lpstr>
      <vt:lpstr>Aptos Display</vt:lpstr>
      <vt:lpstr>Arial</vt:lpstr>
      <vt:lpstr>Arial MT</vt:lpstr>
      <vt:lpstr>Calibri</vt:lpstr>
      <vt:lpstr>Microsoft Sans Serif</vt:lpstr>
      <vt:lpstr>Palatino Linotype</vt:lpstr>
      <vt:lpstr>Segoe Print</vt:lpstr>
      <vt:lpstr>Times New Roman</vt:lpstr>
      <vt:lpstr>Office Theme</vt:lpstr>
      <vt:lpstr>K-Nearest Neighbour</vt:lpstr>
      <vt:lpstr>Nearest Neighbor Classifiers</vt:lpstr>
      <vt:lpstr>k-Nearest Neighbor (kNN) Algorithm</vt:lpstr>
      <vt:lpstr>k-Nearest Neighbor (kNN) Algorithm</vt:lpstr>
      <vt:lpstr>k-Nearest Neighbor (kNN) Algorithm</vt:lpstr>
      <vt:lpstr>Example:</vt:lpstr>
      <vt:lpstr>Example:</vt:lpstr>
      <vt:lpstr>Example:</vt:lpstr>
      <vt:lpstr>Classify me now!</vt:lpstr>
      <vt:lpstr>Example:</vt:lpstr>
      <vt:lpstr>Calculating Distance</vt:lpstr>
      <vt:lpstr>Calculating Distance</vt:lpstr>
      <vt:lpstr>Distance</vt:lpstr>
      <vt:lpstr>Distance</vt:lpstr>
      <vt:lpstr>Closest Neighbors</vt:lpstr>
      <vt:lpstr>k-Nearest Neighbor (kNN) Algorithm</vt:lpstr>
      <vt:lpstr>k-Nearest Neighbor (kNN) Algorithm</vt:lpstr>
      <vt:lpstr>Choosing appropriate k</vt:lpstr>
      <vt:lpstr>Choosing appropriate k</vt:lpstr>
      <vt:lpstr>Choosing appropriate k</vt:lpstr>
      <vt:lpstr>Min-Max normalization</vt:lpstr>
      <vt:lpstr>The kNN Algorithm</vt:lpstr>
      <vt:lpstr>Python Packages needed</vt:lpstr>
      <vt:lpstr>Sample Application</vt:lpstr>
      <vt:lpstr>KNN – Classification : Dataset</vt:lpstr>
      <vt:lpstr>Dataset</vt:lpstr>
      <vt:lpstr>KNN – Classification : Dataset</vt:lpstr>
      <vt:lpstr>Pre-processing</vt:lpstr>
      <vt:lpstr>Characterize</vt:lpstr>
      <vt:lpstr>Finding error with changed k</vt:lpstr>
      <vt:lpstr>Error rate</vt:lpstr>
      <vt:lpstr>Useful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Powerpoint presentation</dc:title>
  <dc:creator>Presentation Magazine</dc:creator>
  <cp:lastModifiedBy>anwar khan</cp:lastModifiedBy>
  <cp:revision>19</cp:revision>
  <dcterms:created xsi:type="dcterms:W3CDTF">2025-01-07T00:38:03Z</dcterms:created>
  <dcterms:modified xsi:type="dcterms:W3CDTF">2025-12-10T07:00:38Z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2022-01-16T00:00:00Z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6.4</vt:lpwstr>
  </property>
  <property fmtid="{D5CDD505-2E9C-101B-9397-08002B2CF9AE}" pid="5" name="LastSaved">
    <vt:filetime>2022-01-16T00:00:00Z</vt:filetime>
  </property>
</Properties>
</file>