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1.JPG" ContentType="image/jpeg"/>
  <Override PartName="/ppt/media/image12.JPG" ContentType="image/jpeg"/>
  <Override PartName="/ppt/media/image13.JPG" ContentType="image/jpeg"/>
  <Override PartName="/ppt/media/image14.JPG" ContentType="image/jpeg"/>
  <Override PartName="/ppt/media/image15.JPG" ContentType="image/jpeg"/>
  <Override PartName="/ppt/media/image16.JPG" ContentType="image/jpeg"/>
  <Override PartName="/ppt/media/image18.JPG" ContentType="image/jpeg"/>
  <Override PartName="/ppt/notesSlides/notesSlide1.xml" ContentType="application/vnd.openxmlformats-officedocument.presentationml.notesSlide+xml"/>
  <Override PartName="/ppt/media/image21.JPG" ContentType="image/jpeg"/>
  <Override PartName="/ppt/media/image22.JPG" ContentType="image/jpeg"/>
  <Override PartName="/ppt/media/image23.JPG" ContentType="image/jpeg"/>
  <Override PartName="/ppt/media/image24.JPG" ContentType="image/jpeg"/>
  <Override PartName="/ppt/media/image25.JPG" ContentType="image/jpeg"/>
  <Override PartName="/ppt/media/image26.JPG" ContentType="image/jpeg"/>
  <Override PartName="/ppt/media/image27.JPG" ContentType="image/jpeg"/>
  <Override PartName="/ppt/media/image28.JPG" ContentType="image/jpeg"/>
  <Override PartName="/ppt/media/image29.JPG" ContentType="image/jpeg"/>
  <Override PartName="/ppt/media/image30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338" r:id="rId3"/>
    <p:sldId id="426" r:id="rId4"/>
    <p:sldId id="427" r:id="rId5"/>
    <p:sldId id="428" r:id="rId6"/>
    <p:sldId id="429" r:id="rId7"/>
    <p:sldId id="430" r:id="rId8"/>
    <p:sldId id="432" r:id="rId9"/>
    <p:sldId id="440" r:id="rId10"/>
    <p:sldId id="258" r:id="rId11"/>
    <p:sldId id="443" r:id="rId12"/>
    <p:sldId id="444" r:id="rId13"/>
    <p:sldId id="263" r:id="rId14"/>
    <p:sldId id="445" r:id="rId15"/>
    <p:sldId id="446" r:id="rId16"/>
    <p:sldId id="441" r:id="rId17"/>
    <p:sldId id="447" r:id="rId18"/>
    <p:sldId id="448" r:id="rId19"/>
    <p:sldId id="449" r:id="rId20"/>
    <p:sldId id="450" r:id="rId21"/>
    <p:sldId id="451" r:id="rId22"/>
    <p:sldId id="452" r:id="rId23"/>
    <p:sldId id="442" r:id="rId24"/>
    <p:sldId id="453" r:id="rId25"/>
    <p:sldId id="455" r:id="rId26"/>
    <p:sldId id="456" r:id="rId27"/>
    <p:sldId id="457" r:id="rId28"/>
    <p:sldId id="458" r:id="rId29"/>
    <p:sldId id="459" r:id="rId30"/>
    <p:sldId id="460" r:id="rId31"/>
    <p:sldId id="46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9FC5E-E3BE-4B84-8CF5-F469664D47A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059BC-6BFB-41F5-8589-C2C8534B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73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059BC-6BFB-41F5-8589-C2C8534B90A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01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10900-445F-9D88-4175-32B30F0BD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27724-CA64-749C-9ECD-72CB82318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E20F8-A9F2-5DFF-AF74-41C5DD9A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EA80E-4F53-C98C-9BE5-63D922AD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3ECBB-A2D7-D23A-D4C6-DC3BEF9E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8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32244-623C-A2E8-04BD-8CF580656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BEC21-B46E-8191-D0FE-91689B989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320EC-6E5C-7678-75FF-4585EF7FC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B91F0-C1FC-A623-8811-E8D35A5A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35147-797F-FDBC-2F73-EE6F4820B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67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56AF-C94C-1D0E-482A-9405B117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01D02-436A-C694-9448-28C22704A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79233-5917-8B77-5A47-015B0FE04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8B7FB-0357-4628-E1D1-79C1B8356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94B29-2AAA-E80C-E48B-3745C9AD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CAB1-C79C-67F6-611F-2349D0057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25607-DF5C-4726-ED70-23A3B786C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7C847-F010-9173-EC7F-5C4078131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68C14-F16E-3AF8-1054-CF54F3C8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E6614-CBEF-FE22-9915-D682E2783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CB57E-4EFB-97CA-62A5-FBED9612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12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454C7-BE94-5901-68FD-36B046EE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11454-B1E0-5501-8E57-BF7070D04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07729-AE21-CDCD-509A-C4DC7F433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E3ECEB-9CCE-8A8D-562E-56E2BB877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A99CD-0329-7A0A-B78B-0434F0367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09EB6C-3859-8A58-BC07-4CB1E3BA2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54C9F-F788-36A0-C3A9-CB59B8A5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33EB4E-4646-C00E-86AB-6CBBB863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7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A51A-C96E-8A6D-EC07-0578383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40739-065B-C15D-A51A-FBFA5301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D6094D-C32E-40B6-918D-E23F5F37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E3D86-1265-DED9-7042-F71E82C41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0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4AD85-41AD-FAD5-96F1-2D15CD615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DEADA-E350-C307-A3E8-876B8E0B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F4EB1-6077-0C33-4D38-91982D4F4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07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4593-9EEA-D7A2-76D0-BE84D15C4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98892-E0E7-770D-C815-CF6375B56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30605-EE34-60CC-58CF-725575D34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4562A-8905-91E8-18AC-B0D10E50D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8AA2F-DBA6-C6BD-0686-0FC7D8CDA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1780C-BB22-6BAA-7292-EBFDD725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11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18519-64E8-2D4E-7596-E5C6AD28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741152-AA41-4AB8-FB2F-62CA4DCB78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31A3D-478D-8E6D-EFA1-C75E97633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5476C-C3E1-0E7A-2F4B-82220697C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9728C-7700-F4CF-92AD-51C8CD02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04D94-09C8-C024-3647-35B5B9FC4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71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35EA-6F6D-127A-0069-3DAD58D7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D6D62-AA68-E03E-3150-4B4D90511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42C33-E5E0-2226-BEB7-A3A0789C4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4F504-6A4F-5612-7881-3DB9E539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FCA13-A05A-1C0A-FA76-402EB6B1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54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E86697-7120-B4DB-F1DB-8184FE4CD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A5CD9-0D9C-8413-8F6A-F2CCEDD51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B0413-3708-7A25-299D-1ECBA39CB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49AAD-D9E1-19A2-CD83-B7F3838B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A07DA-D781-2534-3A7C-9382E63B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6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069C4C-F422-8BBE-984E-3B0EF9123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F344D-59CD-5885-8196-34DC1713B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0525E-DB7A-AAB3-6746-B972B537F2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A79FE-96FC-4CC5-9FE3-C60B8989B4B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CCE1-426E-FB21-F25D-BF619CD03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C4143-19D3-7B0C-89A1-5B6D9C3BC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3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G"/><Relationship Id="rId4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G"/><Relationship Id="rId4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G"/><Relationship Id="rId4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4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slide" Target="slid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19.jpg"/><Relationship Id="rId4" Type="http://schemas.openxmlformats.org/officeDocument/2006/relationships/slide" Target="slide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slide" Target="slide8.xml"/><Relationship Id="rId4" Type="http://schemas.openxmlformats.org/officeDocument/2006/relationships/slide" Target="slide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slide" Target="slide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47"/>
              <a:ext cx="8035543" cy="26715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" y="2353054"/>
              <a:ext cx="7328789" cy="44660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0" y="2398395"/>
              <a:ext cx="11004550" cy="0"/>
            </a:xfrm>
            <a:custGeom>
              <a:avLst/>
              <a:gdLst/>
              <a:ahLst/>
              <a:cxnLst/>
              <a:rect l="l" t="t" r="r" b="b"/>
              <a:pathLst>
                <a:path w="11004550">
                  <a:moveTo>
                    <a:pt x="11004296" y="0"/>
                  </a:moveTo>
                  <a:lnTo>
                    <a:pt x="0" y="0"/>
                  </a:lnTo>
                </a:path>
              </a:pathLst>
            </a:custGeom>
            <a:ln w="1295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502" y="-112776"/>
            <a:ext cx="11778995" cy="1033777"/>
          </a:xfrm>
          <a:prstGeom prst="rect">
            <a:avLst/>
          </a:prstGeom>
        </p:spPr>
        <p:txBody>
          <a:bodyPr vert="horz" wrap="square" lIns="0" tIns="205899" rIns="0" bIns="0" rtlCol="0">
            <a:spAutoFit/>
          </a:bodyPr>
          <a:lstStyle/>
          <a:p>
            <a:pPr marL="5382260" algn="ctr">
              <a:lnSpc>
                <a:spcPct val="100000"/>
              </a:lnSpc>
              <a:spcBef>
                <a:spcPts val="370"/>
              </a:spcBef>
            </a:pPr>
            <a:r>
              <a:rPr sz="3200" dirty="0">
                <a:solidFill>
                  <a:srgbClr val="FFFFFF"/>
                </a:solidFill>
              </a:rPr>
              <a:t>Machine</a:t>
            </a:r>
            <a:r>
              <a:rPr sz="3200" spc="-35" dirty="0">
                <a:solidFill>
                  <a:srgbClr val="FFFFFF"/>
                </a:solidFill>
              </a:rPr>
              <a:t> </a:t>
            </a:r>
            <a:r>
              <a:rPr sz="3200" spc="-10" dirty="0">
                <a:solidFill>
                  <a:srgbClr val="FFFFFF"/>
                </a:solidFill>
              </a:rPr>
              <a:t>Learning</a:t>
            </a:r>
            <a:endParaRPr sz="3200" dirty="0"/>
          </a:p>
          <a:p>
            <a:pPr marL="5384165" algn="ctr">
              <a:lnSpc>
                <a:spcPct val="100000"/>
              </a:lnSpc>
              <a:spcBef>
                <a:spcPts val="165"/>
              </a:spcBef>
            </a:pPr>
            <a:endParaRPr sz="2000" dirty="0"/>
          </a:p>
        </p:txBody>
      </p:sp>
      <p:sp>
        <p:nvSpPr>
          <p:cNvPr id="10" name="object 10"/>
          <p:cNvSpPr txBox="1"/>
          <p:nvPr/>
        </p:nvSpPr>
        <p:spPr>
          <a:xfrm>
            <a:off x="8170671" y="1215390"/>
            <a:ext cx="220690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10" dirty="0">
                <a:solidFill>
                  <a:srgbClr val="FFFFFF"/>
                </a:solidFill>
                <a:latin typeface="Calibri"/>
                <a:cs typeface="Calibri"/>
              </a:rPr>
              <a:t>Gradient Descent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36231" y="3174746"/>
            <a:ext cx="41998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lang="en-US" sz="1800" dirty="0">
                <a:solidFill>
                  <a:schemeClr val="bg1"/>
                </a:solidFill>
                <a:latin typeface="Cambria"/>
                <a:cs typeface="Cambria"/>
              </a:rPr>
              <a:t>ANWAR KHAN</a:t>
            </a:r>
            <a:endParaRPr sz="1800" dirty="0">
              <a:solidFill>
                <a:schemeClr val="bg1"/>
              </a:solidFill>
              <a:latin typeface="Cambria"/>
              <a:cs typeface="Cambria"/>
            </a:endParaRPr>
          </a:p>
          <a:p>
            <a:pPr marL="12700" marR="5080" indent="432434">
              <a:lnSpc>
                <a:spcPct val="100000"/>
              </a:lnSpc>
              <a:spcBef>
                <a:spcPts val="5"/>
              </a:spcBef>
            </a:pPr>
            <a:r>
              <a:rPr lang="en-US" sz="1800" dirty="0">
                <a:solidFill>
                  <a:srgbClr val="FFFFFF"/>
                </a:solidFill>
                <a:latin typeface="Cambria"/>
                <a:cs typeface="Cambria"/>
              </a:rPr>
              <a:t>University of 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Lahore</a:t>
            </a:r>
            <a:r>
              <a:rPr sz="1800" spc="-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/>
              <a:t>Gradient</a:t>
            </a:r>
            <a:r>
              <a:rPr spc="-210" dirty="0"/>
              <a:t> </a:t>
            </a:r>
            <a:r>
              <a:rPr dirty="0"/>
              <a:t>Descent</a:t>
            </a:r>
            <a:r>
              <a:rPr spc="-204" dirty="0"/>
              <a:t> </a:t>
            </a:r>
            <a:r>
              <a:rPr spc="-10" dirty="0"/>
              <a:t>(Optimization)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062" y="3629659"/>
            <a:ext cx="641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1613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73130" y="4111250"/>
            <a:ext cx="10733405" cy="220345"/>
            <a:chOff x="1073130" y="4111250"/>
            <a:chExt cx="10733405" cy="220345"/>
          </a:xfrm>
        </p:grpSpPr>
        <p:sp>
          <p:nvSpPr>
            <p:cNvPr id="5" name="object 5"/>
            <p:cNvSpPr/>
            <p:nvPr/>
          </p:nvSpPr>
          <p:spPr>
            <a:xfrm>
              <a:off x="1183174" y="4221294"/>
              <a:ext cx="10594975" cy="0"/>
            </a:xfrm>
            <a:custGeom>
              <a:avLst/>
              <a:gdLst/>
              <a:ahLst/>
              <a:cxnLst/>
              <a:rect l="l" t="t" r="r" b="b"/>
              <a:pathLst>
                <a:path w="10594975">
                  <a:moveTo>
                    <a:pt x="0" y="0"/>
                  </a:moveTo>
                  <a:lnTo>
                    <a:pt x="5462548" y="0"/>
                  </a:lnTo>
                </a:path>
                <a:path w="10594975">
                  <a:moveTo>
                    <a:pt x="5853734" y="0"/>
                  </a:moveTo>
                  <a:lnTo>
                    <a:pt x="7517515" y="0"/>
                  </a:lnTo>
                </a:path>
                <a:path w="10594975">
                  <a:moveTo>
                    <a:pt x="7890735" y="0"/>
                  </a:moveTo>
                  <a:lnTo>
                    <a:pt x="9045946" y="0"/>
                  </a:lnTo>
                </a:path>
                <a:path w="10594975">
                  <a:moveTo>
                    <a:pt x="9419166" y="0"/>
                  </a:moveTo>
                  <a:lnTo>
                    <a:pt x="10594739" y="0"/>
                  </a:lnTo>
                </a:path>
              </a:pathLst>
            </a:custGeom>
            <a:ln w="57151">
              <a:solidFill>
                <a:srgbClr val="04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3130" y="4111250"/>
              <a:ext cx="220088" cy="22008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12365" y="4363211"/>
            <a:ext cx="21793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Human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“Computers”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13067" y="4102888"/>
            <a:ext cx="4544060" cy="226060"/>
            <a:chOff x="6113067" y="4102888"/>
            <a:chExt cx="4544060" cy="22606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3067" y="4107652"/>
              <a:ext cx="220088" cy="2200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8217" y="4104994"/>
              <a:ext cx="220088" cy="2200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1065" y="4107652"/>
              <a:ext cx="220088" cy="22008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36504" y="4107652"/>
              <a:ext cx="220088" cy="22008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645722" y="4146760"/>
              <a:ext cx="391795" cy="133985"/>
            </a:xfrm>
            <a:custGeom>
              <a:avLst/>
              <a:gdLst/>
              <a:ahLst/>
              <a:cxnLst/>
              <a:rect l="l" t="t" r="r" b="b"/>
              <a:pathLst>
                <a:path w="391795" h="133985">
                  <a:moveTo>
                    <a:pt x="391186" y="0"/>
                  </a:moveTo>
                  <a:lnTo>
                    <a:pt x="0" y="0"/>
                  </a:lnTo>
                  <a:lnTo>
                    <a:pt x="0" y="133734"/>
                  </a:lnTo>
                  <a:lnTo>
                    <a:pt x="391186" y="133734"/>
                  </a:lnTo>
                  <a:lnTo>
                    <a:pt x="391186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45722" y="4146760"/>
              <a:ext cx="391795" cy="133985"/>
            </a:xfrm>
            <a:custGeom>
              <a:avLst/>
              <a:gdLst/>
              <a:ahLst/>
              <a:cxnLst/>
              <a:rect l="l" t="t" r="r" b="b"/>
              <a:pathLst>
                <a:path w="391795" h="133985">
                  <a:moveTo>
                    <a:pt x="0" y="0"/>
                  </a:moveTo>
                  <a:lnTo>
                    <a:pt x="391186" y="0"/>
                  </a:lnTo>
                  <a:lnTo>
                    <a:pt x="391186" y="133734"/>
                  </a:lnTo>
                  <a:lnTo>
                    <a:pt x="0" y="13373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00690" y="4146760"/>
              <a:ext cx="373380" cy="133985"/>
            </a:xfrm>
            <a:custGeom>
              <a:avLst/>
              <a:gdLst/>
              <a:ahLst/>
              <a:cxnLst/>
              <a:rect l="l" t="t" r="r" b="b"/>
              <a:pathLst>
                <a:path w="373379" h="133985">
                  <a:moveTo>
                    <a:pt x="373219" y="0"/>
                  </a:moveTo>
                  <a:lnTo>
                    <a:pt x="0" y="0"/>
                  </a:lnTo>
                  <a:lnTo>
                    <a:pt x="0" y="133734"/>
                  </a:lnTo>
                  <a:lnTo>
                    <a:pt x="373219" y="133734"/>
                  </a:lnTo>
                  <a:lnTo>
                    <a:pt x="373219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700690" y="4146760"/>
              <a:ext cx="373380" cy="133985"/>
            </a:xfrm>
            <a:custGeom>
              <a:avLst/>
              <a:gdLst/>
              <a:ahLst/>
              <a:cxnLst/>
              <a:rect l="l" t="t" r="r" b="b"/>
              <a:pathLst>
                <a:path w="373379" h="133985">
                  <a:moveTo>
                    <a:pt x="0" y="0"/>
                  </a:moveTo>
                  <a:lnTo>
                    <a:pt x="373220" y="0"/>
                  </a:lnTo>
                  <a:lnTo>
                    <a:pt x="373220" y="133734"/>
                  </a:lnTo>
                  <a:lnTo>
                    <a:pt x="0" y="13373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64966" y="4102888"/>
              <a:ext cx="220088" cy="22008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69684" y="4102888"/>
              <a:ext cx="220088" cy="22008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229120" y="4152648"/>
              <a:ext cx="373380" cy="133985"/>
            </a:xfrm>
            <a:custGeom>
              <a:avLst/>
              <a:gdLst/>
              <a:ahLst/>
              <a:cxnLst/>
              <a:rect l="l" t="t" r="r" b="b"/>
              <a:pathLst>
                <a:path w="373379" h="133985">
                  <a:moveTo>
                    <a:pt x="373219" y="0"/>
                  </a:moveTo>
                  <a:lnTo>
                    <a:pt x="0" y="0"/>
                  </a:lnTo>
                  <a:lnTo>
                    <a:pt x="0" y="133734"/>
                  </a:lnTo>
                  <a:lnTo>
                    <a:pt x="373219" y="133734"/>
                  </a:lnTo>
                  <a:lnTo>
                    <a:pt x="373219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229120" y="4152648"/>
              <a:ext cx="373380" cy="133985"/>
            </a:xfrm>
            <a:custGeom>
              <a:avLst/>
              <a:gdLst/>
              <a:ahLst/>
              <a:cxnLst/>
              <a:rect l="l" t="t" r="r" b="b"/>
              <a:pathLst>
                <a:path w="373379" h="133985">
                  <a:moveTo>
                    <a:pt x="0" y="0"/>
                  </a:moveTo>
                  <a:lnTo>
                    <a:pt x="373220" y="0"/>
                  </a:lnTo>
                  <a:lnTo>
                    <a:pt x="373220" y="133734"/>
                  </a:lnTo>
                  <a:lnTo>
                    <a:pt x="0" y="13373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041377" y="4118301"/>
              <a:ext cx="201295" cy="201295"/>
            </a:xfrm>
            <a:custGeom>
              <a:avLst/>
              <a:gdLst/>
              <a:ahLst/>
              <a:cxnLst/>
              <a:rect l="l" t="t" r="r" b="b"/>
              <a:pathLst>
                <a:path w="201295" h="201295">
                  <a:moveTo>
                    <a:pt x="100519" y="0"/>
                  </a:moveTo>
                  <a:lnTo>
                    <a:pt x="61392" y="7899"/>
                  </a:lnTo>
                  <a:lnTo>
                    <a:pt x="29441" y="29441"/>
                  </a:lnTo>
                  <a:lnTo>
                    <a:pt x="7899" y="61392"/>
                  </a:lnTo>
                  <a:lnTo>
                    <a:pt x="0" y="100519"/>
                  </a:lnTo>
                  <a:lnTo>
                    <a:pt x="7899" y="139645"/>
                  </a:lnTo>
                  <a:lnTo>
                    <a:pt x="29441" y="171596"/>
                  </a:lnTo>
                  <a:lnTo>
                    <a:pt x="61392" y="193137"/>
                  </a:lnTo>
                  <a:lnTo>
                    <a:pt x="100519" y="201037"/>
                  </a:lnTo>
                  <a:lnTo>
                    <a:pt x="139645" y="193137"/>
                  </a:lnTo>
                  <a:lnTo>
                    <a:pt x="171596" y="171596"/>
                  </a:lnTo>
                  <a:lnTo>
                    <a:pt x="193139" y="139645"/>
                  </a:lnTo>
                  <a:lnTo>
                    <a:pt x="201038" y="100519"/>
                  </a:lnTo>
                  <a:lnTo>
                    <a:pt x="193139" y="61392"/>
                  </a:lnTo>
                  <a:lnTo>
                    <a:pt x="171596" y="29441"/>
                  </a:lnTo>
                  <a:lnTo>
                    <a:pt x="139645" y="7899"/>
                  </a:lnTo>
                  <a:lnTo>
                    <a:pt x="100519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41377" y="4118301"/>
              <a:ext cx="201295" cy="201295"/>
            </a:xfrm>
            <a:custGeom>
              <a:avLst/>
              <a:gdLst/>
              <a:ahLst/>
              <a:cxnLst/>
              <a:rect l="l" t="t" r="r" b="b"/>
              <a:pathLst>
                <a:path w="201295" h="201295">
                  <a:moveTo>
                    <a:pt x="0" y="100519"/>
                  </a:moveTo>
                  <a:lnTo>
                    <a:pt x="7899" y="61392"/>
                  </a:lnTo>
                  <a:lnTo>
                    <a:pt x="29441" y="29441"/>
                  </a:lnTo>
                  <a:lnTo>
                    <a:pt x="61392" y="7899"/>
                  </a:lnTo>
                  <a:lnTo>
                    <a:pt x="100519" y="0"/>
                  </a:lnTo>
                  <a:lnTo>
                    <a:pt x="139645" y="7899"/>
                  </a:lnTo>
                  <a:lnTo>
                    <a:pt x="171596" y="29441"/>
                  </a:lnTo>
                  <a:lnTo>
                    <a:pt x="193138" y="61392"/>
                  </a:lnTo>
                  <a:lnTo>
                    <a:pt x="201038" y="100519"/>
                  </a:lnTo>
                  <a:lnTo>
                    <a:pt x="193138" y="139645"/>
                  </a:lnTo>
                  <a:lnTo>
                    <a:pt x="171596" y="171596"/>
                  </a:lnTo>
                  <a:lnTo>
                    <a:pt x="139645" y="193138"/>
                  </a:lnTo>
                  <a:lnTo>
                    <a:pt x="100519" y="201038"/>
                  </a:lnTo>
                  <a:lnTo>
                    <a:pt x="61392" y="193138"/>
                  </a:lnTo>
                  <a:lnTo>
                    <a:pt x="29441" y="171596"/>
                  </a:lnTo>
                  <a:lnTo>
                    <a:pt x="7899" y="139645"/>
                  </a:lnTo>
                  <a:lnTo>
                    <a:pt x="0" y="100519"/>
                  </a:lnTo>
                  <a:close/>
                </a:path>
              </a:pathLst>
            </a:custGeom>
            <a:ln w="19050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6569" y="4108776"/>
              <a:ext cx="220088" cy="22008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872057" y="3632707"/>
            <a:ext cx="5172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0100" algn="l"/>
                <a:tab pos="1571625" algn="l"/>
                <a:tab pos="2319655" algn="l"/>
                <a:tab pos="4542790" algn="l"/>
              </a:tabLst>
            </a:pPr>
            <a:r>
              <a:rPr sz="2400" spc="-20" dirty="0">
                <a:latin typeface="Calibri"/>
                <a:cs typeface="Calibri"/>
              </a:rPr>
              <a:t>1945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1956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3600" spc="-30" baseline="1157" dirty="0">
                <a:latin typeface="Calibri"/>
                <a:cs typeface="Calibri"/>
              </a:rPr>
              <a:t>1959</a:t>
            </a:r>
            <a:r>
              <a:rPr sz="3600" baseline="1157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1974</a:t>
            </a:r>
            <a:r>
              <a:rPr sz="2400" spc="415" dirty="0">
                <a:latin typeface="Calibri"/>
                <a:cs typeface="Calibri"/>
              </a:rPr>
              <a:t> </a:t>
            </a:r>
            <a:r>
              <a:rPr sz="3600" baseline="1157" dirty="0">
                <a:latin typeface="Calibri"/>
                <a:cs typeface="Calibri"/>
              </a:rPr>
              <a:t>1980</a:t>
            </a:r>
            <a:r>
              <a:rPr sz="3600" spc="509" baseline="1157" dirty="0">
                <a:latin typeface="Calibri"/>
                <a:cs typeface="Calibri"/>
              </a:rPr>
              <a:t> </a:t>
            </a:r>
            <a:r>
              <a:rPr sz="3600" spc="-30" baseline="1157" dirty="0">
                <a:latin typeface="Calibri"/>
                <a:cs typeface="Calibri"/>
              </a:rPr>
              <a:t>1987</a:t>
            </a:r>
            <a:r>
              <a:rPr sz="3600" baseline="1157" dirty="0">
                <a:latin typeface="Calibri"/>
                <a:cs typeface="Calibri"/>
              </a:rPr>
              <a:t>	</a:t>
            </a:r>
            <a:r>
              <a:rPr sz="3600" spc="-30" baseline="1157" dirty="0">
                <a:latin typeface="Calibri"/>
                <a:cs typeface="Calibri"/>
              </a:rPr>
              <a:t>1993</a:t>
            </a:r>
            <a:endParaRPr sz="3600" baseline="1157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24244" y="4668011"/>
            <a:ext cx="9112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machine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89080" y="2024379"/>
            <a:ext cx="1515110" cy="19939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4475" marR="5080" algn="ctr">
              <a:lnSpc>
                <a:spcPct val="100699"/>
              </a:lnSpc>
              <a:spcBef>
                <a:spcPts val="75"/>
              </a:spcBef>
            </a:pP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Gradient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Descent</a:t>
            </a:r>
            <a:endParaRPr sz="2800">
              <a:latin typeface="Calibri"/>
              <a:cs typeface="Calibri"/>
            </a:endParaRPr>
          </a:p>
          <a:p>
            <a:pPr marL="209550" algn="ctr">
              <a:lnSpc>
                <a:spcPct val="100000"/>
              </a:lnSpc>
              <a:spcBef>
                <a:spcPts val="2440"/>
              </a:spcBef>
            </a:pP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1847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spc="-20" dirty="0">
                <a:latin typeface="Calibri"/>
                <a:cs typeface="Calibri"/>
              </a:rPr>
              <a:t>1815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92837" y="4323588"/>
            <a:ext cx="6521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baseline="-16666" dirty="0">
                <a:latin typeface="Calibri"/>
                <a:cs typeface="Calibri"/>
              </a:rPr>
              <a:t>1</a:t>
            </a:r>
            <a:r>
              <a:rPr sz="1300" dirty="0">
                <a:latin typeface="Calibri"/>
                <a:cs typeface="Calibri"/>
              </a:rPr>
              <a:t>rst</a:t>
            </a:r>
            <a:r>
              <a:rPr sz="1300" spc="140" dirty="0">
                <a:latin typeface="Calibri"/>
                <a:cs typeface="Calibri"/>
              </a:rPr>
              <a:t> </a:t>
            </a:r>
            <a:r>
              <a:rPr sz="3000" spc="-37" baseline="-16666" dirty="0">
                <a:latin typeface="Calibri"/>
                <a:cs typeface="Calibri"/>
              </a:rPr>
              <a:t>AI</a:t>
            </a:r>
            <a:endParaRPr sz="3000" baseline="-16666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64687" y="4424172"/>
            <a:ext cx="7899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6921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2</a:t>
            </a:r>
            <a:r>
              <a:rPr sz="1950" baseline="25641" dirty="0">
                <a:latin typeface="Calibri"/>
                <a:cs typeface="Calibri"/>
              </a:rPr>
              <a:t>nd</a:t>
            </a:r>
            <a:r>
              <a:rPr sz="1950" spc="254" baseline="25641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AI </a:t>
            </a:r>
            <a:r>
              <a:rPr sz="2000" spc="-20" dirty="0">
                <a:latin typeface="Calibri"/>
                <a:cs typeface="Calibri"/>
              </a:rPr>
              <a:t>Winter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76760" y="4363211"/>
            <a:ext cx="53079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baseline="6944" dirty="0">
                <a:latin typeface="Calibri"/>
                <a:cs typeface="Calibri"/>
              </a:rPr>
              <a:t>Linear</a:t>
            </a:r>
            <a:r>
              <a:rPr sz="3000" spc="-112" baseline="6944" dirty="0">
                <a:latin typeface="Calibri"/>
                <a:cs typeface="Calibri"/>
              </a:rPr>
              <a:t> </a:t>
            </a:r>
            <a:r>
              <a:rPr sz="3000" baseline="6944" dirty="0">
                <a:latin typeface="Calibri"/>
                <a:cs typeface="Calibri"/>
              </a:rPr>
              <a:t>&amp;</a:t>
            </a:r>
            <a:r>
              <a:rPr sz="3000" spc="457" baseline="69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programmable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3000" spc="-15" baseline="-2777" dirty="0">
                <a:latin typeface="Calibri"/>
                <a:cs typeface="Calibri"/>
              </a:rPr>
              <a:t>Turing</a:t>
            </a:r>
            <a:r>
              <a:rPr sz="3000" spc="-120" baseline="-2777" dirty="0">
                <a:latin typeface="Calibri"/>
                <a:cs typeface="Calibri"/>
              </a:rPr>
              <a:t> </a:t>
            </a:r>
            <a:r>
              <a:rPr sz="3000" baseline="-2777" dirty="0">
                <a:latin typeface="Calibri"/>
                <a:cs typeface="Calibri"/>
              </a:rPr>
              <a:t>Test</a:t>
            </a:r>
            <a:r>
              <a:rPr sz="3000" spc="450" baseline="-2777" dirty="0">
                <a:latin typeface="Calibri"/>
                <a:cs typeface="Calibri"/>
              </a:rPr>
              <a:t> </a:t>
            </a:r>
            <a:r>
              <a:rPr sz="3000" spc="-15" baseline="-1388" dirty="0">
                <a:latin typeface="Calibri"/>
                <a:cs typeface="Calibri"/>
              </a:rPr>
              <a:t>Machine</a:t>
            </a:r>
            <a:endParaRPr sz="3000" baseline="-1388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19585" y="4634484"/>
            <a:ext cx="11747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polynomial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99341" y="4939284"/>
            <a:ext cx="10953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regression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701746" y="4094605"/>
            <a:ext cx="6356350" cy="236854"/>
            <a:chOff x="3701746" y="4094605"/>
            <a:chExt cx="6356350" cy="236854"/>
          </a:xfrm>
        </p:grpSpPr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1746" y="4102451"/>
              <a:ext cx="373775" cy="22047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62153" y="4094605"/>
              <a:ext cx="220088" cy="2200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9847070" y="4120830"/>
              <a:ext cx="201295" cy="201295"/>
            </a:xfrm>
            <a:custGeom>
              <a:avLst/>
              <a:gdLst/>
              <a:ahLst/>
              <a:cxnLst/>
              <a:rect l="l" t="t" r="r" b="b"/>
              <a:pathLst>
                <a:path w="201295" h="201295">
                  <a:moveTo>
                    <a:pt x="100519" y="0"/>
                  </a:moveTo>
                  <a:lnTo>
                    <a:pt x="61392" y="7899"/>
                  </a:lnTo>
                  <a:lnTo>
                    <a:pt x="29441" y="29441"/>
                  </a:lnTo>
                  <a:lnTo>
                    <a:pt x="7899" y="61392"/>
                  </a:lnTo>
                  <a:lnTo>
                    <a:pt x="0" y="100519"/>
                  </a:lnTo>
                  <a:lnTo>
                    <a:pt x="7899" y="139645"/>
                  </a:lnTo>
                  <a:lnTo>
                    <a:pt x="29441" y="171597"/>
                  </a:lnTo>
                  <a:lnTo>
                    <a:pt x="61392" y="193139"/>
                  </a:lnTo>
                  <a:lnTo>
                    <a:pt x="100519" y="201038"/>
                  </a:lnTo>
                  <a:lnTo>
                    <a:pt x="139645" y="193139"/>
                  </a:lnTo>
                  <a:lnTo>
                    <a:pt x="171596" y="171597"/>
                  </a:lnTo>
                  <a:lnTo>
                    <a:pt x="193137" y="139645"/>
                  </a:lnTo>
                  <a:lnTo>
                    <a:pt x="201037" y="100519"/>
                  </a:lnTo>
                  <a:lnTo>
                    <a:pt x="193137" y="61392"/>
                  </a:lnTo>
                  <a:lnTo>
                    <a:pt x="171596" y="29441"/>
                  </a:lnTo>
                  <a:lnTo>
                    <a:pt x="139645" y="7899"/>
                  </a:lnTo>
                  <a:lnTo>
                    <a:pt x="100519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847070" y="4120830"/>
              <a:ext cx="201295" cy="201295"/>
            </a:xfrm>
            <a:custGeom>
              <a:avLst/>
              <a:gdLst/>
              <a:ahLst/>
              <a:cxnLst/>
              <a:rect l="l" t="t" r="r" b="b"/>
              <a:pathLst>
                <a:path w="201295" h="201295">
                  <a:moveTo>
                    <a:pt x="0" y="100519"/>
                  </a:moveTo>
                  <a:lnTo>
                    <a:pt x="7899" y="61392"/>
                  </a:lnTo>
                  <a:lnTo>
                    <a:pt x="29441" y="29441"/>
                  </a:lnTo>
                  <a:lnTo>
                    <a:pt x="61392" y="7899"/>
                  </a:lnTo>
                  <a:lnTo>
                    <a:pt x="100519" y="0"/>
                  </a:lnTo>
                  <a:lnTo>
                    <a:pt x="139645" y="7899"/>
                  </a:lnTo>
                  <a:lnTo>
                    <a:pt x="171596" y="29441"/>
                  </a:lnTo>
                  <a:lnTo>
                    <a:pt x="193138" y="61392"/>
                  </a:lnTo>
                  <a:lnTo>
                    <a:pt x="201038" y="100519"/>
                  </a:lnTo>
                  <a:lnTo>
                    <a:pt x="193138" y="139645"/>
                  </a:lnTo>
                  <a:lnTo>
                    <a:pt x="171596" y="171596"/>
                  </a:lnTo>
                  <a:lnTo>
                    <a:pt x="139645" y="193138"/>
                  </a:lnTo>
                  <a:lnTo>
                    <a:pt x="100519" y="201038"/>
                  </a:lnTo>
                  <a:lnTo>
                    <a:pt x="61392" y="193138"/>
                  </a:lnTo>
                  <a:lnTo>
                    <a:pt x="29441" y="171596"/>
                  </a:lnTo>
                  <a:lnTo>
                    <a:pt x="7899" y="139645"/>
                  </a:lnTo>
                  <a:lnTo>
                    <a:pt x="0" y="100519"/>
                  </a:lnTo>
                  <a:close/>
                </a:path>
              </a:pathLst>
            </a:custGeom>
            <a:ln w="19050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743848" y="4600955"/>
            <a:ext cx="2656840" cy="110490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  <a:tabLst>
                <a:tab pos="908050" algn="l"/>
              </a:tabLst>
            </a:pP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AI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3000" baseline="1388" dirty="0">
                <a:latin typeface="Calibri"/>
                <a:cs typeface="Calibri"/>
              </a:rPr>
              <a:t>Learning</a:t>
            </a:r>
            <a:r>
              <a:rPr sz="3000" spc="644" baseline="1388" dirty="0">
                <a:latin typeface="Calibri"/>
                <a:cs typeface="Calibri"/>
              </a:rPr>
              <a:t> </a:t>
            </a:r>
            <a:r>
              <a:rPr sz="3000" spc="-15" baseline="-4166" dirty="0">
                <a:latin typeface="Calibri"/>
                <a:cs typeface="Calibri"/>
              </a:rPr>
              <a:t>Winter</a:t>
            </a:r>
            <a:endParaRPr sz="3000" baseline="-4166">
              <a:latin typeface="Calibri"/>
              <a:cs typeface="Calibri"/>
            </a:endParaRPr>
          </a:p>
          <a:p>
            <a:pPr marL="1327150" marR="201930" indent="271780">
              <a:lnSpc>
                <a:spcPct val="100000"/>
              </a:lnSpc>
              <a:spcBef>
                <a:spcPts val="650"/>
              </a:spcBef>
            </a:pPr>
            <a:r>
              <a:rPr sz="2000" spc="-10" dirty="0">
                <a:latin typeface="Calibri"/>
                <a:cs typeface="Calibri"/>
              </a:rPr>
              <a:t>Ridge Regression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407789" y="4309661"/>
            <a:ext cx="1534160" cy="750570"/>
            <a:chOff x="8407789" y="4309661"/>
            <a:chExt cx="1534160" cy="750570"/>
          </a:xfrm>
        </p:grpSpPr>
        <p:sp>
          <p:nvSpPr>
            <p:cNvPr id="39" name="object 39"/>
            <p:cNvSpPr/>
            <p:nvPr/>
          </p:nvSpPr>
          <p:spPr>
            <a:xfrm>
              <a:off x="8410964" y="4312836"/>
              <a:ext cx="219710" cy="738505"/>
            </a:xfrm>
            <a:custGeom>
              <a:avLst/>
              <a:gdLst/>
              <a:ahLst/>
              <a:cxnLst/>
              <a:rect l="l" t="t" r="r" b="b"/>
              <a:pathLst>
                <a:path w="219709" h="738504">
                  <a:moveTo>
                    <a:pt x="0" y="0"/>
                  </a:moveTo>
                  <a:lnTo>
                    <a:pt x="219342" y="73832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937263" y="4319338"/>
              <a:ext cx="1270" cy="737870"/>
            </a:xfrm>
            <a:custGeom>
              <a:avLst/>
              <a:gdLst/>
              <a:ahLst/>
              <a:cxnLst/>
              <a:rect l="l" t="t" r="r" b="b"/>
              <a:pathLst>
                <a:path w="1270" h="737870">
                  <a:moveTo>
                    <a:pt x="1176" y="0"/>
                  </a:moveTo>
                  <a:lnTo>
                    <a:pt x="0" y="73761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9643574" y="5076444"/>
            <a:ext cx="5886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Lasso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365700" y="5381244"/>
            <a:ext cx="11442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Regression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52486" y="4102451"/>
            <a:ext cx="220088" cy="220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902F7-7BC4-BAD0-AA2E-0D5F926B0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4F72038-156A-5757-7025-18CE3007F1DD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7A19A63-61DD-738A-2047-B5B9C226E0A4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6486DBC-D640-99B0-2499-B8FCF9B88EE4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7F6AD07-BC26-7B6C-389C-542A7E3A1F56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F221453-0B36-2F95-B446-DB80DADAE8EE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EB629F2E-DA31-129B-0A72-B9EDCD059C2E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87D85F5-53B6-1264-1D59-C5FDE8F8AC22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44073938-EE31-5B90-541C-0758D62C2294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928D7C34-3805-C0D1-BC0E-67BDD94359A8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10F86513-63D3-A61E-CD03-E8D92794D104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DCAD6406-6684-7146-42C8-7D6CD475DEC1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B2E358D-4FAA-E579-19F1-98252B9AC0E6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A8EFDD6B-5B0D-CB09-897F-3C2D0717CB33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361FF911-219F-5450-F4F3-7DE8C5C7A0DD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39A7770-5E5E-D4D5-21A3-FFA0DE21E3EE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AE0D5FF8-B7E9-B52F-004B-D4D9CC9BEEF8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7821910-EAD4-2B99-C7CF-DBDC5C03B134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B809EAE1-AA87-A262-DC66-47934CBAB7AF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CC4392B8-E91C-F571-E00C-4534E237764D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72E36260-AD16-E071-58AB-13CED9E7D4D0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BD219FDB-1301-E26A-82B1-BD30C0ADA9BC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D881DC3F-B620-9598-6402-67213492BA35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6D400D82-7DE3-094C-2250-B28241FF7834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FCFA7B64-7671-406B-A3AA-DD56DA8775B9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1502BEE8-7D12-5D32-FD79-DCF710F8D0E5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E98420C3-1DEC-6906-B4A3-D996F8C4992B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BFD06CDE-02FC-438E-4554-81B006A8E2E2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2C1FB4D9-3120-A7BB-B982-22967A17FC73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AA815EF3-85CA-AF4B-A2AC-34EA40B1A5E1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44472F0A-F45D-C422-4E2B-67503FC38C45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523267F1-4CDA-562E-7549-49E2C8ACF5A7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98B0D854-2F7E-7852-D6D4-7E86DEEF2DBF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3EA8E31D-180D-D02C-6F6C-D22721034342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A8EF24E2-A779-877F-ADB8-61FE99DFDDA6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493F0055-49FC-2810-9C39-ADAAABA46050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3ACB73BE-0D6C-4353-B311-6C6074113ADA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8975EDFF-C0D0-4B0C-2659-69E07F554C59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BC9D9097-30C5-2865-EBAE-F440D0C2FE89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B265A22C-52C3-359B-17FF-5020614EDAE2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FB5158B8-7C8D-FD7B-B5F0-309A74241DD5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A79F71BB-5C0F-D282-20B0-F1459A7CF8AE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A12E0918-8811-8613-0B11-F5A33F4C0630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5F398F20-B848-5A20-87D2-DFF535DC5675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C4BF0DA7-6894-6244-6903-48723CBAFB03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A712646F-615C-3F17-DFDD-DAC484CA4CF2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6ED2B311-3952-7C2E-C81C-5D4102F35BBE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28477F76-94C5-C13A-E275-8C088DDF744C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E73892D9-AA24-274A-1789-97DA58B4E4D3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79065C1A-7D36-D3F7-958F-3ADEE2535A77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5B703AA4-4CEA-8A88-2D38-E33CF0D8961C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5EC05E0B-4339-C69D-E8C1-0849ADF90F8D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824923E6-89A4-78B9-DE36-B977C654CCF1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43744165-C91D-C45B-8540-1F04BF1CAE47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92DE2B3D-DA00-D93E-C0D1-60D34631F068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0549215A-03F1-C86A-81A6-74E94F093766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B6663D36-64BA-8345-E693-44F3EFE809FB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1507C04D-1C67-7024-826F-EBD1AE1116F3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BABE2A1C-045F-210C-1AC4-53993DB9512C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1951CF81-F4BF-8900-70E5-DAB11BB0E9B5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449B8D5-976C-BADE-FB44-404A28B0D12D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066B572D-81CA-AD98-B6B8-279184A2D21D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A56F9380-B0C6-A80F-1FDF-7DDBAE8DB2A4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796906C3-C09D-6941-E15F-A5D705373442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D703A431-B658-9D67-2128-C0087355F807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ACB35B8A-F669-470D-DE88-B542FCDC2CB2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ACED130C-C5F9-189E-7945-8B95B0007E6C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D28645C6-0FA8-F109-61C7-4D5793253842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75923AA2-B4B9-3D58-21AA-383723CDA58E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D0A28B08-7A17-A41D-5FF8-1EE5DDAD8F3D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5C7655E9-35A3-4E02-F05B-19AB0D0AA1FD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D647C542-BA90-3AF5-EABC-CFD00AABC04F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9E82E58F-216B-0F59-10A6-B39B61ECF805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257852E4-5F62-E9A7-34F7-419E925DF1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85" y="1394593"/>
            <a:ext cx="9340835" cy="47534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3D0ACE-16B8-A257-6537-E97EFA367EB1}"/>
              </a:ext>
            </a:extLst>
          </p:cNvPr>
          <p:cNvSpPr txBox="1"/>
          <p:nvPr/>
        </p:nvSpPr>
        <p:spPr>
          <a:xfrm>
            <a:off x="304558" y="524419"/>
            <a:ext cx="6113540" cy="677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4" dirty="0"/>
              <a:t>Mathematical calculation</a:t>
            </a:r>
          </a:p>
        </p:txBody>
      </p:sp>
    </p:spTree>
    <p:extLst>
      <p:ext uri="{BB962C8B-B14F-4D97-AF65-F5344CB8AC3E}">
        <p14:creationId xmlns:p14="http://schemas.microsoft.com/office/powerpoint/2010/main" val="2745569083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F9C22-82B0-AEB2-01A7-787CBB62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C2D2035-F833-466B-FC7C-2B52C7161978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0638EDD-BCD9-F4AF-29FF-96F8F6F2B813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3490C5F-1C93-8F0E-322E-5F4B85AD1DB7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DBDACED-4DFB-F7C0-AA89-07F3EF81E3FF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7E17033-2E6C-E2A4-804E-F8147D3828E5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3691E2A-F756-FABB-9BB6-28190F3FF94F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EF26BBA-591E-AC66-645B-830D07D0E1A1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87AEA88-49BE-F06B-E1D9-71748A83CA70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7A3C866-53F7-EC19-43CF-43C194F06712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45C6F1ED-9A88-5413-3FB4-6A03D1F880EB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F3BF063-5A44-E213-476B-249AA62D1D94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5E729FB-A915-BFC6-C886-FAAA31F60840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7B613DBE-D6E9-B4FC-7C66-8AF488EEDA53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D4020656-6616-B813-D2E2-BA93D7ED98C1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3C0E99E0-3EA8-6536-4497-376C28E88B06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77A17846-6E60-5ED1-EF02-11FF7D3EC83C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EE37A707-E3C5-12D7-4F6E-A8CC15A0FFB3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D48AF67C-767C-3834-8E96-4DBB064C883B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D7F0A495-ECE5-D7F1-070D-757FC5D733FA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90CCC6A3-F1AA-40C8-CA96-9B14F4F62A29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D99184A7-A0B7-BABA-77F6-28D83A5A7164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2BAD4B16-7F2E-FAD6-2264-575CE1BD076A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D340914C-C3AA-3A14-DC19-66E6F78E2E35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35721A08-5606-873C-1EA2-ABDBE055F98A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7301EA77-243F-2CF7-496D-18DC12FD05C4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522EDFB8-D8D9-CB94-ADB2-CEFB60869CA7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E09632F0-32FA-CB51-54F8-38DB58799566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1A6A66B6-8E3E-5CF0-5E82-752A775116EF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BFA33759-6A96-93D3-7F0D-C5E5B9C4299E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C049D725-4A41-3BE6-CDAF-C3636E6BAEC8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5101D0D-38C8-EAFE-16F4-C39BDD64C50A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78941CC9-3520-A3F8-4AB7-00A01B32732B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897ADF66-2E6D-D5D3-333D-D632BE01DCC7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532CE89B-E5AE-4167-200E-ECBE61914AAE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B92754D1-2B4F-8A2C-5AEA-AF552A1EF8BF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F5901CC6-8C12-6A71-1D91-7B4C0BE66953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B111EC5B-3A4D-5A29-CC78-45D6366A394B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3DFFD1B1-BE52-833B-7E2F-867F3741C6EB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A19BECD1-D2CF-DFAC-D8A3-1AF507946A1A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B8F32238-849E-385A-B3E7-2F3A4C85C7AF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E64F7842-D11E-264A-F577-088DD344DB7A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4C947664-300F-510F-FAEE-FD3069091B0E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7A07CB33-FAE5-0F29-07A5-BE00646E057F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B822FC54-B913-2A35-417A-C20ECFF6A2CF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60274781-A4D1-B4CA-F763-EC9277A906A5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630D1FE6-A466-E596-756C-4141DF7042C0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B9EE80F0-BA8F-47A5-5E9A-7FC164496F1A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F934A9D2-090E-01F8-0EDB-740A5B59BFB1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CA8AF474-F635-4A9F-DB91-4E3203653A11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A066A312-6C4F-2B86-1A61-AFB0855FF910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DF0E7A76-CFB8-8610-816E-3007D134E055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31800EC2-EB6B-0898-F462-52CA6760B18C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08339186-F73F-14A5-6DF1-6E25BAE3AD43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767FF60D-F8F9-166D-D62F-24B22BE2CFB2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6B5E3F92-AFCB-60FA-08CD-7218DF7E7855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0476D087-8787-6B05-8864-4E8822FD0219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DB86DD9D-5766-F5AF-DB9E-35D99D42A77C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367F00EC-3329-21BA-A59C-410369B5A465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CA5B087E-0A5C-98B6-149A-CD26B7C9B8EF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3D1A2BB-44FA-6010-9381-21B8E0955710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07FDD84A-D11D-E166-826D-0169B722E203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4F720806-5566-2F3E-538C-64EBB9D2F755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3E6960F2-56A4-FD31-E740-D3C795A931AB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FDA89394-2857-40C3-582C-9EB0798C89F6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BD23CD9D-F45F-0697-62AE-D1FD70CE44B6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BAD4F675-F72E-6119-CD1C-75B3001E8719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3B02ADF4-35BA-32E9-0329-C4BB6113D516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50742147-FFF1-E032-2EED-E452A9B6F389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189961BB-3938-9EA9-A3CF-7A396FA493C6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BEA9B3F3-02F2-0B0E-CA7C-DFB9535E414C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21165492-4E96-AB9E-1C67-B6D0B449E964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04B7FF13-6CE9-4F13-4537-9C691D5BA772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FCC5E650-4EDF-6B3E-90D8-CD8A07E87F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11" y="1630621"/>
            <a:ext cx="10078978" cy="359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8659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18208-074E-85BA-2AF5-6F7F8A78A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94BEF62-2F1F-62D4-D636-B717CD75136C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9B68DEC-2EA4-A3C5-61DE-AD3D89BCD419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7590420-195C-6A1F-636A-55167E108506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A81A7A4-4D3B-EA48-DCD1-C2CC8B2EA72B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4A8539C-A42B-D206-6D2F-02F0A7723A67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8846DF6-048E-3271-421F-9AB031232C61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7932FC4-B88F-B7B0-4A40-CB6390E11CA4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722949B-4FAE-0605-B1CA-0D4D3FAE508F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BD9B69F-E811-0647-C3B7-234AFA0AEB7A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9EF6D9BA-177F-5822-A30D-48779E54429A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C167AB53-AA8B-E410-DAA1-1F786305D35F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2E9D3A06-B9F1-65B3-7C00-7EB89533F239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C670DD8A-89BC-14AD-2BC7-1C1EEDA66712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99A64303-C64C-6741-95A1-A0CFE8CD9659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C3732826-1F63-EB4F-0452-DEEA338C86F2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C8119159-FA0E-2546-3BA3-0CAD797A64AE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C76575AD-A8C4-CB42-6632-57C81BB1566D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0A6DA9A-7DD4-1ADB-6E5C-BE088D21C4EF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9F2A7681-FE08-5835-435A-828D252ECA92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E2959912-D994-72D3-CF53-0A87DB643A37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A2F0511C-4CDC-0953-0790-FD8580E0CC14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B50F6F97-2174-FFA5-5A56-78E785BA417D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86A3038E-487D-1BCB-9142-51C5A9968967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B9719AEF-61CF-E08D-B0DB-3AA66ED63E4C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1901754D-64BD-CDA3-5F50-60C2B265C55B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BED5872B-C984-C8FC-7F3B-5065CC952664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CDCF0527-BC81-933B-05D1-83E47418CD62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3F59D387-C16B-1406-58E9-23CEAF6E05A7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D265E306-912F-5DE7-9E19-0C7CF4869B1A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8506635F-20B8-F4A8-CDF3-C3AD99B0F219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5305AFE3-C680-B8EC-76D4-92376A4A4FFD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60728D25-3D5B-BA12-2581-903065E385EF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405F5276-40C5-B000-E8A9-755309E6045B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F138DCD3-D95D-B4C2-73ED-D38601D8C48C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441801BF-FB90-7865-4C97-EB6239B06371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D48279D4-D8CF-EF9A-6DD8-480B2C08AFE0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C6500195-4828-10FF-BEBC-4679D6E902D3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27C2FE53-8FB7-1921-708A-4E85290F5B98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328794A7-958A-2E57-6696-9865B401801E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B98C52FA-5A35-1EFB-FB37-2510B0D8B435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ADFEEEF7-7213-1985-3631-DF9374847884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9469C1B9-7926-E818-E318-FD6C9ECF07C9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B4121FB5-4C51-1146-61F9-BFE150FAA20D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54EBB97D-5136-9C7B-D1F5-385AE81F5D04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07816204-8359-A911-3B47-D9A12DD9E3CD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4FB6CF6B-12DF-4B49-4B97-0C4B2264560D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CB1144A1-F104-7BB9-4CBE-AD40E494CBDA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DA53867C-1BC9-E9F2-E5BF-E0B99FE4C227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2CD3A6A8-4B34-71A2-847B-B066E6FF731B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D93C9DAB-CFC6-B771-18D6-4B9801050BAC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F7F3136C-2714-B4D9-F350-35B952F323D8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D9D91A57-463D-344D-5B13-FCA92D1A2DB9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E84133E5-92CB-5674-5EAE-DF26C5C877BD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CF399123-5556-9DBF-4B40-601FC82B1D1F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7D3211DB-0202-D168-F83B-960C20DA2E7A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2BAB721E-F3C4-EA21-4DED-20DFE7AAB305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51D9ABD0-C966-D07B-51B3-DB3AE285BE13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2086ABAA-A350-A8AF-B3EB-31D48EB8FC08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F82EC9B7-024B-AABC-DBFA-B6CBFCB277B9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497960F-34DF-EEBC-E3A1-7C5391BFE234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341FB389-033B-C417-DF20-388318962643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784D7D49-655D-7F56-7A75-F099CEF6A047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5C95ECBA-01C6-76D8-87B6-FAE344847DED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8781B32F-4014-4961-C639-C86B412BB74E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BF47993C-2DBA-63B2-39F5-AF483B604F86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022500A6-DB88-2269-5B18-311EFB7408C3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0234A4A8-7BC7-50D3-1979-ABF53B2AFF88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F9A5FC6F-A624-F52C-BC3F-B8C355172BB5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6850D7A1-A9AC-A687-6288-40F863474230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9E3769FF-F0D2-93A0-6103-BBD0C102AF84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F0988C77-F673-FA91-7DC5-5AED4C8F5ECD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821F276F-9BF9-9D87-5831-5496E4FE9E85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FE3B8C35-68BB-2BB9-FEB1-04487F0191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642" y="733098"/>
            <a:ext cx="7044358" cy="543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21842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B0782-B886-98AF-B001-0DC9F249C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754CBC74-D549-1027-6745-822BF8829DC3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F0ED0F3-9A9C-A9B7-0C09-91DC701D27E7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72F8321-E656-32B6-B989-8F6098D81EB6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9D09805-24FD-8AA8-1406-245FAC50A072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1F6B1A1-EC5B-A984-CF97-96EDF31603E5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2B5FAD2-FCBA-3317-3995-05253BC8384E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D34A458-F7CF-F889-81CC-52E44807D3CF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B586900-CE8C-0238-C846-6A864C3B742E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42F31A4-DF37-B1FF-93B3-F5222CA635CA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28FC8903-98B8-0AA2-750B-FCDD0945A8EF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653A37B-E836-0654-8B76-C09DA780EC2B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D93F588-E4CC-E152-936C-7A6779768646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ABFE472-66CE-06EF-B593-00611EF0417C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1C3789BC-F9B4-C122-085F-81EB05797B86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4B5BF7C-DEB4-32B3-51E5-0E95368D5B2A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CCA09FED-EF99-3027-05B9-116307FD7DF4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1DF7AB27-ABEC-4C57-434B-0B46296EF116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ACA45E92-47B9-1CA5-DDDF-3E283FA92905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E656AF94-C329-AB0F-310C-D041D14C7ECE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786900CD-2F4E-5EE1-864E-8E47B4375C34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3B4F1AD1-33B4-83CD-FBC8-DBFB6874D161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FAD1105E-713E-1563-6C79-0C0474C8F48D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07D1C14B-C1E7-3150-81C8-E85BDED74030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4DA9861C-0588-3B9D-1585-425CB6F8398B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71417CB1-E61D-7C71-F437-CB23FC916520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D10D9391-FC4A-8D90-F8E5-5D341B5EA1BC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10F97A11-78F0-9FD4-9019-059E8A1BBD8C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3D2F5A9E-8EF4-86C3-8189-44CF9472A206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CE332288-CF8A-A20F-29D5-C30929C871FE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7F8794E1-3BCE-FA75-1D23-C185E42095DB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EAB066BB-5D0F-9C15-F460-58038D064189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F9ECF2C7-25CA-99B9-0FF3-20A0EE1E8E07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4589BA8A-E6ED-CB43-224E-AA6D43D78B1D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ADD09162-05E2-BD2E-C6A8-A14B1CCECFB1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F3F93C17-E88C-AE1C-85D2-FB68F74D0B6C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6DBEBF03-CD3F-F0D2-78FD-755FCF89FB5D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373EDB5A-C91E-3983-14FE-CAB47B17A0D7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282D4F8B-83EC-1E40-58F9-AE8FFBFA70BE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A348B94F-B73F-736E-AF6F-EDF4E90F77D4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E09BD92E-6BFE-1184-3FBC-5CBE7AC89923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05EE0243-6552-55E6-67BE-4C4A5EC7F19F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01414951-E562-7BB9-2176-1826A50D327B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A6E990CD-792F-368A-6CE4-2D27C89EBC28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17BA2B8F-1E20-C776-9192-5A52BAC77488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C46F2FB3-5664-5F1F-E4F3-A5F14F234AC7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25CB70E0-B2AD-D699-A094-9B5C902F24F2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76CB0051-1EE6-802C-2095-096F1CF37249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174C304C-083C-2BB0-6CDD-76D392B1E2CF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CD481237-6543-7B14-C6F3-CD6A397F5CF7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AD200E49-75B1-E2E6-4531-B7D93A88614A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C419A2E3-6FD6-D92B-D574-78D65C3E4653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9CF7357E-7700-4628-A218-85C9D51AD6CB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7593F510-0084-4FDF-6733-BD7B5C2E339E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0068DDC5-CEE5-8DFC-0354-DDF0ACB788E6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472770A9-0996-A291-2E94-1B792479B7FD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C0F193C8-8F3D-19F6-A74B-A5ADC8719879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61015C5C-867A-D8D2-768D-529685EFF980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A6137C46-0646-CDF9-0E4A-8A26C7F7C502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958DF868-A442-C557-CA45-738FD70B97B5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16A1AF46-3AE5-7335-F0D0-3B3259B6DD1E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45C1BC69-E584-63D7-6229-17E431D48D0C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DE2E6A60-3E39-8DE7-29A2-17407BBA4317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4D4D373C-EA2F-CA8D-E3D8-55AD109FCAB6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2B83B06E-6C11-7928-D949-CA3B33AA58B5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A9F65B27-53C7-5122-134F-D09E24AE4614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69094201-4838-76E7-C3DB-6B8ADA7525FE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4347682E-B635-1536-5E17-813528BFE23E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4804B3BC-2988-31ED-74C6-0A7E730887F0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8295C7A9-7A6C-4B4E-BA9E-2CC5A07E50C3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EDE8E30C-35D4-D950-CEB9-C8782F691EC0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37FBFF2B-9930-D87E-F5F5-C488F5AD6B99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4841830B-04A2-A580-443F-9BC537D02B2E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DDCBB385-632D-A380-16B2-BBA10B72CD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14" y="1852063"/>
            <a:ext cx="10333973" cy="315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51171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AAC47-D399-88E3-7F2D-03C2AF99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244780B-BC6E-DB3E-BEB1-8E3539FEB15C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05D60DF-0B1B-FF7B-9576-673708262460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960CA12-FA25-FF34-ADB4-BF047B194A65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771104D-5182-376E-0A6A-21FDC1F72420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5198CE25-DBAD-9A1E-BF69-7922CBC33EE2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46CD582-7650-A0AC-B95F-3853B57CE368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912D8FDB-D696-8E8E-E369-D6C47845076B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F57AF35-6312-CB8B-07A8-49DE27CAA55C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E49EB2A-0237-0796-3A61-EE2AC77E4EEE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95A0C5A6-32E7-BE37-759B-61A18B3FEDDB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A7B9F199-B976-BC87-16D1-35ABCB39B2F8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1A762EE-B4B9-DE07-C1C7-9A00A0EF81F6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488D78E-AC8B-13DE-8DD2-6168D97C12BA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59FD2F63-AF7D-2FC2-E415-4987A0B560B7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0B76D8F-9E82-65D5-BB8E-1FB1DF8DA878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DC7D0BE9-FAF9-C5AB-96C4-777A8ABD1164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8457FA90-18FC-30F6-92FD-12D04D94CA02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812A08A7-A0C0-0A1A-3351-625D222FDF7D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080728F6-59AF-0F59-4132-6C6D3A627B80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FD54E814-3478-FD98-872F-A224F030C7CC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A612A6FE-EEB6-105C-FDF3-FC111ADB972C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E0A73BCD-BD56-2BBE-8C1A-95A4B21BABF8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141DF282-5D82-9E36-8A17-B4A054AAEF77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5E257F6A-24B1-43A2-01B2-775D9B280A45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D3D59615-D46B-DB33-BA77-2D53F5596D3E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8857D01C-3511-B655-B4CF-EAF7206CF8F2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1DAB3F58-B78B-49EF-99BF-88384860BFD5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C4D06011-260D-E566-0D13-8C065651DF1A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C946B8F7-B291-C01B-22A0-EE6D22922093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5F972FB5-5B88-265E-C5BA-50ED36A7034B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9B2CEE5C-6277-C466-71C6-588BBFDA5AC9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F1F03D52-2A1B-8F14-57EA-8D651D04516E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F05B12A4-5142-B1B0-6DD1-998B34E68C2B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796AE3E5-02C4-D1C5-4E9F-F0FC5467B71D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19A1E574-EC4E-AE3E-EFA6-7BEF911A5260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B396ECCC-E48F-E24B-07F5-129D419FE621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7A7535D4-A63C-C6BC-920B-A7E0FB6D5952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6A5971B3-56DE-3740-F837-CE0EFFFA5A2F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0FD3A611-9A8A-AA36-518D-1F57CC9AE5DC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3D590959-3D3F-1C06-A5A6-E448C34802FF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EE629DFD-27C0-E668-0D4C-427D6C4FE046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33DC27C3-1C6E-55EA-3CF6-239F1E1728CA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686EE5B1-F1FD-4290-6D5A-E9AB9E51482C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7A697733-5356-9F7E-255B-169307B1F742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402460C5-881D-4724-1FF6-54517F1525DD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C6DD4C1C-44E2-A22A-52FA-36FFD212C198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54E5DB97-6F23-FB5E-155A-1FF3DD338DE7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27B1883A-03C2-0C4A-A887-6A0BE7EE41FD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8890A65E-7B7B-3A8C-AF90-9FBC6000A586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28B1139E-CECB-4386-238F-0E407B4AA0EA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99FA652C-EBAF-47D4-B4AC-EEED936E4ECF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3A5B6859-0E88-759C-BBCA-7E158499FA8D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68487622-7F85-CF31-C2D4-0ABD8319AF5A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FD23CA21-940D-A433-34FF-3B4EC101458C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5A629EB2-7618-E2A9-6DCA-78FB5432CAAF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BCDD78A3-E3DE-76F2-12F6-8A20288317DA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934C6468-E4F5-64EF-7A60-AA0A23B438AB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9B9F448A-74AE-2ABF-A9D2-3AFAEA753E40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6E0017E8-9D49-679C-08CB-0EBAE2738CDC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B2113166-8E59-C5A9-ADCE-28CFD0995B8B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2CF62718-5E56-C13E-172D-D76A341640DA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469F52DE-C979-1CEC-6CF7-0D9A9870457F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80140370-1853-DA76-1942-0C0F26ED8280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A4317D4E-08F8-85D3-AE99-5D4AE2B7A5E0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083C5E65-686A-5434-B912-59F908D1D7D8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626E970A-F948-219B-361C-B702281658F7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165CB3C3-C4AB-5CF9-4177-91E8669E3ED7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2EBC516A-F1C4-EC9D-DC39-899F143B1E09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8C34434D-7D5B-42C3-A042-A48C2BE238D6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726FCFEC-93D0-FEA8-B6CC-D8D611D9EA1E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0C3FA4AB-67BE-DADA-1D08-C10261D0E991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CD616955-B4FE-B643-B399-E975673557F3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DBC8737B-9F3E-EDF3-4211-073CF8FA37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0" y="416043"/>
            <a:ext cx="10105820" cy="602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36526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B1A4D-0604-9F7A-C079-6C85D44E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1A14856-B618-1988-A9CA-5A13CDB3D009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2C07159-5F74-87BE-C319-A836D7EC5F1B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44EBE2E-7429-2B9E-D3E0-AD0C279DF5CE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8FB68F8-C9D7-E170-2351-D55408457D4C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62E4C3A-E07C-658E-6848-1F8C7E3B6EAD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5146260-ACBD-12A0-E19B-1808920F57B4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23F1535-C594-C041-0A17-366D3844B7DB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27DC5FF-4E2A-A1ED-0D40-0B5D71C8F697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FB147F7-379A-1E0A-796F-D0F6EF196916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9E4075B-85A7-1CE8-6932-E0DFC05F48A6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BDF8A7CE-0256-B2C6-FAF6-00F04FE6020D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7FAEC57-DC0C-ACEB-0357-011DC761BA7E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1708CF7-93B3-6995-3F61-31FCEBE4756B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47371B02-B80D-E5A4-BBEB-190DD1633C90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97F19DF9-3C2A-26E6-A767-D4C720BFA4C6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0BD9E96D-29F2-114D-1A32-29948756F944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F5CCE9E-897A-EE4B-7F6B-34B25134A0FF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D72A31E-6CFB-466B-B2A1-AB3F53E83CF2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B2B15A42-F511-0CCD-DBC3-A359FB2949C7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87A93D4D-3F80-69EF-31B2-C1B89F653A9C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92FB0DF0-1828-817B-30B4-4AC26FE6750A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5BDE5F81-0A78-1968-09A2-FCEFDA01CEFE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77EACBF4-30A3-F4A8-6972-C72F57F3ECAF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744F1472-C73B-35F4-1A22-5F2A23B28CDD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9D5B61BE-FDC3-E861-DC76-179C8D466CF9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E0A08264-AB05-798C-68C2-4A8D1C429C4A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1CAC6245-9546-BD1D-EC72-CCA90A3AA25B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4B019701-B66D-7BFF-9C1A-DC391401610D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885E0BD4-9496-4725-2F0E-486BA5077D61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EAB74EDB-71F3-A3DD-2F31-4135B01BC39B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34CE140-11DA-E3F2-80BB-A919B16FCA29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FD23555E-A178-BE0C-1C45-F3FB93914C46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CA0CC973-1A75-3F8A-3D60-E7E692905A3D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6279748B-C4C0-F139-E8FC-FF7107499A9F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62AFD968-3C01-736B-C001-5D75BEA898ED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C651728C-CEAD-9CFD-B2EF-F9F88F913E84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A6416675-C1D8-0781-12E4-FB6DBE955D7B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2A1F8FA6-1198-A966-C847-3C5A67A1742B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BC9C2969-7284-9C3A-233D-4C41A1C446D9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61C4F51A-DB43-14B8-FAD0-A999975FFA8E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7768351B-B16F-44C1-2809-948870943F49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D2C005B5-B770-5273-86F3-BED89FCEA0BF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B6E7170E-A985-C125-1391-C68AF2069300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F99F6CF6-9482-4244-0162-16CAAC4CFBD6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6039B500-15B0-E6EC-94CF-7E2E19BCFD9B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1B21C834-33AB-EEC5-D58F-F04FD60B400F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33EB38C0-0C74-CFB7-BB8B-C8FA35FC7194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0B96A564-DC34-9980-A644-7A99FED14962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6F7A9BD0-3D12-C290-8A7C-9E1BDA699443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CA6B0E8A-AEF5-DF73-B7F1-3F589A2DE21A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D28ED936-7927-4C4D-2065-D375E934AD14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55A5458D-2A54-13CF-579C-071FFF5697FB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DCCC235C-77BB-097E-E66D-3507CB592B36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8E27973C-B893-F5E5-2E9F-A0E92EC76450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5E58115D-768C-3C04-A4F0-9D2B40B5B98A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7D5E7C8E-4EA2-E482-8B14-1CE324B449DD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033222A8-386E-ECC1-411C-8304D8718C96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800C1A3A-9D6A-15B3-5F38-F3E4337AFF7A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E8180390-08EF-7795-475B-9C1C7DD8095B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6206D017-7FB5-B877-E1C8-F44E21CCF510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53BD91EA-A12D-4AFD-EEE3-182135D3A036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8087BEFF-62A1-FA78-6B8F-46E81CD570AE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68FBE2C2-80E7-82AD-83E0-DA9A0182A225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F5CB7F27-8B1D-5E45-67DE-C6F03FFEA088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B00A2718-1E46-1D64-2CC5-B8E2AC1A5629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E91A997F-B702-8994-D208-3043F81AD7D7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8B547930-2C07-FFAD-54E2-64C8F8C12643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8AEFF3E8-7EAB-B07C-8DE5-59BF9FE8B9A9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5C2EFB22-33CE-CF5A-CEC1-4DB7C7F7D2DF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98044BAB-A21A-E508-A212-B1E81152B529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8E9663ED-2F61-DC77-B006-A347A8830436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9160747A-5211-DF80-15CF-A13A2CB10850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1E9AEBA5-AF9B-AD42-8F5F-610842BE35B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spcBef>
                <a:spcPts val="160"/>
              </a:spcBef>
            </a:pPr>
            <a:fld id="{81D60167-4931-47E6-BA6A-407CBD079E47}" type="slidenum">
              <a:rPr lang="en-US" spc="125" smtClean="0"/>
              <a:pPr marL="59055">
                <a:spcBef>
                  <a:spcPts val="160"/>
                </a:spcBef>
              </a:pPr>
              <a:t>8</a:t>
            </a:fld>
            <a:r>
              <a:rPr lang="en-US" spc="114"/>
              <a:t> </a:t>
            </a:r>
            <a:r>
              <a:rPr lang="en-US" spc="95"/>
              <a:t>/</a:t>
            </a:r>
            <a:r>
              <a:rPr lang="en-US" spc="120"/>
              <a:t> </a:t>
            </a:r>
            <a:r>
              <a:rPr lang="en-US" spc="20"/>
              <a:t>65</a:t>
            </a:r>
            <a:endParaRPr spc="63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AFBF82FB-C686-90A1-647B-6413C81F5D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83" y="764050"/>
            <a:ext cx="8750807" cy="540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92538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EB33B-E46F-8C86-3BEF-6B89B3817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7C9C7CB-AE62-0988-F3A7-D734C52FC0F8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2090051-239E-5A13-75C8-501373CDD14B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F8DB5ED-1BB0-26CA-0792-CC31B2F74581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F39B54E-D1EC-626E-492D-9710641DA74B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70CE10D-A13D-3717-5CE6-8942B0CEDCA7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C295E8A-64C2-D65B-AB1F-CA543D5C7FC3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26A81C9-FCB7-D2B0-D7FA-EEE406577A58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39BF73D1-3148-A742-7A8A-9DF2242765DF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76F9E956-2E66-72FF-FE66-97CA93FBA8AC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CBD5C07-C7EE-5A47-9E2F-DF011B5AFDB3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55C6346-FF1E-B897-7BAB-253EFB665672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DB99677-DDDE-1B6D-8C6A-2FB448B11D33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55ADE49B-ADC1-0873-2CC7-6A1B1293209C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EB6C28DA-50ED-FDDA-BE8C-4FEEFFE9942A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B290037-1FA4-6C4A-DBBE-D0C25BAEF28C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513DBDEE-6972-1A96-6E87-64C633330FB2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0737DB95-2681-2BDC-0497-FD02B0129999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6F7C0B7B-93F8-2BC3-1864-B8BA344881FD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B5AD5738-6624-5F2E-8132-953BBB954CA9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0AA42903-CA64-94F3-ECF6-CF9D1F676E30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D7C81201-BA34-1CB4-FFC9-EE772585FBD9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07576E44-49EC-C975-6ECA-C89D74049A69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83716E48-3E2A-6F60-C9F5-D5EDD9A88785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B959A317-0E0A-7861-B60E-8FFAE9A768ED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4F24FB1F-1ACB-6677-37D5-18406257F887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48DE1AF9-0134-D5B5-95CD-6AAE5607B564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261B2FB0-3C1E-A783-C56E-73EFBCA54147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F36ED3B9-D639-2D79-927B-0712F6ED97EC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E1853013-1259-81CC-D70D-760FF84FB6B1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9A30C40F-557B-36F2-1086-1130FDD5C2C6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4326F984-265D-FD90-4A75-DC6342AFF8EA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37CF414A-DB02-F488-4735-B20FFB4735DD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9E750627-60D2-5A7B-2CC9-45296AF48B7F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20C05DBF-1B77-BD50-8B83-F475E194D0C0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7B836C44-717D-7F17-1A0E-3E0BF876B40C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FC8D60D7-6954-8004-A076-A3A0B1CBA018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B5AEC6A0-2650-767E-BB48-F0B68D3E524B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FE731458-CE4E-F0D3-4246-CE00B9326EB7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A2674548-9483-2F18-0E2C-60D9398AF590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B2086377-B13B-73C4-6D06-9ABD9BCC4805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FFD7D0D1-AD7B-997E-431C-97988D0385F7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B3EEA6E0-F084-A1E8-588D-5F390FA39AC9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2250D4F6-0012-7E94-3590-3D60986173D7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F8E7C9D3-1C8A-BEC5-4120-0DCE186F32CF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54A23FF7-3D73-5B08-FA49-4737385C6BC8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CCFCAF8C-7CA7-660D-F649-34A639746F55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333E8E19-C416-DF09-7C9C-F016AA7B06EF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477ACC94-7806-0669-4886-5F7B87EC7F70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09D70190-BEFF-FAAF-3CF6-B71B79592D8E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7348623C-4121-6156-2C80-DAB8B854CE1E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C4FB622D-3BEB-F89F-A090-8EC460CDCCB6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CE1DA743-CC75-1C87-D2B6-FBE6BC221AA9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C56E6D16-F9FA-5789-CD13-FA6555A42565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2C916C91-AE78-47FD-3194-864667AC09A4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557141B4-37D3-C34C-29B1-8B4FDE9BE835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573BF755-BB79-7E9B-1126-CFD9622D0742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0B0CF59A-16C3-84F5-EF97-AC221F0E18B4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B2D8B381-7D6A-DFEA-D60A-27F8E6EB4DD1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493594C3-EADF-A3A1-50C1-C42074AD07BD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BC08AC5A-8F5B-E20D-D430-F72E75B49F9E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2C7A58F2-3C6C-84D9-A2E3-34DDC125AADD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DA75712B-EB1E-A335-C352-230793365382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4AC99765-24D6-DA82-7EC3-4FEA5060E925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F4EDCA87-234C-89CE-35DB-A1A8BB0AC8F0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C92BDD92-F339-1DA8-A4B8-4FF7FF74B836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F75D9AA3-02D5-7BA8-996B-8644F07D0C23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AB4DDE6D-1C53-3CC1-AD02-94A35CEBEAD9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96679AD3-FEC3-EAFB-6BCD-173F0A4D8C3D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A8A216A4-40C8-7EB2-0845-BD3DE9A4C2C5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C677B4C3-F47A-E67C-2F59-082BC8B5952E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61736EEF-EA83-3817-CD9F-B787CA6E3390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BBFF519D-5B3B-39AA-30EB-B51F31A602CD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22775094-2330-35D3-08BE-4BA14CEEBC9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spcBef>
                <a:spcPts val="160"/>
              </a:spcBef>
            </a:pPr>
            <a:fld id="{81D60167-4931-47E6-BA6A-407CBD079E47}" type="slidenum">
              <a:rPr lang="en-US" spc="125" smtClean="0"/>
              <a:pPr marL="59055">
                <a:spcBef>
                  <a:spcPts val="160"/>
                </a:spcBef>
              </a:pPr>
              <a:t>9</a:t>
            </a:fld>
            <a:r>
              <a:rPr lang="en-US" spc="114"/>
              <a:t> </a:t>
            </a:r>
            <a:r>
              <a:rPr lang="en-US" spc="95"/>
              <a:t>/</a:t>
            </a:r>
            <a:r>
              <a:rPr lang="en-US" spc="120"/>
              <a:t> </a:t>
            </a:r>
            <a:r>
              <a:rPr lang="en-US" spc="20"/>
              <a:t>65</a:t>
            </a:r>
            <a:endParaRPr spc="63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8B3B31-1A31-2877-B23D-9F074417B080}"/>
              </a:ext>
            </a:extLst>
          </p:cNvPr>
          <p:cNvSpPr txBox="1"/>
          <p:nvPr/>
        </p:nvSpPr>
        <p:spPr>
          <a:xfrm>
            <a:off x="781385" y="739483"/>
            <a:ext cx="4670419" cy="677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41">
              <a:spcBef>
                <a:spcPts val="211"/>
              </a:spcBef>
            </a:pPr>
            <a:r>
              <a:rPr lang="en-US" sz="3804" b="1">
                <a:latin typeface="Arial"/>
                <a:cs typeface="Arial"/>
              </a:rPr>
              <a:t>Gardient</a:t>
            </a:r>
            <a:r>
              <a:rPr lang="en-US" sz="3804" b="1" spc="-106">
                <a:latin typeface="Arial"/>
                <a:cs typeface="Arial"/>
              </a:rPr>
              <a:t> </a:t>
            </a:r>
            <a:r>
              <a:rPr lang="en-US" sz="3804" b="1">
                <a:latin typeface="Arial"/>
                <a:cs typeface="Arial"/>
              </a:rPr>
              <a:t>Descent</a:t>
            </a:r>
            <a:endParaRPr lang="en-US" sz="3804" dirty="0">
              <a:latin typeface="Arial"/>
              <a:cs typeface="Arial"/>
            </a:endParaRPr>
          </a:p>
        </p:txBody>
      </p:sp>
      <p:sp>
        <p:nvSpPr>
          <p:cNvPr id="71" name="object 73">
            <a:extLst>
              <a:ext uri="{FF2B5EF4-FFF2-40B4-BE49-F238E27FC236}">
                <a16:creationId xmlns:a16="http://schemas.microsoft.com/office/drawing/2014/main" id="{91CFFFC8-B159-95A5-DABF-15CD761C59AB}"/>
              </a:ext>
            </a:extLst>
          </p:cNvPr>
          <p:cNvSpPr txBox="1"/>
          <p:nvPr/>
        </p:nvSpPr>
        <p:spPr>
          <a:xfrm>
            <a:off x="1009510" y="1791907"/>
            <a:ext cx="10158751" cy="3655844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442884" marR="64419" indent="-362360" algn="just">
              <a:spcBef>
                <a:spcPts val="201"/>
              </a:spcBef>
              <a:buFont typeface="Arial" panose="020B0604020202020204" pitchFamily="34" charset="0"/>
              <a:buChar char="•"/>
            </a:pPr>
            <a:r>
              <a:rPr lang="en-US" sz="2114" dirty="0">
                <a:latin typeface="Arial MT"/>
                <a:cs typeface="Arial MT"/>
              </a:rPr>
              <a:t>Gradient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Descent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is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an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solidFill>
                  <a:srgbClr val="FF0000"/>
                </a:solidFill>
                <a:latin typeface="Arial MT"/>
                <a:cs typeface="Arial MT"/>
              </a:rPr>
              <a:t>optimization</a:t>
            </a:r>
            <a:r>
              <a:rPr lang="en-US" sz="2114" spc="-2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114" dirty="0">
                <a:solidFill>
                  <a:srgbClr val="FF0000"/>
                </a:solidFill>
                <a:latin typeface="Arial MT"/>
                <a:cs typeface="Arial MT"/>
              </a:rPr>
              <a:t>algorithm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used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for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solidFill>
                  <a:srgbClr val="FF0000"/>
                </a:solidFill>
                <a:latin typeface="Arial MT"/>
                <a:cs typeface="Arial MT"/>
              </a:rPr>
              <a:t>minimizing</a:t>
            </a:r>
            <a:r>
              <a:rPr lang="en-US" sz="2114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114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lang="en-US" sz="2114" spc="-2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114" dirty="0">
                <a:solidFill>
                  <a:srgbClr val="FF0000"/>
                </a:solidFill>
                <a:latin typeface="Arial MT"/>
                <a:cs typeface="Arial MT"/>
              </a:rPr>
              <a:t>cost</a:t>
            </a:r>
            <a:r>
              <a:rPr lang="en-US" sz="2114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114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in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various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machine </a:t>
            </a:r>
            <a:r>
              <a:rPr lang="en-US" sz="2114" spc="-592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learning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algorithms.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It is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basically used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for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solidFill>
                  <a:srgbClr val="FF0000"/>
                </a:solidFill>
                <a:latin typeface="Arial MT"/>
                <a:cs typeface="Arial MT"/>
              </a:rPr>
              <a:t>updating the</a:t>
            </a:r>
            <a:r>
              <a:rPr lang="en-US" sz="2114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114" dirty="0">
                <a:solidFill>
                  <a:srgbClr val="FF0000"/>
                </a:solidFill>
                <a:latin typeface="Arial MT"/>
                <a:cs typeface="Arial MT"/>
              </a:rPr>
              <a:t>parameters of</a:t>
            </a:r>
            <a:r>
              <a:rPr lang="en-US" sz="2114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114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lang="en-US" sz="2114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114" dirty="0">
                <a:solidFill>
                  <a:srgbClr val="FF0000"/>
                </a:solidFill>
                <a:latin typeface="Arial MT"/>
                <a:cs typeface="Arial MT"/>
              </a:rPr>
              <a:t>learning model</a:t>
            </a:r>
            <a:r>
              <a:rPr lang="en-US" sz="2114" dirty="0">
                <a:latin typeface="Arial MT"/>
                <a:cs typeface="Arial MT"/>
              </a:rPr>
              <a:t>.</a:t>
            </a:r>
          </a:p>
          <a:p>
            <a:pPr marL="442884" marR="64419" indent="-362360" algn="just">
              <a:spcBef>
                <a:spcPts val="201"/>
              </a:spcBef>
              <a:buFont typeface="Arial" panose="020B0604020202020204" pitchFamily="34" charset="0"/>
              <a:buChar char="•"/>
            </a:pPr>
            <a:r>
              <a:rPr lang="en-US" sz="2114" dirty="0">
                <a:latin typeface="Arial MT"/>
                <a:cs typeface="Arial MT"/>
              </a:rPr>
              <a:t>Lets </a:t>
            </a:r>
            <a:r>
              <a:rPr lang="en-US" sz="2114" dirty="0" err="1">
                <a:latin typeface="Arial MT"/>
                <a:cs typeface="Arial MT"/>
              </a:rPr>
              <a:t>i</a:t>
            </a:r>
            <a:r>
              <a:rPr lang="en-US" sz="2114" dirty="0">
                <a:latin typeface="Arial MT"/>
                <a:cs typeface="Arial MT"/>
              </a:rPr>
              <a:t> give you a example : Suppose you are lost in the mountains in a dense fog; you can only feel the </a:t>
            </a:r>
            <a:r>
              <a:rPr lang="en-US" sz="2114" spc="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slope of the ground below your feet. A good strategy to get to the bottom of the valley quickly is to go </a:t>
            </a:r>
            <a:r>
              <a:rPr lang="en-US" sz="2114" spc="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downhill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in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the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direction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of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the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steepest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slope.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This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is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exactly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what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Gradient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Descent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does: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it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measures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the </a:t>
            </a:r>
            <a:r>
              <a:rPr lang="en-US" sz="2114" spc="-592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local gradient of the error function with regards to the parameter vector </a:t>
            </a:r>
            <a:r>
              <a:rPr lang="en-US" sz="2114" spc="-497" dirty="0">
                <a:latin typeface="Arial MT"/>
                <a:cs typeface="Arial MT"/>
              </a:rPr>
              <a:t>θ</a:t>
            </a:r>
            <a:r>
              <a:rPr lang="en-US" sz="2114" dirty="0">
                <a:latin typeface="Arial MT"/>
                <a:cs typeface="Arial MT"/>
              </a:rPr>
              <a:t>  and it goes in the direction of  descending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gradient. Once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the gradient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is zero, you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have reached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a minimum!</a:t>
            </a:r>
          </a:p>
          <a:p>
            <a:pPr marL="442884" marR="64419" indent="-362360" algn="just">
              <a:spcBef>
                <a:spcPts val="201"/>
              </a:spcBef>
              <a:buFont typeface="Arial" panose="020B0604020202020204" pitchFamily="34" charset="0"/>
              <a:buChar char="•"/>
            </a:pPr>
            <a:endParaRPr sz="2114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315872037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84" y="274321"/>
            <a:ext cx="10967432" cy="585438"/>
          </a:xfrm>
        </p:spPr>
        <p:txBody>
          <a:bodyPr>
            <a:normAutofit fontScale="90000"/>
          </a:bodyPr>
          <a:lstStyle/>
          <a:p>
            <a:r>
              <a:rPr lang="en-US" dirty="0"/>
              <a:t>Hill-Descent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828802"/>
            <a:ext cx="7543800" cy="274405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362199" y="1676401"/>
            <a:ext cx="0" cy="281940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362201" y="4495799"/>
            <a:ext cx="807720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1256847" y="2971026"/>
                <a:ext cx="127772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56847" y="2971026"/>
                <a:ext cx="1277722" cy="67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2131232" y="5410201"/>
            <a:ext cx="8079569" cy="1200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599" dirty="0"/>
              <a:t>“Climbing down from Everest in thick fog with amnesia"</a:t>
            </a:r>
          </a:p>
        </p:txBody>
      </p:sp>
    </p:spTree>
    <p:extLst>
      <p:ext uri="{BB962C8B-B14F-4D97-AF65-F5344CB8AC3E}">
        <p14:creationId xmlns:p14="http://schemas.microsoft.com/office/powerpoint/2010/main" val="3785812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84" y="274321"/>
            <a:ext cx="10967432" cy="585438"/>
          </a:xfrm>
        </p:spPr>
        <p:txBody>
          <a:bodyPr>
            <a:normAutofit fontScale="90000"/>
          </a:bodyPr>
          <a:lstStyle/>
          <a:p>
            <a:r>
              <a:rPr lang="en-US" dirty="0"/>
              <a:t>Hill-Descent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828802"/>
            <a:ext cx="7543800" cy="274405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362199" y="1676401"/>
            <a:ext cx="0" cy="281940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362201" y="4495799"/>
            <a:ext cx="807720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914212" y="2811455"/>
                <a:ext cx="1712726" cy="6777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14212" y="2811455"/>
                <a:ext cx="1712726" cy="67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2131232" y="5352871"/>
            <a:ext cx="8079569" cy="1200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599" dirty="0"/>
              <a:t>Question 1: What we need to take a step downwards ?</a:t>
            </a:r>
          </a:p>
        </p:txBody>
      </p:sp>
    </p:spTree>
    <p:extLst>
      <p:ext uri="{BB962C8B-B14F-4D97-AF65-F5344CB8AC3E}">
        <p14:creationId xmlns:p14="http://schemas.microsoft.com/office/powerpoint/2010/main" val="1883874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84" y="274321"/>
            <a:ext cx="10967432" cy="585438"/>
          </a:xfrm>
        </p:spPr>
        <p:txBody>
          <a:bodyPr>
            <a:normAutofit fontScale="90000"/>
          </a:bodyPr>
          <a:lstStyle/>
          <a:p>
            <a:r>
              <a:rPr lang="en-US" dirty="0"/>
              <a:t>Hill-Descent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714073"/>
            <a:ext cx="7543800" cy="274405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362199" y="1676401"/>
            <a:ext cx="0" cy="281940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362201" y="4495799"/>
            <a:ext cx="807720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1300927" y="2922016"/>
                <a:ext cx="127772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300927" y="2922016"/>
                <a:ext cx="1277722" cy="67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2131232" y="5178362"/>
            <a:ext cx="8785221" cy="1200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599" dirty="0"/>
              <a:t>Question 1: What we need to take a step downwards ?: Direction and step size</a:t>
            </a:r>
          </a:p>
        </p:txBody>
      </p:sp>
    </p:spTree>
    <p:extLst>
      <p:ext uri="{BB962C8B-B14F-4D97-AF65-F5344CB8AC3E}">
        <p14:creationId xmlns:p14="http://schemas.microsoft.com/office/powerpoint/2010/main" val="681966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Hill-Descent to Gradient-Descent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828802"/>
            <a:ext cx="7543800" cy="274405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362199" y="1676401"/>
            <a:ext cx="0" cy="281940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362201" y="4495799"/>
            <a:ext cx="807720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1309791" y="2861953"/>
                <a:ext cx="127772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309791" y="2861953"/>
                <a:ext cx="1277722" cy="67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264537" y="5225524"/>
                <a:ext cx="9823974" cy="1509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599" dirty="0"/>
                  <a:t>Question 2: How do we find direction of decreasing </a:t>
                </a:r>
                <a14:m>
                  <m:oMath xmlns:m="http://schemas.openxmlformats.org/officeDocument/2006/math">
                    <m:r>
                      <a:rPr lang="en-US" sz="3599" i="1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sz="3382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3382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US" sz="3599" dirty="0"/>
                  <a:t>?: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599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sz="3599" i="1">
                            <a:latin typeface="Cambria Math"/>
                          </a:rPr>
                          <m:t>𝐿</m:t>
                        </m:r>
                        <m:d>
                          <m:dPr>
                            <m:ctrlPr>
                              <a:rPr lang="en-US" sz="338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3382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  <m:r>
                          <a:rPr lang="en-US" sz="3599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𝜕</m:t>
                        </m:r>
                        <m:d>
                          <m:dPr>
                            <m:ctrlPr>
                              <a:rPr lang="en-US" sz="338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3382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den>
                    </m:f>
                  </m:oMath>
                </a14:m>
                <a:endParaRPr lang="en-US" sz="3599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537" y="5225524"/>
                <a:ext cx="9823974" cy="1509837"/>
              </a:xfrm>
              <a:prstGeom prst="rect">
                <a:avLst/>
              </a:prstGeom>
              <a:blipFill>
                <a:blip r:embed="rId5"/>
                <a:stretch>
                  <a:fillRect l="-1861" t="-6048"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0829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Hill-Descent to Gradient-Descent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828802"/>
            <a:ext cx="7543800" cy="274405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362199" y="1676401"/>
            <a:ext cx="0" cy="281940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362201" y="4495799"/>
            <a:ext cx="807720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1249194" y="2878755"/>
                <a:ext cx="127772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49194" y="2878755"/>
                <a:ext cx="1277722" cy="67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356542" y="4659868"/>
                <a:ext cx="766364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𝑊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542" y="4659868"/>
                <a:ext cx="766364" cy="677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497764" y="5034204"/>
                <a:ext cx="8946255" cy="15804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599" dirty="0"/>
                  <a:t>Knowing direction is not enough, we take a step towards the direction: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599" i="1">
                        <a:latin typeface="Cambria Math"/>
                        <a:ea typeface="Cambria Math"/>
                      </a:rPr>
                      <m:t>α</m:t>
                    </m:r>
                    <m:f>
                      <m:fPr>
                        <m:ctrlPr>
                          <a:rPr lang="en-US" sz="3599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sz="3599" i="1">
                            <a:latin typeface="Cambria Math"/>
                          </a:rPr>
                          <m:t>𝐿</m:t>
                        </m:r>
                        <m:d>
                          <m:dPr>
                            <m:ctrlPr>
                              <a:rPr lang="en-US" sz="359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3382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sz="3382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</m:d>
                        <m:r>
                          <a:rPr lang="en-US" sz="3599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𝜕</m:t>
                        </m:r>
                        <m:d>
                          <m:dPr>
                            <m:ctrlPr>
                              <a:rPr lang="en-US" sz="338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3382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den>
                    </m:f>
                  </m:oMath>
                </a14:m>
                <a:endParaRPr lang="en-US" sz="3599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764" y="5034204"/>
                <a:ext cx="8946255" cy="1580433"/>
              </a:xfrm>
              <a:prstGeom prst="rect">
                <a:avLst/>
              </a:prstGeom>
              <a:blipFill>
                <a:blip r:embed="rId5"/>
                <a:stretch>
                  <a:fillRect l="-2113" t="-6178" b="-4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383381" y="3505201"/>
                <a:ext cx="838819" cy="5409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400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1400" i="1">
                              <a:latin typeface="Cambria Math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  <m:r>
                            <a:rPr lang="en-US" sz="14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381" y="3505201"/>
                <a:ext cx="838819" cy="5409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4366211" y="2667169"/>
            <a:ext cx="281990" cy="38083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rot="5400000">
            <a:off x="3890541" y="2888536"/>
            <a:ext cx="665715" cy="567613"/>
          </a:xfrm>
          <a:prstGeom prst="curvedConnector3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350327" y="2604581"/>
            <a:ext cx="466095" cy="392289"/>
          </a:xfrm>
          <a:custGeom>
            <a:avLst/>
            <a:gdLst>
              <a:gd name="connsiteX0" fmla="*/ 0 w 466096"/>
              <a:gd name="connsiteY0" fmla="*/ 41639 h 392289"/>
              <a:gd name="connsiteX1" fmla="*/ 457200 w 466096"/>
              <a:gd name="connsiteY1" fmla="*/ 27785 h 392289"/>
              <a:gd name="connsiteX2" fmla="*/ 304800 w 466096"/>
              <a:gd name="connsiteY2" fmla="*/ 360294 h 392289"/>
              <a:gd name="connsiteX3" fmla="*/ 332509 w 466096"/>
              <a:gd name="connsiteY3" fmla="*/ 360294 h 392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096" h="392289">
                <a:moveTo>
                  <a:pt x="0" y="41639"/>
                </a:moveTo>
                <a:cubicBezTo>
                  <a:pt x="203200" y="8157"/>
                  <a:pt x="406400" y="-25324"/>
                  <a:pt x="457200" y="27785"/>
                </a:cubicBezTo>
                <a:cubicBezTo>
                  <a:pt x="508000" y="80894"/>
                  <a:pt x="325582" y="304876"/>
                  <a:pt x="304800" y="360294"/>
                </a:cubicBezTo>
                <a:cubicBezTo>
                  <a:pt x="284018" y="415712"/>
                  <a:pt x="308263" y="388003"/>
                  <a:pt x="332509" y="360294"/>
                </a:cubicBezTo>
              </a:path>
            </a:pathLst>
          </a:cu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20" name="Curved Connector 19"/>
          <p:cNvCxnSpPr/>
          <p:nvPr/>
        </p:nvCxnSpPr>
        <p:spPr>
          <a:xfrm flipV="1">
            <a:off x="4812006" y="2133601"/>
            <a:ext cx="826796" cy="477282"/>
          </a:xfrm>
          <a:prstGeom prst="curvedConnector3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562601" y="1916668"/>
                <a:ext cx="564578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804" i="1">
                          <a:latin typeface="Cambria Math"/>
                          <a:ea typeface="Cambria Math"/>
                        </a:rPr>
                        <m:t>α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1" y="1916668"/>
                <a:ext cx="564578" cy="6777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144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Hill-Descent to Gradient-Descent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828802"/>
            <a:ext cx="7543800" cy="274405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362199" y="1676401"/>
            <a:ext cx="0" cy="281940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362201" y="4495799"/>
            <a:ext cx="807720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1167558" y="2861951"/>
                <a:ext cx="127772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67558" y="2861951"/>
                <a:ext cx="1277722" cy="67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586630" y="5008960"/>
                <a:ext cx="9107317" cy="15804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599" dirty="0"/>
                  <a:t>Knowing direction is not enough, we take a step towards the direction: </a:t>
                </a:r>
                <a14:m>
                  <m:oMath xmlns:m="http://schemas.openxmlformats.org/officeDocument/2006/math">
                    <m:r>
                      <a:rPr lang="en-US" sz="3599">
                        <a:latin typeface="Cambria Math"/>
                        <a:ea typeface="Cambria Math"/>
                      </a:rPr>
                      <m:t>−</m:t>
                    </m:r>
                    <m:r>
                      <m:rPr>
                        <m:sty m:val="p"/>
                      </m:rPr>
                      <a:rPr lang="el-GR" sz="3599" i="1">
                        <a:latin typeface="Cambria Math"/>
                        <a:ea typeface="Cambria Math"/>
                      </a:rPr>
                      <m:t>α</m:t>
                    </m:r>
                    <m:f>
                      <m:fPr>
                        <m:ctrlPr>
                          <a:rPr lang="en-US" sz="3599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sz="3599" i="1">
                            <a:latin typeface="Cambria Math"/>
                          </a:rPr>
                          <m:t>𝐿</m:t>
                        </m:r>
                        <m:d>
                          <m:dPr>
                            <m:ctrlPr>
                              <a:rPr lang="en-US" sz="359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3382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sz="3382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</m:d>
                        <m:r>
                          <a:rPr lang="en-US" sz="3599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𝜕</m:t>
                        </m:r>
                        <m:d>
                          <m:dPr>
                            <m:ctrlPr>
                              <a:rPr lang="en-US" sz="338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3382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den>
                    </m:f>
                  </m:oMath>
                </a14:m>
                <a:endParaRPr lang="en-US" sz="3599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630" y="5008960"/>
                <a:ext cx="9107317" cy="1580433"/>
              </a:xfrm>
              <a:prstGeom prst="rect">
                <a:avLst/>
              </a:prstGeom>
              <a:blipFill>
                <a:blip r:embed="rId5"/>
                <a:stretch>
                  <a:fillRect l="-2008" t="-6178" b="-4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383379" y="3505201"/>
                <a:ext cx="2179218" cy="10250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804" dirty="0">
                    <a:ea typeface="Cambria Math"/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804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3804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3804" i="1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sz="3804" i="1">
                            <a:latin typeface="Cambria Math"/>
                          </a:rPr>
                          <m:t>𝐿</m:t>
                        </m:r>
                        <m:d>
                          <m:dPr>
                            <m:ctrlPr>
                              <a:rPr lang="en-US" sz="3804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3804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  <m:r>
                          <a:rPr lang="en-US" sz="3804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sz="3804" i="1">
                            <a:latin typeface="Cambria Math"/>
                            <a:ea typeface="Cambria Math"/>
                          </a:rPr>
                          <m:t>𝜕</m:t>
                        </m:r>
                        <m:d>
                          <m:dPr>
                            <m:ctrlPr>
                              <a:rPr lang="en-US" sz="3804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3804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den>
                    </m:f>
                  </m:oMath>
                </a14:m>
                <a:endParaRPr lang="en-US" sz="3804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379" y="3505201"/>
                <a:ext cx="2179218" cy="1025024"/>
              </a:xfrm>
              <a:prstGeom prst="rect">
                <a:avLst/>
              </a:prstGeom>
              <a:blipFill>
                <a:blip r:embed="rId6"/>
                <a:stretch>
                  <a:fillRect l="-9244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4366211" y="2667169"/>
            <a:ext cx="281990" cy="38083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rot="5400000">
            <a:off x="3890541" y="2888536"/>
            <a:ext cx="665715" cy="567613"/>
          </a:xfrm>
          <a:prstGeom prst="curvedConnector3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350327" y="2604581"/>
            <a:ext cx="466095" cy="392289"/>
          </a:xfrm>
          <a:custGeom>
            <a:avLst/>
            <a:gdLst>
              <a:gd name="connsiteX0" fmla="*/ 0 w 466096"/>
              <a:gd name="connsiteY0" fmla="*/ 41639 h 392289"/>
              <a:gd name="connsiteX1" fmla="*/ 457200 w 466096"/>
              <a:gd name="connsiteY1" fmla="*/ 27785 h 392289"/>
              <a:gd name="connsiteX2" fmla="*/ 304800 w 466096"/>
              <a:gd name="connsiteY2" fmla="*/ 360294 h 392289"/>
              <a:gd name="connsiteX3" fmla="*/ 332509 w 466096"/>
              <a:gd name="connsiteY3" fmla="*/ 360294 h 392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096" h="392289">
                <a:moveTo>
                  <a:pt x="0" y="41639"/>
                </a:moveTo>
                <a:cubicBezTo>
                  <a:pt x="203200" y="8157"/>
                  <a:pt x="406400" y="-25324"/>
                  <a:pt x="457200" y="27785"/>
                </a:cubicBezTo>
                <a:cubicBezTo>
                  <a:pt x="508000" y="80894"/>
                  <a:pt x="325582" y="304876"/>
                  <a:pt x="304800" y="360294"/>
                </a:cubicBezTo>
                <a:cubicBezTo>
                  <a:pt x="284018" y="415712"/>
                  <a:pt x="308263" y="388003"/>
                  <a:pt x="332509" y="360294"/>
                </a:cubicBezTo>
              </a:path>
            </a:pathLst>
          </a:cu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20" name="Curved Connector 19"/>
          <p:cNvCxnSpPr/>
          <p:nvPr/>
        </p:nvCxnSpPr>
        <p:spPr>
          <a:xfrm flipV="1">
            <a:off x="4812006" y="2133601"/>
            <a:ext cx="826796" cy="477282"/>
          </a:xfrm>
          <a:prstGeom prst="curvedConnector3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562601" y="1916668"/>
                <a:ext cx="564578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804" i="1">
                          <a:latin typeface="Cambria Math"/>
                          <a:ea typeface="Cambria Math"/>
                        </a:rPr>
                        <m:t>α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1" y="1916668"/>
                <a:ext cx="564578" cy="6777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053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DC3CD-4812-8CDD-0E86-8C1242E9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C8A4849-12C2-D300-D97B-D1554139A8AC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BC9FD6D-BD68-B745-BBD0-474CFD32990C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2212341-C405-FBA5-0615-2810EB139023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20BB7C6-3015-572D-3889-E13833145F1A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AF863D5-A8B7-478A-0DC6-102C0DB6A3FD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789441B-5414-4F08-1C94-E570C6B0299B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714C3DE-9C88-2E00-9C92-BB1E8A4F3E19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BFEB17A-7C52-B893-58D3-844E5C23315A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93B7D160-7D43-6693-007F-AA72D5BFE169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7D345F2-ACCF-CDD8-477C-A34443C6AA5F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D79B8F0-86F3-04BD-C057-DCB3D9E059FE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33D54C6-6046-D617-CD90-8D8F90038570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F6660441-0CEA-36BA-4D6D-B535518FF3E1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EFD8E955-35BC-5960-3963-D19C11D86705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D71DC21-83AB-9C6F-38D2-5C90A9B96F3B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8B8C018F-9B50-A799-93F1-7C4C3D60BAD6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27F9DE10-228C-62B9-C127-49FF03B4190A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DA10BBE7-79EF-896B-E666-B0E2F171DFBF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88F881CF-77F0-C153-1B22-0884D347CB64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1534A067-FF20-1EF9-F8E3-09714D6058AF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AFD127A5-1CFC-7B35-8CA4-D14F486BC170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47587033-5F35-09FF-C262-89618BB01189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E7F0DBBF-8888-3D85-DCF0-982D065C0B51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34CA2CF6-F6C5-218E-F16E-B3B0EBCBD215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F78104D2-6A07-3F51-10E3-F5B7372890B0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28FF5FBF-622F-4360-C91F-4E093BF011B1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07081550-4257-FC3F-9A97-D460FEE3443D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BE7B0490-0F8A-50A1-2CC3-374B72C1489D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755A9124-FCD5-6EED-1114-353C6FA743ED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5EFB1E4F-9FED-E738-28F8-C9E3098E6DAF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D678B81E-C372-52ED-07F3-1CFD967EB59D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365FD877-79F5-3E73-0796-BE887C0E23BA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69AE8E72-8AA3-34D5-11C0-922F3B35791A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F0C4A4D6-C56D-DC33-9870-7FC2BEDAB23C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25393DA0-E054-B024-3F61-771C60DDE487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4DCB1622-5DD6-787E-024D-E63E84526D5B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1EE125A5-4C45-4F1C-5FB1-0BD4932241C4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05C09455-4DBC-B814-F18A-BDA8F5A76ABB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B8E54A46-C72E-3184-F92D-52ED5E4841CC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E782BFF0-EDE4-C7D0-EC9E-DEB9447C6AA9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405260B0-3178-B382-016F-6C26B63D1D77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324D9E72-D869-ED1F-3779-C366AD1B3FF5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74AB38A1-357C-18E9-75DF-246EEA822C67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B5C2E10F-D511-2526-78B0-E247072709AC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C7B521C7-466D-2672-A18D-FC097C0782FA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187B7A0B-2CE9-F52E-3359-D76A7EF6B625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6B795322-E894-4CDC-3C14-3C7DBAC1F6F2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080C241F-038D-9FD5-0A98-B7BCC70E3A0F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A568A8DC-F492-904D-29F4-4AF4F8B4837E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5F12272C-238B-22B6-D2D7-15E97A59FD9F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326AF539-7C71-6185-86B6-14967CDAE9DB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03BC97FC-1682-072D-D792-0B018D6B5CB8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F5DE42C8-548F-793F-79F1-97894642AAC2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D689F1EF-AF95-87BA-9EB0-E68C583980B9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0457D825-2D25-8B2D-6F1E-19890D6661E6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EAC8B3BE-AD20-245A-CB7A-CAC831B8DDF7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D5CEB0FE-3A33-6468-B06B-E747EB6B72CE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7DA404FD-2776-A5FE-5459-A2B8F5DC6CFD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131D02B6-F16F-9082-459D-44A5D91C7081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3ED602D-AAA9-4673-2893-5EA13913274D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BFF0D731-1433-5FEE-9A6E-B6612FA16915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7F25636D-DDBA-3CB6-253D-929C958A4876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F8A2F5F2-2EFD-E597-F4A3-33BBB907A24E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A7876ED5-FB3E-2634-F77B-6B6E4F0B33A2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85E87B6B-3057-AC9A-6D4F-F28DBB087DC5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0A8D7D71-7E94-F874-A4DE-FDCDAB379C53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6F18926A-5DC1-E58C-A0EA-405A5B1CB799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4DB6299B-6203-3C37-7643-B7D0470831B4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BF89530F-C417-06A4-C983-6CB2BBA8FE9A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27CF9F33-8F68-BF5E-872C-EDA105DCDC70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1515459B-AE74-AA96-4EC8-F87E83F07DA1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C1568BDA-A7A4-FC6A-8067-9D15E29050B8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754B9EBD-9F0E-E3BF-F99A-5FE1E5B27E9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spcBef>
                <a:spcPts val="160"/>
              </a:spcBef>
            </a:pPr>
            <a:fld id="{81D60167-4931-47E6-BA6A-407CBD079E47}" type="slidenum">
              <a:rPr lang="en-US" spc="125" smtClean="0"/>
              <a:pPr marL="59055">
                <a:spcBef>
                  <a:spcPts val="160"/>
                </a:spcBef>
              </a:pPr>
              <a:t>16</a:t>
            </a:fld>
            <a:r>
              <a:rPr lang="en-US" spc="114"/>
              <a:t> </a:t>
            </a:r>
            <a:r>
              <a:rPr lang="en-US" spc="95"/>
              <a:t>/</a:t>
            </a:r>
            <a:r>
              <a:rPr lang="en-US" spc="120"/>
              <a:t> </a:t>
            </a:r>
            <a:r>
              <a:rPr lang="en-US" spc="20"/>
              <a:t>65</a:t>
            </a:r>
            <a:endParaRPr spc="63" dirty="0"/>
          </a:p>
        </p:txBody>
      </p:sp>
      <p:pic>
        <p:nvPicPr>
          <p:cNvPr id="73" name="Picture 72" descr="A diagram of a cost reduction&#10;&#10;Description automatically generated">
            <a:extLst>
              <a:ext uri="{FF2B5EF4-FFF2-40B4-BE49-F238E27FC236}">
                <a16:creationId xmlns:a16="http://schemas.microsoft.com/office/drawing/2014/main" id="{FE87CA65-C9DD-1D12-A2CF-9F9E00E6A2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68" y="890843"/>
            <a:ext cx="11270280" cy="560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3442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683" y="16191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Gradient-Descent Algorithm: Why It Works ?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258682" y="1854192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2258684" y="3682990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2847502" y="2011109"/>
            <a:ext cx="2550470" cy="1332794"/>
          </a:xfrm>
          <a:custGeom>
            <a:avLst/>
            <a:gdLst>
              <a:gd name="connsiteX0" fmla="*/ 0 w 2550469"/>
              <a:gd name="connsiteY0" fmla="*/ 85540 h 1332795"/>
              <a:gd name="connsiteX1" fmla="*/ 720437 w 2550469"/>
              <a:gd name="connsiteY1" fmla="*/ 1332449 h 1332795"/>
              <a:gd name="connsiteX2" fmla="*/ 2286000 w 2550469"/>
              <a:gd name="connsiteY2" fmla="*/ 210230 h 1332795"/>
              <a:gd name="connsiteX3" fmla="*/ 2535382 w 2550469"/>
              <a:gd name="connsiteY3" fmla="*/ 2412 h 13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0469" h="1332795">
                <a:moveTo>
                  <a:pt x="0" y="85540"/>
                </a:moveTo>
                <a:cubicBezTo>
                  <a:pt x="169718" y="698603"/>
                  <a:pt x="339437" y="1311667"/>
                  <a:pt x="720437" y="1332449"/>
                </a:cubicBezTo>
                <a:cubicBezTo>
                  <a:pt x="1101437" y="1353231"/>
                  <a:pt x="1983509" y="431903"/>
                  <a:pt x="2286000" y="210230"/>
                </a:cubicBezTo>
                <a:cubicBezTo>
                  <a:pt x="2588491" y="-11443"/>
                  <a:pt x="2561936" y="-4516"/>
                  <a:pt x="2535382" y="2412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 rot="16200000">
                <a:off x="1113935" y="2652483"/>
                <a:ext cx="1317155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804" i="1" smtClean="0">
                        <a:latin typeface="Cambria Math"/>
                      </a:rPr>
                      <m:t>𝐿</m:t>
                    </m:r>
                    <m:sSub>
                      <m:sSubPr>
                        <m:ctrlPr>
                          <a:rPr lang="en-US" sz="380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4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3804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3804" i="1" dirty="0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3804" dirty="0"/>
                  <a:t>)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13935" y="2652483"/>
                <a:ext cx="1317155" cy="724942"/>
              </a:xfrm>
              <a:prstGeom prst="rect">
                <a:avLst/>
              </a:prstGeom>
              <a:blipFill>
                <a:blip r:embed="rId2"/>
                <a:stretch>
                  <a:fillRect l="-11765" t="-14352" r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069067" y="3682990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114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067" y="3682990"/>
                <a:ext cx="758797" cy="7249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2293318" y="4304260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293318" y="6133058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2882136" y="4461177"/>
            <a:ext cx="2550470" cy="1332794"/>
          </a:xfrm>
          <a:custGeom>
            <a:avLst/>
            <a:gdLst>
              <a:gd name="connsiteX0" fmla="*/ 0 w 2550469"/>
              <a:gd name="connsiteY0" fmla="*/ 85540 h 1332795"/>
              <a:gd name="connsiteX1" fmla="*/ 720437 w 2550469"/>
              <a:gd name="connsiteY1" fmla="*/ 1332449 h 1332795"/>
              <a:gd name="connsiteX2" fmla="*/ 2286000 w 2550469"/>
              <a:gd name="connsiteY2" fmla="*/ 210230 h 1332795"/>
              <a:gd name="connsiteX3" fmla="*/ 2535382 w 2550469"/>
              <a:gd name="connsiteY3" fmla="*/ 2412 h 13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0469" h="1332795">
                <a:moveTo>
                  <a:pt x="0" y="85540"/>
                </a:moveTo>
                <a:cubicBezTo>
                  <a:pt x="169718" y="698603"/>
                  <a:pt x="339437" y="1311667"/>
                  <a:pt x="720437" y="1332449"/>
                </a:cubicBezTo>
                <a:cubicBezTo>
                  <a:pt x="1101437" y="1353231"/>
                  <a:pt x="1983509" y="431903"/>
                  <a:pt x="2286000" y="210230"/>
                </a:cubicBezTo>
                <a:cubicBezTo>
                  <a:pt x="2588491" y="-11443"/>
                  <a:pt x="2561936" y="-4516"/>
                  <a:pt x="2535382" y="2412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 rot="16200000">
                <a:off x="1214626" y="4987366"/>
                <a:ext cx="1432443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r>
                        <a:rPr lang="en-US" sz="3804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3804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 smtClean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14626" y="4987366"/>
                <a:ext cx="1432443" cy="7249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103700" y="6133058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700" y="6133058"/>
                <a:ext cx="758797" cy="724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5001883" y="2200556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525883" y="2192831"/>
                <a:ext cx="3818096" cy="85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883" y="2192831"/>
                <a:ext cx="3818096" cy="8543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/>
          <p:cNvSpPr/>
          <p:nvPr/>
        </p:nvSpPr>
        <p:spPr>
          <a:xfrm>
            <a:off x="2944483" y="5054591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525883" y="4633616"/>
                <a:ext cx="3818096" cy="85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883" y="4633616"/>
                <a:ext cx="3818096" cy="8543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6973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288" y="68775"/>
            <a:ext cx="10967432" cy="1097280"/>
          </a:xfrm>
        </p:spPr>
        <p:txBody>
          <a:bodyPr>
            <a:normAutofit/>
          </a:bodyPr>
          <a:lstStyle/>
          <a:p>
            <a:r>
              <a:rPr lang="en-US" dirty="0"/>
              <a:t>Gradient-Descent Algorithm: Why It Works ?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209203" y="1851857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2209205" y="3680655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2798022" y="2008774"/>
            <a:ext cx="2550470" cy="1332794"/>
          </a:xfrm>
          <a:custGeom>
            <a:avLst/>
            <a:gdLst>
              <a:gd name="connsiteX0" fmla="*/ 0 w 2550469"/>
              <a:gd name="connsiteY0" fmla="*/ 85540 h 1332795"/>
              <a:gd name="connsiteX1" fmla="*/ 720437 w 2550469"/>
              <a:gd name="connsiteY1" fmla="*/ 1332449 h 1332795"/>
              <a:gd name="connsiteX2" fmla="*/ 2286000 w 2550469"/>
              <a:gd name="connsiteY2" fmla="*/ 210230 h 1332795"/>
              <a:gd name="connsiteX3" fmla="*/ 2535382 w 2550469"/>
              <a:gd name="connsiteY3" fmla="*/ 2412 h 13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0469" h="1332795">
                <a:moveTo>
                  <a:pt x="0" y="85540"/>
                </a:moveTo>
                <a:cubicBezTo>
                  <a:pt x="169718" y="698603"/>
                  <a:pt x="339437" y="1311667"/>
                  <a:pt x="720437" y="1332449"/>
                </a:cubicBezTo>
                <a:cubicBezTo>
                  <a:pt x="1101437" y="1353231"/>
                  <a:pt x="1983509" y="431903"/>
                  <a:pt x="2286000" y="210230"/>
                </a:cubicBezTo>
                <a:cubicBezTo>
                  <a:pt x="2588491" y="-11443"/>
                  <a:pt x="2561936" y="-4516"/>
                  <a:pt x="2535382" y="2412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 rot="16200000">
                <a:off x="1044009" y="2686717"/>
                <a:ext cx="1475852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804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44009" y="2686717"/>
                <a:ext cx="1475852" cy="7249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019588" y="3680655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588" y="3680655"/>
                <a:ext cx="758797" cy="7249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2243839" y="4301924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243839" y="6130723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2832656" y="4458841"/>
            <a:ext cx="2550470" cy="1332794"/>
          </a:xfrm>
          <a:custGeom>
            <a:avLst/>
            <a:gdLst>
              <a:gd name="connsiteX0" fmla="*/ 0 w 2550469"/>
              <a:gd name="connsiteY0" fmla="*/ 85540 h 1332795"/>
              <a:gd name="connsiteX1" fmla="*/ 720437 w 2550469"/>
              <a:gd name="connsiteY1" fmla="*/ 1332449 h 1332795"/>
              <a:gd name="connsiteX2" fmla="*/ 2286000 w 2550469"/>
              <a:gd name="connsiteY2" fmla="*/ 210230 h 1332795"/>
              <a:gd name="connsiteX3" fmla="*/ 2535382 w 2550469"/>
              <a:gd name="connsiteY3" fmla="*/ 2412 h 13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0469" h="1332795">
                <a:moveTo>
                  <a:pt x="0" y="85540"/>
                </a:moveTo>
                <a:cubicBezTo>
                  <a:pt x="169718" y="698603"/>
                  <a:pt x="339437" y="1311667"/>
                  <a:pt x="720437" y="1332449"/>
                </a:cubicBezTo>
                <a:cubicBezTo>
                  <a:pt x="1101437" y="1353231"/>
                  <a:pt x="1983509" y="431903"/>
                  <a:pt x="2286000" y="210230"/>
                </a:cubicBezTo>
                <a:cubicBezTo>
                  <a:pt x="2588491" y="-11443"/>
                  <a:pt x="2561936" y="-4516"/>
                  <a:pt x="2535382" y="2412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 rot="16200000">
                <a:off x="1096430" y="4934751"/>
                <a:ext cx="1432443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r>
                        <a:rPr lang="en-US" sz="3804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96430" y="4934751"/>
                <a:ext cx="1432443" cy="7249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054222" y="6130724"/>
                <a:ext cx="631390" cy="5843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959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959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959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959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222" y="6130724"/>
                <a:ext cx="631390" cy="5843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4952404" y="2198221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sp>
        <p:nvSpPr>
          <p:cNvPr id="21" name="Oval 20"/>
          <p:cNvSpPr/>
          <p:nvPr/>
        </p:nvSpPr>
        <p:spPr>
          <a:xfrm>
            <a:off x="2895004" y="5052255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4723805" y="2004257"/>
            <a:ext cx="566987" cy="670912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4038005" y="3909255"/>
            <a:ext cx="99060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2437804" y="6271456"/>
            <a:ext cx="990601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6476403" y="2190496"/>
                <a:ext cx="3818096" cy="85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403" y="2190496"/>
                <a:ext cx="3818096" cy="8543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476403" y="4631281"/>
                <a:ext cx="3709092" cy="754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𝑤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403" y="4631281"/>
                <a:ext cx="3709092" cy="754822"/>
              </a:xfrm>
              <a:prstGeom prst="rect">
                <a:avLst/>
              </a:prstGeom>
              <a:blipFill>
                <a:blip r:embed="rId7"/>
                <a:stretch>
                  <a:fillRect b="-10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476404" y="2954880"/>
                <a:ext cx="3509487" cy="619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(+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𝑣𝑒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404" y="2954880"/>
                <a:ext cx="3509487" cy="619272"/>
              </a:xfrm>
              <a:prstGeom prst="rect">
                <a:avLst/>
              </a:prstGeom>
              <a:blipFill>
                <a:blip r:embed="rId8"/>
                <a:stretch>
                  <a:fillRect b="-22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476404" y="5280856"/>
                <a:ext cx="3509487" cy="619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(−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𝑣𝑒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404" y="5280856"/>
                <a:ext cx="3509487" cy="619272"/>
              </a:xfrm>
              <a:prstGeom prst="rect">
                <a:avLst/>
              </a:prstGeom>
              <a:blipFill>
                <a:blip r:embed="rId9"/>
                <a:stretch>
                  <a:fillRect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6476406" y="3604457"/>
                <a:ext cx="2442015" cy="619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800" i="1" dirty="0">
                              <a:latin typeface="Cambria Math"/>
                            </a:rPr>
                            <m:t>𝑛𝑒𝑤</m:t>
                          </m:r>
                        </m:sup>
                      </m:sSup>
                      <m:r>
                        <a:rPr lang="en-US" sz="2800" i="1" dirty="0">
                          <a:latin typeface="Cambria Math"/>
                        </a:rPr>
                        <m:t>&lt;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800" i="1" dirty="0">
                              <a:latin typeface="Cambria Math"/>
                            </a:rPr>
                            <m:t>𝑜𝑙𝑑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406" y="3604457"/>
                <a:ext cx="2442015" cy="6192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6476406" y="5772114"/>
                <a:ext cx="2442015" cy="619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800" i="1" dirty="0">
                              <a:latin typeface="Cambria Math"/>
                            </a:rPr>
                            <m:t>𝑛𝑒𝑤</m:t>
                          </m:r>
                        </m:sup>
                      </m:sSup>
                      <m:r>
                        <a:rPr lang="en-US" sz="2800" i="1" dirty="0">
                          <a:latin typeface="Cambria Math"/>
                        </a:rPr>
                        <m:t>&gt;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800" i="1" dirty="0">
                              <a:latin typeface="Cambria Math"/>
                            </a:rPr>
                            <m:t>𝑜𝑙𝑑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406" y="5772114"/>
                <a:ext cx="2442015" cy="6192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>
            <a:off x="2798024" y="4823656"/>
            <a:ext cx="461185" cy="7449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082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Gradient-Descent Algorithm: Why It Works ?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362199" y="2057401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2362201" y="3886199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2951019" y="2214318"/>
            <a:ext cx="2550470" cy="1332794"/>
          </a:xfrm>
          <a:custGeom>
            <a:avLst/>
            <a:gdLst>
              <a:gd name="connsiteX0" fmla="*/ 0 w 2550469"/>
              <a:gd name="connsiteY0" fmla="*/ 85540 h 1332795"/>
              <a:gd name="connsiteX1" fmla="*/ 720437 w 2550469"/>
              <a:gd name="connsiteY1" fmla="*/ 1332449 h 1332795"/>
              <a:gd name="connsiteX2" fmla="*/ 2286000 w 2550469"/>
              <a:gd name="connsiteY2" fmla="*/ 210230 h 1332795"/>
              <a:gd name="connsiteX3" fmla="*/ 2535382 w 2550469"/>
              <a:gd name="connsiteY3" fmla="*/ 2412 h 13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0469" h="1332795">
                <a:moveTo>
                  <a:pt x="0" y="85540"/>
                </a:moveTo>
                <a:cubicBezTo>
                  <a:pt x="169718" y="698603"/>
                  <a:pt x="339437" y="1311667"/>
                  <a:pt x="720437" y="1332449"/>
                </a:cubicBezTo>
                <a:cubicBezTo>
                  <a:pt x="1101437" y="1353231"/>
                  <a:pt x="1983509" y="431903"/>
                  <a:pt x="2286000" y="210230"/>
                </a:cubicBezTo>
                <a:cubicBezTo>
                  <a:pt x="2588491" y="-11443"/>
                  <a:pt x="2561936" y="-4516"/>
                  <a:pt x="2535382" y="2412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 rot="16200000">
                <a:off x="1118685" y="2767569"/>
                <a:ext cx="1475852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804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18685" y="2767569"/>
                <a:ext cx="1475852" cy="7249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172584" y="3886199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584" y="3886199"/>
                <a:ext cx="758797" cy="7249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3648584" y="34290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971799" y="3553690"/>
            <a:ext cx="152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6629400" y="2396040"/>
                <a:ext cx="3818096" cy="85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2396040"/>
                <a:ext cx="3818096" cy="8543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629403" y="3160425"/>
                <a:ext cx="2518958" cy="619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800" i="1" dirty="0">
                              <a:latin typeface="Cambria Math"/>
                            </a:rPr>
                            <m:t>𝑛𝑒𝑤</m:t>
                          </m:r>
                        </m:sup>
                      </m:sSup>
                      <m:r>
                        <a:rPr lang="en-US" sz="2800" i="1" dirty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800" i="1" dirty="0">
                              <a:latin typeface="Cambria Math"/>
                            </a:rPr>
                            <m:t>𝑜𝑙𝑑</m:t>
                          </m:r>
                        </m:sup>
                      </m:sSup>
                      <m:r>
                        <a:rPr lang="en-US" sz="2800" dirty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3" y="3160425"/>
                <a:ext cx="2518958" cy="6192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259583" y="3657602"/>
            <a:ext cx="1274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Why ?</a:t>
            </a:r>
          </a:p>
        </p:txBody>
      </p:sp>
    </p:spTree>
    <p:extLst>
      <p:ext uri="{BB962C8B-B14F-4D97-AF65-F5344CB8AC3E}">
        <p14:creationId xmlns:p14="http://schemas.microsoft.com/office/powerpoint/2010/main" val="865043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84" y="46973"/>
            <a:ext cx="10967432" cy="1097280"/>
          </a:xfrm>
        </p:spPr>
        <p:txBody>
          <a:bodyPr>
            <a:normAutofit fontScale="90000"/>
          </a:bodyPr>
          <a:lstStyle/>
          <a:p>
            <a:r>
              <a:rPr lang="en-GB" dirty="0"/>
              <a:t>Gradient Descent Algorithm: Semantics of Learning Rate</a:t>
            </a: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905000" y="1830054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905000" y="3658852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905000" y="4344655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1905000" y="6173453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 rot="16200000">
                <a:off x="783284" y="2535437"/>
                <a:ext cx="127374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804" i="1">
                        <a:latin typeface="Cambria Math"/>
                      </a:rPr>
                      <m:t>𝐿</m:t>
                    </m:r>
                    <m:r>
                      <a:rPr lang="en-US" sz="3804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80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3804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3804" i="1" dirty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3804" dirty="0"/>
                  <a:t>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83284" y="2535437"/>
                <a:ext cx="1273747" cy="724942"/>
              </a:xfrm>
              <a:prstGeom prst="rect">
                <a:avLst/>
              </a:prstGeom>
              <a:blipFill>
                <a:blip r:embed="rId2"/>
                <a:stretch>
                  <a:fillRect l="-12712" t="-14833" r="-28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761176" y="3648206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176" y="3648206"/>
                <a:ext cx="758797" cy="7249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657057" y="5125577"/>
                <a:ext cx="1695904" cy="724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r>
                        <a:rPr lang="en-US" sz="3804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57057" y="5125577"/>
                <a:ext cx="1695904" cy="7249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784659" y="6162806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659" y="6162806"/>
                <a:ext cx="758797" cy="724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400801" y="1830052"/>
                <a:ext cx="3818096" cy="85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1830052"/>
                <a:ext cx="3818096" cy="8543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400801" y="4420854"/>
                <a:ext cx="3818096" cy="85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4420854"/>
                <a:ext cx="3818096" cy="8543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476999" y="2708229"/>
                <a:ext cx="4114800" cy="830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399" dirty="0"/>
                  <a:t>If </a:t>
                </a:r>
                <a14:m>
                  <m:oMath xmlns:m="http://schemas.openxmlformats.org/officeDocument/2006/math">
                    <m:r>
                      <a:rPr lang="en-US" sz="2399" i="1"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sz="2399" dirty="0"/>
                  <a:t> is small gradient descent convergence is slow 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999" y="2708229"/>
                <a:ext cx="4114800" cy="830740"/>
              </a:xfrm>
              <a:prstGeom prst="rect">
                <a:avLst/>
              </a:prstGeom>
              <a:blipFill>
                <a:blip r:embed="rId8"/>
                <a:stretch>
                  <a:fillRect l="-2222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570754" y="5186249"/>
                <a:ext cx="4157983" cy="1569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399" dirty="0"/>
                  <a:t>If </a:t>
                </a:r>
                <a14:m>
                  <m:oMath xmlns:m="http://schemas.openxmlformats.org/officeDocument/2006/math">
                    <m:r>
                      <a:rPr lang="en-US" sz="2399" i="1"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sz="2399" dirty="0"/>
                  <a:t> is large gradient descent convergence fast but it can overshoot the minimum or diverge  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754" y="5186249"/>
                <a:ext cx="4157983" cy="1569148"/>
              </a:xfrm>
              <a:prstGeom prst="rect">
                <a:avLst/>
              </a:prstGeom>
              <a:blipFill>
                <a:blip r:embed="rId9"/>
                <a:stretch>
                  <a:fillRect l="-2346" t="-311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3243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84" y="274321"/>
            <a:ext cx="10967432" cy="585438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Convergence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809999" y="2514603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3810002" y="4343401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 rot="16200000">
                <a:off x="2728418" y="3272756"/>
                <a:ext cx="1432443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r>
                        <a:rPr lang="en-US" sz="3804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728418" y="3272756"/>
                <a:ext cx="1432443" cy="7249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666175" y="4332753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175" y="4332753"/>
                <a:ext cx="758797" cy="7249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 9"/>
          <p:cNvSpPr/>
          <p:nvPr/>
        </p:nvSpPr>
        <p:spPr>
          <a:xfrm>
            <a:off x="5167745" y="2452255"/>
            <a:ext cx="2452255" cy="1801089"/>
          </a:xfrm>
          <a:custGeom>
            <a:avLst/>
            <a:gdLst>
              <a:gd name="connsiteX0" fmla="*/ 2452255 w 2452255"/>
              <a:gd name="connsiteY0" fmla="*/ 0 h 1801090"/>
              <a:gd name="connsiteX1" fmla="*/ 1939637 w 2452255"/>
              <a:gd name="connsiteY1" fmla="*/ 1343890 h 1801090"/>
              <a:gd name="connsiteX2" fmla="*/ 1163782 w 2452255"/>
              <a:gd name="connsiteY2" fmla="*/ 1704109 h 1801090"/>
              <a:gd name="connsiteX3" fmla="*/ 0 w 2452255"/>
              <a:gd name="connsiteY3" fmla="*/ 1801090 h 1801090"/>
              <a:gd name="connsiteX4" fmla="*/ 0 w 2452255"/>
              <a:gd name="connsiteY4" fmla="*/ 1801090 h 1801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2255" h="1801090">
                <a:moveTo>
                  <a:pt x="2452255" y="0"/>
                </a:moveTo>
                <a:cubicBezTo>
                  <a:pt x="2303318" y="529936"/>
                  <a:pt x="2154382" y="1059872"/>
                  <a:pt x="1939637" y="1343890"/>
                </a:cubicBezTo>
                <a:cubicBezTo>
                  <a:pt x="1724892" y="1627908"/>
                  <a:pt x="1487055" y="1627909"/>
                  <a:pt x="1163782" y="1704109"/>
                </a:cubicBezTo>
                <a:cubicBezTo>
                  <a:pt x="840509" y="1780309"/>
                  <a:pt x="0" y="1801090"/>
                  <a:pt x="0" y="1801090"/>
                </a:cubicBezTo>
                <a:lnTo>
                  <a:pt x="0" y="1801090"/>
                </a:ln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sp>
        <p:nvSpPr>
          <p:cNvPr id="11" name="Oval 10"/>
          <p:cNvSpPr/>
          <p:nvPr/>
        </p:nvSpPr>
        <p:spPr>
          <a:xfrm>
            <a:off x="7467601" y="25908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391400" y="2452256"/>
            <a:ext cx="300291" cy="5872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252856" y="32766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330708" y="1524000"/>
                <a:ext cx="1758366" cy="13304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599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804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804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3804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804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804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3804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599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708" y="1524000"/>
                <a:ext cx="1758366" cy="13304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7139316" y="3048000"/>
            <a:ext cx="399976" cy="5872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8610600" y="2820793"/>
                <a:ext cx="1406475" cy="1049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2820793"/>
                <a:ext cx="1406475" cy="10496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8610600" y="3887593"/>
                <a:ext cx="1238608" cy="9176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399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53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536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536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53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536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536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399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3887593"/>
                <a:ext cx="1238608" cy="9176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7077584" y="3657601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34" name="Curved Connector 33"/>
          <p:cNvCxnSpPr/>
          <p:nvPr/>
        </p:nvCxnSpPr>
        <p:spPr>
          <a:xfrm>
            <a:off x="7162801" y="3733801"/>
            <a:ext cx="1600201" cy="51954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858001" y="3809999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8688577" y="4800600"/>
                <a:ext cx="1057917" cy="7802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999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114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114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114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114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114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114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999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577" y="4800600"/>
                <a:ext cx="1057917" cy="7802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44"/>
          <p:cNvSpPr/>
          <p:nvPr/>
        </p:nvSpPr>
        <p:spPr>
          <a:xfrm>
            <a:off x="6705601" y="39624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6938709" y="3429001"/>
            <a:ext cx="528891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endCxn id="42" idx="1"/>
          </p:cNvCxnSpPr>
          <p:nvPr/>
        </p:nvCxnSpPr>
        <p:spPr>
          <a:xfrm>
            <a:off x="6934200" y="3886199"/>
            <a:ext cx="1754377" cy="130450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6705602" y="3854197"/>
            <a:ext cx="497552" cy="1844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553200" y="401782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8763002" y="5569881"/>
                <a:ext cx="1823128" cy="13895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804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804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804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3804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804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804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3804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2" y="5569881"/>
                <a:ext cx="1823128" cy="13895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urved Connector 47"/>
          <p:cNvCxnSpPr>
            <a:endCxn id="47" idx="1"/>
          </p:cNvCxnSpPr>
          <p:nvPr/>
        </p:nvCxnSpPr>
        <p:spPr>
          <a:xfrm rot="16200000" flipH="1">
            <a:off x="6659373" y="4161025"/>
            <a:ext cx="2226057" cy="1981202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8839200" y="6238021"/>
                <a:ext cx="883639" cy="6426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9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691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1691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9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691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1691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0" y="6238021"/>
                <a:ext cx="883639" cy="6426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Curved Connector 50"/>
          <p:cNvCxnSpPr>
            <a:endCxn id="50" idx="1"/>
          </p:cNvCxnSpPr>
          <p:nvPr/>
        </p:nvCxnSpPr>
        <p:spPr>
          <a:xfrm rot="16200000" flipH="1">
            <a:off x="6512017" y="4232175"/>
            <a:ext cx="2444563" cy="2209803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/>
          <p:nvPr/>
        </p:nvCxnSpPr>
        <p:spPr>
          <a:xfrm flipV="1">
            <a:off x="7315202" y="3047999"/>
            <a:ext cx="1373375" cy="30480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/>
          <p:nvPr/>
        </p:nvCxnSpPr>
        <p:spPr>
          <a:xfrm flipV="1">
            <a:off x="7543801" y="1981201"/>
            <a:ext cx="914401" cy="68580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657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84" y="274321"/>
            <a:ext cx="10967432" cy="585438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Convergence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809999" y="2514603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3810002" y="4343401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 rot="16200000">
                <a:off x="2647072" y="3272756"/>
                <a:ext cx="1486561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804" i="1" dirty="0">
                              <a:latin typeface="Cambria Math"/>
                            </a:rPr>
                            <m:t>(</m:t>
                          </m:r>
                          <m:r>
                            <a:rPr lang="en-US" sz="3804" i="1" dirty="0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647072" y="3272756"/>
                <a:ext cx="1486561" cy="7249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666175" y="4332753"/>
                <a:ext cx="784253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804" i="1" dirty="0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175" y="4332753"/>
                <a:ext cx="784253" cy="7249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 9"/>
          <p:cNvSpPr/>
          <p:nvPr/>
        </p:nvSpPr>
        <p:spPr>
          <a:xfrm>
            <a:off x="5167745" y="2452255"/>
            <a:ext cx="2452255" cy="1801089"/>
          </a:xfrm>
          <a:custGeom>
            <a:avLst/>
            <a:gdLst>
              <a:gd name="connsiteX0" fmla="*/ 2452255 w 2452255"/>
              <a:gd name="connsiteY0" fmla="*/ 0 h 1801090"/>
              <a:gd name="connsiteX1" fmla="*/ 1939637 w 2452255"/>
              <a:gd name="connsiteY1" fmla="*/ 1343890 h 1801090"/>
              <a:gd name="connsiteX2" fmla="*/ 1163782 w 2452255"/>
              <a:gd name="connsiteY2" fmla="*/ 1704109 h 1801090"/>
              <a:gd name="connsiteX3" fmla="*/ 0 w 2452255"/>
              <a:gd name="connsiteY3" fmla="*/ 1801090 h 1801090"/>
              <a:gd name="connsiteX4" fmla="*/ 0 w 2452255"/>
              <a:gd name="connsiteY4" fmla="*/ 1801090 h 1801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2255" h="1801090">
                <a:moveTo>
                  <a:pt x="2452255" y="0"/>
                </a:moveTo>
                <a:cubicBezTo>
                  <a:pt x="2303318" y="529936"/>
                  <a:pt x="2154382" y="1059872"/>
                  <a:pt x="1939637" y="1343890"/>
                </a:cubicBezTo>
                <a:cubicBezTo>
                  <a:pt x="1724892" y="1627908"/>
                  <a:pt x="1487055" y="1627909"/>
                  <a:pt x="1163782" y="1704109"/>
                </a:cubicBezTo>
                <a:cubicBezTo>
                  <a:pt x="840509" y="1780309"/>
                  <a:pt x="0" y="1801090"/>
                  <a:pt x="0" y="1801090"/>
                </a:cubicBezTo>
                <a:lnTo>
                  <a:pt x="0" y="1801090"/>
                </a:ln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sp>
        <p:nvSpPr>
          <p:cNvPr id="11" name="Oval 10"/>
          <p:cNvSpPr/>
          <p:nvPr/>
        </p:nvSpPr>
        <p:spPr>
          <a:xfrm>
            <a:off x="7467601" y="25908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391400" y="2452256"/>
            <a:ext cx="300291" cy="5872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252856" y="32766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330709" y="1524000"/>
                <a:ext cx="2168863" cy="11474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599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𝑊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3599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709" y="1524000"/>
                <a:ext cx="2168863" cy="11474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7139316" y="3048000"/>
            <a:ext cx="399976" cy="5872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8610599" y="2820794"/>
                <a:ext cx="1733616" cy="9130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𝑊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599" y="2820794"/>
                <a:ext cx="1733616" cy="9130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8610599" y="3887593"/>
                <a:ext cx="1509579" cy="7956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399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𝑊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2399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599" y="3887593"/>
                <a:ext cx="1509579" cy="7956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7077584" y="3657601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34" name="Curved Connector 33"/>
          <p:cNvCxnSpPr/>
          <p:nvPr/>
        </p:nvCxnSpPr>
        <p:spPr>
          <a:xfrm>
            <a:off x="7162801" y="3733801"/>
            <a:ext cx="1600201" cy="51954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858001" y="3809999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8688577" y="4800601"/>
                <a:ext cx="1287211" cy="6784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999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𝑊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1999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577" y="4800601"/>
                <a:ext cx="1287211" cy="6784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44"/>
          <p:cNvSpPr/>
          <p:nvPr/>
        </p:nvSpPr>
        <p:spPr>
          <a:xfrm>
            <a:off x="6705601" y="39624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6938709" y="3429001"/>
            <a:ext cx="528891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endCxn id="42" idx="1"/>
          </p:cNvCxnSpPr>
          <p:nvPr/>
        </p:nvCxnSpPr>
        <p:spPr>
          <a:xfrm>
            <a:off x="6934200" y="3886200"/>
            <a:ext cx="1754377" cy="125362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6705602" y="3854197"/>
            <a:ext cx="497552" cy="1844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553200" y="401782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8763002" y="5569881"/>
                <a:ext cx="2284984" cy="12076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804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𝑊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2" y="5569881"/>
                <a:ext cx="2284984" cy="12076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urved Connector 47"/>
          <p:cNvCxnSpPr>
            <a:endCxn id="47" idx="1"/>
          </p:cNvCxnSpPr>
          <p:nvPr/>
        </p:nvCxnSpPr>
        <p:spPr>
          <a:xfrm rot="16200000" flipH="1">
            <a:off x="6704850" y="4115547"/>
            <a:ext cx="2135101" cy="1981203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8839201" y="6238021"/>
                <a:ext cx="1067921" cy="5613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𝑊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1" y="6238021"/>
                <a:ext cx="1067921" cy="5613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Curved Connector 50"/>
          <p:cNvCxnSpPr>
            <a:endCxn id="50" idx="1"/>
          </p:cNvCxnSpPr>
          <p:nvPr/>
        </p:nvCxnSpPr>
        <p:spPr>
          <a:xfrm rot="16200000" flipH="1">
            <a:off x="6532346" y="4211851"/>
            <a:ext cx="2403907" cy="2209804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/>
          <p:nvPr/>
        </p:nvCxnSpPr>
        <p:spPr>
          <a:xfrm flipV="1">
            <a:off x="7315202" y="3047999"/>
            <a:ext cx="1373375" cy="30480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/>
          <p:nvPr/>
        </p:nvCxnSpPr>
        <p:spPr>
          <a:xfrm flipV="1">
            <a:off x="7543801" y="1981201"/>
            <a:ext cx="914401" cy="68580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752599" y="4724401"/>
            <a:ext cx="5486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As it approaches to local minimum, gradient descent automatically takes smaller steps</a:t>
            </a:r>
          </a:p>
        </p:txBody>
      </p:sp>
    </p:spTree>
    <p:extLst>
      <p:ext uri="{BB962C8B-B14F-4D97-AF65-F5344CB8AC3E}">
        <p14:creationId xmlns:p14="http://schemas.microsoft.com/office/powerpoint/2010/main" val="4037829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85474-A8F1-0ABB-81EC-B44CD7759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132786C-0016-3A3C-72D4-1D013AC20862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5EAE98E-D439-CED8-C7E9-D9C718FA19A8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2C47C71-62CA-26FB-6A31-684353059E98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AF61F6D-79BB-5ABE-3BB2-943EDC8E0BEE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8020302-CDCA-E211-1BEE-0FB43F2F03ED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2D6C548-76B7-7146-C531-264DBC581946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64AB70B9-FCE8-E4CF-F851-C9D3D39862FB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C4B4F36D-15F4-573D-2878-5FBC8B1F7F16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693B5AC-CF87-64A7-1E03-C6F72B7A2AAA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4745497E-1C8A-4EC6-D70B-98888357654F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D7B224F-FCF2-F352-E5C8-3D3803931200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3325E2D2-8012-062D-D110-3797D0161B53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77A2892-D47C-2945-5003-0C09E8265845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2C737579-1919-381D-096E-2D6949D96DCE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8A7E46B5-B4E2-BD96-C8FD-30F852B82D78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1BCFF232-0570-7AD2-B58A-5F632D771A97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ECDB6D54-5F99-B1D2-1C41-291DFC25555F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537B864E-77E3-A970-E23E-3BB217DC29E1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92633ACA-9744-7411-49CF-A0BC37B6A7C2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ED7262A4-A3D9-DA5D-8C26-AD502D38C972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63000410-25AA-DB43-6ED3-C2BA399F20B4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931DB2E6-61AE-8207-680F-83E114E248A4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64888C74-6AB4-CF01-9289-0C5F28D87558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7BA73BDF-2552-C77F-81F4-1CE72E865E44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674FC1E0-C273-0BC0-8CF0-53ED57DE65AF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AD44FBD0-C416-0070-EE23-A2E1ACA7D781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DA1E4F61-F59D-F6BD-2CE3-7036609BDBE5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7092EFB8-61E8-7587-15EF-A3CC9BD99D9C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53D9C7D7-C18E-1424-AC42-4D21DD58C9CB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F2EF39EF-704D-3119-6A4F-38E22D934C5C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24AFD4CC-5580-C08F-6919-DA1AA510CDAD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EC4CD09B-3476-80F0-91DD-9AF3DA74C87F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F252E59D-BA45-777F-9546-ED347EAC0092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AD34A7B9-6B63-1D79-3268-5B323100A2AC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DFE033C8-3CDD-9AB5-70BD-357EE40659B1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2651DFA8-23CC-18F9-E87D-8F6FA6137DF8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D995E607-128A-186B-855F-83B143CECD6E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15F26F59-64F8-9C3B-290A-30223FB8F172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D7DDA9AA-EAFB-DA3F-C49B-3293F1384693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60AAC59F-638A-EFD1-0612-3C667C93E79A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5ECF557E-13C6-C546-E2EA-5E049D091C11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01C8369E-BD0A-0671-8702-38FF94CE1E7B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1FD0D0E1-4522-8CE4-183E-EF46543EAF81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D72919B9-A43A-8C2F-9CD2-D56D03D64763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2E546147-3BC1-A6ED-6289-E758584F2D9E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8651957D-CDB0-6C5A-3938-9F4C16F6F5E2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9DAE2458-B386-50FF-1486-2270ACD5FFEB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8D767E13-85CF-FB81-75F3-9EAD38404C2B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3D6BECCD-C298-648C-8FE5-DD9069F26056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172E8DC0-B238-4018-A237-A19DA6CE49AD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C0A25A97-9CB7-FDDC-0EE2-768F5ED7E471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7627FF07-9C13-AAF7-CDFA-2316978EF0A0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32EB821B-2B5E-637F-E717-F63BE329F460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415ACD33-B41D-A812-52D5-D3F9769E7689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8A8B9063-B09C-DDC4-458B-E2332DC7F47B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FA34DD28-4D17-0394-812D-C8E116C6A461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EA8C9666-E6CA-DE91-51A6-480E3CCB2602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0D468D1D-9093-39ED-CCA4-0485CBCA4734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43CCC073-2528-CA7C-3093-86F28AC2CCE6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E568B4E-2CCC-8C98-91C3-C2D52CA23EE8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16643326-5C81-7B81-3A32-240FBC9A50F0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0BDC992A-1794-330C-2B80-31CDF6456280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3DE40256-8162-2998-9A89-C0F120EBB02D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BB8FD375-4E2B-A455-E407-D20C2B9A8EB8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D22513FD-5CF6-7234-7C0F-54348ED1B56A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32E3C1CD-7307-4D53-D7BF-9E377E790BB1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865B4129-AB7E-6595-CF0B-879DFDA7FC5D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CD911CC8-7E73-3379-9767-852B2DEB57FD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A6AB8E87-49CE-D58F-5EA1-6A07A9BE2253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6EC0F3B7-E54F-8D15-D3E0-79F849BBFDAB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4178C42F-5A4C-3D14-BFE8-7043DF3AC2AC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C759C4C2-1764-CAFD-D5D5-D39F07EBCB86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26A27506-DB70-5193-1E58-1FC3AC489D3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spcBef>
                <a:spcPts val="160"/>
              </a:spcBef>
            </a:pPr>
            <a:fld id="{81D60167-4931-47E6-BA6A-407CBD079E47}" type="slidenum">
              <a:rPr lang="en-US" spc="125" smtClean="0"/>
              <a:pPr marL="59055">
                <a:spcBef>
                  <a:spcPts val="160"/>
                </a:spcBef>
              </a:pPr>
              <a:t>23</a:t>
            </a:fld>
            <a:r>
              <a:rPr lang="en-US" spc="114"/>
              <a:t> </a:t>
            </a:r>
            <a:r>
              <a:rPr lang="en-US" spc="95"/>
              <a:t>/</a:t>
            </a:r>
            <a:r>
              <a:rPr lang="en-US" spc="120"/>
              <a:t> </a:t>
            </a:r>
            <a:r>
              <a:rPr lang="en-US" spc="20"/>
              <a:t>65</a:t>
            </a:r>
            <a:endParaRPr spc="63" dirty="0"/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CD90CF35-F02E-02E9-0044-7BD5EB9139E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93092" y="2441455"/>
            <a:ext cx="5035116" cy="2739104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BF54F811-7F62-7731-607E-0622CAA4CA14}"/>
              </a:ext>
            </a:extLst>
          </p:cNvPr>
          <p:cNvSpPr txBox="1"/>
          <p:nvPr/>
        </p:nvSpPr>
        <p:spPr>
          <a:xfrm>
            <a:off x="561208" y="5193438"/>
            <a:ext cx="11163186" cy="145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36" dirty="0">
                <a:latin typeface="Arial MT"/>
                <a:cs typeface="Arial MT"/>
              </a:rPr>
              <a:t>Convergence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is a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name given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to the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situation where the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loss function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does not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improve </a:t>
            </a:r>
            <a:r>
              <a:rPr lang="en-US" sz="2536" spc="-21" dirty="0">
                <a:latin typeface="Arial MT"/>
                <a:cs typeface="Arial MT"/>
              </a:rPr>
              <a:t>significantly,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and we are </a:t>
            </a:r>
            <a:r>
              <a:rPr lang="en-US" sz="2536" spc="-592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stuck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in a point near to the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minima.</a:t>
            </a:r>
          </a:p>
          <a:p>
            <a:endParaRPr lang="en-US" sz="3804" dirty="0"/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156935BD-4D07-9EF7-DE98-DB3E95282299}"/>
              </a:ext>
            </a:extLst>
          </p:cNvPr>
          <p:cNvSpPr txBox="1">
            <a:spLocks/>
          </p:cNvSpPr>
          <p:nvPr/>
        </p:nvSpPr>
        <p:spPr>
          <a:xfrm>
            <a:off x="-28974" y="799102"/>
            <a:ext cx="6965459" cy="68515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4" dirty="0"/>
              <a:t>Gradient-Descent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623B0D3-5DBF-6DA3-C1A3-7C71E4EBBFE3}"/>
                  </a:ext>
                </a:extLst>
              </p:cNvPr>
              <p:cNvSpPr txBox="1"/>
              <p:nvPr/>
            </p:nvSpPr>
            <p:spPr>
              <a:xfrm>
                <a:off x="121201" y="1822715"/>
                <a:ext cx="6161229" cy="5477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59" i="1">
                          <a:latin typeface="Cambria Math"/>
                        </a:rPr>
                        <m:t>𝑅𝑒𝑝𝑒𝑎𝑡</m:t>
                      </m:r>
                      <m:r>
                        <a:rPr lang="en-US" sz="2959" i="1">
                          <a:latin typeface="Cambria Math"/>
                        </a:rPr>
                        <m:t> </m:t>
                      </m:r>
                      <m:r>
                        <a:rPr lang="en-US" sz="2959" i="1">
                          <a:latin typeface="Cambria Math"/>
                        </a:rPr>
                        <m:t>𝑢𝑛𝑡𝑖𝑙𝑙</m:t>
                      </m:r>
                      <m:r>
                        <a:rPr lang="en-US" sz="2959" i="1">
                          <a:latin typeface="Cambria Math"/>
                        </a:rPr>
                        <m:t> </m:t>
                      </m:r>
                      <m:r>
                        <a:rPr lang="en-US" sz="2959" i="1">
                          <a:latin typeface="Cambria Math"/>
                        </a:rPr>
                        <m:t>𝑐𝑜𝑛𝑣𝑒𝑟𝑔𝑒𝑛𝑐𝑒</m:t>
                      </m:r>
                      <m:r>
                        <a:rPr lang="en-US" sz="2959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959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623B0D3-5DBF-6DA3-C1A3-7C71E4EBB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01" y="1822715"/>
                <a:ext cx="6161229" cy="5477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239058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40BCB-B604-4555-8EDE-8BD86DCC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BE2B627-598B-574C-A28F-B0BD92C764EA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56D50DE-BC05-AFAF-32F8-71E6B34D0297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F5988C2-0744-1965-DCA2-EF95FB2B9ED0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A2C97A4-775A-B66F-6239-C16A57F7489B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59E15EC-43F4-E879-7E3D-64BFC653870A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E5899A6-E657-EF68-06B3-F08D8FFBF388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AE4D3E9-F7D4-47D4-D927-4B2D029D5DC6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8AA53DDE-8679-CBEE-DE5F-3D9A060C0217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B7EF120-C1B6-3368-3D7C-614CCE6B90BF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7A000C8F-48DF-8A31-5455-BFCF1A2A33F6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438AA3C-FAD5-9EAE-730B-440089FFDC81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3496938-1ADB-3F6C-7B77-F6557112DEEC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8FCB3C84-A0C2-965B-1F7F-DF0CA7C45E8F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56A967C2-F4C7-DEA5-F921-420D308685FA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14AE7B0-E55B-EA5C-63D8-EF7F75ECBD7A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718418D5-C304-E63C-BCFA-9096894DEB8E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E67268B-832C-4A86-C798-F986A4578086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96825CE0-A2A0-C341-93DD-1FDB2B0D869E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31D1F83A-C3D3-4348-0693-F706491232F0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285F8E7D-4210-BA23-8874-26D5F10961F9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E3089334-89EF-3363-3A0B-4BE966CF92D9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0114BD4C-88FF-84D8-CB5B-19D50437ED1A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4D733587-944A-63B4-1A58-2DA21B8AE162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B7C4A83A-8C6C-0C1E-F83E-8FFC018E0624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1F541485-2A6B-A16C-38C3-CDF5295FE840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4DDC69BE-BFC9-E141-38CC-B7E509AEBE76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93EBDDFD-2979-7B16-7D4F-8E5D001EDA45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0AE75656-639A-D7BB-D8E5-592C5E82D929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CBCAD11B-2159-1480-CCB6-3C0AEAF24CD5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D0AA789A-D2E9-C70A-E14E-B41BE7A0CF8D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B2E4437-CE41-0509-1033-C1E1EA830C1E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F0E3BCE5-712D-28F4-7D28-1E82A6F81F8A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A245C59E-0455-C61D-C47C-52F73295D726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7FBE3E05-AFBF-A16B-1660-E93A077857F4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327543F5-6513-B353-C3E2-E44026A7D0A7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CB08CDE6-2C4D-3942-F7C4-2929EF18F94E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3EC960CB-24BD-6AE5-BC69-D1DE91073166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71D7B5E0-5DEF-F735-7099-85AF6A3E0E69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75DE4715-37FB-FA12-1E43-68AD91A6875B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AA1F4D9C-9BDB-05CE-BF7C-C32A08EAF0A7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7B9B7957-FAB3-7C1F-16C8-E856737C08D3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6AD4DA9D-A5DD-4D8E-62D6-FC32B1296298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4CB4583C-6B20-6080-3201-29BE792A25FD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720B5F16-1C2F-B864-DD2D-745849C1BF8D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446CDF19-F6AE-F687-8DCD-702D23956EAD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C0A611E2-9B67-28C1-579D-E3AE1A50A34D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6B41173C-E9C9-FB97-1B8F-3F3CFCAF6007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E4EA5563-0637-AAB7-E9D8-CD8A102F0B1E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5ABB910D-CD0F-A391-2E2E-0411E9F62F56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E3C2A6C2-7A3E-0489-0007-C834096524CC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D9FEB745-5435-945D-0F20-15A520FB0C1D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1C7B37D4-0B17-C897-1E92-BDDB80A2912D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000A65D7-C5C5-220F-D1D0-47295871CE0E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43786B25-5F66-7FFC-7395-A01895AA6253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6EE92DBE-C9F9-2123-1B52-0ED14F23290D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81580245-1480-7AF0-1474-32FA3E842E06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5DB4D8EB-BDF9-873C-10F5-39AD75FC2D2E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AB9ABBA2-23FA-CB80-C00A-E917635CC630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29AB851D-C7F5-992E-AA0F-543A46DBFB50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2FC0B024-519D-5EED-ADA6-6877669CD35D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1D578AE3-20B5-E0E2-06E9-022A83A06A8E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6BFFC9F3-287F-130D-E4AE-851EBE5CE67A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AAC7275D-DAAC-4AA6-7417-2457A747355B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9A5D4948-C99A-C4F4-704A-D946C7CF9EE1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87DDFF35-80E4-A26C-EB34-39093B6F3C0E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47A06C61-DB5C-AE3C-2F9E-39A2BE216EE9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85EC82FD-5E3C-2554-E1EA-92F54CA96233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71CAC35A-6B00-0603-410F-646D774FEE22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C0ADA001-DE47-574A-C4EB-151470F86833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91343109-11C3-72AA-F210-963B24FA9852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550DF1D9-3E42-D054-2A06-38AA9DA4131C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529B63EA-B837-F465-4D87-C60AC6D5F762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D3AE1039-5D32-61C2-7762-97FC0B88117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spcBef>
                <a:spcPts val="160"/>
              </a:spcBef>
            </a:pPr>
            <a:fld id="{81D60167-4931-47E6-BA6A-407CBD079E47}" type="slidenum">
              <a:rPr lang="en-US" spc="125" smtClean="0"/>
              <a:pPr marL="59055">
                <a:spcBef>
                  <a:spcPts val="160"/>
                </a:spcBef>
              </a:pPr>
              <a:t>24</a:t>
            </a:fld>
            <a:r>
              <a:rPr lang="en-US" spc="114"/>
              <a:t> </a:t>
            </a:r>
            <a:r>
              <a:rPr lang="en-US" spc="95"/>
              <a:t>/</a:t>
            </a:r>
            <a:r>
              <a:rPr lang="en-US" spc="120"/>
              <a:t> </a:t>
            </a:r>
            <a:r>
              <a:rPr lang="en-US" spc="20"/>
              <a:t>65</a:t>
            </a:r>
            <a:endParaRPr spc="63" dirty="0"/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1C2BDF9E-C8E4-E681-8665-E1279F00FFCA}"/>
              </a:ext>
            </a:extLst>
          </p:cNvPr>
          <p:cNvSpPr txBox="1">
            <a:spLocks/>
          </p:cNvSpPr>
          <p:nvPr/>
        </p:nvSpPr>
        <p:spPr>
          <a:xfrm>
            <a:off x="-28974" y="799102"/>
            <a:ext cx="6965459" cy="68515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endParaRPr lang="en-US" sz="3804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9217EA-177B-D237-8359-0FCACCBC0355}"/>
              </a:ext>
            </a:extLst>
          </p:cNvPr>
          <p:cNvSpPr txBox="1"/>
          <p:nvPr/>
        </p:nvSpPr>
        <p:spPr>
          <a:xfrm>
            <a:off x="121201" y="498249"/>
            <a:ext cx="6161229" cy="1040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spc="-25" dirty="0">
                <a:latin typeface="Arial"/>
                <a:cs typeface="Arial"/>
              </a:rPr>
              <a:t>Types</a:t>
            </a:r>
            <a:r>
              <a:rPr lang="en-US" sz="3200" b="1" spc="-20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of</a:t>
            </a:r>
            <a:r>
              <a:rPr lang="en-US" sz="3200" b="1" spc="-20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gradient</a:t>
            </a:r>
            <a:r>
              <a:rPr lang="en-US" sz="3200" b="1" spc="-20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Descent:</a:t>
            </a:r>
            <a:endParaRPr lang="en-US" sz="3200" dirty="0">
              <a:latin typeface="Arial"/>
              <a:cs typeface="Arial"/>
            </a:endParaRPr>
          </a:p>
          <a:p>
            <a:endParaRPr lang="en-US" sz="2959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84E96F-E9D2-51AE-9438-C7AC90C0B745}"/>
              </a:ext>
            </a:extLst>
          </p:cNvPr>
          <p:cNvSpPr txBox="1"/>
          <p:nvPr/>
        </p:nvSpPr>
        <p:spPr>
          <a:xfrm>
            <a:off x="204399" y="1104765"/>
            <a:ext cx="11506301" cy="5278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73075" marR="158115" indent="-342900" algn="just">
              <a:lnSpc>
                <a:spcPct val="119100"/>
              </a:lnSpc>
              <a:spcBef>
                <a:spcPts val="840"/>
              </a:spcBef>
              <a:buFont typeface="+mj-lt"/>
              <a:buAutoNum type="arabicPeriod"/>
              <a:tabLst>
                <a:tab pos="280035" algn="l"/>
              </a:tabLst>
            </a:pPr>
            <a:r>
              <a:rPr lang="en-US" sz="1800" b="1" dirty="0">
                <a:latin typeface="Arial MT"/>
                <a:cs typeface="Arial MT"/>
              </a:rPr>
              <a:t>Batch Gradient Descent</a:t>
            </a:r>
            <a:r>
              <a:rPr lang="en-US" sz="1800" dirty="0">
                <a:latin typeface="Arial MT"/>
                <a:cs typeface="Arial MT"/>
              </a:rPr>
              <a:t>: This is a type of gradient descent which processes all the training examples for </a:t>
            </a:r>
            <a:r>
              <a:rPr lang="en-US" sz="1800" spc="-28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each iteration of gradient descent. But if the number of training examples is large, then batch gradient </a:t>
            </a:r>
            <a:r>
              <a:rPr lang="en-US" sz="1800" spc="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descent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computationally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very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expensive.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Hence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if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number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of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training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examples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is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large,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then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batch </a:t>
            </a:r>
            <a:r>
              <a:rPr lang="en-US" sz="1800" spc="-28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gradient descent is not preferred. Instead, we prefer to use stochastic gradient descent or mini-batch </a:t>
            </a:r>
            <a:r>
              <a:rPr lang="en-US" sz="1800" spc="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gradient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descent.</a:t>
            </a:r>
          </a:p>
          <a:p>
            <a:pPr marL="473075" indent="-342900" algn="just">
              <a:lnSpc>
                <a:spcPct val="100000"/>
              </a:lnSpc>
              <a:buFont typeface="+mj-lt"/>
              <a:buAutoNum type="arabicPeriod"/>
              <a:tabLst>
                <a:tab pos="280035" algn="l"/>
              </a:tabLst>
            </a:pPr>
            <a:r>
              <a:rPr lang="en-US" sz="1800" b="1" dirty="0">
                <a:latin typeface="Arial MT"/>
                <a:cs typeface="Arial MT"/>
              </a:rPr>
              <a:t>Stochastic</a:t>
            </a:r>
            <a:r>
              <a:rPr lang="en-US" sz="1800" b="1" spc="-10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 MT"/>
                <a:cs typeface="Arial MT"/>
              </a:rPr>
              <a:t>Gradient</a:t>
            </a:r>
            <a:r>
              <a:rPr lang="en-US" sz="1800" b="1" spc="-5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 MT"/>
                <a:cs typeface="Arial MT"/>
              </a:rPr>
              <a:t>Descent:</a:t>
            </a:r>
            <a:r>
              <a:rPr lang="en-US" sz="1800" b="1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This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is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type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of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gradient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descent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which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processes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1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training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example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per iteration. Hence, the parameters are being updated even after one iteration in which only a single example </a:t>
            </a:r>
            <a:r>
              <a:rPr lang="en-US" sz="1800" spc="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has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been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processed.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Hence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this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quite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faster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than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batch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gradient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descent.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But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again,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when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number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of </a:t>
            </a:r>
            <a:r>
              <a:rPr lang="en-US" sz="1800" spc="-28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training examples is large, even then it processes only one example which can be additional overhead for </a:t>
            </a:r>
            <a:r>
              <a:rPr lang="en-US" sz="1800" spc="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system as the number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of iterations will be quite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large.</a:t>
            </a:r>
          </a:p>
          <a:p>
            <a:pPr marL="473075" marR="158115" indent="-342900" algn="just">
              <a:lnSpc>
                <a:spcPct val="119100"/>
              </a:lnSpc>
              <a:spcBef>
                <a:spcPts val="840"/>
              </a:spcBef>
              <a:buFont typeface="+mj-lt"/>
              <a:buAutoNum type="arabicPeriod"/>
              <a:tabLst>
                <a:tab pos="280035" algn="l"/>
              </a:tabLst>
            </a:pPr>
            <a:r>
              <a:rPr lang="en-US" sz="1800" b="1" dirty="0">
                <a:latin typeface="Arial MT"/>
                <a:cs typeface="Arial MT"/>
              </a:rPr>
              <a:t>Mini</a:t>
            </a:r>
            <a:r>
              <a:rPr lang="en-US" sz="1800" b="1" spc="-10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 MT"/>
                <a:cs typeface="Arial MT"/>
              </a:rPr>
              <a:t>Batch</a:t>
            </a:r>
            <a:r>
              <a:rPr lang="en-US" sz="1800" b="1" spc="-5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 MT"/>
                <a:cs typeface="Arial MT"/>
              </a:rPr>
              <a:t>gradient</a:t>
            </a:r>
            <a:r>
              <a:rPr lang="en-US" sz="1800" b="1" spc="-5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 MT"/>
                <a:cs typeface="Arial MT"/>
              </a:rPr>
              <a:t>descent:</a:t>
            </a:r>
            <a:r>
              <a:rPr lang="en-US" sz="1800" b="1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This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type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of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gradient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descent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which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works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faster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than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both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batch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gradient </a:t>
            </a:r>
            <a:r>
              <a:rPr lang="en-US" sz="1800" spc="-28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descent and stochastic gradient descent. Here b examples where b&lt;m are processed per iteration. So </a:t>
            </a:r>
            <a:r>
              <a:rPr lang="en-US" sz="1800" spc="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even if the number of training examples is large, it is processed in batches of b training examples in one </a:t>
            </a:r>
            <a:r>
              <a:rPr lang="en-US" sz="1800" spc="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go.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Thus, it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works for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larger training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examples and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that too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with lesser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number of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iterations.</a:t>
            </a:r>
          </a:p>
          <a:p>
            <a:pPr marL="279400" marR="158115" indent="-149225">
              <a:lnSpc>
                <a:spcPct val="119100"/>
              </a:lnSpc>
              <a:spcBef>
                <a:spcPts val="840"/>
              </a:spcBef>
              <a:buAutoNum type="arabicPeriod"/>
              <a:tabLst>
                <a:tab pos="280035" algn="l"/>
              </a:tabLst>
            </a:pPr>
            <a:endParaRPr lang="en-US"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402040322"/>
      </p:ext>
    </p:extLst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F8CC-1537-972F-054D-41175852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3882419-A34A-009B-7DE2-FB0FA567903A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049CAD5-4230-7397-6953-78DA05DF9DD8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784BABB-181D-EA06-E2F6-BC3B98D5596F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2AB275F-5714-FFC4-1391-1BCA0557D9EF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D23398B-FE90-D06F-B93C-9869400CECCC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EB2B71CE-E301-1972-0FE5-59BFF26264F7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FC10C6A-43CF-8875-107D-013F6C378919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BCDD12C-8644-39CB-DB8E-5B0855CE8A3A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97DB1AD-6452-4FD9-D681-B95DC65E3AE0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7E8845D4-81F7-8437-00A9-C8C9363BC94C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A383881-87C9-D751-93BB-778728E086E0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3613EC4-1F99-25AC-266F-713A4A096807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E2334DD-202A-277A-2124-CA8AFFD39907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6F879CAF-BE43-2F90-9239-F3719B124BBD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D74AF91A-86E8-D7E9-0989-4B6410D1147D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65CBAC52-48FC-E00B-A66D-249AD28702A7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EF91A11-5E8A-9FEB-632D-F25B6655296A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F77FCD3D-C742-0B06-00B0-EC537BE0134B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C50EFBA6-8676-8CA7-5C3E-8B34CF64A17A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89918D2D-7DCC-C0D8-A9A1-5CE7A201E985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1AF3F899-FA04-FD8A-D057-B5B87EAE32EB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CC509BA7-4E58-A771-3382-6DC7F9BEDEE0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1CC78F6A-09FA-B463-95EB-2953BA32C934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98D5225B-5FB5-4A6A-3FDB-B36FB08963A0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40337297-A2AB-865E-11D8-41991BEC0937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3374CB7B-3EB9-CDB2-6046-7529E4A7ED91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4A42E81A-A6E8-30CA-DFD8-639FF590F2CB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759FABF7-3467-479A-83EC-04B0508B1146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25FF72C9-9A91-9AD9-4A9C-144120CA6B9C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E665272F-8FD4-1886-53C7-FE0EC4F1126E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C8620A70-FB92-D216-809A-64A236B874AD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BD30AF6C-5F0D-3D07-5D37-DBC9D3CE76D9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09D7930D-7498-6A27-AE8E-550DE474373F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42ED1D52-7966-A7FB-DBA9-C9BB93E58012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E43881C3-12BB-1459-6EF9-9885510527D2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9567294E-FE1D-323E-E194-FCAFE9DF71BD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452DA9C3-CC88-041A-599E-E55D7A3CDA39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C89EBF14-1442-B365-AC3B-FE3391BB1930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2CB73523-5DDB-F8B5-97D5-74F127ED4CFD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C26D7F85-AD47-C83D-6E54-2624730B4D9A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55E0D510-59E0-88AE-6059-F06A16D990D2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A6BB0B51-A18E-E2A4-059A-C0D8AA1A4930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52B55628-5F9A-69F6-C657-BEFCA7B5DC5D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066C5031-50F2-490D-029A-0A23FFD1EE4B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32947D26-65E0-2B61-EE36-815572619D9C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FD9C0605-C458-125B-8BC2-1D9A9B5A92A7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ECB45454-8B7F-6C46-77EA-DB1660B867F7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8A1AE2F9-55E0-7118-EDBD-1C568F8F439A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3C443A44-3BB8-6D37-2AE5-BFD0E93CD417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1E10D12F-5D28-9039-BF0A-A4E3447B9374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D109B48A-0C60-1EF8-8A5B-2DDF9BFB28FB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87C845B8-A554-A400-F272-4DC52A664CCC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EE92CB60-9697-2AB4-EF15-49532EB8986A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EF6C1CC7-4843-262A-B3F0-0906EA3A9491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E23FD1E5-CC4D-F101-7B10-79660BA711DD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39BF1A34-F835-AEE9-6ECB-E2E3F472837A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9EBBF70E-9E72-B760-BB14-C5D7A01E52C3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E16A7A58-68C9-3D39-CF27-0F29B3540DA0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1691A162-867E-16DE-7FED-F83A614887C5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61D2F7B0-3C8A-4A85-7B41-08C42625CB54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C256E265-0B64-523E-74D9-C558DBCB1A3C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EC4FEAC6-EB07-3E88-8872-653BA08ED9E8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8E0E25EF-B799-DCC6-F17B-F80C9898631C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27B10798-0A88-9701-69F6-3B7007CE2961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C1DE6245-174E-478E-A596-F1F395DB2991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7D130E0A-090C-4780-D94D-683BAF8F7F26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8B36A474-66EB-0F61-ED48-A55D31C96C43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99AA2532-E24F-CE0E-A7DB-89DA25516DAE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3B584D7D-DF71-8190-B8FA-3FF44CF0B8AC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7368365E-8274-45BD-BA86-73DDA4A0CE2A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6FC944D2-A7EA-0BB5-4B62-2C3DE580C8C0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BAABA23A-FC8A-3221-7794-1E1940784BFA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7C67A654-A0FE-B2F4-B43C-293ACA75E32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spcBef>
                <a:spcPts val="160"/>
              </a:spcBef>
            </a:pPr>
            <a:fld id="{81D60167-4931-47E6-BA6A-407CBD079E47}" type="slidenum">
              <a:rPr lang="en-US" spc="125" smtClean="0"/>
              <a:pPr marL="59055">
                <a:spcBef>
                  <a:spcPts val="160"/>
                </a:spcBef>
              </a:pPr>
              <a:t>25</a:t>
            </a:fld>
            <a:r>
              <a:rPr lang="en-US" spc="114"/>
              <a:t> </a:t>
            </a:r>
            <a:r>
              <a:rPr lang="en-US" spc="95"/>
              <a:t>/</a:t>
            </a:r>
            <a:r>
              <a:rPr lang="en-US" spc="120"/>
              <a:t> </a:t>
            </a:r>
            <a:r>
              <a:rPr lang="en-US" spc="20"/>
              <a:t>65</a:t>
            </a:r>
            <a:endParaRPr spc="63" dirty="0"/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815DE2EA-B12E-2918-F0C7-8B8BC7D7E864}"/>
              </a:ext>
            </a:extLst>
          </p:cNvPr>
          <p:cNvSpPr txBox="1">
            <a:spLocks/>
          </p:cNvSpPr>
          <p:nvPr/>
        </p:nvSpPr>
        <p:spPr>
          <a:xfrm>
            <a:off x="-28974" y="799102"/>
            <a:ext cx="6965459" cy="68515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endParaRPr lang="en-US" sz="3804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B6CFFE-66CE-E655-1F8C-DC80355423D4}"/>
              </a:ext>
            </a:extLst>
          </p:cNvPr>
          <p:cNvSpPr txBox="1"/>
          <p:nvPr/>
        </p:nvSpPr>
        <p:spPr>
          <a:xfrm>
            <a:off x="227735" y="431855"/>
            <a:ext cx="8355370" cy="1040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200" b="1" dirty="0">
                <a:latin typeface="Arial"/>
                <a:cs typeface="Arial"/>
              </a:rPr>
              <a:t>Gradient</a:t>
            </a:r>
            <a:r>
              <a:rPr lang="en-US" sz="3200" b="1" spc="-10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Descent</a:t>
            </a:r>
            <a:r>
              <a:rPr lang="en-US" sz="3200" b="1" spc="-15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In</a:t>
            </a:r>
            <a:r>
              <a:rPr lang="en-US" sz="3200" b="1" spc="-10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Linear</a:t>
            </a:r>
            <a:r>
              <a:rPr lang="en-US" sz="3200" b="1" spc="-15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Regression</a:t>
            </a:r>
            <a:endParaRPr lang="en-US" sz="3200" dirty="0">
              <a:latin typeface="Arial"/>
              <a:cs typeface="Arial"/>
            </a:endParaRPr>
          </a:p>
          <a:p>
            <a:endParaRPr lang="en-US" sz="2959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DE2B0B39-E46B-58A4-2222-77745CCA5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178" y="1052423"/>
            <a:ext cx="7513443" cy="467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8758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8A17C-D72B-D861-B5A2-14F42FBC8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765" y="216589"/>
            <a:ext cx="10458091" cy="922097"/>
          </a:xfrm>
        </p:spPr>
        <p:txBody>
          <a:bodyPr/>
          <a:lstStyle/>
          <a:p>
            <a:r>
              <a:rPr lang="en-US" sz="1800" b="1" i="0" u="none" strike="noStrike" baseline="0" dirty="0">
                <a:latin typeface="Arial-BoldMT"/>
              </a:rPr>
              <a:t>Now Time To Implement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3B98D9-1778-3791-B58B-E5C9B44B1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54" y="1337454"/>
            <a:ext cx="10662248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58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4B2D9F-0E51-9217-D6A0-E8760B82D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8" y="330859"/>
            <a:ext cx="10084279" cy="3343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4EB93A-A953-BF7C-409E-6BDC16B71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7" y="3821501"/>
            <a:ext cx="10084279" cy="288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650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3BDA60-4C73-CFF4-782D-1562D1A3B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98" y="0"/>
            <a:ext cx="10929667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0B7C16-2C6A-4878-11F5-651F37E5F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57" y="3669580"/>
            <a:ext cx="10713707" cy="206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17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4D0CFB-D9F4-279A-F1AE-95926DC4B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34" y="112803"/>
            <a:ext cx="10315995" cy="41227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008721-FC91-8C9A-FE80-95C017871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33" y="4389587"/>
            <a:ext cx="1031599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734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8779B2-D0FB-B4C4-E85A-E5108696C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92" y="180855"/>
            <a:ext cx="10596712" cy="2597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0A0519-DD32-BDA8-DDC7-1913486B2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92" y="2933700"/>
            <a:ext cx="10717482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45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13FBCC-5BC3-4432-9297-C563BE893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425" y="1489075"/>
            <a:ext cx="7931150" cy="387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21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1047</Words>
  <Application>Microsoft Office PowerPoint</Application>
  <PresentationFormat>Widescreen</PresentationFormat>
  <Paragraphs>143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Aptos</vt:lpstr>
      <vt:lpstr>Aptos Display</vt:lpstr>
      <vt:lpstr>Arial</vt:lpstr>
      <vt:lpstr>Arial MT</vt:lpstr>
      <vt:lpstr>Arial-BoldMT</vt:lpstr>
      <vt:lpstr>Calibri</vt:lpstr>
      <vt:lpstr>Cambria</vt:lpstr>
      <vt:lpstr>Cambria Math</vt:lpstr>
      <vt:lpstr>Georgia</vt:lpstr>
      <vt:lpstr>Office Theme</vt:lpstr>
      <vt:lpstr>Machine Learning </vt:lpstr>
      <vt:lpstr>Gradient Descent (Optimization)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Hill-Descent</vt:lpstr>
      <vt:lpstr>Hill-Descent</vt:lpstr>
      <vt:lpstr>Hill-Descent</vt:lpstr>
      <vt:lpstr>From Hill-Descent to Gradient-Descent</vt:lpstr>
      <vt:lpstr>From Hill-Descent to Gradient-Descent</vt:lpstr>
      <vt:lpstr>From Hill-Descent to Gradient-Descent</vt:lpstr>
      <vt:lpstr>PowerPoint Presentation</vt:lpstr>
      <vt:lpstr>Gradient-Descent Algorithm: Why It Works ?</vt:lpstr>
      <vt:lpstr>Gradient-Descent Algorithm: Why It Works ?</vt:lpstr>
      <vt:lpstr>Gradient-Descent Algorithm: Why It Works ?</vt:lpstr>
      <vt:lpstr>Gradient Descent Algorithm: Semantics of Learning Rate</vt:lpstr>
      <vt:lpstr>Convergence</vt:lpstr>
      <vt:lpstr>Convergence</vt:lpstr>
      <vt:lpstr>PowerPoint Presentation</vt:lpstr>
      <vt:lpstr>PowerPoint Presentation</vt:lpstr>
      <vt:lpstr>PowerPoint Presentation</vt:lpstr>
      <vt:lpstr>Now Time To Implement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</dc:title>
  <dc:creator>anwar khan</dc:creator>
  <cp:lastModifiedBy>anwar khan</cp:lastModifiedBy>
  <cp:revision>27</cp:revision>
  <dcterms:created xsi:type="dcterms:W3CDTF">2024-11-26T00:39:48Z</dcterms:created>
  <dcterms:modified xsi:type="dcterms:W3CDTF">2025-11-25T04:13:08Z</dcterms:modified>
</cp:coreProperties>
</file>