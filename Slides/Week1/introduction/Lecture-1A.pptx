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3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58"/>
  </p:notesMasterIdLst>
  <p:sldIdLst>
    <p:sldId id="256" r:id="rId2"/>
    <p:sldId id="259" r:id="rId3"/>
    <p:sldId id="260" r:id="rId4"/>
    <p:sldId id="261" r:id="rId5"/>
    <p:sldId id="262" r:id="rId6"/>
    <p:sldId id="268" r:id="rId7"/>
    <p:sldId id="269" r:id="rId8"/>
    <p:sldId id="270" r:id="rId9"/>
    <p:sldId id="271" r:id="rId10"/>
    <p:sldId id="272" r:id="rId11"/>
    <p:sldId id="273" r:id="rId12"/>
    <p:sldId id="274" r:id="rId13"/>
    <p:sldId id="317" r:id="rId14"/>
    <p:sldId id="318" r:id="rId15"/>
    <p:sldId id="319" r:id="rId16"/>
    <p:sldId id="325" r:id="rId17"/>
    <p:sldId id="275" r:id="rId18"/>
    <p:sldId id="263" r:id="rId19"/>
    <p:sldId id="295" r:id="rId20"/>
    <p:sldId id="326" r:id="rId21"/>
    <p:sldId id="277" r:id="rId22"/>
    <p:sldId id="257" r:id="rId23"/>
    <p:sldId id="258" r:id="rId24"/>
    <p:sldId id="296" r:id="rId25"/>
    <p:sldId id="303" r:id="rId26"/>
    <p:sldId id="305" r:id="rId27"/>
    <p:sldId id="308" r:id="rId28"/>
    <p:sldId id="309" r:id="rId29"/>
    <p:sldId id="310" r:id="rId30"/>
    <p:sldId id="311" r:id="rId31"/>
    <p:sldId id="312" r:id="rId32"/>
    <p:sldId id="313" r:id="rId33"/>
    <p:sldId id="314" r:id="rId34"/>
    <p:sldId id="315" r:id="rId35"/>
    <p:sldId id="316" r:id="rId36"/>
    <p:sldId id="279" r:id="rId37"/>
    <p:sldId id="281" r:id="rId38"/>
    <p:sldId id="320" r:id="rId39"/>
    <p:sldId id="327" r:id="rId40"/>
    <p:sldId id="328" r:id="rId41"/>
    <p:sldId id="282" r:id="rId42"/>
    <p:sldId id="329" r:id="rId43"/>
    <p:sldId id="321" r:id="rId44"/>
    <p:sldId id="283" r:id="rId45"/>
    <p:sldId id="322" r:id="rId46"/>
    <p:sldId id="330" r:id="rId47"/>
    <p:sldId id="284" r:id="rId48"/>
    <p:sldId id="285" r:id="rId49"/>
    <p:sldId id="288" r:id="rId50"/>
    <p:sldId id="289" r:id="rId51"/>
    <p:sldId id="276" r:id="rId52"/>
    <p:sldId id="323" r:id="rId53"/>
    <p:sldId id="278" r:id="rId54"/>
    <p:sldId id="324" r:id="rId55"/>
    <p:sldId id="280" r:id="rId56"/>
    <p:sldId id="332" r:id="rId5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4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E1DFAF8-52EF-46F9-9E07-6573C82ECE50}" type="datetimeFigureOut">
              <a:rPr lang="en-US" smtClean="0"/>
              <a:t>10/7/2025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379D22D-C08C-4A97-94A6-E5BBD38A0DD2}" type="slidenum">
              <a:rPr lang="en-US" smtClean="0"/>
              <a:t>‹#›</a:t>
            </a:fld>
            <a:endParaRPr lang="en-US"/>
          </a:p>
        </p:txBody>
      </p:sp>
    </p:spTree>
    <p:extLst>
      <p:ext uri="{BB962C8B-B14F-4D97-AF65-F5344CB8AC3E}">
        <p14:creationId xmlns:p14="http://schemas.microsoft.com/office/powerpoint/2010/main" val="163089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Artificial Intelligence (AI) is the broad field aiming to create intelligent machines, Machine Learning (ML) is a subset of AI that enables systems to learn from data without explicit programming, and Deep Learning (DL) is a subset of ML that uses complex, layered neural networks to learn from vast amounts of data, particularly unstructured data like images and text. </a:t>
            </a:r>
            <a:endParaRPr lang="en-US" dirty="0"/>
          </a:p>
        </p:txBody>
      </p:sp>
      <p:sp>
        <p:nvSpPr>
          <p:cNvPr id="4" name="Slide Number Placeholder 3"/>
          <p:cNvSpPr>
            <a:spLocks noGrp="1"/>
          </p:cNvSpPr>
          <p:nvPr>
            <p:ph type="sldNum" sz="quarter" idx="5"/>
          </p:nvPr>
        </p:nvSpPr>
        <p:spPr/>
        <p:txBody>
          <a:bodyPr/>
          <a:lstStyle/>
          <a:p>
            <a:fld id="{9379D22D-C08C-4A97-94A6-E5BBD38A0DD2}" type="slidenum">
              <a:rPr lang="en-US" smtClean="0"/>
              <a:t>19</a:t>
            </a:fld>
            <a:endParaRPr lang="en-US"/>
          </a:p>
        </p:txBody>
      </p:sp>
    </p:spTree>
    <p:extLst>
      <p:ext uri="{BB962C8B-B14F-4D97-AF65-F5344CB8AC3E}">
        <p14:creationId xmlns:p14="http://schemas.microsoft.com/office/powerpoint/2010/main" val="3782013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D4A38C80-AD31-43A4-A2B9-F0967C9DDD15}" type="slidenum">
              <a:rPr lang="en-IN" smtClean="0"/>
              <a:pPr/>
              <a:t>28</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04EBAA21-2B97-4BAA-BF33-B8F6FACFB500}" type="slidenum">
              <a:rPr lang="en-GB" smtClean="0"/>
              <a:pPr/>
              <a:t>30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18E5-DDA3-9F57-F099-4A0CB3197E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8B76F6-DA7D-0F25-ECAD-C433AB3CCB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6F4931-4DC7-1BDF-01FB-05F6BAC84B5B}"/>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4CB045DE-7D45-85F7-2AB6-AE24A2FB16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60009-1042-B7E5-241A-1AEC6253BAFB}"/>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94722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9F88-4237-B493-A61E-B246672529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D5A6BF-7A53-3D41-020F-B79D7EAB75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6C3B91-012D-9150-737B-C404E7B00400}"/>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6CC957CA-6855-F7E0-80EC-04DDD52B9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EF755-C517-F6E9-A3EC-A91593C544D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10149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EB4A-8EB8-601C-96A0-E90E3DEB0F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C28470-CF76-D557-0854-CE56CC23C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B212A1-815D-274F-20A3-03A25A9F0858}"/>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AEA87C73-376D-B7F8-1254-0C1009C72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9E97E-360D-D4A3-3305-CC07115CAAF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96898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44C83-818D-8998-1B2F-2EAF5A5234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3100B9-DD03-D102-5A71-CB93668927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412205-6377-9055-0E0C-FC3FEAAA3B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11128-BCB8-2115-057C-36AF57040D23}"/>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6" name="Footer Placeholder 5">
            <a:extLst>
              <a:ext uri="{FF2B5EF4-FFF2-40B4-BE49-F238E27FC236}">
                <a16:creationId xmlns:a16="http://schemas.microsoft.com/office/drawing/2014/main" id="{0A1EBFFA-C3DE-5B24-3AB6-5422B8107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6EE6D4-CDC9-6E47-6E2F-463F66B077C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68880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DBB9-2E96-514D-5C1F-8A15F071D6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6C5C72-BBE3-10B2-DE09-7C38C923F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9D53F2-D368-1C10-B856-F64E2E4B9C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BC7A1B-C704-B3F2-B5A5-4A61B13679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68BB28-2E90-24F4-8C8F-767F8AB123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92E706-DDA5-A168-6C21-95410DF9A06F}"/>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8" name="Footer Placeholder 7">
            <a:extLst>
              <a:ext uri="{FF2B5EF4-FFF2-40B4-BE49-F238E27FC236}">
                <a16:creationId xmlns:a16="http://schemas.microsoft.com/office/drawing/2014/main" id="{934CB41C-B569-7B45-4143-5A78789799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979305-8FDB-3035-8E53-22FFB47ED3B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79280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09CCA-C1A0-387D-6A18-201EBC562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0A013-89F9-958E-C90B-20F564ED2F22}"/>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4" name="Footer Placeholder 3">
            <a:extLst>
              <a:ext uri="{FF2B5EF4-FFF2-40B4-BE49-F238E27FC236}">
                <a16:creationId xmlns:a16="http://schemas.microsoft.com/office/drawing/2014/main" id="{7FE53054-0447-C970-5343-A64DBA9777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543FA5-3192-61C7-09E5-89470E93174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6474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3BA438-0B9E-246B-999C-8FB784D86D67}"/>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3" name="Footer Placeholder 2">
            <a:extLst>
              <a:ext uri="{FF2B5EF4-FFF2-40B4-BE49-F238E27FC236}">
                <a16:creationId xmlns:a16="http://schemas.microsoft.com/office/drawing/2014/main" id="{FEEF7AC6-16FF-08CC-E3B6-6474C00DA6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4AEEAE-7819-8F8C-F3BA-4113E42F4E0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78811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290BC-9B98-BC77-A444-A33B83B04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031D59-1148-8F49-763E-DA0D0F5DDC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E5CCC-5654-FA6C-4266-1EDC2960D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1F27B-C81A-E4B4-12FD-78E2754F5C56}"/>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6" name="Footer Placeholder 5">
            <a:extLst>
              <a:ext uri="{FF2B5EF4-FFF2-40B4-BE49-F238E27FC236}">
                <a16:creationId xmlns:a16="http://schemas.microsoft.com/office/drawing/2014/main" id="{04BE8BA7-E64A-A53E-5739-AFE1CBAB51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09CA64-86F9-ECE2-45ED-215B7F7E0F0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44924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D698-E520-9B4F-9E01-CDCC12089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0DDA13-FAC3-1C50-66F6-416B2D540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A317A2-FCE6-5754-6207-FBFBCB473B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717ED3-8E16-5220-0CD5-370796D6A75F}"/>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6" name="Footer Placeholder 5">
            <a:extLst>
              <a:ext uri="{FF2B5EF4-FFF2-40B4-BE49-F238E27FC236}">
                <a16:creationId xmlns:a16="http://schemas.microsoft.com/office/drawing/2014/main" id="{311694A6-7387-376A-B7F7-5BD9DA078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7CBE51-AA6A-2C87-25BF-063B7B57837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79320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E0F09-1B91-1998-29A0-B8A5475184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8EC915-2BE7-C3F5-416E-5F667282F6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91542-78E8-71E7-7A88-A2B262285709}"/>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00B29935-1C41-FBD4-D3E6-6011F0EF95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D3ED1-5D83-5E36-1B2B-E908D4420DA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55423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821F9-EA30-22FF-81CF-51145DAEF0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173A93-5A01-6A78-DADC-6A7F672A0F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3C094C-67B1-7C91-A541-80386D8D61A0}"/>
              </a:ext>
            </a:extLst>
          </p:cNvPr>
          <p:cNvSpPr>
            <a:spLocks noGrp="1"/>
          </p:cNvSpPr>
          <p:nvPr>
            <p:ph type="dt" sz="half" idx="10"/>
          </p:nvPr>
        </p:nvSpPr>
        <p:spPr/>
        <p:txBody>
          <a:body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6B36940A-CEBC-D287-F312-16750222A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43404-EEF1-1146-DA00-8CC155F3B11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10142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158AE3-80C8-F665-8A1C-E715C00225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027C6D-F8A8-2955-CD78-CD539A7E8E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6881D-6A70-D82E-1D9D-0A3676EF35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BD707-D9CF-40AE-B4C6-C98DA3205C09}" type="datetimeFigureOut">
              <a:rPr lang="en-US" smtClean="0"/>
              <a:t>10/7/2025</a:t>
            </a:fld>
            <a:endParaRPr lang="en-US"/>
          </a:p>
        </p:txBody>
      </p:sp>
      <p:sp>
        <p:nvSpPr>
          <p:cNvPr id="5" name="Footer Placeholder 4">
            <a:extLst>
              <a:ext uri="{FF2B5EF4-FFF2-40B4-BE49-F238E27FC236}">
                <a16:creationId xmlns:a16="http://schemas.microsoft.com/office/drawing/2014/main" id="{EAB75A8C-5FC0-6913-4B7B-66EA86B5F3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87AF81-42B9-F3E3-9868-AFB4B3563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43535653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anaconda.co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8.gif"/></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jpg"/><Relationship Id="rId5" Type="http://schemas.openxmlformats.org/officeDocument/2006/relationships/image" Target="../media/image60.jpg"/><Relationship Id="rId4" Type="http://schemas.openxmlformats.org/officeDocument/2006/relationships/image" Target="../media/image59.jpg"/></Relationships>
</file>

<file path=ppt/slides/_rels/slide45.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jpg"/></Relationships>
</file>

<file path=ppt/slides/_rels/slide47.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image" Target="../media/image40.jpg"/><Relationship Id="rId7" Type="http://schemas.openxmlformats.org/officeDocument/2006/relationships/image" Target="../media/image68.jpg"/><Relationship Id="rId2" Type="http://schemas.openxmlformats.org/officeDocument/2006/relationships/image" Target="../media/image66.jpg"/><Relationship Id="rId1" Type="http://schemas.openxmlformats.org/officeDocument/2006/relationships/slideLayout" Target="../slideLayouts/slideLayout2.xml"/><Relationship Id="rId6" Type="http://schemas.openxmlformats.org/officeDocument/2006/relationships/image" Target="../media/image67.jpg"/><Relationship Id="rId5" Type="http://schemas.openxmlformats.org/officeDocument/2006/relationships/image" Target="../media/image58.jpg"/><Relationship Id="rId4" Type="http://schemas.openxmlformats.org/officeDocument/2006/relationships/image" Target="../media/image49.jpg"/></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3.jpg"/><Relationship Id="rId7" Type="http://schemas.openxmlformats.org/officeDocument/2006/relationships/image" Target="../media/image77.png"/><Relationship Id="rId2" Type="http://schemas.openxmlformats.org/officeDocument/2006/relationships/image" Target="../media/image72.jp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jpg"/><Relationship Id="rId4" Type="http://schemas.openxmlformats.org/officeDocument/2006/relationships/image" Target="../media/image74.jpg"/></Relationships>
</file>

<file path=ppt/slides/_rels/slide5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2.xml"/><Relationship Id="rId4" Type="http://schemas.openxmlformats.org/officeDocument/2006/relationships/image" Target="../media/image85.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D0D0D"/>
          </a:solidFill>
        </p:spPr>
        <p:txBody>
          <a:bodyPr wrap="square" lIns="0" tIns="0" rIns="0" bIns="0" rtlCol="0"/>
          <a:lstStyle/>
          <a:p>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3047"/>
              <a:ext cx="8035543" cy="2671572"/>
            </a:xfrm>
            <a:prstGeom prst="rect">
              <a:avLst/>
            </a:prstGeom>
          </p:spPr>
        </p:pic>
        <p:pic>
          <p:nvPicPr>
            <p:cNvPr id="5" name="object 5"/>
            <p:cNvPicPr/>
            <p:nvPr/>
          </p:nvPicPr>
          <p:blipFill>
            <a:blip r:embed="rId3" cstate="print"/>
            <a:stretch>
              <a:fillRect/>
            </a:stretch>
          </p:blipFill>
          <p:spPr>
            <a:xfrm>
              <a:off x="6096" y="2353054"/>
              <a:ext cx="7328789" cy="4466082"/>
            </a:xfrm>
            <a:prstGeom prst="rect">
              <a:avLst/>
            </a:prstGeom>
          </p:spPr>
        </p:pic>
        <p:pic>
          <p:nvPicPr>
            <p:cNvPr id="6" name="object 6"/>
            <p:cNvPicPr/>
            <p:nvPr/>
          </p:nvPicPr>
          <p:blipFill>
            <a:blip r:embed="rId4" cstate="print"/>
            <a:stretch>
              <a:fillRect/>
            </a:stretch>
          </p:blipFill>
          <p:spPr>
            <a:xfrm>
              <a:off x="0" y="0"/>
              <a:ext cx="12192000" cy="6858000"/>
            </a:xfrm>
            <a:prstGeom prst="rect">
              <a:avLst/>
            </a:prstGeom>
          </p:spPr>
        </p:pic>
        <p:sp>
          <p:nvSpPr>
            <p:cNvPr id="7" name="object 7"/>
            <p:cNvSpPr/>
            <p:nvPr/>
          </p:nvSpPr>
          <p:spPr>
            <a:xfrm>
              <a:off x="380" y="2398395"/>
              <a:ext cx="11004550" cy="0"/>
            </a:xfrm>
            <a:custGeom>
              <a:avLst/>
              <a:gdLst/>
              <a:ahLst/>
              <a:cxnLst/>
              <a:rect l="l" t="t" r="r" b="b"/>
              <a:pathLst>
                <a:path w="11004550">
                  <a:moveTo>
                    <a:pt x="11004296" y="0"/>
                  </a:moveTo>
                  <a:lnTo>
                    <a:pt x="0" y="0"/>
                  </a:lnTo>
                </a:path>
              </a:pathLst>
            </a:custGeom>
            <a:ln w="12954">
              <a:solidFill>
                <a:srgbClr val="EC7C30"/>
              </a:solidFill>
            </a:ln>
          </p:spPr>
          <p:txBody>
            <a:bodyPr wrap="square" lIns="0" tIns="0" rIns="0" bIns="0" rtlCol="0"/>
            <a:lstStyle/>
            <a:p>
              <a:endParaRPr/>
            </a:p>
          </p:txBody>
        </p:sp>
      </p:grpSp>
      <p:sp>
        <p:nvSpPr>
          <p:cNvPr id="9" name="object 9"/>
          <p:cNvSpPr txBox="1">
            <a:spLocks noGrp="1"/>
          </p:cNvSpPr>
          <p:nvPr>
            <p:ph type="title"/>
          </p:nvPr>
        </p:nvSpPr>
        <p:spPr>
          <a:xfrm>
            <a:off x="206502" y="-112776"/>
            <a:ext cx="11778995" cy="1033777"/>
          </a:xfrm>
          <a:prstGeom prst="rect">
            <a:avLst/>
          </a:prstGeom>
        </p:spPr>
        <p:txBody>
          <a:bodyPr vert="horz" wrap="square" lIns="0" tIns="205899" rIns="0" bIns="0" rtlCol="0">
            <a:spAutoFit/>
          </a:bodyPr>
          <a:lstStyle/>
          <a:p>
            <a:pPr marL="5382260" algn="ctr">
              <a:lnSpc>
                <a:spcPct val="100000"/>
              </a:lnSpc>
              <a:spcBef>
                <a:spcPts val="370"/>
              </a:spcBef>
            </a:pPr>
            <a:r>
              <a:rPr sz="3200" dirty="0">
                <a:solidFill>
                  <a:srgbClr val="FFFFFF"/>
                </a:solidFill>
              </a:rPr>
              <a:t>Machine</a:t>
            </a:r>
            <a:r>
              <a:rPr sz="3200" spc="-35" dirty="0">
                <a:solidFill>
                  <a:srgbClr val="FFFFFF"/>
                </a:solidFill>
              </a:rPr>
              <a:t> </a:t>
            </a:r>
            <a:r>
              <a:rPr sz="3200" spc="-10" dirty="0">
                <a:solidFill>
                  <a:srgbClr val="FFFFFF"/>
                </a:solidFill>
              </a:rPr>
              <a:t>Learning</a:t>
            </a:r>
            <a:endParaRPr sz="3200" dirty="0"/>
          </a:p>
          <a:p>
            <a:pPr marL="5384165" algn="ctr">
              <a:lnSpc>
                <a:spcPct val="100000"/>
              </a:lnSpc>
              <a:spcBef>
                <a:spcPts val="165"/>
              </a:spcBef>
            </a:pPr>
            <a:endParaRPr sz="2000" dirty="0"/>
          </a:p>
        </p:txBody>
      </p:sp>
      <p:sp>
        <p:nvSpPr>
          <p:cNvPr id="10" name="object 10"/>
          <p:cNvSpPr txBox="1"/>
          <p:nvPr/>
        </p:nvSpPr>
        <p:spPr>
          <a:xfrm>
            <a:off x="8170671" y="1215390"/>
            <a:ext cx="1234440"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Calibri"/>
                <a:cs typeface="Calibri"/>
              </a:rPr>
              <a:t>Overview</a:t>
            </a:r>
            <a:endParaRPr sz="2400">
              <a:latin typeface="Calibri"/>
              <a:cs typeface="Calibri"/>
            </a:endParaRPr>
          </a:p>
        </p:txBody>
      </p:sp>
      <p:sp>
        <p:nvSpPr>
          <p:cNvPr id="11" name="object 11"/>
          <p:cNvSpPr txBox="1"/>
          <p:nvPr/>
        </p:nvSpPr>
        <p:spPr>
          <a:xfrm>
            <a:off x="6936231" y="3174746"/>
            <a:ext cx="4199890" cy="566822"/>
          </a:xfrm>
          <a:prstGeom prst="rect">
            <a:avLst/>
          </a:prstGeom>
        </p:spPr>
        <p:txBody>
          <a:bodyPr vert="horz" wrap="square" lIns="0" tIns="12700" rIns="0" bIns="0" rtlCol="0">
            <a:spAutoFit/>
          </a:bodyPr>
          <a:lstStyle/>
          <a:p>
            <a:pPr>
              <a:lnSpc>
                <a:spcPct val="100000"/>
              </a:lnSpc>
              <a:spcBef>
                <a:spcPts val="45"/>
              </a:spcBef>
            </a:pPr>
            <a:r>
              <a:rPr lang="en-US" sz="1800" dirty="0">
                <a:solidFill>
                  <a:schemeClr val="bg1"/>
                </a:solidFill>
                <a:latin typeface="Cambria"/>
                <a:cs typeface="Cambria"/>
              </a:rPr>
              <a:t>ANWAR KHAN</a:t>
            </a:r>
            <a:endParaRPr sz="1800" dirty="0">
              <a:solidFill>
                <a:schemeClr val="bg1"/>
              </a:solidFill>
              <a:latin typeface="Cambria"/>
              <a:cs typeface="Cambria"/>
            </a:endParaRPr>
          </a:p>
          <a:p>
            <a:pPr marL="12700" marR="5080" indent="432434">
              <a:lnSpc>
                <a:spcPct val="100000"/>
              </a:lnSpc>
              <a:spcBef>
                <a:spcPts val="5"/>
              </a:spcBef>
            </a:pPr>
            <a:r>
              <a:rPr lang="en-US" sz="1800" dirty="0">
                <a:solidFill>
                  <a:srgbClr val="FFFFFF"/>
                </a:solidFill>
                <a:latin typeface="Cambria"/>
                <a:cs typeface="Cambria"/>
              </a:rPr>
              <a:t>University of </a:t>
            </a:r>
            <a:r>
              <a:rPr sz="1800" dirty="0">
                <a:solidFill>
                  <a:srgbClr val="FFFFFF"/>
                </a:solidFill>
                <a:latin typeface="Cambria"/>
                <a:cs typeface="Cambria"/>
              </a:rPr>
              <a:t>Lahore</a:t>
            </a:r>
            <a:r>
              <a:rPr sz="1800" spc="-50" dirty="0">
                <a:solidFill>
                  <a:srgbClr val="FFFFFF"/>
                </a:solidFill>
                <a:latin typeface="Cambria"/>
                <a:cs typeface="Cambria"/>
              </a:rPr>
              <a:t> </a:t>
            </a:r>
            <a:endParaRPr sz="1800" dirty="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5547" y="46329"/>
            <a:ext cx="10515600" cy="1325563"/>
          </a:xfrm>
          <a:prstGeom prst="rect">
            <a:avLst/>
          </a:prstGeom>
        </p:spPr>
        <p:txBody>
          <a:bodyPr vert="horz" wrap="square" lIns="0" tIns="172720" rIns="0" bIns="0" rtlCol="0">
            <a:spAutoFit/>
          </a:bodyPr>
          <a:lstStyle/>
          <a:p>
            <a:pPr marL="3373120">
              <a:lnSpc>
                <a:spcPct val="100000"/>
              </a:lnSpc>
              <a:spcBef>
                <a:spcPts val="100"/>
              </a:spcBef>
            </a:pPr>
            <a:r>
              <a:rPr dirty="0"/>
              <a:t>What</a:t>
            </a:r>
            <a:r>
              <a:rPr spc="-95" dirty="0"/>
              <a:t> </a:t>
            </a:r>
            <a:r>
              <a:rPr dirty="0"/>
              <a:t>is</a:t>
            </a:r>
            <a:r>
              <a:rPr spc="-95" dirty="0"/>
              <a:t> </a:t>
            </a:r>
            <a:r>
              <a:rPr dirty="0"/>
              <a:t>this</a:t>
            </a:r>
            <a:r>
              <a:rPr spc="-85" dirty="0"/>
              <a:t> </a:t>
            </a:r>
            <a:r>
              <a:rPr dirty="0"/>
              <a:t>course</a:t>
            </a:r>
            <a:r>
              <a:rPr spc="-95" dirty="0"/>
              <a:t> </a:t>
            </a:r>
            <a:r>
              <a:rPr spc="-10" dirty="0"/>
              <a:t>about?</a:t>
            </a:r>
          </a:p>
        </p:txBody>
      </p:sp>
      <p:sp>
        <p:nvSpPr>
          <p:cNvPr id="3" name="object 3"/>
          <p:cNvSpPr txBox="1"/>
          <p:nvPr/>
        </p:nvSpPr>
        <p:spPr>
          <a:xfrm>
            <a:off x="721105" y="1266444"/>
            <a:ext cx="9254490" cy="939800"/>
          </a:xfrm>
          <a:prstGeom prst="rect">
            <a:avLst/>
          </a:prstGeom>
        </p:spPr>
        <p:txBody>
          <a:bodyPr vert="horz" wrap="square" lIns="0" tIns="12065" rIns="0" bIns="0" rtlCol="0">
            <a:spAutoFit/>
          </a:bodyPr>
          <a:lstStyle/>
          <a:p>
            <a:pPr marL="12700">
              <a:lnSpc>
                <a:spcPct val="100000"/>
              </a:lnSpc>
              <a:spcBef>
                <a:spcPts val="95"/>
              </a:spcBef>
            </a:pPr>
            <a:r>
              <a:rPr sz="2000" dirty="0">
                <a:latin typeface="Segoe Print"/>
                <a:cs typeface="Segoe Print"/>
              </a:rPr>
              <a:t>Introductory</a:t>
            </a:r>
            <a:r>
              <a:rPr sz="2000" spc="-55" dirty="0">
                <a:latin typeface="Segoe Print"/>
                <a:cs typeface="Segoe Print"/>
              </a:rPr>
              <a:t> </a:t>
            </a:r>
            <a:r>
              <a:rPr sz="2000" dirty="0">
                <a:latin typeface="Segoe Print"/>
                <a:cs typeface="Segoe Print"/>
              </a:rPr>
              <a:t>course</a:t>
            </a:r>
            <a:r>
              <a:rPr sz="2000" spc="-55" dirty="0">
                <a:latin typeface="Segoe Print"/>
                <a:cs typeface="Segoe Print"/>
              </a:rPr>
              <a:t> </a:t>
            </a:r>
            <a:r>
              <a:rPr sz="2000" dirty="0">
                <a:latin typeface="Segoe Print"/>
                <a:cs typeface="Segoe Print"/>
              </a:rPr>
              <a:t>in</a:t>
            </a:r>
            <a:r>
              <a:rPr sz="2000" spc="-60" dirty="0">
                <a:latin typeface="Segoe Print"/>
                <a:cs typeface="Segoe Print"/>
              </a:rPr>
              <a:t> </a:t>
            </a:r>
            <a:r>
              <a:rPr sz="2000" dirty="0">
                <a:latin typeface="Segoe Print"/>
                <a:cs typeface="Segoe Print"/>
              </a:rPr>
              <a:t>Machine</a:t>
            </a:r>
            <a:r>
              <a:rPr sz="2000" spc="-50" dirty="0">
                <a:latin typeface="Segoe Print"/>
                <a:cs typeface="Segoe Print"/>
              </a:rPr>
              <a:t> </a:t>
            </a:r>
            <a:r>
              <a:rPr sz="2000" dirty="0">
                <a:latin typeface="Segoe Print"/>
                <a:cs typeface="Segoe Print"/>
              </a:rPr>
              <a:t>Learning</a:t>
            </a:r>
            <a:r>
              <a:rPr sz="2000" spc="-60" dirty="0">
                <a:latin typeface="Segoe Print"/>
                <a:cs typeface="Segoe Print"/>
              </a:rPr>
              <a:t> </a:t>
            </a:r>
            <a:r>
              <a:rPr sz="2000" dirty="0">
                <a:latin typeface="Segoe Print"/>
                <a:cs typeface="Segoe Print"/>
              </a:rPr>
              <a:t>(ML)</a:t>
            </a:r>
            <a:r>
              <a:rPr sz="2000" spc="-50" dirty="0">
                <a:latin typeface="Segoe Print"/>
                <a:cs typeface="Segoe Print"/>
              </a:rPr>
              <a:t> </a:t>
            </a:r>
            <a:r>
              <a:rPr sz="2000" dirty="0">
                <a:latin typeface="Segoe Print"/>
                <a:cs typeface="Segoe Print"/>
              </a:rPr>
              <a:t>–</a:t>
            </a:r>
            <a:r>
              <a:rPr sz="2000" spc="-50" dirty="0">
                <a:latin typeface="Segoe Print"/>
                <a:cs typeface="Segoe Print"/>
              </a:rPr>
              <a:t> </a:t>
            </a:r>
            <a:r>
              <a:rPr sz="2000" dirty="0">
                <a:latin typeface="Segoe Print"/>
                <a:cs typeface="Segoe Print"/>
              </a:rPr>
              <a:t>Fundamental</a:t>
            </a:r>
            <a:r>
              <a:rPr sz="2000" spc="-30" dirty="0">
                <a:latin typeface="Segoe Print"/>
                <a:cs typeface="Segoe Print"/>
              </a:rPr>
              <a:t> </a:t>
            </a:r>
            <a:r>
              <a:rPr sz="2000" dirty="0">
                <a:latin typeface="Segoe Print"/>
                <a:cs typeface="Segoe Print"/>
              </a:rPr>
              <a:t>topics</a:t>
            </a:r>
            <a:r>
              <a:rPr sz="2000" spc="-60" dirty="0">
                <a:latin typeface="Segoe Print"/>
                <a:cs typeface="Segoe Print"/>
              </a:rPr>
              <a:t> </a:t>
            </a:r>
            <a:r>
              <a:rPr sz="2000" spc="-25" dirty="0">
                <a:latin typeface="Segoe Print"/>
                <a:cs typeface="Segoe Print"/>
              </a:rPr>
              <a:t>in</a:t>
            </a:r>
            <a:endParaRPr sz="2000" dirty="0">
              <a:latin typeface="Segoe Print"/>
              <a:cs typeface="Segoe Print"/>
            </a:endParaRPr>
          </a:p>
          <a:p>
            <a:pPr marL="354965" indent="-342265">
              <a:lnSpc>
                <a:spcPct val="100000"/>
              </a:lnSpc>
              <a:buChar char="-"/>
              <a:tabLst>
                <a:tab pos="354965" algn="l"/>
              </a:tabLst>
            </a:pPr>
            <a:r>
              <a:rPr sz="2000" dirty="0">
                <a:latin typeface="Segoe Print"/>
                <a:cs typeface="Segoe Print"/>
              </a:rPr>
              <a:t>Supervised</a:t>
            </a:r>
            <a:r>
              <a:rPr sz="2000" spc="-45" dirty="0">
                <a:latin typeface="Segoe Print"/>
                <a:cs typeface="Segoe Print"/>
              </a:rPr>
              <a:t> </a:t>
            </a:r>
            <a:r>
              <a:rPr sz="2000" spc="-10" dirty="0">
                <a:latin typeface="Segoe Print"/>
                <a:cs typeface="Segoe Print"/>
              </a:rPr>
              <a:t>learning</a:t>
            </a:r>
            <a:endParaRPr sz="2000" dirty="0">
              <a:latin typeface="Segoe Print"/>
              <a:cs typeface="Segoe Print"/>
            </a:endParaRPr>
          </a:p>
          <a:p>
            <a:pPr marL="354965" indent="-342265">
              <a:lnSpc>
                <a:spcPct val="100000"/>
              </a:lnSpc>
              <a:spcBef>
                <a:spcPts val="5"/>
              </a:spcBef>
              <a:buChar char="-"/>
              <a:tabLst>
                <a:tab pos="354965" algn="l"/>
              </a:tabLst>
            </a:pPr>
            <a:r>
              <a:rPr sz="2000" dirty="0">
                <a:latin typeface="Segoe Print"/>
                <a:cs typeface="Segoe Print"/>
              </a:rPr>
              <a:t>Unsupervised</a:t>
            </a:r>
            <a:r>
              <a:rPr sz="2000" spc="-80" dirty="0">
                <a:latin typeface="Segoe Print"/>
                <a:cs typeface="Segoe Print"/>
              </a:rPr>
              <a:t> </a:t>
            </a:r>
            <a:r>
              <a:rPr sz="2000" spc="-10" dirty="0">
                <a:latin typeface="Segoe Print"/>
                <a:cs typeface="Segoe Print"/>
              </a:rPr>
              <a:t>learning</a:t>
            </a:r>
            <a:endParaRPr sz="2000" dirty="0">
              <a:latin typeface="Segoe Print"/>
              <a:cs typeface="Segoe Print"/>
            </a:endParaRPr>
          </a:p>
        </p:txBody>
      </p:sp>
      <p:sp>
        <p:nvSpPr>
          <p:cNvPr id="4" name="object 4"/>
          <p:cNvSpPr txBox="1"/>
          <p:nvPr/>
        </p:nvSpPr>
        <p:spPr>
          <a:xfrm>
            <a:off x="721105" y="3107182"/>
            <a:ext cx="10437495" cy="2772410"/>
          </a:xfrm>
          <a:prstGeom prst="rect">
            <a:avLst/>
          </a:prstGeom>
        </p:spPr>
        <p:txBody>
          <a:bodyPr vert="horz" wrap="square" lIns="0" tIns="12700" rIns="0" bIns="0" rtlCol="0">
            <a:spAutoFit/>
          </a:bodyPr>
          <a:lstStyle/>
          <a:p>
            <a:pPr marL="61594">
              <a:lnSpc>
                <a:spcPct val="100000"/>
              </a:lnSpc>
              <a:spcBef>
                <a:spcPts val="100"/>
              </a:spcBef>
            </a:pPr>
            <a:r>
              <a:rPr sz="2400" b="1" u="sng" dirty="0">
                <a:uFill>
                  <a:solidFill>
                    <a:srgbClr val="000000"/>
                  </a:solidFill>
                </a:uFill>
                <a:latin typeface="Calibri"/>
                <a:cs typeface="Calibri"/>
              </a:rPr>
              <a:t>Course</a:t>
            </a:r>
            <a:r>
              <a:rPr sz="2400" b="1" u="sng" spc="-80" dirty="0">
                <a:uFill>
                  <a:solidFill>
                    <a:srgbClr val="000000"/>
                  </a:solidFill>
                </a:uFill>
                <a:latin typeface="Calibri"/>
                <a:cs typeface="Calibri"/>
              </a:rPr>
              <a:t> </a:t>
            </a:r>
            <a:r>
              <a:rPr sz="2400" b="1" u="sng" spc="-10" dirty="0">
                <a:uFill>
                  <a:solidFill>
                    <a:srgbClr val="000000"/>
                  </a:solidFill>
                </a:uFill>
                <a:latin typeface="Calibri"/>
                <a:cs typeface="Calibri"/>
              </a:rPr>
              <a:t>Objectives:</a:t>
            </a:r>
            <a:endParaRPr sz="2400" dirty="0">
              <a:latin typeface="Calibri"/>
              <a:cs typeface="Calibri"/>
            </a:endParaRPr>
          </a:p>
          <a:p>
            <a:pPr marL="354965" indent="-342265">
              <a:lnSpc>
                <a:spcPct val="100000"/>
              </a:lnSpc>
              <a:spcBef>
                <a:spcPts val="1945"/>
              </a:spcBef>
              <a:buFont typeface="Arial MT"/>
              <a:buChar char="•"/>
              <a:tabLst>
                <a:tab pos="354965" algn="l"/>
              </a:tabLst>
            </a:pPr>
            <a:r>
              <a:rPr sz="2000" dirty="0">
                <a:latin typeface="Segoe Print"/>
                <a:cs typeface="Segoe Print"/>
              </a:rPr>
              <a:t>To</a:t>
            </a:r>
            <a:r>
              <a:rPr sz="2000" spc="-25" dirty="0">
                <a:latin typeface="Segoe Print"/>
                <a:cs typeface="Segoe Print"/>
              </a:rPr>
              <a:t> </a:t>
            </a:r>
            <a:r>
              <a:rPr sz="2000" dirty="0">
                <a:latin typeface="Segoe Print"/>
                <a:cs typeface="Segoe Print"/>
              </a:rPr>
              <a:t>provide</a:t>
            </a:r>
            <a:r>
              <a:rPr sz="2000" spc="-40" dirty="0">
                <a:latin typeface="Segoe Print"/>
                <a:cs typeface="Segoe Print"/>
              </a:rPr>
              <a:t> </a:t>
            </a:r>
            <a:r>
              <a:rPr sz="2000" dirty="0">
                <a:latin typeface="Segoe Print"/>
                <a:cs typeface="Segoe Print"/>
              </a:rPr>
              <a:t>a</a:t>
            </a:r>
            <a:r>
              <a:rPr sz="2000" spc="-20" dirty="0">
                <a:latin typeface="Segoe Print"/>
                <a:cs typeface="Segoe Print"/>
              </a:rPr>
              <a:t> </a:t>
            </a:r>
            <a:r>
              <a:rPr sz="2000" dirty="0">
                <a:latin typeface="Segoe Print"/>
                <a:cs typeface="Segoe Print"/>
              </a:rPr>
              <a:t>thorough</a:t>
            </a:r>
            <a:r>
              <a:rPr sz="2000" spc="-25" dirty="0">
                <a:latin typeface="Segoe Print"/>
                <a:cs typeface="Segoe Print"/>
              </a:rPr>
              <a:t> </a:t>
            </a:r>
            <a:r>
              <a:rPr sz="2000" dirty="0">
                <a:latin typeface="Segoe Print"/>
                <a:cs typeface="Segoe Print"/>
              </a:rPr>
              <a:t>introduction</a:t>
            </a:r>
            <a:r>
              <a:rPr sz="2000" spc="-20" dirty="0">
                <a:latin typeface="Segoe Print"/>
                <a:cs typeface="Segoe Print"/>
              </a:rPr>
              <a:t> </a:t>
            </a:r>
            <a:r>
              <a:rPr sz="2000" dirty="0">
                <a:latin typeface="Segoe Print"/>
                <a:cs typeface="Segoe Print"/>
              </a:rPr>
              <a:t>to</a:t>
            </a:r>
            <a:r>
              <a:rPr sz="2000" spc="-25" dirty="0">
                <a:latin typeface="Segoe Print"/>
                <a:cs typeface="Segoe Print"/>
              </a:rPr>
              <a:t> </a:t>
            </a:r>
            <a:r>
              <a:rPr sz="2000" dirty="0">
                <a:latin typeface="Segoe Print"/>
                <a:cs typeface="Segoe Print"/>
              </a:rPr>
              <a:t>ML</a:t>
            </a:r>
            <a:r>
              <a:rPr sz="2000" spc="-20" dirty="0">
                <a:latin typeface="Segoe Print"/>
                <a:cs typeface="Segoe Print"/>
              </a:rPr>
              <a:t> </a:t>
            </a:r>
            <a:r>
              <a:rPr sz="2000" spc="-10" dirty="0">
                <a:latin typeface="Segoe Print"/>
                <a:cs typeface="Segoe Print"/>
              </a:rPr>
              <a:t>methods</a:t>
            </a:r>
            <a:endParaRPr sz="2000" dirty="0">
              <a:latin typeface="Segoe Print"/>
              <a:cs typeface="Segoe Print"/>
            </a:endParaRPr>
          </a:p>
          <a:p>
            <a:pPr marL="355600" marR="117475" indent="-342900">
              <a:lnSpc>
                <a:spcPct val="150000"/>
              </a:lnSpc>
              <a:buFont typeface="Arial MT"/>
              <a:buChar char="•"/>
              <a:tabLst>
                <a:tab pos="355600" algn="l"/>
              </a:tabLst>
            </a:pPr>
            <a:r>
              <a:rPr sz="2000" dirty="0">
                <a:latin typeface="Segoe Print"/>
                <a:cs typeface="Segoe Print"/>
              </a:rPr>
              <a:t>To</a:t>
            </a:r>
            <a:r>
              <a:rPr sz="2000" spc="-45" dirty="0">
                <a:latin typeface="Segoe Print"/>
                <a:cs typeface="Segoe Print"/>
              </a:rPr>
              <a:t> </a:t>
            </a:r>
            <a:r>
              <a:rPr sz="2000" dirty="0">
                <a:latin typeface="Segoe Print"/>
                <a:cs typeface="Segoe Print"/>
              </a:rPr>
              <a:t>build</a:t>
            </a:r>
            <a:r>
              <a:rPr sz="2000" spc="-35" dirty="0">
                <a:latin typeface="Segoe Print"/>
                <a:cs typeface="Segoe Print"/>
              </a:rPr>
              <a:t> </a:t>
            </a:r>
            <a:r>
              <a:rPr sz="2000" dirty="0">
                <a:latin typeface="Segoe Print"/>
                <a:cs typeface="Segoe Print"/>
              </a:rPr>
              <a:t>mathematical</a:t>
            </a:r>
            <a:r>
              <a:rPr sz="2000" spc="-35" dirty="0">
                <a:latin typeface="Segoe Print"/>
                <a:cs typeface="Segoe Print"/>
              </a:rPr>
              <a:t> </a:t>
            </a:r>
            <a:r>
              <a:rPr sz="2000" dirty="0">
                <a:latin typeface="Segoe Print"/>
                <a:cs typeface="Segoe Print"/>
              </a:rPr>
              <a:t>foundations</a:t>
            </a:r>
            <a:r>
              <a:rPr sz="2000" spc="-30" dirty="0">
                <a:latin typeface="Segoe Print"/>
                <a:cs typeface="Segoe Print"/>
              </a:rPr>
              <a:t> </a:t>
            </a:r>
            <a:r>
              <a:rPr sz="2000" dirty="0">
                <a:latin typeface="Segoe Print"/>
                <a:cs typeface="Segoe Print"/>
              </a:rPr>
              <a:t>of</a:t>
            </a:r>
            <a:r>
              <a:rPr sz="2000" spc="-40" dirty="0">
                <a:latin typeface="Segoe Print"/>
                <a:cs typeface="Segoe Print"/>
              </a:rPr>
              <a:t> </a:t>
            </a:r>
            <a:r>
              <a:rPr sz="2000" dirty="0">
                <a:latin typeface="Segoe Print"/>
                <a:cs typeface="Segoe Print"/>
              </a:rPr>
              <a:t>ML</a:t>
            </a:r>
            <a:r>
              <a:rPr sz="2000" spc="-50" dirty="0">
                <a:latin typeface="Segoe Print"/>
                <a:cs typeface="Segoe Print"/>
              </a:rPr>
              <a:t> </a:t>
            </a:r>
            <a:r>
              <a:rPr sz="2000" dirty="0">
                <a:latin typeface="Segoe Print"/>
                <a:cs typeface="Segoe Print"/>
              </a:rPr>
              <a:t>and</a:t>
            </a:r>
            <a:r>
              <a:rPr sz="2000" spc="-35" dirty="0">
                <a:latin typeface="Segoe Print"/>
                <a:cs typeface="Segoe Print"/>
              </a:rPr>
              <a:t> </a:t>
            </a:r>
            <a:r>
              <a:rPr sz="2000" dirty="0">
                <a:latin typeface="Segoe Print"/>
                <a:cs typeface="Segoe Print"/>
              </a:rPr>
              <a:t>provide</a:t>
            </a:r>
            <a:r>
              <a:rPr sz="2000" spc="-55" dirty="0">
                <a:latin typeface="Segoe Print"/>
                <a:cs typeface="Segoe Print"/>
              </a:rPr>
              <a:t> </a:t>
            </a:r>
            <a:r>
              <a:rPr sz="2000" dirty="0">
                <a:latin typeface="Segoe Print"/>
                <a:cs typeface="Segoe Print"/>
              </a:rPr>
              <a:t>an</a:t>
            </a:r>
            <a:r>
              <a:rPr sz="2000" spc="-45" dirty="0">
                <a:latin typeface="Segoe Print"/>
                <a:cs typeface="Segoe Print"/>
              </a:rPr>
              <a:t> </a:t>
            </a:r>
            <a:r>
              <a:rPr sz="2000" dirty="0">
                <a:latin typeface="Segoe Print"/>
                <a:cs typeface="Segoe Print"/>
              </a:rPr>
              <a:t>appreciation</a:t>
            </a:r>
            <a:r>
              <a:rPr sz="2000" spc="-65" dirty="0">
                <a:latin typeface="Segoe Print"/>
                <a:cs typeface="Segoe Print"/>
              </a:rPr>
              <a:t> </a:t>
            </a:r>
            <a:r>
              <a:rPr sz="2000" dirty="0">
                <a:latin typeface="Segoe Print"/>
                <a:cs typeface="Segoe Print"/>
              </a:rPr>
              <a:t>for</a:t>
            </a:r>
            <a:r>
              <a:rPr sz="2000" spc="-45" dirty="0">
                <a:latin typeface="Segoe Print"/>
                <a:cs typeface="Segoe Print"/>
              </a:rPr>
              <a:t> </a:t>
            </a:r>
            <a:r>
              <a:rPr sz="2000" spc="-25" dirty="0">
                <a:latin typeface="Segoe Print"/>
                <a:cs typeface="Segoe Print"/>
              </a:rPr>
              <a:t>its </a:t>
            </a:r>
            <a:r>
              <a:rPr sz="2000" spc="-10" dirty="0">
                <a:latin typeface="Segoe Print"/>
                <a:cs typeface="Segoe Print"/>
              </a:rPr>
              <a:t>applications</a:t>
            </a:r>
            <a:endParaRPr sz="2000" dirty="0">
              <a:latin typeface="Segoe Print"/>
              <a:cs typeface="Segoe Print"/>
            </a:endParaRPr>
          </a:p>
          <a:p>
            <a:pPr marL="354965" indent="-342265">
              <a:lnSpc>
                <a:spcPct val="100000"/>
              </a:lnSpc>
              <a:spcBef>
                <a:spcPts val="1200"/>
              </a:spcBef>
              <a:buFont typeface="Arial MT"/>
              <a:buChar char="•"/>
              <a:tabLst>
                <a:tab pos="354965" algn="l"/>
              </a:tabLst>
            </a:pPr>
            <a:r>
              <a:rPr sz="2000" dirty="0">
                <a:latin typeface="Segoe Print"/>
                <a:cs typeface="Segoe Print"/>
              </a:rPr>
              <a:t>To</a:t>
            </a:r>
            <a:r>
              <a:rPr sz="2000" spc="-30" dirty="0">
                <a:latin typeface="Segoe Print"/>
                <a:cs typeface="Segoe Print"/>
              </a:rPr>
              <a:t> </a:t>
            </a:r>
            <a:r>
              <a:rPr sz="2000" dirty="0">
                <a:latin typeface="Segoe Print"/>
                <a:cs typeface="Segoe Print"/>
              </a:rPr>
              <a:t>provide</a:t>
            </a:r>
            <a:r>
              <a:rPr sz="2000" spc="-40" dirty="0">
                <a:latin typeface="Segoe Print"/>
                <a:cs typeface="Segoe Print"/>
              </a:rPr>
              <a:t> </a:t>
            </a:r>
            <a:r>
              <a:rPr sz="2000" dirty="0">
                <a:latin typeface="Segoe Print"/>
                <a:cs typeface="Segoe Print"/>
              </a:rPr>
              <a:t>experience</a:t>
            </a:r>
            <a:r>
              <a:rPr sz="2000" spc="-45" dirty="0">
                <a:latin typeface="Segoe Print"/>
                <a:cs typeface="Segoe Print"/>
              </a:rPr>
              <a:t> </a:t>
            </a:r>
            <a:r>
              <a:rPr sz="2000" dirty="0">
                <a:latin typeface="Segoe Print"/>
                <a:cs typeface="Segoe Print"/>
              </a:rPr>
              <a:t>in</a:t>
            </a:r>
            <a:r>
              <a:rPr sz="2000" spc="-30" dirty="0">
                <a:latin typeface="Segoe Print"/>
                <a:cs typeface="Segoe Print"/>
              </a:rPr>
              <a:t> </a:t>
            </a:r>
            <a:r>
              <a:rPr sz="2000" dirty="0">
                <a:latin typeface="Segoe Print"/>
                <a:cs typeface="Segoe Print"/>
              </a:rPr>
              <a:t>the</a:t>
            </a:r>
            <a:r>
              <a:rPr sz="2000" spc="-35" dirty="0">
                <a:latin typeface="Segoe Print"/>
                <a:cs typeface="Segoe Print"/>
              </a:rPr>
              <a:t> </a:t>
            </a:r>
            <a:r>
              <a:rPr sz="2000" dirty="0">
                <a:latin typeface="Segoe Print"/>
                <a:cs typeface="Segoe Print"/>
              </a:rPr>
              <a:t>implementation</a:t>
            </a:r>
            <a:r>
              <a:rPr sz="2000" spc="-30" dirty="0">
                <a:latin typeface="Segoe Print"/>
                <a:cs typeface="Segoe Print"/>
              </a:rPr>
              <a:t> </a:t>
            </a:r>
            <a:r>
              <a:rPr sz="2000" dirty="0">
                <a:latin typeface="Segoe Print"/>
                <a:cs typeface="Segoe Print"/>
              </a:rPr>
              <a:t>and</a:t>
            </a:r>
            <a:r>
              <a:rPr sz="2000" spc="-20" dirty="0">
                <a:latin typeface="Segoe Print"/>
                <a:cs typeface="Segoe Print"/>
              </a:rPr>
              <a:t> </a:t>
            </a:r>
            <a:r>
              <a:rPr sz="2000" dirty="0">
                <a:latin typeface="Segoe Print"/>
                <a:cs typeface="Segoe Print"/>
              </a:rPr>
              <a:t>evaluation</a:t>
            </a:r>
            <a:r>
              <a:rPr sz="2000" spc="-20"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ML</a:t>
            </a:r>
            <a:r>
              <a:rPr sz="2000" spc="-30" dirty="0">
                <a:latin typeface="Segoe Print"/>
                <a:cs typeface="Segoe Print"/>
              </a:rPr>
              <a:t> </a:t>
            </a:r>
            <a:r>
              <a:rPr sz="2000" spc="-10" dirty="0">
                <a:latin typeface="Segoe Print"/>
                <a:cs typeface="Segoe Print"/>
              </a:rPr>
              <a:t>algorithms</a:t>
            </a:r>
            <a:endParaRPr sz="2000" dirty="0">
              <a:latin typeface="Segoe Print"/>
              <a:cs typeface="Segoe Print"/>
            </a:endParaRPr>
          </a:p>
          <a:p>
            <a:pPr marL="354965" indent="-342265">
              <a:lnSpc>
                <a:spcPct val="100000"/>
              </a:lnSpc>
              <a:spcBef>
                <a:spcPts val="1200"/>
              </a:spcBef>
              <a:buFont typeface="Arial MT"/>
              <a:buChar char="•"/>
              <a:tabLst>
                <a:tab pos="354965" algn="l"/>
              </a:tabLst>
            </a:pPr>
            <a:r>
              <a:rPr sz="2000" dirty="0">
                <a:latin typeface="Segoe Print"/>
                <a:cs typeface="Segoe Print"/>
              </a:rPr>
              <a:t>To</a:t>
            </a:r>
            <a:r>
              <a:rPr sz="2000" spc="-25" dirty="0">
                <a:latin typeface="Segoe Print"/>
                <a:cs typeface="Segoe Print"/>
              </a:rPr>
              <a:t> </a:t>
            </a:r>
            <a:r>
              <a:rPr sz="2000" dirty="0">
                <a:latin typeface="Segoe Print"/>
                <a:cs typeface="Segoe Print"/>
              </a:rPr>
              <a:t>develop</a:t>
            </a:r>
            <a:r>
              <a:rPr sz="2000" spc="-30" dirty="0">
                <a:latin typeface="Segoe Print"/>
                <a:cs typeface="Segoe Print"/>
              </a:rPr>
              <a:t> </a:t>
            </a:r>
            <a:r>
              <a:rPr sz="2000" dirty="0">
                <a:latin typeface="Segoe Print"/>
                <a:cs typeface="Segoe Print"/>
              </a:rPr>
              <a:t>research</a:t>
            </a:r>
            <a:r>
              <a:rPr sz="2000" spc="-30" dirty="0">
                <a:latin typeface="Segoe Print"/>
                <a:cs typeface="Segoe Print"/>
              </a:rPr>
              <a:t> </a:t>
            </a:r>
            <a:r>
              <a:rPr sz="2000" dirty="0">
                <a:latin typeface="Segoe Print"/>
                <a:cs typeface="Segoe Print"/>
              </a:rPr>
              <a:t>interest</a:t>
            </a:r>
            <a:r>
              <a:rPr sz="2000" spc="-30" dirty="0">
                <a:latin typeface="Segoe Print"/>
                <a:cs typeface="Segoe Print"/>
              </a:rPr>
              <a:t> </a:t>
            </a:r>
            <a:r>
              <a:rPr sz="2000" dirty="0">
                <a:latin typeface="Segoe Print"/>
                <a:cs typeface="Segoe Print"/>
              </a:rPr>
              <a:t>in</a:t>
            </a:r>
            <a:r>
              <a:rPr sz="2000" spc="-25" dirty="0">
                <a:latin typeface="Segoe Print"/>
                <a:cs typeface="Segoe Print"/>
              </a:rPr>
              <a:t> </a:t>
            </a:r>
            <a:r>
              <a:rPr sz="2000" dirty="0">
                <a:latin typeface="Segoe Print"/>
                <a:cs typeface="Segoe Print"/>
              </a:rPr>
              <a:t>the</a:t>
            </a:r>
            <a:r>
              <a:rPr sz="2000" spc="-30" dirty="0">
                <a:latin typeface="Segoe Print"/>
                <a:cs typeface="Segoe Print"/>
              </a:rPr>
              <a:t> </a:t>
            </a:r>
            <a:r>
              <a:rPr sz="2000" dirty="0">
                <a:latin typeface="Segoe Print"/>
                <a:cs typeface="Segoe Print"/>
              </a:rPr>
              <a:t>theory</a:t>
            </a:r>
            <a:r>
              <a:rPr sz="2000" spc="-30" dirty="0">
                <a:latin typeface="Segoe Print"/>
                <a:cs typeface="Segoe Print"/>
              </a:rPr>
              <a:t> </a:t>
            </a:r>
            <a:r>
              <a:rPr sz="2000" dirty="0">
                <a:latin typeface="Segoe Print"/>
                <a:cs typeface="Segoe Print"/>
              </a:rPr>
              <a:t>and</a:t>
            </a:r>
            <a:r>
              <a:rPr sz="2000" spc="-20" dirty="0">
                <a:latin typeface="Segoe Print"/>
                <a:cs typeface="Segoe Print"/>
              </a:rPr>
              <a:t> </a:t>
            </a:r>
            <a:r>
              <a:rPr sz="2000" dirty="0">
                <a:latin typeface="Segoe Print"/>
                <a:cs typeface="Segoe Print"/>
              </a:rPr>
              <a:t>application</a:t>
            </a:r>
            <a:r>
              <a:rPr sz="2000" spc="-25" dirty="0">
                <a:latin typeface="Segoe Print"/>
                <a:cs typeface="Segoe Print"/>
              </a:rPr>
              <a:t> </a:t>
            </a:r>
            <a:r>
              <a:rPr sz="2000" dirty="0">
                <a:latin typeface="Segoe Print"/>
                <a:cs typeface="Segoe Print"/>
              </a:rPr>
              <a:t>of</a:t>
            </a:r>
            <a:r>
              <a:rPr sz="2000" spc="-25" dirty="0">
                <a:latin typeface="Segoe Print"/>
                <a:cs typeface="Segoe Print"/>
              </a:rPr>
              <a:t> ML</a:t>
            </a:r>
            <a:endParaRPr sz="2000" dirty="0">
              <a:latin typeface="Segoe Print"/>
              <a:cs typeface="Segoe Prin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18490"/>
            <a:ext cx="10515600" cy="1325563"/>
          </a:xfrm>
          <a:prstGeom prst="rect">
            <a:avLst/>
          </a:prstGeom>
        </p:spPr>
        <p:txBody>
          <a:bodyPr vert="horz" wrap="square" lIns="0" tIns="172720" rIns="0" bIns="0" rtlCol="0">
            <a:spAutoFit/>
          </a:bodyPr>
          <a:lstStyle/>
          <a:p>
            <a:pPr marL="2500630">
              <a:lnSpc>
                <a:spcPct val="100000"/>
              </a:lnSpc>
              <a:spcBef>
                <a:spcPts val="100"/>
              </a:spcBef>
            </a:pPr>
            <a:r>
              <a:rPr lang="en-US" dirty="0"/>
              <a:t>Is</a:t>
            </a:r>
            <a:r>
              <a:rPr lang="en-US" spc="-80" dirty="0"/>
              <a:t> </a:t>
            </a:r>
            <a:r>
              <a:rPr lang="en-US" dirty="0"/>
              <a:t>this</a:t>
            </a:r>
            <a:r>
              <a:rPr lang="en-US" spc="-80" dirty="0"/>
              <a:t> </a:t>
            </a:r>
            <a:r>
              <a:rPr lang="en-US" dirty="0"/>
              <a:t>course</a:t>
            </a:r>
            <a:r>
              <a:rPr lang="en-US" spc="-80" dirty="0"/>
              <a:t> </a:t>
            </a:r>
            <a:r>
              <a:rPr lang="en-US" dirty="0"/>
              <a:t>a</a:t>
            </a:r>
            <a:r>
              <a:rPr lang="en-US" spc="-75" dirty="0"/>
              <a:t> </a:t>
            </a:r>
            <a:r>
              <a:rPr lang="en-US" dirty="0"/>
              <a:t>right</a:t>
            </a:r>
            <a:r>
              <a:rPr lang="en-US" spc="-65" dirty="0"/>
              <a:t> </a:t>
            </a:r>
            <a:r>
              <a:rPr lang="en-US" dirty="0"/>
              <a:t>choice</a:t>
            </a:r>
            <a:r>
              <a:rPr lang="en-US" spc="-65" dirty="0"/>
              <a:t> </a:t>
            </a:r>
            <a:r>
              <a:rPr lang="en-US" dirty="0"/>
              <a:t>for</a:t>
            </a:r>
            <a:r>
              <a:rPr lang="en-US" spc="-80" dirty="0"/>
              <a:t> </a:t>
            </a:r>
            <a:r>
              <a:rPr lang="en-US" spc="-20" dirty="0"/>
              <a:t>you?</a:t>
            </a:r>
          </a:p>
        </p:txBody>
      </p:sp>
      <p:sp>
        <p:nvSpPr>
          <p:cNvPr id="3" name="object 3"/>
          <p:cNvSpPr txBox="1"/>
          <p:nvPr/>
        </p:nvSpPr>
        <p:spPr>
          <a:xfrm>
            <a:off x="606805" y="1189136"/>
            <a:ext cx="10062845" cy="4250690"/>
          </a:xfrm>
          <a:prstGeom prst="rect">
            <a:avLst/>
          </a:prstGeom>
        </p:spPr>
        <p:txBody>
          <a:bodyPr vert="horz" wrap="square" lIns="0" tIns="205740" rIns="0" bIns="0" rtlCol="0">
            <a:spAutoFit/>
          </a:bodyPr>
          <a:lstStyle/>
          <a:p>
            <a:pPr marL="12700">
              <a:lnSpc>
                <a:spcPct val="100000"/>
              </a:lnSpc>
              <a:spcBef>
                <a:spcPts val="1620"/>
              </a:spcBef>
            </a:pPr>
            <a:r>
              <a:rPr sz="2400" b="1" u="sng" spc="-10" dirty="0">
                <a:uFill>
                  <a:solidFill>
                    <a:srgbClr val="000000"/>
                  </a:solidFill>
                </a:uFill>
                <a:latin typeface="Calibri"/>
                <a:cs typeface="Calibri"/>
              </a:rPr>
              <a:t>Undergraduate</a:t>
            </a:r>
            <a:r>
              <a:rPr sz="2400" b="1" u="sng" spc="-114" dirty="0">
                <a:uFill>
                  <a:solidFill>
                    <a:srgbClr val="000000"/>
                  </a:solidFill>
                </a:uFill>
                <a:latin typeface="Calibri"/>
                <a:cs typeface="Calibri"/>
              </a:rPr>
              <a:t> </a:t>
            </a:r>
            <a:r>
              <a:rPr sz="2400" b="1" u="sng" spc="-10" dirty="0">
                <a:uFill>
                  <a:solidFill>
                    <a:srgbClr val="000000"/>
                  </a:solidFill>
                </a:uFill>
                <a:latin typeface="Calibri"/>
                <a:cs typeface="Calibri"/>
              </a:rPr>
              <a:t>students</a:t>
            </a:r>
            <a:endParaRPr sz="2400" dirty="0">
              <a:latin typeface="Calibri"/>
              <a:cs typeface="Calibri"/>
            </a:endParaRPr>
          </a:p>
          <a:p>
            <a:pPr marL="354965" indent="-342265">
              <a:lnSpc>
                <a:spcPct val="100000"/>
              </a:lnSpc>
              <a:spcBef>
                <a:spcPts val="1265"/>
              </a:spcBef>
              <a:buChar char="-"/>
              <a:tabLst>
                <a:tab pos="354965" algn="l"/>
              </a:tabLst>
            </a:pPr>
            <a:r>
              <a:rPr sz="2000" dirty="0">
                <a:latin typeface="Segoe Print"/>
                <a:cs typeface="Segoe Print"/>
              </a:rPr>
              <a:t>Interested</a:t>
            </a:r>
            <a:r>
              <a:rPr sz="2000" spc="-60" dirty="0">
                <a:latin typeface="Segoe Print"/>
                <a:cs typeface="Segoe Print"/>
              </a:rPr>
              <a:t> </a:t>
            </a:r>
            <a:r>
              <a:rPr sz="2000" dirty="0">
                <a:latin typeface="Segoe Print"/>
                <a:cs typeface="Segoe Print"/>
              </a:rPr>
              <a:t>in</a:t>
            </a:r>
            <a:r>
              <a:rPr sz="2000" spc="-60" dirty="0">
                <a:latin typeface="Segoe Print"/>
                <a:cs typeface="Segoe Print"/>
              </a:rPr>
              <a:t> </a:t>
            </a:r>
            <a:r>
              <a:rPr sz="2000" dirty="0">
                <a:latin typeface="Segoe Print"/>
                <a:cs typeface="Segoe Print"/>
              </a:rPr>
              <a:t>pursuing</a:t>
            </a:r>
            <a:r>
              <a:rPr sz="2000" spc="-45" dirty="0">
                <a:latin typeface="Segoe Print"/>
                <a:cs typeface="Segoe Print"/>
              </a:rPr>
              <a:t> </a:t>
            </a:r>
            <a:r>
              <a:rPr sz="2000" dirty="0">
                <a:latin typeface="Segoe Print"/>
                <a:cs typeface="Segoe Print"/>
              </a:rPr>
              <a:t>AI,</a:t>
            </a:r>
            <a:r>
              <a:rPr sz="2000" spc="-60" dirty="0">
                <a:latin typeface="Segoe Print"/>
                <a:cs typeface="Segoe Print"/>
              </a:rPr>
              <a:t> </a:t>
            </a:r>
            <a:r>
              <a:rPr sz="2000" dirty="0">
                <a:latin typeface="Segoe Print"/>
                <a:cs typeface="Segoe Print"/>
              </a:rPr>
              <a:t>Deep</a:t>
            </a:r>
            <a:r>
              <a:rPr sz="2000" spc="-55" dirty="0">
                <a:latin typeface="Segoe Print"/>
                <a:cs typeface="Segoe Print"/>
              </a:rPr>
              <a:t> </a:t>
            </a:r>
            <a:r>
              <a:rPr sz="2000" dirty="0">
                <a:latin typeface="Segoe Print"/>
                <a:cs typeface="Segoe Print"/>
              </a:rPr>
              <a:t>Learning</a:t>
            </a:r>
            <a:r>
              <a:rPr sz="2000" spc="-60" dirty="0">
                <a:latin typeface="Segoe Print"/>
                <a:cs typeface="Segoe Print"/>
              </a:rPr>
              <a:t> </a:t>
            </a:r>
            <a:r>
              <a:rPr sz="2000" dirty="0">
                <a:latin typeface="Segoe Print"/>
                <a:cs typeface="Segoe Print"/>
              </a:rPr>
              <a:t>and/or</a:t>
            </a:r>
            <a:r>
              <a:rPr sz="2000" spc="-55" dirty="0">
                <a:latin typeface="Segoe Print"/>
                <a:cs typeface="Segoe Print"/>
              </a:rPr>
              <a:t> </a:t>
            </a:r>
            <a:r>
              <a:rPr sz="2000" dirty="0">
                <a:latin typeface="Segoe Print"/>
                <a:cs typeface="Segoe Print"/>
              </a:rPr>
              <a:t>Machine</a:t>
            </a:r>
            <a:r>
              <a:rPr sz="2000" spc="-60" dirty="0">
                <a:latin typeface="Segoe Print"/>
                <a:cs typeface="Segoe Print"/>
              </a:rPr>
              <a:t> </a:t>
            </a:r>
            <a:r>
              <a:rPr sz="2000" dirty="0">
                <a:latin typeface="Segoe Print"/>
                <a:cs typeface="Segoe Print"/>
              </a:rPr>
              <a:t>Learning</a:t>
            </a:r>
            <a:r>
              <a:rPr sz="2000" spc="-35" dirty="0">
                <a:latin typeface="Segoe Print"/>
                <a:cs typeface="Segoe Print"/>
              </a:rPr>
              <a:t> </a:t>
            </a:r>
            <a:r>
              <a:rPr sz="2000" dirty="0">
                <a:latin typeface="Segoe Print"/>
                <a:cs typeface="Segoe Print"/>
              </a:rPr>
              <a:t>in</a:t>
            </a:r>
            <a:r>
              <a:rPr sz="2000" spc="-55" dirty="0">
                <a:latin typeface="Segoe Print"/>
                <a:cs typeface="Segoe Print"/>
              </a:rPr>
              <a:t> </a:t>
            </a:r>
            <a:r>
              <a:rPr sz="2000" spc="-10" dirty="0">
                <a:latin typeface="Segoe Print"/>
                <a:cs typeface="Segoe Print"/>
              </a:rPr>
              <a:t>their</a:t>
            </a:r>
            <a:endParaRPr sz="2000" dirty="0">
              <a:latin typeface="Segoe Print"/>
              <a:cs typeface="Segoe Print"/>
            </a:endParaRPr>
          </a:p>
          <a:p>
            <a:pPr marL="355600">
              <a:lnSpc>
                <a:spcPct val="100000"/>
              </a:lnSpc>
              <a:spcBef>
                <a:spcPts val="1200"/>
              </a:spcBef>
            </a:pPr>
            <a:r>
              <a:rPr sz="2000" b="1" dirty="0">
                <a:latin typeface="Segoe Print"/>
                <a:cs typeface="Segoe Print"/>
              </a:rPr>
              <a:t>grad</a:t>
            </a:r>
            <a:r>
              <a:rPr sz="2000" b="1" spc="-60" dirty="0">
                <a:latin typeface="Segoe Print"/>
                <a:cs typeface="Segoe Print"/>
              </a:rPr>
              <a:t> </a:t>
            </a:r>
            <a:r>
              <a:rPr sz="2000" b="1" spc="-10" dirty="0">
                <a:latin typeface="Segoe Print"/>
                <a:cs typeface="Segoe Print"/>
              </a:rPr>
              <a:t>school</a:t>
            </a:r>
            <a:endParaRPr sz="2000" dirty="0">
              <a:latin typeface="Segoe Print"/>
              <a:cs typeface="Segoe Print"/>
            </a:endParaRPr>
          </a:p>
          <a:p>
            <a:pPr marL="355600" marR="20955" indent="-342900">
              <a:lnSpc>
                <a:spcPct val="150000"/>
              </a:lnSpc>
              <a:buChar char="-"/>
              <a:tabLst>
                <a:tab pos="355600" algn="l"/>
              </a:tabLst>
            </a:pPr>
            <a:r>
              <a:rPr sz="2000" dirty="0">
                <a:latin typeface="Segoe Print"/>
                <a:cs typeface="Segoe Print"/>
              </a:rPr>
              <a:t>Interesting</a:t>
            </a:r>
            <a:r>
              <a:rPr sz="2000" spc="-55" dirty="0">
                <a:latin typeface="Segoe Print"/>
                <a:cs typeface="Segoe Print"/>
              </a:rPr>
              <a:t> </a:t>
            </a:r>
            <a:r>
              <a:rPr sz="2000" dirty="0">
                <a:latin typeface="Segoe Print"/>
                <a:cs typeface="Segoe Print"/>
              </a:rPr>
              <a:t>in</a:t>
            </a:r>
            <a:r>
              <a:rPr sz="2000" spc="-60" dirty="0">
                <a:latin typeface="Segoe Print"/>
                <a:cs typeface="Segoe Print"/>
              </a:rPr>
              <a:t> </a:t>
            </a:r>
            <a:r>
              <a:rPr sz="2000" dirty="0">
                <a:latin typeface="Segoe Print"/>
                <a:cs typeface="Segoe Print"/>
              </a:rPr>
              <a:t>pursuing</a:t>
            </a:r>
            <a:r>
              <a:rPr sz="2000" spc="-50" dirty="0">
                <a:latin typeface="Segoe Print"/>
                <a:cs typeface="Segoe Print"/>
              </a:rPr>
              <a:t> </a:t>
            </a:r>
            <a:r>
              <a:rPr sz="2000" dirty="0">
                <a:latin typeface="Segoe Print"/>
                <a:cs typeface="Segoe Print"/>
              </a:rPr>
              <a:t>a</a:t>
            </a:r>
            <a:r>
              <a:rPr sz="2000" spc="-55" dirty="0">
                <a:latin typeface="Segoe Print"/>
                <a:cs typeface="Segoe Print"/>
              </a:rPr>
              <a:t> </a:t>
            </a:r>
            <a:r>
              <a:rPr sz="2000" b="1" dirty="0">
                <a:latin typeface="Segoe Print"/>
                <a:cs typeface="Segoe Print"/>
              </a:rPr>
              <a:t>professional</a:t>
            </a:r>
            <a:r>
              <a:rPr sz="2000" b="1" spc="-60" dirty="0">
                <a:latin typeface="Segoe Print"/>
                <a:cs typeface="Segoe Print"/>
              </a:rPr>
              <a:t> </a:t>
            </a:r>
            <a:r>
              <a:rPr sz="2000" b="1" dirty="0">
                <a:latin typeface="Segoe Print"/>
                <a:cs typeface="Segoe Print"/>
              </a:rPr>
              <a:t>career</a:t>
            </a:r>
            <a:r>
              <a:rPr sz="2000" b="1" spc="-35" dirty="0">
                <a:latin typeface="Segoe Print"/>
                <a:cs typeface="Segoe Print"/>
              </a:rPr>
              <a:t> </a:t>
            </a:r>
            <a:r>
              <a:rPr sz="2000" dirty="0">
                <a:latin typeface="Segoe Print"/>
                <a:cs typeface="Segoe Print"/>
              </a:rPr>
              <a:t>focused</a:t>
            </a:r>
            <a:r>
              <a:rPr sz="2000" spc="-55" dirty="0">
                <a:latin typeface="Segoe Print"/>
                <a:cs typeface="Segoe Print"/>
              </a:rPr>
              <a:t> </a:t>
            </a:r>
            <a:r>
              <a:rPr sz="2000" dirty="0">
                <a:latin typeface="Segoe Print"/>
                <a:cs typeface="Segoe Print"/>
              </a:rPr>
              <a:t>on</a:t>
            </a:r>
            <a:r>
              <a:rPr sz="2000" spc="-60" dirty="0">
                <a:latin typeface="Segoe Print"/>
                <a:cs typeface="Segoe Print"/>
              </a:rPr>
              <a:t> </a:t>
            </a:r>
            <a:r>
              <a:rPr sz="2000" dirty="0">
                <a:latin typeface="Segoe Print"/>
                <a:cs typeface="Segoe Print"/>
              </a:rPr>
              <a:t>the</a:t>
            </a:r>
            <a:r>
              <a:rPr sz="2000" spc="-60" dirty="0">
                <a:latin typeface="Segoe Print"/>
                <a:cs typeface="Segoe Print"/>
              </a:rPr>
              <a:t> </a:t>
            </a:r>
            <a:r>
              <a:rPr sz="2000" dirty="0">
                <a:latin typeface="Segoe Print"/>
                <a:cs typeface="Segoe Print"/>
              </a:rPr>
              <a:t>development</a:t>
            </a:r>
            <a:r>
              <a:rPr sz="2000" spc="-60" dirty="0">
                <a:latin typeface="Segoe Print"/>
                <a:cs typeface="Segoe Print"/>
              </a:rPr>
              <a:t> </a:t>
            </a:r>
            <a:r>
              <a:rPr sz="2000" spc="-25" dirty="0">
                <a:latin typeface="Segoe Print"/>
                <a:cs typeface="Segoe Print"/>
              </a:rPr>
              <a:t>of </a:t>
            </a:r>
            <a:r>
              <a:rPr sz="2000" dirty="0">
                <a:latin typeface="Segoe Print"/>
                <a:cs typeface="Segoe Print"/>
              </a:rPr>
              <a:t>Machine</a:t>
            </a:r>
            <a:r>
              <a:rPr sz="2000" spc="-85" dirty="0">
                <a:latin typeface="Segoe Print"/>
                <a:cs typeface="Segoe Print"/>
              </a:rPr>
              <a:t> </a:t>
            </a:r>
            <a:r>
              <a:rPr sz="2000" dirty="0">
                <a:latin typeface="Segoe Print"/>
                <a:cs typeface="Segoe Print"/>
              </a:rPr>
              <a:t>Learning</a:t>
            </a:r>
            <a:r>
              <a:rPr sz="2000" spc="-75" dirty="0">
                <a:latin typeface="Segoe Print"/>
                <a:cs typeface="Segoe Print"/>
              </a:rPr>
              <a:t> </a:t>
            </a:r>
            <a:r>
              <a:rPr sz="2000" spc="-10" dirty="0">
                <a:latin typeface="Segoe Print"/>
                <a:cs typeface="Segoe Print"/>
              </a:rPr>
              <a:t>solutions</a:t>
            </a:r>
            <a:endParaRPr sz="2000" dirty="0">
              <a:latin typeface="Segoe Print"/>
              <a:cs typeface="Segoe Print"/>
            </a:endParaRPr>
          </a:p>
          <a:p>
            <a:pPr>
              <a:lnSpc>
                <a:spcPct val="100000"/>
              </a:lnSpc>
              <a:spcBef>
                <a:spcPts val="725"/>
              </a:spcBef>
              <a:buFont typeface="Segoe Print"/>
              <a:buChar char="-"/>
            </a:pPr>
            <a:endParaRPr sz="2000" dirty="0">
              <a:latin typeface="Segoe Print"/>
              <a:cs typeface="Segoe Print"/>
            </a:endParaRPr>
          </a:p>
          <a:p>
            <a:pPr marL="12700">
              <a:lnSpc>
                <a:spcPct val="100000"/>
              </a:lnSpc>
            </a:pPr>
            <a:r>
              <a:rPr sz="2400" b="1" u="sng" spc="-10" dirty="0">
                <a:uFill>
                  <a:solidFill>
                    <a:srgbClr val="000000"/>
                  </a:solidFill>
                </a:uFill>
                <a:latin typeface="Calibri"/>
                <a:cs typeface="Calibri"/>
              </a:rPr>
              <a:t>Graduate</a:t>
            </a:r>
            <a:r>
              <a:rPr sz="2400" b="1" u="sng" spc="-110" dirty="0">
                <a:uFill>
                  <a:solidFill>
                    <a:srgbClr val="000000"/>
                  </a:solidFill>
                </a:uFill>
                <a:latin typeface="Calibri"/>
                <a:cs typeface="Calibri"/>
              </a:rPr>
              <a:t> </a:t>
            </a:r>
            <a:r>
              <a:rPr sz="2400" b="1" u="sng" spc="-10" dirty="0">
                <a:uFill>
                  <a:solidFill>
                    <a:srgbClr val="000000"/>
                  </a:solidFill>
                </a:uFill>
                <a:latin typeface="Calibri"/>
                <a:cs typeface="Calibri"/>
              </a:rPr>
              <a:t>students</a:t>
            </a:r>
            <a:endParaRPr sz="2400" dirty="0">
              <a:latin typeface="Calibri"/>
              <a:cs typeface="Calibri"/>
            </a:endParaRPr>
          </a:p>
          <a:p>
            <a:pPr marL="354965" indent="-342265">
              <a:lnSpc>
                <a:spcPct val="100000"/>
              </a:lnSpc>
              <a:spcBef>
                <a:spcPts val="1265"/>
              </a:spcBef>
              <a:buChar char="-"/>
              <a:tabLst>
                <a:tab pos="354965" algn="l"/>
              </a:tabLst>
            </a:pPr>
            <a:r>
              <a:rPr sz="2000" dirty="0">
                <a:latin typeface="Segoe Print"/>
                <a:cs typeface="Segoe Print"/>
              </a:rPr>
              <a:t>Want</a:t>
            </a:r>
            <a:r>
              <a:rPr sz="2000" spc="-30" dirty="0">
                <a:latin typeface="Segoe Print"/>
                <a:cs typeface="Segoe Print"/>
              </a:rPr>
              <a:t> </a:t>
            </a:r>
            <a:r>
              <a:rPr sz="2000" dirty="0">
                <a:latin typeface="Segoe Print"/>
                <a:cs typeface="Segoe Print"/>
              </a:rPr>
              <a:t>to</a:t>
            </a:r>
            <a:r>
              <a:rPr sz="2000" spc="-30" dirty="0">
                <a:latin typeface="Segoe Print"/>
                <a:cs typeface="Segoe Print"/>
              </a:rPr>
              <a:t> </a:t>
            </a:r>
            <a:r>
              <a:rPr sz="2000" dirty="0">
                <a:latin typeface="Segoe Print"/>
                <a:cs typeface="Segoe Print"/>
              </a:rPr>
              <a:t>do</a:t>
            </a:r>
            <a:r>
              <a:rPr sz="2000" spc="-30" dirty="0">
                <a:latin typeface="Segoe Print"/>
                <a:cs typeface="Segoe Print"/>
              </a:rPr>
              <a:t> </a:t>
            </a:r>
            <a:r>
              <a:rPr sz="2000" dirty="0">
                <a:latin typeface="Segoe Print"/>
                <a:cs typeface="Segoe Print"/>
              </a:rPr>
              <a:t>fundamental research</a:t>
            </a:r>
            <a:r>
              <a:rPr sz="2000" spc="-35" dirty="0">
                <a:latin typeface="Segoe Print"/>
                <a:cs typeface="Segoe Print"/>
              </a:rPr>
              <a:t> </a:t>
            </a:r>
            <a:r>
              <a:rPr sz="2000" dirty="0">
                <a:latin typeface="Segoe Print"/>
                <a:cs typeface="Segoe Print"/>
              </a:rPr>
              <a:t>in</a:t>
            </a:r>
            <a:r>
              <a:rPr sz="2000" spc="-30" dirty="0">
                <a:latin typeface="Segoe Print"/>
                <a:cs typeface="Segoe Print"/>
              </a:rPr>
              <a:t> </a:t>
            </a:r>
            <a:r>
              <a:rPr sz="2000" dirty="0">
                <a:latin typeface="Segoe Print"/>
                <a:cs typeface="Segoe Print"/>
              </a:rPr>
              <a:t>the</a:t>
            </a:r>
            <a:r>
              <a:rPr sz="2000" spc="-30" dirty="0">
                <a:latin typeface="Segoe Print"/>
                <a:cs typeface="Segoe Print"/>
              </a:rPr>
              <a:t> </a:t>
            </a:r>
            <a:r>
              <a:rPr sz="2000" dirty="0">
                <a:latin typeface="Segoe Print"/>
                <a:cs typeface="Segoe Print"/>
              </a:rPr>
              <a:t>area</a:t>
            </a:r>
            <a:r>
              <a:rPr sz="2000" spc="-25"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Machine</a:t>
            </a:r>
            <a:r>
              <a:rPr sz="2000" spc="-25" dirty="0">
                <a:latin typeface="Segoe Print"/>
                <a:cs typeface="Segoe Print"/>
              </a:rPr>
              <a:t> </a:t>
            </a:r>
            <a:r>
              <a:rPr sz="2000" spc="-10" dirty="0">
                <a:latin typeface="Segoe Print"/>
                <a:cs typeface="Segoe Print"/>
              </a:rPr>
              <a:t>Learning</a:t>
            </a:r>
            <a:endParaRPr sz="2000" dirty="0">
              <a:latin typeface="Segoe Print"/>
              <a:cs typeface="Segoe Print"/>
            </a:endParaRPr>
          </a:p>
          <a:p>
            <a:pPr marL="354965" indent="-342265">
              <a:lnSpc>
                <a:spcPct val="100000"/>
              </a:lnSpc>
              <a:spcBef>
                <a:spcPts val="1200"/>
              </a:spcBef>
              <a:buChar char="-"/>
              <a:tabLst>
                <a:tab pos="354965" algn="l"/>
              </a:tabLst>
            </a:pPr>
            <a:r>
              <a:rPr sz="2000" dirty="0">
                <a:latin typeface="Segoe Print"/>
                <a:cs typeface="Segoe Print"/>
              </a:rPr>
              <a:t>Wish</a:t>
            </a:r>
            <a:r>
              <a:rPr sz="2000" spc="-45" dirty="0">
                <a:latin typeface="Segoe Print"/>
                <a:cs typeface="Segoe Print"/>
              </a:rPr>
              <a:t> </a:t>
            </a:r>
            <a:r>
              <a:rPr sz="2000" dirty="0">
                <a:latin typeface="Segoe Print"/>
                <a:cs typeface="Segoe Print"/>
              </a:rPr>
              <a:t>to</a:t>
            </a:r>
            <a:r>
              <a:rPr sz="2000" spc="-40" dirty="0">
                <a:latin typeface="Segoe Print"/>
                <a:cs typeface="Segoe Print"/>
              </a:rPr>
              <a:t> </a:t>
            </a:r>
            <a:r>
              <a:rPr sz="2000" dirty="0">
                <a:latin typeface="Segoe Print"/>
                <a:cs typeface="Segoe Print"/>
              </a:rPr>
              <a:t>apply</a:t>
            </a:r>
            <a:r>
              <a:rPr sz="2000" spc="-30" dirty="0">
                <a:latin typeface="Segoe Print"/>
                <a:cs typeface="Segoe Print"/>
              </a:rPr>
              <a:t> </a:t>
            </a:r>
            <a:r>
              <a:rPr sz="2000" dirty="0">
                <a:latin typeface="Segoe Print"/>
                <a:cs typeface="Segoe Print"/>
              </a:rPr>
              <a:t>Machine</a:t>
            </a:r>
            <a:r>
              <a:rPr sz="2000" spc="-40" dirty="0">
                <a:latin typeface="Segoe Print"/>
                <a:cs typeface="Segoe Print"/>
              </a:rPr>
              <a:t> </a:t>
            </a:r>
            <a:r>
              <a:rPr sz="2000" dirty="0">
                <a:latin typeface="Segoe Print"/>
                <a:cs typeface="Segoe Print"/>
              </a:rPr>
              <a:t>Learning</a:t>
            </a:r>
            <a:r>
              <a:rPr sz="2000" spc="-35" dirty="0">
                <a:latin typeface="Segoe Print"/>
                <a:cs typeface="Segoe Print"/>
              </a:rPr>
              <a:t> </a:t>
            </a:r>
            <a:r>
              <a:rPr sz="2000" dirty="0">
                <a:latin typeface="Segoe Print"/>
                <a:cs typeface="Segoe Print"/>
              </a:rPr>
              <a:t>in</a:t>
            </a:r>
            <a:r>
              <a:rPr sz="2000" spc="-40" dirty="0">
                <a:latin typeface="Segoe Print"/>
                <a:cs typeface="Segoe Print"/>
              </a:rPr>
              <a:t> </a:t>
            </a:r>
            <a:r>
              <a:rPr sz="2000" dirty="0">
                <a:latin typeface="Segoe Print"/>
                <a:cs typeface="Segoe Print"/>
              </a:rPr>
              <a:t>their</a:t>
            </a:r>
            <a:r>
              <a:rPr sz="2000" spc="-40" dirty="0">
                <a:latin typeface="Segoe Print"/>
                <a:cs typeface="Segoe Print"/>
              </a:rPr>
              <a:t> </a:t>
            </a:r>
            <a:r>
              <a:rPr sz="2000" dirty="0">
                <a:latin typeface="Segoe Print"/>
                <a:cs typeface="Segoe Print"/>
              </a:rPr>
              <a:t>research</a:t>
            </a:r>
            <a:r>
              <a:rPr sz="2000" spc="-40" dirty="0">
                <a:latin typeface="Segoe Print"/>
                <a:cs typeface="Segoe Print"/>
              </a:rPr>
              <a:t> </a:t>
            </a:r>
            <a:r>
              <a:rPr sz="2000" spc="-20" dirty="0">
                <a:latin typeface="Segoe Print"/>
                <a:cs typeface="Segoe Print"/>
              </a:rPr>
              <a:t>work</a:t>
            </a:r>
            <a:endParaRPr sz="2000" dirty="0">
              <a:latin typeface="Segoe Print"/>
              <a:cs typeface="Segoe Prin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1" y="-10702"/>
            <a:ext cx="5232018" cy="689932"/>
          </a:xfrm>
          <a:prstGeom prst="rect">
            <a:avLst/>
          </a:prstGeom>
        </p:spPr>
        <p:txBody>
          <a:bodyPr vert="horz" wrap="square" lIns="0" tIns="12700" rIns="0" bIns="0" rtlCol="0">
            <a:spAutoFit/>
          </a:bodyPr>
          <a:lstStyle/>
          <a:p>
            <a:pPr marL="12700">
              <a:lnSpc>
                <a:spcPct val="100000"/>
              </a:lnSpc>
              <a:spcBef>
                <a:spcPts val="100"/>
              </a:spcBef>
            </a:pPr>
            <a:r>
              <a:rPr dirty="0"/>
              <a:t>Course</a:t>
            </a:r>
            <a:r>
              <a:rPr spc="-105" dirty="0"/>
              <a:t> </a:t>
            </a:r>
            <a:r>
              <a:rPr spc="-10" dirty="0"/>
              <a:t>Prerequisites</a:t>
            </a:r>
          </a:p>
        </p:txBody>
      </p:sp>
      <p:sp>
        <p:nvSpPr>
          <p:cNvPr id="3" name="object 3"/>
          <p:cNvSpPr txBox="1"/>
          <p:nvPr/>
        </p:nvSpPr>
        <p:spPr>
          <a:xfrm>
            <a:off x="606805" y="995799"/>
            <a:ext cx="10854055" cy="4452501"/>
          </a:xfrm>
          <a:prstGeom prst="rect">
            <a:avLst/>
          </a:prstGeom>
        </p:spPr>
        <p:txBody>
          <a:bodyPr vert="horz" wrap="square" lIns="0" tIns="198120" rIns="0" bIns="0" rtlCol="0">
            <a:spAutoFit/>
          </a:bodyPr>
          <a:lstStyle/>
          <a:p>
            <a:pPr marL="12700">
              <a:lnSpc>
                <a:spcPct val="100000"/>
              </a:lnSpc>
              <a:spcBef>
                <a:spcPts val="1560"/>
              </a:spcBef>
            </a:pPr>
            <a:r>
              <a:rPr sz="2400" b="1" u="sng" spc="-10" dirty="0">
                <a:uFill>
                  <a:solidFill>
                    <a:srgbClr val="000000"/>
                  </a:solidFill>
                </a:uFill>
                <a:latin typeface="Calibri"/>
                <a:cs typeface="Calibri"/>
              </a:rPr>
              <a:t>Undergraduate</a:t>
            </a:r>
            <a:r>
              <a:rPr sz="2400" b="1" u="sng" spc="-114" dirty="0">
                <a:uFill>
                  <a:solidFill>
                    <a:srgbClr val="000000"/>
                  </a:solidFill>
                </a:uFill>
                <a:latin typeface="Calibri"/>
                <a:cs typeface="Calibri"/>
              </a:rPr>
              <a:t> </a:t>
            </a:r>
            <a:r>
              <a:rPr sz="2400" b="1" u="sng" spc="-10" dirty="0">
                <a:uFill>
                  <a:solidFill>
                    <a:srgbClr val="000000"/>
                  </a:solidFill>
                </a:uFill>
                <a:latin typeface="Calibri"/>
                <a:cs typeface="Calibri"/>
              </a:rPr>
              <a:t>students</a:t>
            </a:r>
            <a:endParaRPr sz="2400" dirty="0">
              <a:latin typeface="Calibri"/>
              <a:cs typeface="Calibri"/>
            </a:endParaRPr>
          </a:p>
          <a:p>
            <a:pPr marL="354965" indent="-342265">
              <a:lnSpc>
                <a:spcPct val="100000"/>
              </a:lnSpc>
              <a:spcBef>
                <a:spcPts val="1220"/>
              </a:spcBef>
              <a:buChar char="-"/>
              <a:tabLst>
                <a:tab pos="354965" algn="l"/>
              </a:tabLst>
            </a:pPr>
            <a:r>
              <a:rPr sz="2000" dirty="0">
                <a:latin typeface="Segoe Print"/>
                <a:cs typeface="Segoe Print"/>
              </a:rPr>
              <a:t>Linear</a:t>
            </a:r>
            <a:r>
              <a:rPr sz="2000" spc="-15" dirty="0">
                <a:latin typeface="Segoe Print"/>
                <a:cs typeface="Segoe Print"/>
              </a:rPr>
              <a:t> </a:t>
            </a:r>
            <a:r>
              <a:rPr sz="2000" dirty="0">
                <a:latin typeface="Segoe Print"/>
                <a:cs typeface="Segoe Print"/>
              </a:rPr>
              <a:t>Algebra</a:t>
            </a:r>
            <a:r>
              <a:rPr sz="2000" spc="-15" dirty="0">
                <a:latin typeface="Segoe Print"/>
                <a:cs typeface="Segoe Print"/>
              </a:rPr>
              <a:t> </a:t>
            </a:r>
            <a:endParaRPr lang="en-US" sz="2000" spc="-15" dirty="0">
              <a:latin typeface="Segoe Print"/>
              <a:cs typeface="Segoe Print"/>
            </a:endParaRPr>
          </a:p>
          <a:p>
            <a:pPr marL="354965" indent="-342265">
              <a:lnSpc>
                <a:spcPct val="100000"/>
              </a:lnSpc>
              <a:spcBef>
                <a:spcPts val="1220"/>
              </a:spcBef>
              <a:buChar char="-"/>
              <a:tabLst>
                <a:tab pos="354965" algn="l"/>
              </a:tabLst>
            </a:pPr>
            <a:r>
              <a:rPr sz="2000" dirty="0">
                <a:latin typeface="Segoe Print"/>
                <a:cs typeface="Segoe Print"/>
              </a:rPr>
              <a:t>Probability</a:t>
            </a:r>
            <a:r>
              <a:rPr sz="2000" spc="-85" dirty="0">
                <a:latin typeface="Segoe Print"/>
                <a:cs typeface="Segoe Print"/>
              </a:rPr>
              <a:t> </a:t>
            </a:r>
            <a:endParaRPr lang="en-US" sz="2000" spc="-85" dirty="0">
              <a:latin typeface="Segoe Print"/>
              <a:cs typeface="Segoe Print"/>
            </a:endParaRPr>
          </a:p>
          <a:p>
            <a:pPr marL="354965" indent="-342265">
              <a:lnSpc>
                <a:spcPct val="100000"/>
              </a:lnSpc>
              <a:spcBef>
                <a:spcPts val="1220"/>
              </a:spcBef>
              <a:buChar char="-"/>
              <a:tabLst>
                <a:tab pos="354965" algn="l"/>
              </a:tabLst>
            </a:pPr>
            <a:r>
              <a:rPr sz="2000" dirty="0">
                <a:latin typeface="Segoe Print"/>
                <a:cs typeface="Segoe Print"/>
              </a:rPr>
              <a:t>Programming</a:t>
            </a:r>
            <a:r>
              <a:rPr sz="2000" spc="-95" dirty="0">
                <a:latin typeface="Segoe Print"/>
                <a:cs typeface="Segoe Print"/>
              </a:rPr>
              <a:t> </a:t>
            </a:r>
            <a:endParaRPr lang="en-US" sz="2000" spc="-95" dirty="0">
              <a:latin typeface="Segoe Print"/>
              <a:cs typeface="Segoe Print"/>
            </a:endParaRPr>
          </a:p>
          <a:p>
            <a:pPr marL="354965" indent="-342265">
              <a:lnSpc>
                <a:spcPct val="100000"/>
              </a:lnSpc>
              <a:spcBef>
                <a:spcPts val="1220"/>
              </a:spcBef>
              <a:buChar char="-"/>
              <a:tabLst>
                <a:tab pos="354965" algn="l"/>
              </a:tabLst>
            </a:pPr>
            <a:r>
              <a:rPr sz="2400" b="1" u="sng" spc="-10" dirty="0">
                <a:uFill>
                  <a:solidFill>
                    <a:srgbClr val="000000"/>
                  </a:solidFill>
                </a:uFill>
                <a:latin typeface="Calibri"/>
                <a:cs typeface="Calibri"/>
              </a:rPr>
              <a:t>Graduate</a:t>
            </a:r>
            <a:r>
              <a:rPr sz="2400" b="1" u="sng" spc="-110" dirty="0">
                <a:uFill>
                  <a:solidFill>
                    <a:srgbClr val="000000"/>
                  </a:solidFill>
                </a:uFill>
                <a:latin typeface="Calibri"/>
                <a:cs typeface="Calibri"/>
              </a:rPr>
              <a:t> </a:t>
            </a:r>
            <a:r>
              <a:rPr sz="2400" b="1" u="sng" spc="-10" dirty="0">
                <a:uFill>
                  <a:solidFill>
                    <a:srgbClr val="000000"/>
                  </a:solidFill>
                </a:uFill>
                <a:latin typeface="Calibri"/>
                <a:cs typeface="Calibri"/>
              </a:rPr>
              <a:t>students</a:t>
            </a:r>
            <a:endParaRPr sz="2400" dirty="0">
              <a:latin typeface="Calibri"/>
              <a:cs typeface="Calibri"/>
            </a:endParaRPr>
          </a:p>
          <a:p>
            <a:pPr marL="354965" indent="-342265">
              <a:lnSpc>
                <a:spcPct val="100000"/>
              </a:lnSpc>
              <a:spcBef>
                <a:spcPts val="770"/>
              </a:spcBef>
              <a:buChar char="-"/>
              <a:tabLst>
                <a:tab pos="354965" algn="l"/>
              </a:tabLst>
            </a:pPr>
            <a:r>
              <a:rPr sz="2000" dirty="0">
                <a:latin typeface="Segoe Print"/>
                <a:cs typeface="Segoe Print"/>
              </a:rPr>
              <a:t>Encouraged</a:t>
            </a:r>
            <a:r>
              <a:rPr sz="2000" spc="-25" dirty="0">
                <a:latin typeface="Segoe Print"/>
                <a:cs typeface="Segoe Print"/>
              </a:rPr>
              <a:t> </a:t>
            </a:r>
            <a:r>
              <a:rPr sz="2000" dirty="0">
                <a:latin typeface="Segoe Print"/>
                <a:cs typeface="Segoe Print"/>
              </a:rPr>
              <a:t>to</a:t>
            </a:r>
            <a:r>
              <a:rPr sz="2000" spc="-20" dirty="0">
                <a:latin typeface="Segoe Print"/>
                <a:cs typeface="Segoe Print"/>
              </a:rPr>
              <a:t> </a:t>
            </a:r>
            <a:r>
              <a:rPr sz="2000" dirty="0">
                <a:latin typeface="Segoe Print"/>
                <a:cs typeface="Segoe Print"/>
              </a:rPr>
              <a:t>revise</a:t>
            </a:r>
            <a:r>
              <a:rPr sz="2000" spc="-35" dirty="0">
                <a:latin typeface="Segoe Print"/>
                <a:cs typeface="Segoe Print"/>
              </a:rPr>
              <a:t> </a:t>
            </a:r>
            <a:r>
              <a:rPr sz="2000" dirty="0">
                <a:latin typeface="Segoe Print"/>
                <a:cs typeface="Segoe Print"/>
              </a:rPr>
              <a:t>Linear</a:t>
            </a:r>
            <a:r>
              <a:rPr sz="2000" spc="-20" dirty="0">
                <a:latin typeface="Segoe Print"/>
                <a:cs typeface="Segoe Print"/>
              </a:rPr>
              <a:t> </a:t>
            </a:r>
            <a:r>
              <a:rPr sz="2000" dirty="0">
                <a:latin typeface="Segoe Print"/>
                <a:cs typeface="Segoe Print"/>
              </a:rPr>
              <a:t>Algebra</a:t>
            </a:r>
            <a:r>
              <a:rPr sz="2000" spc="-20" dirty="0">
                <a:latin typeface="Segoe Print"/>
                <a:cs typeface="Segoe Print"/>
              </a:rPr>
              <a:t> </a:t>
            </a:r>
            <a:r>
              <a:rPr sz="2000" dirty="0">
                <a:latin typeface="Segoe Print"/>
                <a:cs typeface="Segoe Print"/>
              </a:rPr>
              <a:t>and</a:t>
            </a:r>
            <a:r>
              <a:rPr sz="2000" spc="-10" dirty="0">
                <a:latin typeface="Segoe Print"/>
                <a:cs typeface="Segoe Print"/>
              </a:rPr>
              <a:t> </a:t>
            </a:r>
            <a:r>
              <a:rPr sz="2000" dirty="0">
                <a:latin typeface="Segoe Print"/>
                <a:cs typeface="Segoe Print"/>
              </a:rPr>
              <a:t>Probability</a:t>
            </a:r>
            <a:r>
              <a:rPr sz="2000" spc="-20" dirty="0">
                <a:latin typeface="Segoe Print"/>
                <a:cs typeface="Segoe Print"/>
              </a:rPr>
              <a:t> </a:t>
            </a:r>
            <a:r>
              <a:rPr sz="2000" dirty="0">
                <a:latin typeface="Segoe Print"/>
                <a:cs typeface="Segoe Print"/>
              </a:rPr>
              <a:t>concepts</a:t>
            </a:r>
            <a:r>
              <a:rPr sz="2000" spc="-35" dirty="0">
                <a:latin typeface="Segoe Print"/>
                <a:cs typeface="Segoe Print"/>
              </a:rPr>
              <a:t> </a:t>
            </a:r>
            <a:r>
              <a:rPr sz="2000" spc="-10" dirty="0">
                <a:latin typeface="Segoe Print"/>
                <a:cs typeface="Segoe Print"/>
              </a:rPr>
              <a:t>(on-the-</a:t>
            </a:r>
            <a:r>
              <a:rPr sz="2000" spc="-20" dirty="0">
                <a:latin typeface="Segoe Print"/>
                <a:cs typeface="Segoe Print"/>
              </a:rPr>
              <a:t>fly)</a:t>
            </a:r>
            <a:endParaRPr sz="2000" dirty="0">
              <a:latin typeface="Segoe Print"/>
              <a:cs typeface="Segoe Print"/>
            </a:endParaRPr>
          </a:p>
          <a:p>
            <a:pPr>
              <a:lnSpc>
                <a:spcPct val="100000"/>
              </a:lnSpc>
              <a:spcBef>
                <a:spcPts val="1270"/>
              </a:spcBef>
            </a:pPr>
            <a:endParaRPr sz="2000" dirty="0">
              <a:latin typeface="Segoe Print"/>
              <a:cs typeface="Segoe Print"/>
            </a:endParaRPr>
          </a:p>
          <a:p>
            <a:pPr marL="12700">
              <a:lnSpc>
                <a:spcPct val="100000"/>
              </a:lnSpc>
            </a:pPr>
            <a:r>
              <a:rPr sz="2000" b="1" dirty="0">
                <a:latin typeface="Segoe Print"/>
                <a:cs typeface="Segoe Print"/>
              </a:rPr>
              <a:t>We</a:t>
            </a:r>
            <a:r>
              <a:rPr sz="2000" b="1" spc="-55" dirty="0">
                <a:latin typeface="Segoe Print"/>
                <a:cs typeface="Segoe Print"/>
              </a:rPr>
              <a:t> </a:t>
            </a:r>
            <a:r>
              <a:rPr sz="2000" b="1" dirty="0">
                <a:latin typeface="Segoe Print"/>
                <a:cs typeface="Segoe Print"/>
              </a:rPr>
              <a:t>expect</a:t>
            </a:r>
            <a:r>
              <a:rPr sz="2000" b="1" spc="-60" dirty="0">
                <a:latin typeface="Segoe Print"/>
                <a:cs typeface="Segoe Print"/>
              </a:rPr>
              <a:t> </a:t>
            </a:r>
            <a:r>
              <a:rPr sz="2000" b="1" dirty="0">
                <a:latin typeface="Segoe Print"/>
                <a:cs typeface="Segoe Print"/>
              </a:rPr>
              <a:t>all</a:t>
            </a:r>
            <a:r>
              <a:rPr sz="2000" b="1" spc="-70" dirty="0">
                <a:latin typeface="Segoe Print"/>
                <a:cs typeface="Segoe Print"/>
              </a:rPr>
              <a:t> </a:t>
            </a:r>
            <a:r>
              <a:rPr sz="2000" b="1" dirty="0">
                <a:latin typeface="Segoe Print"/>
                <a:cs typeface="Segoe Print"/>
              </a:rPr>
              <a:t>the</a:t>
            </a:r>
            <a:r>
              <a:rPr sz="2000" b="1" spc="-55" dirty="0">
                <a:latin typeface="Segoe Print"/>
                <a:cs typeface="Segoe Print"/>
              </a:rPr>
              <a:t> </a:t>
            </a:r>
            <a:r>
              <a:rPr sz="2000" b="1" dirty="0">
                <a:latin typeface="Segoe Print"/>
                <a:cs typeface="Segoe Print"/>
              </a:rPr>
              <a:t>students</a:t>
            </a:r>
            <a:r>
              <a:rPr sz="2000" b="1" spc="-40" dirty="0">
                <a:latin typeface="Segoe Print"/>
                <a:cs typeface="Segoe Print"/>
              </a:rPr>
              <a:t> </a:t>
            </a:r>
            <a:r>
              <a:rPr sz="2000" b="1" dirty="0">
                <a:latin typeface="Segoe Print"/>
                <a:cs typeface="Segoe Print"/>
              </a:rPr>
              <a:t>to</a:t>
            </a:r>
            <a:r>
              <a:rPr sz="2000" b="1" spc="-60" dirty="0">
                <a:latin typeface="Segoe Print"/>
                <a:cs typeface="Segoe Print"/>
              </a:rPr>
              <a:t> </a:t>
            </a:r>
            <a:r>
              <a:rPr sz="2000" b="1" dirty="0">
                <a:latin typeface="Segoe Print"/>
                <a:cs typeface="Segoe Print"/>
              </a:rPr>
              <a:t>have</a:t>
            </a:r>
            <a:r>
              <a:rPr sz="2000" b="1" spc="-50" dirty="0">
                <a:latin typeface="Segoe Print"/>
                <a:cs typeface="Segoe Print"/>
              </a:rPr>
              <a:t> </a:t>
            </a:r>
            <a:r>
              <a:rPr sz="2000" b="1" dirty="0">
                <a:latin typeface="Segoe Print"/>
                <a:cs typeface="Segoe Print"/>
              </a:rPr>
              <a:t>good</a:t>
            </a:r>
            <a:r>
              <a:rPr sz="2000" b="1" spc="-70" dirty="0">
                <a:latin typeface="Segoe Print"/>
                <a:cs typeface="Segoe Print"/>
              </a:rPr>
              <a:t> </a:t>
            </a:r>
            <a:r>
              <a:rPr sz="2000" b="1" dirty="0">
                <a:latin typeface="Segoe Print"/>
                <a:cs typeface="Segoe Print"/>
              </a:rPr>
              <a:t>programming</a:t>
            </a:r>
            <a:r>
              <a:rPr sz="2000" b="1" spc="-45" dirty="0">
                <a:latin typeface="Segoe Print"/>
                <a:cs typeface="Segoe Print"/>
              </a:rPr>
              <a:t> </a:t>
            </a:r>
            <a:r>
              <a:rPr sz="2000" b="1" dirty="0">
                <a:latin typeface="Segoe Print"/>
                <a:cs typeface="Segoe Print"/>
              </a:rPr>
              <a:t>skills</a:t>
            </a:r>
            <a:r>
              <a:rPr sz="2000" b="1" spc="-65" dirty="0">
                <a:latin typeface="Segoe Print"/>
                <a:cs typeface="Segoe Print"/>
              </a:rPr>
              <a:t> </a:t>
            </a:r>
            <a:r>
              <a:rPr sz="2000" b="1" dirty="0">
                <a:latin typeface="Segoe Print"/>
                <a:cs typeface="Segoe Print"/>
              </a:rPr>
              <a:t>(in</a:t>
            </a:r>
            <a:r>
              <a:rPr sz="2000" b="1" spc="-60" dirty="0">
                <a:latin typeface="Segoe Print"/>
                <a:cs typeface="Segoe Print"/>
              </a:rPr>
              <a:t> </a:t>
            </a:r>
            <a:r>
              <a:rPr sz="2000" b="1" spc="-10" dirty="0">
                <a:latin typeface="Segoe Print"/>
                <a:cs typeface="Segoe Print"/>
              </a:rPr>
              <a:t>C/Python/MATLAB)</a:t>
            </a:r>
            <a:endParaRPr sz="2000" dirty="0">
              <a:latin typeface="Segoe Print"/>
              <a:cs typeface="Segoe Print"/>
            </a:endParaRPr>
          </a:p>
          <a:p>
            <a:pPr>
              <a:lnSpc>
                <a:spcPct val="100000"/>
              </a:lnSpc>
              <a:spcBef>
                <a:spcPts val="1270"/>
              </a:spcBef>
            </a:pPr>
            <a:endParaRPr sz="2000" dirty="0">
              <a:latin typeface="Segoe Print"/>
              <a:cs typeface="Segoe Print"/>
            </a:endParaRPr>
          </a:p>
          <a:p>
            <a:pPr marL="12700">
              <a:lnSpc>
                <a:spcPct val="100000"/>
              </a:lnSpc>
            </a:pPr>
            <a:r>
              <a:rPr sz="2000" u="sng" dirty="0">
                <a:solidFill>
                  <a:srgbClr val="C00000"/>
                </a:solidFill>
                <a:uFill>
                  <a:solidFill>
                    <a:srgbClr val="C00000"/>
                  </a:solidFill>
                </a:uFill>
                <a:latin typeface="Segoe Print"/>
                <a:cs typeface="Segoe Print"/>
              </a:rPr>
              <a:t>Note</a:t>
            </a:r>
            <a:r>
              <a:rPr sz="2000" u="sng" spc="-25" dirty="0">
                <a:solidFill>
                  <a:srgbClr val="C00000"/>
                </a:solidFill>
                <a:uFill>
                  <a:solidFill>
                    <a:srgbClr val="C00000"/>
                  </a:solidFill>
                </a:uFill>
                <a:latin typeface="Segoe Print"/>
                <a:cs typeface="Segoe Print"/>
              </a:rPr>
              <a:t> </a:t>
            </a:r>
            <a:r>
              <a:rPr sz="2000" u="sng" dirty="0">
                <a:solidFill>
                  <a:srgbClr val="C00000"/>
                </a:solidFill>
                <a:uFill>
                  <a:solidFill>
                    <a:srgbClr val="C00000"/>
                  </a:solidFill>
                </a:uFill>
                <a:latin typeface="Segoe Print"/>
                <a:cs typeface="Segoe Print"/>
              </a:rPr>
              <a:t>on</a:t>
            </a:r>
            <a:r>
              <a:rPr sz="2000" u="sng" spc="-30" dirty="0">
                <a:solidFill>
                  <a:srgbClr val="C00000"/>
                </a:solidFill>
                <a:uFill>
                  <a:solidFill>
                    <a:srgbClr val="C00000"/>
                  </a:solidFill>
                </a:uFill>
                <a:latin typeface="Segoe Print"/>
                <a:cs typeface="Segoe Print"/>
              </a:rPr>
              <a:t> </a:t>
            </a:r>
            <a:r>
              <a:rPr sz="2000" u="sng" dirty="0">
                <a:solidFill>
                  <a:srgbClr val="C00000"/>
                </a:solidFill>
                <a:uFill>
                  <a:solidFill>
                    <a:srgbClr val="C00000"/>
                  </a:solidFill>
                </a:uFill>
                <a:latin typeface="Segoe Print"/>
                <a:cs typeface="Segoe Print"/>
              </a:rPr>
              <a:t>Assignment</a:t>
            </a:r>
            <a:r>
              <a:rPr sz="2000" u="sng" spc="-15" dirty="0">
                <a:solidFill>
                  <a:srgbClr val="C00000"/>
                </a:solidFill>
                <a:uFill>
                  <a:solidFill>
                    <a:srgbClr val="C00000"/>
                  </a:solidFill>
                </a:uFill>
                <a:latin typeface="Segoe Print"/>
                <a:cs typeface="Segoe Print"/>
              </a:rPr>
              <a:t> </a:t>
            </a:r>
            <a:r>
              <a:rPr sz="2000" u="sng" spc="-25" dirty="0">
                <a:solidFill>
                  <a:srgbClr val="C00000"/>
                </a:solidFill>
                <a:uFill>
                  <a:solidFill>
                    <a:srgbClr val="C00000"/>
                  </a:solidFill>
                </a:uFill>
                <a:latin typeface="Segoe Print"/>
                <a:cs typeface="Segoe Print"/>
              </a:rPr>
              <a:t>0!</a:t>
            </a:r>
            <a:endParaRPr sz="2000" dirty="0">
              <a:latin typeface="Segoe Print"/>
              <a:cs typeface="Segoe Prin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995264"/>
            <a:ext cx="8076456" cy="4978583"/>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141" dirty="0">
                <a:latin typeface="Trebuchet MS"/>
                <a:cs typeface="Trebuchet MS"/>
              </a:rPr>
              <a:t>Part</a:t>
            </a:r>
            <a:r>
              <a:rPr sz="1758" spc="-35" dirty="0">
                <a:latin typeface="Trebuchet MS"/>
                <a:cs typeface="Trebuchet MS"/>
              </a:rPr>
              <a:t> </a:t>
            </a:r>
            <a:r>
              <a:rPr sz="1758" spc="-21" dirty="0">
                <a:latin typeface="Trebuchet MS"/>
                <a:cs typeface="Trebuchet MS"/>
              </a:rPr>
              <a:t>1:</a:t>
            </a:r>
            <a:r>
              <a:rPr sz="1758" spc="-32" dirty="0">
                <a:latin typeface="Trebuchet MS"/>
                <a:cs typeface="Trebuchet MS"/>
              </a:rPr>
              <a:t> </a:t>
            </a:r>
            <a:r>
              <a:rPr sz="1758" spc="-35" dirty="0">
                <a:latin typeface="Trebuchet MS"/>
                <a:cs typeface="Trebuchet MS"/>
              </a:rPr>
              <a:t>Fundamentals </a:t>
            </a:r>
            <a:r>
              <a:rPr sz="1758" spc="-39" dirty="0">
                <a:latin typeface="Trebuchet MS"/>
                <a:cs typeface="Trebuchet MS"/>
              </a:rPr>
              <a:t>of</a:t>
            </a:r>
            <a:r>
              <a:rPr sz="1758" spc="-32" dirty="0">
                <a:latin typeface="Trebuchet MS"/>
                <a:cs typeface="Trebuchet MS"/>
              </a:rPr>
              <a:t> </a:t>
            </a:r>
            <a:r>
              <a:rPr sz="1758" dirty="0">
                <a:latin typeface="Trebuchet MS"/>
                <a:cs typeface="Trebuchet MS"/>
              </a:rPr>
              <a:t>Machine</a:t>
            </a:r>
            <a:r>
              <a:rPr sz="1758" spc="-32" dirty="0">
                <a:latin typeface="Trebuchet MS"/>
                <a:cs typeface="Trebuchet MS"/>
              </a:rPr>
              <a:t> </a:t>
            </a:r>
            <a:r>
              <a:rPr sz="1758" spc="-28" dirty="0">
                <a:latin typeface="Trebuchet MS"/>
                <a:cs typeface="Trebuchet MS"/>
              </a:rPr>
              <a:t>Learning</a:t>
            </a:r>
            <a:r>
              <a:rPr sz="1758" spc="-35" dirty="0">
                <a:latin typeface="Trebuchet MS"/>
                <a:cs typeface="Trebuchet MS"/>
              </a:rPr>
              <a:t> </a:t>
            </a:r>
            <a:r>
              <a:rPr sz="1758" spc="-60" dirty="0">
                <a:solidFill>
                  <a:srgbClr val="0076BA"/>
                </a:solidFill>
                <a:latin typeface="Trebuchet MS"/>
                <a:cs typeface="Trebuchet MS"/>
              </a:rPr>
              <a:t>(Scikit-</a:t>
            </a:r>
            <a:r>
              <a:rPr sz="1758" spc="-7" dirty="0">
                <a:solidFill>
                  <a:srgbClr val="0076BA"/>
                </a:solidFill>
                <a:latin typeface="Trebuchet MS"/>
                <a:cs typeface="Trebuchet MS"/>
              </a:rPr>
              <a:t>Learn)</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dirty="0">
                <a:latin typeface="Trebuchet MS"/>
                <a:cs typeface="Trebuchet MS"/>
              </a:rPr>
              <a:t>Review</a:t>
            </a:r>
            <a:r>
              <a:rPr sz="1758" spc="-95" dirty="0">
                <a:latin typeface="Trebuchet MS"/>
                <a:cs typeface="Trebuchet MS"/>
              </a:rPr>
              <a:t> </a:t>
            </a:r>
            <a:r>
              <a:rPr sz="1758" spc="-39" dirty="0">
                <a:latin typeface="Trebuchet MS"/>
                <a:cs typeface="Trebuchet MS"/>
              </a:rPr>
              <a:t>of</a:t>
            </a:r>
            <a:r>
              <a:rPr sz="1758" spc="-77" dirty="0">
                <a:latin typeface="Trebuchet MS"/>
                <a:cs typeface="Trebuchet MS"/>
              </a:rPr>
              <a:t> </a:t>
            </a:r>
            <a:r>
              <a:rPr sz="1758" spc="-63" dirty="0">
                <a:latin typeface="Trebuchet MS"/>
                <a:cs typeface="Trebuchet MS"/>
              </a:rPr>
              <a:t>Python’s</a:t>
            </a:r>
            <a:r>
              <a:rPr sz="1758" spc="-67" dirty="0">
                <a:latin typeface="Trebuchet MS"/>
                <a:cs typeface="Trebuchet MS"/>
              </a:rPr>
              <a:t> </a:t>
            </a:r>
            <a:r>
              <a:rPr sz="1758" dirty="0">
                <a:latin typeface="Trebuchet MS"/>
                <a:cs typeface="Trebuchet MS"/>
              </a:rPr>
              <a:t>main</a:t>
            </a:r>
            <a:r>
              <a:rPr sz="1758" spc="-80" dirty="0">
                <a:latin typeface="Trebuchet MS"/>
                <a:cs typeface="Trebuchet MS"/>
              </a:rPr>
              <a:t> </a:t>
            </a:r>
            <a:r>
              <a:rPr sz="1758" spc="-46" dirty="0">
                <a:latin typeface="Trebuchet MS"/>
                <a:cs typeface="Trebuchet MS"/>
              </a:rPr>
              <a:t>scientific</a:t>
            </a:r>
            <a:r>
              <a:rPr sz="1758" spc="-77" dirty="0">
                <a:latin typeface="Trebuchet MS"/>
                <a:cs typeface="Trebuchet MS"/>
              </a:rPr>
              <a:t> </a:t>
            </a:r>
            <a:r>
              <a:rPr sz="1758" spc="-60" dirty="0">
                <a:latin typeface="Trebuchet MS"/>
                <a:cs typeface="Trebuchet MS"/>
              </a:rPr>
              <a:t>libraries:</a:t>
            </a:r>
            <a:r>
              <a:rPr sz="1758" spc="-70" dirty="0">
                <a:latin typeface="Trebuchet MS"/>
                <a:cs typeface="Trebuchet MS"/>
              </a:rPr>
              <a:t> </a:t>
            </a:r>
            <a:r>
              <a:rPr sz="1758" dirty="0">
                <a:latin typeface="Trebuchet MS"/>
                <a:cs typeface="Trebuchet MS"/>
              </a:rPr>
              <a:t>NumPy,</a:t>
            </a:r>
            <a:r>
              <a:rPr sz="1758" spc="-77" dirty="0">
                <a:latin typeface="Trebuchet MS"/>
                <a:cs typeface="Trebuchet MS"/>
              </a:rPr>
              <a:t> </a:t>
            </a:r>
            <a:r>
              <a:rPr sz="1758" spc="-42" dirty="0">
                <a:latin typeface="Trebuchet MS"/>
                <a:cs typeface="Trebuchet MS"/>
              </a:rPr>
              <a:t>pandas,</a:t>
            </a:r>
            <a:r>
              <a:rPr sz="1758" spc="-77" dirty="0">
                <a:latin typeface="Trebuchet MS"/>
                <a:cs typeface="Trebuchet MS"/>
              </a:rPr>
              <a:t> </a:t>
            </a:r>
            <a:r>
              <a:rPr sz="1758" dirty="0">
                <a:latin typeface="Trebuchet MS"/>
                <a:cs typeface="Trebuchet MS"/>
              </a:rPr>
              <a:t>and</a:t>
            </a:r>
            <a:r>
              <a:rPr sz="1758" spc="-80" dirty="0">
                <a:latin typeface="Trebuchet MS"/>
                <a:cs typeface="Trebuchet MS"/>
              </a:rPr>
              <a:t> </a:t>
            </a:r>
            <a:r>
              <a:rPr sz="1758" spc="-7" dirty="0">
                <a:latin typeface="Trebuchet MS"/>
                <a:cs typeface="Trebuchet MS"/>
              </a:rPr>
              <a:t>Matplotlib</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53" dirty="0">
                <a:latin typeface="Trebuchet MS"/>
                <a:cs typeface="Trebuchet MS"/>
              </a:rPr>
              <a:t>Steps</a:t>
            </a:r>
            <a:r>
              <a:rPr sz="1758" spc="-80" dirty="0">
                <a:latin typeface="Trebuchet MS"/>
                <a:cs typeface="Trebuchet MS"/>
              </a:rPr>
              <a:t> </a:t>
            </a:r>
            <a:r>
              <a:rPr sz="1758" dirty="0">
                <a:latin typeface="Trebuchet MS"/>
                <a:cs typeface="Trebuchet MS"/>
              </a:rPr>
              <a:t>in</a:t>
            </a:r>
            <a:r>
              <a:rPr sz="1758" spc="-95" dirty="0">
                <a:latin typeface="Trebuchet MS"/>
                <a:cs typeface="Trebuchet MS"/>
              </a:rPr>
              <a:t> </a:t>
            </a:r>
            <a:r>
              <a:rPr sz="1758" dirty="0">
                <a:latin typeface="Trebuchet MS"/>
                <a:cs typeface="Trebuchet MS"/>
              </a:rPr>
              <a:t>a</a:t>
            </a:r>
            <a:r>
              <a:rPr sz="1758" spc="-84" dirty="0">
                <a:latin typeface="Trebuchet MS"/>
                <a:cs typeface="Trebuchet MS"/>
              </a:rPr>
              <a:t> </a:t>
            </a:r>
            <a:r>
              <a:rPr sz="1758" spc="-39" dirty="0">
                <a:latin typeface="Trebuchet MS"/>
                <a:cs typeface="Trebuchet MS"/>
              </a:rPr>
              <a:t>typical</a:t>
            </a:r>
            <a:r>
              <a:rPr sz="1758" spc="-88" dirty="0">
                <a:latin typeface="Trebuchet MS"/>
                <a:cs typeface="Trebuchet MS"/>
              </a:rPr>
              <a:t> </a:t>
            </a:r>
            <a:r>
              <a:rPr sz="1758" spc="-7" dirty="0">
                <a:latin typeface="Trebuchet MS"/>
                <a:cs typeface="Trebuchet MS"/>
              </a:rPr>
              <a:t>machine</a:t>
            </a:r>
            <a:r>
              <a:rPr sz="1758" spc="-88" dirty="0">
                <a:latin typeface="Trebuchet MS"/>
                <a:cs typeface="Trebuchet MS"/>
              </a:rPr>
              <a:t> </a:t>
            </a:r>
            <a:r>
              <a:rPr sz="1758" spc="-25" dirty="0">
                <a:latin typeface="Trebuchet MS"/>
                <a:cs typeface="Trebuchet MS"/>
              </a:rPr>
              <a:t>learning</a:t>
            </a:r>
            <a:r>
              <a:rPr sz="1758" spc="-84" dirty="0">
                <a:latin typeface="Trebuchet MS"/>
                <a:cs typeface="Trebuchet MS"/>
              </a:rPr>
              <a:t> </a:t>
            </a:r>
            <a:r>
              <a:rPr sz="1758" spc="-7" dirty="0">
                <a:latin typeface="Trebuchet MS"/>
                <a:cs typeface="Trebuchet MS"/>
              </a:rPr>
              <a:t>project</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28" dirty="0">
                <a:latin typeface="Trebuchet MS"/>
                <a:cs typeface="Trebuchet MS"/>
              </a:rPr>
              <a:t>Learning</a:t>
            </a:r>
            <a:r>
              <a:rPr sz="1758" spc="-105" dirty="0">
                <a:latin typeface="Trebuchet MS"/>
                <a:cs typeface="Trebuchet MS"/>
              </a:rPr>
              <a:t> </a:t>
            </a:r>
            <a:r>
              <a:rPr sz="1758" dirty="0">
                <a:latin typeface="Trebuchet MS"/>
                <a:cs typeface="Trebuchet MS"/>
              </a:rPr>
              <a:t>by</a:t>
            </a:r>
            <a:r>
              <a:rPr sz="1758" spc="-98" dirty="0">
                <a:latin typeface="Trebuchet MS"/>
                <a:cs typeface="Trebuchet MS"/>
              </a:rPr>
              <a:t> </a:t>
            </a:r>
            <a:r>
              <a:rPr sz="1758" spc="-88" dirty="0">
                <a:latin typeface="Trebuchet MS"/>
                <a:cs typeface="Trebuchet MS"/>
              </a:rPr>
              <a:t>fitting</a:t>
            </a:r>
            <a:r>
              <a:rPr sz="1758" spc="-42" dirty="0">
                <a:latin typeface="Trebuchet MS"/>
                <a:cs typeface="Trebuchet MS"/>
              </a:rPr>
              <a:t> </a:t>
            </a:r>
            <a:r>
              <a:rPr sz="1758" dirty="0">
                <a:latin typeface="Trebuchet MS"/>
                <a:cs typeface="Trebuchet MS"/>
              </a:rPr>
              <a:t>a</a:t>
            </a:r>
            <a:r>
              <a:rPr sz="1758" spc="-70" dirty="0">
                <a:latin typeface="Trebuchet MS"/>
                <a:cs typeface="Trebuchet MS"/>
              </a:rPr>
              <a:t> </a:t>
            </a:r>
            <a:r>
              <a:rPr sz="1758" spc="-7" dirty="0">
                <a:latin typeface="Trebuchet MS"/>
                <a:cs typeface="Trebuchet MS"/>
              </a:rPr>
              <a:t>model</a:t>
            </a:r>
            <a:r>
              <a:rPr sz="1758" spc="-67"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77" dirty="0">
                <a:latin typeface="Trebuchet MS"/>
                <a:cs typeface="Trebuchet MS"/>
              </a:rPr>
              <a:t>data</a:t>
            </a:r>
            <a:r>
              <a:rPr sz="1758" spc="-56" dirty="0">
                <a:latin typeface="Trebuchet MS"/>
                <a:cs typeface="Trebuchet MS"/>
              </a:rPr>
              <a:t> </a:t>
            </a:r>
            <a:r>
              <a:rPr sz="1758" dirty="0">
                <a:latin typeface="Trebuchet MS"/>
                <a:cs typeface="Trebuchet MS"/>
              </a:rPr>
              <a:t>and</a:t>
            </a:r>
            <a:r>
              <a:rPr sz="1758" spc="-67" dirty="0">
                <a:latin typeface="Trebuchet MS"/>
                <a:cs typeface="Trebuchet MS"/>
              </a:rPr>
              <a:t> </a:t>
            </a:r>
            <a:r>
              <a:rPr sz="1758" spc="-14" dirty="0">
                <a:latin typeface="Trebuchet MS"/>
                <a:cs typeface="Trebuchet MS"/>
              </a:rPr>
              <a:t>optimizing</a:t>
            </a:r>
            <a:r>
              <a:rPr sz="1758" spc="-70" dirty="0">
                <a:latin typeface="Trebuchet MS"/>
                <a:cs typeface="Trebuchet MS"/>
              </a:rPr>
              <a:t> </a:t>
            </a:r>
            <a:r>
              <a:rPr sz="1758" dirty="0">
                <a:latin typeface="Trebuchet MS"/>
                <a:cs typeface="Trebuchet MS"/>
              </a:rPr>
              <a:t>a</a:t>
            </a:r>
            <a:r>
              <a:rPr sz="1758" spc="-67" dirty="0">
                <a:latin typeface="Trebuchet MS"/>
                <a:cs typeface="Trebuchet MS"/>
              </a:rPr>
              <a:t> </a:t>
            </a:r>
            <a:r>
              <a:rPr sz="1758" spc="-39" dirty="0">
                <a:latin typeface="Trebuchet MS"/>
                <a:cs typeface="Trebuchet MS"/>
              </a:rPr>
              <a:t>cost</a:t>
            </a:r>
            <a:r>
              <a:rPr sz="1758" spc="-70" dirty="0">
                <a:latin typeface="Trebuchet MS"/>
                <a:cs typeface="Trebuchet MS"/>
              </a:rPr>
              <a:t> </a:t>
            </a:r>
            <a:r>
              <a:rPr sz="1758" spc="-7" dirty="0">
                <a:latin typeface="Trebuchet MS"/>
                <a:cs typeface="Trebuchet MS"/>
              </a:rPr>
              <a:t>function</a:t>
            </a:r>
            <a:endParaRPr sz="1758">
              <a:latin typeface="Trebuchet MS"/>
              <a:cs typeface="Trebuchet MS"/>
            </a:endParaRPr>
          </a:p>
          <a:p>
            <a:pPr lvl="1">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14" dirty="0">
                <a:latin typeface="Trebuchet MS"/>
                <a:cs typeface="Trebuchet MS"/>
              </a:rPr>
              <a:t>Challenges</a:t>
            </a:r>
            <a:r>
              <a:rPr sz="1758" spc="-95" dirty="0">
                <a:latin typeface="Trebuchet MS"/>
                <a:cs typeface="Trebuchet MS"/>
              </a:rPr>
              <a:t> </a:t>
            </a:r>
            <a:r>
              <a:rPr sz="1758" spc="-39" dirty="0">
                <a:latin typeface="Trebuchet MS"/>
                <a:cs typeface="Trebuchet MS"/>
              </a:rPr>
              <a:t>of</a:t>
            </a:r>
            <a:r>
              <a:rPr sz="1758" spc="-95" dirty="0">
                <a:latin typeface="Trebuchet MS"/>
                <a:cs typeface="Trebuchet MS"/>
              </a:rPr>
              <a:t> </a:t>
            </a:r>
            <a:r>
              <a:rPr sz="1758" dirty="0">
                <a:latin typeface="Trebuchet MS"/>
                <a:cs typeface="Trebuchet MS"/>
              </a:rPr>
              <a:t>using</a:t>
            </a:r>
            <a:r>
              <a:rPr sz="1758" spc="-95" dirty="0">
                <a:latin typeface="Trebuchet MS"/>
                <a:cs typeface="Trebuchet MS"/>
              </a:rPr>
              <a:t> </a:t>
            </a:r>
            <a:r>
              <a:rPr sz="1758" spc="-7" dirty="0">
                <a:latin typeface="Trebuchet MS"/>
                <a:cs typeface="Trebuchet MS"/>
              </a:rPr>
              <a:t>machine</a:t>
            </a:r>
            <a:r>
              <a:rPr sz="1758" spc="-91" dirty="0">
                <a:latin typeface="Trebuchet MS"/>
                <a:cs typeface="Trebuchet MS"/>
              </a:rPr>
              <a:t> </a:t>
            </a:r>
            <a:r>
              <a:rPr sz="1758" spc="-25" dirty="0">
                <a:latin typeface="Trebuchet MS"/>
                <a:cs typeface="Trebuchet MS"/>
              </a:rPr>
              <a:t>learning</a:t>
            </a:r>
            <a:r>
              <a:rPr sz="1758" spc="-95" dirty="0">
                <a:latin typeface="Trebuchet MS"/>
                <a:cs typeface="Trebuchet MS"/>
              </a:rPr>
              <a:t> </a:t>
            </a:r>
            <a:r>
              <a:rPr sz="1758" spc="-7" dirty="0">
                <a:latin typeface="Trebuchet MS"/>
                <a:cs typeface="Trebuchet MS"/>
              </a:rPr>
              <a:t>systems</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276810" indent="-267881">
              <a:buSzPct val="122000"/>
              <a:buChar char="•"/>
              <a:tabLst>
                <a:tab pos="276810" algn="l"/>
              </a:tabLst>
            </a:pPr>
            <a:r>
              <a:rPr sz="1758" spc="-141" dirty="0">
                <a:latin typeface="Trebuchet MS"/>
                <a:cs typeface="Trebuchet MS"/>
              </a:rPr>
              <a:t>Part</a:t>
            </a:r>
            <a:r>
              <a:rPr sz="1758" spc="-42" dirty="0">
                <a:latin typeface="Trebuchet MS"/>
                <a:cs typeface="Trebuchet MS"/>
              </a:rPr>
              <a:t> </a:t>
            </a:r>
            <a:r>
              <a:rPr sz="1758" spc="-21" dirty="0">
                <a:latin typeface="Trebuchet MS"/>
                <a:cs typeface="Trebuchet MS"/>
              </a:rPr>
              <a:t>2:</a:t>
            </a:r>
            <a:r>
              <a:rPr sz="1758" spc="-63" dirty="0">
                <a:latin typeface="Trebuchet MS"/>
                <a:cs typeface="Trebuchet MS"/>
              </a:rPr>
              <a:t> </a:t>
            </a:r>
            <a:r>
              <a:rPr sz="1758" dirty="0">
                <a:latin typeface="Trebuchet MS"/>
                <a:cs typeface="Trebuchet MS"/>
              </a:rPr>
              <a:t>Neural</a:t>
            </a:r>
            <a:r>
              <a:rPr sz="1758" spc="-53" dirty="0">
                <a:latin typeface="Trebuchet MS"/>
                <a:cs typeface="Trebuchet MS"/>
              </a:rPr>
              <a:t> </a:t>
            </a:r>
            <a:r>
              <a:rPr sz="1758" spc="-14" dirty="0">
                <a:latin typeface="Trebuchet MS"/>
                <a:cs typeface="Trebuchet MS"/>
              </a:rPr>
              <a:t>Networks</a:t>
            </a:r>
            <a:r>
              <a:rPr sz="1758" spc="-53" dirty="0">
                <a:latin typeface="Trebuchet MS"/>
                <a:cs typeface="Trebuchet MS"/>
              </a:rPr>
              <a:t> </a:t>
            </a:r>
            <a:r>
              <a:rPr sz="1758" dirty="0">
                <a:latin typeface="Trebuchet MS"/>
                <a:cs typeface="Trebuchet MS"/>
              </a:rPr>
              <a:t>and</a:t>
            </a:r>
            <a:r>
              <a:rPr sz="1758" spc="-53" dirty="0">
                <a:latin typeface="Trebuchet MS"/>
                <a:cs typeface="Trebuchet MS"/>
              </a:rPr>
              <a:t> </a:t>
            </a:r>
            <a:r>
              <a:rPr sz="1758" dirty="0">
                <a:latin typeface="Trebuchet MS"/>
                <a:cs typeface="Trebuchet MS"/>
              </a:rPr>
              <a:t>Deep</a:t>
            </a:r>
            <a:r>
              <a:rPr sz="1758" spc="-49" dirty="0">
                <a:latin typeface="Trebuchet MS"/>
                <a:cs typeface="Trebuchet MS"/>
              </a:rPr>
              <a:t> </a:t>
            </a:r>
            <a:r>
              <a:rPr sz="1758" spc="-28" dirty="0">
                <a:latin typeface="Trebuchet MS"/>
                <a:cs typeface="Trebuchet MS"/>
              </a:rPr>
              <a:t>Learning</a:t>
            </a:r>
            <a:r>
              <a:rPr sz="1758" spc="-53" dirty="0">
                <a:latin typeface="Trebuchet MS"/>
                <a:cs typeface="Trebuchet MS"/>
              </a:rPr>
              <a:t> </a:t>
            </a:r>
            <a:r>
              <a:rPr sz="1758" spc="-53" dirty="0">
                <a:solidFill>
                  <a:srgbClr val="0076BA"/>
                </a:solidFill>
                <a:latin typeface="Trebuchet MS"/>
                <a:cs typeface="Trebuchet MS"/>
              </a:rPr>
              <a:t>(TensorFlow </a:t>
            </a:r>
            <a:r>
              <a:rPr sz="1758" spc="-46" dirty="0">
                <a:solidFill>
                  <a:srgbClr val="0076BA"/>
                </a:solidFill>
                <a:latin typeface="Trebuchet MS"/>
                <a:cs typeface="Trebuchet MS"/>
              </a:rPr>
              <a:t>2.0,</a:t>
            </a:r>
            <a:r>
              <a:rPr sz="1758" spc="-53" dirty="0">
                <a:solidFill>
                  <a:srgbClr val="0076BA"/>
                </a:solidFill>
                <a:latin typeface="Trebuchet MS"/>
                <a:cs typeface="Trebuchet MS"/>
              </a:rPr>
              <a:t> </a:t>
            </a:r>
            <a:r>
              <a:rPr sz="1758" spc="-67" dirty="0">
                <a:solidFill>
                  <a:srgbClr val="0076BA"/>
                </a:solidFill>
                <a:latin typeface="Trebuchet MS"/>
                <a:cs typeface="Trebuchet MS"/>
              </a:rPr>
              <a:t>Keras,</a:t>
            </a:r>
            <a:r>
              <a:rPr sz="1758" spc="-53" dirty="0">
                <a:solidFill>
                  <a:srgbClr val="0076BA"/>
                </a:solidFill>
                <a:latin typeface="Trebuchet MS"/>
                <a:cs typeface="Trebuchet MS"/>
              </a:rPr>
              <a:t> </a:t>
            </a:r>
            <a:r>
              <a:rPr sz="1758" dirty="0">
                <a:solidFill>
                  <a:srgbClr val="0076BA"/>
                </a:solidFill>
                <a:latin typeface="Trebuchet MS"/>
                <a:cs typeface="Trebuchet MS"/>
              </a:rPr>
              <a:t>and</a:t>
            </a:r>
            <a:r>
              <a:rPr sz="1758" spc="-53" dirty="0">
                <a:solidFill>
                  <a:srgbClr val="0076BA"/>
                </a:solidFill>
                <a:latin typeface="Trebuchet MS"/>
                <a:cs typeface="Trebuchet MS"/>
              </a:rPr>
              <a:t> </a:t>
            </a:r>
            <a:r>
              <a:rPr sz="1758" spc="-25" dirty="0">
                <a:solidFill>
                  <a:srgbClr val="0076BA"/>
                </a:solidFill>
                <a:latin typeface="Trebuchet MS"/>
                <a:cs typeface="Trebuchet MS"/>
              </a:rPr>
              <a:t>PyTorch)</a:t>
            </a:r>
            <a:endParaRPr sz="1758">
              <a:latin typeface="Trebuchet MS"/>
              <a:cs typeface="Trebuchet MS"/>
            </a:endParaRPr>
          </a:p>
          <a:p>
            <a:pPr>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dirty="0">
                <a:latin typeface="Trebuchet MS"/>
                <a:cs typeface="Trebuchet MS"/>
              </a:rPr>
              <a:t>What</a:t>
            </a:r>
            <a:r>
              <a:rPr sz="1758" spc="-53" dirty="0">
                <a:latin typeface="Trebuchet MS"/>
                <a:cs typeface="Trebuchet MS"/>
              </a:rPr>
              <a:t> </a:t>
            </a:r>
            <a:r>
              <a:rPr sz="1758" spc="-39" dirty="0">
                <a:latin typeface="Trebuchet MS"/>
                <a:cs typeface="Trebuchet MS"/>
              </a:rPr>
              <a:t>neural</a:t>
            </a:r>
            <a:r>
              <a:rPr sz="1758" spc="-49" dirty="0">
                <a:latin typeface="Trebuchet MS"/>
                <a:cs typeface="Trebuchet MS"/>
              </a:rPr>
              <a:t> </a:t>
            </a:r>
            <a:r>
              <a:rPr sz="1758" spc="-70" dirty="0">
                <a:latin typeface="Trebuchet MS"/>
                <a:cs typeface="Trebuchet MS"/>
              </a:rPr>
              <a:t>nets</a:t>
            </a:r>
            <a:r>
              <a:rPr sz="1758" spc="-53" dirty="0">
                <a:latin typeface="Trebuchet MS"/>
                <a:cs typeface="Trebuchet MS"/>
              </a:rPr>
              <a:t> </a:t>
            </a:r>
            <a:r>
              <a:rPr sz="1758" spc="-74" dirty="0">
                <a:latin typeface="Trebuchet MS"/>
                <a:cs typeface="Trebuchet MS"/>
              </a:rPr>
              <a:t>are</a:t>
            </a:r>
            <a:r>
              <a:rPr sz="1758" spc="-49" dirty="0">
                <a:latin typeface="Trebuchet MS"/>
                <a:cs typeface="Trebuchet MS"/>
              </a:rPr>
              <a:t> </a:t>
            </a:r>
            <a:r>
              <a:rPr sz="1758" dirty="0">
                <a:latin typeface="Trebuchet MS"/>
                <a:cs typeface="Trebuchet MS"/>
              </a:rPr>
              <a:t>and</a:t>
            </a:r>
            <a:r>
              <a:rPr sz="1758" spc="-53" dirty="0">
                <a:latin typeface="Trebuchet MS"/>
                <a:cs typeface="Trebuchet MS"/>
              </a:rPr>
              <a:t> </a:t>
            </a:r>
            <a:r>
              <a:rPr sz="1758" spc="-42" dirty="0">
                <a:latin typeface="Trebuchet MS"/>
                <a:cs typeface="Trebuchet MS"/>
              </a:rPr>
              <a:t>what</a:t>
            </a:r>
            <a:r>
              <a:rPr sz="1758" spc="-49" dirty="0">
                <a:latin typeface="Trebuchet MS"/>
                <a:cs typeface="Trebuchet MS"/>
              </a:rPr>
              <a:t> </a:t>
            </a:r>
            <a:r>
              <a:rPr sz="1758" spc="-63" dirty="0">
                <a:latin typeface="Trebuchet MS"/>
                <a:cs typeface="Trebuchet MS"/>
              </a:rPr>
              <a:t>they</a:t>
            </a:r>
            <a:r>
              <a:rPr sz="1758" spc="-49" dirty="0">
                <a:latin typeface="Trebuchet MS"/>
                <a:cs typeface="Trebuchet MS"/>
              </a:rPr>
              <a:t> </a:t>
            </a:r>
            <a:r>
              <a:rPr sz="1758" spc="-74" dirty="0">
                <a:latin typeface="Trebuchet MS"/>
                <a:cs typeface="Trebuchet MS"/>
              </a:rPr>
              <a:t>are</a:t>
            </a:r>
            <a:r>
              <a:rPr sz="1758" spc="-53" dirty="0">
                <a:latin typeface="Trebuchet MS"/>
                <a:cs typeface="Trebuchet MS"/>
              </a:rPr>
              <a:t> </a:t>
            </a:r>
            <a:r>
              <a:rPr sz="1758" dirty="0">
                <a:latin typeface="Trebuchet MS"/>
                <a:cs typeface="Trebuchet MS"/>
              </a:rPr>
              <a:t>good</a:t>
            </a:r>
            <a:r>
              <a:rPr sz="1758" spc="-49" dirty="0">
                <a:latin typeface="Trebuchet MS"/>
                <a:cs typeface="Trebuchet MS"/>
              </a:rPr>
              <a:t> </a:t>
            </a:r>
            <a:r>
              <a:rPr sz="1758" spc="-18" dirty="0">
                <a:latin typeface="Trebuchet MS"/>
                <a:cs typeface="Trebuchet MS"/>
              </a:rPr>
              <a:t>for</a:t>
            </a:r>
            <a:endParaRPr sz="1758">
              <a:latin typeface="Trebuchet MS"/>
              <a:cs typeface="Trebuchet MS"/>
            </a:endParaRPr>
          </a:p>
          <a:p>
            <a:pPr lvl="1">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dirty="0">
                <a:latin typeface="Trebuchet MS"/>
                <a:cs typeface="Trebuchet MS"/>
              </a:rPr>
              <a:t>Building</a:t>
            </a:r>
            <a:r>
              <a:rPr sz="1758" spc="-56" dirty="0">
                <a:latin typeface="Trebuchet MS"/>
                <a:cs typeface="Trebuchet MS"/>
              </a:rPr>
              <a:t> </a:t>
            </a:r>
            <a:r>
              <a:rPr sz="1758" dirty="0">
                <a:latin typeface="Trebuchet MS"/>
                <a:cs typeface="Trebuchet MS"/>
              </a:rPr>
              <a:t>and</a:t>
            </a:r>
            <a:r>
              <a:rPr sz="1758" spc="-53" dirty="0">
                <a:latin typeface="Trebuchet MS"/>
                <a:cs typeface="Trebuchet MS"/>
              </a:rPr>
              <a:t> </a:t>
            </a:r>
            <a:r>
              <a:rPr sz="1758" spc="-49" dirty="0">
                <a:latin typeface="Trebuchet MS"/>
                <a:cs typeface="Trebuchet MS"/>
              </a:rPr>
              <a:t>training</a:t>
            </a:r>
            <a:r>
              <a:rPr sz="1758" spc="-56" dirty="0">
                <a:latin typeface="Trebuchet MS"/>
                <a:cs typeface="Trebuchet MS"/>
              </a:rPr>
              <a:t> </a:t>
            </a:r>
            <a:r>
              <a:rPr sz="1758" spc="-60" dirty="0">
                <a:latin typeface="Trebuchet MS"/>
                <a:cs typeface="Trebuchet MS"/>
              </a:rPr>
              <a:t>feedforward</a:t>
            </a:r>
            <a:r>
              <a:rPr sz="1758" spc="-53" dirty="0">
                <a:latin typeface="Trebuchet MS"/>
                <a:cs typeface="Trebuchet MS"/>
              </a:rPr>
              <a:t> </a:t>
            </a:r>
            <a:r>
              <a:rPr sz="1758" spc="-39" dirty="0">
                <a:latin typeface="Trebuchet MS"/>
                <a:cs typeface="Trebuchet MS"/>
              </a:rPr>
              <a:t>neural</a:t>
            </a:r>
            <a:r>
              <a:rPr sz="1758" spc="-53" dirty="0">
                <a:latin typeface="Trebuchet MS"/>
                <a:cs typeface="Trebuchet MS"/>
              </a:rPr>
              <a:t> </a:t>
            </a:r>
            <a:r>
              <a:rPr sz="1758" spc="-70" dirty="0">
                <a:latin typeface="Trebuchet MS"/>
                <a:cs typeface="Trebuchet MS"/>
              </a:rPr>
              <a:t>nets</a:t>
            </a:r>
            <a:r>
              <a:rPr sz="1758" spc="-56" dirty="0">
                <a:latin typeface="Trebuchet MS"/>
                <a:cs typeface="Trebuchet MS"/>
              </a:rPr>
              <a:t> </a:t>
            </a:r>
            <a:r>
              <a:rPr sz="1758" spc="-32" dirty="0">
                <a:latin typeface="Trebuchet MS"/>
                <a:cs typeface="Trebuchet MS"/>
              </a:rPr>
              <a:t>(basics</a:t>
            </a:r>
            <a:r>
              <a:rPr sz="1758" spc="-53" dirty="0">
                <a:latin typeface="Trebuchet MS"/>
                <a:cs typeface="Trebuchet MS"/>
              </a:rPr>
              <a:t> </a:t>
            </a:r>
            <a:r>
              <a:rPr sz="1758" dirty="0">
                <a:latin typeface="Trebuchet MS"/>
                <a:cs typeface="Trebuchet MS"/>
              </a:rPr>
              <a:t>and</a:t>
            </a:r>
            <a:r>
              <a:rPr sz="1758" spc="-56" dirty="0">
                <a:latin typeface="Trebuchet MS"/>
                <a:cs typeface="Trebuchet MS"/>
              </a:rPr>
              <a:t> </a:t>
            </a:r>
            <a:r>
              <a:rPr sz="1758" spc="-7" dirty="0">
                <a:latin typeface="Trebuchet MS"/>
                <a:cs typeface="Trebuchet MS"/>
              </a:rPr>
              <a:t>implementation)</a:t>
            </a:r>
            <a:endParaRPr sz="1758">
              <a:latin typeface="Trebuchet MS"/>
              <a:cs typeface="Trebuchet MS"/>
            </a:endParaRPr>
          </a:p>
          <a:p>
            <a:pPr lvl="1">
              <a:spcBef>
                <a:spcPts val="250"/>
              </a:spcBef>
              <a:buFont typeface="Trebuchet MS"/>
              <a:buChar char="•"/>
            </a:pPr>
            <a:endParaRPr sz="1758">
              <a:latin typeface="Trebuchet MS"/>
              <a:cs typeface="Trebuchet MS"/>
            </a:endParaRPr>
          </a:p>
          <a:p>
            <a:pPr marL="544692" marR="4018" lvl="1" indent="-267881">
              <a:lnSpc>
                <a:spcPts val="1969"/>
              </a:lnSpc>
              <a:buSzPct val="122000"/>
              <a:buChar char="•"/>
              <a:tabLst>
                <a:tab pos="544692" algn="l"/>
              </a:tabLst>
            </a:pPr>
            <a:r>
              <a:rPr sz="1758" spc="-7" dirty="0">
                <a:latin typeface="Trebuchet MS"/>
                <a:cs typeface="Trebuchet MS"/>
              </a:rPr>
              <a:t>Convolutional</a:t>
            </a:r>
            <a:r>
              <a:rPr sz="1758" spc="-88" dirty="0">
                <a:latin typeface="Trebuchet MS"/>
                <a:cs typeface="Trebuchet MS"/>
              </a:rPr>
              <a:t> </a:t>
            </a:r>
            <a:r>
              <a:rPr sz="1758" spc="-70" dirty="0">
                <a:latin typeface="Trebuchet MS"/>
                <a:cs typeface="Trebuchet MS"/>
              </a:rPr>
              <a:t>nets</a:t>
            </a:r>
            <a:r>
              <a:rPr sz="1758" spc="-60" dirty="0">
                <a:latin typeface="Trebuchet MS"/>
                <a:cs typeface="Trebuchet MS"/>
              </a:rPr>
              <a:t> </a:t>
            </a:r>
            <a:r>
              <a:rPr sz="1758" spc="-74" dirty="0">
                <a:latin typeface="Trebuchet MS"/>
                <a:cs typeface="Trebuchet MS"/>
              </a:rPr>
              <a:t>for</a:t>
            </a:r>
            <a:r>
              <a:rPr sz="1758" spc="-60" dirty="0">
                <a:latin typeface="Trebuchet MS"/>
                <a:cs typeface="Trebuchet MS"/>
              </a:rPr>
              <a:t> </a:t>
            </a:r>
            <a:r>
              <a:rPr sz="1758" spc="-28" dirty="0">
                <a:latin typeface="Trebuchet MS"/>
                <a:cs typeface="Trebuchet MS"/>
              </a:rPr>
              <a:t>deep</a:t>
            </a:r>
            <a:r>
              <a:rPr sz="1758" spc="-63" dirty="0">
                <a:latin typeface="Trebuchet MS"/>
                <a:cs typeface="Trebuchet MS"/>
              </a:rPr>
              <a:t> </a:t>
            </a:r>
            <a:r>
              <a:rPr sz="1758" spc="-42" dirty="0">
                <a:latin typeface="Trebuchet MS"/>
                <a:cs typeface="Trebuchet MS"/>
              </a:rPr>
              <a:t>computer</a:t>
            </a:r>
            <a:r>
              <a:rPr sz="1758" spc="-63" dirty="0">
                <a:latin typeface="Trebuchet MS"/>
                <a:cs typeface="Trebuchet MS"/>
              </a:rPr>
              <a:t> </a:t>
            </a:r>
            <a:r>
              <a:rPr sz="1758" dirty="0">
                <a:latin typeface="Trebuchet MS"/>
                <a:cs typeface="Trebuchet MS"/>
              </a:rPr>
              <a:t>vision</a:t>
            </a:r>
            <a:r>
              <a:rPr sz="1758" spc="-63" dirty="0">
                <a:latin typeface="Trebuchet MS"/>
                <a:cs typeface="Trebuchet MS"/>
              </a:rPr>
              <a:t> </a:t>
            </a:r>
            <a:r>
              <a:rPr sz="1758" dirty="0">
                <a:latin typeface="Trebuchet MS"/>
                <a:cs typeface="Trebuchet MS"/>
              </a:rPr>
              <a:t>and</a:t>
            </a:r>
            <a:r>
              <a:rPr sz="1758" spc="-67" dirty="0">
                <a:latin typeface="Trebuchet MS"/>
                <a:cs typeface="Trebuchet MS"/>
              </a:rPr>
              <a:t> </a:t>
            </a:r>
            <a:r>
              <a:rPr sz="1758" spc="-77" dirty="0">
                <a:latin typeface="Trebuchet MS"/>
                <a:cs typeface="Trebuchet MS"/>
              </a:rPr>
              <a:t>recurrent</a:t>
            </a:r>
            <a:r>
              <a:rPr sz="1758" spc="-53" dirty="0">
                <a:latin typeface="Trebuchet MS"/>
                <a:cs typeface="Trebuchet MS"/>
              </a:rPr>
              <a:t> </a:t>
            </a:r>
            <a:r>
              <a:rPr sz="1758" spc="-39" dirty="0">
                <a:latin typeface="Trebuchet MS"/>
                <a:cs typeface="Trebuchet MS"/>
              </a:rPr>
              <a:t>neural</a:t>
            </a:r>
            <a:r>
              <a:rPr sz="1758" spc="-63" dirty="0">
                <a:latin typeface="Trebuchet MS"/>
                <a:cs typeface="Trebuchet MS"/>
              </a:rPr>
              <a:t> </a:t>
            </a:r>
            <a:r>
              <a:rPr sz="1758" spc="-70" dirty="0">
                <a:latin typeface="Trebuchet MS"/>
                <a:cs typeface="Trebuchet MS"/>
              </a:rPr>
              <a:t>nets</a:t>
            </a:r>
            <a:r>
              <a:rPr sz="1758" spc="-63" dirty="0">
                <a:latin typeface="Trebuchet MS"/>
                <a:cs typeface="Trebuchet MS"/>
              </a:rPr>
              <a:t> </a:t>
            </a:r>
            <a:r>
              <a:rPr sz="1758" spc="-7" dirty="0">
                <a:latin typeface="Trebuchet MS"/>
                <a:cs typeface="Trebuchet MS"/>
              </a:rPr>
              <a:t>(mainly </a:t>
            </a:r>
            <a:r>
              <a:rPr sz="1758" spc="-53" dirty="0">
                <a:latin typeface="Trebuchet MS"/>
                <a:cs typeface="Trebuchet MS"/>
              </a:rPr>
              <a:t>fundamental</a:t>
            </a:r>
            <a:r>
              <a:rPr sz="1758" spc="-63" dirty="0">
                <a:latin typeface="Trebuchet MS"/>
                <a:cs typeface="Trebuchet MS"/>
              </a:rPr>
              <a:t> </a:t>
            </a:r>
            <a:r>
              <a:rPr sz="1758" spc="-7" dirty="0">
                <a:latin typeface="Trebuchet MS"/>
                <a:cs typeface="Trebuchet MS"/>
              </a:rPr>
              <a:t>concepts)</a:t>
            </a:r>
            <a:endParaRPr sz="1758">
              <a:latin typeface="Trebuchet MS"/>
              <a:cs typeface="Trebuchet MS"/>
            </a:endParaRPr>
          </a:p>
        </p:txBody>
      </p:sp>
      <p:sp>
        <p:nvSpPr>
          <p:cNvPr id="4" name="object 4"/>
          <p:cNvSpPr txBox="1">
            <a:spLocks noGrp="1"/>
          </p:cNvSpPr>
          <p:nvPr>
            <p:ph type="title"/>
          </p:nvPr>
        </p:nvSpPr>
        <p:spPr>
          <a:xfrm>
            <a:off x="2113360" y="328312"/>
            <a:ext cx="7393781" cy="686126"/>
          </a:xfrm>
          <a:prstGeom prst="rect">
            <a:avLst/>
          </a:prstGeom>
        </p:spPr>
        <p:txBody>
          <a:bodyPr vert="horz" wrap="square" lIns="0" tIns="8930" rIns="0" bIns="0" rtlCol="0" anchor="ctr">
            <a:spAutoFit/>
          </a:bodyPr>
          <a:lstStyle/>
          <a:p>
            <a:pPr marL="8929">
              <a:lnSpc>
                <a:spcPct val="100000"/>
              </a:lnSpc>
              <a:spcBef>
                <a:spcPts val="70"/>
              </a:spcBef>
            </a:pPr>
            <a:r>
              <a:rPr spc="-120" dirty="0"/>
              <a:t>Course</a:t>
            </a:r>
            <a:r>
              <a:rPr spc="-165" dirty="0"/>
              <a:t> </a:t>
            </a:r>
            <a:r>
              <a:rPr spc="-193" dirty="0"/>
              <a:t>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251966" y="2662428"/>
            <a:ext cx="1628139"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Calibri Light"/>
                <a:cs typeface="Calibri Light"/>
              </a:rPr>
              <a:t>1-</a:t>
            </a:r>
            <a:r>
              <a:rPr sz="2000" spc="-10" dirty="0">
                <a:solidFill>
                  <a:srgbClr val="FFFFFF"/>
                </a:solidFill>
                <a:latin typeface="Calibri Light"/>
                <a:cs typeface="Calibri Light"/>
              </a:rPr>
              <a:t> </a:t>
            </a:r>
            <a:r>
              <a:rPr sz="2000" dirty="0">
                <a:solidFill>
                  <a:srgbClr val="FFFFFF"/>
                </a:solidFill>
                <a:latin typeface="Calibri Light"/>
                <a:cs typeface="Calibri Light"/>
              </a:rPr>
              <a:t>ML</a:t>
            </a:r>
            <a:r>
              <a:rPr sz="2000" spc="-5" dirty="0">
                <a:solidFill>
                  <a:srgbClr val="FFFFFF"/>
                </a:solidFill>
                <a:latin typeface="Calibri Light"/>
                <a:cs typeface="Calibri Light"/>
              </a:rPr>
              <a:t> </a:t>
            </a:r>
            <a:r>
              <a:rPr sz="2000" spc="-10" dirty="0">
                <a:solidFill>
                  <a:srgbClr val="FFFFFF"/>
                </a:solidFill>
                <a:latin typeface="Calibri Light"/>
                <a:cs typeface="Calibri Light"/>
              </a:rPr>
              <a:t>Overview</a:t>
            </a:r>
            <a:endParaRPr sz="2000">
              <a:latin typeface="Calibri Light"/>
              <a:cs typeface="Calibri Light"/>
            </a:endParaRPr>
          </a:p>
        </p:txBody>
      </p:sp>
      <p:graphicFrame>
        <p:nvGraphicFramePr>
          <p:cNvPr id="6" name="object 6"/>
          <p:cNvGraphicFramePr>
            <a:graphicFrameLocks noGrp="1"/>
          </p:cNvGraphicFramePr>
          <p:nvPr/>
        </p:nvGraphicFramePr>
        <p:xfrm>
          <a:off x="4050665" y="2275713"/>
          <a:ext cx="7890509" cy="977265"/>
        </p:xfrm>
        <a:graphic>
          <a:graphicData uri="http://schemas.openxmlformats.org/drawingml/2006/table">
            <a:tbl>
              <a:tblPr firstRow="1" bandRow="1">
                <a:tableStyleId>{2D5ABB26-0587-4C30-8999-92F81FD0307C}</a:tableStyleId>
              </a:tblPr>
              <a:tblGrid>
                <a:gridCol w="7890509">
                  <a:extLst>
                    <a:ext uri="{9D8B030D-6E8A-4147-A177-3AD203B41FA5}">
                      <a16:colId xmlns:a16="http://schemas.microsoft.com/office/drawing/2014/main" val="20000"/>
                    </a:ext>
                  </a:extLst>
                </a:gridCol>
              </a:tblGrid>
              <a:tr h="461645">
                <a:tc>
                  <a:txBody>
                    <a:bodyPr/>
                    <a:lstStyle/>
                    <a:p>
                      <a:pPr marL="147320">
                        <a:lnSpc>
                          <a:spcPct val="100000"/>
                        </a:lnSpc>
                        <a:spcBef>
                          <a:spcPts val="80"/>
                        </a:spcBef>
                      </a:pPr>
                      <a:r>
                        <a:rPr sz="1800" dirty="0">
                          <a:solidFill>
                            <a:srgbClr val="0000FF"/>
                          </a:solidFill>
                          <a:latin typeface="Calibri"/>
                          <a:cs typeface="Calibri"/>
                        </a:rPr>
                        <a:t>Course</a:t>
                      </a:r>
                      <a:r>
                        <a:rPr sz="1800" spc="-60" dirty="0">
                          <a:solidFill>
                            <a:srgbClr val="0000FF"/>
                          </a:solidFill>
                          <a:latin typeface="Calibri"/>
                          <a:cs typeface="Calibri"/>
                        </a:rPr>
                        <a:t> </a:t>
                      </a:r>
                      <a:r>
                        <a:rPr sz="1800" spc="-20" dirty="0">
                          <a:solidFill>
                            <a:srgbClr val="0000FF"/>
                          </a:solidFill>
                          <a:latin typeface="Calibri"/>
                          <a:cs typeface="Calibri"/>
                        </a:rPr>
                        <a:t>Overview,</a:t>
                      </a:r>
                      <a:r>
                        <a:rPr sz="1800" spc="-60" dirty="0">
                          <a:solidFill>
                            <a:srgbClr val="0000FF"/>
                          </a:solidFill>
                          <a:latin typeface="Calibri"/>
                          <a:cs typeface="Calibri"/>
                        </a:rPr>
                        <a:t> </a:t>
                      </a:r>
                      <a:r>
                        <a:rPr sz="1800" spc="-10" dirty="0">
                          <a:solidFill>
                            <a:srgbClr val="0000FF"/>
                          </a:solidFill>
                          <a:latin typeface="Calibri"/>
                          <a:cs typeface="Calibri"/>
                        </a:rPr>
                        <a:t>notation</a:t>
                      </a:r>
                      <a:endParaRPr sz="1800">
                        <a:latin typeface="Calibri"/>
                        <a:cs typeface="Calibri"/>
                      </a:endParaRPr>
                    </a:p>
                  </a:txBody>
                  <a:tcPr marL="0" marR="0" marT="1016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15620">
                <a:tc>
                  <a:txBody>
                    <a:bodyPr/>
                    <a:lstStyle/>
                    <a:p>
                      <a:pPr marL="147320">
                        <a:lnSpc>
                          <a:spcPct val="100000"/>
                        </a:lnSpc>
                        <a:spcBef>
                          <a:spcPts val="75"/>
                        </a:spcBef>
                      </a:pPr>
                      <a:r>
                        <a:rPr sz="1800" dirty="0">
                          <a:solidFill>
                            <a:srgbClr val="0000FF"/>
                          </a:solidFill>
                          <a:latin typeface="Calibri"/>
                          <a:cs typeface="Calibri"/>
                        </a:rPr>
                        <a:t>Supervised</a:t>
                      </a:r>
                      <a:r>
                        <a:rPr sz="1800" spc="-90" dirty="0">
                          <a:solidFill>
                            <a:srgbClr val="0000FF"/>
                          </a:solidFill>
                          <a:latin typeface="Calibri"/>
                          <a:cs typeface="Calibri"/>
                        </a:rPr>
                        <a:t> </a:t>
                      </a:r>
                      <a:r>
                        <a:rPr sz="1800" dirty="0">
                          <a:solidFill>
                            <a:srgbClr val="0000FF"/>
                          </a:solidFill>
                          <a:latin typeface="Calibri"/>
                          <a:cs typeface="Calibri"/>
                        </a:rPr>
                        <a:t>Learning</a:t>
                      </a:r>
                      <a:r>
                        <a:rPr sz="1800" spc="-80" dirty="0">
                          <a:solidFill>
                            <a:srgbClr val="0000FF"/>
                          </a:solidFill>
                          <a:latin typeface="Calibri"/>
                          <a:cs typeface="Calibri"/>
                        </a:rPr>
                        <a:t> </a:t>
                      </a:r>
                      <a:r>
                        <a:rPr sz="1800" spc="-10" dirty="0">
                          <a:solidFill>
                            <a:srgbClr val="0000FF"/>
                          </a:solidFill>
                          <a:latin typeface="Calibri"/>
                          <a:cs typeface="Calibri"/>
                        </a:rPr>
                        <a:t>Setup</a:t>
                      </a:r>
                      <a:endParaRPr sz="1800">
                        <a:latin typeface="Calibri"/>
                        <a:cs typeface="Calibri"/>
                      </a:endParaRPr>
                    </a:p>
                  </a:txBody>
                  <a:tcPr marL="0" marR="0" marT="9525"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7" name="object 7"/>
          <p:cNvSpPr txBox="1">
            <a:spLocks noGrp="1"/>
          </p:cNvSpPr>
          <p:nvPr>
            <p:ph type="title"/>
          </p:nvPr>
        </p:nvSpPr>
        <p:spPr>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a:latin typeface="Calibri Light"/>
              <a:cs typeface="Calibri Light"/>
            </a:endParaRPr>
          </a:p>
        </p:txBody>
      </p:sp>
      <p:sp>
        <p:nvSpPr>
          <p:cNvPr id="8" name="object 8"/>
          <p:cNvSpPr txBox="1"/>
          <p:nvPr/>
        </p:nvSpPr>
        <p:spPr>
          <a:xfrm>
            <a:off x="4117594" y="3790188"/>
            <a:ext cx="6713855" cy="1478280"/>
          </a:xfrm>
          <a:prstGeom prst="rect">
            <a:avLst/>
          </a:prstGeom>
        </p:spPr>
        <p:txBody>
          <a:bodyPr vert="horz" wrap="square" lIns="0" tIns="12700" rIns="0" bIns="0" rtlCol="0">
            <a:spAutoFit/>
          </a:bodyPr>
          <a:lstStyle/>
          <a:p>
            <a:pPr marL="12700">
              <a:lnSpc>
                <a:spcPct val="100000"/>
              </a:lnSpc>
              <a:spcBef>
                <a:spcPts val="100"/>
              </a:spcBef>
              <a:tabLst>
                <a:tab pos="1001394" algn="l"/>
              </a:tabLst>
            </a:pPr>
            <a:r>
              <a:rPr sz="1800" b="1" u="sng" spc="-10" dirty="0">
                <a:solidFill>
                  <a:srgbClr val="006FC0"/>
                </a:solidFill>
                <a:uFill>
                  <a:solidFill>
                    <a:srgbClr val="006FC0"/>
                  </a:solidFill>
                </a:uFill>
                <a:latin typeface="Calibri"/>
                <a:cs typeface="Calibri"/>
              </a:rPr>
              <a:t>Weeks:</a:t>
            </a:r>
            <a:r>
              <a:rPr sz="1800" b="1" dirty="0">
                <a:solidFill>
                  <a:srgbClr val="006FC0"/>
                </a:solidFill>
                <a:latin typeface="Calibri"/>
                <a:cs typeface="Calibri"/>
              </a:rPr>
              <a:t>	</a:t>
            </a:r>
            <a:r>
              <a:rPr sz="1800" spc="-25" dirty="0">
                <a:latin typeface="Calibri"/>
                <a:cs typeface="Calibri"/>
              </a:rPr>
              <a:t>1,2</a:t>
            </a:r>
            <a:endParaRPr sz="1800">
              <a:latin typeface="Calibri"/>
              <a:cs typeface="Calibri"/>
            </a:endParaRPr>
          </a:p>
          <a:p>
            <a:pPr>
              <a:lnSpc>
                <a:spcPct val="100000"/>
              </a:lnSpc>
              <a:spcBef>
                <a:spcPts val="2010"/>
              </a:spcBef>
            </a:pPr>
            <a:endParaRPr sz="1800">
              <a:latin typeface="Calibri"/>
              <a:cs typeface="Calibri"/>
            </a:endParaRPr>
          </a:p>
          <a:p>
            <a:pPr marL="12700">
              <a:lnSpc>
                <a:spcPct val="100000"/>
              </a:lnSpc>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329565" indent="-285750">
              <a:lnSpc>
                <a:spcPct val="100000"/>
              </a:lnSpc>
              <a:spcBef>
                <a:spcPts val="750"/>
              </a:spcBef>
              <a:buFont typeface="Arial MT"/>
              <a:buChar char="•"/>
              <a:tabLst>
                <a:tab pos="329565" algn="l"/>
              </a:tabLst>
            </a:pPr>
            <a:r>
              <a:rPr sz="1800" spc="-10" dirty="0">
                <a:latin typeface="Calibri"/>
                <a:cs typeface="Calibri"/>
              </a:rPr>
              <a:t>Programming</a:t>
            </a:r>
            <a:r>
              <a:rPr sz="1800" spc="-55" dirty="0">
                <a:latin typeface="Calibri"/>
                <a:cs typeface="Calibri"/>
              </a:rPr>
              <a:t> </a:t>
            </a:r>
            <a:r>
              <a:rPr sz="1800" spc="-10" dirty="0">
                <a:latin typeface="Calibri"/>
                <a:cs typeface="Calibri"/>
              </a:rPr>
              <a:t>Assignment</a:t>
            </a:r>
            <a:r>
              <a:rPr sz="1800" spc="-45" dirty="0">
                <a:latin typeface="Calibri"/>
                <a:cs typeface="Calibri"/>
              </a:rPr>
              <a:t> </a:t>
            </a:r>
            <a:r>
              <a:rPr sz="1800" dirty="0">
                <a:latin typeface="Calibri"/>
                <a:cs typeface="Calibri"/>
              </a:rPr>
              <a:t>1:</a:t>
            </a:r>
            <a:r>
              <a:rPr sz="1800" spc="-35" dirty="0">
                <a:latin typeface="Calibri"/>
                <a:cs typeface="Calibri"/>
              </a:rPr>
              <a:t> </a:t>
            </a:r>
            <a:r>
              <a:rPr sz="1800" dirty="0">
                <a:latin typeface="Calibri"/>
                <a:cs typeface="Calibri"/>
              </a:rPr>
              <a:t>Intro</a:t>
            </a:r>
            <a:r>
              <a:rPr sz="1800" spc="-50"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Python,</a:t>
            </a:r>
            <a:r>
              <a:rPr sz="1800" spc="-45" dirty="0">
                <a:latin typeface="Calibri"/>
                <a:cs typeface="Calibri"/>
              </a:rPr>
              <a:t> </a:t>
            </a:r>
            <a:r>
              <a:rPr sz="1800" dirty="0">
                <a:latin typeface="Calibri"/>
                <a:cs typeface="Calibri"/>
              </a:rPr>
              <a:t>Setting</a:t>
            </a:r>
            <a:r>
              <a:rPr sz="1800" spc="-40" dirty="0">
                <a:latin typeface="Calibri"/>
                <a:cs typeface="Calibri"/>
              </a:rPr>
              <a:t> </a:t>
            </a:r>
            <a:r>
              <a:rPr sz="1800" dirty="0">
                <a:latin typeface="Calibri"/>
                <a:cs typeface="Calibri"/>
              </a:rPr>
              <a:t>up</a:t>
            </a:r>
            <a:r>
              <a:rPr sz="1800" spc="-40" dirty="0">
                <a:latin typeface="Calibri"/>
                <a:cs typeface="Calibri"/>
              </a:rPr>
              <a:t> </a:t>
            </a:r>
            <a:r>
              <a:rPr sz="1800" spc="-10" dirty="0">
                <a:latin typeface="Calibri"/>
                <a:cs typeface="Calibri"/>
              </a:rPr>
              <a:t>Environment</a:t>
            </a:r>
            <a:endParaRPr sz="18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231391" y="2662428"/>
            <a:ext cx="166878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Calibri Light"/>
                <a:cs typeface="Calibri Light"/>
              </a:rPr>
              <a:t>2</a:t>
            </a:r>
            <a:r>
              <a:rPr sz="2000" spc="-10" dirty="0">
                <a:solidFill>
                  <a:srgbClr val="FFFFFF"/>
                </a:solidFill>
                <a:latin typeface="Calibri Light"/>
                <a:cs typeface="Calibri Light"/>
              </a:rPr>
              <a:t> </a:t>
            </a:r>
            <a:r>
              <a:rPr sz="2000" dirty="0">
                <a:solidFill>
                  <a:srgbClr val="FFFFFF"/>
                </a:solidFill>
                <a:latin typeface="Calibri Light"/>
                <a:cs typeface="Calibri Light"/>
              </a:rPr>
              <a:t>-</a:t>
            </a:r>
            <a:r>
              <a:rPr sz="2000" spc="-10" dirty="0">
                <a:solidFill>
                  <a:srgbClr val="FFFFFF"/>
                </a:solidFill>
                <a:latin typeface="Calibri Light"/>
                <a:cs typeface="Calibri Light"/>
              </a:rPr>
              <a:t> Classification</a:t>
            </a:r>
            <a:endParaRPr sz="2000">
              <a:latin typeface="Calibri Light"/>
              <a:cs typeface="Calibri Light"/>
            </a:endParaRPr>
          </a:p>
        </p:txBody>
      </p:sp>
      <p:graphicFrame>
        <p:nvGraphicFramePr>
          <p:cNvPr id="6" name="object 6"/>
          <p:cNvGraphicFramePr>
            <a:graphicFrameLocks noGrp="1"/>
          </p:cNvGraphicFramePr>
          <p:nvPr/>
        </p:nvGraphicFramePr>
        <p:xfrm>
          <a:off x="4019550" y="1332357"/>
          <a:ext cx="7188200" cy="1793875"/>
        </p:xfrm>
        <a:graphic>
          <a:graphicData uri="http://schemas.openxmlformats.org/drawingml/2006/table">
            <a:tbl>
              <a:tblPr firstRow="1" bandRow="1">
                <a:tableStyleId>{2D5ABB26-0587-4C30-8999-92F81FD0307C}</a:tableStyleId>
              </a:tblPr>
              <a:tblGrid>
                <a:gridCol w="7188200">
                  <a:extLst>
                    <a:ext uri="{9D8B030D-6E8A-4147-A177-3AD203B41FA5}">
                      <a16:colId xmlns:a16="http://schemas.microsoft.com/office/drawing/2014/main" val="20000"/>
                    </a:ext>
                  </a:extLst>
                </a:gridCol>
              </a:tblGrid>
              <a:tr h="430530">
                <a:tc>
                  <a:txBody>
                    <a:bodyPr/>
                    <a:lstStyle/>
                    <a:p>
                      <a:pPr marL="68580">
                        <a:lnSpc>
                          <a:spcPts val="2060"/>
                        </a:lnSpc>
                      </a:pPr>
                      <a:r>
                        <a:rPr sz="1800" spc="-10" dirty="0">
                          <a:solidFill>
                            <a:srgbClr val="0000FF"/>
                          </a:solidFill>
                          <a:latin typeface="Calibri"/>
                          <a:cs typeface="Calibri"/>
                        </a:rPr>
                        <a:t>Classification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46405">
                <a:tc>
                  <a:txBody>
                    <a:bodyPr/>
                    <a:lstStyle/>
                    <a:p>
                      <a:pPr marL="68580">
                        <a:lnSpc>
                          <a:spcPts val="2060"/>
                        </a:lnSpc>
                      </a:pPr>
                      <a:r>
                        <a:rPr sz="1800" spc="-25" dirty="0">
                          <a:solidFill>
                            <a:srgbClr val="0000FF"/>
                          </a:solidFill>
                          <a:latin typeface="Calibri"/>
                          <a:cs typeface="Calibri"/>
                        </a:rPr>
                        <a:t>KNN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8470">
                <a:tc>
                  <a:txBody>
                    <a:bodyPr/>
                    <a:lstStyle/>
                    <a:p>
                      <a:pPr marL="68580">
                        <a:lnSpc>
                          <a:spcPts val="2060"/>
                        </a:lnSpc>
                      </a:pPr>
                      <a:r>
                        <a:rPr sz="1800" spc="-10" dirty="0">
                          <a:solidFill>
                            <a:srgbClr val="0000FF"/>
                          </a:solidFill>
                          <a:latin typeface="Calibri"/>
                          <a:cs typeface="Calibri"/>
                        </a:rPr>
                        <a:t>Evaluation</a:t>
                      </a:r>
                      <a:r>
                        <a:rPr sz="1800" spc="-55" dirty="0">
                          <a:solidFill>
                            <a:srgbClr val="0000FF"/>
                          </a:solidFill>
                          <a:latin typeface="Calibri"/>
                          <a:cs typeface="Calibri"/>
                        </a:rPr>
                        <a:t> </a:t>
                      </a:r>
                      <a:r>
                        <a:rPr sz="1800" dirty="0">
                          <a:solidFill>
                            <a:srgbClr val="0000FF"/>
                          </a:solidFill>
                          <a:latin typeface="Calibri"/>
                          <a:cs typeface="Calibri"/>
                        </a:rPr>
                        <a:t>Metrics,</a:t>
                      </a:r>
                      <a:r>
                        <a:rPr sz="1800" spc="-45" dirty="0">
                          <a:solidFill>
                            <a:srgbClr val="0000FF"/>
                          </a:solidFill>
                          <a:latin typeface="Calibri"/>
                          <a:cs typeface="Calibri"/>
                        </a:rPr>
                        <a:t> </a:t>
                      </a:r>
                      <a:r>
                        <a:rPr sz="1800" dirty="0">
                          <a:solidFill>
                            <a:srgbClr val="0000FF"/>
                          </a:solidFill>
                          <a:latin typeface="Calibri"/>
                          <a:cs typeface="Calibri"/>
                        </a:rPr>
                        <a:t>Curse</a:t>
                      </a:r>
                      <a:r>
                        <a:rPr sz="1800" spc="-45" dirty="0">
                          <a:solidFill>
                            <a:srgbClr val="0000FF"/>
                          </a:solidFill>
                          <a:latin typeface="Calibri"/>
                          <a:cs typeface="Calibri"/>
                        </a:rPr>
                        <a:t> </a:t>
                      </a:r>
                      <a:r>
                        <a:rPr sz="1800" dirty="0">
                          <a:solidFill>
                            <a:srgbClr val="0000FF"/>
                          </a:solidFill>
                          <a:latin typeface="Calibri"/>
                          <a:cs typeface="Calibri"/>
                        </a:rPr>
                        <a:t>of</a:t>
                      </a:r>
                      <a:r>
                        <a:rPr sz="1800" spc="-45" dirty="0">
                          <a:solidFill>
                            <a:srgbClr val="0000FF"/>
                          </a:solidFill>
                          <a:latin typeface="Calibri"/>
                          <a:cs typeface="Calibri"/>
                        </a:rPr>
                        <a:t> </a:t>
                      </a:r>
                      <a:r>
                        <a:rPr sz="1800" spc="-10" dirty="0">
                          <a:solidFill>
                            <a:srgbClr val="0000FF"/>
                          </a:solidFill>
                          <a:latin typeface="Calibri"/>
                          <a:cs typeface="Calibri"/>
                        </a:rPr>
                        <a:t>Dimensionality</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8470">
                <a:tc>
                  <a:txBody>
                    <a:bodyPr/>
                    <a:lstStyle/>
                    <a:p>
                      <a:pPr marL="68580">
                        <a:lnSpc>
                          <a:spcPts val="2060"/>
                        </a:lnSpc>
                      </a:pPr>
                      <a:r>
                        <a:rPr sz="1800" spc="-10" dirty="0">
                          <a:solidFill>
                            <a:srgbClr val="0000FF"/>
                          </a:solidFill>
                          <a:latin typeface="Calibri"/>
                          <a:cs typeface="Calibri"/>
                        </a:rPr>
                        <a:t>Multi-</a:t>
                      </a:r>
                      <a:r>
                        <a:rPr sz="1800" dirty="0">
                          <a:solidFill>
                            <a:srgbClr val="0000FF"/>
                          </a:solidFill>
                          <a:latin typeface="Calibri"/>
                          <a:cs typeface="Calibri"/>
                        </a:rPr>
                        <a:t>class</a:t>
                      </a:r>
                      <a:r>
                        <a:rPr sz="1800" spc="-5" dirty="0">
                          <a:solidFill>
                            <a:srgbClr val="0000FF"/>
                          </a:solidFill>
                          <a:latin typeface="Calibri"/>
                          <a:cs typeface="Calibri"/>
                        </a:rPr>
                        <a:t> </a:t>
                      </a:r>
                      <a:r>
                        <a:rPr sz="1800" spc="-10" dirty="0">
                          <a:solidFill>
                            <a:srgbClr val="0000FF"/>
                          </a:solidFill>
                          <a:latin typeface="Calibri"/>
                          <a:cs typeface="Calibri"/>
                        </a:rPr>
                        <a:t>Classification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7" name="object 7"/>
          <p:cNvSpPr txBox="1">
            <a:spLocks noGrp="1"/>
          </p:cNvSpPr>
          <p:nvPr>
            <p:ph type="title"/>
          </p:nvPr>
        </p:nvSpPr>
        <p:spPr>
          <a:xfrm>
            <a:off x="838200" y="16090"/>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sp>
        <p:nvSpPr>
          <p:cNvPr id="8" name="object 8"/>
          <p:cNvSpPr txBox="1"/>
          <p:nvPr/>
        </p:nvSpPr>
        <p:spPr>
          <a:xfrm>
            <a:off x="4117594" y="3790188"/>
            <a:ext cx="5419090" cy="1800860"/>
          </a:xfrm>
          <a:prstGeom prst="rect">
            <a:avLst/>
          </a:prstGeom>
        </p:spPr>
        <p:txBody>
          <a:bodyPr vert="horz" wrap="square" lIns="0" tIns="12700" rIns="0" bIns="0" rtlCol="0">
            <a:spAutoFit/>
          </a:bodyPr>
          <a:lstStyle/>
          <a:p>
            <a:pPr marL="12700">
              <a:lnSpc>
                <a:spcPct val="100000"/>
              </a:lnSpc>
              <a:spcBef>
                <a:spcPts val="100"/>
              </a:spcBef>
              <a:tabLst>
                <a:tab pos="1001394" algn="l"/>
              </a:tabLst>
            </a:pPr>
            <a:r>
              <a:rPr sz="1800" b="1" u="sng" spc="-10" dirty="0">
                <a:solidFill>
                  <a:srgbClr val="006FC0"/>
                </a:solidFill>
                <a:uFill>
                  <a:solidFill>
                    <a:srgbClr val="006FC0"/>
                  </a:solidFill>
                </a:uFill>
                <a:latin typeface="Calibri"/>
                <a:cs typeface="Calibri"/>
              </a:rPr>
              <a:t>Weeks:</a:t>
            </a:r>
            <a:r>
              <a:rPr sz="1800" b="1" dirty="0">
                <a:solidFill>
                  <a:srgbClr val="006FC0"/>
                </a:solidFill>
                <a:latin typeface="Calibri"/>
                <a:cs typeface="Calibri"/>
              </a:rPr>
              <a:t>	</a:t>
            </a:r>
            <a:r>
              <a:rPr sz="1800" spc="-25" dirty="0">
                <a:latin typeface="Calibri"/>
                <a:cs typeface="Calibri"/>
              </a:rPr>
              <a:t>3,4</a:t>
            </a:r>
            <a:endParaRPr sz="1800" dirty="0">
              <a:latin typeface="Calibri"/>
              <a:cs typeface="Calibri"/>
            </a:endParaRPr>
          </a:p>
          <a:p>
            <a:pPr>
              <a:lnSpc>
                <a:spcPct val="100000"/>
              </a:lnSpc>
              <a:spcBef>
                <a:spcPts val="2010"/>
              </a:spcBef>
            </a:pPr>
            <a:endParaRPr sz="1800" dirty="0">
              <a:latin typeface="Calibri"/>
              <a:cs typeface="Calibri"/>
            </a:endParaRPr>
          </a:p>
          <a:p>
            <a:pPr marL="12700">
              <a:lnSpc>
                <a:spcPct val="100000"/>
              </a:lnSpc>
            </a:pPr>
            <a:r>
              <a:rPr sz="1800" b="1" u="sng" spc="-10" dirty="0">
                <a:solidFill>
                  <a:srgbClr val="006FC0"/>
                </a:solidFill>
                <a:uFill>
                  <a:solidFill>
                    <a:srgbClr val="006FC0"/>
                  </a:solidFill>
                </a:uFill>
                <a:latin typeface="Calibri"/>
                <a:cs typeface="Calibri"/>
              </a:rPr>
              <a:t>Components:</a:t>
            </a:r>
            <a:endParaRPr sz="1800" dirty="0">
              <a:latin typeface="Calibri"/>
              <a:cs typeface="Calibri"/>
            </a:endParaRPr>
          </a:p>
          <a:p>
            <a:pPr marL="297815" indent="-285115">
              <a:lnSpc>
                <a:spcPct val="100000"/>
              </a:lnSpc>
              <a:spcBef>
                <a:spcPts val="1125"/>
              </a:spcBef>
              <a:buFont typeface="Arial MT"/>
              <a:buChar char="•"/>
              <a:tabLst>
                <a:tab pos="297815" algn="l"/>
              </a:tabLst>
            </a:pPr>
            <a:r>
              <a:rPr sz="1800" dirty="0">
                <a:latin typeface="Calibri"/>
                <a:cs typeface="Calibri"/>
              </a:rPr>
              <a:t>Programming</a:t>
            </a:r>
            <a:r>
              <a:rPr sz="1800" spc="-50" dirty="0">
                <a:latin typeface="Calibri"/>
                <a:cs typeface="Calibri"/>
              </a:rPr>
              <a:t> </a:t>
            </a:r>
            <a:r>
              <a:rPr sz="1800" dirty="0">
                <a:latin typeface="Calibri"/>
                <a:cs typeface="Calibri"/>
              </a:rPr>
              <a:t>Assignment</a:t>
            </a:r>
            <a:r>
              <a:rPr sz="1800" spc="-45" dirty="0">
                <a:latin typeface="Calibri"/>
                <a:cs typeface="Calibri"/>
              </a:rPr>
              <a:t> </a:t>
            </a:r>
            <a:r>
              <a:rPr sz="1800" dirty="0">
                <a:latin typeface="Calibri"/>
                <a:cs typeface="Calibri"/>
              </a:rPr>
              <a:t>2:</a:t>
            </a:r>
            <a:r>
              <a:rPr sz="1800" spc="-40" dirty="0">
                <a:latin typeface="Calibri"/>
                <a:cs typeface="Calibri"/>
              </a:rPr>
              <a:t> </a:t>
            </a:r>
            <a:r>
              <a:rPr sz="1800" dirty="0">
                <a:latin typeface="Calibri"/>
                <a:cs typeface="Calibri"/>
              </a:rPr>
              <a:t>KNN</a:t>
            </a:r>
            <a:r>
              <a:rPr sz="1800" spc="-50" dirty="0">
                <a:latin typeface="Calibri"/>
                <a:cs typeface="Calibri"/>
              </a:rPr>
              <a:t> </a:t>
            </a:r>
            <a:r>
              <a:rPr sz="1800" dirty="0">
                <a:latin typeface="Calibri"/>
                <a:cs typeface="Calibri"/>
              </a:rPr>
              <a:t>based</a:t>
            </a:r>
            <a:r>
              <a:rPr sz="1800" spc="-40" dirty="0">
                <a:latin typeface="Calibri"/>
                <a:cs typeface="Calibri"/>
              </a:rPr>
              <a:t> </a:t>
            </a:r>
            <a:r>
              <a:rPr sz="1800" dirty="0">
                <a:latin typeface="Calibri"/>
                <a:cs typeface="Calibri"/>
              </a:rPr>
              <a:t>(Using</a:t>
            </a:r>
            <a:r>
              <a:rPr sz="1800" spc="-45" dirty="0">
                <a:latin typeface="Calibri"/>
                <a:cs typeface="Calibri"/>
              </a:rPr>
              <a:t> </a:t>
            </a:r>
            <a:r>
              <a:rPr sz="1800" spc="-10" dirty="0">
                <a:latin typeface="Calibri"/>
                <a:cs typeface="Calibri"/>
              </a:rPr>
              <a:t>Images)</a:t>
            </a:r>
            <a:endParaRPr sz="1800" dirty="0">
              <a:latin typeface="Calibri"/>
              <a:cs typeface="Calibri"/>
            </a:endParaRPr>
          </a:p>
          <a:p>
            <a:pPr marL="297815" indent="-285115">
              <a:lnSpc>
                <a:spcPct val="100000"/>
              </a:lnSpc>
              <a:spcBef>
                <a:spcPts val="5"/>
              </a:spcBef>
              <a:buFont typeface="Arial MT"/>
              <a:buChar char="•"/>
              <a:tabLst>
                <a:tab pos="297815" algn="l"/>
              </a:tabLst>
            </a:pPr>
            <a:r>
              <a:rPr sz="1800" dirty="0">
                <a:latin typeface="Calibri"/>
                <a:cs typeface="Calibri"/>
              </a:rPr>
              <a:t>Homework</a:t>
            </a:r>
            <a:r>
              <a:rPr sz="1800" spc="-95" dirty="0">
                <a:latin typeface="Calibri"/>
                <a:cs typeface="Calibri"/>
              </a:rPr>
              <a:t> </a:t>
            </a:r>
            <a:r>
              <a:rPr sz="1800" spc="-25" dirty="0">
                <a:latin typeface="Calibri"/>
                <a:cs typeface="Calibri"/>
              </a:rPr>
              <a:t>1A</a:t>
            </a:r>
            <a:endParaRPr sz="18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342644" y="2662428"/>
            <a:ext cx="144716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Calibri Light"/>
                <a:cs typeface="Calibri Light"/>
              </a:rPr>
              <a:t>3</a:t>
            </a:r>
            <a:r>
              <a:rPr sz="2000" spc="-10" dirty="0">
                <a:solidFill>
                  <a:srgbClr val="FFFFFF"/>
                </a:solidFill>
                <a:latin typeface="Calibri Light"/>
                <a:cs typeface="Calibri Light"/>
              </a:rPr>
              <a:t> </a:t>
            </a:r>
            <a:r>
              <a:rPr sz="2000" dirty="0">
                <a:solidFill>
                  <a:srgbClr val="FFFFFF"/>
                </a:solidFill>
                <a:latin typeface="Calibri Light"/>
                <a:cs typeface="Calibri Light"/>
              </a:rPr>
              <a:t>-</a:t>
            </a:r>
            <a:r>
              <a:rPr sz="2000" spc="-10" dirty="0">
                <a:solidFill>
                  <a:srgbClr val="FFFFFF"/>
                </a:solidFill>
                <a:latin typeface="Calibri Light"/>
                <a:cs typeface="Calibri Light"/>
              </a:rPr>
              <a:t> Regression</a:t>
            </a:r>
            <a:endParaRPr sz="2000">
              <a:latin typeface="Calibri Light"/>
              <a:cs typeface="Calibri Light"/>
            </a:endParaRPr>
          </a:p>
        </p:txBody>
      </p:sp>
      <p:graphicFrame>
        <p:nvGraphicFramePr>
          <p:cNvPr id="6" name="object 6"/>
          <p:cNvGraphicFramePr>
            <a:graphicFrameLocks noGrp="1"/>
          </p:cNvGraphicFramePr>
          <p:nvPr/>
        </p:nvGraphicFramePr>
        <p:xfrm>
          <a:off x="4019550" y="1332357"/>
          <a:ext cx="7188200" cy="2533650"/>
        </p:xfrm>
        <a:graphic>
          <a:graphicData uri="http://schemas.openxmlformats.org/drawingml/2006/table">
            <a:tbl>
              <a:tblPr firstRow="1" bandRow="1">
                <a:tableStyleId>{2D5ABB26-0587-4C30-8999-92F81FD0307C}</a:tableStyleId>
              </a:tblPr>
              <a:tblGrid>
                <a:gridCol w="7188200">
                  <a:extLst>
                    <a:ext uri="{9D8B030D-6E8A-4147-A177-3AD203B41FA5}">
                      <a16:colId xmlns:a16="http://schemas.microsoft.com/office/drawing/2014/main" val="20000"/>
                    </a:ext>
                  </a:extLst>
                </a:gridCol>
              </a:tblGrid>
              <a:tr h="430530">
                <a:tc>
                  <a:txBody>
                    <a:bodyPr/>
                    <a:lstStyle/>
                    <a:p>
                      <a:pPr marL="68580">
                        <a:lnSpc>
                          <a:spcPts val="2060"/>
                        </a:lnSpc>
                      </a:pPr>
                      <a:r>
                        <a:rPr sz="1800" dirty="0">
                          <a:solidFill>
                            <a:srgbClr val="0000FF"/>
                          </a:solidFill>
                          <a:latin typeface="Calibri"/>
                          <a:cs typeface="Calibri"/>
                        </a:rPr>
                        <a:t>Linear</a:t>
                      </a:r>
                      <a:r>
                        <a:rPr sz="1800" spc="-35" dirty="0">
                          <a:solidFill>
                            <a:srgbClr val="0000FF"/>
                          </a:solidFill>
                          <a:latin typeface="Calibri"/>
                          <a:cs typeface="Calibri"/>
                        </a:rPr>
                        <a:t> </a:t>
                      </a:r>
                      <a:r>
                        <a:rPr sz="1800" spc="-10" dirty="0">
                          <a:solidFill>
                            <a:srgbClr val="0000FF"/>
                          </a:solidFill>
                          <a:latin typeface="Calibri"/>
                          <a:cs typeface="Calibri"/>
                        </a:rPr>
                        <a:t>Regression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8470">
                <a:tc>
                  <a:txBody>
                    <a:bodyPr/>
                    <a:lstStyle/>
                    <a:p>
                      <a:pPr marL="68580">
                        <a:lnSpc>
                          <a:spcPts val="2060"/>
                        </a:lnSpc>
                      </a:pPr>
                      <a:r>
                        <a:rPr sz="1800" spc="-10" dirty="0">
                          <a:solidFill>
                            <a:srgbClr val="0000FF"/>
                          </a:solidFill>
                          <a:latin typeface="Calibri"/>
                          <a:cs typeface="Calibri"/>
                        </a:rPr>
                        <a:t>Gradient</a:t>
                      </a:r>
                      <a:r>
                        <a:rPr sz="1800" spc="-35" dirty="0">
                          <a:solidFill>
                            <a:srgbClr val="0000FF"/>
                          </a:solidFill>
                          <a:latin typeface="Calibri"/>
                          <a:cs typeface="Calibri"/>
                        </a:rPr>
                        <a:t> </a:t>
                      </a:r>
                      <a:r>
                        <a:rPr sz="1800" spc="-10" dirty="0">
                          <a:solidFill>
                            <a:srgbClr val="0000FF"/>
                          </a:solidFill>
                          <a:latin typeface="Calibri"/>
                          <a:cs typeface="Calibri"/>
                        </a:rPr>
                        <a:t>Descent</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48640">
                <a:tc>
                  <a:txBody>
                    <a:bodyPr/>
                    <a:lstStyle/>
                    <a:p>
                      <a:pPr marL="68580">
                        <a:lnSpc>
                          <a:spcPts val="2060"/>
                        </a:lnSpc>
                      </a:pPr>
                      <a:r>
                        <a:rPr sz="1800" spc="-10" dirty="0">
                          <a:solidFill>
                            <a:srgbClr val="0000FF"/>
                          </a:solidFill>
                          <a:latin typeface="Calibri"/>
                          <a:cs typeface="Calibri"/>
                        </a:rPr>
                        <a:t>Multi-</a:t>
                      </a:r>
                      <a:r>
                        <a:rPr sz="1800" dirty="0">
                          <a:solidFill>
                            <a:srgbClr val="0000FF"/>
                          </a:solidFill>
                          <a:latin typeface="Calibri"/>
                          <a:cs typeface="Calibri"/>
                        </a:rPr>
                        <a:t>variate</a:t>
                      </a:r>
                      <a:r>
                        <a:rPr sz="1800" spc="-60" dirty="0">
                          <a:solidFill>
                            <a:srgbClr val="0000FF"/>
                          </a:solidFill>
                          <a:latin typeface="Calibri"/>
                          <a:cs typeface="Calibri"/>
                        </a:rPr>
                        <a:t> </a:t>
                      </a:r>
                      <a:r>
                        <a:rPr sz="1800" spc="-10" dirty="0">
                          <a:solidFill>
                            <a:srgbClr val="0000FF"/>
                          </a:solidFill>
                          <a:latin typeface="Calibri"/>
                          <a:cs typeface="Calibri"/>
                        </a:rPr>
                        <a:t>Regression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48005">
                <a:tc>
                  <a:txBody>
                    <a:bodyPr/>
                    <a:lstStyle/>
                    <a:p>
                      <a:pPr marL="68580">
                        <a:lnSpc>
                          <a:spcPts val="2060"/>
                        </a:lnSpc>
                      </a:pPr>
                      <a:r>
                        <a:rPr sz="1800" spc="-10" dirty="0">
                          <a:solidFill>
                            <a:srgbClr val="0000FF"/>
                          </a:solidFill>
                          <a:latin typeface="Calibri"/>
                          <a:cs typeface="Calibri"/>
                        </a:rPr>
                        <a:t>Polynomial Regression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48005">
                <a:tc>
                  <a:txBody>
                    <a:bodyPr/>
                    <a:lstStyle/>
                    <a:p>
                      <a:pPr marL="68580">
                        <a:lnSpc>
                          <a:spcPts val="2060"/>
                        </a:lnSpc>
                      </a:pPr>
                      <a:r>
                        <a:rPr sz="1800" spc="-10" dirty="0">
                          <a:solidFill>
                            <a:srgbClr val="0000FF"/>
                          </a:solidFill>
                          <a:latin typeface="Calibri"/>
                          <a:cs typeface="Calibri"/>
                        </a:rPr>
                        <a:t>Bias-Variance</a:t>
                      </a:r>
                      <a:r>
                        <a:rPr sz="1800" spc="-35" dirty="0">
                          <a:solidFill>
                            <a:srgbClr val="0000FF"/>
                          </a:solidFill>
                          <a:latin typeface="Calibri"/>
                          <a:cs typeface="Calibri"/>
                        </a:rPr>
                        <a:t> Trade-</a:t>
                      </a:r>
                      <a:r>
                        <a:rPr sz="1800" spc="-20" dirty="0">
                          <a:solidFill>
                            <a:srgbClr val="0000FF"/>
                          </a:solidFill>
                          <a:latin typeface="Calibri"/>
                          <a:cs typeface="Calibri"/>
                        </a:rPr>
                        <a:t>off,</a:t>
                      </a:r>
                      <a:r>
                        <a:rPr sz="1800" spc="-35" dirty="0">
                          <a:solidFill>
                            <a:srgbClr val="0000FF"/>
                          </a:solidFill>
                          <a:latin typeface="Calibri"/>
                          <a:cs typeface="Calibri"/>
                        </a:rPr>
                        <a:t> </a:t>
                      </a:r>
                      <a:r>
                        <a:rPr sz="1800" spc="-10" dirty="0">
                          <a:solidFill>
                            <a:srgbClr val="0000FF"/>
                          </a:solidFill>
                          <a:latin typeface="Calibri"/>
                          <a:cs typeface="Calibri"/>
                        </a:rPr>
                        <a:t>Regularization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4"/>
                  </a:ext>
                </a:extLst>
              </a:tr>
            </a:tbl>
          </a:graphicData>
        </a:graphic>
      </p:graphicFrame>
      <p:sp>
        <p:nvSpPr>
          <p:cNvPr id="7" name="object 7"/>
          <p:cNvSpPr txBox="1">
            <a:spLocks noGrp="1"/>
          </p:cNvSpPr>
          <p:nvPr>
            <p:ph type="title"/>
          </p:nvPr>
        </p:nvSpPr>
        <p:spPr>
          <a:xfrm>
            <a:off x="850836" y="34111"/>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sp>
        <p:nvSpPr>
          <p:cNvPr id="8" name="object 8"/>
          <p:cNvSpPr txBox="1"/>
          <p:nvPr/>
        </p:nvSpPr>
        <p:spPr>
          <a:xfrm>
            <a:off x="4117594" y="4158995"/>
            <a:ext cx="3982085" cy="1800860"/>
          </a:xfrm>
          <a:prstGeom prst="rect">
            <a:avLst/>
          </a:prstGeom>
        </p:spPr>
        <p:txBody>
          <a:bodyPr vert="horz" wrap="square" lIns="0" tIns="12700" rIns="0" bIns="0" rtlCol="0">
            <a:spAutoFit/>
          </a:bodyPr>
          <a:lstStyle/>
          <a:p>
            <a:pPr marL="12700">
              <a:lnSpc>
                <a:spcPct val="100000"/>
              </a:lnSpc>
              <a:spcBef>
                <a:spcPts val="100"/>
              </a:spcBef>
              <a:tabLst>
                <a:tab pos="1001394" algn="l"/>
              </a:tabLst>
            </a:pPr>
            <a:r>
              <a:rPr sz="1800" b="1" u="sng" spc="-10" dirty="0">
                <a:solidFill>
                  <a:srgbClr val="006FC0"/>
                </a:solidFill>
                <a:uFill>
                  <a:solidFill>
                    <a:srgbClr val="006FC0"/>
                  </a:solidFill>
                </a:uFill>
                <a:latin typeface="Calibri"/>
                <a:cs typeface="Calibri"/>
              </a:rPr>
              <a:t>Weeks:</a:t>
            </a:r>
            <a:r>
              <a:rPr sz="1800" b="1" dirty="0">
                <a:solidFill>
                  <a:srgbClr val="006FC0"/>
                </a:solidFill>
                <a:latin typeface="Calibri"/>
                <a:cs typeface="Calibri"/>
              </a:rPr>
              <a:t>	</a:t>
            </a:r>
            <a:r>
              <a:rPr sz="1800" spc="-25" dirty="0">
                <a:latin typeface="Calibri"/>
                <a:cs typeface="Calibri"/>
              </a:rPr>
              <a:t>4,5</a:t>
            </a:r>
            <a:endParaRPr sz="1800">
              <a:latin typeface="Calibri"/>
              <a:cs typeface="Calibri"/>
            </a:endParaRPr>
          </a:p>
          <a:p>
            <a:pPr>
              <a:lnSpc>
                <a:spcPct val="100000"/>
              </a:lnSpc>
              <a:spcBef>
                <a:spcPts val="2010"/>
              </a:spcBef>
            </a:pPr>
            <a:endParaRPr sz="1800">
              <a:latin typeface="Calibri"/>
              <a:cs typeface="Calibri"/>
            </a:endParaRPr>
          </a:p>
          <a:p>
            <a:pPr marL="12700">
              <a:lnSpc>
                <a:spcPct val="100000"/>
              </a:lnSpc>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297815" indent="-285115">
              <a:lnSpc>
                <a:spcPct val="100000"/>
              </a:lnSpc>
              <a:spcBef>
                <a:spcPts val="1130"/>
              </a:spcBef>
              <a:buFont typeface="Arial MT"/>
              <a:buChar char="•"/>
              <a:tabLst>
                <a:tab pos="297815" algn="l"/>
              </a:tabLst>
            </a:pPr>
            <a:r>
              <a:rPr sz="1800" spc="-10" dirty="0">
                <a:latin typeface="Calibri"/>
                <a:cs typeface="Calibri"/>
              </a:rPr>
              <a:t>Programming</a:t>
            </a:r>
            <a:r>
              <a:rPr sz="1800" spc="-50" dirty="0">
                <a:latin typeface="Calibri"/>
                <a:cs typeface="Calibri"/>
              </a:rPr>
              <a:t> </a:t>
            </a:r>
            <a:r>
              <a:rPr sz="1800" spc="-10" dirty="0">
                <a:latin typeface="Calibri"/>
                <a:cs typeface="Calibri"/>
              </a:rPr>
              <a:t>Assignment</a:t>
            </a:r>
            <a:r>
              <a:rPr sz="1800" spc="-40" dirty="0">
                <a:latin typeface="Calibri"/>
                <a:cs typeface="Calibri"/>
              </a:rPr>
              <a:t> </a:t>
            </a:r>
            <a:r>
              <a:rPr sz="1800" dirty="0">
                <a:latin typeface="Calibri"/>
                <a:cs typeface="Calibri"/>
              </a:rPr>
              <a:t>3:</a:t>
            </a:r>
            <a:r>
              <a:rPr sz="1800" spc="-30" dirty="0">
                <a:latin typeface="Calibri"/>
                <a:cs typeface="Calibri"/>
              </a:rPr>
              <a:t> </a:t>
            </a:r>
            <a:r>
              <a:rPr sz="1800" spc="-10" dirty="0">
                <a:latin typeface="Calibri"/>
                <a:cs typeface="Calibri"/>
              </a:rPr>
              <a:t>Regression</a:t>
            </a:r>
            <a:endParaRPr sz="1800">
              <a:latin typeface="Calibri"/>
              <a:cs typeface="Calibri"/>
            </a:endParaRPr>
          </a:p>
          <a:p>
            <a:pPr marL="297815" indent="-285115">
              <a:lnSpc>
                <a:spcPct val="100000"/>
              </a:lnSpc>
              <a:buFont typeface="Arial MT"/>
              <a:buChar char="•"/>
              <a:tabLst>
                <a:tab pos="297815" algn="l"/>
              </a:tabLst>
            </a:pPr>
            <a:r>
              <a:rPr sz="1800" dirty="0">
                <a:latin typeface="Calibri"/>
                <a:cs typeface="Calibri"/>
              </a:rPr>
              <a:t>Homework</a:t>
            </a:r>
            <a:r>
              <a:rPr sz="1800" spc="-95" dirty="0">
                <a:latin typeface="Calibri"/>
                <a:cs typeface="Calibri"/>
              </a:rPr>
              <a:t> </a:t>
            </a:r>
            <a:r>
              <a:rPr sz="1800" spc="-25" dirty="0">
                <a:latin typeface="Calibri"/>
                <a:cs typeface="Calibri"/>
              </a:rPr>
              <a:t>1B</a:t>
            </a:r>
            <a:endParaRPr sz="1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502663" y="2525522"/>
            <a:ext cx="1126490" cy="604520"/>
          </a:xfrm>
          <a:prstGeom prst="rect">
            <a:avLst/>
          </a:prstGeom>
        </p:spPr>
        <p:txBody>
          <a:bodyPr vert="horz" wrap="square" lIns="0" tIns="46990" rIns="0" bIns="0" rtlCol="0">
            <a:spAutoFit/>
          </a:bodyPr>
          <a:lstStyle/>
          <a:p>
            <a:pPr marL="12700" marR="5080" indent="11430">
              <a:lnSpc>
                <a:spcPts val="2160"/>
              </a:lnSpc>
              <a:spcBef>
                <a:spcPts val="370"/>
              </a:spcBef>
            </a:pPr>
            <a:r>
              <a:rPr sz="2000" dirty="0">
                <a:solidFill>
                  <a:srgbClr val="FFFFFF"/>
                </a:solidFill>
                <a:latin typeface="Calibri Light"/>
                <a:cs typeface="Calibri Light"/>
              </a:rPr>
              <a:t>4</a:t>
            </a:r>
            <a:r>
              <a:rPr sz="2000" spc="-10" dirty="0">
                <a:solidFill>
                  <a:srgbClr val="FFFFFF"/>
                </a:solidFill>
                <a:latin typeface="Calibri Light"/>
                <a:cs typeface="Calibri Light"/>
              </a:rPr>
              <a:t> </a:t>
            </a:r>
            <a:r>
              <a:rPr sz="2000" dirty="0">
                <a:solidFill>
                  <a:srgbClr val="FFFFFF"/>
                </a:solidFill>
                <a:latin typeface="Calibri Light"/>
                <a:cs typeface="Calibri Light"/>
              </a:rPr>
              <a:t>-</a:t>
            </a:r>
            <a:r>
              <a:rPr sz="2000" spc="-10" dirty="0">
                <a:solidFill>
                  <a:srgbClr val="FFFFFF"/>
                </a:solidFill>
                <a:latin typeface="Calibri Light"/>
                <a:cs typeface="Calibri Light"/>
              </a:rPr>
              <a:t> Logistic Regression</a:t>
            </a:r>
            <a:endParaRPr sz="2000">
              <a:latin typeface="Calibri Light"/>
              <a:cs typeface="Calibri Light"/>
            </a:endParaRPr>
          </a:p>
        </p:txBody>
      </p:sp>
      <p:sp>
        <p:nvSpPr>
          <p:cNvPr id="6" name="object 6"/>
          <p:cNvSpPr txBox="1">
            <a:spLocks noGrp="1"/>
          </p:cNvSpPr>
          <p:nvPr>
            <p:ph type="title"/>
          </p:nvPr>
        </p:nvSpPr>
        <p:spPr>
          <a:xfrm>
            <a:off x="838200" y="-72328"/>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grpSp>
        <p:nvGrpSpPr>
          <p:cNvPr id="7" name="object 7"/>
          <p:cNvGrpSpPr/>
          <p:nvPr/>
        </p:nvGrpSpPr>
        <p:grpSpPr>
          <a:xfrm>
            <a:off x="4019550" y="1332357"/>
            <a:ext cx="7213600" cy="456565"/>
            <a:chOff x="4019550" y="1332357"/>
            <a:chExt cx="7213600" cy="456565"/>
          </a:xfrm>
        </p:grpSpPr>
        <p:sp>
          <p:nvSpPr>
            <p:cNvPr id="8" name="object 8"/>
            <p:cNvSpPr/>
            <p:nvPr/>
          </p:nvSpPr>
          <p:spPr>
            <a:xfrm>
              <a:off x="4038600" y="1332357"/>
              <a:ext cx="0" cy="456565"/>
            </a:xfrm>
            <a:custGeom>
              <a:avLst/>
              <a:gdLst/>
              <a:ahLst/>
              <a:cxnLst/>
              <a:rect l="l" t="t" r="r" b="b"/>
              <a:pathLst>
                <a:path h="456564">
                  <a:moveTo>
                    <a:pt x="0" y="0"/>
                  </a:moveTo>
                  <a:lnTo>
                    <a:pt x="0" y="456056"/>
                  </a:lnTo>
                </a:path>
              </a:pathLst>
            </a:custGeom>
            <a:ln w="38100">
              <a:solidFill>
                <a:srgbClr val="000000"/>
              </a:solidFill>
            </a:ln>
          </p:spPr>
          <p:txBody>
            <a:bodyPr wrap="square" lIns="0" tIns="0" rIns="0" bIns="0" rtlCol="0"/>
            <a:lstStyle/>
            <a:p>
              <a:endParaRPr/>
            </a:p>
          </p:txBody>
        </p:sp>
        <p:sp>
          <p:nvSpPr>
            <p:cNvPr id="9" name="object 9"/>
            <p:cNvSpPr/>
            <p:nvPr/>
          </p:nvSpPr>
          <p:spPr>
            <a:xfrm>
              <a:off x="11226800" y="1332357"/>
              <a:ext cx="0" cy="456565"/>
            </a:xfrm>
            <a:custGeom>
              <a:avLst/>
              <a:gdLst/>
              <a:ahLst/>
              <a:cxnLst/>
              <a:rect l="l" t="t" r="r" b="b"/>
              <a:pathLst>
                <a:path h="456564">
                  <a:moveTo>
                    <a:pt x="0" y="0"/>
                  </a:moveTo>
                  <a:lnTo>
                    <a:pt x="0" y="456056"/>
                  </a:lnTo>
                </a:path>
              </a:pathLst>
            </a:custGeom>
            <a:ln w="12700">
              <a:solidFill>
                <a:srgbClr val="000000"/>
              </a:solidFill>
            </a:ln>
          </p:spPr>
          <p:txBody>
            <a:bodyPr wrap="square" lIns="0" tIns="0" rIns="0" bIns="0" rtlCol="0"/>
            <a:lstStyle/>
            <a:p>
              <a:endParaRPr/>
            </a:p>
          </p:txBody>
        </p:sp>
        <p:sp>
          <p:nvSpPr>
            <p:cNvPr id="10" name="object 10"/>
            <p:cNvSpPr/>
            <p:nvPr/>
          </p:nvSpPr>
          <p:spPr>
            <a:xfrm>
              <a:off x="4019550" y="1351407"/>
              <a:ext cx="7213600" cy="0"/>
            </a:xfrm>
            <a:custGeom>
              <a:avLst/>
              <a:gdLst/>
              <a:ahLst/>
              <a:cxnLst/>
              <a:rect l="l" t="t" r="r" b="b"/>
              <a:pathLst>
                <a:path w="7213600">
                  <a:moveTo>
                    <a:pt x="0" y="0"/>
                  </a:moveTo>
                  <a:lnTo>
                    <a:pt x="7213600" y="0"/>
                  </a:lnTo>
                </a:path>
              </a:pathLst>
            </a:custGeom>
            <a:ln w="38100">
              <a:solidFill>
                <a:srgbClr val="000000"/>
              </a:solidFill>
            </a:ln>
          </p:spPr>
          <p:txBody>
            <a:bodyPr wrap="square" lIns="0" tIns="0" rIns="0" bIns="0" rtlCol="0"/>
            <a:lstStyle/>
            <a:p>
              <a:endParaRPr/>
            </a:p>
          </p:txBody>
        </p:sp>
        <p:sp>
          <p:nvSpPr>
            <p:cNvPr id="11" name="object 11"/>
            <p:cNvSpPr/>
            <p:nvPr/>
          </p:nvSpPr>
          <p:spPr>
            <a:xfrm>
              <a:off x="4019550" y="1782064"/>
              <a:ext cx="7213600" cy="0"/>
            </a:xfrm>
            <a:custGeom>
              <a:avLst/>
              <a:gdLst/>
              <a:ahLst/>
              <a:cxnLst/>
              <a:rect l="l" t="t" r="r" b="b"/>
              <a:pathLst>
                <a:path w="7213600">
                  <a:moveTo>
                    <a:pt x="0" y="0"/>
                  </a:moveTo>
                  <a:lnTo>
                    <a:pt x="7213600" y="0"/>
                  </a:lnTo>
                </a:path>
              </a:pathLst>
            </a:custGeom>
            <a:ln w="12700">
              <a:solidFill>
                <a:srgbClr val="000000"/>
              </a:solidFill>
            </a:ln>
          </p:spPr>
          <p:txBody>
            <a:bodyPr wrap="square" lIns="0" tIns="0" rIns="0" bIns="0" rtlCol="0"/>
            <a:lstStyle/>
            <a:p>
              <a:endParaRPr/>
            </a:p>
          </p:txBody>
        </p:sp>
      </p:grpSp>
      <p:sp>
        <p:nvSpPr>
          <p:cNvPr id="12" name="object 12"/>
          <p:cNvSpPr txBox="1"/>
          <p:nvPr/>
        </p:nvSpPr>
        <p:spPr>
          <a:xfrm>
            <a:off x="4057650" y="1325879"/>
            <a:ext cx="7162800" cy="299720"/>
          </a:xfrm>
          <a:prstGeom prst="rect">
            <a:avLst/>
          </a:prstGeom>
        </p:spPr>
        <p:txBody>
          <a:bodyPr vert="horz" wrap="square" lIns="0" tIns="12700" rIns="0" bIns="0" rtlCol="0">
            <a:spAutoFit/>
          </a:bodyPr>
          <a:lstStyle/>
          <a:p>
            <a:pPr marL="49530">
              <a:lnSpc>
                <a:spcPct val="100000"/>
              </a:lnSpc>
              <a:spcBef>
                <a:spcPts val="100"/>
              </a:spcBef>
            </a:pPr>
            <a:r>
              <a:rPr sz="1800" dirty="0">
                <a:solidFill>
                  <a:srgbClr val="0000FF"/>
                </a:solidFill>
                <a:latin typeface="Calibri"/>
                <a:cs typeface="Calibri"/>
              </a:rPr>
              <a:t>Logistic</a:t>
            </a:r>
            <a:r>
              <a:rPr sz="1800" spc="-80" dirty="0">
                <a:solidFill>
                  <a:srgbClr val="0000FF"/>
                </a:solidFill>
                <a:latin typeface="Calibri"/>
                <a:cs typeface="Calibri"/>
              </a:rPr>
              <a:t> </a:t>
            </a:r>
            <a:r>
              <a:rPr sz="1800" spc="-10" dirty="0">
                <a:solidFill>
                  <a:srgbClr val="0000FF"/>
                </a:solidFill>
                <a:latin typeface="Calibri"/>
                <a:cs typeface="Calibri"/>
              </a:rPr>
              <a:t>Regression</a:t>
            </a:r>
            <a:endParaRPr sz="1800">
              <a:latin typeface="Calibri"/>
              <a:cs typeface="Calibri"/>
            </a:endParaRPr>
          </a:p>
        </p:txBody>
      </p:sp>
      <p:sp>
        <p:nvSpPr>
          <p:cNvPr id="13" name="object 13"/>
          <p:cNvSpPr txBox="1"/>
          <p:nvPr/>
        </p:nvSpPr>
        <p:spPr>
          <a:xfrm>
            <a:off x="4122928" y="4158995"/>
            <a:ext cx="4723765" cy="1526540"/>
          </a:xfrm>
          <a:prstGeom prst="rect">
            <a:avLst/>
          </a:prstGeom>
        </p:spPr>
        <p:txBody>
          <a:bodyPr vert="horz" wrap="square" lIns="0" tIns="12700" rIns="0" bIns="0" rtlCol="0">
            <a:spAutoFit/>
          </a:bodyPr>
          <a:lstStyle/>
          <a:p>
            <a:pPr marL="12700">
              <a:lnSpc>
                <a:spcPct val="100000"/>
              </a:lnSpc>
              <a:spcBef>
                <a:spcPts val="100"/>
              </a:spcBef>
              <a:tabLst>
                <a:tab pos="1001394" algn="l"/>
              </a:tabLst>
            </a:pPr>
            <a:r>
              <a:rPr sz="1800" b="1" u="sng" spc="-10" dirty="0">
                <a:solidFill>
                  <a:srgbClr val="006FC0"/>
                </a:solidFill>
                <a:uFill>
                  <a:solidFill>
                    <a:srgbClr val="006FC0"/>
                  </a:solidFill>
                </a:uFill>
                <a:latin typeface="Calibri"/>
                <a:cs typeface="Calibri"/>
              </a:rPr>
              <a:t>Weeks:</a:t>
            </a:r>
            <a:r>
              <a:rPr sz="1800" b="1" dirty="0">
                <a:solidFill>
                  <a:srgbClr val="006FC0"/>
                </a:solidFill>
                <a:latin typeface="Calibri"/>
                <a:cs typeface="Calibri"/>
              </a:rPr>
              <a:t>	</a:t>
            </a:r>
            <a:r>
              <a:rPr sz="1800" spc="-50" dirty="0">
                <a:latin typeface="Calibri"/>
                <a:cs typeface="Calibri"/>
              </a:rPr>
              <a:t>6</a:t>
            </a:r>
            <a:endParaRPr sz="1800">
              <a:latin typeface="Calibri"/>
              <a:cs typeface="Calibri"/>
            </a:endParaRPr>
          </a:p>
          <a:p>
            <a:pPr>
              <a:lnSpc>
                <a:spcPct val="100000"/>
              </a:lnSpc>
              <a:spcBef>
                <a:spcPts val="2010"/>
              </a:spcBef>
            </a:pPr>
            <a:endParaRPr sz="1800">
              <a:latin typeface="Calibri"/>
              <a:cs typeface="Calibri"/>
            </a:endParaRPr>
          </a:p>
          <a:p>
            <a:pPr marL="12700">
              <a:lnSpc>
                <a:spcPct val="100000"/>
              </a:lnSpc>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297815" indent="-285115">
              <a:lnSpc>
                <a:spcPct val="100000"/>
              </a:lnSpc>
              <a:spcBef>
                <a:spcPts val="1130"/>
              </a:spcBef>
              <a:buFont typeface="Arial MT"/>
              <a:buChar char="•"/>
              <a:tabLst>
                <a:tab pos="297815" algn="l"/>
              </a:tabLst>
            </a:pPr>
            <a:r>
              <a:rPr sz="1800" spc="-10" dirty="0">
                <a:latin typeface="Calibri"/>
                <a:cs typeface="Calibri"/>
              </a:rPr>
              <a:t>Programming</a:t>
            </a:r>
            <a:r>
              <a:rPr sz="1800" spc="-60" dirty="0">
                <a:latin typeface="Calibri"/>
                <a:cs typeface="Calibri"/>
              </a:rPr>
              <a:t> </a:t>
            </a:r>
            <a:r>
              <a:rPr sz="1800" spc="-10" dirty="0">
                <a:latin typeface="Calibri"/>
                <a:cs typeface="Calibri"/>
              </a:rPr>
              <a:t>Assignment</a:t>
            </a:r>
            <a:r>
              <a:rPr sz="1800" spc="-55" dirty="0">
                <a:latin typeface="Calibri"/>
                <a:cs typeface="Calibri"/>
              </a:rPr>
              <a:t> </a:t>
            </a:r>
            <a:r>
              <a:rPr sz="1800" dirty="0">
                <a:latin typeface="Calibri"/>
                <a:cs typeface="Calibri"/>
              </a:rPr>
              <a:t>4:</a:t>
            </a:r>
            <a:r>
              <a:rPr sz="1800" spc="-35" dirty="0">
                <a:latin typeface="Calibri"/>
                <a:cs typeface="Calibri"/>
              </a:rPr>
              <a:t> </a:t>
            </a:r>
            <a:r>
              <a:rPr sz="1800" dirty="0">
                <a:latin typeface="Calibri"/>
                <a:cs typeface="Calibri"/>
              </a:rPr>
              <a:t>Logistic</a:t>
            </a:r>
            <a:r>
              <a:rPr sz="1800" spc="-45" dirty="0">
                <a:latin typeface="Calibri"/>
                <a:cs typeface="Calibri"/>
              </a:rPr>
              <a:t> </a:t>
            </a:r>
            <a:r>
              <a:rPr sz="1800" spc="-10" dirty="0">
                <a:latin typeface="Calibri"/>
                <a:cs typeface="Calibri"/>
              </a:rPr>
              <a:t>Regression</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423161" y="2525522"/>
            <a:ext cx="1286510" cy="604520"/>
          </a:xfrm>
          <a:prstGeom prst="rect">
            <a:avLst/>
          </a:prstGeom>
        </p:spPr>
        <p:txBody>
          <a:bodyPr vert="horz" wrap="square" lIns="0" tIns="46990" rIns="0" bIns="0" rtlCol="0">
            <a:spAutoFit/>
          </a:bodyPr>
          <a:lstStyle/>
          <a:p>
            <a:pPr marL="67310" marR="5080" indent="-55244">
              <a:lnSpc>
                <a:spcPts val="2160"/>
              </a:lnSpc>
              <a:spcBef>
                <a:spcPts val="370"/>
              </a:spcBef>
            </a:pPr>
            <a:r>
              <a:rPr sz="2000" dirty="0">
                <a:solidFill>
                  <a:srgbClr val="FFFFFF"/>
                </a:solidFill>
                <a:latin typeface="Calibri Light"/>
                <a:cs typeface="Calibri Light"/>
              </a:rPr>
              <a:t>5</a:t>
            </a:r>
            <a:r>
              <a:rPr sz="2000" spc="-15" dirty="0">
                <a:solidFill>
                  <a:srgbClr val="FFFFFF"/>
                </a:solidFill>
                <a:latin typeface="Calibri Light"/>
                <a:cs typeface="Calibri Light"/>
              </a:rPr>
              <a:t> </a:t>
            </a:r>
            <a:r>
              <a:rPr sz="2000" dirty="0">
                <a:solidFill>
                  <a:srgbClr val="FFFFFF"/>
                </a:solidFill>
                <a:latin typeface="Calibri Light"/>
                <a:cs typeface="Calibri Light"/>
              </a:rPr>
              <a:t>–</a:t>
            </a:r>
            <a:r>
              <a:rPr sz="2000" spc="-10" dirty="0">
                <a:solidFill>
                  <a:srgbClr val="FFFFFF"/>
                </a:solidFill>
                <a:latin typeface="Calibri Light"/>
                <a:cs typeface="Calibri Light"/>
              </a:rPr>
              <a:t> Bayesian Framework</a:t>
            </a:r>
            <a:endParaRPr sz="2000">
              <a:latin typeface="Calibri Light"/>
              <a:cs typeface="Calibri Light"/>
            </a:endParaRPr>
          </a:p>
        </p:txBody>
      </p:sp>
      <p:graphicFrame>
        <p:nvGraphicFramePr>
          <p:cNvPr id="6" name="object 6"/>
          <p:cNvGraphicFramePr>
            <a:graphicFrameLocks noGrp="1"/>
          </p:cNvGraphicFramePr>
          <p:nvPr/>
        </p:nvGraphicFramePr>
        <p:xfrm>
          <a:off x="4019550" y="1332357"/>
          <a:ext cx="7188200" cy="889000"/>
        </p:xfrm>
        <a:graphic>
          <a:graphicData uri="http://schemas.openxmlformats.org/drawingml/2006/table">
            <a:tbl>
              <a:tblPr firstRow="1" bandRow="1">
                <a:tableStyleId>{2D5ABB26-0587-4C30-8999-92F81FD0307C}</a:tableStyleId>
              </a:tblPr>
              <a:tblGrid>
                <a:gridCol w="7188200">
                  <a:extLst>
                    <a:ext uri="{9D8B030D-6E8A-4147-A177-3AD203B41FA5}">
                      <a16:colId xmlns:a16="http://schemas.microsoft.com/office/drawing/2014/main" val="20000"/>
                    </a:ext>
                  </a:extLst>
                </a:gridCol>
              </a:tblGrid>
              <a:tr h="430530">
                <a:tc>
                  <a:txBody>
                    <a:bodyPr/>
                    <a:lstStyle/>
                    <a:p>
                      <a:pPr marL="68580">
                        <a:lnSpc>
                          <a:spcPts val="2060"/>
                        </a:lnSpc>
                      </a:pPr>
                      <a:r>
                        <a:rPr sz="1800" dirty="0">
                          <a:solidFill>
                            <a:srgbClr val="0000FF"/>
                          </a:solidFill>
                          <a:latin typeface="Calibri"/>
                          <a:cs typeface="Calibri"/>
                        </a:rPr>
                        <a:t>Bayes</a:t>
                      </a:r>
                      <a:r>
                        <a:rPr sz="1800" spc="-95" dirty="0">
                          <a:solidFill>
                            <a:srgbClr val="0000FF"/>
                          </a:solidFill>
                          <a:latin typeface="Calibri"/>
                          <a:cs typeface="Calibri"/>
                        </a:rPr>
                        <a:t> </a:t>
                      </a:r>
                      <a:r>
                        <a:rPr sz="1800" spc="-10" dirty="0">
                          <a:solidFill>
                            <a:srgbClr val="0000FF"/>
                          </a:solidFill>
                          <a:latin typeface="Calibri"/>
                          <a:cs typeface="Calibri"/>
                        </a:rPr>
                        <a:t>Theorem</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8470">
                <a:tc>
                  <a:txBody>
                    <a:bodyPr/>
                    <a:lstStyle/>
                    <a:p>
                      <a:pPr marL="68580">
                        <a:lnSpc>
                          <a:spcPts val="2060"/>
                        </a:lnSpc>
                      </a:pPr>
                      <a:r>
                        <a:rPr sz="1800" dirty="0">
                          <a:solidFill>
                            <a:srgbClr val="0000FF"/>
                          </a:solidFill>
                          <a:latin typeface="Calibri"/>
                          <a:cs typeface="Calibri"/>
                        </a:rPr>
                        <a:t>Naive</a:t>
                      </a:r>
                      <a:r>
                        <a:rPr sz="1800" spc="-55" dirty="0">
                          <a:solidFill>
                            <a:srgbClr val="0000FF"/>
                          </a:solidFill>
                          <a:latin typeface="Calibri"/>
                          <a:cs typeface="Calibri"/>
                        </a:rPr>
                        <a:t> </a:t>
                      </a:r>
                      <a:r>
                        <a:rPr sz="1800" dirty="0">
                          <a:solidFill>
                            <a:srgbClr val="0000FF"/>
                          </a:solidFill>
                          <a:latin typeface="Calibri"/>
                          <a:cs typeface="Calibri"/>
                        </a:rPr>
                        <a:t>Bayes</a:t>
                      </a:r>
                      <a:r>
                        <a:rPr sz="1800" spc="-55" dirty="0">
                          <a:solidFill>
                            <a:srgbClr val="0000FF"/>
                          </a:solidFill>
                          <a:latin typeface="Calibri"/>
                          <a:cs typeface="Calibri"/>
                        </a:rPr>
                        <a:t> </a:t>
                      </a:r>
                      <a:r>
                        <a:rPr sz="1800" spc="-10" dirty="0">
                          <a:solidFill>
                            <a:srgbClr val="0000FF"/>
                          </a:solidFill>
                          <a:latin typeface="Calibri"/>
                          <a:cs typeface="Calibri"/>
                        </a:rPr>
                        <a:t>Classification</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bl>
          </a:graphicData>
        </a:graphic>
      </p:graphicFrame>
      <p:sp>
        <p:nvSpPr>
          <p:cNvPr id="7" name="object 7"/>
          <p:cNvSpPr txBox="1">
            <a:spLocks noGrp="1"/>
          </p:cNvSpPr>
          <p:nvPr>
            <p:ph type="title"/>
          </p:nvPr>
        </p:nvSpPr>
        <p:spPr>
          <a:xfrm>
            <a:off x="734784" y="78386"/>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sp>
        <p:nvSpPr>
          <p:cNvPr id="8" name="object 8"/>
          <p:cNvSpPr txBox="1"/>
          <p:nvPr/>
        </p:nvSpPr>
        <p:spPr>
          <a:xfrm>
            <a:off x="4122928" y="4158995"/>
            <a:ext cx="4972685" cy="2075180"/>
          </a:xfrm>
          <a:prstGeom prst="rect">
            <a:avLst/>
          </a:prstGeom>
        </p:spPr>
        <p:txBody>
          <a:bodyPr vert="horz" wrap="square" lIns="0" tIns="12700" rIns="0" bIns="0" rtlCol="0">
            <a:spAutoFit/>
          </a:bodyPr>
          <a:lstStyle/>
          <a:p>
            <a:pPr marL="12700">
              <a:lnSpc>
                <a:spcPct val="100000"/>
              </a:lnSpc>
              <a:spcBef>
                <a:spcPts val="100"/>
              </a:spcBef>
              <a:tabLst>
                <a:tab pos="1001394" algn="l"/>
              </a:tabLst>
            </a:pPr>
            <a:r>
              <a:rPr sz="1800" b="1" u="sng" spc="-10" dirty="0">
                <a:solidFill>
                  <a:srgbClr val="006FC0"/>
                </a:solidFill>
                <a:uFill>
                  <a:solidFill>
                    <a:srgbClr val="006FC0"/>
                  </a:solidFill>
                </a:uFill>
                <a:latin typeface="Calibri"/>
                <a:cs typeface="Calibri"/>
              </a:rPr>
              <a:t>Weeks:</a:t>
            </a:r>
            <a:r>
              <a:rPr sz="1800" b="1" dirty="0">
                <a:solidFill>
                  <a:srgbClr val="006FC0"/>
                </a:solidFill>
                <a:latin typeface="Calibri"/>
                <a:cs typeface="Calibri"/>
              </a:rPr>
              <a:t>	</a:t>
            </a:r>
            <a:r>
              <a:rPr sz="1800" spc="-25" dirty="0">
                <a:latin typeface="Calibri"/>
                <a:cs typeface="Calibri"/>
              </a:rPr>
              <a:t>7,8</a:t>
            </a:r>
            <a:endParaRPr sz="1800">
              <a:latin typeface="Calibri"/>
              <a:cs typeface="Calibri"/>
            </a:endParaRPr>
          </a:p>
          <a:p>
            <a:pPr>
              <a:lnSpc>
                <a:spcPct val="100000"/>
              </a:lnSpc>
              <a:spcBef>
                <a:spcPts val="2010"/>
              </a:spcBef>
            </a:pPr>
            <a:endParaRPr sz="1800">
              <a:latin typeface="Calibri"/>
              <a:cs typeface="Calibri"/>
            </a:endParaRPr>
          </a:p>
          <a:p>
            <a:pPr marL="12700">
              <a:lnSpc>
                <a:spcPct val="100000"/>
              </a:lnSpc>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12700" marR="5080" indent="285115">
              <a:lnSpc>
                <a:spcPct val="100000"/>
              </a:lnSpc>
              <a:spcBef>
                <a:spcPts val="1130"/>
              </a:spcBef>
              <a:buFont typeface="Arial MT"/>
              <a:buChar char="•"/>
              <a:tabLst>
                <a:tab pos="297815" algn="l"/>
              </a:tabLst>
            </a:pPr>
            <a:r>
              <a:rPr sz="1800" spc="-10" dirty="0">
                <a:latin typeface="Calibri"/>
                <a:cs typeface="Calibri"/>
              </a:rPr>
              <a:t>Programming</a:t>
            </a:r>
            <a:r>
              <a:rPr sz="1800" spc="-55" dirty="0">
                <a:latin typeface="Calibri"/>
                <a:cs typeface="Calibri"/>
              </a:rPr>
              <a:t> </a:t>
            </a:r>
            <a:r>
              <a:rPr sz="1800" spc="-10" dirty="0">
                <a:latin typeface="Calibri"/>
                <a:cs typeface="Calibri"/>
              </a:rPr>
              <a:t>Assignment</a:t>
            </a:r>
            <a:r>
              <a:rPr sz="1800" spc="-50" dirty="0">
                <a:latin typeface="Calibri"/>
                <a:cs typeface="Calibri"/>
              </a:rPr>
              <a:t> </a:t>
            </a:r>
            <a:r>
              <a:rPr sz="1800" dirty="0">
                <a:latin typeface="Calibri"/>
                <a:cs typeface="Calibri"/>
              </a:rPr>
              <a:t>5:</a:t>
            </a:r>
            <a:r>
              <a:rPr sz="1800" spc="-35" dirty="0">
                <a:latin typeface="Calibri"/>
                <a:cs typeface="Calibri"/>
              </a:rPr>
              <a:t> </a:t>
            </a:r>
            <a:r>
              <a:rPr sz="1800" dirty="0">
                <a:latin typeface="Calibri"/>
                <a:cs typeface="Calibri"/>
              </a:rPr>
              <a:t>Naïve</a:t>
            </a:r>
            <a:r>
              <a:rPr sz="1800" spc="-45" dirty="0">
                <a:latin typeface="Calibri"/>
                <a:cs typeface="Calibri"/>
              </a:rPr>
              <a:t> </a:t>
            </a:r>
            <a:r>
              <a:rPr sz="1800" dirty="0">
                <a:latin typeface="Calibri"/>
                <a:cs typeface="Calibri"/>
              </a:rPr>
              <a:t>Bayes</a:t>
            </a:r>
            <a:r>
              <a:rPr sz="1800" spc="-50" dirty="0">
                <a:latin typeface="Calibri"/>
                <a:cs typeface="Calibri"/>
              </a:rPr>
              <a:t> </a:t>
            </a:r>
            <a:r>
              <a:rPr sz="1800" spc="-10" dirty="0">
                <a:latin typeface="Calibri"/>
                <a:cs typeface="Calibri"/>
              </a:rPr>
              <a:t>Classifier </a:t>
            </a:r>
            <a:r>
              <a:rPr sz="1800" dirty="0">
                <a:latin typeface="Calibri"/>
                <a:cs typeface="Calibri"/>
              </a:rPr>
              <a:t>(may</a:t>
            </a:r>
            <a:r>
              <a:rPr sz="1800" spc="-45" dirty="0">
                <a:latin typeface="Calibri"/>
                <a:cs typeface="Calibri"/>
              </a:rPr>
              <a:t> </a:t>
            </a:r>
            <a:r>
              <a:rPr sz="1800" dirty="0">
                <a:latin typeface="Calibri"/>
                <a:cs typeface="Calibri"/>
              </a:rPr>
              <a:t>be</a:t>
            </a:r>
            <a:r>
              <a:rPr sz="1800" spc="-40" dirty="0">
                <a:latin typeface="Calibri"/>
                <a:cs typeface="Calibri"/>
              </a:rPr>
              <a:t> </a:t>
            </a:r>
            <a:r>
              <a:rPr sz="1800" dirty="0">
                <a:latin typeface="Calibri"/>
                <a:cs typeface="Calibri"/>
              </a:rPr>
              <a:t>merged</a:t>
            </a:r>
            <a:r>
              <a:rPr sz="1800" spc="-35" dirty="0">
                <a:latin typeface="Calibri"/>
                <a:cs typeface="Calibri"/>
              </a:rPr>
              <a:t> </a:t>
            </a:r>
            <a:r>
              <a:rPr sz="1800" dirty="0">
                <a:latin typeface="Calibri"/>
                <a:cs typeface="Calibri"/>
              </a:rPr>
              <a:t>with</a:t>
            </a:r>
            <a:r>
              <a:rPr sz="1800" spc="-45" dirty="0">
                <a:latin typeface="Calibri"/>
                <a:cs typeface="Calibri"/>
              </a:rPr>
              <a:t> </a:t>
            </a:r>
            <a:r>
              <a:rPr sz="1800" spc="-10" dirty="0">
                <a:latin typeface="Calibri"/>
                <a:cs typeface="Calibri"/>
              </a:rPr>
              <a:t>Assignment</a:t>
            </a:r>
            <a:r>
              <a:rPr sz="1800" spc="-55" dirty="0">
                <a:latin typeface="Calibri"/>
                <a:cs typeface="Calibri"/>
              </a:rPr>
              <a:t> </a:t>
            </a:r>
            <a:r>
              <a:rPr sz="1800" spc="-25" dirty="0">
                <a:latin typeface="Calibri"/>
                <a:cs typeface="Calibri"/>
              </a:rPr>
              <a:t>4)</a:t>
            </a:r>
            <a:endParaRPr sz="1800">
              <a:latin typeface="Calibri"/>
              <a:cs typeface="Calibri"/>
            </a:endParaRPr>
          </a:p>
          <a:p>
            <a:pPr marL="297815" indent="-285115">
              <a:lnSpc>
                <a:spcPct val="100000"/>
              </a:lnSpc>
              <a:buFont typeface="Arial MT"/>
              <a:buChar char="•"/>
              <a:tabLst>
                <a:tab pos="297815" algn="l"/>
              </a:tabLst>
            </a:pPr>
            <a:r>
              <a:rPr sz="1800" dirty="0">
                <a:latin typeface="Calibri"/>
                <a:cs typeface="Calibri"/>
              </a:rPr>
              <a:t>Homework</a:t>
            </a:r>
            <a:r>
              <a:rPr sz="1800" spc="-95" dirty="0">
                <a:latin typeface="Calibri"/>
                <a:cs typeface="Calibri"/>
              </a:rPr>
              <a:t> </a:t>
            </a:r>
            <a:r>
              <a:rPr sz="1800" spc="-50" dirty="0">
                <a:latin typeface="Calibri"/>
                <a:cs typeface="Calibri"/>
              </a:rPr>
              <a:t>2</a:t>
            </a:r>
            <a:endParaRPr sz="1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231138" y="2388362"/>
            <a:ext cx="1669414" cy="878840"/>
          </a:xfrm>
          <a:prstGeom prst="rect">
            <a:avLst/>
          </a:prstGeom>
        </p:spPr>
        <p:txBody>
          <a:bodyPr vert="horz" wrap="square" lIns="0" tIns="46990" rIns="0" bIns="0" rtlCol="0">
            <a:spAutoFit/>
          </a:bodyPr>
          <a:lstStyle/>
          <a:p>
            <a:pPr marL="12700" marR="5080" indent="635" algn="ctr">
              <a:lnSpc>
                <a:spcPts val="2160"/>
              </a:lnSpc>
              <a:spcBef>
                <a:spcPts val="370"/>
              </a:spcBef>
            </a:pPr>
            <a:r>
              <a:rPr sz="2000" dirty="0">
                <a:solidFill>
                  <a:srgbClr val="FFFFFF"/>
                </a:solidFill>
                <a:latin typeface="Calibri Light"/>
                <a:cs typeface="Calibri Light"/>
              </a:rPr>
              <a:t>6</a:t>
            </a:r>
            <a:r>
              <a:rPr sz="2000" spc="-10" dirty="0">
                <a:solidFill>
                  <a:srgbClr val="FFFFFF"/>
                </a:solidFill>
                <a:latin typeface="Calibri Light"/>
                <a:cs typeface="Calibri Light"/>
              </a:rPr>
              <a:t> </a:t>
            </a:r>
            <a:r>
              <a:rPr sz="2000" dirty="0">
                <a:solidFill>
                  <a:srgbClr val="FFFFFF"/>
                </a:solidFill>
                <a:latin typeface="Calibri Light"/>
                <a:cs typeface="Calibri Light"/>
              </a:rPr>
              <a:t>–</a:t>
            </a:r>
            <a:r>
              <a:rPr sz="2000" spc="-5" dirty="0">
                <a:solidFill>
                  <a:srgbClr val="FFFFFF"/>
                </a:solidFill>
                <a:latin typeface="Calibri Light"/>
                <a:cs typeface="Calibri Light"/>
              </a:rPr>
              <a:t> </a:t>
            </a:r>
            <a:r>
              <a:rPr sz="2000" spc="-10" dirty="0">
                <a:solidFill>
                  <a:srgbClr val="FFFFFF"/>
                </a:solidFill>
                <a:latin typeface="Calibri Light"/>
                <a:cs typeface="Calibri Light"/>
              </a:rPr>
              <a:t>Perceptron, </a:t>
            </a:r>
            <a:r>
              <a:rPr sz="2000" dirty="0">
                <a:solidFill>
                  <a:srgbClr val="FFFFFF"/>
                </a:solidFill>
                <a:latin typeface="Calibri Light"/>
                <a:cs typeface="Calibri Light"/>
              </a:rPr>
              <a:t>SVM</a:t>
            </a:r>
            <a:r>
              <a:rPr sz="2000" spc="-25" dirty="0">
                <a:solidFill>
                  <a:srgbClr val="FFFFFF"/>
                </a:solidFill>
                <a:latin typeface="Calibri Light"/>
                <a:cs typeface="Calibri Light"/>
              </a:rPr>
              <a:t> </a:t>
            </a:r>
            <a:r>
              <a:rPr sz="2000" dirty="0">
                <a:solidFill>
                  <a:srgbClr val="FFFFFF"/>
                </a:solidFill>
                <a:latin typeface="Calibri Light"/>
                <a:cs typeface="Calibri Light"/>
              </a:rPr>
              <a:t>and</a:t>
            </a:r>
            <a:r>
              <a:rPr sz="2000" spc="-40" dirty="0">
                <a:solidFill>
                  <a:srgbClr val="FFFFFF"/>
                </a:solidFill>
                <a:latin typeface="Calibri Light"/>
                <a:cs typeface="Calibri Light"/>
              </a:rPr>
              <a:t> </a:t>
            </a:r>
            <a:r>
              <a:rPr sz="2000" spc="-10" dirty="0">
                <a:solidFill>
                  <a:srgbClr val="FFFFFF"/>
                </a:solidFill>
                <a:latin typeface="Calibri Light"/>
                <a:cs typeface="Calibri Light"/>
              </a:rPr>
              <a:t>Neural Network</a:t>
            </a:r>
            <a:endParaRPr sz="2000">
              <a:latin typeface="Calibri Light"/>
              <a:cs typeface="Calibri Light"/>
            </a:endParaRPr>
          </a:p>
        </p:txBody>
      </p:sp>
      <p:graphicFrame>
        <p:nvGraphicFramePr>
          <p:cNvPr id="6" name="object 6"/>
          <p:cNvGraphicFramePr>
            <a:graphicFrameLocks noGrp="1"/>
          </p:cNvGraphicFramePr>
          <p:nvPr/>
        </p:nvGraphicFramePr>
        <p:xfrm>
          <a:off x="4019550" y="1332357"/>
          <a:ext cx="7188200" cy="1347470"/>
        </p:xfrm>
        <a:graphic>
          <a:graphicData uri="http://schemas.openxmlformats.org/drawingml/2006/table">
            <a:tbl>
              <a:tblPr firstRow="1" bandRow="1">
                <a:tableStyleId>{2D5ABB26-0587-4C30-8999-92F81FD0307C}</a:tableStyleId>
              </a:tblPr>
              <a:tblGrid>
                <a:gridCol w="7188200">
                  <a:extLst>
                    <a:ext uri="{9D8B030D-6E8A-4147-A177-3AD203B41FA5}">
                      <a16:colId xmlns:a16="http://schemas.microsoft.com/office/drawing/2014/main" val="20000"/>
                    </a:ext>
                  </a:extLst>
                </a:gridCol>
              </a:tblGrid>
              <a:tr h="430530">
                <a:tc>
                  <a:txBody>
                    <a:bodyPr/>
                    <a:lstStyle/>
                    <a:p>
                      <a:pPr marL="68580">
                        <a:lnSpc>
                          <a:spcPts val="2060"/>
                        </a:lnSpc>
                      </a:pPr>
                      <a:r>
                        <a:rPr sz="1800" spc="-10" dirty="0">
                          <a:solidFill>
                            <a:srgbClr val="0000FF"/>
                          </a:solidFill>
                          <a:latin typeface="Calibri"/>
                          <a:cs typeface="Calibri"/>
                        </a:rPr>
                        <a:t>Perceptron</a:t>
                      </a:r>
                      <a:r>
                        <a:rPr sz="1800" spc="-75" dirty="0">
                          <a:solidFill>
                            <a:srgbClr val="0000FF"/>
                          </a:solidFill>
                          <a:latin typeface="Calibri"/>
                          <a:cs typeface="Calibri"/>
                        </a:rPr>
                        <a:t> </a:t>
                      </a:r>
                      <a:r>
                        <a:rPr sz="1800" spc="-10" dirty="0">
                          <a:solidFill>
                            <a:srgbClr val="0000FF"/>
                          </a:solidFill>
                          <a:latin typeface="Calibri"/>
                          <a:cs typeface="Calibri"/>
                        </a:rPr>
                        <a:t>Algorithm</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8470">
                <a:tc>
                  <a:txBody>
                    <a:bodyPr/>
                    <a:lstStyle/>
                    <a:p>
                      <a:pPr marL="68580">
                        <a:lnSpc>
                          <a:spcPts val="2060"/>
                        </a:lnSpc>
                      </a:pPr>
                      <a:r>
                        <a:rPr sz="1800" spc="-25" dirty="0">
                          <a:solidFill>
                            <a:srgbClr val="0000FF"/>
                          </a:solidFill>
                          <a:latin typeface="Calibri"/>
                          <a:cs typeface="Calibri"/>
                        </a:rPr>
                        <a:t>SVM</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8470">
                <a:tc>
                  <a:txBody>
                    <a:bodyPr/>
                    <a:lstStyle/>
                    <a:p>
                      <a:pPr marL="68580">
                        <a:lnSpc>
                          <a:spcPts val="2060"/>
                        </a:lnSpc>
                      </a:pPr>
                      <a:r>
                        <a:rPr sz="1800" dirty="0">
                          <a:solidFill>
                            <a:srgbClr val="0000FF"/>
                          </a:solidFill>
                          <a:latin typeface="Calibri"/>
                          <a:cs typeface="Calibri"/>
                        </a:rPr>
                        <a:t>Neural</a:t>
                      </a:r>
                      <a:r>
                        <a:rPr sz="1800" spc="-75" dirty="0">
                          <a:solidFill>
                            <a:srgbClr val="0000FF"/>
                          </a:solidFill>
                          <a:latin typeface="Calibri"/>
                          <a:cs typeface="Calibri"/>
                        </a:rPr>
                        <a:t> </a:t>
                      </a:r>
                      <a:r>
                        <a:rPr sz="1800" spc="-10" dirty="0">
                          <a:solidFill>
                            <a:srgbClr val="0000FF"/>
                          </a:solidFill>
                          <a:latin typeface="Calibri"/>
                          <a:cs typeface="Calibri"/>
                        </a:rPr>
                        <a:t>Networks</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txBox="1">
            <a:spLocks noGrp="1"/>
          </p:cNvSpPr>
          <p:nvPr>
            <p:ph type="title"/>
          </p:nvPr>
        </p:nvSpPr>
        <p:spPr>
          <a:xfrm>
            <a:off x="838200" y="104265"/>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sp>
        <p:nvSpPr>
          <p:cNvPr id="8" name="object 8"/>
          <p:cNvSpPr txBox="1"/>
          <p:nvPr/>
        </p:nvSpPr>
        <p:spPr>
          <a:xfrm>
            <a:off x="4122928" y="4824729"/>
            <a:ext cx="4538980" cy="1135380"/>
          </a:xfrm>
          <a:prstGeom prst="rect">
            <a:avLst/>
          </a:prstGeom>
        </p:spPr>
        <p:txBody>
          <a:bodyPr vert="horz" wrap="square" lIns="0" tIns="155575" rIns="0" bIns="0" rtlCol="0">
            <a:spAutoFit/>
          </a:bodyPr>
          <a:lstStyle/>
          <a:p>
            <a:pPr marL="12700">
              <a:lnSpc>
                <a:spcPct val="100000"/>
              </a:lnSpc>
              <a:spcBef>
                <a:spcPts val="1225"/>
              </a:spcBef>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297815" indent="-285115">
              <a:lnSpc>
                <a:spcPct val="100000"/>
              </a:lnSpc>
              <a:spcBef>
                <a:spcPts val="1130"/>
              </a:spcBef>
              <a:buFont typeface="Arial MT"/>
              <a:buChar char="•"/>
              <a:tabLst>
                <a:tab pos="297815" algn="l"/>
              </a:tabLst>
            </a:pPr>
            <a:r>
              <a:rPr sz="1800" spc="-10" dirty="0">
                <a:latin typeface="Calibri"/>
                <a:cs typeface="Calibri"/>
              </a:rPr>
              <a:t>Programming</a:t>
            </a:r>
            <a:r>
              <a:rPr sz="1800" spc="-55" dirty="0">
                <a:latin typeface="Calibri"/>
                <a:cs typeface="Calibri"/>
              </a:rPr>
              <a:t> </a:t>
            </a:r>
            <a:r>
              <a:rPr sz="1800" spc="-10" dirty="0">
                <a:latin typeface="Calibri"/>
                <a:cs typeface="Calibri"/>
              </a:rPr>
              <a:t>Assignment</a:t>
            </a:r>
            <a:r>
              <a:rPr sz="1800" spc="-55" dirty="0">
                <a:latin typeface="Calibri"/>
                <a:cs typeface="Calibri"/>
              </a:rPr>
              <a:t> </a:t>
            </a:r>
            <a:r>
              <a:rPr sz="1800" dirty="0">
                <a:latin typeface="Calibri"/>
                <a:cs typeface="Calibri"/>
              </a:rPr>
              <a:t>6:</a:t>
            </a:r>
            <a:r>
              <a:rPr sz="1800" spc="-35" dirty="0">
                <a:latin typeface="Calibri"/>
                <a:cs typeface="Calibri"/>
              </a:rPr>
              <a:t> </a:t>
            </a:r>
            <a:r>
              <a:rPr sz="1800" dirty="0">
                <a:latin typeface="Calibri"/>
                <a:cs typeface="Calibri"/>
              </a:rPr>
              <a:t>Neural</a:t>
            </a:r>
            <a:r>
              <a:rPr sz="1800" spc="-45" dirty="0">
                <a:latin typeface="Calibri"/>
                <a:cs typeface="Calibri"/>
              </a:rPr>
              <a:t> </a:t>
            </a:r>
            <a:r>
              <a:rPr sz="1800" spc="-10" dirty="0">
                <a:latin typeface="Calibri"/>
                <a:cs typeface="Calibri"/>
              </a:rPr>
              <a:t>Networks</a:t>
            </a:r>
            <a:endParaRPr sz="1800">
              <a:latin typeface="Calibri"/>
              <a:cs typeface="Calibri"/>
            </a:endParaRPr>
          </a:p>
          <a:p>
            <a:pPr marL="297815" indent="-285115">
              <a:lnSpc>
                <a:spcPct val="100000"/>
              </a:lnSpc>
              <a:buFont typeface="Arial MT"/>
              <a:buChar char="•"/>
              <a:tabLst>
                <a:tab pos="297815" algn="l"/>
              </a:tabLst>
            </a:pPr>
            <a:r>
              <a:rPr sz="1800" dirty="0">
                <a:latin typeface="Calibri"/>
                <a:cs typeface="Calibri"/>
              </a:rPr>
              <a:t>Homework</a:t>
            </a:r>
            <a:r>
              <a:rPr sz="1800" spc="-95" dirty="0">
                <a:latin typeface="Calibri"/>
                <a:cs typeface="Calibri"/>
              </a:rPr>
              <a:t> </a:t>
            </a:r>
            <a:r>
              <a:rPr sz="1800" spc="-50" dirty="0">
                <a:latin typeface="Calibri"/>
                <a:cs typeface="Calibri"/>
              </a:rPr>
              <a:t>3</a:t>
            </a:r>
            <a:endParaRPr sz="1800">
              <a:latin typeface="Calibri"/>
              <a:cs typeface="Calibri"/>
            </a:endParaRPr>
          </a:p>
        </p:txBody>
      </p:sp>
      <p:sp>
        <p:nvSpPr>
          <p:cNvPr id="9" name="object 9"/>
          <p:cNvSpPr txBox="1"/>
          <p:nvPr/>
        </p:nvSpPr>
        <p:spPr>
          <a:xfrm>
            <a:off x="5111750" y="4158995"/>
            <a:ext cx="1007744"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9,10,11,12</a:t>
            </a:r>
            <a:endParaRPr sz="1800">
              <a:latin typeface="Calibri"/>
              <a:cs typeface="Calibri"/>
            </a:endParaRPr>
          </a:p>
        </p:txBody>
      </p:sp>
      <p:sp>
        <p:nvSpPr>
          <p:cNvPr id="10" name="object 10"/>
          <p:cNvSpPr txBox="1"/>
          <p:nvPr/>
        </p:nvSpPr>
        <p:spPr>
          <a:xfrm>
            <a:off x="4122928" y="4158995"/>
            <a:ext cx="716915"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solidFill>
                  <a:srgbClr val="006FC0"/>
                </a:solidFill>
                <a:uFill>
                  <a:solidFill>
                    <a:srgbClr val="006FC0"/>
                  </a:solidFill>
                </a:uFill>
                <a:latin typeface="Calibri"/>
                <a:cs typeface="Calibri"/>
              </a:rPr>
              <a:t>Weeks:</a:t>
            </a:r>
            <a:endParaRPr sz="1800">
              <a:latin typeface="Calibri"/>
              <a:cs typeface="Calibri"/>
            </a:endParaRPr>
          </a:p>
        </p:txBody>
      </p:sp>
      <p:sp>
        <p:nvSpPr>
          <p:cNvPr id="11" name="object 11"/>
          <p:cNvSpPr txBox="1"/>
          <p:nvPr/>
        </p:nvSpPr>
        <p:spPr>
          <a:xfrm>
            <a:off x="9987026" y="4153154"/>
            <a:ext cx="112839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(Mid-Exam)</a:t>
            </a:r>
            <a:endParaRPr sz="1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2013585" cy="6858000"/>
            </a:xfrm>
            <a:custGeom>
              <a:avLst/>
              <a:gdLst/>
              <a:ahLst/>
              <a:cxnLst/>
              <a:rect l="l" t="t" r="r" b="b"/>
              <a:pathLst>
                <a:path w="2013585" h="6858000">
                  <a:moveTo>
                    <a:pt x="2013204" y="0"/>
                  </a:moveTo>
                  <a:lnTo>
                    <a:pt x="0" y="0"/>
                  </a:lnTo>
                  <a:lnTo>
                    <a:pt x="0" y="6858000"/>
                  </a:lnTo>
                  <a:lnTo>
                    <a:pt x="2013204" y="6858000"/>
                  </a:lnTo>
                  <a:lnTo>
                    <a:pt x="2013204" y="0"/>
                  </a:lnTo>
                  <a:close/>
                </a:path>
              </a:pathLst>
            </a:custGeom>
            <a:solidFill>
              <a:srgbClr val="7E7E7E"/>
            </a:solidFill>
          </p:spPr>
          <p:txBody>
            <a:bodyPr wrap="square" lIns="0" tIns="0" rIns="0" bIns="0" rtlCol="0"/>
            <a:lstStyle/>
            <a:p>
              <a:endParaRPr/>
            </a:p>
          </p:txBody>
        </p:sp>
        <p:pic>
          <p:nvPicPr>
            <p:cNvPr id="4" name="object 4"/>
            <p:cNvPicPr/>
            <p:nvPr/>
          </p:nvPicPr>
          <p:blipFill>
            <a:blip r:embed="rId2" cstate="print"/>
            <a:stretch>
              <a:fillRect/>
            </a:stretch>
          </p:blipFill>
          <p:spPr>
            <a:xfrm>
              <a:off x="607327" y="1409700"/>
              <a:ext cx="2917429" cy="2908300"/>
            </a:xfrm>
            <a:prstGeom prst="rect">
              <a:avLst/>
            </a:prstGeom>
          </p:spPr>
        </p:pic>
      </p:grpSp>
      <p:sp>
        <p:nvSpPr>
          <p:cNvPr id="5" name="object 5"/>
          <p:cNvSpPr txBox="1"/>
          <p:nvPr/>
        </p:nvSpPr>
        <p:spPr>
          <a:xfrm>
            <a:off x="1358646" y="2662428"/>
            <a:ext cx="141541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Calibri Light"/>
                <a:cs typeface="Calibri Light"/>
              </a:rPr>
              <a:t>7</a:t>
            </a:r>
            <a:r>
              <a:rPr sz="2000" spc="-10" dirty="0">
                <a:solidFill>
                  <a:srgbClr val="FFFFFF"/>
                </a:solidFill>
                <a:latin typeface="Calibri Light"/>
                <a:cs typeface="Calibri Light"/>
              </a:rPr>
              <a:t> </a:t>
            </a:r>
            <a:r>
              <a:rPr sz="2000" dirty="0">
                <a:solidFill>
                  <a:srgbClr val="FFFFFF"/>
                </a:solidFill>
                <a:latin typeface="Calibri Light"/>
                <a:cs typeface="Calibri Light"/>
              </a:rPr>
              <a:t>–</a:t>
            </a:r>
            <a:r>
              <a:rPr sz="2000" spc="-10" dirty="0">
                <a:solidFill>
                  <a:srgbClr val="FFFFFF"/>
                </a:solidFill>
                <a:latin typeface="Calibri Light"/>
                <a:cs typeface="Calibri Light"/>
              </a:rPr>
              <a:t> Clustering</a:t>
            </a:r>
            <a:endParaRPr sz="2000">
              <a:latin typeface="Calibri Light"/>
              <a:cs typeface="Calibri Light"/>
            </a:endParaRPr>
          </a:p>
        </p:txBody>
      </p:sp>
      <p:graphicFrame>
        <p:nvGraphicFramePr>
          <p:cNvPr id="6" name="object 6"/>
          <p:cNvGraphicFramePr>
            <a:graphicFrameLocks noGrp="1"/>
          </p:cNvGraphicFramePr>
          <p:nvPr/>
        </p:nvGraphicFramePr>
        <p:xfrm>
          <a:off x="4019550" y="1332357"/>
          <a:ext cx="7188200" cy="889000"/>
        </p:xfrm>
        <a:graphic>
          <a:graphicData uri="http://schemas.openxmlformats.org/drawingml/2006/table">
            <a:tbl>
              <a:tblPr firstRow="1" bandRow="1">
                <a:tableStyleId>{2D5ABB26-0587-4C30-8999-92F81FD0307C}</a:tableStyleId>
              </a:tblPr>
              <a:tblGrid>
                <a:gridCol w="7188200">
                  <a:extLst>
                    <a:ext uri="{9D8B030D-6E8A-4147-A177-3AD203B41FA5}">
                      <a16:colId xmlns:a16="http://schemas.microsoft.com/office/drawing/2014/main" val="20000"/>
                    </a:ext>
                  </a:extLst>
                </a:gridCol>
              </a:tblGrid>
              <a:tr h="430530">
                <a:tc>
                  <a:txBody>
                    <a:bodyPr/>
                    <a:lstStyle/>
                    <a:p>
                      <a:pPr marL="68580">
                        <a:lnSpc>
                          <a:spcPts val="2060"/>
                        </a:lnSpc>
                      </a:pPr>
                      <a:r>
                        <a:rPr sz="1800" dirty="0">
                          <a:solidFill>
                            <a:srgbClr val="0000FF"/>
                          </a:solidFill>
                          <a:latin typeface="Calibri"/>
                          <a:cs typeface="Calibri"/>
                        </a:rPr>
                        <a:t>Unsupervised</a:t>
                      </a:r>
                      <a:r>
                        <a:rPr sz="1800" spc="-95" dirty="0">
                          <a:solidFill>
                            <a:srgbClr val="0000FF"/>
                          </a:solidFill>
                          <a:latin typeface="Calibri"/>
                          <a:cs typeface="Calibri"/>
                        </a:rPr>
                        <a:t> </a:t>
                      </a:r>
                      <a:r>
                        <a:rPr sz="1800" dirty="0">
                          <a:solidFill>
                            <a:srgbClr val="0000FF"/>
                          </a:solidFill>
                          <a:latin typeface="Calibri"/>
                          <a:cs typeface="Calibri"/>
                        </a:rPr>
                        <a:t>Learning</a:t>
                      </a:r>
                      <a:r>
                        <a:rPr sz="1800" spc="-80" dirty="0">
                          <a:solidFill>
                            <a:srgbClr val="0000FF"/>
                          </a:solidFill>
                          <a:latin typeface="Calibri"/>
                          <a:cs typeface="Calibri"/>
                        </a:rPr>
                        <a:t> </a:t>
                      </a:r>
                      <a:r>
                        <a:rPr sz="1800" spc="-10" dirty="0">
                          <a:solidFill>
                            <a:srgbClr val="0000FF"/>
                          </a:solidFill>
                          <a:latin typeface="Calibri"/>
                          <a:cs typeface="Calibri"/>
                        </a:rPr>
                        <a:t>Overview</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8470">
                <a:tc>
                  <a:txBody>
                    <a:bodyPr/>
                    <a:lstStyle/>
                    <a:p>
                      <a:pPr marL="68580">
                        <a:lnSpc>
                          <a:spcPts val="2060"/>
                        </a:lnSpc>
                      </a:pPr>
                      <a:r>
                        <a:rPr sz="1800" spc="-10" dirty="0">
                          <a:solidFill>
                            <a:srgbClr val="0000FF"/>
                          </a:solidFill>
                          <a:latin typeface="Calibri"/>
                          <a:cs typeface="Calibri"/>
                        </a:rPr>
                        <a:t>Clustering</a:t>
                      </a:r>
                      <a:r>
                        <a:rPr sz="1800" spc="-25" dirty="0">
                          <a:solidFill>
                            <a:srgbClr val="0000FF"/>
                          </a:solidFill>
                          <a:latin typeface="Calibri"/>
                          <a:cs typeface="Calibri"/>
                        </a:rPr>
                        <a:t> </a:t>
                      </a:r>
                      <a:r>
                        <a:rPr sz="1800" dirty="0">
                          <a:solidFill>
                            <a:srgbClr val="0000FF"/>
                          </a:solidFill>
                          <a:latin typeface="Calibri"/>
                          <a:cs typeface="Calibri"/>
                        </a:rPr>
                        <a:t>(k-</a:t>
                      </a:r>
                      <a:r>
                        <a:rPr sz="1800" spc="-10" dirty="0">
                          <a:solidFill>
                            <a:srgbClr val="0000FF"/>
                          </a:solidFill>
                          <a:latin typeface="Calibri"/>
                          <a:cs typeface="Calibri"/>
                        </a:rPr>
                        <a:t>means)</a:t>
                      </a:r>
                      <a:endParaRPr sz="1800">
                        <a:latin typeface="Calibri"/>
                        <a:cs typeface="Calibri"/>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bl>
          </a:graphicData>
        </a:graphic>
      </p:graphicFrame>
      <p:sp>
        <p:nvSpPr>
          <p:cNvPr id="7" name="object 7"/>
          <p:cNvSpPr txBox="1">
            <a:spLocks noGrp="1"/>
          </p:cNvSpPr>
          <p:nvPr>
            <p:ph type="title"/>
          </p:nvPr>
        </p:nvSpPr>
        <p:spPr>
          <a:xfrm>
            <a:off x="838200" y="122428"/>
            <a:ext cx="10515600" cy="1325563"/>
          </a:xfrm>
          <a:prstGeom prst="rect">
            <a:avLst/>
          </a:prstGeom>
        </p:spPr>
        <p:txBody>
          <a:bodyPr vert="horz" wrap="square" lIns="0" tIns="272923" rIns="0" bIns="0" rtlCol="0">
            <a:spAutoFit/>
          </a:bodyPr>
          <a:lstStyle/>
          <a:p>
            <a:pPr marL="2416810">
              <a:lnSpc>
                <a:spcPct val="100000"/>
              </a:lnSpc>
              <a:spcBef>
                <a:spcPts val="95"/>
              </a:spcBef>
            </a:pPr>
            <a:r>
              <a:rPr sz="4400" b="0" spc="-10" dirty="0">
                <a:solidFill>
                  <a:srgbClr val="000000"/>
                </a:solidFill>
                <a:latin typeface="Calibri Light"/>
                <a:cs typeface="Calibri Light"/>
              </a:rPr>
              <a:t>Modules</a:t>
            </a:r>
            <a:endParaRPr sz="4400" dirty="0">
              <a:latin typeface="Calibri Light"/>
              <a:cs typeface="Calibri Light"/>
            </a:endParaRPr>
          </a:p>
        </p:txBody>
      </p:sp>
      <p:sp>
        <p:nvSpPr>
          <p:cNvPr id="8" name="object 8"/>
          <p:cNvSpPr txBox="1"/>
          <p:nvPr/>
        </p:nvSpPr>
        <p:spPr>
          <a:xfrm>
            <a:off x="4122928" y="4824729"/>
            <a:ext cx="1503680" cy="861060"/>
          </a:xfrm>
          <a:prstGeom prst="rect">
            <a:avLst/>
          </a:prstGeom>
        </p:spPr>
        <p:txBody>
          <a:bodyPr vert="horz" wrap="square" lIns="0" tIns="155575" rIns="0" bIns="0" rtlCol="0">
            <a:spAutoFit/>
          </a:bodyPr>
          <a:lstStyle/>
          <a:p>
            <a:pPr marL="12700">
              <a:lnSpc>
                <a:spcPct val="100000"/>
              </a:lnSpc>
              <a:spcBef>
                <a:spcPts val="1225"/>
              </a:spcBef>
            </a:pPr>
            <a:r>
              <a:rPr sz="1800" b="1" u="sng" spc="-10" dirty="0">
                <a:solidFill>
                  <a:srgbClr val="006FC0"/>
                </a:solidFill>
                <a:uFill>
                  <a:solidFill>
                    <a:srgbClr val="006FC0"/>
                  </a:solidFill>
                </a:uFill>
                <a:latin typeface="Calibri"/>
                <a:cs typeface="Calibri"/>
              </a:rPr>
              <a:t>Components:</a:t>
            </a:r>
            <a:endParaRPr sz="1800">
              <a:latin typeface="Calibri"/>
              <a:cs typeface="Calibri"/>
            </a:endParaRPr>
          </a:p>
          <a:p>
            <a:pPr marL="297815" indent="-285115">
              <a:lnSpc>
                <a:spcPct val="100000"/>
              </a:lnSpc>
              <a:spcBef>
                <a:spcPts val="1130"/>
              </a:spcBef>
              <a:buFont typeface="Arial MT"/>
              <a:buChar char="•"/>
              <a:tabLst>
                <a:tab pos="297815" algn="l"/>
              </a:tabLst>
            </a:pPr>
            <a:r>
              <a:rPr sz="1800" dirty="0">
                <a:latin typeface="Calibri"/>
                <a:cs typeface="Calibri"/>
              </a:rPr>
              <a:t>Homework</a:t>
            </a:r>
            <a:r>
              <a:rPr sz="1800" spc="-95" dirty="0">
                <a:latin typeface="Calibri"/>
                <a:cs typeface="Calibri"/>
              </a:rPr>
              <a:t> </a:t>
            </a:r>
            <a:r>
              <a:rPr sz="1800" spc="-50" dirty="0">
                <a:latin typeface="Calibri"/>
                <a:cs typeface="Calibri"/>
              </a:rPr>
              <a:t>3</a:t>
            </a:r>
            <a:endParaRPr sz="1800">
              <a:latin typeface="Calibri"/>
              <a:cs typeface="Calibri"/>
            </a:endParaRPr>
          </a:p>
        </p:txBody>
      </p:sp>
      <p:sp>
        <p:nvSpPr>
          <p:cNvPr id="9" name="object 9"/>
          <p:cNvSpPr txBox="1"/>
          <p:nvPr/>
        </p:nvSpPr>
        <p:spPr>
          <a:xfrm>
            <a:off x="5116829" y="4158995"/>
            <a:ext cx="5461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13,14</a:t>
            </a:r>
            <a:endParaRPr sz="1800">
              <a:latin typeface="Calibri"/>
              <a:cs typeface="Calibri"/>
            </a:endParaRPr>
          </a:p>
        </p:txBody>
      </p:sp>
      <p:sp>
        <p:nvSpPr>
          <p:cNvPr id="10" name="object 10"/>
          <p:cNvSpPr txBox="1"/>
          <p:nvPr/>
        </p:nvSpPr>
        <p:spPr>
          <a:xfrm>
            <a:off x="4122928" y="4158995"/>
            <a:ext cx="716915"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solidFill>
                  <a:srgbClr val="006FC0"/>
                </a:solidFill>
                <a:uFill>
                  <a:solidFill>
                    <a:srgbClr val="006FC0"/>
                  </a:solidFill>
                </a:uFill>
                <a:latin typeface="Calibri"/>
                <a:cs typeface="Calibri"/>
              </a:rPr>
              <a:t>Weeks:</a:t>
            </a:r>
            <a:endParaRPr sz="1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2986534" cy="27954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u="sng" spc="-88" dirty="0">
                <a:uFill>
                  <a:solidFill>
                    <a:srgbClr val="000000"/>
                  </a:solidFill>
                </a:uFill>
                <a:latin typeface="Trebuchet MS"/>
                <a:cs typeface="Trebuchet MS"/>
                <a:hlinkClick r:id="rId2"/>
              </a:rPr>
              <a:t>https://www.anaconda.com/</a:t>
            </a:r>
            <a:endParaRPr sz="1758">
              <a:latin typeface="Trebuchet MS"/>
              <a:cs typeface="Trebuchet MS"/>
            </a:endParaRPr>
          </a:p>
        </p:txBody>
      </p:sp>
      <p:sp>
        <p:nvSpPr>
          <p:cNvPr id="4" name="object 4"/>
          <p:cNvSpPr txBox="1">
            <a:spLocks noGrp="1"/>
          </p:cNvSpPr>
          <p:nvPr>
            <p:ph type="title"/>
          </p:nvPr>
        </p:nvSpPr>
        <p:spPr>
          <a:xfrm>
            <a:off x="2113360" y="41129"/>
            <a:ext cx="7393781" cy="1363234"/>
          </a:xfrm>
          <a:prstGeom prst="rect">
            <a:avLst/>
          </a:prstGeom>
        </p:spPr>
        <p:txBody>
          <a:bodyPr vert="horz" wrap="square" lIns="0" tIns="8930" rIns="0" bIns="0" rtlCol="0" anchor="ctr">
            <a:spAutoFit/>
          </a:bodyPr>
          <a:lstStyle/>
          <a:p>
            <a:pPr marL="8929">
              <a:lnSpc>
                <a:spcPct val="100000"/>
              </a:lnSpc>
              <a:spcBef>
                <a:spcPts val="70"/>
              </a:spcBef>
            </a:pPr>
            <a:r>
              <a:rPr spc="-102" dirty="0"/>
              <a:t>Anaconda</a:t>
            </a:r>
            <a:br>
              <a:rPr lang="en-US" spc="-102" dirty="0"/>
            </a:br>
            <a:endParaRPr spc="-102" dirty="0"/>
          </a:p>
        </p:txBody>
      </p:sp>
      <p:grpSp>
        <p:nvGrpSpPr>
          <p:cNvPr id="5" name="object 5"/>
          <p:cNvGrpSpPr/>
          <p:nvPr/>
        </p:nvGrpSpPr>
        <p:grpSpPr>
          <a:xfrm>
            <a:off x="1825122" y="1186255"/>
            <a:ext cx="8570714" cy="5290393"/>
            <a:chOff x="428262" y="1687118"/>
            <a:chExt cx="12189460" cy="7524115"/>
          </a:xfrm>
        </p:grpSpPr>
        <p:pic>
          <p:nvPicPr>
            <p:cNvPr id="6" name="object 6"/>
            <p:cNvPicPr/>
            <p:nvPr/>
          </p:nvPicPr>
          <p:blipFill>
            <a:blip r:embed="rId3" cstate="print"/>
            <a:stretch>
              <a:fillRect/>
            </a:stretch>
          </p:blipFill>
          <p:spPr>
            <a:xfrm>
              <a:off x="428262" y="1687118"/>
              <a:ext cx="8998692" cy="4816335"/>
            </a:xfrm>
            <a:prstGeom prst="rect">
              <a:avLst/>
            </a:prstGeom>
          </p:spPr>
        </p:pic>
        <p:pic>
          <p:nvPicPr>
            <p:cNvPr id="7" name="object 7"/>
            <p:cNvPicPr/>
            <p:nvPr/>
          </p:nvPicPr>
          <p:blipFill>
            <a:blip r:embed="rId4" cstate="print"/>
            <a:stretch>
              <a:fillRect/>
            </a:stretch>
          </p:blipFill>
          <p:spPr>
            <a:xfrm>
              <a:off x="5139766" y="5160897"/>
              <a:ext cx="7477368" cy="405024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7476827" cy="2194207"/>
          </a:xfrm>
          <a:prstGeom prst="rect">
            <a:avLst/>
          </a:prstGeom>
        </p:spPr>
        <p:txBody>
          <a:bodyPr vert="horz" wrap="square" lIns="0" tIns="32147" rIns="0" bIns="0" rtlCol="0">
            <a:spAutoFit/>
          </a:bodyPr>
          <a:lstStyle/>
          <a:p>
            <a:pPr marL="276810" marR="3572" indent="-267881">
              <a:lnSpc>
                <a:spcPts val="1969"/>
              </a:lnSpc>
              <a:spcBef>
                <a:spcPts val="253"/>
              </a:spcBef>
              <a:buSzPct val="122000"/>
              <a:buChar char="•"/>
              <a:tabLst>
                <a:tab pos="276810" algn="l"/>
              </a:tabLst>
            </a:pPr>
            <a:r>
              <a:rPr sz="1758" dirty="0">
                <a:latin typeface="Trebuchet MS"/>
                <a:cs typeface="Trebuchet MS"/>
              </a:rPr>
              <a:t>Google</a:t>
            </a:r>
            <a:r>
              <a:rPr sz="1758" spc="-67" dirty="0">
                <a:latin typeface="Trebuchet MS"/>
                <a:cs typeface="Trebuchet MS"/>
              </a:rPr>
              <a:t> </a:t>
            </a:r>
            <a:r>
              <a:rPr sz="1758" spc="-49" dirty="0">
                <a:latin typeface="Trebuchet MS"/>
                <a:cs typeface="Trebuchet MS"/>
              </a:rPr>
              <a:t>Colaboratory,</a:t>
            </a:r>
            <a:r>
              <a:rPr sz="1758" spc="-53" dirty="0">
                <a:latin typeface="Trebuchet MS"/>
                <a:cs typeface="Trebuchet MS"/>
              </a:rPr>
              <a:t> </a:t>
            </a:r>
            <a:r>
              <a:rPr sz="1758" dirty="0">
                <a:latin typeface="Trebuchet MS"/>
                <a:cs typeface="Trebuchet MS"/>
              </a:rPr>
              <a:t>or</a:t>
            </a:r>
            <a:r>
              <a:rPr sz="1758" spc="-53" dirty="0">
                <a:latin typeface="Trebuchet MS"/>
                <a:cs typeface="Trebuchet MS"/>
              </a:rPr>
              <a:t> </a:t>
            </a:r>
            <a:r>
              <a:rPr sz="1758" spc="-28" dirty="0">
                <a:latin typeface="Trebuchet MS"/>
                <a:cs typeface="Trebuchet MS"/>
              </a:rPr>
              <a:t>“Colab”</a:t>
            </a:r>
            <a:r>
              <a:rPr sz="1758" spc="-53" dirty="0">
                <a:latin typeface="Trebuchet MS"/>
                <a:cs typeface="Trebuchet MS"/>
              </a:rPr>
              <a:t> </a:t>
            </a:r>
            <a:r>
              <a:rPr sz="1758" spc="-74" dirty="0">
                <a:latin typeface="Trebuchet MS"/>
                <a:cs typeface="Trebuchet MS"/>
              </a:rPr>
              <a:t>for</a:t>
            </a:r>
            <a:r>
              <a:rPr sz="1758" spc="-56" dirty="0">
                <a:latin typeface="Trebuchet MS"/>
                <a:cs typeface="Trebuchet MS"/>
              </a:rPr>
              <a:t> </a:t>
            </a:r>
            <a:r>
              <a:rPr sz="1758" spc="-77" dirty="0">
                <a:latin typeface="Trebuchet MS"/>
                <a:cs typeface="Trebuchet MS"/>
              </a:rPr>
              <a:t>short,</a:t>
            </a:r>
            <a:r>
              <a:rPr sz="1758" spc="-53" dirty="0">
                <a:latin typeface="Trebuchet MS"/>
                <a:cs typeface="Trebuchet MS"/>
              </a:rPr>
              <a:t> </a:t>
            </a:r>
            <a:r>
              <a:rPr sz="1758" dirty="0">
                <a:latin typeface="Trebuchet MS"/>
                <a:cs typeface="Trebuchet MS"/>
              </a:rPr>
              <a:t>allows</a:t>
            </a:r>
            <a:r>
              <a:rPr sz="1758" spc="-53" dirty="0">
                <a:latin typeface="Trebuchet MS"/>
                <a:cs typeface="Trebuchet MS"/>
              </a:rPr>
              <a:t> </a:t>
            </a:r>
            <a:r>
              <a:rPr sz="1758" dirty="0">
                <a:latin typeface="Trebuchet MS"/>
                <a:cs typeface="Trebuchet MS"/>
              </a:rPr>
              <a:t>you</a:t>
            </a:r>
            <a:r>
              <a:rPr sz="1758" spc="-53"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74" dirty="0">
                <a:latin typeface="Trebuchet MS"/>
                <a:cs typeface="Trebuchet MS"/>
              </a:rPr>
              <a:t>write</a:t>
            </a:r>
            <a:r>
              <a:rPr sz="1758" spc="-53" dirty="0">
                <a:latin typeface="Trebuchet MS"/>
                <a:cs typeface="Trebuchet MS"/>
              </a:rPr>
              <a:t> </a:t>
            </a:r>
            <a:r>
              <a:rPr sz="1758" dirty="0">
                <a:latin typeface="Trebuchet MS"/>
                <a:cs typeface="Trebuchet MS"/>
              </a:rPr>
              <a:t>and</a:t>
            </a:r>
            <a:r>
              <a:rPr sz="1758" spc="-56" dirty="0">
                <a:latin typeface="Trebuchet MS"/>
                <a:cs typeface="Trebuchet MS"/>
              </a:rPr>
              <a:t> </a:t>
            </a:r>
            <a:r>
              <a:rPr sz="1758" spc="-28" dirty="0">
                <a:latin typeface="Trebuchet MS"/>
                <a:cs typeface="Trebuchet MS"/>
              </a:rPr>
              <a:t>execute </a:t>
            </a:r>
            <a:r>
              <a:rPr sz="1758" spc="-18" dirty="0">
                <a:latin typeface="Trebuchet MS"/>
                <a:cs typeface="Trebuchet MS"/>
              </a:rPr>
              <a:t>Python</a:t>
            </a:r>
            <a:r>
              <a:rPr sz="1758" spc="-88" dirty="0">
                <a:latin typeface="Trebuchet MS"/>
                <a:cs typeface="Trebuchet MS"/>
              </a:rPr>
              <a:t> </a:t>
            </a:r>
            <a:r>
              <a:rPr sz="1758" dirty="0">
                <a:latin typeface="Trebuchet MS"/>
                <a:cs typeface="Trebuchet MS"/>
              </a:rPr>
              <a:t>in</a:t>
            </a:r>
            <a:r>
              <a:rPr sz="1758" spc="-84" dirty="0">
                <a:latin typeface="Trebuchet MS"/>
                <a:cs typeface="Trebuchet MS"/>
              </a:rPr>
              <a:t> </a:t>
            </a:r>
            <a:r>
              <a:rPr sz="1758" dirty="0">
                <a:latin typeface="Trebuchet MS"/>
                <a:cs typeface="Trebuchet MS"/>
              </a:rPr>
              <a:t>your</a:t>
            </a:r>
            <a:r>
              <a:rPr sz="1758" spc="-88" dirty="0">
                <a:latin typeface="Trebuchet MS"/>
                <a:cs typeface="Trebuchet MS"/>
              </a:rPr>
              <a:t> </a:t>
            </a:r>
            <a:r>
              <a:rPr sz="1758" spc="-7" dirty="0">
                <a:latin typeface="Trebuchet MS"/>
                <a:cs typeface="Trebuchet MS"/>
              </a:rPr>
              <a:t>browser</a:t>
            </a:r>
            <a:endParaRPr sz="1758">
              <a:latin typeface="Trebuchet MS"/>
              <a:cs typeface="Trebuchet MS"/>
            </a:endParaRPr>
          </a:p>
          <a:p>
            <a:pPr>
              <a:spcBef>
                <a:spcPts val="18"/>
              </a:spcBef>
              <a:buFont typeface="Trebuchet MS"/>
              <a:buChar char="•"/>
            </a:pPr>
            <a:endParaRPr sz="1758">
              <a:latin typeface="Trebuchet MS"/>
              <a:cs typeface="Trebuchet MS"/>
            </a:endParaRPr>
          </a:p>
          <a:p>
            <a:pPr marL="544692" lvl="1" indent="-267881">
              <a:spcBef>
                <a:spcPts val="4"/>
              </a:spcBef>
              <a:buSzPct val="122000"/>
              <a:buChar char="•"/>
              <a:tabLst>
                <a:tab pos="544692" algn="l"/>
              </a:tabLst>
            </a:pPr>
            <a:r>
              <a:rPr sz="1758" dirty="0">
                <a:latin typeface="Trebuchet MS"/>
                <a:cs typeface="Trebuchet MS"/>
              </a:rPr>
              <a:t>Zero</a:t>
            </a:r>
            <a:r>
              <a:rPr sz="1758" spc="-77" dirty="0">
                <a:latin typeface="Trebuchet MS"/>
                <a:cs typeface="Trebuchet MS"/>
              </a:rPr>
              <a:t> </a:t>
            </a:r>
            <a:r>
              <a:rPr sz="1758" spc="-35" dirty="0">
                <a:latin typeface="Trebuchet MS"/>
                <a:cs typeface="Trebuchet MS"/>
              </a:rPr>
              <a:t>configuration</a:t>
            </a:r>
            <a:r>
              <a:rPr sz="1758" spc="-77" dirty="0">
                <a:latin typeface="Trebuchet MS"/>
                <a:cs typeface="Trebuchet MS"/>
              </a:rPr>
              <a:t> </a:t>
            </a:r>
            <a:r>
              <a:rPr sz="1758" spc="-7" dirty="0">
                <a:latin typeface="Trebuchet MS"/>
                <a:cs typeface="Trebuchet MS"/>
              </a:rPr>
              <a:t>required</a:t>
            </a:r>
            <a:endParaRPr sz="1758">
              <a:latin typeface="Trebuchet MS"/>
              <a:cs typeface="Trebuchet MS"/>
            </a:endParaRPr>
          </a:p>
          <a:p>
            <a:pPr lvl="1">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95" dirty="0">
                <a:latin typeface="Trebuchet MS"/>
                <a:cs typeface="Trebuchet MS"/>
              </a:rPr>
              <a:t>Free</a:t>
            </a:r>
            <a:r>
              <a:rPr sz="1758" spc="-42" dirty="0">
                <a:latin typeface="Trebuchet MS"/>
                <a:cs typeface="Trebuchet MS"/>
              </a:rPr>
              <a:t> </a:t>
            </a:r>
            <a:r>
              <a:rPr sz="1758" spc="-25" dirty="0">
                <a:latin typeface="Trebuchet MS"/>
                <a:cs typeface="Trebuchet MS"/>
              </a:rPr>
              <a:t>access</a:t>
            </a:r>
            <a:r>
              <a:rPr sz="1758" spc="-95" dirty="0">
                <a:latin typeface="Trebuchet MS"/>
                <a:cs typeface="Trebuchet MS"/>
              </a:rPr>
              <a:t> to</a:t>
            </a:r>
            <a:r>
              <a:rPr sz="1758" spc="-42" dirty="0">
                <a:latin typeface="Trebuchet MS"/>
                <a:cs typeface="Trebuchet MS"/>
              </a:rPr>
              <a:t> </a:t>
            </a:r>
            <a:r>
              <a:rPr sz="1758" spc="88" dirty="0">
                <a:latin typeface="Trebuchet MS"/>
                <a:cs typeface="Trebuchet MS"/>
              </a:rPr>
              <a:t>GPUs</a:t>
            </a:r>
            <a:r>
              <a:rPr sz="1758" spc="-56" dirty="0">
                <a:latin typeface="Trebuchet MS"/>
                <a:cs typeface="Trebuchet MS"/>
              </a:rPr>
              <a:t> </a:t>
            </a:r>
            <a:r>
              <a:rPr sz="1758" dirty="0">
                <a:latin typeface="Trebuchet MS"/>
                <a:cs typeface="Trebuchet MS"/>
              </a:rPr>
              <a:t>and</a:t>
            </a:r>
            <a:r>
              <a:rPr sz="1758" spc="-60" dirty="0">
                <a:latin typeface="Trebuchet MS"/>
                <a:cs typeface="Trebuchet MS"/>
              </a:rPr>
              <a:t> </a:t>
            </a:r>
            <a:r>
              <a:rPr sz="1758" spc="-63" dirty="0">
                <a:latin typeface="Trebuchet MS"/>
                <a:cs typeface="Trebuchet MS"/>
              </a:rPr>
              <a:t>other</a:t>
            </a:r>
            <a:r>
              <a:rPr sz="1758" spc="-60" dirty="0">
                <a:latin typeface="Trebuchet MS"/>
                <a:cs typeface="Trebuchet MS"/>
              </a:rPr>
              <a:t> </a:t>
            </a:r>
            <a:r>
              <a:rPr sz="1758" spc="-14" dirty="0">
                <a:latin typeface="Trebuchet MS"/>
                <a:cs typeface="Trebuchet MS"/>
              </a:rPr>
              <a:t>computing</a:t>
            </a:r>
            <a:r>
              <a:rPr sz="1758" spc="-56" dirty="0">
                <a:latin typeface="Trebuchet MS"/>
                <a:cs typeface="Trebuchet MS"/>
              </a:rPr>
              <a:t> </a:t>
            </a:r>
            <a:r>
              <a:rPr sz="1758" spc="-7" dirty="0">
                <a:latin typeface="Trebuchet MS"/>
                <a:cs typeface="Trebuchet MS"/>
              </a:rPr>
              <a:t>resources</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35" dirty="0">
                <a:latin typeface="Trebuchet MS"/>
                <a:cs typeface="Trebuchet MS"/>
              </a:rPr>
              <a:t>Use</a:t>
            </a:r>
            <a:r>
              <a:rPr sz="1758" spc="-11" dirty="0">
                <a:latin typeface="Trebuchet MS"/>
                <a:cs typeface="Trebuchet MS"/>
              </a:rPr>
              <a:t> </a:t>
            </a:r>
            <a:r>
              <a:rPr sz="1758" spc="-60" dirty="0">
                <a:latin typeface="Trebuchet MS"/>
                <a:cs typeface="Trebuchet MS"/>
              </a:rPr>
              <a:t>terminal</a:t>
            </a:r>
            <a:r>
              <a:rPr sz="1758" spc="-11" dirty="0">
                <a:latin typeface="Trebuchet MS"/>
                <a:cs typeface="Trebuchet MS"/>
              </a:rPr>
              <a:t> </a:t>
            </a:r>
            <a:r>
              <a:rPr sz="1758" dirty="0">
                <a:latin typeface="Trebuchet MS"/>
                <a:cs typeface="Trebuchet MS"/>
              </a:rPr>
              <a:t>commands</a:t>
            </a:r>
            <a:r>
              <a:rPr sz="1758" spc="-11" dirty="0">
                <a:latin typeface="Trebuchet MS"/>
                <a:cs typeface="Trebuchet MS"/>
              </a:rPr>
              <a:t> </a:t>
            </a:r>
            <a:r>
              <a:rPr sz="1758" dirty="0">
                <a:latin typeface="Trebuchet MS"/>
                <a:cs typeface="Trebuchet MS"/>
              </a:rPr>
              <a:t>on</a:t>
            </a:r>
            <a:r>
              <a:rPr sz="1758" spc="-7" dirty="0">
                <a:latin typeface="Trebuchet MS"/>
                <a:cs typeface="Trebuchet MS"/>
              </a:rPr>
              <a:t> </a:t>
            </a:r>
            <a:r>
              <a:rPr sz="1758" dirty="0">
                <a:latin typeface="Trebuchet MS"/>
                <a:cs typeface="Trebuchet MS"/>
              </a:rPr>
              <a:t>Google</a:t>
            </a:r>
            <a:r>
              <a:rPr sz="1758" spc="-11" dirty="0">
                <a:latin typeface="Trebuchet MS"/>
                <a:cs typeface="Trebuchet MS"/>
              </a:rPr>
              <a:t> </a:t>
            </a:r>
            <a:r>
              <a:rPr sz="1758" spc="-7" dirty="0">
                <a:latin typeface="Trebuchet MS"/>
                <a:cs typeface="Trebuchet MS"/>
              </a:rPr>
              <a:t>Colab</a:t>
            </a:r>
            <a:endParaRPr sz="1758">
              <a:latin typeface="Trebuchet MS"/>
              <a:cs typeface="Trebuchet MS"/>
            </a:endParaRPr>
          </a:p>
        </p:txBody>
      </p:sp>
      <p:sp>
        <p:nvSpPr>
          <p:cNvPr id="4" name="object 4"/>
          <p:cNvSpPr txBox="1"/>
          <p:nvPr/>
        </p:nvSpPr>
        <p:spPr>
          <a:xfrm>
            <a:off x="2041922" y="5375127"/>
            <a:ext cx="7102673" cy="550063"/>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u="sng" spc="-84" dirty="0">
                <a:uFill>
                  <a:solidFill>
                    <a:srgbClr val="000000"/>
                  </a:solidFill>
                </a:uFill>
                <a:latin typeface="Trebuchet MS"/>
                <a:cs typeface="Trebuchet MS"/>
              </a:rPr>
              <a:t>https://drive.google.com</a:t>
            </a:r>
            <a:r>
              <a:rPr sz="1758" spc="-49" dirty="0">
                <a:latin typeface="Trebuchet MS"/>
                <a:cs typeface="Trebuchet MS"/>
              </a:rPr>
              <a:t> </a:t>
            </a:r>
            <a:r>
              <a:rPr sz="1758" spc="-95" dirty="0">
                <a:latin typeface="Trebuchet MS"/>
                <a:cs typeface="Trebuchet MS"/>
              </a:rPr>
              <a:t>(for</a:t>
            </a:r>
            <a:r>
              <a:rPr sz="1758" spc="-42"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109" dirty="0">
                <a:latin typeface="Trebuchet MS"/>
                <a:cs typeface="Trebuchet MS"/>
              </a:rPr>
              <a:t>first</a:t>
            </a:r>
            <a:r>
              <a:rPr sz="1758" spc="-42" dirty="0">
                <a:latin typeface="Trebuchet MS"/>
                <a:cs typeface="Trebuchet MS"/>
              </a:rPr>
              <a:t> </a:t>
            </a:r>
            <a:r>
              <a:rPr sz="1758" spc="-95" dirty="0">
                <a:latin typeface="Trebuchet MS"/>
                <a:cs typeface="Trebuchet MS"/>
              </a:rPr>
              <a:t>time,</a:t>
            </a:r>
            <a:r>
              <a:rPr sz="1758" spc="-42" dirty="0">
                <a:latin typeface="Trebuchet MS"/>
                <a:cs typeface="Trebuchet MS"/>
              </a:rPr>
              <a:t> </a:t>
            </a:r>
            <a:r>
              <a:rPr sz="1758" spc="-70" dirty="0">
                <a:latin typeface="Trebuchet MS"/>
                <a:cs typeface="Trebuchet MS"/>
              </a:rPr>
              <a:t>select</a:t>
            </a:r>
            <a:r>
              <a:rPr sz="1758" spc="-60" dirty="0">
                <a:latin typeface="Trebuchet MS"/>
                <a:cs typeface="Trebuchet MS"/>
              </a:rPr>
              <a:t> </a:t>
            </a:r>
            <a:r>
              <a:rPr sz="1758" spc="-32" dirty="0">
                <a:latin typeface="Trebuchet MS"/>
                <a:cs typeface="Trebuchet MS"/>
              </a:rPr>
              <a:t>“Connect</a:t>
            </a:r>
            <a:r>
              <a:rPr sz="1758" spc="-74" dirty="0">
                <a:latin typeface="Trebuchet MS"/>
                <a:cs typeface="Trebuchet MS"/>
              </a:rPr>
              <a:t> </a:t>
            </a:r>
            <a:r>
              <a:rPr sz="1758" spc="-25" dirty="0">
                <a:latin typeface="Trebuchet MS"/>
                <a:cs typeface="Trebuchet MS"/>
              </a:rPr>
              <a:t>more</a:t>
            </a:r>
            <a:r>
              <a:rPr sz="1758" spc="-53" dirty="0">
                <a:latin typeface="Trebuchet MS"/>
                <a:cs typeface="Trebuchet MS"/>
              </a:rPr>
              <a:t> </a:t>
            </a:r>
            <a:r>
              <a:rPr sz="1758" spc="-18" dirty="0">
                <a:latin typeface="Trebuchet MS"/>
                <a:cs typeface="Trebuchet MS"/>
              </a:rPr>
              <a:t>apps”)</a:t>
            </a:r>
            <a:endParaRPr sz="1758">
              <a:latin typeface="Trebuchet MS"/>
              <a:cs typeface="Trebuchet MS"/>
            </a:endParaRPr>
          </a:p>
        </p:txBody>
      </p:sp>
      <p:sp>
        <p:nvSpPr>
          <p:cNvPr id="5" name="object 5"/>
          <p:cNvSpPr txBox="1">
            <a:spLocks noGrp="1"/>
          </p:cNvSpPr>
          <p:nvPr>
            <p:ph type="title"/>
          </p:nvPr>
        </p:nvSpPr>
        <p:spPr>
          <a:xfrm>
            <a:off x="2362200" y="109954"/>
            <a:ext cx="4648195" cy="686126"/>
          </a:xfrm>
          <a:prstGeom prst="rect">
            <a:avLst/>
          </a:prstGeom>
        </p:spPr>
        <p:txBody>
          <a:bodyPr vert="horz" wrap="square" lIns="0" tIns="8930" rIns="0" bIns="0" rtlCol="0" anchor="ctr">
            <a:spAutoFit/>
          </a:bodyPr>
          <a:lstStyle/>
          <a:p>
            <a:pPr marL="8929">
              <a:lnSpc>
                <a:spcPct val="100000"/>
              </a:lnSpc>
              <a:spcBef>
                <a:spcPts val="70"/>
              </a:spcBef>
            </a:pPr>
            <a:r>
              <a:rPr spc="-67" dirty="0"/>
              <a:t>Google</a:t>
            </a:r>
            <a:r>
              <a:rPr spc="-141" dirty="0"/>
              <a:t> </a:t>
            </a:r>
            <a:r>
              <a:rPr spc="-53" dirty="0"/>
              <a:t>Colab</a:t>
            </a:r>
          </a:p>
        </p:txBody>
      </p:sp>
      <p:pic>
        <p:nvPicPr>
          <p:cNvPr id="6" name="object 6"/>
          <p:cNvPicPr/>
          <p:nvPr/>
        </p:nvPicPr>
        <p:blipFill>
          <a:blip r:embed="rId2" cstate="print"/>
          <a:stretch>
            <a:fillRect/>
          </a:stretch>
        </p:blipFill>
        <p:spPr>
          <a:xfrm>
            <a:off x="3193566" y="3142137"/>
            <a:ext cx="5804865" cy="20210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5398442" cy="1103932"/>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105" dirty="0">
                <a:latin typeface="Trebuchet MS"/>
                <a:cs typeface="Trebuchet MS"/>
              </a:rPr>
              <a:t>Better</a:t>
            </a:r>
            <a:r>
              <a:rPr sz="1758" spc="-42" dirty="0">
                <a:latin typeface="Trebuchet MS"/>
                <a:cs typeface="Trebuchet MS"/>
              </a:rPr>
              <a:t> </a:t>
            </a:r>
            <a:r>
              <a:rPr sz="1758" spc="-84" dirty="0">
                <a:latin typeface="Trebuchet MS"/>
                <a:cs typeface="Trebuchet MS"/>
              </a:rPr>
              <a:t>alternative</a:t>
            </a:r>
            <a:r>
              <a:rPr sz="1758" spc="-49" dirty="0">
                <a:latin typeface="Trebuchet MS"/>
                <a:cs typeface="Trebuchet MS"/>
              </a:rPr>
              <a:t> </a:t>
            </a:r>
            <a:r>
              <a:rPr sz="1758" spc="-74" dirty="0">
                <a:latin typeface="Trebuchet MS"/>
                <a:cs typeface="Trebuchet MS"/>
              </a:rPr>
              <a:t>for</a:t>
            </a:r>
            <a:r>
              <a:rPr sz="1758" spc="-56" dirty="0">
                <a:latin typeface="Trebuchet MS"/>
                <a:cs typeface="Trebuchet MS"/>
              </a:rPr>
              <a:t> </a:t>
            </a:r>
            <a:r>
              <a:rPr sz="1758" spc="-91" dirty="0">
                <a:latin typeface="Trebuchet MS"/>
                <a:cs typeface="Trebuchet MS"/>
              </a:rPr>
              <a:t>“real”</a:t>
            </a:r>
            <a:r>
              <a:rPr sz="1758" spc="-42" dirty="0">
                <a:latin typeface="Trebuchet MS"/>
                <a:cs typeface="Trebuchet MS"/>
              </a:rPr>
              <a:t> </a:t>
            </a:r>
            <a:r>
              <a:rPr sz="1758" spc="-7" dirty="0">
                <a:latin typeface="Trebuchet MS"/>
                <a:cs typeface="Trebuchet MS"/>
              </a:rPr>
              <a:t>machine</a:t>
            </a:r>
            <a:r>
              <a:rPr sz="1758" spc="-67" dirty="0">
                <a:latin typeface="Trebuchet MS"/>
                <a:cs typeface="Trebuchet MS"/>
              </a:rPr>
              <a:t> </a:t>
            </a:r>
            <a:r>
              <a:rPr sz="1758" spc="-25" dirty="0">
                <a:latin typeface="Trebuchet MS"/>
                <a:cs typeface="Trebuchet MS"/>
              </a:rPr>
              <a:t>learning</a:t>
            </a:r>
            <a:r>
              <a:rPr sz="1758" spc="-53" dirty="0">
                <a:latin typeface="Trebuchet MS"/>
                <a:cs typeface="Trebuchet MS"/>
              </a:rPr>
              <a:t> </a:t>
            </a:r>
            <a:r>
              <a:rPr sz="1758" spc="-49" dirty="0">
                <a:latin typeface="Trebuchet MS"/>
                <a:cs typeface="Trebuchet MS"/>
              </a:rPr>
              <a:t>projects</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u="sng" spc="-63" dirty="0">
                <a:uFill>
                  <a:solidFill>
                    <a:srgbClr val="000000"/>
                  </a:solidFill>
                </a:uFill>
                <a:latin typeface="Trebuchet MS"/>
                <a:cs typeface="Trebuchet MS"/>
              </a:rPr>
              <a:t>https://code.visualstudio.com/</a:t>
            </a:r>
            <a:endParaRPr sz="1758">
              <a:latin typeface="Trebuchet MS"/>
              <a:cs typeface="Trebuchet MS"/>
            </a:endParaRPr>
          </a:p>
        </p:txBody>
      </p:sp>
      <p:sp>
        <p:nvSpPr>
          <p:cNvPr id="4" name="object 4"/>
          <p:cNvSpPr txBox="1">
            <a:spLocks noGrp="1"/>
          </p:cNvSpPr>
          <p:nvPr>
            <p:ph type="title"/>
          </p:nvPr>
        </p:nvSpPr>
        <p:spPr>
          <a:xfrm>
            <a:off x="2041921" y="177831"/>
            <a:ext cx="4365395" cy="686126"/>
          </a:xfrm>
          <a:prstGeom prst="rect">
            <a:avLst/>
          </a:prstGeom>
        </p:spPr>
        <p:txBody>
          <a:bodyPr vert="horz" wrap="square" lIns="0" tIns="8930" rIns="0" bIns="0" rtlCol="0" anchor="ctr">
            <a:spAutoFit/>
          </a:bodyPr>
          <a:lstStyle/>
          <a:p>
            <a:pPr marL="8929">
              <a:lnSpc>
                <a:spcPct val="100000"/>
              </a:lnSpc>
              <a:spcBef>
                <a:spcPts val="70"/>
              </a:spcBef>
            </a:pPr>
            <a:r>
              <a:rPr spc="-120" dirty="0"/>
              <a:t>Visual</a:t>
            </a:r>
            <a:r>
              <a:rPr spc="-155" dirty="0"/>
              <a:t> </a:t>
            </a:r>
            <a:r>
              <a:rPr spc="-141" dirty="0"/>
              <a:t>Stu</a:t>
            </a:r>
            <a:r>
              <a:rPr lang="en-US" spc="-141" dirty="0"/>
              <a:t>dio</a:t>
            </a:r>
            <a:r>
              <a:rPr spc="-151" dirty="0"/>
              <a:t> </a:t>
            </a:r>
            <a:r>
              <a:rPr spc="-46" dirty="0"/>
              <a:t>Code</a:t>
            </a:r>
          </a:p>
        </p:txBody>
      </p:sp>
      <p:grpSp>
        <p:nvGrpSpPr>
          <p:cNvPr id="5" name="object 5"/>
          <p:cNvGrpSpPr/>
          <p:nvPr/>
        </p:nvGrpSpPr>
        <p:grpSpPr>
          <a:xfrm>
            <a:off x="1848003" y="1801700"/>
            <a:ext cx="8438555" cy="4606826"/>
            <a:chOff x="460805" y="2562418"/>
            <a:chExt cx="12001500" cy="6551930"/>
          </a:xfrm>
        </p:grpSpPr>
        <p:pic>
          <p:nvPicPr>
            <p:cNvPr id="6" name="object 6"/>
            <p:cNvPicPr/>
            <p:nvPr/>
          </p:nvPicPr>
          <p:blipFill>
            <a:blip r:embed="rId2" cstate="print"/>
            <a:stretch>
              <a:fillRect/>
            </a:stretch>
          </p:blipFill>
          <p:spPr>
            <a:xfrm>
              <a:off x="460805" y="2562418"/>
              <a:ext cx="8469698" cy="5436106"/>
            </a:xfrm>
            <a:prstGeom prst="rect">
              <a:avLst/>
            </a:prstGeom>
          </p:spPr>
        </p:pic>
        <p:pic>
          <p:nvPicPr>
            <p:cNvPr id="7" name="object 7"/>
            <p:cNvPicPr/>
            <p:nvPr/>
          </p:nvPicPr>
          <p:blipFill>
            <a:blip r:embed="rId3" cstate="print"/>
            <a:stretch>
              <a:fillRect/>
            </a:stretch>
          </p:blipFill>
          <p:spPr>
            <a:xfrm>
              <a:off x="6945162" y="6757518"/>
              <a:ext cx="5517053" cy="2356712"/>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953FF-2B78-4109-8492-F201158AE0DF}"/>
              </a:ext>
            </a:extLst>
          </p:cNvPr>
          <p:cNvSpPr>
            <a:spLocks noGrp="1"/>
          </p:cNvSpPr>
          <p:nvPr>
            <p:ph type="title"/>
          </p:nvPr>
        </p:nvSpPr>
        <p:spPr/>
        <p:txBody>
          <a:bodyPr/>
          <a:lstStyle/>
          <a:p>
            <a:pPr algn="ctr"/>
            <a:r>
              <a:rPr lang="en-US" b="1" dirty="0"/>
              <a:t>AI Umbrella</a:t>
            </a:r>
            <a:endParaRPr lang="en-US" dirty="0"/>
          </a:p>
        </p:txBody>
      </p:sp>
      <p:pic>
        <p:nvPicPr>
          <p:cNvPr id="4" name="Content Placeholder 3">
            <a:extLst>
              <a:ext uri="{FF2B5EF4-FFF2-40B4-BE49-F238E27FC236}">
                <a16:creationId xmlns:a16="http://schemas.microsoft.com/office/drawing/2014/main" id="{60401E61-C8F4-4E3D-BD4E-65AAD2E46A78}"/>
              </a:ext>
            </a:extLst>
          </p:cNvPr>
          <p:cNvPicPr>
            <a:picLocks noGrp="1" noChangeAspect="1"/>
          </p:cNvPicPr>
          <p:nvPr>
            <p:ph idx="1"/>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676400" y="2178640"/>
            <a:ext cx="9677400" cy="3645307"/>
          </a:xfrm>
        </p:spPr>
      </p:pic>
    </p:spTree>
    <p:extLst>
      <p:ext uri="{BB962C8B-B14F-4D97-AF65-F5344CB8AC3E}">
        <p14:creationId xmlns:p14="http://schemas.microsoft.com/office/powerpoint/2010/main" val="3223145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 y="918972"/>
            <a:ext cx="2128266" cy="3027426"/>
          </a:xfrm>
          <a:prstGeom prst="rect">
            <a:avLst/>
          </a:prstGeom>
        </p:spPr>
      </p:pic>
      <p:pic>
        <p:nvPicPr>
          <p:cNvPr id="3" name="object 3"/>
          <p:cNvPicPr/>
          <p:nvPr/>
        </p:nvPicPr>
        <p:blipFill>
          <a:blip r:embed="rId3" cstate="print"/>
          <a:stretch>
            <a:fillRect/>
          </a:stretch>
        </p:blipFill>
        <p:spPr>
          <a:xfrm>
            <a:off x="2512314" y="958596"/>
            <a:ext cx="2268474" cy="3004566"/>
          </a:xfrm>
          <a:prstGeom prst="rect">
            <a:avLst/>
          </a:prstGeom>
        </p:spPr>
      </p:pic>
      <p:pic>
        <p:nvPicPr>
          <p:cNvPr id="4" name="object 4"/>
          <p:cNvPicPr/>
          <p:nvPr/>
        </p:nvPicPr>
        <p:blipFill>
          <a:blip r:embed="rId4" cstate="print"/>
          <a:stretch>
            <a:fillRect/>
          </a:stretch>
        </p:blipFill>
        <p:spPr>
          <a:xfrm>
            <a:off x="5247132" y="962405"/>
            <a:ext cx="2074164" cy="3083052"/>
          </a:xfrm>
          <a:prstGeom prst="rect">
            <a:avLst/>
          </a:prstGeom>
        </p:spPr>
      </p:pic>
      <p:pic>
        <p:nvPicPr>
          <p:cNvPr id="5" name="object 5"/>
          <p:cNvPicPr/>
          <p:nvPr/>
        </p:nvPicPr>
        <p:blipFill>
          <a:blip r:embed="rId5" cstate="print"/>
          <a:stretch>
            <a:fillRect/>
          </a:stretch>
        </p:blipFill>
        <p:spPr>
          <a:xfrm>
            <a:off x="7690866" y="949452"/>
            <a:ext cx="2073402" cy="3116580"/>
          </a:xfrm>
          <a:prstGeom prst="rect">
            <a:avLst/>
          </a:prstGeom>
        </p:spPr>
      </p:pic>
      <p:pic>
        <p:nvPicPr>
          <p:cNvPr id="6" name="object 6"/>
          <p:cNvPicPr/>
          <p:nvPr/>
        </p:nvPicPr>
        <p:blipFill>
          <a:blip r:embed="rId6" cstate="print"/>
          <a:stretch>
            <a:fillRect/>
          </a:stretch>
        </p:blipFill>
        <p:spPr>
          <a:xfrm>
            <a:off x="10005821" y="963167"/>
            <a:ext cx="2073402" cy="3110483"/>
          </a:xfrm>
          <a:prstGeom prst="rect">
            <a:avLst/>
          </a:prstGeom>
        </p:spPr>
      </p:pic>
      <p:sp>
        <p:nvSpPr>
          <p:cNvPr id="7" name="object 7"/>
          <p:cNvSpPr txBox="1"/>
          <p:nvPr/>
        </p:nvSpPr>
        <p:spPr>
          <a:xfrm>
            <a:off x="916939" y="4146041"/>
            <a:ext cx="10314940" cy="1854200"/>
          </a:xfrm>
          <a:prstGeom prst="rect">
            <a:avLst/>
          </a:prstGeom>
        </p:spPr>
        <p:txBody>
          <a:bodyPr vert="horz" wrap="square" lIns="0" tIns="12065" rIns="0" bIns="0" rtlCol="0">
            <a:spAutoFit/>
          </a:bodyPr>
          <a:lstStyle/>
          <a:p>
            <a:pPr marL="297815" indent="-285115">
              <a:lnSpc>
                <a:spcPct val="100000"/>
              </a:lnSpc>
              <a:spcBef>
                <a:spcPts val="95"/>
              </a:spcBef>
              <a:buFont typeface="Arial MT"/>
              <a:buChar char="•"/>
              <a:tabLst>
                <a:tab pos="297815" algn="l"/>
              </a:tabLst>
            </a:pPr>
            <a:r>
              <a:rPr sz="2000" dirty="0">
                <a:latin typeface="Segoe Print"/>
                <a:cs typeface="Segoe Print"/>
              </a:rPr>
              <a:t>(CB)</a:t>
            </a:r>
            <a:r>
              <a:rPr sz="2000" spc="-40" dirty="0">
                <a:latin typeface="Segoe Print"/>
                <a:cs typeface="Segoe Print"/>
              </a:rPr>
              <a:t> </a:t>
            </a:r>
            <a:r>
              <a:rPr sz="2000" dirty="0">
                <a:latin typeface="Segoe Print"/>
                <a:cs typeface="Segoe Print"/>
              </a:rPr>
              <a:t>Pattern</a:t>
            </a:r>
            <a:r>
              <a:rPr sz="2000" spc="-50" dirty="0">
                <a:latin typeface="Segoe Print"/>
                <a:cs typeface="Segoe Print"/>
              </a:rPr>
              <a:t> </a:t>
            </a:r>
            <a:r>
              <a:rPr sz="2000" dirty="0">
                <a:latin typeface="Segoe Print"/>
                <a:cs typeface="Segoe Print"/>
              </a:rPr>
              <a:t>Recognition</a:t>
            </a:r>
            <a:r>
              <a:rPr sz="2000" spc="-50" dirty="0">
                <a:latin typeface="Segoe Print"/>
                <a:cs typeface="Segoe Print"/>
              </a:rPr>
              <a:t> </a:t>
            </a:r>
            <a:r>
              <a:rPr sz="2000" dirty="0">
                <a:latin typeface="Segoe Print"/>
                <a:cs typeface="Segoe Print"/>
              </a:rPr>
              <a:t>and</a:t>
            </a:r>
            <a:r>
              <a:rPr sz="2000" spc="-45" dirty="0">
                <a:latin typeface="Segoe Print"/>
                <a:cs typeface="Segoe Print"/>
              </a:rPr>
              <a:t> </a:t>
            </a:r>
            <a:r>
              <a:rPr sz="2000" dirty="0">
                <a:latin typeface="Segoe Print"/>
                <a:cs typeface="Segoe Print"/>
              </a:rPr>
              <a:t>Machine</a:t>
            </a:r>
            <a:r>
              <a:rPr sz="2000" spc="-50" dirty="0">
                <a:latin typeface="Segoe Print"/>
                <a:cs typeface="Segoe Print"/>
              </a:rPr>
              <a:t> </a:t>
            </a:r>
            <a:r>
              <a:rPr sz="2000" dirty="0">
                <a:latin typeface="Segoe Print"/>
                <a:cs typeface="Segoe Print"/>
              </a:rPr>
              <a:t>Learning,</a:t>
            </a:r>
            <a:r>
              <a:rPr sz="2000" spc="-45" dirty="0">
                <a:latin typeface="Segoe Print"/>
                <a:cs typeface="Segoe Print"/>
              </a:rPr>
              <a:t> </a:t>
            </a:r>
            <a:r>
              <a:rPr sz="2000" dirty="0">
                <a:latin typeface="Segoe Print"/>
                <a:cs typeface="Segoe Print"/>
              </a:rPr>
              <a:t>Christopher</a:t>
            </a:r>
            <a:r>
              <a:rPr sz="2000" spc="-60" dirty="0">
                <a:latin typeface="Segoe Print"/>
                <a:cs typeface="Segoe Print"/>
              </a:rPr>
              <a:t> </a:t>
            </a:r>
            <a:r>
              <a:rPr sz="2000" dirty="0">
                <a:latin typeface="Segoe Print"/>
                <a:cs typeface="Segoe Print"/>
              </a:rPr>
              <a:t>M.</a:t>
            </a:r>
            <a:r>
              <a:rPr sz="2000" spc="-50" dirty="0">
                <a:latin typeface="Segoe Print"/>
                <a:cs typeface="Segoe Print"/>
              </a:rPr>
              <a:t> </a:t>
            </a:r>
            <a:r>
              <a:rPr sz="2000" spc="-10" dirty="0">
                <a:latin typeface="Segoe Print"/>
                <a:cs typeface="Segoe Print"/>
              </a:rPr>
              <a:t>Bishop</a:t>
            </a:r>
            <a:endParaRPr sz="2000">
              <a:latin typeface="Segoe Print"/>
              <a:cs typeface="Segoe Print"/>
            </a:endParaRPr>
          </a:p>
          <a:p>
            <a:pPr marL="297815" indent="-285115">
              <a:lnSpc>
                <a:spcPct val="100000"/>
              </a:lnSpc>
              <a:buFont typeface="Arial MT"/>
              <a:buChar char="•"/>
              <a:tabLst>
                <a:tab pos="297815" algn="l"/>
              </a:tabLst>
            </a:pPr>
            <a:r>
              <a:rPr sz="2000" dirty="0">
                <a:latin typeface="Segoe Print"/>
                <a:cs typeface="Segoe Print"/>
              </a:rPr>
              <a:t>(KM)</a:t>
            </a:r>
            <a:r>
              <a:rPr sz="2000" spc="-45" dirty="0">
                <a:latin typeface="Segoe Print"/>
                <a:cs typeface="Segoe Print"/>
              </a:rPr>
              <a:t> </a:t>
            </a:r>
            <a:r>
              <a:rPr sz="2000" dirty="0">
                <a:latin typeface="Segoe Print"/>
                <a:cs typeface="Segoe Print"/>
              </a:rPr>
              <a:t>Machine</a:t>
            </a:r>
            <a:r>
              <a:rPr sz="2000" spc="-35" dirty="0">
                <a:latin typeface="Segoe Print"/>
                <a:cs typeface="Segoe Print"/>
              </a:rPr>
              <a:t> </a:t>
            </a:r>
            <a:r>
              <a:rPr sz="2000" dirty="0">
                <a:latin typeface="Segoe Print"/>
                <a:cs typeface="Segoe Print"/>
              </a:rPr>
              <a:t>Learning:</a:t>
            </a:r>
            <a:r>
              <a:rPr sz="2000" spc="-30" dirty="0">
                <a:latin typeface="Segoe Print"/>
                <a:cs typeface="Segoe Print"/>
              </a:rPr>
              <a:t> </a:t>
            </a:r>
            <a:r>
              <a:rPr sz="2000" dirty="0">
                <a:latin typeface="Segoe Print"/>
                <a:cs typeface="Segoe Print"/>
              </a:rPr>
              <a:t>a</a:t>
            </a:r>
            <a:r>
              <a:rPr sz="2000" spc="-35" dirty="0">
                <a:latin typeface="Segoe Print"/>
                <a:cs typeface="Segoe Print"/>
              </a:rPr>
              <a:t> </a:t>
            </a:r>
            <a:r>
              <a:rPr sz="2000" dirty="0">
                <a:latin typeface="Segoe Print"/>
                <a:cs typeface="Segoe Print"/>
              </a:rPr>
              <a:t>Probabilistic</a:t>
            </a:r>
            <a:r>
              <a:rPr sz="2000" spc="-35" dirty="0">
                <a:latin typeface="Segoe Print"/>
                <a:cs typeface="Segoe Print"/>
              </a:rPr>
              <a:t> </a:t>
            </a:r>
            <a:r>
              <a:rPr sz="2000" dirty="0">
                <a:latin typeface="Segoe Print"/>
                <a:cs typeface="Segoe Print"/>
              </a:rPr>
              <a:t>Perspective,</a:t>
            </a:r>
            <a:r>
              <a:rPr sz="2000" spc="-40" dirty="0">
                <a:latin typeface="Segoe Print"/>
                <a:cs typeface="Segoe Print"/>
              </a:rPr>
              <a:t> </a:t>
            </a:r>
            <a:r>
              <a:rPr sz="2000" dirty="0">
                <a:latin typeface="Segoe Print"/>
                <a:cs typeface="Segoe Print"/>
              </a:rPr>
              <a:t>Kevin</a:t>
            </a:r>
            <a:r>
              <a:rPr sz="2000" spc="-45" dirty="0">
                <a:latin typeface="Segoe Print"/>
                <a:cs typeface="Segoe Print"/>
              </a:rPr>
              <a:t> </a:t>
            </a:r>
            <a:r>
              <a:rPr sz="2000" spc="-10" dirty="0">
                <a:latin typeface="Segoe Print"/>
                <a:cs typeface="Segoe Print"/>
              </a:rPr>
              <a:t>Murphy</a:t>
            </a:r>
            <a:endParaRPr sz="2000">
              <a:latin typeface="Segoe Print"/>
              <a:cs typeface="Segoe Print"/>
            </a:endParaRPr>
          </a:p>
          <a:p>
            <a:pPr marL="297815" indent="-285115">
              <a:lnSpc>
                <a:spcPct val="100000"/>
              </a:lnSpc>
              <a:spcBef>
                <a:spcPts val="5"/>
              </a:spcBef>
              <a:buFont typeface="Arial MT"/>
              <a:buChar char="•"/>
              <a:tabLst>
                <a:tab pos="297815" algn="l"/>
              </a:tabLst>
            </a:pPr>
            <a:r>
              <a:rPr sz="2000" dirty="0">
                <a:latin typeface="Segoe Print"/>
                <a:cs typeface="Segoe Print"/>
              </a:rPr>
              <a:t>(TM)</a:t>
            </a:r>
            <a:r>
              <a:rPr sz="2000" spc="-40" dirty="0">
                <a:latin typeface="Segoe Print"/>
                <a:cs typeface="Segoe Print"/>
              </a:rPr>
              <a:t> </a:t>
            </a:r>
            <a:r>
              <a:rPr sz="2000" dirty="0">
                <a:latin typeface="Segoe Print"/>
                <a:cs typeface="Segoe Print"/>
              </a:rPr>
              <a:t>Machine</a:t>
            </a:r>
            <a:r>
              <a:rPr sz="2000" spc="-40" dirty="0">
                <a:latin typeface="Segoe Print"/>
                <a:cs typeface="Segoe Print"/>
              </a:rPr>
              <a:t> </a:t>
            </a:r>
            <a:r>
              <a:rPr sz="2000" dirty="0">
                <a:latin typeface="Segoe Print"/>
                <a:cs typeface="Segoe Print"/>
              </a:rPr>
              <a:t>Learning,</a:t>
            </a:r>
            <a:r>
              <a:rPr sz="2000" spc="-40" dirty="0">
                <a:latin typeface="Segoe Print"/>
                <a:cs typeface="Segoe Print"/>
              </a:rPr>
              <a:t> </a:t>
            </a:r>
            <a:r>
              <a:rPr sz="2000" dirty="0">
                <a:latin typeface="Segoe Print"/>
                <a:cs typeface="Segoe Print"/>
              </a:rPr>
              <a:t>Tom</a:t>
            </a:r>
            <a:r>
              <a:rPr sz="2000" spc="-35" dirty="0">
                <a:latin typeface="Segoe Print"/>
                <a:cs typeface="Segoe Print"/>
              </a:rPr>
              <a:t> </a:t>
            </a:r>
            <a:r>
              <a:rPr sz="2000" spc="-10" dirty="0">
                <a:latin typeface="Segoe Print"/>
                <a:cs typeface="Segoe Print"/>
              </a:rPr>
              <a:t>Mitchell</a:t>
            </a:r>
            <a:endParaRPr sz="2000">
              <a:latin typeface="Segoe Print"/>
              <a:cs typeface="Segoe Print"/>
            </a:endParaRPr>
          </a:p>
          <a:p>
            <a:pPr marL="298450" marR="701040" indent="-285750">
              <a:lnSpc>
                <a:spcPct val="100000"/>
              </a:lnSpc>
              <a:buFont typeface="Arial MT"/>
              <a:buChar char="•"/>
              <a:tabLst>
                <a:tab pos="298450" algn="l"/>
              </a:tabLst>
            </a:pPr>
            <a:r>
              <a:rPr sz="2000" dirty="0">
                <a:latin typeface="Segoe Print"/>
                <a:cs typeface="Segoe Print"/>
              </a:rPr>
              <a:t>(HTF)</a:t>
            </a:r>
            <a:r>
              <a:rPr sz="2000" spc="-65" dirty="0">
                <a:latin typeface="Segoe Print"/>
                <a:cs typeface="Segoe Print"/>
              </a:rPr>
              <a:t> </a:t>
            </a:r>
            <a:r>
              <a:rPr sz="2000" dirty="0">
                <a:latin typeface="Segoe Print"/>
                <a:cs typeface="Segoe Print"/>
              </a:rPr>
              <a:t>The</a:t>
            </a:r>
            <a:r>
              <a:rPr sz="2000" spc="-55" dirty="0">
                <a:latin typeface="Segoe Print"/>
                <a:cs typeface="Segoe Print"/>
              </a:rPr>
              <a:t> </a:t>
            </a:r>
            <a:r>
              <a:rPr sz="2000" dirty="0">
                <a:latin typeface="Segoe Print"/>
                <a:cs typeface="Segoe Print"/>
              </a:rPr>
              <a:t>Elements</a:t>
            </a:r>
            <a:r>
              <a:rPr sz="2000" spc="-70" dirty="0">
                <a:latin typeface="Segoe Print"/>
                <a:cs typeface="Segoe Print"/>
              </a:rPr>
              <a:t> </a:t>
            </a:r>
            <a:r>
              <a:rPr sz="2000" dirty="0">
                <a:latin typeface="Segoe Print"/>
                <a:cs typeface="Segoe Print"/>
              </a:rPr>
              <a:t>of</a:t>
            </a:r>
            <a:r>
              <a:rPr sz="2000" spc="-60" dirty="0">
                <a:latin typeface="Segoe Print"/>
                <a:cs typeface="Segoe Print"/>
              </a:rPr>
              <a:t> </a:t>
            </a:r>
            <a:r>
              <a:rPr sz="2000" dirty="0">
                <a:latin typeface="Segoe Print"/>
                <a:cs typeface="Segoe Print"/>
              </a:rPr>
              <a:t>Statistical</a:t>
            </a:r>
            <a:r>
              <a:rPr sz="2000" spc="-50" dirty="0">
                <a:latin typeface="Segoe Print"/>
                <a:cs typeface="Segoe Print"/>
              </a:rPr>
              <a:t> </a:t>
            </a:r>
            <a:r>
              <a:rPr sz="2000" dirty="0">
                <a:latin typeface="Segoe Print"/>
                <a:cs typeface="Segoe Print"/>
              </a:rPr>
              <a:t>Learning:</a:t>
            </a:r>
            <a:r>
              <a:rPr sz="2000" spc="-55" dirty="0">
                <a:latin typeface="Segoe Print"/>
                <a:cs typeface="Segoe Print"/>
              </a:rPr>
              <a:t> </a:t>
            </a:r>
            <a:r>
              <a:rPr sz="2000" dirty="0">
                <a:latin typeface="Segoe Print"/>
                <a:cs typeface="Segoe Print"/>
              </a:rPr>
              <a:t>Data</a:t>
            </a:r>
            <a:r>
              <a:rPr sz="2000" spc="-55" dirty="0">
                <a:latin typeface="Segoe Print"/>
                <a:cs typeface="Segoe Print"/>
              </a:rPr>
              <a:t> </a:t>
            </a:r>
            <a:r>
              <a:rPr sz="2000" dirty="0">
                <a:latin typeface="Segoe Print"/>
                <a:cs typeface="Segoe Print"/>
              </a:rPr>
              <a:t>mining,</a:t>
            </a:r>
            <a:r>
              <a:rPr sz="2000" spc="-65" dirty="0">
                <a:latin typeface="Segoe Print"/>
                <a:cs typeface="Segoe Print"/>
              </a:rPr>
              <a:t> </a:t>
            </a:r>
            <a:r>
              <a:rPr sz="2000" dirty="0">
                <a:latin typeface="Segoe Print"/>
                <a:cs typeface="Segoe Print"/>
              </a:rPr>
              <a:t>Inference,</a:t>
            </a:r>
            <a:r>
              <a:rPr sz="2000" spc="-65" dirty="0">
                <a:latin typeface="Segoe Print"/>
                <a:cs typeface="Segoe Print"/>
              </a:rPr>
              <a:t> </a:t>
            </a:r>
            <a:r>
              <a:rPr sz="2000" spc="-25" dirty="0">
                <a:latin typeface="Segoe Print"/>
                <a:cs typeface="Segoe Print"/>
              </a:rPr>
              <a:t>and </a:t>
            </a:r>
            <a:r>
              <a:rPr sz="2000" dirty="0">
                <a:latin typeface="Segoe Print"/>
                <a:cs typeface="Segoe Print"/>
              </a:rPr>
              <a:t>Prediction,</a:t>
            </a:r>
            <a:r>
              <a:rPr sz="2000" spc="-45" dirty="0">
                <a:latin typeface="Segoe Print"/>
                <a:cs typeface="Segoe Print"/>
              </a:rPr>
              <a:t> </a:t>
            </a:r>
            <a:r>
              <a:rPr sz="2000" dirty="0">
                <a:latin typeface="Segoe Print"/>
                <a:cs typeface="Segoe Print"/>
              </a:rPr>
              <a:t>by</a:t>
            </a:r>
            <a:r>
              <a:rPr sz="2000" spc="-45" dirty="0">
                <a:latin typeface="Segoe Print"/>
                <a:cs typeface="Segoe Print"/>
              </a:rPr>
              <a:t> </a:t>
            </a:r>
            <a:r>
              <a:rPr sz="2000" dirty="0">
                <a:latin typeface="Segoe Print"/>
                <a:cs typeface="Segoe Print"/>
              </a:rPr>
              <a:t>Hastie,</a:t>
            </a:r>
            <a:r>
              <a:rPr sz="2000" spc="-30" dirty="0">
                <a:latin typeface="Segoe Print"/>
                <a:cs typeface="Segoe Print"/>
              </a:rPr>
              <a:t> </a:t>
            </a:r>
            <a:r>
              <a:rPr sz="2000" dirty="0">
                <a:latin typeface="Segoe Print"/>
                <a:cs typeface="Segoe Print"/>
              </a:rPr>
              <a:t>Tibshirani,</a:t>
            </a:r>
            <a:r>
              <a:rPr sz="2000" spc="-35" dirty="0">
                <a:latin typeface="Segoe Print"/>
                <a:cs typeface="Segoe Print"/>
              </a:rPr>
              <a:t> </a:t>
            </a:r>
            <a:r>
              <a:rPr sz="2000" spc="-10" dirty="0">
                <a:latin typeface="Segoe Print"/>
                <a:cs typeface="Segoe Print"/>
              </a:rPr>
              <a:t>Friedman</a:t>
            </a:r>
            <a:endParaRPr sz="2000">
              <a:latin typeface="Segoe Print"/>
              <a:cs typeface="Segoe Print"/>
            </a:endParaRPr>
          </a:p>
          <a:p>
            <a:pPr marL="297815" indent="-285115">
              <a:lnSpc>
                <a:spcPct val="100000"/>
              </a:lnSpc>
              <a:buFont typeface="Arial MT"/>
              <a:buChar char="•"/>
              <a:tabLst>
                <a:tab pos="297815" algn="l"/>
              </a:tabLst>
            </a:pPr>
            <a:r>
              <a:rPr sz="2000" dirty="0">
                <a:latin typeface="Segoe Print"/>
                <a:cs typeface="Segoe Print"/>
              </a:rPr>
              <a:t>(DM)</a:t>
            </a:r>
            <a:r>
              <a:rPr sz="2000" spc="-65" dirty="0">
                <a:latin typeface="Segoe Print"/>
                <a:cs typeface="Segoe Print"/>
              </a:rPr>
              <a:t> </a:t>
            </a:r>
            <a:r>
              <a:rPr sz="2000" dirty="0">
                <a:latin typeface="Segoe Print"/>
                <a:cs typeface="Segoe Print"/>
              </a:rPr>
              <a:t>Information</a:t>
            </a:r>
            <a:r>
              <a:rPr sz="2000" spc="-70" dirty="0">
                <a:latin typeface="Segoe Print"/>
                <a:cs typeface="Segoe Print"/>
              </a:rPr>
              <a:t> </a:t>
            </a:r>
            <a:r>
              <a:rPr sz="2000" dirty="0">
                <a:latin typeface="Segoe Print"/>
                <a:cs typeface="Segoe Print"/>
              </a:rPr>
              <a:t>Theory,</a:t>
            </a:r>
            <a:r>
              <a:rPr sz="2000" spc="-55" dirty="0">
                <a:latin typeface="Segoe Print"/>
                <a:cs typeface="Segoe Print"/>
              </a:rPr>
              <a:t> </a:t>
            </a:r>
            <a:r>
              <a:rPr sz="2000" dirty="0">
                <a:latin typeface="Segoe Print"/>
                <a:cs typeface="Segoe Print"/>
              </a:rPr>
              <a:t>Inference,</a:t>
            </a:r>
            <a:r>
              <a:rPr sz="2000" spc="-65" dirty="0">
                <a:latin typeface="Segoe Print"/>
                <a:cs typeface="Segoe Print"/>
              </a:rPr>
              <a:t> </a:t>
            </a:r>
            <a:r>
              <a:rPr sz="2000" dirty="0">
                <a:latin typeface="Segoe Print"/>
                <a:cs typeface="Segoe Print"/>
              </a:rPr>
              <a:t>and</a:t>
            </a:r>
            <a:r>
              <a:rPr sz="2000" spc="-60" dirty="0">
                <a:latin typeface="Segoe Print"/>
                <a:cs typeface="Segoe Print"/>
              </a:rPr>
              <a:t> </a:t>
            </a:r>
            <a:r>
              <a:rPr sz="2000" dirty="0">
                <a:latin typeface="Segoe Print"/>
                <a:cs typeface="Segoe Print"/>
              </a:rPr>
              <a:t>Learning</a:t>
            </a:r>
            <a:r>
              <a:rPr sz="2000" spc="-60" dirty="0">
                <a:latin typeface="Segoe Print"/>
                <a:cs typeface="Segoe Print"/>
              </a:rPr>
              <a:t> </a:t>
            </a:r>
            <a:r>
              <a:rPr sz="2000" dirty="0">
                <a:latin typeface="Segoe Print"/>
                <a:cs typeface="Segoe Print"/>
              </a:rPr>
              <a:t>Algorithms,</a:t>
            </a:r>
            <a:r>
              <a:rPr sz="2000" spc="-65" dirty="0">
                <a:latin typeface="Segoe Print"/>
                <a:cs typeface="Segoe Print"/>
              </a:rPr>
              <a:t> </a:t>
            </a:r>
            <a:r>
              <a:rPr sz="2000" dirty="0">
                <a:latin typeface="Segoe Print"/>
                <a:cs typeface="Segoe Print"/>
              </a:rPr>
              <a:t>David</a:t>
            </a:r>
            <a:r>
              <a:rPr sz="2000" spc="-65" dirty="0">
                <a:latin typeface="Segoe Print"/>
                <a:cs typeface="Segoe Print"/>
              </a:rPr>
              <a:t> </a:t>
            </a:r>
            <a:r>
              <a:rPr sz="2000" spc="-10" dirty="0">
                <a:latin typeface="Segoe Print"/>
                <a:cs typeface="Segoe Print"/>
              </a:rPr>
              <a:t>Mackay</a:t>
            </a:r>
            <a:endParaRPr sz="2000">
              <a:latin typeface="Segoe Print"/>
              <a:cs typeface="Segoe Print"/>
            </a:endParaRPr>
          </a:p>
        </p:txBody>
      </p:sp>
      <p:sp>
        <p:nvSpPr>
          <p:cNvPr id="8" name="object 8"/>
          <p:cNvSpPr txBox="1">
            <a:spLocks noGrp="1"/>
          </p:cNvSpPr>
          <p:nvPr>
            <p:ph type="title"/>
          </p:nvPr>
        </p:nvSpPr>
        <p:spPr>
          <a:xfrm>
            <a:off x="816609" y="-228600"/>
            <a:ext cx="10515600" cy="1325563"/>
          </a:xfrm>
          <a:prstGeom prst="rect">
            <a:avLst/>
          </a:prstGeom>
        </p:spPr>
        <p:txBody>
          <a:bodyPr vert="horz" wrap="square" lIns="0" tIns="172720" rIns="0" bIns="0" rtlCol="0">
            <a:spAutoFit/>
          </a:bodyPr>
          <a:lstStyle/>
          <a:p>
            <a:pPr marL="3296920">
              <a:lnSpc>
                <a:spcPct val="100000"/>
              </a:lnSpc>
              <a:spcBef>
                <a:spcPts val="100"/>
              </a:spcBef>
            </a:pPr>
            <a:r>
              <a:rPr spc="-10" dirty="0"/>
              <a:t>Suggested</a:t>
            </a:r>
            <a:r>
              <a:rPr spc="-130" dirty="0"/>
              <a:t> </a:t>
            </a:r>
            <a:r>
              <a:rPr spc="-20" dirty="0"/>
              <a:t>Reference</a:t>
            </a:r>
            <a:r>
              <a:rPr spc="-140" dirty="0"/>
              <a:t> </a:t>
            </a:r>
            <a:r>
              <a:rPr spc="-10" dirty="0"/>
              <a:t>Books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65334" y="4151800"/>
            <a:ext cx="5126665" cy="2706200"/>
          </a:xfrm>
          <a:prstGeom prst="rect">
            <a:avLst/>
          </a:prstGeom>
        </p:spPr>
      </p:pic>
      <p:sp>
        <p:nvSpPr>
          <p:cNvPr id="3" name="object 3"/>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16933">
              <a:lnSpc>
                <a:spcPct val="100000"/>
              </a:lnSpc>
              <a:spcBef>
                <a:spcPts val="133"/>
              </a:spcBef>
            </a:pPr>
            <a:r>
              <a:rPr spc="-667" dirty="0"/>
              <a:t>What</a:t>
            </a:r>
            <a:r>
              <a:rPr spc="-467" dirty="0"/>
              <a:t> </a:t>
            </a:r>
            <a:r>
              <a:rPr spc="-387" dirty="0"/>
              <a:t>is</a:t>
            </a:r>
            <a:r>
              <a:rPr spc="-460" dirty="0"/>
              <a:t> </a:t>
            </a:r>
            <a:r>
              <a:rPr spc="-679" dirty="0"/>
              <a:t>machine</a:t>
            </a:r>
            <a:r>
              <a:rPr spc="-460" dirty="0"/>
              <a:t> </a:t>
            </a:r>
            <a:r>
              <a:rPr spc="-513" dirty="0"/>
              <a:t>learning?</a:t>
            </a:r>
          </a:p>
        </p:txBody>
      </p:sp>
      <p:sp>
        <p:nvSpPr>
          <p:cNvPr id="4" name="object 4"/>
          <p:cNvSpPr txBox="1"/>
          <p:nvPr/>
        </p:nvSpPr>
        <p:spPr>
          <a:xfrm>
            <a:off x="633666" y="1720267"/>
            <a:ext cx="11034607" cy="4036019"/>
          </a:xfrm>
          <a:prstGeom prst="rect">
            <a:avLst/>
          </a:prstGeom>
        </p:spPr>
        <p:txBody>
          <a:bodyPr vert="horz" wrap="square" lIns="0" tIns="16933" rIns="0" bIns="0" rtlCol="0">
            <a:spAutoFit/>
          </a:bodyPr>
          <a:lstStyle/>
          <a:p>
            <a:pPr marL="505447" marR="1218323" indent="-489361">
              <a:lnSpc>
                <a:spcPct val="114599"/>
              </a:lnSpc>
              <a:spcBef>
                <a:spcPts val="133"/>
              </a:spcBef>
              <a:buFont typeface="Arial"/>
              <a:buChar char="●"/>
              <a:tabLst>
                <a:tab pos="505447" algn="l"/>
              </a:tabLst>
            </a:pPr>
            <a:r>
              <a:rPr sz="2400" spc="-113" dirty="0">
                <a:solidFill>
                  <a:srgbClr val="685D46"/>
                </a:solidFill>
                <a:latin typeface="Arial Black"/>
                <a:cs typeface="Arial Black"/>
              </a:rPr>
              <a:t>Artificial</a:t>
            </a:r>
            <a:r>
              <a:rPr sz="2400" spc="-160" dirty="0">
                <a:solidFill>
                  <a:srgbClr val="685D46"/>
                </a:solidFill>
                <a:latin typeface="Arial Black"/>
                <a:cs typeface="Arial Black"/>
              </a:rPr>
              <a:t> </a:t>
            </a:r>
            <a:r>
              <a:rPr sz="2400" spc="-140" dirty="0">
                <a:solidFill>
                  <a:srgbClr val="685D46"/>
                </a:solidFill>
                <a:latin typeface="Arial Black"/>
                <a:cs typeface="Arial Black"/>
              </a:rPr>
              <a:t>intelligence:</a:t>
            </a:r>
            <a:r>
              <a:rPr sz="2400" spc="-152" dirty="0">
                <a:solidFill>
                  <a:srgbClr val="685D46"/>
                </a:solidFill>
                <a:latin typeface="Arial Black"/>
                <a:cs typeface="Arial Black"/>
              </a:rPr>
              <a:t> </a:t>
            </a:r>
            <a:r>
              <a:rPr sz="2400" dirty="0">
                <a:solidFill>
                  <a:srgbClr val="685D46"/>
                </a:solidFill>
                <a:latin typeface="Arial MT"/>
                <a:cs typeface="Arial MT"/>
              </a:rPr>
              <a:t>The</a:t>
            </a:r>
            <a:r>
              <a:rPr sz="2400" spc="-20" dirty="0">
                <a:solidFill>
                  <a:srgbClr val="685D46"/>
                </a:solidFill>
                <a:latin typeface="Arial MT"/>
                <a:cs typeface="Arial MT"/>
              </a:rPr>
              <a:t> </a:t>
            </a:r>
            <a:r>
              <a:rPr sz="2400" spc="60" dirty="0">
                <a:solidFill>
                  <a:srgbClr val="685D46"/>
                </a:solidFill>
                <a:latin typeface="Arial MT"/>
                <a:cs typeface="Arial MT"/>
              </a:rPr>
              <a:t>ability</a:t>
            </a:r>
            <a:r>
              <a:rPr sz="2400" spc="-33" dirty="0">
                <a:solidFill>
                  <a:srgbClr val="685D46"/>
                </a:solidFill>
                <a:latin typeface="Arial MT"/>
                <a:cs typeface="Arial MT"/>
              </a:rPr>
              <a:t> </a:t>
            </a:r>
            <a:r>
              <a:rPr sz="2400" spc="127" dirty="0">
                <a:solidFill>
                  <a:srgbClr val="685D46"/>
                </a:solidFill>
                <a:latin typeface="Arial MT"/>
                <a:cs typeface="Arial MT"/>
              </a:rPr>
              <a:t>of</a:t>
            </a:r>
            <a:r>
              <a:rPr sz="2400" spc="-33" dirty="0">
                <a:solidFill>
                  <a:srgbClr val="685D46"/>
                </a:solidFill>
                <a:latin typeface="Arial MT"/>
                <a:cs typeface="Arial MT"/>
              </a:rPr>
              <a:t> </a:t>
            </a:r>
            <a:r>
              <a:rPr sz="2400" dirty="0">
                <a:solidFill>
                  <a:srgbClr val="685D46"/>
                </a:solidFill>
                <a:latin typeface="Arial MT"/>
                <a:cs typeface="Arial MT"/>
              </a:rPr>
              <a:t>a</a:t>
            </a:r>
            <a:r>
              <a:rPr sz="2400" spc="-20" dirty="0">
                <a:solidFill>
                  <a:srgbClr val="685D46"/>
                </a:solidFill>
                <a:latin typeface="Arial MT"/>
                <a:cs typeface="Arial MT"/>
              </a:rPr>
              <a:t> </a:t>
            </a:r>
            <a:r>
              <a:rPr sz="2400" spc="107" dirty="0">
                <a:solidFill>
                  <a:srgbClr val="685D46"/>
                </a:solidFill>
                <a:latin typeface="Arial MT"/>
                <a:cs typeface="Arial MT"/>
              </a:rPr>
              <a:t>computer</a:t>
            </a:r>
            <a:r>
              <a:rPr sz="2400" spc="-27" dirty="0">
                <a:solidFill>
                  <a:srgbClr val="685D46"/>
                </a:solidFill>
                <a:latin typeface="Arial MT"/>
                <a:cs typeface="Arial MT"/>
              </a:rPr>
              <a:t> </a:t>
            </a:r>
            <a:r>
              <a:rPr sz="2400" spc="140" dirty="0">
                <a:solidFill>
                  <a:srgbClr val="685D46"/>
                </a:solidFill>
                <a:latin typeface="Arial MT"/>
                <a:cs typeface="Arial MT"/>
              </a:rPr>
              <a:t>to</a:t>
            </a:r>
            <a:r>
              <a:rPr sz="2400" spc="-20" dirty="0">
                <a:solidFill>
                  <a:srgbClr val="685D46"/>
                </a:solidFill>
                <a:latin typeface="Arial MT"/>
                <a:cs typeface="Arial MT"/>
              </a:rPr>
              <a:t> </a:t>
            </a:r>
            <a:r>
              <a:rPr sz="2400" spc="133" dirty="0">
                <a:solidFill>
                  <a:srgbClr val="685D46"/>
                </a:solidFill>
                <a:latin typeface="Arial MT"/>
                <a:cs typeface="Arial MT"/>
              </a:rPr>
              <a:t>perform</a:t>
            </a:r>
            <a:r>
              <a:rPr sz="2400" spc="-27" dirty="0">
                <a:solidFill>
                  <a:srgbClr val="685D46"/>
                </a:solidFill>
                <a:latin typeface="Arial MT"/>
                <a:cs typeface="Arial MT"/>
              </a:rPr>
              <a:t> </a:t>
            </a:r>
            <a:r>
              <a:rPr sz="2400" spc="-13" dirty="0">
                <a:solidFill>
                  <a:srgbClr val="685D46"/>
                </a:solidFill>
                <a:latin typeface="Arial MT"/>
                <a:cs typeface="Arial MT"/>
              </a:rPr>
              <a:t>tasks </a:t>
            </a:r>
            <a:r>
              <a:rPr sz="2400" spc="87" dirty="0">
                <a:solidFill>
                  <a:srgbClr val="685D46"/>
                </a:solidFill>
                <a:latin typeface="Arial MT"/>
                <a:cs typeface="Arial MT"/>
              </a:rPr>
              <a:t>commonly</a:t>
            </a:r>
            <a:r>
              <a:rPr sz="2400" spc="33" dirty="0">
                <a:solidFill>
                  <a:srgbClr val="685D46"/>
                </a:solidFill>
                <a:latin typeface="Arial MT"/>
                <a:cs typeface="Arial MT"/>
              </a:rPr>
              <a:t> </a:t>
            </a:r>
            <a:r>
              <a:rPr sz="2400" dirty="0">
                <a:solidFill>
                  <a:srgbClr val="685D46"/>
                </a:solidFill>
                <a:latin typeface="Arial MT"/>
                <a:cs typeface="Arial MT"/>
              </a:rPr>
              <a:t>associated</a:t>
            </a:r>
            <a:r>
              <a:rPr sz="2400" spc="33" dirty="0">
                <a:solidFill>
                  <a:srgbClr val="685D46"/>
                </a:solidFill>
                <a:latin typeface="Arial MT"/>
                <a:cs typeface="Arial MT"/>
              </a:rPr>
              <a:t> </a:t>
            </a:r>
            <a:r>
              <a:rPr sz="2400" spc="120" dirty="0">
                <a:solidFill>
                  <a:srgbClr val="685D46"/>
                </a:solidFill>
                <a:latin typeface="Arial MT"/>
                <a:cs typeface="Arial MT"/>
              </a:rPr>
              <a:t>with</a:t>
            </a:r>
            <a:r>
              <a:rPr sz="2400" spc="33" dirty="0">
                <a:solidFill>
                  <a:srgbClr val="685D46"/>
                </a:solidFill>
                <a:latin typeface="Arial MT"/>
                <a:cs typeface="Arial MT"/>
              </a:rPr>
              <a:t> </a:t>
            </a:r>
            <a:r>
              <a:rPr sz="2400" spc="80" dirty="0">
                <a:solidFill>
                  <a:srgbClr val="685D46"/>
                </a:solidFill>
                <a:latin typeface="Arial MT"/>
                <a:cs typeface="Arial MT"/>
              </a:rPr>
              <a:t>intelligent</a:t>
            </a:r>
            <a:r>
              <a:rPr sz="2400" spc="47" dirty="0">
                <a:solidFill>
                  <a:srgbClr val="685D46"/>
                </a:solidFill>
                <a:latin typeface="Arial MT"/>
                <a:cs typeface="Arial MT"/>
              </a:rPr>
              <a:t> </a:t>
            </a:r>
            <a:r>
              <a:rPr sz="2400" spc="-13" dirty="0">
                <a:solidFill>
                  <a:srgbClr val="685D46"/>
                </a:solidFill>
                <a:latin typeface="Arial MT"/>
                <a:cs typeface="Arial MT"/>
              </a:rPr>
              <a:t>beings.</a:t>
            </a:r>
            <a:endParaRPr sz="2400">
              <a:latin typeface="Arial MT"/>
              <a:cs typeface="Arial MT"/>
            </a:endParaRPr>
          </a:p>
          <a:p>
            <a:pPr marL="1115031" lvl="1" indent="-447875">
              <a:spcBef>
                <a:spcPts val="440"/>
              </a:spcBef>
              <a:buFont typeface="Tahoma"/>
              <a:buChar char="○"/>
              <a:tabLst>
                <a:tab pos="1115031" algn="l"/>
              </a:tabLst>
            </a:pPr>
            <a:r>
              <a:rPr sz="1867" dirty="0">
                <a:solidFill>
                  <a:srgbClr val="685D46"/>
                </a:solidFill>
                <a:latin typeface="Arial MT"/>
                <a:cs typeface="Arial MT"/>
              </a:rPr>
              <a:t>Turing</a:t>
            </a:r>
            <a:r>
              <a:rPr sz="1867" spc="-7" dirty="0">
                <a:solidFill>
                  <a:srgbClr val="685D46"/>
                </a:solidFill>
                <a:latin typeface="Arial MT"/>
                <a:cs typeface="Arial MT"/>
              </a:rPr>
              <a:t> </a:t>
            </a:r>
            <a:r>
              <a:rPr sz="1867" spc="-13" dirty="0">
                <a:solidFill>
                  <a:srgbClr val="685D46"/>
                </a:solidFill>
                <a:latin typeface="Arial MT"/>
                <a:cs typeface="Arial MT"/>
              </a:rPr>
              <a:t>Test,</a:t>
            </a:r>
            <a:r>
              <a:rPr sz="1867" spc="-7" dirty="0">
                <a:solidFill>
                  <a:srgbClr val="685D46"/>
                </a:solidFill>
                <a:latin typeface="Arial MT"/>
                <a:cs typeface="Arial MT"/>
              </a:rPr>
              <a:t> </a:t>
            </a:r>
            <a:r>
              <a:rPr sz="1867" dirty="0">
                <a:solidFill>
                  <a:srgbClr val="685D46"/>
                </a:solidFill>
                <a:latin typeface="Arial MT"/>
                <a:cs typeface="Arial MT"/>
              </a:rPr>
              <a:t>1950: </a:t>
            </a:r>
            <a:r>
              <a:rPr sz="1867" i="1" spc="-160" dirty="0">
                <a:solidFill>
                  <a:srgbClr val="685D46"/>
                </a:solidFill>
                <a:latin typeface="Trebuchet MS"/>
                <a:cs typeface="Trebuchet MS"/>
              </a:rPr>
              <a:t>“Are</a:t>
            </a:r>
            <a:r>
              <a:rPr sz="1867" i="1" spc="-47" dirty="0">
                <a:solidFill>
                  <a:srgbClr val="685D46"/>
                </a:solidFill>
                <a:latin typeface="Trebuchet MS"/>
                <a:cs typeface="Trebuchet MS"/>
              </a:rPr>
              <a:t> </a:t>
            </a:r>
            <a:r>
              <a:rPr sz="1867" i="1" spc="-87" dirty="0">
                <a:solidFill>
                  <a:srgbClr val="685D46"/>
                </a:solidFill>
                <a:latin typeface="Trebuchet MS"/>
                <a:cs typeface="Trebuchet MS"/>
              </a:rPr>
              <a:t>there</a:t>
            </a:r>
            <a:r>
              <a:rPr sz="1867" i="1" spc="-47" dirty="0">
                <a:solidFill>
                  <a:srgbClr val="685D46"/>
                </a:solidFill>
                <a:latin typeface="Trebuchet MS"/>
                <a:cs typeface="Trebuchet MS"/>
              </a:rPr>
              <a:t> </a:t>
            </a:r>
            <a:r>
              <a:rPr sz="1867" i="1" spc="-13" dirty="0">
                <a:solidFill>
                  <a:srgbClr val="685D46"/>
                </a:solidFill>
                <a:latin typeface="Trebuchet MS"/>
                <a:cs typeface="Trebuchet MS"/>
              </a:rPr>
              <a:t>imaginable</a:t>
            </a:r>
            <a:r>
              <a:rPr sz="1867" i="1" spc="-47" dirty="0">
                <a:solidFill>
                  <a:srgbClr val="685D46"/>
                </a:solidFill>
                <a:latin typeface="Trebuchet MS"/>
                <a:cs typeface="Trebuchet MS"/>
              </a:rPr>
              <a:t> </a:t>
            </a:r>
            <a:r>
              <a:rPr sz="1867" i="1" spc="-73" dirty="0">
                <a:solidFill>
                  <a:srgbClr val="685D46"/>
                </a:solidFill>
                <a:latin typeface="Trebuchet MS"/>
                <a:cs typeface="Trebuchet MS"/>
              </a:rPr>
              <a:t>digital</a:t>
            </a:r>
            <a:r>
              <a:rPr sz="1867" i="1" spc="-53" dirty="0">
                <a:solidFill>
                  <a:srgbClr val="685D46"/>
                </a:solidFill>
                <a:latin typeface="Trebuchet MS"/>
                <a:cs typeface="Trebuchet MS"/>
              </a:rPr>
              <a:t> </a:t>
            </a:r>
            <a:r>
              <a:rPr sz="1867" i="1" spc="-13" dirty="0">
                <a:solidFill>
                  <a:srgbClr val="685D46"/>
                </a:solidFill>
                <a:latin typeface="Trebuchet MS"/>
                <a:cs typeface="Trebuchet MS"/>
              </a:rPr>
              <a:t>computers</a:t>
            </a:r>
            <a:r>
              <a:rPr sz="1867" i="1" spc="-47" dirty="0">
                <a:solidFill>
                  <a:srgbClr val="685D46"/>
                </a:solidFill>
                <a:latin typeface="Trebuchet MS"/>
                <a:cs typeface="Trebuchet MS"/>
              </a:rPr>
              <a:t> </a:t>
            </a:r>
            <a:r>
              <a:rPr sz="1867" i="1" spc="-27" dirty="0">
                <a:solidFill>
                  <a:srgbClr val="685D46"/>
                </a:solidFill>
                <a:latin typeface="Trebuchet MS"/>
                <a:cs typeface="Trebuchet MS"/>
              </a:rPr>
              <a:t>which</a:t>
            </a:r>
            <a:r>
              <a:rPr sz="1867" i="1" spc="-47" dirty="0">
                <a:solidFill>
                  <a:srgbClr val="685D46"/>
                </a:solidFill>
                <a:latin typeface="Trebuchet MS"/>
                <a:cs typeface="Trebuchet MS"/>
              </a:rPr>
              <a:t> </a:t>
            </a:r>
            <a:r>
              <a:rPr sz="1867" i="1" spc="-13" dirty="0">
                <a:solidFill>
                  <a:srgbClr val="685D46"/>
                </a:solidFill>
                <a:latin typeface="Trebuchet MS"/>
                <a:cs typeface="Trebuchet MS"/>
              </a:rPr>
              <a:t>would</a:t>
            </a:r>
            <a:r>
              <a:rPr sz="1867" i="1" spc="-40" dirty="0">
                <a:solidFill>
                  <a:srgbClr val="685D46"/>
                </a:solidFill>
                <a:latin typeface="Trebuchet MS"/>
                <a:cs typeface="Trebuchet MS"/>
              </a:rPr>
              <a:t> </a:t>
            </a:r>
            <a:r>
              <a:rPr sz="1867" i="1" dirty="0">
                <a:solidFill>
                  <a:srgbClr val="685D46"/>
                </a:solidFill>
                <a:latin typeface="Trebuchet MS"/>
                <a:cs typeface="Trebuchet MS"/>
              </a:rPr>
              <a:t>do</a:t>
            </a:r>
            <a:r>
              <a:rPr sz="1867" i="1" spc="-47" dirty="0">
                <a:solidFill>
                  <a:srgbClr val="685D46"/>
                </a:solidFill>
                <a:latin typeface="Trebuchet MS"/>
                <a:cs typeface="Trebuchet MS"/>
              </a:rPr>
              <a:t> </a:t>
            </a:r>
            <a:r>
              <a:rPr sz="1867" i="1" spc="-113" dirty="0">
                <a:solidFill>
                  <a:srgbClr val="685D46"/>
                </a:solidFill>
                <a:latin typeface="Trebuchet MS"/>
                <a:cs typeface="Trebuchet MS"/>
              </a:rPr>
              <a:t>well</a:t>
            </a:r>
            <a:r>
              <a:rPr sz="1867" i="1" spc="-53" dirty="0">
                <a:solidFill>
                  <a:srgbClr val="685D46"/>
                </a:solidFill>
                <a:latin typeface="Trebuchet MS"/>
                <a:cs typeface="Trebuchet MS"/>
              </a:rPr>
              <a:t> </a:t>
            </a:r>
            <a:r>
              <a:rPr sz="1867" i="1" dirty="0">
                <a:solidFill>
                  <a:srgbClr val="685D46"/>
                </a:solidFill>
                <a:latin typeface="Trebuchet MS"/>
                <a:cs typeface="Trebuchet MS"/>
              </a:rPr>
              <a:t>in</a:t>
            </a:r>
            <a:r>
              <a:rPr sz="1867" i="1" spc="-47" dirty="0">
                <a:solidFill>
                  <a:srgbClr val="685D46"/>
                </a:solidFill>
                <a:latin typeface="Trebuchet MS"/>
                <a:cs typeface="Trebuchet MS"/>
              </a:rPr>
              <a:t> </a:t>
            </a:r>
            <a:r>
              <a:rPr sz="1867" i="1" spc="-33" dirty="0">
                <a:solidFill>
                  <a:srgbClr val="685D46"/>
                </a:solidFill>
                <a:latin typeface="Trebuchet MS"/>
                <a:cs typeface="Trebuchet MS"/>
              </a:rPr>
              <a:t>the</a:t>
            </a:r>
            <a:endParaRPr sz="1867">
              <a:latin typeface="Trebuchet MS"/>
              <a:cs typeface="Trebuchet MS"/>
            </a:endParaRPr>
          </a:p>
          <a:p>
            <a:pPr marL="1115031">
              <a:spcBef>
                <a:spcPts val="360"/>
              </a:spcBef>
            </a:pPr>
            <a:r>
              <a:rPr sz="1867" spc="80" dirty="0">
                <a:solidFill>
                  <a:srgbClr val="685D46"/>
                </a:solidFill>
                <a:latin typeface="Arial MT"/>
                <a:cs typeface="Arial MT"/>
              </a:rPr>
              <a:t>imitation</a:t>
            </a:r>
            <a:r>
              <a:rPr sz="1867" spc="13" dirty="0">
                <a:solidFill>
                  <a:srgbClr val="685D46"/>
                </a:solidFill>
                <a:latin typeface="Arial MT"/>
                <a:cs typeface="Arial MT"/>
              </a:rPr>
              <a:t> </a:t>
            </a:r>
            <a:r>
              <a:rPr sz="1867" spc="-13" dirty="0">
                <a:solidFill>
                  <a:srgbClr val="685D46"/>
                </a:solidFill>
                <a:latin typeface="Arial MT"/>
                <a:cs typeface="Arial MT"/>
              </a:rPr>
              <a:t>game</a:t>
            </a:r>
            <a:r>
              <a:rPr sz="1867" i="1" spc="-13" dirty="0">
                <a:solidFill>
                  <a:srgbClr val="685D46"/>
                </a:solidFill>
                <a:latin typeface="Trebuchet MS"/>
                <a:cs typeface="Trebuchet MS"/>
              </a:rPr>
              <a:t>?”</a:t>
            </a:r>
            <a:endParaRPr sz="1867">
              <a:latin typeface="Trebuchet MS"/>
              <a:cs typeface="Trebuchet MS"/>
            </a:endParaRPr>
          </a:p>
          <a:p>
            <a:pPr marL="505447" marR="6773" indent="-489361">
              <a:lnSpc>
                <a:spcPts val="3307"/>
              </a:lnSpc>
              <a:spcBef>
                <a:spcPts val="93"/>
              </a:spcBef>
              <a:buFont typeface="Arial"/>
              <a:buChar char="●"/>
              <a:tabLst>
                <a:tab pos="505447" algn="l"/>
              </a:tabLst>
            </a:pPr>
            <a:r>
              <a:rPr sz="2400" spc="-140" dirty="0">
                <a:solidFill>
                  <a:srgbClr val="685D46"/>
                </a:solidFill>
                <a:latin typeface="Arial Black"/>
                <a:cs typeface="Arial Black"/>
              </a:rPr>
              <a:t>Machine</a:t>
            </a:r>
            <a:r>
              <a:rPr sz="2400" spc="-173" dirty="0">
                <a:solidFill>
                  <a:srgbClr val="685D46"/>
                </a:solidFill>
                <a:latin typeface="Arial Black"/>
                <a:cs typeface="Arial Black"/>
              </a:rPr>
              <a:t> </a:t>
            </a:r>
            <a:r>
              <a:rPr sz="2400" spc="-113" dirty="0">
                <a:solidFill>
                  <a:srgbClr val="685D46"/>
                </a:solidFill>
                <a:latin typeface="Arial Black"/>
                <a:cs typeface="Arial Black"/>
              </a:rPr>
              <a:t>learning:</a:t>
            </a:r>
            <a:r>
              <a:rPr sz="2400" spc="-152" dirty="0">
                <a:solidFill>
                  <a:srgbClr val="685D46"/>
                </a:solidFill>
                <a:latin typeface="Arial Black"/>
                <a:cs typeface="Arial Black"/>
              </a:rPr>
              <a:t> </a:t>
            </a:r>
            <a:r>
              <a:rPr sz="2400" dirty="0">
                <a:solidFill>
                  <a:srgbClr val="685D46"/>
                </a:solidFill>
                <a:latin typeface="Arial MT"/>
                <a:cs typeface="Arial MT"/>
              </a:rPr>
              <a:t>“Field</a:t>
            </a:r>
            <a:r>
              <a:rPr sz="2400" spc="-40" dirty="0">
                <a:solidFill>
                  <a:srgbClr val="685D46"/>
                </a:solidFill>
                <a:latin typeface="Arial MT"/>
                <a:cs typeface="Arial MT"/>
              </a:rPr>
              <a:t> </a:t>
            </a:r>
            <a:r>
              <a:rPr sz="2400" spc="127" dirty="0">
                <a:solidFill>
                  <a:srgbClr val="685D46"/>
                </a:solidFill>
                <a:latin typeface="Arial MT"/>
                <a:cs typeface="Arial MT"/>
              </a:rPr>
              <a:t>of</a:t>
            </a:r>
            <a:r>
              <a:rPr sz="2400" spc="-40" dirty="0">
                <a:solidFill>
                  <a:srgbClr val="685D46"/>
                </a:solidFill>
                <a:latin typeface="Arial MT"/>
                <a:cs typeface="Arial MT"/>
              </a:rPr>
              <a:t> </a:t>
            </a:r>
            <a:r>
              <a:rPr sz="2400" spc="73" dirty="0">
                <a:solidFill>
                  <a:srgbClr val="685D46"/>
                </a:solidFill>
                <a:latin typeface="Arial MT"/>
                <a:cs typeface="Arial MT"/>
              </a:rPr>
              <a:t>study</a:t>
            </a:r>
            <a:r>
              <a:rPr sz="2400" spc="-40" dirty="0">
                <a:solidFill>
                  <a:srgbClr val="685D46"/>
                </a:solidFill>
                <a:latin typeface="Arial MT"/>
                <a:cs typeface="Arial MT"/>
              </a:rPr>
              <a:t> </a:t>
            </a:r>
            <a:r>
              <a:rPr sz="2400" spc="120" dirty="0">
                <a:solidFill>
                  <a:srgbClr val="685D46"/>
                </a:solidFill>
                <a:latin typeface="Arial MT"/>
                <a:cs typeface="Arial MT"/>
              </a:rPr>
              <a:t>that</a:t>
            </a:r>
            <a:r>
              <a:rPr sz="2400" spc="-33" dirty="0">
                <a:solidFill>
                  <a:srgbClr val="685D46"/>
                </a:solidFill>
                <a:latin typeface="Arial MT"/>
                <a:cs typeface="Arial MT"/>
              </a:rPr>
              <a:t> </a:t>
            </a:r>
            <a:r>
              <a:rPr sz="2400" dirty="0">
                <a:solidFill>
                  <a:srgbClr val="685D46"/>
                </a:solidFill>
                <a:latin typeface="Arial MT"/>
                <a:cs typeface="Arial MT"/>
              </a:rPr>
              <a:t>gives</a:t>
            </a:r>
            <a:r>
              <a:rPr sz="2400" spc="-33" dirty="0">
                <a:solidFill>
                  <a:srgbClr val="685D46"/>
                </a:solidFill>
                <a:latin typeface="Arial MT"/>
                <a:cs typeface="Arial MT"/>
              </a:rPr>
              <a:t> </a:t>
            </a:r>
            <a:r>
              <a:rPr sz="2400" spc="80" dirty="0">
                <a:solidFill>
                  <a:srgbClr val="685D46"/>
                </a:solidFill>
                <a:latin typeface="Arial MT"/>
                <a:cs typeface="Arial MT"/>
              </a:rPr>
              <a:t>computers</a:t>
            </a:r>
            <a:r>
              <a:rPr sz="2400" spc="-33" dirty="0">
                <a:solidFill>
                  <a:srgbClr val="685D46"/>
                </a:solidFill>
                <a:latin typeface="Arial MT"/>
                <a:cs typeface="Arial MT"/>
              </a:rPr>
              <a:t> </a:t>
            </a:r>
            <a:r>
              <a:rPr sz="2400" spc="107" dirty="0">
                <a:solidFill>
                  <a:srgbClr val="685D46"/>
                </a:solidFill>
                <a:latin typeface="Arial MT"/>
                <a:cs typeface="Arial MT"/>
              </a:rPr>
              <a:t>the</a:t>
            </a:r>
            <a:r>
              <a:rPr sz="2400" spc="-33" dirty="0">
                <a:solidFill>
                  <a:srgbClr val="685D46"/>
                </a:solidFill>
                <a:latin typeface="Arial MT"/>
                <a:cs typeface="Arial MT"/>
              </a:rPr>
              <a:t> </a:t>
            </a:r>
            <a:r>
              <a:rPr sz="2400" spc="60" dirty="0">
                <a:solidFill>
                  <a:srgbClr val="685D46"/>
                </a:solidFill>
                <a:latin typeface="Arial MT"/>
                <a:cs typeface="Arial MT"/>
              </a:rPr>
              <a:t>ability</a:t>
            </a:r>
            <a:r>
              <a:rPr sz="2400" spc="-40" dirty="0">
                <a:solidFill>
                  <a:srgbClr val="685D46"/>
                </a:solidFill>
                <a:latin typeface="Arial MT"/>
                <a:cs typeface="Arial MT"/>
              </a:rPr>
              <a:t> </a:t>
            </a:r>
            <a:r>
              <a:rPr sz="2400" spc="140" dirty="0">
                <a:solidFill>
                  <a:srgbClr val="685D46"/>
                </a:solidFill>
                <a:latin typeface="Arial MT"/>
                <a:cs typeface="Arial MT"/>
              </a:rPr>
              <a:t>to</a:t>
            </a:r>
            <a:r>
              <a:rPr sz="2400" spc="-27" dirty="0">
                <a:solidFill>
                  <a:srgbClr val="685D46"/>
                </a:solidFill>
                <a:latin typeface="Arial MT"/>
                <a:cs typeface="Arial MT"/>
              </a:rPr>
              <a:t> </a:t>
            </a:r>
            <a:r>
              <a:rPr sz="2400" spc="53" dirty="0">
                <a:solidFill>
                  <a:srgbClr val="685D46"/>
                </a:solidFill>
                <a:latin typeface="Arial MT"/>
                <a:cs typeface="Arial MT"/>
              </a:rPr>
              <a:t>learn </a:t>
            </a:r>
            <a:r>
              <a:rPr sz="2400" spc="127" dirty="0">
                <a:solidFill>
                  <a:srgbClr val="685D46"/>
                </a:solidFill>
                <a:latin typeface="Arial MT"/>
                <a:cs typeface="Arial MT"/>
              </a:rPr>
              <a:t>without</a:t>
            </a:r>
            <a:r>
              <a:rPr sz="2400" spc="100" dirty="0">
                <a:solidFill>
                  <a:srgbClr val="685D46"/>
                </a:solidFill>
                <a:latin typeface="Arial MT"/>
                <a:cs typeface="Arial MT"/>
              </a:rPr>
              <a:t> </a:t>
            </a:r>
            <a:r>
              <a:rPr sz="2400" dirty="0">
                <a:solidFill>
                  <a:srgbClr val="685D46"/>
                </a:solidFill>
                <a:latin typeface="Arial MT"/>
                <a:cs typeface="Arial MT"/>
              </a:rPr>
              <a:t>being</a:t>
            </a:r>
            <a:r>
              <a:rPr sz="2400" spc="100" dirty="0">
                <a:solidFill>
                  <a:srgbClr val="685D46"/>
                </a:solidFill>
                <a:latin typeface="Arial MT"/>
                <a:cs typeface="Arial MT"/>
              </a:rPr>
              <a:t> </a:t>
            </a:r>
            <a:r>
              <a:rPr sz="2400" dirty="0">
                <a:solidFill>
                  <a:srgbClr val="685D46"/>
                </a:solidFill>
                <a:latin typeface="Arial MT"/>
                <a:cs typeface="Arial MT"/>
              </a:rPr>
              <a:t>explicitly</a:t>
            </a:r>
            <a:r>
              <a:rPr sz="2400" spc="107" dirty="0">
                <a:solidFill>
                  <a:srgbClr val="685D46"/>
                </a:solidFill>
                <a:latin typeface="Arial MT"/>
                <a:cs typeface="Arial MT"/>
              </a:rPr>
              <a:t> </a:t>
            </a:r>
            <a:r>
              <a:rPr sz="2400" spc="93" dirty="0">
                <a:solidFill>
                  <a:srgbClr val="685D46"/>
                </a:solidFill>
                <a:latin typeface="Arial MT"/>
                <a:cs typeface="Arial MT"/>
              </a:rPr>
              <a:t>programmed.”</a:t>
            </a:r>
            <a:r>
              <a:rPr sz="2400" spc="113" dirty="0">
                <a:solidFill>
                  <a:srgbClr val="685D46"/>
                </a:solidFill>
                <a:latin typeface="Arial MT"/>
                <a:cs typeface="Arial MT"/>
              </a:rPr>
              <a:t> </a:t>
            </a:r>
            <a:r>
              <a:rPr sz="2400" spc="73" dirty="0">
                <a:solidFill>
                  <a:srgbClr val="685D46"/>
                </a:solidFill>
                <a:latin typeface="Arial MT"/>
                <a:cs typeface="Arial MT"/>
              </a:rPr>
              <a:t>(Arthur</a:t>
            </a:r>
            <a:r>
              <a:rPr sz="2400" spc="113" dirty="0">
                <a:solidFill>
                  <a:srgbClr val="685D46"/>
                </a:solidFill>
                <a:latin typeface="Arial MT"/>
                <a:cs typeface="Arial MT"/>
              </a:rPr>
              <a:t> </a:t>
            </a:r>
            <a:r>
              <a:rPr sz="2400" dirty="0">
                <a:solidFill>
                  <a:srgbClr val="685D46"/>
                </a:solidFill>
                <a:latin typeface="Arial MT"/>
                <a:cs typeface="Arial MT"/>
              </a:rPr>
              <a:t>Samuel,</a:t>
            </a:r>
            <a:r>
              <a:rPr sz="2400" spc="120" dirty="0">
                <a:solidFill>
                  <a:srgbClr val="685D46"/>
                </a:solidFill>
                <a:latin typeface="Arial MT"/>
                <a:cs typeface="Arial MT"/>
              </a:rPr>
              <a:t> </a:t>
            </a:r>
            <a:r>
              <a:rPr sz="2400" spc="-13" dirty="0">
                <a:solidFill>
                  <a:srgbClr val="685D46"/>
                </a:solidFill>
                <a:latin typeface="Arial MT"/>
                <a:cs typeface="Arial MT"/>
              </a:rPr>
              <a:t>1959)</a:t>
            </a:r>
            <a:endParaRPr sz="2400">
              <a:latin typeface="Arial MT"/>
              <a:cs typeface="Arial MT"/>
            </a:endParaRPr>
          </a:p>
          <a:p>
            <a:pPr marL="505447" indent="-488514">
              <a:spcBef>
                <a:spcPts val="233"/>
              </a:spcBef>
              <a:buFont typeface="Arial"/>
              <a:buChar char="●"/>
              <a:tabLst>
                <a:tab pos="505447" algn="l"/>
              </a:tabLst>
            </a:pPr>
            <a:r>
              <a:rPr sz="2400" spc="-160" dirty="0">
                <a:solidFill>
                  <a:srgbClr val="685D46"/>
                </a:solidFill>
                <a:latin typeface="Arial Black"/>
                <a:cs typeface="Arial Black"/>
              </a:rPr>
              <a:t>Deep</a:t>
            </a:r>
            <a:r>
              <a:rPr sz="2400" spc="-187" dirty="0">
                <a:solidFill>
                  <a:srgbClr val="685D46"/>
                </a:solidFill>
                <a:latin typeface="Arial Black"/>
                <a:cs typeface="Arial Black"/>
              </a:rPr>
              <a:t> </a:t>
            </a:r>
            <a:r>
              <a:rPr sz="2400" spc="-113" dirty="0">
                <a:solidFill>
                  <a:srgbClr val="685D46"/>
                </a:solidFill>
                <a:latin typeface="Arial Black"/>
                <a:cs typeface="Arial Black"/>
              </a:rPr>
              <a:t>learning:</a:t>
            </a:r>
            <a:r>
              <a:rPr sz="2400" spc="-167" dirty="0">
                <a:solidFill>
                  <a:srgbClr val="685D46"/>
                </a:solidFill>
                <a:latin typeface="Arial Black"/>
                <a:cs typeface="Arial Black"/>
              </a:rPr>
              <a:t> </a:t>
            </a:r>
            <a:r>
              <a:rPr sz="2400" dirty="0">
                <a:solidFill>
                  <a:srgbClr val="685D46"/>
                </a:solidFill>
                <a:latin typeface="Arial MT"/>
                <a:cs typeface="Arial MT"/>
              </a:rPr>
              <a:t>A</a:t>
            </a:r>
            <a:r>
              <a:rPr sz="2400" spc="-53" dirty="0">
                <a:solidFill>
                  <a:srgbClr val="685D46"/>
                </a:solidFill>
                <a:latin typeface="Arial MT"/>
                <a:cs typeface="Arial MT"/>
              </a:rPr>
              <a:t> </a:t>
            </a:r>
            <a:r>
              <a:rPr sz="2400" spc="73" dirty="0">
                <a:solidFill>
                  <a:srgbClr val="685D46"/>
                </a:solidFill>
                <a:latin typeface="Arial MT"/>
                <a:cs typeface="Arial MT"/>
              </a:rPr>
              <a:t>subfield</a:t>
            </a:r>
            <a:r>
              <a:rPr sz="2400" spc="-53" dirty="0">
                <a:solidFill>
                  <a:srgbClr val="685D46"/>
                </a:solidFill>
                <a:latin typeface="Arial MT"/>
                <a:cs typeface="Arial MT"/>
              </a:rPr>
              <a:t> </a:t>
            </a:r>
            <a:r>
              <a:rPr sz="2400" spc="127" dirty="0">
                <a:solidFill>
                  <a:srgbClr val="685D46"/>
                </a:solidFill>
                <a:latin typeface="Arial MT"/>
                <a:cs typeface="Arial MT"/>
              </a:rPr>
              <a:t>of</a:t>
            </a:r>
            <a:r>
              <a:rPr sz="2400" spc="-53" dirty="0">
                <a:solidFill>
                  <a:srgbClr val="685D46"/>
                </a:solidFill>
                <a:latin typeface="Arial MT"/>
                <a:cs typeface="Arial MT"/>
              </a:rPr>
              <a:t> </a:t>
            </a:r>
            <a:r>
              <a:rPr sz="2400" spc="-13" dirty="0">
                <a:solidFill>
                  <a:srgbClr val="685D46"/>
                </a:solidFill>
                <a:latin typeface="Arial MT"/>
                <a:cs typeface="Arial MT"/>
              </a:rPr>
              <a:t>machine</a:t>
            </a:r>
            <a:endParaRPr sz="2400">
              <a:latin typeface="Arial MT"/>
              <a:cs typeface="Arial MT"/>
            </a:endParaRPr>
          </a:p>
          <a:p>
            <a:pPr marL="505447" marR="4651470">
              <a:lnSpc>
                <a:spcPct val="114599"/>
              </a:lnSpc>
            </a:pPr>
            <a:r>
              <a:rPr sz="2400" spc="67" dirty="0">
                <a:solidFill>
                  <a:srgbClr val="685D46"/>
                </a:solidFill>
                <a:latin typeface="Arial MT"/>
                <a:cs typeface="Arial MT"/>
              </a:rPr>
              <a:t>learning</a:t>
            </a:r>
            <a:r>
              <a:rPr sz="2400" spc="120" dirty="0">
                <a:solidFill>
                  <a:srgbClr val="685D46"/>
                </a:solidFill>
                <a:latin typeface="Arial MT"/>
                <a:cs typeface="Arial MT"/>
              </a:rPr>
              <a:t> </a:t>
            </a:r>
            <a:r>
              <a:rPr sz="2400" dirty="0">
                <a:solidFill>
                  <a:srgbClr val="685D46"/>
                </a:solidFill>
                <a:latin typeface="Arial MT"/>
                <a:cs typeface="Arial MT"/>
              </a:rPr>
              <a:t>concerned</a:t>
            </a:r>
            <a:r>
              <a:rPr sz="2400" spc="127" dirty="0">
                <a:solidFill>
                  <a:srgbClr val="685D46"/>
                </a:solidFill>
                <a:latin typeface="Arial MT"/>
                <a:cs typeface="Arial MT"/>
              </a:rPr>
              <a:t> </a:t>
            </a:r>
            <a:r>
              <a:rPr sz="2400" spc="120" dirty="0">
                <a:solidFill>
                  <a:srgbClr val="685D46"/>
                </a:solidFill>
                <a:latin typeface="Arial MT"/>
                <a:cs typeface="Arial MT"/>
              </a:rPr>
              <a:t>with</a:t>
            </a:r>
            <a:r>
              <a:rPr sz="2400" spc="127" dirty="0">
                <a:solidFill>
                  <a:srgbClr val="685D46"/>
                </a:solidFill>
                <a:latin typeface="Arial MT"/>
                <a:cs typeface="Arial MT"/>
              </a:rPr>
              <a:t> </a:t>
            </a:r>
            <a:r>
              <a:rPr sz="2400" spc="67" dirty="0">
                <a:solidFill>
                  <a:srgbClr val="685D46"/>
                </a:solidFill>
                <a:latin typeface="Arial MT"/>
                <a:cs typeface="Arial MT"/>
              </a:rPr>
              <a:t>algorithms </a:t>
            </a:r>
            <a:r>
              <a:rPr sz="2400" spc="73" dirty="0">
                <a:solidFill>
                  <a:srgbClr val="685D46"/>
                </a:solidFill>
                <a:latin typeface="Arial MT"/>
                <a:cs typeface="Arial MT"/>
              </a:rPr>
              <a:t>inspired</a:t>
            </a:r>
            <a:r>
              <a:rPr sz="2400" spc="-20" dirty="0">
                <a:solidFill>
                  <a:srgbClr val="685D46"/>
                </a:solidFill>
                <a:latin typeface="Arial MT"/>
                <a:cs typeface="Arial MT"/>
              </a:rPr>
              <a:t> </a:t>
            </a:r>
            <a:r>
              <a:rPr sz="2400" dirty="0">
                <a:solidFill>
                  <a:srgbClr val="685D46"/>
                </a:solidFill>
                <a:latin typeface="Arial MT"/>
                <a:cs typeface="Arial MT"/>
              </a:rPr>
              <a:t>by</a:t>
            </a:r>
            <a:r>
              <a:rPr sz="2400" spc="-20" dirty="0">
                <a:solidFill>
                  <a:srgbClr val="685D46"/>
                </a:solidFill>
                <a:latin typeface="Arial MT"/>
                <a:cs typeface="Arial MT"/>
              </a:rPr>
              <a:t> </a:t>
            </a:r>
            <a:r>
              <a:rPr sz="2400" spc="107" dirty="0">
                <a:solidFill>
                  <a:srgbClr val="685D46"/>
                </a:solidFill>
                <a:latin typeface="Arial MT"/>
                <a:cs typeface="Arial MT"/>
              </a:rPr>
              <a:t>the</a:t>
            </a:r>
            <a:r>
              <a:rPr sz="2400" spc="-7" dirty="0">
                <a:solidFill>
                  <a:srgbClr val="685D46"/>
                </a:solidFill>
                <a:latin typeface="Arial MT"/>
                <a:cs typeface="Arial MT"/>
              </a:rPr>
              <a:t> </a:t>
            </a:r>
            <a:r>
              <a:rPr sz="2400" spc="87" dirty="0">
                <a:solidFill>
                  <a:srgbClr val="685D46"/>
                </a:solidFill>
                <a:latin typeface="Arial MT"/>
                <a:cs typeface="Arial MT"/>
              </a:rPr>
              <a:t>structure</a:t>
            </a:r>
            <a:r>
              <a:rPr sz="2400" spc="-13" dirty="0">
                <a:solidFill>
                  <a:srgbClr val="685D46"/>
                </a:solidFill>
                <a:latin typeface="Arial MT"/>
                <a:cs typeface="Arial MT"/>
              </a:rPr>
              <a:t> </a:t>
            </a:r>
            <a:r>
              <a:rPr sz="2400" spc="73" dirty="0">
                <a:solidFill>
                  <a:srgbClr val="685D46"/>
                </a:solidFill>
                <a:latin typeface="Arial MT"/>
                <a:cs typeface="Arial MT"/>
              </a:rPr>
              <a:t>and</a:t>
            </a:r>
            <a:r>
              <a:rPr sz="2400" spc="-13" dirty="0">
                <a:solidFill>
                  <a:srgbClr val="685D46"/>
                </a:solidFill>
                <a:latin typeface="Arial MT"/>
                <a:cs typeface="Arial MT"/>
              </a:rPr>
              <a:t> </a:t>
            </a:r>
            <a:r>
              <a:rPr sz="2400" spc="93" dirty="0">
                <a:solidFill>
                  <a:srgbClr val="685D46"/>
                </a:solidFill>
                <a:latin typeface="Arial MT"/>
                <a:cs typeface="Arial MT"/>
              </a:rPr>
              <a:t>function</a:t>
            </a:r>
            <a:r>
              <a:rPr sz="2400" spc="-20" dirty="0">
                <a:solidFill>
                  <a:srgbClr val="685D46"/>
                </a:solidFill>
                <a:latin typeface="Arial MT"/>
                <a:cs typeface="Arial MT"/>
              </a:rPr>
              <a:t> </a:t>
            </a:r>
            <a:r>
              <a:rPr sz="2400" spc="87" dirty="0">
                <a:solidFill>
                  <a:srgbClr val="685D46"/>
                </a:solidFill>
                <a:latin typeface="Arial MT"/>
                <a:cs typeface="Arial MT"/>
              </a:rPr>
              <a:t>of </a:t>
            </a:r>
            <a:r>
              <a:rPr sz="2400" spc="107" dirty="0">
                <a:solidFill>
                  <a:srgbClr val="685D46"/>
                </a:solidFill>
                <a:latin typeface="Arial MT"/>
                <a:cs typeface="Arial MT"/>
              </a:rPr>
              <a:t>the</a:t>
            </a:r>
            <a:r>
              <a:rPr sz="2400" spc="-7" dirty="0">
                <a:solidFill>
                  <a:srgbClr val="685D46"/>
                </a:solidFill>
                <a:latin typeface="Arial MT"/>
                <a:cs typeface="Arial MT"/>
              </a:rPr>
              <a:t> </a:t>
            </a:r>
            <a:r>
              <a:rPr sz="2400" spc="87" dirty="0">
                <a:solidFill>
                  <a:srgbClr val="685D46"/>
                </a:solidFill>
                <a:latin typeface="Arial MT"/>
                <a:cs typeface="Arial MT"/>
              </a:rPr>
              <a:t>brain</a:t>
            </a:r>
            <a:r>
              <a:rPr sz="2400" spc="-13" dirty="0">
                <a:solidFill>
                  <a:srgbClr val="685D46"/>
                </a:solidFill>
                <a:latin typeface="Arial MT"/>
                <a:cs typeface="Arial MT"/>
              </a:rPr>
              <a:t> </a:t>
            </a:r>
            <a:r>
              <a:rPr sz="2400" dirty="0">
                <a:solidFill>
                  <a:srgbClr val="685D46"/>
                </a:solidFill>
                <a:latin typeface="Arial MT"/>
                <a:cs typeface="Arial MT"/>
              </a:rPr>
              <a:t>called</a:t>
            </a:r>
            <a:r>
              <a:rPr sz="2400" spc="-13" dirty="0">
                <a:solidFill>
                  <a:srgbClr val="685D46"/>
                </a:solidFill>
                <a:latin typeface="Arial MT"/>
                <a:cs typeface="Arial MT"/>
              </a:rPr>
              <a:t> </a:t>
            </a:r>
            <a:r>
              <a:rPr sz="2400" spc="67" dirty="0">
                <a:solidFill>
                  <a:srgbClr val="685D46"/>
                </a:solidFill>
                <a:latin typeface="Arial MT"/>
                <a:cs typeface="Arial MT"/>
              </a:rPr>
              <a:t>artificial</a:t>
            </a:r>
            <a:r>
              <a:rPr sz="2400" spc="-13" dirty="0">
                <a:solidFill>
                  <a:srgbClr val="685D46"/>
                </a:solidFill>
                <a:latin typeface="Arial MT"/>
                <a:cs typeface="Arial MT"/>
              </a:rPr>
              <a:t> </a:t>
            </a:r>
            <a:r>
              <a:rPr sz="2400" spc="80" dirty="0">
                <a:solidFill>
                  <a:srgbClr val="685D46"/>
                </a:solidFill>
                <a:latin typeface="Arial MT"/>
                <a:cs typeface="Arial MT"/>
              </a:rPr>
              <a:t>neural</a:t>
            </a:r>
            <a:r>
              <a:rPr sz="2400" spc="-13" dirty="0">
                <a:solidFill>
                  <a:srgbClr val="685D46"/>
                </a:solidFill>
                <a:latin typeface="Arial MT"/>
                <a:cs typeface="Arial MT"/>
              </a:rPr>
              <a:t> </a:t>
            </a:r>
            <a:r>
              <a:rPr sz="2400" spc="53" dirty="0">
                <a:solidFill>
                  <a:srgbClr val="685D46"/>
                </a:solidFill>
                <a:latin typeface="Arial MT"/>
                <a:cs typeface="Arial MT"/>
              </a:rPr>
              <a:t>networks.</a:t>
            </a:r>
            <a:endParaRPr sz="240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29F9-7419-66A5-231A-72FDC6AC25D5}"/>
              </a:ext>
            </a:extLst>
          </p:cNvPr>
          <p:cNvSpPr>
            <a:spLocks noGrp="1"/>
          </p:cNvSpPr>
          <p:nvPr>
            <p:ph type="title"/>
          </p:nvPr>
        </p:nvSpPr>
        <p:spPr/>
        <p:txBody>
          <a:bodyPr/>
          <a:lstStyle/>
          <a:p>
            <a:r>
              <a:rPr lang="en-US" dirty="0"/>
              <a:t>Machine learning in Artificial Intelligence</a:t>
            </a:r>
          </a:p>
        </p:txBody>
      </p:sp>
      <p:pic>
        <p:nvPicPr>
          <p:cNvPr id="3" name="Picture 2">
            <a:extLst>
              <a:ext uri="{FF2B5EF4-FFF2-40B4-BE49-F238E27FC236}">
                <a16:creationId xmlns:a16="http://schemas.microsoft.com/office/drawing/2014/main" id="{C93333D9-D482-A8BE-F79B-DF895855D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52830"/>
            <a:ext cx="11887200" cy="3817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4667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4F896DE2-D406-4E40-B3F2-6D9F2007DAD5}"/>
              </a:ext>
            </a:extLst>
          </p:cNvPr>
          <p:cNvGrpSpPr/>
          <p:nvPr/>
        </p:nvGrpSpPr>
        <p:grpSpPr>
          <a:xfrm>
            <a:off x="7651325" y="2514600"/>
            <a:ext cx="4135754" cy="2569210"/>
            <a:chOff x="7135939" y="4160964"/>
            <a:chExt cx="4135754" cy="2569210"/>
          </a:xfrm>
        </p:grpSpPr>
        <p:pic>
          <p:nvPicPr>
            <p:cNvPr id="5" name="object 4">
              <a:extLst>
                <a:ext uri="{FF2B5EF4-FFF2-40B4-BE49-F238E27FC236}">
                  <a16:creationId xmlns:a16="http://schemas.microsoft.com/office/drawing/2014/main" id="{4C81EBAF-6BEA-4938-958A-41939607620A}"/>
                </a:ext>
              </a:extLst>
            </p:cNvPr>
            <p:cNvPicPr/>
            <p:nvPr/>
          </p:nvPicPr>
          <p:blipFill>
            <a:blip r:embed="rId2" cstate="print"/>
            <a:stretch>
              <a:fillRect/>
            </a:stretch>
          </p:blipFill>
          <p:spPr>
            <a:xfrm>
              <a:off x="7393756" y="4325974"/>
              <a:ext cx="3537251" cy="2104400"/>
            </a:xfrm>
            <a:prstGeom prst="rect">
              <a:avLst/>
            </a:prstGeom>
          </p:spPr>
        </p:pic>
        <p:sp>
          <p:nvSpPr>
            <p:cNvPr id="6" name="object 5">
              <a:extLst>
                <a:ext uri="{FF2B5EF4-FFF2-40B4-BE49-F238E27FC236}">
                  <a16:creationId xmlns:a16="http://schemas.microsoft.com/office/drawing/2014/main" id="{141973BB-2239-44EF-944A-2C6544BBE187}"/>
                </a:ext>
              </a:extLst>
            </p:cNvPr>
            <p:cNvSpPr/>
            <p:nvPr/>
          </p:nvSpPr>
          <p:spPr>
            <a:xfrm>
              <a:off x="7140702" y="4165727"/>
              <a:ext cx="4126229" cy="2559685"/>
            </a:xfrm>
            <a:custGeom>
              <a:avLst/>
              <a:gdLst/>
              <a:ahLst/>
              <a:cxnLst/>
              <a:rect l="l" t="t" r="r" b="b"/>
              <a:pathLst>
                <a:path w="4126229" h="2559684">
                  <a:moveTo>
                    <a:pt x="300863" y="0"/>
                  </a:moveTo>
                  <a:lnTo>
                    <a:pt x="3825367" y="0"/>
                  </a:lnTo>
                  <a:lnTo>
                    <a:pt x="3855974" y="1524"/>
                  </a:lnTo>
                  <a:lnTo>
                    <a:pt x="3914648" y="13462"/>
                  </a:lnTo>
                  <a:lnTo>
                    <a:pt x="3968623" y="36322"/>
                  </a:lnTo>
                  <a:lnTo>
                    <a:pt x="4037965" y="88011"/>
                  </a:lnTo>
                  <a:lnTo>
                    <a:pt x="4074668" y="132461"/>
                  </a:lnTo>
                  <a:lnTo>
                    <a:pt x="4102480" y="183769"/>
                  </a:lnTo>
                  <a:lnTo>
                    <a:pt x="4120006" y="240156"/>
                  </a:lnTo>
                  <a:lnTo>
                    <a:pt x="4126103" y="300736"/>
                  </a:lnTo>
                  <a:lnTo>
                    <a:pt x="4126103" y="2258898"/>
                  </a:lnTo>
                  <a:lnTo>
                    <a:pt x="4120006" y="2319413"/>
                  </a:lnTo>
                  <a:lnTo>
                    <a:pt x="4102480" y="2375903"/>
                  </a:lnTo>
                  <a:lnTo>
                    <a:pt x="4074668" y="2427109"/>
                  </a:lnTo>
                  <a:lnTo>
                    <a:pt x="4037965" y="2471559"/>
                  </a:lnTo>
                  <a:lnTo>
                    <a:pt x="3993515" y="2508224"/>
                  </a:lnTo>
                  <a:lnTo>
                    <a:pt x="3942333" y="2536024"/>
                  </a:lnTo>
                  <a:lnTo>
                    <a:pt x="3885819" y="2553563"/>
                  </a:lnTo>
                  <a:lnTo>
                    <a:pt x="3825367" y="2559672"/>
                  </a:lnTo>
                  <a:lnTo>
                    <a:pt x="300863" y="2559672"/>
                  </a:lnTo>
                  <a:lnTo>
                    <a:pt x="240283" y="2553563"/>
                  </a:lnTo>
                  <a:lnTo>
                    <a:pt x="183769" y="2536024"/>
                  </a:lnTo>
                  <a:lnTo>
                    <a:pt x="132588" y="2508224"/>
                  </a:lnTo>
                  <a:lnTo>
                    <a:pt x="88138" y="2471559"/>
                  </a:lnTo>
                  <a:lnTo>
                    <a:pt x="51434" y="2427109"/>
                  </a:lnTo>
                  <a:lnTo>
                    <a:pt x="23749" y="2375903"/>
                  </a:lnTo>
                  <a:lnTo>
                    <a:pt x="6096" y="2319413"/>
                  </a:lnTo>
                  <a:lnTo>
                    <a:pt x="0" y="2258898"/>
                  </a:lnTo>
                  <a:lnTo>
                    <a:pt x="0" y="300736"/>
                  </a:lnTo>
                  <a:lnTo>
                    <a:pt x="6096" y="240156"/>
                  </a:lnTo>
                  <a:lnTo>
                    <a:pt x="23749" y="183769"/>
                  </a:lnTo>
                  <a:lnTo>
                    <a:pt x="51434" y="132461"/>
                  </a:lnTo>
                  <a:lnTo>
                    <a:pt x="88138" y="88011"/>
                  </a:lnTo>
                  <a:lnTo>
                    <a:pt x="132588" y="51435"/>
                  </a:lnTo>
                  <a:lnTo>
                    <a:pt x="183769" y="23622"/>
                  </a:lnTo>
                  <a:lnTo>
                    <a:pt x="240283" y="6096"/>
                  </a:lnTo>
                  <a:lnTo>
                    <a:pt x="300863" y="0"/>
                  </a:lnTo>
                  <a:close/>
                </a:path>
              </a:pathLst>
            </a:custGeom>
            <a:ln w="9525">
              <a:solidFill>
                <a:srgbClr val="6E6E74"/>
              </a:solidFill>
            </a:ln>
          </p:spPr>
          <p:txBody>
            <a:bodyPr wrap="square" lIns="0" tIns="0" rIns="0" bIns="0" rtlCol="0"/>
            <a:lstStyle/>
            <a:p>
              <a:endParaRPr/>
            </a:p>
          </p:txBody>
        </p:sp>
      </p:grpSp>
      <p:sp>
        <p:nvSpPr>
          <p:cNvPr id="7" name="object 6">
            <a:extLst>
              <a:ext uri="{FF2B5EF4-FFF2-40B4-BE49-F238E27FC236}">
                <a16:creationId xmlns:a16="http://schemas.microsoft.com/office/drawing/2014/main" id="{828A3DFE-8162-4910-B151-7270BCA44DDA}"/>
              </a:ext>
            </a:extLst>
          </p:cNvPr>
          <p:cNvSpPr txBox="1">
            <a:spLocks/>
          </p:cNvSpPr>
          <p:nvPr/>
        </p:nvSpPr>
        <p:spPr>
          <a:xfrm>
            <a:off x="590804" y="276809"/>
            <a:ext cx="8792845" cy="452120"/>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spc="160" dirty="0"/>
              <a:t>Traditional</a:t>
            </a:r>
            <a:r>
              <a:rPr lang="en-US" spc="245" dirty="0"/>
              <a:t> </a:t>
            </a:r>
            <a:r>
              <a:rPr lang="en-US" spc="200" dirty="0"/>
              <a:t>Programming</a:t>
            </a:r>
            <a:r>
              <a:rPr lang="en-US" spc="260" dirty="0"/>
              <a:t> </a:t>
            </a:r>
            <a:r>
              <a:rPr lang="en-US" spc="165" dirty="0"/>
              <a:t>vs</a:t>
            </a:r>
            <a:r>
              <a:rPr lang="en-US" spc="215" dirty="0"/>
              <a:t> </a:t>
            </a:r>
            <a:r>
              <a:rPr lang="en-US" spc="210" dirty="0"/>
              <a:t>Machine</a:t>
            </a:r>
            <a:r>
              <a:rPr lang="en-US" spc="229" dirty="0"/>
              <a:t> </a:t>
            </a:r>
            <a:r>
              <a:rPr lang="en-US" spc="204" dirty="0"/>
              <a:t>Learning</a:t>
            </a:r>
          </a:p>
        </p:txBody>
      </p:sp>
      <p:sp>
        <p:nvSpPr>
          <p:cNvPr id="8" name="object 7">
            <a:extLst>
              <a:ext uri="{FF2B5EF4-FFF2-40B4-BE49-F238E27FC236}">
                <a16:creationId xmlns:a16="http://schemas.microsoft.com/office/drawing/2014/main" id="{048E1FC0-6068-4AD2-A530-451F7CD6030C}"/>
              </a:ext>
            </a:extLst>
          </p:cNvPr>
          <p:cNvSpPr txBox="1"/>
          <p:nvPr/>
        </p:nvSpPr>
        <p:spPr>
          <a:xfrm>
            <a:off x="762000" y="1142999"/>
            <a:ext cx="6811218" cy="4368247"/>
          </a:xfrm>
          <a:prstGeom prst="rect">
            <a:avLst/>
          </a:prstGeom>
        </p:spPr>
        <p:txBody>
          <a:bodyPr vert="horz" wrap="square" lIns="0" tIns="12700" rIns="0" bIns="0" rtlCol="0">
            <a:spAutoFit/>
          </a:bodyPr>
          <a:lstStyle/>
          <a:p>
            <a:pPr marL="12700">
              <a:lnSpc>
                <a:spcPct val="100000"/>
              </a:lnSpc>
              <a:spcBef>
                <a:spcPts val="100"/>
              </a:spcBef>
            </a:pPr>
            <a:r>
              <a:rPr sz="2400" b="1" spc="140" dirty="0">
                <a:latin typeface="Cambria"/>
                <a:cs typeface="Cambria"/>
              </a:rPr>
              <a:t>Traditional</a:t>
            </a:r>
            <a:r>
              <a:rPr sz="2400" b="1" spc="180" dirty="0">
                <a:latin typeface="Cambria"/>
                <a:cs typeface="Cambria"/>
              </a:rPr>
              <a:t> </a:t>
            </a:r>
            <a:r>
              <a:rPr sz="2400" b="1" spc="165" dirty="0">
                <a:latin typeface="Cambria"/>
                <a:cs typeface="Cambria"/>
              </a:rPr>
              <a:t>Programming</a:t>
            </a:r>
            <a:endParaRPr sz="2400" dirty="0">
              <a:latin typeface="Cambria"/>
              <a:cs typeface="Cambria"/>
            </a:endParaRPr>
          </a:p>
          <a:p>
            <a:pPr marL="299085" indent="-286385">
              <a:lnSpc>
                <a:spcPts val="2155"/>
              </a:lnSpc>
              <a:spcBef>
                <a:spcPts val="10"/>
              </a:spcBef>
              <a:buFont typeface="Arial MT"/>
              <a:buChar char="•"/>
              <a:tabLst>
                <a:tab pos="299085" algn="l"/>
              </a:tabLst>
            </a:pPr>
            <a:r>
              <a:rPr sz="1800" b="1" spc="114" dirty="0">
                <a:latin typeface="Cambria"/>
                <a:cs typeface="Cambria"/>
              </a:rPr>
              <a:t>Approach</a:t>
            </a:r>
            <a:r>
              <a:rPr sz="1800" spc="114" dirty="0">
                <a:latin typeface="Cambria"/>
                <a:cs typeface="Cambria"/>
              </a:rPr>
              <a:t>:</a:t>
            </a:r>
            <a:r>
              <a:rPr sz="1800" spc="160" dirty="0">
                <a:latin typeface="Cambria"/>
                <a:cs typeface="Cambria"/>
              </a:rPr>
              <a:t> </a:t>
            </a:r>
            <a:r>
              <a:rPr sz="1800" spc="60" dirty="0">
                <a:latin typeface="Cambria"/>
                <a:cs typeface="Cambria"/>
              </a:rPr>
              <a:t>Write</a:t>
            </a:r>
            <a:r>
              <a:rPr sz="1800" spc="160" dirty="0">
                <a:latin typeface="Cambria"/>
                <a:cs typeface="Cambria"/>
              </a:rPr>
              <a:t> </a:t>
            </a:r>
            <a:r>
              <a:rPr sz="1800" spc="50" dirty="0">
                <a:latin typeface="Cambria"/>
                <a:cs typeface="Cambria"/>
              </a:rPr>
              <a:t>explicit</a:t>
            </a:r>
            <a:r>
              <a:rPr sz="1800" spc="170" dirty="0">
                <a:latin typeface="Cambria"/>
                <a:cs typeface="Cambria"/>
              </a:rPr>
              <a:t> </a:t>
            </a:r>
            <a:r>
              <a:rPr sz="1800" spc="55" dirty="0">
                <a:latin typeface="Cambria"/>
                <a:cs typeface="Cambria"/>
              </a:rPr>
              <a:t>rules</a:t>
            </a:r>
            <a:r>
              <a:rPr sz="1800" spc="180" dirty="0">
                <a:latin typeface="Cambria"/>
                <a:cs typeface="Cambria"/>
              </a:rPr>
              <a:t> </a:t>
            </a:r>
            <a:r>
              <a:rPr sz="1800" spc="80" dirty="0">
                <a:latin typeface="Cambria"/>
                <a:cs typeface="Cambria"/>
              </a:rPr>
              <a:t>and</a:t>
            </a:r>
            <a:r>
              <a:rPr sz="1800" spc="180" dirty="0">
                <a:latin typeface="Cambria"/>
                <a:cs typeface="Cambria"/>
              </a:rPr>
              <a:t> </a:t>
            </a:r>
            <a:r>
              <a:rPr sz="1800" dirty="0">
                <a:latin typeface="Cambria"/>
                <a:cs typeface="Cambria"/>
              </a:rPr>
              <a:t>logic</a:t>
            </a:r>
            <a:r>
              <a:rPr sz="1800" spc="160" dirty="0">
                <a:latin typeface="Cambria"/>
                <a:cs typeface="Cambria"/>
              </a:rPr>
              <a:t> </a:t>
            </a:r>
            <a:r>
              <a:rPr sz="1800" dirty="0">
                <a:latin typeface="Cambria"/>
                <a:cs typeface="Cambria"/>
              </a:rPr>
              <a:t>for</a:t>
            </a:r>
            <a:r>
              <a:rPr sz="1800" spc="185" dirty="0">
                <a:latin typeface="Cambria"/>
                <a:cs typeface="Cambria"/>
              </a:rPr>
              <a:t> </a:t>
            </a:r>
            <a:r>
              <a:rPr sz="1800" dirty="0">
                <a:latin typeface="Cambria"/>
                <a:cs typeface="Cambria"/>
              </a:rPr>
              <a:t>specific</a:t>
            </a:r>
            <a:r>
              <a:rPr sz="1800" spc="185" dirty="0">
                <a:latin typeface="Cambria"/>
                <a:cs typeface="Cambria"/>
              </a:rPr>
              <a:t> </a:t>
            </a:r>
            <a:r>
              <a:rPr sz="1800" spc="80" dirty="0">
                <a:latin typeface="Cambria"/>
                <a:cs typeface="Cambria"/>
              </a:rPr>
              <a:t>tasks.</a:t>
            </a:r>
            <a:endParaRPr sz="1800" dirty="0">
              <a:latin typeface="Cambria"/>
              <a:cs typeface="Cambria"/>
            </a:endParaRPr>
          </a:p>
          <a:p>
            <a:pPr marL="299085" indent="-286385">
              <a:lnSpc>
                <a:spcPts val="2155"/>
              </a:lnSpc>
              <a:buFont typeface="Arial MT"/>
              <a:buChar char="•"/>
              <a:tabLst>
                <a:tab pos="299085" algn="l"/>
              </a:tabLst>
            </a:pPr>
            <a:r>
              <a:rPr sz="1800" b="1" spc="114" dirty="0">
                <a:latin typeface="Cambria"/>
                <a:cs typeface="Cambria"/>
              </a:rPr>
              <a:t>Input</a:t>
            </a:r>
            <a:r>
              <a:rPr sz="1800" spc="114" dirty="0">
                <a:latin typeface="Cambria"/>
                <a:cs typeface="Cambria"/>
              </a:rPr>
              <a:t>:</a:t>
            </a:r>
            <a:r>
              <a:rPr sz="1800" spc="100" dirty="0">
                <a:latin typeface="Cambria"/>
                <a:cs typeface="Cambria"/>
              </a:rPr>
              <a:t> </a:t>
            </a:r>
            <a:r>
              <a:rPr sz="1800" b="1" spc="125" dirty="0">
                <a:latin typeface="Cambria"/>
                <a:cs typeface="Cambria"/>
              </a:rPr>
              <a:t>Rules</a:t>
            </a:r>
            <a:r>
              <a:rPr sz="1800" b="1" spc="120" dirty="0">
                <a:latin typeface="Cambria"/>
                <a:cs typeface="Cambria"/>
              </a:rPr>
              <a:t> </a:t>
            </a:r>
            <a:r>
              <a:rPr sz="1800" dirty="0">
                <a:latin typeface="Cambria"/>
                <a:cs typeface="Cambria"/>
              </a:rPr>
              <a:t>(logic)</a:t>
            </a:r>
            <a:r>
              <a:rPr sz="1800" spc="90" dirty="0">
                <a:latin typeface="Cambria"/>
                <a:cs typeface="Cambria"/>
              </a:rPr>
              <a:t> +</a:t>
            </a:r>
            <a:r>
              <a:rPr sz="1800" spc="114" dirty="0">
                <a:latin typeface="Cambria"/>
                <a:cs typeface="Cambria"/>
              </a:rPr>
              <a:t> </a:t>
            </a:r>
            <a:r>
              <a:rPr sz="1800" b="1" spc="145" dirty="0">
                <a:latin typeface="Cambria"/>
                <a:cs typeface="Cambria"/>
              </a:rPr>
              <a:t>Data</a:t>
            </a:r>
            <a:r>
              <a:rPr sz="1800" b="1" spc="95" dirty="0">
                <a:latin typeface="Cambria"/>
                <a:cs typeface="Cambria"/>
              </a:rPr>
              <a:t> </a:t>
            </a:r>
            <a:r>
              <a:rPr sz="1800" dirty="0">
                <a:solidFill>
                  <a:srgbClr val="7E7E7E"/>
                </a:solidFill>
                <a:latin typeface="Wingdings"/>
                <a:cs typeface="Wingdings"/>
              </a:rPr>
              <a:t></a:t>
            </a:r>
            <a:r>
              <a:rPr sz="1800" spc="60" dirty="0">
                <a:solidFill>
                  <a:srgbClr val="7E7E7E"/>
                </a:solidFill>
                <a:latin typeface="Times New Roman"/>
                <a:cs typeface="Times New Roman"/>
              </a:rPr>
              <a:t> </a:t>
            </a:r>
            <a:r>
              <a:rPr sz="1800" b="1" spc="130" dirty="0">
                <a:latin typeface="Cambria"/>
                <a:cs typeface="Cambria"/>
              </a:rPr>
              <a:t>Output</a:t>
            </a:r>
            <a:r>
              <a:rPr sz="1800" spc="130" dirty="0">
                <a:latin typeface="Cambria"/>
                <a:cs typeface="Cambria"/>
              </a:rPr>
              <a:t>.</a:t>
            </a:r>
            <a:endParaRPr sz="1800" dirty="0">
              <a:latin typeface="Cambria"/>
              <a:cs typeface="Cambria"/>
            </a:endParaRPr>
          </a:p>
          <a:p>
            <a:pPr marL="299085" indent="-286385">
              <a:lnSpc>
                <a:spcPct val="100000"/>
              </a:lnSpc>
              <a:spcBef>
                <a:spcPts val="10"/>
              </a:spcBef>
              <a:buFont typeface="Arial MT"/>
              <a:buChar char="•"/>
              <a:tabLst>
                <a:tab pos="299085" algn="l"/>
              </a:tabLst>
            </a:pPr>
            <a:r>
              <a:rPr sz="1800" b="1" spc="155" dirty="0">
                <a:latin typeface="Cambria"/>
                <a:cs typeface="Cambria"/>
              </a:rPr>
              <a:t>Key</a:t>
            </a:r>
            <a:r>
              <a:rPr sz="1800" b="1" spc="210" dirty="0">
                <a:latin typeface="Cambria"/>
                <a:cs typeface="Cambria"/>
              </a:rPr>
              <a:t> </a:t>
            </a:r>
            <a:r>
              <a:rPr sz="1800" b="1" spc="130" dirty="0">
                <a:latin typeface="Cambria"/>
                <a:cs typeface="Cambria"/>
              </a:rPr>
              <a:t>Focus</a:t>
            </a:r>
            <a:r>
              <a:rPr sz="1800" spc="130" dirty="0">
                <a:latin typeface="Cambria"/>
                <a:cs typeface="Cambria"/>
              </a:rPr>
              <a:t>:</a:t>
            </a:r>
            <a:r>
              <a:rPr sz="1800" spc="185" dirty="0">
                <a:latin typeface="Cambria"/>
                <a:cs typeface="Cambria"/>
              </a:rPr>
              <a:t> </a:t>
            </a:r>
            <a:r>
              <a:rPr sz="1800" spc="65" dirty="0">
                <a:latin typeface="Cambria"/>
                <a:cs typeface="Cambria"/>
              </a:rPr>
              <a:t>Programmer</a:t>
            </a:r>
            <a:r>
              <a:rPr sz="1800" spc="195" dirty="0">
                <a:latin typeface="Cambria"/>
                <a:cs typeface="Cambria"/>
              </a:rPr>
              <a:t> </a:t>
            </a:r>
            <a:r>
              <a:rPr sz="1800" dirty="0">
                <a:latin typeface="Cambria"/>
                <a:cs typeface="Cambria"/>
              </a:rPr>
              <a:t>defines</a:t>
            </a:r>
            <a:r>
              <a:rPr sz="1800" spc="210" dirty="0">
                <a:latin typeface="Cambria"/>
                <a:cs typeface="Cambria"/>
              </a:rPr>
              <a:t> </a:t>
            </a:r>
            <a:r>
              <a:rPr sz="1800" spc="90" dirty="0">
                <a:latin typeface="Cambria"/>
                <a:cs typeface="Cambria"/>
              </a:rPr>
              <a:t>all</a:t>
            </a:r>
            <a:r>
              <a:rPr sz="1800" spc="190" dirty="0">
                <a:latin typeface="Cambria"/>
                <a:cs typeface="Cambria"/>
              </a:rPr>
              <a:t> </a:t>
            </a:r>
            <a:r>
              <a:rPr sz="1800" dirty="0">
                <a:latin typeface="Cambria"/>
                <a:cs typeface="Cambria"/>
              </a:rPr>
              <a:t>possible</a:t>
            </a:r>
            <a:r>
              <a:rPr sz="1800" spc="215" dirty="0">
                <a:latin typeface="Cambria"/>
                <a:cs typeface="Cambria"/>
              </a:rPr>
              <a:t> </a:t>
            </a:r>
            <a:r>
              <a:rPr sz="1800" spc="40" dirty="0">
                <a:latin typeface="Cambria"/>
                <a:cs typeface="Cambria"/>
              </a:rPr>
              <a:t>scenarios.</a:t>
            </a:r>
            <a:endParaRPr sz="1800" dirty="0">
              <a:latin typeface="Cambria"/>
              <a:cs typeface="Cambria"/>
            </a:endParaRPr>
          </a:p>
          <a:p>
            <a:pPr marL="299085" indent="-286385">
              <a:lnSpc>
                <a:spcPct val="100000"/>
              </a:lnSpc>
              <a:buFont typeface="Arial MT"/>
              <a:buChar char="•"/>
              <a:tabLst>
                <a:tab pos="299085" algn="l"/>
              </a:tabLst>
            </a:pPr>
            <a:r>
              <a:rPr sz="1800" b="1" spc="110" dirty="0">
                <a:latin typeface="Cambria"/>
                <a:cs typeface="Cambria"/>
              </a:rPr>
              <a:t>Example</a:t>
            </a:r>
            <a:r>
              <a:rPr sz="1800" spc="110" dirty="0">
                <a:latin typeface="Cambria"/>
                <a:cs typeface="Cambria"/>
              </a:rPr>
              <a:t>:</a:t>
            </a:r>
            <a:endParaRPr sz="1800" dirty="0">
              <a:latin typeface="Cambria"/>
              <a:cs typeface="Cambria"/>
            </a:endParaRPr>
          </a:p>
          <a:p>
            <a:pPr marL="756285" lvl="1" indent="-287020">
              <a:lnSpc>
                <a:spcPct val="100000"/>
              </a:lnSpc>
              <a:spcBef>
                <a:spcPts val="15"/>
              </a:spcBef>
              <a:buFont typeface="Arial MT"/>
              <a:buChar char="•"/>
              <a:tabLst>
                <a:tab pos="756285" algn="l"/>
              </a:tabLst>
            </a:pPr>
            <a:r>
              <a:rPr sz="1800" spc="114" dirty="0">
                <a:latin typeface="Cambria"/>
                <a:cs typeface="Cambria"/>
              </a:rPr>
              <a:t>Use</a:t>
            </a:r>
            <a:r>
              <a:rPr sz="1800" spc="495" dirty="0">
                <a:latin typeface="Cambria"/>
                <a:cs typeface="Cambria"/>
              </a:rPr>
              <a:t> </a:t>
            </a:r>
            <a:r>
              <a:rPr sz="1800" dirty="0">
                <a:latin typeface="Cambria"/>
                <a:cs typeface="Cambria"/>
              </a:rPr>
              <a:t>if-else</a:t>
            </a:r>
            <a:r>
              <a:rPr sz="1800" spc="50" dirty="0">
                <a:latin typeface="Cambria"/>
                <a:cs typeface="Cambria"/>
              </a:rPr>
              <a:t>  </a:t>
            </a:r>
            <a:r>
              <a:rPr sz="1800" spc="65" dirty="0">
                <a:latin typeface="Cambria"/>
                <a:cs typeface="Cambria"/>
              </a:rPr>
              <a:t>statements</a:t>
            </a:r>
            <a:r>
              <a:rPr sz="1800" spc="50" dirty="0">
                <a:latin typeface="Cambria"/>
                <a:cs typeface="Cambria"/>
              </a:rPr>
              <a:t>  </a:t>
            </a:r>
            <a:r>
              <a:rPr sz="1800" dirty="0">
                <a:latin typeface="Cambria"/>
                <a:cs typeface="Cambria"/>
              </a:rPr>
              <a:t>to</a:t>
            </a:r>
            <a:r>
              <a:rPr sz="1800" spc="50" dirty="0">
                <a:latin typeface="Cambria"/>
                <a:cs typeface="Cambria"/>
              </a:rPr>
              <a:t>  </a:t>
            </a:r>
            <a:r>
              <a:rPr sz="1800" spc="55" dirty="0">
                <a:latin typeface="Cambria"/>
                <a:cs typeface="Cambria"/>
              </a:rPr>
              <a:t>classify</a:t>
            </a:r>
            <a:r>
              <a:rPr sz="1800" spc="50" dirty="0">
                <a:latin typeface="Cambria"/>
                <a:cs typeface="Cambria"/>
              </a:rPr>
              <a:t>  </a:t>
            </a:r>
            <a:r>
              <a:rPr sz="1800" spc="65" dirty="0">
                <a:latin typeface="Cambria"/>
                <a:cs typeface="Cambria"/>
              </a:rPr>
              <a:t>emails</a:t>
            </a:r>
            <a:r>
              <a:rPr sz="1800" spc="55" dirty="0">
                <a:latin typeface="Cambria"/>
                <a:cs typeface="Cambria"/>
              </a:rPr>
              <a:t>  </a:t>
            </a:r>
            <a:r>
              <a:rPr sz="1800" spc="85" dirty="0">
                <a:latin typeface="Cambria"/>
                <a:cs typeface="Cambria"/>
              </a:rPr>
              <a:t>as</a:t>
            </a:r>
            <a:r>
              <a:rPr sz="1800" spc="490" dirty="0">
                <a:latin typeface="Cambria"/>
                <a:cs typeface="Cambria"/>
              </a:rPr>
              <a:t> </a:t>
            </a:r>
            <a:r>
              <a:rPr sz="1800" spc="65" dirty="0">
                <a:latin typeface="Cambria"/>
                <a:cs typeface="Cambria"/>
              </a:rPr>
              <a:t>spam</a:t>
            </a:r>
            <a:r>
              <a:rPr sz="1800" spc="50" dirty="0">
                <a:latin typeface="Cambria"/>
                <a:cs typeface="Cambria"/>
              </a:rPr>
              <a:t>  </a:t>
            </a:r>
            <a:r>
              <a:rPr sz="1800" spc="-25" dirty="0">
                <a:latin typeface="Cambria"/>
                <a:cs typeface="Cambria"/>
              </a:rPr>
              <a:t>or</a:t>
            </a:r>
            <a:endParaRPr sz="1800" dirty="0">
              <a:latin typeface="Cambria"/>
              <a:cs typeface="Cambria"/>
            </a:endParaRPr>
          </a:p>
          <a:p>
            <a:pPr marL="756285">
              <a:lnSpc>
                <a:spcPts val="2150"/>
              </a:lnSpc>
            </a:pPr>
            <a:r>
              <a:rPr sz="1800" spc="40" dirty="0">
                <a:latin typeface="Cambria"/>
                <a:cs typeface="Cambria"/>
              </a:rPr>
              <a:t>not.</a:t>
            </a:r>
            <a:endParaRPr sz="1800" dirty="0">
              <a:latin typeface="Cambria"/>
              <a:cs typeface="Cambria"/>
            </a:endParaRPr>
          </a:p>
          <a:p>
            <a:pPr marL="12700">
              <a:lnSpc>
                <a:spcPts val="2870"/>
              </a:lnSpc>
            </a:pPr>
            <a:r>
              <a:rPr sz="2400" b="1" spc="185" dirty="0">
                <a:latin typeface="Cambria"/>
                <a:cs typeface="Cambria"/>
              </a:rPr>
              <a:t>Machine </a:t>
            </a:r>
            <a:r>
              <a:rPr sz="2400" b="1" spc="175" dirty="0">
                <a:latin typeface="Cambria"/>
                <a:cs typeface="Cambria"/>
              </a:rPr>
              <a:t>Learning</a:t>
            </a:r>
            <a:endParaRPr sz="2400" dirty="0">
              <a:latin typeface="Cambria"/>
              <a:cs typeface="Cambria"/>
            </a:endParaRPr>
          </a:p>
          <a:p>
            <a:pPr marL="299085" marR="5080" indent="-287020">
              <a:lnSpc>
                <a:spcPct val="100600"/>
              </a:lnSpc>
              <a:buFont typeface="Arial MT"/>
              <a:buChar char="•"/>
              <a:tabLst>
                <a:tab pos="299085" algn="l"/>
              </a:tabLst>
            </a:pPr>
            <a:r>
              <a:rPr sz="1800" b="1" spc="114" dirty="0">
                <a:latin typeface="Cambria"/>
                <a:cs typeface="Cambria"/>
              </a:rPr>
              <a:t>Approach</a:t>
            </a:r>
            <a:r>
              <a:rPr sz="1800" spc="114" dirty="0">
                <a:latin typeface="Cambria"/>
                <a:cs typeface="Cambria"/>
              </a:rPr>
              <a:t>:</a:t>
            </a:r>
            <a:r>
              <a:rPr sz="1800" spc="254" dirty="0">
                <a:latin typeface="Cambria"/>
                <a:cs typeface="Cambria"/>
              </a:rPr>
              <a:t> </a:t>
            </a:r>
            <a:r>
              <a:rPr sz="1800" spc="95" dirty="0">
                <a:latin typeface="Cambria"/>
                <a:cs typeface="Cambria"/>
              </a:rPr>
              <a:t>Learn</a:t>
            </a:r>
            <a:r>
              <a:rPr sz="1800" spc="260" dirty="0">
                <a:latin typeface="Cambria"/>
                <a:cs typeface="Cambria"/>
              </a:rPr>
              <a:t> </a:t>
            </a:r>
            <a:r>
              <a:rPr sz="1800" spc="60" dirty="0">
                <a:latin typeface="Cambria"/>
                <a:cs typeface="Cambria"/>
              </a:rPr>
              <a:t>patterns</a:t>
            </a:r>
            <a:r>
              <a:rPr sz="1800" spc="275" dirty="0">
                <a:latin typeface="Cambria"/>
                <a:cs typeface="Cambria"/>
              </a:rPr>
              <a:t> </a:t>
            </a:r>
            <a:r>
              <a:rPr sz="1800" dirty="0">
                <a:latin typeface="Cambria"/>
                <a:cs typeface="Cambria"/>
              </a:rPr>
              <a:t>from</a:t>
            </a:r>
            <a:r>
              <a:rPr sz="1800" spc="270" dirty="0">
                <a:latin typeface="Cambria"/>
                <a:cs typeface="Cambria"/>
              </a:rPr>
              <a:t> </a:t>
            </a:r>
            <a:r>
              <a:rPr sz="1800" spc="80" dirty="0">
                <a:latin typeface="Cambria"/>
                <a:cs typeface="Cambria"/>
              </a:rPr>
              <a:t>data</a:t>
            </a:r>
            <a:r>
              <a:rPr sz="1800" spc="260" dirty="0">
                <a:latin typeface="Cambria"/>
                <a:cs typeface="Cambria"/>
              </a:rPr>
              <a:t> </a:t>
            </a:r>
            <a:r>
              <a:rPr sz="1800" dirty="0">
                <a:latin typeface="Cambria"/>
                <a:cs typeface="Cambria"/>
              </a:rPr>
              <a:t>to</a:t>
            </a:r>
            <a:r>
              <a:rPr sz="1800" spc="250" dirty="0">
                <a:latin typeface="Cambria"/>
                <a:cs typeface="Cambria"/>
              </a:rPr>
              <a:t> </a:t>
            </a:r>
            <a:r>
              <a:rPr sz="1800" spc="80" dirty="0">
                <a:latin typeface="Cambria"/>
                <a:cs typeface="Cambria"/>
              </a:rPr>
              <a:t>make</a:t>
            </a:r>
            <a:r>
              <a:rPr sz="1800" spc="270" dirty="0">
                <a:latin typeface="Cambria"/>
                <a:cs typeface="Cambria"/>
              </a:rPr>
              <a:t> </a:t>
            </a:r>
            <a:r>
              <a:rPr sz="1800" spc="-10" dirty="0">
                <a:latin typeface="Cambria"/>
                <a:cs typeface="Cambria"/>
              </a:rPr>
              <a:t>predictions </a:t>
            </a:r>
            <a:r>
              <a:rPr sz="1800" dirty="0">
                <a:latin typeface="Cambria"/>
                <a:cs typeface="Cambria"/>
              </a:rPr>
              <a:t>or</a:t>
            </a:r>
            <a:r>
              <a:rPr sz="1800" spc="80" dirty="0">
                <a:latin typeface="Cambria"/>
                <a:cs typeface="Cambria"/>
              </a:rPr>
              <a:t> </a:t>
            </a:r>
            <a:r>
              <a:rPr sz="1800" spc="-10" dirty="0">
                <a:latin typeface="Cambria"/>
                <a:cs typeface="Cambria"/>
              </a:rPr>
              <a:t>decisions.</a:t>
            </a:r>
            <a:endParaRPr sz="1800" dirty="0">
              <a:latin typeface="Cambria"/>
              <a:cs typeface="Cambria"/>
            </a:endParaRPr>
          </a:p>
          <a:p>
            <a:pPr marL="299085" indent="-286385">
              <a:lnSpc>
                <a:spcPts val="2135"/>
              </a:lnSpc>
              <a:buFont typeface="Arial MT"/>
              <a:buChar char="•"/>
              <a:tabLst>
                <a:tab pos="299085" algn="l"/>
              </a:tabLst>
            </a:pPr>
            <a:r>
              <a:rPr sz="1800" b="1" spc="114" dirty="0">
                <a:latin typeface="Cambria"/>
                <a:cs typeface="Cambria"/>
              </a:rPr>
              <a:t>Input</a:t>
            </a:r>
            <a:r>
              <a:rPr sz="1800" spc="114" dirty="0">
                <a:latin typeface="Cambria"/>
                <a:cs typeface="Cambria"/>
              </a:rPr>
              <a:t>:</a:t>
            </a:r>
            <a:r>
              <a:rPr sz="1800" spc="120" dirty="0">
                <a:latin typeface="Cambria"/>
                <a:cs typeface="Cambria"/>
              </a:rPr>
              <a:t> </a:t>
            </a:r>
            <a:r>
              <a:rPr sz="1800" b="1" spc="145" dirty="0">
                <a:latin typeface="Cambria"/>
                <a:cs typeface="Cambria"/>
              </a:rPr>
              <a:t>Data</a:t>
            </a:r>
            <a:r>
              <a:rPr sz="1800" b="1" spc="120" dirty="0">
                <a:latin typeface="Cambria"/>
                <a:cs typeface="Cambria"/>
              </a:rPr>
              <a:t> </a:t>
            </a:r>
            <a:r>
              <a:rPr sz="1800" spc="90" dirty="0">
                <a:latin typeface="Cambria"/>
                <a:cs typeface="Cambria"/>
              </a:rPr>
              <a:t>+</a:t>
            </a:r>
            <a:r>
              <a:rPr sz="1800" spc="130" dirty="0">
                <a:latin typeface="Cambria"/>
                <a:cs typeface="Cambria"/>
              </a:rPr>
              <a:t> </a:t>
            </a:r>
            <a:r>
              <a:rPr sz="1800" b="1" spc="140" dirty="0">
                <a:latin typeface="Cambria"/>
                <a:cs typeface="Cambria"/>
              </a:rPr>
              <a:t>Output </a:t>
            </a:r>
            <a:r>
              <a:rPr sz="1800" dirty="0">
                <a:latin typeface="Cambria"/>
                <a:cs typeface="Cambria"/>
              </a:rPr>
              <a:t>(labels)</a:t>
            </a:r>
            <a:r>
              <a:rPr sz="1800" spc="150" dirty="0">
                <a:latin typeface="Cambria"/>
                <a:cs typeface="Cambria"/>
              </a:rPr>
              <a:t> </a:t>
            </a:r>
            <a:r>
              <a:rPr sz="1800" dirty="0">
                <a:solidFill>
                  <a:srgbClr val="7E7E7E"/>
                </a:solidFill>
                <a:latin typeface="Wingdings"/>
                <a:cs typeface="Wingdings"/>
              </a:rPr>
              <a:t></a:t>
            </a:r>
            <a:r>
              <a:rPr sz="1800" spc="65" dirty="0">
                <a:solidFill>
                  <a:srgbClr val="7E7E7E"/>
                </a:solidFill>
                <a:latin typeface="Times New Roman"/>
                <a:cs typeface="Times New Roman"/>
              </a:rPr>
              <a:t> </a:t>
            </a:r>
            <a:r>
              <a:rPr sz="1800" spc="90" dirty="0">
                <a:latin typeface="Cambria"/>
                <a:cs typeface="Cambria"/>
              </a:rPr>
              <a:t>Learns</a:t>
            </a:r>
            <a:r>
              <a:rPr sz="1800" spc="130" dirty="0">
                <a:latin typeface="Cambria"/>
                <a:cs typeface="Cambria"/>
              </a:rPr>
              <a:t> </a:t>
            </a:r>
            <a:r>
              <a:rPr sz="1800" b="1" spc="125" dirty="0">
                <a:latin typeface="Cambria"/>
                <a:cs typeface="Cambria"/>
              </a:rPr>
              <a:t>Rules</a:t>
            </a:r>
            <a:r>
              <a:rPr sz="1800" b="1" spc="135" dirty="0">
                <a:latin typeface="Cambria"/>
                <a:cs typeface="Cambria"/>
              </a:rPr>
              <a:t> </a:t>
            </a:r>
            <a:r>
              <a:rPr sz="1800" spc="-10" dirty="0">
                <a:latin typeface="Cambria"/>
                <a:cs typeface="Cambria"/>
              </a:rPr>
              <a:t>(Model).</a:t>
            </a:r>
            <a:endParaRPr sz="1800" dirty="0">
              <a:latin typeface="Cambria"/>
              <a:cs typeface="Cambria"/>
            </a:endParaRPr>
          </a:p>
          <a:p>
            <a:pPr marL="299085" indent="-286385">
              <a:lnSpc>
                <a:spcPct val="100000"/>
              </a:lnSpc>
              <a:spcBef>
                <a:spcPts val="15"/>
              </a:spcBef>
              <a:buFont typeface="Arial MT"/>
              <a:buChar char="•"/>
              <a:tabLst>
                <a:tab pos="299085" algn="l"/>
              </a:tabLst>
            </a:pPr>
            <a:r>
              <a:rPr sz="1800" b="1" spc="155" dirty="0">
                <a:latin typeface="Cambria"/>
                <a:cs typeface="Cambria"/>
              </a:rPr>
              <a:t>Key</a:t>
            </a:r>
            <a:r>
              <a:rPr sz="1800" b="1" spc="135" dirty="0">
                <a:latin typeface="Cambria"/>
                <a:cs typeface="Cambria"/>
              </a:rPr>
              <a:t> </a:t>
            </a:r>
            <a:r>
              <a:rPr sz="1800" b="1" spc="130" dirty="0">
                <a:latin typeface="Cambria"/>
                <a:cs typeface="Cambria"/>
              </a:rPr>
              <a:t>Focus</a:t>
            </a:r>
            <a:r>
              <a:rPr sz="1800" spc="130" dirty="0">
                <a:latin typeface="Cambria"/>
                <a:cs typeface="Cambria"/>
              </a:rPr>
              <a:t>:</a:t>
            </a:r>
            <a:r>
              <a:rPr sz="1800" spc="114" dirty="0">
                <a:latin typeface="Cambria"/>
                <a:cs typeface="Cambria"/>
              </a:rPr>
              <a:t> </a:t>
            </a:r>
            <a:r>
              <a:rPr sz="1800" spc="65" dirty="0">
                <a:latin typeface="Cambria"/>
                <a:cs typeface="Cambria"/>
              </a:rPr>
              <a:t>Relies</a:t>
            </a:r>
            <a:r>
              <a:rPr sz="1800" spc="130" dirty="0">
                <a:latin typeface="Cambria"/>
                <a:cs typeface="Cambria"/>
              </a:rPr>
              <a:t> </a:t>
            </a:r>
            <a:r>
              <a:rPr sz="1800" dirty="0">
                <a:latin typeface="Cambria"/>
                <a:cs typeface="Cambria"/>
              </a:rPr>
              <a:t>on</a:t>
            </a:r>
            <a:r>
              <a:rPr sz="1800" spc="114" dirty="0">
                <a:latin typeface="Cambria"/>
                <a:cs typeface="Cambria"/>
              </a:rPr>
              <a:t> </a:t>
            </a:r>
            <a:r>
              <a:rPr sz="1800" spc="65" dirty="0">
                <a:latin typeface="Cambria"/>
                <a:cs typeface="Cambria"/>
              </a:rPr>
              <a:t>high-quality</a:t>
            </a:r>
            <a:r>
              <a:rPr sz="1800" spc="100" dirty="0">
                <a:latin typeface="Cambria"/>
                <a:cs typeface="Cambria"/>
              </a:rPr>
              <a:t> </a:t>
            </a:r>
            <a:r>
              <a:rPr sz="1800" spc="75" dirty="0">
                <a:latin typeface="Cambria"/>
                <a:cs typeface="Cambria"/>
              </a:rPr>
              <a:t>training</a:t>
            </a:r>
            <a:r>
              <a:rPr sz="1800" spc="105" dirty="0">
                <a:latin typeface="Cambria"/>
                <a:cs typeface="Cambria"/>
              </a:rPr>
              <a:t> </a:t>
            </a:r>
            <a:r>
              <a:rPr sz="1800" spc="70" dirty="0">
                <a:latin typeface="Cambria"/>
                <a:cs typeface="Cambria"/>
              </a:rPr>
              <a:t>data.</a:t>
            </a:r>
            <a:endParaRPr sz="1800" dirty="0">
              <a:latin typeface="Cambria"/>
              <a:cs typeface="Cambria"/>
            </a:endParaRPr>
          </a:p>
          <a:p>
            <a:pPr marL="299085" indent="-286385">
              <a:lnSpc>
                <a:spcPct val="100000"/>
              </a:lnSpc>
              <a:buFont typeface="Arial MT"/>
              <a:buChar char="•"/>
              <a:tabLst>
                <a:tab pos="299085" algn="l"/>
              </a:tabLst>
            </a:pPr>
            <a:r>
              <a:rPr sz="1800" b="1" spc="110" dirty="0">
                <a:latin typeface="Cambria"/>
                <a:cs typeface="Cambria"/>
              </a:rPr>
              <a:t>Example</a:t>
            </a:r>
            <a:r>
              <a:rPr sz="1800" spc="110" dirty="0">
                <a:latin typeface="Cambria"/>
                <a:cs typeface="Cambria"/>
              </a:rPr>
              <a:t>:</a:t>
            </a:r>
            <a:endParaRPr sz="1800" dirty="0">
              <a:latin typeface="Cambria"/>
              <a:cs typeface="Cambria"/>
            </a:endParaRPr>
          </a:p>
          <a:p>
            <a:pPr marL="756285" marR="5080" lvl="1" indent="-287020">
              <a:lnSpc>
                <a:spcPct val="100000"/>
              </a:lnSpc>
              <a:spcBef>
                <a:spcPts val="15"/>
              </a:spcBef>
              <a:buFont typeface="Arial MT"/>
              <a:buChar char="•"/>
              <a:tabLst>
                <a:tab pos="756285" algn="l"/>
              </a:tabLst>
            </a:pPr>
            <a:r>
              <a:rPr sz="1800" spc="90" dirty="0">
                <a:latin typeface="Cambria"/>
                <a:cs typeface="Cambria"/>
              </a:rPr>
              <a:t>Train</a:t>
            </a:r>
            <a:r>
              <a:rPr sz="1800" spc="165" dirty="0">
                <a:latin typeface="Cambria"/>
                <a:cs typeface="Cambria"/>
              </a:rPr>
              <a:t> </a:t>
            </a:r>
            <a:r>
              <a:rPr sz="1800" spc="120" dirty="0">
                <a:latin typeface="Cambria"/>
                <a:cs typeface="Cambria"/>
              </a:rPr>
              <a:t>a</a:t>
            </a:r>
            <a:r>
              <a:rPr sz="1800" spc="145" dirty="0">
                <a:latin typeface="Cambria"/>
                <a:cs typeface="Cambria"/>
              </a:rPr>
              <a:t> </a:t>
            </a:r>
            <a:r>
              <a:rPr sz="1800" spc="65" dirty="0">
                <a:latin typeface="Cambria"/>
                <a:cs typeface="Cambria"/>
              </a:rPr>
              <a:t>spam</a:t>
            </a:r>
            <a:r>
              <a:rPr sz="1800" spc="175" dirty="0">
                <a:latin typeface="Cambria"/>
                <a:cs typeface="Cambria"/>
              </a:rPr>
              <a:t> </a:t>
            </a:r>
            <a:r>
              <a:rPr sz="1800" spc="50" dirty="0">
                <a:latin typeface="Cambria"/>
                <a:cs typeface="Cambria"/>
              </a:rPr>
              <a:t>classifier</a:t>
            </a:r>
            <a:r>
              <a:rPr sz="1800" spc="175" dirty="0">
                <a:latin typeface="Cambria"/>
                <a:cs typeface="Cambria"/>
              </a:rPr>
              <a:t> </a:t>
            </a:r>
            <a:r>
              <a:rPr sz="1800" spc="60" dirty="0">
                <a:latin typeface="Cambria"/>
                <a:cs typeface="Cambria"/>
              </a:rPr>
              <a:t>with</a:t>
            </a:r>
            <a:r>
              <a:rPr sz="1800" spc="165" dirty="0">
                <a:latin typeface="Cambria"/>
                <a:cs typeface="Cambria"/>
              </a:rPr>
              <a:t> </a:t>
            </a:r>
            <a:r>
              <a:rPr sz="1800" spc="45" dirty="0">
                <a:latin typeface="Cambria"/>
                <a:cs typeface="Cambria"/>
              </a:rPr>
              <a:t>labeled</a:t>
            </a:r>
            <a:r>
              <a:rPr sz="1800" spc="165" dirty="0">
                <a:latin typeface="Cambria"/>
                <a:cs typeface="Cambria"/>
              </a:rPr>
              <a:t> </a:t>
            </a:r>
            <a:r>
              <a:rPr sz="1800" spc="55" dirty="0">
                <a:latin typeface="Cambria"/>
                <a:cs typeface="Cambria"/>
              </a:rPr>
              <a:t>examples</a:t>
            </a:r>
            <a:r>
              <a:rPr sz="1800" spc="155" dirty="0">
                <a:latin typeface="Cambria"/>
                <a:cs typeface="Cambria"/>
              </a:rPr>
              <a:t> </a:t>
            </a:r>
            <a:r>
              <a:rPr sz="1800" dirty="0">
                <a:latin typeface="Cambria"/>
                <a:cs typeface="Cambria"/>
              </a:rPr>
              <a:t>of</a:t>
            </a:r>
            <a:r>
              <a:rPr sz="1800" spc="170" dirty="0">
                <a:latin typeface="Cambria"/>
                <a:cs typeface="Cambria"/>
              </a:rPr>
              <a:t> </a:t>
            </a:r>
            <a:r>
              <a:rPr sz="1800" spc="50" dirty="0">
                <a:latin typeface="Cambria"/>
                <a:cs typeface="Cambria"/>
              </a:rPr>
              <a:t>spam </a:t>
            </a:r>
            <a:r>
              <a:rPr sz="1800" spc="80" dirty="0">
                <a:latin typeface="Cambria"/>
                <a:cs typeface="Cambria"/>
              </a:rPr>
              <a:t>and</a:t>
            </a:r>
            <a:r>
              <a:rPr sz="1800" spc="180" dirty="0">
                <a:latin typeface="Cambria"/>
                <a:cs typeface="Cambria"/>
              </a:rPr>
              <a:t> </a:t>
            </a:r>
            <a:r>
              <a:rPr sz="1800" dirty="0">
                <a:latin typeface="Cambria"/>
                <a:cs typeface="Cambria"/>
              </a:rPr>
              <a:t>non-</a:t>
            </a:r>
            <a:r>
              <a:rPr sz="1800" spc="65" dirty="0">
                <a:latin typeface="Cambria"/>
                <a:cs typeface="Cambria"/>
              </a:rPr>
              <a:t>spam</a:t>
            </a:r>
            <a:r>
              <a:rPr sz="1800" spc="185" dirty="0">
                <a:latin typeface="Cambria"/>
                <a:cs typeface="Cambria"/>
              </a:rPr>
              <a:t> </a:t>
            </a:r>
            <a:r>
              <a:rPr sz="1800" spc="60" dirty="0">
                <a:latin typeface="Cambria"/>
                <a:cs typeface="Cambria"/>
              </a:rPr>
              <a:t>emails.</a:t>
            </a:r>
            <a:endParaRPr sz="1800" dirty="0">
              <a:latin typeface="Cambria"/>
              <a:cs typeface="Cambria"/>
            </a:endParaRPr>
          </a:p>
        </p:txBody>
      </p:sp>
      <p:sp>
        <p:nvSpPr>
          <p:cNvPr id="9" name="object 8">
            <a:extLst>
              <a:ext uri="{FF2B5EF4-FFF2-40B4-BE49-F238E27FC236}">
                <a16:creationId xmlns:a16="http://schemas.microsoft.com/office/drawing/2014/main" id="{0F10DF2F-E939-4BAD-846C-94A132E0E2B0}"/>
              </a:ext>
            </a:extLst>
          </p:cNvPr>
          <p:cNvSpPr txBox="1"/>
          <p:nvPr/>
        </p:nvSpPr>
        <p:spPr>
          <a:xfrm>
            <a:off x="590804" y="5439257"/>
            <a:ext cx="3692525" cy="881380"/>
          </a:xfrm>
          <a:prstGeom prst="rect">
            <a:avLst/>
          </a:prstGeom>
        </p:spPr>
        <p:txBody>
          <a:bodyPr vert="horz" wrap="square" lIns="0" tIns="13335" rIns="0" bIns="0" rtlCol="0">
            <a:spAutoFit/>
          </a:bodyPr>
          <a:lstStyle/>
          <a:p>
            <a:pPr marL="12700">
              <a:lnSpc>
                <a:spcPts val="2400"/>
              </a:lnSpc>
              <a:spcBef>
                <a:spcPts val="105"/>
              </a:spcBef>
            </a:pPr>
            <a:r>
              <a:rPr sz="2000" b="1" spc="170" dirty="0">
                <a:latin typeface="Cambria"/>
                <a:cs typeface="Cambria"/>
              </a:rPr>
              <a:t>Key</a:t>
            </a:r>
            <a:r>
              <a:rPr sz="2000" b="1" spc="125" dirty="0">
                <a:latin typeface="Cambria"/>
                <a:cs typeface="Cambria"/>
              </a:rPr>
              <a:t> </a:t>
            </a:r>
            <a:r>
              <a:rPr sz="2000" b="1" spc="114" dirty="0">
                <a:latin typeface="Cambria"/>
                <a:cs typeface="Cambria"/>
              </a:rPr>
              <a:t>Difference</a:t>
            </a:r>
            <a:endParaRPr sz="2000">
              <a:latin typeface="Cambria"/>
              <a:cs typeface="Cambria"/>
            </a:endParaRPr>
          </a:p>
          <a:p>
            <a:pPr marL="299085" marR="5080" indent="-287020">
              <a:lnSpc>
                <a:spcPts val="2170"/>
              </a:lnSpc>
              <a:spcBef>
                <a:spcPts val="65"/>
              </a:spcBef>
              <a:buFont typeface="Arial MT"/>
              <a:buChar char="•"/>
              <a:tabLst>
                <a:tab pos="299085" algn="l"/>
                <a:tab pos="1961514" algn="l"/>
              </a:tabLst>
            </a:pPr>
            <a:r>
              <a:rPr sz="1800" b="1" spc="95" dirty="0">
                <a:latin typeface="Cambria"/>
                <a:cs typeface="Cambria"/>
              </a:rPr>
              <a:t>Traditional</a:t>
            </a:r>
            <a:r>
              <a:rPr sz="1800" b="1" dirty="0">
                <a:latin typeface="Cambria"/>
                <a:cs typeface="Cambria"/>
              </a:rPr>
              <a:t>	</a:t>
            </a:r>
            <a:r>
              <a:rPr sz="1800" b="1" spc="114" dirty="0">
                <a:latin typeface="Cambria"/>
                <a:cs typeface="Cambria"/>
              </a:rPr>
              <a:t>Programming</a:t>
            </a:r>
            <a:r>
              <a:rPr sz="1800" spc="114" dirty="0">
                <a:latin typeface="Cambria"/>
                <a:cs typeface="Cambria"/>
              </a:rPr>
              <a:t>: </a:t>
            </a:r>
            <a:r>
              <a:rPr sz="1800" spc="50" dirty="0">
                <a:latin typeface="Cambria"/>
                <a:cs typeface="Cambria"/>
              </a:rPr>
              <a:t>flexibility.</a:t>
            </a:r>
            <a:endParaRPr sz="1800">
              <a:latin typeface="Cambria"/>
              <a:cs typeface="Cambria"/>
            </a:endParaRPr>
          </a:p>
        </p:txBody>
      </p:sp>
      <p:sp>
        <p:nvSpPr>
          <p:cNvPr id="10" name="object 9">
            <a:extLst>
              <a:ext uri="{FF2B5EF4-FFF2-40B4-BE49-F238E27FC236}">
                <a16:creationId xmlns:a16="http://schemas.microsoft.com/office/drawing/2014/main" id="{2D329A7F-6047-4AC5-AE63-1507775A1A22}"/>
              </a:ext>
            </a:extLst>
          </p:cNvPr>
          <p:cNvSpPr txBox="1"/>
          <p:nvPr/>
        </p:nvSpPr>
        <p:spPr>
          <a:xfrm>
            <a:off x="4561459" y="5744667"/>
            <a:ext cx="2571750" cy="299720"/>
          </a:xfrm>
          <a:prstGeom prst="rect">
            <a:avLst/>
          </a:prstGeom>
        </p:spPr>
        <p:txBody>
          <a:bodyPr vert="horz" wrap="square" lIns="0" tIns="12700" rIns="0" bIns="0" rtlCol="0">
            <a:spAutoFit/>
          </a:bodyPr>
          <a:lstStyle/>
          <a:p>
            <a:pPr marL="12700">
              <a:lnSpc>
                <a:spcPct val="100000"/>
              </a:lnSpc>
              <a:spcBef>
                <a:spcPts val="100"/>
              </a:spcBef>
              <a:tabLst>
                <a:tab pos="905510" algn="l"/>
                <a:tab pos="1805939" algn="l"/>
              </a:tabLst>
            </a:pPr>
            <a:r>
              <a:rPr sz="1800" spc="65" dirty="0">
                <a:latin typeface="Cambria"/>
                <a:cs typeface="Cambria"/>
              </a:rPr>
              <a:t>Fixed</a:t>
            </a:r>
            <a:r>
              <a:rPr sz="1800" dirty="0">
                <a:latin typeface="Cambria"/>
                <a:cs typeface="Cambria"/>
              </a:rPr>
              <a:t>	</a:t>
            </a:r>
            <a:r>
              <a:rPr sz="1800" spc="40" dirty="0">
                <a:latin typeface="Cambria"/>
                <a:cs typeface="Cambria"/>
              </a:rPr>
              <a:t>rules;</a:t>
            </a:r>
            <a:r>
              <a:rPr sz="1800" dirty="0">
                <a:latin typeface="Cambria"/>
                <a:cs typeface="Cambria"/>
              </a:rPr>
              <a:t>	</a:t>
            </a:r>
            <a:r>
              <a:rPr sz="1800" spc="45" dirty="0">
                <a:latin typeface="Cambria"/>
                <a:cs typeface="Cambria"/>
              </a:rPr>
              <a:t>limited</a:t>
            </a:r>
            <a:endParaRPr sz="1800" dirty="0">
              <a:latin typeface="Cambria"/>
              <a:cs typeface="Cambria"/>
            </a:endParaRPr>
          </a:p>
        </p:txBody>
      </p:sp>
      <p:sp>
        <p:nvSpPr>
          <p:cNvPr id="11" name="object 10">
            <a:extLst>
              <a:ext uri="{FF2B5EF4-FFF2-40B4-BE49-F238E27FC236}">
                <a16:creationId xmlns:a16="http://schemas.microsoft.com/office/drawing/2014/main" id="{65F863CD-8614-4C0C-8397-96C8A54C8F68}"/>
              </a:ext>
            </a:extLst>
          </p:cNvPr>
          <p:cNvSpPr txBox="1"/>
          <p:nvPr/>
        </p:nvSpPr>
        <p:spPr>
          <a:xfrm>
            <a:off x="590804" y="6293307"/>
            <a:ext cx="6543040" cy="575945"/>
          </a:xfrm>
          <a:prstGeom prst="rect">
            <a:avLst/>
          </a:prstGeom>
        </p:spPr>
        <p:txBody>
          <a:bodyPr vert="horz" wrap="square" lIns="0" tIns="10795" rIns="0" bIns="0" rtlCol="0">
            <a:spAutoFit/>
          </a:bodyPr>
          <a:lstStyle/>
          <a:p>
            <a:pPr marL="299085" marR="5080" indent="-287020">
              <a:lnSpc>
                <a:spcPct val="100600"/>
              </a:lnSpc>
              <a:spcBef>
                <a:spcPts val="85"/>
              </a:spcBef>
              <a:buFont typeface="Arial MT"/>
              <a:buChar char="•"/>
              <a:tabLst>
                <a:tab pos="299085" algn="l"/>
              </a:tabLst>
            </a:pPr>
            <a:r>
              <a:rPr sz="1800" b="1" spc="135" dirty="0">
                <a:latin typeface="Cambria"/>
                <a:cs typeface="Cambria"/>
              </a:rPr>
              <a:t>Machine</a:t>
            </a:r>
            <a:r>
              <a:rPr sz="1800" b="1" spc="355" dirty="0">
                <a:latin typeface="Cambria"/>
                <a:cs typeface="Cambria"/>
              </a:rPr>
              <a:t> </a:t>
            </a:r>
            <a:r>
              <a:rPr sz="1800" b="1" spc="130" dirty="0">
                <a:latin typeface="Cambria"/>
                <a:cs typeface="Cambria"/>
              </a:rPr>
              <a:t>Learning</a:t>
            </a:r>
            <a:r>
              <a:rPr sz="1800" spc="130" dirty="0">
                <a:latin typeface="Cambria"/>
                <a:cs typeface="Cambria"/>
              </a:rPr>
              <a:t>:</a:t>
            </a:r>
            <a:r>
              <a:rPr sz="1800" spc="350" dirty="0">
                <a:latin typeface="Cambria"/>
                <a:cs typeface="Cambria"/>
              </a:rPr>
              <a:t> </a:t>
            </a:r>
            <a:r>
              <a:rPr sz="1800" spc="65" dirty="0">
                <a:latin typeface="Cambria"/>
                <a:cs typeface="Cambria"/>
              </a:rPr>
              <a:t>Adaptive</a:t>
            </a:r>
            <a:r>
              <a:rPr sz="1800" spc="350" dirty="0">
                <a:latin typeface="Cambria"/>
                <a:cs typeface="Cambria"/>
              </a:rPr>
              <a:t> </a:t>
            </a:r>
            <a:r>
              <a:rPr sz="1800" spc="50" dirty="0">
                <a:latin typeface="Cambria"/>
                <a:cs typeface="Cambria"/>
              </a:rPr>
              <a:t>rules;</a:t>
            </a:r>
            <a:r>
              <a:rPr sz="1800" spc="360" dirty="0">
                <a:latin typeface="Cambria"/>
                <a:cs typeface="Cambria"/>
              </a:rPr>
              <a:t> </a:t>
            </a:r>
            <a:r>
              <a:rPr sz="1800" dirty="0">
                <a:latin typeface="Cambria"/>
                <a:cs typeface="Cambria"/>
              </a:rPr>
              <a:t>improves</a:t>
            </a:r>
            <a:r>
              <a:rPr sz="1800" spc="355" dirty="0">
                <a:latin typeface="Cambria"/>
                <a:cs typeface="Cambria"/>
              </a:rPr>
              <a:t> </a:t>
            </a:r>
            <a:r>
              <a:rPr sz="1800" spc="60" dirty="0">
                <a:latin typeface="Cambria"/>
                <a:cs typeface="Cambria"/>
              </a:rPr>
              <a:t>with</a:t>
            </a:r>
            <a:r>
              <a:rPr sz="1800" spc="340" dirty="0">
                <a:latin typeface="Cambria"/>
                <a:cs typeface="Cambria"/>
              </a:rPr>
              <a:t> </a:t>
            </a:r>
            <a:r>
              <a:rPr sz="1800" spc="-20" dirty="0">
                <a:latin typeface="Cambria"/>
                <a:cs typeface="Cambria"/>
              </a:rPr>
              <a:t>more </a:t>
            </a:r>
            <a:r>
              <a:rPr sz="1800" spc="80" dirty="0">
                <a:latin typeface="Cambria"/>
                <a:cs typeface="Cambria"/>
              </a:rPr>
              <a:t>data.</a:t>
            </a:r>
            <a:endParaRPr sz="1800" dirty="0">
              <a:latin typeface="Cambria"/>
              <a:cs typeface="Cambria"/>
            </a:endParaRPr>
          </a:p>
        </p:txBody>
      </p:sp>
    </p:spTree>
    <p:extLst>
      <p:ext uri="{BB962C8B-B14F-4D97-AF65-F5344CB8AC3E}">
        <p14:creationId xmlns:p14="http://schemas.microsoft.com/office/powerpoint/2010/main" val="3677024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838" y="904488"/>
            <a:ext cx="6022340" cy="1220470"/>
          </a:xfrm>
          <a:prstGeom prst="rect">
            <a:avLst/>
          </a:prstGeom>
        </p:spPr>
        <p:txBody>
          <a:bodyPr vert="horz" wrap="square" lIns="0" tIns="132715" rIns="0" bIns="0" rtlCol="0">
            <a:spAutoFit/>
          </a:bodyPr>
          <a:lstStyle/>
          <a:p>
            <a:pPr marL="12700">
              <a:lnSpc>
                <a:spcPct val="100000"/>
              </a:lnSpc>
              <a:spcBef>
                <a:spcPts val="1045"/>
              </a:spcBef>
            </a:pPr>
            <a:r>
              <a:rPr sz="2400" dirty="0">
                <a:solidFill>
                  <a:srgbClr val="5B9BD4"/>
                </a:solidFill>
                <a:latin typeface="Calibri"/>
                <a:cs typeface="Calibri"/>
              </a:rPr>
              <a:t>What</a:t>
            </a:r>
            <a:r>
              <a:rPr sz="2400" spc="-30" dirty="0">
                <a:solidFill>
                  <a:srgbClr val="5B9BD4"/>
                </a:solidFill>
                <a:latin typeface="Calibri"/>
                <a:cs typeface="Calibri"/>
              </a:rPr>
              <a:t> </a:t>
            </a:r>
            <a:r>
              <a:rPr sz="2400" dirty="0">
                <a:solidFill>
                  <a:srgbClr val="5B9BD4"/>
                </a:solidFill>
                <a:latin typeface="Calibri"/>
                <a:cs typeface="Calibri"/>
              </a:rPr>
              <a:t>is</a:t>
            </a:r>
            <a:r>
              <a:rPr sz="2400" spc="-45" dirty="0">
                <a:solidFill>
                  <a:srgbClr val="5B9BD4"/>
                </a:solidFill>
                <a:latin typeface="Calibri"/>
                <a:cs typeface="Calibri"/>
              </a:rPr>
              <a:t> </a:t>
            </a:r>
            <a:r>
              <a:rPr sz="2400" dirty="0">
                <a:solidFill>
                  <a:srgbClr val="5B9BD4"/>
                </a:solidFill>
                <a:latin typeface="Calibri"/>
                <a:cs typeface="Calibri"/>
              </a:rPr>
              <a:t>Machine</a:t>
            </a:r>
            <a:r>
              <a:rPr sz="2400" spc="-40" dirty="0">
                <a:solidFill>
                  <a:srgbClr val="5B9BD4"/>
                </a:solidFill>
                <a:latin typeface="Calibri"/>
                <a:cs typeface="Calibri"/>
              </a:rPr>
              <a:t> </a:t>
            </a:r>
            <a:r>
              <a:rPr sz="2400" spc="-10" dirty="0">
                <a:solidFill>
                  <a:srgbClr val="5B9BD4"/>
                </a:solidFill>
                <a:latin typeface="Calibri"/>
                <a:cs typeface="Calibri"/>
              </a:rPr>
              <a:t>Learning?</a:t>
            </a:r>
            <a:endParaRPr sz="2400">
              <a:latin typeface="Calibri"/>
              <a:cs typeface="Calibri"/>
            </a:endParaRPr>
          </a:p>
          <a:p>
            <a:pPr marL="568960" indent="-342900">
              <a:lnSpc>
                <a:spcPct val="100000"/>
              </a:lnSpc>
              <a:spcBef>
                <a:spcPts val="780"/>
              </a:spcBef>
              <a:buChar char="-"/>
              <a:tabLst>
                <a:tab pos="568960" algn="l"/>
              </a:tabLst>
            </a:pPr>
            <a:r>
              <a:rPr sz="2000" dirty="0">
                <a:latin typeface="Segoe Print"/>
                <a:cs typeface="Segoe Print"/>
              </a:rPr>
              <a:t>Automating</a:t>
            </a:r>
            <a:r>
              <a:rPr sz="2000" spc="-20" dirty="0">
                <a:latin typeface="Segoe Print"/>
                <a:cs typeface="Segoe Print"/>
              </a:rPr>
              <a:t> </a:t>
            </a:r>
            <a:r>
              <a:rPr sz="2000" dirty="0">
                <a:latin typeface="Segoe Print"/>
                <a:cs typeface="Segoe Print"/>
              </a:rPr>
              <a:t>the</a:t>
            </a:r>
            <a:r>
              <a:rPr sz="2000" spc="-30" dirty="0">
                <a:latin typeface="Segoe Print"/>
                <a:cs typeface="Segoe Print"/>
              </a:rPr>
              <a:t> </a:t>
            </a:r>
            <a:r>
              <a:rPr sz="2000" dirty="0">
                <a:latin typeface="Segoe Print"/>
                <a:cs typeface="Segoe Print"/>
              </a:rPr>
              <a:t>process</a:t>
            </a:r>
            <a:r>
              <a:rPr sz="2000" spc="-35" dirty="0">
                <a:latin typeface="Segoe Print"/>
                <a:cs typeface="Segoe Print"/>
              </a:rPr>
              <a:t> </a:t>
            </a:r>
            <a:r>
              <a:rPr sz="2000" dirty="0">
                <a:latin typeface="Segoe Print"/>
                <a:cs typeface="Segoe Print"/>
              </a:rPr>
              <a:t>of</a:t>
            </a:r>
            <a:r>
              <a:rPr sz="2000" spc="-25" dirty="0">
                <a:latin typeface="Segoe Print"/>
                <a:cs typeface="Segoe Print"/>
              </a:rPr>
              <a:t> </a:t>
            </a:r>
            <a:r>
              <a:rPr sz="2000" spc="-10" dirty="0">
                <a:latin typeface="Segoe Print"/>
                <a:cs typeface="Segoe Print"/>
              </a:rPr>
              <a:t>automation</a:t>
            </a:r>
            <a:endParaRPr sz="2000">
              <a:latin typeface="Segoe Print"/>
              <a:cs typeface="Segoe Print"/>
            </a:endParaRPr>
          </a:p>
          <a:p>
            <a:pPr marL="568960" indent="-342900">
              <a:lnSpc>
                <a:spcPct val="100000"/>
              </a:lnSpc>
              <a:buChar char="-"/>
              <a:tabLst>
                <a:tab pos="568960" algn="l"/>
              </a:tabLst>
            </a:pPr>
            <a:r>
              <a:rPr sz="2000" dirty="0">
                <a:latin typeface="Segoe Print"/>
                <a:cs typeface="Segoe Print"/>
              </a:rPr>
              <a:t>Getting</a:t>
            </a:r>
            <a:r>
              <a:rPr sz="2000" spc="-25" dirty="0">
                <a:latin typeface="Segoe Print"/>
                <a:cs typeface="Segoe Print"/>
              </a:rPr>
              <a:t> </a:t>
            </a:r>
            <a:r>
              <a:rPr sz="2000" dirty="0">
                <a:latin typeface="Segoe Print"/>
                <a:cs typeface="Segoe Print"/>
              </a:rPr>
              <a:t>computers</a:t>
            </a:r>
            <a:r>
              <a:rPr sz="2000" spc="-30" dirty="0">
                <a:latin typeface="Segoe Print"/>
                <a:cs typeface="Segoe Print"/>
              </a:rPr>
              <a:t> </a:t>
            </a:r>
            <a:r>
              <a:rPr sz="2000" dirty="0">
                <a:latin typeface="Segoe Print"/>
                <a:cs typeface="Segoe Print"/>
              </a:rPr>
              <a:t>to</a:t>
            </a:r>
            <a:r>
              <a:rPr sz="2000" spc="-35" dirty="0">
                <a:latin typeface="Segoe Print"/>
                <a:cs typeface="Segoe Print"/>
              </a:rPr>
              <a:t> </a:t>
            </a:r>
            <a:r>
              <a:rPr sz="2000" dirty="0">
                <a:latin typeface="Segoe Print"/>
                <a:cs typeface="Segoe Print"/>
              </a:rPr>
              <a:t>program</a:t>
            </a:r>
            <a:r>
              <a:rPr sz="2000" spc="-40" dirty="0">
                <a:latin typeface="Segoe Print"/>
                <a:cs typeface="Segoe Print"/>
              </a:rPr>
              <a:t> </a:t>
            </a:r>
            <a:r>
              <a:rPr sz="2000" spc="-10" dirty="0">
                <a:latin typeface="Segoe Print"/>
                <a:cs typeface="Segoe Print"/>
              </a:rPr>
              <a:t>themselves</a:t>
            </a:r>
            <a:endParaRPr sz="2000">
              <a:latin typeface="Segoe Print"/>
              <a:cs typeface="Segoe Print"/>
            </a:endParaRPr>
          </a:p>
        </p:txBody>
      </p:sp>
      <p:sp>
        <p:nvSpPr>
          <p:cNvPr id="3" name="object 3"/>
          <p:cNvSpPr txBox="1">
            <a:spLocks noGrp="1"/>
          </p:cNvSpPr>
          <p:nvPr>
            <p:ph type="title"/>
          </p:nvPr>
        </p:nvSpPr>
        <p:spPr>
          <a:xfrm>
            <a:off x="2438401" y="-10702"/>
            <a:ext cx="6322440" cy="689932"/>
          </a:xfrm>
          <a:prstGeom prst="rect">
            <a:avLst/>
          </a:prstGeom>
        </p:spPr>
        <p:txBody>
          <a:bodyPr vert="horz" wrap="square" lIns="0" tIns="12700" rIns="0" bIns="0" rtlCol="0">
            <a:spAutoFit/>
          </a:bodyPr>
          <a:lstStyle/>
          <a:p>
            <a:pPr marL="12700">
              <a:lnSpc>
                <a:spcPct val="100000"/>
              </a:lnSpc>
              <a:spcBef>
                <a:spcPts val="100"/>
              </a:spcBef>
            </a:pPr>
            <a:r>
              <a:rPr dirty="0"/>
              <a:t>Machine</a:t>
            </a:r>
            <a:r>
              <a:rPr spc="-150" dirty="0"/>
              <a:t> </a:t>
            </a:r>
            <a:r>
              <a:rPr dirty="0"/>
              <a:t>Learning</a:t>
            </a:r>
            <a:r>
              <a:rPr spc="-150" dirty="0"/>
              <a:t> </a:t>
            </a:r>
            <a:r>
              <a:rPr spc="-10" dirty="0"/>
              <a:t>Overview</a:t>
            </a:r>
          </a:p>
        </p:txBody>
      </p:sp>
      <p:grpSp>
        <p:nvGrpSpPr>
          <p:cNvPr id="4" name="object 4"/>
          <p:cNvGrpSpPr/>
          <p:nvPr/>
        </p:nvGrpSpPr>
        <p:grpSpPr>
          <a:xfrm>
            <a:off x="724675" y="2841508"/>
            <a:ext cx="11253470" cy="1546225"/>
            <a:chOff x="724675" y="2841508"/>
            <a:chExt cx="11253470" cy="1546225"/>
          </a:xfrm>
        </p:grpSpPr>
        <p:pic>
          <p:nvPicPr>
            <p:cNvPr id="5" name="object 5"/>
            <p:cNvPicPr/>
            <p:nvPr/>
          </p:nvPicPr>
          <p:blipFill>
            <a:blip r:embed="rId2" cstate="print"/>
            <a:stretch>
              <a:fillRect/>
            </a:stretch>
          </p:blipFill>
          <p:spPr>
            <a:xfrm>
              <a:off x="724675" y="3099869"/>
              <a:ext cx="5335980" cy="1143017"/>
            </a:xfrm>
            <a:prstGeom prst="rect">
              <a:avLst/>
            </a:prstGeom>
          </p:spPr>
        </p:pic>
        <p:pic>
          <p:nvPicPr>
            <p:cNvPr id="6" name="object 6"/>
            <p:cNvPicPr/>
            <p:nvPr/>
          </p:nvPicPr>
          <p:blipFill>
            <a:blip r:embed="rId3" cstate="print"/>
            <a:stretch>
              <a:fillRect/>
            </a:stretch>
          </p:blipFill>
          <p:spPr>
            <a:xfrm>
              <a:off x="6044945" y="2841508"/>
              <a:ext cx="5932978" cy="1545801"/>
            </a:xfrm>
            <a:prstGeom prst="rect">
              <a:avLst/>
            </a:prstGeom>
          </p:spPr>
        </p:pic>
      </p:grpSp>
      <p:sp>
        <p:nvSpPr>
          <p:cNvPr id="7" name="object 7"/>
          <p:cNvSpPr txBox="1"/>
          <p:nvPr/>
        </p:nvSpPr>
        <p:spPr>
          <a:xfrm>
            <a:off x="1982216" y="4355592"/>
            <a:ext cx="3157855"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Calibri"/>
                <a:cs typeface="Calibri"/>
              </a:rPr>
              <a:t>Traditional</a:t>
            </a:r>
            <a:r>
              <a:rPr sz="2400" b="1" spc="-65" dirty="0">
                <a:latin typeface="Calibri"/>
                <a:cs typeface="Calibri"/>
              </a:rPr>
              <a:t> </a:t>
            </a:r>
            <a:r>
              <a:rPr sz="2400" b="1" spc="-10" dirty="0">
                <a:latin typeface="Calibri"/>
                <a:cs typeface="Calibri"/>
              </a:rPr>
              <a:t>Programming</a:t>
            </a:r>
            <a:endParaRPr sz="2400">
              <a:latin typeface="Calibri"/>
              <a:cs typeface="Calibri"/>
            </a:endParaRPr>
          </a:p>
        </p:txBody>
      </p:sp>
      <p:sp>
        <p:nvSpPr>
          <p:cNvPr id="8" name="object 8"/>
          <p:cNvSpPr txBox="1"/>
          <p:nvPr/>
        </p:nvSpPr>
        <p:spPr>
          <a:xfrm>
            <a:off x="8022843" y="4337304"/>
            <a:ext cx="228028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Machine</a:t>
            </a:r>
            <a:r>
              <a:rPr sz="2400" b="1" spc="-125" dirty="0">
                <a:latin typeface="Calibri"/>
                <a:cs typeface="Calibri"/>
              </a:rPr>
              <a:t> </a:t>
            </a:r>
            <a:r>
              <a:rPr sz="2400" b="1" spc="-10" dirty="0">
                <a:latin typeface="Calibri"/>
                <a:cs typeface="Calibri"/>
              </a:rPr>
              <a:t>Learning</a:t>
            </a:r>
            <a:endParaRPr sz="2400">
              <a:latin typeface="Calibri"/>
              <a:cs typeface="Calibri"/>
            </a:endParaRPr>
          </a:p>
        </p:txBody>
      </p:sp>
      <p:sp>
        <p:nvSpPr>
          <p:cNvPr id="9" name="object 9"/>
          <p:cNvSpPr txBox="1"/>
          <p:nvPr/>
        </p:nvSpPr>
        <p:spPr>
          <a:xfrm>
            <a:off x="1520697" y="5390388"/>
            <a:ext cx="9874250" cy="880110"/>
          </a:xfrm>
          <a:prstGeom prst="rect">
            <a:avLst/>
          </a:prstGeom>
        </p:spPr>
        <p:txBody>
          <a:bodyPr vert="horz" wrap="square" lIns="0" tIns="12700" rIns="0" bIns="0" rtlCol="0">
            <a:spAutoFit/>
          </a:bodyPr>
          <a:lstStyle/>
          <a:p>
            <a:pPr marL="1619250" marR="5080" indent="-1606550">
              <a:lnSpc>
                <a:spcPct val="100000"/>
              </a:lnSpc>
              <a:spcBef>
                <a:spcPts val="100"/>
              </a:spcBef>
            </a:pPr>
            <a:r>
              <a:rPr sz="2800" dirty="0">
                <a:latin typeface="Segoe Print"/>
                <a:cs typeface="Segoe Print"/>
              </a:rPr>
              <a:t>Given</a:t>
            </a:r>
            <a:r>
              <a:rPr sz="2800" spc="-25" dirty="0">
                <a:latin typeface="Segoe Print"/>
                <a:cs typeface="Segoe Print"/>
              </a:rPr>
              <a:t> </a:t>
            </a:r>
            <a:r>
              <a:rPr sz="2800" dirty="0">
                <a:latin typeface="Segoe Print"/>
                <a:cs typeface="Segoe Print"/>
              </a:rPr>
              <a:t>examples</a:t>
            </a:r>
            <a:r>
              <a:rPr sz="2800" spc="-50" dirty="0">
                <a:latin typeface="Segoe Print"/>
                <a:cs typeface="Segoe Print"/>
              </a:rPr>
              <a:t> </a:t>
            </a:r>
            <a:r>
              <a:rPr sz="2800" dirty="0">
                <a:latin typeface="Segoe Print"/>
                <a:cs typeface="Segoe Print"/>
              </a:rPr>
              <a:t>(training</a:t>
            </a:r>
            <a:r>
              <a:rPr sz="2800" spc="-25" dirty="0">
                <a:latin typeface="Segoe Print"/>
                <a:cs typeface="Segoe Print"/>
              </a:rPr>
              <a:t> </a:t>
            </a:r>
            <a:r>
              <a:rPr sz="2800" dirty="0">
                <a:latin typeface="Segoe Print"/>
                <a:cs typeface="Segoe Print"/>
              </a:rPr>
              <a:t>data),</a:t>
            </a:r>
            <a:r>
              <a:rPr sz="2800" spc="-30" dirty="0">
                <a:latin typeface="Segoe Print"/>
                <a:cs typeface="Segoe Print"/>
              </a:rPr>
              <a:t> </a:t>
            </a:r>
            <a:r>
              <a:rPr sz="2800" dirty="0">
                <a:latin typeface="Segoe Print"/>
                <a:cs typeface="Segoe Print"/>
              </a:rPr>
              <a:t>make</a:t>
            </a:r>
            <a:r>
              <a:rPr sz="2800" spc="-55" dirty="0">
                <a:latin typeface="Segoe Print"/>
                <a:cs typeface="Segoe Print"/>
              </a:rPr>
              <a:t> </a:t>
            </a:r>
            <a:r>
              <a:rPr sz="2800" dirty="0">
                <a:latin typeface="Segoe Print"/>
                <a:cs typeface="Segoe Print"/>
              </a:rPr>
              <a:t>a</a:t>
            </a:r>
            <a:r>
              <a:rPr sz="2800" spc="-25" dirty="0">
                <a:latin typeface="Segoe Print"/>
                <a:cs typeface="Segoe Print"/>
              </a:rPr>
              <a:t> </a:t>
            </a:r>
            <a:r>
              <a:rPr sz="2800" dirty="0">
                <a:latin typeface="Segoe Print"/>
                <a:cs typeface="Segoe Print"/>
              </a:rPr>
              <a:t>machine</a:t>
            </a:r>
            <a:r>
              <a:rPr sz="2800" spc="-30" dirty="0">
                <a:latin typeface="Segoe Print"/>
                <a:cs typeface="Segoe Print"/>
              </a:rPr>
              <a:t> </a:t>
            </a:r>
            <a:r>
              <a:rPr sz="2800" spc="-10" dirty="0">
                <a:latin typeface="Segoe Print"/>
                <a:cs typeface="Segoe Print"/>
              </a:rPr>
              <a:t>learn </a:t>
            </a:r>
            <a:r>
              <a:rPr sz="2800" dirty="0">
                <a:latin typeface="Segoe Print"/>
                <a:cs typeface="Segoe Print"/>
              </a:rPr>
              <a:t>system</a:t>
            </a:r>
            <a:r>
              <a:rPr sz="2800" spc="-30" dirty="0">
                <a:latin typeface="Segoe Print"/>
                <a:cs typeface="Segoe Print"/>
              </a:rPr>
              <a:t> </a:t>
            </a:r>
            <a:r>
              <a:rPr sz="2800" dirty="0">
                <a:latin typeface="Segoe Print"/>
                <a:cs typeface="Segoe Print"/>
              </a:rPr>
              <a:t>behavior</a:t>
            </a:r>
            <a:r>
              <a:rPr sz="2800" spc="-40" dirty="0">
                <a:latin typeface="Segoe Print"/>
                <a:cs typeface="Segoe Print"/>
              </a:rPr>
              <a:t> </a:t>
            </a:r>
            <a:r>
              <a:rPr sz="2800" dirty="0">
                <a:latin typeface="Segoe Print"/>
                <a:cs typeface="Segoe Print"/>
              </a:rPr>
              <a:t>or</a:t>
            </a:r>
            <a:r>
              <a:rPr sz="2800" spc="-25" dirty="0">
                <a:latin typeface="Segoe Print"/>
                <a:cs typeface="Segoe Print"/>
              </a:rPr>
              <a:t> </a:t>
            </a:r>
            <a:r>
              <a:rPr sz="2800" dirty="0">
                <a:latin typeface="Segoe Print"/>
                <a:cs typeface="Segoe Print"/>
              </a:rPr>
              <a:t>discover</a:t>
            </a:r>
            <a:r>
              <a:rPr sz="2800" spc="-30" dirty="0">
                <a:latin typeface="Segoe Print"/>
                <a:cs typeface="Segoe Print"/>
              </a:rPr>
              <a:t> </a:t>
            </a:r>
            <a:r>
              <a:rPr sz="2800" spc="-10" dirty="0">
                <a:latin typeface="Segoe Print"/>
                <a:cs typeface="Segoe Print"/>
              </a:rPr>
              <a:t>patterns</a:t>
            </a:r>
            <a:endParaRPr sz="2800">
              <a:latin typeface="Segoe Print"/>
              <a:cs typeface="Segoe Prin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Machine Learning ?</a:t>
            </a:r>
          </a:p>
        </p:txBody>
      </p:sp>
      <p:sp>
        <p:nvSpPr>
          <p:cNvPr id="3" name="Content Placeholder 2"/>
          <p:cNvSpPr>
            <a:spLocks noGrp="1"/>
          </p:cNvSpPr>
          <p:nvPr>
            <p:ph idx="1"/>
          </p:nvPr>
        </p:nvSpPr>
        <p:spPr>
          <a:xfrm>
            <a:off x="1981200" y="1600200"/>
            <a:ext cx="6096000" cy="4191000"/>
          </a:xfrm>
        </p:spPr>
        <p:txBody>
          <a:bodyPr>
            <a:normAutofit/>
          </a:bodyPr>
          <a:lstStyle/>
          <a:p>
            <a:r>
              <a:rPr lang="en-GB" dirty="0"/>
              <a:t>Field of study that gives computer the ability to learn without being explicitly programmed (Arthur Samuel, 1956) </a:t>
            </a:r>
          </a:p>
          <a:p>
            <a:r>
              <a:rPr lang="en-GB" dirty="0"/>
              <a:t>Study of algorithms that improve their performance P at some task T with experience E (Tom Mitchell, 1998) </a:t>
            </a:r>
          </a:p>
          <a:p>
            <a:endParaRPr lang="en-GB" dirty="0"/>
          </a:p>
        </p:txBody>
      </p:sp>
      <p:sp>
        <p:nvSpPr>
          <p:cNvPr id="4" name="Rectangle 3"/>
          <p:cNvSpPr/>
          <p:nvPr/>
        </p:nvSpPr>
        <p:spPr>
          <a:xfrm>
            <a:off x="2176736" y="5837312"/>
            <a:ext cx="5976664" cy="792088"/>
          </a:xfrm>
          <a:prstGeom prst="rect">
            <a:avLst/>
          </a:prstGeom>
          <a:solidFill>
            <a:schemeClr val="accent1">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74320" indent="-274320">
              <a:spcBef>
                <a:spcPct val="20000"/>
              </a:spcBef>
              <a:buClr>
                <a:schemeClr val="accent3"/>
              </a:buClr>
              <a:buSzPct val="95000"/>
              <a:defRPr/>
            </a:pPr>
            <a:r>
              <a:rPr lang="en-GB" sz="2800" dirty="0">
                <a:solidFill>
                  <a:schemeClr val="tx1"/>
                </a:solidFill>
              </a:rPr>
              <a:t>Well defined learning task: &lt;P, T, E&gt;</a:t>
            </a:r>
          </a:p>
        </p:txBody>
      </p:sp>
      <p:pic>
        <p:nvPicPr>
          <p:cNvPr id="5" name="Picture 4" descr="checkers.jpg"/>
          <p:cNvPicPr>
            <a:picLocks noChangeAspect="1"/>
          </p:cNvPicPr>
          <p:nvPr/>
        </p:nvPicPr>
        <p:blipFill>
          <a:blip r:embed="rId2" cstate="print"/>
          <a:stretch>
            <a:fillRect/>
          </a:stretch>
        </p:blipFill>
        <p:spPr>
          <a:xfrm>
            <a:off x="7964964" y="1447800"/>
            <a:ext cx="2699792" cy="2719008"/>
          </a:xfrm>
          <a:prstGeom prst="rect">
            <a:avLst/>
          </a:prstGeom>
        </p:spPr>
      </p:pic>
      <p:sp>
        <p:nvSpPr>
          <p:cNvPr id="6" name="TextBox 5"/>
          <p:cNvSpPr txBox="1"/>
          <p:nvPr/>
        </p:nvSpPr>
        <p:spPr>
          <a:xfrm>
            <a:off x="8040216" y="4699338"/>
            <a:ext cx="2627784" cy="1015663"/>
          </a:xfrm>
          <a:prstGeom prst="rect">
            <a:avLst/>
          </a:prstGeom>
          <a:noFill/>
        </p:spPr>
        <p:txBody>
          <a:bodyPr wrap="square" rtlCol="0">
            <a:spAutoFit/>
          </a:bodyPr>
          <a:lstStyle/>
          <a:p>
            <a:r>
              <a:rPr lang="en-GB" sz="2000" dirty="0"/>
              <a:t>T: Play checkers</a:t>
            </a:r>
          </a:p>
          <a:p>
            <a:r>
              <a:rPr lang="en-GB" sz="2000" dirty="0"/>
              <a:t>P: % of games won</a:t>
            </a:r>
          </a:p>
          <a:p>
            <a:r>
              <a:rPr lang="en-GB" sz="2000" dirty="0"/>
              <a:t>E: Playing against self</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Well Defined Learning Task</a:t>
            </a:r>
          </a:p>
        </p:txBody>
      </p:sp>
      <p:sp>
        <p:nvSpPr>
          <p:cNvPr id="3" name="Content Placeholder 2"/>
          <p:cNvSpPr>
            <a:spLocks noGrp="1"/>
          </p:cNvSpPr>
          <p:nvPr>
            <p:ph idx="1"/>
          </p:nvPr>
        </p:nvSpPr>
        <p:spPr>
          <a:xfrm>
            <a:off x="1981200" y="1600200"/>
            <a:ext cx="8229600" cy="2362200"/>
          </a:xfrm>
        </p:spPr>
        <p:txBody>
          <a:bodyPr>
            <a:normAutofit/>
          </a:bodyPr>
          <a:lstStyle/>
          <a:p>
            <a:r>
              <a:rPr lang="en-GB" dirty="0"/>
              <a:t>Handwriting Recognition</a:t>
            </a:r>
          </a:p>
          <a:p>
            <a:pPr lvl="1"/>
            <a:r>
              <a:rPr lang="en-GB" dirty="0"/>
              <a:t>Task T: recognizing and classifying handwritten words within images</a:t>
            </a:r>
          </a:p>
          <a:p>
            <a:pPr lvl="1"/>
            <a:r>
              <a:rPr lang="en-GB" dirty="0"/>
              <a:t>Performance P: percent of words correctly classified</a:t>
            </a:r>
          </a:p>
          <a:p>
            <a:pPr lvl="1"/>
            <a:r>
              <a:rPr lang="en-GB" dirty="0"/>
              <a:t>Training experience E: a database of written words with given classification</a:t>
            </a:r>
          </a:p>
          <a:p>
            <a:endParaRPr lang="en-GB" dirty="0"/>
          </a:p>
        </p:txBody>
      </p:sp>
      <p:pic>
        <p:nvPicPr>
          <p:cNvPr id="4" name="Picture 3" descr="close49"/>
          <p:cNvPicPr>
            <a:picLocks noChangeAspect="1" noChangeArrowheads="1"/>
          </p:cNvPicPr>
          <p:nvPr/>
        </p:nvPicPr>
        <p:blipFill>
          <a:blip r:embed="rId2" cstate="print"/>
          <a:srcRect/>
          <a:stretch>
            <a:fillRect/>
          </a:stretch>
        </p:blipFill>
        <p:spPr bwMode="auto">
          <a:xfrm>
            <a:off x="3747120" y="3861661"/>
            <a:ext cx="4634880" cy="3009208"/>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a:t>
            </a:r>
          </a:p>
        </p:txBody>
      </p:sp>
      <p:sp>
        <p:nvSpPr>
          <p:cNvPr id="3" name="Content Placeholder 2"/>
          <p:cNvSpPr>
            <a:spLocks noGrp="1"/>
          </p:cNvSpPr>
          <p:nvPr>
            <p:ph idx="1"/>
          </p:nvPr>
        </p:nvSpPr>
        <p:spPr>
          <a:xfrm>
            <a:off x="1905000" y="1287491"/>
            <a:ext cx="8382000" cy="2666999"/>
          </a:xfrm>
        </p:spPr>
        <p:txBody>
          <a:bodyPr>
            <a:normAutofit fontScale="92500"/>
          </a:bodyPr>
          <a:lstStyle/>
          <a:p>
            <a:r>
              <a:rPr lang="en-GB" dirty="0"/>
              <a:t>Suppose your email program watches which email you do and do not mark as spam and based on that learn how to better filter spam. What is the task in this setting</a:t>
            </a:r>
          </a:p>
          <a:p>
            <a:pPr lvl="1"/>
            <a:r>
              <a:rPr lang="en-GB" dirty="0"/>
              <a:t>Classifying emails as spam or not spam</a:t>
            </a:r>
          </a:p>
          <a:p>
            <a:pPr lvl="1"/>
            <a:r>
              <a:rPr lang="en-GB" dirty="0"/>
              <a:t>The number of emails correctly classifying as spam/not spam</a:t>
            </a:r>
          </a:p>
          <a:p>
            <a:pPr lvl="1"/>
            <a:r>
              <a:rPr lang="en-GB" dirty="0"/>
              <a:t>Labelling emails as spam/ not spam</a:t>
            </a:r>
          </a:p>
          <a:p>
            <a:pPr lvl="1"/>
            <a:r>
              <a:rPr lang="en-GB" dirty="0"/>
              <a:t>Non of above: This is not a machine learning problem</a:t>
            </a:r>
          </a:p>
        </p:txBody>
      </p:sp>
      <p:pic>
        <p:nvPicPr>
          <p:cNvPr id="1026" name="Picture 2"/>
          <p:cNvPicPr>
            <a:picLocks noChangeAspect="1" noChangeArrowheads="1"/>
          </p:cNvPicPr>
          <p:nvPr/>
        </p:nvPicPr>
        <p:blipFill>
          <a:blip r:embed="rId2" cstate="print"/>
          <a:srcRect/>
          <a:stretch>
            <a:fillRect/>
          </a:stretch>
        </p:blipFill>
        <p:spPr bwMode="auto">
          <a:xfrm>
            <a:off x="2711324" y="3886200"/>
            <a:ext cx="6769352" cy="28194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Supervised Learning</a:t>
            </a:r>
          </a:p>
        </p:txBody>
      </p:sp>
      <p:pic>
        <p:nvPicPr>
          <p:cNvPr id="4099" name="Picture 3"/>
          <p:cNvPicPr>
            <a:picLocks noChangeAspect="1" noChangeArrowheads="1"/>
          </p:cNvPicPr>
          <p:nvPr/>
        </p:nvPicPr>
        <p:blipFill>
          <a:blip r:embed="rId2" cstate="print"/>
          <a:srcRect/>
          <a:stretch>
            <a:fillRect/>
          </a:stretch>
        </p:blipFill>
        <p:spPr bwMode="auto">
          <a:xfrm>
            <a:off x="3152776" y="1508912"/>
            <a:ext cx="4467225" cy="3520289"/>
          </a:xfrm>
          <a:prstGeom prst="rect">
            <a:avLst/>
          </a:prstGeom>
          <a:noFill/>
          <a:ln w="9525">
            <a:noFill/>
            <a:miter lim="800000"/>
            <a:headEnd/>
            <a:tailEnd/>
          </a:ln>
        </p:spPr>
      </p:pic>
      <p:sp>
        <p:nvSpPr>
          <p:cNvPr id="5" name="Oval 4"/>
          <p:cNvSpPr/>
          <p:nvPr/>
        </p:nvSpPr>
        <p:spPr>
          <a:xfrm>
            <a:off x="4267200" y="3886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4419600" y="3810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44196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42672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4572000" y="3886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44196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5720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572000" y="3581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44196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4724400" y="3733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4648200" y="3429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4800600" y="3581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4495800" y="3276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4876800" y="3657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72000" y="3048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4876800" y="3352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51816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4953000" y="3962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Multiply 22"/>
          <p:cNvSpPr/>
          <p:nvPr/>
        </p:nvSpPr>
        <p:spPr>
          <a:xfrm>
            <a:off x="5029200" y="2895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Multiply 23"/>
          <p:cNvSpPr/>
          <p:nvPr/>
        </p:nvSpPr>
        <p:spPr>
          <a:xfrm>
            <a:off x="5181600" y="31242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Multiply 24"/>
          <p:cNvSpPr/>
          <p:nvPr/>
        </p:nvSpPr>
        <p:spPr>
          <a:xfrm>
            <a:off x="5486400" y="3657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Multiply 25"/>
          <p:cNvSpPr/>
          <p:nvPr/>
        </p:nvSpPr>
        <p:spPr>
          <a:xfrm>
            <a:off x="5334000" y="2895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Multiply 26"/>
          <p:cNvSpPr/>
          <p:nvPr/>
        </p:nvSpPr>
        <p:spPr>
          <a:xfrm>
            <a:off x="5486400" y="3276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Multiply 27"/>
          <p:cNvSpPr/>
          <p:nvPr/>
        </p:nvSpPr>
        <p:spPr>
          <a:xfrm>
            <a:off x="5791200" y="35052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Multiply 28"/>
          <p:cNvSpPr/>
          <p:nvPr/>
        </p:nvSpPr>
        <p:spPr>
          <a:xfrm>
            <a:off x="5791200" y="38100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Multiply 29"/>
          <p:cNvSpPr/>
          <p:nvPr/>
        </p:nvSpPr>
        <p:spPr>
          <a:xfrm>
            <a:off x="5562600" y="30480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Multiply 30"/>
          <p:cNvSpPr/>
          <p:nvPr/>
        </p:nvSpPr>
        <p:spPr>
          <a:xfrm>
            <a:off x="5791200" y="32004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Multiply 31"/>
          <p:cNvSpPr/>
          <p:nvPr/>
        </p:nvSpPr>
        <p:spPr>
          <a:xfrm>
            <a:off x="5943600" y="33528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Multiply 32"/>
          <p:cNvSpPr/>
          <p:nvPr/>
        </p:nvSpPr>
        <p:spPr>
          <a:xfrm>
            <a:off x="5410200" y="30480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Multiply 33"/>
          <p:cNvSpPr/>
          <p:nvPr/>
        </p:nvSpPr>
        <p:spPr>
          <a:xfrm>
            <a:off x="5562600" y="34290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Multiply 34"/>
          <p:cNvSpPr/>
          <p:nvPr/>
        </p:nvSpPr>
        <p:spPr>
          <a:xfrm>
            <a:off x="5791200" y="29718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Multiply 35"/>
          <p:cNvSpPr/>
          <p:nvPr/>
        </p:nvSpPr>
        <p:spPr>
          <a:xfrm>
            <a:off x="5943600" y="31242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Multiply 36"/>
          <p:cNvSpPr/>
          <p:nvPr/>
        </p:nvSpPr>
        <p:spPr>
          <a:xfrm>
            <a:off x="5562600" y="28194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Multiply 37"/>
          <p:cNvSpPr/>
          <p:nvPr/>
        </p:nvSpPr>
        <p:spPr>
          <a:xfrm>
            <a:off x="5943600" y="3657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Multiply 38"/>
          <p:cNvSpPr/>
          <p:nvPr/>
        </p:nvSpPr>
        <p:spPr>
          <a:xfrm>
            <a:off x="5715000" y="36576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Multiply 39"/>
          <p:cNvSpPr/>
          <p:nvPr/>
        </p:nvSpPr>
        <p:spPr>
          <a:xfrm>
            <a:off x="5181600" y="2667000"/>
            <a:ext cx="152400" cy="15240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ontent Placeholder 2"/>
          <p:cNvSpPr txBox="1">
            <a:spLocks/>
          </p:cNvSpPr>
          <p:nvPr/>
        </p:nvSpPr>
        <p:spPr>
          <a:xfrm>
            <a:off x="1981200" y="5105401"/>
            <a:ext cx="8229600" cy="15240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Right answers are given for inputs</a:t>
            </a:r>
          </a:p>
          <a:p>
            <a:r>
              <a:rPr lang="en-GB" dirty="0"/>
              <a:t>Classification refers to predict discrete valued output (e.g. 0 or 1)</a:t>
            </a:r>
          </a:p>
        </p:txBody>
      </p:sp>
      <p:sp>
        <p:nvSpPr>
          <p:cNvPr id="41" name="TextBox 40"/>
          <p:cNvSpPr txBox="1"/>
          <p:nvPr/>
        </p:nvSpPr>
        <p:spPr>
          <a:xfrm>
            <a:off x="6553200" y="1676401"/>
            <a:ext cx="4114800" cy="1200329"/>
          </a:xfrm>
          <a:prstGeom prst="rect">
            <a:avLst/>
          </a:prstGeom>
          <a:noFill/>
        </p:spPr>
        <p:txBody>
          <a:bodyPr wrap="square" rtlCol="0">
            <a:spAutoFit/>
          </a:bodyPr>
          <a:lstStyle/>
          <a:p>
            <a:r>
              <a:rPr lang="en-US" sz="3600" dirty="0"/>
              <a:t>Breast Cancer: (Malignant, Benign)</a:t>
            </a:r>
          </a:p>
        </p:txBody>
      </p:sp>
    </p:spTree>
    <p:extLst>
      <p:ext uri="{BB962C8B-B14F-4D97-AF65-F5344CB8AC3E}">
        <p14:creationId xmlns:p14="http://schemas.microsoft.com/office/powerpoint/2010/main" val="3753057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Unsupervised Learning</a:t>
            </a:r>
          </a:p>
        </p:txBody>
      </p:sp>
      <p:pic>
        <p:nvPicPr>
          <p:cNvPr id="1028" name="Picture 4"/>
          <p:cNvPicPr>
            <a:picLocks noChangeAspect="1" noChangeArrowheads="1"/>
          </p:cNvPicPr>
          <p:nvPr/>
        </p:nvPicPr>
        <p:blipFill>
          <a:blip r:embed="rId2" cstate="print"/>
          <a:srcRect/>
          <a:stretch>
            <a:fillRect/>
          </a:stretch>
        </p:blipFill>
        <p:spPr bwMode="auto">
          <a:xfrm>
            <a:off x="1600201" y="1943100"/>
            <a:ext cx="3762375" cy="3771900"/>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6372226" y="2028826"/>
            <a:ext cx="3686175" cy="3686175"/>
          </a:xfrm>
          <a:prstGeom prst="rect">
            <a:avLst/>
          </a:prstGeom>
          <a:noFill/>
          <a:ln w="9525">
            <a:noFill/>
            <a:miter lim="800000"/>
            <a:headEnd/>
            <a:tailEnd/>
          </a:ln>
        </p:spPr>
      </p:pic>
    </p:spTree>
    <p:extLst>
      <p:ext uri="{BB962C8B-B14F-4D97-AF65-F5344CB8AC3E}">
        <p14:creationId xmlns:p14="http://schemas.microsoft.com/office/powerpoint/2010/main" val="608039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a:t>
            </a:r>
          </a:p>
        </p:txBody>
      </p:sp>
      <p:sp>
        <p:nvSpPr>
          <p:cNvPr id="3" name="Content Placeholder 2"/>
          <p:cNvSpPr>
            <a:spLocks noGrp="1"/>
          </p:cNvSpPr>
          <p:nvPr>
            <p:ph idx="1"/>
          </p:nvPr>
        </p:nvSpPr>
        <p:spPr>
          <a:xfrm>
            <a:off x="1981200" y="1600200"/>
            <a:ext cx="8229600" cy="5029200"/>
          </a:xfrm>
        </p:spPr>
        <p:txBody>
          <a:bodyPr>
            <a:normAutofit/>
          </a:bodyPr>
          <a:lstStyle/>
          <a:p>
            <a:r>
              <a:rPr lang="en-GB" dirty="0"/>
              <a:t>Of following examples, which one you address using unsupervised learning algorithm?</a:t>
            </a:r>
          </a:p>
          <a:p>
            <a:pPr lvl="1"/>
            <a:r>
              <a:rPr lang="en-GB" dirty="0"/>
              <a:t>Given email labelled as spam/not spam, learn a spam filter</a:t>
            </a:r>
          </a:p>
          <a:p>
            <a:pPr lvl="1"/>
            <a:r>
              <a:rPr lang="en-GB" dirty="0"/>
              <a:t>Given a set of news articles on the web, group them into set of articles about the same story</a:t>
            </a:r>
          </a:p>
          <a:p>
            <a:pPr lvl="1"/>
            <a:r>
              <a:rPr lang="en-GB" dirty="0"/>
              <a:t>Given a database of customer data, automatically discover market segments and group customer into different market segments</a:t>
            </a:r>
          </a:p>
          <a:p>
            <a:pPr lvl="1"/>
            <a:r>
              <a:rPr lang="en-GB" dirty="0"/>
              <a:t>Given a database of patients diagnosed as either having diabetes or not, learn to classify a new patients as either having a diabetes or not.</a:t>
            </a:r>
          </a:p>
          <a:p>
            <a:endParaRPr lang="en-GB" dirty="0"/>
          </a:p>
        </p:txBody>
      </p:sp>
    </p:spTree>
    <p:extLst>
      <p:ext uri="{BB962C8B-B14F-4D97-AF65-F5344CB8AC3E}">
        <p14:creationId xmlns:p14="http://schemas.microsoft.com/office/powerpoint/2010/main" val="2213610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Why It Is Useful ?</a:t>
            </a:r>
          </a:p>
        </p:txBody>
      </p:sp>
      <p:sp>
        <p:nvSpPr>
          <p:cNvPr id="3" name="Content Placeholder 2"/>
          <p:cNvSpPr>
            <a:spLocks noGrp="1"/>
          </p:cNvSpPr>
          <p:nvPr>
            <p:ph idx="1"/>
          </p:nvPr>
        </p:nvSpPr>
        <p:spPr>
          <a:xfrm>
            <a:off x="1981200" y="1273344"/>
            <a:ext cx="8229600" cy="4517856"/>
          </a:xfrm>
        </p:spPr>
        <p:txBody>
          <a:bodyPr/>
          <a:lstStyle/>
          <a:p>
            <a:r>
              <a:rPr lang="en-GB" dirty="0"/>
              <a:t>ML learning provides best methods for developing particular kinds of software, in applications where:</a:t>
            </a:r>
          </a:p>
          <a:p>
            <a:pPr marL="850392" lvl="1" indent="-457200">
              <a:buFont typeface="+mj-lt"/>
              <a:buAutoNum type="arabicPeriod"/>
            </a:pPr>
            <a:r>
              <a:rPr lang="en-GB" dirty="0"/>
              <a:t>Application is too much complex for people to manually design the algorithm. For instance, soft- wares for sensor-based prediction tasks such as  speech recognition and computer  vision.</a:t>
            </a:r>
          </a:p>
        </p:txBody>
      </p:sp>
      <p:pic>
        <p:nvPicPr>
          <p:cNvPr id="4" name="Picture 2"/>
          <p:cNvPicPr>
            <a:picLocks noChangeAspect="1" noChangeArrowheads="1"/>
          </p:cNvPicPr>
          <p:nvPr/>
        </p:nvPicPr>
        <p:blipFill>
          <a:blip r:embed="rId3" cstate="print"/>
          <a:srcRect/>
          <a:stretch>
            <a:fillRect/>
          </a:stretch>
        </p:blipFill>
        <p:spPr bwMode="auto">
          <a:xfrm>
            <a:off x="2364836" y="4637769"/>
            <a:ext cx="3045364" cy="2234363"/>
          </a:xfrm>
          <a:prstGeom prst="rect">
            <a:avLst/>
          </a:prstGeom>
          <a:noFill/>
          <a:ln w="9525">
            <a:noFill/>
            <a:miter lim="800000"/>
            <a:headEnd/>
            <a:tailEnd/>
          </a:ln>
        </p:spPr>
      </p:pic>
      <p:pic>
        <p:nvPicPr>
          <p:cNvPr id="5" name="Picture 4" descr="SpeechRecognition.gif"/>
          <p:cNvPicPr>
            <a:picLocks noChangeAspect="1"/>
          </p:cNvPicPr>
          <p:nvPr/>
        </p:nvPicPr>
        <p:blipFill>
          <a:blip r:embed="rId4" cstate="print"/>
          <a:stretch>
            <a:fillRect/>
          </a:stretch>
        </p:blipFill>
        <p:spPr>
          <a:xfrm>
            <a:off x="6400800" y="4590596"/>
            <a:ext cx="3340224" cy="226740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Why It Is Useful ? (Cont.)</a:t>
            </a:r>
          </a:p>
        </p:txBody>
      </p:sp>
      <p:sp>
        <p:nvSpPr>
          <p:cNvPr id="3" name="Content Placeholder 2"/>
          <p:cNvSpPr>
            <a:spLocks noGrp="1"/>
          </p:cNvSpPr>
          <p:nvPr>
            <p:ph idx="1"/>
          </p:nvPr>
        </p:nvSpPr>
        <p:spPr>
          <a:xfrm>
            <a:off x="1981200" y="1371600"/>
            <a:ext cx="8229600" cy="4517856"/>
          </a:xfrm>
        </p:spPr>
        <p:txBody>
          <a:bodyPr/>
          <a:lstStyle/>
          <a:p>
            <a:r>
              <a:rPr lang="en-GB" dirty="0"/>
              <a:t>ML learning provides best methods for developing particular kinds of software, in applications where:</a:t>
            </a:r>
          </a:p>
          <a:p>
            <a:pPr marL="850392" lvl="1" indent="-457200">
              <a:buFont typeface="+mj-lt"/>
              <a:buAutoNum type="arabicPeriod"/>
            </a:pPr>
            <a:r>
              <a:rPr lang="en-GB" dirty="0"/>
              <a:t>Application is too much complex for people to manually design the algorithm.</a:t>
            </a:r>
          </a:p>
        </p:txBody>
      </p:sp>
      <p:pic>
        <p:nvPicPr>
          <p:cNvPr id="6" name="Picture 3" descr="close49"/>
          <p:cNvPicPr>
            <a:picLocks noChangeAspect="1" noChangeArrowheads="1"/>
          </p:cNvPicPr>
          <p:nvPr/>
        </p:nvPicPr>
        <p:blipFill>
          <a:blip r:embed="rId2" cstate="print"/>
          <a:srcRect/>
          <a:stretch>
            <a:fillRect/>
          </a:stretch>
        </p:blipFill>
        <p:spPr bwMode="auto">
          <a:xfrm>
            <a:off x="3306216" y="3441032"/>
            <a:ext cx="4482480" cy="2910262"/>
          </a:xfrm>
          <a:prstGeom prst="rect">
            <a:avLst/>
          </a:prstGeom>
          <a:noFill/>
        </p:spPr>
      </p:pic>
      <p:sp>
        <p:nvSpPr>
          <p:cNvPr id="7" name="TextBox 6"/>
          <p:cNvSpPr txBox="1"/>
          <p:nvPr/>
        </p:nvSpPr>
        <p:spPr>
          <a:xfrm>
            <a:off x="7788696" y="4419110"/>
            <a:ext cx="2195736" cy="954107"/>
          </a:xfrm>
          <a:prstGeom prst="rect">
            <a:avLst/>
          </a:prstGeom>
          <a:noFill/>
        </p:spPr>
        <p:txBody>
          <a:bodyPr wrap="square" rtlCol="0">
            <a:spAutoFit/>
          </a:bodyPr>
          <a:lstStyle/>
          <a:p>
            <a:r>
              <a:rPr lang="en-GB" sz="2800" dirty="0"/>
              <a:t>What makes a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Why It Is Useful ? (Cont.)</a:t>
            </a:r>
          </a:p>
        </p:txBody>
      </p:sp>
      <p:sp>
        <p:nvSpPr>
          <p:cNvPr id="3" name="Content Placeholder 2"/>
          <p:cNvSpPr>
            <a:spLocks noGrp="1"/>
          </p:cNvSpPr>
          <p:nvPr>
            <p:ph idx="1"/>
          </p:nvPr>
        </p:nvSpPr>
        <p:spPr>
          <a:xfrm>
            <a:off x="1981200" y="1935480"/>
            <a:ext cx="8229600" cy="3169920"/>
          </a:xfrm>
        </p:spPr>
        <p:txBody>
          <a:bodyPr>
            <a:normAutofit/>
          </a:bodyPr>
          <a:lstStyle/>
          <a:p>
            <a:r>
              <a:rPr lang="en-GB" dirty="0"/>
              <a:t>ML learning provides best methods for developing particular kinds of software, in applications where:</a:t>
            </a:r>
          </a:p>
          <a:p>
            <a:pPr marL="393192" lvl="1" indent="0">
              <a:buNone/>
            </a:pPr>
            <a:r>
              <a:rPr lang="en-GB" dirty="0"/>
              <a:t>4. Using historical data to improve decisions (task is known as Data Mining), e.g. Medical record – medical knowledge, what kind of medical treatment is suitable for which patients in future.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Can be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971800"/>
            <a:ext cx="2028825"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828800" y="1524000"/>
            <a:ext cx="8534400" cy="1569660"/>
          </a:xfrm>
          <a:prstGeom prst="rect">
            <a:avLst/>
          </a:prstGeom>
          <a:noFill/>
        </p:spPr>
        <p:txBody>
          <a:bodyPr wrap="square" rtlCol="0">
            <a:spAutoFit/>
          </a:bodyPr>
          <a:lstStyle/>
          <a:p>
            <a:pPr marL="457200" indent="-457200">
              <a:buFont typeface="Arial" pitchFamily="34" charset="0"/>
              <a:buChar char="•"/>
            </a:pPr>
            <a:r>
              <a:rPr lang="en-US" sz="3200" dirty="0"/>
              <a:t>Classification</a:t>
            </a:r>
          </a:p>
          <a:p>
            <a:pPr marL="914400" lvl="1" indent="-457200">
              <a:buFont typeface="Arial" pitchFamily="34" charset="0"/>
              <a:buChar char="•"/>
            </a:pPr>
            <a:r>
              <a:rPr lang="en-US" sz="3200" dirty="0"/>
              <a:t>Image Classification: A Core Computer Vision Task</a:t>
            </a:r>
          </a:p>
        </p:txBody>
      </p:sp>
      <p:sp>
        <p:nvSpPr>
          <p:cNvPr id="5" name="Rectangle 4"/>
          <p:cNvSpPr/>
          <p:nvPr/>
        </p:nvSpPr>
        <p:spPr>
          <a:xfrm>
            <a:off x="5181600" y="2971800"/>
            <a:ext cx="2209800" cy="2819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Machine Learning</a:t>
            </a:r>
          </a:p>
          <a:p>
            <a:pPr algn="ctr"/>
            <a:r>
              <a:rPr lang="en-US" dirty="0">
                <a:solidFill>
                  <a:schemeClr val="tx1"/>
                </a:solidFill>
              </a:rPr>
              <a:t>Cat</a:t>
            </a:r>
          </a:p>
          <a:p>
            <a:pPr algn="ctr"/>
            <a:r>
              <a:rPr lang="en-US" dirty="0">
                <a:solidFill>
                  <a:schemeClr val="tx1"/>
                </a:solidFill>
              </a:rPr>
              <a:t>Dog</a:t>
            </a:r>
          </a:p>
          <a:p>
            <a:pPr algn="ctr"/>
            <a:r>
              <a:rPr lang="en-US" dirty="0">
                <a:solidFill>
                  <a:schemeClr val="tx1"/>
                </a:solidFill>
              </a:rPr>
              <a:t>Car</a:t>
            </a:r>
          </a:p>
          <a:p>
            <a:pPr algn="ctr"/>
            <a:r>
              <a:rPr lang="en-US" dirty="0">
                <a:solidFill>
                  <a:schemeClr val="tx1"/>
                </a:solidFill>
              </a:rPr>
              <a:t>Truck</a:t>
            </a:r>
          </a:p>
          <a:p>
            <a:pPr algn="ctr"/>
            <a:r>
              <a:rPr lang="en-US" dirty="0">
                <a:solidFill>
                  <a:schemeClr val="tx1"/>
                </a:solidFill>
              </a:rPr>
              <a:t>Person</a:t>
            </a:r>
          </a:p>
          <a:p>
            <a:pPr algn="ctr"/>
            <a:r>
              <a:rPr lang="en-US" dirty="0">
                <a:solidFill>
                  <a:schemeClr val="tx1"/>
                </a:solidFill>
              </a:rPr>
              <a:t>.</a:t>
            </a:r>
          </a:p>
          <a:p>
            <a:pPr algn="ctr"/>
            <a:r>
              <a:rPr lang="en-US" dirty="0">
                <a:solidFill>
                  <a:schemeClr val="tx1"/>
                </a:solidFill>
              </a:rPr>
              <a:t>.</a:t>
            </a:r>
          </a:p>
          <a:p>
            <a:pPr algn="ctr"/>
            <a:r>
              <a:rPr lang="en-US" dirty="0">
                <a:solidFill>
                  <a:schemeClr val="tx1"/>
                </a:solidFill>
              </a:rPr>
              <a:t>. </a:t>
            </a:r>
          </a:p>
        </p:txBody>
      </p:sp>
      <p:sp>
        <p:nvSpPr>
          <p:cNvPr id="6" name="TextBox 5"/>
          <p:cNvSpPr txBox="1"/>
          <p:nvPr/>
        </p:nvSpPr>
        <p:spPr>
          <a:xfrm>
            <a:off x="8305800" y="4110336"/>
            <a:ext cx="1143000" cy="461665"/>
          </a:xfrm>
          <a:prstGeom prst="rect">
            <a:avLst/>
          </a:prstGeom>
          <a:noFill/>
        </p:spPr>
        <p:txBody>
          <a:bodyPr wrap="square" rtlCol="0">
            <a:spAutoFit/>
          </a:bodyPr>
          <a:lstStyle/>
          <a:p>
            <a:r>
              <a:rPr lang="en-US" sz="2400" dirty="0"/>
              <a:t>Cat</a:t>
            </a:r>
          </a:p>
        </p:txBody>
      </p:sp>
      <p:cxnSp>
        <p:nvCxnSpPr>
          <p:cNvPr id="8" name="Straight Arrow Connector 7"/>
          <p:cNvCxnSpPr>
            <a:endCxn id="5" idx="1"/>
          </p:cNvCxnSpPr>
          <p:nvPr/>
        </p:nvCxnSpPr>
        <p:spPr>
          <a:xfrm>
            <a:off x="4238624" y="4381500"/>
            <a:ext cx="942976" cy="0"/>
          </a:xfrm>
          <a:prstGeom prst="straightConnector1">
            <a:avLst/>
          </a:prstGeom>
          <a:ln w="635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3"/>
          </p:cNvCxnSpPr>
          <p:nvPr/>
        </p:nvCxnSpPr>
        <p:spPr>
          <a:xfrm>
            <a:off x="7391400" y="4381500"/>
            <a:ext cx="914400" cy="0"/>
          </a:xfrm>
          <a:prstGeom prst="straightConnector1">
            <a:avLst/>
          </a:prstGeom>
          <a:ln w="635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8985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 Gap</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28800"/>
            <a:ext cx="8382000" cy="456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667000" y="2297668"/>
            <a:ext cx="1600200" cy="369332"/>
          </a:xfrm>
          <a:prstGeom prst="rect">
            <a:avLst/>
          </a:prstGeom>
          <a:noFill/>
        </p:spPr>
        <p:txBody>
          <a:bodyPr wrap="square" rtlCol="0">
            <a:spAutoFit/>
          </a:bodyPr>
          <a:lstStyle/>
          <a:p>
            <a:r>
              <a:rPr lang="en-US" dirty="0"/>
              <a:t>What you see</a:t>
            </a:r>
          </a:p>
        </p:txBody>
      </p:sp>
    </p:spTree>
    <p:extLst>
      <p:ext uri="{BB962C8B-B14F-4D97-AF65-F5344CB8AC3E}">
        <p14:creationId xmlns:p14="http://schemas.microsoft.com/office/powerpoint/2010/main" val="2858182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1728"/>
          </a:xfrm>
        </p:spPr>
        <p:txBody>
          <a:bodyPr>
            <a:normAutofit fontScale="90000"/>
          </a:bodyPr>
          <a:lstStyle/>
          <a:p>
            <a:r>
              <a:rPr lang="en-US" dirty="0"/>
              <a:t>Why Not Hard-Coded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1" y="1861088"/>
            <a:ext cx="38957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9498" y="764422"/>
            <a:ext cx="1295400" cy="1113402"/>
          </a:xfrm>
          <a:prstGeom prst="rect">
            <a:avLst/>
          </a:prstGeom>
        </p:spPr>
      </p:pic>
      <p:cxnSp>
        <p:nvCxnSpPr>
          <p:cNvPr id="7" name="Straight Connector 6"/>
          <p:cNvCxnSpPr/>
          <p:nvPr/>
        </p:nvCxnSpPr>
        <p:spPr>
          <a:xfrm>
            <a:off x="2743200" y="1321124"/>
            <a:ext cx="914400" cy="66007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63398" y="1675674"/>
            <a:ext cx="1318002" cy="22867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4581284"/>
            <a:ext cx="8848725"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8610600" y="3962401"/>
            <a:ext cx="1905000" cy="461665"/>
          </a:xfrm>
          <a:prstGeom prst="rect">
            <a:avLst/>
          </a:prstGeom>
          <a:noFill/>
        </p:spPr>
        <p:txBody>
          <a:bodyPr wrap="square" rtlCol="0">
            <a:spAutoFit/>
          </a:bodyPr>
          <a:lstStyle/>
          <a:p>
            <a:r>
              <a:rPr lang="en-US" sz="2400" dirty="0"/>
              <a:t>Illumination</a:t>
            </a:r>
          </a:p>
        </p:txBody>
      </p:sp>
      <p:sp>
        <p:nvSpPr>
          <p:cNvPr id="16" name="TextBox 15"/>
          <p:cNvSpPr txBox="1"/>
          <p:nvPr/>
        </p:nvSpPr>
        <p:spPr>
          <a:xfrm>
            <a:off x="5257800" y="1595736"/>
            <a:ext cx="2819400" cy="461665"/>
          </a:xfrm>
          <a:prstGeom prst="rect">
            <a:avLst/>
          </a:prstGeom>
          <a:noFill/>
        </p:spPr>
        <p:txBody>
          <a:bodyPr wrap="square" rtlCol="0">
            <a:spAutoFit/>
          </a:bodyPr>
          <a:lstStyle/>
          <a:p>
            <a:r>
              <a:rPr lang="en-US" sz="2400" dirty="0"/>
              <a:t>Viewpoint variation</a:t>
            </a:r>
          </a:p>
        </p:txBody>
      </p:sp>
    </p:spTree>
    <p:extLst>
      <p:ext uri="{BB962C8B-B14F-4D97-AF65-F5344CB8AC3E}">
        <p14:creationId xmlns:p14="http://schemas.microsoft.com/office/powerpoint/2010/main" val="1927249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687"/>
            <a:ext cx="10515600" cy="1325563"/>
          </a:xfrm>
        </p:spPr>
        <p:txBody>
          <a:bodyPr/>
          <a:lstStyle/>
          <a:p>
            <a:r>
              <a:rPr lang="en-US" dirty="0"/>
              <a:t>Why Not Hard-Coded ? (Cont.)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1447800"/>
            <a:ext cx="90678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05000" y="1062336"/>
            <a:ext cx="1981200" cy="461665"/>
          </a:xfrm>
          <a:prstGeom prst="rect">
            <a:avLst/>
          </a:prstGeom>
          <a:noFill/>
        </p:spPr>
        <p:txBody>
          <a:bodyPr wrap="square" rtlCol="0">
            <a:spAutoFit/>
          </a:bodyPr>
          <a:lstStyle/>
          <a:p>
            <a:r>
              <a:rPr lang="en-US" sz="2400" dirty="0"/>
              <a:t>Deformation</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4419601"/>
            <a:ext cx="830580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981200" y="4110336"/>
            <a:ext cx="1981200" cy="461665"/>
          </a:xfrm>
          <a:prstGeom prst="rect">
            <a:avLst/>
          </a:prstGeom>
          <a:noFill/>
        </p:spPr>
        <p:txBody>
          <a:bodyPr wrap="square" rtlCol="0">
            <a:spAutoFit/>
          </a:bodyPr>
          <a:lstStyle/>
          <a:p>
            <a:r>
              <a:rPr lang="en-US" sz="2400" dirty="0"/>
              <a:t>Occlusion</a:t>
            </a:r>
          </a:p>
        </p:txBody>
      </p:sp>
    </p:spTree>
    <p:extLst>
      <p:ext uri="{BB962C8B-B14F-4D97-AF65-F5344CB8AC3E}">
        <p14:creationId xmlns:p14="http://schemas.microsoft.com/office/powerpoint/2010/main" val="1105873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362"/>
            <a:ext cx="10515600" cy="1325563"/>
          </a:xfrm>
        </p:spPr>
        <p:txBody>
          <a:bodyPr/>
          <a:lstStyle/>
          <a:p>
            <a:r>
              <a:rPr lang="en-US" dirty="0"/>
              <a:t>Why Not Hard-Coded ? (Cont.)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447801"/>
            <a:ext cx="77724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905000" y="990601"/>
            <a:ext cx="3581400" cy="461665"/>
          </a:xfrm>
          <a:prstGeom prst="rect">
            <a:avLst/>
          </a:prstGeom>
          <a:noFill/>
        </p:spPr>
        <p:txBody>
          <a:bodyPr wrap="square" rtlCol="0">
            <a:spAutoFit/>
          </a:bodyPr>
          <a:lstStyle/>
          <a:p>
            <a:r>
              <a:rPr lang="en-US" sz="2400" dirty="0"/>
              <a:t>Background Clutter</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293" y="3886200"/>
            <a:ext cx="5648325" cy="2886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719908" y="4262736"/>
            <a:ext cx="1861492" cy="830997"/>
          </a:xfrm>
          <a:prstGeom prst="rect">
            <a:avLst/>
          </a:prstGeom>
          <a:noFill/>
        </p:spPr>
        <p:txBody>
          <a:bodyPr wrap="square" rtlCol="0">
            <a:spAutoFit/>
          </a:bodyPr>
          <a:lstStyle/>
          <a:p>
            <a:r>
              <a:rPr lang="en-US" sz="2400" dirty="0"/>
              <a:t>Intra Class Variation</a:t>
            </a:r>
          </a:p>
        </p:txBody>
      </p:sp>
    </p:spTree>
    <p:extLst>
      <p:ext uri="{BB962C8B-B14F-4D97-AF65-F5344CB8AC3E}">
        <p14:creationId xmlns:p14="http://schemas.microsoft.com/office/powerpoint/2010/main" val="848538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6758" y="1738630"/>
            <a:ext cx="4126229" cy="3705502"/>
          </a:xfrm>
          <a:prstGeom prst="rect">
            <a:avLst/>
          </a:prstGeom>
        </p:spPr>
        <p:txBody>
          <a:bodyPr vert="horz" wrap="square" lIns="0" tIns="12065" rIns="0" bIns="0" rtlCol="0">
            <a:spAutoFit/>
          </a:bodyPr>
          <a:lstStyle/>
          <a:p>
            <a:pPr marL="354965" indent="-342265">
              <a:lnSpc>
                <a:spcPct val="100000"/>
              </a:lnSpc>
              <a:spcBef>
                <a:spcPts val="95"/>
              </a:spcBef>
              <a:buFont typeface="Arial MT"/>
              <a:buChar char="•"/>
              <a:tabLst>
                <a:tab pos="354965" algn="l"/>
              </a:tabLst>
            </a:pPr>
            <a:r>
              <a:rPr sz="2000" dirty="0">
                <a:latin typeface="Segoe Print"/>
                <a:cs typeface="Segoe Print"/>
              </a:rPr>
              <a:t>Medical</a:t>
            </a:r>
            <a:r>
              <a:rPr sz="2000" spc="-110" dirty="0">
                <a:latin typeface="Segoe Print"/>
                <a:cs typeface="Segoe Print"/>
              </a:rPr>
              <a:t> </a:t>
            </a:r>
            <a:r>
              <a:rPr sz="2000" spc="-10" dirty="0">
                <a:latin typeface="Segoe Print"/>
                <a:cs typeface="Segoe Print"/>
              </a:rPr>
              <a:t>Diagnosis</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Autonomous</a:t>
            </a:r>
            <a:r>
              <a:rPr sz="2000" spc="-50" dirty="0">
                <a:latin typeface="Segoe Print"/>
                <a:cs typeface="Segoe Print"/>
              </a:rPr>
              <a:t> </a:t>
            </a:r>
            <a:r>
              <a:rPr sz="2000" spc="-10" dirty="0">
                <a:latin typeface="Segoe Print"/>
                <a:cs typeface="Segoe Print"/>
              </a:rPr>
              <a:t>Driving</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Information</a:t>
            </a:r>
            <a:r>
              <a:rPr sz="2000" spc="-55" dirty="0">
                <a:latin typeface="Segoe Print"/>
                <a:cs typeface="Segoe Print"/>
              </a:rPr>
              <a:t> </a:t>
            </a:r>
            <a:r>
              <a:rPr sz="2000" spc="-10" dirty="0">
                <a:latin typeface="Segoe Print"/>
                <a:cs typeface="Segoe Print"/>
              </a:rPr>
              <a:t>extraction</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Computer/Machine</a:t>
            </a:r>
            <a:r>
              <a:rPr sz="2000" spc="-15" dirty="0">
                <a:latin typeface="Segoe Print"/>
                <a:cs typeface="Segoe Print"/>
              </a:rPr>
              <a:t> </a:t>
            </a:r>
            <a:r>
              <a:rPr sz="2000" spc="-10" dirty="0">
                <a:latin typeface="Segoe Print"/>
                <a:cs typeface="Segoe Print"/>
              </a:rPr>
              <a:t>Vision</a:t>
            </a:r>
            <a:endParaRPr sz="2000" dirty="0">
              <a:latin typeface="Segoe Print"/>
              <a:cs typeface="Segoe Print"/>
            </a:endParaRPr>
          </a:p>
          <a:p>
            <a:pPr marL="354965" indent="-342265">
              <a:lnSpc>
                <a:spcPct val="100000"/>
              </a:lnSpc>
              <a:buFont typeface="Arial MT"/>
              <a:buChar char="•"/>
              <a:tabLst>
                <a:tab pos="354965" algn="l"/>
              </a:tabLst>
            </a:pPr>
            <a:r>
              <a:rPr sz="2000" spc="-10" dirty="0">
                <a:latin typeface="Segoe Print"/>
                <a:cs typeface="Segoe Print"/>
              </a:rPr>
              <a:t>Finance</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Web</a:t>
            </a:r>
            <a:r>
              <a:rPr sz="2000" spc="-15" dirty="0">
                <a:latin typeface="Segoe Print"/>
                <a:cs typeface="Segoe Print"/>
              </a:rPr>
              <a:t> </a:t>
            </a:r>
            <a:r>
              <a:rPr sz="2000" spc="-10" dirty="0">
                <a:latin typeface="Segoe Print"/>
                <a:cs typeface="Segoe Print"/>
              </a:rPr>
              <a:t>Search</a:t>
            </a:r>
            <a:endParaRPr sz="2000" dirty="0">
              <a:latin typeface="Segoe Print"/>
              <a:cs typeface="Segoe Print"/>
            </a:endParaRPr>
          </a:p>
          <a:p>
            <a:pPr marL="354965" indent="-342265">
              <a:lnSpc>
                <a:spcPct val="100000"/>
              </a:lnSpc>
              <a:buFont typeface="Arial MT"/>
              <a:buChar char="•"/>
              <a:tabLst>
                <a:tab pos="354965" algn="l"/>
              </a:tabLst>
            </a:pPr>
            <a:r>
              <a:rPr sz="2000" spc="-10" dirty="0">
                <a:latin typeface="Segoe Print"/>
                <a:cs typeface="Segoe Print"/>
              </a:rPr>
              <a:t>Robotics</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Social</a:t>
            </a:r>
            <a:r>
              <a:rPr sz="2000" spc="-25" dirty="0">
                <a:latin typeface="Segoe Print"/>
                <a:cs typeface="Segoe Print"/>
              </a:rPr>
              <a:t> </a:t>
            </a:r>
            <a:r>
              <a:rPr sz="2000" spc="-10" dirty="0">
                <a:latin typeface="Segoe Print"/>
                <a:cs typeface="Segoe Print"/>
              </a:rPr>
              <a:t>networks</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Production</a:t>
            </a:r>
            <a:r>
              <a:rPr sz="2000" spc="-100" dirty="0">
                <a:latin typeface="Segoe Print"/>
                <a:cs typeface="Segoe Print"/>
              </a:rPr>
              <a:t> </a:t>
            </a:r>
            <a:r>
              <a:rPr sz="2000" spc="-10" dirty="0">
                <a:latin typeface="Segoe Print"/>
                <a:cs typeface="Segoe Print"/>
              </a:rPr>
              <a:t>Industry</a:t>
            </a:r>
            <a:endParaRPr sz="2000" dirty="0">
              <a:latin typeface="Segoe Print"/>
              <a:cs typeface="Segoe Print"/>
            </a:endParaRPr>
          </a:p>
          <a:p>
            <a:pPr marL="354965" indent="-342265">
              <a:lnSpc>
                <a:spcPct val="100000"/>
              </a:lnSpc>
              <a:spcBef>
                <a:spcPts val="5"/>
              </a:spcBef>
              <a:buFont typeface="Arial MT"/>
              <a:buChar char="•"/>
              <a:tabLst>
                <a:tab pos="354965" algn="l"/>
              </a:tabLst>
            </a:pPr>
            <a:r>
              <a:rPr sz="2000" spc="-10" dirty="0">
                <a:latin typeface="Segoe Print"/>
                <a:cs typeface="Segoe Print"/>
              </a:rPr>
              <a:t>Logistics</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Waste</a:t>
            </a:r>
            <a:r>
              <a:rPr sz="2000" spc="-50" dirty="0">
                <a:latin typeface="Segoe Print"/>
                <a:cs typeface="Segoe Print"/>
              </a:rPr>
              <a:t> </a:t>
            </a:r>
            <a:r>
              <a:rPr sz="2000" spc="-10" dirty="0">
                <a:latin typeface="Segoe Print"/>
                <a:cs typeface="Segoe Print"/>
              </a:rPr>
              <a:t>Management</a:t>
            </a:r>
            <a:endParaRPr sz="2000" dirty="0">
              <a:latin typeface="Segoe Print"/>
              <a:cs typeface="Segoe Print"/>
            </a:endParaRPr>
          </a:p>
          <a:p>
            <a:pPr marL="354965" indent="-342265">
              <a:lnSpc>
                <a:spcPct val="100000"/>
              </a:lnSpc>
              <a:buFont typeface="Arial MT"/>
              <a:buChar char="•"/>
              <a:tabLst>
                <a:tab pos="354965" algn="l"/>
              </a:tabLst>
            </a:pPr>
            <a:r>
              <a:rPr sz="2000" dirty="0">
                <a:latin typeface="Segoe Print"/>
                <a:cs typeface="Segoe Print"/>
              </a:rPr>
              <a:t>[Your</a:t>
            </a:r>
            <a:r>
              <a:rPr sz="2000" spc="-20" dirty="0">
                <a:latin typeface="Segoe Print"/>
                <a:cs typeface="Segoe Print"/>
              </a:rPr>
              <a:t> </a:t>
            </a:r>
            <a:r>
              <a:rPr sz="2000" dirty="0">
                <a:latin typeface="Segoe Print"/>
                <a:cs typeface="Segoe Print"/>
              </a:rPr>
              <a:t>research/favorite</a:t>
            </a:r>
            <a:r>
              <a:rPr sz="2000" spc="-35" dirty="0">
                <a:latin typeface="Segoe Print"/>
                <a:cs typeface="Segoe Print"/>
              </a:rPr>
              <a:t> </a:t>
            </a:r>
            <a:r>
              <a:rPr sz="2000" spc="-10" dirty="0">
                <a:latin typeface="Segoe Print"/>
                <a:cs typeface="Segoe Print"/>
              </a:rPr>
              <a:t>area]</a:t>
            </a:r>
            <a:endParaRPr sz="2000" dirty="0">
              <a:latin typeface="Segoe Print"/>
              <a:cs typeface="Segoe Print"/>
            </a:endParaRPr>
          </a:p>
        </p:txBody>
      </p:sp>
      <p:sp>
        <p:nvSpPr>
          <p:cNvPr id="3" name="object 3"/>
          <p:cNvSpPr txBox="1">
            <a:spLocks noGrp="1"/>
          </p:cNvSpPr>
          <p:nvPr>
            <p:ph type="title"/>
          </p:nvPr>
        </p:nvSpPr>
        <p:spPr>
          <a:prstGeom prst="rect">
            <a:avLst/>
          </a:prstGeom>
        </p:spPr>
        <p:txBody>
          <a:bodyPr vert="horz" wrap="square" lIns="0" tIns="129540" rIns="0" bIns="0" rtlCol="0">
            <a:spAutoFit/>
          </a:bodyPr>
          <a:lstStyle/>
          <a:p>
            <a:pPr algn="ctr">
              <a:lnSpc>
                <a:spcPct val="100000"/>
              </a:lnSpc>
              <a:spcBef>
                <a:spcPts val="100"/>
              </a:spcBef>
            </a:pPr>
            <a:r>
              <a:rPr dirty="0"/>
              <a:t>Machine</a:t>
            </a:r>
            <a:r>
              <a:rPr spc="-145" dirty="0"/>
              <a:t> </a:t>
            </a:r>
            <a:r>
              <a:rPr dirty="0"/>
              <a:t>Learning:</a:t>
            </a:r>
            <a:r>
              <a:rPr spc="-145" dirty="0"/>
              <a:t> </a:t>
            </a:r>
            <a:r>
              <a:rPr spc="-10" dirty="0"/>
              <a:t>Overview</a:t>
            </a:r>
          </a:p>
          <a:p>
            <a:pPr algn="ctr">
              <a:lnSpc>
                <a:spcPct val="100000"/>
              </a:lnSpc>
              <a:spcBef>
                <a:spcPts val="50"/>
              </a:spcBef>
            </a:pPr>
            <a:r>
              <a:rPr sz="2800" b="0" i="1" dirty="0">
                <a:solidFill>
                  <a:srgbClr val="006FC0"/>
                </a:solidFill>
                <a:latin typeface="Calibri"/>
                <a:cs typeface="Calibri"/>
              </a:rPr>
              <a:t>Example</a:t>
            </a:r>
            <a:r>
              <a:rPr sz="2800" b="0" i="1" spc="-95" dirty="0">
                <a:solidFill>
                  <a:srgbClr val="006FC0"/>
                </a:solidFill>
                <a:latin typeface="Calibri"/>
                <a:cs typeface="Calibri"/>
              </a:rPr>
              <a:t> </a:t>
            </a:r>
            <a:r>
              <a:rPr sz="2800" b="0" i="1" spc="-10" dirty="0">
                <a:solidFill>
                  <a:srgbClr val="006FC0"/>
                </a:solidFill>
                <a:latin typeface="Calibri"/>
                <a:cs typeface="Calibri"/>
              </a:rPr>
              <a:t>Applications</a:t>
            </a:r>
            <a:endParaRPr sz="2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51113" y="1911667"/>
            <a:ext cx="7938134" cy="1553845"/>
            <a:chOff x="2051113" y="1911667"/>
            <a:chExt cx="7938134" cy="1553845"/>
          </a:xfrm>
        </p:grpSpPr>
        <p:sp>
          <p:nvSpPr>
            <p:cNvPr id="3" name="object 3"/>
            <p:cNvSpPr/>
            <p:nvPr/>
          </p:nvSpPr>
          <p:spPr>
            <a:xfrm>
              <a:off x="2057781" y="1918334"/>
              <a:ext cx="7924800" cy="1540510"/>
            </a:xfrm>
            <a:custGeom>
              <a:avLst/>
              <a:gdLst/>
              <a:ahLst/>
              <a:cxnLst/>
              <a:rect l="l" t="t" r="r" b="b"/>
              <a:pathLst>
                <a:path w="7924800" h="1540510">
                  <a:moveTo>
                    <a:pt x="7668133" y="0"/>
                  </a:moveTo>
                  <a:lnTo>
                    <a:pt x="256667" y="0"/>
                  </a:lnTo>
                  <a:lnTo>
                    <a:pt x="210536" y="4135"/>
                  </a:lnTo>
                  <a:lnTo>
                    <a:pt x="167116" y="16060"/>
                  </a:lnTo>
                  <a:lnTo>
                    <a:pt x="127131" y="35047"/>
                  </a:lnTo>
                  <a:lnTo>
                    <a:pt x="91308" y="60371"/>
                  </a:lnTo>
                  <a:lnTo>
                    <a:pt x="60371" y="91308"/>
                  </a:lnTo>
                  <a:lnTo>
                    <a:pt x="35047" y="127131"/>
                  </a:lnTo>
                  <a:lnTo>
                    <a:pt x="16060" y="167116"/>
                  </a:lnTo>
                  <a:lnTo>
                    <a:pt x="4135" y="210536"/>
                  </a:lnTo>
                  <a:lnTo>
                    <a:pt x="0" y="256666"/>
                  </a:lnTo>
                  <a:lnTo>
                    <a:pt x="0" y="1283335"/>
                  </a:lnTo>
                  <a:lnTo>
                    <a:pt x="4135" y="1329465"/>
                  </a:lnTo>
                  <a:lnTo>
                    <a:pt x="16060" y="1372885"/>
                  </a:lnTo>
                  <a:lnTo>
                    <a:pt x="35047" y="1412870"/>
                  </a:lnTo>
                  <a:lnTo>
                    <a:pt x="60371" y="1448693"/>
                  </a:lnTo>
                  <a:lnTo>
                    <a:pt x="91308" y="1479630"/>
                  </a:lnTo>
                  <a:lnTo>
                    <a:pt x="127131" y="1504954"/>
                  </a:lnTo>
                  <a:lnTo>
                    <a:pt x="167116" y="1523941"/>
                  </a:lnTo>
                  <a:lnTo>
                    <a:pt x="210536" y="1535866"/>
                  </a:lnTo>
                  <a:lnTo>
                    <a:pt x="256667" y="1540002"/>
                  </a:lnTo>
                  <a:lnTo>
                    <a:pt x="7668133" y="1540002"/>
                  </a:lnTo>
                  <a:lnTo>
                    <a:pt x="7714263" y="1535866"/>
                  </a:lnTo>
                  <a:lnTo>
                    <a:pt x="7757683" y="1523941"/>
                  </a:lnTo>
                  <a:lnTo>
                    <a:pt x="7797668" y="1504954"/>
                  </a:lnTo>
                  <a:lnTo>
                    <a:pt x="7833491" y="1479630"/>
                  </a:lnTo>
                  <a:lnTo>
                    <a:pt x="7864428" y="1448693"/>
                  </a:lnTo>
                  <a:lnTo>
                    <a:pt x="7889752" y="1412870"/>
                  </a:lnTo>
                  <a:lnTo>
                    <a:pt x="7908739" y="1372885"/>
                  </a:lnTo>
                  <a:lnTo>
                    <a:pt x="7920664" y="1329465"/>
                  </a:lnTo>
                  <a:lnTo>
                    <a:pt x="7924800" y="1283335"/>
                  </a:lnTo>
                  <a:lnTo>
                    <a:pt x="7924800" y="256666"/>
                  </a:lnTo>
                  <a:lnTo>
                    <a:pt x="7920664" y="210536"/>
                  </a:lnTo>
                  <a:lnTo>
                    <a:pt x="7908739" y="167116"/>
                  </a:lnTo>
                  <a:lnTo>
                    <a:pt x="7889752" y="127131"/>
                  </a:lnTo>
                  <a:lnTo>
                    <a:pt x="7864428" y="91308"/>
                  </a:lnTo>
                  <a:lnTo>
                    <a:pt x="7833491" y="60371"/>
                  </a:lnTo>
                  <a:lnTo>
                    <a:pt x="7797668" y="35047"/>
                  </a:lnTo>
                  <a:lnTo>
                    <a:pt x="7757683" y="16060"/>
                  </a:lnTo>
                  <a:lnTo>
                    <a:pt x="7714263" y="4135"/>
                  </a:lnTo>
                  <a:lnTo>
                    <a:pt x="7668133" y="0"/>
                  </a:lnTo>
                  <a:close/>
                </a:path>
              </a:pathLst>
            </a:custGeom>
            <a:solidFill>
              <a:srgbClr val="D9D9D9"/>
            </a:solidFill>
          </p:spPr>
          <p:txBody>
            <a:bodyPr wrap="square" lIns="0" tIns="0" rIns="0" bIns="0" rtlCol="0"/>
            <a:lstStyle/>
            <a:p>
              <a:endParaRPr/>
            </a:p>
          </p:txBody>
        </p:sp>
        <p:sp>
          <p:nvSpPr>
            <p:cNvPr id="4" name="object 4"/>
            <p:cNvSpPr/>
            <p:nvPr/>
          </p:nvSpPr>
          <p:spPr>
            <a:xfrm>
              <a:off x="2057781" y="1918334"/>
              <a:ext cx="7924800" cy="1540510"/>
            </a:xfrm>
            <a:custGeom>
              <a:avLst/>
              <a:gdLst/>
              <a:ahLst/>
              <a:cxnLst/>
              <a:rect l="l" t="t" r="r" b="b"/>
              <a:pathLst>
                <a:path w="7924800" h="1540510">
                  <a:moveTo>
                    <a:pt x="0" y="256666"/>
                  </a:moveTo>
                  <a:lnTo>
                    <a:pt x="4135" y="210536"/>
                  </a:lnTo>
                  <a:lnTo>
                    <a:pt x="16060" y="167116"/>
                  </a:lnTo>
                  <a:lnTo>
                    <a:pt x="35047" y="127131"/>
                  </a:lnTo>
                  <a:lnTo>
                    <a:pt x="60371" y="91308"/>
                  </a:lnTo>
                  <a:lnTo>
                    <a:pt x="91308" y="60371"/>
                  </a:lnTo>
                  <a:lnTo>
                    <a:pt x="127131" y="35047"/>
                  </a:lnTo>
                  <a:lnTo>
                    <a:pt x="167116" y="16060"/>
                  </a:lnTo>
                  <a:lnTo>
                    <a:pt x="210536" y="4135"/>
                  </a:lnTo>
                  <a:lnTo>
                    <a:pt x="256667" y="0"/>
                  </a:lnTo>
                  <a:lnTo>
                    <a:pt x="7668133" y="0"/>
                  </a:lnTo>
                  <a:lnTo>
                    <a:pt x="7714263" y="4135"/>
                  </a:lnTo>
                  <a:lnTo>
                    <a:pt x="7757683" y="16060"/>
                  </a:lnTo>
                  <a:lnTo>
                    <a:pt x="7797668" y="35047"/>
                  </a:lnTo>
                  <a:lnTo>
                    <a:pt x="7833491" y="60371"/>
                  </a:lnTo>
                  <a:lnTo>
                    <a:pt x="7864428" y="91308"/>
                  </a:lnTo>
                  <a:lnTo>
                    <a:pt x="7889752" y="127131"/>
                  </a:lnTo>
                  <a:lnTo>
                    <a:pt x="7908739" y="167116"/>
                  </a:lnTo>
                  <a:lnTo>
                    <a:pt x="7920664" y="210536"/>
                  </a:lnTo>
                  <a:lnTo>
                    <a:pt x="7924800" y="256666"/>
                  </a:lnTo>
                  <a:lnTo>
                    <a:pt x="7924800" y="1283335"/>
                  </a:lnTo>
                  <a:lnTo>
                    <a:pt x="7920664" y="1329465"/>
                  </a:lnTo>
                  <a:lnTo>
                    <a:pt x="7908739" y="1372885"/>
                  </a:lnTo>
                  <a:lnTo>
                    <a:pt x="7889752" y="1412870"/>
                  </a:lnTo>
                  <a:lnTo>
                    <a:pt x="7864428" y="1448693"/>
                  </a:lnTo>
                  <a:lnTo>
                    <a:pt x="7833491" y="1479630"/>
                  </a:lnTo>
                  <a:lnTo>
                    <a:pt x="7797668" y="1504954"/>
                  </a:lnTo>
                  <a:lnTo>
                    <a:pt x="7757683" y="1523941"/>
                  </a:lnTo>
                  <a:lnTo>
                    <a:pt x="7714263" y="1535866"/>
                  </a:lnTo>
                  <a:lnTo>
                    <a:pt x="7668133" y="1540002"/>
                  </a:lnTo>
                  <a:lnTo>
                    <a:pt x="256667" y="1540002"/>
                  </a:lnTo>
                  <a:lnTo>
                    <a:pt x="210536" y="1535866"/>
                  </a:lnTo>
                  <a:lnTo>
                    <a:pt x="167116" y="1523941"/>
                  </a:lnTo>
                  <a:lnTo>
                    <a:pt x="127131" y="1504954"/>
                  </a:lnTo>
                  <a:lnTo>
                    <a:pt x="91308" y="1479630"/>
                  </a:lnTo>
                  <a:lnTo>
                    <a:pt x="60371" y="1448693"/>
                  </a:lnTo>
                  <a:lnTo>
                    <a:pt x="35047" y="1412870"/>
                  </a:lnTo>
                  <a:lnTo>
                    <a:pt x="16060" y="1372885"/>
                  </a:lnTo>
                  <a:lnTo>
                    <a:pt x="4135" y="1329465"/>
                  </a:lnTo>
                  <a:lnTo>
                    <a:pt x="0" y="1283335"/>
                  </a:lnTo>
                  <a:lnTo>
                    <a:pt x="0" y="256666"/>
                  </a:lnTo>
                  <a:close/>
                </a:path>
              </a:pathLst>
            </a:custGeom>
            <a:ln w="12954">
              <a:solidFill>
                <a:srgbClr val="FAE4D5"/>
              </a:solidFill>
            </a:ln>
          </p:spPr>
          <p:txBody>
            <a:bodyPr wrap="square" lIns="0" tIns="0" rIns="0" bIns="0" rtlCol="0"/>
            <a:lstStyle/>
            <a:p>
              <a:endParaRPr/>
            </a:p>
          </p:txBody>
        </p:sp>
        <p:sp>
          <p:nvSpPr>
            <p:cNvPr id="5" name="object 5"/>
            <p:cNvSpPr/>
            <p:nvPr/>
          </p:nvSpPr>
          <p:spPr>
            <a:xfrm>
              <a:off x="2609469" y="2396108"/>
              <a:ext cx="1371600" cy="838200"/>
            </a:xfrm>
            <a:custGeom>
              <a:avLst/>
              <a:gdLst/>
              <a:ahLst/>
              <a:cxnLst/>
              <a:rect l="l" t="t" r="r" b="b"/>
              <a:pathLst>
                <a:path w="1371600" h="838200">
                  <a:moveTo>
                    <a:pt x="1231900" y="0"/>
                  </a:moveTo>
                  <a:lnTo>
                    <a:pt x="139700" y="0"/>
                  </a:lnTo>
                  <a:lnTo>
                    <a:pt x="95520" y="7116"/>
                  </a:lnTo>
                  <a:lnTo>
                    <a:pt x="57168" y="26936"/>
                  </a:lnTo>
                  <a:lnTo>
                    <a:pt x="26936" y="57168"/>
                  </a:lnTo>
                  <a:lnTo>
                    <a:pt x="7116" y="95520"/>
                  </a:lnTo>
                  <a:lnTo>
                    <a:pt x="0" y="139700"/>
                  </a:lnTo>
                  <a:lnTo>
                    <a:pt x="0" y="698500"/>
                  </a:lnTo>
                  <a:lnTo>
                    <a:pt x="7116" y="742679"/>
                  </a:lnTo>
                  <a:lnTo>
                    <a:pt x="26936" y="781031"/>
                  </a:lnTo>
                  <a:lnTo>
                    <a:pt x="57168" y="811263"/>
                  </a:lnTo>
                  <a:lnTo>
                    <a:pt x="95520" y="831083"/>
                  </a:lnTo>
                  <a:lnTo>
                    <a:pt x="139700" y="838200"/>
                  </a:lnTo>
                  <a:lnTo>
                    <a:pt x="1231900" y="838200"/>
                  </a:lnTo>
                  <a:lnTo>
                    <a:pt x="1276079" y="831083"/>
                  </a:lnTo>
                  <a:lnTo>
                    <a:pt x="1314431" y="811263"/>
                  </a:lnTo>
                  <a:lnTo>
                    <a:pt x="1344663" y="781031"/>
                  </a:lnTo>
                  <a:lnTo>
                    <a:pt x="1364483" y="742679"/>
                  </a:lnTo>
                  <a:lnTo>
                    <a:pt x="1371600" y="698500"/>
                  </a:lnTo>
                  <a:lnTo>
                    <a:pt x="1371600" y="139700"/>
                  </a:lnTo>
                  <a:lnTo>
                    <a:pt x="1364483" y="95520"/>
                  </a:lnTo>
                  <a:lnTo>
                    <a:pt x="1344663" y="57168"/>
                  </a:lnTo>
                  <a:lnTo>
                    <a:pt x="1314431" y="26936"/>
                  </a:lnTo>
                  <a:lnTo>
                    <a:pt x="1276079" y="7116"/>
                  </a:lnTo>
                  <a:lnTo>
                    <a:pt x="1231900" y="0"/>
                  </a:lnTo>
                  <a:close/>
                </a:path>
              </a:pathLst>
            </a:custGeom>
            <a:solidFill>
              <a:srgbClr val="FFFFFF"/>
            </a:solidFill>
          </p:spPr>
          <p:txBody>
            <a:bodyPr wrap="square" lIns="0" tIns="0" rIns="0" bIns="0" rtlCol="0"/>
            <a:lstStyle/>
            <a:p>
              <a:endParaRPr/>
            </a:p>
          </p:txBody>
        </p:sp>
        <p:sp>
          <p:nvSpPr>
            <p:cNvPr id="6" name="object 6"/>
            <p:cNvSpPr/>
            <p:nvPr/>
          </p:nvSpPr>
          <p:spPr>
            <a:xfrm>
              <a:off x="2609469" y="2396108"/>
              <a:ext cx="1371600" cy="838200"/>
            </a:xfrm>
            <a:custGeom>
              <a:avLst/>
              <a:gdLst/>
              <a:ahLst/>
              <a:cxnLst/>
              <a:rect l="l" t="t" r="r" b="b"/>
              <a:pathLst>
                <a:path w="1371600" h="838200">
                  <a:moveTo>
                    <a:pt x="0" y="139700"/>
                  </a:moveTo>
                  <a:lnTo>
                    <a:pt x="7116" y="95520"/>
                  </a:lnTo>
                  <a:lnTo>
                    <a:pt x="26936" y="57168"/>
                  </a:lnTo>
                  <a:lnTo>
                    <a:pt x="57168" y="26936"/>
                  </a:lnTo>
                  <a:lnTo>
                    <a:pt x="95520" y="7116"/>
                  </a:lnTo>
                  <a:lnTo>
                    <a:pt x="139700" y="0"/>
                  </a:lnTo>
                  <a:lnTo>
                    <a:pt x="1231900" y="0"/>
                  </a:lnTo>
                  <a:lnTo>
                    <a:pt x="1276079" y="7116"/>
                  </a:lnTo>
                  <a:lnTo>
                    <a:pt x="1314431" y="26936"/>
                  </a:lnTo>
                  <a:lnTo>
                    <a:pt x="1344663" y="57168"/>
                  </a:lnTo>
                  <a:lnTo>
                    <a:pt x="1364483" y="95520"/>
                  </a:lnTo>
                  <a:lnTo>
                    <a:pt x="1371600" y="139700"/>
                  </a:lnTo>
                  <a:lnTo>
                    <a:pt x="1371600" y="698500"/>
                  </a:lnTo>
                  <a:lnTo>
                    <a:pt x="1364483" y="742679"/>
                  </a:lnTo>
                  <a:lnTo>
                    <a:pt x="1344663" y="781031"/>
                  </a:lnTo>
                  <a:lnTo>
                    <a:pt x="1314431" y="811263"/>
                  </a:lnTo>
                  <a:lnTo>
                    <a:pt x="1276079" y="831083"/>
                  </a:lnTo>
                  <a:lnTo>
                    <a:pt x="1231900" y="838200"/>
                  </a:lnTo>
                  <a:lnTo>
                    <a:pt x="139700" y="838200"/>
                  </a:lnTo>
                  <a:lnTo>
                    <a:pt x="95520" y="831083"/>
                  </a:lnTo>
                  <a:lnTo>
                    <a:pt x="57168" y="811263"/>
                  </a:lnTo>
                  <a:lnTo>
                    <a:pt x="26936" y="781031"/>
                  </a:lnTo>
                  <a:lnTo>
                    <a:pt x="7116" y="742679"/>
                  </a:lnTo>
                  <a:lnTo>
                    <a:pt x="0" y="698500"/>
                  </a:lnTo>
                  <a:lnTo>
                    <a:pt x="0" y="139700"/>
                  </a:lnTo>
                  <a:close/>
                </a:path>
              </a:pathLst>
            </a:custGeom>
            <a:ln w="12954">
              <a:solidFill>
                <a:srgbClr val="6FAC46"/>
              </a:solidFill>
            </a:ln>
          </p:spPr>
          <p:txBody>
            <a:bodyPr wrap="square" lIns="0" tIns="0" rIns="0" bIns="0" rtlCol="0"/>
            <a:lstStyle/>
            <a:p>
              <a:endParaRPr/>
            </a:p>
          </p:txBody>
        </p:sp>
      </p:grpSp>
      <p:sp>
        <p:nvSpPr>
          <p:cNvPr id="7" name="object 7"/>
          <p:cNvSpPr txBox="1"/>
          <p:nvPr/>
        </p:nvSpPr>
        <p:spPr>
          <a:xfrm>
            <a:off x="2796285" y="2513584"/>
            <a:ext cx="996315" cy="574040"/>
          </a:xfrm>
          <a:prstGeom prst="rect">
            <a:avLst/>
          </a:prstGeom>
        </p:spPr>
        <p:txBody>
          <a:bodyPr vert="horz" wrap="square" lIns="0" tIns="12700" rIns="0" bIns="0" rtlCol="0">
            <a:spAutoFit/>
          </a:bodyPr>
          <a:lstStyle/>
          <a:p>
            <a:pPr marL="292735" marR="5080" indent="-280670">
              <a:lnSpc>
                <a:spcPct val="100000"/>
              </a:lnSpc>
              <a:spcBef>
                <a:spcPts val="100"/>
              </a:spcBef>
            </a:pPr>
            <a:r>
              <a:rPr sz="1800" dirty="0">
                <a:latin typeface="Calibri"/>
                <a:cs typeface="Calibri"/>
              </a:rPr>
              <a:t>All </a:t>
            </a:r>
            <a:r>
              <a:rPr sz="1800" spc="-10" dirty="0">
                <a:latin typeface="Calibri"/>
                <a:cs typeface="Calibri"/>
              </a:rPr>
              <a:t>labeled </a:t>
            </a:r>
            <a:r>
              <a:rPr sz="1800" spc="-20" dirty="0">
                <a:latin typeface="Calibri"/>
                <a:cs typeface="Calibri"/>
              </a:rPr>
              <a:t>data</a:t>
            </a:r>
            <a:endParaRPr sz="1800">
              <a:latin typeface="Calibri"/>
              <a:cs typeface="Calibri"/>
            </a:endParaRPr>
          </a:p>
        </p:txBody>
      </p:sp>
      <p:grpSp>
        <p:nvGrpSpPr>
          <p:cNvPr id="8" name="object 8"/>
          <p:cNvGrpSpPr/>
          <p:nvPr/>
        </p:nvGrpSpPr>
        <p:grpSpPr>
          <a:xfrm>
            <a:off x="4200144" y="2487802"/>
            <a:ext cx="3136900" cy="686435"/>
            <a:chOff x="4200144" y="2487802"/>
            <a:chExt cx="3136900" cy="686435"/>
          </a:xfrm>
        </p:grpSpPr>
        <p:sp>
          <p:nvSpPr>
            <p:cNvPr id="9" name="object 9"/>
            <p:cNvSpPr/>
            <p:nvPr/>
          </p:nvSpPr>
          <p:spPr>
            <a:xfrm>
              <a:off x="4209669" y="2719959"/>
              <a:ext cx="914400" cy="223520"/>
            </a:xfrm>
            <a:custGeom>
              <a:avLst/>
              <a:gdLst/>
              <a:ahLst/>
              <a:cxnLst/>
              <a:rect l="l" t="t" r="r" b="b"/>
              <a:pathLst>
                <a:path w="914400" h="223519">
                  <a:moveTo>
                    <a:pt x="802766" y="0"/>
                  </a:moveTo>
                  <a:lnTo>
                    <a:pt x="802766" y="55752"/>
                  </a:lnTo>
                  <a:lnTo>
                    <a:pt x="0" y="55752"/>
                  </a:lnTo>
                  <a:lnTo>
                    <a:pt x="0" y="167512"/>
                  </a:lnTo>
                  <a:lnTo>
                    <a:pt x="802766" y="167512"/>
                  </a:lnTo>
                  <a:lnTo>
                    <a:pt x="802766" y="223265"/>
                  </a:lnTo>
                  <a:lnTo>
                    <a:pt x="914400" y="111632"/>
                  </a:lnTo>
                  <a:lnTo>
                    <a:pt x="802766" y="0"/>
                  </a:lnTo>
                  <a:close/>
                </a:path>
              </a:pathLst>
            </a:custGeom>
            <a:solidFill>
              <a:srgbClr val="6FAC46"/>
            </a:solidFill>
          </p:spPr>
          <p:txBody>
            <a:bodyPr wrap="square" lIns="0" tIns="0" rIns="0" bIns="0" rtlCol="0"/>
            <a:lstStyle/>
            <a:p>
              <a:endParaRPr/>
            </a:p>
          </p:txBody>
        </p:sp>
        <p:sp>
          <p:nvSpPr>
            <p:cNvPr id="10" name="object 10"/>
            <p:cNvSpPr/>
            <p:nvPr/>
          </p:nvSpPr>
          <p:spPr>
            <a:xfrm>
              <a:off x="4209669" y="2719959"/>
              <a:ext cx="914400" cy="223520"/>
            </a:xfrm>
            <a:custGeom>
              <a:avLst/>
              <a:gdLst/>
              <a:ahLst/>
              <a:cxnLst/>
              <a:rect l="l" t="t" r="r" b="b"/>
              <a:pathLst>
                <a:path w="914400" h="223519">
                  <a:moveTo>
                    <a:pt x="0" y="55752"/>
                  </a:moveTo>
                  <a:lnTo>
                    <a:pt x="802766" y="55752"/>
                  </a:lnTo>
                  <a:lnTo>
                    <a:pt x="802766" y="0"/>
                  </a:lnTo>
                  <a:lnTo>
                    <a:pt x="914400" y="111632"/>
                  </a:lnTo>
                  <a:lnTo>
                    <a:pt x="802766" y="223265"/>
                  </a:lnTo>
                  <a:lnTo>
                    <a:pt x="802766" y="167512"/>
                  </a:lnTo>
                  <a:lnTo>
                    <a:pt x="0" y="167512"/>
                  </a:lnTo>
                  <a:lnTo>
                    <a:pt x="0" y="55752"/>
                  </a:lnTo>
                  <a:close/>
                </a:path>
              </a:pathLst>
            </a:custGeom>
            <a:ln w="19050">
              <a:solidFill>
                <a:srgbClr val="FFFFFF"/>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5352288" y="2490977"/>
              <a:ext cx="1981200" cy="679704"/>
            </a:xfrm>
            <a:prstGeom prst="rect">
              <a:avLst/>
            </a:prstGeom>
          </p:spPr>
        </p:pic>
        <p:sp>
          <p:nvSpPr>
            <p:cNvPr id="12" name="object 12"/>
            <p:cNvSpPr/>
            <p:nvPr/>
          </p:nvSpPr>
          <p:spPr>
            <a:xfrm>
              <a:off x="5352288" y="2490977"/>
              <a:ext cx="1981200" cy="680085"/>
            </a:xfrm>
            <a:custGeom>
              <a:avLst/>
              <a:gdLst/>
              <a:ahLst/>
              <a:cxnLst/>
              <a:rect l="l" t="t" r="r" b="b"/>
              <a:pathLst>
                <a:path w="1981200" h="680085">
                  <a:moveTo>
                    <a:pt x="0" y="339851"/>
                  </a:moveTo>
                  <a:lnTo>
                    <a:pt x="9042" y="293733"/>
                  </a:lnTo>
                  <a:lnTo>
                    <a:pt x="35383" y="249502"/>
                  </a:lnTo>
                  <a:lnTo>
                    <a:pt x="77843" y="207561"/>
                  </a:lnTo>
                  <a:lnTo>
                    <a:pt x="135240" y="168317"/>
                  </a:lnTo>
                  <a:lnTo>
                    <a:pt x="169172" y="149832"/>
                  </a:lnTo>
                  <a:lnTo>
                    <a:pt x="206397" y="132173"/>
                  </a:lnTo>
                  <a:lnTo>
                    <a:pt x="246765" y="115391"/>
                  </a:lnTo>
                  <a:lnTo>
                    <a:pt x="290131" y="99536"/>
                  </a:lnTo>
                  <a:lnTo>
                    <a:pt x="336346" y="84658"/>
                  </a:lnTo>
                  <a:lnTo>
                    <a:pt x="385264" y="70809"/>
                  </a:lnTo>
                  <a:lnTo>
                    <a:pt x="436736" y="58038"/>
                  </a:lnTo>
                  <a:lnTo>
                    <a:pt x="490615" y="46397"/>
                  </a:lnTo>
                  <a:lnTo>
                    <a:pt x="546753" y="35936"/>
                  </a:lnTo>
                  <a:lnTo>
                    <a:pt x="605004" y="26705"/>
                  </a:lnTo>
                  <a:lnTo>
                    <a:pt x="665219" y="18756"/>
                  </a:lnTo>
                  <a:lnTo>
                    <a:pt x="727251" y="12139"/>
                  </a:lnTo>
                  <a:lnTo>
                    <a:pt x="790953" y="6904"/>
                  </a:lnTo>
                  <a:lnTo>
                    <a:pt x="856176" y="3102"/>
                  </a:lnTo>
                  <a:lnTo>
                    <a:pt x="922774" y="783"/>
                  </a:lnTo>
                  <a:lnTo>
                    <a:pt x="990600" y="0"/>
                  </a:lnTo>
                  <a:lnTo>
                    <a:pt x="1058425" y="783"/>
                  </a:lnTo>
                  <a:lnTo>
                    <a:pt x="1125023" y="3102"/>
                  </a:lnTo>
                  <a:lnTo>
                    <a:pt x="1190246" y="6904"/>
                  </a:lnTo>
                  <a:lnTo>
                    <a:pt x="1253948" y="12139"/>
                  </a:lnTo>
                  <a:lnTo>
                    <a:pt x="1315980" y="18756"/>
                  </a:lnTo>
                  <a:lnTo>
                    <a:pt x="1376195" y="26705"/>
                  </a:lnTo>
                  <a:lnTo>
                    <a:pt x="1434446" y="35936"/>
                  </a:lnTo>
                  <a:lnTo>
                    <a:pt x="1490584" y="46397"/>
                  </a:lnTo>
                  <a:lnTo>
                    <a:pt x="1544463" y="58038"/>
                  </a:lnTo>
                  <a:lnTo>
                    <a:pt x="1595935" y="70809"/>
                  </a:lnTo>
                  <a:lnTo>
                    <a:pt x="1644853" y="84658"/>
                  </a:lnTo>
                  <a:lnTo>
                    <a:pt x="1691068" y="99536"/>
                  </a:lnTo>
                  <a:lnTo>
                    <a:pt x="1734434" y="115391"/>
                  </a:lnTo>
                  <a:lnTo>
                    <a:pt x="1774802" y="132173"/>
                  </a:lnTo>
                  <a:lnTo>
                    <a:pt x="1812027" y="149832"/>
                  </a:lnTo>
                  <a:lnTo>
                    <a:pt x="1845959" y="168317"/>
                  </a:lnTo>
                  <a:lnTo>
                    <a:pt x="1903356" y="207561"/>
                  </a:lnTo>
                  <a:lnTo>
                    <a:pt x="1945816" y="249502"/>
                  </a:lnTo>
                  <a:lnTo>
                    <a:pt x="1972157" y="293733"/>
                  </a:lnTo>
                  <a:lnTo>
                    <a:pt x="1981200" y="339851"/>
                  </a:lnTo>
                  <a:lnTo>
                    <a:pt x="1978914" y="363121"/>
                  </a:lnTo>
                  <a:lnTo>
                    <a:pt x="1961075" y="408347"/>
                  </a:lnTo>
                  <a:lnTo>
                    <a:pt x="1926527" y="451483"/>
                  </a:lnTo>
                  <a:lnTo>
                    <a:pt x="1876451" y="492126"/>
                  </a:lnTo>
                  <a:lnTo>
                    <a:pt x="1812027" y="529871"/>
                  </a:lnTo>
                  <a:lnTo>
                    <a:pt x="1774802" y="547530"/>
                  </a:lnTo>
                  <a:lnTo>
                    <a:pt x="1734434" y="564312"/>
                  </a:lnTo>
                  <a:lnTo>
                    <a:pt x="1691068" y="580167"/>
                  </a:lnTo>
                  <a:lnTo>
                    <a:pt x="1644853" y="595045"/>
                  </a:lnTo>
                  <a:lnTo>
                    <a:pt x="1595935" y="608894"/>
                  </a:lnTo>
                  <a:lnTo>
                    <a:pt x="1544463" y="621665"/>
                  </a:lnTo>
                  <a:lnTo>
                    <a:pt x="1490584" y="633306"/>
                  </a:lnTo>
                  <a:lnTo>
                    <a:pt x="1434446" y="643767"/>
                  </a:lnTo>
                  <a:lnTo>
                    <a:pt x="1376195" y="652998"/>
                  </a:lnTo>
                  <a:lnTo>
                    <a:pt x="1315980" y="660947"/>
                  </a:lnTo>
                  <a:lnTo>
                    <a:pt x="1253948" y="667564"/>
                  </a:lnTo>
                  <a:lnTo>
                    <a:pt x="1190246" y="672799"/>
                  </a:lnTo>
                  <a:lnTo>
                    <a:pt x="1125023" y="676601"/>
                  </a:lnTo>
                  <a:lnTo>
                    <a:pt x="1058425" y="678920"/>
                  </a:lnTo>
                  <a:lnTo>
                    <a:pt x="990600" y="679704"/>
                  </a:lnTo>
                  <a:lnTo>
                    <a:pt x="922774" y="678920"/>
                  </a:lnTo>
                  <a:lnTo>
                    <a:pt x="856176" y="676601"/>
                  </a:lnTo>
                  <a:lnTo>
                    <a:pt x="790953" y="672799"/>
                  </a:lnTo>
                  <a:lnTo>
                    <a:pt x="727251" y="667564"/>
                  </a:lnTo>
                  <a:lnTo>
                    <a:pt x="665219" y="660947"/>
                  </a:lnTo>
                  <a:lnTo>
                    <a:pt x="605004" y="652998"/>
                  </a:lnTo>
                  <a:lnTo>
                    <a:pt x="546753" y="643767"/>
                  </a:lnTo>
                  <a:lnTo>
                    <a:pt x="490615" y="633306"/>
                  </a:lnTo>
                  <a:lnTo>
                    <a:pt x="436736" y="621665"/>
                  </a:lnTo>
                  <a:lnTo>
                    <a:pt x="385264" y="608894"/>
                  </a:lnTo>
                  <a:lnTo>
                    <a:pt x="336346" y="595045"/>
                  </a:lnTo>
                  <a:lnTo>
                    <a:pt x="290131" y="580167"/>
                  </a:lnTo>
                  <a:lnTo>
                    <a:pt x="246765" y="564312"/>
                  </a:lnTo>
                  <a:lnTo>
                    <a:pt x="206397" y="547530"/>
                  </a:lnTo>
                  <a:lnTo>
                    <a:pt x="169172" y="529871"/>
                  </a:lnTo>
                  <a:lnTo>
                    <a:pt x="135240" y="511386"/>
                  </a:lnTo>
                  <a:lnTo>
                    <a:pt x="77843" y="472142"/>
                  </a:lnTo>
                  <a:lnTo>
                    <a:pt x="35383" y="430201"/>
                  </a:lnTo>
                  <a:lnTo>
                    <a:pt x="9042" y="385970"/>
                  </a:lnTo>
                  <a:lnTo>
                    <a:pt x="0" y="339851"/>
                  </a:lnTo>
                  <a:close/>
                </a:path>
              </a:pathLst>
            </a:custGeom>
            <a:ln w="6096">
              <a:solidFill>
                <a:srgbClr val="FFFFFF"/>
              </a:solidFill>
            </a:ln>
          </p:spPr>
          <p:txBody>
            <a:bodyPr wrap="square" lIns="0" tIns="0" rIns="0" bIns="0" rtlCol="0"/>
            <a:lstStyle/>
            <a:p>
              <a:endParaRPr/>
            </a:p>
          </p:txBody>
        </p:sp>
      </p:grpSp>
      <p:sp>
        <p:nvSpPr>
          <p:cNvPr id="13" name="object 13"/>
          <p:cNvSpPr txBox="1"/>
          <p:nvPr/>
        </p:nvSpPr>
        <p:spPr>
          <a:xfrm>
            <a:off x="6029197" y="2667000"/>
            <a:ext cx="6286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Model</a:t>
            </a:r>
            <a:endParaRPr sz="1800">
              <a:latin typeface="Calibri"/>
              <a:cs typeface="Calibri"/>
            </a:endParaRPr>
          </a:p>
        </p:txBody>
      </p:sp>
      <p:sp>
        <p:nvSpPr>
          <p:cNvPr id="14" name="object 14"/>
          <p:cNvSpPr txBox="1"/>
          <p:nvPr/>
        </p:nvSpPr>
        <p:spPr>
          <a:xfrm>
            <a:off x="8633459" y="2665221"/>
            <a:ext cx="972819"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Prediction</a:t>
            </a:r>
            <a:endParaRPr sz="1800">
              <a:latin typeface="Calibri"/>
              <a:cs typeface="Calibri"/>
            </a:endParaRPr>
          </a:p>
        </p:txBody>
      </p:sp>
      <p:grpSp>
        <p:nvGrpSpPr>
          <p:cNvPr id="15" name="object 15"/>
          <p:cNvGrpSpPr/>
          <p:nvPr/>
        </p:nvGrpSpPr>
        <p:grpSpPr>
          <a:xfrm>
            <a:off x="7476743" y="2710433"/>
            <a:ext cx="933450" cy="242570"/>
            <a:chOff x="7476743" y="2710433"/>
            <a:chExt cx="933450" cy="242570"/>
          </a:xfrm>
        </p:grpSpPr>
        <p:sp>
          <p:nvSpPr>
            <p:cNvPr id="16" name="object 16"/>
            <p:cNvSpPr/>
            <p:nvPr/>
          </p:nvSpPr>
          <p:spPr>
            <a:xfrm>
              <a:off x="7486268" y="2719958"/>
              <a:ext cx="914400" cy="223520"/>
            </a:xfrm>
            <a:custGeom>
              <a:avLst/>
              <a:gdLst/>
              <a:ahLst/>
              <a:cxnLst/>
              <a:rect l="l" t="t" r="r" b="b"/>
              <a:pathLst>
                <a:path w="914400" h="223519">
                  <a:moveTo>
                    <a:pt x="802766" y="0"/>
                  </a:moveTo>
                  <a:lnTo>
                    <a:pt x="802766" y="55752"/>
                  </a:lnTo>
                  <a:lnTo>
                    <a:pt x="0" y="55752"/>
                  </a:lnTo>
                  <a:lnTo>
                    <a:pt x="0" y="167512"/>
                  </a:lnTo>
                  <a:lnTo>
                    <a:pt x="802766" y="167512"/>
                  </a:lnTo>
                  <a:lnTo>
                    <a:pt x="802766" y="223265"/>
                  </a:lnTo>
                  <a:lnTo>
                    <a:pt x="914400" y="111632"/>
                  </a:lnTo>
                  <a:lnTo>
                    <a:pt x="802766" y="0"/>
                  </a:lnTo>
                  <a:close/>
                </a:path>
              </a:pathLst>
            </a:custGeom>
            <a:solidFill>
              <a:srgbClr val="6FAC46"/>
            </a:solidFill>
          </p:spPr>
          <p:txBody>
            <a:bodyPr wrap="square" lIns="0" tIns="0" rIns="0" bIns="0" rtlCol="0"/>
            <a:lstStyle/>
            <a:p>
              <a:endParaRPr/>
            </a:p>
          </p:txBody>
        </p:sp>
        <p:sp>
          <p:nvSpPr>
            <p:cNvPr id="17" name="object 17"/>
            <p:cNvSpPr/>
            <p:nvPr/>
          </p:nvSpPr>
          <p:spPr>
            <a:xfrm>
              <a:off x="7486268" y="2719958"/>
              <a:ext cx="914400" cy="223520"/>
            </a:xfrm>
            <a:custGeom>
              <a:avLst/>
              <a:gdLst/>
              <a:ahLst/>
              <a:cxnLst/>
              <a:rect l="l" t="t" r="r" b="b"/>
              <a:pathLst>
                <a:path w="914400" h="223519">
                  <a:moveTo>
                    <a:pt x="0" y="55752"/>
                  </a:moveTo>
                  <a:lnTo>
                    <a:pt x="802766" y="55752"/>
                  </a:lnTo>
                  <a:lnTo>
                    <a:pt x="802766" y="0"/>
                  </a:lnTo>
                  <a:lnTo>
                    <a:pt x="914400" y="111632"/>
                  </a:lnTo>
                  <a:lnTo>
                    <a:pt x="802766" y="223265"/>
                  </a:lnTo>
                  <a:lnTo>
                    <a:pt x="802766" y="167512"/>
                  </a:lnTo>
                  <a:lnTo>
                    <a:pt x="0" y="167512"/>
                  </a:lnTo>
                  <a:lnTo>
                    <a:pt x="0" y="55752"/>
                  </a:lnTo>
                  <a:close/>
                </a:path>
              </a:pathLst>
            </a:custGeom>
            <a:ln w="19050">
              <a:solidFill>
                <a:srgbClr val="FFFFFF"/>
              </a:solidFill>
            </a:ln>
          </p:spPr>
          <p:txBody>
            <a:bodyPr wrap="square" lIns="0" tIns="0" rIns="0" bIns="0" rtlCol="0"/>
            <a:lstStyle/>
            <a:p>
              <a:endParaRPr/>
            </a:p>
          </p:txBody>
        </p:sp>
      </p:grpSp>
      <p:pic>
        <p:nvPicPr>
          <p:cNvPr id="18" name="object 18"/>
          <p:cNvPicPr/>
          <p:nvPr/>
        </p:nvPicPr>
        <p:blipFill>
          <a:blip r:embed="rId3" cstate="print"/>
          <a:stretch>
            <a:fillRect/>
          </a:stretch>
        </p:blipFill>
        <p:spPr>
          <a:xfrm>
            <a:off x="1203197" y="4016502"/>
            <a:ext cx="2298191" cy="2268474"/>
          </a:xfrm>
          <a:prstGeom prst="rect">
            <a:avLst/>
          </a:prstGeom>
        </p:spPr>
      </p:pic>
      <p:sp>
        <p:nvSpPr>
          <p:cNvPr id="19" name="object 19"/>
          <p:cNvSpPr txBox="1"/>
          <p:nvPr/>
        </p:nvSpPr>
        <p:spPr>
          <a:xfrm>
            <a:off x="326897" y="3542029"/>
            <a:ext cx="4361815" cy="574040"/>
          </a:xfrm>
          <a:prstGeom prst="rect">
            <a:avLst/>
          </a:prstGeom>
        </p:spPr>
        <p:txBody>
          <a:bodyPr vert="horz" wrap="square" lIns="0" tIns="12700" rIns="0" bIns="0" rtlCol="0">
            <a:spAutoFit/>
          </a:bodyPr>
          <a:lstStyle/>
          <a:p>
            <a:pPr marL="635" algn="ctr">
              <a:lnSpc>
                <a:spcPct val="100000"/>
              </a:lnSpc>
              <a:spcBef>
                <a:spcPts val="100"/>
              </a:spcBef>
            </a:pPr>
            <a:r>
              <a:rPr sz="1800" b="1" u="sng" dirty="0">
                <a:uFill>
                  <a:solidFill>
                    <a:srgbClr val="000000"/>
                  </a:solidFill>
                </a:uFill>
                <a:latin typeface="Segoe Print"/>
                <a:cs typeface="Segoe Print"/>
              </a:rPr>
              <a:t>Classification:</a:t>
            </a:r>
            <a:r>
              <a:rPr sz="1800" b="1" u="sng" spc="-55" dirty="0">
                <a:uFill>
                  <a:solidFill>
                    <a:srgbClr val="000000"/>
                  </a:solidFill>
                </a:uFill>
                <a:latin typeface="Segoe Print"/>
                <a:cs typeface="Segoe Print"/>
              </a:rPr>
              <a:t> </a:t>
            </a:r>
            <a:r>
              <a:rPr sz="1600" b="1" u="sng" dirty="0">
                <a:uFill>
                  <a:solidFill>
                    <a:srgbClr val="000000"/>
                  </a:solidFill>
                </a:uFill>
                <a:latin typeface="Segoe Print"/>
                <a:cs typeface="Segoe Print"/>
              </a:rPr>
              <a:t>Discrete</a:t>
            </a:r>
            <a:r>
              <a:rPr sz="1600" b="1" u="sng" spc="-55" dirty="0">
                <a:uFill>
                  <a:solidFill>
                    <a:srgbClr val="000000"/>
                  </a:solidFill>
                </a:uFill>
                <a:latin typeface="Segoe Print"/>
                <a:cs typeface="Segoe Print"/>
              </a:rPr>
              <a:t> </a:t>
            </a:r>
            <a:r>
              <a:rPr sz="1600" b="1" u="sng" spc="-10" dirty="0">
                <a:uFill>
                  <a:solidFill>
                    <a:srgbClr val="000000"/>
                  </a:solidFill>
                </a:uFill>
                <a:latin typeface="Segoe Print"/>
                <a:cs typeface="Segoe Print"/>
              </a:rPr>
              <a:t>Prediction</a:t>
            </a:r>
            <a:endParaRPr sz="1600">
              <a:latin typeface="Segoe Print"/>
              <a:cs typeface="Segoe Print"/>
            </a:endParaRPr>
          </a:p>
          <a:p>
            <a:pPr algn="ctr">
              <a:lnSpc>
                <a:spcPct val="100000"/>
              </a:lnSpc>
            </a:pPr>
            <a:r>
              <a:rPr sz="1800" dirty="0">
                <a:latin typeface="Segoe Print"/>
                <a:cs typeface="Segoe Print"/>
              </a:rPr>
              <a:t>Given</a:t>
            </a:r>
            <a:r>
              <a:rPr sz="1800" spc="-35" dirty="0">
                <a:latin typeface="Segoe Print"/>
                <a:cs typeface="Segoe Print"/>
              </a:rPr>
              <a:t> </a:t>
            </a:r>
            <a:r>
              <a:rPr sz="1800" dirty="0">
                <a:latin typeface="Segoe Print"/>
                <a:cs typeface="Segoe Print"/>
              </a:rPr>
              <a:t>a</a:t>
            </a:r>
            <a:r>
              <a:rPr sz="1800" spc="-30" dirty="0">
                <a:latin typeface="Segoe Print"/>
                <a:cs typeface="Segoe Print"/>
              </a:rPr>
              <a:t> </a:t>
            </a:r>
            <a:r>
              <a:rPr sz="1800" dirty="0">
                <a:latin typeface="Segoe Print"/>
                <a:cs typeface="Segoe Print"/>
              </a:rPr>
              <a:t>data</a:t>
            </a:r>
            <a:r>
              <a:rPr sz="1800" spc="-15" dirty="0">
                <a:latin typeface="Segoe Print"/>
                <a:cs typeface="Segoe Print"/>
              </a:rPr>
              <a:t> </a:t>
            </a:r>
            <a:r>
              <a:rPr sz="1800" dirty="0">
                <a:latin typeface="Segoe Print"/>
                <a:cs typeface="Segoe Print"/>
              </a:rPr>
              <a:t>sample,</a:t>
            </a:r>
            <a:r>
              <a:rPr sz="1800" spc="-35" dirty="0">
                <a:latin typeface="Segoe Print"/>
                <a:cs typeface="Segoe Print"/>
              </a:rPr>
              <a:t> </a:t>
            </a:r>
            <a:r>
              <a:rPr sz="1800" dirty="0">
                <a:latin typeface="Segoe Print"/>
                <a:cs typeface="Segoe Print"/>
              </a:rPr>
              <a:t>predict</a:t>
            </a:r>
            <a:r>
              <a:rPr sz="1800" spc="-30" dirty="0">
                <a:latin typeface="Segoe Print"/>
                <a:cs typeface="Segoe Print"/>
              </a:rPr>
              <a:t> </a:t>
            </a:r>
            <a:r>
              <a:rPr sz="1800" dirty="0">
                <a:latin typeface="Segoe Print"/>
                <a:cs typeface="Segoe Print"/>
              </a:rPr>
              <a:t>its</a:t>
            </a:r>
            <a:r>
              <a:rPr sz="1800" spc="-25" dirty="0">
                <a:latin typeface="Segoe Print"/>
                <a:cs typeface="Segoe Print"/>
              </a:rPr>
              <a:t> </a:t>
            </a:r>
            <a:r>
              <a:rPr sz="1800" spc="-10" dirty="0">
                <a:latin typeface="Segoe Print"/>
                <a:cs typeface="Segoe Print"/>
              </a:rPr>
              <a:t>class</a:t>
            </a:r>
            <a:endParaRPr sz="1800">
              <a:latin typeface="Segoe Print"/>
              <a:cs typeface="Segoe Print"/>
            </a:endParaRPr>
          </a:p>
        </p:txBody>
      </p:sp>
      <p:sp>
        <p:nvSpPr>
          <p:cNvPr id="20" name="object 20"/>
          <p:cNvSpPr txBox="1"/>
          <p:nvPr/>
        </p:nvSpPr>
        <p:spPr>
          <a:xfrm>
            <a:off x="5821171" y="3542029"/>
            <a:ext cx="6035675" cy="574040"/>
          </a:xfrm>
          <a:prstGeom prst="rect">
            <a:avLst/>
          </a:prstGeom>
        </p:spPr>
        <p:txBody>
          <a:bodyPr vert="horz" wrap="square" lIns="0" tIns="12700" rIns="0" bIns="0" rtlCol="0">
            <a:spAutoFit/>
          </a:bodyPr>
          <a:lstStyle/>
          <a:p>
            <a:pPr algn="ctr">
              <a:lnSpc>
                <a:spcPct val="100000"/>
              </a:lnSpc>
              <a:spcBef>
                <a:spcPts val="100"/>
              </a:spcBef>
            </a:pPr>
            <a:r>
              <a:rPr sz="1800" b="1" u="sng" dirty="0">
                <a:uFill>
                  <a:solidFill>
                    <a:srgbClr val="000000"/>
                  </a:solidFill>
                </a:uFill>
                <a:latin typeface="Segoe Print"/>
                <a:cs typeface="Segoe Print"/>
              </a:rPr>
              <a:t>Regression:</a:t>
            </a:r>
            <a:r>
              <a:rPr sz="1800" b="1" u="sng" spc="-75" dirty="0">
                <a:uFill>
                  <a:solidFill>
                    <a:srgbClr val="000000"/>
                  </a:solidFill>
                </a:uFill>
                <a:latin typeface="Segoe Print"/>
                <a:cs typeface="Segoe Print"/>
              </a:rPr>
              <a:t> </a:t>
            </a:r>
            <a:r>
              <a:rPr sz="1600" b="1" u="sng" dirty="0">
                <a:uFill>
                  <a:solidFill>
                    <a:srgbClr val="000000"/>
                  </a:solidFill>
                </a:uFill>
                <a:latin typeface="Segoe Print"/>
                <a:cs typeface="Segoe Print"/>
              </a:rPr>
              <a:t>Quantitative</a:t>
            </a:r>
            <a:r>
              <a:rPr sz="1600" b="1" u="sng" spc="-75" dirty="0">
                <a:uFill>
                  <a:solidFill>
                    <a:srgbClr val="000000"/>
                  </a:solidFill>
                </a:uFill>
                <a:latin typeface="Segoe Print"/>
                <a:cs typeface="Segoe Print"/>
              </a:rPr>
              <a:t> </a:t>
            </a:r>
            <a:r>
              <a:rPr sz="1600" b="1" u="sng" dirty="0">
                <a:uFill>
                  <a:solidFill>
                    <a:srgbClr val="000000"/>
                  </a:solidFill>
                </a:uFill>
                <a:latin typeface="Segoe Print"/>
                <a:cs typeface="Segoe Print"/>
              </a:rPr>
              <a:t>Prediction</a:t>
            </a:r>
            <a:r>
              <a:rPr sz="1600" b="1" u="sng" spc="-70" dirty="0">
                <a:uFill>
                  <a:solidFill>
                    <a:srgbClr val="000000"/>
                  </a:solidFill>
                </a:uFill>
                <a:latin typeface="Segoe Print"/>
                <a:cs typeface="Segoe Print"/>
              </a:rPr>
              <a:t> </a:t>
            </a:r>
            <a:r>
              <a:rPr sz="1600" b="1" u="sng" dirty="0">
                <a:uFill>
                  <a:solidFill>
                    <a:srgbClr val="000000"/>
                  </a:solidFill>
                </a:uFill>
                <a:latin typeface="Segoe Print"/>
                <a:cs typeface="Segoe Print"/>
              </a:rPr>
              <a:t>on</a:t>
            </a:r>
            <a:r>
              <a:rPr sz="1600" b="1" u="sng" spc="-75" dirty="0">
                <a:uFill>
                  <a:solidFill>
                    <a:srgbClr val="000000"/>
                  </a:solidFill>
                </a:uFill>
                <a:latin typeface="Segoe Print"/>
                <a:cs typeface="Segoe Print"/>
              </a:rPr>
              <a:t> </a:t>
            </a:r>
            <a:r>
              <a:rPr sz="1600" b="1" u="sng" dirty="0">
                <a:uFill>
                  <a:solidFill>
                    <a:srgbClr val="000000"/>
                  </a:solidFill>
                </a:uFill>
                <a:latin typeface="Segoe Print"/>
                <a:cs typeface="Segoe Print"/>
              </a:rPr>
              <a:t>a</a:t>
            </a:r>
            <a:r>
              <a:rPr sz="1600" b="1" u="sng" spc="-80" dirty="0">
                <a:uFill>
                  <a:solidFill>
                    <a:srgbClr val="000000"/>
                  </a:solidFill>
                </a:uFill>
                <a:latin typeface="Segoe Print"/>
                <a:cs typeface="Segoe Print"/>
              </a:rPr>
              <a:t> </a:t>
            </a:r>
            <a:r>
              <a:rPr sz="1600" b="1" u="sng" dirty="0">
                <a:uFill>
                  <a:solidFill>
                    <a:srgbClr val="000000"/>
                  </a:solidFill>
                </a:uFill>
                <a:latin typeface="Segoe Print"/>
                <a:cs typeface="Segoe Print"/>
              </a:rPr>
              <a:t>continuous</a:t>
            </a:r>
            <a:r>
              <a:rPr sz="1600" b="1" u="sng" spc="-65" dirty="0">
                <a:uFill>
                  <a:solidFill>
                    <a:srgbClr val="000000"/>
                  </a:solidFill>
                </a:uFill>
                <a:latin typeface="Segoe Print"/>
                <a:cs typeface="Segoe Print"/>
              </a:rPr>
              <a:t> </a:t>
            </a:r>
            <a:r>
              <a:rPr sz="1600" b="1" u="sng" spc="-10" dirty="0">
                <a:uFill>
                  <a:solidFill>
                    <a:srgbClr val="000000"/>
                  </a:solidFill>
                </a:uFill>
                <a:latin typeface="Segoe Print"/>
                <a:cs typeface="Segoe Print"/>
              </a:rPr>
              <a:t>scale</a:t>
            </a:r>
            <a:endParaRPr sz="1600">
              <a:latin typeface="Segoe Print"/>
              <a:cs typeface="Segoe Print"/>
            </a:endParaRPr>
          </a:p>
          <a:p>
            <a:pPr algn="ctr">
              <a:lnSpc>
                <a:spcPct val="100000"/>
              </a:lnSpc>
            </a:pPr>
            <a:r>
              <a:rPr sz="1800" dirty="0">
                <a:latin typeface="Segoe Print"/>
                <a:cs typeface="Segoe Print"/>
              </a:rPr>
              <a:t>Given</a:t>
            </a:r>
            <a:r>
              <a:rPr sz="1800" spc="-45" dirty="0">
                <a:latin typeface="Segoe Print"/>
                <a:cs typeface="Segoe Print"/>
              </a:rPr>
              <a:t> </a:t>
            </a:r>
            <a:r>
              <a:rPr sz="1800" dirty="0">
                <a:latin typeface="Segoe Print"/>
                <a:cs typeface="Segoe Print"/>
              </a:rPr>
              <a:t>a</a:t>
            </a:r>
            <a:r>
              <a:rPr sz="1800" spc="-40" dirty="0">
                <a:latin typeface="Segoe Print"/>
                <a:cs typeface="Segoe Print"/>
              </a:rPr>
              <a:t> </a:t>
            </a:r>
            <a:r>
              <a:rPr sz="1800" dirty="0">
                <a:latin typeface="Segoe Print"/>
                <a:cs typeface="Segoe Print"/>
              </a:rPr>
              <a:t>data</a:t>
            </a:r>
            <a:r>
              <a:rPr sz="1800" spc="-30" dirty="0">
                <a:latin typeface="Segoe Print"/>
                <a:cs typeface="Segoe Print"/>
              </a:rPr>
              <a:t> </a:t>
            </a:r>
            <a:r>
              <a:rPr sz="1800" dirty="0">
                <a:latin typeface="Segoe Print"/>
                <a:cs typeface="Segoe Print"/>
              </a:rPr>
              <a:t>sample,</a:t>
            </a:r>
            <a:r>
              <a:rPr sz="1800" spc="-40" dirty="0">
                <a:latin typeface="Segoe Print"/>
                <a:cs typeface="Segoe Print"/>
              </a:rPr>
              <a:t> </a:t>
            </a:r>
            <a:r>
              <a:rPr sz="1800" dirty="0">
                <a:latin typeface="Segoe Print"/>
                <a:cs typeface="Segoe Print"/>
              </a:rPr>
              <a:t>predict</a:t>
            </a:r>
            <a:r>
              <a:rPr sz="1800" spc="-40" dirty="0">
                <a:latin typeface="Segoe Print"/>
                <a:cs typeface="Segoe Print"/>
              </a:rPr>
              <a:t> </a:t>
            </a:r>
            <a:r>
              <a:rPr sz="1800" dirty="0">
                <a:latin typeface="Segoe Print"/>
                <a:cs typeface="Segoe Print"/>
              </a:rPr>
              <a:t>a</a:t>
            </a:r>
            <a:r>
              <a:rPr sz="1800" spc="-45" dirty="0">
                <a:latin typeface="Segoe Print"/>
                <a:cs typeface="Segoe Print"/>
              </a:rPr>
              <a:t> </a:t>
            </a:r>
            <a:r>
              <a:rPr sz="1800" dirty="0">
                <a:latin typeface="Segoe Print"/>
                <a:cs typeface="Segoe Print"/>
              </a:rPr>
              <a:t>numerical</a:t>
            </a:r>
            <a:r>
              <a:rPr sz="1800" spc="-40" dirty="0">
                <a:latin typeface="Segoe Print"/>
                <a:cs typeface="Segoe Print"/>
              </a:rPr>
              <a:t> </a:t>
            </a:r>
            <a:r>
              <a:rPr sz="1800" spc="-10" dirty="0">
                <a:latin typeface="Segoe Print"/>
                <a:cs typeface="Segoe Print"/>
              </a:rPr>
              <a:t>value</a:t>
            </a:r>
            <a:endParaRPr sz="1800">
              <a:latin typeface="Segoe Print"/>
              <a:cs typeface="Segoe Print"/>
            </a:endParaRPr>
          </a:p>
        </p:txBody>
      </p:sp>
      <p:pic>
        <p:nvPicPr>
          <p:cNvPr id="21" name="object 21"/>
          <p:cNvPicPr/>
          <p:nvPr/>
        </p:nvPicPr>
        <p:blipFill>
          <a:blip r:embed="rId4" cstate="print"/>
          <a:stretch>
            <a:fillRect/>
          </a:stretch>
        </p:blipFill>
        <p:spPr>
          <a:xfrm>
            <a:off x="7518479" y="4273822"/>
            <a:ext cx="2041705" cy="1905828"/>
          </a:xfrm>
          <a:prstGeom prst="rect">
            <a:avLst/>
          </a:prstGeom>
        </p:spPr>
      </p:pic>
      <p:sp>
        <p:nvSpPr>
          <p:cNvPr id="22" name="object 22"/>
          <p:cNvSpPr txBox="1">
            <a:spLocks noGrp="1"/>
          </p:cNvSpPr>
          <p:nvPr>
            <p:ph type="title"/>
          </p:nvPr>
        </p:nvSpPr>
        <p:spPr>
          <a:xfrm>
            <a:off x="2438400" y="-53882"/>
            <a:ext cx="7391399" cy="689932"/>
          </a:xfrm>
          <a:prstGeom prst="rect">
            <a:avLst/>
          </a:prstGeom>
        </p:spPr>
        <p:txBody>
          <a:bodyPr vert="horz" wrap="square" lIns="0" tIns="12700" rIns="0" bIns="0" rtlCol="0">
            <a:spAutoFit/>
          </a:bodyPr>
          <a:lstStyle/>
          <a:p>
            <a:pPr marL="12700">
              <a:lnSpc>
                <a:spcPct val="100000"/>
              </a:lnSpc>
              <a:spcBef>
                <a:spcPts val="100"/>
              </a:spcBef>
            </a:pPr>
            <a:r>
              <a:rPr dirty="0"/>
              <a:t>Machine</a:t>
            </a:r>
            <a:r>
              <a:rPr spc="-145" dirty="0"/>
              <a:t> </a:t>
            </a:r>
            <a:r>
              <a:rPr dirty="0"/>
              <a:t>Learning:</a:t>
            </a:r>
            <a:r>
              <a:rPr spc="-145" dirty="0"/>
              <a:t> </a:t>
            </a:r>
            <a:r>
              <a:rPr spc="-10" dirty="0"/>
              <a:t>Overview</a:t>
            </a:r>
          </a:p>
        </p:txBody>
      </p:sp>
      <p:sp>
        <p:nvSpPr>
          <p:cNvPr id="23" name="object 23"/>
          <p:cNvSpPr txBox="1"/>
          <p:nvPr/>
        </p:nvSpPr>
        <p:spPr>
          <a:xfrm>
            <a:off x="168910" y="558799"/>
            <a:ext cx="11092180" cy="1693545"/>
          </a:xfrm>
          <a:prstGeom prst="rect">
            <a:avLst/>
          </a:prstGeom>
        </p:spPr>
        <p:txBody>
          <a:bodyPr vert="horz" wrap="square" lIns="0" tIns="12700" rIns="0" bIns="0" rtlCol="0">
            <a:spAutoFit/>
          </a:bodyPr>
          <a:lstStyle/>
          <a:p>
            <a:pPr marL="4258945">
              <a:lnSpc>
                <a:spcPts val="2960"/>
              </a:lnSpc>
              <a:spcBef>
                <a:spcPts val="100"/>
              </a:spcBef>
            </a:pPr>
            <a:r>
              <a:rPr sz="2800" i="1" dirty="0">
                <a:solidFill>
                  <a:srgbClr val="006FC0"/>
                </a:solidFill>
                <a:latin typeface="Calibri"/>
                <a:cs typeface="Calibri"/>
              </a:rPr>
              <a:t>Nature</a:t>
            </a:r>
            <a:r>
              <a:rPr sz="2800" i="1" spc="-30" dirty="0">
                <a:solidFill>
                  <a:srgbClr val="006FC0"/>
                </a:solidFill>
                <a:latin typeface="Calibri"/>
                <a:cs typeface="Calibri"/>
              </a:rPr>
              <a:t> </a:t>
            </a:r>
            <a:r>
              <a:rPr sz="2800" i="1" dirty="0">
                <a:solidFill>
                  <a:srgbClr val="006FC0"/>
                </a:solidFill>
                <a:latin typeface="Calibri"/>
                <a:cs typeface="Calibri"/>
              </a:rPr>
              <a:t>of</a:t>
            </a:r>
            <a:r>
              <a:rPr sz="2800" i="1" spc="-20" dirty="0">
                <a:solidFill>
                  <a:srgbClr val="006FC0"/>
                </a:solidFill>
                <a:latin typeface="Calibri"/>
                <a:cs typeface="Calibri"/>
              </a:rPr>
              <a:t> </a:t>
            </a:r>
            <a:r>
              <a:rPr sz="2800" i="1" dirty="0">
                <a:solidFill>
                  <a:srgbClr val="006FC0"/>
                </a:solidFill>
                <a:latin typeface="Calibri"/>
                <a:cs typeface="Calibri"/>
              </a:rPr>
              <a:t>ML</a:t>
            </a:r>
            <a:r>
              <a:rPr sz="2800" i="1" spc="-15" dirty="0">
                <a:solidFill>
                  <a:srgbClr val="006FC0"/>
                </a:solidFill>
                <a:latin typeface="Calibri"/>
                <a:cs typeface="Calibri"/>
              </a:rPr>
              <a:t> </a:t>
            </a:r>
            <a:r>
              <a:rPr sz="2800" i="1" spc="-10" dirty="0">
                <a:solidFill>
                  <a:srgbClr val="006FC0"/>
                </a:solidFill>
                <a:latin typeface="Calibri"/>
                <a:cs typeface="Calibri"/>
              </a:rPr>
              <a:t>Problems</a:t>
            </a:r>
            <a:endParaRPr sz="2800" dirty="0">
              <a:latin typeface="Calibri"/>
              <a:cs typeface="Calibri"/>
            </a:endParaRPr>
          </a:p>
          <a:p>
            <a:pPr marL="12700">
              <a:lnSpc>
                <a:spcPts val="2480"/>
              </a:lnSpc>
              <a:tabLst>
                <a:tab pos="520700" algn="l"/>
              </a:tabLst>
            </a:pPr>
            <a:r>
              <a:rPr sz="2400" spc="-25" dirty="0">
                <a:latin typeface="Calibri"/>
                <a:cs typeface="Calibri"/>
              </a:rPr>
              <a:t>1</a:t>
            </a:r>
            <a:r>
              <a:rPr sz="2400" b="1" spc="-25" dirty="0">
                <a:latin typeface="Calibri"/>
                <a:cs typeface="Calibri"/>
              </a:rPr>
              <a:t>.</a:t>
            </a:r>
            <a:r>
              <a:rPr sz="2400" b="1" dirty="0">
                <a:latin typeface="Calibri"/>
                <a:cs typeface="Calibri"/>
              </a:rPr>
              <a:t>	Supervised</a:t>
            </a:r>
            <a:r>
              <a:rPr sz="2400" b="1" spc="-114" dirty="0">
                <a:latin typeface="Calibri"/>
                <a:cs typeface="Calibri"/>
              </a:rPr>
              <a:t> </a:t>
            </a:r>
            <a:r>
              <a:rPr sz="2400" b="1" spc="-10" dirty="0">
                <a:latin typeface="Calibri"/>
                <a:cs typeface="Calibri"/>
              </a:rPr>
              <a:t>Learning</a:t>
            </a:r>
            <a:endParaRPr sz="2400" dirty="0">
              <a:latin typeface="Calibri"/>
              <a:cs typeface="Calibri"/>
            </a:endParaRPr>
          </a:p>
          <a:p>
            <a:pPr marL="4408170" marR="5080" indent="-3791585">
              <a:lnSpc>
                <a:spcPct val="100000"/>
              </a:lnSpc>
              <a:spcBef>
                <a:spcPts val="400"/>
              </a:spcBef>
            </a:pPr>
            <a:r>
              <a:rPr sz="1800" dirty="0">
                <a:latin typeface="Segoe Print"/>
                <a:cs typeface="Segoe Print"/>
              </a:rPr>
              <a:t>The</a:t>
            </a:r>
            <a:r>
              <a:rPr sz="1800" spc="-30" dirty="0">
                <a:latin typeface="Segoe Print"/>
                <a:cs typeface="Segoe Print"/>
              </a:rPr>
              <a:t> </a:t>
            </a:r>
            <a:r>
              <a:rPr sz="1800" dirty="0">
                <a:latin typeface="Segoe Print"/>
                <a:cs typeface="Segoe Print"/>
              </a:rPr>
              <a:t>learning</a:t>
            </a:r>
            <a:r>
              <a:rPr sz="1800" spc="-40" dirty="0">
                <a:latin typeface="Segoe Print"/>
                <a:cs typeface="Segoe Print"/>
              </a:rPr>
              <a:t> </a:t>
            </a:r>
            <a:r>
              <a:rPr sz="1800" dirty="0">
                <a:latin typeface="Segoe Print"/>
                <a:cs typeface="Segoe Print"/>
              </a:rPr>
              <a:t>algorithm</a:t>
            </a:r>
            <a:r>
              <a:rPr sz="1800" spc="-35" dirty="0">
                <a:latin typeface="Segoe Print"/>
                <a:cs typeface="Segoe Print"/>
              </a:rPr>
              <a:t> </a:t>
            </a:r>
            <a:r>
              <a:rPr sz="1800" dirty="0">
                <a:latin typeface="Segoe Print"/>
                <a:cs typeface="Segoe Print"/>
              </a:rPr>
              <a:t>would</a:t>
            </a:r>
            <a:r>
              <a:rPr sz="1800" spc="-30" dirty="0">
                <a:latin typeface="Segoe Print"/>
                <a:cs typeface="Segoe Print"/>
              </a:rPr>
              <a:t> </a:t>
            </a:r>
            <a:r>
              <a:rPr sz="1800" dirty="0">
                <a:latin typeface="Segoe Print"/>
                <a:cs typeface="Segoe Print"/>
              </a:rPr>
              <a:t>receive</a:t>
            </a:r>
            <a:r>
              <a:rPr sz="1800" spc="-30" dirty="0">
                <a:latin typeface="Segoe Print"/>
                <a:cs typeface="Segoe Print"/>
              </a:rPr>
              <a:t> </a:t>
            </a:r>
            <a:r>
              <a:rPr sz="1800" dirty="0">
                <a:latin typeface="Segoe Print"/>
                <a:cs typeface="Segoe Print"/>
              </a:rPr>
              <a:t>a</a:t>
            </a:r>
            <a:r>
              <a:rPr sz="1800" spc="-30" dirty="0">
                <a:latin typeface="Segoe Print"/>
                <a:cs typeface="Segoe Print"/>
              </a:rPr>
              <a:t> </a:t>
            </a:r>
            <a:r>
              <a:rPr sz="1800" dirty="0">
                <a:latin typeface="Segoe Print"/>
                <a:cs typeface="Segoe Print"/>
              </a:rPr>
              <a:t>set</a:t>
            </a:r>
            <a:r>
              <a:rPr sz="1800" spc="-20" dirty="0">
                <a:latin typeface="Segoe Print"/>
                <a:cs typeface="Segoe Print"/>
              </a:rPr>
              <a:t> </a:t>
            </a:r>
            <a:r>
              <a:rPr sz="1800" dirty="0">
                <a:latin typeface="Segoe Print"/>
                <a:cs typeface="Segoe Print"/>
              </a:rPr>
              <a:t>of</a:t>
            </a:r>
            <a:r>
              <a:rPr sz="1800" spc="-35" dirty="0">
                <a:latin typeface="Segoe Print"/>
                <a:cs typeface="Segoe Print"/>
              </a:rPr>
              <a:t> </a:t>
            </a:r>
            <a:r>
              <a:rPr sz="1800" dirty="0">
                <a:latin typeface="Segoe Print"/>
                <a:cs typeface="Segoe Print"/>
              </a:rPr>
              <a:t>inputs</a:t>
            </a:r>
            <a:r>
              <a:rPr sz="1800" spc="-30" dirty="0">
                <a:latin typeface="Segoe Print"/>
                <a:cs typeface="Segoe Print"/>
              </a:rPr>
              <a:t> </a:t>
            </a:r>
            <a:r>
              <a:rPr sz="1800" dirty="0">
                <a:latin typeface="Segoe Print"/>
                <a:cs typeface="Segoe Print"/>
              </a:rPr>
              <a:t>along</a:t>
            </a:r>
            <a:r>
              <a:rPr sz="1800" spc="-35" dirty="0">
                <a:latin typeface="Segoe Print"/>
                <a:cs typeface="Segoe Print"/>
              </a:rPr>
              <a:t> </a:t>
            </a:r>
            <a:r>
              <a:rPr sz="1800" dirty="0">
                <a:latin typeface="Segoe Print"/>
                <a:cs typeface="Segoe Print"/>
              </a:rPr>
              <a:t>with</a:t>
            </a:r>
            <a:r>
              <a:rPr sz="1800" spc="-25" dirty="0">
                <a:latin typeface="Segoe Print"/>
                <a:cs typeface="Segoe Print"/>
              </a:rPr>
              <a:t> </a:t>
            </a:r>
            <a:r>
              <a:rPr sz="1800" dirty="0">
                <a:latin typeface="Segoe Print"/>
                <a:cs typeface="Segoe Print"/>
              </a:rPr>
              <a:t>the</a:t>
            </a:r>
            <a:r>
              <a:rPr sz="1800" spc="-25" dirty="0">
                <a:latin typeface="Segoe Print"/>
                <a:cs typeface="Segoe Print"/>
              </a:rPr>
              <a:t> </a:t>
            </a:r>
            <a:r>
              <a:rPr sz="1800" dirty="0">
                <a:latin typeface="Segoe Print"/>
                <a:cs typeface="Segoe Print"/>
              </a:rPr>
              <a:t>corresponding</a:t>
            </a:r>
            <a:r>
              <a:rPr sz="1800" spc="-45" dirty="0">
                <a:latin typeface="Segoe Print"/>
                <a:cs typeface="Segoe Print"/>
              </a:rPr>
              <a:t> </a:t>
            </a:r>
            <a:r>
              <a:rPr sz="1800" spc="-10" dirty="0">
                <a:latin typeface="Segoe Print"/>
                <a:cs typeface="Segoe Print"/>
              </a:rPr>
              <a:t>correct </a:t>
            </a:r>
            <a:r>
              <a:rPr sz="1800" dirty="0">
                <a:latin typeface="Segoe Print"/>
                <a:cs typeface="Segoe Print"/>
              </a:rPr>
              <a:t>outputs</a:t>
            </a:r>
            <a:r>
              <a:rPr sz="1800" spc="-45" dirty="0">
                <a:latin typeface="Segoe Print"/>
                <a:cs typeface="Segoe Print"/>
              </a:rPr>
              <a:t> </a:t>
            </a:r>
            <a:r>
              <a:rPr sz="1800" dirty="0">
                <a:latin typeface="Segoe Print"/>
                <a:cs typeface="Segoe Print"/>
              </a:rPr>
              <a:t>to</a:t>
            </a:r>
            <a:r>
              <a:rPr sz="1800" spc="-45" dirty="0">
                <a:latin typeface="Segoe Print"/>
                <a:cs typeface="Segoe Print"/>
              </a:rPr>
              <a:t> </a:t>
            </a:r>
            <a:r>
              <a:rPr sz="1800" dirty="0">
                <a:latin typeface="Segoe Print"/>
                <a:cs typeface="Segoe Print"/>
              </a:rPr>
              <a:t>train</a:t>
            </a:r>
            <a:r>
              <a:rPr sz="1800" spc="-40" dirty="0">
                <a:latin typeface="Segoe Print"/>
                <a:cs typeface="Segoe Print"/>
              </a:rPr>
              <a:t> </a:t>
            </a:r>
            <a:r>
              <a:rPr sz="1800" dirty="0">
                <a:latin typeface="Segoe Print"/>
                <a:cs typeface="Segoe Print"/>
              </a:rPr>
              <a:t>a</a:t>
            </a:r>
            <a:r>
              <a:rPr sz="1800" spc="-45" dirty="0">
                <a:latin typeface="Segoe Print"/>
                <a:cs typeface="Segoe Print"/>
              </a:rPr>
              <a:t> </a:t>
            </a:r>
            <a:r>
              <a:rPr sz="1800" spc="-10" dirty="0">
                <a:latin typeface="Segoe Print"/>
                <a:cs typeface="Segoe Print"/>
              </a:rPr>
              <a:t>model</a:t>
            </a:r>
            <a:endParaRPr sz="1800" dirty="0">
              <a:latin typeface="Segoe Print"/>
              <a:cs typeface="Segoe Print"/>
            </a:endParaRPr>
          </a:p>
          <a:p>
            <a:pPr marL="2499360">
              <a:lnSpc>
                <a:spcPct val="100000"/>
              </a:lnSpc>
              <a:spcBef>
                <a:spcPts val="815"/>
              </a:spcBef>
            </a:pPr>
            <a:r>
              <a:rPr sz="1800" spc="-20" dirty="0">
                <a:latin typeface="Calibri"/>
                <a:cs typeface="Calibri"/>
              </a:rPr>
              <a:t>Training</a:t>
            </a:r>
            <a:r>
              <a:rPr sz="1800" spc="-60" dirty="0">
                <a:latin typeface="Calibri"/>
                <a:cs typeface="Calibri"/>
              </a:rPr>
              <a:t> </a:t>
            </a:r>
            <a:r>
              <a:rPr sz="1800" spc="-20" dirty="0">
                <a:latin typeface="Calibri"/>
                <a:cs typeface="Calibri"/>
              </a:rPr>
              <a:t>Data</a:t>
            </a:r>
            <a:endParaRPr sz="1800" dirty="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50531"/>
            <a:ext cx="7754987" cy="138728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148" dirty="0">
                <a:latin typeface="Trebuchet MS"/>
                <a:cs typeface="Trebuchet MS"/>
              </a:rPr>
              <a:t>ML</a:t>
            </a:r>
            <a:r>
              <a:rPr sz="1758" spc="-116" dirty="0">
                <a:latin typeface="Trebuchet MS"/>
                <a:cs typeface="Trebuchet MS"/>
              </a:rPr>
              <a:t> </a:t>
            </a:r>
            <a:r>
              <a:rPr sz="1758" spc="-53" dirty="0">
                <a:latin typeface="Trebuchet MS"/>
                <a:cs typeface="Trebuchet MS"/>
              </a:rPr>
              <a:t>systems</a:t>
            </a:r>
            <a:r>
              <a:rPr sz="1758" spc="-67" dirty="0">
                <a:latin typeface="Trebuchet MS"/>
                <a:cs typeface="Trebuchet MS"/>
              </a:rPr>
              <a:t> </a:t>
            </a:r>
            <a:r>
              <a:rPr sz="1758" dirty="0">
                <a:latin typeface="Trebuchet MS"/>
                <a:cs typeface="Trebuchet MS"/>
              </a:rPr>
              <a:t>can</a:t>
            </a:r>
            <a:r>
              <a:rPr sz="1758" spc="-67" dirty="0">
                <a:latin typeface="Trebuchet MS"/>
                <a:cs typeface="Trebuchet MS"/>
              </a:rPr>
              <a:t> </a:t>
            </a:r>
            <a:r>
              <a:rPr sz="1758" dirty="0">
                <a:latin typeface="Trebuchet MS"/>
                <a:cs typeface="Trebuchet MS"/>
              </a:rPr>
              <a:t>be</a:t>
            </a:r>
            <a:r>
              <a:rPr sz="1758" spc="-63" dirty="0">
                <a:latin typeface="Trebuchet MS"/>
                <a:cs typeface="Trebuchet MS"/>
              </a:rPr>
              <a:t> </a:t>
            </a:r>
            <a:r>
              <a:rPr sz="1758" spc="-39" dirty="0">
                <a:latin typeface="Trebuchet MS"/>
                <a:cs typeface="Trebuchet MS"/>
              </a:rPr>
              <a:t>classified</a:t>
            </a:r>
            <a:r>
              <a:rPr sz="1758" spc="-67" dirty="0">
                <a:latin typeface="Trebuchet MS"/>
                <a:cs typeface="Trebuchet MS"/>
              </a:rPr>
              <a:t> </a:t>
            </a:r>
            <a:r>
              <a:rPr sz="1758" spc="-14" dirty="0">
                <a:latin typeface="Trebuchet MS"/>
                <a:cs typeface="Trebuchet MS"/>
              </a:rPr>
              <a:t>according</a:t>
            </a:r>
            <a:r>
              <a:rPr sz="1758" spc="-67"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21" dirty="0">
                <a:latin typeface="Trebuchet MS"/>
                <a:cs typeface="Trebuchet MS"/>
              </a:rPr>
              <a:t>amount</a:t>
            </a:r>
            <a:r>
              <a:rPr sz="1758" spc="-63" dirty="0">
                <a:latin typeface="Trebuchet MS"/>
                <a:cs typeface="Trebuchet MS"/>
              </a:rPr>
              <a:t> </a:t>
            </a:r>
            <a:r>
              <a:rPr sz="1758" dirty="0">
                <a:latin typeface="Trebuchet MS"/>
                <a:cs typeface="Trebuchet MS"/>
              </a:rPr>
              <a:t>and</a:t>
            </a:r>
            <a:r>
              <a:rPr sz="1758" spc="-67" dirty="0">
                <a:latin typeface="Trebuchet MS"/>
                <a:cs typeface="Trebuchet MS"/>
              </a:rPr>
              <a:t> </a:t>
            </a:r>
            <a:r>
              <a:rPr sz="1758" spc="-70" dirty="0">
                <a:latin typeface="Trebuchet MS"/>
                <a:cs typeface="Trebuchet MS"/>
              </a:rPr>
              <a:t>type</a:t>
            </a:r>
            <a:r>
              <a:rPr sz="1758" spc="-60" dirty="0">
                <a:latin typeface="Trebuchet MS"/>
                <a:cs typeface="Trebuchet MS"/>
              </a:rPr>
              <a:t> </a:t>
            </a:r>
            <a:r>
              <a:rPr sz="1758" spc="-39" dirty="0">
                <a:latin typeface="Trebuchet MS"/>
                <a:cs typeface="Trebuchet MS"/>
              </a:rPr>
              <a:t>of</a:t>
            </a:r>
            <a:r>
              <a:rPr sz="1758" spc="-67" dirty="0">
                <a:latin typeface="Trebuchet MS"/>
                <a:cs typeface="Trebuchet MS"/>
              </a:rPr>
              <a:t> </a:t>
            </a:r>
            <a:r>
              <a:rPr sz="1758" spc="-7" dirty="0">
                <a:latin typeface="Trebuchet MS"/>
                <a:cs typeface="Trebuchet MS"/>
              </a:rPr>
              <a:t>supervision</a:t>
            </a:r>
            <a:endParaRPr sz="1758">
              <a:latin typeface="Trebuchet MS"/>
              <a:cs typeface="Trebuchet MS"/>
            </a:endParaRPr>
          </a:p>
          <a:p>
            <a:pPr>
              <a:spcBef>
                <a:spcPts val="63"/>
              </a:spcBef>
              <a:buFont typeface="Trebuchet MS"/>
              <a:buChar char="•"/>
            </a:pPr>
            <a:endParaRPr sz="1758">
              <a:latin typeface="Trebuchet MS"/>
              <a:cs typeface="Trebuchet MS"/>
            </a:endParaRPr>
          </a:p>
          <a:p>
            <a:pPr marL="696044" lvl="1" indent="-312081">
              <a:buClr>
                <a:srgbClr val="000000"/>
              </a:buClr>
              <a:buAutoNum type="arabicPeriod"/>
              <a:tabLst>
                <a:tab pos="696044" algn="l"/>
              </a:tabLst>
            </a:pPr>
            <a:r>
              <a:rPr sz="1758" spc="-21" dirty="0">
                <a:solidFill>
                  <a:srgbClr val="0076BA"/>
                </a:solidFill>
                <a:latin typeface="Trebuchet MS"/>
                <a:cs typeface="Trebuchet MS"/>
              </a:rPr>
              <a:t>Supervised</a:t>
            </a:r>
            <a:r>
              <a:rPr sz="1758" spc="-112" dirty="0">
                <a:solidFill>
                  <a:srgbClr val="0076BA"/>
                </a:solidFill>
                <a:latin typeface="Trebuchet MS"/>
                <a:cs typeface="Trebuchet MS"/>
              </a:rPr>
              <a:t> </a:t>
            </a:r>
            <a:r>
              <a:rPr sz="1758" spc="-42" dirty="0">
                <a:solidFill>
                  <a:srgbClr val="0076BA"/>
                </a:solidFill>
                <a:latin typeface="Trebuchet MS"/>
                <a:cs typeface="Trebuchet MS"/>
              </a:rPr>
              <a:t>learning</a:t>
            </a:r>
            <a:r>
              <a:rPr sz="1758" spc="-42" dirty="0">
                <a:latin typeface="Trebuchet MS"/>
                <a:cs typeface="Trebuchet MS"/>
              </a:rPr>
              <a:t>:</a:t>
            </a:r>
            <a:r>
              <a:rPr sz="1758" spc="-80" dirty="0">
                <a:latin typeface="Trebuchet MS"/>
                <a:cs typeface="Trebuchet MS"/>
              </a:rPr>
              <a:t> </a:t>
            </a:r>
            <a:r>
              <a:rPr sz="1758" spc="-49" dirty="0">
                <a:latin typeface="Trebuchet MS"/>
                <a:cs typeface="Trebuchet MS"/>
              </a:rPr>
              <a:t>training</a:t>
            </a:r>
            <a:r>
              <a:rPr sz="1758" spc="-67" dirty="0">
                <a:latin typeface="Trebuchet MS"/>
                <a:cs typeface="Trebuchet MS"/>
              </a:rPr>
              <a:t> </a:t>
            </a:r>
            <a:r>
              <a:rPr sz="1758" spc="-112" dirty="0">
                <a:latin typeface="Trebuchet MS"/>
                <a:cs typeface="Trebuchet MS"/>
              </a:rPr>
              <a:t>set</a:t>
            </a:r>
            <a:r>
              <a:rPr sz="1758" spc="-42" dirty="0">
                <a:latin typeface="Trebuchet MS"/>
                <a:cs typeface="Trebuchet MS"/>
              </a:rPr>
              <a:t> </a:t>
            </a:r>
            <a:r>
              <a:rPr sz="1758" spc="-7" dirty="0">
                <a:latin typeface="Trebuchet MS"/>
                <a:cs typeface="Trebuchet MS"/>
              </a:rPr>
              <a:t>includes</a:t>
            </a:r>
            <a:r>
              <a:rPr sz="1758" spc="-70"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49" dirty="0">
                <a:latin typeface="Trebuchet MS"/>
                <a:cs typeface="Trebuchet MS"/>
              </a:rPr>
              <a:t>desired</a:t>
            </a:r>
            <a:r>
              <a:rPr sz="1758" spc="-67" dirty="0">
                <a:latin typeface="Trebuchet MS"/>
                <a:cs typeface="Trebuchet MS"/>
              </a:rPr>
              <a:t> </a:t>
            </a:r>
            <a:r>
              <a:rPr sz="1758" spc="-18" dirty="0">
                <a:latin typeface="Trebuchet MS"/>
                <a:cs typeface="Trebuchet MS"/>
              </a:rPr>
              <a:t>solutions</a:t>
            </a:r>
            <a:r>
              <a:rPr sz="1758" spc="-70" dirty="0">
                <a:latin typeface="Trebuchet MS"/>
                <a:cs typeface="Trebuchet MS"/>
              </a:rPr>
              <a:t> </a:t>
            </a:r>
            <a:r>
              <a:rPr sz="1758" dirty="0">
                <a:latin typeface="Trebuchet MS"/>
                <a:cs typeface="Trebuchet MS"/>
              </a:rPr>
              <a:t>or</a:t>
            </a:r>
            <a:r>
              <a:rPr sz="1758" spc="-67" dirty="0">
                <a:latin typeface="Trebuchet MS"/>
                <a:cs typeface="Trebuchet MS"/>
              </a:rPr>
              <a:t> </a:t>
            </a:r>
            <a:r>
              <a:rPr sz="1758" spc="-7" dirty="0">
                <a:latin typeface="Trebuchet MS"/>
                <a:cs typeface="Trebuchet MS"/>
              </a:rPr>
              <a:t>labels</a:t>
            </a:r>
            <a:endParaRPr sz="1758">
              <a:latin typeface="Trebuchet MS"/>
              <a:cs typeface="Trebuchet MS"/>
            </a:endParaRPr>
          </a:p>
          <a:p>
            <a:pPr lvl="1">
              <a:spcBef>
                <a:spcPts val="67"/>
              </a:spcBef>
              <a:buFont typeface="Trebuchet MS"/>
              <a:buAutoNum type="arabicPeriod"/>
            </a:pPr>
            <a:endParaRPr sz="1758">
              <a:latin typeface="Trebuchet MS"/>
              <a:cs typeface="Trebuchet MS"/>
            </a:endParaRPr>
          </a:p>
          <a:p>
            <a:pPr marL="812573" lvl="2" indent="-267881">
              <a:buSzPct val="122000"/>
              <a:buChar char="•"/>
              <a:tabLst>
                <a:tab pos="812573" algn="l"/>
              </a:tabLst>
            </a:pPr>
            <a:r>
              <a:rPr sz="1758" spc="-39" dirty="0">
                <a:latin typeface="Trebuchet MS"/>
                <a:cs typeface="Trebuchet MS"/>
              </a:rPr>
              <a:t>Classification:</a:t>
            </a:r>
            <a:r>
              <a:rPr sz="1758" spc="-95" dirty="0">
                <a:latin typeface="Trebuchet MS"/>
                <a:cs typeface="Trebuchet MS"/>
              </a:rPr>
              <a:t> </a:t>
            </a:r>
            <a:r>
              <a:rPr sz="1758" spc="-28" dirty="0">
                <a:latin typeface="Trebuchet MS"/>
                <a:cs typeface="Trebuchet MS"/>
              </a:rPr>
              <a:t>labels</a:t>
            </a:r>
            <a:r>
              <a:rPr sz="1758" spc="-102" dirty="0">
                <a:latin typeface="Trebuchet MS"/>
                <a:cs typeface="Trebuchet MS"/>
              </a:rPr>
              <a:t> </a:t>
            </a:r>
            <a:r>
              <a:rPr sz="1758" spc="-74" dirty="0">
                <a:latin typeface="Trebuchet MS"/>
                <a:cs typeface="Trebuchet MS"/>
              </a:rPr>
              <a:t>are</a:t>
            </a:r>
            <a:r>
              <a:rPr sz="1758" spc="-60" dirty="0">
                <a:latin typeface="Trebuchet MS"/>
                <a:cs typeface="Trebuchet MS"/>
              </a:rPr>
              <a:t> </a:t>
            </a:r>
            <a:r>
              <a:rPr sz="1758" spc="-32" dirty="0">
                <a:latin typeface="Trebuchet MS"/>
                <a:cs typeface="Trebuchet MS"/>
              </a:rPr>
              <a:t>classes</a:t>
            </a:r>
            <a:r>
              <a:rPr sz="1758" spc="-98" dirty="0">
                <a:latin typeface="Trebuchet MS"/>
                <a:cs typeface="Trebuchet MS"/>
              </a:rPr>
              <a:t> </a:t>
            </a:r>
            <a:r>
              <a:rPr sz="1758" spc="-123" dirty="0">
                <a:latin typeface="Trebuchet MS"/>
                <a:cs typeface="Trebuchet MS"/>
              </a:rPr>
              <a:t>(e.g.,</a:t>
            </a:r>
            <a:r>
              <a:rPr sz="1758" spc="-42" dirty="0">
                <a:latin typeface="Trebuchet MS"/>
                <a:cs typeface="Trebuchet MS"/>
              </a:rPr>
              <a:t> </a:t>
            </a:r>
            <a:r>
              <a:rPr sz="1758" dirty="0">
                <a:latin typeface="Trebuchet MS"/>
                <a:cs typeface="Trebuchet MS"/>
              </a:rPr>
              <a:t>spam</a:t>
            </a:r>
            <a:r>
              <a:rPr sz="1758" spc="-88" dirty="0">
                <a:latin typeface="Trebuchet MS"/>
                <a:cs typeface="Trebuchet MS"/>
              </a:rPr>
              <a:t> </a:t>
            </a:r>
            <a:r>
              <a:rPr sz="1758" dirty="0">
                <a:latin typeface="Trebuchet MS"/>
                <a:cs typeface="Trebuchet MS"/>
              </a:rPr>
              <a:t>or</a:t>
            </a:r>
            <a:r>
              <a:rPr sz="1758" spc="-80" dirty="0">
                <a:latin typeface="Trebuchet MS"/>
                <a:cs typeface="Trebuchet MS"/>
              </a:rPr>
              <a:t> </a:t>
            </a:r>
            <a:r>
              <a:rPr sz="1758" spc="-14" dirty="0">
                <a:latin typeface="Trebuchet MS"/>
                <a:cs typeface="Trebuchet MS"/>
              </a:rPr>
              <a:t>ham)</a:t>
            </a:r>
            <a:endParaRPr sz="1758">
              <a:latin typeface="Trebuchet MS"/>
              <a:cs typeface="Trebuchet MS"/>
            </a:endParaRPr>
          </a:p>
        </p:txBody>
      </p:sp>
      <p:sp>
        <p:nvSpPr>
          <p:cNvPr id="4" name="object 4"/>
          <p:cNvSpPr txBox="1"/>
          <p:nvPr/>
        </p:nvSpPr>
        <p:spPr>
          <a:xfrm>
            <a:off x="2577703" y="4063209"/>
            <a:ext cx="5627489" cy="27954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39" dirty="0">
                <a:latin typeface="Trebuchet MS"/>
                <a:cs typeface="Trebuchet MS"/>
              </a:rPr>
              <a:t>Regression:</a:t>
            </a:r>
            <a:r>
              <a:rPr sz="1758" spc="-95" dirty="0">
                <a:latin typeface="Trebuchet MS"/>
                <a:cs typeface="Trebuchet MS"/>
              </a:rPr>
              <a:t> </a:t>
            </a:r>
            <a:r>
              <a:rPr sz="1758" spc="-28" dirty="0">
                <a:latin typeface="Trebuchet MS"/>
                <a:cs typeface="Trebuchet MS"/>
              </a:rPr>
              <a:t>labels</a:t>
            </a:r>
            <a:r>
              <a:rPr sz="1758" spc="-102" dirty="0">
                <a:latin typeface="Trebuchet MS"/>
                <a:cs typeface="Trebuchet MS"/>
              </a:rPr>
              <a:t> </a:t>
            </a:r>
            <a:r>
              <a:rPr sz="1758" spc="-74" dirty="0">
                <a:latin typeface="Trebuchet MS"/>
                <a:cs typeface="Trebuchet MS"/>
              </a:rPr>
              <a:t>are</a:t>
            </a:r>
            <a:r>
              <a:rPr sz="1758" spc="-60" dirty="0">
                <a:latin typeface="Trebuchet MS"/>
                <a:cs typeface="Trebuchet MS"/>
              </a:rPr>
              <a:t> </a:t>
            </a:r>
            <a:r>
              <a:rPr sz="1758" spc="-21" dirty="0">
                <a:latin typeface="Trebuchet MS"/>
                <a:cs typeface="Trebuchet MS"/>
              </a:rPr>
              <a:t>numeric</a:t>
            </a:r>
            <a:r>
              <a:rPr sz="1758" spc="-84" dirty="0">
                <a:latin typeface="Trebuchet MS"/>
                <a:cs typeface="Trebuchet MS"/>
              </a:rPr>
              <a:t> </a:t>
            </a:r>
            <a:r>
              <a:rPr sz="1758" spc="-21" dirty="0">
                <a:latin typeface="Trebuchet MS"/>
                <a:cs typeface="Trebuchet MS"/>
              </a:rPr>
              <a:t>values</a:t>
            </a:r>
            <a:r>
              <a:rPr sz="1758" spc="-77" dirty="0">
                <a:latin typeface="Trebuchet MS"/>
                <a:cs typeface="Trebuchet MS"/>
              </a:rPr>
              <a:t> </a:t>
            </a:r>
            <a:r>
              <a:rPr sz="1758" spc="-123" dirty="0">
                <a:latin typeface="Trebuchet MS"/>
                <a:cs typeface="Trebuchet MS"/>
              </a:rPr>
              <a:t>(e.g.,</a:t>
            </a:r>
            <a:r>
              <a:rPr sz="1758" spc="-42" dirty="0">
                <a:latin typeface="Trebuchet MS"/>
                <a:cs typeface="Trebuchet MS"/>
              </a:rPr>
              <a:t> </a:t>
            </a:r>
            <a:r>
              <a:rPr sz="1758" spc="-28" dirty="0">
                <a:latin typeface="Trebuchet MS"/>
                <a:cs typeface="Trebuchet MS"/>
              </a:rPr>
              <a:t>price</a:t>
            </a:r>
            <a:r>
              <a:rPr sz="1758" spc="-77" dirty="0">
                <a:latin typeface="Trebuchet MS"/>
                <a:cs typeface="Trebuchet MS"/>
              </a:rPr>
              <a:t> </a:t>
            </a:r>
            <a:r>
              <a:rPr sz="1758" spc="-39" dirty="0">
                <a:latin typeface="Trebuchet MS"/>
                <a:cs typeface="Trebuchet MS"/>
              </a:rPr>
              <a:t>of</a:t>
            </a:r>
            <a:r>
              <a:rPr sz="1758" spc="-74" dirty="0">
                <a:latin typeface="Trebuchet MS"/>
                <a:cs typeface="Trebuchet MS"/>
              </a:rPr>
              <a:t> </a:t>
            </a:r>
            <a:r>
              <a:rPr sz="1758" spc="-14" dirty="0">
                <a:latin typeface="Trebuchet MS"/>
                <a:cs typeface="Trebuchet MS"/>
              </a:rPr>
              <a:t>car)</a:t>
            </a:r>
            <a:endParaRPr sz="1758">
              <a:latin typeface="Trebuchet MS"/>
              <a:cs typeface="Trebuchet MS"/>
            </a:endParaRPr>
          </a:p>
        </p:txBody>
      </p:sp>
      <p:sp>
        <p:nvSpPr>
          <p:cNvPr id="5" name="object 5"/>
          <p:cNvSpPr txBox="1">
            <a:spLocks noGrp="1"/>
          </p:cNvSpPr>
          <p:nvPr>
            <p:ph type="title"/>
          </p:nvPr>
        </p:nvSpPr>
        <p:spPr>
          <a:xfrm>
            <a:off x="2041922" y="-67694"/>
            <a:ext cx="7393781" cy="1363234"/>
          </a:xfrm>
          <a:prstGeom prst="rect">
            <a:avLst/>
          </a:prstGeom>
        </p:spPr>
        <p:txBody>
          <a:bodyPr vert="horz" wrap="square" lIns="0" tIns="8930" rIns="0" bIns="0" rtlCol="0" anchor="ctr">
            <a:spAutoFit/>
          </a:bodyPr>
          <a:lstStyle/>
          <a:p>
            <a:pPr marL="8929">
              <a:lnSpc>
                <a:spcPct val="100000"/>
              </a:lnSpc>
              <a:spcBef>
                <a:spcPts val="70"/>
              </a:spcBef>
            </a:pPr>
            <a:r>
              <a:rPr spc="-218" dirty="0"/>
              <a:t>Types</a:t>
            </a:r>
            <a:r>
              <a:rPr spc="-161" dirty="0"/>
              <a:t> </a:t>
            </a:r>
            <a:r>
              <a:rPr spc="-123" dirty="0"/>
              <a:t>of</a:t>
            </a:r>
            <a:r>
              <a:rPr spc="-161" dirty="0"/>
              <a:t> </a:t>
            </a:r>
            <a:r>
              <a:rPr spc="-155" dirty="0"/>
              <a:t>machine</a:t>
            </a:r>
            <a:r>
              <a:rPr spc="-161" dirty="0"/>
              <a:t> </a:t>
            </a:r>
            <a:r>
              <a:rPr spc="-116" dirty="0"/>
              <a:t>learning</a:t>
            </a:r>
            <a:br>
              <a:rPr lang="en-US" spc="-116" dirty="0"/>
            </a:br>
            <a:endParaRPr spc="-116" dirty="0"/>
          </a:p>
        </p:txBody>
      </p:sp>
      <p:pic>
        <p:nvPicPr>
          <p:cNvPr id="6" name="object 6"/>
          <p:cNvPicPr/>
          <p:nvPr/>
        </p:nvPicPr>
        <p:blipFill>
          <a:blip r:embed="rId2" cstate="print"/>
          <a:stretch>
            <a:fillRect/>
          </a:stretch>
        </p:blipFill>
        <p:spPr>
          <a:xfrm>
            <a:off x="3975554" y="2359654"/>
            <a:ext cx="4240891" cy="1406071"/>
          </a:xfrm>
          <a:prstGeom prst="rect">
            <a:avLst/>
          </a:prstGeom>
        </p:spPr>
      </p:pic>
      <p:pic>
        <p:nvPicPr>
          <p:cNvPr id="7" name="object 7"/>
          <p:cNvPicPr/>
          <p:nvPr/>
        </p:nvPicPr>
        <p:blipFill>
          <a:blip r:embed="rId3" cstate="print"/>
          <a:stretch>
            <a:fillRect/>
          </a:stretch>
        </p:blipFill>
        <p:spPr>
          <a:xfrm>
            <a:off x="4153363" y="4402849"/>
            <a:ext cx="3885275" cy="197795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68269" y="1201292"/>
            <a:ext cx="5822950" cy="2738755"/>
            <a:chOff x="3168269" y="1201292"/>
            <a:chExt cx="5822950" cy="2738755"/>
          </a:xfrm>
        </p:grpSpPr>
        <p:sp>
          <p:nvSpPr>
            <p:cNvPr id="3" name="object 3"/>
            <p:cNvSpPr/>
            <p:nvPr/>
          </p:nvSpPr>
          <p:spPr>
            <a:xfrm>
              <a:off x="3168269" y="1220342"/>
              <a:ext cx="133985" cy="2653030"/>
            </a:xfrm>
            <a:custGeom>
              <a:avLst/>
              <a:gdLst/>
              <a:ahLst/>
              <a:cxnLst/>
              <a:rect l="l" t="t" r="r" b="b"/>
              <a:pathLst>
                <a:path w="133985" h="2653029">
                  <a:moveTo>
                    <a:pt x="66801" y="2652776"/>
                  </a:moveTo>
                  <a:lnTo>
                    <a:pt x="66801" y="0"/>
                  </a:lnTo>
                </a:path>
                <a:path w="133985" h="2653029">
                  <a:moveTo>
                    <a:pt x="0" y="2652776"/>
                  </a:moveTo>
                  <a:lnTo>
                    <a:pt x="133604" y="2652776"/>
                  </a:lnTo>
                </a:path>
                <a:path w="133985" h="2653029">
                  <a:moveTo>
                    <a:pt x="0" y="1989201"/>
                  </a:moveTo>
                  <a:lnTo>
                    <a:pt x="133604" y="1989201"/>
                  </a:lnTo>
                </a:path>
                <a:path w="133985" h="2653029">
                  <a:moveTo>
                    <a:pt x="0" y="1326261"/>
                  </a:moveTo>
                  <a:lnTo>
                    <a:pt x="133604" y="1326261"/>
                  </a:lnTo>
                </a:path>
                <a:path w="133985" h="2653029">
                  <a:moveTo>
                    <a:pt x="0" y="663321"/>
                  </a:moveTo>
                  <a:lnTo>
                    <a:pt x="133604" y="663321"/>
                  </a:lnTo>
                </a:path>
                <a:path w="133985" h="2653029">
                  <a:moveTo>
                    <a:pt x="0" y="0"/>
                  </a:moveTo>
                  <a:lnTo>
                    <a:pt x="133604" y="0"/>
                  </a:lnTo>
                </a:path>
              </a:pathLst>
            </a:custGeom>
            <a:ln w="38100">
              <a:solidFill>
                <a:srgbClr val="888888"/>
              </a:solidFill>
            </a:ln>
          </p:spPr>
          <p:txBody>
            <a:bodyPr wrap="square" lIns="0" tIns="0" rIns="0" bIns="0" rtlCol="0"/>
            <a:lstStyle/>
            <a:p>
              <a:endParaRPr/>
            </a:p>
          </p:txBody>
        </p:sp>
        <p:sp>
          <p:nvSpPr>
            <p:cNvPr id="4" name="object 4"/>
            <p:cNvSpPr/>
            <p:nvPr/>
          </p:nvSpPr>
          <p:spPr>
            <a:xfrm>
              <a:off x="3235071" y="3806444"/>
              <a:ext cx="5736590" cy="133985"/>
            </a:xfrm>
            <a:custGeom>
              <a:avLst/>
              <a:gdLst/>
              <a:ahLst/>
              <a:cxnLst/>
              <a:rect l="l" t="t" r="r" b="b"/>
              <a:pathLst>
                <a:path w="5736590" h="133985">
                  <a:moveTo>
                    <a:pt x="0" y="66674"/>
                  </a:moveTo>
                  <a:lnTo>
                    <a:pt x="5736589" y="66674"/>
                  </a:lnTo>
                </a:path>
                <a:path w="5736590" h="133985">
                  <a:moveTo>
                    <a:pt x="0" y="0"/>
                  </a:moveTo>
                  <a:lnTo>
                    <a:pt x="0" y="133476"/>
                  </a:lnTo>
                </a:path>
                <a:path w="5736590" h="133985">
                  <a:moveTo>
                    <a:pt x="1147953" y="0"/>
                  </a:moveTo>
                  <a:lnTo>
                    <a:pt x="1147953" y="133476"/>
                  </a:lnTo>
                </a:path>
                <a:path w="5736590" h="133985">
                  <a:moveTo>
                    <a:pt x="2294001" y="0"/>
                  </a:moveTo>
                  <a:lnTo>
                    <a:pt x="2294001" y="133476"/>
                  </a:lnTo>
                </a:path>
                <a:path w="5736590" h="133985">
                  <a:moveTo>
                    <a:pt x="3441573" y="0"/>
                  </a:moveTo>
                  <a:lnTo>
                    <a:pt x="3441573" y="133476"/>
                  </a:lnTo>
                </a:path>
                <a:path w="5736590" h="133985">
                  <a:moveTo>
                    <a:pt x="4589145" y="0"/>
                  </a:moveTo>
                  <a:lnTo>
                    <a:pt x="4589145" y="133476"/>
                  </a:lnTo>
                </a:path>
                <a:path w="5736590" h="133985">
                  <a:moveTo>
                    <a:pt x="5736589" y="0"/>
                  </a:moveTo>
                  <a:lnTo>
                    <a:pt x="5736589" y="133476"/>
                  </a:lnTo>
                </a:path>
              </a:pathLst>
            </a:custGeom>
            <a:ln w="38100">
              <a:solidFill>
                <a:srgbClr val="7E7E7E"/>
              </a:solidFill>
            </a:ln>
          </p:spPr>
          <p:txBody>
            <a:bodyPr wrap="square" lIns="0" tIns="0" rIns="0" bIns="0" rtlCol="0"/>
            <a:lstStyle/>
            <a:p>
              <a:endParaRPr/>
            </a:p>
          </p:txBody>
        </p:sp>
        <p:sp>
          <p:nvSpPr>
            <p:cNvPr id="5" name="object 5"/>
            <p:cNvSpPr/>
            <p:nvPr/>
          </p:nvSpPr>
          <p:spPr>
            <a:xfrm>
              <a:off x="4149344" y="1560575"/>
              <a:ext cx="4180840" cy="1720850"/>
            </a:xfrm>
            <a:custGeom>
              <a:avLst/>
              <a:gdLst/>
              <a:ahLst/>
              <a:cxnLst/>
              <a:rect l="l" t="t" r="r" b="b"/>
              <a:pathLst>
                <a:path w="4180840" h="1720850">
                  <a:moveTo>
                    <a:pt x="153923" y="1720596"/>
                  </a:moveTo>
                  <a:lnTo>
                    <a:pt x="0" y="1566672"/>
                  </a:lnTo>
                </a:path>
                <a:path w="4180840" h="1720850">
                  <a:moveTo>
                    <a:pt x="0" y="1720596"/>
                  </a:moveTo>
                  <a:lnTo>
                    <a:pt x="153923" y="1566672"/>
                  </a:lnTo>
                </a:path>
                <a:path w="4180840" h="1720850">
                  <a:moveTo>
                    <a:pt x="563879" y="1435608"/>
                  </a:moveTo>
                  <a:lnTo>
                    <a:pt x="409955" y="1281684"/>
                  </a:lnTo>
                </a:path>
                <a:path w="4180840" h="1720850">
                  <a:moveTo>
                    <a:pt x="409955" y="1435608"/>
                  </a:moveTo>
                  <a:lnTo>
                    <a:pt x="563879" y="1281684"/>
                  </a:lnTo>
                </a:path>
                <a:path w="4180840" h="1720850">
                  <a:moveTo>
                    <a:pt x="605027" y="973836"/>
                  </a:moveTo>
                  <a:lnTo>
                    <a:pt x="451103" y="819912"/>
                  </a:lnTo>
                </a:path>
                <a:path w="4180840" h="1720850">
                  <a:moveTo>
                    <a:pt x="451103" y="973836"/>
                  </a:moveTo>
                  <a:lnTo>
                    <a:pt x="605027" y="819912"/>
                  </a:lnTo>
                </a:path>
                <a:path w="4180840" h="1720850">
                  <a:moveTo>
                    <a:pt x="1126235" y="868679"/>
                  </a:moveTo>
                  <a:lnTo>
                    <a:pt x="972311" y="714756"/>
                  </a:lnTo>
                </a:path>
                <a:path w="4180840" h="1720850">
                  <a:moveTo>
                    <a:pt x="972311" y="868679"/>
                  </a:moveTo>
                  <a:lnTo>
                    <a:pt x="1126235" y="714756"/>
                  </a:lnTo>
                </a:path>
                <a:path w="4180840" h="1720850">
                  <a:moveTo>
                    <a:pt x="1344167" y="478536"/>
                  </a:moveTo>
                  <a:lnTo>
                    <a:pt x="1190243" y="324612"/>
                  </a:lnTo>
                </a:path>
                <a:path w="4180840" h="1720850">
                  <a:moveTo>
                    <a:pt x="1190243" y="478536"/>
                  </a:moveTo>
                  <a:lnTo>
                    <a:pt x="1344167" y="324612"/>
                  </a:lnTo>
                </a:path>
                <a:path w="4180840" h="1720850">
                  <a:moveTo>
                    <a:pt x="1921764" y="568451"/>
                  </a:moveTo>
                  <a:lnTo>
                    <a:pt x="1767839" y="414527"/>
                  </a:lnTo>
                </a:path>
                <a:path w="4180840" h="1720850">
                  <a:moveTo>
                    <a:pt x="1767839" y="568451"/>
                  </a:moveTo>
                  <a:lnTo>
                    <a:pt x="1921764" y="414527"/>
                  </a:lnTo>
                </a:path>
                <a:path w="4180840" h="1720850">
                  <a:moveTo>
                    <a:pt x="2403348" y="341375"/>
                  </a:moveTo>
                  <a:lnTo>
                    <a:pt x="2249423" y="187451"/>
                  </a:lnTo>
                </a:path>
                <a:path w="4180840" h="1720850">
                  <a:moveTo>
                    <a:pt x="2249423" y="341375"/>
                  </a:moveTo>
                  <a:lnTo>
                    <a:pt x="2403348" y="187451"/>
                  </a:lnTo>
                </a:path>
                <a:path w="4180840" h="1720850">
                  <a:moveTo>
                    <a:pt x="2974848" y="463296"/>
                  </a:moveTo>
                  <a:lnTo>
                    <a:pt x="2820924" y="309372"/>
                  </a:lnTo>
                </a:path>
                <a:path w="4180840" h="1720850">
                  <a:moveTo>
                    <a:pt x="2820924" y="463296"/>
                  </a:moveTo>
                  <a:lnTo>
                    <a:pt x="2974848" y="309372"/>
                  </a:lnTo>
                </a:path>
                <a:path w="4180840" h="1720850">
                  <a:moveTo>
                    <a:pt x="3264407" y="153924"/>
                  </a:moveTo>
                  <a:lnTo>
                    <a:pt x="3110483" y="0"/>
                  </a:lnTo>
                </a:path>
                <a:path w="4180840" h="1720850">
                  <a:moveTo>
                    <a:pt x="3110483" y="153924"/>
                  </a:moveTo>
                  <a:lnTo>
                    <a:pt x="3264407" y="0"/>
                  </a:lnTo>
                </a:path>
                <a:path w="4180840" h="1720850">
                  <a:moveTo>
                    <a:pt x="3640835" y="356615"/>
                  </a:moveTo>
                  <a:lnTo>
                    <a:pt x="3486911" y="202691"/>
                  </a:lnTo>
                </a:path>
                <a:path w="4180840" h="1720850">
                  <a:moveTo>
                    <a:pt x="3486911" y="356615"/>
                  </a:moveTo>
                  <a:lnTo>
                    <a:pt x="3640835" y="202691"/>
                  </a:lnTo>
                </a:path>
                <a:path w="4180840" h="1720850">
                  <a:moveTo>
                    <a:pt x="4180331" y="454151"/>
                  </a:moveTo>
                  <a:lnTo>
                    <a:pt x="4026407" y="300227"/>
                  </a:lnTo>
                </a:path>
                <a:path w="4180840" h="1720850">
                  <a:moveTo>
                    <a:pt x="4026407" y="454151"/>
                  </a:moveTo>
                  <a:lnTo>
                    <a:pt x="4180331" y="300227"/>
                  </a:lnTo>
                </a:path>
              </a:pathLst>
            </a:custGeom>
            <a:ln w="19050">
              <a:solidFill>
                <a:srgbClr val="C00000"/>
              </a:solidFill>
            </a:ln>
          </p:spPr>
          <p:txBody>
            <a:bodyPr wrap="square" lIns="0" tIns="0" rIns="0" bIns="0" rtlCol="0"/>
            <a:lstStyle/>
            <a:p>
              <a:endParaRPr/>
            </a:p>
          </p:txBody>
        </p:sp>
      </p:grpSp>
      <p:sp>
        <p:nvSpPr>
          <p:cNvPr id="6" name="object 6"/>
          <p:cNvSpPr txBox="1"/>
          <p:nvPr/>
        </p:nvSpPr>
        <p:spPr>
          <a:xfrm>
            <a:off x="2920745" y="3725926"/>
            <a:ext cx="1384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Cambria"/>
                <a:cs typeface="Cambria"/>
              </a:rPr>
              <a:t>0</a:t>
            </a:r>
            <a:endParaRPr sz="1600">
              <a:latin typeface="Cambria"/>
              <a:cs typeface="Cambria"/>
            </a:endParaRPr>
          </a:p>
        </p:txBody>
      </p:sp>
      <p:sp>
        <p:nvSpPr>
          <p:cNvPr id="7" name="object 7"/>
          <p:cNvSpPr txBox="1"/>
          <p:nvPr/>
        </p:nvSpPr>
        <p:spPr>
          <a:xfrm>
            <a:off x="2694813" y="3062477"/>
            <a:ext cx="363855"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Cambria"/>
                <a:cs typeface="Cambria"/>
              </a:rPr>
              <a:t>100</a:t>
            </a:r>
            <a:endParaRPr sz="1600">
              <a:latin typeface="Cambria"/>
              <a:cs typeface="Cambria"/>
            </a:endParaRPr>
          </a:p>
        </p:txBody>
      </p:sp>
      <p:sp>
        <p:nvSpPr>
          <p:cNvPr id="8" name="object 8"/>
          <p:cNvSpPr txBox="1"/>
          <p:nvPr/>
        </p:nvSpPr>
        <p:spPr>
          <a:xfrm>
            <a:off x="2694813" y="2399156"/>
            <a:ext cx="363855"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Cambria"/>
                <a:cs typeface="Cambria"/>
              </a:rPr>
              <a:t>200</a:t>
            </a:r>
            <a:endParaRPr sz="1600">
              <a:latin typeface="Cambria"/>
              <a:cs typeface="Cambria"/>
            </a:endParaRPr>
          </a:p>
        </p:txBody>
      </p:sp>
      <p:sp>
        <p:nvSpPr>
          <p:cNvPr id="9" name="object 9"/>
          <p:cNvSpPr txBox="1"/>
          <p:nvPr/>
        </p:nvSpPr>
        <p:spPr>
          <a:xfrm>
            <a:off x="2694813" y="1072387"/>
            <a:ext cx="363855" cy="932815"/>
          </a:xfrm>
          <a:prstGeom prst="rect">
            <a:avLst/>
          </a:prstGeom>
        </p:spPr>
        <p:txBody>
          <a:bodyPr vert="horz" wrap="square" lIns="0" tIns="12065" rIns="0" bIns="0" rtlCol="0">
            <a:spAutoFit/>
          </a:bodyPr>
          <a:lstStyle/>
          <a:p>
            <a:pPr marL="12700">
              <a:lnSpc>
                <a:spcPct val="100000"/>
              </a:lnSpc>
              <a:spcBef>
                <a:spcPts val="95"/>
              </a:spcBef>
            </a:pPr>
            <a:r>
              <a:rPr sz="1600" spc="-25" dirty="0">
                <a:latin typeface="Cambria"/>
                <a:cs typeface="Cambria"/>
              </a:rPr>
              <a:t>400</a:t>
            </a:r>
            <a:endParaRPr sz="1600">
              <a:latin typeface="Cambria"/>
              <a:cs typeface="Cambria"/>
            </a:endParaRPr>
          </a:p>
          <a:p>
            <a:pPr>
              <a:lnSpc>
                <a:spcPct val="100000"/>
              </a:lnSpc>
              <a:spcBef>
                <a:spcPts val="1430"/>
              </a:spcBef>
            </a:pPr>
            <a:endParaRPr sz="1600">
              <a:latin typeface="Cambria"/>
              <a:cs typeface="Cambria"/>
            </a:endParaRPr>
          </a:p>
          <a:p>
            <a:pPr marL="12700">
              <a:lnSpc>
                <a:spcPct val="100000"/>
              </a:lnSpc>
            </a:pPr>
            <a:r>
              <a:rPr sz="1600" spc="-25" dirty="0">
                <a:latin typeface="Cambria"/>
                <a:cs typeface="Cambria"/>
              </a:rPr>
              <a:t>300</a:t>
            </a:r>
            <a:endParaRPr sz="1600">
              <a:latin typeface="Cambria"/>
              <a:cs typeface="Cambria"/>
            </a:endParaRPr>
          </a:p>
        </p:txBody>
      </p:sp>
      <p:sp>
        <p:nvSpPr>
          <p:cNvPr id="10" name="object 10"/>
          <p:cNvSpPr txBox="1"/>
          <p:nvPr/>
        </p:nvSpPr>
        <p:spPr>
          <a:xfrm>
            <a:off x="3166364" y="3991736"/>
            <a:ext cx="138430"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Cambria"/>
                <a:cs typeface="Cambria"/>
              </a:rPr>
              <a:t>0</a:t>
            </a:r>
            <a:endParaRPr sz="1600">
              <a:latin typeface="Cambria"/>
              <a:cs typeface="Cambria"/>
            </a:endParaRPr>
          </a:p>
        </p:txBody>
      </p:sp>
      <p:sp>
        <p:nvSpPr>
          <p:cNvPr id="11" name="object 11"/>
          <p:cNvSpPr txBox="1"/>
          <p:nvPr/>
        </p:nvSpPr>
        <p:spPr>
          <a:xfrm>
            <a:off x="4200525" y="3991736"/>
            <a:ext cx="363855"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Cambria"/>
                <a:cs typeface="Cambria"/>
              </a:rPr>
              <a:t>500</a:t>
            </a:r>
            <a:endParaRPr sz="1600">
              <a:latin typeface="Cambria"/>
              <a:cs typeface="Cambria"/>
            </a:endParaRPr>
          </a:p>
        </p:txBody>
      </p:sp>
      <p:sp>
        <p:nvSpPr>
          <p:cNvPr id="12" name="object 12"/>
          <p:cNvSpPr txBox="1"/>
          <p:nvPr/>
        </p:nvSpPr>
        <p:spPr>
          <a:xfrm>
            <a:off x="7586598" y="3991736"/>
            <a:ext cx="478155" cy="269240"/>
          </a:xfrm>
          <a:prstGeom prst="rect">
            <a:avLst/>
          </a:prstGeom>
        </p:spPr>
        <p:txBody>
          <a:bodyPr vert="horz" wrap="square" lIns="0" tIns="12065" rIns="0" bIns="0" rtlCol="0">
            <a:spAutoFit/>
          </a:bodyPr>
          <a:lstStyle/>
          <a:p>
            <a:pPr marL="12700">
              <a:lnSpc>
                <a:spcPct val="100000"/>
              </a:lnSpc>
              <a:spcBef>
                <a:spcPts val="95"/>
              </a:spcBef>
            </a:pPr>
            <a:r>
              <a:rPr sz="1600" spc="-20" dirty="0">
                <a:latin typeface="Cambria"/>
                <a:cs typeface="Cambria"/>
              </a:rPr>
              <a:t>2000</a:t>
            </a:r>
            <a:endParaRPr sz="1600">
              <a:latin typeface="Cambria"/>
              <a:cs typeface="Cambria"/>
            </a:endParaRPr>
          </a:p>
        </p:txBody>
      </p:sp>
      <p:sp>
        <p:nvSpPr>
          <p:cNvPr id="13" name="object 13"/>
          <p:cNvSpPr txBox="1"/>
          <p:nvPr/>
        </p:nvSpPr>
        <p:spPr>
          <a:xfrm>
            <a:off x="8734170" y="3991736"/>
            <a:ext cx="478155" cy="269240"/>
          </a:xfrm>
          <a:prstGeom prst="rect">
            <a:avLst/>
          </a:prstGeom>
        </p:spPr>
        <p:txBody>
          <a:bodyPr vert="horz" wrap="square" lIns="0" tIns="12065" rIns="0" bIns="0" rtlCol="0">
            <a:spAutoFit/>
          </a:bodyPr>
          <a:lstStyle/>
          <a:p>
            <a:pPr marL="12700">
              <a:lnSpc>
                <a:spcPct val="100000"/>
              </a:lnSpc>
              <a:spcBef>
                <a:spcPts val="95"/>
              </a:spcBef>
            </a:pPr>
            <a:r>
              <a:rPr sz="1600" spc="-20" dirty="0">
                <a:latin typeface="Cambria"/>
                <a:cs typeface="Cambria"/>
              </a:rPr>
              <a:t>2500</a:t>
            </a:r>
            <a:endParaRPr sz="1600">
              <a:latin typeface="Cambria"/>
              <a:cs typeface="Cambria"/>
            </a:endParaRPr>
          </a:p>
        </p:txBody>
      </p:sp>
      <p:sp>
        <p:nvSpPr>
          <p:cNvPr id="14" name="object 14"/>
          <p:cNvSpPr txBox="1"/>
          <p:nvPr/>
        </p:nvSpPr>
        <p:spPr>
          <a:xfrm>
            <a:off x="5266309" y="3888718"/>
            <a:ext cx="1857375" cy="892810"/>
          </a:xfrm>
          <a:prstGeom prst="rect">
            <a:avLst/>
          </a:prstGeom>
        </p:spPr>
        <p:txBody>
          <a:bodyPr vert="horz" wrap="square" lIns="0" tIns="114935" rIns="0" bIns="0" rtlCol="0">
            <a:spAutoFit/>
          </a:bodyPr>
          <a:lstStyle/>
          <a:p>
            <a:pPr marL="38100">
              <a:lnSpc>
                <a:spcPct val="100000"/>
              </a:lnSpc>
              <a:spcBef>
                <a:spcPts val="905"/>
              </a:spcBef>
              <a:tabLst>
                <a:tab pos="1184910" algn="l"/>
              </a:tabLst>
            </a:pPr>
            <a:r>
              <a:rPr sz="1600" spc="-20" dirty="0">
                <a:latin typeface="Cambria"/>
                <a:cs typeface="Cambria"/>
              </a:rPr>
              <a:t>1000</a:t>
            </a:r>
            <a:r>
              <a:rPr sz="1600" dirty="0">
                <a:latin typeface="Cambria"/>
                <a:cs typeface="Cambria"/>
              </a:rPr>
              <a:t>	</a:t>
            </a:r>
            <a:r>
              <a:rPr sz="1600" spc="-20" dirty="0">
                <a:latin typeface="Cambria"/>
                <a:cs typeface="Cambria"/>
              </a:rPr>
              <a:t>1500</a:t>
            </a:r>
            <a:endParaRPr sz="1600">
              <a:latin typeface="Cambria"/>
              <a:cs typeface="Cambria"/>
            </a:endParaRPr>
          </a:p>
          <a:p>
            <a:pPr marL="132715">
              <a:lnSpc>
                <a:spcPct val="100000"/>
              </a:lnSpc>
              <a:spcBef>
                <a:spcPts val="1220"/>
              </a:spcBef>
            </a:pPr>
            <a:r>
              <a:rPr sz="2400" spc="120" dirty="0">
                <a:latin typeface="Cambria"/>
                <a:cs typeface="Cambria"/>
              </a:rPr>
              <a:t>Size</a:t>
            </a:r>
            <a:r>
              <a:rPr sz="2400" spc="130" dirty="0">
                <a:latin typeface="Cambria"/>
                <a:cs typeface="Cambria"/>
              </a:rPr>
              <a:t> </a:t>
            </a:r>
            <a:r>
              <a:rPr sz="2400" spc="110" dirty="0">
                <a:latin typeface="Cambria"/>
                <a:cs typeface="Cambria"/>
              </a:rPr>
              <a:t>in</a:t>
            </a:r>
            <a:r>
              <a:rPr sz="2400" spc="120" dirty="0">
                <a:latin typeface="Cambria"/>
                <a:cs typeface="Cambria"/>
              </a:rPr>
              <a:t> </a:t>
            </a:r>
            <a:r>
              <a:rPr sz="2400" spc="-10" dirty="0">
                <a:latin typeface="Cambria"/>
                <a:cs typeface="Cambria"/>
              </a:rPr>
              <a:t>feet</a:t>
            </a:r>
            <a:r>
              <a:rPr sz="2400" spc="-15" baseline="24305" dirty="0">
                <a:latin typeface="Cambria"/>
                <a:cs typeface="Cambria"/>
              </a:rPr>
              <a:t>2</a:t>
            </a:r>
            <a:endParaRPr sz="2400" baseline="24305">
              <a:latin typeface="Cambria"/>
              <a:cs typeface="Cambria"/>
            </a:endParaRPr>
          </a:p>
        </p:txBody>
      </p:sp>
      <p:sp>
        <p:nvSpPr>
          <p:cNvPr id="15" name="object 15"/>
          <p:cNvSpPr txBox="1"/>
          <p:nvPr/>
        </p:nvSpPr>
        <p:spPr>
          <a:xfrm>
            <a:off x="586841" y="400558"/>
            <a:ext cx="4656455" cy="452120"/>
          </a:xfrm>
          <a:prstGeom prst="rect">
            <a:avLst/>
          </a:prstGeom>
        </p:spPr>
        <p:txBody>
          <a:bodyPr vert="horz" wrap="square" lIns="0" tIns="12065" rIns="0" bIns="0" rtlCol="0">
            <a:spAutoFit/>
          </a:bodyPr>
          <a:lstStyle/>
          <a:p>
            <a:pPr marL="12700">
              <a:lnSpc>
                <a:spcPct val="100000"/>
              </a:lnSpc>
              <a:spcBef>
                <a:spcPts val="95"/>
              </a:spcBef>
            </a:pPr>
            <a:r>
              <a:rPr sz="2800" b="1" spc="210" dirty="0">
                <a:latin typeface="Cambria"/>
                <a:cs typeface="Cambria"/>
              </a:rPr>
              <a:t>Housing </a:t>
            </a:r>
            <a:r>
              <a:rPr sz="2800" b="1" spc="165" dirty="0">
                <a:latin typeface="Cambria"/>
                <a:cs typeface="Cambria"/>
              </a:rPr>
              <a:t>price</a:t>
            </a:r>
            <a:r>
              <a:rPr sz="2800" b="1" spc="220" dirty="0">
                <a:latin typeface="Cambria"/>
                <a:cs typeface="Cambria"/>
              </a:rPr>
              <a:t> </a:t>
            </a:r>
            <a:r>
              <a:rPr sz="2800" b="1" spc="145" dirty="0">
                <a:latin typeface="Cambria"/>
                <a:cs typeface="Cambria"/>
              </a:rPr>
              <a:t>prediction</a:t>
            </a:r>
            <a:endParaRPr sz="2800">
              <a:latin typeface="Cambria"/>
              <a:cs typeface="Cambria"/>
            </a:endParaRPr>
          </a:p>
        </p:txBody>
      </p:sp>
      <p:sp>
        <p:nvSpPr>
          <p:cNvPr id="16" name="object 16"/>
          <p:cNvSpPr txBox="1"/>
          <p:nvPr/>
        </p:nvSpPr>
        <p:spPr>
          <a:xfrm>
            <a:off x="1149502" y="2123694"/>
            <a:ext cx="1279525" cy="756920"/>
          </a:xfrm>
          <a:prstGeom prst="rect">
            <a:avLst/>
          </a:prstGeom>
        </p:spPr>
        <p:txBody>
          <a:bodyPr vert="horz" wrap="square" lIns="0" tIns="12700" rIns="0" bIns="0" rtlCol="0">
            <a:spAutoFit/>
          </a:bodyPr>
          <a:lstStyle/>
          <a:p>
            <a:pPr marL="12700">
              <a:lnSpc>
                <a:spcPct val="100000"/>
              </a:lnSpc>
              <a:spcBef>
                <a:spcPts val="100"/>
              </a:spcBef>
            </a:pPr>
            <a:r>
              <a:rPr sz="2400" spc="80" dirty="0">
                <a:latin typeface="Cambria"/>
                <a:cs typeface="Cambria"/>
              </a:rPr>
              <a:t>Price</a:t>
            </a:r>
            <a:r>
              <a:rPr sz="2400" spc="135" dirty="0">
                <a:latin typeface="Cambria"/>
                <a:cs typeface="Cambria"/>
              </a:rPr>
              <a:t> </a:t>
            </a:r>
            <a:r>
              <a:rPr sz="2400" spc="-25" dirty="0">
                <a:latin typeface="Cambria"/>
                <a:cs typeface="Cambria"/>
              </a:rPr>
              <a:t>($)</a:t>
            </a:r>
            <a:endParaRPr sz="2400">
              <a:latin typeface="Cambria"/>
              <a:cs typeface="Cambria"/>
            </a:endParaRPr>
          </a:p>
          <a:p>
            <a:pPr marL="19685">
              <a:lnSpc>
                <a:spcPct val="100000"/>
              </a:lnSpc>
            </a:pPr>
            <a:r>
              <a:rPr sz="2400" spc="110" dirty="0">
                <a:latin typeface="Cambria"/>
                <a:cs typeface="Cambria"/>
              </a:rPr>
              <a:t>in</a:t>
            </a:r>
            <a:r>
              <a:rPr sz="2400" spc="114" dirty="0">
                <a:latin typeface="Cambria"/>
                <a:cs typeface="Cambria"/>
              </a:rPr>
              <a:t> </a:t>
            </a:r>
            <a:r>
              <a:rPr sz="2400" spc="-10" dirty="0">
                <a:latin typeface="Cambria"/>
                <a:cs typeface="Cambria"/>
              </a:rPr>
              <a:t>1000’s</a:t>
            </a:r>
            <a:endParaRPr sz="2400">
              <a:latin typeface="Cambria"/>
              <a:cs typeface="Cambria"/>
            </a:endParaRPr>
          </a:p>
        </p:txBody>
      </p:sp>
      <p:sp>
        <p:nvSpPr>
          <p:cNvPr id="17" name="object 17"/>
          <p:cNvSpPr txBox="1"/>
          <p:nvPr/>
        </p:nvSpPr>
        <p:spPr>
          <a:xfrm>
            <a:off x="6480428" y="5265826"/>
            <a:ext cx="4556125" cy="1305560"/>
          </a:xfrm>
          <a:prstGeom prst="rect">
            <a:avLst/>
          </a:prstGeom>
        </p:spPr>
        <p:txBody>
          <a:bodyPr vert="horz" wrap="square" lIns="0" tIns="12065" rIns="0" bIns="0" rtlCol="0">
            <a:spAutoFit/>
          </a:bodyPr>
          <a:lstStyle/>
          <a:p>
            <a:pPr marL="355600" marR="5080" indent="-342900">
              <a:lnSpc>
                <a:spcPct val="100000"/>
              </a:lnSpc>
              <a:spcBef>
                <a:spcPts val="95"/>
              </a:spcBef>
            </a:pPr>
            <a:r>
              <a:rPr sz="2800" u="sng" spc="75" dirty="0">
                <a:uFill>
                  <a:solidFill>
                    <a:srgbClr val="000000"/>
                  </a:solidFill>
                </a:uFill>
                <a:latin typeface="Cambria"/>
                <a:cs typeface="Cambria"/>
              </a:rPr>
              <a:t>Regression:</a:t>
            </a:r>
            <a:r>
              <a:rPr sz="2800" spc="185" dirty="0">
                <a:latin typeface="Cambria"/>
                <a:cs typeface="Cambria"/>
              </a:rPr>
              <a:t> </a:t>
            </a:r>
            <a:r>
              <a:rPr sz="2800" spc="75" dirty="0">
                <a:latin typeface="Cambria"/>
                <a:cs typeface="Cambria"/>
              </a:rPr>
              <a:t>Predict </a:t>
            </a:r>
            <a:r>
              <a:rPr sz="2800" spc="65" dirty="0">
                <a:latin typeface="Cambria"/>
                <a:cs typeface="Cambria"/>
              </a:rPr>
              <a:t>continuous</a:t>
            </a:r>
            <a:r>
              <a:rPr sz="2800" spc="200" dirty="0">
                <a:latin typeface="Cambria"/>
                <a:cs typeface="Cambria"/>
              </a:rPr>
              <a:t> </a:t>
            </a:r>
            <a:r>
              <a:rPr sz="2800" spc="100" dirty="0">
                <a:latin typeface="Cambria"/>
                <a:cs typeface="Cambria"/>
              </a:rPr>
              <a:t>valued</a:t>
            </a:r>
            <a:r>
              <a:rPr sz="2800" spc="185" dirty="0">
                <a:latin typeface="Cambria"/>
                <a:cs typeface="Cambria"/>
              </a:rPr>
              <a:t> </a:t>
            </a:r>
            <a:r>
              <a:rPr sz="2800" spc="65" dirty="0">
                <a:latin typeface="Cambria"/>
                <a:cs typeface="Cambria"/>
              </a:rPr>
              <a:t>output </a:t>
            </a:r>
            <a:r>
              <a:rPr sz="2800" spc="-10" dirty="0">
                <a:latin typeface="Cambria"/>
                <a:cs typeface="Cambria"/>
              </a:rPr>
              <a:t>(price)</a:t>
            </a:r>
            <a:endParaRPr sz="2800">
              <a:latin typeface="Cambria"/>
              <a:cs typeface="Cambria"/>
            </a:endParaRPr>
          </a:p>
        </p:txBody>
      </p:sp>
      <p:sp>
        <p:nvSpPr>
          <p:cNvPr id="18" name="object 18"/>
          <p:cNvSpPr txBox="1"/>
          <p:nvPr/>
        </p:nvSpPr>
        <p:spPr>
          <a:xfrm>
            <a:off x="586841" y="5176824"/>
            <a:ext cx="4070350" cy="1196340"/>
          </a:xfrm>
          <a:prstGeom prst="rect">
            <a:avLst/>
          </a:prstGeom>
        </p:spPr>
        <p:txBody>
          <a:bodyPr vert="horz" wrap="square" lIns="0" tIns="109855" rIns="0" bIns="0" rtlCol="0">
            <a:spAutoFit/>
          </a:bodyPr>
          <a:lstStyle/>
          <a:p>
            <a:pPr marL="12700">
              <a:lnSpc>
                <a:spcPct val="100000"/>
              </a:lnSpc>
              <a:spcBef>
                <a:spcPts val="865"/>
              </a:spcBef>
            </a:pPr>
            <a:r>
              <a:rPr sz="3200" u="sng" spc="105" dirty="0">
                <a:uFill>
                  <a:solidFill>
                    <a:srgbClr val="000000"/>
                  </a:solidFill>
                </a:uFill>
                <a:latin typeface="Cambria"/>
                <a:cs typeface="Cambria"/>
              </a:rPr>
              <a:t>Supervised</a:t>
            </a:r>
            <a:r>
              <a:rPr sz="3200" u="sng" spc="215" dirty="0">
                <a:uFill>
                  <a:solidFill>
                    <a:srgbClr val="000000"/>
                  </a:solidFill>
                </a:uFill>
                <a:latin typeface="Cambria"/>
                <a:cs typeface="Cambria"/>
              </a:rPr>
              <a:t> </a:t>
            </a:r>
            <a:r>
              <a:rPr sz="3200" u="sng" spc="150" dirty="0">
                <a:uFill>
                  <a:solidFill>
                    <a:srgbClr val="000000"/>
                  </a:solidFill>
                </a:uFill>
                <a:latin typeface="Cambria"/>
                <a:cs typeface="Cambria"/>
              </a:rPr>
              <a:t>Learning</a:t>
            </a:r>
            <a:endParaRPr sz="3200">
              <a:latin typeface="Cambria"/>
              <a:cs typeface="Cambria"/>
            </a:endParaRPr>
          </a:p>
          <a:p>
            <a:pPr marL="12700">
              <a:lnSpc>
                <a:spcPct val="100000"/>
              </a:lnSpc>
              <a:spcBef>
                <a:spcPts val="770"/>
              </a:spcBef>
            </a:pPr>
            <a:r>
              <a:rPr sz="3200" spc="110" dirty="0">
                <a:latin typeface="Cambria"/>
                <a:cs typeface="Cambria"/>
              </a:rPr>
              <a:t>“right</a:t>
            </a:r>
            <a:r>
              <a:rPr sz="3200" spc="200" dirty="0">
                <a:latin typeface="Cambria"/>
                <a:cs typeface="Cambria"/>
              </a:rPr>
              <a:t> </a:t>
            </a:r>
            <a:r>
              <a:rPr sz="3200" spc="95" dirty="0">
                <a:latin typeface="Cambria"/>
                <a:cs typeface="Cambria"/>
              </a:rPr>
              <a:t>answers”</a:t>
            </a:r>
            <a:r>
              <a:rPr sz="3200" spc="180" dirty="0">
                <a:latin typeface="Cambria"/>
                <a:cs typeface="Cambria"/>
              </a:rPr>
              <a:t> </a:t>
            </a:r>
            <a:r>
              <a:rPr sz="3200" spc="90" dirty="0">
                <a:latin typeface="Cambria"/>
                <a:cs typeface="Cambria"/>
              </a:rPr>
              <a:t>given</a:t>
            </a:r>
            <a:endParaRPr sz="3200">
              <a:latin typeface="Cambria"/>
              <a:cs typeface="Cambria"/>
            </a:endParaRPr>
          </a:p>
        </p:txBody>
      </p:sp>
      <p:sp>
        <p:nvSpPr>
          <p:cNvPr id="19" name="object 19"/>
          <p:cNvSpPr/>
          <p:nvPr/>
        </p:nvSpPr>
        <p:spPr>
          <a:xfrm>
            <a:off x="5994400" y="5359400"/>
            <a:ext cx="0" cy="1422400"/>
          </a:xfrm>
          <a:custGeom>
            <a:avLst/>
            <a:gdLst/>
            <a:ahLst/>
            <a:cxnLst/>
            <a:rect l="l" t="t" r="r" b="b"/>
            <a:pathLst>
              <a:path h="1422400">
                <a:moveTo>
                  <a:pt x="0" y="0"/>
                </a:moveTo>
                <a:lnTo>
                  <a:pt x="0" y="1422400"/>
                </a:lnTo>
              </a:path>
            </a:pathLst>
          </a:custGeom>
          <a:ln w="9525">
            <a:solidFill>
              <a:srgbClr val="000000"/>
            </a:solidFill>
          </a:ln>
        </p:spPr>
        <p:txBody>
          <a:bodyPr wrap="square" lIns="0" tIns="0" rIns="0" bIns="0" rtlCol="0"/>
          <a:lstStyle/>
          <a:p>
            <a:endParaRPr/>
          </a:p>
        </p:txBody>
      </p:sp>
      <p:grpSp>
        <p:nvGrpSpPr>
          <p:cNvPr id="21" name="object 21"/>
          <p:cNvGrpSpPr/>
          <p:nvPr/>
        </p:nvGrpSpPr>
        <p:grpSpPr>
          <a:xfrm>
            <a:off x="2686050" y="1167891"/>
            <a:ext cx="8094980" cy="3667125"/>
            <a:chOff x="2686050" y="1167891"/>
            <a:chExt cx="8094980" cy="3667125"/>
          </a:xfrm>
        </p:grpSpPr>
        <p:pic>
          <p:nvPicPr>
            <p:cNvPr id="22" name="object 22"/>
            <p:cNvPicPr/>
            <p:nvPr/>
          </p:nvPicPr>
          <p:blipFill>
            <a:blip r:embed="rId2" cstate="print"/>
            <a:stretch>
              <a:fillRect/>
            </a:stretch>
          </p:blipFill>
          <p:spPr>
            <a:xfrm>
              <a:off x="3830192" y="3354593"/>
              <a:ext cx="4614" cy="9592"/>
            </a:xfrm>
            <a:prstGeom prst="rect">
              <a:avLst/>
            </a:prstGeom>
          </p:spPr>
        </p:pic>
        <p:pic>
          <p:nvPicPr>
            <p:cNvPr id="23" name="object 23"/>
            <p:cNvPicPr/>
            <p:nvPr/>
          </p:nvPicPr>
          <p:blipFill>
            <a:blip r:embed="rId3" cstate="print"/>
            <a:stretch>
              <a:fillRect/>
            </a:stretch>
          </p:blipFill>
          <p:spPr>
            <a:xfrm>
              <a:off x="3576827" y="2250947"/>
              <a:ext cx="1600962" cy="287274"/>
            </a:xfrm>
            <a:prstGeom prst="rect">
              <a:avLst/>
            </a:prstGeom>
          </p:spPr>
        </p:pic>
        <p:pic>
          <p:nvPicPr>
            <p:cNvPr id="24" name="object 24"/>
            <p:cNvPicPr/>
            <p:nvPr/>
          </p:nvPicPr>
          <p:blipFill>
            <a:blip r:embed="rId4" cstate="print"/>
            <a:stretch>
              <a:fillRect/>
            </a:stretch>
          </p:blipFill>
          <p:spPr>
            <a:xfrm>
              <a:off x="2686050" y="1167891"/>
              <a:ext cx="8094726" cy="3666998"/>
            </a:xfrm>
            <a:prstGeom prst="rect">
              <a:avLst/>
            </a:prstGeom>
          </p:spPr>
        </p:pic>
      </p:grpSp>
      <p:pic>
        <p:nvPicPr>
          <p:cNvPr id="25" name="object 25"/>
          <p:cNvPicPr/>
          <p:nvPr/>
        </p:nvPicPr>
        <p:blipFill>
          <a:blip r:embed="rId5" cstate="print"/>
          <a:stretch>
            <a:fillRect/>
          </a:stretch>
        </p:blipFill>
        <p:spPr>
          <a:xfrm>
            <a:off x="5527911" y="4895132"/>
            <a:ext cx="138718" cy="1918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10853" y="1611884"/>
            <a:ext cx="1945639" cy="391160"/>
          </a:xfrm>
          <a:prstGeom prst="rect">
            <a:avLst/>
          </a:prstGeom>
        </p:spPr>
        <p:txBody>
          <a:bodyPr vert="horz" wrap="square" lIns="0" tIns="12700" rIns="0" bIns="0" rtlCol="0">
            <a:spAutoFit/>
          </a:bodyPr>
          <a:lstStyle/>
          <a:p>
            <a:pPr marL="12700">
              <a:lnSpc>
                <a:spcPct val="100000"/>
              </a:lnSpc>
              <a:spcBef>
                <a:spcPts val="100"/>
              </a:spcBef>
            </a:pPr>
            <a:r>
              <a:rPr sz="2400" u="sng" spc="85" dirty="0">
                <a:uFill>
                  <a:solidFill>
                    <a:srgbClr val="000000"/>
                  </a:solidFill>
                </a:uFill>
                <a:latin typeface="Cambria"/>
                <a:cs typeface="Cambria"/>
              </a:rPr>
              <a:t>Classification</a:t>
            </a:r>
            <a:endParaRPr sz="2400">
              <a:latin typeface="Cambria"/>
              <a:cs typeface="Cambria"/>
            </a:endParaRPr>
          </a:p>
        </p:txBody>
      </p:sp>
      <p:sp>
        <p:nvSpPr>
          <p:cNvPr id="3" name="object 3"/>
          <p:cNvSpPr txBox="1"/>
          <p:nvPr/>
        </p:nvSpPr>
        <p:spPr>
          <a:xfrm>
            <a:off x="9110853" y="2050796"/>
            <a:ext cx="2218055" cy="391160"/>
          </a:xfrm>
          <a:prstGeom prst="rect">
            <a:avLst/>
          </a:prstGeom>
        </p:spPr>
        <p:txBody>
          <a:bodyPr vert="horz" wrap="square" lIns="0" tIns="12700" rIns="0" bIns="0" rtlCol="0">
            <a:spAutoFit/>
          </a:bodyPr>
          <a:lstStyle/>
          <a:p>
            <a:pPr marL="12700">
              <a:lnSpc>
                <a:spcPct val="100000"/>
              </a:lnSpc>
              <a:spcBef>
                <a:spcPts val="100"/>
              </a:spcBef>
            </a:pPr>
            <a:r>
              <a:rPr sz="2400" spc="80" dirty="0">
                <a:latin typeface="Cambria"/>
                <a:cs typeface="Cambria"/>
              </a:rPr>
              <a:t>Discrete</a:t>
            </a:r>
            <a:r>
              <a:rPr sz="2400" spc="110" dirty="0">
                <a:latin typeface="Cambria"/>
                <a:cs typeface="Cambria"/>
              </a:rPr>
              <a:t> </a:t>
            </a:r>
            <a:r>
              <a:rPr sz="2400" spc="60" dirty="0">
                <a:latin typeface="Cambria"/>
                <a:cs typeface="Cambria"/>
              </a:rPr>
              <a:t>valued</a:t>
            </a:r>
            <a:endParaRPr sz="2400">
              <a:latin typeface="Cambria"/>
              <a:cs typeface="Cambria"/>
            </a:endParaRPr>
          </a:p>
        </p:txBody>
      </p:sp>
      <p:sp>
        <p:nvSpPr>
          <p:cNvPr id="4" name="object 4"/>
          <p:cNvSpPr txBox="1"/>
          <p:nvPr/>
        </p:nvSpPr>
        <p:spPr>
          <a:xfrm>
            <a:off x="9110853" y="2416251"/>
            <a:ext cx="2045335" cy="391795"/>
          </a:xfrm>
          <a:prstGeom prst="rect">
            <a:avLst/>
          </a:prstGeom>
        </p:spPr>
        <p:txBody>
          <a:bodyPr vert="horz" wrap="square" lIns="0" tIns="12700" rIns="0" bIns="0" rtlCol="0">
            <a:spAutoFit/>
          </a:bodyPr>
          <a:lstStyle/>
          <a:p>
            <a:pPr marL="12700">
              <a:lnSpc>
                <a:spcPct val="100000"/>
              </a:lnSpc>
              <a:spcBef>
                <a:spcPts val="100"/>
              </a:spcBef>
            </a:pPr>
            <a:r>
              <a:rPr sz="2400" spc="75" dirty="0">
                <a:latin typeface="Cambria"/>
                <a:cs typeface="Cambria"/>
              </a:rPr>
              <a:t>output</a:t>
            </a:r>
            <a:r>
              <a:rPr sz="2400" spc="85" dirty="0">
                <a:latin typeface="Cambria"/>
                <a:cs typeface="Cambria"/>
              </a:rPr>
              <a:t> </a:t>
            </a:r>
            <a:r>
              <a:rPr sz="2400" dirty="0">
                <a:latin typeface="Cambria"/>
                <a:cs typeface="Cambria"/>
              </a:rPr>
              <a:t>(0</a:t>
            </a:r>
            <a:r>
              <a:rPr sz="2400" spc="95" dirty="0">
                <a:latin typeface="Cambria"/>
                <a:cs typeface="Cambria"/>
              </a:rPr>
              <a:t> </a:t>
            </a:r>
            <a:r>
              <a:rPr sz="2400" dirty="0">
                <a:latin typeface="Cambria"/>
                <a:cs typeface="Cambria"/>
              </a:rPr>
              <a:t>or</a:t>
            </a:r>
            <a:r>
              <a:rPr sz="2400" spc="95" dirty="0">
                <a:latin typeface="Cambria"/>
                <a:cs typeface="Cambria"/>
              </a:rPr>
              <a:t> </a:t>
            </a:r>
            <a:r>
              <a:rPr sz="2400" spc="-25" dirty="0">
                <a:latin typeface="Cambria"/>
                <a:cs typeface="Cambria"/>
              </a:rPr>
              <a:t>1)</a:t>
            </a:r>
            <a:endParaRPr sz="2400">
              <a:latin typeface="Cambria"/>
              <a:cs typeface="Cambria"/>
            </a:endParaRPr>
          </a:p>
        </p:txBody>
      </p:sp>
      <p:sp>
        <p:nvSpPr>
          <p:cNvPr id="5" name="object 5"/>
          <p:cNvSpPr/>
          <p:nvPr/>
        </p:nvSpPr>
        <p:spPr>
          <a:xfrm>
            <a:off x="9042400" y="1670176"/>
            <a:ext cx="0" cy="3137535"/>
          </a:xfrm>
          <a:custGeom>
            <a:avLst/>
            <a:gdLst/>
            <a:ahLst/>
            <a:cxnLst/>
            <a:rect l="l" t="t" r="r" b="b"/>
            <a:pathLst>
              <a:path h="3137535">
                <a:moveTo>
                  <a:pt x="0" y="0"/>
                </a:moveTo>
                <a:lnTo>
                  <a:pt x="0" y="3137408"/>
                </a:lnTo>
              </a:path>
            </a:pathLst>
          </a:custGeom>
          <a:ln w="9525">
            <a:solidFill>
              <a:srgbClr val="000000"/>
            </a:solidFill>
          </a:ln>
        </p:spPr>
        <p:txBody>
          <a:bodyPr wrap="square" lIns="0" tIns="0" rIns="0" bIns="0" rtlCol="0"/>
          <a:lstStyle/>
          <a:p>
            <a:endParaRPr/>
          </a:p>
        </p:txBody>
      </p:sp>
      <p:grpSp>
        <p:nvGrpSpPr>
          <p:cNvPr id="6" name="object 6"/>
          <p:cNvGrpSpPr/>
          <p:nvPr/>
        </p:nvGrpSpPr>
        <p:grpSpPr>
          <a:xfrm>
            <a:off x="2114550" y="1409064"/>
            <a:ext cx="6623684" cy="3934460"/>
            <a:chOff x="2114550" y="1409064"/>
            <a:chExt cx="6623684" cy="3934460"/>
          </a:xfrm>
        </p:grpSpPr>
        <p:sp>
          <p:nvSpPr>
            <p:cNvPr id="7" name="object 7"/>
            <p:cNvSpPr/>
            <p:nvPr/>
          </p:nvSpPr>
          <p:spPr>
            <a:xfrm>
              <a:off x="2143125" y="1409064"/>
              <a:ext cx="6595109" cy="2629535"/>
            </a:xfrm>
            <a:custGeom>
              <a:avLst/>
              <a:gdLst/>
              <a:ahLst/>
              <a:cxnLst/>
              <a:rect l="l" t="t" r="r" b="b"/>
              <a:pathLst>
                <a:path w="6595109" h="2629535">
                  <a:moveTo>
                    <a:pt x="6594602" y="2019935"/>
                  </a:moveTo>
                  <a:lnTo>
                    <a:pt x="6561963" y="2000885"/>
                  </a:lnTo>
                  <a:lnTo>
                    <a:pt x="6452108" y="1936750"/>
                  </a:lnTo>
                  <a:lnTo>
                    <a:pt x="6444907" y="1934362"/>
                  </a:lnTo>
                  <a:lnTo>
                    <a:pt x="6437592" y="1934845"/>
                  </a:lnTo>
                  <a:lnTo>
                    <a:pt x="6430988" y="1938007"/>
                  </a:lnTo>
                  <a:lnTo>
                    <a:pt x="6425946" y="1943608"/>
                  </a:lnTo>
                  <a:lnTo>
                    <a:pt x="6423546" y="1950808"/>
                  </a:lnTo>
                  <a:lnTo>
                    <a:pt x="6424041" y="1958124"/>
                  </a:lnTo>
                  <a:lnTo>
                    <a:pt x="6427190" y="1964728"/>
                  </a:lnTo>
                  <a:lnTo>
                    <a:pt x="6432804" y="1969770"/>
                  </a:lnTo>
                  <a:lnTo>
                    <a:pt x="6486131" y="2000885"/>
                  </a:lnTo>
                  <a:lnTo>
                    <a:pt x="203454" y="2000885"/>
                  </a:lnTo>
                  <a:lnTo>
                    <a:pt x="203454" y="108242"/>
                  </a:lnTo>
                  <a:lnTo>
                    <a:pt x="203454" y="47498"/>
                  </a:lnTo>
                  <a:lnTo>
                    <a:pt x="203454" y="37846"/>
                  </a:lnTo>
                  <a:lnTo>
                    <a:pt x="203568" y="108458"/>
                  </a:lnTo>
                  <a:lnTo>
                    <a:pt x="234696" y="161798"/>
                  </a:lnTo>
                  <a:lnTo>
                    <a:pt x="239674" y="167411"/>
                  </a:lnTo>
                  <a:lnTo>
                    <a:pt x="246227" y="170561"/>
                  </a:lnTo>
                  <a:lnTo>
                    <a:pt x="253530" y="171056"/>
                  </a:lnTo>
                  <a:lnTo>
                    <a:pt x="260731" y="168656"/>
                  </a:lnTo>
                  <a:lnTo>
                    <a:pt x="266344" y="163614"/>
                  </a:lnTo>
                  <a:lnTo>
                    <a:pt x="269532" y="157022"/>
                  </a:lnTo>
                  <a:lnTo>
                    <a:pt x="270027" y="149745"/>
                  </a:lnTo>
                  <a:lnTo>
                    <a:pt x="267589" y="142621"/>
                  </a:lnTo>
                  <a:lnTo>
                    <a:pt x="206476" y="37846"/>
                  </a:lnTo>
                  <a:lnTo>
                    <a:pt x="184404" y="0"/>
                  </a:lnTo>
                  <a:lnTo>
                    <a:pt x="101346" y="142621"/>
                  </a:lnTo>
                  <a:lnTo>
                    <a:pt x="98869" y="149745"/>
                  </a:lnTo>
                  <a:lnTo>
                    <a:pt x="99339" y="157022"/>
                  </a:lnTo>
                  <a:lnTo>
                    <a:pt x="102514" y="163614"/>
                  </a:lnTo>
                  <a:lnTo>
                    <a:pt x="108204" y="168656"/>
                  </a:lnTo>
                  <a:lnTo>
                    <a:pt x="115316" y="171056"/>
                  </a:lnTo>
                  <a:lnTo>
                    <a:pt x="122593" y="170561"/>
                  </a:lnTo>
                  <a:lnTo>
                    <a:pt x="129184" y="167411"/>
                  </a:lnTo>
                  <a:lnTo>
                    <a:pt x="134239" y="161798"/>
                  </a:lnTo>
                  <a:lnTo>
                    <a:pt x="165354" y="108458"/>
                  </a:lnTo>
                  <a:lnTo>
                    <a:pt x="165354" y="108242"/>
                  </a:lnTo>
                  <a:lnTo>
                    <a:pt x="184454" y="75692"/>
                  </a:lnTo>
                  <a:lnTo>
                    <a:pt x="165468" y="108242"/>
                  </a:lnTo>
                  <a:lnTo>
                    <a:pt x="165379" y="2000885"/>
                  </a:lnTo>
                  <a:lnTo>
                    <a:pt x="0" y="2000885"/>
                  </a:lnTo>
                  <a:lnTo>
                    <a:pt x="0" y="2038985"/>
                  </a:lnTo>
                  <a:lnTo>
                    <a:pt x="165379" y="2038985"/>
                  </a:lnTo>
                  <a:lnTo>
                    <a:pt x="165354" y="2629535"/>
                  </a:lnTo>
                  <a:lnTo>
                    <a:pt x="203454" y="2629535"/>
                  </a:lnTo>
                  <a:lnTo>
                    <a:pt x="203454" y="2038985"/>
                  </a:lnTo>
                  <a:lnTo>
                    <a:pt x="6486131" y="2038985"/>
                  </a:lnTo>
                  <a:lnTo>
                    <a:pt x="6432804" y="2070100"/>
                  </a:lnTo>
                  <a:lnTo>
                    <a:pt x="6427190" y="2075154"/>
                  </a:lnTo>
                  <a:lnTo>
                    <a:pt x="6424028" y="2081758"/>
                  </a:lnTo>
                  <a:lnTo>
                    <a:pt x="6423546" y="2089073"/>
                  </a:lnTo>
                  <a:lnTo>
                    <a:pt x="6425946" y="2096262"/>
                  </a:lnTo>
                  <a:lnTo>
                    <a:pt x="6430988" y="2101875"/>
                  </a:lnTo>
                  <a:lnTo>
                    <a:pt x="6437592" y="2105037"/>
                  </a:lnTo>
                  <a:lnTo>
                    <a:pt x="6444907" y="2105520"/>
                  </a:lnTo>
                  <a:lnTo>
                    <a:pt x="6452108" y="2103120"/>
                  </a:lnTo>
                  <a:lnTo>
                    <a:pt x="6561963" y="2038985"/>
                  </a:lnTo>
                  <a:lnTo>
                    <a:pt x="6594602" y="2019935"/>
                  </a:lnTo>
                  <a:close/>
                </a:path>
              </a:pathLst>
            </a:custGeom>
            <a:solidFill>
              <a:srgbClr val="7E7E7E"/>
            </a:solidFill>
          </p:spPr>
          <p:txBody>
            <a:bodyPr wrap="square" lIns="0" tIns="0" rIns="0" bIns="0" rtlCol="0"/>
            <a:lstStyle/>
            <a:p>
              <a:endParaRPr/>
            </a:p>
          </p:txBody>
        </p:sp>
        <p:sp>
          <p:nvSpPr>
            <p:cNvPr id="8" name="object 8"/>
            <p:cNvSpPr/>
            <p:nvPr/>
          </p:nvSpPr>
          <p:spPr>
            <a:xfrm>
              <a:off x="2133600" y="2108199"/>
              <a:ext cx="355600" cy="0"/>
            </a:xfrm>
            <a:custGeom>
              <a:avLst/>
              <a:gdLst/>
              <a:ahLst/>
              <a:cxnLst/>
              <a:rect l="l" t="t" r="r" b="b"/>
              <a:pathLst>
                <a:path w="355600">
                  <a:moveTo>
                    <a:pt x="0" y="0"/>
                  </a:moveTo>
                  <a:lnTo>
                    <a:pt x="355600" y="0"/>
                  </a:lnTo>
                </a:path>
              </a:pathLst>
            </a:custGeom>
            <a:ln w="38100">
              <a:solidFill>
                <a:srgbClr val="7E7E7E"/>
              </a:solidFill>
            </a:ln>
          </p:spPr>
          <p:txBody>
            <a:bodyPr wrap="square" lIns="0" tIns="0" rIns="0" bIns="0" rtlCol="0"/>
            <a:lstStyle/>
            <a:p>
              <a:endParaRPr/>
            </a:p>
          </p:txBody>
        </p:sp>
        <p:sp>
          <p:nvSpPr>
            <p:cNvPr id="9" name="object 9"/>
            <p:cNvSpPr/>
            <p:nvPr/>
          </p:nvSpPr>
          <p:spPr>
            <a:xfrm>
              <a:off x="2139823" y="5172221"/>
              <a:ext cx="6598284" cy="171450"/>
            </a:xfrm>
            <a:custGeom>
              <a:avLst/>
              <a:gdLst/>
              <a:ahLst/>
              <a:cxnLst/>
              <a:rect l="l" t="t" r="r" b="b"/>
              <a:pathLst>
                <a:path w="6598284" h="171450">
                  <a:moveTo>
                    <a:pt x="6522103" y="85578"/>
                  </a:moveTo>
                  <a:lnTo>
                    <a:pt x="6436106" y="135743"/>
                  </a:lnTo>
                  <a:lnTo>
                    <a:pt x="6430498" y="140795"/>
                  </a:lnTo>
                  <a:lnTo>
                    <a:pt x="6427342" y="147395"/>
                  </a:lnTo>
                  <a:lnTo>
                    <a:pt x="6426854" y="154709"/>
                  </a:lnTo>
                  <a:lnTo>
                    <a:pt x="6429248" y="161905"/>
                  </a:lnTo>
                  <a:lnTo>
                    <a:pt x="6434300" y="167513"/>
                  </a:lnTo>
                  <a:lnTo>
                    <a:pt x="6440900" y="170668"/>
                  </a:lnTo>
                  <a:lnTo>
                    <a:pt x="6448214" y="171156"/>
                  </a:lnTo>
                  <a:lnTo>
                    <a:pt x="6455409" y="168763"/>
                  </a:lnTo>
                  <a:lnTo>
                    <a:pt x="6565271" y="104628"/>
                  </a:lnTo>
                  <a:lnTo>
                    <a:pt x="6560058" y="104628"/>
                  </a:lnTo>
                  <a:lnTo>
                    <a:pt x="6560058" y="102088"/>
                  </a:lnTo>
                  <a:lnTo>
                    <a:pt x="6550406" y="102088"/>
                  </a:lnTo>
                  <a:lnTo>
                    <a:pt x="6522103" y="85578"/>
                  </a:lnTo>
                  <a:close/>
                </a:path>
                <a:path w="6598284" h="171450">
                  <a:moveTo>
                    <a:pt x="6489446" y="66528"/>
                  </a:moveTo>
                  <a:lnTo>
                    <a:pt x="0" y="66528"/>
                  </a:lnTo>
                  <a:lnTo>
                    <a:pt x="0" y="104628"/>
                  </a:lnTo>
                  <a:lnTo>
                    <a:pt x="6489446" y="104628"/>
                  </a:lnTo>
                  <a:lnTo>
                    <a:pt x="6522103" y="85578"/>
                  </a:lnTo>
                  <a:lnTo>
                    <a:pt x="6489446" y="66528"/>
                  </a:lnTo>
                  <a:close/>
                </a:path>
                <a:path w="6598284" h="171450">
                  <a:moveTo>
                    <a:pt x="6565271" y="66528"/>
                  </a:moveTo>
                  <a:lnTo>
                    <a:pt x="6560058" y="66528"/>
                  </a:lnTo>
                  <a:lnTo>
                    <a:pt x="6560058" y="104628"/>
                  </a:lnTo>
                  <a:lnTo>
                    <a:pt x="6565271" y="104628"/>
                  </a:lnTo>
                  <a:lnTo>
                    <a:pt x="6597904" y="85578"/>
                  </a:lnTo>
                  <a:lnTo>
                    <a:pt x="6565271" y="66528"/>
                  </a:lnTo>
                  <a:close/>
                </a:path>
                <a:path w="6598284" h="171450">
                  <a:moveTo>
                    <a:pt x="6550406" y="69068"/>
                  </a:moveTo>
                  <a:lnTo>
                    <a:pt x="6522103" y="85578"/>
                  </a:lnTo>
                  <a:lnTo>
                    <a:pt x="6550406" y="102088"/>
                  </a:lnTo>
                  <a:lnTo>
                    <a:pt x="6550406" y="69068"/>
                  </a:lnTo>
                  <a:close/>
                </a:path>
                <a:path w="6598284" h="171450">
                  <a:moveTo>
                    <a:pt x="6560058" y="69068"/>
                  </a:moveTo>
                  <a:lnTo>
                    <a:pt x="6550406" y="69068"/>
                  </a:lnTo>
                  <a:lnTo>
                    <a:pt x="6550406" y="102088"/>
                  </a:lnTo>
                  <a:lnTo>
                    <a:pt x="6560058" y="102088"/>
                  </a:lnTo>
                  <a:lnTo>
                    <a:pt x="6560058" y="69068"/>
                  </a:lnTo>
                  <a:close/>
                </a:path>
                <a:path w="6598284" h="171450">
                  <a:moveTo>
                    <a:pt x="6448214" y="0"/>
                  </a:moveTo>
                  <a:lnTo>
                    <a:pt x="6440900" y="488"/>
                  </a:lnTo>
                  <a:lnTo>
                    <a:pt x="6434300" y="3643"/>
                  </a:lnTo>
                  <a:lnTo>
                    <a:pt x="6429248" y="9251"/>
                  </a:lnTo>
                  <a:lnTo>
                    <a:pt x="6426854" y="16446"/>
                  </a:lnTo>
                  <a:lnTo>
                    <a:pt x="6427343" y="23760"/>
                  </a:lnTo>
                  <a:lnTo>
                    <a:pt x="6430498" y="30360"/>
                  </a:lnTo>
                  <a:lnTo>
                    <a:pt x="6436106" y="35413"/>
                  </a:lnTo>
                  <a:lnTo>
                    <a:pt x="6522103" y="85578"/>
                  </a:lnTo>
                  <a:lnTo>
                    <a:pt x="6550406" y="69068"/>
                  </a:lnTo>
                  <a:lnTo>
                    <a:pt x="6560058" y="69068"/>
                  </a:lnTo>
                  <a:lnTo>
                    <a:pt x="6560058" y="66528"/>
                  </a:lnTo>
                  <a:lnTo>
                    <a:pt x="6565271" y="66528"/>
                  </a:lnTo>
                  <a:lnTo>
                    <a:pt x="6455409" y="2393"/>
                  </a:lnTo>
                  <a:lnTo>
                    <a:pt x="6448214" y="0"/>
                  </a:lnTo>
                  <a:close/>
                </a:path>
              </a:pathLst>
            </a:custGeom>
            <a:solidFill>
              <a:srgbClr val="7E7E7E"/>
            </a:solidFill>
          </p:spPr>
          <p:txBody>
            <a:bodyPr wrap="square" lIns="0" tIns="0" rIns="0" bIns="0" rtlCol="0"/>
            <a:lstStyle/>
            <a:p>
              <a:endParaRPr/>
            </a:p>
          </p:txBody>
        </p:sp>
      </p:grpSp>
      <p:sp>
        <p:nvSpPr>
          <p:cNvPr id="10" name="object 10"/>
          <p:cNvSpPr txBox="1"/>
          <p:nvPr/>
        </p:nvSpPr>
        <p:spPr>
          <a:xfrm>
            <a:off x="208584" y="2565653"/>
            <a:ext cx="1633855" cy="391160"/>
          </a:xfrm>
          <a:prstGeom prst="rect">
            <a:avLst/>
          </a:prstGeom>
        </p:spPr>
        <p:txBody>
          <a:bodyPr vert="horz" wrap="square" lIns="0" tIns="12700" rIns="0" bIns="0" rtlCol="0">
            <a:spAutoFit/>
          </a:bodyPr>
          <a:lstStyle/>
          <a:p>
            <a:pPr marL="12700">
              <a:lnSpc>
                <a:spcPct val="100000"/>
              </a:lnSpc>
              <a:spcBef>
                <a:spcPts val="100"/>
              </a:spcBef>
            </a:pPr>
            <a:r>
              <a:rPr sz="2400" spc="114" dirty="0">
                <a:latin typeface="Cambria"/>
                <a:cs typeface="Cambria"/>
              </a:rPr>
              <a:t>Malignant?</a:t>
            </a:r>
            <a:endParaRPr sz="2400">
              <a:latin typeface="Cambria"/>
              <a:cs typeface="Cambria"/>
            </a:endParaRPr>
          </a:p>
        </p:txBody>
      </p:sp>
      <p:sp>
        <p:nvSpPr>
          <p:cNvPr id="11" name="object 11"/>
          <p:cNvSpPr txBox="1"/>
          <p:nvPr/>
        </p:nvSpPr>
        <p:spPr>
          <a:xfrm>
            <a:off x="1619250" y="1918207"/>
            <a:ext cx="547370" cy="351155"/>
          </a:xfrm>
          <a:prstGeom prst="rect">
            <a:avLst/>
          </a:prstGeom>
        </p:spPr>
        <p:txBody>
          <a:bodyPr vert="horz" wrap="square" lIns="0" tIns="17145" rIns="0" bIns="0" rtlCol="0">
            <a:spAutoFit/>
          </a:bodyPr>
          <a:lstStyle/>
          <a:p>
            <a:pPr marL="12700">
              <a:lnSpc>
                <a:spcPct val="100000"/>
              </a:lnSpc>
              <a:spcBef>
                <a:spcPts val="135"/>
              </a:spcBef>
            </a:pPr>
            <a:r>
              <a:rPr sz="2100" spc="-20" dirty="0">
                <a:latin typeface="Cambria"/>
                <a:cs typeface="Cambria"/>
              </a:rPr>
              <a:t>1(Y)</a:t>
            </a:r>
            <a:endParaRPr sz="2100">
              <a:latin typeface="Cambria"/>
              <a:cs typeface="Cambria"/>
            </a:endParaRPr>
          </a:p>
        </p:txBody>
      </p:sp>
      <p:sp>
        <p:nvSpPr>
          <p:cNvPr id="12" name="object 12"/>
          <p:cNvSpPr txBox="1"/>
          <p:nvPr/>
        </p:nvSpPr>
        <p:spPr>
          <a:xfrm>
            <a:off x="1604263" y="3241674"/>
            <a:ext cx="578485" cy="351155"/>
          </a:xfrm>
          <a:prstGeom prst="rect">
            <a:avLst/>
          </a:prstGeom>
        </p:spPr>
        <p:txBody>
          <a:bodyPr vert="horz" wrap="square" lIns="0" tIns="17145" rIns="0" bIns="0" rtlCol="0">
            <a:spAutoFit/>
          </a:bodyPr>
          <a:lstStyle/>
          <a:p>
            <a:pPr marL="12700">
              <a:lnSpc>
                <a:spcPct val="100000"/>
              </a:lnSpc>
              <a:spcBef>
                <a:spcPts val="135"/>
              </a:spcBef>
            </a:pPr>
            <a:r>
              <a:rPr sz="2100" spc="-20" dirty="0">
                <a:latin typeface="Cambria"/>
                <a:cs typeface="Cambria"/>
              </a:rPr>
              <a:t>0(N)</a:t>
            </a:r>
            <a:endParaRPr sz="2100">
              <a:latin typeface="Cambria"/>
              <a:cs typeface="Cambria"/>
            </a:endParaRPr>
          </a:p>
        </p:txBody>
      </p:sp>
      <p:sp>
        <p:nvSpPr>
          <p:cNvPr id="13" name="object 13"/>
          <p:cNvSpPr txBox="1"/>
          <p:nvPr/>
        </p:nvSpPr>
        <p:spPr>
          <a:xfrm>
            <a:off x="4755896" y="3676904"/>
            <a:ext cx="1644650" cy="391160"/>
          </a:xfrm>
          <a:prstGeom prst="rect">
            <a:avLst/>
          </a:prstGeom>
        </p:spPr>
        <p:txBody>
          <a:bodyPr vert="horz" wrap="square" lIns="0" tIns="12700" rIns="0" bIns="0" rtlCol="0">
            <a:spAutoFit/>
          </a:bodyPr>
          <a:lstStyle/>
          <a:p>
            <a:pPr marL="12700">
              <a:lnSpc>
                <a:spcPct val="100000"/>
              </a:lnSpc>
              <a:spcBef>
                <a:spcPts val="100"/>
              </a:spcBef>
            </a:pPr>
            <a:r>
              <a:rPr sz="2400" spc="80" dirty="0">
                <a:latin typeface="Cambria"/>
                <a:cs typeface="Cambria"/>
              </a:rPr>
              <a:t>Tumor</a:t>
            </a:r>
            <a:r>
              <a:rPr sz="2400" spc="145" dirty="0">
                <a:latin typeface="Cambria"/>
                <a:cs typeface="Cambria"/>
              </a:rPr>
              <a:t> </a:t>
            </a:r>
            <a:r>
              <a:rPr sz="2400" spc="100" dirty="0">
                <a:latin typeface="Cambria"/>
                <a:cs typeface="Cambria"/>
              </a:rPr>
              <a:t>Size</a:t>
            </a:r>
            <a:endParaRPr sz="2400">
              <a:latin typeface="Cambria"/>
              <a:cs typeface="Cambria"/>
            </a:endParaRPr>
          </a:p>
        </p:txBody>
      </p:sp>
      <p:sp>
        <p:nvSpPr>
          <p:cNvPr id="14" name="object 14"/>
          <p:cNvSpPr txBox="1"/>
          <p:nvPr/>
        </p:nvSpPr>
        <p:spPr>
          <a:xfrm>
            <a:off x="4755896" y="5505703"/>
            <a:ext cx="1645285" cy="391795"/>
          </a:xfrm>
          <a:prstGeom prst="rect">
            <a:avLst/>
          </a:prstGeom>
        </p:spPr>
        <p:txBody>
          <a:bodyPr vert="horz" wrap="square" lIns="0" tIns="12700" rIns="0" bIns="0" rtlCol="0">
            <a:spAutoFit/>
          </a:bodyPr>
          <a:lstStyle/>
          <a:p>
            <a:pPr marL="12700">
              <a:lnSpc>
                <a:spcPct val="100000"/>
              </a:lnSpc>
              <a:spcBef>
                <a:spcPts val="100"/>
              </a:spcBef>
            </a:pPr>
            <a:r>
              <a:rPr sz="2400" spc="80" dirty="0">
                <a:latin typeface="Cambria"/>
                <a:cs typeface="Cambria"/>
              </a:rPr>
              <a:t>Tumor</a:t>
            </a:r>
            <a:r>
              <a:rPr sz="2400" spc="150" dirty="0">
                <a:latin typeface="Cambria"/>
                <a:cs typeface="Cambria"/>
              </a:rPr>
              <a:t> </a:t>
            </a:r>
            <a:r>
              <a:rPr sz="2400" spc="100" dirty="0">
                <a:latin typeface="Cambria"/>
                <a:cs typeface="Cambria"/>
              </a:rPr>
              <a:t>Size</a:t>
            </a:r>
            <a:endParaRPr sz="2400">
              <a:latin typeface="Cambria"/>
              <a:cs typeface="Cambria"/>
            </a:endParaRPr>
          </a:p>
        </p:txBody>
      </p:sp>
      <p:pic>
        <p:nvPicPr>
          <p:cNvPr id="16" name="object 16"/>
          <p:cNvPicPr/>
          <p:nvPr/>
        </p:nvPicPr>
        <p:blipFill>
          <a:blip r:embed="rId2" cstate="print"/>
          <a:stretch>
            <a:fillRect/>
          </a:stretch>
        </p:blipFill>
        <p:spPr>
          <a:xfrm>
            <a:off x="1943100" y="1524152"/>
            <a:ext cx="6549390" cy="4562983"/>
          </a:xfrm>
          <a:prstGeom prst="rect">
            <a:avLst/>
          </a:prstGeom>
        </p:spPr>
      </p:pic>
      <p:sp>
        <p:nvSpPr>
          <p:cNvPr id="17" name="object 17"/>
          <p:cNvSpPr txBox="1">
            <a:spLocks noGrp="1"/>
          </p:cNvSpPr>
          <p:nvPr>
            <p:ph type="title"/>
          </p:nvPr>
        </p:nvSpPr>
        <p:spPr>
          <a:xfrm>
            <a:off x="586841" y="400558"/>
            <a:ext cx="5934075" cy="452120"/>
          </a:xfrm>
          <a:prstGeom prst="rect">
            <a:avLst/>
          </a:prstGeom>
        </p:spPr>
        <p:txBody>
          <a:bodyPr vert="horz" wrap="square" lIns="0" tIns="12065" rIns="0" bIns="0" rtlCol="0">
            <a:spAutoFit/>
          </a:bodyPr>
          <a:lstStyle/>
          <a:p>
            <a:pPr marL="12700">
              <a:lnSpc>
                <a:spcPct val="100000"/>
              </a:lnSpc>
              <a:spcBef>
                <a:spcPts val="95"/>
              </a:spcBef>
            </a:pPr>
            <a:r>
              <a:rPr spc="180" dirty="0"/>
              <a:t>Breast</a:t>
            </a:r>
            <a:r>
              <a:rPr spc="200" dirty="0"/>
              <a:t> </a:t>
            </a:r>
            <a:r>
              <a:rPr spc="185" dirty="0"/>
              <a:t>cancer</a:t>
            </a:r>
            <a:r>
              <a:rPr spc="220" dirty="0"/>
              <a:t> </a:t>
            </a:r>
            <a:r>
              <a:rPr b="0" spc="114" dirty="0">
                <a:latin typeface="Cambria"/>
                <a:cs typeface="Cambria"/>
              </a:rPr>
              <a:t>(malignant,</a:t>
            </a:r>
            <a:r>
              <a:rPr b="0" spc="220" dirty="0">
                <a:latin typeface="Cambria"/>
                <a:cs typeface="Cambria"/>
              </a:rPr>
              <a:t> </a:t>
            </a:r>
            <a:r>
              <a:rPr b="0" spc="35" dirty="0">
                <a:latin typeface="Cambria"/>
                <a:cs typeface="Cambria"/>
              </a:rPr>
              <a:t>benign)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9540" rIns="0" bIns="0" rtlCol="0">
            <a:spAutoFit/>
          </a:bodyPr>
          <a:lstStyle/>
          <a:p>
            <a:pPr algn="ctr">
              <a:lnSpc>
                <a:spcPct val="100000"/>
              </a:lnSpc>
              <a:spcBef>
                <a:spcPts val="100"/>
              </a:spcBef>
            </a:pPr>
            <a:r>
              <a:rPr dirty="0"/>
              <a:t>Machine</a:t>
            </a:r>
            <a:r>
              <a:rPr spc="-145" dirty="0"/>
              <a:t> </a:t>
            </a:r>
            <a:r>
              <a:rPr dirty="0"/>
              <a:t>Learning:</a:t>
            </a:r>
            <a:r>
              <a:rPr spc="-145" dirty="0"/>
              <a:t> </a:t>
            </a:r>
            <a:r>
              <a:rPr spc="-10" dirty="0"/>
              <a:t>Overview</a:t>
            </a:r>
          </a:p>
          <a:p>
            <a:pPr algn="ctr">
              <a:lnSpc>
                <a:spcPct val="100000"/>
              </a:lnSpc>
              <a:spcBef>
                <a:spcPts val="50"/>
              </a:spcBef>
            </a:pPr>
            <a:r>
              <a:rPr sz="2800" b="0" i="1" dirty="0">
                <a:solidFill>
                  <a:srgbClr val="006FC0"/>
                </a:solidFill>
                <a:latin typeface="Calibri"/>
                <a:cs typeface="Calibri"/>
              </a:rPr>
              <a:t>Nature</a:t>
            </a:r>
            <a:r>
              <a:rPr sz="2800" b="0" i="1" spc="-30" dirty="0">
                <a:solidFill>
                  <a:srgbClr val="006FC0"/>
                </a:solidFill>
                <a:latin typeface="Calibri"/>
                <a:cs typeface="Calibri"/>
              </a:rPr>
              <a:t> </a:t>
            </a:r>
            <a:r>
              <a:rPr sz="2800" b="0" i="1" dirty="0">
                <a:solidFill>
                  <a:srgbClr val="006FC0"/>
                </a:solidFill>
                <a:latin typeface="Calibri"/>
                <a:cs typeface="Calibri"/>
              </a:rPr>
              <a:t>of</a:t>
            </a:r>
            <a:r>
              <a:rPr sz="2800" b="0" i="1" spc="-20" dirty="0">
                <a:solidFill>
                  <a:srgbClr val="006FC0"/>
                </a:solidFill>
                <a:latin typeface="Calibri"/>
                <a:cs typeface="Calibri"/>
              </a:rPr>
              <a:t> </a:t>
            </a:r>
            <a:r>
              <a:rPr sz="2800" b="0" i="1" dirty="0">
                <a:solidFill>
                  <a:srgbClr val="006FC0"/>
                </a:solidFill>
                <a:latin typeface="Calibri"/>
                <a:cs typeface="Calibri"/>
              </a:rPr>
              <a:t>ML</a:t>
            </a:r>
            <a:r>
              <a:rPr sz="2800" b="0" i="1" spc="-15" dirty="0">
                <a:solidFill>
                  <a:srgbClr val="006FC0"/>
                </a:solidFill>
                <a:latin typeface="Calibri"/>
                <a:cs typeface="Calibri"/>
              </a:rPr>
              <a:t> </a:t>
            </a:r>
            <a:r>
              <a:rPr sz="2800" b="0" i="1" spc="-10" dirty="0">
                <a:solidFill>
                  <a:srgbClr val="006FC0"/>
                </a:solidFill>
                <a:latin typeface="Calibri"/>
                <a:cs typeface="Calibri"/>
              </a:rPr>
              <a:t>Problems</a:t>
            </a:r>
            <a:endParaRPr sz="2800">
              <a:latin typeface="Calibri"/>
              <a:cs typeface="Calibri"/>
            </a:endParaRPr>
          </a:p>
        </p:txBody>
      </p:sp>
      <p:pic>
        <p:nvPicPr>
          <p:cNvPr id="3" name="object 3"/>
          <p:cNvPicPr/>
          <p:nvPr/>
        </p:nvPicPr>
        <p:blipFill>
          <a:blip r:embed="rId2" cstate="print"/>
          <a:stretch>
            <a:fillRect/>
          </a:stretch>
        </p:blipFill>
        <p:spPr>
          <a:xfrm>
            <a:off x="2473490" y="4355801"/>
            <a:ext cx="1866934" cy="2091197"/>
          </a:xfrm>
          <a:prstGeom prst="rect">
            <a:avLst/>
          </a:prstGeom>
        </p:spPr>
      </p:pic>
      <p:pic>
        <p:nvPicPr>
          <p:cNvPr id="4" name="object 4"/>
          <p:cNvPicPr/>
          <p:nvPr/>
        </p:nvPicPr>
        <p:blipFill>
          <a:blip r:embed="rId3" cstate="print"/>
          <a:stretch>
            <a:fillRect/>
          </a:stretch>
        </p:blipFill>
        <p:spPr>
          <a:xfrm>
            <a:off x="7873031" y="4360926"/>
            <a:ext cx="1886607" cy="2150574"/>
          </a:xfrm>
          <a:prstGeom prst="rect">
            <a:avLst/>
          </a:prstGeom>
        </p:spPr>
      </p:pic>
      <p:sp>
        <p:nvSpPr>
          <p:cNvPr id="5" name="object 5"/>
          <p:cNvSpPr/>
          <p:nvPr/>
        </p:nvSpPr>
        <p:spPr>
          <a:xfrm>
            <a:off x="5004434" y="5217795"/>
            <a:ext cx="2438400" cy="258445"/>
          </a:xfrm>
          <a:custGeom>
            <a:avLst/>
            <a:gdLst/>
            <a:ahLst/>
            <a:cxnLst/>
            <a:rect l="l" t="t" r="r" b="b"/>
            <a:pathLst>
              <a:path w="2438400" h="258445">
                <a:moveTo>
                  <a:pt x="2309241" y="0"/>
                </a:moveTo>
                <a:lnTo>
                  <a:pt x="2309241" y="64515"/>
                </a:lnTo>
                <a:lnTo>
                  <a:pt x="0" y="64515"/>
                </a:lnTo>
                <a:lnTo>
                  <a:pt x="0" y="193801"/>
                </a:lnTo>
                <a:lnTo>
                  <a:pt x="2309241" y="193801"/>
                </a:lnTo>
                <a:lnTo>
                  <a:pt x="2309241" y="258317"/>
                </a:lnTo>
                <a:lnTo>
                  <a:pt x="2438399" y="129158"/>
                </a:lnTo>
                <a:lnTo>
                  <a:pt x="2309241" y="0"/>
                </a:lnTo>
                <a:close/>
              </a:path>
            </a:pathLst>
          </a:custGeom>
          <a:solidFill>
            <a:srgbClr val="6FAC46"/>
          </a:solidFill>
        </p:spPr>
        <p:txBody>
          <a:bodyPr wrap="square" lIns="0" tIns="0" rIns="0" bIns="0" rtlCol="0"/>
          <a:lstStyle/>
          <a:p>
            <a:endParaRPr/>
          </a:p>
        </p:txBody>
      </p:sp>
      <p:grpSp>
        <p:nvGrpSpPr>
          <p:cNvPr id="6" name="object 6"/>
          <p:cNvGrpSpPr/>
          <p:nvPr/>
        </p:nvGrpSpPr>
        <p:grpSpPr>
          <a:xfrm>
            <a:off x="2217229" y="2300287"/>
            <a:ext cx="7938134" cy="1552575"/>
            <a:chOff x="2217229" y="2300287"/>
            <a:chExt cx="7938134" cy="1552575"/>
          </a:xfrm>
        </p:grpSpPr>
        <p:sp>
          <p:nvSpPr>
            <p:cNvPr id="7" name="object 7"/>
            <p:cNvSpPr/>
            <p:nvPr/>
          </p:nvSpPr>
          <p:spPr>
            <a:xfrm>
              <a:off x="2223897" y="2306954"/>
              <a:ext cx="7924800" cy="1539240"/>
            </a:xfrm>
            <a:custGeom>
              <a:avLst/>
              <a:gdLst/>
              <a:ahLst/>
              <a:cxnLst/>
              <a:rect l="l" t="t" r="r" b="b"/>
              <a:pathLst>
                <a:path w="7924800" h="1539239">
                  <a:moveTo>
                    <a:pt x="7668259" y="0"/>
                  </a:moveTo>
                  <a:lnTo>
                    <a:pt x="256539" y="0"/>
                  </a:lnTo>
                  <a:lnTo>
                    <a:pt x="210413" y="4131"/>
                  </a:lnTo>
                  <a:lnTo>
                    <a:pt x="167005" y="16044"/>
                  </a:lnTo>
                  <a:lnTo>
                    <a:pt x="127037" y="35014"/>
                  </a:lnTo>
                  <a:lnTo>
                    <a:pt x="91234" y="60318"/>
                  </a:lnTo>
                  <a:lnTo>
                    <a:pt x="60318" y="91234"/>
                  </a:lnTo>
                  <a:lnTo>
                    <a:pt x="35014" y="127037"/>
                  </a:lnTo>
                  <a:lnTo>
                    <a:pt x="16044" y="167005"/>
                  </a:lnTo>
                  <a:lnTo>
                    <a:pt x="4131" y="210413"/>
                  </a:lnTo>
                  <a:lnTo>
                    <a:pt x="0" y="256540"/>
                  </a:lnTo>
                  <a:lnTo>
                    <a:pt x="0" y="1282700"/>
                  </a:lnTo>
                  <a:lnTo>
                    <a:pt x="4131" y="1328826"/>
                  </a:lnTo>
                  <a:lnTo>
                    <a:pt x="16044" y="1372234"/>
                  </a:lnTo>
                  <a:lnTo>
                    <a:pt x="35014" y="1412202"/>
                  </a:lnTo>
                  <a:lnTo>
                    <a:pt x="60318" y="1448005"/>
                  </a:lnTo>
                  <a:lnTo>
                    <a:pt x="91234" y="1478921"/>
                  </a:lnTo>
                  <a:lnTo>
                    <a:pt x="127037" y="1504225"/>
                  </a:lnTo>
                  <a:lnTo>
                    <a:pt x="167005" y="1523195"/>
                  </a:lnTo>
                  <a:lnTo>
                    <a:pt x="210413" y="1535108"/>
                  </a:lnTo>
                  <a:lnTo>
                    <a:pt x="256539" y="1539240"/>
                  </a:lnTo>
                  <a:lnTo>
                    <a:pt x="7668259" y="1539240"/>
                  </a:lnTo>
                  <a:lnTo>
                    <a:pt x="7714386" y="1535108"/>
                  </a:lnTo>
                  <a:lnTo>
                    <a:pt x="7757794" y="1523195"/>
                  </a:lnTo>
                  <a:lnTo>
                    <a:pt x="7797762" y="1504225"/>
                  </a:lnTo>
                  <a:lnTo>
                    <a:pt x="7833565" y="1478921"/>
                  </a:lnTo>
                  <a:lnTo>
                    <a:pt x="7864481" y="1448005"/>
                  </a:lnTo>
                  <a:lnTo>
                    <a:pt x="7889785" y="1412202"/>
                  </a:lnTo>
                  <a:lnTo>
                    <a:pt x="7908755" y="1372234"/>
                  </a:lnTo>
                  <a:lnTo>
                    <a:pt x="7920668" y="1328826"/>
                  </a:lnTo>
                  <a:lnTo>
                    <a:pt x="7924800" y="1282700"/>
                  </a:lnTo>
                  <a:lnTo>
                    <a:pt x="7924800" y="256540"/>
                  </a:lnTo>
                  <a:lnTo>
                    <a:pt x="7920668" y="210413"/>
                  </a:lnTo>
                  <a:lnTo>
                    <a:pt x="7908755" y="167005"/>
                  </a:lnTo>
                  <a:lnTo>
                    <a:pt x="7889785" y="127037"/>
                  </a:lnTo>
                  <a:lnTo>
                    <a:pt x="7864481" y="91234"/>
                  </a:lnTo>
                  <a:lnTo>
                    <a:pt x="7833565" y="60318"/>
                  </a:lnTo>
                  <a:lnTo>
                    <a:pt x="7797762" y="35014"/>
                  </a:lnTo>
                  <a:lnTo>
                    <a:pt x="7757794" y="16044"/>
                  </a:lnTo>
                  <a:lnTo>
                    <a:pt x="7714386" y="4131"/>
                  </a:lnTo>
                  <a:lnTo>
                    <a:pt x="7668259" y="0"/>
                  </a:lnTo>
                  <a:close/>
                </a:path>
              </a:pathLst>
            </a:custGeom>
            <a:solidFill>
              <a:srgbClr val="D9D9D9"/>
            </a:solidFill>
          </p:spPr>
          <p:txBody>
            <a:bodyPr wrap="square" lIns="0" tIns="0" rIns="0" bIns="0" rtlCol="0"/>
            <a:lstStyle/>
            <a:p>
              <a:endParaRPr/>
            </a:p>
          </p:txBody>
        </p:sp>
        <p:sp>
          <p:nvSpPr>
            <p:cNvPr id="8" name="object 8"/>
            <p:cNvSpPr/>
            <p:nvPr/>
          </p:nvSpPr>
          <p:spPr>
            <a:xfrm>
              <a:off x="2223897" y="2306954"/>
              <a:ext cx="7924800" cy="1539240"/>
            </a:xfrm>
            <a:custGeom>
              <a:avLst/>
              <a:gdLst/>
              <a:ahLst/>
              <a:cxnLst/>
              <a:rect l="l" t="t" r="r" b="b"/>
              <a:pathLst>
                <a:path w="7924800" h="1539239">
                  <a:moveTo>
                    <a:pt x="0" y="256540"/>
                  </a:moveTo>
                  <a:lnTo>
                    <a:pt x="4131" y="210413"/>
                  </a:lnTo>
                  <a:lnTo>
                    <a:pt x="16044" y="167005"/>
                  </a:lnTo>
                  <a:lnTo>
                    <a:pt x="35014" y="127037"/>
                  </a:lnTo>
                  <a:lnTo>
                    <a:pt x="60318" y="91234"/>
                  </a:lnTo>
                  <a:lnTo>
                    <a:pt x="91234" y="60318"/>
                  </a:lnTo>
                  <a:lnTo>
                    <a:pt x="127037" y="35014"/>
                  </a:lnTo>
                  <a:lnTo>
                    <a:pt x="167005" y="16044"/>
                  </a:lnTo>
                  <a:lnTo>
                    <a:pt x="210413" y="4131"/>
                  </a:lnTo>
                  <a:lnTo>
                    <a:pt x="256539" y="0"/>
                  </a:lnTo>
                  <a:lnTo>
                    <a:pt x="7668259" y="0"/>
                  </a:lnTo>
                  <a:lnTo>
                    <a:pt x="7714386" y="4131"/>
                  </a:lnTo>
                  <a:lnTo>
                    <a:pt x="7757794" y="16044"/>
                  </a:lnTo>
                  <a:lnTo>
                    <a:pt x="7797762" y="35014"/>
                  </a:lnTo>
                  <a:lnTo>
                    <a:pt x="7833565" y="60318"/>
                  </a:lnTo>
                  <a:lnTo>
                    <a:pt x="7864481" y="91234"/>
                  </a:lnTo>
                  <a:lnTo>
                    <a:pt x="7889785" y="127037"/>
                  </a:lnTo>
                  <a:lnTo>
                    <a:pt x="7908755" y="167005"/>
                  </a:lnTo>
                  <a:lnTo>
                    <a:pt x="7920668" y="210413"/>
                  </a:lnTo>
                  <a:lnTo>
                    <a:pt x="7924800" y="256540"/>
                  </a:lnTo>
                  <a:lnTo>
                    <a:pt x="7924800" y="1282700"/>
                  </a:lnTo>
                  <a:lnTo>
                    <a:pt x="7920668" y="1328826"/>
                  </a:lnTo>
                  <a:lnTo>
                    <a:pt x="7908755" y="1372234"/>
                  </a:lnTo>
                  <a:lnTo>
                    <a:pt x="7889785" y="1412202"/>
                  </a:lnTo>
                  <a:lnTo>
                    <a:pt x="7864481" y="1448005"/>
                  </a:lnTo>
                  <a:lnTo>
                    <a:pt x="7833565" y="1478921"/>
                  </a:lnTo>
                  <a:lnTo>
                    <a:pt x="7797762" y="1504225"/>
                  </a:lnTo>
                  <a:lnTo>
                    <a:pt x="7757794" y="1523195"/>
                  </a:lnTo>
                  <a:lnTo>
                    <a:pt x="7714386" y="1535108"/>
                  </a:lnTo>
                  <a:lnTo>
                    <a:pt x="7668259" y="1539240"/>
                  </a:lnTo>
                  <a:lnTo>
                    <a:pt x="256539" y="1539240"/>
                  </a:lnTo>
                  <a:lnTo>
                    <a:pt x="210413" y="1535108"/>
                  </a:lnTo>
                  <a:lnTo>
                    <a:pt x="167005" y="1523195"/>
                  </a:lnTo>
                  <a:lnTo>
                    <a:pt x="127037" y="1504225"/>
                  </a:lnTo>
                  <a:lnTo>
                    <a:pt x="91234" y="1478921"/>
                  </a:lnTo>
                  <a:lnTo>
                    <a:pt x="60318" y="1448005"/>
                  </a:lnTo>
                  <a:lnTo>
                    <a:pt x="35014" y="1412202"/>
                  </a:lnTo>
                  <a:lnTo>
                    <a:pt x="16044" y="1372234"/>
                  </a:lnTo>
                  <a:lnTo>
                    <a:pt x="4131" y="1328826"/>
                  </a:lnTo>
                  <a:lnTo>
                    <a:pt x="0" y="1282700"/>
                  </a:lnTo>
                  <a:lnTo>
                    <a:pt x="0" y="256540"/>
                  </a:lnTo>
                  <a:close/>
                </a:path>
              </a:pathLst>
            </a:custGeom>
            <a:ln w="12954">
              <a:solidFill>
                <a:srgbClr val="FAE4D5"/>
              </a:solidFill>
            </a:ln>
          </p:spPr>
          <p:txBody>
            <a:bodyPr wrap="square" lIns="0" tIns="0" rIns="0" bIns="0" rtlCol="0"/>
            <a:lstStyle/>
            <a:p>
              <a:endParaRPr/>
            </a:p>
          </p:txBody>
        </p:sp>
        <p:sp>
          <p:nvSpPr>
            <p:cNvPr id="9" name="object 9"/>
            <p:cNvSpPr/>
            <p:nvPr/>
          </p:nvSpPr>
          <p:spPr>
            <a:xfrm>
              <a:off x="2867787" y="2768726"/>
              <a:ext cx="1371600" cy="838200"/>
            </a:xfrm>
            <a:custGeom>
              <a:avLst/>
              <a:gdLst/>
              <a:ahLst/>
              <a:cxnLst/>
              <a:rect l="l" t="t" r="r" b="b"/>
              <a:pathLst>
                <a:path w="1371600" h="838200">
                  <a:moveTo>
                    <a:pt x="1231900" y="0"/>
                  </a:moveTo>
                  <a:lnTo>
                    <a:pt x="139700" y="0"/>
                  </a:lnTo>
                  <a:lnTo>
                    <a:pt x="95520" y="7116"/>
                  </a:lnTo>
                  <a:lnTo>
                    <a:pt x="57168" y="26936"/>
                  </a:lnTo>
                  <a:lnTo>
                    <a:pt x="26936" y="57168"/>
                  </a:lnTo>
                  <a:lnTo>
                    <a:pt x="7116" y="95520"/>
                  </a:lnTo>
                  <a:lnTo>
                    <a:pt x="0" y="139700"/>
                  </a:lnTo>
                  <a:lnTo>
                    <a:pt x="0" y="698500"/>
                  </a:lnTo>
                  <a:lnTo>
                    <a:pt x="7116" y="742679"/>
                  </a:lnTo>
                  <a:lnTo>
                    <a:pt x="26936" y="781031"/>
                  </a:lnTo>
                  <a:lnTo>
                    <a:pt x="57168" y="811263"/>
                  </a:lnTo>
                  <a:lnTo>
                    <a:pt x="95520" y="831083"/>
                  </a:lnTo>
                  <a:lnTo>
                    <a:pt x="139700" y="838200"/>
                  </a:lnTo>
                  <a:lnTo>
                    <a:pt x="1231900" y="838200"/>
                  </a:lnTo>
                  <a:lnTo>
                    <a:pt x="1276079" y="831083"/>
                  </a:lnTo>
                  <a:lnTo>
                    <a:pt x="1314431" y="811263"/>
                  </a:lnTo>
                  <a:lnTo>
                    <a:pt x="1344663" y="781031"/>
                  </a:lnTo>
                  <a:lnTo>
                    <a:pt x="1364483" y="742679"/>
                  </a:lnTo>
                  <a:lnTo>
                    <a:pt x="1371600" y="698500"/>
                  </a:lnTo>
                  <a:lnTo>
                    <a:pt x="1371600" y="139700"/>
                  </a:lnTo>
                  <a:lnTo>
                    <a:pt x="1364483" y="95520"/>
                  </a:lnTo>
                  <a:lnTo>
                    <a:pt x="1344663" y="57168"/>
                  </a:lnTo>
                  <a:lnTo>
                    <a:pt x="1314431" y="26936"/>
                  </a:lnTo>
                  <a:lnTo>
                    <a:pt x="1276079" y="7116"/>
                  </a:lnTo>
                  <a:lnTo>
                    <a:pt x="1231900" y="0"/>
                  </a:lnTo>
                  <a:close/>
                </a:path>
              </a:pathLst>
            </a:custGeom>
            <a:solidFill>
              <a:srgbClr val="FFFFFF"/>
            </a:solidFill>
          </p:spPr>
          <p:txBody>
            <a:bodyPr wrap="square" lIns="0" tIns="0" rIns="0" bIns="0" rtlCol="0"/>
            <a:lstStyle/>
            <a:p>
              <a:endParaRPr/>
            </a:p>
          </p:txBody>
        </p:sp>
        <p:sp>
          <p:nvSpPr>
            <p:cNvPr id="10" name="object 10"/>
            <p:cNvSpPr/>
            <p:nvPr/>
          </p:nvSpPr>
          <p:spPr>
            <a:xfrm>
              <a:off x="2867787" y="2768726"/>
              <a:ext cx="1371600" cy="838200"/>
            </a:xfrm>
            <a:custGeom>
              <a:avLst/>
              <a:gdLst/>
              <a:ahLst/>
              <a:cxnLst/>
              <a:rect l="l" t="t" r="r" b="b"/>
              <a:pathLst>
                <a:path w="1371600" h="838200">
                  <a:moveTo>
                    <a:pt x="0" y="139700"/>
                  </a:moveTo>
                  <a:lnTo>
                    <a:pt x="7116" y="95520"/>
                  </a:lnTo>
                  <a:lnTo>
                    <a:pt x="26936" y="57168"/>
                  </a:lnTo>
                  <a:lnTo>
                    <a:pt x="57168" y="26936"/>
                  </a:lnTo>
                  <a:lnTo>
                    <a:pt x="95520" y="7116"/>
                  </a:lnTo>
                  <a:lnTo>
                    <a:pt x="139700" y="0"/>
                  </a:lnTo>
                  <a:lnTo>
                    <a:pt x="1231900" y="0"/>
                  </a:lnTo>
                  <a:lnTo>
                    <a:pt x="1276079" y="7116"/>
                  </a:lnTo>
                  <a:lnTo>
                    <a:pt x="1314431" y="26936"/>
                  </a:lnTo>
                  <a:lnTo>
                    <a:pt x="1344663" y="57168"/>
                  </a:lnTo>
                  <a:lnTo>
                    <a:pt x="1364483" y="95520"/>
                  </a:lnTo>
                  <a:lnTo>
                    <a:pt x="1371600" y="139700"/>
                  </a:lnTo>
                  <a:lnTo>
                    <a:pt x="1371600" y="698500"/>
                  </a:lnTo>
                  <a:lnTo>
                    <a:pt x="1364483" y="742679"/>
                  </a:lnTo>
                  <a:lnTo>
                    <a:pt x="1344663" y="781031"/>
                  </a:lnTo>
                  <a:lnTo>
                    <a:pt x="1314431" y="811263"/>
                  </a:lnTo>
                  <a:lnTo>
                    <a:pt x="1276079" y="831083"/>
                  </a:lnTo>
                  <a:lnTo>
                    <a:pt x="1231900" y="838200"/>
                  </a:lnTo>
                  <a:lnTo>
                    <a:pt x="139700" y="838200"/>
                  </a:lnTo>
                  <a:lnTo>
                    <a:pt x="95520" y="831083"/>
                  </a:lnTo>
                  <a:lnTo>
                    <a:pt x="57168" y="811263"/>
                  </a:lnTo>
                  <a:lnTo>
                    <a:pt x="26936" y="781031"/>
                  </a:lnTo>
                  <a:lnTo>
                    <a:pt x="7116" y="742679"/>
                  </a:lnTo>
                  <a:lnTo>
                    <a:pt x="0" y="698500"/>
                  </a:lnTo>
                  <a:lnTo>
                    <a:pt x="0" y="139700"/>
                  </a:lnTo>
                  <a:close/>
                </a:path>
              </a:pathLst>
            </a:custGeom>
            <a:ln w="12954">
              <a:solidFill>
                <a:srgbClr val="6FAC46"/>
              </a:solidFill>
            </a:ln>
          </p:spPr>
          <p:txBody>
            <a:bodyPr wrap="square" lIns="0" tIns="0" rIns="0" bIns="0" rtlCol="0"/>
            <a:lstStyle/>
            <a:p>
              <a:endParaRPr/>
            </a:p>
          </p:txBody>
        </p:sp>
      </p:grpSp>
      <p:sp>
        <p:nvSpPr>
          <p:cNvPr id="11" name="object 11"/>
          <p:cNvSpPr txBox="1"/>
          <p:nvPr/>
        </p:nvSpPr>
        <p:spPr>
          <a:xfrm>
            <a:off x="3078733" y="2749041"/>
            <a:ext cx="947419" cy="848360"/>
          </a:xfrm>
          <a:prstGeom prst="rect">
            <a:avLst/>
          </a:prstGeom>
        </p:spPr>
        <p:txBody>
          <a:bodyPr vert="horz" wrap="square" lIns="0" tIns="12700" rIns="0" bIns="0" rtlCol="0">
            <a:spAutoFit/>
          </a:bodyPr>
          <a:lstStyle/>
          <a:p>
            <a:pPr marL="12065" marR="5080" indent="1270" algn="ctr">
              <a:lnSpc>
                <a:spcPct val="100000"/>
              </a:lnSpc>
              <a:spcBef>
                <a:spcPts val="100"/>
              </a:spcBef>
            </a:pPr>
            <a:r>
              <a:rPr sz="1800" spc="-25" dirty="0">
                <a:latin typeface="Calibri"/>
                <a:cs typeface="Calibri"/>
              </a:rPr>
              <a:t>All </a:t>
            </a:r>
            <a:r>
              <a:rPr sz="1800" spc="-10" dirty="0">
                <a:latin typeface="Calibri"/>
                <a:cs typeface="Calibri"/>
              </a:rPr>
              <a:t>unlabeled </a:t>
            </a:r>
            <a:r>
              <a:rPr sz="1800" spc="-20" dirty="0">
                <a:latin typeface="Calibri"/>
                <a:cs typeface="Calibri"/>
              </a:rPr>
              <a:t>data</a:t>
            </a:r>
            <a:endParaRPr sz="1800">
              <a:latin typeface="Calibri"/>
              <a:cs typeface="Calibri"/>
            </a:endParaRPr>
          </a:p>
        </p:txBody>
      </p:sp>
      <p:grpSp>
        <p:nvGrpSpPr>
          <p:cNvPr id="12" name="object 12"/>
          <p:cNvGrpSpPr/>
          <p:nvPr/>
        </p:nvGrpSpPr>
        <p:grpSpPr>
          <a:xfrm>
            <a:off x="4458461" y="2860420"/>
            <a:ext cx="3136900" cy="686435"/>
            <a:chOff x="4458461" y="2860420"/>
            <a:chExt cx="3136900" cy="686435"/>
          </a:xfrm>
        </p:grpSpPr>
        <p:sp>
          <p:nvSpPr>
            <p:cNvPr id="13" name="object 13"/>
            <p:cNvSpPr/>
            <p:nvPr/>
          </p:nvSpPr>
          <p:spPr>
            <a:xfrm>
              <a:off x="4467986" y="3091814"/>
              <a:ext cx="914400" cy="224154"/>
            </a:xfrm>
            <a:custGeom>
              <a:avLst/>
              <a:gdLst/>
              <a:ahLst/>
              <a:cxnLst/>
              <a:rect l="l" t="t" r="r" b="b"/>
              <a:pathLst>
                <a:path w="914400" h="224154">
                  <a:moveTo>
                    <a:pt x="802386" y="0"/>
                  </a:moveTo>
                  <a:lnTo>
                    <a:pt x="802386" y="56007"/>
                  </a:lnTo>
                  <a:lnTo>
                    <a:pt x="0" y="56007"/>
                  </a:lnTo>
                  <a:lnTo>
                    <a:pt x="0" y="168021"/>
                  </a:lnTo>
                  <a:lnTo>
                    <a:pt x="802386" y="168021"/>
                  </a:lnTo>
                  <a:lnTo>
                    <a:pt x="802386" y="224027"/>
                  </a:lnTo>
                  <a:lnTo>
                    <a:pt x="914400" y="112013"/>
                  </a:lnTo>
                  <a:lnTo>
                    <a:pt x="802386" y="0"/>
                  </a:lnTo>
                  <a:close/>
                </a:path>
              </a:pathLst>
            </a:custGeom>
            <a:solidFill>
              <a:srgbClr val="6FAC46"/>
            </a:solidFill>
          </p:spPr>
          <p:txBody>
            <a:bodyPr wrap="square" lIns="0" tIns="0" rIns="0" bIns="0" rtlCol="0"/>
            <a:lstStyle/>
            <a:p>
              <a:endParaRPr/>
            </a:p>
          </p:txBody>
        </p:sp>
        <p:sp>
          <p:nvSpPr>
            <p:cNvPr id="14" name="object 14"/>
            <p:cNvSpPr/>
            <p:nvPr/>
          </p:nvSpPr>
          <p:spPr>
            <a:xfrm>
              <a:off x="4467986" y="3091814"/>
              <a:ext cx="914400" cy="224154"/>
            </a:xfrm>
            <a:custGeom>
              <a:avLst/>
              <a:gdLst/>
              <a:ahLst/>
              <a:cxnLst/>
              <a:rect l="l" t="t" r="r" b="b"/>
              <a:pathLst>
                <a:path w="914400" h="224154">
                  <a:moveTo>
                    <a:pt x="0" y="56007"/>
                  </a:moveTo>
                  <a:lnTo>
                    <a:pt x="802386" y="56007"/>
                  </a:lnTo>
                  <a:lnTo>
                    <a:pt x="802386" y="0"/>
                  </a:lnTo>
                  <a:lnTo>
                    <a:pt x="914400" y="112013"/>
                  </a:lnTo>
                  <a:lnTo>
                    <a:pt x="802386" y="224027"/>
                  </a:lnTo>
                  <a:lnTo>
                    <a:pt x="802386" y="168021"/>
                  </a:lnTo>
                  <a:lnTo>
                    <a:pt x="0" y="168021"/>
                  </a:lnTo>
                  <a:lnTo>
                    <a:pt x="0" y="56007"/>
                  </a:lnTo>
                  <a:close/>
                </a:path>
              </a:pathLst>
            </a:custGeom>
            <a:ln w="19050">
              <a:solidFill>
                <a:srgbClr val="FFFFFF"/>
              </a:solidFill>
            </a:ln>
          </p:spPr>
          <p:txBody>
            <a:bodyPr wrap="square" lIns="0" tIns="0" rIns="0" bIns="0" rtlCol="0"/>
            <a:lstStyle/>
            <a:p>
              <a:endParaRPr/>
            </a:p>
          </p:txBody>
        </p:sp>
        <p:pic>
          <p:nvPicPr>
            <p:cNvPr id="15" name="object 15"/>
            <p:cNvPicPr/>
            <p:nvPr/>
          </p:nvPicPr>
          <p:blipFill>
            <a:blip r:embed="rId4" cstate="print"/>
            <a:stretch>
              <a:fillRect/>
            </a:stretch>
          </p:blipFill>
          <p:spPr>
            <a:xfrm>
              <a:off x="5610605" y="2863595"/>
              <a:ext cx="1981200" cy="679703"/>
            </a:xfrm>
            <a:prstGeom prst="rect">
              <a:avLst/>
            </a:prstGeom>
          </p:spPr>
        </p:pic>
        <p:sp>
          <p:nvSpPr>
            <p:cNvPr id="16" name="object 16"/>
            <p:cNvSpPr/>
            <p:nvPr/>
          </p:nvSpPr>
          <p:spPr>
            <a:xfrm>
              <a:off x="5610605" y="2863595"/>
              <a:ext cx="1981200" cy="680085"/>
            </a:xfrm>
            <a:custGeom>
              <a:avLst/>
              <a:gdLst/>
              <a:ahLst/>
              <a:cxnLst/>
              <a:rect l="l" t="t" r="r" b="b"/>
              <a:pathLst>
                <a:path w="1981200" h="680085">
                  <a:moveTo>
                    <a:pt x="0" y="339851"/>
                  </a:moveTo>
                  <a:lnTo>
                    <a:pt x="9042" y="293733"/>
                  </a:lnTo>
                  <a:lnTo>
                    <a:pt x="35383" y="249502"/>
                  </a:lnTo>
                  <a:lnTo>
                    <a:pt x="77843" y="207561"/>
                  </a:lnTo>
                  <a:lnTo>
                    <a:pt x="135240" y="168317"/>
                  </a:lnTo>
                  <a:lnTo>
                    <a:pt x="169172" y="149832"/>
                  </a:lnTo>
                  <a:lnTo>
                    <a:pt x="206397" y="132173"/>
                  </a:lnTo>
                  <a:lnTo>
                    <a:pt x="246765" y="115391"/>
                  </a:lnTo>
                  <a:lnTo>
                    <a:pt x="290131" y="99536"/>
                  </a:lnTo>
                  <a:lnTo>
                    <a:pt x="336346" y="84658"/>
                  </a:lnTo>
                  <a:lnTo>
                    <a:pt x="385264" y="70809"/>
                  </a:lnTo>
                  <a:lnTo>
                    <a:pt x="436736" y="58038"/>
                  </a:lnTo>
                  <a:lnTo>
                    <a:pt x="490615" y="46397"/>
                  </a:lnTo>
                  <a:lnTo>
                    <a:pt x="546753" y="35936"/>
                  </a:lnTo>
                  <a:lnTo>
                    <a:pt x="605004" y="26705"/>
                  </a:lnTo>
                  <a:lnTo>
                    <a:pt x="665219" y="18756"/>
                  </a:lnTo>
                  <a:lnTo>
                    <a:pt x="727251" y="12139"/>
                  </a:lnTo>
                  <a:lnTo>
                    <a:pt x="790953" y="6904"/>
                  </a:lnTo>
                  <a:lnTo>
                    <a:pt x="856176" y="3102"/>
                  </a:lnTo>
                  <a:lnTo>
                    <a:pt x="922774" y="783"/>
                  </a:lnTo>
                  <a:lnTo>
                    <a:pt x="990600" y="0"/>
                  </a:lnTo>
                  <a:lnTo>
                    <a:pt x="1058425" y="783"/>
                  </a:lnTo>
                  <a:lnTo>
                    <a:pt x="1125023" y="3102"/>
                  </a:lnTo>
                  <a:lnTo>
                    <a:pt x="1190246" y="6904"/>
                  </a:lnTo>
                  <a:lnTo>
                    <a:pt x="1253948" y="12139"/>
                  </a:lnTo>
                  <a:lnTo>
                    <a:pt x="1315980" y="18756"/>
                  </a:lnTo>
                  <a:lnTo>
                    <a:pt x="1376195" y="26705"/>
                  </a:lnTo>
                  <a:lnTo>
                    <a:pt x="1434446" y="35936"/>
                  </a:lnTo>
                  <a:lnTo>
                    <a:pt x="1490584" y="46397"/>
                  </a:lnTo>
                  <a:lnTo>
                    <a:pt x="1544463" y="58038"/>
                  </a:lnTo>
                  <a:lnTo>
                    <a:pt x="1595935" y="70809"/>
                  </a:lnTo>
                  <a:lnTo>
                    <a:pt x="1644853" y="84658"/>
                  </a:lnTo>
                  <a:lnTo>
                    <a:pt x="1691068" y="99536"/>
                  </a:lnTo>
                  <a:lnTo>
                    <a:pt x="1734434" y="115391"/>
                  </a:lnTo>
                  <a:lnTo>
                    <a:pt x="1774802" y="132173"/>
                  </a:lnTo>
                  <a:lnTo>
                    <a:pt x="1812027" y="149832"/>
                  </a:lnTo>
                  <a:lnTo>
                    <a:pt x="1845959" y="168317"/>
                  </a:lnTo>
                  <a:lnTo>
                    <a:pt x="1903356" y="207561"/>
                  </a:lnTo>
                  <a:lnTo>
                    <a:pt x="1945816" y="249502"/>
                  </a:lnTo>
                  <a:lnTo>
                    <a:pt x="1972157" y="293733"/>
                  </a:lnTo>
                  <a:lnTo>
                    <a:pt x="1981200" y="339851"/>
                  </a:lnTo>
                  <a:lnTo>
                    <a:pt x="1978914" y="363121"/>
                  </a:lnTo>
                  <a:lnTo>
                    <a:pt x="1961075" y="408347"/>
                  </a:lnTo>
                  <a:lnTo>
                    <a:pt x="1926527" y="451483"/>
                  </a:lnTo>
                  <a:lnTo>
                    <a:pt x="1876451" y="492126"/>
                  </a:lnTo>
                  <a:lnTo>
                    <a:pt x="1812027" y="529871"/>
                  </a:lnTo>
                  <a:lnTo>
                    <a:pt x="1774802" y="547530"/>
                  </a:lnTo>
                  <a:lnTo>
                    <a:pt x="1734434" y="564312"/>
                  </a:lnTo>
                  <a:lnTo>
                    <a:pt x="1691068" y="580167"/>
                  </a:lnTo>
                  <a:lnTo>
                    <a:pt x="1644853" y="595045"/>
                  </a:lnTo>
                  <a:lnTo>
                    <a:pt x="1595935" y="608894"/>
                  </a:lnTo>
                  <a:lnTo>
                    <a:pt x="1544463" y="621665"/>
                  </a:lnTo>
                  <a:lnTo>
                    <a:pt x="1490584" y="633306"/>
                  </a:lnTo>
                  <a:lnTo>
                    <a:pt x="1434446" y="643767"/>
                  </a:lnTo>
                  <a:lnTo>
                    <a:pt x="1376195" y="652998"/>
                  </a:lnTo>
                  <a:lnTo>
                    <a:pt x="1315980" y="660947"/>
                  </a:lnTo>
                  <a:lnTo>
                    <a:pt x="1253948" y="667564"/>
                  </a:lnTo>
                  <a:lnTo>
                    <a:pt x="1190246" y="672799"/>
                  </a:lnTo>
                  <a:lnTo>
                    <a:pt x="1125023" y="676601"/>
                  </a:lnTo>
                  <a:lnTo>
                    <a:pt x="1058425" y="678920"/>
                  </a:lnTo>
                  <a:lnTo>
                    <a:pt x="990600" y="679703"/>
                  </a:lnTo>
                  <a:lnTo>
                    <a:pt x="922774" y="678920"/>
                  </a:lnTo>
                  <a:lnTo>
                    <a:pt x="856176" y="676601"/>
                  </a:lnTo>
                  <a:lnTo>
                    <a:pt x="790953" y="672799"/>
                  </a:lnTo>
                  <a:lnTo>
                    <a:pt x="727251" y="667564"/>
                  </a:lnTo>
                  <a:lnTo>
                    <a:pt x="665219" y="660947"/>
                  </a:lnTo>
                  <a:lnTo>
                    <a:pt x="605004" y="652998"/>
                  </a:lnTo>
                  <a:lnTo>
                    <a:pt x="546753" y="643767"/>
                  </a:lnTo>
                  <a:lnTo>
                    <a:pt x="490615" y="633306"/>
                  </a:lnTo>
                  <a:lnTo>
                    <a:pt x="436736" y="621665"/>
                  </a:lnTo>
                  <a:lnTo>
                    <a:pt x="385264" y="608894"/>
                  </a:lnTo>
                  <a:lnTo>
                    <a:pt x="336346" y="595045"/>
                  </a:lnTo>
                  <a:lnTo>
                    <a:pt x="290131" y="580167"/>
                  </a:lnTo>
                  <a:lnTo>
                    <a:pt x="246765" y="564312"/>
                  </a:lnTo>
                  <a:lnTo>
                    <a:pt x="206397" y="547530"/>
                  </a:lnTo>
                  <a:lnTo>
                    <a:pt x="169172" y="529871"/>
                  </a:lnTo>
                  <a:lnTo>
                    <a:pt x="135240" y="511386"/>
                  </a:lnTo>
                  <a:lnTo>
                    <a:pt x="77843" y="472142"/>
                  </a:lnTo>
                  <a:lnTo>
                    <a:pt x="35383" y="430201"/>
                  </a:lnTo>
                  <a:lnTo>
                    <a:pt x="9042" y="385970"/>
                  </a:lnTo>
                  <a:lnTo>
                    <a:pt x="0" y="339851"/>
                  </a:lnTo>
                  <a:close/>
                </a:path>
              </a:pathLst>
            </a:custGeom>
            <a:ln w="6096">
              <a:solidFill>
                <a:srgbClr val="FFFFFF"/>
              </a:solidFill>
            </a:ln>
          </p:spPr>
          <p:txBody>
            <a:bodyPr wrap="square" lIns="0" tIns="0" rIns="0" bIns="0" rtlCol="0"/>
            <a:lstStyle/>
            <a:p>
              <a:endParaRPr/>
            </a:p>
          </p:txBody>
        </p:sp>
      </p:grpSp>
      <p:sp>
        <p:nvSpPr>
          <p:cNvPr id="17" name="object 17"/>
          <p:cNvSpPr txBox="1"/>
          <p:nvPr/>
        </p:nvSpPr>
        <p:spPr>
          <a:xfrm>
            <a:off x="6287008" y="3039617"/>
            <a:ext cx="6286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Model</a:t>
            </a:r>
            <a:endParaRPr sz="1800">
              <a:latin typeface="Calibri"/>
              <a:cs typeface="Calibri"/>
            </a:endParaRPr>
          </a:p>
        </p:txBody>
      </p:sp>
      <p:sp>
        <p:nvSpPr>
          <p:cNvPr id="18" name="object 18"/>
          <p:cNvSpPr txBox="1"/>
          <p:nvPr/>
        </p:nvSpPr>
        <p:spPr>
          <a:xfrm>
            <a:off x="8891269" y="3037331"/>
            <a:ext cx="95567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Clustering</a:t>
            </a:r>
            <a:endParaRPr sz="1800">
              <a:latin typeface="Calibri"/>
              <a:cs typeface="Calibri"/>
            </a:endParaRPr>
          </a:p>
        </p:txBody>
      </p:sp>
      <p:grpSp>
        <p:nvGrpSpPr>
          <p:cNvPr id="19" name="object 19"/>
          <p:cNvGrpSpPr/>
          <p:nvPr/>
        </p:nvGrpSpPr>
        <p:grpSpPr>
          <a:xfrm>
            <a:off x="7735061" y="3082289"/>
            <a:ext cx="933450" cy="243204"/>
            <a:chOff x="7735061" y="3082289"/>
            <a:chExt cx="933450" cy="243204"/>
          </a:xfrm>
        </p:grpSpPr>
        <p:sp>
          <p:nvSpPr>
            <p:cNvPr id="20" name="object 20"/>
            <p:cNvSpPr/>
            <p:nvPr/>
          </p:nvSpPr>
          <p:spPr>
            <a:xfrm>
              <a:off x="7744586" y="3091814"/>
              <a:ext cx="914400" cy="224154"/>
            </a:xfrm>
            <a:custGeom>
              <a:avLst/>
              <a:gdLst/>
              <a:ahLst/>
              <a:cxnLst/>
              <a:rect l="l" t="t" r="r" b="b"/>
              <a:pathLst>
                <a:path w="914400" h="224154">
                  <a:moveTo>
                    <a:pt x="802386" y="0"/>
                  </a:moveTo>
                  <a:lnTo>
                    <a:pt x="802386" y="56007"/>
                  </a:lnTo>
                  <a:lnTo>
                    <a:pt x="0" y="56007"/>
                  </a:lnTo>
                  <a:lnTo>
                    <a:pt x="0" y="168021"/>
                  </a:lnTo>
                  <a:lnTo>
                    <a:pt x="802386" y="168021"/>
                  </a:lnTo>
                  <a:lnTo>
                    <a:pt x="802386" y="224027"/>
                  </a:lnTo>
                  <a:lnTo>
                    <a:pt x="914400" y="112013"/>
                  </a:lnTo>
                  <a:lnTo>
                    <a:pt x="802386" y="0"/>
                  </a:lnTo>
                  <a:close/>
                </a:path>
              </a:pathLst>
            </a:custGeom>
            <a:solidFill>
              <a:srgbClr val="6FAC46"/>
            </a:solidFill>
          </p:spPr>
          <p:txBody>
            <a:bodyPr wrap="square" lIns="0" tIns="0" rIns="0" bIns="0" rtlCol="0"/>
            <a:lstStyle/>
            <a:p>
              <a:endParaRPr/>
            </a:p>
          </p:txBody>
        </p:sp>
        <p:sp>
          <p:nvSpPr>
            <p:cNvPr id="21" name="object 21"/>
            <p:cNvSpPr/>
            <p:nvPr/>
          </p:nvSpPr>
          <p:spPr>
            <a:xfrm>
              <a:off x="7744586" y="3091814"/>
              <a:ext cx="914400" cy="224154"/>
            </a:xfrm>
            <a:custGeom>
              <a:avLst/>
              <a:gdLst/>
              <a:ahLst/>
              <a:cxnLst/>
              <a:rect l="l" t="t" r="r" b="b"/>
              <a:pathLst>
                <a:path w="914400" h="224154">
                  <a:moveTo>
                    <a:pt x="0" y="56007"/>
                  </a:moveTo>
                  <a:lnTo>
                    <a:pt x="802386" y="56007"/>
                  </a:lnTo>
                  <a:lnTo>
                    <a:pt x="802386" y="0"/>
                  </a:lnTo>
                  <a:lnTo>
                    <a:pt x="914400" y="112013"/>
                  </a:lnTo>
                  <a:lnTo>
                    <a:pt x="802386" y="224027"/>
                  </a:lnTo>
                  <a:lnTo>
                    <a:pt x="802386" y="168021"/>
                  </a:lnTo>
                  <a:lnTo>
                    <a:pt x="0" y="168021"/>
                  </a:lnTo>
                  <a:lnTo>
                    <a:pt x="0" y="56007"/>
                  </a:lnTo>
                  <a:close/>
                </a:path>
              </a:pathLst>
            </a:custGeom>
            <a:ln w="19050">
              <a:solidFill>
                <a:srgbClr val="FFFFFF"/>
              </a:solidFill>
            </a:ln>
          </p:spPr>
          <p:txBody>
            <a:bodyPr wrap="square" lIns="0" tIns="0" rIns="0" bIns="0" rtlCol="0"/>
            <a:lstStyle/>
            <a:p>
              <a:endParaRPr/>
            </a:p>
          </p:txBody>
        </p:sp>
      </p:grpSp>
      <p:sp>
        <p:nvSpPr>
          <p:cNvPr id="22" name="object 22"/>
          <p:cNvSpPr txBox="1"/>
          <p:nvPr/>
        </p:nvSpPr>
        <p:spPr>
          <a:xfrm>
            <a:off x="294131" y="1165941"/>
            <a:ext cx="10456545" cy="1459230"/>
          </a:xfrm>
          <a:prstGeom prst="rect">
            <a:avLst/>
          </a:prstGeom>
        </p:spPr>
        <p:txBody>
          <a:bodyPr vert="horz" wrap="square" lIns="0" tIns="97790" rIns="0" bIns="0" rtlCol="0">
            <a:spAutoFit/>
          </a:bodyPr>
          <a:lstStyle/>
          <a:p>
            <a:pPr marL="12700">
              <a:lnSpc>
                <a:spcPct val="100000"/>
              </a:lnSpc>
              <a:spcBef>
                <a:spcPts val="770"/>
              </a:spcBef>
              <a:tabLst>
                <a:tab pos="520700" algn="l"/>
              </a:tabLst>
            </a:pPr>
            <a:r>
              <a:rPr sz="2400" spc="-25" dirty="0">
                <a:latin typeface="Calibri"/>
                <a:cs typeface="Calibri"/>
              </a:rPr>
              <a:t>2</a:t>
            </a:r>
            <a:r>
              <a:rPr sz="2400" b="1" spc="-25" dirty="0">
                <a:latin typeface="Calibri"/>
                <a:cs typeface="Calibri"/>
              </a:rPr>
              <a:t>.</a:t>
            </a:r>
            <a:r>
              <a:rPr sz="2400" b="1" dirty="0">
                <a:latin typeface="Calibri"/>
                <a:cs typeface="Calibri"/>
              </a:rPr>
              <a:t>	Unsupervised</a:t>
            </a:r>
            <a:r>
              <a:rPr sz="2400" b="1" spc="-85" dirty="0">
                <a:latin typeface="Calibri"/>
                <a:cs typeface="Calibri"/>
              </a:rPr>
              <a:t> </a:t>
            </a:r>
            <a:r>
              <a:rPr sz="2400" b="1" spc="-10" dirty="0">
                <a:latin typeface="Calibri"/>
                <a:cs typeface="Calibri"/>
              </a:rPr>
              <a:t>Learning</a:t>
            </a:r>
            <a:endParaRPr sz="2400">
              <a:latin typeface="Calibri"/>
              <a:cs typeface="Calibri"/>
            </a:endParaRPr>
          </a:p>
          <a:p>
            <a:pPr marL="4227830" marR="5080" indent="-3849370">
              <a:lnSpc>
                <a:spcPct val="100000"/>
              </a:lnSpc>
              <a:spcBef>
                <a:spcPts val="500"/>
              </a:spcBef>
            </a:pPr>
            <a:r>
              <a:rPr sz="1800" dirty="0">
                <a:latin typeface="Segoe Print"/>
                <a:cs typeface="Segoe Print"/>
              </a:rPr>
              <a:t>The</a:t>
            </a:r>
            <a:r>
              <a:rPr sz="1800" spc="-30" dirty="0">
                <a:latin typeface="Segoe Print"/>
                <a:cs typeface="Segoe Print"/>
              </a:rPr>
              <a:t> </a:t>
            </a:r>
            <a:r>
              <a:rPr sz="1800" dirty="0">
                <a:latin typeface="Segoe Print"/>
                <a:cs typeface="Segoe Print"/>
              </a:rPr>
              <a:t>learning</a:t>
            </a:r>
            <a:r>
              <a:rPr sz="1800" spc="-40" dirty="0">
                <a:latin typeface="Segoe Print"/>
                <a:cs typeface="Segoe Print"/>
              </a:rPr>
              <a:t> </a:t>
            </a:r>
            <a:r>
              <a:rPr sz="1800" dirty="0">
                <a:latin typeface="Segoe Print"/>
                <a:cs typeface="Segoe Print"/>
              </a:rPr>
              <a:t>algorithm</a:t>
            </a:r>
            <a:r>
              <a:rPr sz="1800" spc="-35" dirty="0">
                <a:latin typeface="Segoe Print"/>
                <a:cs typeface="Segoe Print"/>
              </a:rPr>
              <a:t> </a:t>
            </a:r>
            <a:r>
              <a:rPr sz="1800" dirty="0">
                <a:latin typeface="Segoe Print"/>
                <a:cs typeface="Segoe Print"/>
              </a:rPr>
              <a:t>would</a:t>
            </a:r>
            <a:r>
              <a:rPr sz="1800" spc="-35" dirty="0">
                <a:latin typeface="Segoe Print"/>
                <a:cs typeface="Segoe Print"/>
              </a:rPr>
              <a:t> </a:t>
            </a:r>
            <a:r>
              <a:rPr sz="1800" dirty="0">
                <a:latin typeface="Segoe Print"/>
                <a:cs typeface="Segoe Print"/>
              </a:rPr>
              <a:t>receive</a:t>
            </a:r>
            <a:r>
              <a:rPr sz="1800" spc="-30" dirty="0">
                <a:latin typeface="Segoe Print"/>
                <a:cs typeface="Segoe Print"/>
              </a:rPr>
              <a:t> </a:t>
            </a:r>
            <a:r>
              <a:rPr sz="1800" dirty="0">
                <a:latin typeface="Segoe Print"/>
                <a:cs typeface="Segoe Print"/>
              </a:rPr>
              <a:t>unlabeled</a:t>
            </a:r>
            <a:r>
              <a:rPr sz="1800" spc="-30" dirty="0">
                <a:latin typeface="Segoe Print"/>
                <a:cs typeface="Segoe Print"/>
              </a:rPr>
              <a:t> </a:t>
            </a:r>
            <a:r>
              <a:rPr sz="1800" dirty="0">
                <a:latin typeface="Segoe Print"/>
                <a:cs typeface="Segoe Print"/>
              </a:rPr>
              <a:t>raw</a:t>
            </a:r>
            <a:r>
              <a:rPr sz="1800" spc="-40" dirty="0">
                <a:latin typeface="Segoe Print"/>
                <a:cs typeface="Segoe Print"/>
              </a:rPr>
              <a:t> </a:t>
            </a:r>
            <a:r>
              <a:rPr sz="1800" dirty="0">
                <a:latin typeface="Segoe Print"/>
                <a:cs typeface="Segoe Print"/>
              </a:rPr>
              <a:t>data</a:t>
            </a:r>
            <a:r>
              <a:rPr sz="1800" spc="-10" dirty="0">
                <a:latin typeface="Segoe Print"/>
                <a:cs typeface="Segoe Print"/>
              </a:rPr>
              <a:t> </a:t>
            </a:r>
            <a:r>
              <a:rPr sz="1800" dirty="0">
                <a:latin typeface="Segoe Print"/>
                <a:cs typeface="Segoe Print"/>
              </a:rPr>
              <a:t>to</a:t>
            </a:r>
            <a:r>
              <a:rPr sz="1800" spc="-40" dirty="0">
                <a:latin typeface="Segoe Print"/>
                <a:cs typeface="Segoe Print"/>
              </a:rPr>
              <a:t> </a:t>
            </a:r>
            <a:r>
              <a:rPr sz="1800" dirty="0">
                <a:latin typeface="Segoe Print"/>
                <a:cs typeface="Segoe Print"/>
              </a:rPr>
              <a:t>train</a:t>
            </a:r>
            <a:r>
              <a:rPr sz="1800" spc="-30" dirty="0">
                <a:latin typeface="Segoe Print"/>
                <a:cs typeface="Segoe Print"/>
              </a:rPr>
              <a:t> </a:t>
            </a:r>
            <a:r>
              <a:rPr sz="1800" dirty="0">
                <a:latin typeface="Segoe Print"/>
                <a:cs typeface="Segoe Print"/>
              </a:rPr>
              <a:t>a</a:t>
            </a:r>
            <a:r>
              <a:rPr sz="1800" spc="-30" dirty="0">
                <a:latin typeface="Segoe Print"/>
                <a:cs typeface="Segoe Print"/>
              </a:rPr>
              <a:t> </a:t>
            </a:r>
            <a:r>
              <a:rPr sz="1800" dirty="0">
                <a:latin typeface="Segoe Print"/>
                <a:cs typeface="Segoe Print"/>
              </a:rPr>
              <a:t>model</a:t>
            </a:r>
            <a:r>
              <a:rPr sz="1800" spc="-35" dirty="0">
                <a:latin typeface="Segoe Print"/>
                <a:cs typeface="Segoe Print"/>
              </a:rPr>
              <a:t> </a:t>
            </a:r>
            <a:r>
              <a:rPr sz="1800" dirty="0">
                <a:latin typeface="Segoe Print"/>
                <a:cs typeface="Segoe Print"/>
              </a:rPr>
              <a:t>and</a:t>
            </a:r>
            <a:r>
              <a:rPr sz="1800" spc="-35" dirty="0">
                <a:latin typeface="Segoe Print"/>
                <a:cs typeface="Segoe Print"/>
              </a:rPr>
              <a:t> </a:t>
            </a:r>
            <a:r>
              <a:rPr sz="1800" dirty="0">
                <a:latin typeface="Segoe Print"/>
                <a:cs typeface="Segoe Print"/>
              </a:rPr>
              <a:t>to</a:t>
            </a:r>
            <a:r>
              <a:rPr sz="1800" spc="-30" dirty="0">
                <a:latin typeface="Segoe Print"/>
                <a:cs typeface="Segoe Print"/>
              </a:rPr>
              <a:t> </a:t>
            </a:r>
            <a:r>
              <a:rPr sz="1800" spc="-20" dirty="0">
                <a:latin typeface="Segoe Print"/>
                <a:cs typeface="Segoe Print"/>
              </a:rPr>
              <a:t>find </a:t>
            </a:r>
            <a:r>
              <a:rPr sz="1800" dirty="0">
                <a:latin typeface="Segoe Print"/>
                <a:cs typeface="Segoe Print"/>
              </a:rPr>
              <a:t>patterns</a:t>
            </a:r>
            <a:r>
              <a:rPr sz="1800" spc="-45" dirty="0">
                <a:latin typeface="Segoe Print"/>
                <a:cs typeface="Segoe Print"/>
              </a:rPr>
              <a:t> </a:t>
            </a:r>
            <a:r>
              <a:rPr sz="1800" dirty="0">
                <a:latin typeface="Segoe Print"/>
                <a:cs typeface="Segoe Print"/>
              </a:rPr>
              <a:t>in</a:t>
            </a:r>
            <a:r>
              <a:rPr sz="1800" spc="-35" dirty="0">
                <a:latin typeface="Segoe Print"/>
                <a:cs typeface="Segoe Print"/>
              </a:rPr>
              <a:t> </a:t>
            </a:r>
            <a:r>
              <a:rPr sz="1800" dirty="0">
                <a:latin typeface="Segoe Print"/>
                <a:cs typeface="Segoe Print"/>
              </a:rPr>
              <a:t>the</a:t>
            </a:r>
            <a:r>
              <a:rPr sz="1800" spc="-35" dirty="0">
                <a:latin typeface="Segoe Print"/>
                <a:cs typeface="Segoe Print"/>
              </a:rPr>
              <a:t> </a:t>
            </a:r>
            <a:r>
              <a:rPr sz="1800" spc="-20" dirty="0">
                <a:latin typeface="Segoe Print"/>
                <a:cs typeface="Segoe Print"/>
              </a:rPr>
              <a:t>data</a:t>
            </a:r>
            <a:endParaRPr sz="1800">
              <a:latin typeface="Segoe Print"/>
              <a:cs typeface="Segoe Print"/>
            </a:endParaRPr>
          </a:p>
          <a:p>
            <a:pPr marL="2632075">
              <a:lnSpc>
                <a:spcPct val="100000"/>
              </a:lnSpc>
              <a:spcBef>
                <a:spcPts val="755"/>
              </a:spcBef>
            </a:pPr>
            <a:r>
              <a:rPr sz="1800" spc="-20" dirty="0">
                <a:latin typeface="Calibri"/>
                <a:cs typeface="Calibri"/>
              </a:rPr>
              <a:t>Training</a:t>
            </a:r>
            <a:r>
              <a:rPr sz="1800" spc="-60" dirty="0">
                <a:latin typeface="Calibri"/>
                <a:cs typeface="Calibri"/>
              </a:rPr>
              <a:t> </a:t>
            </a:r>
            <a:r>
              <a:rPr sz="1800" spc="-20" dirty="0">
                <a:latin typeface="Calibri"/>
                <a:cs typeface="Calibri"/>
              </a:rPr>
              <a:t>Data</a:t>
            </a:r>
            <a:endParaRPr sz="18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1510" y="956322"/>
            <a:ext cx="6272530" cy="4485005"/>
          </a:xfrm>
          <a:prstGeom prst="rect">
            <a:avLst/>
          </a:prstGeom>
        </p:spPr>
        <p:txBody>
          <a:bodyPr vert="horz" wrap="square" lIns="0" tIns="76200" rIns="0" bIns="0" rtlCol="0">
            <a:spAutoFit/>
          </a:bodyPr>
          <a:lstStyle/>
          <a:p>
            <a:pPr marL="469265" indent="-456565">
              <a:lnSpc>
                <a:spcPct val="100000"/>
              </a:lnSpc>
              <a:spcBef>
                <a:spcPts val="600"/>
              </a:spcBef>
              <a:buClr>
                <a:srgbClr val="6E6E74"/>
              </a:buClr>
              <a:buSzPct val="79166"/>
              <a:buFont typeface="Cambria"/>
              <a:buAutoNum type="arabicPeriod" startAt="2"/>
              <a:tabLst>
                <a:tab pos="469265" algn="l"/>
              </a:tabLst>
            </a:pPr>
            <a:r>
              <a:rPr sz="2400" b="1" spc="165" dirty="0">
                <a:latin typeface="Cambria"/>
                <a:cs typeface="Cambria"/>
              </a:rPr>
              <a:t>Unsupervised</a:t>
            </a:r>
            <a:r>
              <a:rPr sz="2400" b="1" spc="195" dirty="0">
                <a:latin typeface="Cambria"/>
                <a:cs typeface="Cambria"/>
              </a:rPr>
              <a:t> </a:t>
            </a:r>
            <a:r>
              <a:rPr sz="2400" b="1" spc="180" dirty="0">
                <a:latin typeface="Cambria"/>
                <a:cs typeface="Cambria"/>
              </a:rPr>
              <a:t>Learning</a:t>
            </a:r>
            <a:endParaRPr sz="2400">
              <a:latin typeface="Cambria"/>
              <a:cs typeface="Cambria"/>
            </a:endParaRPr>
          </a:p>
          <a:p>
            <a:pPr marL="470534" lvl="1" indent="-183515">
              <a:lnSpc>
                <a:spcPts val="1825"/>
              </a:lnSpc>
              <a:spcBef>
                <a:spcPts val="330"/>
              </a:spcBef>
              <a:buClr>
                <a:srgbClr val="6E6E74"/>
              </a:buClr>
              <a:buFont typeface="Arial MT"/>
              <a:buChar char="•"/>
              <a:tabLst>
                <a:tab pos="470534" algn="l"/>
              </a:tabLst>
            </a:pPr>
            <a:r>
              <a:rPr sz="1600" spc="60" dirty="0">
                <a:solidFill>
                  <a:srgbClr val="252525"/>
                </a:solidFill>
                <a:latin typeface="Cambria"/>
                <a:cs typeface="Cambria"/>
              </a:rPr>
              <a:t>Unsupervised</a:t>
            </a:r>
            <a:r>
              <a:rPr sz="1600" spc="114" dirty="0">
                <a:solidFill>
                  <a:srgbClr val="252525"/>
                </a:solidFill>
                <a:latin typeface="Cambria"/>
                <a:cs typeface="Cambria"/>
              </a:rPr>
              <a:t>  </a:t>
            </a:r>
            <a:r>
              <a:rPr sz="1600" spc="80" dirty="0">
                <a:solidFill>
                  <a:srgbClr val="252525"/>
                </a:solidFill>
                <a:latin typeface="Cambria"/>
                <a:cs typeface="Cambria"/>
              </a:rPr>
              <a:t>Learning</a:t>
            </a:r>
            <a:r>
              <a:rPr sz="1600" spc="110" dirty="0">
                <a:solidFill>
                  <a:srgbClr val="252525"/>
                </a:solidFill>
                <a:latin typeface="Cambria"/>
                <a:cs typeface="Cambria"/>
              </a:rPr>
              <a:t>  </a:t>
            </a:r>
            <a:r>
              <a:rPr sz="1600" dirty="0">
                <a:solidFill>
                  <a:srgbClr val="252525"/>
                </a:solidFill>
                <a:latin typeface="Cambria"/>
                <a:cs typeface="Cambria"/>
              </a:rPr>
              <a:t>involves</a:t>
            </a:r>
            <a:r>
              <a:rPr sz="1600" spc="114" dirty="0">
                <a:solidFill>
                  <a:srgbClr val="252525"/>
                </a:solidFill>
                <a:latin typeface="Cambria"/>
                <a:cs typeface="Cambria"/>
              </a:rPr>
              <a:t>  </a:t>
            </a:r>
            <a:r>
              <a:rPr sz="1600" spc="70" dirty="0">
                <a:solidFill>
                  <a:srgbClr val="252525"/>
                </a:solidFill>
                <a:latin typeface="Cambria"/>
                <a:cs typeface="Cambria"/>
              </a:rPr>
              <a:t>training</a:t>
            </a:r>
            <a:r>
              <a:rPr sz="1600" spc="110" dirty="0">
                <a:solidFill>
                  <a:srgbClr val="252525"/>
                </a:solidFill>
                <a:latin typeface="Cambria"/>
                <a:cs typeface="Cambria"/>
              </a:rPr>
              <a:t>  </a:t>
            </a:r>
            <a:r>
              <a:rPr sz="1600" spc="90" dirty="0">
                <a:solidFill>
                  <a:srgbClr val="252525"/>
                </a:solidFill>
                <a:latin typeface="Cambria"/>
                <a:cs typeface="Cambria"/>
              </a:rPr>
              <a:t>a</a:t>
            </a:r>
            <a:r>
              <a:rPr sz="1600" spc="125" dirty="0">
                <a:solidFill>
                  <a:srgbClr val="252525"/>
                </a:solidFill>
                <a:latin typeface="Cambria"/>
                <a:cs typeface="Cambria"/>
              </a:rPr>
              <a:t>  </a:t>
            </a:r>
            <a:r>
              <a:rPr sz="1600" dirty="0">
                <a:solidFill>
                  <a:srgbClr val="252525"/>
                </a:solidFill>
                <a:latin typeface="Cambria"/>
                <a:cs typeface="Cambria"/>
              </a:rPr>
              <a:t>model</a:t>
            </a:r>
            <a:r>
              <a:rPr sz="1600" spc="110" dirty="0">
                <a:solidFill>
                  <a:srgbClr val="252525"/>
                </a:solidFill>
                <a:latin typeface="Cambria"/>
                <a:cs typeface="Cambria"/>
              </a:rPr>
              <a:t>  </a:t>
            </a:r>
            <a:r>
              <a:rPr sz="1600" dirty="0">
                <a:solidFill>
                  <a:srgbClr val="252525"/>
                </a:solidFill>
                <a:latin typeface="Cambria"/>
                <a:cs typeface="Cambria"/>
              </a:rPr>
              <a:t>on</a:t>
            </a:r>
            <a:r>
              <a:rPr sz="1600" spc="120" dirty="0">
                <a:solidFill>
                  <a:srgbClr val="252525"/>
                </a:solidFill>
                <a:latin typeface="Cambria"/>
                <a:cs typeface="Cambria"/>
              </a:rPr>
              <a:t>  </a:t>
            </a:r>
            <a:r>
              <a:rPr sz="1600" spc="45" dirty="0">
                <a:solidFill>
                  <a:srgbClr val="252525"/>
                </a:solidFill>
                <a:latin typeface="Cambria"/>
                <a:cs typeface="Cambria"/>
              </a:rPr>
              <a:t>data</a:t>
            </a:r>
            <a:endParaRPr sz="1600">
              <a:latin typeface="Cambria"/>
              <a:cs typeface="Cambria"/>
            </a:endParaRPr>
          </a:p>
          <a:p>
            <a:pPr marL="469900">
              <a:lnSpc>
                <a:spcPts val="1825"/>
              </a:lnSpc>
            </a:pPr>
            <a:r>
              <a:rPr sz="1600" spc="75" dirty="0">
                <a:solidFill>
                  <a:srgbClr val="252525"/>
                </a:solidFill>
                <a:latin typeface="Cambria"/>
                <a:cs typeface="Cambria"/>
              </a:rPr>
              <a:t>that</a:t>
            </a:r>
            <a:r>
              <a:rPr sz="1600" spc="195" dirty="0">
                <a:solidFill>
                  <a:srgbClr val="252525"/>
                </a:solidFill>
                <a:latin typeface="Cambria"/>
                <a:cs typeface="Cambria"/>
              </a:rPr>
              <a:t> </a:t>
            </a:r>
            <a:r>
              <a:rPr sz="1600" dirty="0">
                <a:solidFill>
                  <a:srgbClr val="252525"/>
                </a:solidFill>
                <a:latin typeface="Cambria"/>
                <a:cs typeface="Cambria"/>
              </a:rPr>
              <a:t>does</a:t>
            </a:r>
            <a:r>
              <a:rPr sz="1600" spc="190" dirty="0">
                <a:solidFill>
                  <a:srgbClr val="252525"/>
                </a:solidFill>
                <a:latin typeface="Cambria"/>
                <a:cs typeface="Cambria"/>
              </a:rPr>
              <a:t> </a:t>
            </a:r>
            <a:r>
              <a:rPr sz="1600" dirty="0">
                <a:solidFill>
                  <a:srgbClr val="252525"/>
                </a:solidFill>
                <a:latin typeface="Cambria"/>
                <a:cs typeface="Cambria"/>
              </a:rPr>
              <a:t>not</a:t>
            </a:r>
            <a:r>
              <a:rPr sz="1600" spc="204" dirty="0">
                <a:solidFill>
                  <a:srgbClr val="252525"/>
                </a:solidFill>
                <a:latin typeface="Cambria"/>
                <a:cs typeface="Cambria"/>
              </a:rPr>
              <a:t> </a:t>
            </a:r>
            <a:r>
              <a:rPr sz="1600" spc="50" dirty="0">
                <a:solidFill>
                  <a:srgbClr val="252525"/>
                </a:solidFill>
                <a:latin typeface="Cambria"/>
                <a:cs typeface="Cambria"/>
              </a:rPr>
              <a:t>have</a:t>
            </a:r>
            <a:r>
              <a:rPr sz="1600" spc="204" dirty="0">
                <a:solidFill>
                  <a:srgbClr val="252525"/>
                </a:solidFill>
                <a:latin typeface="Cambria"/>
                <a:cs typeface="Cambria"/>
              </a:rPr>
              <a:t> </a:t>
            </a:r>
            <a:r>
              <a:rPr sz="1600" dirty="0">
                <a:solidFill>
                  <a:srgbClr val="252525"/>
                </a:solidFill>
                <a:latin typeface="Cambria"/>
                <a:cs typeface="Cambria"/>
              </a:rPr>
              <a:t>labeled</a:t>
            </a:r>
            <a:r>
              <a:rPr sz="1600" spc="175" dirty="0">
                <a:solidFill>
                  <a:srgbClr val="252525"/>
                </a:solidFill>
                <a:latin typeface="Cambria"/>
                <a:cs typeface="Cambria"/>
              </a:rPr>
              <a:t> </a:t>
            </a:r>
            <a:r>
              <a:rPr sz="1600" spc="-10" dirty="0">
                <a:solidFill>
                  <a:srgbClr val="252525"/>
                </a:solidFill>
                <a:latin typeface="Cambria"/>
                <a:cs typeface="Cambria"/>
              </a:rPr>
              <a:t>responses.</a:t>
            </a:r>
            <a:endParaRPr sz="1600">
              <a:latin typeface="Cambria"/>
              <a:cs typeface="Cambria"/>
            </a:endParaRPr>
          </a:p>
          <a:p>
            <a:pPr marL="469900" marR="7620" lvl="1" indent="-182880">
              <a:lnSpc>
                <a:spcPts val="1730"/>
              </a:lnSpc>
              <a:spcBef>
                <a:spcPts val="625"/>
              </a:spcBef>
              <a:buClr>
                <a:srgbClr val="6E6E74"/>
              </a:buClr>
              <a:buFont typeface="Arial MT"/>
              <a:buChar char="•"/>
              <a:tabLst>
                <a:tab pos="469900" algn="l"/>
                <a:tab pos="1010919" algn="l"/>
                <a:tab pos="1756410" algn="l"/>
                <a:tab pos="2367280" algn="l"/>
                <a:tab pos="2728595" algn="l"/>
                <a:tab pos="3282950" algn="l"/>
                <a:tab pos="4112260" algn="l"/>
                <a:tab pos="5090795" algn="l"/>
                <a:tab pos="5464175" algn="l"/>
              </a:tabLst>
            </a:pPr>
            <a:r>
              <a:rPr sz="1600" spc="40" dirty="0">
                <a:solidFill>
                  <a:srgbClr val="252525"/>
                </a:solidFill>
                <a:latin typeface="Cambria"/>
                <a:cs typeface="Cambria"/>
              </a:rPr>
              <a:t>The</a:t>
            </a:r>
            <a:r>
              <a:rPr sz="1600" dirty="0">
                <a:solidFill>
                  <a:srgbClr val="252525"/>
                </a:solidFill>
                <a:latin typeface="Cambria"/>
                <a:cs typeface="Cambria"/>
              </a:rPr>
              <a:t>	</a:t>
            </a:r>
            <a:r>
              <a:rPr sz="1600" spc="-10" dirty="0">
                <a:solidFill>
                  <a:srgbClr val="252525"/>
                </a:solidFill>
                <a:latin typeface="Cambria"/>
                <a:cs typeface="Cambria"/>
              </a:rPr>
              <a:t>model</a:t>
            </a:r>
            <a:r>
              <a:rPr sz="1600" dirty="0">
                <a:solidFill>
                  <a:srgbClr val="252525"/>
                </a:solidFill>
                <a:latin typeface="Cambria"/>
                <a:cs typeface="Cambria"/>
              </a:rPr>
              <a:t>	</a:t>
            </a:r>
            <a:r>
              <a:rPr sz="1600" spc="40" dirty="0">
                <a:solidFill>
                  <a:srgbClr val="252525"/>
                </a:solidFill>
                <a:latin typeface="Cambria"/>
                <a:cs typeface="Cambria"/>
              </a:rPr>
              <a:t>tries</a:t>
            </a:r>
            <a:r>
              <a:rPr sz="1600" dirty="0">
                <a:solidFill>
                  <a:srgbClr val="252525"/>
                </a:solidFill>
                <a:latin typeface="Cambria"/>
                <a:cs typeface="Cambria"/>
              </a:rPr>
              <a:t>	</a:t>
            </a:r>
            <a:r>
              <a:rPr sz="1600" spc="-25" dirty="0">
                <a:solidFill>
                  <a:srgbClr val="252525"/>
                </a:solidFill>
                <a:latin typeface="Cambria"/>
                <a:cs typeface="Cambria"/>
              </a:rPr>
              <a:t>to</a:t>
            </a:r>
            <a:r>
              <a:rPr sz="1600" dirty="0">
                <a:solidFill>
                  <a:srgbClr val="252525"/>
                </a:solidFill>
                <a:latin typeface="Cambria"/>
                <a:cs typeface="Cambria"/>
              </a:rPr>
              <a:t>	</a:t>
            </a:r>
            <a:r>
              <a:rPr sz="1600" spc="30" dirty="0">
                <a:solidFill>
                  <a:srgbClr val="252525"/>
                </a:solidFill>
                <a:latin typeface="Cambria"/>
                <a:cs typeface="Cambria"/>
              </a:rPr>
              <a:t>find</a:t>
            </a:r>
            <a:r>
              <a:rPr sz="1600" dirty="0">
                <a:solidFill>
                  <a:srgbClr val="252525"/>
                </a:solidFill>
                <a:latin typeface="Cambria"/>
                <a:cs typeface="Cambria"/>
              </a:rPr>
              <a:t>	</a:t>
            </a:r>
            <a:r>
              <a:rPr sz="1600" spc="-10" dirty="0">
                <a:solidFill>
                  <a:srgbClr val="252525"/>
                </a:solidFill>
                <a:latin typeface="Cambria"/>
                <a:cs typeface="Cambria"/>
              </a:rPr>
              <a:t>hidden</a:t>
            </a:r>
            <a:r>
              <a:rPr sz="1600" dirty="0">
                <a:solidFill>
                  <a:srgbClr val="252525"/>
                </a:solidFill>
                <a:latin typeface="Cambria"/>
                <a:cs typeface="Cambria"/>
              </a:rPr>
              <a:t>	</a:t>
            </a:r>
            <a:r>
              <a:rPr sz="1600" spc="50" dirty="0">
                <a:solidFill>
                  <a:srgbClr val="252525"/>
                </a:solidFill>
                <a:latin typeface="Cambria"/>
                <a:cs typeface="Cambria"/>
              </a:rPr>
              <a:t>patterns</a:t>
            </a:r>
            <a:r>
              <a:rPr sz="1600" dirty="0">
                <a:solidFill>
                  <a:srgbClr val="252525"/>
                </a:solidFill>
                <a:latin typeface="Cambria"/>
                <a:cs typeface="Cambria"/>
              </a:rPr>
              <a:t>	</a:t>
            </a:r>
            <a:r>
              <a:rPr sz="1600" spc="-25" dirty="0">
                <a:solidFill>
                  <a:srgbClr val="252525"/>
                </a:solidFill>
                <a:latin typeface="Cambria"/>
                <a:cs typeface="Cambria"/>
              </a:rPr>
              <a:t>or</a:t>
            </a:r>
            <a:r>
              <a:rPr sz="1600" dirty="0">
                <a:solidFill>
                  <a:srgbClr val="252525"/>
                </a:solidFill>
                <a:latin typeface="Cambria"/>
                <a:cs typeface="Cambria"/>
              </a:rPr>
              <a:t>	</a:t>
            </a:r>
            <a:r>
              <a:rPr sz="1600" spc="45" dirty="0">
                <a:solidFill>
                  <a:srgbClr val="252525"/>
                </a:solidFill>
                <a:latin typeface="Cambria"/>
                <a:cs typeface="Cambria"/>
              </a:rPr>
              <a:t>intrinsic </a:t>
            </a:r>
            <a:r>
              <a:rPr sz="1600" spc="55" dirty="0">
                <a:solidFill>
                  <a:srgbClr val="252525"/>
                </a:solidFill>
                <a:latin typeface="Cambria"/>
                <a:cs typeface="Cambria"/>
              </a:rPr>
              <a:t>structures</a:t>
            </a:r>
            <a:r>
              <a:rPr sz="1600" spc="120" dirty="0">
                <a:solidFill>
                  <a:srgbClr val="252525"/>
                </a:solidFill>
                <a:latin typeface="Cambria"/>
                <a:cs typeface="Cambria"/>
              </a:rPr>
              <a:t> </a:t>
            </a:r>
            <a:r>
              <a:rPr sz="1600" spc="65" dirty="0">
                <a:solidFill>
                  <a:srgbClr val="252525"/>
                </a:solidFill>
                <a:latin typeface="Cambria"/>
                <a:cs typeface="Cambria"/>
              </a:rPr>
              <a:t>in</a:t>
            </a:r>
            <a:r>
              <a:rPr sz="1600" spc="90" dirty="0">
                <a:solidFill>
                  <a:srgbClr val="252525"/>
                </a:solidFill>
                <a:latin typeface="Cambria"/>
                <a:cs typeface="Cambria"/>
              </a:rPr>
              <a:t> </a:t>
            </a:r>
            <a:r>
              <a:rPr sz="1600" spc="55" dirty="0">
                <a:solidFill>
                  <a:srgbClr val="252525"/>
                </a:solidFill>
                <a:latin typeface="Cambria"/>
                <a:cs typeface="Cambria"/>
              </a:rPr>
              <a:t>the</a:t>
            </a:r>
            <a:r>
              <a:rPr sz="1600" spc="110" dirty="0">
                <a:solidFill>
                  <a:srgbClr val="252525"/>
                </a:solidFill>
                <a:latin typeface="Cambria"/>
                <a:cs typeface="Cambria"/>
              </a:rPr>
              <a:t> </a:t>
            </a:r>
            <a:r>
              <a:rPr sz="1600" spc="60" dirty="0">
                <a:solidFill>
                  <a:srgbClr val="252525"/>
                </a:solidFill>
                <a:latin typeface="Cambria"/>
                <a:cs typeface="Cambria"/>
              </a:rPr>
              <a:t>input</a:t>
            </a:r>
            <a:r>
              <a:rPr sz="1600" spc="120" dirty="0">
                <a:solidFill>
                  <a:srgbClr val="252525"/>
                </a:solidFill>
                <a:latin typeface="Cambria"/>
                <a:cs typeface="Cambria"/>
              </a:rPr>
              <a:t> </a:t>
            </a:r>
            <a:r>
              <a:rPr sz="1600" spc="65" dirty="0">
                <a:solidFill>
                  <a:srgbClr val="252525"/>
                </a:solidFill>
                <a:latin typeface="Cambria"/>
                <a:cs typeface="Cambria"/>
              </a:rPr>
              <a:t>data.</a:t>
            </a:r>
            <a:endParaRPr sz="1600">
              <a:latin typeface="Cambria"/>
              <a:cs typeface="Cambria"/>
            </a:endParaRPr>
          </a:p>
          <a:p>
            <a:pPr marL="12700">
              <a:lnSpc>
                <a:spcPct val="100000"/>
              </a:lnSpc>
              <a:spcBef>
                <a:spcPts val="1520"/>
              </a:spcBef>
            </a:pPr>
            <a:r>
              <a:rPr sz="2200" b="1" spc="180" dirty="0">
                <a:latin typeface="Cambria"/>
                <a:cs typeface="Cambria"/>
              </a:rPr>
              <a:t>Common</a:t>
            </a:r>
            <a:r>
              <a:rPr sz="2200" b="1" spc="225" dirty="0">
                <a:latin typeface="Cambria"/>
                <a:cs typeface="Cambria"/>
              </a:rPr>
              <a:t> </a:t>
            </a:r>
            <a:r>
              <a:rPr sz="2200" b="1" spc="135" dirty="0">
                <a:latin typeface="Cambria"/>
                <a:cs typeface="Cambria"/>
              </a:rPr>
              <a:t>Tasks</a:t>
            </a:r>
            <a:r>
              <a:rPr sz="2200" b="1" spc="195" dirty="0">
                <a:latin typeface="Cambria"/>
                <a:cs typeface="Cambria"/>
              </a:rPr>
              <a:t> </a:t>
            </a:r>
            <a:r>
              <a:rPr sz="2200" b="1" spc="155" dirty="0">
                <a:latin typeface="Cambria"/>
                <a:cs typeface="Cambria"/>
              </a:rPr>
              <a:t>in</a:t>
            </a:r>
            <a:r>
              <a:rPr sz="2200" b="1" spc="185" dirty="0">
                <a:latin typeface="Cambria"/>
                <a:cs typeface="Cambria"/>
              </a:rPr>
              <a:t> </a:t>
            </a:r>
            <a:r>
              <a:rPr sz="2200" b="1" spc="150" dirty="0">
                <a:latin typeface="Cambria"/>
                <a:cs typeface="Cambria"/>
              </a:rPr>
              <a:t>Unsupervised</a:t>
            </a:r>
            <a:r>
              <a:rPr sz="2200" b="1" spc="225" dirty="0">
                <a:latin typeface="Cambria"/>
                <a:cs typeface="Cambria"/>
              </a:rPr>
              <a:t> </a:t>
            </a:r>
            <a:r>
              <a:rPr sz="2200" b="1" spc="150" dirty="0">
                <a:latin typeface="Cambria"/>
                <a:cs typeface="Cambria"/>
              </a:rPr>
              <a:t>Learning:</a:t>
            </a:r>
            <a:endParaRPr sz="2200">
              <a:latin typeface="Cambria"/>
              <a:cs typeface="Cambria"/>
            </a:endParaRPr>
          </a:p>
          <a:p>
            <a:pPr marL="629285" indent="-342265">
              <a:lnSpc>
                <a:spcPct val="100000"/>
              </a:lnSpc>
              <a:spcBef>
                <a:spcPts val="290"/>
              </a:spcBef>
              <a:buClr>
                <a:srgbClr val="6E6E74"/>
              </a:buClr>
              <a:buAutoNum type="arabicPeriod"/>
              <a:tabLst>
                <a:tab pos="629285" algn="l"/>
              </a:tabLst>
            </a:pPr>
            <a:r>
              <a:rPr sz="1800" b="1" spc="105" dirty="0">
                <a:solidFill>
                  <a:srgbClr val="252525"/>
                </a:solidFill>
                <a:latin typeface="Cambria"/>
                <a:cs typeface="Cambria"/>
              </a:rPr>
              <a:t>Clustering:</a:t>
            </a:r>
            <a:endParaRPr sz="1800">
              <a:latin typeface="Cambria"/>
              <a:cs typeface="Cambria"/>
            </a:endParaRPr>
          </a:p>
          <a:p>
            <a:pPr marL="744220" lvl="1" indent="-183515">
              <a:lnSpc>
                <a:spcPct val="100000"/>
              </a:lnSpc>
              <a:spcBef>
                <a:spcPts val="420"/>
              </a:spcBef>
              <a:buClr>
                <a:srgbClr val="6E6E74"/>
              </a:buClr>
              <a:buFont typeface="Arial MT"/>
              <a:buChar char="•"/>
              <a:tabLst>
                <a:tab pos="744220" algn="l"/>
              </a:tabLst>
            </a:pPr>
            <a:r>
              <a:rPr sz="1600" spc="60" dirty="0">
                <a:solidFill>
                  <a:srgbClr val="252525"/>
                </a:solidFill>
                <a:latin typeface="Cambria"/>
                <a:cs typeface="Cambria"/>
              </a:rPr>
              <a:t>Grouping</a:t>
            </a:r>
            <a:r>
              <a:rPr sz="1600" spc="215" dirty="0">
                <a:solidFill>
                  <a:srgbClr val="252525"/>
                </a:solidFill>
                <a:latin typeface="Cambria"/>
                <a:cs typeface="Cambria"/>
              </a:rPr>
              <a:t> </a:t>
            </a:r>
            <a:r>
              <a:rPr sz="1600" spc="55" dirty="0">
                <a:solidFill>
                  <a:srgbClr val="252525"/>
                </a:solidFill>
                <a:latin typeface="Cambria"/>
                <a:cs typeface="Cambria"/>
              </a:rPr>
              <a:t>similar</a:t>
            </a:r>
            <a:r>
              <a:rPr sz="1600" spc="155" dirty="0">
                <a:solidFill>
                  <a:srgbClr val="252525"/>
                </a:solidFill>
                <a:latin typeface="Cambria"/>
                <a:cs typeface="Cambria"/>
              </a:rPr>
              <a:t> </a:t>
            </a:r>
            <a:r>
              <a:rPr sz="1600" spc="70" dirty="0">
                <a:solidFill>
                  <a:srgbClr val="252525"/>
                </a:solidFill>
                <a:latin typeface="Cambria"/>
                <a:cs typeface="Cambria"/>
              </a:rPr>
              <a:t>data</a:t>
            </a:r>
            <a:r>
              <a:rPr sz="1600" spc="170" dirty="0">
                <a:solidFill>
                  <a:srgbClr val="252525"/>
                </a:solidFill>
                <a:latin typeface="Cambria"/>
                <a:cs typeface="Cambria"/>
              </a:rPr>
              <a:t> </a:t>
            </a:r>
            <a:r>
              <a:rPr sz="1600" dirty="0">
                <a:solidFill>
                  <a:srgbClr val="252525"/>
                </a:solidFill>
                <a:latin typeface="Cambria"/>
                <a:cs typeface="Cambria"/>
              </a:rPr>
              <a:t>points</a:t>
            </a:r>
            <a:r>
              <a:rPr sz="1600" spc="185" dirty="0">
                <a:solidFill>
                  <a:srgbClr val="252525"/>
                </a:solidFill>
                <a:latin typeface="Cambria"/>
                <a:cs typeface="Cambria"/>
              </a:rPr>
              <a:t> </a:t>
            </a:r>
            <a:r>
              <a:rPr sz="1600" spc="35" dirty="0">
                <a:solidFill>
                  <a:srgbClr val="252525"/>
                </a:solidFill>
                <a:latin typeface="Cambria"/>
                <a:cs typeface="Cambria"/>
              </a:rPr>
              <a:t>together.</a:t>
            </a:r>
            <a:endParaRPr sz="1600">
              <a:latin typeface="Cambria"/>
              <a:cs typeface="Cambria"/>
            </a:endParaRPr>
          </a:p>
          <a:p>
            <a:pPr marL="744220" marR="6985" lvl="1" indent="-182880">
              <a:lnSpc>
                <a:spcPts val="1730"/>
              </a:lnSpc>
              <a:spcBef>
                <a:spcPts val="625"/>
              </a:spcBef>
              <a:buClr>
                <a:srgbClr val="6E6E74"/>
              </a:buClr>
              <a:buFont typeface="Arial MT"/>
              <a:buChar char="•"/>
              <a:tabLst>
                <a:tab pos="744220" algn="l"/>
              </a:tabLst>
            </a:pPr>
            <a:r>
              <a:rPr sz="1600" spc="60" dirty="0">
                <a:solidFill>
                  <a:srgbClr val="252525"/>
                </a:solidFill>
                <a:latin typeface="Cambria"/>
                <a:cs typeface="Cambria"/>
              </a:rPr>
              <a:t>For</a:t>
            </a:r>
            <a:r>
              <a:rPr sz="1600" spc="240" dirty="0">
                <a:solidFill>
                  <a:srgbClr val="252525"/>
                </a:solidFill>
                <a:latin typeface="Cambria"/>
                <a:cs typeface="Cambria"/>
              </a:rPr>
              <a:t> </a:t>
            </a:r>
            <a:r>
              <a:rPr sz="1600" spc="55" dirty="0">
                <a:solidFill>
                  <a:srgbClr val="252525"/>
                </a:solidFill>
                <a:latin typeface="Cambria"/>
                <a:cs typeface="Cambria"/>
              </a:rPr>
              <a:t>example,</a:t>
            </a:r>
            <a:r>
              <a:rPr sz="1600" spc="265" dirty="0">
                <a:solidFill>
                  <a:srgbClr val="252525"/>
                </a:solidFill>
                <a:latin typeface="Cambria"/>
                <a:cs typeface="Cambria"/>
              </a:rPr>
              <a:t> </a:t>
            </a:r>
            <a:r>
              <a:rPr sz="1600" dirty="0">
                <a:solidFill>
                  <a:srgbClr val="252525"/>
                </a:solidFill>
                <a:latin typeface="Cambria"/>
                <a:cs typeface="Cambria"/>
              </a:rPr>
              <a:t>customer</a:t>
            </a:r>
            <a:r>
              <a:rPr sz="1600" spc="245" dirty="0">
                <a:solidFill>
                  <a:srgbClr val="252525"/>
                </a:solidFill>
                <a:latin typeface="Cambria"/>
                <a:cs typeface="Cambria"/>
              </a:rPr>
              <a:t> </a:t>
            </a:r>
            <a:r>
              <a:rPr sz="1600" spc="50" dirty="0">
                <a:solidFill>
                  <a:srgbClr val="252525"/>
                </a:solidFill>
                <a:latin typeface="Cambria"/>
                <a:cs typeface="Cambria"/>
              </a:rPr>
              <a:t>segmentation</a:t>
            </a:r>
            <a:r>
              <a:rPr sz="1600" spc="250" dirty="0">
                <a:solidFill>
                  <a:srgbClr val="252525"/>
                </a:solidFill>
                <a:latin typeface="Cambria"/>
                <a:cs typeface="Cambria"/>
              </a:rPr>
              <a:t> </a:t>
            </a:r>
            <a:r>
              <a:rPr sz="1600" spc="65" dirty="0">
                <a:solidFill>
                  <a:srgbClr val="252525"/>
                </a:solidFill>
                <a:latin typeface="Cambria"/>
                <a:cs typeface="Cambria"/>
              </a:rPr>
              <a:t>in</a:t>
            </a:r>
            <a:r>
              <a:rPr sz="1600" spc="235" dirty="0">
                <a:solidFill>
                  <a:srgbClr val="252525"/>
                </a:solidFill>
                <a:latin typeface="Cambria"/>
                <a:cs typeface="Cambria"/>
              </a:rPr>
              <a:t> </a:t>
            </a:r>
            <a:r>
              <a:rPr sz="1600" spc="65" dirty="0">
                <a:solidFill>
                  <a:srgbClr val="252525"/>
                </a:solidFill>
                <a:latin typeface="Cambria"/>
                <a:cs typeface="Cambria"/>
              </a:rPr>
              <a:t>marketing,</a:t>
            </a:r>
            <a:r>
              <a:rPr sz="1600" spc="265" dirty="0">
                <a:solidFill>
                  <a:srgbClr val="252525"/>
                </a:solidFill>
                <a:latin typeface="Cambria"/>
                <a:cs typeface="Cambria"/>
              </a:rPr>
              <a:t> </a:t>
            </a:r>
            <a:r>
              <a:rPr sz="1600" spc="-10" dirty="0">
                <a:solidFill>
                  <a:srgbClr val="252525"/>
                </a:solidFill>
                <a:latin typeface="Cambria"/>
                <a:cs typeface="Cambria"/>
              </a:rPr>
              <a:t>where </a:t>
            </a:r>
            <a:r>
              <a:rPr sz="1600" dirty="0">
                <a:solidFill>
                  <a:srgbClr val="252525"/>
                </a:solidFill>
                <a:latin typeface="Cambria"/>
                <a:cs typeface="Cambria"/>
              </a:rPr>
              <a:t>customers</a:t>
            </a:r>
            <a:r>
              <a:rPr sz="1600" spc="235" dirty="0">
                <a:solidFill>
                  <a:srgbClr val="252525"/>
                </a:solidFill>
                <a:latin typeface="Cambria"/>
                <a:cs typeface="Cambria"/>
              </a:rPr>
              <a:t> </a:t>
            </a:r>
            <a:r>
              <a:rPr sz="1600" spc="50" dirty="0">
                <a:solidFill>
                  <a:srgbClr val="252525"/>
                </a:solidFill>
                <a:latin typeface="Cambria"/>
                <a:cs typeface="Cambria"/>
              </a:rPr>
              <a:t>are</a:t>
            </a:r>
            <a:r>
              <a:rPr sz="1600" spc="220" dirty="0">
                <a:solidFill>
                  <a:srgbClr val="252525"/>
                </a:solidFill>
                <a:latin typeface="Cambria"/>
                <a:cs typeface="Cambria"/>
              </a:rPr>
              <a:t> </a:t>
            </a:r>
            <a:r>
              <a:rPr sz="1600" dirty="0">
                <a:solidFill>
                  <a:srgbClr val="252525"/>
                </a:solidFill>
                <a:latin typeface="Cambria"/>
                <a:cs typeface="Cambria"/>
              </a:rPr>
              <a:t>grouped</a:t>
            </a:r>
            <a:r>
              <a:rPr sz="1600" spc="270" dirty="0">
                <a:solidFill>
                  <a:srgbClr val="252525"/>
                </a:solidFill>
                <a:latin typeface="Cambria"/>
                <a:cs typeface="Cambria"/>
              </a:rPr>
              <a:t> </a:t>
            </a:r>
            <a:r>
              <a:rPr sz="1600" dirty="0">
                <a:solidFill>
                  <a:srgbClr val="252525"/>
                </a:solidFill>
                <a:latin typeface="Cambria"/>
                <a:cs typeface="Cambria"/>
              </a:rPr>
              <a:t>based</a:t>
            </a:r>
            <a:r>
              <a:rPr sz="1600" spc="210" dirty="0">
                <a:solidFill>
                  <a:srgbClr val="252525"/>
                </a:solidFill>
                <a:latin typeface="Cambria"/>
                <a:cs typeface="Cambria"/>
              </a:rPr>
              <a:t> </a:t>
            </a:r>
            <a:r>
              <a:rPr sz="1600" dirty="0">
                <a:solidFill>
                  <a:srgbClr val="252525"/>
                </a:solidFill>
                <a:latin typeface="Cambria"/>
                <a:cs typeface="Cambria"/>
              </a:rPr>
              <a:t>on</a:t>
            </a:r>
            <a:r>
              <a:rPr sz="1600" spc="225" dirty="0">
                <a:solidFill>
                  <a:srgbClr val="252525"/>
                </a:solidFill>
                <a:latin typeface="Cambria"/>
                <a:cs typeface="Cambria"/>
              </a:rPr>
              <a:t> </a:t>
            </a:r>
            <a:r>
              <a:rPr sz="1600" spc="50" dirty="0">
                <a:solidFill>
                  <a:srgbClr val="252525"/>
                </a:solidFill>
                <a:latin typeface="Cambria"/>
                <a:cs typeface="Cambria"/>
              </a:rPr>
              <a:t>purchasing</a:t>
            </a:r>
            <a:r>
              <a:rPr sz="1600" spc="250" dirty="0">
                <a:solidFill>
                  <a:srgbClr val="252525"/>
                </a:solidFill>
                <a:latin typeface="Cambria"/>
                <a:cs typeface="Cambria"/>
              </a:rPr>
              <a:t> </a:t>
            </a:r>
            <a:r>
              <a:rPr sz="1600" spc="-10" dirty="0">
                <a:solidFill>
                  <a:srgbClr val="252525"/>
                </a:solidFill>
                <a:latin typeface="Cambria"/>
                <a:cs typeface="Cambria"/>
              </a:rPr>
              <a:t>behavior.</a:t>
            </a:r>
            <a:endParaRPr sz="1600">
              <a:latin typeface="Cambria"/>
              <a:cs typeface="Cambria"/>
            </a:endParaRPr>
          </a:p>
          <a:p>
            <a:pPr marL="629285" indent="-342265">
              <a:lnSpc>
                <a:spcPct val="100000"/>
              </a:lnSpc>
              <a:spcBef>
                <a:spcPts val="345"/>
              </a:spcBef>
              <a:buClr>
                <a:srgbClr val="6E6E74"/>
              </a:buClr>
              <a:buAutoNum type="arabicPeriod"/>
              <a:tabLst>
                <a:tab pos="629285" algn="l"/>
              </a:tabLst>
            </a:pPr>
            <a:r>
              <a:rPr sz="1800" b="1" spc="120" dirty="0">
                <a:solidFill>
                  <a:srgbClr val="252525"/>
                </a:solidFill>
                <a:latin typeface="Cambria"/>
                <a:cs typeface="Cambria"/>
              </a:rPr>
              <a:t>Anomaly</a:t>
            </a:r>
            <a:r>
              <a:rPr sz="1800" b="1" spc="145" dirty="0">
                <a:solidFill>
                  <a:srgbClr val="252525"/>
                </a:solidFill>
                <a:latin typeface="Cambria"/>
                <a:cs typeface="Cambria"/>
              </a:rPr>
              <a:t> </a:t>
            </a:r>
            <a:r>
              <a:rPr sz="1800" b="1" spc="90" dirty="0">
                <a:solidFill>
                  <a:srgbClr val="252525"/>
                </a:solidFill>
                <a:latin typeface="Cambria"/>
                <a:cs typeface="Cambria"/>
              </a:rPr>
              <a:t>Detection:</a:t>
            </a:r>
            <a:endParaRPr sz="1800">
              <a:latin typeface="Cambria"/>
              <a:cs typeface="Cambria"/>
            </a:endParaRPr>
          </a:p>
          <a:p>
            <a:pPr marL="744220" lvl="1" indent="-183515">
              <a:lnSpc>
                <a:spcPts val="1825"/>
              </a:lnSpc>
              <a:spcBef>
                <a:spcPts val="420"/>
              </a:spcBef>
              <a:buClr>
                <a:srgbClr val="6E6E74"/>
              </a:buClr>
              <a:buFont typeface="Arial MT"/>
              <a:buChar char="•"/>
              <a:tabLst>
                <a:tab pos="744220" algn="l"/>
              </a:tabLst>
            </a:pPr>
            <a:r>
              <a:rPr sz="1600" spc="60" dirty="0">
                <a:solidFill>
                  <a:srgbClr val="252525"/>
                </a:solidFill>
                <a:latin typeface="Cambria"/>
                <a:cs typeface="Cambria"/>
              </a:rPr>
              <a:t>Identifying</a:t>
            </a:r>
            <a:r>
              <a:rPr sz="1600" spc="110" dirty="0">
                <a:solidFill>
                  <a:srgbClr val="252525"/>
                </a:solidFill>
                <a:latin typeface="Cambria"/>
                <a:cs typeface="Cambria"/>
              </a:rPr>
              <a:t>  </a:t>
            </a:r>
            <a:r>
              <a:rPr sz="1600" dirty="0">
                <a:solidFill>
                  <a:srgbClr val="252525"/>
                </a:solidFill>
                <a:latin typeface="Cambria"/>
                <a:cs typeface="Cambria"/>
              </a:rPr>
              <a:t>outliers</a:t>
            </a:r>
            <a:r>
              <a:rPr sz="1600" spc="114" dirty="0">
                <a:solidFill>
                  <a:srgbClr val="252525"/>
                </a:solidFill>
                <a:latin typeface="Cambria"/>
                <a:cs typeface="Cambria"/>
              </a:rPr>
              <a:t>  </a:t>
            </a:r>
            <a:r>
              <a:rPr sz="1600" dirty="0">
                <a:solidFill>
                  <a:srgbClr val="252525"/>
                </a:solidFill>
                <a:latin typeface="Cambria"/>
                <a:cs typeface="Cambria"/>
              </a:rPr>
              <a:t>or</a:t>
            </a:r>
            <a:r>
              <a:rPr sz="1600" spc="105" dirty="0">
                <a:solidFill>
                  <a:srgbClr val="252525"/>
                </a:solidFill>
                <a:latin typeface="Cambria"/>
                <a:cs typeface="Cambria"/>
              </a:rPr>
              <a:t>  </a:t>
            </a:r>
            <a:r>
              <a:rPr sz="1600" spc="75" dirty="0">
                <a:solidFill>
                  <a:srgbClr val="252525"/>
                </a:solidFill>
                <a:latin typeface="Cambria"/>
                <a:cs typeface="Cambria"/>
              </a:rPr>
              <a:t>unusual</a:t>
            </a:r>
            <a:r>
              <a:rPr sz="1600" spc="114" dirty="0">
                <a:solidFill>
                  <a:srgbClr val="252525"/>
                </a:solidFill>
                <a:latin typeface="Cambria"/>
                <a:cs typeface="Cambria"/>
              </a:rPr>
              <a:t>  </a:t>
            </a:r>
            <a:r>
              <a:rPr sz="1600" spc="70" dirty="0">
                <a:solidFill>
                  <a:srgbClr val="252525"/>
                </a:solidFill>
                <a:latin typeface="Cambria"/>
                <a:cs typeface="Cambria"/>
              </a:rPr>
              <a:t>data</a:t>
            </a:r>
            <a:r>
              <a:rPr sz="1600" spc="120" dirty="0">
                <a:solidFill>
                  <a:srgbClr val="252525"/>
                </a:solidFill>
                <a:latin typeface="Cambria"/>
                <a:cs typeface="Cambria"/>
              </a:rPr>
              <a:t>  </a:t>
            </a:r>
            <a:r>
              <a:rPr sz="1600" dirty="0">
                <a:solidFill>
                  <a:srgbClr val="252525"/>
                </a:solidFill>
                <a:latin typeface="Cambria"/>
                <a:cs typeface="Cambria"/>
              </a:rPr>
              <a:t>points</a:t>
            </a:r>
            <a:r>
              <a:rPr sz="1600" spc="110" dirty="0">
                <a:solidFill>
                  <a:srgbClr val="252525"/>
                </a:solidFill>
                <a:latin typeface="Cambria"/>
                <a:cs typeface="Cambria"/>
              </a:rPr>
              <a:t>  </a:t>
            </a:r>
            <a:r>
              <a:rPr sz="1600" spc="85" dirty="0">
                <a:solidFill>
                  <a:srgbClr val="252525"/>
                </a:solidFill>
                <a:latin typeface="Cambria"/>
                <a:cs typeface="Cambria"/>
              </a:rPr>
              <a:t>that</a:t>
            </a:r>
            <a:r>
              <a:rPr sz="1600" spc="120" dirty="0">
                <a:solidFill>
                  <a:srgbClr val="252525"/>
                </a:solidFill>
                <a:latin typeface="Cambria"/>
                <a:cs typeface="Cambria"/>
              </a:rPr>
              <a:t>  </a:t>
            </a:r>
            <a:r>
              <a:rPr sz="1600" dirty="0">
                <a:solidFill>
                  <a:srgbClr val="252525"/>
                </a:solidFill>
                <a:latin typeface="Cambria"/>
                <a:cs typeface="Cambria"/>
              </a:rPr>
              <a:t>do</a:t>
            </a:r>
            <a:r>
              <a:rPr sz="1600" spc="114" dirty="0">
                <a:solidFill>
                  <a:srgbClr val="252525"/>
                </a:solidFill>
                <a:latin typeface="Cambria"/>
                <a:cs typeface="Cambria"/>
              </a:rPr>
              <a:t>  </a:t>
            </a:r>
            <a:r>
              <a:rPr sz="1600" spc="-25" dirty="0">
                <a:solidFill>
                  <a:srgbClr val="252525"/>
                </a:solidFill>
                <a:latin typeface="Cambria"/>
                <a:cs typeface="Cambria"/>
              </a:rPr>
              <a:t>not</a:t>
            </a:r>
            <a:endParaRPr sz="1600">
              <a:latin typeface="Cambria"/>
              <a:cs typeface="Cambria"/>
            </a:endParaRPr>
          </a:p>
          <a:p>
            <a:pPr marL="744220">
              <a:lnSpc>
                <a:spcPts val="1825"/>
              </a:lnSpc>
            </a:pPr>
            <a:r>
              <a:rPr sz="1600" dirty="0">
                <a:solidFill>
                  <a:srgbClr val="252525"/>
                </a:solidFill>
                <a:latin typeface="Cambria"/>
                <a:cs typeface="Cambria"/>
              </a:rPr>
              <a:t>conform</a:t>
            </a:r>
            <a:r>
              <a:rPr sz="1600" spc="220" dirty="0">
                <a:solidFill>
                  <a:srgbClr val="252525"/>
                </a:solidFill>
                <a:latin typeface="Cambria"/>
                <a:cs typeface="Cambria"/>
              </a:rPr>
              <a:t> </a:t>
            </a:r>
            <a:r>
              <a:rPr sz="1600" dirty="0">
                <a:solidFill>
                  <a:srgbClr val="252525"/>
                </a:solidFill>
                <a:latin typeface="Cambria"/>
                <a:cs typeface="Cambria"/>
              </a:rPr>
              <a:t>to</a:t>
            </a:r>
            <a:r>
              <a:rPr sz="1600" spc="210" dirty="0">
                <a:solidFill>
                  <a:srgbClr val="252525"/>
                </a:solidFill>
                <a:latin typeface="Cambria"/>
                <a:cs typeface="Cambria"/>
              </a:rPr>
              <a:t> </a:t>
            </a:r>
            <a:r>
              <a:rPr sz="1600" spc="55" dirty="0">
                <a:solidFill>
                  <a:srgbClr val="252525"/>
                </a:solidFill>
                <a:latin typeface="Cambria"/>
                <a:cs typeface="Cambria"/>
              </a:rPr>
              <a:t>the</a:t>
            </a:r>
            <a:r>
              <a:rPr sz="1600" spc="200" dirty="0">
                <a:solidFill>
                  <a:srgbClr val="252525"/>
                </a:solidFill>
                <a:latin typeface="Cambria"/>
                <a:cs typeface="Cambria"/>
              </a:rPr>
              <a:t> </a:t>
            </a:r>
            <a:r>
              <a:rPr sz="1600" dirty="0">
                <a:solidFill>
                  <a:srgbClr val="252525"/>
                </a:solidFill>
                <a:latin typeface="Cambria"/>
                <a:cs typeface="Cambria"/>
              </a:rPr>
              <a:t>expected</a:t>
            </a:r>
            <a:r>
              <a:rPr sz="1600" spc="229" dirty="0">
                <a:solidFill>
                  <a:srgbClr val="252525"/>
                </a:solidFill>
                <a:latin typeface="Cambria"/>
                <a:cs typeface="Cambria"/>
              </a:rPr>
              <a:t> </a:t>
            </a:r>
            <a:r>
              <a:rPr sz="1600" spc="55" dirty="0">
                <a:solidFill>
                  <a:srgbClr val="252525"/>
                </a:solidFill>
                <a:latin typeface="Cambria"/>
                <a:cs typeface="Cambria"/>
              </a:rPr>
              <a:t>pattern.</a:t>
            </a:r>
            <a:endParaRPr sz="1600">
              <a:latin typeface="Cambria"/>
              <a:cs typeface="Cambria"/>
            </a:endParaRPr>
          </a:p>
          <a:p>
            <a:pPr marL="744220" marR="5080" lvl="1" indent="-182880">
              <a:lnSpc>
                <a:spcPts val="1730"/>
              </a:lnSpc>
              <a:spcBef>
                <a:spcPts val="620"/>
              </a:spcBef>
              <a:buClr>
                <a:srgbClr val="6E6E74"/>
              </a:buClr>
              <a:buFont typeface="Arial MT"/>
              <a:buChar char="•"/>
              <a:tabLst>
                <a:tab pos="744220" algn="l"/>
                <a:tab pos="1294130" algn="l"/>
                <a:tab pos="2362835" algn="l"/>
                <a:tab pos="3452495" algn="l"/>
                <a:tab pos="4679315" algn="l"/>
                <a:tab pos="6071235" algn="l"/>
              </a:tabLst>
            </a:pPr>
            <a:r>
              <a:rPr sz="1600" spc="35" dirty="0">
                <a:solidFill>
                  <a:srgbClr val="252525"/>
                </a:solidFill>
                <a:latin typeface="Cambria"/>
                <a:cs typeface="Cambria"/>
              </a:rPr>
              <a:t>For</a:t>
            </a:r>
            <a:r>
              <a:rPr sz="1600" dirty="0">
                <a:solidFill>
                  <a:srgbClr val="252525"/>
                </a:solidFill>
                <a:latin typeface="Cambria"/>
                <a:cs typeface="Cambria"/>
              </a:rPr>
              <a:t>	</a:t>
            </a:r>
            <a:r>
              <a:rPr sz="1600" spc="50" dirty="0">
                <a:solidFill>
                  <a:srgbClr val="252525"/>
                </a:solidFill>
                <a:latin typeface="Cambria"/>
                <a:cs typeface="Cambria"/>
              </a:rPr>
              <a:t>example,</a:t>
            </a:r>
            <a:r>
              <a:rPr sz="1600" dirty="0">
                <a:solidFill>
                  <a:srgbClr val="252525"/>
                </a:solidFill>
                <a:latin typeface="Cambria"/>
                <a:cs typeface="Cambria"/>
              </a:rPr>
              <a:t>	</a:t>
            </a:r>
            <a:r>
              <a:rPr sz="1600" spc="-10" dirty="0">
                <a:solidFill>
                  <a:srgbClr val="252525"/>
                </a:solidFill>
                <a:latin typeface="Cambria"/>
                <a:cs typeface="Cambria"/>
              </a:rPr>
              <a:t>detecting</a:t>
            </a:r>
            <a:r>
              <a:rPr sz="1600" dirty="0">
                <a:solidFill>
                  <a:srgbClr val="252525"/>
                </a:solidFill>
                <a:latin typeface="Cambria"/>
                <a:cs typeface="Cambria"/>
              </a:rPr>
              <a:t>	</a:t>
            </a:r>
            <a:r>
              <a:rPr sz="1600" spc="45" dirty="0">
                <a:solidFill>
                  <a:srgbClr val="252525"/>
                </a:solidFill>
                <a:latin typeface="Cambria"/>
                <a:cs typeface="Cambria"/>
              </a:rPr>
              <a:t>fraudulent</a:t>
            </a:r>
            <a:r>
              <a:rPr sz="1600" dirty="0">
                <a:solidFill>
                  <a:srgbClr val="252525"/>
                </a:solidFill>
                <a:latin typeface="Cambria"/>
                <a:cs typeface="Cambria"/>
              </a:rPr>
              <a:t>	</a:t>
            </a:r>
            <a:r>
              <a:rPr sz="1600" spc="40" dirty="0">
                <a:solidFill>
                  <a:srgbClr val="252525"/>
                </a:solidFill>
                <a:latin typeface="Cambria"/>
                <a:cs typeface="Cambria"/>
              </a:rPr>
              <a:t>transactions</a:t>
            </a:r>
            <a:r>
              <a:rPr sz="1600" dirty="0">
                <a:solidFill>
                  <a:srgbClr val="252525"/>
                </a:solidFill>
                <a:latin typeface="Cambria"/>
                <a:cs typeface="Cambria"/>
              </a:rPr>
              <a:t>	</a:t>
            </a:r>
            <a:r>
              <a:rPr sz="1600" spc="40" dirty="0">
                <a:solidFill>
                  <a:srgbClr val="252525"/>
                </a:solidFill>
                <a:latin typeface="Cambria"/>
                <a:cs typeface="Cambria"/>
              </a:rPr>
              <a:t>in </a:t>
            </a:r>
            <a:r>
              <a:rPr sz="1600" spc="60" dirty="0">
                <a:solidFill>
                  <a:srgbClr val="252525"/>
                </a:solidFill>
                <a:latin typeface="Cambria"/>
                <a:cs typeface="Cambria"/>
              </a:rPr>
              <a:t>financial</a:t>
            </a:r>
            <a:r>
              <a:rPr sz="1600" spc="145" dirty="0">
                <a:solidFill>
                  <a:srgbClr val="252525"/>
                </a:solidFill>
                <a:latin typeface="Cambria"/>
                <a:cs typeface="Cambria"/>
              </a:rPr>
              <a:t> </a:t>
            </a:r>
            <a:r>
              <a:rPr sz="1600" spc="50" dirty="0">
                <a:solidFill>
                  <a:srgbClr val="252525"/>
                </a:solidFill>
                <a:latin typeface="Cambria"/>
                <a:cs typeface="Cambria"/>
              </a:rPr>
              <a:t>systems.</a:t>
            </a:r>
            <a:endParaRPr sz="1600">
              <a:latin typeface="Cambria"/>
              <a:cs typeface="Cambria"/>
            </a:endParaRPr>
          </a:p>
        </p:txBody>
      </p:sp>
      <p:sp>
        <p:nvSpPr>
          <p:cNvPr id="3" name="object 3"/>
          <p:cNvSpPr txBox="1"/>
          <p:nvPr/>
        </p:nvSpPr>
        <p:spPr>
          <a:xfrm>
            <a:off x="725830" y="5403178"/>
            <a:ext cx="5997575" cy="1391920"/>
          </a:xfrm>
          <a:prstGeom prst="rect">
            <a:avLst/>
          </a:prstGeom>
        </p:spPr>
        <p:txBody>
          <a:bodyPr vert="horz" wrap="square" lIns="0" tIns="72390" rIns="0" bIns="0" rtlCol="0">
            <a:spAutoFit/>
          </a:bodyPr>
          <a:lstStyle/>
          <a:p>
            <a:pPr marL="355600" indent="-342900" algn="just">
              <a:lnSpc>
                <a:spcPct val="100000"/>
              </a:lnSpc>
              <a:spcBef>
                <a:spcPts val="570"/>
              </a:spcBef>
              <a:buClr>
                <a:srgbClr val="6E6E74"/>
              </a:buClr>
              <a:buAutoNum type="arabicPeriod" startAt="3"/>
              <a:tabLst>
                <a:tab pos="355600" algn="l"/>
              </a:tabLst>
            </a:pPr>
            <a:r>
              <a:rPr sz="1800" b="1" spc="85" dirty="0">
                <a:solidFill>
                  <a:srgbClr val="252525"/>
                </a:solidFill>
                <a:latin typeface="Cambria"/>
                <a:cs typeface="Cambria"/>
              </a:rPr>
              <a:t>Association:</a:t>
            </a:r>
            <a:endParaRPr sz="1800">
              <a:latin typeface="Cambria"/>
              <a:cs typeface="Cambria"/>
            </a:endParaRPr>
          </a:p>
          <a:p>
            <a:pPr marL="469900" lvl="1" indent="-183515" algn="just">
              <a:lnSpc>
                <a:spcPct val="100000"/>
              </a:lnSpc>
              <a:spcBef>
                <a:spcPts val="420"/>
              </a:spcBef>
              <a:buClr>
                <a:srgbClr val="6E6E74"/>
              </a:buClr>
              <a:buFont typeface="Arial MT"/>
              <a:buChar char="•"/>
              <a:tabLst>
                <a:tab pos="469900" algn="l"/>
              </a:tabLst>
            </a:pPr>
            <a:r>
              <a:rPr sz="1600" spc="10" dirty="0">
                <a:solidFill>
                  <a:srgbClr val="252525"/>
                </a:solidFill>
                <a:latin typeface="Cambria"/>
                <a:cs typeface="Cambria"/>
              </a:rPr>
              <a:t>Discovering</a:t>
            </a:r>
            <a:r>
              <a:rPr sz="1600" spc="235" dirty="0">
                <a:solidFill>
                  <a:srgbClr val="252525"/>
                </a:solidFill>
                <a:latin typeface="Cambria"/>
                <a:cs typeface="Cambria"/>
              </a:rPr>
              <a:t> </a:t>
            </a:r>
            <a:r>
              <a:rPr sz="1600" spc="10" dirty="0">
                <a:solidFill>
                  <a:srgbClr val="252525"/>
                </a:solidFill>
                <a:latin typeface="Cambria"/>
                <a:cs typeface="Cambria"/>
              </a:rPr>
              <a:t>rules</a:t>
            </a:r>
            <a:r>
              <a:rPr sz="1600" spc="190" dirty="0">
                <a:solidFill>
                  <a:srgbClr val="252525"/>
                </a:solidFill>
                <a:latin typeface="Cambria"/>
                <a:cs typeface="Cambria"/>
              </a:rPr>
              <a:t> </a:t>
            </a:r>
            <a:r>
              <a:rPr sz="1600" spc="75" dirty="0">
                <a:solidFill>
                  <a:srgbClr val="252525"/>
                </a:solidFill>
                <a:latin typeface="Cambria"/>
                <a:cs typeface="Cambria"/>
              </a:rPr>
              <a:t>that</a:t>
            </a:r>
            <a:r>
              <a:rPr sz="1600" spc="215" dirty="0">
                <a:solidFill>
                  <a:srgbClr val="252525"/>
                </a:solidFill>
                <a:latin typeface="Cambria"/>
                <a:cs typeface="Cambria"/>
              </a:rPr>
              <a:t> </a:t>
            </a:r>
            <a:r>
              <a:rPr sz="1600" spc="10" dirty="0">
                <a:solidFill>
                  <a:srgbClr val="252525"/>
                </a:solidFill>
                <a:latin typeface="Cambria"/>
                <a:cs typeface="Cambria"/>
              </a:rPr>
              <a:t>describe</a:t>
            </a:r>
            <a:r>
              <a:rPr sz="1600" spc="220" dirty="0">
                <a:solidFill>
                  <a:srgbClr val="252525"/>
                </a:solidFill>
                <a:latin typeface="Cambria"/>
                <a:cs typeface="Cambria"/>
              </a:rPr>
              <a:t> </a:t>
            </a:r>
            <a:r>
              <a:rPr sz="1600" spc="55" dirty="0">
                <a:solidFill>
                  <a:srgbClr val="252525"/>
                </a:solidFill>
                <a:latin typeface="Cambria"/>
                <a:cs typeface="Cambria"/>
              </a:rPr>
              <a:t>large</a:t>
            </a:r>
            <a:r>
              <a:rPr sz="1600" spc="210" dirty="0">
                <a:solidFill>
                  <a:srgbClr val="252525"/>
                </a:solidFill>
                <a:latin typeface="Cambria"/>
                <a:cs typeface="Cambria"/>
              </a:rPr>
              <a:t> </a:t>
            </a:r>
            <a:r>
              <a:rPr sz="1600" spc="10" dirty="0">
                <a:solidFill>
                  <a:srgbClr val="252525"/>
                </a:solidFill>
                <a:latin typeface="Cambria"/>
                <a:cs typeface="Cambria"/>
              </a:rPr>
              <a:t>portions</a:t>
            </a:r>
            <a:r>
              <a:rPr sz="1600" spc="215" dirty="0">
                <a:solidFill>
                  <a:srgbClr val="252525"/>
                </a:solidFill>
                <a:latin typeface="Cambria"/>
                <a:cs typeface="Cambria"/>
              </a:rPr>
              <a:t> </a:t>
            </a:r>
            <a:r>
              <a:rPr sz="1600" spc="10" dirty="0">
                <a:solidFill>
                  <a:srgbClr val="252525"/>
                </a:solidFill>
                <a:latin typeface="Cambria"/>
                <a:cs typeface="Cambria"/>
              </a:rPr>
              <a:t>of</a:t>
            </a:r>
            <a:r>
              <a:rPr sz="1600" spc="210" dirty="0">
                <a:solidFill>
                  <a:srgbClr val="252525"/>
                </a:solidFill>
                <a:latin typeface="Cambria"/>
                <a:cs typeface="Cambria"/>
              </a:rPr>
              <a:t> </a:t>
            </a:r>
            <a:r>
              <a:rPr sz="1600" spc="55" dirty="0">
                <a:solidFill>
                  <a:srgbClr val="252525"/>
                </a:solidFill>
                <a:latin typeface="Cambria"/>
                <a:cs typeface="Cambria"/>
              </a:rPr>
              <a:t>the</a:t>
            </a:r>
            <a:r>
              <a:rPr sz="1600" spc="200" dirty="0">
                <a:solidFill>
                  <a:srgbClr val="252525"/>
                </a:solidFill>
                <a:latin typeface="Cambria"/>
                <a:cs typeface="Cambria"/>
              </a:rPr>
              <a:t> </a:t>
            </a:r>
            <a:r>
              <a:rPr sz="1600" spc="65" dirty="0">
                <a:solidFill>
                  <a:srgbClr val="252525"/>
                </a:solidFill>
                <a:latin typeface="Cambria"/>
                <a:cs typeface="Cambria"/>
              </a:rPr>
              <a:t>data.</a:t>
            </a:r>
            <a:endParaRPr sz="1600">
              <a:latin typeface="Cambria"/>
              <a:cs typeface="Cambria"/>
            </a:endParaRPr>
          </a:p>
          <a:p>
            <a:pPr marL="469900" marR="5080" lvl="1" indent="-182880" algn="just">
              <a:lnSpc>
                <a:spcPct val="90100"/>
              </a:lnSpc>
              <a:spcBef>
                <a:spcPts val="595"/>
              </a:spcBef>
              <a:buClr>
                <a:srgbClr val="6E6E74"/>
              </a:buClr>
              <a:buFont typeface="Arial MT"/>
              <a:buChar char="•"/>
              <a:tabLst>
                <a:tab pos="469900" algn="l"/>
              </a:tabLst>
            </a:pPr>
            <a:r>
              <a:rPr sz="1600" spc="60" dirty="0">
                <a:solidFill>
                  <a:srgbClr val="252525"/>
                </a:solidFill>
                <a:latin typeface="Cambria"/>
                <a:cs typeface="Cambria"/>
              </a:rPr>
              <a:t>For</a:t>
            </a:r>
            <a:r>
              <a:rPr sz="1600" spc="175" dirty="0">
                <a:solidFill>
                  <a:srgbClr val="252525"/>
                </a:solidFill>
                <a:latin typeface="Cambria"/>
                <a:cs typeface="Cambria"/>
              </a:rPr>
              <a:t>  </a:t>
            </a:r>
            <a:r>
              <a:rPr sz="1600" spc="55" dirty="0">
                <a:solidFill>
                  <a:srgbClr val="252525"/>
                </a:solidFill>
                <a:latin typeface="Cambria"/>
                <a:cs typeface="Cambria"/>
              </a:rPr>
              <a:t>example,</a:t>
            </a:r>
            <a:r>
              <a:rPr sz="1600" spc="185" dirty="0">
                <a:solidFill>
                  <a:srgbClr val="252525"/>
                </a:solidFill>
                <a:latin typeface="Cambria"/>
                <a:cs typeface="Cambria"/>
              </a:rPr>
              <a:t>  </a:t>
            </a:r>
            <a:r>
              <a:rPr sz="1600" spc="65" dirty="0">
                <a:solidFill>
                  <a:srgbClr val="252525"/>
                </a:solidFill>
                <a:latin typeface="Cambria"/>
                <a:cs typeface="Cambria"/>
              </a:rPr>
              <a:t>market</a:t>
            </a:r>
            <a:r>
              <a:rPr sz="1600" spc="180" dirty="0">
                <a:solidFill>
                  <a:srgbClr val="252525"/>
                </a:solidFill>
                <a:latin typeface="Cambria"/>
                <a:cs typeface="Cambria"/>
              </a:rPr>
              <a:t>  </a:t>
            </a:r>
            <a:r>
              <a:rPr sz="1600" spc="60" dirty="0">
                <a:solidFill>
                  <a:srgbClr val="252525"/>
                </a:solidFill>
                <a:latin typeface="Cambria"/>
                <a:cs typeface="Cambria"/>
              </a:rPr>
              <a:t>basket</a:t>
            </a:r>
            <a:r>
              <a:rPr sz="1600" spc="185" dirty="0">
                <a:solidFill>
                  <a:srgbClr val="252525"/>
                </a:solidFill>
                <a:latin typeface="Cambria"/>
                <a:cs typeface="Cambria"/>
              </a:rPr>
              <a:t>  </a:t>
            </a:r>
            <a:r>
              <a:rPr sz="1600" spc="60" dirty="0">
                <a:solidFill>
                  <a:srgbClr val="252525"/>
                </a:solidFill>
                <a:latin typeface="Cambria"/>
                <a:cs typeface="Cambria"/>
              </a:rPr>
              <a:t>analysis</a:t>
            </a:r>
            <a:r>
              <a:rPr sz="1600" spc="175" dirty="0">
                <a:solidFill>
                  <a:srgbClr val="252525"/>
                </a:solidFill>
                <a:latin typeface="Cambria"/>
                <a:cs typeface="Cambria"/>
              </a:rPr>
              <a:t>  </a:t>
            </a:r>
            <a:r>
              <a:rPr sz="1600" spc="65" dirty="0">
                <a:solidFill>
                  <a:srgbClr val="252525"/>
                </a:solidFill>
                <a:latin typeface="Cambria"/>
                <a:cs typeface="Cambria"/>
              </a:rPr>
              <a:t>in</a:t>
            </a:r>
            <a:r>
              <a:rPr sz="1600" spc="175" dirty="0">
                <a:solidFill>
                  <a:srgbClr val="252525"/>
                </a:solidFill>
                <a:latin typeface="Cambria"/>
                <a:cs typeface="Cambria"/>
              </a:rPr>
              <a:t>  </a:t>
            </a:r>
            <a:r>
              <a:rPr sz="1600" spc="60" dirty="0">
                <a:solidFill>
                  <a:srgbClr val="252525"/>
                </a:solidFill>
                <a:latin typeface="Cambria"/>
                <a:cs typeface="Cambria"/>
              </a:rPr>
              <a:t>retail,</a:t>
            </a:r>
            <a:r>
              <a:rPr sz="1600" spc="175" dirty="0">
                <a:solidFill>
                  <a:srgbClr val="252525"/>
                </a:solidFill>
                <a:latin typeface="Cambria"/>
                <a:cs typeface="Cambria"/>
              </a:rPr>
              <a:t>  </a:t>
            </a:r>
            <a:r>
              <a:rPr sz="1600" spc="-10" dirty="0">
                <a:solidFill>
                  <a:srgbClr val="252525"/>
                </a:solidFill>
                <a:latin typeface="Cambria"/>
                <a:cs typeface="Cambria"/>
              </a:rPr>
              <a:t>where </a:t>
            </a:r>
            <a:r>
              <a:rPr sz="1600" dirty="0">
                <a:solidFill>
                  <a:srgbClr val="252525"/>
                </a:solidFill>
                <a:latin typeface="Cambria"/>
                <a:cs typeface="Cambria"/>
              </a:rPr>
              <a:t>associations</a:t>
            </a:r>
            <a:r>
              <a:rPr sz="1600" spc="300" dirty="0">
                <a:solidFill>
                  <a:srgbClr val="252525"/>
                </a:solidFill>
                <a:latin typeface="Cambria"/>
                <a:cs typeface="Cambria"/>
              </a:rPr>
              <a:t>   </a:t>
            </a:r>
            <a:r>
              <a:rPr sz="1600" dirty="0">
                <a:solidFill>
                  <a:srgbClr val="252525"/>
                </a:solidFill>
                <a:latin typeface="Cambria"/>
                <a:cs typeface="Cambria"/>
              </a:rPr>
              <a:t>between</a:t>
            </a:r>
            <a:r>
              <a:rPr sz="1600" spc="300" dirty="0">
                <a:solidFill>
                  <a:srgbClr val="252525"/>
                </a:solidFill>
                <a:latin typeface="Cambria"/>
                <a:cs typeface="Cambria"/>
              </a:rPr>
              <a:t>   </a:t>
            </a:r>
            <a:r>
              <a:rPr sz="1600" dirty="0">
                <a:solidFill>
                  <a:srgbClr val="252525"/>
                </a:solidFill>
                <a:latin typeface="Cambria"/>
                <a:cs typeface="Cambria"/>
              </a:rPr>
              <a:t>products</a:t>
            </a:r>
            <a:r>
              <a:rPr sz="1600" spc="300" dirty="0">
                <a:solidFill>
                  <a:srgbClr val="252525"/>
                </a:solidFill>
                <a:latin typeface="Cambria"/>
                <a:cs typeface="Cambria"/>
              </a:rPr>
              <a:t>   </a:t>
            </a:r>
            <a:r>
              <a:rPr sz="1600" dirty="0">
                <a:solidFill>
                  <a:srgbClr val="252525"/>
                </a:solidFill>
                <a:latin typeface="Cambria"/>
                <a:cs typeface="Cambria"/>
              </a:rPr>
              <a:t>bought</a:t>
            </a:r>
            <a:r>
              <a:rPr sz="1600" spc="300" dirty="0">
                <a:solidFill>
                  <a:srgbClr val="252525"/>
                </a:solidFill>
                <a:latin typeface="Cambria"/>
                <a:cs typeface="Cambria"/>
              </a:rPr>
              <a:t>   </a:t>
            </a:r>
            <a:r>
              <a:rPr sz="1600" dirty="0">
                <a:solidFill>
                  <a:srgbClr val="252525"/>
                </a:solidFill>
                <a:latin typeface="Cambria"/>
                <a:cs typeface="Cambria"/>
              </a:rPr>
              <a:t>together</a:t>
            </a:r>
            <a:r>
              <a:rPr sz="1600" spc="295" dirty="0">
                <a:solidFill>
                  <a:srgbClr val="252525"/>
                </a:solidFill>
                <a:latin typeface="Cambria"/>
                <a:cs typeface="Cambria"/>
              </a:rPr>
              <a:t>   </a:t>
            </a:r>
            <a:r>
              <a:rPr sz="1600" spc="25" dirty="0">
                <a:solidFill>
                  <a:srgbClr val="252525"/>
                </a:solidFill>
                <a:latin typeface="Cambria"/>
                <a:cs typeface="Cambria"/>
              </a:rPr>
              <a:t>are </a:t>
            </a:r>
            <a:r>
              <a:rPr sz="1600" spc="-10" dirty="0">
                <a:solidFill>
                  <a:srgbClr val="252525"/>
                </a:solidFill>
                <a:latin typeface="Cambria"/>
                <a:cs typeface="Cambria"/>
              </a:rPr>
              <a:t>identified.</a:t>
            </a:r>
            <a:endParaRPr sz="1600">
              <a:latin typeface="Cambria"/>
              <a:cs typeface="Cambria"/>
            </a:endParaRPr>
          </a:p>
        </p:txBody>
      </p:sp>
      <p:grpSp>
        <p:nvGrpSpPr>
          <p:cNvPr id="5" name="object 5"/>
          <p:cNvGrpSpPr/>
          <p:nvPr/>
        </p:nvGrpSpPr>
        <p:grpSpPr>
          <a:xfrm>
            <a:off x="6882701" y="3875595"/>
            <a:ext cx="4354195" cy="2900045"/>
            <a:chOff x="6882701" y="3875595"/>
            <a:chExt cx="4354195" cy="2900045"/>
          </a:xfrm>
        </p:grpSpPr>
        <p:pic>
          <p:nvPicPr>
            <p:cNvPr id="6" name="object 6"/>
            <p:cNvPicPr/>
            <p:nvPr/>
          </p:nvPicPr>
          <p:blipFill>
            <a:blip r:embed="rId2" cstate="print"/>
            <a:stretch>
              <a:fillRect/>
            </a:stretch>
          </p:blipFill>
          <p:spPr>
            <a:xfrm>
              <a:off x="6970148" y="3945740"/>
              <a:ext cx="4187077" cy="2794231"/>
            </a:xfrm>
            <a:prstGeom prst="rect">
              <a:avLst/>
            </a:prstGeom>
          </p:spPr>
        </p:pic>
        <p:pic>
          <p:nvPicPr>
            <p:cNvPr id="7" name="object 7"/>
            <p:cNvPicPr/>
            <p:nvPr/>
          </p:nvPicPr>
          <p:blipFill>
            <a:blip r:embed="rId3" cstate="print"/>
            <a:stretch>
              <a:fillRect/>
            </a:stretch>
          </p:blipFill>
          <p:spPr>
            <a:xfrm>
              <a:off x="6882828" y="3875595"/>
              <a:ext cx="4344415" cy="2899853"/>
            </a:xfrm>
            <a:prstGeom prst="rect">
              <a:avLst/>
            </a:prstGeom>
          </p:spPr>
        </p:pic>
        <p:pic>
          <p:nvPicPr>
            <p:cNvPr id="8" name="object 8"/>
            <p:cNvPicPr/>
            <p:nvPr/>
          </p:nvPicPr>
          <p:blipFill>
            <a:blip r:embed="rId4" cstate="print"/>
            <a:stretch>
              <a:fillRect/>
            </a:stretch>
          </p:blipFill>
          <p:spPr>
            <a:xfrm>
              <a:off x="6882828" y="3875595"/>
              <a:ext cx="4344415" cy="2899853"/>
            </a:xfrm>
            <a:prstGeom prst="rect">
              <a:avLst/>
            </a:prstGeom>
          </p:spPr>
        </p:pic>
        <p:sp>
          <p:nvSpPr>
            <p:cNvPr id="9" name="object 9"/>
            <p:cNvSpPr/>
            <p:nvPr/>
          </p:nvSpPr>
          <p:spPr>
            <a:xfrm>
              <a:off x="6887464" y="3880358"/>
              <a:ext cx="4344670" cy="2890520"/>
            </a:xfrm>
            <a:custGeom>
              <a:avLst/>
              <a:gdLst/>
              <a:ahLst/>
              <a:cxnLst/>
              <a:rect l="l" t="t" r="r" b="b"/>
              <a:pathLst>
                <a:path w="4344670" h="2890520">
                  <a:moveTo>
                    <a:pt x="336930" y="0"/>
                  </a:moveTo>
                  <a:lnTo>
                    <a:pt x="4007484" y="0"/>
                  </a:lnTo>
                  <a:lnTo>
                    <a:pt x="4041902" y="1778"/>
                  </a:lnTo>
                  <a:lnTo>
                    <a:pt x="4107560" y="15240"/>
                  </a:lnTo>
                  <a:lnTo>
                    <a:pt x="4168012" y="40767"/>
                  </a:lnTo>
                  <a:lnTo>
                    <a:pt x="4221733" y="76962"/>
                  </a:lnTo>
                  <a:lnTo>
                    <a:pt x="4267454" y="122682"/>
                  </a:lnTo>
                  <a:lnTo>
                    <a:pt x="4303776" y="176403"/>
                  </a:lnTo>
                  <a:lnTo>
                    <a:pt x="4329303" y="236855"/>
                  </a:lnTo>
                  <a:lnTo>
                    <a:pt x="4342637" y="302641"/>
                  </a:lnTo>
                  <a:lnTo>
                    <a:pt x="4344415" y="336931"/>
                  </a:lnTo>
                  <a:lnTo>
                    <a:pt x="4344415" y="2553449"/>
                  </a:lnTo>
                  <a:lnTo>
                    <a:pt x="4337558" y="2621241"/>
                  </a:lnTo>
                  <a:lnTo>
                    <a:pt x="4317872" y="2684500"/>
                  </a:lnTo>
                  <a:lnTo>
                    <a:pt x="4286884" y="2741752"/>
                  </a:lnTo>
                  <a:lnTo>
                    <a:pt x="4245736" y="2791625"/>
                  </a:lnTo>
                  <a:lnTo>
                    <a:pt x="4195826" y="2832773"/>
                  </a:lnTo>
                  <a:lnTo>
                    <a:pt x="4138549" y="2863848"/>
                  </a:lnTo>
                  <a:lnTo>
                    <a:pt x="4075303" y="2883486"/>
                  </a:lnTo>
                  <a:lnTo>
                    <a:pt x="4007484" y="2890328"/>
                  </a:lnTo>
                  <a:lnTo>
                    <a:pt x="336930" y="2890328"/>
                  </a:lnTo>
                  <a:lnTo>
                    <a:pt x="269112" y="2883486"/>
                  </a:lnTo>
                  <a:lnTo>
                    <a:pt x="205866" y="2863848"/>
                  </a:lnTo>
                  <a:lnTo>
                    <a:pt x="148589" y="2832773"/>
                  </a:lnTo>
                  <a:lnTo>
                    <a:pt x="98805" y="2791625"/>
                  </a:lnTo>
                  <a:lnTo>
                    <a:pt x="57657" y="2741752"/>
                  </a:lnTo>
                  <a:lnTo>
                    <a:pt x="26542" y="2684500"/>
                  </a:lnTo>
                  <a:lnTo>
                    <a:pt x="6857" y="2621241"/>
                  </a:lnTo>
                  <a:lnTo>
                    <a:pt x="0" y="2553449"/>
                  </a:lnTo>
                  <a:lnTo>
                    <a:pt x="0" y="336931"/>
                  </a:lnTo>
                  <a:lnTo>
                    <a:pt x="6857" y="269113"/>
                  </a:lnTo>
                  <a:lnTo>
                    <a:pt x="26542" y="205867"/>
                  </a:lnTo>
                  <a:lnTo>
                    <a:pt x="57657" y="148590"/>
                  </a:lnTo>
                  <a:lnTo>
                    <a:pt x="98805" y="98806"/>
                  </a:lnTo>
                  <a:lnTo>
                    <a:pt x="148589" y="57658"/>
                  </a:lnTo>
                  <a:lnTo>
                    <a:pt x="205866" y="26543"/>
                  </a:lnTo>
                  <a:lnTo>
                    <a:pt x="269112" y="6858"/>
                  </a:lnTo>
                  <a:lnTo>
                    <a:pt x="336930" y="0"/>
                  </a:lnTo>
                  <a:close/>
                </a:path>
              </a:pathLst>
            </a:custGeom>
            <a:ln w="9524">
              <a:solidFill>
                <a:srgbClr val="6E6E74"/>
              </a:solidFill>
            </a:ln>
          </p:spPr>
          <p:txBody>
            <a:bodyPr wrap="square" lIns="0" tIns="0" rIns="0" bIns="0" rtlCol="0"/>
            <a:lstStyle/>
            <a:p>
              <a:endParaRPr/>
            </a:p>
          </p:txBody>
        </p:sp>
      </p:grpSp>
      <p:sp>
        <p:nvSpPr>
          <p:cNvPr id="10" name="object 10"/>
          <p:cNvSpPr txBox="1">
            <a:spLocks noGrp="1"/>
          </p:cNvSpPr>
          <p:nvPr>
            <p:ph type="title"/>
          </p:nvPr>
        </p:nvSpPr>
        <p:spPr>
          <a:xfrm>
            <a:off x="641625" y="28655"/>
            <a:ext cx="10515600" cy="1325563"/>
          </a:xfrm>
          <a:prstGeom prst="rect">
            <a:avLst/>
          </a:prstGeom>
        </p:spPr>
        <p:txBody>
          <a:bodyPr vert="horz" wrap="square" lIns="0" tIns="12065" rIns="0" bIns="0" rtlCol="0">
            <a:spAutoFit/>
          </a:bodyPr>
          <a:lstStyle/>
          <a:p>
            <a:pPr marL="12700">
              <a:lnSpc>
                <a:spcPct val="100000"/>
              </a:lnSpc>
              <a:spcBef>
                <a:spcPts val="95"/>
              </a:spcBef>
            </a:pPr>
            <a:r>
              <a:rPr spc="114" dirty="0"/>
              <a:t>Types</a:t>
            </a:r>
            <a:r>
              <a:rPr spc="110" dirty="0"/>
              <a:t> </a:t>
            </a:r>
            <a:r>
              <a:rPr spc="105" dirty="0"/>
              <a:t>of </a:t>
            </a:r>
            <a:r>
              <a:rPr spc="170" dirty="0"/>
              <a:t>Machine</a:t>
            </a:r>
            <a:r>
              <a:rPr spc="100" dirty="0"/>
              <a:t> </a:t>
            </a:r>
            <a:r>
              <a:rPr spc="165" dirty="0"/>
              <a:t>Learning</a:t>
            </a:r>
          </a:p>
        </p:txBody>
      </p:sp>
      <p:pic>
        <p:nvPicPr>
          <p:cNvPr id="11" name="object 11"/>
          <p:cNvPicPr/>
          <p:nvPr/>
        </p:nvPicPr>
        <p:blipFill>
          <a:blip r:embed="rId5" cstate="print"/>
          <a:stretch>
            <a:fillRect/>
          </a:stretch>
        </p:blipFill>
        <p:spPr>
          <a:xfrm>
            <a:off x="6777990" y="1302638"/>
            <a:ext cx="4491990" cy="252679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416969" y="841861"/>
            <a:ext cx="7711678" cy="833410"/>
          </a:xfrm>
          <a:prstGeom prst="rect">
            <a:avLst/>
          </a:prstGeom>
        </p:spPr>
        <p:txBody>
          <a:bodyPr vert="horz" wrap="square" lIns="0" tIns="8930" rIns="0" bIns="0" rtlCol="0">
            <a:spAutoFit/>
          </a:bodyPr>
          <a:lstStyle/>
          <a:p>
            <a:pPr marL="321011" indent="-312081">
              <a:spcBef>
                <a:spcPts val="70"/>
              </a:spcBef>
              <a:buClr>
                <a:srgbClr val="000000"/>
              </a:buClr>
              <a:buAutoNum type="arabicPeriod" startAt="2"/>
              <a:tabLst>
                <a:tab pos="321011" algn="l"/>
              </a:tabLst>
            </a:pPr>
            <a:r>
              <a:rPr sz="1758" spc="-7" dirty="0">
                <a:solidFill>
                  <a:srgbClr val="0076BA"/>
                </a:solidFill>
                <a:latin typeface="Trebuchet MS"/>
                <a:cs typeface="Trebuchet MS"/>
              </a:rPr>
              <a:t>Unsupervised</a:t>
            </a:r>
            <a:r>
              <a:rPr sz="1758" spc="-88" dirty="0">
                <a:solidFill>
                  <a:srgbClr val="0076BA"/>
                </a:solidFill>
                <a:latin typeface="Trebuchet MS"/>
                <a:cs typeface="Trebuchet MS"/>
              </a:rPr>
              <a:t> </a:t>
            </a:r>
            <a:r>
              <a:rPr sz="1758" spc="-42" dirty="0">
                <a:solidFill>
                  <a:srgbClr val="0076BA"/>
                </a:solidFill>
                <a:latin typeface="Trebuchet MS"/>
                <a:cs typeface="Trebuchet MS"/>
              </a:rPr>
              <a:t>learning</a:t>
            </a:r>
            <a:r>
              <a:rPr sz="1758" spc="-42" dirty="0">
                <a:latin typeface="Trebuchet MS"/>
                <a:cs typeface="Trebuchet MS"/>
              </a:rPr>
              <a:t>:</a:t>
            </a:r>
            <a:r>
              <a:rPr sz="1758" spc="-56" dirty="0">
                <a:latin typeface="Trebuchet MS"/>
                <a:cs typeface="Trebuchet MS"/>
              </a:rPr>
              <a:t> </a:t>
            </a:r>
            <a:r>
              <a:rPr sz="1758" spc="148" dirty="0">
                <a:latin typeface="Trebuchet MS"/>
                <a:cs typeface="Trebuchet MS"/>
              </a:rPr>
              <a:t>ML</a:t>
            </a:r>
            <a:r>
              <a:rPr sz="1758" spc="-60" dirty="0">
                <a:latin typeface="Trebuchet MS"/>
                <a:cs typeface="Trebuchet MS"/>
              </a:rPr>
              <a:t> system</a:t>
            </a:r>
            <a:r>
              <a:rPr sz="1758" spc="-56" dirty="0">
                <a:latin typeface="Trebuchet MS"/>
                <a:cs typeface="Trebuchet MS"/>
              </a:rPr>
              <a:t> </a:t>
            </a:r>
            <a:r>
              <a:rPr sz="1758" spc="-84" dirty="0">
                <a:latin typeface="Trebuchet MS"/>
                <a:cs typeface="Trebuchet MS"/>
              </a:rPr>
              <a:t>tries</a:t>
            </a:r>
            <a:r>
              <a:rPr sz="1758" spc="-49" dirty="0">
                <a:latin typeface="Trebuchet MS"/>
                <a:cs typeface="Trebuchet MS"/>
              </a:rPr>
              <a:t> </a:t>
            </a:r>
            <a:r>
              <a:rPr sz="1758" spc="-95" dirty="0">
                <a:latin typeface="Trebuchet MS"/>
                <a:cs typeface="Trebuchet MS"/>
              </a:rPr>
              <a:t>to</a:t>
            </a:r>
            <a:r>
              <a:rPr sz="1758" spc="-42" dirty="0">
                <a:latin typeface="Trebuchet MS"/>
                <a:cs typeface="Trebuchet MS"/>
              </a:rPr>
              <a:t> learn</a:t>
            </a:r>
            <a:r>
              <a:rPr sz="1758" spc="-56" dirty="0">
                <a:latin typeface="Trebuchet MS"/>
                <a:cs typeface="Trebuchet MS"/>
              </a:rPr>
              <a:t> </a:t>
            </a:r>
            <a:r>
              <a:rPr sz="1758" spc="-42" dirty="0">
                <a:latin typeface="Trebuchet MS"/>
                <a:cs typeface="Trebuchet MS"/>
              </a:rPr>
              <a:t>without</a:t>
            </a:r>
            <a:r>
              <a:rPr sz="1758" spc="-60" dirty="0">
                <a:latin typeface="Trebuchet MS"/>
                <a:cs typeface="Trebuchet MS"/>
              </a:rPr>
              <a:t> </a:t>
            </a:r>
            <a:r>
              <a:rPr sz="1758" dirty="0">
                <a:latin typeface="Trebuchet MS"/>
                <a:cs typeface="Trebuchet MS"/>
              </a:rPr>
              <a:t>a</a:t>
            </a:r>
            <a:r>
              <a:rPr sz="1758" spc="-60" dirty="0">
                <a:latin typeface="Trebuchet MS"/>
                <a:cs typeface="Trebuchet MS"/>
              </a:rPr>
              <a:t> </a:t>
            </a:r>
            <a:r>
              <a:rPr sz="1758" spc="-7" dirty="0">
                <a:latin typeface="Trebuchet MS"/>
                <a:cs typeface="Trebuchet MS"/>
              </a:rPr>
              <a:t>teacher</a:t>
            </a:r>
            <a:endParaRPr sz="1758">
              <a:latin typeface="Trebuchet MS"/>
              <a:cs typeface="Trebuchet MS"/>
            </a:endParaRPr>
          </a:p>
          <a:p>
            <a:pPr>
              <a:spcBef>
                <a:spcPts val="63"/>
              </a:spcBef>
              <a:buFont typeface="Trebuchet MS"/>
              <a:buAutoNum type="arabicPeriod" startAt="2"/>
            </a:pPr>
            <a:endParaRPr sz="1758">
              <a:latin typeface="Trebuchet MS"/>
              <a:cs typeface="Trebuchet MS"/>
            </a:endParaRPr>
          </a:p>
          <a:p>
            <a:pPr marL="437539" lvl="1" indent="-267881">
              <a:buSzPct val="122000"/>
              <a:buChar char="•"/>
              <a:tabLst>
                <a:tab pos="437539" algn="l"/>
              </a:tabLst>
            </a:pPr>
            <a:r>
              <a:rPr sz="1758" spc="-60" dirty="0">
                <a:latin typeface="Trebuchet MS"/>
                <a:cs typeface="Trebuchet MS"/>
              </a:rPr>
              <a:t>For</a:t>
            </a:r>
            <a:r>
              <a:rPr sz="1758" spc="-74" dirty="0">
                <a:latin typeface="Trebuchet MS"/>
                <a:cs typeface="Trebuchet MS"/>
              </a:rPr>
              <a:t> </a:t>
            </a:r>
            <a:r>
              <a:rPr sz="1758" spc="-56" dirty="0">
                <a:latin typeface="Trebuchet MS"/>
                <a:cs typeface="Trebuchet MS"/>
              </a:rPr>
              <a:t>example,</a:t>
            </a:r>
            <a:r>
              <a:rPr sz="1758" spc="-63" dirty="0">
                <a:latin typeface="Trebuchet MS"/>
                <a:cs typeface="Trebuchet MS"/>
              </a:rPr>
              <a:t> </a:t>
            </a:r>
            <a:r>
              <a:rPr sz="1758" spc="-25" dirty="0">
                <a:latin typeface="Trebuchet MS"/>
                <a:cs typeface="Trebuchet MS"/>
              </a:rPr>
              <a:t>based</a:t>
            </a:r>
            <a:r>
              <a:rPr sz="1758" spc="-53" dirty="0">
                <a:latin typeface="Trebuchet MS"/>
                <a:cs typeface="Trebuchet MS"/>
              </a:rPr>
              <a:t> </a:t>
            </a:r>
            <a:r>
              <a:rPr sz="1758" dirty="0">
                <a:latin typeface="Trebuchet MS"/>
                <a:cs typeface="Trebuchet MS"/>
              </a:rPr>
              <a:t>on</a:t>
            </a:r>
            <a:r>
              <a:rPr sz="1758" spc="-53"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dirty="0">
                <a:latin typeface="Trebuchet MS"/>
                <a:cs typeface="Trebuchet MS"/>
              </a:rPr>
              <a:t>shopping</a:t>
            </a:r>
            <a:r>
              <a:rPr sz="1758" spc="-56" dirty="0">
                <a:latin typeface="Trebuchet MS"/>
                <a:cs typeface="Trebuchet MS"/>
              </a:rPr>
              <a:t> </a:t>
            </a:r>
            <a:r>
              <a:rPr sz="1758" spc="-80" dirty="0">
                <a:latin typeface="Trebuchet MS"/>
                <a:cs typeface="Trebuchet MS"/>
              </a:rPr>
              <a:t>history,</a:t>
            </a:r>
            <a:r>
              <a:rPr sz="1758" spc="-49" dirty="0">
                <a:latin typeface="Trebuchet MS"/>
                <a:cs typeface="Trebuchet MS"/>
              </a:rPr>
              <a:t> </a:t>
            </a:r>
            <a:r>
              <a:rPr sz="1758" spc="-98" dirty="0">
                <a:latin typeface="Trebuchet MS"/>
                <a:cs typeface="Trebuchet MS"/>
              </a:rPr>
              <a:t>detect</a:t>
            </a:r>
            <a:r>
              <a:rPr sz="1758" spc="-42" dirty="0">
                <a:latin typeface="Trebuchet MS"/>
                <a:cs typeface="Trebuchet MS"/>
              </a:rPr>
              <a:t> </a:t>
            </a:r>
            <a:r>
              <a:rPr sz="1758" spc="-7" dirty="0">
                <a:latin typeface="Trebuchet MS"/>
                <a:cs typeface="Trebuchet MS"/>
              </a:rPr>
              <a:t>groups</a:t>
            </a:r>
            <a:r>
              <a:rPr sz="1758" spc="-53" dirty="0">
                <a:latin typeface="Trebuchet MS"/>
                <a:cs typeface="Trebuchet MS"/>
              </a:rPr>
              <a:t> </a:t>
            </a:r>
            <a:r>
              <a:rPr sz="1758" spc="-39" dirty="0">
                <a:latin typeface="Trebuchet MS"/>
                <a:cs typeface="Trebuchet MS"/>
              </a:rPr>
              <a:t>of</a:t>
            </a:r>
            <a:r>
              <a:rPr sz="1758" spc="-56" dirty="0">
                <a:latin typeface="Trebuchet MS"/>
                <a:cs typeface="Trebuchet MS"/>
              </a:rPr>
              <a:t> </a:t>
            </a:r>
            <a:r>
              <a:rPr sz="1758" spc="-32" dirty="0">
                <a:latin typeface="Trebuchet MS"/>
                <a:cs typeface="Trebuchet MS"/>
              </a:rPr>
              <a:t>similar</a:t>
            </a:r>
            <a:r>
              <a:rPr sz="1758" spc="-53" dirty="0">
                <a:latin typeface="Trebuchet MS"/>
                <a:cs typeface="Trebuchet MS"/>
              </a:rPr>
              <a:t> </a:t>
            </a:r>
            <a:r>
              <a:rPr sz="1758" spc="-7" dirty="0">
                <a:latin typeface="Trebuchet MS"/>
                <a:cs typeface="Trebuchet MS"/>
              </a:rPr>
              <a:t>visitors</a:t>
            </a:r>
            <a:endParaRPr sz="1758">
              <a:latin typeface="Trebuchet MS"/>
              <a:cs typeface="Trebuchet MS"/>
            </a:endParaRPr>
          </a:p>
        </p:txBody>
      </p:sp>
      <p:sp>
        <p:nvSpPr>
          <p:cNvPr id="4" name="object 4"/>
          <p:cNvSpPr txBox="1"/>
          <p:nvPr/>
        </p:nvSpPr>
        <p:spPr>
          <a:xfrm>
            <a:off x="2577703" y="4054539"/>
            <a:ext cx="7539335" cy="27954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18" dirty="0">
                <a:latin typeface="Trebuchet MS"/>
                <a:cs typeface="Trebuchet MS"/>
              </a:rPr>
              <a:t>Another</a:t>
            </a:r>
            <a:r>
              <a:rPr sz="1758" spc="-102" dirty="0">
                <a:latin typeface="Trebuchet MS"/>
                <a:cs typeface="Trebuchet MS"/>
              </a:rPr>
              <a:t> </a:t>
            </a:r>
            <a:r>
              <a:rPr sz="1758" spc="-32" dirty="0">
                <a:latin typeface="Trebuchet MS"/>
                <a:cs typeface="Trebuchet MS"/>
              </a:rPr>
              <a:t>example</a:t>
            </a:r>
            <a:r>
              <a:rPr sz="1758" spc="-67" dirty="0">
                <a:latin typeface="Trebuchet MS"/>
                <a:cs typeface="Trebuchet MS"/>
              </a:rPr>
              <a:t> </a:t>
            </a:r>
            <a:r>
              <a:rPr sz="1758" dirty="0">
                <a:latin typeface="Trebuchet MS"/>
                <a:cs typeface="Trebuchet MS"/>
              </a:rPr>
              <a:t>is</a:t>
            </a:r>
            <a:r>
              <a:rPr sz="1758" spc="-67" dirty="0">
                <a:latin typeface="Trebuchet MS"/>
                <a:cs typeface="Trebuchet MS"/>
              </a:rPr>
              <a:t> </a:t>
            </a:r>
            <a:r>
              <a:rPr sz="1758" spc="-39" dirty="0">
                <a:latin typeface="Trebuchet MS"/>
                <a:cs typeface="Trebuchet MS"/>
              </a:rPr>
              <a:t>novelty</a:t>
            </a:r>
            <a:r>
              <a:rPr sz="1758" spc="-67" dirty="0">
                <a:latin typeface="Trebuchet MS"/>
                <a:cs typeface="Trebuchet MS"/>
              </a:rPr>
              <a:t> </a:t>
            </a:r>
            <a:r>
              <a:rPr sz="1758" spc="-77" dirty="0">
                <a:latin typeface="Trebuchet MS"/>
                <a:cs typeface="Trebuchet MS"/>
              </a:rPr>
              <a:t>detection:</a:t>
            </a:r>
            <a:r>
              <a:rPr sz="1758" spc="-53" dirty="0">
                <a:latin typeface="Trebuchet MS"/>
                <a:cs typeface="Trebuchet MS"/>
              </a:rPr>
              <a:t> </a:t>
            </a:r>
            <a:r>
              <a:rPr sz="1758" spc="-32" dirty="0">
                <a:latin typeface="Trebuchet MS"/>
                <a:cs typeface="Trebuchet MS"/>
              </a:rPr>
              <a:t>find</a:t>
            </a:r>
            <a:r>
              <a:rPr sz="1758" spc="-67" dirty="0">
                <a:latin typeface="Trebuchet MS"/>
                <a:cs typeface="Trebuchet MS"/>
              </a:rPr>
              <a:t> </a:t>
            </a:r>
            <a:r>
              <a:rPr sz="1758" dirty="0">
                <a:latin typeface="Trebuchet MS"/>
                <a:cs typeface="Trebuchet MS"/>
              </a:rPr>
              <a:t>new</a:t>
            </a:r>
            <a:r>
              <a:rPr sz="1758" spc="-67" dirty="0">
                <a:latin typeface="Trebuchet MS"/>
                <a:cs typeface="Trebuchet MS"/>
              </a:rPr>
              <a:t> </a:t>
            </a:r>
            <a:r>
              <a:rPr sz="1758" spc="-35" dirty="0">
                <a:latin typeface="Trebuchet MS"/>
                <a:cs typeface="Trebuchet MS"/>
              </a:rPr>
              <a:t>instances</a:t>
            </a:r>
            <a:r>
              <a:rPr sz="1758" spc="-63" dirty="0">
                <a:latin typeface="Trebuchet MS"/>
                <a:cs typeface="Trebuchet MS"/>
              </a:rPr>
              <a:t> </a:t>
            </a:r>
            <a:r>
              <a:rPr sz="1758" spc="-120" dirty="0">
                <a:latin typeface="Trebuchet MS"/>
                <a:cs typeface="Trebuchet MS"/>
              </a:rPr>
              <a:t>that</a:t>
            </a:r>
            <a:r>
              <a:rPr sz="1758" spc="-42" dirty="0">
                <a:latin typeface="Trebuchet MS"/>
                <a:cs typeface="Trebuchet MS"/>
              </a:rPr>
              <a:t> </a:t>
            </a:r>
            <a:r>
              <a:rPr sz="1758" dirty="0">
                <a:latin typeface="Trebuchet MS"/>
                <a:cs typeface="Trebuchet MS"/>
              </a:rPr>
              <a:t>look</a:t>
            </a:r>
            <a:r>
              <a:rPr sz="1758" spc="-67" dirty="0">
                <a:latin typeface="Trebuchet MS"/>
                <a:cs typeface="Trebuchet MS"/>
              </a:rPr>
              <a:t> </a:t>
            </a:r>
            <a:r>
              <a:rPr sz="1758" spc="-56" dirty="0">
                <a:latin typeface="Trebuchet MS"/>
                <a:cs typeface="Trebuchet MS"/>
              </a:rPr>
              <a:t>different</a:t>
            </a:r>
            <a:endParaRPr sz="1758">
              <a:latin typeface="Trebuchet MS"/>
              <a:cs typeface="Trebuchet MS"/>
            </a:endParaRPr>
          </a:p>
        </p:txBody>
      </p:sp>
      <p:sp>
        <p:nvSpPr>
          <p:cNvPr id="5" name="object 5"/>
          <p:cNvSpPr txBox="1">
            <a:spLocks noGrp="1"/>
          </p:cNvSpPr>
          <p:nvPr>
            <p:ph type="title"/>
          </p:nvPr>
        </p:nvSpPr>
        <p:spPr>
          <a:xfrm>
            <a:off x="2091041" y="99491"/>
            <a:ext cx="7393781" cy="686126"/>
          </a:xfrm>
          <a:prstGeom prst="rect">
            <a:avLst/>
          </a:prstGeom>
        </p:spPr>
        <p:txBody>
          <a:bodyPr vert="horz" wrap="square" lIns="0" tIns="8930" rIns="0" bIns="0" rtlCol="0" anchor="ctr">
            <a:spAutoFit/>
          </a:bodyPr>
          <a:lstStyle/>
          <a:p>
            <a:pPr marL="8929">
              <a:lnSpc>
                <a:spcPct val="100000"/>
              </a:lnSpc>
              <a:spcBef>
                <a:spcPts val="70"/>
              </a:spcBef>
            </a:pPr>
            <a:r>
              <a:rPr spc="-218" dirty="0"/>
              <a:t>Types</a:t>
            </a:r>
            <a:r>
              <a:rPr spc="-161" dirty="0"/>
              <a:t> </a:t>
            </a:r>
            <a:r>
              <a:rPr spc="-123" dirty="0"/>
              <a:t>of</a:t>
            </a:r>
            <a:r>
              <a:rPr spc="-161" dirty="0"/>
              <a:t> </a:t>
            </a:r>
            <a:r>
              <a:rPr spc="-155" dirty="0"/>
              <a:t>machine</a:t>
            </a:r>
            <a:r>
              <a:rPr spc="-161" dirty="0"/>
              <a:t> </a:t>
            </a:r>
            <a:r>
              <a:rPr spc="-116" dirty="0"/>
              <a:t>learning</a:t>
            </a:r>
          </a:p>
        </p:txBody>
      </p:sp>
      <p:pic>
        <p:nvPicPr>
          <p:cNvPr id="6" name="object 6"/>
          <p:cNvPicPr/>
          <p:nvPr/>
        </p:nvPicPr>
        <p:blipFill>
          <a:blip r:embed="rId2" cstate="print"/>
          <a:stretch>
            <a:fillRect/>
          </a:stretch>
        </p:blipFill>
        <p:spPr>
          <a:xfrm>
            <a:off x="4107583" y="1941483"/>
            <a:ext cx="3976834" cy="1918430"/>
          </a:xfrm>
          <a:prstGeom prst="rect">
            <a:avLst/>
          </a:prstGeom>
        </p:spPr>
      </p:pic>
      <p:pic>
        <p:nvPicPr>
          <p:cNvPr id="7" name="object 7"/>
          <p:cNvPicPr/>
          <p:nvPr/>
        </p:nvPicPr>
        <p:blipFill>
          <a:blip r:embed="rId3" cstate="print"/>
          <a:stretch>
            <a:fillRect/>
          </a:stretch>
        </p:blipFill>
        <p:spPr>
          <a:xfrm>
            <a:off x="3995981" y="4376862"/>
            <a:ext cx="4200036" cy="207710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21751" y="1936051"/>
            <a:ext cx="9004935" cy="1933575"/>
            <a:chOff x="1821751" y="1936051"/>
            <a:chExt cx="9004935" cy="1933575"/>
          </a:xfrm>
        </p:grpSpPr>
        <p:sp>
          <p:nvSpPr>
            <p:cNvPr id="3" name="object 3"/>
            <p:cNvSpPr/>
            <p:nvPr/>
          </p:nvSpPr>
          <p:spPr>
            <a:xfrm>
              <a:off x="1828419" y="1942719"/>
              <a:ext cx="8991600" cy="1920239"/>
            </a:xfrm>
            <a:custGeom>
              <a:avLst/>
              <a:gdLst/>
              <a:ahLst/>
              <a:cxnLst/>
              <a:rect l="l" t="t" r="r" b="b"/>
              <a:pathLst>
                <a:path w="8991600" h="1920239">
                  <a:moveTo>
                    <a:pt x="8671560" y="0"/>
                  </a:moveTo>
                  <a:lnTo>
                    <a:pt x="320039" y="0"/>
                  </a:lnTo>
                  <a:lnTo>
                    <a:pt x="272739" y="3469"/>
                  </a:lnTo>
                  <a:lnTo>
                    <a:pt x="227596" y="13547"/>
                  </a:lnTo>
                  <a:lnTo>
                    <a:pt x="185105" y="29740"/>
                  </a:lnTo>
                  <a:lnTo>
                    <a:pt x="145761" y="51552"/>
                  </a:lnTo>
                  <a:lnTo>
                    <a:pt x="110057" y="78490"/>
                  </a:lnTo>
                  <a:lnTo>
                    <a:pt x="78490" y="110057"/>
                  </a:lnTo>
                  <a:lnTo>
                    <a:pt x="51552" y="145761"/>
                  </a:lnTo>
                  <a:lnTo>
                    <a:pt x="29740" y="185105"/>
                  </a:lnTo>
                  <a:lnTo>
                    <a:pt x="13547" y="227596"/>
                  </a:lnTo>
                  <a:lnTo>
                    <a:pt x="3469" y="272739"/>
                  </a:lnTo>
                  <a:lnTo>
                    <a:pt x="0" y="320039"/>
                  </a:lnTo>
                  <a:lnTo>
                    <a:pt x="0" y="1600200"/>
                  </a:lnTo>
                  <a:lnTo>
                    <a:pt x="3469" y="1647500"/>
                  </a:lnTo>
                  <a:lnTo>
                    <a:pt x="13547" y="1692643"/>
                  </a:lnTo>
                  <a:lnTo>
                    <a:pt x="29740" y="1735134"/>
                  </a:lnTo>
                  <a:lnTo>
                    <a:pt x="51552" y="1774478"/>
                  </a:lnTo>
                  <a:lnTo>
                    <a:pt x="78490" y="1810182"/>
                  </a:lnTo>
                  <a:lnTo>
                    <a:pt x="110057" y="1841749"/>
                  </a:lnTo>
                  <a:lnTo>
                    <a:pt x="145761" y="1868687"/>
                  </a:lnTo>
                  <a:lnTo>
                    <a:pt x="185105" y="1890499"/>
                  </a:lnTo>
                  <a:lnTo>
                    <a:pt x="227596" y="1906692"/>
                  </a:lnTo>
                  <a:lnTo>
                    <a:pt x="272739" y="1916770"/>
                  </a:lnTo>
                  <a:lnTo>
                    <a:pt x="320039" y="1920239"/>
                  </a:lnTo>
                  <a:lnTo>
                    <a:pt x="8671560" y="1920239"/>
                  </a:lnTo>
                  <a:lnTo>
                    <a:pt x="8718860" y="1916770"/>
                  </a:lnTo>
                  <a:lnTo>
                    <a:pt x="8764003" y="1906692"/>
                  </a:lnTo>
                  <a:lnTo>
                    <a:pt x="8806494" y="1890499"/>
                  </a:lnTo>
                  <a:lnTo>
                    <a:pt x="8845838" y="1868687"/>
                  </a:lnTo>
                  <a:lnTo>
                    <a:pt x="8881542" y="1841749"/>
                  </a:lnTo>
                  <a:lnTo>
                    <a:pt x="8913109" y="1810182"/>
                  </a:lnTo>
                  <a:lnTo>
                    <a:pt x="8940047" y="1774478"/>
                  </a:lnTo>
                  <a:lnTo>
                    <a:pt x="8961859" y="1735134"/>
                  </a:lnTo>
                  <a:lnTo>
                    <a:pt x="8978052" y="1692643"/>
                  </a:lnTo>
                  <a:lnTo>
                    <a:pt x="8988130" y="1647500"/>
                  </a:lnTo>
                  <a:lnTo>
                    <a:pt x="8991600" y="1600200"/>
                  </a:lnTo>
                  <a:lnTo>
                    <a:pt x="8991600" y="320039"/>
                  </a:lnTo>
                  <a:lnTo>
                    <a:pt x="8988130" y="272739"/>
                  </a:lnTo>
                  <a:lnTo>
                    <a:pt x="8978052" y="227596"/>
                  </a:lnTo>
                  <a:lnTo>
                    <a:pt x="8961859" y="185105"/>
                  </a:lnTo>
                  <a:lnTo>
                    <a:pt x="8940047" y="145761"/>
                  </a:lnTo>
                  <a:lnTo>
                    <a:pt x="8913109" y="110057"/>
                  </a:lnTo>
                  <a:lnTo>
                    <a:pt x="8881542" y="78490"/>
                  </a:lnTo>
                  <a:lnTo>
                    <a:pt x="8845838" y="51552"/>
                  </a:lnTo>
                  <a:lnTo>
                    <a:pt x="8806494" y="29740"/>
                  </a:lnTo>
                  <a:lnTo>
                    <a:pt x="8764003" y="13547"/>
                  </a:lnTo>
                  <a:lnTo>
                    <a:pt x="8718860" y="3469"/>
                  </a:lnTo>
                  <a:lnTo>
                    <a:pt x="8671560" y="0"/>
                  </a:lnTo>
                  <a:close/>
                </a:path>
              </a:pathLst>
            </a:custGeom>
            <a:solidFill>
              <a:srgbClr val="D9D9D9"/>
            </a:solidFill>
          </p:spPr>
          <p:txBody>
            <a:bodyPr wrap="square" lIns="0" tIns="0" rIns="0" bIns="0" rtlCol="0"/>
            <a:lstStyle/>
            <a:p>
              <a:endParaRPr/>
            </a:p>
          </p:txBody>
        </p:sp>
        <p:sp>
          <p:nvSpPr>
            <p:cNvPr id="4" name="object 4"/>
            <p:cNvSpPr/>
            <p:nvPr/>
          </p:nvSpPr>
          <p:spPr>
            <a:xfrm>
              <a:off x="1828419" y="1942719"/>
              <a:ext cx="8991600" cy="1920239"/>
            </a:xfrm>
            <a:custGeom>
              <a:avLst/>
              <a:gdLst/>
              <a:ahLst/>
              <a:cxnLst/>
              <a:rect l="l" t="t" r="r" b="b"/>
              <a:pathLst>
                <a:path w="8991600" h="1920239">
                  <a:moveTo>
                    <a:pt x="0" y="320039"/>
                  </a:moveTo>
                  <a:lnTo>
                    <a:pt x="3469" y="272739"/>
                  </a:lnTo>
                  <a:lnTo>
                    <a:pt x="13547" y="227596"/>
                  </a:lnTo>
                  <a:lnTo>
                    <a:pt x="29740" y="185105"/>
                  </a:lnTo>
                  <a:lnTo>
                    <a:pt x="51552" y="145761"/>
                  </a:lnTo>
                  <a:lnTo>
                    <a:pt x="78490" y="110057"/>
                  </a:lnTo>
                  <a:lnTo>
                    <a:pt x="110057" y="78490"/>
                  </a:lnTo>
                  <a:lnTo>
                    <a:pt x="145761" y="51552"/>
                  </a:lnTo>
                  <a:lnTo>
                    <a:pt x="185105" y="29740"/>
                  </a:lnTo>
                  <a:lnTo>
                    <a:pt x="227596" y="13547"/>
                  </a:lnTo>
                  <a:lnTo>
                    <a:pt x="272739" y="3469"/>
                  </a:lnTo>
                  <a:lnTo>
                    <a:pt x="320039" y="0"/>
                  </a:lnTo>
                  <a:lnTo>
                    <a:pt x="8671560" y="0"/>
                  </a:lnTo>
                  <a:lnTo>
                    <a:pt x="8718860" y="3469"/>
                  </a:lnTo>
                  <a:lnTo>
                    <a:pt x="8764003" y="13547"/>
                  </a:lnTo>
                  <a:lnTo>
                    <a:pt x="8806494" y="29740"/>
                  </a:lnTo>
                  <a:lnTo>
                    <a:pt x="8845838" y="51552"/>
                  </a:lnTo>
                  <a:lnTo>
                    <a:pt x="8881542" y="78490"/>
                  </a:lnTo>
                  <a:lnTo>
                    <a:pt x="8913109" y="110057"/>
                  </a:lnTo>
                  <a:lnTo>
                    <a:pt x="8940047" y="145761"/>
                  </a:lnTo>
                  <a:lnTo>
                    <a:pt x="8961859" y="185105"/>
                  </a:lnTo>
                  <a:lnTo>
                    <a:pt x="8978052" y="227596"/>
                  </a:lnTo>
                  <a:lnTo>
                    <a:pt x="8988130" y="272739"/>
                  </a:lnTo>
                  <a:lnTo>
                    <a:pt x="8991600" y="320039"/>
                  </a:lnTo>
                  <a:lnTo>
                    <a:pt x="8991600" y="1600200"/>
                  </a:lnTo>
                  <a:lnTo>
                    <a:pt x="8988130" y="1647500"/>
                  </a:lnTo>
                  <a:lnTo>
                    <a:pt x="8978052" y="1692643"/>
                  </a:lnTo>
                  <a:lnTo>
                    <a:pt x="8961859" y="1735134"/>
                  </a:lnTo>
                  <a:lnTo>
                    <a:pt x="8940047" y="1774478"/>
                  </a:lnTo>
                  <a:lnTo>
                    <a:pt x="8913109" y="1810182"/>
                  </a:lnTo>
                  <a:lnTo>
                    <a:pt x="8881542" y="1841749"/>
                  </a:lnTo>
                  <a:lnTo>
                    <a:pt x="8845838" y="1868687"/>
                  </a:lnTo>
                  <a:lnTo>
                    <a:pt x="8806494" y="1890499"/>
                  </a:lnTo>
                  <a:lnTo>
                    <a:pt x="8764003" y="1906692"/>
                  </a:lnTo>
                  <a:lnTo>
                    <a:pt x="8718860" y="1916770"/>
                  </a:lnTo>
                  <a:lnTo>
                    <a:pt x="8671560" y="1920239"/>
                  </a:lnTo>
                  <a:lnTo>
                    <a:pt x="320039" y="1920239"/>
                  </a:lnTo>
                  <a:lnTo>
                    <a:pt x="272739" y="1916770"/>
                  </a:lnTo>
                  <a:lnTo>
                    <a:pt x="227596" y="1906692"/>
                  </a:lnTo>
                  <a:lnTo>
                    <a:pt x="185105" y="1890499"/>
                  </a:lnTo>
                  <a:lnTo>
                    <a:pt x="145761" y="1868687"/>
                  </a:lnTo>
                  <a:lnTo>
                    <a:pt x="110057" y="1841749"/>
                  </a:lnTo>
                  <a:lnTo>
                    <a:pt x="78490" y="1810182"/>
                  </a:lnTo>
                  <a:lnTo>
                    <a:pt x="51552" y="1774478"/>
                  </a:lnTo>
                  <a:lnTo>
                    <a:pt x="29740" y="1735134"/>
                  </a:lnTo>
                  <a:lnTo>
                    <a:pt x="13547" y="1692643"/>
                  </a:lnTo>
                  <a:lnTo>
                    <a:pt x="3469" y="1647500"/>
                  </a:lnTo>
                  <a:lnTo>
                    <a:pt x="0" y="1600200"/>
                  </a:lnTo>
                  <a:lnTo>
                    <a:pt x="0" y="320039"/>
                  </a:lnTo>
                  <a:close/>
                </a:path>
              </a:pathLst>
            </a:custGeom>
            <a:ln w="12953">
              <a:solidFill>
                <a:srgbClr val="FAE4D5"/>
              </a:solidFill>
            </a:ln>
          </p:spPr>
          <p:txBody>
            <a:bodyPr wrap="square" lIns="0" tIns="0" rIns="0" bIns="0" rtlCol="0"/>
            <a:lstStyle/>
            <a:p>
              <a:endParaRPr/>
            </a:p>
          </p:txBody>
        </p:sp>
        <p:sp>
          <p:nvSpPr>
            <p:cNvPr id="5" name="object 5"/>
            <p:cNvSpPr/>
            <p:nvPr/>
          </p:nvSpPr>
          <p:spPr>
            <a:xfrm>
              <a:off x="2316099" y="2418969"/>
              <a:ext cx="1633855" cy="1225550"/>
            </a:xfrm>
            <a:custGeom>
              <a:avLst/>
              <a:gdLst/>
              <a:ahLst/>
              <a:cxnLst/>
              <a:rect l="l" t="t" r="r" b="b"/>
              <a:pathLst>
                <a:path w="1633854" h="1225550">
                  <a:moveTo>
                    <a:pt x="1429512" y="0"/>
                  </a:moveTo>
                  <a:lnTo>
                    <a:pt x="204215" y="0"/>
                  </a:lnTo>
                  <a:lnTo>
                    <a:pt x="157394" y="5393"/>
                  </a:lnTo>
                  <a:lnTo>
                    <a:pt x="114411" y="20758"/>
                  </a:lnTo>
                  <a:lnTo>
                    <a:pt x="76493" y="44866"/>
                  </a:lnTo>
                  <a:lnTo>
                    <a:pt x="44866" y="76493"/>
                  </a:lnTo>
                  <a:lnTo>
                    <a:pt x="20758" y="114411"/>
                  </a:lnTo>
                  <a:lnTo>
                    <a:pt x="5393" y="157394"/>
                  </a:lnTo>
                  <a:lnTo>
                    <a:pt x="0" y="204215"/>
                  </a:lnTo>
                  <a:lnTo>
                    <a:pt x="0" y="1021079"/>
                  </a:lnTo>
                  <a:lnTo>
                    <a:pt x="5393" y="1067901"/>
                  </a:lnTo>
                  <a:lnTo>
                    <a:pt x="20758" y="1110884"/>
                  </a:lnTo>
                  <a:lnTo>
                    <a:pt x="44866" y="1148802"/>
                  </a:lnTo>
                  <a:lnTo>
                    <a:pt x="76493" y="1180429"/>
                  </a:lnTo>
                  <a:lnTo>
                    <a:pt x="114411" y="1204537"/>
                  </a:lnTo>
                  <a:lnTo>
                    <a:pt x="157394" y="1219902"/>
                  </a:lnTo>
                  <a:lnTo>
                    <a:pt x="204215" y="1225295"/>
                  </a:lnTo>
                  <a:lnTo>
                    <a:pt x="1429512" y="1225295"/>
                  </a:lnTo>
                  <a:lnTo>
                    <a:pt x="1476333" y="1219902"/>
                  </a:lnTo>
                  <a:lnTo>
                    <a:pt x="1519316" y="1204537"/>
                  </a:lnTo>
                  <a:lnTo>
                    <a:pt x="1557234" y="1180429"/>
                  </a:lnTo>
                  <a:lnTo>
                    <a:pt x="1588861" y="1148802"/>
                  </a:lnTo>
                  <a:lnTo>
                    <a:pt x="1612969" y="1110884"/>
                  </a:lnTo>
                  <a:lnTo>
                    <a:pt x="1628334" y="1067901"/>
                  </a:lnTo>
                  <a:lnTo>
                    <a:pt x="1633727" y="1021079"/>
                  </a:lnTo>
                  <a:lnTo>
                    <a:pt x="1633727" y="204215"/>
                  </a:lnTo>
                  <a:lnTo>
                    <a:pt x="1628334" y="157394"/>
                  </a:lnTo>
                  <a:lnTo>
                    <a:pt x="1612969" y="114411"/>
                  </a:lnTo>
                  <a:lnTo>
                    <a:pt x="1588861" y="76493"/>
                  </a:lnTo>
                  <a:lnTo>
                    <a:pt x="1557234" y="44866"/>
                  </a:lnTo>
                  <a:lnTo>
                    <a:pt x="1519316" y="20758"/>
                  </a:lnTo>
                  <a:lnTo>
                    <a:pt x="1476333" y="5393"/>
                  </a:lnTo>
                  <a:lnTo>
                    <a:pt x="1429512" y="0"/>
                  </a:lnTo>
                  <a:close/>
                </a:path>
              </a:pathLst>
            </a:custGeom>
            <a:solidFill>
              <a:srgbClr val="FFFFFF"/>
            </a:solidFill>
          </p:spPr>
          <p:txBody>
            <a:bodyPr wrap="square" lIns="0" tIns="0" rIns="0" bIns="0" rtlCol="0"/>
            <a:lstStyle/>
            <a:p>
              <a:endParaRPr/>
            </a:p>
          </p:txBody>
        </p:sp>
        <p:sp>
          <p:nvSpPr>
            <p:cNvPr id="6" name="object 6"/>
            <p:cNvSpPr/>
            <p:nvPr/>
          </p:nvSpPr>
          <p:spPr>
            <a:xfrm>
              <a:off x="2316099" y="2418969"/>
              <a:ext cx="1633855" cy="1225550"/>
            </a:xfrm>
            <a:custGeom>
              <a:avLst/>
              <a:gdLst/>
              <a:ahLst/>
              <a:cxnLst/>
              <a:rect l="l" t="t" r="r" b="b"/>
              <a:pathLst>
                <a:path w="1633854" h="1225550">
                  <a:moveTo>
                    <a:pt x="0" y="204215"/>
                  </a:moveTo>
                  <a:lnTo>
                    <a:pt x="5393" y="157394"/>
                  </a:lnTo>
                  <a:lnTo>
                    <a:pt x="20758" y="114411"/>
                  </a:lnTo>
                  <a:lnTo>
                    <a:pt x="44866" y="76493"/>
                  </a:lnTo>
                  <a:lnTo>
                    <a:pt x="76493" y="44866"/>
                  </a:lnTo>
                  <a:lnTo>
                    <a:pt x="114411" y="20758"/>
                  </a:lnTo>
                  <a:lnTo>
                    <a:pt x="157394" y="5393"/>
                  </a:lnTo>
                  <a:lnTo>
                    <a:pt x="204215" y="0"/>
                  </a:lnTo>
                  <a:lnTo>
                    <a:pt x="1429512" y="0"/>
                  </a:lnTo>
                  <a:lnTo>
                    <a:pt x="1476333" y="5393"/>
                  </a:lnTo>
                  <a:lnTo>
                    <a:pt x="1519316" y="20758"/>
                  </a:lnTo>
                  <a:lnTo>
                    <a:pt x="1557234" y="44866"/>
                  </a:lnTo>
                  <a:lnTo>
                    <a:pt x="1588861" y="76493"/>
                  </a:lnTo>
                  <a:lnTo>
                    <a:pt x="1612969" y="114411"/>
                  </a:lnTo>
                  <a:lnTo>
                    <a:pt x="1628334" y="157394"/>
                  </a:lnTo>
                  <a:lnTo>
                    <a:pt x="1633727" y="204215"/>
                  </a:lnTo>
                  <a:lnTo>
                    <a:pt x="1633727" y="1021079"/>
                  </a:lnTo>
                  <a:lnTo>
                    <a:pt x="1628334" y="1067901"/>
                  </a:lnTo>
                  <a:lnTo>
                    <a:pt x="1612969" y="1110884"/>
                  </a:lnTo>
                  <a:lnTo>
                    <a:pt x="1588861" y="1148802"/>
                  </a:lnTo>
                  <a:lnTo>
                    <a:pt x="1557234" y="1180429"/>
                  </a:lnTo>
                  <a:lnTo>
                    <a:pt x="1519316" y="1204537"/>
                  </a:lnTo>
                  <a:lnTo>
                    <a:pt x="1476333" y="1219902"/>
                  </a:lnTo>
                  <a:lnTo>
                    <a:pt x="1429512" y="1225295"/>
                  </a:lnTo>
                  <a:lnTo>
                    <a:pt x="204215" y="1225295"/>
                  </a:lnTo>
                  <a:lnTo>
                    <a:pt x="157394" y="1219902"/>
                  </a:lnTo>
                  <a:lnTo>
                    <a:pt x="114411" y="1204537"/>
                  </a:lnTo>
                  <a:lnTo>
                    <a:pt x="76493" y="1180429"/>
                  </a:lnTo>
                  <a:lnTo>
                    <a:pt x="44866" y="1148802"/>
                  </a:lnTo>
                  <a:lnTo>
                    <a:pt x="20758" y="1110884"/>
                  </a:lnTo>
                  <a:lnTo>
                    <a:pt x="5393" y="1067901"/>
                  </a:lnTo>
                  <a:lnTo>
                    <a:pt x="0" y="1021079"/>
                  </a:lnTo>
                  <a:lnTo>
                    <a:pt x="0" y="204215"/>
                  </a:lnTo>
                  <a:close/>
                </a:path>
              </a:pathLst>
            </a:custGeom>
            <a:ln w="12954">
              <a:solidFill>
                <a:srgbClr val="6FAC46"/>
              </a:solidFill>
            </a:ln>
          </p:spPr>
          <p:txBody>
            <a:bodyPr wrap="square" lIns="0" tIns="0" rIns="0" bIns="0" rtlCol="0"/>
            <a:lstStyle/>
            <a:p>
              <a:endParaRPr/>
            </a:p>
          </p:txBody>
        </p:sp>
      </p:grpSp>
      <p:sp>
        <p:nvSpPr>
          <p:cNvPr id="7" name="object 7"/>
          <p:cNvSpPr txBox="1"/>
          <p:nvPr/>
        </p:nvSpPr>
        <p:spPr>
          <a:xfrm>
            <a:off x="2658617" y="2455163"/>
            <a:ext cx="947419" cy="1123315"/>
          </a:xfrm>
          <a:prstGeom prst="rect">
            <a:avLst/>
          </a:prstGeom>
        </p:spPr>
        <p:txBody>
          <a:bodyPr vert="horz" wrap="square" lIns="0" tIns="12700" rIns="0" bIns="0" rtlCol="0">
            <a:spAutoFit/>
          </a:bodyPr>
          <a:lstStyle/>
          <a:p>
            <a:pPr algn="ctr">
              <a:lnSpc>
                <a:spcPct val="100000"/>
              </a:lnSpc>
              <a:spcBef>
                <a:spcPts val="100"/>
              </a:spcBef>
            </a:pPr>
            <a:r>
              <a:rPr sz="1800" spc="-10" dirty="0">
                <a:latin typeface="Calibri"/>
                <a:cs typeface="Calibri"/>
              </a:rPr>
              <a:t>Labeled</a:t>
            </a:r>
            <a:endParaRPr sz="1800">
              <a:latin typeface="Calibri"/>
              <a:cs typeface="Calibri"/>
            </a:endParaRPr>
          </a:p>
          <a:p>
            <a:pPr marL="635" algn="ctr">
              <a:lnSpc>
                <a:spcPct val="100000"/>
              </a:lnSpc>
            </a:pPr>
            <a:r>
              <a:rPr sz="1800" spc="-50" dirty="0">
                <a:latin typeface="Calibri"/>
                <a:cs typeface="Calibri"/>
              </a:rPr>
              <a:t>+</a:t>
            </a:r>
            <a:endParaRPr sz="1800">
              <a:latin typeface="Calibri"/>
              <a:cs typeface="Calibri"/>
            </a:endParaRPr>
          </a:p>
          <a:p>
            <a:pPr marL="12700" marR="5080" algn="ctr">
              <a:lnSpc>
                <a:spcPct val="100000"/>
              </a:lnSpc>
              <a:spcBef>
                <a:spcPts val="5"/>
              </a:spcBef>
            </a:pPr>
            <a:r>
              <a:rPr sz="1800" spc="-10" dirty="0">
                <a:latin typeface="Calibri"/>
                <a:cs typeface="Calibri"/>
              </a:rPr>
              <a:t>unlabeled </a:t>
            </a:r>
            <a:r>
              <a:rPr sz="1800" spc="-20" dirty="0">
                <a:latin typeface="Calibri"/>
                <a:cs typeface="Calibri"/>
              </a:rPr>
              <a:t>Data</a:t>
            </a:r>
            <a:endParaRPr sz="1800">
              <a:latin typeface="Calibri"/>
              <a:cs typeface="Calibri"/>
            </a:endParaRPr>
          </a:p>
        </p:txBody>
      </p:sp>
      <p:grpSp>
        <p:nvGrpSpPr>
          <p:cNvPr id="8" name="object 8"/>
          <p:cNvGrpSpPr/>
          <p:nvPr/>
        </p:nvGrpSpPr>
        <p:grpSpPr>
          <a:xfrm>
            <a:off x="4168902" y="2655442"/>
            <a:ext cx="3136900" cy="687070"/>
            <a:chOff x="4168902" y="2655442"/>
            <a:chExt cx="3136900" cy="687070"/>
          </a:xfrm>
        </p:grpSpPr>
        <p:sp>
          <p:nvSpPr>
            <p:cNvPr id="9" name="object 9"/>
            <p:cNvSpPr/>
            <p:nvPr/>
          </p:nvSpPr>
          <p:spPr>
            <a:xfrm>
              <a:off x="4178427" y="2887598"/>
              <a:ext cx="914400" cy="223520"/>
            </a:xfrm>
            <a:custGeom>
              <a:avLst/>
              <a:gdLst/>
              <a:ahLst/>
              <a:cxnLst/>
              <a:rect l="l" t="t" r="r" b="b"/>
              <a:pathLst>
                <a:path w="914400" h="223519">
                  <a:moveTo>
                    <a:pt x="802767" y="0"/>
                  </a:moveTo>
                  <a:lnTo>
                    <a:pt x="802767" y="55879"/>
                  </a:lnTo>
                  <a:lnTo>
                    <a:pt x="0" y="55879"/>
                  </a:lnTo>
                  <a:lnTo>
                    <a:pt x="0" y="167512"/>
                  </a:lnTo>
                  <a:lnTo>
                    <a:pt x="802767" y="167512"/>
                  </a:lnTo>
                  <a:lnTo>
                    <a:pt x="802767" y="223265"/>
                  </a:lnTo>
                  <a:lnTo>
                    <a:pt x="914400" y="111633"/>
                  </a:lnTo>
                  <a:lnTo>
                    <a:pt x="802767" y="0"/>
                  </a:lnTo>
                  <a:close/>
                </a:path>
              </a:pathLst>
            </a:custGeom>
            <a:solidFill>
              <a:srgbClr val="6FAC46"/>
            </a:solidFill>
          </p:spPr>
          <p:txBody>
            <a:bodyPr wrap="square" lIns="0" tIns="0" rIns="0" bIns="0" rtlCol="0"/>
            <a:lstStyle/>
            <a:p>
              <a:endParaRPr/>
            </a:p>
          </p:txBody>
        </p:sp>
        <p:sp>
          <p:nvSpPr>
            <p:cNvPr id="10" name="object 10"/>
            <p:cNvSpPr/>
            <p:nvPr/>
          </p:nvSpPr>
          <p:spPr>
            <a:xfrm>
              <a:off x="4178427" y="2887598"/>
              <a:ext cx="914400" cy="223520"/>
            </a:xfrm>
            <a:custGeom>
              <a:avLst/>
              <a:gdLst/>
              <a:ahLst/>
              <a:cxnLst/>
              <a:rect l="l" t="t" r="r" b="b"/>
              <a:pathLst>
                <a:path w="914400" h="223519">
                  <a:moveTo>
                    <a:pt x="0" y="55879"/>
                  </a:moveTo>
                  <a:lnTo>
                    <a:pt x="802767" y="55879"/>
                  </a:lnTo>
                  <a:lnTo>
                    <a:pt x="802767" y="0"/>
                  </a:lnTo>
                  <a:lnTo>
                    <a:pt x="914400" y="111633"/>
                  </a:lnTo>
                  <a:lnTo>
                    <a:pt x="802767" y="223265"/>
                  </a:lnTo>
                  <a:lnTo>
                    <a:pt x="802767" y="167512"/>
                  </a:lnTo>
                  <a:lnTo>
                    <a:pt x="0" y="167512"/>
                  </a:lnTo>
                  <a:lnTo>
                    <a:pt x="0" y="55879"/>
                  </a:lnTo>
                  <a:close/>
                </a:path>
              </a:pathLst>
            </a:custGeom>
            <a:ln w="19050">
              <a:solidFill>
                <a:srgbClr val="FFFFFF"/>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5321046" y="2658617"/>
              <a:ext cx="1981200" cy="680466"/>
            </a:xfrm>
            <a:prstGeom prst="rect">
              <a:avLst/>
            </a:prstGeom>
          </p:spPr>
        </p:pic>
        <p:sp>
          <p:nvSpPr>
            <p:cNvPr id="12" name="object 12"/>
            <p:cNvSpPr/>
            <p:nvPr/>
          </p:nvSpPr>
          <p:spPr>
            <a:xfrm>
              <a:off x="5321046" y="2658617"/>
              <a:ext cx="1981200" cy="680720"/>
            </a:xfrm>
            <a:custGeom>
              <a:avLst/>
              <a:gdLst/>
              <a:ahLst/>
              <a:cxnLst/>
              <a:rect l="l" t="t" r="r" b="b"/>
              <a:pathLst>
                <a:path w="1981200" h="680720">
                  <a:moveTo>
                    <a:pt x="0" y="340233"/>
                  </a:moveTo>
                  <a:lnTo>
                    <a:pt x="9042" y="294053"/>
                  </a:lnTo>
                  <a:lnTo>
                    <a:pt x="35383" y="249766"/>
                  </a:lnTo>
                  <a:lnTo>
                    <a:pt x="77843" y="207775"/>
                  </a:lnTo>
                  <a:lnTo>
                    <a:pt x="135240" y="168486"/>
                  </a:lnTo>
                  <a:lnTo>
                    <a:pt x="169172" y="149981"/>
                  </a:lnTo>
                  <a:lnTo>
                    <a:pt x="206397" y="132303"/>
                  </a:lnTo>
                  <a:lnTo>
                    <a:pt x="246765" y="115503"/>
                  </a:lnTo>
                  <a:lnTo>
                    <a:pt x="290131" y="99631"/>
                  </a:lnTo>
                  <a:lnTo>
                    <a:pt x="336346" y="84738"/>
                  </a:lnTo>
                  <a:lnTo>
                    <a:pt x="385264" y="70875"/>
                  </a:lnTo>
                  <a:lnTo>
                    <a:pt x="436736" y="58092"/>
                  </a:lnTo>
                  <a:lnTo>
                    <a:pt x="490615" y="46439"/>
                  </a:lnTo>
                  <a:lnTo>
                    <a:pt x="546753" y="35968"/>
                  </a:lnTo>
                  <a:lnTo>
                    <a:pt x="605004" y="26729"/>
                  </a:lnTo>
                  <a:lnTo>
                    <a:pt x="665219" y="18773"/>
                  </a:lnTo>
                  <a:lnTo>
                    <a:pt x="727251" y="12149"/>
                  </a:lnTo>
                  <a:lnTo>
                    <a:pt x="790953" y="6910"/>
                  </a:lnTo>
                  <a:lnTo>
                    <a:pt x="856176" y="3104"/>
                  </a:lnTo>
                  <a:lnTo>
                    <a:pt x="922774" y="784"/>
                  </a:lnTo>
                  <a:lnTo>
                    <a:pt x="990600" y="0"/>
                  </a:lnTo>
                  <a:lnTo>
                    <a:pt x="1058425" y="784"/>
                  </a:lnTo>
                  <a:lnTo>
                    <a:pt x="1125023" y="3104"/>
                  </a:lnTo>
                  <a:lnTo>
                    <a:pt x="1190246" y="6910"/>
                  </a:lnTo>
                  <a:lnTo>
                    <a:pt x="1253948" y="12149"/>
                  </a:lnTo>
                  <a:lnTo>
                    <a:pt x="1315980" y="18773"/>
                  </a:lnTo>
                  <a:lnTo>
                    <a:pt x="1376195" y="26729"/>
                  </a:lnTo>
                  <a:lnTo>
                    <a:pt x="1434446" y="35968"/>
                  </a:lnTo>
                  <a:lnTo>
                    <a:pt x="1490584" y="46439"/>
                  </a:lnTo>
                  <a:lnTo>
                    <a:pt x="1544463" y="58092"/>
                  </a:lnTo>
                  <a:lnTo>
                    <a:pt x="1595935" y="70875"/>
                  </a:lnTo>
                  <a:lnTo>
                    <a:pt x="1644853" y="84738"/>
                  </a:lnTo>
                  <a:lnTo>
                    <a:pt x="1691068" y="99631"/>
                  </a:lnTo>
                  <a:lnTo>
                    <a:pt x="1734434" y="115503"/>
                  </a:lnTo>
                  <a:lnTo>
                    <a:pt x="1774802" y="132303"/>
                  </a:lnTo>
                  <a:lnTo>
                    <a:pt x="1812027" y="149981"/>
                  </a:lnTo>
                  <a:lnTo>
                    <a:pt x="1845959" y="168486"/>
                  </a:lnTo>
                  <a:lnTo>
                    <a:pt x="1903356" y="207775"/>
                  </a:lnTo>
                  <a:lnTo>
                    <a:pt x="1945816" y="249766"/>
                  </a:lnTo>
                  <a:lnTo>
                    <a:pt x="1972157" y="294053"/>
                  </a:lnTo>
                  <a:lnTo>
                    <a:pt x="1981200" y="340233"/>
                  </a:lnTo>
                  <a:lnTo>
                    <a:pt x="1978914" y="363533"/>
                  </a:lnTo>
                  <a:lnTo>
                    <a:pt x="1961075" y="408817"/>
                  </a:lnTo>
                  <a:lnTo>
                    <a:pt x="1926527" y="452007"/>
                  </a:lnTo>
                  <a:lnTo>
                    <a:pt x="1876451" y="492697"/>
                  </a:lnTo>
                  <a:lnTo>
                    <a:pt x="1812027" y="530484"/>
                  </a:lnTo>
                  <a:lnTo>
                    <a:pt x="1774802" y="548162"/>
                  </a:lnTo>
                  <a:lnTo>
                    <a:pt x="1734434" y="564962"/>
                  </a:lnTo>
                  <a:lnTo>
                    <a:pt x="1691068" y="580834"/>
                  </a:lnTo>
                  <a:lnTo>
                    <a:pt x="1644853" y="595727"/>
                  </a:lnTo>
                  <a:lnTo>
                    <a:pt x="1595935" y="609590"/>
                  </a:lnTo>
                  <a:lnTo>
                    <a:pt x="1544463" y="622373"/>
                  </a:lnTo>
                  <a:lnTo>
                    <a:pt x="1490584" y="634026"/>
                  </a:lnTo>
                  <a:lnTo>
                    <a:pt x="1434446" y="644497"/>
                  </a:lnTo>
                  <a:lnTo>
                    <a:pt x="1376195" y="653736"/>
                  </a:lnTo>
                  <a:lnTo>
                    <a:pt x="1315980" y="661692"/>
                  </a:lnTo>
                  <a:lnTo>
                    <a:pt x="1253948" y="668316"/>
                  </a:lnTo>
                  <a:lnTo>
                    <a:pt x="1190246" y="673555"/>
                  </a:lnTo>
                  <a:lnTo>
                    <a:pt x="1125023" y="677361"/>
                  </a:lnTo>
                  <a:lnTo>
                    <a:pt x="1058425" y="679681"/>
                  </a:lnTo>
                  <a:lnTo>
                    <a:pt x="990600" y="680466"/>
                  </a:lnTo>
                  <a:lnTo>
                    <a:pt x="922774" y="679681"/>
                  </a:lnTo>
                  <a:lnTo>
                    <a:pt x="856176" y="677361"/>
                  </a:lnTo>
                  <a:lnTo>
                    <a:pt x="790953" y="673555"/>
                  </a:lnTo>
                  <a:lnTo>
                    <a:pt x="727251" y="668316"/>
                  </a:lnTo>
                  <a:lnTo>
                    <a:pt x="665219" y="661692"/>
                  </a:lnTo>
                  <a:lnTo>
                    <a:pt x="605004" y="653736"/>
                  </a:lnTo>
                  <a:lnTo>
                    <a:pt x="546753" y="644497"/>
                  </a:lnTo>
                  <a:lnTo>
                    <a:pt x="490615" y="634026"/>
                  </a:lnTo>
                  <a:lnTo>
                    <a:pt x="436736" y="622373"/>
                  </a:lnTo>
                  <a:lnTo>
                    <a:pt x="385264" y="609590"/>
                  </a:lnTo>
                  <a:lnTo>
                    <a:pt x="336346" y="595727"/>
                  </a:lnTo>
                  <a:lnTo>
                    <a:pt x="290131" y="580834"/>
                  </a:lnTo>
                  <a:lnTo>
                    <a:pt x="246765" y="564962"/>
                  </a:lnTo>
                  <a:lnTo>
                    <a:pt x="206397" y="548162"/>
                  </a:lnTo>
                  <a:lnTo>
                    <a:pt x="169172" y="530484"/>
                  </a:lnTo>
                  <a:lnTo>
                    <a:pt x="135240" y="511979"/>
                  </a:lnTo>
                  <a:lnTo>
                    <a:pt x="77843" y="472690"/>
                  </a:lnTo>
                  <a:lnTo>
                    <a:pt x="35383" y="430699"/>
                  </a:lnTo>
                  <a:lnTo>
                    <a:pt x="9042" y="386412"/>
                  </a:lnTo>
                  <a:lnTo>
                    <a:pt x="0" y="340233"/>
                  </a:lnTo>
                  <a:close/>
                </a:path>
              </a:pathLst>
            </a:custGeom>
            <a:ln w="6096">
              <a:solidFill>
                <a:srgbClr val="FFFFFF"/>
              </a:solidFill>
            </a:ln>
          </p:spPr>
          <p:txBody>
            <a:bodyPr wrap="square" lIns="0" tIns="0" rIns="0" bIns="0" rtlCol="0"/>
            <a:lstStyle/>
            <a:p>
              <a:endParaRPr/>
            </a:p>
          </p:txBody>
        </p:sp>
      </p:grpSp>
      <p:sp>
        <p:nvSpPr>
          <p:cNvPr id="13" name="object 13"/>
          <p:cNvSpPr txBox="1"/>
          <p:nvPr/>
        </p:nvSpPr>
        <p:spPr>
          <a:xfrm>
            <a:off x="5997955" y="2834894"/>
            <a:ext cx="6286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Model</a:t>
            </a:r>
            <a:endParaRPr sz="1800">
              <a:latin typeface="Calibri"/>
              <a:cs typeface="Calibri"/>
            </a:endParaRPr>
          </a:p>
        </p:txBody>
      </p:sp>
      <p:sp>
        <p:nvSpPr>
          <p:cNvPr id="14" name="object 14"/>
          <p:cNvSpPr txBox="1"/>
          <p:nvPr/>
        </p:nvSpPr>
        <p:spPr>
          <a:xfrm>
            <a:off x="8639302" y="2671826"/>
            <a:ext cx="1795145" cy="574040"/>
          </a:xfrm>
          <a:prstGeom prst="rect">
            <a:avLst/>
          </a:prstGeom>
        </p:spPr>
        <p:txBody>
          <a:bodyPr vert="horz" wrap="square" lIns="0" tIns="12700" rIns="0" bIns="0" rtlCol="0">
            <a:spAutoFit/>
          </a:bodyPr>
          <a:lstStyle/>
          <a:p>
            <a:pPr marL="235585" marR="5080" indent="-223520">
              <a:lnSpc>
                <a:spcPct val="100000"/>
              </a:lnSpc>
              <a:spcBef>
                <a:spcPts val="100"/>
              </a:spcBef>
            </a:pPr>
            <a:r>
              <a:rPr sz="1800" dirty="0">
                <a:latin typeface="Calibri"/>
                <a:cs typeface="Calibri"/>
              </a:rPr>
              <a:t>Data</a:t>
            </a:r>
            <a:r>
              <a:rPr sz="1800" spc="-75" dirty="0">
                <a:latin typeface="Calibri"/>
                <a:cs typeface="Calibri"/>
              </a:rPr>
              <a:t> </a:t>
            </a:r>
            <a:r>
              <a:rPr sz="1800" dirty="0">
                <a:latin typeface="Calibri"/>
                <a:cs typeface="Calibri"/>
              </a:rPr>
              <a:t>Modeling</a:t>
            </a:r>
            <a:r>
              <a:rPr sz="1800" spc="-65" dirty="0">
                <a:latin typeface="Calibri"/>
                <a:cs typeface="Calibri"/>
              </a:rPr>
              <a:t> </a:t>
            </a:r>
            <a:r>
              <a:rPr sz="1800" spc="-25" dirty="0">
                <a:latin typeface="Calibri"/>
                <a:cs typeface="Calibri"/>
              </a:rPr>
              <a:t>and </a:t>
            </a:r>
            <a:r>
              <a:rPr sz="1800" spc="-10" dirty="0">
                <a:latin typeface="Calibri"/>
                <a:cs typeface="Calibri"/>
              </a:rPr>
              <a:t>Augmentation</a:t>
            </a:r>
            <a:endParaRPr sz="1800">
              <a:latin typeface="Calibri"/>
              <a:cs typeface="Calibri"/>
            </a:endParaRPr>
          </a:p>
        </p:txBody>
      </p:sp>
      <p:grpSp>
        <p:nvGrpSpPr>
          <p:cNvPr id="15" name="object 15"/>
          <p:cNvGrpSpPr/>
          <p:nvPr/>
        </p:nvGrpSpPr>
        <p:grpSpPr>
          <a:xfrm>
            <a:off x="6231218" y="2878073"/>
            <a:ext cx="3190875" cy="2807970"/>
            <a:chOff x="6231218" y="2878073"/>
            <a:chExt cx="3190875" cy="2807970"/>
          </a:xfrm>
        </p:grpSpPr>
        <p:sp>
          <p:nvSpPr>
            <p:cNvPr id="16" name="object 16"/>
            <p:cNvSpPr/>
            <p:nvPr/>
          </p:nvSpPr>
          <p:spPr>
            <a:xfrm>
              <a:off x="7455026" y="2887598"/>
              <a:ext cx="914400" cy="223520"/>
            </a:xfrm>
            <a:custGeom>
              <a:avLst/>
              <a:gdLst/>
              <a:ahLst/>
              <a:cxnLst/>
              <a:rect l="l" t="t" r="r" b="b"/>
              <a:pathLst>
                <a:path w="914400" h="223519">
                  <a:moveTo>
                    <a:pt x="802767" y="0"/>
                  </a:moveTo>
                  <a:lnTo>
                    <a:pt x="802767" y="55879"/>
                  </a:lnTo>
                  <a:lnTo>
                    <a:pt x="0" y="55879"/>
                  </a:lnTo>
                  <a:lnTo>
                    <a:pt x="0" y="167512"/>
                  </a:lnTo>
                  <a:lnTo>
                    <a:pt x="802767" y="167512"/>
                  </a:lnTo>
                  <a:lnTo>
                    <a:pt x="802767" y="223265"/>
                  </a:lnTo>
                  <a:lnTo>
                    <a:pt x="914400" y="111633"/>
                  </a:lnTo>
                  <a:lnTo>
                    <a:pt x="802767" y="0"/>
                  </a:lnTo>
                  <a:close/>
                </a:path>
              </a:pathLst>
            </a:custGeom>
            <a:solidFill>
              <a:srgbClr val="6FAC46"/>
            </a:solidFill>
          </p:spPr>
          <p:txBody>
            <a:bodyPr wrap="square" lIns="0" tIns="0" rIns="0" bIns="0" rtlCol="0"/>
            <a:lstStyle/>
            <a:p>
              <a:endParaRPr/>
            </a:p>
          </p:txBody>
        </p:sp>
        <p:sp>
          <p:nvSpPr>
            <p:cNvPr id="17" name="object 17"/>
            <p:cNvSpPr/>
            <p:nvPr/>
          </p:nvSpPr>
          <p:spPr>
            <a:xfrm>
              <a:off x="7455026" y="2887598"/>
              <a:ext cx="914400" cy="223520"/>
            </a:xfrm>
            <a:custGeom>
              <a:avLst/>
              <a:gdLst/>
              <a:ahLst/>
              <a:cxnLst/>
              <a:rect l="l" t="t" r="r" b="b"/>
              <a:pathLst>
                <a:path w="914400" h="223519">
                  <a:moveTo>
                    <a:pt x="0" y="55879"/>
                  </a:moveTo>
                  <a:lnTo>
                    <a:pt x="802767" y="55879"/>
                  </a:lnTo>
                  <a:lnTo>
                    <a:pt x="802767" y="0"/>
                  </a:lnTo>
                  <a:lnTo>
                    <a:pt x="914400" y="111633"/>
                  </a:lnTo>
                  <a:lnTo>
                    <a:pt x="802767" y="223265"/>
                  </a:lnTo>
                  <a:lnTo>
                    <a:pt x="802767" y="167512"/>
                  </a:lnTo>
                  <a:lnTo>
                    <a:pt x="0" y="167512"/>
                  </a:lnTo>
                  <a:lnTo>
                    <a:pt x="0" y="55879"/>
                  </a:lnTo>
                  <a:close/>
                </a:path>
              </a:pathLst>
            </a:custGeom>
            <a:ln w="19050">
              <a:solidFill>
                <a:srgbClr val="FFFFFF"/>
              </a:solidFill>
            </a:ln>
          </p:spPr>
          <p:txBody>
            <a:bodyPr wrap="square" lIns="0" tIns="0" rIns="0" bIns="0" rtlCol="0"/>
            <a:lstStyle/>
            <a:p>
              <a:endParaRPr/>
            </a:p>
          </p:txBody>
        </p:sp>
        <p:pic>
          <p:nvPicPr>
            <p:cNvPr id="18" name="object 18"/>
            <p:cNvPicPr/>
            <p:nvPr/>
          </p:nvPicPr>
          <p:blipFill>
            <a:blip r:embed="rId3" cstate="print"/>
            <a:stretch>
              <a:fillRect/>
            </a:stretch>
          </p:blipFill>
          <p:spPr>
            <a:xfrm>
              <a:off x="6231218" y="4378451"/>
              <a:ext cx="1506618" cy="1307522"/>
            </a:xfrm>
            <a:prstGeom prst="rect">
              <a:avLst/>
            </a:prstGeom>
          </p:spPr>
        </p:pic>
        <p:sp>
          <p:nvSpPr>
            <p:cNvPr id="19" name="object 19"/>
            <p:cNvSpPr/>
            <p:nvPr/>
          </p:nvSpPr>
          <p:spPr>
            <a:xfrm>
              <a:off x="6823709" y="3856481"/>
              <a:ext cx="2594610" cy="369570"/>
            </a:xfrm>
            <a:custGeom>
              <a:avLst/>
              <a:gdLst/>
              <a:ahLst/>
              <a:cxnLst/>
              <a:rect l="l" t="t" r="r" b="b"/>
              <a:pathLst>
                <a:path w="2594609" h="369570">
                  <a:moveTo>
                    <a:pt x="2594609" y="0"/>
                  </a:moveTo>
                  <a:lnTo>
                    <a:pt x="0" y="0"/>
                  </a:lnTo>
                  <a:lnTo>
                    <a:pt x="0" y="369570"/>
                  </a:lnTo>
                  <a:lnTo>
                    <a:pt x="2594609" y="369570"/>
                  </a:lnTo>
                  <a:lnTo>
                    <a:pt x="2594609" y="0"/>
                  </a:lnTo>
                  <a:close/>
                </a:path>
              </a:pathLst>
            </a:custGeom>
            <a:solidFill>
              <a:srgbClr val="FFFFFF"/>
            </a:solidFill>
          </p:spPr>
          <p:txBody>
            <a:bodyPr wrap="square" lIns="0" tIns="0" rIns="0" bIns="0" rtlCol="0"/>
            <a:lstStyle/>
            <a:p>
              <a:endParaRPr/>
            </a:p>
          </p:txBody>
        </p:sp>
        <p:sp>
          <p:nvSpPr>
            <p:cNvPr id="20" name="object 20"/>
            <p:cNvSpPr/>
            <p:nvPr/>
          </p:nvSpPr>
          <p:spPr>
            <a:xfrm>
              <a:off x="6823709" y="3856481"/>
              <a:ext cx="2594610" cy="369570"/>
            </a:xfrm>
            <a:custGeom>
              <a:avLst/>
              <a:gdLst/>
              <a:ahLst/>
              <a:cxnLst/>
              <a:rect l="l" t="t" r="r" b="b"/>
              <a:pathLst>
                <a:path w="2594609" h="369570">
                  <a:moveTo>
                    <a:pt x="0" y="369570"/>
                  </a:moveTo>
                  <a:lnTo>
                    <a:pt x="2594609" y="369570"/>
                  </a:lnTo>
                  <a:lnTo>
                    <a:pt x="2594609" y="0"/>
                  </a:lnTo>
                  <a:lnTo>
                    <a:pt x="0" y="0"/>
                  </a:lnTo>
                  <a:lnTo>
                    <a:pt x="0" y="369570"/>
                  </a:lnTo>
                  <a:close/>
                </a:path>
              </a:pathLst>
            </a:custGeom>
            <a:ln w="6096">
              <a:solidFill>
                <a:srgbClr val="FFFFFF"/>
              </a:solidFill>
            </a:ln>
          </p:spPr>
          <p:txBody>
            <a:bodyPr wrap="square" lIns="0" tIns="0" rIns="0" bIns="0" rtlCol="0"/>
            <a:lstStyle/>
            <a:p>
              <a:endParaRPr/>
            </a:p>
          </p:txBody>
        </p:sp>
      </p:grpSp>
      <p:sp>
        <p:nvSpPr>
          <p:cNvPr id="21" name="object 21"/>
          <p:cNvSpPr txBox="1">
            <a:spLocks noGrp="1"/>
          </p:cNvSpPr>
          <p:nvPr>
            <p:ph type="title"/>
          </p:nvPr>
        </p:nvSpPr>
        <p:spPr>
          <a:xfrm>
            <a:off x="2438401" y="-46262"/>
            <a:ext cx="7318798" cy="689932"/>
          </a:xfrm>
          <a:prstGeom prst="rect">
            <a:avLst/>
          </a:prstGeom>
        </p:spPr>
        <p:txBody>
          <a:bodyPr vert="horz" wrap="square" lIns="0" tIns="12700" rIns="0" bIns="0" rtlCol="0">
            <a:spAutoFit/>
          </a:bodyPr>
          <a:lstStyle/>
          <a:p>
            <a:pPr marL="12700">
              <a:lnSpc>
                <a:spcPct val="100000"/>
              </a:lnSpc>
              <a:spcBef>
                <a:spcPts val="100"/>
              </a:spcBef>
            </a:pPr>
            <a:r>
              <a:rPr dirty="0"/>
              <a:t>Machine</a:t>
            </a:r>
            <a:r>
              <a:rPr spc="-145" dirty="0"/>
              <a:t> </a:t>
            </a:r>
            <a:r>
              <a:rPr dirty="0"/>
              <a:t>Learning:</a:t>
            </a:r>
            <a:r>
              <a:rPr spc="-145" dirty="0"/>
              <a:t> </a:t>
            </a:r>
            <a:r>
              <a:rPr spc="-10" dirty="0"/>
              <a:t>Overview</a:t>
            </a:r>
          </a:p>
        </p:txBody>
      </p:sp>
      <p:sp>
        <p:nvSpPr>
          <p:cNvPr id="22" name="object 22"/>
          <p:cNvSpPr txBox="1"/>
          <p:nvPr/>
        </p:nvSpPr>
        <p:spPr>
          <a:xfrm>
            <a:off x="168910" y="566419"/>
            <a:ext cx="10201275" cy="1731010"/>
          </a:xfrm>
          <a:prstGeom prst="rect">
            <a:avLst/>
          </a:prstGeom>
        </p:spPr>
        <p:txBody>
          <a:bodyPr vert="horz" wrap="square" lIns="0" tIns="12700" rIns="0" bIns="0" rtlCol="0">
            <a:spAutoFit/>
          </a:bodyPr>
          <a:lstStyle/>
          <a:p>
            <a:pPr marL="4258945">
              <a:lnSpc>
                <a:spcPts val="3085"/>
              </a:lnSpc>
              <a:spcBef>
                <a:spcPts val="100"/>
              </a:spcBef>
            </a:pPr>
            <a:r>
              <a:rPr sz="2800" i="1" dirty="0">
                <a:solidFill>
                  <a:srgbClr val="006FC0"/>
                </a:solidFill>
                <a:latin typeface="Calibri"/>
                <a:cs typeface="Calibri"/>
              </a:rPr>
              <a:t>Nature</a:t>
            </a:r>
            <a:r>
              <a:rPr sz="2800" i="1" spc="-30" dirty="0">
                <a:solidFill>
                  <a:srgbClr val="006FC0"/>
                </a:solidFill>
                <a:latin typeface="Calibri"/>
                <a:cs typeface="Calibri"/>
              </a:rPr>
              <a:t> </a:t>
            </a:r>
            <a:r>
              <a:rPr sz="2800" i="1" dirty="0">
                <a:solidFill>
                  <a:srgbClr val="006FC0"/>
                </a:solidFill>
                <a:latin typeface="Calibri"/>
                <a:cs typeface="Calibri"/>
              </a:rPr>
              <a:t>of</a:t>
            </a:r>
            <a:r>
              <a:rPr sz="2800" i="1" spc="-20" dirty="0">
                <a:solidFill>
                  <a:srgbClr val="006FC0"/>
                </a:solidFill>
                <a:latin typeface="Calibri"/>
                <a:cs typeface="Calibri"/>
              </a:rPr>
              <a:t> </a:t>
            </a:r>
            <a:r>
              <a:rPr sz="2800" i="1" dirty="0">
                <a:solidFill>
                  <a:srgbClr val="006FC0"/>
                </a:solidFill>
                <a:latin typeface="Calibri"/>
                <a:cs typeface="Calibri"/>
              </a:rPr>
              <a:t>ML</a:t>
            </a:r>
            <a:r>
              <a:rPr sz="2800" i="1" spc="-15" dirty="0">
                <a:solidFill>
                  <a:srgbClr val="006FC0"/>
                </a:solidFill>
                <a:latin typeface="Calibri"/>
                <a:cs typeface="Calibri"/>
              </a:rPr>
              <a:t> </a:t>
            </a:r>
            <a:r>
              <a:rPr sz="2800" i="1" spc="-10" dirty="0">
                <a:solidFill>
                  <a:srgbClr val="006FC0"/>
                </a:solidFill>
                <a:latin typeface="Calibri"/>
                <a:cs typeface="Calibri"/>
              </a:rPr>
              <a:t>Problems</a:t>
            </a:r>
            <a:endParaRPr sz="2800" dirty="0">
              <a:latin typeface="Calibri"/>
              <a:cs typeface="Calibri"/>
            </a:endParaRPr>
          </a:p>
          <a:p>
            <a:pPr marL="520700" indent="-508000">
              <a:lnSpc>
                <a:spcPts val="2550"/>
              </a:lnSpc>
              <a:buFont typeface="Calibri"/>
              <a:buAutoNum type="arabicPeriod" startAt="3"/>
              <a:tabLst>
                <a:tab pos="520700" algn="l"/>
              </a:tabLst>
            </a:pPr>
            <a:r>
              <a:rPr sz="2400" b="1" spc="-20" dirty="0">
                <a:latin typeface="Calibri"/>
                <a:cs typeface="Calibri"/>
              </a:rPr>
              <a:t>Semi-</a:t>
            </a:r>
            <a:r>
              <a:rPr sz="2400" b="1" dirty="0">
                <a:latin typeface="Calibri"/>
                <a:cs typeface="Calibri"/>
              </a:rPr>
              <a:t>supervised</a:t>
            </a:r>
            <a:r>
              <a:rPr sz="2400" b="1" spc="-70" dirty="0">
                <a:latin typeface="Calibri"/>
                <a:cs typeface="Calibri"/>
              </a:rPr>
              <a:t> </a:t>
            </a:r>
            <a:r>
              <a:rPr sz="2400" b="1" spc="-10" dirty="0">
                <a:latin typeface="Calibri"/>
                <a:cs typeface="Calibri"/>
              </a:rPr>
              <a:t>Learning</a:t>
            </a:r>
            <a:endParaRPr sz="2400" dirty="0">
              <a:latin typeface="Calibri"/>
              <a:cs typeface="Calibri"/>
            </a:endParaRPr>
          </a:p>
          <a:p>
            <a:pPr marL="799465" lvl="1" indent="-285115">
              <a:lnSpc>
                <a:spcPts val="2105"/>
              </a:lnSpc>
              <a:buFont typeface="Arial MT"/>
              <a:buChar char="•"/>
              <a:tabLst>
                <a:tab pos="799465" algn="l"/>
              </a:tabLst>
            </a:pPr>
            <a:r>
              <a:rPr sz="1800" dirty="0">
                <a:latin typeface="Segoe Print"/>
                <a:cs typeface="Segoe Print"/>
              </a:rPr>
              <a:t>The</a:t>
            </a:r>
            <a:r>
              <a:rPr sz="1800" spc="-50" dirty="0">
                <a:latin typeface="Segoe Print"/>
                <a:cs typeface="Segoe Print"/>
              </a:rPr>
              <a:t> </a:t>
            </a:r>
            <a:r>
              <a:rPr sz="1800" dirty="0">
                <a:latin typeface="Segoe Print"/>
                <a:cs typeface="Segoe Print"/>
              </a:rPr>
              <a:t>learning</a:t>
            </a:r>
            <a:r>
              <a:rPr sz="1800" spc="-55" dirty="0">
                <a:latin typeface="Segoe Print"/>
                <a:cs typeface="Segoe Print"/>
              </a:rPr>
              <a:t> </a:t>
            </a:r>
            <a:r>
              <a:rPr sz="1800" dirty="0">
                <a:latin typeface="Segoe Print"/>
                <a:cs typeface="Segoe Print"/>
              </a:rPr>
              <a:t>algorithm</a:t>
            </a:r>
            <a:r>
              <a:rPr sz="1800" spc="-45" dirty="0">
                <a:latin typeface="Segoe Print"/>
                <a:cs typeface="Segoe Print"/>
              </a:rPr>
              <a:t> </a:t>
            </a:r>
            <a:r>
              <a:rPr sz="1800" dirty="0">
                <a:latin typeface="Segoe Print"/>
                <a:cs typeface="Segoe Print"/>
              </a:rPr>
              <a:t>receives</a:t>
            </a:r>
            <a:r>
              <a:rPr sz="1800" spc="-45" dirty="0">
                <a:latin typeface="Segoe Print"/>
                <a:cs typeface="Segoe Print"/>
              </a:rPr>
              <a:t> </a:t>
            </a:r>
            <a:r>
              <a:rPr sz="1800" dirty="0">
                <a:latin typeface="Segoe Print"/>
                <a:cs typeface="Segoe Print"/>
              </a:rPr>
              <a:t>labeled</a:t>
            </a:r>
            <a:r>
              <a:rPr sz="1800" spc="-45" dirty="0">
                <a:latin typeface="Segoe Print"/>
                <a:cs typeface="Segoe Print"/>
              </a:rPr>
              <a:t> </a:t>
            </a:r>
            <a:r>
              <a:rPr sz="1800" dirty="0">
                <a:latin typeface="Segoe Print"/>
                <a:cs typeface="Segoe Print"/>
              </a:rPr>
              <a:t>and</a:t>
            </a:r>
            <a:r>
              <a:rPr sz="1800" spc="-50" dirty="0">
                <a:latin typeface="Segoe Print"/>
                <a:cs typeface="Segoe Print"/>
              </a:rPr>
              <a:t> </a:t>
            </a:r>
            <a:r>
              <a:rPr sz="1800" dirty="0">
                <a:latin typeface="Segoe Print"/>
                <a:cs typeface="Segoe Print"/>
              </a:rPr>
              <a:t>unlabeled</a:t>
            </a:r>
            <a:r>
              <a:rPr sz="1800" spc="-50" dirty="0">
                <a:latin typeface="Segoe Print"/>
                <a:cs typeface="Segoe Print"/>
              </a:rPr>
              <a:t> </a:t>
            </a:r>
            <a:r>
              <a:rPr sz="1800" dirty="0">
                <a:latin typeface="Segoe Print"/>
                <a:cs typeface="Segoe Print"/>
              </a:rPr>
              <a:t>raw</a:t>
            </a:r>
            <a:r>
              <a:rPr sz="1800" spc="-45" dirty="0">
                <a:latin typeface="Segoe Print"/>
                <a:cs typeface="Segoe Print"/>
              </a:rPr>
              <a:t> </a:t>
            </a:r>
            <a:r>
              <a:rPr sz="1800" dirty="0">
                <a:latin typeface="Segoe Print"/>
                <a:cs typeface="Segoe Print"/>
              </a:rPr>
              <a:t>data</a:t>
            </a:r>
            <a:r>
              <a:rPr sz="1800" spc="-40" dirty="0">
                <a:latin typeface="Segoe Print"/>
                <a:cs typeface="Segoe Print"/>
              </a:rPr>
              <a:t> </a:t>
            </a:r>
            <a:r>
              <a:rPr sz="1800" dirty="0">
                <a:latin typeface="Segoe Print"/>
                <a:cs typeface="Segoe Print"/>
              </a:rPr>
              <a:t>to</a:t>
            </a:r>
            <a:r>
              <a:rPr sz="1800" spc="-55" dirty="0">
                <a:latin typeface="Segoe Print"/>
                <a:cs typeface="Segoe Print"/>
              </a:rPr>
              <a:t> </a:t>
            </a:r>
            <a:r>
              <a:rPr sz="1800" dirty="0">
                <a:latin typeface="Segoe Print"/>
                <a:cs typeface="Segoe Print"/>
              </a:rPr>
              <a:t>train</a:t>
            </a:r>
            <a:r>
              <a:rPr sz="1800" spc="-50" dirty="0">
                <a:latin typeface="Segoe Print"/>
                <a:cs typeface="Segoe Print"/>
              </a:rPr>
              <a:t> </a:t>
            </a:r>
            <a:r>
              <a:rPr sz="1800" dirty="0">
                <a:latin typeface="Segoe Print"/>
                <a:cs typeface="Segoe Print"/>
              </a:rPr>
              <a:t>a</a:t>
            </a:r>
            <a:r>
              <a:rPr sz="1800" spc="-45" dirty="0">
                <a:latin typeface="Segoe Print"/>
                <a:cs typeface="Segoe Print"/>
              </a:rPr>
              <a:t> </a:t>
            </a:r>
            <a:r>
              <a:rPr sz="1800" spc="-10" dirty="0">
                <a:latin typeface="Segoe Print"/>
                <a:cs typeface="Segoe Print"/>
              </a:rPr>
              <a:t>model</a:t>
            </a:r>
            <a:endParaRPr sz="1800" dirty="0">
              <a:latin typeface="Segoe Print"/>
              <a:cs typeface="Segoe Print"/>
            </a:endParaRPr>
          </a:p>
          <a:p>
            <a:pPr marL="799465" lvl="1" indent="-285115">
              <a:lnSpc>
                <a:spcPct val="100000"/>
              </a:lnSpc>
              <a:buFont typeface="Arial MT"/>
              <a:buChar char="•"/>
              <a:tabLst>
                <a:tab pos="799465" algn="l"/>
              </a:tabLst>
            </a:pPr>
            <a:r>
              <a:rPr sz="1800" dirty="0">
                <a:latin typeface="Segoe Print"/>
                <a:cs typeface="Segoe Print"/>
              </a:rPr>
              <a:t>Main</a:t>
            </a:r>
            <a:r>
              <a:rPr sz="1800" spc="-45" dirty="0">
                <a:latin typeface="Segoe Print"/>
                <a:cs typeface="Segoe Print"/>
              </a:rPr>
              <a:t> </a:t>
            </a:r>
            <a:r>
              <a:rPr sz="1800" dirty="0">
                <a:latin typeface="Segoe Print"/>
                <a:cs typeface="Segoe Print"/>
              </a:rPr>
              <a:t>objective</a:t>
            </a:r>
            <a:r>
              <a:rPr sz="1800" spc="-45" dirty="0">
                <a:latin typeface="Segoe Print"/>
                <a:cs typeface="Segoe Print"/>
              </a:rPr>
              <a:t> </a:t>
            </a:r>
            <a:r>
              <a:rPr sz="1800" dirty="0">
                <a:latin typeface="Segoe Print"/>
                <a:cs typeface="Segoe Print"/>
              </a:rPr>
              <a:t>is</a:t>
            </a:r>
            <a:r>
              <a:rPr sz="1800" spc="-40" dirty="0">
                <a:latin typeface="Segoe Print"/>
                <a:cs typeface="Segoe Print"/>
              </a:rPr>
              <a:t> </a:t>
            </a:r>
            <a:r>
              <a:rPr sz="1800" dirty="0">
                <a:latin typeface="Segoe Print"/>
                <a:cs typeface="Segoe Print"/>
              </a:rPr>
              <a:t>to</a:t>
            </a:r>
            <a:r>
              <a:rPr sz="1800" spc="-50" dirty="0">
                <a:latin typeface="Segoe Print"/>
                <a:cs typeface="Segoe Print"/>
              </a:rPr>
              <a:t> </a:t>
            </a:r>
            <a:r>
              <a:rPr sz="1800" dirty="0">
                <a:latin typeface="Segoe Print"/>
                <a:cs typeface="Segoe Print"/>
              </a:rPr>
              <a:t>efficiently</a:t>
            </a:r>
            <a:r>
              <a:rPr sz="1800" spc="-30" dirty="0">
                <a:latin typeface="Segoe Print"/>
                <a:cs typeface="Segoe Print"/>
              </a:rPr>
              <a:t> </a:t>
            </a:r>
            <a:r>
              <a:rPr sz="1800" dirty="0">
                <a:latin typeface="Segoe Print"/>
                <a:cs typeface="Segoe Print"/>
              </a:rPr>
              <a:t>accommodate</a:t>
            </a:r>
            <a:r>
              <a:rPr sz="1800" spc="-40" dirty="0">
                <a:latin typeface="Segoe Print"/>
                <a:cs typeface="Segoe Print"/>
              </a:rPr>
              <a:t> </a:t>
            </a:r>
            <a:r>
              <a:rPr sz="1800" dirty="0">
                <a:latin typeface="Segoe Print"/>
                <a:cs typeface="Segoe Print"/>
              </a:rPr>
              <a:t>the</a:t>
            </a:r>
            <a:r>
              <a:rPr sz="1800" spc="-40" dirty="0">
                <a:latin typeface="Segoe Print"/>
                <a:cs typeface="Segoe Print"/>
              </a:rPr>
              <a:t> </a:t>
            </a:r>
            <a:r>
              <a:rPr sz="1800" dirty="0">
                <a:latin typeface="Segoe Print"/>
                <a:cs typeface="Segoe Print"/>
              </a:rPr>
              <a:t>unlabeled</a:t>
            </a:r>
            <a:r>
              <a:rPr sz="1800" spc="-45" dirty="0">
                <a:latin typeface="Segoe Print"/>
                <a:cs typeface="Segoe Print"/>
              </a:rPr>
              <a:t> </a:t>
            </a:r>
            <a:r>
              <a:rPr sz="1800" spc="-20" dirty="0">
                <a:latin typeface="Segoe Print"/>
                <a:cs typeface="Segoe Print"/>
              </a:rPr>
              <a:t>data</a:t>
            </a:r>
            <a:endParaRPr sz="1800" dirty="0">
              <a:latin typeface="Segoe Print"/>
              <a:cs typeface="Segoe Print"/>
            </a:endParaRPr>
          </a:p>
          <a:p>
            <a:pPr marL="2313940">
              <a:lnSpc>
                <a:spcPct val="100000"/>
              </a:lnSpc>
              <a:spcBef>
                <a:spcPts val="1370"/>
              </a:spcBef>
            </a:pPr>
            <a:r>
              <a:rPr sz="1800" spc="-20" dirty="0">
                <a:latin typeface="Calibri"/>
                <a:cs typeface="Calibri"/>
              </a:rPr>
              <a:t>Training</a:t>
            </a:r>
            <a:r>
              <a:rPr sz="1800" spc="-60" dirty="0">
                <a:latin typeface="Calibri"/>
                <a:cs typeface="Calibri"/>
              </a:rPr>
              <a:t> </a:t>
            </a:r>
            <a:r>
              <a:rPr sz="1800" spc="-20" dirty="0">
                <a:latin typeface="Calibri"/>
                <a:cs typeface="Calibri"/>
              </a:rPr>
              <a:t>Data</a:t>
            </a:r>
            <a:endParaRPr sz="1800" dirty="0">
              <a:latin typeface="Calibri"/>
              <a:cs typeface="Calibri"/>
            </a:endParaRPr>
          </a:p>
        </p:txBody>
      </p:sp>
      <p:pic>
        <p:nvPicPr>
          <p:cNvPr id="23" name="object 23"/>
          <p:cNvPicPr/>
          <p:nvPr/>
        </p:nvPicPr>
        <p:blipFill>
          <a:blip r:embed="rId4" cstate="print"/>
          <a:stretch>
            <a:fillRect/>
          </a:stretch>
        </p:blipFill>
        <p:spPr>
          <a:xfrm>
            <a:off x="432938" y="4356353"/>
            <a:ext cx="1506228" cy="1307213"/>
          </a:xfrm>
          <a:prstGeom prst="rect">
            <a:avLst/>
          </a:prstGeom>
        </p:spPr>
      </p:pic>
      <p:pic>
        <p:nvPicPr>
          <p:cNvPr id="24" name="object 24"/>
          <p:cNvPicPr/>
          <p:nvPr/>
        </p:nvPicPr>
        <p:blipFill>
          <a:blip r:embed="rId5" cstate="print"/>
          <a:stretch>
            <a:fillRect/>
          </a:stretch>
        </p:blipFill>
        <p:spPr>
          <a:xfrm>
            <a:off x="3374543" y="4351020"/>
            <a:ext cx="1506486" cy="1324773"/>
          </a:xfrm>
          <a:prstGeom prst="rect">
            <a:avLst/>
          </a:prstGeom>
        </p:spPr>
      </p:pic>
      <p:pic>
        <p:nvPicPr>
          <p:cNvPr id="25" name="object 25"/>
          <p:cNvPicPr/>
          <p:nvPr/>
        </p:nvPicPr>
        <p:blipFill>
          <a:blip r:embed="rId6" cstate="print"/>
          <a:stretch>
            <a:fillRect/>
          </a:stretch>
        </p:blipFill>
        <p:spPr>
          <a:xfrm>
            <a:off x="9757199" y="4398054"/>
            <a:ext cx="1506425" cy="1307391"/>
          </a:xfrm>
          <a:prstGeom prst="rect">
            <a:avLst/>
          </a:prstGeom>
        </p:spPr>
      </p:pic>
      <p:sp>
        <p:nvSpPr>
          <p:cNvPr id="26" name="object 26"/>
          <p:cNvSpPr txBox="1"/>
          <p:nvPr/>
        </p:nvSpPr>
        <p:spPr>
          <a:xfrm>
            <a:off x="290829" y="5781294"/>
            <a:ext cx="1820545" cy="574040"/>
          </a:xfrm>
          <a:prstGeom prst="rect">
            <a:avLst/>
          </a:prstGeom>
        </p:spPr>
        <p:txBody>
          <a:bodyPr vert="horz" wrap="square" lIns="0" tIns="12700" rIns="0" bIns="0" rtlCol="0">
            <a:spAutoFit/>
          </a:bodyPr>
          <a:lstStyle/>
          <a:p>
            <a:pPr marL="274320" marR="5080" indent="-262255">
              <a:lnSpc>
                <a:spcPct val="100000"/>
              </a:lnSpc>
              <a:spcBef>
                <a:spcPts val="100"/>
              </a:spcBef>
            </a:pPr>
            <a:r>
              <a:rPr sz="1800" dirty="0">
                <a:latin typeface="Calibri"/>
                <a:cs typeface="Calibri"/>
              </a:rPr>
              <a:t>Use</a:t>
            </a:r>
            <a:r>
              <a:rPr sz="1800" spc="-50" dirty="0">
                <a:latin typeface="Calibri"/>
                <a:cs typeface="Calibri"/>
              </a:rPr>
              <a:t> </a:t>
            </a:r>
            <a:r>
              <a:rPr sz="1800" dirty="0">
                <a:latin typeface="Calibri"/>
                <a:cs typeface="Calibri"/>
              </a:rPr>
              <a:t>labeled</a:t>
            </a:r>
            <a:r>
              <a:rPr sz="1800" spc="-40" dirty="0">
                <a:latin typeface="Calibri"/>
                <a:cs typeface="Calibri"/>
              </a:rPr>
              <a:t> </a:t>
            </a:r>
            <a:r>
              <a:rPr sz="1800" dirty="0">
                <a:latin typeface="Calibri"/>
                <a:cs typeface="Calibri"/>
              </a:rPr>
              <a:t>data</a:t>
            </a:r>
            <a:r>
              <a:rPr sz="1800" spc="-45" dirty="0">
                <a:latin typeface="Calibri"/>
                <a:cs typeface="Calibri"/>
              </a:rPr>
              <a:t> </a:t>
            </a:r>
            <a:r>
              <a:rPr sz="1800" spc="-25" dirty="0">
                <a:latin typeface="Calibri"/>
                <a:cs typeface="Calibri"/>
              </a:rPr>
              <a:t>to </a:t>
            </a:r>
            <a:r>
              <a:rPr sz="1800" dirty="0">
                <a:latin typeface="Calibri"/>
                <a:cs typeface="Calibri"/>
              </a:rPr>
              <a:t>build</a:t>
            </a:r>
            <a:r>
              <a:rPr sz="1800" spc="-30" dirty="0">
                <a:latin typeface="Calibri"/>
                <a:cs typeface="Calibri"/>
              </a:rPr>
              <a:t> </a:t>
            </a:r>
            <a:r>
              <a:rPr sz="1800" dirty="0">
                <a:latin typeface="Calibri"/>
                <a:cs typeface="Calibri"/>
              </a:rPr>
              <a:t>a</a:t>
            </a:r>
            <a:r>
              <a:rPr sz="1800" spc="-25" dirty="0">
                <a:latin typeface="Calibri"/>
                <a:cs typeface="Calibri"/>
              </a:rPr>
              <a:t> </a:t>
            </a:r>
            <a:r>
              <a:rPr sz="1800" spc="-10" dirty="0">
                <a:latin typeface="Calibri"/>
                <a:cs typeface="Calibri"/>
              </a:rPr>
              <a:t>model</a:t>
            </a:r>
            <a:endParaRPr sz="1800">
              <a:latin typeface="Calibri"/>
              <a:cs typeface="Calibri"/>
            </a:endParaRPr>
          </a:p>
        </p:txBody>
      </p:sp>
      <p:sp>
        <p:nvSpPr>
          <p:cNvPr id="27" name="object 27"/>
          <p:cNvSpPr txBox="1"/>
          <p:nvPr/>
        </p:nvSpPr>
        <p:spPr>
          <a:xfrm>
            <a:off x="3271265" y="5781294"/>
            <a:ext cx="1955800" cy="574040"/>
          </a:xfrm>
          <a:prstGeom prst="rect">
            <a:avLst/>
          </a:prstGeom>
        </p:spPr>
        <p:txBody>
          <a:bodyPr vert="horz" wrap="square" lIns="0" tIns="12700" rIns="0" bIns="0" rtlCol="0">
            <a:spAutoFit/>
          </a:bodyPr>
          <a:lstStyle/>
          <a:p>
            <a:pPr marL="450850" marR="5080" indent="-438150">
              <a:lnSpc>
                <a:spcPct val="100000"/>
              </a:lnSpc>
              <a:spcBef>
                <a:spcPts val="100"/>
              </a:spcBef>
            </a:pPr>
            <a:r>
              <a:rPr sz="1800" dirty="0">
                <a:latin typeface="Calibri"/>
                <a:cs typeface="Calibri"/>
              </a:rPr>
              <a:t>Place</a:t>
            </a:r>
            <a:r>
              <a:rPr sz="1800" spc="-70" dirty="0">
                <a:latin typeface="Calibri"/>
                <a:cs typeface="Calibri"/>
              </a:rPr>
              <a:t> </a:t>
            </a:r>
            <a:r>
              <a:rPr sz="1800" dirty="0">
                <a:latin typeface="Calibri"/>
                <a:cs typeface="Calibri"/>
              </a:rPr>
              <a:t>unlabeled</a:t>
            </a:r>
            <a:r>
              <a:rPr sz="1800" spc="-60" dirty="0">
                <a:latin typeface="Calibri"/>
                <a:cs typeface="Calibri"/>
              </a:rPr>
              <a:t> </a:t>
            </a:r>
            <a:r>
              <a:rPr sz="1800" spc="-20" dirty="0">
                <a:latin typeface="Calibri"/>
                <a:cs typeface="Calibri"/>
              </a:rPr>
              <a:t>data </a:t>
            </a:r>
            <a:r>
              <a:rPr sz="1800" dirty="0">
                <a:latin typeface="Calibri"/>
                <a:cs typeface="Calibri"/>
              </a:rPr>
              <a:t>with</a:t>
            </a:r>
            <a:r>
              <a:rPr sz="1800" spc="-15" dirty="0">
                <a:latin typeface="Calibri"/>
                <a:cs typeface="Calibri"/>
              </a:rPr>
              <a:t> </a:t>
            </a:r>
            <a:r>
              <a:rPr sz="1800" spc="-10" dirty="0">
                <a:latin typeface="Calibri"/>
                <a:cs typeface="Calibri"/>
              </a:rPr>
              <a:t>model</a:t>
            </a:r>
            <a:endParaRPr sz="1800">
              <a:latin typeface="Calibri"/>
              <a:cs typeface="Calibri"/>
            </a:endParaRPr>
          </a:p>
        </p:txBody>
      </p:sp>
      <p:sp>
        <p:nvSpPr>
          <p:cNvPr id="28" name="object 28"/>
          <p:cNvSpPr txBox="1"/>
          <p:nvPr/>
        </p:nvSpPr>
        <p:spPr>
          <a:xfrm>
            <a:off x="6244590" y="5781294"/>
            <a:ext cx="2129790" cy="574040"/>
          </a:xfrm>
          <a:prstGeom prst="rect">
            <a:avLst/>
          </a:prstGeom>
        </p:spPr>
        <p:txBody>
          <a:bodyPr vert="horz" wrap="square" lIns="0" tIns="12700" rIns="0" bIns="0" rtlCol="0">
            <a:spAutoFit/>
          </a:bodyPr>
          <a:lstStyle/>
          <a:p>
            <a:pPr marL="188595" marR="5080" indent="-176530">
              <a:lnSpc>
                <a:spcPct val="100000"/>
              </a:lnSpc>
              <a:spcBef>
                <a:spcPts val="100"/>
              </a:spcBef>
            </a:pPr>
            <a:r>
              <a:rPr sz="1800" dirty="0">
                <a:latin typeface="Calibri"/>
                <a:cs typeface="Calibri"/>
              </a:rPr>
              <a:t>Use</a:t>
            </a:r>
            <a:r>
              <a:rPr sz="1800" spc="-35"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model</a:t>
            </a:r>
            <a:r>
              <a:rPr sz="1800" spc="-25" dirty="0">
                <a:latin typeface="Calibri"/>
                <a:cs typeface="Calibri"/>
              </a:rPr>
              <a:t> </a:t>
            </a:r>
            <a:r>
              <a:rPr sz="1800" dirty="0">
                <a:latin typeface="Calibri"/>
                <a:cs typeface="Calibri"/>
              </a:rPr>
              <a:t>to</a:t>
            </a:r>
            <a:r>
              <a:rPr sz="1800" spc="-30" dirty="0">
                <a:latin typeface="Calibri"/>
                <a:cs typeface="Calibri"/>
              </a:rPr>
              <a:t> </a:t>
            </a:r>
            <a:r>
              <a:rPr sz="1800" spc="-10" dirty="0">
                <a:latin typeface="Calibri"/>
                <a:cs typeface="Calibri"/>
              </a:rPr>
              <a:t>label </a:t>
            </a:r>
            <a:r>
              <a:rPr sz="1800" dirty="0">
                <a:latin typeface="Calibri"/>
                <a:cs typeface="Calibri"/>
              </a:rPr>
              <a:t>the</a:t>
            </a:r>
            <a:r>
              <a:rPr sz="1800" spc="-65" dirty="0">
                <a:latin typeface="Calibri"/>
                <a:cs typeface="Calibri"/>
              </a:rPr>
              <a:t> </a:t>
            </a:r>
            <a:r>
              <a:rPr sz="1800" dirty="0">
                <a:latin typeface="Calibri"/>
                <a:cs typeface="Calibri"/>
              </a:rPr>
              <a:t>unlabeled</a:t>
            </a:r>
            <a:r>
              <a:rPr sz="1800" spc="-50" dirty="0">
                <a:latin typeface="Calibri"/>
                <a:cs typeface="Calibri"/>
              </a:rPr>
              <a:t> </a:t>
            </a:r>
            <a:r>
              <a:rPr sz="1800" spc="-20" dirty="0">
                <a:latin typeface="Calibri"/>
                <a:cs typeface="Calibri"/>
              </a:rPr>
              <a:t>data</a:t>
            </a:r>
            <a:endParaRPr sz="1800">
              <a:latin typeface="Calibri"/>
              <a:cs typeface="Calibri"/>
            </a:endParaRPr>
          </a:p>
        </p:txBody>
      </p:sp>
      <p:sp>
        <p:nvSpPr>
          <p:cNvPr id="29" name="object 29"/>
          <p:cNvSpPr txBox="1"/>
          <p:nvPr/>
        </p:nvSpPr>
        <p:spPr>
          <a:xfrm>
            <a:off x="9552685" y="5781294"/>
            <a:ext cx="2243455" cy="574040"/>
          </a:xfrm>
          <a:prstGeom prst="rect">
            <a:avLst/>
          </a:prstGeom>
        </p:spPr>
        <p:txBody>
          <a:bodyPr vert="horz" wrap="square" lIns="0" tIns="12700" rIns="0" bIns="0" rtlCol="0">
            <a:spAutoFit/>
          </a:bodyPr>
          <a:lstStyle/>
          <a:p>
            <a:pPr marL="12700" marR="5080" indent="215265">
              <a:lnSpc>
                <a:spcPct val="100000"/>
              </a:lnSpc>
              <a:spcBef>
                <a:spcPts val="100"/>
              </a:spcBef>
            </a:pPr>
            <a:r>
              <a:rPr sz="1800" dirty="0">
                <a:latin typeface="Calibri"/>
                <a:cs typeface="Calibri"/>
              </a:rPr>
              <a:t>Fit</a:t>
            </a:r>
            <a:r>
              <a:rPr sz="1800" spc="-30"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model</a:t>
            </a:r>
            <a:r>
              <a:rPr sz="1800" spc="-15" dirty="0">
                <a:latin typeface="Calibri"/>
                <a:cs typeface="Calibri"/>
              </a:rPr>
              <a:t> </a:t>
            </a:r>
            <a:r>
              <a:rPr sz="1800" spc="-10" dirty="0">
                <a:latin typeface="Calibri"/>
                <a:cs typeface="Calibri"/>
              </a:rPr>
              <a:t>again </a:t>
            </a:r>
            <a:r>
              <a:rPr sz="1800" dirty="0">
                <a:latin typeface="Calibri"/>
                <a:cs typeface="Calibri"/>
              </a:rPr>
              <a:t>with</a:t>
            </a:r>
            <a:r>
              <a:rPr sz="1800" spc="-5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combined</a:t>
            </a:r>
            <a:r>
              <a:rPr sz="1800" spc="-40" dirty="0">
                <a:latin typeface="Calibri"/>
                <a:cs typeface="Calibri"/>
              </a:rPr>
              <a:t> </a:t>
            </a:r>
            <a:r>
              <a:rPr sz="1800" spc="-20" dirty="0">
                <a:latin typeface="Calibri"/>
                <a:cs typeface="Calibri"/>
              </a:rPr>
              <a:t>data</a:t>
            </a:r>
            <a:endParaRPr sz="1800">
              <a:latin typeface="Calibri"/>
              <a:cs typeface="Calibri"/>
            </a:endParaRPr>
          </a:p>
        </p:txBody>
      </p:sp>
      <p:sp>
        <p:nvSpPr>
          <p:cNvPr id="30" name="object 30"/>
          <p:cNvSpPr txBox="1"/>
          <p:nvPr/>
        </p:nvSpPr>
        <p:spPr>
          <a:xfrm>
            <a:off x="7036561" y="3875278"/>
            <a:ext cx="8477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Anomaly</a:t>
            </a:r>
            <a:endParaRPr sz="1800">
              <a:latin typeface="Calibri"/>
              <a:cs typeface="Calibri"/>
            </a:endParaRPr>
          </a:p>
        </p:txBody>
      </p:sp>
      <p:sp>
        <p:nvSpPr>
          <p:cNvPr id="31" name="object 31"/>
          <p:cNvSpPr txBox="1"/>
          <p:nvPr/>
        </p:nvSpPr>
        <p:spPr>
          <a:xfrm>
            <a:off x="8066785" y="3875278"/>
            <a:ext cx="1140460" cy="299720"/>
          </a:xfrm>
          <a:prstGeom prst="rect">
            <a:avLst/>
          </a:prstGeom>
        </p:spPr>
        <p:txBody>
          <a:bodyPr vert="horz" wrap="square" lIns="0" tIns="12700" rIns="0" bIns="0" rtlCol="0">
            <a:spAutoFit/>
          </a:bodyPr>
          <a:lstStyle/>
          <a:p>
            <a:pPr marL="12700">
              <a:lnSpc>
                <a:spcPct val="100000"/>
              </a:lnSpc>
              <a:spcBef>
                <a:spcPts val="100"/>
              </a:spcBef>
              <a:tabLst>
                <a:tab pos="353060" algn="l"/>
              </a:tabLst>
            </a:pPr>
            <a:r>
              <a:rPr sz="1800" dirty="0">
                <a:latin typeface="Calibri"/>
                <a:cs typeface="Calibri"/>
              </a:rPr>
              <a:t>-</a:t>
            </a:r>
            <a:r>
              <a:rPr sz="1800" spc="-50" dirty="0">
                <a:latin typeface="Calibri"/>
                <a:cs typeface="Calibri"/>
              </a:rPr>
              <a:t>&gt;</a:t>
            </a:r>
            <a:r>
              <a:rPr sz="1800" dirty="0">
                <a:latin typeface="Calibri"/>
                <a:cs typeface="Calibri"/>
              </a:rPr>
              <a:t>	ignore</a:t>
            </a:r>
            <a:r>
              <a:rPr sz="1800" spc="-70" dirty="0">
                <a:latin typeface="Calibri"/>
                <a:cs typeface="Calibri"/>
              </a:rPr>
              <a:t> </a:t>
            </a:r>
            <a:r>
              <a:rPr sz="1800" spc="-25" dirty="0">
                <a:latin typeface="Calibri"/>
                <a:cs typeface="Calibri"/>
              </a:rPr>
              <a:t>it</a:t>
            </a:r>
            <a:endParaRPr sz="1800">
              <a:latin typeface="Calibri"/>
              <a:cs typeface="Calibri"/>
            </a:endParaRPr>
          </a:p>
        </p:txBody>
      </p:sp>
      <p:grpSp>
        <p:nvGrpSpPr>
          <p:cNvPr id="32" name="object 32"/>
          <p:cNvGrpSpPr/>
          <p:nvPr/>
        </p:nvGrpSpPr>
        <p:grpSpPr>
          <a:xfrm>
            <a:off x="2295525" y="4212844"/>
            <a:ext cx="6970395" cy="1009015"/>
            <a:chOff x="2295525" y="4212844"/>
            <a:chExt cx="6970395" cy="1009015"/>
          </a:xfrm>
        </p:grpSpPr>
        <p:sp>
          <p:nvSpPr>
            <p:cNvPr id="33" name="object 33"/>
            <p:cNvSpPr/>
            <p:nvPr/>
          </p:nvSpPr>
          <p:spPr>
            <a:xfrm>
              <a:off x="7390638" y="4212844"/>
              <a:ext cx="735965" cy="337820"/>
            </a:xfrm>
            <a:custGeom>
              <a:avLst/>
              <a:gdLst/>
              <a:ahLst/>
              <a:cxnLst/>
              <a:rect l="l" t="t" r="r" b="b"/>
              <a:pathLst>
                <a:path w="735965" h="337820">
                  <a:moveTo>
                    <a:pt x="62229" y="257936"/>
                  </a:moveTo>
                  <a:lnTo>
                    <a:pt x="0" y="332612"/>
                  </a:lnTo>
                  <a:lnTo>
                    <a:pt x="97027" y="337565"/>
                  </a:lnTo>
                  <a:lnTo>
                    <a:pt x="87981" y="316864"/>
                  </a:lnTo>
                  <a:lnTo>
                    <a:pt x="72135" y="316864"/>
                  </a:lnTo>
                  <a:lnTo>
                    <a:pt x="60578" y="290321"/>
                  </a:lnTo>
                  <a:lnTo>
                    <a:pt x="73846" y="284518"/>
                  </a:lnTo>
                  <a:lnTo>
                    <a:pt x="62229" y="257936"/>
                  </a:lnTo>
                  <a:close/>
                </a:path>
                <a:path w="735965" h="337820">
                  <a:moveTo>
                    <a:pt x="73846" y="284518"/>
                  </a:moveTo>
                  <a:lnTo>
                    <a:pt x="60578" y="290321"/>
                  </a:lnTo>
                  <a:lnTo>
                    <a:pt x="72135" y="316864"/>
                  </a:lnTo>
                  <a:lnTo>
                    <a:pt x="85437" y="311043"/>
                  </a:lnTo>
                  <a:lnTo>
                    <a:pt x="73846" y="284518"/>
                  </a:lnTo>
                  <a:close/>
                </a:path>
                <a:path w="735965" h="337820">
                  <a:moveTo>
                    <a:pt x="85437" y="311043"/>
                  </a:moveTo>
                  <a:lnTo>
                    <a:pt x="72135" y="316864"/>
                  </a:lnTo>
                  <a:lnTo>
                    <a:pt x="87981" y="316864"/>
                  </a:lnTo>
                  <a:lnTo>
                    <a:pt x="85437" y="311043"/>
                  </a:lnTo>
                  <a:close/>
                </a:path>
                <a:path w="735965" h="337820">
                  <a:moveTo>
                    <a:pt x="724280" y="0"/>
                  </a:moveTo>
                  <a:lnTo>
                    <a:pt x="73846" y="284518"/>
                  </a:lnTo>
                  <a:lnTo>
                    <a:pt x="85437" y="311043"/>
                  </a:lnTo>
                  <a:lnTo>
                    <a:pt x="735837" y="26415"/>
                  </a:lnTo>
                  <a:lnTo>
                    <a:pt x="724280" y="0"/>
                  </a:lnTo>
                  <a:close/>
                </a:path>
              </a:pathLst>
            </a:custGeom>
            <a:solidFill>
              <a:srgbClr val="538235"/>
            </a:solidFill>
          </p:spPr>
          <p:txBody>
            <a:bodyPr wrap="square" lIns="0" tIns="0" rIns="0" bIns="0" rtlCol="0"/>
            <a:lstStyle/>
            <a:p>
              <a:endParaRPr/>
            </a:p>
          </p:txBody>
        </p:sp>
        <p:sp>
          <p:nvSpPr>
            <p:cNvPr id="34" name="object 34"/>
            <p:cNvSpPr/>
            <p:nvPr/>
          </p:nvSpPr>
          <p:spPr>
            <a:xfrm>
              <a:off x="2295525" y="4998338"/>
              <a:ext cx="914400" cy="223520"/>
            </a:xfrm>
            <a:custGeom>
              <a:avLst/>
              <a:gdLst/>
              <a:ahLst/>
              <a:cxnLst/>
              <a:rect l="l" t="t" r="r" b="b"/>
              <a:pathLst>
                <a:path w="914400" h="223520">
                  <a:moveTo>
                    <a:pt x="802767" y="0"/>
                  </a:moveTo>
                  <a:lnTo>
                    <a:pt x="802767" y="55880"/>
                  </a:lnTo>
                  <a:lnTo>
                    <a:pt x="0" y="55880"/>
                  </a:lnTo>
                  <a:lnTo>
                    <a:pt x="0" y="167386"/>
                  </a:lnTo>
                  <a:lnTo>
                    <a:pt x="802767" y="167386"/>
                  </a:lnTo>
                  <a:lnTo>
                    <a:pt x="802767" y="223266"/>
                  </a:lnTo>
                  <a:lnTo>
                    <a:pt x="914400" y="111633"/>
                  </a:lnTo>
                  <a:lnTo>
                    <a:pt x="802767" y="0"/>
                  </a:lnTo>
                  <a:close/>
                </a:path>
              </a:pathLst>
            </a:custGeom>
            <a:solidFill>
              <a:srgbClr val="6FAC46"/>
            </a:solidFill>
          </p:spPr>
          <p:txBody>
            <a:bodyPr wrap="square" lIns="0" tIns="0" rIns="0" bIns="0" rtlCol="0"/>
            <a:lstStyle/>
            <a:p>
              <a:endParaRPr/>
            </a:p>
          </p:txBody>
        </p:sp>
        <p:sp>
          <p:nvSpPr>
            <p:cNvPr id="35" name="object 35"/>
            <p:cNvSpPr/>
            <p:nvPr/>
          </p:nvSpPr>
          <p:spPr>
            <a:xfrm>
              <a:off x="5153025" y="4971668"/>
              <a:ext cx="4112895" cy="250190"/>
            </a:xfrm>
            <a:custGeom>
              <a:avLst/>
              <a:gdLst/>
              <a:ahLst/>
              <a:cxnLst/>
              <a:rect l="l" t="t" r="r" b="b"/>
              <a:pathLst>
                <a:path w="4112895" h="250189">
                  <a:moveTo>
                    <a:pt x="914400" y="138303"/>
                  </a:moveTo>
                  <a:lnTo>
                    <a:pt x="802767" y="26670"/>
                  </a:lnTo>
                  <a:lnTo>
                    <a:pt x="802767" y="82550"/>
                  </a:lnTo>
                  <a:lnTo>
                    <a:pt x="0" y="82550"/>
                  </a:lnTo>
                  <a:lnTo>
                    <a:pt x="0" y="194056"/>
                  </a:lnTo>
                  <a:lnTo>
                    <a:pt x="802767" y="194056"/>
                  </a:lnTo>
                  <a:lnTo>
                    <a:pt x="802767" y="249936"/>
                  </a:lnTo>
                  <a:lnTo>
                    <a:pt x="914400" y="138303"/>
                  </a:lnTo>
                  <a:close/>
                </a:path>
                <a:path w="4112895" h="250189">
                  <a:moveTo>
                    <a:pt x="4112514" y="111633"/>
                  </a:moveTo>
                  <a:lnTo>
                    <a:pt x="4000881" y="0"/>
                  </a:lnTo>
                  <a:lnTo>
                    <a:pt x="4000881" y="55880"/>
                  </a:lnTo>
                  <a:lnTo>
                    <a:pt x="3198114" y="55880"/>
                  </a:lnTo>
                  <a:lnTo>
                    <a:pt x="3198114" y="167386"/>
                  </a:lnTo>
                  <a:lnTo>
                    <a:pt x="4000881" y="167386"/>
                  </a:lnTo>
                  <a:lnTo>
                    <a:pt x="4000881" y="223278"/>
                  </a:lnTo>
                  <a:lnTo>
                    <a:pt x="4112514" y="111633"/>
                  </a:lnTo>
                  <a:close/>
                </a:path>
              </a:pathLst>
            </a:custGeom>
            <a:solidFill>
              <a:srgbClr val="6FAC46"/>
            </a:solidFill>
          </p:spPr>
          <p:txBody>
            <a:bodyPr wrap="square" lIns="0" tIns="0" rIns="0" bIns="0" rtlCol="0"/>
            <a:lstStyle/>
            <a:p>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09812" y="841861"/>
            <a:ext cx="7127677" cy="1941149"/>
          </a:xfrm>
          <a:prstGeom prst="rect">
            <a:avLst/>
          </a:prstGeom>
        </p:spPr>
        <p:txBody>
          <a:bodyPr vert="horz" wrap="square" lIns="0" tIns="8930" rIns="0" bIns="0" rtlCol="0">
            <a:spAutoFit/>
          </a:bodyPr>
          <a:lstStyle/>
          <a:p>
            <a:pPr marL="256719" indent="-247790">
              <a:spcBef>
                <a:spcPts val="70"/>
              </a:spcBef>
              <a:buClr>
                <a:srgbClr val="000000"/>
              </a:buClr>
              <a:buAutoNum type="arabicPeriod" startAt="3"/>
              <a:tabLst>
                <a:tab pos="256719" algn="l"/>
              </a:tabLst>
            </a:pPr>
            <a:r>
              <a:rPr sz="1758" spc="-25" dirty="0">
                <a:solidFill>
                  <a:srgbClr val="0076BA"/>
                </a:solidFill>
                <a:latin typeface="Trebuchet MS"/>
                <a:cs typeface="Trebuchet MS"/>
              </a:rPr>
              <a:t>Semisupervised</a:t>
            </a:r>
            <a:r>
              <a:rPr sz="1758" spc="-80" dirty="0">
                <a:solidFill>
                  <a:srgbClr val="0076BA"/>
                </a:solidFill>
                <a:latin typeface="Trebuchet MS"/>
                <a:cs typeface="Trebuchet MS"/>
              </a:rPr>
              <a:t> </a:t>
            </a:r>
            <a:r>
              <a:rPr sz="1758" spc="-42" dirty="0">
                <a:solidFill>
                  <a:srgbClr val="0076BA"/>
                </a:solidFill>
                <a:latin typeface="Trebuchet MS"/>
                <a:cs typeface="Trebuchet MS"/>
              </a:rPr>
              <a:t>learning</a:t>
            </a:r>
            <a:r>
              <a:rPr sz="1758" spc="-42" dirty="0">
                <a:latin typeface="Trebuchet MS"/>
                <a:cs typeface="Trebuchet MS"/>
              </a:rPr>
              <a:t>:</a:t>
            </a:r>
            <a:r>
              <a:rPr sz="1758" spc="-74" dirty="0">
                <a:latin typeface="Trebuchet MS"/>
                <a:cs typeface="Trebuchet MS"/>
              </a:rPr>
              <a:t> </a:t>
            </a:r>
            <a:r>
              <a:rPr sz="1758" spc="-46" dirty="0">
                <a:latin typeface="Trebuchet MS"/>
                <a:cs typeface="Trebuchet MS"/>
              </a:rPr>
              <a:t>plenty</a:t>
            </a:r>
            <a:r>
              <a:rPr sz="1758" spc="-74" dirty="0">
                <a:latin typeface="Trebuchet MS"/>
                <a:cs typeface="Trebuchet MS"/>
              </a:rPr>
              <a:t> </a:t>
            </a:r>
            <a:r>
              <a:rPr sz="1758" spc="-39" dirty="0">
                <a:latin typeface="Trebuchet MS"/>
                <a:cs typeface="Trebuchet MS"/>
              </a:rPr>
              <a:t>of</a:t>
            </a:r>
            <a:r>
              <a:rPr sz="1758" spc="-74" dirty="0">
                <a:latin typeface="Trebuchet MS"/>
                <a:cs typeface="Trebuchet MS"/>
              </a:rPr>
              <a:t> </a:t>
            </a:r>
            <a:r>
              <a:rPr sz="1758" spc="-21" dirty="0">
                <a:latin typeface="Trebuchet MS"/>
                <a:cs typeface="Trebuchet MS"/>
              </a:rPr>
              <a:t>unlabeled</a:t>
            </a:r>
            <a:r>
              <a:rPr sz="1758" spc="-74" dirty="0">
                <a:latin typeface="Trebuchet MS"/>
                <a:cs typeface="Trebuchet MS"/>
              </a:rPr>
              <a:t> </a:t>
            </a:r>
            <a:r>
              <a:rPr sz="1758" spc="-35" dirty="0">
                <a:latin typeface="Trebuchet MS"/>
                <a:cs typeface="Trebuchet MS"/>
              </a:rPr>
              <a:t>instances</a:t>
            </a:r>
            <a:r>
              <a:rPr sz="1758" spc="-74" dirty="0">
                <a:latin typeface="Trebuchet MS"/>
                <a:cs typeface="Trebuchet MS"/>
              </a:rPr>
              <a:t> </a:t>
            </a:r>
            <a:r>
              <a:rPr sz="1758" dirty="0">
                <a:latin typeface="Trebuchet MS"/>
                <a:cs typeface="Trebuchet MS"/>
              </a:rPr>
              <a:t>and</a:t>
            </a:r>
            <a:r>
              <a:rPr sz="1758" spc="-74" dirty="0">
                <a:latin typeface="Trebuchet MS"/>
                <a:cs typeface="Trebuchet MS"/>
              </a:rPr>
              <a:t> </a:t>
            </a:r>
            <a:r>
              <a:rPr sz="1758" spc="-63" dirty="0">
                <a:latin typeface="Trebuchet MS"/>
                <a:cs typeface="Trebuchet MS"/>
              </a:rPr>
              <a:t>few</a:t>
            </a:r>
            <a:r>
              <a:rPr sz="1758" spc="-70" dirty="0">
                <a:latin typeface="Trebuchet MS"/>
                <a:cs typeface="Trebuchet MS"/>
              </a:rPr>
              <a:t> </a:t>
            </a:r>
            <a:r>
              <a:rPr sz="1758" spc="-14" dirty="0">
                <a:latin typeface="Trebuchet MS"/>
                <a:cs typeface="Trebuchet MS"/>
              </a:rPr>
              <a:t>labeled</a:t>
            </a:r>
            <a:endParaRPr sz="1758" dirty="0">
              <a:latin typeface="Trebuchet MS"/>
              <a:cs typeface="Trebuchet MS"/>
            </a:endParaRPr>
          </a:p>
          <a:p>
            <a:pPr>
              <a:spcBef>
                <a:spcPts val="63"/>
              </a:spcBef>
              <a:buFont typeface="Trebuchet MS"/>
              <a:buAutoNum type="arabicPeriod" startAt="3"/>
            </a:pPr>
            <a:endParaRPr sz="1758" dirty="0">
              <a:latin typeface="Trebuchet MS"/>
              <a:cs typeface="Trebuchet MS"/>
            </a:endParaRPr>
          </a:p>
          <a:p>
            <a:pPr marL="544692" lvl="1" indent="-267881">
              <a:buSzPct val="122000"/>
              <a:buChar char="•"/>
              <a:tabLst>
                <a:tab pos="544692" algn="l"/>
              </a:tabLst>
            </a:pPr>
            <a:r>
              <a:rPr sz="1758" spc="60" dirty="0">
                <a:latin typeface="Trebuchet MS"/>
                <a:cs typeface="Trebuchet MS"/>
              </a:rPr>
              <a:t>Why?</a:t>
            </a:r>
            <a:r>
              <a:rPr sz="1758" spc="-84" dirty="0">
                <a:latin typeface="Trebuchet MS"/>
                <a:cs typeface="Trebuchet MS"/>
              </a:rPr>
              <a:t> </a:t>
            </a:r>
            <a:r>
              <a:rPr sz="1758" spc="-18" dirty="0">
                <a:latin typeface="Trebuchet MS"/>
                <a:cs typeface="Trebuchet MS"/>
              </a:rPr>
              <a:t>Labeling</a:t>
            </a:r>
            <a:r>
              <a:rPr sz="1758" spc="-70" dirty="0">
                <a:latin typeface="Trebuchet MS"/>
                <a:cs typeface="Trebuchet MS"/>
              </a:rPr>
              <a:t> </a:t>
            </a:r>
            <a:r>
              <a:rPr sz="1758" spc="-77" dirty="0">
                <a:latin typeface="Trebuchet MS"/>
                <a:cs typeface="Trebuchet MS"/>
              </a:rPr>
              <a:t>data</a:t>
            </a:r>
            <a:r>
              <a:rPr sz="1758" spc="-56" dirty="0">
                <a:latin typeface="Trebuchet MS"/>
                <a:cs typeface="Trebuchet MS"/>
              </a:rPr>
              <a:t> </a:t>
            </a:r>
            <a:r>
              <a:rPr sz="1758" dirty="0">
                <a:latin typeface="Trebuchet MS"/>
                <a:cs typeface="Trebuchet MS"/>
              </a:rPr>
              <a:t>is</a:t>
            </a:r>
            <a:r>
              <a:rPr sz="1758" spc="-67" dirty="0">
                <a:latin typeface="Trebuchet MS"/>
                <a:cs typeface="Trebuchet MS"/>
              </a:rPr>
              <a:t> </a:t>
            </a:r>
            <a:r>
              <a:rPr sz="1758" spc="-28" dirty="0">
                <a:latin typeface="Trebuchet MS"/>
                <a:cs typeface="Trebuchet MS"/>
              </a:rPr>
              <a:t>costly</a:t>
            </a:r>
            <a:r>
              <a:rPr sz="1758" spc="-70" dirty="0">
                <a:latin typeface="Trebuchet MS"/>
                <a:cs typeface="Trebuchet MS"/>
              </a:rPr>
              <a:t> </a:t>
            </a:r>
            <a:r>
              <a:rPr sz="1758" dirty="0">
                <a:latin typeface="Trebuchet MS"/>
                <a:cs typeface="Trebuchet MS"/>
              </a:rPr>
              <a:t>and</a:t>
            </a:r>
            <a:r>
              <a:rPr sz="1758" spc="-70" dirty="0">
                <a:latin typeface="Trebuchet MS"/>
                <a:cs typeface="Trebuchet MS"/>
              </a:rPr>
              <a:t> </a:t>
            </a:r>
            <a:r>
              <a:rPr sz="1758" spc="-32" dirty="0">
                <a:latin typeface="Trebuchet MS"/>
                <a:cs typeface="Trebuchet MS"/>
              </a:rPr>
              <a:t>time-</a:t>
            </a:r>
            <a:r>
              <a:rPr sz="1758" spc="-7" dirty="0">
                <a:latin typeface="Trebuchet MS"/>
                <a:cs typeface="Trebuchet MS"/>
              </a:rPr>
              <a:t>consuming</a:t>
            </a:r>
            <a:endParaRPr sz="1758" dirty="0">
              <a:latin typeface="Trebuchet MS"/>
              <a:cs typeface="Trebuchet MS"/>
            </a:endParaRPr>
          </a:p>
          <a:p>
            <a:pPr lvl="1">
              <a:spcBef>
                <a:spcPts val="67"/>
              </a:spcBef>
              <a:buFont typeface="Trebuchet MS"/>
              <a:buChar char="•"/>
            </a:pPr>
            <a:endParaRPr sz="1758" dirty="0">
              <a:latin typeface="Trebuchet MS"/>
              <a:cs typeface="Trebuchet MS"/>
            </a:endParaRPr>
          </a:p>
          <a:p>
            <a:pPr marL="276811" lvl="1">
              <a:buSzPct val="122000"/>
              <a:tabLst>
                <a:tab pos="544692" algn="l"/>
              </a:tabLst>
            </a:pPr>
            <a:endParaRPr sz="1758" dirty="0">
              <a:latin typeface="Trebuchet MS"/>
              <a:cs typeface="Trebuchet MS"/>
            </a:endParaRPr>
          </a:p>
          <a:p>
            <a:pPr lvl="1">
              <a:spcBef>
                <a:spcPts val="67"/>
              </a:spcBef>
              <a:buFont typeface="Trebuchet MS"/>
              <a:buChar char="•"/>
            </a:pPr>
            <a:endParaRPr sz="1758" dirty="0">
              <a:latin typeface="Trebuchet MS"/>
              <a:cs typeface="Trebuchet MS"/>
            </a:endParaRPr>
          </a:p>
        </p:txBody>
      </p:sp>
      <p:sp>
        <p:nvSpPr>
          <p:cNvPr id="4" name="object 4"/>
          <p:cNvSpPr txBox="1"/>
          <p:nvPr/>
        </p:nvSpPr>
        <p:spPr>
          <a:xfrm>
            <a:off x="2416969" y="5125431"/>
            <a:ext cx="7134820" cy="1086466"/>
          </a:xfrm>
          <a:prstGeom prst="rect">
            <a:avLst/>
          </a:prstGeom>
        </p:spPr>
        <p:txBody>
          <a:bodyPr vert="horz" wrap="square" lIns="0" tIns="32146" rIns="0" bIns="0" rtlCol="0">
            <a:spAutoFit/>
          </a:bodyPr>
          <a:lstStyle/>
          <a:p>
            <a:pPr marL="321457" marR="3572" indent="-312528">
              <a:lnSpc>
                <a:spcPts val="1969"/>
              </a:lnSpc>
              <a:spcBef>
                <a:spcPts val="252"/>
              </a:spcBef>
              <a:buClr>
                <a:srgbClr val="000000"/>
              </a:buClr>
              <a:buAutoNum type="arabicPeriod" startAt="4"/>
              <a:tabLst>
                <a:tab pos="321457" algn="l"/>
              </a:tabLst>
            </a:pPr>
            <a:r>
              <a:rPr sz="1758" spc="-49" dirty="0">
                <a:solidFill>
                  <a:srgbClr val="0076BA"/>
                </a:solidFill>
                <a:latin typeface="Trebuchet MS"/>
                <a:cs typeface="Trebuchet MS"/>
              </a:rPr>
              <a:t>Reinforcement</a:t>
            </a:r>
            <a:r>
              <a:rPr sz="1758" spc="-63" dirty="0">
                <a:solidFill>
                  <a:srgbClr val="0076BA"/>
                </a:solidFill>
                <a:latin typeface="Trebuchet MS"/>
                <a:cs typeface="Trebuchet MS"/>
              </a:rPr>
              <a:t> </a:t>
            </a:r>
            <a:r>
              <a:rPr sz="1758" spc="-42" dirty="0">
                <a:solidFill>
                  <a:srgbClr val="0076BA"/>
                </a:solidFill>
                <a:latin typeface="Trebuchet MS"/>
                <a:cs typeface="Trebuchet MS"/>
              </a:rPr>
              <a:t>learning</a:t>
            </a:r>
            <a:r>
              <a:rPr sz="1758" spc="-42" dirty="0">
                <a:latin typeface="Trebuchet MS"/>
                <a:cs typeface="Trebuchet MS"/>
              </a:rPr>
              <a:t>:</a:t>
            </a:r>
            <a:r>
              <a:rPr sz="1758" spc="-53" dirty="0">
                <a:latin typeface="Trebuchet MS"/>
                <a:cs typeface="Trebuchet MS"/>
              </a:rPr>
              <a:t> </a:t>
            </a:r>
            <a:r>
              <a:rPr sz="1758" spc="-70" dirty="0">
                <a:latin typeface="Trebuchet MS"/>
                <a:cs typeface="Trebuchet MS"/>
              </a:rPr>
              <a:t>select</a:t>
            </a:r>
            <a:r>
              <a:rPr sz="1758" spc="-53" dirty="0">
                <a:latin typeface="Trebuchet MS"/>
                <a:cs typeface="Trebuchet MS"/>
              </a:rPr>
              <a:t> </a:t>
            </a:r>
            <a:r>
              <a:rPr sz="1758" dirty="0">
                <a:latin typeface="Trebuchet MS"/>
                <a:cs typeface="Trebuchet MS"/>
              </a:rPr>
              <a:t>and</a:t>
            </a:r>
            <a:r>
              <a:rPr sz="1758" spc="-53" dirty="0">
                <a:latin typeface="Trebuchet MS"/>
                <a:cs typeface="Trebuchet MS"/>
              </a:rPr>
              <a:t> </a:t>
            </a:r>
            <a:r>
              <a:rPr sz="1758" spc="-63" dirty="0">
                <a:latin typeface="Trebuchet MS"/>
                <a:cs typeface="Trebuchet MS"/>
              </a:rPr>
              <a:t>perform</a:t>
            </a:r>
            <a:r>
              <a:rPr sz="1758" spc="-53" dirty="0">
                <a:latin typeface="Trebuchet MS"/>
                <a:cs typeface="Trebuchet MS"/>
              </a:rPr>
              <a:t> </a:t>
            </a:r>
            <a:r>
              <a:rPr sz="1758" spc="-56" dirty="0">
                <a:latin typeface="Trebuchet MS"/>
                <a:cs typeface="Trebuchet MS"/>
              </a:rPr>
              <a:t>actions,</a:t>
            </a:r>
            <a:r>
              <a:rPr sz="1758" spc="-53" dirty="0">
                <a:latin typeface="Trebuchet MS"/>
                <a:cs typeface="Trebuchet MS"/>
              </a:rPr>
              <a:t> </a:t>
            </a:r>
            <a:r>
              <a:rPr sz="1758" dirty="0">
                <a:latin typeface="Trebuchet MS"/>
                <a:cs typeface="Trebuchet MS"/>
              </a:rPr>
              <a:t>and</a:t>
            </a:r>
            <a:r>
              <a:rPr sz="1758" spc="-53" dirty="0">
                <a:latin typeface="Trebuchet MS"/>
                <a:cs typeface="Trebuchet MS"/>
              </a:rPr>
              <a:t> </a:t>
            </a:r>
            <a:r>
              <a:rPr sz="1758" spc="-105" dirty="0">
                <a:latin typeface="Trebuchet MS"/>
                <a:cs typeface="Trebuchet MS"/>
              </a:rPr>
              <a:t>get</a:t>
            </a:r>
            <a:r>
              <a:rPr sz="1758" spc="-42" dirty="0">
                <a:latin typeface="Trebuchet MS"/>
                <a:cs typeface="Trebuchet MS"/>
              </a:rPr>
              <a:t> </a:t>
            </a:r>
            <a:r>
              <a:rPr sz="1758" spc="-53" dirty="0">
                <a:latin typeface="Trebuchet MS"/>
                <a:cs typeface="Trebuchet MS"/>
              </a:rPr>
              <a:t>rewards </a:t>
            </a:r>
            <a:r>
              <a:rPr sz="1758" spc="-18" dirty="0">
                <a:latin typeface="Trebuchet MS"/>
                <a:cs typeface="Trebuchet MS"/>
              </a:rPr>
              <a:t>or </a:t>
            </a:r>
            <a:r>
              <a:rPr sz="1758" spc="-53" dirty="0">
                <a:latin typeface="Trebuchet MS"/>
                <a:cs typeface="Trebuchet MS"/>
              </a:rPr>
              <a:t>penalties</a:t>
            </a:r>
            <a:r>
              <a:rPr sz="1758" spc="-60" dirty="0">
                <a:latin typeface="Trebuchet MS"/>
                <a:cs typeface="Trebuchet MS"/>
              </a:rPr>
              <a:t> </a:t>
            </a:r>
            <a:r>
              <a:rPr sz="1758" dirty="0">
                <a:latin typeface="Trebuchet MS"/>
                <a:cs typeface="Trebuchet MS"/>
              </a:rPr>
              <a:t>in</a:t>
            </a:r>
            <a:r>
              <a:rPr sz="1758" spc="-56" dirty="0">
                <a:latin typeface="Trebuchet MS"/>
                <a:cs typeface="Trebuchet MS"/>
              </a:rPr>
              <a:t> </a:t>
            </a:r>
            <a:r>
              <a:rPr sz="1758" spc="-7" dirty="0">
                <a:latin typeface="Trebuchet MS"/>
                <a:cs typeface="Trebuchet MS"/>
              </a:rPr>
              <a:t>return</a:t>
            </a:r>
            <a:endParaRPr sz="1758">
              <a:latin typeface="Trebuchet MS"/>
              <a:cs typeface="Trebuchet MS"/>
            </a:endParaRPr>
          </a:p>
          <a:p>
            <a:pPr>
              <a:spcBef>
                <a:spcPts val="18"/>
              </a:spcBef>
              <a:buFont typeface="Trebuchet MS"/>
              <a:buAutoNum type="arabicPeriod" startAt="4"/>
            </a:pPr>
            <a:endParaRPr sz="1758">
              <a:latin typeface="Trebuchet MS"/>
              <a:cs typeface="Trebuchet MS"/>
            </a:endParaRPr>
          </a:p>
          <a:p>
            <a:pPr marL="544245" lvl="1" indent="-160282">
              <a:spcBef>
                <a:spcPts val="4"/>
              </a:spcBef>
              <a:buChar char="•"/>
              <a:tabLst>
                <a:tab pos="544245" algn="l"/>
              </a:tabLst>
            </a:pPr>
            <a:r>
              <a:rPr sz="1758" dirty="0">
                <a:latin typeface="Trebuchet MS"/>
                <a:cs typeface="Trebuchet MS"/>
              </a:rPr>
              <a:t>Find</a:t>
            </a:r>
            <a:r>
              <a:rPr sz="1758" spc="-80"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88" dirty="0">
                <a:latin typeface="Trebuchet MS"/>
                <a:cs typeface="Trebuchet MS"/>
              </a:rPr>
              <a:t>best</a:t>
            </a:r>
            <a:r>
              <a:rPr sz="1758" spc="-46" dirty="0">
                <a:latin typeface="Trebuchet MS"/>
                <a:cs typeface="Trebuchet MS"/>
              </a:rPr>
              <a:t> </a:t>
            </a:r>
            <a:r>
              <a:rPr sz="1758" spc="-91" dirty="0">
                <a:latin typeface="Trebuchet MS"/>
                <a:cs typeface="Trebuchet MS"/>
              </a:rPr>
              <a:t>strategy</a:t>
            </a:r>
            <a:r>
              <a:rPr sz="1758" spc="-42" dirty="0">
                <a:latin typeface="Trebuchet MS"/>
                <a:cs typeface="Trebuchet MS"/>
              </a:rPr>
              <a:t> </a:t>
            </a:r>
            <a:r>
              <a:rPr sz="1758" dirty="0">
                <a:latin typeface="Trebuchet MS"/>
                <a:cs typeface="Trebuchet MS"/>
              </a:rPr>
              <a:t>known</a:t>
            </a:r>
            <a:r>
              <a:rPr sz="1758" spc="-49" dirty="0">
                <a:latin typeface="Trebuchet MS"/>
                <a:cs typeface="Trebuchet MS"/>
              </a:rPr>
              <a:t> </a:t>
            </a:r>
            <a:r>
              <a:rPr sz="1758" dirty="0">
                <a:latin typeface="Trebuchet MS"/>
                <a:cs typeface="Trebuchet MS"/>
              </a:rPr>
              <a:t>as</a:t>
            </a:r>
            <a:r>
              <a:rPr sz="1758" spc="-46" dirty="0">
                <a:latin typeface="Trebuchet MS"/>
                <a:cs typeface="Trebuchet MS"/>
              </a:rPr>
              <a:t> </a:t>
            </a:r>
            <a:r>
              <a:rPr sz="1758" dirty="0">
                <a:latin typeface="Trebuchet MS"/>
                <a:cs typeface="Trebuchet MS"/>
              </a:rPr>
              <a:t>policy</a:t>
            </a:r>
            <a:r>
              <a:rPr sz="1758" spc="-49"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105" dirty="0">
                <a:latin typeface="Trebuchet MS"/>
                <a:cs typeface="Trebuchet MS"/>
              </a:rPr>
              <a:t>get</a:t>
            </a:r>
            <a:r>
              <a:rPr sz="1758" spc="-42"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49" dirty="0">
                <a:latin typeface="Trebuchet MS"/>
                <a:cs typeface="Trebuchet MS"/>
              </a:rPr>
              <a:t>most </a:t>
            </a:r>
            <a:r>
              <a:rPr sz="1758" spc="-7" dirty="0">
                <a:latin typeface="Trebuchet MS"/>
                <a:cs typeface="Trebuchet MS"/>
              </a:rPr>
              <a:t>reward</a:t>
            </a:r>
            <a:endParaRPr sz="1758">
              <a:latin typeface="Trebuchet MS"/>
              <a:cs typeface="Trebuchet MS"/>
            </a:endParaRPr>
          </a:p>
        </p:txBody>
      </p:sp>
      <p:sp>
        <p:nvSpPr>
          <p:cNvPr id="5" name="object 5"/>
          <p:cNvSpPr txBox="1">
            <a:spLocks noGrp="1"/>
          </p:cNvSpPr>
          <p:nvPr>
            <p:ph type="title"/>
          </p:nvPr>
        </p:nvSpPr>
        <p:spPr>
          <a:xfrm>
            <a:off x="2043708" y="21404"/>
            <a:ext cx="7393781" cy="686126"/>
          </a:xfrm>
          <a:prstGeom prst="rect">
            <a:avLst/>
          </a:prstGeom>
        </p:spPr>
        <p:txBody>
          <a:bodyPr vert="horz" wrap="square" lIns="0" tIns="8930" rIns="0" bIns="0" rtlCol="0" anchor="ctr">
            <a:spAutoFit/>
          </a:bodyPr>
          <a:lstStyle/>
          <a:p>
            <a:pPr marL="8929">
              <a:lnSpc>
                <a:spcPct val="100000"/>
              </a:lnSpc>
              <a:spcBef>
                <a:spcPts val="70"/>
              </a:spcBef>
            </a:pPr>
            <a:r>
              <a:rPr spc="-218" dirty="0"/>
              <a:t>Types</a:t>
            </a:r>
            <a:r>
              <a:rPr spc="-161" dirty="0"/>
              <a:t> </a:t>
            </a:r>
            <a:r>
              <a:rPr spc="-123" dirty="0"/>
              <a:t>of</a:t>
            </a:r>
            <a:r>
              <a:rPr spc="-161" dirty="0"/>
              <a:t> </a:t>
            </a:r>
            <a:r>
              <a:rPr spc="-155" dirty="0"/>
              <a:t>machine</a:t>
            </a:r>
            <a:r>
              <a:rPr spc="-161" dirty="0"/>
              <a:t> </a:t>
            </a:r>
            <a:r>
              <a:rPr spc="-116" dirty="0"/>
              <a:t>learning</a:t>
            </a:r>
          </a:p>
        </p:txBody>
      </p:sp>
      <p:pic>
        <p:nvPicPr>
          <p:cNvPr id="6" name="object 6"/>
          <p:cNvPicPr/>
          <p:nvPr/>
        </p:nvPicPr>
        <p:blipFill>
          <a:blip r:embed="rId2" cstate="print"/>
          <a:stretch>
            <a:fillRect/>
          </a:stretch>
        </p:blipFill>
        <p:spPr>
          <a:xfrm>
            <a:off x="3352800" y="2530116"/>
            <a:ext cx="4138237" cy="179776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040880" y="0"/>
            <a:ext cx="5151120" cy="6858000"/>
            <a:chOff x="7040880" y="0"/>
            <a:chExt cx="5151120" cy="6858000"/>
          </a:xfrm>
        </p:grpSpPr>
        <p:pic>
          <p:nvPicPr>
            <p:cNvPr id="3" name="object 3"/>
            <p:cNvPicPr/>
            <p:nvPr/>
          </p:nvPicPr>
          <p:blipFill>
            <a:blip r:embed="rId2" cstate="print"/>
            <a:stretch>
              <a:fillRect/>
            </a:stretch>
          </p:blipFill>
          <p:spPr>
            <a:xfrm>
              <a:off x="7122160" y="4010150"/>
              <a:ext cx="4159250" cy="2755771"/>
            </a:xfrm>
            <a:prstGeom prst="rect">
              <a:avLst/>
            </a:prstGeom>
          </p:spPr>
        </p:pic>
        <p:pic>
          <p:nvPicPr>
            <p:cNvPr id="4" name="object 4"/>
            <p:cNvPicPr/>
            <p:nvPr/>
          </p:nvPicPr>
          <p:blipFill>
            <a:blip r:embed="rId3" cstate="print"/>
            <a:stretch>
              <a:fillRect/>
            </a:stretch>
          </p:blipFill>
          <p:spPr>
            <a:xfrm>
              <a:off x="7165593" y="1428132"/>
              <a:ext cx="4104386" cy="1985692"/>
            </a:xfrm>
            <a:prstGeom prst="rect">
              <a:avLst/>
            </a:prstGeom>
          </p:spPr>
        </p:pic>
        <p:pic>
          <p:nvPicPr>
            <p:cNvPr id="5" name="object 5"/>
            <p:cNvPicPr/>
            <p:nvPr/>
          </p:nvPicPr>
          <p:blipFill>
            <a:blip r:embed="rId4" cstate="print"/>
            <a:stretch>
              <a:fillRect/>
            </a:stretch>
          </p:blipFill>
          <p:spPr>
            <a:xfrm>
              <a:off x="7040880" y="1211580"/>
              <a:ext cx="4229100" cy="2251710"/>
            </a:xfrm>
            <a:prstGeom prst="rect">
              <a:avLst/>
            </a:prstGeom>
          </p:spPr>
        </p:pic>
      </p:grpSp>
      <p:sp>
        <p:nvSpPr>
          <p:cNvPr id="6" name="object 6"/>
          <p:cNvSpPr txBox="1"/>
          <p:nvPr/>
        </p:nvSpPr>
        <p:spPr>
          <a:xfrm>
            <a:off x="724001" y="1015242"/>
            <a:ext cx="6268085" cy="5068570"/>
          </a:xfrm>
          <a:prstGeom prst="rect">
            <a:avLst/>
          </a:prstGeom>
        </p:spPr>
        <p:txBody>
          <a:bodyPr vert="horz" wrap="square" lIns="0" tIns="77470" rIns="0" bIns="0" rtlCol="0">
            <a:spAutoFit/>
          </a:bodyPr>
          <a:lstStyle/>
          <a:p>
            <a:pPr marL="469900" indent="-457200">
              <a:lnSpc>
                <a:spcPct val="100000"/>
              </a:lnSpc>
              <a:spcBef>
                <a:spcPts val="610"/>
              </a:spcBef>
              <a:buClr>
                <a:srgbClr val="6E6E74"/>
              </a:buClr>
              <a:buSzPct val="79166"/>
              <a:buFont typeface="Cambria"/>
              <a:buAutoNum type="arabicPeriod" startAt="3"/>
              <a:tabLst>
                <a:tab pos="469900" algn="l"/>
              </a:tabLst>
            </a:pPr>
            <a:r>
              <a:rPr sz="2400" b="1" spc="160" dirty="0">
                <a:latin typeface="Cambria"/>
                <a:cs typeface="Cambria"/>
              </a:rPr>
              <a:t>Reinforcement</a:t>
            </a:r>
            <a:r>
              <a:rPr sz="2400" b="1" spc="240" dirty="0">
                <a:latin typeface="Cambria"/>
                <a:cs typeface="Cambria"/>
              </a:rPr>
              <a:t> </a:t>
            </a:r>
            <a:r>
              <a:rPr sz="2400" b="1" spc="180" dirty="0">
                <a:latin typeface="Cambria"/>
                <a:cs typeface="Cambria"/>
              </a:rPr>
              <a:t>Learning</a:t>
            </a:r>
            <a:endParaRPr sz="2400">
              <a:latin typeface="Cambria"/>
              <a:cs typeface="Cambria"/>
            </a:endParaRPr>
          </a:p>
          <a:p>
            <a:pPr marL="469900" marR="8255" lvl="1" indent="-182880" algn="just">
              <a:lnSpc>
                <a:spcPts val="1730"/>
              </a:lnSpc>
              <a:spcBef>
                <a:spcPts val="550"/>
              </a:spcBef>
              <a:buClr>
                <a:srgbClr val="6E6E74"/>
              </a:buClr>
              <a:buFont typeface="Arial MT"/>
              <a:buChar char="•"/>
              <a:tabLst>
                <a:tab pos="469900" algn="l"/>
              </a:tabLst>
            </a:pPr>
            <a:r>
              <a:rPr sz="1600" spc="45" dirty="0">
                <a:solidFill>
                  <a:srgbClr val="252525"/>
                </a:solidFill>
                <a:latin typeface="Cambria"/>
                <a:cs typeface="Cambria"/>
              </a:rPr>
              <a:t>Reinforcement</a:t>
            </a:r>
            <a:r>
              <a:rPr sz="1600" spc="215" dirty="0">
                <a:solidFill>
                  <a:srgbClr val="252525"/>
                </a:solidFill>
                <a:latin typeface="Cambria"/>
                <a:cs typeface="Cambria"/>
              </a:rPr>
              <a:t> </a:t>
            </a:r>
            <a:r>
              <a:rPr sz="1600" spc="80" dirty="0">
                <a:solidFill>
                  <a:srgbClr val="252525"/>
                </a:solidFill>
                <a:latin typeface="Cambria"/>
                <a:cs typeface="Cambria"/>
              </a:rPr>
              <a:t>Learning</a:t>
            </a:r>
            <a:r>
              <a:rPr sz="1600" spc="200" dirty="0">
                <a:solidFill>
                  <a:srgbClr val="252525"/>
                </a:solidFill>
                <a:latin typeface="Cambria"/>
                <a:cs typeface="Cambria"/>
              </a:rPr>
              <a:t> </a:t>
            </a:r>
            <a:r>
              <a:rPr sz="1600" spc="50" dirty="0">
                <a:solidFill>
                  <a:srgbClr val="252525"/>
                </a:solidFill>
                <a:latin typeface="Cambria"/>
                <a:cs typeface="Cambria"/>
              </a:rPr>
              <a:t>is</a:t>
            </a:r>
            <a:r>
              <a:rPr sz="1600" spc="210" dirty="0">
                <a:solidFill>
                  <a:srgbClr val="252525"/>
                </a:solidFill>
                <a:latin typeface="Cambria"/>
                <a:cs typeface="Cambria"/>
              </a:rPr>
              <a:t> </a:t>
            </a:r>
            <a:r>
              <a:rPr sz="1600" spc="90" dirty="0">
                <a:solidFill>
                  <a:srgbClr val="252525"/>
                </a:solidFill>
                <a:latin typeface="Cambria"/>
                <a:cs typeface="Cambria"/>
              </a:rPr>
              <a:t>a</a:t>
            </a:r>
            <a:r>
              <a:rPr sz="1600" spc="204" dirty="0">
                <a:solidFill>
                  <a:srgbClr val="252525"/>
                </a:solidFill>
                <a:latin typeface="Cambria"/>
                <a:cs typeface="Cambria"/>
              </a:rPr>
              <a:t> </a:t>
            </a:r>
            <a:r>
              <a:rPr sz="1600" dirty="0">
                <a:solidFill>
                  <a:srgbClr val="252525"/>
                </a:solidFill>
                <a:latin typeface="Cambria"/>
                <a:cs typeface="Cambria"/>
              </a:rPr>
              <a:t>type</a:t>
            </a:r>
            <a:r>
              <a:rPr sz="1600" spc="204" dirty="0">
                <a:solidFill>
                  <a:srgbClr val="252525"/>
                </a:solidFill>
                <a:latin typeface="Cambria"/>
                <a:cs typeface="Cambria"/>
              </a:rPr>
              <a:t> </a:t>
            </a:r>
            <a:r>
              <a:rPr sz="1600" dirty="0">
                <a:solidFill>
                  <a:srgbClr val="252525"/>
                </a:solidFill>
                <a:latin typeface="Cambria"/>
                <a:cs typeface="Cambria"/>
              </a:rPr>
              <a:t>of</a:t>
            </a:r>
            <a:r>
              <a:rPr sz="1600" spc="225" dirty="0">
                <a:solidFill>
                  <a:srgbClr val="252525"/>
                </a:solidFill>
                <a:latin typeface="Cambria"/>
                <a:cs typeface="Cambria"/>
              </a:rPr>
              <a:t> </a:t>
            </a:r>
            <a:r>
              <a:rPr sz="1600" spc="55" dirty="0">
                <a:solidFill>
                  <a:srgbClr val="252525"/>
                </a:solidFill>
                <a:latin typeface="Cambria"/>
                <a:cs typeface="Cambria"/>
              </a:rPr>
              <a:t>machine</a:t>
            </a:r>
            <a:r>
              <a:rPr sz="1600" spc="204" dirty="0">
                <a:solidFill>
                  <a:srgbClr val="252525"/>
                </a:solidFill>
                <a:latin typeface="Cambria"/>
                <a:cs typeface="Cambria"/>
              </a:rPr>
              <a:t> </a:t>
            </a:r>
            <a:r>
              <a:rPr sz="1600" spc="60" dirty="0">
                <a:solidFill>
                  <a:srgbClr val="252525"/>
                </a:solidFill>
                <a:latin typeface="Cambria"/>
                <a:cs typeface="Cambria"/>
              </a:rPr>
              <a:t>learning</a:t>
            </a:r>
            <a:r>
              <a:rPr sz="1600" spc="225" dirty="0">
                <a:solidFill>
                  <a:srgbClr val="252525"/>
                </a:solidFill>
                <a:latin typeface="Cambria"/>
                <a:cs typeface="Cambria"/>
              </a:rPr>
              <a:t> </a:t>
            </a:r>
            <a:r>
              <a:rPr sz="1600" spc="-10" dirty="0">
                <a:solidFill>
                  <a:srgbClr val="252525"/>
                </a:solidFill>
                <a:latin typeface="Cambria"/>
                <a:cs typeface="Cambria"/>
              </a:rPr>
              <a:t>where </a:t>
            </a:r>
            <a:r>
              <a:rPr sz="1600" spc="90" dirty="0">
                <a:solidFill>
                  <a:srgbClr val="252525"/>
                </a:solidFill>
                <a:latin typeface="Cambria"/>
                <a:cs typeface="Cambria"/>
              </a:rPr>
              <a:t>an</a:t>
            </a:r>
            <a:r>
              <a:rPr sz="1600" spc="125" dirty="0">
                <a:solidFill>
                  <a:srgbClr val="252525"/>
                </a:solidFill>
                <a:latin typeface="Cambria"/>
                <a:cs typeface="Cambria"/>
              </a:rPr>
              <a:t>  </a:t>
            </a:r>
            <a:r>
              <a:rPr sz="1600" spc="65" dirty="0">
                <a:solidFill>
                  <a:srgbClr val="252525"/>
                </a:solidFill>
                <a:latin typeface="Cambria"/>
                <a:cs typeface="Cambria"/>
              </a:rPr>
              <a:t>agent</a:t>
            </a:r>
            <a:r>
              <a:rPr sz="1600" spc="135" dirty="0">
                <a:solidFill>
                  <a:srgbClr val="252525"/>
                </a:solidFill>
                <a:latin typeface="Cambria"/>
                <a:cs typeface="Cambria"/>
              </a:rPr>
              <a:t>  </a:t>
            </a:r>
            <a:r>
              <a:rPr sz="1600" spc="55" dirty="0">
                <a:solidFill>
                  <a:srgbClr val="252525"/>
                </a:solidFill>
                <a:latin typeface="Cambria"/>
                <a:cs typeface="Cambria"/>
              </a:rPr>
              <a:t>learns</a:t>
            </a:r>
            <a:r>
              <a:rPr sz="1600" spc="130" dirty="0">
                <a:solidFill>
                  <a:srgbClr val="252525"/>
                </a:solidFill>
                <a:latin typeface="Cambria"/>
                <a:cs typeface="Cambria"/>
              </a:rPr>
              <a:t>  </a:t>
            </a:r>
            <a:r>
              <a:rPr sz="1600" dirty="0">
                <a:solidFill>
                  <a:srgbClr val="252525"/>
                </a:solidFill>
                <a:latin typeface="Cambria"/>
                <a:cs typeface="Cambria"/>
              </a:rPr>
              <a:t>by</a:t>
            </a:r>
            <a:r>
              <a:rPr sz="1600" spc="135" dirty="0">
                <a:solidFill>
                  <a:srgbClr val="252525"/>
                </a:solidFill>
                <a:latin typeface="Cambria"/>
                <a:cs typeface="Cambria"/>
              </a:rPr>
              <a:t>  </a:t>
            </a:r>
            <a:r>
              <a:rPr sz="1600" spc="60" dirty="0">
                <a:solidFill>
                  <a:srgbClr val="252525"/>
                </a:solidFill>
                <a:latin typeface="Cambria"/>
                <a:cs typeface="Cambria"/>
              </a:rPr>
              <a:t>interacting</a:t>
            </a:r>
            <a:r>
              <a:rPr sz="1600" spc="140" dirty="0">
                <a:solidFill>
                  <a:srgbClr val="252525"/>
                </a:solidFill>
                <a:latin typeface="Cambria"/>
                <a:cs typeface="Cambria"/>
              </a:rPr>
              <a:t>  </a:t>
            </a:r>
            <a:r>
              <a:rPr sz="1600" dirty="0">
                <a:solidFill>
                  <a:srgbClr val="252525"/>
                </a:solidFill>
                <a:latin typeface="Cambria"/>
                <a:cs typeface="Cambria"/>
              </a:rPr>
              <a:t>with</a:t>
            </a:r>
            <a:r>
              <a:rPr sz="1600" spc="135" dirty="0">
                <a:solidFill>
                  <a:srgbClr val="252525"/>
                </a:solidFill>
                <a:latin typeface="Cambria"/>
                <a:cs typeface="Cambria"/>
              </a:rPr>
              <a:t>  </a:t>
            </a:r>
            <a:r>
              <a:rPr sz="1600" spc="90" dirty="0">
                <a:solidFill>
                  <a:srgbClr val="252525"/>
                </a:solidFill>
                <a:latin typeface="Cambria"/>
                <a:cs typeface="Cambria"/>
              </a:rPr>
              <a:t>an</a:t>
            </a:r>
            <a:r>
              <a:rPr sz="1600" spc="135" dirty="0">
                <a:solidFill>
                  <a:srgbClr val="252525"/>
                </a:solidFill>
                <a:latin typeface="Cambria"/>
                <a:cs typeface="Cambria"/>
              </a:rPr>
              <a:t>  </a:t>
            </a:r>
            <a:r>
              <a:rPr sz="1600" spc="50" dirty="0">
                <a:solidFill>
                  <a:srgbClr val="252525"/>
                </a:solidFill>
                <a:latin typeface="Cambria"/>
                <a:cs typeface="Cambria"/>
              </a:rPr>
              <a:t>environment,</a:t>
            </a:r>
            <a:r>
              <a:rPr sz="1600" spc="140" dirty="0">
                <a:solidFill>
                  <a:srgbClr val="252525"/>
                </a:solidFill>
                <a:latin typeface="Cambria"/>
                <a:cs typeface="Cambria"/>
              </a:rPr>
              <a:t>  </a:t>
            </a:r>
            <a:r>
              <a:rPr sz="1600" spc="-25" dirty="0">
                <a:solidFill>
                  <a:srgbClr val="252525"/>
                </a:solidFill>
                <a:latin typeface="Cambria"/>
                <a:cs typeface="Cambria"/>
              </a:rPr>
              <a:t>not </a:t>
            </a:r>
            <a:r>
              <a:rPr sz="1600" dirty="0">
                <a:solidFill>
                  <a:srgbClr val="252525"/>
                </a:solidFill>
                <a:latin typeface="Cambria"/>
                <a:cs typeface="Cambria"/>
              </a:rPr>
              <a:t>from</a:t>
            </a:r>
            <a:r>
              <a:rPr sz="1600" spc="200" dirty="0">
                <a:solidFill>
                  <a:srgbClr val="252525"/>
                </a:solidFill>
                <a:latin typeface="Cambria"/>
                <a:cs typeface="Cambria"/>
              </a:rPr>
              <a:t> </a:t>
            </a:r>
            <a:r>
              <a:rPr sz="1600" dirty="0">
                <a:solidFill>
                  <a:srgbClr val="252525"/>
                </a:solidFill>
                <a:latin typeface="Cambria"/>
                <a:cs typeface="Cambria"/>
              </a:rPr>
              <a:t>fixed</a:t>
            </a:r>
            <a:r>
              <a:rPr sz="1600" spc="220" dirty="0">
                <a:solidFill>
                  <a:srgbClr val="252525"/>
                </a:solidFill>
                <a:latin typeface="Cambria"/>
                <a:cs typeface="Cambria"/>
              </a:rPr>
              <a:t> </a:t>
            </a:r>
            <a:r>
              <a:rPr sz="1600" dirty="0">
                <a:solidFill>
                  <a:srgbClr val="252525"/>
                </a:solidFill>
                <a:latin typeface="Cambria"/>
                <a:cs typeface="Cambria"/>
              </a:rPr>
              <a:t>labeled</a:t>
            </a:r>
            <a:r>
              <a:rPr sz="1600" spc="165" dirty="0">
                <a:solidFill>
                  <a:srgbClr val="252525"/>
                </a:solidFill>
                <a:latin typeface="Cambria"/>
                <a:cs typeface="Cambria"/>
              </a:rPr>
              <a:t> </a:t>
            </a:r>
            <a:r>
              <a:rPr sz="1600" spc="75" dirty="0">
                <a:solidFill>
                  <a:srgbClr val="252525"/>
                </a:solidFill>
                <a:latin typeface="Cambria"/>
                <a:cs typeface="Cambria"/>
              </a:rPr>
              <a:t>data,</a:t>
            </a:r>
            <a:r>
              <a:rPr sz="1600" spc="204" dirty="0">
                <a:solidFill>
                  <a:srgbClr val="252525"/>
                </a:solidFill>
                <a:latin typeface="Cambria"/>
                <a:cs typeface="Cambria"/>
              </a:rPr>
              <a:t> </a:t>
            </a:r>
            <a:r>
              <a:rPr sz="1600" spc="50" dirty="0">
                <a:solidFill>
                  <a:srgbClr val="252525"/>
                </a:solidFill>
                <a:latin typeface="Cambria"/>
                <a:cs typeface="Cambria"/>
              </a:rPr>
              <a:t>but</a:t>
            </a:r>
            <a:r>
              <a:rPr sz="1600" spc="190" dirty="0">
                <a:solidFill>
                  <a:srgbClr val="252525"/>
                </a:solidFill>
                <a:latin typeface="Cambria"/>
                <a:cs typeface="Cambria"/>
              </a:rPr>
              <a:t> </a:t>
            </a:r>
            <a:r>
              <a:rPr sz="1600" dirty="0">
                <a:solidFill>
                  <a:srgbClr val="252525"/>
                </a:solidFill>
                <a:latin typeface="Cambria"/>
                <a:cs typeface="Cambria"/>
              </a:rPr>
              <a:t>from</a:t>
            </a:r>
            <a:r>
              <a:rPr sz="1600" spc="200" dirty="0">
                <a:solidFill>
                  <a:srgbClr val="252525"/>
                </a:solidFill>
                <a:latin typeface="Cambria"/>
                <a:cs typeface="Cambria"/>
              </a:rPr>
              <a:t> </a:t>
            </a:r>
            <a:r>
              <a:rPr sz="1600" spc="65" dirty="0">
                <a:solidFill>
                  <a:srgbClr val="252525"/>
                </a:solidFill>
                <a:latin typeface="Cambria"/>
                <a:cs typeface="Cambria"/>
              </a:rPr>
              <a:t>trial</a:t>
            </a:r>
            <a:r>
              <a:rPr sz="1600" spc="185" dirty="0">
                <a:solidFill>
                  <a:srgbClr val="252525"/>
                </a:solidFill>
                <a:latin typeface="Cambria"/>
                <a:cs typeface="Cambria"/>
              </a:rPr>
              <a:t> </a:t>
            </a:r>
            <a:r>
              <a:rPr sz="1600" spc="65" dirty="0">
                <a:solidFill>
                  <a:srgbClr val="252525"/>
                </a:solidFill>
                <a:latin typeface="Cambria"/>
                <a:cs typeface="Cambria"/>
              </a:rPr>
              <a:t>and</a:t>
            </a:r>
            <a:r>
              <a:rPr sz="1600" spc="190" dirty="0">
                <a:solidFill>
                  <a:srgbClr val="252525"/>
                </a:solidFill>
                <a:latin typeface="Cambria"/>
                <a:cs typeface="Cambria"/>
              </a:rPr>
              <a:t> </a:t>
            </a:r>
            <a:r>
              <a:rPr sz="1600" spc="-10" dirty="0">
                <a:solidFill>
                  <a:srgbClr val="252525"/>
                </a:solidFill>
                <a:latin typeface="Cambria"/>
                <a:cs typeface="Cambria"/>
              </a:rPr>
              <a:t>error.</a:t>
            </a:r>
            <a:endParaRPr sz="1600">
              <a:latin typeface="Cambria"/>
              <a:cs typeface="Cambria"/>
            </a:endParaRPr>
          </a:p>
          <a:p>
            <a:pPr marL="469900" marR="5080" lvl="1" indent="-182880" algn="just">
              <a:lnSpc>
                <a:spcPts val="1730"/>
              </a:lnSpc>
              <a:spcBef>
                <a:spcPts val="595"/>
              </a:spcBef>
              <a:buClr>
                <a:srgbClr val="6E6E74"/>
              </a:buClr>
              <a:buFont typeface="Arial MT"/>
              <a:buChar char="•"/>
              <a:tabLst>
                <a:tab pos="469900" algn="l"/>
              </a:tabLst>
            </a:pPr>
            <a:r>
              <a:rPr sz="1600" spc="95" dirty="0">
                <a:solidFill>
                  <a:srgbClr val="252525"/>
                </a:solidFill>
                <a:latin typeface="Cambria"/>
                <a:cs typeface="Cambria"/>
              </a:rPr>
              <a:t>It</a:t>
            </a:r>
            <a:r>
              <a:rPr sz="1600" spc="380" dirty="0">
                <a:solidFill>
                  <a:srgbClr val="252525"/>
                </a:solidFill>
                <a:latin typeface="Cambria"/>
                <a:cs typeface="Cambria"/>
              </a:rPr>
              <a:t> </a:t>
            </a:r>
            <a:r>
              <a:rPr sz="1600" dirty="0">
                <a:solidFill>
                  <a:srgbClr val="252525"/>
                </a:solidFill>
                <a:latin typeface="Cambria"/>
                <a:cs typeface="Cambria"/>
              </a:rPr>
              <a:t>involves</a:t>
            </a:r>
            <a:r>
              <a:rPr sz="1600" spc="390" dirty="0">
                <a:solidFill>
                  <a:srgbClr val="252525"/>
                </a:solidFill>
                <a:latin typeface="Cambria"/>
                <a:cs typeface="Cambria"/>
              </a:rPr>
              <a:t> </a:t>
            </a:r>
            <a:r>
              <a:rPr sz="1600" spc="65" dirty="0">
                <a:solidFill>
                  <a:srgbClr val="252525"/>
                </a:solidFill>
                <a:latin typeface="Cambria"/>
                <a:cs typeface="Cambria"/>
              </a:rPr>
              <a:t>training</a:t>
            </a:r>
            <a:r>
              <a:rPr sz="1600" spc="390" dirty="0">
                <a:solidFill>
                  <a:srgbClr val="252525"/>
                </a:solidFill>
                <a:latin typeface="Cambria"/>
                <a:cs typeface="Cambria"/>
              </a:rPr>
              <a:t> </a:t>
            </a:r>
            <a:r>
              <a:rPr sz="1600" spc="90" dirty="0">
                <a:solidFill>
                  <a:srgbClr val="252525"/>
                </a:solidFill>
                <a:latin typeface="Cambria"/>
                <a:cs typeface="Cambria"/>
              </a:rPr>
              <a:t>a</a:t>
            </a:r>
            <a:r>
              <a:rPr sz="1600" spc="395" dirty="0">
                <a:solidFill>
                  <a:srgbClr val="252525"/>
                </a:solidFill>
                <a:latin typeface="Cambria"/>
                <a:cs typeface="Cambria"/>
              </a:rPr>
              <a:t> </a:t>
            </a:r>
            <a:r>
              <a:rPr sz="1600" dirty="0">
                <a:solidFill>
                  <a:srgbClr val="252525"/>
                </a:solidFill>
                <a:latin typeface="Cambria"/>
                <a:cs typeface="Cambria"/>
              </a:rPr>
              <a:t>model</a:t>
            </a:r>
            <a:r>
              <a:rPr sz="1600" spc="385" dirty="0">
                <a:solidFill>
                  <a:srgbClr val="252525"/>
                </a:solidFill>
                <a:latin typeface="Cambria"/>
                <a:cs typeface="Cambria"/>
              </a:rPr>
              <a:t> </a:t>
            </a:r>
            <a:r>
              <a:rPr sz="1600" dirty="0">
                <a:solidFill>
                  <a:srgbClr val="252525"/>
                </a:solidFill>
                <a:latin typeface="Cambria"/>
                <a:cs typeface="Cambria"/>
              </a:rPr>
              <a:t>to</a:t>
            </a:r>
            <a:r>
              <a:rPr sz="1600" spc="405" dirty="0">
                <a:solidFill>
                  <a:srgbClr val="252525"/>
                </a:solidFill>
                <a:latin typeface="Cambria"/>
                <a:cs typeface="Cambria"/>
              </a:rPr>
              <a:t> </a:t>
            </a:r>
            <a:r>
              <a:rPr sz="1600" spc="70" dirty="0">
                <a:solidFill>
                  <a:srgbClr val="252525"/>
                </a:solidFill>
                <a:latin typeface="Cambria"/>
                <a:cs typeface="Cambria"/>
              </a:rPr>
              <a:t>make</a:t>
            </a:r>
            <a:r>
              <a:rPr sz="1600" spc="390" dirty="0">
                <a:solidFill>
                  <a:srgbClr val="252525"/>
                </a:solidFill>
                <a:latin typeface="Cambria"/>
                <a:cs typeface="Cambria"/>
              </a:rPr>
              <a:t> </a:t>
            </a:r>
            <a:r>
              <a:rPr sz="1600" dirty="0">
                <a:solidFill>
                  <a:srgbClr val="252525"/>
                </a:solidFill>
                <a:latin typeface="Cambria"/>
                <a:cs typeface="Cambria"/>
              </a:rPr>
              <a:t>sequences</a:t>
            </a:r>
            <a:r>
              <a:rPr sz="1600" spc="395" dirty="0">
                <a:solidFill>
                  <a:srgbClr val="252525"/>
                </a:solidFill>
                <a:latin typeface="Cambria"/>
                <a:cs typeface="Cambria"/>
              </a:rPr>
              <a:t> </a:t>
            </a:r>
            <a:r>
              <a:rPr sz="1600" dirty="0">
                <a:solidFill>
                  <a:srgbClr val="252525"/>
                </a:solidFill>
                <a:latin typeface="Cambria"/>
                <a:cs typeface="Cambria"/>
              </a:rPr>
              <a:t>of</a:t>
            </a:r>
            <a:r>
              <a:rPr sz="1600" spc="390" dirty="0">
                <a:solidFill>
                  <a:srgbClr val="252525"/>
                </a:solidFill>
                <a:latin typeface="Cambria"/>
                <a:cs typeface="Cambria"/>
              </a:rPr>
              <a:t> </a:t>
            </a:r>
            <a:r>
              <a:rPr sz="1600" spc="-10" dirty="0">
                <a:solidFill>
                  <a:srgbClr val="252525"/>
                </a:solidFill>
                <a:latin typeface="Cambria"/>
                <a:cs typeface="Cambria"/>
              </a:rPr>
              <a:t>decisions </a:t>
            </a:r>
            <a:r>
              <a:rPr sz="1600" dirty="0">
                <a:solidFill>
                  <a:srgbClr val="252525"/>
                </a:solidFill>
                <a:latin typeface="Cambria"/>
                <a:cs typeface="Cambria"/>
              </a:rPr>
              <a:t>by</a:t>
            </a:r>
            <a:r>
              <a:rPr sz="1600" spc="165" dirty="0">
                <a:solidFill>
                  <a:srgbClr val="252525"/>
                </a:solidFill>
                <a:latin typeface="Cambria"/>
                <a:cs typeface="Cambria"/>
              </a:rPr>
              <a:t> </a:t>
            </a:r>
            <a:r>
              <a:rPr sz="1600" spc="55" dirty="0">
                <a:solidFill>
                  <a:srgbClr val="252525"/>
                </a:solidFill>
                <a:latin typeface="Cambria"/>
                <a:cs typeface="Cambria"/>
              </a:rPr>
              <a:t>interacting</a:t>
            </a:r>
            <a:r>
              <a:rPr sz="1600" spc="185" dirty="0">
                <a:solidFill>
                  <a:srgbClr val="252525"/>
                </a:solidFill>
                <a:latin typeface="Cambria"/>
                <a:cs typeface="Cambria"/>
              </a:rPr>
              <a:t> </a:t>
            </a:r>
            <a:r>
              <a:rPr sz="1600" dirty="0">
                <a:solidFill>
                  <a:srgbClr val="252525"/>
                </a:solidFill>
                <a:latin typeface="Cambria"/>
                <a:cs typeface="Cambria"/>
              </a:rPr>
              <a:t>with</a:t>
            </a:r>
            <a:r>
              <a:rPr sz="1600" spc="190" dirty="0">
                <a:solidFill>
                  <a:srgbClr val="252525"/>
                </a:solidFill>
                <a:latin typeface="Cambria"/>
                <a:cs typeface="Cambria"/>
              </a:rPr>
              <a:t> </a:t>
            </a:r>
            <a:r>
              <a:rPr sz="1600" spc="90" dirty="0">
                <a:solidFill>
                  <a:srgbClr val="252525"/>
                </a:solidFill>
                <a:latin typeface="Cambria"/>
                <a:cs typeface="Cambria"/>
              </a:rPr>
              <a:t>an</a:t>
            </a:r>
            <a:r>
              <a:rPr sz="1600" spc="155" dirty="0">
                <a:solidFill>
                  <a:srgbClr val="252525"/>
                </a:solidFill>
                <a:latin typeface="Cambria"/>
                <a:cs typeface="Cambria"/>
              </a:rPr>
              <a:t> </a:t>
            </a:r>
            <a:r>
              <a:rPr sz="1600" spc="40" dirty="0">
                <a:solidFill>
                  <a:srgbClr val="252525"/>
                </a:solidFill>
                <a:latin typeface="Cambria"/>
                <a:cs typeface="Cambria"/>
              </a:rPr>
              <a:t>environment.</a:t>
            </a:r>
            <a:endParaRPr sz="1600">
              <a:latin typeface="Cambria"/>
              <a:cs typeface="Cambria"/>
            </a:endParaRPr>
          </a:p>
          <a:p>
            <a:pPr marL="469900" marR="6350" lvl="1" indent="-182880" algn="just">
              <a:lnSpc>
                <a:spcPct val="90100"/>
              </a:lnSpc>
              <a:spcBef>
                <a:spcPts val="570"/>
              </a:spcBef>
              <a:buClr>
                <a:srgbClr val="6E6E74"/>
              </a:buClr>
              <a:buFont typeface="Arial MT"/>
              <a:buChar char="•"/>
              <a:tabLst>
                <a:tab pos="469900" algn="l"/>
              </a:tabLst>
            </a:pPr>
            <a:r>
              <a:rPr sz="1600" spc="65" dirty="0">
                <a:solidFill>
                  <a:srgbClr val="252525"/>
                </a:solidFill>
                <a:latin typeface="Cambria"/>
                <a:cs typeface="Cambria"/>
              </a:rPr>
              <a:t>The</a:t>
            </a:r>
            <a:r>
              <a:rPr sz="1600" spc="235" dirty="0">
                <a:solidFill>
                  <a:srgbClr val="252525"/>
                </a:solidFill>
                <a:latin typeface="Cambria"/>
                <a:cs typeface="Cambria"/>
              </a:rPr>
              <a:t>  </a:t>
            </a:r>
            <a:r>
              <a:rPr sz="1600" dirty="0">
                <a:solidFill>
                  <a:srgbClr val="252525"/>
                </a:solidFill>
                <a:latin typeface="Cambria"/>
                <a:cs typeface="Cambria"/>
              </a:rPr>
              <a:t>model</a:t>
            </a:r>
            <a:r>
              <a:rPr sz="1600" spc="235" dirty="0">
                <a:solidFill>
                  <a:srgbClr val="252525"/>
                </a:solidFill>
                <a:latin typeface="Cambria"/>
                <a:cs typeface="Cambria"/>
              </a:rPr>
              <a:t>  </a:t>
            </a:r>
            <a:r>
              <a:rPr sz="1600" dirty="0">
                <a:solidFill>
                  <a:srgbClr val="252525"/>
                </a:solidFill>
                <a:latin typeface="Cambria"/>
                <a:cs typeface="Cambria"/>
              </a:rPr>
              <a:t>receives</a:t>
            </a:r>
            <a:r>
              <a:rPr sz="1600" spc="245" dirty="0">
                <a:solidFill>
                  <a:srgbClr val="252525"/>
                </a:solidFill>
                <a:latin typeface="Cambria"/>
                <a:cs typeface="Cambria"/>
              </a:rPr>
              <a:t>  </a:t>
            </a:r>
            <a:r>
              <a:rPr sz="1600" dirty="0">
                <a:solidFill>
                  <a:srgbClr val="252525"/>
                </a:solidFill>
                <a:latin typeface="Cambria"/>
                <a:cs typeface="Cambria"/>
              </a:rPr>
              <a:t>feedback</a:t>
            </a:r>
            <a:r>
              <a:rPr sz="1600" spc="240" dirty="0">
                <a:solidFill>
                  <a:srgbClr val="252525"/>
                </a:solidFill>
                <a:latin typeface="Cambria"/>
                <a:cs typeface="Cambria"/>
              </a:rPr>
              <a:t>  </a:t>
            </a:r>
            <a:r>
              <a:rPr sz="1600" spc="65" dirty="0">
                <a:solidFill>
                  <a:srgbClr val="252525"/>
                </a:solidFill>
                <a:latin typeface="Cambria"/>
                <a:cs typeface="Cambria"/>
              </a:rPr>
              <a:t>in</a:t>
            </a:r>
            <a:r>
              <a:rPr sz="1600" spc="240" dirty="0">
                <a:solidFill>
                  <a:srgbClr val="252525"/>
                </a:solidFill>
                <a:latin typeface="Cambria"/>
                <a:cs typeface="Cambria"/>
              </a:rPr>
              <a:t>  </a:t>
            </a:r>
            <a:r>
              <a:rPr sz="1600" spc="55" dirty="0">
                <a:solidFill>
                  <a:srgbClr val="252525"/>
                </a:solidFill>
                <a:latin typeface="Cambria"/>
                <a:cs typeface="Cambria"/>
              </a:rPr>
              <a:t>the</a:t>
            </a:r>
            <a:r>
              <a:rPr sz="1600" spc="240" dirty="0">
                <a:solidFill>
                  <a:srgbClr val="252525"/>
                </a:solidFill>
                <a:latin typeface="Cambria"/>
                <a:cs typeface="Cambria"/>
              </a:rPr>
              <a:t>  </a:t>
            </a:r>
            <a:r>
              <a:rPr sz="1600" dirty="0">
                <a:solidFill>
                  <a:srgbClr val="252525"/>
                </a:solidFill>
                <a:latin typeface="Cambria"/>
                <a:cs typeface="Cambria"/>
              </a:rPr>
              <a:t>form</a:t>
            </a:r>
            <a:r>
              <a:rPr sz="1600" spc="250" dirty="0">
                <a:solidFill>
                  <a:srgbClr val="252525"/>
                </a:solidFill>
                <a:latin typeface="Cambria"/>
                <a:cs typeface="Cambria"/>
              </a:rPr>
              <a:t>  </a:t>
            </a:r>
            <a:r>
              <a:rPr sz="1600" dirty="0">
                <a:solidFill>
                  <a:srgbClr val="252525"/>
                </a:solidFill>
                <a:latin typeface="Cambria"/>
                <a:cs typeface="Cambria"/>
              </a:rPr>
              <a:t>of</a:t>
            </a:r>
            <a:r>
              <a:rPr sz="1600" spc="235" dirty="0">
                <a:solidFill>
                  <a:srgbClr val="252525"/>
                </a:solidFill>
                <a:latin typeface="Cambria"/>
                <a:cs typeface="Cambria"/>
              </a:rPr>
              <a:t>  </a:t>
            </a:r>
            <a:r>
              <a:rPr sz="1600" dirty="0">
                <a:solidFill>
                  <a:srgbClr val="252525"/>
                </a:solidFill>
                <a:latin typeface="Cambria"/>
                <a:cs typeface="Cambria"/>
              </a:rPr>
              <a:t>rewards</a:t>
            </a:r>
            <a:r>
              <a:rPr sz="1600" spc="240" dirty="0">
                <a:solidFill>
                  <a:srgbClr val="252525"/>
                </a:solidFill>
                <a:latin typeface="Cambria"/>
                <a:cs typeface="Cambria"/>
              </a:rPr>
              <a:t>  </a:t>
            </a:r>
            <a:r>
              <a:rPr sz="1600" spc="-25" dirty="0">
                <a:solidFill>
                  <a:srgbClr val="252525"/>
                </a:solidFill>
                <a:latin typeface="Cambria"/>
                <a:cs typeface="Cambria"/>
              </a:rPr>
              <a:t>or </a:t>
            </a:r>
            <a:r>
              <a:rPr sz="1600" spc="50" dirty="0">
                <a:solidFill>
                  <a:srgbClr val="252525"/>
                </a:solidFill>
                <a:latin typeface="Cambria"/>
                <a:cs typeface="Cambria"/>
              </a:rPr>
              <a:t>penalties</a:t>
            </a:r>
            <a:r>
              <a:rPr sz="1600" spc="180" dirty="0">
                <a:solidFill>
                  <a:srgbClr val="252525"/>
                </a:solidFill>
                <a:latin typeface="Cambria"/>
                <a:cs typeface="Cambria"/>
              </a:rPr>
              <a:t>  </a:t>
            </a:r>
            <a:r>
              <a:rPr sz="1600" spc="65" dirty="0">
                <a:solidFill>
                  <a:srgbClr val="252525"/>
                </a:solidFill>
                <a:latin typeface="Cambria"/>
                <a:cs typeface="Cambria"/>
              </a:rPr>
              <a:t>and</a:t>
            </a:r>
            <a:r>
              <a:rPr sz="1600" spc="185" dirty="0">
                <a:solidFill>
                  <a:srgbClr val="252525"/>
                </a:solidFill>
                <a:latin typeface="Cambria"/>
                <a:cs typeface="Cambria"/>
              </a:rPr>
              <a:t>  </a:t>
            </a:r>
            <a:r>
              <a:rPr sz="1600" spc="60" dirty="0">
                <a:solidFill>
                  <a:srgbClr val="252525"/>
                </a:solidFill>
                <a:latin typeface="Cambria"/>
                <a:cs typeface="Cambria"/>
              </a:rPr>
              <a:t>learns</a:t>
            </a:r>
            <a:r>
              <a:rPr sz="1600" spc="185" dirty="0">
                <a:solidFill>
                  <a:srgbClr val="252525"/>
                </a:solidFill>
                <a:latin typeface="Cambria"/>
                <a:cs typeface="Cambria"/>
              </a:rPr>
              <a:t>  </a:t>
            </a:r>
            <a:r>
              <a:rPr sz="1600" dirty="0">
                <a:solidFill>
                  <a:srgbClr val="252525"/>
                </a:solidFill>
                <a:latin typeface="Cambria"/>
                <a:cs typeface="Cambria"/>
              </a:rPr>
              <a:t>to</a:t>
            </a:r>
            <a:r>
              <a:rPr sz="1600" spc="185" dirty="0">
                <a:solidFill>
                  <a:srgbClr val="252525"/>
                </a:solidFill>
                <a:latin typeface="Cambria"/>
                <a:cs typeface="Cambria"/>
              </a:rPr>
              <a:t>  </a:t>
            </a:r>
            <a:r>
              <a:rPr sz="1600" dirty="0">
                <a:solidFill>
                  <a:srgbClr val="252525"/>
                </a:solidFill>
                <a:latin typeface="Cambria"/>
                <a:cs typeface="Cambria"/>
              </a:rPr>
              <a:t>optimize</a:t>
            </a:r>
            <a:r>
              <a:rPr sz="1600" spc="185" dirty="0">
                <a:solidFill>
                  <a:srgbClr val="252525"/>
                </a:solidFill>
                <a:latin typeface="Cambria"/>
                <a:cs typeface="Cambria"/>
              </a:rPr>
              <a:t>  </a:t>
            </a:r>
            <a:r>
              <a:rPr sz="1600" spc="60" dirty="0">
                <a:solidFill>
                  <a:srgbClr val="252525"/>
                </a:solidFill>
                <a:latin typeface="Cambria"/>
                <a:cs typeface="Cambria"/>
              </a:rPr>
              <a:t>its</a:t>
            </a:r>
            <a:r>
              <a:rPr sz="1600" spc="185" dirty="0">
                <a:solidFill>
                  <a:srgbClr val="252525"/>
                </a:solidFill>
                <a:latin typeface="Cambria"/>
                <a:cs typeface="Cambria"/>
              </a:rPr>
              <a:t>  </a:t>
            </a:r>
            <a:r>
              <a:rPr sz="1600" dirty="0">
                <a:solidFill>
                  <a:srgbClr val="252525"/>
                </a:solidFill>
                <a:latin typeface="Cambria"/>
                <a:cs typeface="Cambria"/>
              </a:rPr>
              <a:t>actions</a:t>
            </a:r>
            <a:r>
              <a:rPr sz="1600" spc="185" dirty="0">
                <a:solidFill>
                  <a:srgbClr val="252525"/>
                </a:solidFill>
                <a:latin typeface="Cambria"/>
                <a:cs typeface="Cambria"/>
              </a:rPr>
              <a:t>  </a:t>
            </a:r>
            <a:r>
              <a:rPr sz="1600" dirty="0">
                <a:solidFill>
                  <a:srgbClr val="252525"/>
                </a:solidFill>
                <a:latin typeface="Cambria"/>
                <a:cs typeface="Cambria"/>
              </a:rPr>
              <a:t>to</a:t>
            </a:r>
            <a:r>
              <a:rPr sz="1600" spc="185" dirty="0">
                <a:solidFill>
                  <a:srgbClr val="252525"/>
                </a:solidFill>
                <a:latin typeface="Cambria"/>
                <a:cs typeface="Cambria"/>
              </a:rPr>
              <a:t>  </a:t>
            </a:r>
            <a:r>
              <a:rPr sz="1600" spc="45" dirty="0">
                <a:solidFill>
                  <a:srgbClr val="252525"/>
                </a:solidFill>
                <a:latin typeface="Cambria"/>
                <a:cs typeface="Cambria"/>
              </a:rPr>
              <a:t>maximize </a:t>
            </a:r>
            <a:r>
              <a:rPr sz="1600" spc="55" dirty="0">
                <a:solidFill>
                  <a:srgbClr val="252525"/>
                </a:solidFill>
                <a:latin typeface="Cambria"/>
                <a:cs typeface="Cambria"/>
              </a:rPr>
              <a:t>cumulative</a:t>
            </a:r>
            <a:r>
              <a:rPr sz="1600" spc="145" dirty="0">
                <a:solidFill>
                  <a:srgbClr val="252525"/>
                </a:solidFill>
                <a:latin typeface="Cambria"/>
                <a:cs typeface="Cambria"/>
              </a:rPr>
              <a:t> </a:t>
            </a:r>
            <a:r>
              <a:rPr sz="1600" spc="35" dirty="0">
                <a:solidFill>
                  <a:srgbClr val="252525"/>
                </a:solidFill>
                <a:latin typeface="Cambria"/>
                <a:cs typeface="Cambria"/>
              </a:rPr>
              <a:t>rewards.</a:t>
            </a:r>
            <a:endParaRPr sz="1600">
              <a:latin typeface="Cambria"/>
              <a:cs typeface="Cambria"/>
            </a:endParaRPr>
          </a:p>
          <a:p>
            <a:pPr marL="12700">
              <a:lnSpc>
                <a:spcPct val="100000"/>
              </a:lnSpc>
              <a:spcBef>
                <a:spcPts val="1550"/>
              </a:spcBef>
            </a:pPr>
            <a:r>
              <a:rPr sz="2200" b="1" spc="180" dirty="0">
                <a:latin typeface="Cambria"/>
                <a:cs typeface="Cambria"/>
              </a:rPr>
              <a:t>Common</a:t>
            </a:r>
            <a:r>
              <a:rPr sz="2200" b="1" spc="220" dirty="0">
                <a:latin typeface="Cambria"/>
                <a:cs typeface="Cambria"/>
              </a:rPr>
              <a:t> </a:t>
            </a:r>
            <a:r>
              <a:rPr sz="2200" b="1" spc="145" dirty="0">
                <a:latin typeface="Cambria"/>
                <a:cs typeface="Cambria"/>
              </a:rPr>
              <a:t>Reinforcement</a:t>
            </a:r>
            <a:r>
              <a:rPr sz="2200" b="1" spc="235" dirty="0">
                <a:latin typeface="Cambria"/>
                <a:cs typeface="Cambria"/>
              </a:rPr>
              <a:t> </a:t>
            </a:r>
            <a:r>
              <a:rPr sz="2200" b="1" spc="180" dirty="0">
                <a:latin typeface="Cambria"/>
                <a:cs typeface="Cambria"/>
              </a:rPr>
              <a:t>Learning</a:t>
            </a:r>
            <a:r>
              <a:rPr sz="2200" b="1" spc="250" dirty="0">
                <a:latin typeface="Cambria"/>
                <a:cs typeface="Cambria"/>
              </a:rPr>
              <a:t> </a:t>
            </a:r>
            <a:r>
              <a:rPr sz="2200" b="1" spc="105" dirty="0">
                <a:latin typeface="Cambria"/>
                <a:cs typeface="Cambria"/>
              </a:rPr>
              <a:t>Tasks:</a:t>
            </a:r>
            <a:endParaRPr sz="2200">
              <a:latin typeface="Cambria"/>
              <a:cs typeface="Cambria"/>
            </a:endParaRPr>
          </a:p>
          <a:p>
            <a:pPr marL="629920" indent="-342900" algn="just">
              <a:lnSpc>
                <a:spcPct val="100000"/>
              </a:lnSpc>
              <a:spcBef>
                <a:spcPts val="290"/>
              </a:spcBef>
              <a:buClr>
                <a:srgbClr val="6E6E74"/>
              </a:buClr>
              <a:buAutoNum type="arabicPeriod"/>
              <a:tabLst>
                <a:tab pos="629920" algn="l"/>
              </a:tabLst>
            </a:pPr>
            <a:r>
              <a:rPr sz="1800" b="1" spc="155" dirty="0">
                <a:solidFill>
                  <a:srgbClr val="252525"/>
                </a:solidFill>
                <a:latin typeface="Cambria"/>
                <a:cs typeface="Cambria"/>
              </a:rPr>
              <a:t>Game</a:t>
            </a:r>
            <a:r>
              <a:rPr sz="1800" b="1" spc="145" dirty="0">
                <a:solidFill>
                  <a:srgbClr val="252525"/>
                </a:solidFill>
                <a:latin typeface="Cambria"/>
                <a:cs typeface="Cambria"/>
              </a:rPr>
              <a:t> </a:t>
            </a:r>
            <a:r>
              <a:rPr sz="1800" b="1" spc="114" dirty="0">
                <a:solidFill>
                  <a:srgbClr val="252525"/>
                </a:solidFill>
                <a:latin typeface="Cambria"/>
                <a:cs typeface="Cambria"/>
              </a:rPr>
              <a:t>Playing:</a:t>
            </a:r>
            <a:endParaRPr sz="1800">
              <a:latin typeface="Cambria"/>
              <a:cs typeface="Cambria"/>
            </a:endParaRPr>
          </a:p>
          <a:p>
            <a:pPr marL="744220" marR="7620" lvl="1" indent="-182880" algn="just">
              <a:lnSpc>
                <a:spcPct val="90100"/>
              </a:lnSpc>
              <a:spcBef>
                <a:spcPts val="605"/>
              </a:spcBef>
              <a:buClr>
                <a:srgbClr val="6E6E74"/>
              </a:buClr>
              <a:buFont typeface="Arial MT"/>
              <a:buChar char="•"/>
              <a:tabLst>
                <a:tab pos="744220" algn="l"/>
              </a:tabLst>
            </a:pPr>
            <a:r>
              <a:rPr sz="1600" spc="70" dirty="0">
                <a:solidFill>
                  <a:srgbClr val="252525"/>
                </a:solidFill>
                <a:latin typeface="Cambria"/>
                <a:cs typeface="Cambria"/>
              </a:rPr>
              <a:t>Training</a:t>
            </a:r>
            <a:r>
              <a:rPr sz="1600" spc="185" dirty="0">
                <a:solidFill>
                  <a:srgbClr val="252525"/>
                </a:solidFill>
                <a:latin typeface="Cambria"/>
                <a:cs typeface="Cambria"/>
              </a:rPr>
              <a:t> </a:t>
            </a:r>
            <a:r>
              <a:rPr sz="1600" spc="85" dirty="0">
                <a:solidFill>
                  <a:srgbClr val="252525"/>
                </a:solidFill>
                <a:latin typeface="Cambria"/>
                <a:cs typeface="Cambria"/>
              </a:rPr>
              <a:t>an</a:t>
            </a:r>
            <a:r>
              <a:rPr sz="1600" spc="195" dirty="0">
                <a:solidFill>
                  <a:srgbClr val="252525"/>
                </a:solidFill>
                <a:latin typeface="Cambria"/>
                <a:cs typeface="Cambria"/>
              </a:rPr>
              <a:t> </a:t>
            </a:r>
            <a:r>
              <a:rPr sz="1600" spc="130" dirty="0">
                <a:solidFill>
                  <a:srgbClr val="252525"/>
                </a:solidFill>
                <a:latin typeface="Cambria"/>
                <a:cs typeface="Cambria"/>
              </a:rPr>
              <a:t>AI</a:t>
            </a:r>
            <a:r>
              <a:rPr sz="1600" spc="204" dirty="0">
                <a:solidFill>
                  <a:srgbClr val="252525"/>
                </a:solidFill>
                <a:latin typeface="Cambria"/>
                <a:cs typeface="Cambria"/>
              </a:rPr>
              <a:t> </a:t>
            </a:r>
            <a:r>
              <a:rPr sz="1600" dirty="0">
                <a:solidFill>
                  <a:srgbClr val="252525"/>
                </a:solidFill>
                <a:latin typeface="Cambria"/>
                <a:cs typeface="Cambria"/>
              </a:rPr>
              <a:t>to</a:t>
            </a:r>
            <a:r>
              <a:rPr sz="1600" spc="204" dirty="0">
                <a:solidFill>
                  <a:srgbClr val="252525"/>
                </a:solidFill>
                <a:latin typeface="Cambria"/>
                <a:cs typeface="Cambria"/>
              </a:rPr>
              <a:t> </a:t>
            </a:r>
            <a:r>
              <a:rPr sz="1600" spc="50" dirty="0">
                <a:solidFill>
                  <a:srgbClr val="252525"/>
                </a:solidFill>
                <a:latin typeface="Cambria"/>
                <a:cs typeface="Cambria"/>
              </a:rPr>
              <a:t>play</a:t>
            </a:r>
            <a:r>
              <a:rPr sz="1600" spc="200" dirty="0">
                <a:solidFill>
                  <a:srgbClr val="252525"/>
                </a:solidFill>
                <a:latin typeface="Cambria"/>
                <a:cs typeface="Cambria"/>
              </a:rPr>
              <a:t> </a:t>
            </a:r>
            <a:r>
              <a:rPr sz="1600" spc="60" dirty="0">
                <a:solidFill>
                  <a:srgbClr val="252525"/>
                </a:solidFill>
                <a:latin typeface="Cambria"/>
                <a:cs typeface="Cambria"/>
              </a:rPr>
              <a:t>games</a:t>
            </a:r>
            <a:r>
              <a:rPr sz="1600" spc="204" dirty="0">
                <a:solidFill>
                  <a:srgbClr val="252525"/>
                </a:solidFill>
                <a:latin typeface="Cambria"/>
                <a:cs typeface="Cambria"/>
              </a:rPr>
              <a:t> </a:t>
            </a:r>
            <a:r>
              <a:rPr sz="1600" spc="60" dirty="0">
                <a:solidFill>
                  <a:srgbClr val="252525"/>
                </a:solidFill>
                <a:latin typeface="Cambria"/>
                <a:cs typeface="Cambria"/>
              </a:rPr>
              <a:t>like</a:t>
            </a:r>
            <a:r>
              <a:rPr sz="1600" spc="200" dirty="0">
                <a:solidFill>
                  <a:srgbClr val="252525"/>
                </a:solidFill>
                <a:latin typeface="Cambria"/>
                <a:cs typeface="Cambria"/>
              </a:rPr>
              <a:t> </a:t>
            </a:r>
            <a:r>
              <a:rPr sz="1600" spc="85" dirty="0">
                <a:solidFill>
                  <a:srgbClr val="252525"/>
                </a:solidFill>
                <a:latin typeface="Cambria"/>
                <a:cs typeface="Cambria"/>
              </a:rPr>
              <a:t>Chess</a:t>
            </a:r>
            <a:r>
              <a:rPr sz="1600" spc="195" dirty="0">
                <a:solidFill>
                  <a:srgbClr val="252525"/>
                </a:solidFill>
                <a:latin typeface="Cambria"/>
                <a:cs typeface="Cambria"/>
              </a:rPr>
              <a:t> </a:t>
            </a:r>
            <a:r>
              <a:rPr sz="1600" dirty="0">
                <a:solidFill>
                  <a:srgbClr val="252525"/>
                </a:solidFill>
                <a:latin typeface="Cambria"/>
                <a:cs typeface="Cambria"/>
              </a:rPr>
              <a:t>or</a:t>
            </a:r>
            <a:r>
              <a:rPr sz="1600" spc="190" dirty="0">
                <a:solidFill>
                  <a:srgbClr val="252525"/>
                </a:solidFill>
                <a:latin typeface="Cambria"/>
                <a:cs typeface="Cambria"/>
              </a:rPr>
              <a:t> </a:t>
            </a:r>
            <a:r>
              <a:rPr sz="1600" spc="105" dirty="0">
                <a:solidFill>
                  <a:srgbClr val="252525"/>
                </a:solidFill>
                <a:latin typeface="Cambria"/>
                <a:cs typeface="Cambria"/>
              </a:rPr>
              <a:t>Go,</a:t>
            </a:r>
            <a:r>
              <a:rPr sz="1600" spc="210" dirty="0">
                <a:solidFill>
                  <a:srgbClr val="252525"/>
                </a:solidFill>
                <a:latin typeface="Cambria"/>
                <a:cs typeface="Cambria"/>
              </a:rPr>
              <a:t> </a:t>
            </a:r>
            <a:r>
              <a:rPr sz="1600" dirty="0">
                <a:solidFill>
                  <a:srgbClr val="252525"/>
                </a:solidFill>
                <a:latin typeface="Cambria"/>
                <a:cs typeface="Cambria"/>
              </a:rPr>
              <a:t>where</a:t>
            </a:r>
            <a:r>
              <a:rPr sz="1600" spc="204" dirty="0">
                <a:solidFill>
                  <a:srgbClr val="252525"/>
                </a:solidFill>
                <a:latin typeface="Cambria"/>
                <a:cs typeface="Cambria"/>
              </a:rPr>
              <a:t> </a:t>
            </a:r>
            <a:r>
              <a:rPr sz="1600" spc="30" dirty="0">
                <a:solidFill>
                  <a:srgbClr val="252525"/>
                </a:solidFill>
                <a:latin typeface="Cambria"/>
                <a:cs typeface="Cambria"/>
              </a:rPr>
              <a:t>the </a:t>
            </a:r>
            <a:r>
              <a:rPr sz="1600" spc="130" dirty="0">
                <a:solidFill>
                  <a:srgbClr val="252525"/>
                </a:solidFill>
                <a:latin typeface="Cambria"/>
                <a:cs typeface="Cambria"/>
              </a:rPr>
              <a:t>AI</a:t>
            </a:r>
            <a:r>
              <a:rPr sz="1600" spc="245" dirty="0">
                <a:solidFill>
                  <a:srgbClr val="252525"/>
                </a:solidFill>
                <a:latin typeface="Cambria"/>
                <a:cs typeface="Cambria"/>
              </a:rPr>
              <a:t> </a:t>
            </a:r>
            <a:r>
              <a:rPr sz="1600" spc="60" dirty="0">
                <a:solidFill>
                  <a:srgbClr val="252525"/>
                </a:solidFill>
                <a:latin typeface="Cambria"/>
                <a:cs typeface="Cambria"/>
              </a:rPr>
              <a:t>learns</a:t>
            </a:r>
            <a:r>
              <a:rPr sz="1600" spc="254" dirty="0">
                <a:solidFill>
                  <a:srgbClr val="252525"/>
                </a:solidFill>
                <a:latin typeface="Cambria"/>
                <a:cs typeface="Cambria"/>
              </a:rPr>
              <a:t> </a:t>
            </a:r>
            <a:r>
              <a:rPr sz="1600" spc="50" dirty="0">
                <a:solidFill>
                  <a:srgbClr val="252525"/>
                </a:solidFill>
                <a:latin typeface="Cambria"/>
                <a:cs typeface="Cambria"/>
              </a:rPr>
              <a:t>strategies</a:t>
            </a:r>
            <a:r>
              <a:rPr sz="1600" spc="265" dirty="0">
                <a:solidFill>
                  <a:srgbClr val="252525"/>
                </a:solidFill>
                <a:latin typeface="Cambria"/>
                <a:cs typeface="Cambria"/>
              </a:rPr>
              <a:t> </a:t>
            </a:r>
            <a:r>
              <a:rPr sz="1600" spc="50" dirty="0">
                <a:solidFill>
                  <a:srgbClr val="252525"/>
                </a:solidFill>
                <a:latin typeface="Cambria"/>
                <a:cs typeface="Cambria"/>
              </a:rPr>
              <a:t>through</a:t>
            </a:r>
            <a:r>
              <a:rPr sz="1600" spc="254" dirty="0">
                <a:solidFill>
                  <a:srgbClr val="252525"/>
                </a:solidFill>
                <a:latin typeface="Cambria"/>
                <a:cs typeface="Cambria"/>
              </a:rPr>
              <a:t> </a:t>
            </a:r>
            <a:r>
              <a:rPr sz="1600" spc="70" dirty="0">
                <a:solidFill>
                  <a:srgbClr val="252525"/>
                </a:solidFill>
                <a:latin typeface="Cambria"/>
                <a:cs typeface="Cambria"/>
              </a:rPr>
              <a:t>trial</a:t>
            </a:r>
            <a:r>
              <a:rPr sz="1600" spc="254" dirty="0">
                <a:solidFill>
                  <a:srgbClr val="252525"/>
                </a:solidFill>
                <a:latin typeface="Cambria"/>
                <a:cs typeface="Cambria"/>
              </a:rPr>
              <a:t> </a:t>
            </a:r>
            <a:r>
              <a:rPr sz="1600" spc="65" dirty="0">
                <a:solidFill>
                  <a:srgbClr val="252525"/>
                </a:solidFill>
                <a:latin typeface="Cambria"/>
                <a:cs typeface="Cambria"/>
              </a:rPr>
              <a:t>and</a:t>
            </a:r>
            <a:r>
              <a:rPr sz="1600" spc="245" dirty="0">
                <a:solidFill>
                  <a:srgbClr val="252525"/>
                </a:solidFill>
                <a:latin typeface="Cambria"/>
                <a:cs typeface="Cambria"/>
              </a:rPr>
              <a:t> </a:t>
            </a:r>
            <a:r>
              <a:rPr sz="1600" dirty="0">
                <a:solidFill>
                  <a:srgbClr val="252525"/>
                </a:solidFill>
                <a:latin typeface="Cambria"/>
                <a:cs typeface="Cambria"/>
              </a:rPr>
              <a:t>error</a:t>
            </a:r>
            <a:r>
              <a:rPr sz="1600" spc="260" dirty="0">
                <a:solidFill>
                  <a:srgbClr val="252525"/>
                </a:solidFill>
                <a:latin typeface="Cambria"/>
                <a:cs typeface="Cambria"/>
              </a:rPr>
              <a:t> </a:t>
            </a:r>
            <a:r>
              <a:rPr sz="1600" spc="70" dirty="0">
                <a:solidFill>
                  <a:srgbClr val="252525"/>
                </a:solidFill>
                <a:latin typeface="Cambria"/>
                <a:cs typeface="Cambria"/>
              </a:rPr>
              <a:t>and</a:t>
            </a:r>
            <a:r>
              <a:rPr sz="1600" spc="260" dirty="0">
                <a:solidFill>
                  <a:srgbClr val="252525"/>
                </a:solidFill>
                <a:latin typeface="Cambria"/>
                <a:cs typeface="Cambria"/>
              </a:rPr>
              <a:t> </a:t>
            </a:r>
            <a:r>
              <a:rPr sz="1600" spc="-10" dirty="0">
                <a:solidFill>
                  <a:srgbClr val="252525"/>
                </a:solidFill>
                <a:latin typeface="Cambria"/>
                <a:cs typeface="Cambria"/>
              </a:rPr>
              <a:t>feedback </a:t>
            </a:r>
            <a:r>
              <a:rPr sz="1600" dirty="0">
                <a:solidFill>
                  <a:srgbClr val="252525"/>
                </a:solidFill>
                <a:latin typeface="Cambria"/>
                <a:cs typeface="Cambria"/>
              </a:rPr>
              <a:t>from</a:t>
            </a:r>
            <a:r>
              <a:rPr sz="1600" spc="195" dirty="0">
                <a:solidFill>
                  <a:srgbClr val="252525"/>
                </a:solidFill>
                <a:latin typeface="Cambria"/>
                <a:cs typeface="Cambria"/>
              </a:rPr>
              <a:t> </a:t>
            </a:r>
            <a:r>
              <a:rPr sz="1600" dirty="0">
                <a:solidFill>
                  <a:srgbClr val="252525"/>
                </a:solidFill>
                <a:latin typeface="Cambria"/>
                <a:cs typeface="Cambria"/>
              </a:rPr>
              <a:t>wins</a:t>
            </a:r>
            <a:r>
              <a:rPr sz="1600" spc="190" dirty="0">
                <a:solidFill>
                  <a:srgbClr val="252525"/>
                </a:solidFill>
                <a:latin typeface="Cambria"/>
                <a:cs typeface="Cambria"/>
              </a:rPr>
              <a:t> </a:t>
            </a:r>
            <a:r>
              <a:rPr sz="1600" dirty="0">
                <a:solidFill>
                  <a:srgbClr val="252525"/>
                </a:solidFill>
                <a:latin typeface="Cambria"/>
                <a:cs typeface="Cambria"/>
              </a:rPr>
              <a:t>or</a:t>
            </a:r>
            <a:r>
              <a:rPr sz="1600" spc="180" dirty="0">
                <a:solidFill>
                  <a:srgbClr val="252525"/>
                </a:solidFill>
                <a:latin typeface="Cambria"/>
                <a:cs typeface="Cambria"/>
              </a:rPr>
              <a:t> </a:t>
            </a:r>
            <a:r>
              <a:rPr sz="1600" spc="-10" dirty="0">
                <a:solidFill>
                  <a:srgbClr val="252525"/>
                </a:solidFill>
                <a:latin typeface="Cambria"/>
                <a:cs typeface="Cambria"/>
              </a:rPr>
              <a:t>losses.</a:t>
            </a:r>
            <a:endParaRPr sz="1600">
              <a:latin typeface="Cambria"/>
              <a:cs typeface="Cambria"/>
            </a:endParaRPr>
          </a:p>
          <a:p>
            <a:pPr marL="629920" indent="-342900" algn="just">
              <a:lnSpc>
                <a:spcPct val="100000"/>
              </a:lnSpc>
              <a:spcBef>
                <a:spcPts val="380"/>
              </a:spcBef>
              <a:buClr>
                <a:srgbClr val="6E6E74"/>
              </a:buClr>
              <a:buAutoNum type="arabicPeriod"/>
              <a:tabLst>
                <a:tab pos="629920" algn="l"/>
              </a:tabLst>
            </a:pPr>
            <a:r>
              <a:rPr sz="1800" b="1" spc="90" dirty="0">
                <a:solidFill>
                  <a:srgbClr val="252525"/>
                </a:solidFill>
                <a:latin typeface="Cambria"/>
                <a:cs typeface="Cambria"/>
              </a:rPr>
              <a:t>Robotics:</a:t>
            </a:r>
            <a:endParaRPr sz="1800">
              <a:latin typeface="Cambria"/>
              <a:cs typeface="Cambria"/>
            </a:endParaRPr>
          </a:p>
          <a:p>
            <a:pPr marL="744220" marR="6985" lvl="1" indent="-182880" algn="just">
              <a:lnSpc>
                <a:spcPts val="1730"/>
              </a:lnSpc>
              <a:spcBef>
                <a:spcPts val="630"/>
              </a:spcBef>
              <a:buClr>
                <a:srgbClr val="6E6E74"/>
              </a:buClr>
              <a:buFont typeface="Arial MT"/>
              <a:buChar char="•"/>
              <a:tabLst>
                <a:tab pos="744220" algn="l"/>
              </a:tabLst>
            </a:pPr>
            <a:r>
              <a:rPr sz="1600" spc="60" dirty="0">
                <a:solidFill>
                  <a:srgbClr val="252525"/>
                </a:solidFill>
                <a:latin typeface="Cambria"/>
                <a:cs typeface="Cambria"/>
              </a:rPr>
              <a:t>Teaching</a:t>
            </a:r>
            <a:r>
              <a:rPr sz="1600" spc="265" dirty="0">
                <a:solidFill>
                  <a:srgbClr val="252525"/>
                </a:solidFill>
                <a:latin typeface="Cambria"/>
                <a:cs typeface="Cambria"/>
              </a:rPr>
              <a:t> </a:t>
            </a:r>
            <a:r>
              <a:rPr sz="1600" dirty="0">
                <a:solidFill>
                  <a:srgbClr val="252525"/>
                </a:solidFill>
                <a:latin typeface="Cambria"/>
                <a:cs typeface="Cambria"/>
              </a:rPr>
              <a:t>robot</a:t>
            </a:r>
            <a:r>
              <a:rPr sz="1600" spc="285" dirty="0">
                <a:solidFill>
                  <a:srgbClr val="252525"/>
                </a:solidFill>
                <a:latin typeface="Cambria"/>
                <a:cs typeface="Cambria"/>
              </a:rPr>
              <a:t> </a:t>
            </a:r>
            <a:r>
              <a:rPr sz="1600" dirty="0">
                <a:solidFill>
                  <a:srgbClr val="252525"/>
                </a:solidFill>
                <a:latin typeface="Cambria"/>
                <a:cs typeface="Cambria"/>
              </a:rPr>
              <a:t>to</a:t>
            </a:r>
            <a:r>
              <a:rPr sz="1600" spc="280" dirty="0">
                <a:solidFill>
                  <a:srgbClr val="252525"/>
                </a:solidFill>
                <a:latin typeface="Cambria"/>
                <a:cs typeface="Cambria"/>
              </a:rPr>
              <a:t> </a:t>
            </a:r>
            <a:r>
              <a:rPr sz="1600" dirty="0">
                <a:solidFill>
                  <a:srgbClr val="252525"/>
                </a:solidFill>
                <a:latin typeface="Cambria"/>
                <a:cs typeface="Cambria"/>
              </a:rPr>
              <a:t>perform</a:t>
            </a:r>
            <a:r>
              <a:rPr sz="1600" spc="270" dirty="0">
                <a:solidFill>
                  <a:srgbClr val="252525"/>
                </a:solidFill>
                <a:latin typeface="Cambria"/>
                <a:cs typeface="Cambria"/>
              </a:rPr>
              <a:t> </a:t>
            </a:r>
            <a:r>
              <a:rPr sz="1600" spc="75" dirty="0">
                <a:solidFill>
                  <a:srgbClr val="252525"/>
                </a:solidFill>
                <a:latin typeface="Cambria"/>
                <a:cs typeface="Cambria"/>
              </a:rPr>
              <a:t>tasks</a:t>
            </a:r>
            <a:r>
              <a:rPr sz="1600" spc="265" dirty="0">
                <a:solidFill>
                  <a:srgbClr val="252525"/>
                </a:solidFill>
                <a:latin typeface="Cambria"/>
                <a:cs typeface="Cambria"/>
              </a:rPr>
              <a:t> </a:t>
            </a:r>
            <a:r>
              <a:rPr sz="1600" spc="55" dirty="0">
                <a:solidFill>
                  <a:srgbClr val="252525"/>
                </a:solidFill>
                <a:latin typeface="Cambria"/>
                <a:cs typeface="Cambria"/>
              </a:rPr>
              <a:t>such</a:t>
            </a:r>
            <a:r>
              <a:rPr sz="1600" spc="254" dirty="0">
                <a:solidFill>
                  <a:srgbClr val="252525"/>
                </a:solidFill>
                <a:latin typeface="Cambria"/>
                <a:cs typeface="Cambria"/>
              </a:rPr>
              <a:t> </a:t>
            </a:r>
            <a:r>
              <a:rPr sz="1600" spc="70" dirty="0">
                <a:solidFill>
                  <a:srgbClr val="252525"/>
                </a:solidFill>
                <a:latin typeface="Cambria"/>
                <a:cs typeface="Cambria"/>
              </a:rPr>
              <a:t>as</a:t>
            </a:r>
            <a:r>
              <a:rPr sz="1600" spc="280" dirty="0">
                <a:solidFill>
                  <a:srgbClr val="252525"/>
                </a:solidFill>
                <a:latin typeface="Cambria"/>
                <a:cs typeface="Cambria"/>
              </a:rPr>
              <a:t> </a:t>
            </a:r>
            <a:r>
              <a:rPr sz="1600" spc="70" dirty="0">
                <a:solidFill>
                  <a:srgbClr val="252525"/>
                </a:solidFill>
                <a:latin typeface="Cambria"/>
                <a:cs typeface="Cambria"/>
              </a:rPr>
              <a:t>walking,</a:t>
            </a:r>
            <a:r>
              <a:rPr sz="1600" spc="265" dirty="0">
                <a:solidFill>
                  <a:srgbClr val="252525"/>
                </a:solidFill>
                <a:latin typeface="Cambria"/>
                <a:cs typeface="Cambria"/>
              </a:rPr>
              <a:t> </a:t>
            </a:r>
            <a:r>
              <a:rPr sz="1600" spc="40" dirty="0">
                <a:solidFill>
                  <a:srgbClr val="252525"/>
                </a:solidFill>
                <a:latin typeface="Cambria"/>
                <a:cs typeface="Cambria"/>
              </a:rPr>
              <a:t>picking </a:t>
            </a:r>
            <a:r>
              <a:rPr sz="1600" spc="50" dirty="0">
                <a:solidFill>
                  <a:srgbClr val="252525"/>
                </a:solidFill>
                <a:latin typeface="Cambria"/>
                <a:cs typeface="Cambria"/>
              </a:rPr>
              <a:t>up</a:t>
            </a:r>
            <a:r>
              <a:rPr sz="1600" spc="420" dirty="0">
                <a:solidFill>
                  <a:srgbClr val="252525"/>
                </a:solidFill>
                <a:latin typeface="Cambria"/>
                <a:cs typeface="Cambria"/>
              </a:rPr>
              <a:t> </a:t>
            </a:r>
            <a:r>
              <a:rPr sz="1600" dirty="0">
                <a:solidFill>
                  <a:srgbClr val="252525"/>
                </a:solidFill>
                <a:latin typeface="Cambria"/>
                <a:cs typeface="Cambria"/>
              </a:rPr>
              <a:t>objects,</a:t>
            </a:r>
            <a:r>
              <a:rPr sz="1600" spc="409" dirty="0">
                <a:solidFill>
                  <a:srgbClr val="252525"/>
                </a:solidFill>
                <a:latin typeface="Cambria"/>
                <a:cs typeface="Cambria"/>
              </a:rPr>
              <a:t> </a:t>
            </a:r>
            <a:r>
              <a:rPr sz="1600" dirty="0">
                <a:solidFill>
                  <a:srgbClr val="252525"/>
                </a:solidFill>
                <a:latin typeface="Cambria"/>
                <a:cs typeface="Cambria"/>
              </a:rPr>
              <a:t>or</a:t>
            </a:r>
            <a:r>
              <a:rPr sz="1600" spc="430" dirty="0">
                <a:solidFill>
                  <a:srgbClr val="252525"/>
                </a:solidFill>
                <a:latin typeface="Cambria"/>
                <a:cs typeface="Cambria"/>
              </a:rPr>
              <a:t> </a:t>
            </a:r>
            <a:r>
              <a:rPr sz="1600" spc="65" dirty="0">
                <a:solidFill>
                  <a:srgbClr val="252525"/>
                </a:solidFill>
                <a:latin typeface="Cambria"/>
                <a:cs typeface="Cambria"/>
              </a:rPr>
              <a:t>navigating</a:t>
            </a:r>
            <a:r>
              <a:rPr sz="1600" spc="409" dirty="0">
                <a:solidFill>
                  <a:srgbClr val="252525"/>
                </a:solidFill>
                <a:latin typeface="Cambria"/>
                <a:cs typeface="Cambria"/>
              </a:rPr>
              <a:t> </a:t>
            </a:r>
            <a:r>
              <a:rPr sz="1600" spc="55" dirty="0">
                <a:solidFill>
                  <a:srgbClr val="252525"/>
                </a:solidFill>
                <a:latin typeface="Cambria"/>
                <a:cs typeface="Cambria"/>
              </a:rPr>
              <a:t>spaces,</a:t>
            </a:r>
            <a:r>
              <a:rPr sz="1600" spc="415" dirty="0">
                <a:solidFill>
                  <a:srgbClr val="252525"/>
                </a:solidFill>
                <a:latin typeface="Cambria"/>
                <a:cs typeface="Cambria"/>
              </a:rPr>
              <a:t> </a:t>
            </a:r>
            <a:r>
              <a:rPr sz="1600" dirty="0">
                <a:solidFill>
                  <a:srgbClr val="252525"/>
                </a:solidFill>
                <a:latin typeface="Cambria"/>
                <a:cs typeface="Cambria"/>
              </a:rPr>
              <a:t>based</a:t>
            </a:r>
            <a:r>
              <a:rPr sz="1600" spc="409" dirty="0">
                <a:solidFill>
                  <a:srgbClr val="252525"/>
                </a:solidFill>
                <a:latin typeface="Cambria"/>
                <a:cs typeface="Cambria"/>
              </a:rPr>
              <a:t> </a:t>
            </a:r>
            <a:r>
              <a:rPr sz="1600" dirty="0">
                <a:solidFill>
                  <a:srgbClr val="252525"/>
                </a:solidFill>
                <a:latin typeface="Cambria"/>
                <a:cs typeface="Cambria"/>
              </a:rPr>
              <a:t>on</a:t>
            </a:r>
            <a:r>
              <a:rPr sz="1600" spc="425" dirty="0">
                <a:solidFill>
                  <a:srgbClr val="252525"/>
                </a:solidFill>
                <a:latin typeface="Cambria"/>
                <a:cs typeface="Cambria"/>
              </a:rPr>
              <a:t> </a:t>
            </a:r>
            <a:r>
              <a:rPr sz="1600" dirty="0">
                <a:solidFill>
                  <a:srgbClr val="252525"/>
                </a:solidFill>
                <a:latin typeface="Cambria"/>
                <a:cs typeface="Cambria"/>
              </a:rPr>
              <a:t>feedback</a:t>
            </a:r>
            <a:r>
              <a:rPr sz="1600" spc="420" dirty="0">
                <a:solidFill>
                  <a:srgbClr val="252525"/>
                </a:solidFill>
                <a:latin typeface="Cambria"/>
                <a:cs typeface="Cambria"/>
              </a:rPr>
              <a:t> </a:t>
            </a:r>
            <a:r>
              <a:rPr sz="1600" spc="-20" dirty="0">
                <a:solidFill>
                  <a:srgbClr val="252525"/>
                </a:solidFill>
                <a:latin typeface="Cambria"/>
                <a:cs typeface="Cambria"/>
              </a:rPr>
              <a:t>from </a:t>
            </a:r>
            <a:r>
              <a:rPr sz="1600" spc="55" dirty="0">
                <a:solidFill>
                  <a:srgbClr val="252525"/>
                </a:solidFill>
                <a:latin typeface="Cambria"/>
                <a:cs typeface="Cambria"/>
              </a:rPr>
              <a:t>the</a:t>
            </a:r>
            <a:r>
              <a:rPr sz="1600" spc="105" dirty="0">
                <a:solidFill>
                  <a:srgbClr val="252525"/>
                </a:solidFill>
                <a:latin typeface="Cambria"/>
                <a:cs typeface="Cambria"/>
              </a:rPr>
              <a:t> </a:t>
            </a:r>
            <a:r>
              <a:rPr sz="1600" spc="40" dirty="0">
                <a:solidFill>
                  <a:srgbClr val="252525"/>
                </a:solidFill>
                <a:latin typeface="Cambria"/>
                <a:cs typeface="Cambria"/>
              </a:rPr>
              <a:t>environment.</a:t>
            </a:r>
            <a:endParaRPr sz="1600">
              <a:latin typeface="Cambria"/>
              <a:cs typeface="Cambria"/>
            </a:endParaRPr>
          </a:p>
        </p:txBody>
      </p:sp>
      <p:sp>
        <p:nvSpPr>
          <p:cNvPr id="7" name="object 7"/>
          <p:cNvSpPr txBox="1">
            <a:spLocks noGrp="1"/>
          </p:cNvSpPr>
          <p:nvPr>
            <p:ph type="title"/>
          </p:nvPr>
        </p:nvSpPr>
        <p:spPr>
          <a:xfrm>
            <a:off x="838200" y="92079"/>
            <a:ext cx="10515600" cy="1325563"/>
          </a:xfrm>
          <a:prstGeom prst="rect">
            <a:avLst/>
          </a:prstGeom>
        </p:spPr>
        <p:txBody>
          <a:bodyPr vert="horz" wrap="square" lIns="0" tIns="12065" rIns="0" bIns="0" rtlCol="0">
            <a:spAutoFit/>
          </a:bodyPr>
          <a:lstStyle/>
          <a:p>
            <a:pPr marL="12700">
              <a:lnSpc>
                <a:spcPct val="100000"/>
              </a:lnSpc>
              <a:spcBef>
                <a:spcPts val="95"/>
              </a:spcBef>
            </a:pPr>
            <a:r>
              <a:rPr spc="114" dirty="0"/>
              <a:t>Types</a:t>
            </a:r>
            <a:r>
              <a:rPr spc="110" dirty="0"/>
              <a:t> </a:t>
            </a:r>
            <a:r>
              <a:rPr spc="105" dirty="0"/>
              <a:t>of </a:t>
            </a:r>
            <a:r>
              <a:rPr spc="170" dirty="0"/>
              <a:t>Machine</a:t>
            </a:r>
            <a:r>
              <a:rPr spc="100" dirty="0"/>
              <a:t> </a:t>
            </a:r>
            <a:r>
              <a:rPr spc="165" dirty="0"/>
              <a:t>Learning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89519" y="1760029"/>
            <a:ext cx="2375535" cy="1003935"/>
            <a:chOff x="1489519" y="1760029"/>
            <a:chExt cx="2375535" cy="1003935"/>
          </a:xfrm>
        </p:grpSpPr>
        <p:sp>
          <p:nvSpPr>
            <p:cNvPr id="3" name="object 3"/>
            <p:cNvSpPr/>
            <p:nvPr/>
          </p:nvSpPr>
          <p:spPr>
            <a:xfrm>
              <a:off x="1496187" y="1766697"/>
              <a:ext cx="2362200" cy="990600"/>
            </a:xfrm>
            <a:custGeom>
              <a:avLst/>
              <a:gdLst/>
              <a:ahLst/>
              <a:cxnLst/>
              <a:rect l="l" t="t" r="r" b="b"/>
              <a:pathLst>
                <a:path w="2362200" h="990600">
                  <a:moveTo>
                    <a:pt x="2197100" y="0"/>
                  </a:moveTo>
                  <a:lnTo>
                    <a:pt x="165100" y="0"/>
                  </a:lnTo>
                  <a:lnTo>
                    <a:pt x="121208" y="5897"/>
                  </a:lnTo>
                  <a:lnTo>
                    <a:pt x="81769" y="22540"/>
                  </a:lnTo>
                  <a:lnTo>
                    <a:pt x="48355" y="48355"/>
                  </a:lnTo>
                  <a:lnTo>
                    <a:pt x="22540" y="81769"/>
                  </a:lnTo>
                  <a:lnTo>
                    <a:pt x="5897" y="121208"/>
                  </a:lnTo>
                  <a:lnTo>
                    <a:pt x="0" y="165100"/>
                  </a:lnTo>
                  <a:lnTo>
                    <a:pt x="0" y="990600"/>
                  </a:lnTo>
                  <a:lnTo>
                    <a:pt x="2362200" y="990600"/>
                  </a:lnTo>
                  <a:lnTo>
                    <a:pt x="2362200" y="165100"/>
                  </a:lnTo>
                  <a:lnTo>
                    <a:pt x="2197100" y="0"/>
                  </a:lnTo>
                  <a:close/>
                </a:path>
              </a:pathLst>
            </a:custGeom>
            <a:solidFill>
              <a:srgbClr val="E1EFD9"/>
            </a:solidFill>
          </p:spPr>
          <p:txBody>
            <a:bodyPr wrap="square" lIns="0" tIns="0" rIns="0" bIns="0" rtlCol="0"/>
            <a:lstStyle/>
            <a:p>
              <a:endParaRPr/>
            </a:p>
          </p:txBody>
        </p:sp>
        <p:sp>
          <p:nvSpPr>
            <p:cNvPr id="4" name="object 4"/>
            <p:cNvSpPr/>
            <p:nvPr/>
          </p:nvSpPr>
          <p:spPr>
            <a:xfrm>
              <a:off x="1496187" y="1766697"/>
              <a:ext cx="2362200" cy="990600"/>
            </a:xfrm>
            <a:custGeom>
              <a:avLst/>
              <a:gdLst/>
              <a:ahLst/>
              <a:cxnLst/>
              <a:rect l="l" t="t" r="r" b="b"/>
              <a:pathLst>
                <a:path w="2362200" h="990600">
                  <a:moveTo>
                    <a:pt x="165100" y="0"/>
                  </a:moveTo>
                  <a:lnTo>
                    <a:pt x="2197100" y="0"/>
                  </a:lnTo>
                  <a:lnTo>
                    <a:pt x="2362200" y="165100"/>
                  </a:lnTo>
                  <a:lnTo>
                    <a:pt x="2362200" y="990600"/>
                  </a:lnTo>
                  <a:lnTo>
                    <a:pt x="0" y="990600"/>
                  </a:lnTo>
                  <a:lnTo>
                    <a:pt x="0" y="165100"/>
                  </a:lnTo>
                  <a:lnTo>
                    <a:pt x="5897" y="121208"/>
                  </a:lnTo>
                  <a:lnTo>
                    <a:pt x="22540" y="81769"/>
                  </a:lnTo>
                  <a:lnTo>
                    <a:pt x="48355" y="48355"/>
                  </a:lnTo>
                  <a:lnTo>
                    <a:pt x="81769" y="22540"/>
                  </a:lnTo>
                  <a:lnTo>
                    <a:pt x="121208" y="5897"/>
                  </a:lnTo>
                  <a:lnTo>
                    <a:pt x="165100" y="0"/>
                  </a:lnTo>
                  <a:close/>
                </a:path>
              </a:pathLst>
            </a:custGeom>
            <a:ln w="12954">
              <a:solidFill>
                <a:srgbClr val="8FAADC"/>
              </a:solidFill>
            </a:ln>
          </p:spPr>
          <p:txBody>
            <a:bodyPr wrap="square" lIns="0" tIns="0" rIns="0" bIns="0" rtlCol="0"/>
            <a:lstStyle/>
            <a:p>
              <a:endParaRPr/>
            </a:p>
          </p:txBody>
        </p:sp>
      </p:grpSp>
      <p:sp>
        <p:nvSpPr>
          <p:cNvPr id="5" name="object 5"/>
          <p:cNvSpPr txBox="1"/>
          <p:nvPr/>
        </p:nvSpPr>
        <p:spPr>
          <a:xfrm>
            <a:off x="1640585" y="1887982"/>
            <a:ext cx="2036445" cy="756920"/>
          </a:xfrm>
          <a:prstGeom prst="rect">
            <a:avLst/>
          </a:prstGeom>
        </p:spPr>
        <p:txBody>
          <a:bodyPr vert="horz" wrap="square" lIns="0" tIns="12700" rIns="0" bIns="0" rtlCol="0">
            <a:spAutoFit/>
          </a:bodyPr>
          <a:lstStyle/>
          <a:p>
            <a:pPr marL="172085" marR="5080" indent="-160020">
              <a:lnSpc>
                <a:spcPct val="100000"/>
              </a:lnSpc>
              <a:spcBef>
                <a:spcPts val="100"/>
              </a:spcBef>
            </a:pPr>
            <a:r>
              <a:rPr sz="2400" b="1" dirty="0">
                <a:solidFill>
                  <a:srgbClr val="00AFEF"/>
                </a:solidFill>
                <a:latin typeface="Calibri"/>
                <a:cs typeface="Calibri"/>
              </a:rPr>
              <a:t>Problem</a:t>
            </a:r>
            <a:r>
              <a:rPr sz="2400" b="1" spc="-75" dirty="0">
                <a:solidFill>
                  <a:srgbClr val="00AFEF"/>
                </a:solidFill>
                <a:latin typeface="Calibri"/>
                <a:cs typeface="Calibri"/>
              </a:rPr>
              <a:t> </a:t>
            </a:r>
            <a:r>
              <a:rPr sz="2400" b="1" spc="-20" dirty="0">
                <a:solidFill>
                  <a:srgbClr val="00AFEF"/>
                </a:solidFill>
                <a:latin typeface="Calibri"/>
                <a:cs typeface="Calibri"/>
              </a:rPr>
              <a:t>Nature </a:t>
            </a:r>
            <a:r>
              <a:rPr sz="2400" b="1" spc="-10" dirty="0">
                <a:solidFill>
                  <a:srgbClr val="00AFEF"/>
                </a:solidFill>
                <a:latin typeface="Calibri"/>
                <a:cs typeface="Calibri"/>
              </a:rPr>
              <a:t>Identification</a:t>
            </a:r>
            <a:endParaRPr sz="2400">
              <a:latin typeface="Calibri"/>
              <a:cs typeface="Calibri"/>
            </a:endParaRPr>
          </a:p>
        </p:txBody>
      </p:sp>
      <p:pic>
        <p:nvPicPr>
          <p:cNvPr id="6" name="object 6"/>
          <p:cNvPicPr/>
          <p:nvPr/>
        </p:nvPicPr>
        <p:blipFill>
          <a:blip r:embed="rId2" cstate="print"/>
          <a:stretch>
            <a:fillRect/>
          </a:stretch>
        </p:blipFill>
        <p:spPr>
          <a:xfrm>
            <a:off x="1197550" y="3109560"/>
            <a:ext cx="527557" cy="517487"/>
          </a:xfrm>
          <a:prstGeom prst="rect">
            <a:avLst/>
          </a:prstGeom>
        </p:spPr>
      </p:pic>
      <p:pic>
        <p:nvPicPr>
          <p:cNvPr id="7" name="object 7"/>
          <p:cNvPicPr/>
          <p:nvPr/>
        </p:nvPicPr>
        <p:blipFill>
          <a:blip r:embed="rId3" cstate="print"/>
          <a:stretch>
            <a:fillRect/>
          </a:stretch>
        </p:blipFill>
        <p:spPr>
          <a:xfrm>
            <a:off x="2003913" y="3135041"/>
            <a:ext cx="603018" cy="541404"/>
          </a:xfrm>
          <a:prstGeom prst="rect">
            <a:avLst/>
          </a:prstGeom>
        </p:spPr>
      </p:pic>
      <p:pic>
        <p:nvPicPr>
          <p:cNvPr id="8" name="object 8"/>
          <p:cNvPicPr/>
          <p:nvPr/>
        </p:nvPicPr>
        <p:blipFill>
          <a:blip r:embed="rId4" cstate="print"/>
          <a:stretch>
            <a:fillRect/>
          </a:stretch>
        </p:blipFill>
        <p:spPr>
          <a:xfrm>
            <a:off x="2794100" y="3076955"/>
            <a:ext cx="601036" cy="636168"/>
          </a:xfrm>
          <a:prstGeom prst="rect">
            <a:avLst/>
          </a:prstGeom>
        </p:spPr>
      </p:pic>
      <p:pic>
        <p:nvPicPr>
          <p:cNvPr id="9" name="object 9"/>
          <p:cNvPicPr/>
          <p:nvPr/>
        </p:nvPicPr>
        <p:blipFill>
          <a:blip r:embed="rId5" cstate="print"/>
          <a:stretch>
            <a:fillRect/>
          </a:stretch>
        </p:blipFill>
        <p:spPr>
          <a:xfrm>
            <a:off x="3690759" y="3118866"/>
            <a:ext cx="580595" cy="467719"/>
          </a:xfrm>
          <a:prstGeom prst="rect">
            <a:avLst/>
          </a:prstGeom>
        </p:spPr>
      </p:pic>
      <p:grpSp>
        <p:nvGrpSpPr>
          <p:cNvPr id="10" name="object 10"/>
          <p:cNvGrpSpPr/>
          <p:nvPr/>
        </p:nvGrpSpPr>
        <p:grpSpPr>
          <a:xfrm>
            <a:off x="5313235" y="1760029"/>
            <a:ext cx="2375535" cy="1003935"/>
            <a:chOff x="5313235" y="1760029"/>
            <a:chExt cx="2375535" cy="1003935"/>
          </a:xfrm>
        </p:grpSpPr>
        <p:sp>
          <p:nvSpPr>
            <p:cNvPr id="11" name="object 11"/>
            <p:cNvSpPr/>
            <p:nvPr/>
          </p:nvSpPr>
          <p:spPr>
            <a:xfrm>
              <a:off x="5319902" y="1766697"/>
              <a:ext cx="2362200" cy="990600"/>
            </a:xfrm>
            <a:custGeom>
              <a:avLst/>
              <a:gdLst/>
              <a:ahLst/>
              <a:cxnLst/>
              <a:rect l="l" t="t" r="r" b="b"/>
              <a:pathLst>
                <a:path w="2362200" h="990600">
                  <a:moveTo>
                    <a:pt x="2197100" y="0"/>
                  </a:moveTo>
                  <a:lnTo>
                    <a:pt x="165100" y="0"/>
                  </a:lnTo>
                  <a:lnTo>
                    <a:pt x="121208" y="5897"/>
                  </a:lnTo>
                  <a:lnTo>
                    <a:pt x="81769" y="22540"/>
                  </a:lnTo>
                  <a:lnTo>
                    <a:pt x="48355" y="48355"/>
                  </a:lnTo>
                  <a:lnTo>
                    <a:pt x="22540" y="81769"/>
                  </a:lnTo>
                  <a:lnTo>
                    <a:pt x="5897" y="121208"/>
                  </a:lnTo>
                  <a:lnTo>
                    <a:pt x="0" y="165100"/>
                  </a:lnTo>
                  <a:lnTo>
                    <a:pt x="0" y="990600"/>
                  </a:lnTo>
                  <a:lnTo>
                    <a:pt x="2362200" y="990600"/>
                  </a:lnTo>
                  <a:lnTo>
                    <a:pt x="2362200" y="165100"/>
                  </a:lnTo>
                  <a:lnTo>
                    <a:pt x="2197100" y="0"/>
                  </a:lnTo>
                  <a:close/>
                </a:path>
              </a:pathLst>
            </a:custGeom>
            <a:solidFill>
              <a:srgbClr val="E1EFD9"/>
            </a:solidFill>
          </p:spPr>
          <p:txBody>
            <a:bodyPr wrap="square" lIns="0" tIns="0" rIns="0" bIns="0" rtlCol="0"/>
            <a:lstStyle/>
            <a:p>
              <a:endParaRPr/>
            </a:p>
          </p:txBody>
        </p:sp>
        <p:sp>
          <p:nvSpPr>
            <p:cNvPr id="12" name="object 12"/>
            <p:cNvSpPr/>
            <p:nvPr/>
          </p:nvSpPr>
          <p:spPr>
            <a:xfrm>
              <a:off x="5319902" y="1766697"/>
              <a:ext cx="2362200" cy="990600"/>
            </a:xfrm>
            <a:custGeom>
              <a:avLst/>
              <a:gdLst/>
              <a:ahLst/>
              <a:cxnLst/>
              <a:rect l="l" t="t" r="r" b="b"/>
              <a:pathLst>
                <a:path w="2362200" h="990600">
                  <a:moveTo>
                    <a:pt x="165100" y="0"/>
                  </a:moveTo>
                  <a:lnTo>
                    <a:pt x="2197100" y="0"/>
                  </a:lnTo>
                  <a:lnTo>
                    <a:pt x="2362200" y="165100"/>
                  </a:lnTo>
                  <a:lnTo>
                    <a:pt x="2362200" y="990600"/>
                  </a:lnTo>
                  <a:lnTo>
                    <a:pt x="0" y="990600"/>
                  </a:lnTo>
                  <a:lnTo>
                    <a:pt x="0" y="165100"/>
                  </a:lnTo>
                  <a:lnTo>
                    <a:pt x="5897" y="121208"/>
                  </a:lnTo>
                  <a:lnTo>
                    <a:pt x="22540" y="81769"/>
                  </a:lnTo>
                  <a:lnTo>
                    <a:pt x="48355" y="48355"/>
                  </a:lnTo>
                  <a:lnTo>
                    <a:pt x="81769" y="22540"/>
                  </a:lnTo>
                  <a:lnTo>
                    <a:pt x="121208" y="5897"/>
                  </a:lnTo>
                  <a:lnTo>
                    <a:pt x="165100" y="0"/>
                  </a:lnTo>
                  <a:close/>
                </a:path>
              </a:pathLst>
            </a:custGeom>
            <a:ln w="12954">
              <a:solidFill>
                <a:srgbClr val="8FAADC"/>
              </a:solidFill>
            </a:ln>
          </p:spPr>
          <p:txBody>
            <a:bodyPr wrap="square" lIns="0" tIns="0" rIns="0" bIns="0" rtlCol="0"/>
            <a:lstStyle/>
            <a:p>
              <a:endParaRPr/>
            </a:p>
          </p:txBody>
        </p:sp>
      </p:grpSp>
      <p:sp>
        <p:nvSpPr>
          <p:cNvPr id="13" name="object 13"/>
          <p:cNvSpPr txBox="1"/>
          <p:nvPr/>
        </p:nvSpPr>
        <p:spPr>
          <a:xfrm>
            <a:off x="5637276" y="1887982"/>
            <a:ext cx="1693545" cy="756920"/>
          </a:xfrm>
          <a:prstGeom prst="rect">
            <a:avLst/>
          </a:prstGeom>
        </p:spPr>
        <p:txBody>
          <a:bodyPr vert="horz" wrap="square" lIns="0" tIns="12700" rIns="0" bIns="0" rtlCol="0">
            <a:spAutoFit/>
          </a:bodyPr>
          <a:lstStyle/>
          <a:p>
            <a:pPr marL="215265" marR="5080" indent="-203200">
              <a:lnSpc>
                <a:spcPct val="100000"/>
              </a:lnSpc>
              <a:spcBef>
                <a:spcPts val="100"/>
              </a:spcBef>
            </a:pPr>
            <a:r>
              <a:rPr sz="2400" b="1" spc="-20" dirty="0">
                <a:solidFill>
                  <a:srgbClr val="00AFEF"/>
                </a:solidFill>
                <a:latin typeface="Calibri"/>
                <a:cs typeface="Calibri"/>
              </a:rPr>
              <a:t>Training</a:t>
            </a:r>
            <a:r>
              <a:rPr sz="2400" b="1" spc="-45" dirty="0">
                <a:solidFill>
                  <a:srgbClr val="00AFEF"/>
                </a:solidFill>
                <a:latin typeface="Calibri"/>
                <a:cs typeface="Calibri"/>
              </a:rPr>
              <a:t> </a:t>
            </a:r>
            <a:r>
              <a:rPr sz="2400" b="1" spc="-25" dirty="0">
                <a:solidFill>
                  <a:srgbClr val="00AFEF"/>
                </a:solidFill>
                <a:latin typeface="Calibri"/>
                <a:cs typeface="Calibri"/>
              </a:rPr>
              <a:t>Data </a:t>
            </a:r>
            <a:r>
              <a:rPr sz="2400" b="1" spc="-10" dirty="0">
                <a:solidFill>
                  <a:srgbClr val="00AFEF"/>
                </a:solidFill>
                <a:latin typeface="Calibri"/>
                <a:cs typeface="Calibri"/>
              </a:rPr>
              <a:t>Collection</a:t>
            </a:r>
            <a:endParaRPr sz="2400">
              <a:latin typeface="Calibri"/>
              <a:cs typeface="Calibri"/>
            </a:endParaRPr>
          </a:p>
        </p:txBody>
      </p:sp>
      <p:pic>
        <p:nvPicPr>
          <p:cNvPr id="14" name="object 14"/>
          <p:cNvPicPr/>
          <p:nvPr/>
        </p:nvPicPr>
        <p:blipFill>
          <a:blip r:embed="rId6" cstate="print"/>
          <a:stretch>
            <a:fillRect/>
          </a:stretch>
        </p:blipFill>
        <p:spPr>
          <a:xfrm>
            <a:off x="5810250" y="2895600"/>
            <a:ext cx="1486661" cy="1130275"/>
          </a:xfrm>
          <a:prstGeom prst="rect">
            <a:avLst/>
          </a:prstGeom>
        </p:spPr>
      </p:pic>
      <p:grpSp>
        <p:nvGrpSpPr>
          <p:cNvPr id="15" name="object 15"/>
          <p:cNvGrpSpPr/>
          <p:nvPr/>
        </p:nvGrpSpPr>
        <p:grpSpPr>
          <a:xfrm>
            <a:off x="9137713" y="1746313"/>
            <a:ext cx="2375535" cy="1003935"/>
            <a:chOff x="9137713" y="1746313"/>
            <a:chExt cx="2375535" cy="1003935"/>
          </a:xfrm>
        </p:grpSpPr>
        <p:sp>
          <p:nvSpPr>
            <p:cNvPr id="16" name="object 16"/>
            <p:cNvSpPr/>
            <p:nvPr/>
          </p:nvSpPr>
          <p:spPr>
            <a:xfrm>
              <a:off x="9144381" y="1752981"/>
              <a:ext cx="2362200" cy="990600"/>
            </a:xfrm>
            <a:custGeom>
              <a:avLst/>
              <a:gdLst/>
              <a:ahLst/>
              <a:cxnLst/>
              <a:rect l="l" t="t" r="r" b="b"/>
              <a:pathLst>
                <a:path w="2362200" h="990600">
                  <a:moveTo>
                    <a:pt x="2197100" y="0"/>
                  </a:moveTo>
                  <a:lnTo>
                    <a:pt x="165100" y="0"/>
                  </a:lnTo>
                  <a:lnTo>
                    <a:pt x="121208" y="5897"/>
                  </a:lnTo>
                  <a:lnTo>
                    <a:pt x="81769" y="22540"/>
                  </a:lnTo>
                  <a:lnTo>
                    <a:pt x="48355" y="48355"/>
                  </a:lnTo>
                  <a:lnTo>
                    <a:pt x="22540" y="81769"/>
                  </a:lnTo>
                  <a:lnTo>
                    <a:pt x="5897" y="121208"/>
                  </a:lnTo>
                  <a:lnTo>
                    <a:pt x="0" y="165100"/>
                  </a:lnTo>
                  <a:lnTo>
                    <a:pt x="0" y="990600"/>
                  </a:lnTo>
                  <a:lnTo>
                    <a:pt x="2362200" y="990600"/>
                  </a:lnTo>
                  <a:lnTo>
                    <a:pt x="2362200" y="165100"/>
                  </a:lnTo>
                  <a:lnTo>
                    <a:pt x="2197100" y="0"/>
                  </a:lnTo>
                  <a:close/>
                </a:path>
              </a:pathLst>
            </a:custGeom>
            <a:solidFill>
              <a:srgbClr val="E1EFD9"/>
            </a:solidFill>
          </p:spPr>
          <p:txBody>
            <a:bodyPr wrap="square" lIns="0" tIns="0" rIns="0" bIns="0" rtlCol="0"/>
            <a:lstStyle/>
            <a:p>
              <a:endParaRPr/>
            </a:p>
          </p:txBody>
        </p:sp>
        <p:sp>
          <p:nvSpPr>
            <p:cNvPr id="17" name="object 17"/>
            <p:cNvSpPr/>
            <p:nvPr/>
          </p:nvSpPr>
          <p:spPr>
            <a:xfrm>
              <a:off x="9144381" y="1752981"/>
              <a:ext cx="2362200" cy="990600"/>
            </a:xfrm>
            <a:custGeom>
              <a:avLst/>
              <a:gdLst/>
              <a:ahLst/>
              <a:cxnLst/>
              <a:rect l="l" t="t" r="r" b="b"/>
              <a:pathLst>
                <a:path w="2362200" h="990600">
                  <a:moveTo>
                    <a:pt x="165100" y="0"/>
                  </a:moveTo>
                  <a:lnTo>
                    <a:pt x="2197100" y="0"/>
                  </a:lnTo>
                  <a:lnTo>
                    <a:pt x="2362200" y="165100"/>
                  </a:lnTo>
                  <a:lnTo>
                    <a:pt x="2362200" y="990600"/>
                  </a:lnTo>
                  <a:lnTo>
                    <a:pt x="0" y="990600"/>
                  </a:lnTo>
                  <a:lnTo>
                    <a:pt x="0" y="165100"/>
                  </a:lnTo>
                  <a:lnTo>
                    <a:pt x="5897" y="121208"/>
                  </a:lnTo>
                  <a:lnTo>
                    <a:pt x="22540" y="81769"/>
                  </a:lnTo>
                  <a:lnTo>
                    <a:pt x="48355" y="48355"/>
                  </a:lnTo>
                  <a:lnTo>
                    <a:pt x="81769" y="22540"/>
                  </a:lnTo>
                  <a:lnTo>
                    <a:pt x="121208" y="5897"/>
                  </a:lnTo>
                  <a:lnTo>
                    <a:pt x="165100" y="0"/>
                  </a:lnTo>
                  <a:close/>
                </a:path>
              </a:pathLst>
            </a:custGeom>
            <a:ln w="12954">
              <a:solidFill>
                <a:srgbClr val="8FAADC"/>
              </a:solidFill>
            </a:ln>
          </p:spPr>
          <p:txBody>
            <a:bodyPr wrap="square" lIns="0" tIns="0" rIns="0" bIns="0" rtlCol="0"/>
            <a:lstStyle/>
            <a:p>
              <a:endParaRPr/>
            </a:p>
          </p:txBody>
        </p:sp>
      </p:grpSp>
      <p:sp>
        <p:nvSpPr>
          <p:cNvPr id="18" name="object 18"/>
          <p:cNvSpPr txBox="1"/>
          <p:nvPr/>
        </p:nvSpPr>
        <p:spPr>
          <a:xfrm>
            <a:off x="9346692" y="2056891"/>
            <a:ext cx="192468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AFEF"/>
                </a:solidFill>
                <a:latin typeface="Calibri"/>
                <a:cs typeface="Calibri"/>
              </a:rPr>
              <a:t>Model</a:t>
            </a:r>
            <a:r>
              <a:rPr sz="2400" b="1" spc="-65" dirty="0">
                <a:solidFill>
                  <a:srgbClr val="00AFEF"/>
                </a:solidFill>
                <a:latin typeface="Calibri"/>
                <a:cs typeface="Calibri"/>
              </a:rPr>
              <a:t> </a:t>
            </a:r>
            <a:r>
              <a:rPr sz="2400" b="1" spc="-10" dirty="0">
                <a:solidFill>
                  <a:srgbClr val="00AFEF"/>
                </a:solidFill>
                <a:latin typeface="Calibri"/>
                <a:cs typeface="Calibri"/>
              </a:rPr>
              <a:t>Training</a:t>
            </a:r>
            <a:endParaRPr sz="2400">
              <a:latin typeface="Calibri"/>
              <a:cs typeface="Calibri"/>
            </a:endParaRPr>
          </a:p>
        </p:txBody>
      </p:sp>
      <p:sp>
        <p:nvSpPr>
          <p:cNvPr id="19" name="object 19"/>
          <p:cNvSpPr/>
          <p:nvPr/>
        </p:nvSpPr>
        <p:spPr>
          <a:xfrm>
            <a:off x="9954768" y="2996183"/>
            <a:ext cx="1018540" cy="666750"/>
          </a:xfrm>
          <a:custGeom>
            <a:avLst/>
            <a:gdLst/>
            <a:ahLst/>
            <a:cxnLst/>
            <a:rect l="l" t="t" r="r" b="b"/>
            <a:pathLst>
              <a:path w="1018540" h="666750">
                <a:moveTo>
                  <a:pt x="1018031" y="0"/>
                </a:moveTo>
                <a:lnTo>
                  <a:pt x="0" y="0"/>
                </a:lnTo>
                <a:lnTo>
                  <a:pt x="0" y="666750"/>
                </a:lnTo>
                <a:lnTo>
                  <a:pt x="1018031" y="666750"/>
                </a:lnTo>
                <a:lnTo>
                  <a:pt x="1018031" y="0"/>
                </a:lnTo>
                <a:close/>
              </a:path>
            </a:pathLst>
          </a:custGeom>
          <a:solidFill>
            <a:srgbClr val="E1EFD9"/>
          </a:solidFill>
        </p:spPr>
        <p:txBody>
          <a:bodyPr wrap="square" lIns="0" tIns="0" rIns="0" bIns="0" rtlCol="0"/>
          <a:lstStyle/>
          <a:p>
            <a:endParaRPr/>
          </a:p>
        </p:txBody>
      </p:sp>
      <p:sp>
        <p:nvSpPr>
          <p:cNvPr id="20" name="object 20"/>
          <p:cNvSpPr txBox="1"/>
          <p:nvPr/>
        </p:nvSpPr>
        <p:spPr>
          <a:xfrm>
            <a:off x="10063467" y="2810709"/>
            <a:ext cx="903605" cy="732790"/>
          </a:xfrm>
          <a:prstGeom prst="rect">
            <a:avLst/>
          </a:prstGeom>
        </p:spPr>
        <p:txBody>
          <a:bodyPr vert="horz" wrap="square" lIns="0" tIns="11430" rIns="0" bIns="0" rtlCol="0">
            <a:spAutoFit/>
          </a:bodyPr>
          <a:lstStyle/>
          <a:p>
            <a:pPr marL="38100">
              <a:lnSpc>
                <a:spcPct val="100000"/>
              </a:lnSpc>
              <a:spcBef>
                <a:spcPts val="90"/>
              </a:spcBef>
            </a:pPr>
            <a:r>
              <a:rPr sz="3700" i="1" spc="80" dirty="0">
                <a:solidFill>
                  <a:srgbClr val="FF0000"/>
                </a:solidFill>
                <a:latin typeface="Times New Roman"/>
                <a:cs typeface="Times New Roman"/>
              </a:rPr>
              <a:t>f</a:t>
            </a:r>
            <a:r>
              <a:rPr sz="3700" i="1" spc="235" dirty="0">
                <a:solidFill>
                  <a:srgbClr val="FF0000"/>
                </a:solidFill>
                <a:latin typeface="Times New Roman"/>
                <a:cs typeface="Times New Roman"/>
              </a:rPr>
              <a:t> </a:t>
            </a:r>
            <a:r>
              <a:rPr sz="6975" spc="-419" baseline="-5376" dirty="0">
                <a:solidFill>
                  <a:srgbClr val="FF0000"/>
                </a:solidFill>
                <a:latin typeface="Symbol"/>
                <a:cs typeface="Symbol"/>
              </a:rPr>
              <a:t></a:t>
            </a:r>
            <a:r>
              <a:rPr sz="3700" b="1" spc="-280" dirty="0">
                <a:solidFill>
                  <a:srgbClr val="FF0000"/>
                </a:solidFill>
                <a:latin typeface="Times New Roman"/>
                <a:cs typeface="Times New Roman"/>
              </a:rPr>
              <a:t>x</a:t>
            </a:r>
            <a:r>
              <a:rPr sz="6975" spc="-419" baseline="-5376" dirty="0">
                <a:solidFill>
                  <a:srgbClr val="FF0000"/>
                </a:solidFill>
                <a:latin typeface="Symbol"/>
                <a:cs typeface="Symbol"/>
              </a:rPr>
              <a:t></a:t>
            </a:r>
            <a:endParaRPr sz="6975" baseline="-5376">
              <a:latin typeface="Symbol"/>
              <a:cs typeface="Symbol"/>
            </a:endParaRPr>
          </a:p>
        </p:txBody>
      </p:sp>
      <p:grpSp>
        <p:nvGrpSpPr>
          <p:cNvPr id="21" name="object 21"/>
          <p:cNvGrpSpPr/>
          <p:nvPr/>
        </p:nvGrpSpPr>
        <p:grpSpPr>
          <a:xfrm>
            <a:off x="7135939" y="4609147"/>
            <a:ext cx="2375535" cy="1003935"/>
            <a:chOff x="7135939" y="4609147"/>
            <a:chExt cx="2375535" cy="1003935"/>
          </a:xfrm>
        </p:grpSpPr>
        <p:sp>
          <p:nvSpPr>
            <p:cNvPr id="22" name="object 22"/>
            <p:cNvSpPr/>
            <p:nvPr/>
          </p:nvSpPr>
          <p:spPr>
            <a:xfrm>
              <a:off x="7142607" y="4615814"/>
              <a:ext cx="2362200" cy="990600"/>
            </a:xfrm>
            <a:custGeom>
              <a:avLst/>
              <a:gdLst/>
              <a:ahLst/>
              <a:cxnLst/>
              <a:rect l="l" t="t" r="r" b="b"/>
              <a:pathLst>
                <a:path w="2362200" h="990600">
                  <a:moveTo>
                    <a:pt x="2197100" y="0"/>
                  </a:moveTo>
                  <a:lnTo>
                    <a:pt x="165100" y="0"/>
                  </a:lnTo>
                  <a:lnTo>
                    <a:pt x="121208" y="5897"/>
                  </a:lnTo>
                  <a:lnTo>
                    <a:pt x="81769" y="22540"/>
                  </a:lnTo>
                  <a:lnTo>
                    <a:pt x="48355" y="48355"/>
                  </a:lnTo>
                  <a:lnTo>
                    <a:pt x="22540" y="81769"/>
                  </a:lnTo>
                  <a:lnTo>
                    <a:pt x="5897" y="121208"/>
                  </a:lnTo>
                  <a:lnTo>
                    <a:pt x="0" y="165100"/>
                  </a:lnTo>
                  <a:lnTo>
                    <a:pt x="0" y="990600"/>
                  </a:lnTo>
                  <a:lnTo>
                    <a:pt x="2362200" y="990600"/>
                  </a:lnTo>
                  <a:lnTo>
                    <a:pt x="2362200" y="165100"/>
                  </a:lnTo>
                  <a:lnTo>
                    <a:pt x="2197100" y="0"/>
                  </a:lnTo>
                  <a:close/>
                </a:path>
              </a:pathLst>
            </a:custGeom>
            <a:solidFill>
              <a:srgbClr val="E1EFD9"/>
            </a:solidFill>
          </p:spPr>
          <p:txBody>
            <a:bodyPr wrap="square" lIns="0" tIns="0" rIns="0" bIns="0" rtlCol="0"/>
            <a:lstStyle/>
            <a:p>
              <a:endParaRPr/>
            </a:p>
          </p:txBody>
        </p:sp>
        <p:sp>
          <p:nvSpPr>
            <p:cNvPr id="23" name="object 23"/>
            <p:cNvSpPr/>
            <p:nvPr/>
          </p:nvSpPr>
          <p:spPr>
            <a:xfrm>
              <a:off x="7142607" y="4615814"/>
              <a:ext cx="2362200" cy="990600"/>
            </a:xfrm>
            <a:custGeom>
              <a:avLst/>
              <a:gdLst/>
              <a:ahLst/>
              <a:cxnLst/>
              <a:rect l="l" t="t" r="r" b="b"/>
              <a:pathLst>
                <a:path w="2362200" h="990600">
                  <a:moveTo>
                    <a:pt x="165100" y="0"/>
                  </a:moveTo>
                  <a:lnTo>
                    <a:pt x="2197100" y="0"/>
                  </a:lnTo>
                  <a:lnTo>
                    <a:pt x="2362200" y="165100"/>
                  </a:lnTo>
                  <a:lnTo>
                    <a:pt x="2362200" y="990600"/>
                  </a:lnTo>
                  <a:lnTo>
                    <a:pt x="0" y="990600"/>
                  </a:lnTo>
                  <a:lnTo>
                    <a:pt x="0" y="165100"/>
                  </a:lnTo>
                  <a:lnTo>
                    <a:pt x="5897" y="121208"/>
                  </a:lnTo>
                  <a:lnTo>
                    <a:pt x="22540" y="81769"/>
                  </a:lnTo>
                  <a:lnTo>
                    <a:pt x="48355" y="48355"/>
                  </a:lnTo>
                  <a:lnTo>
                    <a:pt x="81769" y="22540"/>
                  </a:lnTo>
                  <a:lnTo>
                    <a:pt x="121208" y="5897"/>
                  </a:lnTo>
                  <a:lnTo>
                    <a:pt x="165100" y="0"/>
                  </a:lnTo>
                  <a:close/>
                </a:path>
              </a:pathLst>
            </a:custGeom>
            <a:ln w="12954">
              <a:solidFill>
                <a:srgbClr val="8FAADC"/>
              </a:solidFill>
            </a:ln>
          </p:spPr>
          <p:txBody>
            <a:bodyPr wrap="square" lIns="0" tIns="0" rIns="0" bIns="0" rtlCol="0"/>
            <a:lstStyle/>
            <a:p>
              <a:endParaRPr/>
            </a:p>
          </p:txBody>
        </p:sp>
      </p:grpSp>
      <p:sp>
        <p:nvSpPr>
          <p:cNvPr id="24" name="object 24"/>
          <p:cNvSpPr txBox="1"/>
          <p:nvPr/>
        </p:nvSpPr>
        <p:spPr>
          <a:xfrm>
            <a:off x="7652511" y="4737100"/>
            <a:ext cx="1308100" cy="757555"/>
          </a:xfrm>
          <a:prstGeom prst="rect">
            <a:avLst/>
          </a:prstGeom>
        </p:spPr>
        <p:txBody>
          <a:bodyPr vert="horz" wrap="square" lIns="0" tIns="12700" rIns="0" bIns="0" rtlCol="0">
            <a:spAutoFit/>
          </a:bodyPr>
          <a:lstStyle/>
          <a:p>
            <a:pPr marL="12700" marR="5080" indent="229870">
              <a:lnSpc>
                <a:spcPct val="100000"/>
              </a:lnSpc>
              <a:spcBef>
                <a:spcPts val="100"/>
              </a:spcBef>
            </a:pPr>
            <a:r>
              <a:rPr sz="2400" b="1" spc="-10" dirty="0">
                <a:solidFill>
                  <a:srgbClr val="00AFEF"/>
                </a:solidFill>
                <a:latin typeface="Calibri"/>
                <a:cs typeface="Calibri"/>
              </a:rPr>
              <a:t>Model </a:t>
            </a:r>
            <a:r>
              <a:rPr sz="2400" b="1" spc="-30" dirty="0">
                <a:solidFill>
                  <a:srgbClr val="00AFEF"/>
                </a:solidFill>
                <a:latin typeface="Calibri"/>
                <a:cs typeface="Calibri"/>
              </a:rPr>
              <a:t>Validation</a:t>
            </a:r>
            <a:endParaRPr sz="2400">
              <a:latin typeface="Calibri"/>
              <a:cs typeface="Calibri"/>
            </a:endParaRPr>
          </a:p>
        </p:txBody>
      </p:sp>
      <p:pic>
        <p:nvPicPr>
          <p:cNvPr id="25" name="object 25"/>
          <p:cNvPicPr/>
          <p:nvPr/>
        </p:nvPicPr>
        <p:blipFill>
          <a:blip r:embed="rId7" cstate="print"/>
          <a:stretch>
            <a:fillRect/>
          </a:stretch>
        </p:blipFill>
        <p:spPr>
          <a:xfrm>
            <a:off x="7930133" y="5808726"/>
            <a:ext cx="909066" cy="896874"/>
          </a:xfrm>
          <a:prstGeom prst="rect">
            <a:avLst/>
          </a:prstGeom>
        </p:spPr>
      </p:pic>
      <p:grpSp>
        <p:nvGrpSpPr>
          <p:cNvPr id="26" name="object 26"/>
          <p:cNvGrpSpPr/>
          <p:nvPr/>
        </p:nvGrpSpPr>
        <p:grpSpPr>
          <a:xfrm>
            <a:off x="3311461" y="4597717"/>
            <a:ext cx="2375535" cy="1003935"/>
            <a:chOff x="3311461" y="4597717"/>
            <a:chExt cx="2375535" cy="1003935"/>
          </a:xfrm>
        </p:grpSpPr>
        <p:sp>
          <p:nvSpPr>
            <p:cNvPr id="27" name="object 27"/>
            <p:cNvSpPr/>
            <p:nvPr/>
          </p:nvSpPr>
          <p:spPr>
            <a:xfrm>
              <a:off x="3318128" y="4604384"/>
              <a:ext cx="2362200" cy="990600"/>
            </a:xfrm>
            <a:custGeom>
              <a:avLst/>
              <a:gdLst/>
              <a:ahLst/>
              <a:cxnLst/>
              <a:rect l="l" t="t" r="r" b="b"/>
              <a:pathLst>
                <a:path w="2362200" h="990600">
                  <a:moveTo>
                    <a:pt x="2197100" y="0"/>
                  </a:moveTo>
                  <a:lnTo>
                    <a:pt x="165100" y="0"/>
                  </a:lnTo>
                  <a:lnTo>
                    <a:pt x="121208" y="5897"/>
                  </a:lnTo>
                  <a:lnTo>
                    <a:pt x="81769" y="22540"/>
                  </a:lnTo>
                  <a:lnTo>
                    <a:pt x="48355" y="48355"/>
                  </a:lnTo>
                  <a:lnTo>
                    <a:pt x="22540" y="81769"/>
                  </a:lnTo>
                  <a:lnTo>
                    <a:pt x="5897" y="121208"/>
                  </a:lnTo>
                  <a:lnTo>
                    <a:pt x="0" y="165100"/>
                  </a:lnTo>
                  <a:lnTo>
                    <a:pt x="0" y="990599"/>
                  </a:lnTo>
                  <a:lnTo>
                    <a:pt x="2362200" y="990599"/>
                  </a:lnTo>
                  <a:lnTo>
                    <a:pt x="2362200" y="165100"/>
                  </a:lnTo>
                  <a:lnTo>
                    <a:pt x="2197100" y="0"/>
                  </a:lnTo>
                  <a:close/>
                </a:path>
              </a:pathLst>
            </a:custGeom>
            <a:solidFill>
              <a:srgbClr val="E1EFD9"/>
            </a:solidFill>
          </p:spPr>
          <p:txBody>
            <a:bodyPr wrap="square" lIns="0" tIns="0" rIns="0" bIns="0" rtlCol="0"/>
            <a:lstStyle/>
            <a:p>
              <a:endParaRPr/>
            </a:p>
          </p:txBody>
        </p:sp>
        <p:sp>
          <p:nvSpPr>
            <p:cNvPr id="28" name="object 28"/>
            <p:cNvSpPr/>
            <p:nvPr/>
          </p:nvSpPr>
          <p:spPr>
            <a:xfrm>
              <a:off x="3318128" y="4604384"/>
              <a:ext cx="2362200" cy="990600"/>
            </a:xfrm>
            <a:custGeom>
              <a:avLst/>
              <a:gdLst/>
              <a:ahLst/>
              <a:cxnLst/>
              <a:rect l="l" t="t" r="r" b="b"/>
              <a:pathLst>
                <a:path w="2362200" h="990600">
                  <a:moveTo>
                    <a:pt x="165100" y="0"/>
                  </a:moveTo>
                  <a:lnTo>
                    <a:pt x="2197100" y="0"/>
                  </a:lnTo>
                  <a:lnTo>
                    <a:pt x="2362200" y="165100"/>
                  </a:lnTo>
                  <a:lnTo>
                    <a:pt x="2362200" y="990599"/>
                  </a:lnTo>
                  <a:lnTo>
                    <a:pt x="0" y="990599"/>
                  </a:lnTo>
                  <a:lnTo>
                    <a:pt x="0" y="165100"/>
                  </a:lnTo>
                  <a:lnTo>
                    <a:pt x="5897" y="121208"/>
                  </a:lnTo>
                  <a:lnTo>
                    <a:pt x="22540" y="81769"/>
                  </a:lnTo>
                  <a:lnTo>
                    <a:pt x="48355" y="48355"/>
                  </a:lnTo>
                  <a:lnTo>
                    <a:pt x="81769" y="22540"/>
                  </a:lnTo>
                  <a:lnTo>
                    <a:pt x="121208" y="5897"/>
                  </a:lnTo>
                  <a:lnTo>
                    <a:pt x="165100" y="0"/>
                  </a:lnTo>
                  <a:close/>
                </a:path>
              </a:pathLst>
            </a:custGeom>
            <a:ln w="12953">
              <a:solidFill>
                <a:srgbClr val="8FAADC"/>
              </a:solidFill>
            </a:ln>
          </p:spPr>
          <p:txBody>
            <a:bodyPr wrap="square" lIns="0" tIns="0" rIns="0" bIns="0" rtlCol="0"/>
            <a:lstStyle/>
            <a:p>
              <a:endParaRPr/>
            </a:p>
          </p:txBody>
        </p:sp>
      </p:grpSp>
      <p:sp>
        <p:nvSpPr>
          <p:cNvPr id="29" name="object 29"/>
          <p:cNvSpPr txBox="1"/>
          <p:nvPr/>
        </p:nvSpPr>
        <p:spPr>
          <a:xfrm>
            <a:off x="3690873" y="4725923"/>
            <a:ext cx="1583690" cy="757555"/>
          </a:xfrm>
          <a:prstGeom prst="rect">
            <a:avLst/>
          </a:prstGeom>
        </p:spPr>
        <p:txBody>
          <a:bodyPr vert="horz" wrap="square" lIns="0" tIns="12700" rIns="0" bIns="0" rtlCol="0">
            <a:spAutoFit/>
          </a:bodyPr>
          <a:lstStyle/>
          <a:p>
            <a:pPr marL="12700" marR="5080" indent="367030">
              <a:lnSpc>
                <a:spcPct val="100000"/>
              </a:lnSpc>
              <a:spcBef>
                <a:spcPts val="100"/>
              </a:spcBef>
            </a:pPr>
            <a:r>
              <a:rPr sz="2400" b="1" spc="-10" dirty="0">
                <a:solidFill>
                  <a:srgbClr val="00AFEF"/>
                </a:solidFill>
                <a:latin typeface="Calibri"/>
                <a:cs typeface="Calibri"/>
              </a:rPr>
              <a:t>Model Deployment</a:t>
            </a:r>
            <a:endParaRPr sz="2400">
              <a:latin typeface="Calibri"/>
              <a:cs typeface="Calibri"/>
            </a:endParaRPr>
          </a:p>
        </p:txBody>
      </p:sp>
      <p:pic>
        <p:nvPicPr>
          <p:cNvPr id="30" name="object 30"/>
          <p:cNvPicPr/>
          <p:nvPr/>
        </p:nvPicPr>
        <p:blipFill>
          <a:blip r:embed="rId8" cstate="print"/>
          <a:stretch>
            <a:fillRect/>
          </a:stretch>
        </p:blipFill>
        <p:spPr>
          <a:xfrm>
            <a:off x="3807714" y="5783579"/>
            <a:ext cx="1256476" cy="730143"/>
          </a:xfrm>
          <a:prstGeom prst="rect">
            <a:avLst/>
          </a:prstGeom>
        </p:spPr>
      </p:pic>
      <p:sp>
        <p:nvSpPr>
          <p:cNvPr id="31" name="object 31"/>
          <p:cNvSpPr/>
          <p:nvPr/>
        </p:nvSpPr>
        <p:spPr>
          <a:xfrm>
            <a:off x="3858006" y="2210561"/>
            <a:ext cx="7883525" cy="2938780"/>
          </a:xfrm>
          <a:custGeom>
            <a:avLst/>
            <a:gdLst/>
            <a:ahLst/>
            <a:cxnLst/>
            <a:rect l="l" t="t" r="r" b="b"/>
            <a:pathLst>
              <a:path w="7883525" h="2938779">
                <a:moveTo>
                  <a:pt x="1462024" y="51054"/>
                </a:moveTo>
                <a:lnTo>
                  <a:pt x="1449324" y="44704"/>
                </a:lnTo>
                <a:lnTo>
                  <a:pt x="1385824" y="12954"/>
                </a:lnTo>
                <a:lnTo>
                  <a:pt x="1385824" y="44704"/>
                </a:lnTo>
                <a:lnTo>
                  <a:pt x="0" y="44704"/>
                </a:lnTo>
                <a:lnTo>
                  <a:pt x="0" y="57404"/>
                </a:lnTo>
                <a:lnTo>
                  <a:pt x="1385824" y="57404"/>
                </a:lnTo>
                <a:lnTo>
                  <a:pt x="1385824" y="89154"/>
                </a:lnTo>
                <a:lnTo>
                  <a:pt x="1449324" y="57404"/>
                </a:lnTo>
                <a:lnTo>
                  <a:pt x="1462024" y="51054"/>
                </a:lnTo>
                <a:close/>
              </a:path>
              <a:path w="7883525" h="2938779">
                <a:moveTo>
                  <a:pt x="3283966" y="2893568"/>
                </a:moveTo>
                <a:lnTo>
                  <a:pt x="1898180" y="2883001"/>
                </a:lnTo>
                <a:lnTo>
                  <a:pt x="1898396" y="2851277"/>
                </a:lnTo>
                <a:lnTo>
                  <a:pt x="1821942" y="2888742"/>
                </a:lnTo>
                <a:lnTo>
                  <a:pt x="1897888" y="2927477"/>
                </a:lnTo>
                <a:lnTo>
                  <a:pt x="1898091" y="2895701"/>
                </a:lnTo>
                <a:lnTo>
                  <a:pt x="3283839" y="2906268"/>
                </a:lnTo>
                <a:lnTo>
                  <a:pt x="3283966" y="2893568"/>
                </a:lnTo>
                <a:close/>
              </a:path>
              <a:path w="7883525" h="2938779">
                <a:moveTo>
                  <a:pt x="5285740" y="37338"/>
                </a:moveTo>
                <a:lnTo>
                  <a:pt x="5274018" y="31623"/>
                </a:lnTo>
                <a:lnTo>
                  <a:pt x="5209159" y="0"/>
                </a:lnTo>
                <a:lnTo>
                  <a:pt x="5209464" y="31750"/>
                </a:lnTo>
                <a:lnTo>
                  <a:pt x="3823716" y="44831"/>
                </a:lnTo>
                <a:lnTo>
                  <a:pt x="3823716" y="57531"/>
                </a:lnTo>
                <a:lnTo>
                  <a:pt x="5209591" y="44450"/>
                </a:lnTo>
                <a:lnTo>
                  <a:pt x="5209921" y="76200"/>
                </a:lnTo>
                <a:lnTo>
                  <a:pt x="5285740" y="37338"/>
                </a:lnTo>
                <a:close/>
              </a:path>
              <a:path w="7883525" h="2938779">
                <a:moveTo>
                  <a:pt x="7883398" y="30988"/>
                </a:moveTo>
                <a:lnTo>
                  <a:pt x="7648448" y="30988"/>
                </a:lnTo>
                <a:lnTo>
                  <a:pt x="7648448" y="43688"/>
                </a:lnTo>
                <a:lnTo>
                  <a:pt x="7870698" y="43688"/>
                </a:lnTo>
                <a:lnTo>
                  <a:pt x="7870698" y="2893949"/>
                </a:lnTo>
                <a:lnTo>
                  <a:pt x="5722620" y="2893949"/>
                </a:lnTo>
                <a:lnTo>
                  <a:pt x="5722620" y="2862199"/>
                </a:lnTo>
                <a:lnTo>
                  <a:pt x="5646420" y="2900299"/>
                </a:lnTo>
                <a:lnTo>
                  <a:pt x="5722620" y="2938399"/>
                </a:lnTo>
                <a:lnTo>
                  <a:pt x="5722620" y="2906649"/>
                </a:lnTo>
                <a:lnTo>
                  <a:pt x="7883398" y="2906649"/>
                </a:lnTo>
                <a:lnTo>
                  <a:pt x="7883398" y="2900299"/>
                </a:lnTo>
                <a:lnTo>
                  <a:pt x="7883398" y="2893949"/>
                </a:lnTo>
                <a:lnTo>
                  <a:pt x="7883398" y="43688"/>
                </a:lnTo>
                <a:lnTo>
                  <a:pt x="7883398" y="37338"/>
                </a:lnTo>
                <a:lnTo>
                  <a:pt x="7883398" y="30988"/>
                </a:lnTo>
                <a:close/>
              </a:path>
            </a:pathLst>
          </a:custGeom>
          <a:solidFill>
            <a:srgbClr val="000000"/>
          </a:solidFill>
        </p:spPr>
        <p:txBody>
          <a:bodyPr wrap="square" lIns="0" tIns="0" rIns="0" bIns="0" rtlCol="0"/>
          <a:lstStyle/>
          <a:p>
            <a:endParaRPr/>
          </a:p>
        </p:txBody>
      </p:sp>
      <p:sp>
        <p:nvSpPr>
          <p:cNvPr id="32" name="object 32"/>
          <p:cNvSpPr txBox="1">
            <a:spLocks noGrp="1"/>
          </p:cNvSpPr>
          <p:nvPr>
            <p:ph type="title"/>
          </p:nvPr>
        </p:nvSpPr>
        <p:spPr>
          <a:prstGeom prst="rect">
            <a:avLst/>
          </a:prstGeom>
        </p:spPr>
        <p:txBody>
          <a:bodyPr vert="horz" wrap="square" lIns="0" tIns="137160" rIns="0" bIns="0" rtlCol="0">
            <a:spAutoFit/>
          </a:bodyPr>
          <a:lstStyle/>
          <a:p>
            <a:pPr algn="ctr">
              <a:lnSpc>
                <a:spcPct val="100000"/>
              </a:lnSpc>
              <a:spcBef>
                <a:spcPts val="100"/>
              </a:spcBef>
            </a:pPr>
            <a:r>
              <a:rPr dirty="0"/>
              <a:t>Machine</a:t>
            </a:r>
            <a:r>
              <a:rPr spc="-145" dirty="0"/>
              <a:t> </a:t>
            </a:r>
            <a:r>
              <a:rPr dirty="0"/>
              <a:t>Learning:</a:t>
            </a:r>
            <a:r>
              <a:rPr spc="-145" dirty="0"/>
              <a:t> </a:t>
            </a:r>
            <a:r>
              <a:rPr spc="-10" dirty="0"/>
              <a:t>Overview</a:t>
            </a:r>
          </a:p>
          <a:p>
            <a:pPr marL="635" algn="ctr">
              <a:lnSpc>
                <a:spcPct val="100000"/>
              </a:lnSpc>
              <a:spcBef>
                <a:spcPts val="50"/>
              </a:spcBef>
            </a:pPr>
            <a:r>
              <a:rPr sz="2800" b="0" i="1" dirty="0">
                <a:solidFill>
                  <a:srgbClr val="006FC0"/>
                </a:solidFill>
                <a:latin typeface="Calibri"/>
                <a:cs typeface="Calibri"/>
              </a:rPr>
              <a:t>Typical</a:t>
            </a:r>
            <a:r>
              <a:rPr sz="2800" b="0" i="1" spc="-165" dirty="0">
                <a:solidFill>
                  <a:srgbClr val="006FC0"/>
                </a:solidFill>
                <a:latin typeface="Calibri"/>
                <a:cs typeface="Calibri"/>
              </a:rPr>
              <a:t> </a:t>
            </a:r>
            <a:r>
              <a:rPr sz="2800" b="0" i="1" spc="-20" dirty="0">
                <a:solidFill>
                  <a:srgbClr val="006FC0"/>
                </a:solidFill>
                <a:latin typeface="Calibri"/>
                <a:cs typeface="Calibri"/>
              </a:rPr>
              <a:t>Flow</a:t>
            </a:r>
            <a:endParaRPr sz="2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292840" y="0"/>
            <a:ext cx="899160" cy="6858000"/>
          </a:xfrm>
          <a:custGeom>
            <a:avLst/>
            <a:gdLst/>
            <a:ahLst/>
            <a:cxnLst/>
            <a:rect l="l" t="t" r="r" b="b"/>
            <a:pathLst>
              <a:path w="899159" h="6858000">
                <a:moveTo>
                  <a:pt x="0" y="0"/>
                </a:moveTo>
                <a:lnTo>
                  <a:pt x="0" y="6858000"/>
                </a:lnTo>
                <a:lnTo>
                  <a:pt x="899159" y="6858000"/>
                </a:lnTo>
                <a:lnTo>
                  <a:pt x="899159" y="0"/>
                </a:lnTo>
                <a:lnTo>
                  <a:pt x="0" y="0"/>
                </a:lnTo>
                <a:close/>
              </a:path>
            </a:pathLst>
          </a:custGeom>
          <a:solidFill>
            <a:srgbClr val="353537"/>
          </a:solidFill>
        </p:spPr>
        <p:txBody>
          <a:bodyPr wrap="square" lIns="0" tIns="0" rIns="0" bIns="0" rtlCol="0"/>
          <a:lstStyle/>
          <a:p>
            <a:endParaRPr/>
          </a:p>
        </p:txBody>
      </p:sp>
      <p:pic>
        <p:nvPicPr>
          <p:cNvPr id="3" name="object 3"/>
          <p:cNvPicPr/>
          <p:nvPr/>
        </p:nvPicPr>
        <p:blipFill>
          <a:blip r:embed="rId2" cstate="print"/>
          <a:stretch>
            <a:fillRect/>
          </a:stretch>
        </p:blipFill>
        <p:spPr>
          <a:xfrm>
            <a:off x="2362200" y="990600"/>
            <a:ext cx="8343281" cy="5589585"/>
          </a:xfrm>
          <a:prstGeom prst="rect">
            <a:avLst/>
          </a:prstGeom>
        </p:spPr>
      </p:pic>
      <p:sp>
        <p:nvSpPr>
          <p:cNvPr id="4" name="object 4"/>
          <p:cNvSpPr txBox="1">
            <a:spLocks noGrp="1"/>
          </p:cNvSpPr>
          <p:nvPr>
            <p:ph type="title"/>
          </p:nvPr>
        </p:nvSpPr>
        <p:spPr>
          <a:xfrm>
            <a:off x="533400" y="-6849"/>
            <a:ext cx="10010750" cy="1366400"/>
          </a:xfrm>
          <a:prstGeom prst="rect">
            <a:avLst/>
          </a:prstGeom>
        </p:spPr>
        <p:txBody>
          <a:bodyPr vert="horz" wrap="square" lIns="0" tIns="12065" rIns="0" bIns="0" rtlCol="0">
            <a:spAutoFit/>
          </a:bodyPr>
          <a:lstStyle/>
          <a:p>
            <a:pPr marL="12700">
              <a:lnSpc>
                <a:spcPct val="100000"/>
              </a:lnSpc>
              <a:spcBef>
                <a:spcPts val="95"/>
              </a:spcBef>
            </a:pPr>
            <a:r>
              <a:rPr spc="114" dirty="0"/>
              <a:t>Types</a:t>
            </a:r>
            <a:r>
              <a:rPr spc="100" dirty="0"/>
              <a:t> </a:t>
            </a:r>
            <a:r>
              <a:rPr spc="165" dirty="0"/>
              <a:t>and</a:t>
            </a:r>
            <a:r>
              <a:rPr spc="105" dirty="0"/>
              <a:t> </a:t>
            </a:r>
            <a:r>
              <a:rPr spc="125" dirty="0"/>
              <a:t>Applications</a:t>
            </a:r>
            <a:r>
              <a:rPr spc="114" dirty="0"/>
              <a:t> </a:t>
            </a:r>
            <a:r>
              <a:rPr spc="105" dirty="0"/>
              <a:t>of</a:t>
            </a:r>
            <a:r>
              <a:rPr spc="100" dirty="0"/>
              <a:t> </a:t>
            </a:r>
            <a:r>
              <a:rPr spc="170" dirty="0"/>
              <a:t>Machine</a:t>
            </a:r>
            <a:r>
              <a:rPr spc="100" dirty="0"/>
              <a:t> </a:t>
            </a:r>
            <a:r>
              <a:rPr spc="165" dirty="0"/>
              <a:t>Learning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3400" y="1287780"/>
            <a:ext cx="11321415" cy="5373370"/>
            <a:chOff x="533400" y="1287780"/>
            <a:chExt cx="11321415" cy="5373370"/>
          </a:xfrm>
        </p:grpSpPr>
        <p:pic>
          <p:nvPicPr>
            <p:cNvPr id="3" name="object 3"/>
            <p:cNvPicPr/>
            <p:nvPr/>
          </p:nvPicPr>
          <p:blipFill>
            <a:blip r:embed="rId2" cstate="print"/>
            <a:stretch>
              <a:fillRect/>
            </a:stretch>
          </p:blipFill>
          <p:spPr>
            <a:xfrm>
              <a:off x="9677400" y="1287780"/>
              <a:ext cx="2177033" cy="1619782"/>
            </a:xfrm>
            <a:prstGeom prst="rect">
              <a:avLst/>
            </a:prstGeom>
          </p:spPr>
        </p:pic>
        <p:pic>
          <p:nvPicPr>
            <p:cNvPr id="4" name="object 4"/>
            <p:cNvPicPr/>
            <p:nvPr/>
          </p:nvPicPr>
          <p:blipFill>
            <a:blip r:embed="rId3" cstate="print"/>
            <a:stretch>
              <a:fillRect/>
            </a:stretch>
          </p:blipFill>
          <p:spPr>
            <a:xfrm>
              <a:off x="533400" y="2911602"/>
              <a:ext cx="10820400" cy="3715512"/>
            </a:xfrm>
            <a:prstGeom prst="rect">
              <a:avLst/>
            </a:prstGeom>
          </p:spPr>
        </p:pic>
        <p:sp>
          <p:nvSpPr>
            <p:cNvPr id="5" name="object 5"/>
            <p:cNvSpPr/>
            <p:nvPr/>
          </p:nvSpPr>
          <p:spPr>
            <a:xfrm>
              <a:off x="2203323" y="3385947"/>
              <a:ext cx="574040" cy="3268345"/>
            </a:xfrm>
            <a:custGeom>
              <a:avLst/>
              <a:gdLst/>
              <a:ahLst/>
              <a:cxnLst/>
              <a:rect l="l" t="t" r="r" b="b"/>
              <a:pathLst>
                <a:path w="574039" h="3268345">
                  <a:moveTo>
                    <a:pt x="0" y="3268217"/>
                  </a:moveTo>
                  <a:lnTo>
                    <a:pt x="573786" y="3268217"/>
                  </a:lnTo>
                  <a:lnTo>
                    <a:pt x="573786" y="0"/>
                  </a:lnTo>
                  <a:lnTo>
                    <a:pt x="0" y="0"/>
                  </a:lnTo>
                  <a:lnTo>
                    <a:pt x="0" y="3268217"/>
                  </a:lnTo>
                  <a:close/>
                </a:path>
              </a:pathLst>
            </a:custGeom>
            <a:ln w="12954">
              <a:solidFill>
                <a:srgbClr val="0000FF"/>
              </a:solidFill>
            </a:ln>
          </p:spPr>
          <p:txBody>
            <a:bodyPr wrap="square" lIns="0" tIns="0" rIns="0" bIns="0" rtlCol="0"/>
            <a:lstStyle/>
            <a:p>
              <a:endParaRPr/>
            </a:p>
          </p:txBody>
        </p:sp>
        <p:sp>
          <p:nvSpPr>
            <p:cNvPr id="6" name="object 6"/>
            <p:cNvSpPr/>
            <p:nvPr/>
          </p:nvSpPr>
          <p:spPr>
            <a:xfrm>
              <a:off x="2433066" y="3066287"/>
              <a:ext cx="114300" cy="323850"/>
            </a:xfrm>
            <a:custGeom>
              <a:avLst/>
              <a:gdLst/>
              <a:ahLst/>
              <a:cxnLst/>
              <a:rect l="l" t="t" r="r" b="b"/>
              <a:pathLst>
                <a:path w="114300" h="323850">
                  <a:moveTo>
                    <a:pt x="38100" y="209423"/>
                  </a:moveTo>
                  <a:lnTo>
                    <a:pt x="0" y="209423"/>
                  </a:lnTo>
                  <a:lnTo>
                    <a:pt x="57150" y="323723"/>
                  </a:lnTo>
                  <a:lnTo>
                    <a:pt x="104775" y="228473"/>
                  </a:lnTo>
                  <a:lnTo>
                    <a:pt x="38100" y="228473"/>
                  </a:lnTo>
                  <a:lnTo>
                    <a:pt x="38100" y="209423"/>
                  </a:lnTo>
                  <a:close/>
                </a:path>
                <a:path w="114300" h="323850">
                  <a:moveTo>
                    <a:pt x="76200" y="0"/>
                  </a:moveTo>
                  <a:lnTo>
                    <a:pt x="38100" y="0"/>
                  </a:lnTo>
                  <a:lnTo>
                    <a:pt x="38100" y="228473"/>
                  </a:lnTo>
                  <a:lnTo>
                    <a:pt x="76200" y="228473"/>
                  </a:lnTo>
                  <a:lnTo>
                    <a:pt x="76200" y="0"/>
                  </a:lnTo>
                  <a:close/>
                </a:path>
                <a:path w="114300" h="323850">
                  <a:moveTo>
                    <a:pt x="114300" y="209423"/>
                  </a:moveTo>
                  <a:lnTo>
                    <a:pt x="76200" y="209423"/>
                  </a:lnTo>
                  <a:lnTo>
                    <a:pt x="76200" y="228473"/>
                  </a:lnTo>
                  <a:lnTo>
                    <a:pt x="104775" y="228473"/>
                  </a:lnTo>
                  <a:lnTo>
                    <a:pt x="114300" y="209423"/>
                  </a:lnTo>
                  <a:close/>
                </a:path>
              </a:pathLst>
            </a:custGeom>
            <a:solidFill>
              <a:srgbClr val="0000FF"/>
            </a:solidFill>
          </p:spPr>
          <p:txBody>
            <a:bodyPr wrap="square" lIns="0" tIns="0" rIns="0" bIns="0" rtlCol="0"/>
            <a:lstStyle/>
            <a:p>
              <a:endParaRPr/>
            </a:p>
          </p:txBody>
        </p:sp>
      </p:grpSp>
      <p:sp>
        <p:nvSpPr>
          <p:cNvPr id="7" name="object 7"/>
          <p:cNvSpPr txBox="1"/>
          <p:nvPr/>
        </p:nvSpPr>
        <p:spPr>
          <a:xfrm>
            <a:off x="403097" y="1216152"/>
            <a:ext cx="1934845" cy="391160"/>
          </a:xfrm>
          <a:prstGeom prst="rect">
            <a:avLst/>
          </a:prstGeom>
        </p:spPr>
        <p:txBody>
          <a:bodyPr vert="horz" wrap="square" lIns="0" tIns="12700" rIns="0" bIns="0" rtlCol="0">
            <a:spAutoFit/>
          </a:bodyPr>
          <a:lstStyle/>
          <a:p>
            <a:pPr marL="12700">
              <a:lnSpc>
                <a:spcPct val="100000"/>
              </a:lnSpc>
              <a:spcBef>
                <a:spcPts val="100"/>
              </a:spcBef>
            </a:pPr>
            <a:r>
              <a:rPr sz="2400" b="1" spc="-30" dirty="0">
                <a:latin typeface="Calibri"/>
                <a:cs typeface="Calibri"/>
              </a:rPr>
              <a:t>Tabulated</a:t>
            </a:r>
            <a:r>
              <a:rPr sz="2400" b="1" spc="-65" dirty="0">
                <a:latin typeface="Calibri"/>
                <a:cs typeface="Calibri"/>
              </a:rPr>
              <a:t> </a:t>
            </a:r>
            <a:r>
              <a:rPr sz="2400" b="1" spc="-20" dirty="0">
                <a:latin typeface="Calibri"/>
                <a:cs typeface="Calibri"/>
              </a:rPr>
              <a:t>Data</a:t>
            </a:r>
            <a:endParaRPr sz="2400">
              <a:latin typeface="Calibri"/>
              <a:cs typeface="Calibri"/>
            </a:endParaRPr>
          </a:p>
        </p:txBody>
      </p:sp>
      <p:sp>
        <p:nvSpPr>
          <p:cNvPr id="8" name="object 8"/>
          <p:cNvSpPr txBox="1"/>
          <p:nvPr/>
        </p:nvSpPr>
        <p:spPr>
          <a:xfrm>
            <a:off x="381000" y="1690116"/>
            <a:ext cx="9144000" cy="830580"/>
          </a:xfrm>
          <a:prstGeom prst="rect">
            <a:avLst/>
          </a:prstGeom>
          <a:solidFill>
            <a:srgbClr val="DEEBF7"/>
          </a:solidFill>
        </p:spPr>
        <p:txBody>
          <a:bodyPr vert="horz" wrap="square" lIns="0" tIns="17145" rIns="0" bIns="0" rtlCol="0">
            <a:spAutoFit/>
          </a:bodyPr>
          <a:lstStyle/>
          <a:p>
            <a:pPr marL="376555" indent="-285115">
              <a:lnSpc>
                <a:spcPct val="100000"/>
              </a:lnSpc>
              <a:spcBef>
                <a:spcPts val="135"/>
              </a:spcBef>
              <a:buFont typeface="Arial MT"/>
              <a:buChar char="•"/>
              <a:tabLst>
                <a:tab pos="376555" algn="l"/>
              </a:tabLst>
            </a:pPr>
            <a:r>
              <a:rPr sz="1600" dirty="0">
                <a:latin typeface="Segoe Print"/>
                <a:cs typeface="Segoe Print"/>
              </a:rPr>
              <a:t>Each</a:t>
            </a:r>
            <a:r>
              <a:rPr sz="1600" spc="-25" dirty="0">
                <a:latin typeface="Segoe Print"/>
                <a:cs typeface="Segoe Print"/>
              </a:rPr>
              <a:t> </a:t>
            </a:r>
            <a:r>
              <a:rPr sz="1600" dirty="0">
                <a:latin typeface="Segoe Print"/>
                <a:cs typeface="Segoe Print"/>
              </a:rPr>
              <a:t>column</a:t>
            </a:r>
            <a:r>
              <a:rPr sz="1600" spc="-25" dirty="0">
                <a:latin typeface="Segoe Print"/>
                <a:cs typeface="Segoe Print"/>
              </a:rPr>
              <a:t> </a:t>
            </a:r>
            <a:r>
              <a:rPr sz="1600" dirty="0">
                <a:latin typeface="Segoe Print"/>
                <a:cs typeface="Segoe Print"/>
              </a:rPr>
              <a:t>is</a:t>
            </a:r>
            <a:r>
              <a:rPr sz="1600" spc="-35" dirty="0">
                <a:latin typeface="Segoe Print"/>
                <a:cs typeface="Segoe Print"/>
              </a:rPr>
              <a:t> </a:t>
            </a:r>
            <a:r>
              <a:rPr sz="1600" dirty="0">
                <a:latin typeface="Segoe Print"/>
                <a:cs typeface="Segoe Print"/>
              </a:rPr>
              <a:t>a</a:t>
            </a:r>
            <a:r>
              <a:rPr sz="1600" spc="-25" dirty="0">
                <a:latin typeface="Segoe Print"/>
                <a:cs typeface="Segoe Print"/>
              </a:rPr>
              <a:t> </a:t>
            </a:r>
            <a:r>
              <a:rPr sz="1600" dirty="0">
                <a:latin typeface="Segoe Print"/>
                <a:cs typeface="Segoe Print"/>
              </a:rPr>
              <a:t>feature</a:t>
            </a:r>
            <a:r>
              <a:rPr sz="1600" spc="-25" dirty="0">
                <a:latin typeface="Segoe Print"/>
                <a:cs typeface="Segoe Print"/>
              </a:rPr>
              <a:t> </a:t>
            </a:r>
            <a:r>
              <a:rPr sz="1600" dirty="0">
                <a:latin typeface="Segoe Print"/>
                <a:cs typeface="Segoe Print"/>
              </a:rPr>
              <a:t>and</a:t>
            </a:r>
            <a:r>
              <a:rPr sz="1600" spc="-25" dirty="0">
                <a:latin typeface="Segoe Print"/>
                <a:cs typeface="Segoe Print"/>
              </a:rPr>
              <a:t> </a:t>
            </a:r>
            <a:r>
              <a:rPr sz="1600" dirty="0">
                <a:latin typeface="Segoe Print"/>
                <a:cs typeface="Segoe Print"/>
              </a:rPr>
              <a:t>adds</a:t>
            </a:r>
            <a:r>
              <a:rPr sz="1600" spc="-40" dirty="0">
                <a:latin typeface="Segoe Print"/>
                <a:cs typeface="Segoe Print"/>
              </a:rPr>
              <a:t> </a:t>
            </a:r>
            <a:r>
              <a:rPr sz="1600" dirty="0">
                <a:latin typeface="Segoe Print"/>
                <a:cs typeface="Segoe Print"/>
              </a:rPr>
              <a:t>one</a:t>
            </a:r>
            <a:r>
              <a:rPr sz="1600" spc="-25" dirty="0">
                <a:latin typeface="Segoe Print"/>
                <a:cs typeface="Segoe Print"/>
              </a:rPr>
              <a:t> </a:t>
            </a:r>
            <a:r>
              <a:rPr sz="1600" dirty="0">
                <a:latin typeface="Segoe Print"/>
                <a:cs typeface="Segoe Print"/>
              </a:rPr>
              <a:t>dimension</a:t>
            </a:r>
            <a:r>
              <a:rPr sz="1600" spc="-25" dirty="0">
                <a:latin typeface="Segoe Print"/>
                <a:cs typeface="Segoe Print"/>
              </a:rPr>
              <a:t> </a:t>
            </a:r>
            <a:r>
              <a:rPr sz="1600" dirty="0">
                <a:latin typeface="Segoe Print"/>
                <a:cs typeface="Segoe Print"/>
              </a:rPr>
              <a:t>to</a:t>
            </a:r>
            <a:r>
              <a:rPr sz="1600" spc="-35" dirty="0">
                <a:latin typeface="Segoe Print"/>
                <a:cs typeface="Segoe Print"/>
              </a:rPr>
              <a:t> </a:t>
            </a:r>
            <a:r>
              <a:rPr sz="1600" dirty="0">
                <a:latin typeface="Segoe Print"/>
                <a:cs typeface="Segoe Print"/>
              </a:rPr>
              <a:t>the</a:t>
            </a:r>
            <a:r>
              <a:rPr sz="1600" spc="-35" dirty="0">
                <a:latin typeface="Segoe Print"/>
                <a:cs typeface="Segoe Print"/>
              </a:rPr>
              <a:t> </a:t>
            </a:r>
            <a:r>
              <a:rPr sz="1600" spc="-20" dirty="0">
                <a:latin typeface="Segoe Print"/>
                <a:cs typeface="Segoe Print"/>
              </a:rPr>
              <a:t>data</a:t>
            </a:r>
            <a:endParaRPr sz="1600">
              <a:latin typeface="Segoe Print"/>
              <a:cs typeface="Segoe Print"/>
            </a:endParaRPr>
          </a:p>
          <a:p>
            <a:pPr marL="376555" indent="-285115">
              <a:lnSpc>
                <a:spcPct val="100000"/>
              </a:lnSpc>
              <a:buFont typeface="Arial MT"/>
              <a:buChar char="•"/>
              <a:tabLst>
                <a:tab pos="376555" algn="l"/>
              </a:tabLst>
            </a:pPr>
            <a:r>
              <a:rPr sz="1600" dirty="0">
                <a:latin typeface="Segoe Print"/>
                <a:cs typeface="Segoe Print"/>
              </a:rPr>
              <a:t>Number</a:t>
            </a:r>
            <a:r>
              <a:rPr sz="1600" spc="-30" dirty="0">
                <a:latin typeface="Segoe Print"/>
                <a:cs typeface="Segoe Print"/>
              </a:rPr>
              <a:t> </a:t>
            </a:r>
            <a:r>
              <a:rPr sz="1600" dirty="0">
                <a:latin typeface="Segoe Print"/>
                <a:cs typeface="Segoe Print"/>
              </a:rPr>
              <a:t>of</a:t>
            </a:r>
            <a:r>
              <a:rPr sz="1600" spc="-40" dirty="0">
                <a:latin typeface="Segoe Print"/>
                <a:cs typeface="Segoe Print"/>
              </a:rPr>
              <a:t> </a:t>
            </a:r>
            <a:r>
              <a:rPr sz="1600" dirty="0">
                <a:latin typeface="Segoe Print"/>
                <a:cs typeface="Segoe Print"/>
              </a:rPr>
              <a:t>columns</a:t>
            </a:r>
            <a:r>
              <a:rPr sz="1600" spc="-30" dirty="0">
                <a:latin typeface="Segoe Print"/>
                <a:cs typeface="Segoe Print"/>
              </a:rPr>
              <a:t> </a:t>
            </a:r>
            <a:r>
              <a:rPr sz="1600" dirty="0">
                <a:latin typeface="Segoe Print"/>
                <a:cs typeface="Segoe Print"/>
              </a:rPr>
              <a:t>define</a:t>
            </a:r>
            <a:r>
              <a:rPr sz="1600" spc="-25" dirty="0">
                <a:latin typeface="Segoe Print"/>
                <a:cs typeface="Segoe Print"/>
              </a:rPr>
              <a:t> </a:t>
            </a:r>
            <a:r>
              <a:rPr sz="1600" dirty="0">
                <a:latin typeface="Segoe Print"/>
                <a:cs typeface="Segoe Print"/>
              </a:rPr>
              <a:t>total</a:t>
            </a:r>
            <a:r>
              <a:rPr sz="1600" spc="-35" dirty="0">
                <a:latin typeface="Segoe Print"/>
                <a:cs typeface="Segoe Print"/>
              </a:rPr>
              <a:t> </a:t>
            </a:r>
            <a:r>
              <a:rPr sz="1600" dirty="0">
                <a:latin typeface="Segoe Print"/>
                <a:cs typeface="Segoe Print"/>
              </a:rPr>
              <a:t>number</a:t>
            </a:r>
            <a:r>
              <a:rPr sz="1600" spc="-30" dirty="0">
                <a:latin typeface="Segoe Print"/>
                <a:cs typeface="Segoe Print"/>
              </a:rPr>
              <a:t> </a:t>
            </a:r>
            <a:r>
              <a:rPr sz="1600" dirty="0">
                <a:latin typeface="Segoe Print"/>
                <a:cs typeface="Segoe Print"/>
              </a:rPr>
              <a:t>of</a:t>
            </a:r>
            <a:r>
              <a:rPr sz="1600" spc="-40" dirty="0">
                <a:latin typeface="Segoe Print"/>
                <a:cs typeface="Segoe Print"/>
              </a:rPr>
              <a:t> </a:t>
            </a:r>
            <a:r>
              <a:rPr sz="1600" dirty="0">
                <a:latin typeface="Segoe Print"/>
                <a:cs typeface="Segoe Print"/>
              </a:rPr>
              <a:t>features</a:t>
            </a:r>
            <a:r>
              <a:rPr sz="1600" spc="-40" dirty="0">
                <a:latin typeface="Segoe Print"/>
                <a:cs typeface="Segoe Print"/>
              </a:rPr>
              <a:t> </a:t>
            </a:r>
            <a:r>
              <a:rPr sz="1600" dirty="0">
                <a:latin typeface="Segoe Print"/>
                <a:cs typeface="Segoe Print"/>
              </a:rPr>
              <a:t>and</a:t>
            </a:r>
            <a:r>
              <a:rPr sz="1600" spc="-30" dirty="0">
                <a:latin typeface="Segoe Print"/>
                <a:cs typeface="Segoe Print"/>
              </a:rPr>
              <a:t> </a:t>
            </a:r>
            <a:r>
              <a:rPr sz="1600" dirty="0">
                <a:latin typeface="Segoe Print"/>
                <a:cs typeface="Segoe Print"/>
              </a:rPr>
              <a:t>hence</a:t>
            </a:r>
            <a:r>
              <a:rPr sz="1600" spc="-20" dirty="0">
                <a:latin typeface="Segoe Print"/>
                <a:cs typeface="Segoe Print"/>
              </a:rPr>
              <a:t> </a:t>
            </a:r>
            <a:r>
              <a:rPr sz="1600" dirty="0">
                <a:latin typeface="Segoe Print"/>
                <a:cs typeface="Segoe Print"/>
              </a:rPr>
              <a:t>data</a:t>
            </a:r>
            <a:r>
              <a:rPr sz="1600" spc="-45" dirty="0">
                <a:latin typeface="Segoe Print"/>
                <a:cs typeface="Segoe Print"/>
              </a:rPr>
              <a:t> </a:t>
            </a:r>
            <a:r>
              <a:rPr sz="1600" spc="-10" dirty="0">
                <a:latin typeface="Segoe Print"/>
                <a:cs typeface="Segoe Print"/>
              </a:rPr>
              <a:t>dimensionality</a:t>
            </a:r>
            <a:endParaRPr sz="1600">
              <a:latin typeface="Segoe Print"/>
              <a:cs typeface="Segoe Print"/>
            </a:endParaRPr>
          </a:p>
          <a:p>
            <a:pPr marL="376555" indent="-285115">
              <a:lnSpc>
                <a:spcPct val="100000"/>
              </a:lnSpc>
              <a:buFont typeface="Arial MT"/>
              <a:buChar char="•"/>
              <a:tabLst>
                <a:tab pos="376555" algn="l"/>
              </a:tabLst>
            </a:pPr>
            <a:r>
              <a:rPr sz="1600" dirty="0">
                <a:latin typeface="Segoe Print"/>
                <a:cs typeface="Segoe Print"/>
              </a:rPr>
              <a:t>Ideally,</a:t>
            </a:r>
            <a:r>
              <a:rPr sz="1600" spc="-15" dirty="0">
                <a:latin typeface="Segoe Print"/>
                <a:cs typeface="Segoe Print"/>
              </a:rPr>
              <a:t> </a:t>
            </a:r>
            <a:r>
              <a:rPr sz="1600" dirty="0">
                <a:latin typeface="Segoe Print"/>
                <a:cs typeface="Segoe Print"/>
              </a:rPr>
              <a:t>these</a:t>
            </a:r>
            <a:r>
              <a:rPr sz="1600" spc="-40" dirty="0">
                <a:latin typeface="Segoe Print"/>
                <a:cs typeface="Segoe Print"/>
              </a:rPr>
              <a:t> </a:t>
            </a:r>
            <a:r>
              <a:rPr sz="1600" dirty="0">
                <a:latin typeface="Segoe Print"/>
                <a:cs typeface="Segoe Print"/>
              </a:rPr>
              <a:t>columns</a:t>
            </a:r>
            <a:r>
              <a:rPr sz="1600" spc="-30" dirty="0">
                <a:latin typeface="Segoe Print"/>
                <a:cs typeface="Segoe Print"/>
              </a:rPr>
              <a:t> </a:t>
            </a:r>
            <a:r>
              <a:rPr sz="1600" dirty="0">
                <a:latin typeface="Segoe Print"/>
                <a:cs typeface="Segoe Print"/>
              </a:rPr>
              <a:t>should</a:t>
            </a:r>
            <a:r>
              <a:rPr sz="1600" spc="-40" dirty="0">
                <a:latin typeface="Segoe Print"/>
                <a:cs typeface="Segoe Print"/>
              </a:rPr>
              <a:t> </a:t>
            </a:r>
            <a:r>
              <a:rPr sz="1600" dirty="0">
                <a:latin typeface="Segoe Print"/>
                <a:cs typeface="Segoe Print"/>
              </a:rPr>
              <a:t>contain</a:t>
            </a:r>
            <a:r>
              <a:rPr sz="1600" spc="-45" dirty="0">
                <a:latin typeface="Segoe Print"/>
                <a:cs typeface="Segoe Print"/>
              </a:rPr>
              <a:t> </a:t>
            </a:r>
            <a:r>
              <a:rPr sz="1600" dirty="0">
                <a:latin typeface="Segoe Print"/>
                <a:cs typeface="Segoe Print"/>
              </a:rPr>
              <a:t>different</a:t>
            </a:r>
            <a:r>
              <a:rPr sz="1600" spc="-10" dirty="0">
                <a:latin typeface="Segoe Print"/>
                <a:cs typeface="Segoe Print"/>
              </a:rPr>
              <a:t> </a:t>
            </a:r>
            <a:r>
              <a:rPr sz="1600" dirty="0">
                <a:latin typeface="Segoe Print"/>
                <a:cs typeface="Segoe Print"/>
              </a:rPr>
              <a:t>information</a:t>
            </a:r>
            <a:r>
              <a:rPr sz="1600" spc="-35" dirty="0">
                <a:latin typeface="Segoe Print"/>
                <a:cs typeface="Segoe Print"/>
              </a:rPr>
              <a:t> </a:t>
            </a:r>
            <a:r>
              <a:rPr sz="1600" spc="-10" dirty="0">
                <a:latin typeface="Segoe Print"/>
                <a:cs typeface="Segoe Print"/>
              </a:rPr>
              <a:t>-</a:t>
            </a:r>
            <a:r>
              <a:rPr sz="1600" dirty="0">
                <a:latin typeface="Segoe Print"/>
                <a:cs typeface="Segoe Print"/>
              </a:rPr>
              <a:t>&gt;</a:t>
            </a:r>
            <a:r>
              <a:rPr sz="1600" spc="-45" dirty="0">
                <a:latin typeface="Segoe Print"/>
                <a:cs typeface="Segoe Print"/>
              </a:rPr>
              <a:t> </a:t>
            </a:r>
            <a:r>
              <a:rPr sz="1600" spc="-10" dirty="0">
                <a:latin typeface="Segoe Print"/>
                <a:cs typeface="Segoe Print"/>
              </a:rPr>
              <a:t>uncorrelated</a:t>
            </a:r>
            <a:endParaRPr sz="1600">
              <a:latin typeface="Segoe Print"/>
              <a:cs typeface="Segoe Print"/>
            </a:endParaRPr>
          </a:p>
        </p:txBody>
      </p:sp>
      <p:sp>
        <p:nvSpPr>
          <p:cNvPr id="9" name="object 9"/>
          <p:cNvSpPr txBox="1">
            <a:spLocks noGrp="1"/>
          </p:cNvSpPr>
          <p:nvPr>
            <p:ph type="title"/>
          </p:nvPr>
        </p:nvSpPr>
        <p:spPr>
          <a:prstGeom prst="rect">
            <a:avLst/>
          </a:prstGeom>
        </p:spPr>
        <p:txBody>
          <a:bodyPr vert="horz" wrap="square" lIns="0" tIns="145034" rIns="0" bIns="0" rtlCol="0">
            <a:spAutoFit/>
          </a:bodyPr>
          <a:lstStyle/>
          <a:p>
            <a:pPr algn="ctr">
              <a:lnSpc>
                <a:spcPct val="100000"/>
              </a:lnSpc>
              <a:spcBef>
                <a:spcPts val="100"/>
              </a:spcBef>
            </a:pPr>
            <a:r>
              <a:rPr dirty="0"/>
              <a:t>Machine</a:t>
            </a:r>
            <a:r>
              <a:rPr spc="-145" dirty="0"/>
              <a:t> </a:t>
            </a:r>
            <a:r>
              <a:rPr dirty="0"/>
              <a:t>Learning:</a:t>
            </a:r>
            <a:r>
              <a:rPr spc="-145" dirty="0"/>
              <a:t> </a:t>
            </a:r>
            <a:r>
              <a:rPr spc="-10" dirty="0"/>
              <a:t>Overview</a:t>
            </a:r>
          </a:p>
          <a:p>
            <a:pPr algn="ctr">
              <a:lnSpc>
                <a:spcPct val="100000"/>
              </a:lnSpc>
              <a:spcBef>
                <a:spcPts val="50"/>
              </a:spcBef>
            </a:pPr>
            <a:r>
              <a:rPr sz="2800" b="0" i="1" dirty="0">
                <a:solidFill>
                  <a:srgbClr val="006FC0"/>
                </a:solidFill>
                <a:latin typeface="Calibri"/>
                <a:cs typeface="Calibri"/>
              </a:rPr>
              <a:t>Data</a:t>
            </a:r>
            <a:r>
              <a:rPr sz="2800" b="0" i="1" spc="-40" dirty="0">
                <a:solidFill>
                  <a:srgbClr val="006FC0"/>
                </a:solidFill>
                <a:latin typeface="Calibri"/>
                <a:cs typeface="Calibri"/>
              </a:rPr>
              <a:t> </a:t>
            </a:r>
            <a:r>
              <a:rPr sz="2800" b="0" i="1" spc="-10" dirty="0">
                <a:solidFill>
                  <a:srgbClr val="006FC0"/>
                </a:solidFill>
                <a:latin typeface="Calibri"/>
                <a:cs typeface="Calibri"/>
              </a:rPr>
              <a:t>Types</a:t>
            </a:r>
            <a:endParaRPr sz="28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53945" y="1600200"/>
            <a:ext cx="3575138" cy="2631948"/>
          </a:xfrm>
          <a:prstGeom prst="rect">
            <a:avLst/>
          </a:prstGeom>
        </p:spPr>
      </p:pic>
      <p:pic>
        <p:nvPicPr>
          <p:cNvPr id="3" name="object 3"/>
          <p:cNvPicPr/>
          <p:nvPr/>
        </p:nvPicPr>
        <p:blipFill>
          <a:blip r:embed="rId3" cstate="print"/>
          <a:stretch>
            <a:fillRect/>
          </a:stretch>
        </p:blipFill>
        <p:spPr>
          <a:xfrm>
            <a:off x="6980119" y="1834942"/>
            <a:ext cx="3161334" cy="2574366"/>
          </a:xfrm>
          <a:prstGeom prst="rect">
            <a:avLst/>
          </a:prstGeom>
        </p:spPr>
      </p:pic>
      <p:grpSp>
        <p:nvGrpSpPr>
          <p:cNvPr id="4" name="object 4"/>
          <p:cNvGrpSpPr/>
          <p:nvPr/>
        </p:nvGrpSpPr>
        <p:grpSpPr>
          <a:xfrm>
            <a:off x="1407413" y="1600200"/>
            <a:ext cx="3876040" cy="3011170"/>
            <a:chOff x="1407413" y="1600200"/>
            <a:chExt cx="3876040" cy="3011170"/>
          </a:xfrm>
        </p:grpSpPr>
        <p:sp>
          <p:nvSpPr>
            <p:cNvPr id="5" name="object 5"/>
            <p:cNvSpPr/>
            <p:nvPr/>
          </p:nvSpPr>
          <p:spPr>
            <a:xfrm>
              <a:off x="1815846" y="1600199"/>
              <a:ext cx="3467100" cy="3011170"/>
            </a:xfrm>
            <a:custGeom>
              <a:avLst/>
              <a:gdLst/>
              <a:ahLst/>
              <a:cxnLst/>
              <a:rect l="l" t="t" r="r" b="b"/>
              <a:pathLst>
                <a:path w="3467100" h="3011170">
                  <a:moveTo>
                    <a:pt x="3467100" y="2972562"/>
                  </a:moveTo>
                  <a:lnTo>
                    <a:pt x="3454400" y="2966212"/>
                  </a:lnTo>
                  <a:lnTo>
                    <a:pt x="3390900" y="2934462"/>
                  </a:lnTo>
                  <a:lnTo>
                    <a:pt x="3390900" y="2966212"/>
                  </a:lnTo>
                  <a:lnTo>
                    <a:pt x="44450" y="2966212"/>
                  </a:lnTo>
                  <a:lnTo>
                    <a:pt x="44450" y="76200"/>
                  </a:lnTo>
                  <a:lnTo>
                    <a:pt x="76200" y="76200"/>
                  </a:lnTo>
                  <a:lnTo>
                    <a:pt x="69850" y="63500"/>
                  </a:lnTo>
                  <a:lnTo>
                    <a:pt x="38100" y="0"/>
                  </a:lnTo>
                  <a:lnTo>
                    <a:pt x="0" y="76200"/>
                  </a:lnTo>
                  <a:lnTo>
                    <a:pt x="31750" y="76200"/>
                  </a:lnTo>
                  <a:lnTo>
                    <a:pt x="31750" y="2975737"/>
                  </a:lnTo>
                  <a:lnTo>
                    <a:pt x="38100" y="2975737"/>
                  </a:lnTo>
                  <a:lnTo>
                    <a:pt x="38100" y="2978912"/>
                  </a:lnTo>
                  <a:lnTo>
                    <a:pt x="3390900" y="2978912"/>
                  </a:lnTo>
                  <a:lnTo>
                    <a:pt x="3390900" y="3010662"/>
                  </a:lnTo>
                  <a:lnTo>
                    <a:pt x="3454400" y="2978912"/>
                  </a:lnTo>
                  <a:lnTo>
                    <a:pt x="3467100" y="2972562"/>
                  </a:lnTo>
                  <a:close/>
                </a:path>
              </a:pathLst>
            </a:custGeom>
            <a:solidFill>
              <a:srgbClr val="000000"/>
            </a:solidFill>
          </p:spPr>
          <p:txBody>
            <a:bodyPr wrap="square" lIns="0" tIns="0" rIns="0" bIns="0" rtlCol="0"/>
            <a:lstStyle/>
            <a:p>
              <a:endParaRPr/>
            </a:p>
          </p:txBody>
        </p:sp>
        <p:sp>
          <p:nvSpPr>
            <p:cNvPr id="6" name="object 6"/>
            <p:cNvSpPr/>
            <p:nvPr/>
          </p:nvSpPr>
          <p:spPr>
            <a:xfrm>
              <a:off x="1407413" y="1786128"/>
              <a:ext cx="894080" cy="300355"/>
            </a:xfrm>
            <a:custGeom>
              <a:avLst/>
              <a:gdLst/>
              <a:ahLst/>
              <a:cxnLst/>
              <a:rect l="l" t="t" r="r" b="b"/>
              <a:pathLst>
                <a:path w="894080" h="300355">
                  <a:moveTo>
                    <a:pt x="893826" y="0"/>
                  </a:moveTo>
                  <a:lnTo>
                    <a:pt x="0" y="0"/>
                  </a:lnTo>
                  <a:lnTo>
                    <a:pt x="0" y="300227"/>
                  </a:lnTo>
                  <a:lnTo>
                    <a:pt x="893826" y="300227"/>
                  </a:lnTo>
                  <a:lnTo>
                    <a:pt x="893826" y="0"/>
                  </a:lnTo>
                  <a:close/>
                </a:path>
              </a:pathLst>
            </a:custGeom>
            <a:solidFill>
              <a:srgbClr val="F1F1F1"/>
            </a:solidFill>
          </p:spPr>
          <p:txBody>
            <a:bodyPr wrap="square" lIns="0" tIns="0" rIns="0" bIns="0" rtlCol="0"/>
            <a:lstStyle/>
            <a:p>
              <a:endParaRPr/>
            </a:p>
          </p:txBody>
        </p:sp>
      </p:grpSp>
      <p:sp>
        <p:nvSpPr>
          <p:cNvPr id="7" name="object 7"/>
          <p:cNvSpPr txBox="1"/>
          <p:nvPr/>
        </p:nvSpPr>
        <p:spPr>
          <a:xfrm>
            <a:off x="2103882" y="4631690"/>
            <a:ext cx="3245485" cy="633730"/>
          </a:xfrm>
          <a:prstGeom prst="rect">
            <a:avLst/>
          </a:prstGeom>
        </p:spPr>
        <p:txBody>
          <a:bodyPr vert="horz" wrap="square" lIns="0" tIns="12700" rIns="0" bIns="0" rtlCol="0">
            <a:spAutoFit/>
          </a:bodyPr>
          <a:lstStyle/>
          <a:p>
            <a:pPr marR="5080" algn="r">
              <a:lnSpc>
                <a:spcPts val="2035"/>
              </a:lnSpc>
              <a:spcBef>
                <a:spcPts val="100"/>
              </a:spcBef>
            </a:pPr>
            <a:r>
              <a:rPr sz="1800" dirty="0">
                <a:latin typeface="Calibri"/>
                <a:cs typeface="Calibri"/>
              </a:rPr>
              <a:t>Feature</a:t>
            </a:r>
            <a:r>
              <a:rPr sz="1800" spc="-100" dirty="0">
                <a:latin typeface="Calibri"/>
                <a:cs typeface="Calibri"/>
              </a:rPr>
              <a:t> </a:t>
            </a:r>
            <a:r>
              <a:rPr sz="1800" spc="-50" dirty="0">
                <a:latin typeface="Calibri"/>
                <a:cs typeface="Calibri"/>
              </a:rPr>
              <a:t>1</a:t>
            </a:r>
            <a:endParaRPr sz="1800">
              <a:latin typeface="Calibri"/>
              <a:cs typeface="Calibri"/>
            </a:endParaRPr>
          </a:p>
          <a:p>
            <a:pPr marL="12700">
              <a:lnSpc>
                <a:spcPts val="2755"/>
              </a:lnSpc>
            </a:pPr>
            <a:r>
              <a:rPr sz="2400" spc="-10" dirty="0">
                <a:solidFill>
                  <a:srgbClr val="5B9BD4"/>
                </a:solidFill>
                <a:latin typeface="Calibri"/>
                <a:cs typeface="Calibri"/>
              </a:rPr>
              <a:t>Features</a:t>
            </a:r>
            <a:r>
              <a:rPr sz="2400" spc="-75" dirty="0">
                <a:solidFill>
                  <a:srgbClr val="5B9BD4"/>
                </a:solidFill>
                <a:latin typeface="Calibri"/>
                <a:cs typeface="Calibri"/>
              </a:rPr>
              <a:t> </a:t>
            </a:r>
            <a:r>
              <a:rPr sz="2400" dirty="0">
                <a:solidFill>
                  <a:srgbClr val="5B9BD4"/>
                </a:solidFill>
                <a:latin typeface="Calibri"/>
                <a:cs typeface="Calibri"/>
              </a:rPr>
              <a:t>are</a:t>
            </a:r>
            <a:r>
              <a:rPr sz="2400" spc="-65" dirty="0">
                <a:solidFill>
                  <a:srgbClr val="5B9BD4"/>
                </a:solidFill>
                <a:latin typeface="Calibri"/>
                <a:cs typeface="Calibri"/>
              </a:rPr>
              <a:t> </a:t>
            </a:r>
            <a:r>
              <a:rPr sz="2400" spc="-10" dirty="0">
                <a:solidFill>
                  <a:srgbClr val="5B9BD4"/>
                </a:solidFill>
                <a:latin typeface="Calibri"/>
                <a:cs typeface="Calibri"/>
              </a:rPr>
              <a:t>correlated</a:t>
            </a:r>
            <a:endParaRPr sz="2400">
              <a:latin typeface="Calibri"/>
              <a:cs typeface="Calibri"/>
            </a:endParaRPr>
          </a:p>
        </p:txBody>
      </p:sp>
      <p:sp>
        <p:nvSpPr>
          <p:cNvPr id="8" name="object 8"/>
          <p:cNvSpPr txBox="1"/>
          <p:nvPr/>
        </p:nvSpPr>
        <p:spPr>
          <a:xfrm>
            <a:off x="1486408" y="1804923"/>
            <a:ext cx="9042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Feature</a:t>
            </a:r>
            <a:r>
              <a:rPr sz="1800" spc="-100" dirty="0">
                <a:latin typeface="Calibri"/>
                <a:cs typeface="Calibri"/>
              </a:rPr>
              <a:t> </a:t>
            </a:r>
            <a:r>
              <a:rPr sz="1800" spc="-50" dirty="0">
                <a:latin typeface="Calibri"/>
                <a:cs typeface="Calibri"/>
              </a:rPr>
              <a:t>2</a:t>
            </a:r>
            <a:endParaRPr sz="1800">
              <a:latin typeface="Calibri"/>
              <a:cs typeface="Calibri"/>
            </a:endParaRPr>
          </a:p>
        </p:txBody>
      </p:sp>
      <p:grpSp>
        <p:nvGrpSpPr>
          <p:cNvPr id="9" name="object 9"/>
          <p:cNvGrpSpPr/>
          <p:nvPr/>
        </p:nvGrpSpPr>
        <p:grpSpPr>
          <a:xfrm>
            <a:off x="6196584" y="1600200"/>
            <a:ext cx="3876040" cy="3011170"/>
            <a:chOff x="6196584" y="1600200"/>
            <a:chExt cx="3876040" cy="3011170"/>
          </a:xfrm>
        </p:grpSpPr>
        <p:sp>
          <p:nvSpPr>
            <p:cNvPr id="10" name="object 10"/>
            <p:cNvSpPr/>
            <p:nvPr/>
          </p:nvSpPr>
          <p:spPr>
            <a:xfrm>
              <a:off x="6605016" y="1600199"/>
              <a:ext cx="3467100" cy="3011170"/>
            </a:xfrm>
            <a:custGeom>
              <a:avLst/>
              <a:gdLst/>
              <a:ahLst/>
              <a:cxnLst/>
              <a:rect l="l" t="t" r="r" b="b"/>
              <a:pathLst>
                <a:path w="3467100" h="3011170">
                  <a:moveTo>
                    <a:pt x="3467100" y="2972562"/>
                  </a:moveTo>
                  <a:lnTo>
                    <a:pt x="3454400" y="2966212"/>
                  </a:lnTo>
                  <a:lnTo>
                    <a:pt x="3390900" y="2934462"/>
                  </a:lnTo>
                  <a:lnTo>
                    <a:pt x="3390900" y="2966212"/>
                  </a:lnTo>
                  <a:lnTo>
                    <a:pt x="44450" y="2966212"/>
                  </a:lnTo>
                  <a:lnTo>
                    <a:pt x="44450" y="76200"/>
                  </a:lnTo>
                  <a:lnTo>
                    <a:pt x="76200" y="76200"/>
                  </a:lnTo>
                  <a:lnTo>
                    <a:pt x="69850" y="63500"/>
                  </a:lnTo>
                  <a:lnTo>
                    <a:pt x="38100" y="0"/>
                  </a:lnTo>
                  <a:lnTo>
                    <a:pt x="0" y="76200"/>
                  </a:lnTo>
                  <a:lnTo>
                    <a:pt x="31750" y="76200"/>
                  </a:lnTo>
                  <a:lnTo>
                    <a:pt x="31750" y="2975737"/>
                  </a:lnTo>
                  <a:lnTo>
                    <a:pt x="38100" y="2975737"/>
                  </a:lnTo>
                  <a:lnTo>
                    <a:pt x="38100" y="2978912"/>
                  </a:lnTo>
                  <a:lnTo>
                    <a:pt x="3390900" y="2978912"/>
                  </a:lnTo>
                  <a:lnTo>
                    <a:pt x="3390900" y="3010662"/>
                  </a:lnTo>
                  <a:lnTo>
                    <a:pt x="3454400" y="2978912"/>
                  </a:lnTo>
                  <a:lnTo>
                    <a:pt x="3467100" y="2972562"/>
                  </a:lnTo>
                  <a:close/>
                </a:path>
              </a:pathLst>
            </a:custGeom>
            <a:solidFill>
              <a:srgbClr val="000000"/>
            </a:solidFill>
          </p:spPr>
          <p:txBody>
            <a:bodyPr wrap="square" lIns="0" tIns="0" rIns="0" bIns="0" rtlCol="0"/>
            <a:lstStyle/>
            <a:p>
              <a:endParaRPr/>
            </a:p>
          </p:txBody>
        </p:sp>
        <p:sp>
          <p:nvSpPr>
            <p:cNvPr id="11" name="object 11"/>
            <p:cNvSpPr/>
            <p:nvPr/>
          </p:nvSpPr>
          <p:spPr>
            <a:xfrm>
              <a:off x="6196584" y="1786128"/>
              <a:ext cx="894080" cy="300355"/>
            </a:xfrm>
            <a:custGeom>
              <a:avLst/>
              <a:gdLst/>
              <a:ahLst/>
              <a:cxnLst/>
              <a:rect l="l" t="t" r="r" b="b"/>
              <a:pathLst>
                <a:path w="894079" h="300355">
                  <a:moveTo>
                    <a:pt x="893825" y="0"/>
                  </a:moveTo>
                  <a:lnTo>
                    <a:pt x="0" y="0"/>
                  </a:lnTo>
                  <a:lnTo>
                    <a:pt x="0" y="300227"/>
                  </a:lnTo>
                  <a:lnTo>
                    <a:pt x="893825" y="300227"/>
                  </a:lnTo>
                  <a:lnTo>
                    <a:pt x="893825" y="0"/>
                  </a:lnTo>
                  <a:close/>
                </a:path>
              </a:pathLst>
            </a:custGeom>
            <a:solidFill>
              <a:srgbClr val="F1F1F1"/>
            </a:solidFill>
          </p:spPr>
          <p:txBody>
            <a:bodyPr wrap="square" lIns="0" tIns="0" rIns="0" bIns="0" rtlCol="0"/>
            <a:lstStyle/>
            <a:p>
              <a:endParaRPr/>
            </a:p>
          </p:txBody>
        </p:sp>
      </p:grpSp>
      <p:sp>
        <p:nvSpPr>
          <p:cNvPr id="12" name="object 12"/>
          <p:cNvSpPr txBox="1"/>
          <p:nvPr/>
        </p:nvSpPr>
        <p:spPr>
          <a:xfrm>
            <a:off x="6886702" y="4631690"/>
            <a:ext cx="3252470" cy="659130"/>
          </a:xfrm>
          <a:prstGeom prst="rect">
            <a:avLst/>
          </a:prstGeom>
        </p:spPr>
        <p:txBody>
          <a:bodyPr vert="horz" wrap="square" lIns="0" tIns="12700" rIns="0" bIns="0" rtlCol="0">
            <a:spAutoFit/>
          </a:bodyPr>
          <a:lstStyle/>
          <a:p>
            <a:pPr marR="5080" algn="r">
              <a:lnSpc>
                <a:spcPts val="2135"/>
              </a:lnSpc>
              <a:spcBef>
                <a:spcPts val="100"/>
              </a:spcBef>
            </a:pPr>
            <a:r>
              <a:rPr sz="1800" dirty="0">
                <a:latin typeface="Calibri"/>
                <a:cs typeface="Calibri"/>
              </a:rPr>
              <a:t>Feature</a:t>
            </a:r>
            <a:r>
              <a:rPr sz="1800" spc="-100" dirty="0">
                <a:latin typeface="Calibri"/>
                <a:cs typeface="Calibri"/>
              </a:rPr>
              <a:t> </a:t>
            </a:r>
            <a:r>
              <a:rPr sz="1800" spc="-50" dirty="0">
                <a:latin typeface="Calibri"/>
                <a:cs typeface="Calibri"/>
              </a:rPr>
              <a:t>1</a:t>
            </a:r>
            <a:endParaRPr sz="1800">
              <a:latin typeface="Calibri"/>
              <a:cs typeface="Calibri"/>
            </a:endParaRPr>
          </a:p>
          <a:p>
            <a:pPr marL="12700">
              <a:lnSpc>
                <a:spcPts val="2855"/>
              </a:lnSpc>
            </a:pPr>
            <a:r>
              <a:rPr sz="2400" spc="-10" dirty="0">
                <a:solidFill>
                  <a:srgbClr val="5B9BD4"/>
                </a:solidFill>
                <a:latin typeface="Calibri"/>
                <a:cs typeface="Calibri"/>
              </a:rPr>
              <a:t>Features</a:t>
            </a:r>
            <a:r>
              <a:rPr sz="2400" spc="-75" dirty="0">
                <a:solidFill>
                  <a:srgbClr val="5B9BD4"/>
                </a:solidFill>
                <a:latin typeface="Calibri"/>
                <a:cs typeface="Calibri"/>
              </a:rPr>
              <a:t> </a:t>
            </a:r>
            <a:r>
              <a:rPr sz="2400" dirty="0">
                <a:solidFill>
                  <a:srgbClr val="5B9BD4"/>
                </a:solidFill>
                <a:latin typeface="Calibri"/>
                <a:cs typeface="Calibri"/>
              </a:rPr>
              <a:t>are</a:t>
            </a:r>
            <a:r>
              <a:rPr sz="2400" spc="-65" dirty="0">
                <a:solidFill>
                  <a:srgbClr val="5B9BD4"/>
                </a:solidFill>
                <a:latin typeface="Calibri"/>
                <a:cs typeface="Calibri"/>
              </a:rPr>
              <a:t> </a:t>
            </a:r>
            <a:r>
              <a:rPr sz="2400" spc="-10" dirty="0">
                <a:solidFill>
                  <a:srgbClr val="5B9BD4"/>
                </a:solidFill>
                <a:latin typeface="Calibri"/>
                <a:cs typeface="Calibri"/>
              </a:rPr>
              <a:t>uncorrelated</a:t>
            </a:r>
            <a:endParaRPr sz="2400">
              <a:latin typeface="Calibri"/>
              <a:cs typeface="Calibri"/>
            </a:endParaRPr>
          </a:p>
        </p:txBody>
      </p:sp>
      <p:sp>
        <p:nvSpPr>
          <p:cNvPr id="13" name="object 13"/>
          <p:cNvSpPr txBox="1"/>
          <p:nvPr/>
        </p:nvSpPr>
        <p:spPr>
          <a:xfrm>
            <a:off x="6275832" y="1804923"/>
            <a:ext cx="9042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Feature</a:t>
            </a:r>
            <a:r>
              <a:rPr sz="1800" spc="-100" dirty="0">
                <a:latin typeface="Calibri"/>
                <a:cs typeface="Calibri"/>
              </a:rPr>
              <a:t> </a:t>
            </a:r>
            <a:r>
              <a:rPr sz="1800" spc="-50" dirty="0">
                <a:latin typeface="Calibri"/>
                <a:cs typeface="Calibri"/>
              </a:rPr>
              <a:t>2</a:t>
            </a:r>
            <a:endParaRPr sz="1800">
              <a:latin typeface="Calibri"/>
              <a:cs typeface="Calibri"/>
            </a:endParaRPr>
          </a:p>
        </p:txBody>
      </p:sp>
      <p:pic>
        <p:nvPicPr>
          <p:cNvPr id="14" name="object 14"/>
          <p:cNvPicPr/>
          <p:nvPr/>
        </p:nvPicPr>
        <p:blipFill>
          <a:blip r:embed="rId4" cstate="print"/>
          <a:stretch>
            <a:fillRect/>
          </a:stretch>
        </p:blipFill>
        <p:spPr>
          <a:xfrm>
            <a:off x="9753600" y="3178301"/>
            <a:ext cx="990600" cy="1149858"/>
          </a:xfrm>
          <a:prstGeom prst="rect">
            <a:avLst/>
          </a:prstGeom>
        </p:spPr>
      </p:pic>
      <p:pic>
        <p:nvPicPr>
          <p:cNvPr id="15" name="object 15"/>
          <p:cNvPicPr/>
          <p:nvPr/>
        </p:nvPicPr>
        <p:blipFill>
          <a:blip r:embed="rId5" cstate="print"/>
          <a:stretch>
            <a:fillRect/>
          </a:stretch>
        </p:blipFill>
        <p:spPr>
          <a:xfrm>
            <a:off x="3890009" y="3229355"/>
            <a:ext cx="960882" cy="1149858"/>
          </a:xfrm>
          <a:prstGeom prst="rect">
            <a:avLst/>
          </a:prstGeom>
        </p:spPr>
      </p:pic>
      <p:grpSp>
        <p:nvGrpSpPr>
          <p:cNvPr id="16" name="object 16"/>
          <p:cNvGrpSpPr/>
          <p:nvPr/>
        </p:nvGrpSpPr>
        <p:grpSpPr>
          <a:xfrm>
            <a:off x="152780" y="5440679"/>
            <a:ext cx="11868150" cy="822960"/>
            <a:chOff x="152780" y="5440679"/>
            <a:chExt cx="11868150" cy="822960"/>
          </a:xfrm>
        </p:grpSpPr>
        <p:sp>
          <p:nvSpPr>
            <p:cNvPr id="17" name="object 17"/>
            <p:cNvSpPr/>
            <p:nvPr/>
          </p:nvSpPr>
          <p:spPr>
            <a:xfrm>
              <a:off x="152780" y="5493638"/>
              <a:ext cx="11868150" cy="769620"/>
            </a:xfrm>
            <a:custGeom>
              <a:avLst/>
              <a:gdLst/>
              <a:ahLst/>
              <a:cxnLst/>
              <a:rect l="l" t="t" r="r" b="b"/>
              <a:pathLst>
                <a:path w="11868150" h="769620">
                  <a:moveTo>
                    <a:pt x="11868150" y="0"/>
                  </a:moveTo>
                  <a:lnTo>
                    <a:pt x="0" y="0"/>
                  </a:lnTo>
                  <a:lnTo>
                    <a:pt x="0" y="769620"/>
                  </a:lnTo>
                  <a:lnTo>
                    <a:pt x="11868150" y="769620"/>
                  </a:lnTo>
                  <a:lnTo>
                    <a:pt x="11868150" y="0"/>
                  </a:lnTo>
                  <a:close/>
                </a:path>
              </a:pathLst>
            </a:custGeom>
            <a:solidFill>
              <a:srgbClr val="FFFFFF"/>
            </a:solidFill>
          </p:spPr>
          <p:txBody>
            <a:bodyPr wrap="square" lIns="0" tIns="0" rIns="0" bIns="0" rtlCol="0"/>
            <a:lstStyle/>
            <a:p>
              <a:endParaRPr/>
            </a:p>
          </p:txBody>
        </p:sp>
        <p:pic>
          <p:nvPicPr>
            <p:cNvPr id="18" name="object 18"/>
            <p:cNvPicPr/>
            <p:nvPr/>
          </p:nvPicPr>
          <p:blipFill>
            <a:blip r:embed="rId6" cstate="print"/>
            <a:stretch>
              <a:fillRect/>
            </a:stretch>
          </p:blipFill>
          <p:spPr>
            <a:xfrm>
              <a:off x="4282440" y="5440679"/>
              <a:ext cx="3629406" cy="674369"/>
            </a:xfrm>
            <a:prstGeom prst="rect">
              <a:avLst/>
            </a:prstGeom>
          </p:spPr>
        </p:pic>
        <p:pic>
          <p:nvPicPr>
            <p:cNvPr id="19" name="object 19"/>
            <p:cNvPicPr/>
            <p:nvPr/>
          </p:nvPicPr>
          <p:blipFill>
            <a:blip r:embed="rId7" cstate="print"/>
            <a:stretch>
              <a:fillRect/>
            </a:stretch>
          </p:blipFill>
          <p:spPr>
            <a:xfrm>
              <a:off x="4465320" y="5852159"/>
              <a:ext cx="3263646" cy="54038"/>
            </a:xfrm>
            <a:prstGeom prst="rect">
              <a:avLst/>
            </a:prstGeom>
          </p:spPr>
        </p:pic>
      </p:grpSp>
      <p:sp>
        <p:nvSpPr>
          <p:cNvPr id="20" name="object 20"/>
          <p:cNvSpPr txBox="1"/>
          <p:nvPr/>
        </p:nvSpPr>
        <p:spPr>
          <a:xfrm>
            <a:off x="152780" y="5493639"/>
            <a:ext cx="11868150" cy="769620"/>
          </a:xfrm>
          <a:prstGeom prst="rect">
            <a:avLst/>
          </a:prstGeom>
          <a:ln w="12953">
            <a:solidFill>
              <a:srgbClr val="EC7C30"/>
            </a:solidFill>
          </a:ln>
        </p:spPr>
        <p:txBody>
          <a:bodyPr vert="horz" wrap="square" lIns="0" tIns="26034" rIns="0" bIns="0" rtlCol="0">
            <a:spAutoFit/>
          </a:bodyPr>
          <a:lstStyle/>
          <a:p>
            <a:pPr algn="ctr">
              <a:lnSpc>
                <a:spcPts val="2815"/>
              </a:lnSpc>
              <a:spcBef>
                <a:spcPts val="204"/>
              </a:spcBef>
            </a:pPr>
            <a:r>
              <a:rPr sz="2400" b="1" i="1" u="sng" dirty="0">
                <a:solidFill>
                  <a:srgbClr val="FF0000"/>
                </a:solidFill>
                <a:uFill>
                  <a:solidFill>
                    <a:srgbClr val="FF0000"/>
                  </a:solidFill>
                </a:uFill>
                <a:latin typeface="Calibri"/>
                <a:cs typeface="Calibri"/>
              </a:rPr>
              <a:t>Dimensionality</a:t>
            </a:r>
            <a:r>
              <a:rPr sz="2400" b="1" i="1" u="sng" spc="-70" dirty="0">
                <a:solidFill>
                  <a:srgbClr val="FF0000"/>
                </a:solidFill>
                <a:uFill>
                  <a:solidFill>
                    <a:srgbClr val="FF0000"/>
                  </a:solidFill>
                </a:uFill>
                <a:latin typeface="Calibri"/>
                <a:cs typeface="Calibri"/>
              </a:rPr>
              <a:t> </a:t>
            </a:r>
            <a:r>
              <a:rPr sz="2400" b="1" i="1" u="sng" spc="-10" dirty="0">
                <a:solidFill>
                  <a:srgbClr val="FF0000"/>
                </a:solidFill>
                <a:uFill>
                  <a:solidFill>
                    <a:srgbClr val="FF0000"/>
                  </a:solidFill>
                </a:uFill>
                <a:latin typeface="Calibri"/>
                <a:cs typeface="Calibri"/>
              </a:rPr>
              <a:t>Reduction</a:t>
            </a:r>
            <a:endParaRPr sz="2400">
              <a:latin typeface="Calibri"/>
              <a:cs typeface="Calibri"/>
            </a:endParaRPr>
          </a:p>
          <a:p>
            <a:pPr marR="635" algn="ctr">
              <a:lnSpc>
                <a:spcPts val="2335"/>
              </a:lnSpc>
            </a:pPr>
            <a:r>
              <a:rPr sz="2000" b="1" dirty="0">
                <a:latin typeface="Segoe Print"/>
                <a:cs typeface="Segoe Print"/>
              </a:rPr>
              <a:t>Find</a:t>
            </a:r>
            <a:r>
              <a:rPr sz="2000" b="1" spc="-70" dirty="0">
                <a:latin typeface="Segoe Print"/>
                <a:cs typeface="Segoe Print"/>
              </a:rPr>
              <a:t> </a:t>
            </a:r>
            <a:r>
              <a:rPr sz="2000" b="1" dirty="0">
                <a:latin typeface="Segoe Print"/>
                <a:cs typeface="Segoe Print"/>
              </a:rPr>
              <a:t>all</a:t>
            </a:r>
            <a:r>
              <a:rPr sz="2000" b="1" spc="-85" dirty="0">
                <a:latin typeface="Segoe Print"/>
                <a:cs typeface="Segoe Print"/>
              </a:rPr>
              <a:t> </a:t>
            </a:r>
            <a:r>
              <a:rPr sz="2000" b="1" dirty="0">
                <a:latin typeface="Segoe Print"/>
                <a:cs typeface="Segoe Print"/>
              </a:rPr>
              <a:t>those</a:t>
            </a:r>
            <a:r>
              <a:rPr sz="2000" b="1" spc="-60" dirty="0">
                <a:latin typeface="Segoe Print"/>
                <a:cs typeface="Segoe Print"/>
              </a:rPr>
              <a:t> </a:t>
            </a:r>
            <a:r>
              <a:rPr sz="2000" b="1" dirty="0">
                <a:latin typeface="Segoe Print"/>
                <a:cs typeface="Segoe Print"/>
              </a:rPr>
              <a:t>dimensions</a:t>
            </a:r>
            <a:r>
              <a:rPr sz="2000" b="1" spc="-65" dirty="0">
                <a:latin typeface="Segoe Print"/>
                <a:cs typeface="Segoe Print"/>
              </a:rPr>
              <a:t> </a:t>
            </a:r>
            <a:r>
              <a:rPr sz="2000" b="1" dirty="0">
                <a:latin typeface="Segoe Print"/>
                <a:cs typeface="Segoe Print"/>
              </a:rPr>
              <a:t>(features)</a:t>
            </a:r>
            <a:r>
              <a:rPr sz="2000" b="1" spc="-60" dirty="0">
                <a:latin typeface="Segoe Print"/>
                <a:cs typeface="Segoe Print"/>
              </a:rPr>
              <a:t> </a:t>
            </a:r>
            <a:r>
              <a:rPr sz="2000" b="1" dirty="0">
                <a:latin typeface="Segoe Print"/>
                <a:cs typeface="Segoe Print"/>
              </a:rPr>
              <a:t>which</a:t>
            </a:r>
            <a:r>
              <a:rPr sz="2000" b="1" spc="-60" dirty="0">
                <a:latin typeface="Segoe Print"/>
                <a:cs typeface="Segoe Print"/>
              </a:rPr>
              <a:t> </a:t>
            </a:r>
            <a:r>
              <a:rPr sz="2000" b="1" dirty="0">
                <a:latin typeface="Segoe Print"/>
                <a:cs typeface="Segoe Print"/>
              </a:rPr>
              <a:t>carry</a:t>
            </a:r>
            <a:r>
              <a:rPr sz="2000" b="1" spc="-70" dirty="0">
                <a:latin typeface="Segoe Print"/>
                <a:cs typeface="Segoe Print"/>
              </a:rPr>
              <a:t> </a:t>
            </a:r>
            <a:r>
              <a:rPr sz="2000" b="1" dirty="0">
                <a:latin typeface="Segoe Print"/>
                <a:cs typeface="Segoe Print"/>
              </a:rPr>
              <a:t>very</a:t>
            </a:r>
            <a:r>
              <a:rPr sz="2000" b="1" spc="-75" dirty="0">
                <a:latin typeface="Segoe Print"/>
                <a:cs typeface="Segoe Print"/>
              </a:rPr>
              <a:t> </a:t>
            </a:r>
            <a:r>
              <a:rPr sz="2000" b="1" dirty="0">
                <a:latin typeface="Segoe Print"/>
                <a:cs typeface="Segoe Print"/>
              </a:rPr>
              <a:t>less</a:t>
            </a:r>
            <a:r>
              <a:rPr sz="2000" b="1" spc="-65" dirty="0">
                <a:latin typeface="Segoe Print"/>
                <a:cs typeface="Segoe Print"/>
              </a:rPr>
              <a:t> </a:t>
            </a:r>
            <a:r>
              <a:rPr sz="2000" b="1" dirty="0">
                <a:latin typeface="Segoe Print"/>
                <a:cs typeface="Segoe Print"/>
              </a:rPr>
              <a:t>information</a:t>
            </a:r>
            <a:r>
              <a:rPr sz="2000" b="1" spc="-65" dirty="0">
                <a:latin typeface="Segoe Print"/>
                <a:cs typeface="Segoe Print"/>
              </a:rPr>
              <a:t> </a:t>
            </a:r>
            <a:r>
              <a:rPr sz="2000" b="1" dirty="0">
                <a:latin typeface="Segoe Print"/>
                <a:cs typeface="Segoe Print"/>
              </a:rPr>
              <a:t>and</a:t>
            </a:r>
            <a:r>
              <a:rPr sz="2000" b="1" spc="-65" dirty="0">
                <a:latin typeface="Segoe Print"/>
                <a:cs typeface="Segoe Print"/>
              </a:rPr>
              <a:t> </a:t>
            </a:r>
            <a:r>
              <a:rPr sz="2000" b="1" dirty="0">
                <a:latin typeface="Segoe Print"/>
                <a:cs typeface="Segoe Print"/>
              </a:rPr>
              <a:t>discard</a:t>
            </a:r>
            <a:r>
              <a:rPr sz="2000" b="1" spc="-75" dirty="0">
                <a:latin typeface="Segoe Print"/>
                <a:cs typeface="Segoe Print"/>
              </a:rPr>
              <a:t> </a:t>
            </a:r>
            <a:r>
              <a:rPr sz="2000" b="1" spc="-20" dirty="0">
                <a:latin typeface="Segoe Print"/>
                <a:cs typeface="Segoe Print"/>
              </a:rPr>
              <a:t>them</a:t>
            </a:r>
            <a:endParaRPr sz="2000">
              <a:latin typeface="Segoe Print"/>
              <a:cs typeface="Segoe Print"/>
            </a:endParaRPr>
          </a:p>
        </p:txBody>
      </p:sp>
      <p:sp>
        <p:nvSpPr>
          <p:cNvPr id="21" name="object 21"/>
          <p:cNvSpPr txBox="1">
            <a:spLocks noGrp="1"/>
          </p:cNvSpPr>
          <p:nvPr>
            <p:ph type="title"/>
          </p:nvPr>
        </p:nvSpPr>
        <p:spPr>
          <a:prstGeom prst="rect">
            <a:avLst/>
          </a:prstGeom>
        </p:spPr>
        <p:txBody>
          <a:bodyPr vert="horz" wrap="square" lIns="0" tIns="145034" rIns="0" bIns="0" rtlCol="0">
            <a:spAutoFit/>
          </a:bodyPr>
          <a:lstStyle/>
          <a:p>
            <a:pPr algn="ctr">
              <a:lnSpc>
                <a:spcPct val="100000"/>
              </a:lnSpc>
              <a:spcBef>
                <a:spcPts val="100"/>
              </a:spcBef>
            </a:pPr>
            <a:r>
              <a:rPr dirty="0"/>
              <a:t>Machine</a:t>
            </a:r>
            <a:r>
              <a:rPr spc="-145" dirty="0"/>
              <a:t> </a:t>
            </a:r>
            <a:r>
              <a:rPr dirty="0"/>
              <a:t>Learning:</a:t>
            </a:r>
            <a:r>
              <a:rPr spc="-145" dirty="0"/>
              <a:t> </a:t>
            </a:r>
            <a:r>
              <a:rPr spc="-10" dirty="0"/>
              <a:t>Overview</a:t>
            </a:r>
          </a:p>
          <a:p>
            <a:pPr algn="ctr">
              <a:lnSpc>
                <a:spcPct val="100000"/>
              </a:lnSpc>
              <a:spcBef>
                <a:spcPts val="50"/>
              </a:spcBef>
            </a:pPr>
            <a:r>
              <a:rPr sz="2800" b="0" i="1" dirty="0">
                <a:solidFill>
                  <a:srgbClr val="006FC0"/>
                </a:solidFill>
                <a:latin typeface="Calibri"/>
                <a:cs typeface="Calibri"/>
              </a:rPr>
              <a:t>Data</a:t>
            </a:r>
            <a:r>
              <a:rPr sz="2800" b="0" i="1" spc="-40" dirty="0">
                <a:solidFill>
                  <a:srgbClr val="006FC0"/>
                </a:solidFill>
                <a:latin typeface="Calibri"/>
                <a:cs typeface="Calibri"/>
              </a:rPr>
              <a:t> </a:t>
            </a:r>
            <a:r>
              <a:rPr sz="2800" b="0" i="1" spc="-10" dirty="0">
                <a:solidFill>
                  <a:srgbClr val="006FC0"/>
                </a:solidFill>
                <a:latin typeface="Calibri"/>
                <a:cs typeface="Calibri"/>
              </a:rPr>
              <a:t>Types</a:t>
            </a:r>
            <a:endParaRPr sz="280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1032603"/>
            <a:ext cx="5028307" cy="1103932"/>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53" dirty="0">
                <a:latin typeface="Trebuchet MS"/>
                <a:cs typeface="Trebuchet MS"/>
              </a:rPr>
              <a:t>Insufficient</a:t>
            </a:r>
            <a:r>
              <a:rPr sz="1758" spc="-56" dirty="0">
                <a:latin typeface="Trebuchet MS"/>
                <a:cs typeface="Trebuchet MS"/>
              </a:rPr>
              <a:t> </a:t>
            </a:r>
            <a:r>
              <a:rPr sz="1758" spc="-60" dirty="0">
                <a:latin typeface="Trebuchet MS"/>
                <a:cs typeface="Trebuchet MS"/>
              </a:rPr>
              <a:t>quantity</a:t>
            </a:r>
            <a:r>
              <a:rPr sz="1758" spc="-53" dirty="0">
                <a:latin typeface="Trebuchet MS"/>
                <a:cs typeface="Trebuchet MS"/>
              </a:rPr>
              <a:t> </a:t>
            </a:r>
            <a:r>
              <a:rPr sz="1758" spc="-39" dirty="0">
                <a:latin typeface="Trebuchet MS"/>
                <a:cs typeface="Trebuchet MS"/>
              </a:rPr>
              <a:t>of</a:t>
            </a:r>
            <a:r>
              <a:rPr sz="1758" spc="-53" dirty="0">
                <a:latin typeface="Trebuchet MS"/>
                <a:cs typeface="Trebuchet MS"/>
              </a:rPr>
              <a:t> </a:t>
            </a:r>
            <a:r>
              <a:rPr sz="1758" spc="-49" dirty="0">
                <a:latin typeface="Trebuchet MS"/>
                <a:cs typeface="Trebuchet MS"/>
              </a:rPr>
              <a:t>training</a:t>
            </a:r>
            <a:r>
              <a:rPr sz="1758" spc="-53" dirty="0">
                <a:latin typeface="Trebuchet MS"/>
                <a:cs typeface="Trebuchet MS"/>
              </a:rPr>
              <a:t> </a:t>
            </a:r>
            <a:r>
              <a:rPr sz="1758" spc="-14" dirty="0">
                <a:latin typeface="Trebuchet MS"/>
                <a:cs typeface="Trebuchet MS"/>
              </a:rPr>
              <a:t>data</a:t>
            </a:r>
            <a:endParaRPr sz="1758">
              <a:latin typeface="Trebuchet MS"/>
              <a:cs typeface="Trebuchet MS"/>
            </a:endParaRPr>
          </a:p>
          <a:p>
            <a:pPr>
              <a:spcBef>
                <a:spcPts val="63"/>
              </a:spcBef>
              <a:buFont typeface="Trebuchet MS"/>
              <a:buChar char="•"/>
            </a:pPr>
            <a:endParaRPr sz="1758">
              <a:latin typeface="Trebuchet MS"/>
              <a:cs typeface="Trebuchet MS"/>
            </a:endParaRPr>
          </a:p>
          <a:p>
            <a:pPr marL="276810" indent="-267881">
              <a:buSzPct val="122000"/>
              <a:buChar char="•"/>
              <a:tabLst>
                <a:tab pos="276810" algn="l"/>
              </a:tabLst>
            </a:pPr>
            <a:r>
              <a:rPr sz="1758" spc="-60" dirty="0">
                <a:latin typeface="Trebuchet MS"/>
                <a:cs typeface="Trebuchet MS"/>
              </a:rPr>
              <a:t>Non-</a:t>
            </a:r>
            <a:r>
              <a:rPr sz="1758" spc="-49" dirty="0">
                <a:latin typeface="Trebuchet MS"/>
                <a:cs typeface="Trebuchet MS"/>
              </a:rPr>
              <a:t>representative</a:t>
            </a:r>
            <a:r>
              <a:rPr sz="1758" spc="-53" dirty="0">
                <a:latin typeface="Trebuchet MS"/>
                <a:cs typeface="Trebuchet MS"/>
              </a:rPr>
              <a:t> </a:t>
            </a:r>
            <a:r>
              <a:rPr sz="1758" dirty="0">
                <a:latin typeface="Trebuchet MS"/>
                <a:cs typeface="Trebuchet MS"/>
              </a:rPr>
              <a:t>and</a:t>
            </a:r>
            <a:r>
              <a:rPr sz="1758" spc="-53" dirty="0">
                <a:latin typeface="Trebuchet MS"/>
                <a:cs typeface="Trebuchet MS"/>
              </a:rPr>
              <a:t> </a:t>
            </a:r>
            <a:r>
              <a:rPr sz="1758" spc="-46" dirty="0">
                <a:latin typeface="Trebuchet MS"/>
                <a:cs typeface="Trebuchet MS"/>
              </a:rPr>
              <a:t>poor-</a:t>
            </a:r>
            <a:r>
              <a:rPr sz="1758" spc="-32" dirty="0">
                <a:latin typeface="Trebuchet MS"/>
                <a:cs typeface="Trebuchet MS"/>
              </a:rPr>
              <a:t>quality</a:t>
            </a:r>
            <a:r>
              <a:rPr sz="1758" spc="-53" dirty="0">
                <a:latin typeface="Trebuchet MS"/>
                <a:cs typeface="Trebuchet MS"/>
              </a:rPr>
              <a:t> </a:t>
            </a:r>
            <a:r>
              <a:rPr sz="1758" spc="-49" dirty="0">
                <a:latin typeface="Trebuchet MS"/>
                <a:cs typeface="Trebuchet MS"/>
              </a:rPr>
              <a:t>training</a:t>
            </a:r>
            <a:r>
              <a:rPr sz="1758" spc="-53" dirty="0">
                <a:latin typeface="Trebuchet MS"/>
                <a:cs typeface="Trebuchet MS"/>
              </a:rPr>
              <a:t> </a:t>
            </a:r>
            <a:r>
              <a:rPr sz="1758" spc="-14" dirty="0">
                <a:latin typeface="Trebuchet MS"/>
                <a:cs typeface="Trebuchet MS"/>
              </a:rPr>
              <a:t>data</a:t>
            </a:r>
            <a:endParaRPr sz="1758">
              <a:latin typeface="Trebuchet MS"/>
              <a:cs typeface="Trebuchet MS"/>
            </a:endParaRPr>
          </a:p>
        </p:txBody>
      </p:sp>
      <p:sp>
        <p:nvSpPr>
          <p:cNvPr id="4" name="object 4"/>
          <p:cNvSpPr txBox="1"/>
          <p:nvPr/>
        </p:nvSpPr>
        <p:spPr>
          <a:xfrm>
            <a:off x="2041922" y="4780726"/>
            <a:ext cx="5727055" cy="550063"/>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70" dirty="0">
                <a:latin typeface="Trebuchet MS"/>
                <a:cs typeface="Trebuchet MS"/>
              </a:rPr>
              <a:t>Irrelevant</a:t>
            </a:r>
            <a:r>
              <a:rPr sz="1758" spc="-35" dirty="0">
                <a:latin typeface="Trebuchet MS"/>
                <a:cs typeface="Trebuchet MS"/>
              </a:rPr>
              <a:t> </a:t>
            </a:r>
            <a:r>
              <a:rPr sz="1758" spc="-102" dirty="0">
                <a:latin typeface="Trebuchet MS"/>
                <a:cs typeface="Trebuchet MS"/>
              </a:rPr>
              <a:t>features:</a:t>
            </a:r>
            <a:r>
              <a:rPr sz="1758" spc="-32" dirty="0">
                <a:latin typeface="Trebuchet MS"/>
                <a:cs typeface="Trebuchet MS"/>
              </a:rPr>
              <a:t> </a:t>
            </a:r>
            <a:r>
              <a:rPr sz="1758" dirty="0">
                <a:latin typeface="Trebuchet MS"/>
                <a:cs typeface="Trebuchet MS"/>
              </a:rPr>
              <a:t>coming</a:t>
            </a:r>
            <a:r>
              <a:rPr sz="1758" spc="-32" dirty="0">
                <a:latin typeface="Trebuchet MS"/>
                <a:cs typeface="Trebuchet MS"/>
              </a:rPr>
              <a:t> </a:t>
            </a:r>
            <a:r>
              <a:rPr sz="1758" dirty="0">
                <a:latin typeface="Trebuchet MS"/>
                <a:cs typeface="Trebuchet MS"/>
              </a:rPr>
              <a:t>up</a:t>
            </a:r>
            <a:r>
              <a:rPr sz="1758" spc="-35" dirty="0">
                <a:latin typeface="Trebuchet MS"/>
                <a:cs typeface="Trebuchet MS"/>
              </a:rPr>
              <a:t> </a:t>
            </a:r>
            <a:r>
              <a:rPr sz="1758" spc="-32" dirty="0">
                <a:latin typeface="Trebuchet MS"/>
                <a:cs typeface="Trebuchet MS"/>
              </a:rPr>
              <a:t>with </a:t>
            </a:r>
            <a:r>
              <a:rPr sz="1758" dirty="0">
                <a:latin typeface="Trebuchet MS"/>
                <a:cs typeface="Trebuchet MS"/>
              </a:rPr>
              <a:t>a</a:t>
            </a:r>
            <a:r>
              <a:rPr sz="1758" spc="-32" dirty="0">
                <a:latin typeface="Trebuchet MS"/>
                <a:cs typeface="Trebuchet MS"/>
              </a:rPr>
              <a:t> </a:t>
            </a:r>
            <a:r>
              <a:rPr sz="1758" dirty="0">
                <a:latin typeface="Trebuchet MS"/>
                <a:cs typeface="Trebuchet MS"/>
              </a:rPr>
              <a:t>good</a:t>
            </a:r>
            <a:r>
              <a:rPr sz="1758" spc="-32" dirty="0">
                <a:latin typeface="Trebuchet MS"/>
                <a:cs typeface="Trebuchet MS"/>
              </a:rPr>
              <a:t> </a:t>
            </a:r>
            <a:r>
              <a:rPr sz="1758" spc="-112" dirty="0">
                <a:latin typeface="Trebuchet MS"/>
                <a:cs typeface="Trebuchet MS"/>
              </a:rPr>
              <a:t>set</a:t>
            </a:r>
            <a:r>
              <a:rPr sz="1758" spc="-35" dirty="0">
                <a:latin typeface="Trebuchet MS"/>
                <a:cs typeface="Trebuchet MS"/>
              </a:rPr>
              <a:t> </a:t>
            </a:r>
            <a:r>
              <a:rPr sz="1758" spc="-39" dirty="0">
                <a:latin typeface="Trebuchet MS"/>
                <a:cs typeface="Trebuchet MS"/>
              </a:rPr>
              <a:t>of</a:t>
            </a:r>
            <a:r>
              <a:rPr sz="1758" spc="-32" dirty="0">
                <a:latin typeface="Trebuchet MS"/>
                <a:cs typeface="Trebuchet MS"/>
              </a:rPr>
              <a:t> </a:t>
            </a:r>
            <a:r>
              <a:rPr sz="1758" spc="-67" dirty="0">
                <a:latin typeface="Trebuchet MS"/>
                <a:cs typeface="Trebuchet MS"/>
              </a:rPr>
              <a:t>features</a:t>
            </a:r>
            <a:endParaRPr sz="1758">
              <a:latin typeface="Trebuchet MS"/>
              <a:cs typeface="Trebuchet MS"/>
            </a:endParaRPr>
          </a:p>
        </p:txBody>
      </p:sp>
      <p:sp>
        <p:nvSpPr>
          <p:cNvPr id="5" name="object 5"/>
          <p:cNvSpPr txBox="1">
            <a:spLocks noGrp="1"/>
          </p:cNvSpPr>
          <p:nvPr>
            <p:ph type="title"/>
          </p:nvPr>
        </p:nvSpPr>
        <p:spPr>
          <a:xfrm>
            <a:off x="2113360" y="328312"/>
            <a:ext cx="7393781" cy="686126"/>
          </a:xfrm>
          <a:prstGeom prst="rect">
            <a:avLst/>
          </a:prstGeom>
        </p:spPr>
        <p:txBody>
          <a:bodyPr vert="horz" wrap="square" lIns="0" tIns="8930" rIns="0" bIns="0" rtlCol="0" anchor="ctr">
            <a:spAutoFit/>
          </a:bodyPr>
          <a:lstStyle/>
          <a:p>
            <a:pPr marL="8929">
              <a:lnSpc>
                <a:spcPct val="100000"/>
              </a:lnSpc>
              <a:spcBef>
                <a:spcPts val="70"/>
              </a:spcBef>
            </a:pPr>
            <a:r>
              <a:rPr spc="-134" dirty="0"/>
              <a:t>Challenges</a:t>
            </a:r>
            <a:r>
              <a:rPr spc="-161" dirty="0"/>
              <a:t> </a:t>
            </a:r>
            <a:r>
              <a:rPr spc="-120" dirty="0"/>
              <a:t>of</a:t>
            </a:r>
            <a:r>
              <a:rPr spc="-158" dirty="0"/>
              <a:t> </a:t>
            </a:r>
            <a:r>
              <a:rPr spc="-155" dirty="0"/>
              <a:t>machine</a:t>
            </a:r>
            <a:r>
              <a:rPr spc="-161" dirty="0"/>
              <a:t> </a:t>
            </a:r>
            <a:r>
              <a:rPr spc="-120" dirty="0"/>
              <a:t>learning</a:t>
            </a:r>
          </a:p>
        </p:txBody>
      </p:sp>
      <p:pic>
        <p:nvPicPr>
          <p:cNvPr id="6" name="object 6"/>
          <p:cNvPicPr/>
          <p:nvPr/>
        </p:nvPicPr>
        <p:blipFill>
          <a:blip r:embed="rId2" cstate="print"/>
          <a:stretch>
            <a:fillRect/>
          </a:stretch>
        </p:blipFill>
        <p:spPr>
          <a:xfrm>
            <a:off x="3492771" y="2321476"/>
            <a:ext cx="5206459" cy="182353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7880003" cy="83341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42" dirty="0">
                <a:latin typeface="Trebuchet MS"/>
                <a:cs typeface="Trebuchet MS"/>
              </a:rPr>
              <a:t>Overfitting</a:t>
            </a:r>
            <a:r>
              <a:rPr sz="1758" spc="-63"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49" dirty="0">
                <a:latin typeface="Trebuchet MS"/>
                <a:cs typeface="Trebuchet MS"/>
              </a:rPr>
              <a:t>training</a:t>
            </a:r>
            <a:r>
              <a:rPr sz="1758" spc="-53" dirty="0">
                <a:latin typeface="Trebuchet MS"/>
                <a:cs typeface="Trebuchet MS"/>
              </a:rPr>
              <a:t> </a:t>
            </a:r>
            <a:r>
              <a:rPr sz="1758" spc="-14" dirty="0">
                <a:latin typeface="Trebuchet MS"/>
                <a:cs typeface="Trebuchet MS"/>
              </a:rPr>
              <a:t>data</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53" dirty="0">
                <a:latin typeface="Trebuchet MS"/>
                <a:cs typeface="Trebuchet MS"/>
              </a:rPr>
              <a:t>When</a:t>
            </a:r>
            <a:r>
              <a:rPr sz="1758" spc="-134"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7" dirty="0">
                <a:latin typeface="Trebuchet MS"/>
                <a:cs typeface="Trebuchet MS"/>
              </a:rPr>
              <a:t>model</a:t>
            </a:r>
            <a:r>
              <a:rPr sz="1758" spc="-123" dirty="0">
                <a:latin typeface="Trebuchet MS"/>
                <a:cs typeface="Trebuchet MS"/>
              </a:rPr>
              <a:t> </a:t>
            </a:r>
            <a:r>
              <a:rPr sz="1758" dirty="0">
                <a:latin typeface="Trebuchet MS"/>
                <a:cs typeface="Trebuchet MS"/>
              </a:rPr>
              <a:t>is</a:t>
            </a:r>
            <a:r>
              <a:rPr sz="1758" spc="-70" dirty="0">
                <a:latin typeface="Trebuchet MS"/>
                <a:cs typeface="Trebuchet MS"/>
              </a:rPr>
              <a:t> </a:t>
            </a:r>
            <a:r>
              <a:rPr sz="1758" spc="-35" dirty="0">
                <a:latin typeface="Trebuchet MS"/>
                <a:cs typeface="Trebuchet MS"/>
              </a:rPr>
              <a:t>too</a:t>
            </a:r>
            <a:r>
              <a:rPr sz="1758" spc="-74" dirty="0">
                <a:latin typeface="Trebuchet MS"/>
                <a:cs typeface="Trebuchet MS"/>
              </a:rPr>
              <a:t> </a:t>
            </a:r>
            <a:r>
              <a:rPr sz="1758" dirty="0">
                <a:latin typeface="Trebuchet MS"/>
                <a:cs typeface="Trebuchet MS"/>
              </a:rPr>
              <a:t>complex</a:t>
            </a:r>
            <a:r>
              <a:rPr sz="1758" spc="-70" dirty="0">
                <a:latin typeface="Trebuchet MS"/>
                <a:cs typeface="Trebuchet MS"/>
              </a:rPr>
              <a:t> </a:t>
            </a:r>
            <a:r>
              <a:rPr sz="1758" spc="-80" dirty="0">
                <a:latin typeface="Trebuchet MS"/>
                <a:cs typeface="Trebuchet MS"/>
              </a:rPr>
              <a:t>relative</a:t>
            </a:r>
            <a:r>
              <a:rPr sz="1758" spc="-49"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21" dirty="0">
                <a:latin typeface="Trebuchet MS"/>
                <a:cs typeface="Trebuchet MS"/>
              </a:rPr>
              <a:t>amount</a:t>
            </a:r>
            <a:r>
              <a:rPr sz="1758" spc="-74" dirty="0">
                <a:latin typeface="Trebuchet MS"/>
                <a:cs typeface="Trebuchet MS"/>
              </a:rPr>
              <a:t> </a:t>
            </a:r>
            <a:r>
              <a:rPr sz="1758" dirty="0">
                <a:latin typeface="Trebuchet MS"/>
                <a:cs typeface="Trebuchet MS"/>
              </a:rPr>
              <a:t>and</a:t>
            </a:r>
            <a:r>
              <a:rPr sz="1758" spc="-70" dirty="0">
                <a:latin typeface="Trebuchet MS"/>
                <a:cs typeface="Trebuchet MS"/>
              </a:rPr>
              <a:t> </a:t>
            </a:r>
            <a:r>
              <a:rPr sz="1758" spc="-7" dirty="0">
                <a:latin typeface="Trebuchet MS"/>
                <a:cs typeface="Trebuchet MS"/>
              </a:rPr>
              <a:t>noisiness</a:t>
            </a:r>
            <a:r>
              <a:rPr sz="1758" spc="-74" dirty="0">
                <a:latin typeface="Trebuchet MS"/>
                <a:cs typeface="Trebuchet MS"/>
              </a:rPr>
              <a:t> </a:t>
            </a:r>
            <a:r>
              <a:rPr sz="1758" spc="-39" dirty="0">
                <a:latin typeface="Trebuchet MS"/>
                <a:cs typeface="Trebuchet MS"/>
              </a:rPr>
              <a:t>of</a:t>
            </a:r>
            <a:r>
              <a:rPr sz="1758" spc="-70" dirty="0">
                <a:latin typeface="Trebuchet MS"/>
                <a:cs typeface="Trebuchet MS"/>
              </a:rPr>
              <a:t> </a:t>
            </a:r>
            <a:r>
              <a:rPr sz="1758" spc="-14" dirty="0">
                <a:latin typeface="Trebuchet MS"/>
                <a:cs typeface="Trebuchet MS"/>
              </a:rPr>
              <a:t>data</a:t>
            </a:r>
            <a:endParaRPr sz="1758">
              <a:latin typeface="Trebuchet MS"/>
              <a:cs typeface="Trebuchet MS"/>
            </a:endParaRPr>
          </a:p>
        </p:txBody>
      </p:sp>
      <p:sp>
        <p:nvSpPr>
          <p:cNvPr id="4" name="object 4"/>
          <p:cNvSpPr txBox="1"/>
          <p:nvPr/>
        </p:nvSpPr>
        <p:spPr>
          <a:xfrm>
            <a:off x="2309813" y="4054539"/>
            <a:ext cx="5216277" cy="1941149"/>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91" dirty="0">
                <a:latin typeface="Trebuchet MS"/>
                <a:cs typeface="Trebuchet MS"/>
              </a:rPr>
              <a:t>How</a:t>
            </a:r>
            <a:r>
              <a:rPr sz="1758" spc="-42"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63" dirty="0">
                <a:latin typeface="Trebuchet MS"/>
                <a:cs typeface="Trebuchet MS"/>
              </a:rPr>
              <a:t>alleviate</a:t>
            </a:r>
            <a:r>
              <a:rPr sz="1758" spc="-39" dirty="0">
                <a:latin typeface="Trebuchet MS"/>
                <a:cs typeface="Trebuchet MS"/>
              </a:rPr>
              <a:t> </a:t>
            </a:r>
            <a:r>
              <a:rPr sz="1758" spc="-49" dirty="0">
                <a:latin typeface="Trebuchet MS"/>
                <a:cs typeface="Trebuchet MS"/>
              </a:rPr>
              <a:t>this</a:t>
            </a:r>
            <a:r>
              <a:rPr sz="1758" spc="-42" dirty="0">
                <a:latin typeface="Trebuchet MS"/>
                <a:cs typeface="Trebuchet MS"/>
              </a:rPr>
              <a:t> </a:t>
            </a:r>
            <a:r>
              <a:rPr sz="1758" spc="-7" dirty="0">
                <a:latin typeface="Trebuchet MS"/>
                <a:cs typeface="Trebuchet MS"/>
              </a:rPr>
              <a:t>problem?</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18" dirty="0">
                <a:latin typeface="Trebuchet MS"/>
                <a:cs typeface="Trebuchet MS"/>
              </a:rPr>
              <a:t>Simplify</a:t>
            </a:r>
            <a:r>
              <a:rPr sz="1758" spc="-84"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7" dirty="0">
                <a:latin typeface="Trebuchet MS"/>
                <a:cs typeface="Trebuchet MS"/>
              </a:rPr>
              <a:t>model</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42" dirty="0">
                <a:latin typeface="Trebuchet MS"/>
                <a:cs typeface="Trebuchet MS"/>
              </a:rPr>
              <a:t>Gather</a:t>
            </a:r>
            <a:r>
              <a:rPr sz="1758" spc="-67" dirty="0">
                <a:latin typeface="Trebuchet MS"/>
                <a:cs typeface="Trebuchet MS"/>
              </a:rPr>
              <a:t> </a:t>
            </a:r>
            <a:r>
              <a:rPr sz="1758" spc="-25" dirty="0">
                <a:latin typeface="Trebuchet MS"/>
                <a:cs typeface="Trebuchet MS"/>
              </a:rPr>
              <a:t>more</a:t>
            </a:r>
            <a:r>
              <a:rPr sz="1758" spc="-67" dirty="0">
                <a:latin typeface="Trebuchet MS"/>
                <a:cs typeface="Trebuchet MS"/>
              </a:rPr>
              <a:t> </a:t>
            </a:r>
            <a:r>
              <a:rPr sz="1758" spc="-49" dirty="0">
                <a:latin typeface="Trebuchet MS"/>
                <a:cs typeface="Trebuchet MS"/>
              </a:rPr>
              <a:t>training</a:t>
            </a:r>
            <a:r>
              <a:rPr sz="1758" spc="-67" dirty="0">
                <a:latin typeface="Trebuchet MS"/>
                <a:cs typeface="Trebuchet MS"/>
              </a:rPr>
              <a:t> </a:t>
            </a:r>
            <a:r>
              <a:rPr sz="1758" spc="-14" dirty="0">
                <a:latin typeface="Trebuchet MS"/>
                <a:cs typeface="Trebuchet MS"/>
              </a:rPr>
              <a:t>data</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7" dirty="0">
                <a:latin typeface="Trebuchet MS"/>
                <a:cs typeface="Trebuchet MS"/>
              </a:rPr>
              <a:t>Reduce</a:t>
            </a:r>
            <a:r>
              <a:rPr sz="1758" spc="-105" dirty="0">
                <a:latin typeface="Trebuchet MS"/>
                <a:cs typeface="Trebuchet MS"/>
              </a:rPr>
              <a:t> </a:t>
            </a:r>
            <a:r>
              <a:rPr sz="1758" dirty="0">
                <a:latin typeface="Trebuchet MS"/>
                <a:cs typeface="Trebuchet MS"/>
              </a:rPr>
              <a:t>noise</a:t>
            </a:r>
            <a:r>
              <a:rPr sz="1758" spc="-70" dirty="0">
                <a:latin typeface="Trebuchet MS"/>
                <a:cs typeface="Trebuchet MS"/>
              </a:rPr>
              <a:t> </a:t>
            </a:r>
            <a:r>
              <a:rPr sz="1758" dirty="0">
                <a:latin typeface="Trebuchet MS"/>
                <a:cs typeface="Trebuchet MS"/>
              </a:rPr>
              <a:t>and</a:t>
            </a:r>
            <a:r>
              <a:rPr sz="1758" spc="-67" dirty="0">
                <a:latin typeface="Trebuchet MS"/>
                <a:cs typeface="Trebuchet MS"/>
              </a:rPr>
              <a:t> </a:t>
            </a:r>
            <a:r>
              <a:rPr sz="1758" spc="-53" dirty="0">
                <a:latin typeface="Trebuchet MS"/>
                <a:cs typeface="Trebuchet MS"/>
              </a:rPr>
              <a:t>outliers</a:t>
            </a:r>
            <a:r>
              <a:rPr sz="1758" spc="-67" dirty="0">
                <a:latin typeface="Trebuchet MS"/>
                <a:cs typeface="Trebuchet MS"/>
              </a:rPr>
              <a:t> </a:t>
            </a:r>
            <a:r>
              <a:rPr sz="1758" spc="-127" dirty="0">
                <a:latin typeface="Trebuchet MS"/>
                <a:cs typeface="Trebuchet MS"/>
              </a:rPr>
              <a:t>(i.e.,</a:t>
            </a:r>
            <a:r>
              <a:rPr sz="1758" spc="-42" dirty="0">
                <a:latin typeface="Trebuchet MS"/>
                <a:cs typeface="Trebuchet MS"/>
              </a:rPr>
              <a:t> </a:t>
            </a:r>
            <a:r>
              <a:rPr sz="1758" spc="-77" dirty="0">
                <a:latin typeface="Trebuchet MS"/>
                <a:cs typeface="Trebuchet MS"/>
              </a:rPr>
              <a:t>data</a:t>
            </a:r>
            <a:r>
              <a:rPr sz="1758" spc="-53" dirty="0">
                <a:latin typeface="Trebuchet MS"/>
                <a:cs typeface="Trebuchet MS"/>
              </a:rPr>
              <a:t> </a:t>
            </a:r>
            <a:r>
              <a:rPr sz="1758" spc="-49" dirty="0">
                <a:latin typeface="Trebuchet MS"/>
                <a:cs typeface="Trebuchet MS"/>
              </a:rPr>
              <a:t>preparation)</a:t>
            </a:r>
            <a:endParaRPr sz="1758">
              <a:latin typeface="Trebuchet MS"/>
              <a:cs typeface="Trebuchet MS"/>
            </a:endParaRPr>
          </a:p>
        </p:txBody>
      </p:sp>
      <p:sp>
        <p:nvSpPr>
          <p:cNvPr id="5" name="object 5"/>
          <p:cNvSpPr txBox="1">
            <a:spLocks noGrp="1"/>
          </p:cNvSpPr>
          <p:nvPr>
            <p:ph type="title"/>
          </p:nvPr>
        </p:nvSpPr>
        <p:spPr>
          <a:xfrm>
            <a:off x="2078738" y="32030"/>
            <a:ext cx="7393781" cy="686126"/>
          </a:xfrm>
          <a:prstGeom prst="rect">
            <a:avLst/>
          </a:prstGeom>
        </p:spPr>
        <p:txBody>
          <a:bodyPr vert="horz" wrap="square" lIns="0" tIns="8930" rIns="0" bIns="0" rtlCol="0" anchor="ctr">
            <a:spAutoFit/>
          </a:bodyPr>
          <a:lstStyle/>
          <a:p>
            <a:pPr marL="8929">
              <a:lnSpc>
                <a:spcPct val="100000"/>
              </a:lnSpc>
              <a:spcBef>
                <a:spcPts val="70"/>
              </a:spcBef>
            </a:pPr>
            <a:r>
              <a:rPr spc="-134" dirty="0"/>
              <a:t>Challenges</a:t>
            </a:r>
            <a:r>
              <a:rPr spc="-161" dirty="0"/>
              <a:t> </a:t>
            </a:r>
            <a:r>
              <a:rPr spc="-120" dirty="0"/>
              <a:t>of</a:t>
            </a:r>
            <a:r>
              <a:rPr spc="-158" dirty="0"/>
              <a:t> </a:t>
            </a:r>
            <a:r>
              <a:rPr spc="-155" dirty="0"/>
              <a:t>machine</a:t>
            </a:r>
            <a:r>
              <a:rPr spc="-161" dirty="0"/>
              <a:t> </a:t>
            </a:r>
            <a:r>
              <a:rPr spc="-120" dirty="0"/>
              <a:t>learning</a:t>
            </a:r>
          </a:p>
        </p:txBody>
      </p:sp>
      <p:pic>
        <p:nvPicPr>
          <p:cNvPr id="6" name="object 6"/>
          <p:cNvPicPr/>
          <p:nvPr/>
        </p:nvPicPr>
        <p:blipFill>
          <a:blip r:embed="rId2" cstate="print"/>
          <a:stretch>
            <a:fillRect/>
          </a:stretch>
        </p:blipFill>
        <p:spPr>
          <a:xfrm>
            <a:off x="2142530" y="1814342"/>
            <a:ext cx="8044047" cy="209936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7970193" cy="243885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35" dirty="0">
                <a:latin typeface="Trebuchet MS"/>
                <a:cs typeface="Trebuchet MS"/>
              </a:rPr>
              <a:t>Use</a:t>
            </a:r>
            <a:r>
              <a:rPr sz="1758" spc="-77" dirty="0">
                <a:latin typeface="Trebuchet MS"/>
                <a:cs typeface="Trebuchet MS"/>
              </a:rPr>
              <a:t> </a:t>
            </a:r>
            <a:r>
              <a:rPr sz="1758" dirty="0">
                <a:latin typeface="Trebuchet MS"/>
                <a:cs typeface="Trebuchet MS"/>
              </a:rPr>
              <a:t>a</a:t>
            </a:r>
            <a:r>
              <a:rPr sz="1758" spc="-67" dirty="0">
                <a:latin typeface="Trebuchet MS"/>
                <a:cs typeface="Trebuchet MS"/>
              </a:rPr>
              <a:t> </a:t>
            </a:r>
            <a:r>
              <a:rPr sz="1758" spc="-56" dirty="0">
                <a:latin typeface="Trebuchet MS"/>
                <a:cs typeface="Trebuchet MS"/>
              </a:rPr>
              <a:t>subset</a:t>
            </a:r>
            <a:r>
              <a:rPr sz="1758" spc="-63" dirty="0">
                <a:latin typeface="Trebuchet MS"/>
                <a:cs typeface="Trebuchet MS"/>
              </a:rPr>
              <a:t> </a:t>
            </a:r>
            <a:r>
              <a:rPr sz="1758" spc="-39" dirty="0">
                <a:latin typeface="Trebuchet MS"/>
                <a:cs typeface="Trebuchet MS"/>
              </a:rPr>
              <a:t>of</a:t>
            </a:r>
            <a:r>
              <a:rPr sz="1758" spc="-67" dirty="0">
                <a:latin typeface="Trebuchet MS"/>
                <a:cs typeface="Trebuchet MS"/>
              </a:rPr>
              <a:t> </a:t>
            </a:r>
            <a:r>
              <a:rPr sz="1758" spc="-77" dirty="0">
                <a:latin typeface="Trebuchet MS"/>
                <a:cs typeface="Trebuchet MS"/>
              </a:rPr>
              <a:t>data</a:t>
            </a:r>
            <a:r>
              <a:rPr sz="1758" spc="-53" dirty="0">
                <a:latin typeface="Trebuchet MS"/>
                <a:cs typeface="Trebuchet MS"/>
              </a:rPr>
              <a:t> </a:t>
            </a:r>
            <a:r>
              <a:rPr sz="1758" dirty="0">
                <a:latin typeface="Trebuchet MS"/>
                <a:cs typeface="Trebuchet MS"/>
              </a:rPr>
              <a:t>and</a:t>
            </a:r>
            <a:r>
              <a:rPr sz="1758" spc="-67" dirty="0">
                <a:latin typeface="Trebuchet MS"/>
                <a:cs typeface="Trebuchet MS"/>
              </a:rPr>
              <a:t> </a:t>
            </a:r>
            <a:r>
              <a:rPr sz="1758" spc="-7" dirty="0">
                <a:latin typeface="Trebuchet MS"/>
                <a:cs typeface="Trebuchet MS"/>
              </a:rPr>
              <a:t>regularization</a:t>
            </a:r>
            <a:endParaRPr sz="1758">
              <a:latin typeface="Trebuchet MS"/>
              <a:cs typeface="Trebuchet MS"/>
            </a:endParaRPr>
          </a:p>
          <a:p>
            <a:pPr>
              <a:spcBef>
                <a:spcPts val="246"/>
              </a:spcBef>
              <a:buFont typeface="Trebuchet MS"/>
              <a:buChar char="•"/>
            </a:pPr>
            <a:endParaRPr sz="1758">
              <a:latin typeface="Trebuchet MS"/>
              <a:cs typeface="Trebuchet MS"/>
            </a:endParaRPr>
          </a:p>
          <a:p>
            <a:pPr marL="544692" marR="335297" lvl="1" indent="-267881">
              <a:lnSpc>
                <a:spcPts val="1969"/>
              </a:lnSpc>
              <a:buSzPct val="122000"/>
              <a:buChar char="•"/>
              <a:tabLst>
                <a:tab pos="544692" algn="l"/>
              </a:tabLst>
            </a:pPr>
            <a:r>
              <a:rPr sz="1758" spc="-39" dirty="0">
                <a:latin typeface="Trebuchet MS"/>
                <a:cs typeface="Trebuchet MS"/>
              </a:rPr>
              <a:t>Regularization:</a:t>
            </a:r>
            <a:r>
              <a:rPr sz="1758" spc="-91" dirty="0">
                <a:latin typeface="Trebuchet MS"/>
                <a:cs typeface="Trebuchet MS"/>
              </a:rPr>
              <a:t> </a:t>
            </a:r>
            <a:r>
              <a:rPr sz="1758" spc="-18" dirty="0">
                <a:latin typeface="Trebuchet MS"/>
                <a:cs typeface="Trebuchet MS"/>
              </a:rPr>
              <a:t>balance</a:t>
            </a:r>
            <a:r>
              <a:rPr sz="1758" spc="-60" dirty="0">
                <a:latin typeface="Trebuchet MS"/>
                <a:cs typeface="Trebuchet MS"/>
              </a:rPr>
              <a:t> </a:t>
            </a:r>
            <a:r>
              <a:rPr sz="1758" spc="-56" dirty="0">
                <a:latin typeface="Trebuchet MS"/>
                <a:cs typeface="Trebuchet MS"/>
              </a:rPr>
              <a:t>between </a:t>
            </a:r>
            <a:r>
              <a:rPr sz="1758" spc="-88" dirty="0">
                <a:latin typeface="Trebuchet MS"/>
                <a:cs typeface="Trebuchet MS"/>
              </a:rPr>
              <a:t>fitting</a:t>
            </a:r>
            <a:r>
              <a:rPr sz="1758" spc="-46"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77" dirty="0">
                <a:latin typeface="Trebuchet MS"/>
                <a:cs typeface="Trebuchet MS"/>
              </a:rPr>
              <a:t>data</a:t>
            </a:r>
            <a:r>
              <a:rPr sz="1758" spc="-53" dirty="0">
                <a:latin typeface="Trebuchet MS"/>
                <a:cs typeface="Trebuchet MS"/>
              </a:rPr>
              <a:t> </a:t>
            </a:r>
            <a:r>
              <a:rPr sz="1758" spc="-74" dirty="0">
                <a:latin typeface="Trebuchet MS"/>
                <a:cs typeface="Trebuchet MS"/>
              </a:rPr>
              <a:t>perfectly</a:t>
            </a:r>
            <a:r>
              <a:rPr sz="1758" spc="-60" dirty="0">
                <a:latin typeface="Trebuchet MS"/>
                <a:cs typeface="Trebuchet MS"/>
              </a:rPr>
              <a:t> </a:t>
            </a:r>
            <a:r>
              <a:rPr sz="1758" dirty="0">
                <a:latin typeface="Trebuchet MS"/>
                <a:cs typeface="Trebuchet MS"/>
              </a:rPr>
              <a:t>and</a:t>
            </a:r>
            <a:r>
              <a:rPr sz="1758" spc="-56" dirty="0">
                <a:latin typeface="Trebuchet MS"/>
                <a:cs typeface="Trebuchet MS"/>
              </a:rPr>
              <a:t> </a:t>
            </a:r>
            <a:r>
              <a:rPr sz="1758" spc="-18" dirty="0">
                <a:latin typeface="Trebuchet MS"/>
                <a:cs typeface="Trebuchet MS"/>
              </a:rPr>
              <a:t>keeping</a:t>
            </a:r>
            <a:r>
              <a:rPr sz="1758" spc="-60" dirty="0">
                <a:latin typeface="Trebuchet MS"/>
                <a:cs typeface="Trebuchet MS"/>
              </a:rPr>
              <a:t> </a:t>
            </a:r>
            <a:r>
              <a:rPr sz="1758" spc="-18" dirty="0">
                <a:latin typeface="Trebuchet MS"/>
                <a:cs typeface="Trebuchet MS"/>
              </a:rPr>
              <a:t>the </a:t>
            </a:r>
            <a:r>
              <a:rPr sz="1758" spc="-7" dirty="0">
                <a:latin typeface="Trebuchet MS"/>
                <a:cs typeface="Trebuchet MS"/>
              </a:rPr>
              <a:t>model</a:t>
            </a:r>
            <a:r>
              <a:rPr sz="1758" spc="-98" dirty="0">
                <a:latin typeface="Trebuchet MS"/>
                <a:cs typeface="Trebuchet MS"/>
              </a:rPr>
              <a:t> </a:t>
            </a:r>
            <a:r>
              <a:rPr sz="1758" spc="-18" dirty="0">
                <a:latin typeface="Trebuchet MS"/>
                <a:cs typeface="Trebuchet MS"/>
              </a:rPr>
              <a:t>simple</a:t>
            </a:r>
            <a:r>
              <a:rPr sz="1758" spc="-98" dirty="0">
                <a:latin typeface="Trebuchet MS"/>
                <a:cs typeface="Trebuchet MS"/>
              </a:rPr>
              <a:t> </a:t>
            </a:r>
            <a:r>
              <a:rPr sz="1758" spc="-7" dirty="0">
                <a:latin typeface="Trebuchet MS"/>
                <a:cs typeface="Trebuchet MS"/>
              </a:rPr>
              <a:t>enough</a:t>
            </a:r>
            <a:endParaRPr sz="1758">
              <a:latin typeface="Trebuchet MS"/>
              <a:cs typeface="Trebuchet MS"/>
            </a:endParaRPr>
          </a:p>
          <a:p>
            <a:pPr lvl="1">
              <a:spcBef>
                <a:spcPts val="204"/>
              </a:spcBef>
              <a:buFont typeface="Trebuchet MS"/>
              <a:buChar char="•"/>
            </a:pPr>
            <a:endParaRPr sz="1758">
              <a:latin typeface="Trebuchet MS"/>
              <a:cs typeface="Trebuchet MS"/>
            </a:endParaRPr>
          </a:p>
          <a:p>
            <a:pPr marL="544692" marR="3572" lvl="1" indent="-267881">
              <a:lnSpc>
                <a:spcPts val="1969"/>
              </a:lnSpc>
              <a:buSzPct val="122000"/>
              <a:buChar char="•"/>
              <a:tabLst>
                <a:tab pos="544692" algn="l"/>
              </a:tabLst>
            </a:pPr>
            <a:r>
              <a:rPr sz="1758" dirty="0">
                <a:latin typeface="Trebuchet MS"/>
                <a:cs typeface="Trebuchet MS"/>
              </a:rPr>
              <a:t>Amount</a:t>
            </a:r>
            <a:r>
              <a:rPr sz="1758" spc="-123" dirty="0">
                <a:latin typeface="Trebuchet MS"/>
                <a:cs typeface="Trebuchet MS"/>
              </a:rPr>
              <a:t> </a:t>
            </a:r>
            <a:r>
              <a:rPr sz="1758" spc="-39" dirty="0">
                <a:latin typeface="Trebuchet MS"/>
                <a:cs typeface="Trebuchet MS"/>
              </a:rPr>
              <a:t>of</a:t>
            </a:r>
            <a:r>
              <a:rPr sz="1758" spc="-70" dirty="0">
                <a:latin typeface="Trebuchet MS"/>
                <a:cs typeface="Trebuchet MS"/>
              </a:rPr>
              <a:t> </a:t>
            </a:r>
            <a:r>
              <a:rPr sz="1758" spc="-39" dirty="0">
                <a:latin typeface="Trebuchet MS"/>
                <a:cs typeface="Trebuchet MS"/>
              </a:rPr>
              <a:t>regularization</a:t>
            </a:r>
            <a:r>
              <a:rPr sz="1758" spc="-67" dirty="0">
                <a:latin typeface="Trebuchet MS"/>
                <a:cs typeface="Trebuchet MS"/>
              </a:rPr>
              <a:t> </a:t>
            </a:r>
            <a:r>
              <a:rPr sz="1758" dirty="0">
                <a:latin typeface="Trebuchet MS"/>
                <a:cs typeface="Trebuchet MS"/>
              </a:rPr>
              <a:t>is</a:t>
            </a:r>
            <a:r>
              <a:rPr sz="1758" spc="-70" dirty="0">
                <a:latin typeface="Trebuchet MS"/>
                <a:cs typeface="Trebuchet MS"/>
              </a:rPr>
              <a:t> </a:t>
            </a:r>
            <a:r>
              <a:rPr sz="1758" spc="-35" dirty="0">
                <a:latin typeface="Trebuchet MS"/>
                <a:cs typeface="Trebuchet MS"/>
              </a:rPr>
              <a:t>controlled</a:t>
            </a:r>
            <a:r>
              <a:rPr sz="1758" spc="-70" dirty="0">
                <a:latin typeface="Trebuchet MS"/>
                <a:cs typeface="Trebuchet MS"/>
              </a:rPr>
              <a:t> </a:t>
            </a:r>
            <a:r>
              <a:rPr sz="1758" dirty="0">
                <a:latin typeface="Trebuchet MS"/>
                <a:cs typeface="Trebuchet MS"/>
              </a:rPr>
              <a:t>by</a:t>
            </a:r>
            <a:r>
              <a:rPr sz="1758" spc="-70" dirty="0">
                <a:latin typeface="Trebuchet MS"/>
                <a:cs typeface="Trebuchet MS"/>
              </a:rPr>
              <a:t> </a:t>
            </a:r>
            <a:r>
              <a:rPr sz="1758" dirty="0">
                <a:latin typeface="Trebuchet MS"/>
                <a:cs typeface="Trebuchet MS"/>
              </a:rPr>
              <a:t>a</a:t>
            </a:r>
            <a:r>
              <a:rPr sz="1758" spc="-70" dirty="0">
                <a:latin typeface="Trebuchet MS"/>
                <a:cs typeface="Trebuchet MS"/>
              </a:rPr>
              <a:t> </a:t>
            </a:r>
            <a:r>
              <a:rPr sz="1758" spc="-67" dirty="0">
                <a:latin typeface="Trebuchet MS"/>
                <a:cs typeface="Trebuchet MS"/>
              </a:rPr>
              <a:t>hyperparameter</a:t>
            </a:r>
            <a:r>
              <a:rPr sz="1758" spc="-63" dirty="0">
                <a:latin typeface="Trebuchet MS"/>
                <a:cs typeface="Trebuchet MS"/>
              </a:rPr>
              <a:t> </a:t>
            </a:r>
            <a:r>
              <a:rPr sz="1758" spc="-80" dirty="0">
                <a:latin typeface="Trebuchet MS"/>
                <a:cs typeface="Trebuchet MS"/>
              </a:rPr>
              <a:t>(must</a:t>
            </a:r>
            <a:r>
              <a:rPr sz="1758" spc="-53" dirty="0">
                <a:latin typeface="Trebuchet MS"/>
                <a:cs typeface="Trebuchet MS"/>
              </a:rPr>
              <a:t> </a:t>
            </a:r>
            <a:r>
              <a:rPr sz="1758" dirty="0">
                <a:latin typeface="Trebuchet MS"/>
                <a:cs typeface="Trebuchet MS"/>
              </a:rPr>
              <a:t>be</a:t>
            </a:r>
            <a:r>
              <a:rPr sz="1758" spc="-70" dirty="0">
                <a:latin typeface="Trebuchet MS"/>
                <a:cs typeface="Trebuchet MS"/>
              </a:rPr>
              <a:t> </a:t>
            </a:r>
            <a:r>
              <a:rPr sz="1758" spc="-112" dirty="0">
                <a:latin typeface="Trebuchet MS"/>
                <a:cs typeface="Trebuchet MS"/>
              </a:rPr>
              <a:t>set</a:t>
            </a:r>
            <a:r>
              <a:rPr sz="1758" spc="-42" dirty="0">
                <a:latin typeface="Trebuchet MS"/>
                <a:cs typeface="Trebuchet MS"/>
              </a:rPr>
              <a:t> </a:t>
            </a:r>
            <a:r>
              <a:rPr sz="1758" spc="-7" dirty="0">
                <a:latin typeface="Trebuchet MS"/>
                <a:cs typeface="Trebuchet MS"/>
              </a:rPr>
              <a:t>prior </a:t>
            </a:r>
            <a:r>
              <a:rPr sz="1758" spc="-95" dirty="0">
                <a:latin typeface="Trebuchet MS"/>
                <a:cs typeface="Trebuchet MS"/>
              </a:rPr>
              <a:t>to</a:t>
            </a:r>
            <a:r>
              <a:rPr sz="1758" spc="-42" dirty="0">
                <a:latin typeface="Trebuchet MS"/>
                <a:cs typeface="Trebuchet MS"/>
              </a:rPr>
              <a:t> </a:t>
            </a:r>
            <a:r>
              <a:rPr sz="1758" spc="-25" dirty="0">
                <a:latin typeface="Trebuchet MS"/>
                <a:cs typeface="Trebuchet MS"/>
              </a:rPr>
              <a:t>learning</a:t>
            </a:r>
            <a:r>
              <a:rPr sz="1758" spc="-109" dirty="0">
                <a:latin typeface="Trebuchet MS"/>
                <a:cs typeface="Trebuchet MS"/>
              </a:rPr>
              <a:t> </a:t>
            </a:r>
            <a:r>
              <a:rPr sz="1758" dirty="0">
                <a:latin typeface="Trebuchet MS"/>
                <a:cs typeface="Trebuchet MS"/>
              </a:rPr>
              <a:t>and</a:t>
            </a:r>
            <a:r>
              <a:rPr sz="1758" spc="-88" dirty="0">
                <a:latin typeface="Trebuchet MS"/>
                <a:cs typeface="Trebuchet MS"/>
              </a:rPr>
              <a:t> </a:t>
            </a:r>
            <a:r>
              <a:rPr sz="1758" spc="-28" dirty="0">
                <a:latin typeface="Trebuchet MS"/>
                <a:cs typeface="Trebuchet MS"/>
              </a:rPr>
              <a:t>remains</a:t>
            </a:r>
            <a:r>
              <a:rPr sz="1758" spc="-80" dirty="0">
                <a:latin typeface="Trebuchet MS"/>
                <a:cs typeface="Trebuchet MS"/>
              </a:rPr>
              <a:t> </a:t>
            </a:r>
            <a:r>
              <a:rPr sz="1758" spc="-46" dirty="0">
                <a:latin typeface="Trebuchet MS"/>
                <a:cs typeface="Trebuchet MS"/>
              </a:rPr>
              <a:t>constant</a:t>
            </a:r>
            <a:r>
              <a:rPr sz="1758" spc="-80" dirty="0">
                <a:latin typeface="Trebuchet MS"/>
                <a:cs typeface="Trebuchet MS"/>
              </a:rPr>
              <a:t> </a:t>
            </a:r>
            <a:r>
              <a:rPr sz="1758" spc="-7" dirty="0">
                <a:latin typeface="Trebuchet MS"/>
                <a:cs typeface="Trebuchet MS"/>
              </a:rPr>
              <a:t>during</a:t>
            </a:r>
            <a:r>
              <a:rPr sz="1758" spc="-77" dirty="0">
                <a:latin typeface="Trebuchet MS"/>
                <a:cs typeface="Trebuchet MS"/>
              </a:rPr>
              <a:t> </a:t>
            </a:r>
            <a:r>
              <a:rPr sz="1758" spc="-7" dirty="0">
                <a:latin typeface="Trebuchet MS"/>
                <a:cs typeface="Trebuchet MS"/>
              </a:rPr>
              <a:t>training)</a:t>
            </a:r>
            <a:endParaRPr sz="1758">
              <a:latin typeface="Trebuchet MS"/>
              <a:cs typeface="Trebuchet MS"/>
            </a:endParaRPr>
          </a:p>
          <a:p>
            <a:pPr lvl="1">
              <a:spcBef>
                <a:spcPts val="21"/>
              </a:spcBef>
              <a:buFont typeface="Trebuchet MS"/>
              <a:buChar char="•"/>
            </a:pPr>
            <a:endParaRPr sz="1758">
              <a:latin typeface="Trebuchet MS"/>
              <a:cs typeface="Trebuchet MS"/>
            </a:endParaRPr>
          </a:p>
          <a:p>
            <a:pPr marL="544692" lvl="1" indent="-267881">
              <a:buSzPct val="122000"/>
              <a:buChar char="•"/>
              <a:tabLst>
                <a:tab pos="544692" algn="l"/>
              </a:tabLst>
            </a:pPr>
            <a:r>
              <a:rPr sz="1758" spc="-25" dirty="0">
                <a:latin typeface="Trebuchet MS"/>
                <a:cs typeface="Trebuchet MS"/>
              </a:rPr>
              <a:t>Tuning</a:t>
            </a:r>
            <a:r>
              <a:rPr sz="1758" spc="-74" dirty="0">
                <a:latin typeface="Trebuchet MS"/>
                <a:cs typeface="Trebuchet MS"/>
              </a:rPr>
              <a:t> </a:t>
            </a:r>
            <a:r>
              <a:rPr sz="1758" spc="-67" dirty="0">
                <a:latin typeface="Trebuchet MS"/>
                <a:cs typeface="Trebuchet MS"/>
              </a:rPr>
              <a:t>hyperparameters</a:t>
            </a:r>
            <a:r>
              <a:rPr sz="1758" spc="-63" dirty="0">
                <a:latin typeface="Trebuchet MS"/>
                <a:cs typeface="Trebuchet MS"/>
              </a:rPr>
              <a:t> </a:t>
            </a:r>
            <a:r>
              <a:rPr sz="1758" dirty="0">
                <a:latin typeface="Trebuchet MS"/>
                <a:cs typeface="Trebuchet MS"/>
              </a:rPr>
              <a:t>is</a:t>
            </a:r>
            <a:r>
              <a:rPr sz="1758" spc="-63" dirty="0">
                <a:latin typeface="Trebuchet MS"/>
                <a:cs typeface="Trebuchet MS"/>
              </a:rPr>
              <a:t> </a:t>
            </a:r>
            <a:r>
              <a:rPr sz="1758" spc="-74" dirty="0">
                <a:latin typeface="Trebuchet MS"/>
                <a:cs typeface="Trebuchet MS"/>
              </a:rPr>
              <a:t>extremely</a:t>
            </a:r>
            <a:r>
              <a:rPr sz="1758" spc="-60" dirty="0">
                <a:latin typeface="Trebuchet MS"/>
                <a:cs typeface="Trebuchet MS"/>
              </a:rPr>
              <a:t> </a:t>
            </a:r>
            <a:r>
              <a:rPr sz="1758" spc="-7" dirty="0">
                <a:latin typeface="Trebuchet MS"/>
                <a:cs typeface="Trebuchet MS"/>
              </a:rPr>
              <a:t>important</a:t>
            </a:r>
            <a:endParaRPr sz="1758">
              <a:latin typeface="Trebuchet MS"/>
              <a:cs typeface="Trebuchet MS"/>
            </a:endParaRPr>
          </a:p>
        </p:txBody>
      </p:sp>
      <p:sp>
        <p:nvSpPr>
          <p:cNvPr id="4" name="object 4"/>
          <p:cNvSpPr txBox="1">
            <a:spLocks noGrp="1"/>
          </p:cNvSpPr>
          <p:nvPr>
            <p:ph type="title"/>
          </p:nvPr>
        </p:nvSpPr>
        <p:spPr>
          <a:xfrm>
            <a:off x="2133600" y="92525"/>
            <a:ext cx="7393781" cy="686126"/>
          </a:xfrm>
          <a:prstGeom prst="rect">
            <a:avLst/>
          </a:prstGeom>
        </p:spPr>
        <p:txBody>
          <a:bodyPr vert="horz" wrap="square" lIns="0" tIns="8930" rIns="0" bIns="0" rtlCol="0" anchor="ctr">
            <a:spAutoFit/>
          </a:bodyPr>
          <a:lstStyle/>
          <a:p>
            <a:pPr marL="8929">
              <a:lnSpc>
                <a:spcPct val="100000"/>
              </a:lnSpc>
              <a:spcBef>
                <a:spcPts val="70"/>
              </a:spcBef>
            </a:pPr>
            <a:r>
              <a:rPr spc="-176" dirty="0"/>
              <a:t>Example</a:t>
            </a:r>
            <a:r>
              <a:rPr spc="-148" dirty="0"/>
              <a:t> </a:t>
            </a:r>
            <a:r>
              <a:rPr spc="-120" dirty="0"/>
              <a:t>of</a:t>
            </a:r>
            <a:r>
              <a:rPr spc="-148" dirty="0"/>
              <a:t> </a:t>
            </a:r>
            <a:r>
              <a:rPr spc="-134" dirty="0"/>
              <a:t>reducing</a:t>
            </a:r>
            <a:r>
              <a:rPr spc="-148" dirty="0"/>
              <a:t> </a:t>
            </a:r>
            <a:r>
              <a:rPr spc="-155" dirty="0"/>
              <a:t>overfitting</a:t>
            </a:r>
          </a:p>
        </p:txBody>
      </p:sp>
      <p:pic>
        <p:nvPicPr>
          <p:cNvPr id="5" name="object 5"/>
          <p:cNvPicPr/>
          <p:nvPr/>
        </p:nvPicPr>
        <p:blipFill>
          <a:blip r:embed="rId2" cstate="print"/>
          <a:stretch>
            <a:fillRect/>
          </a:stretch>
        </p:blipFill>
        <p:spPr>
          <a:xfrm>
            <a:off x="3065089" y="3686984"/>
            <a:ext cx="6061823" cy="208994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3444627" cy="83341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42" dirty="0">
                <a:latin typeface="Trebuchet MS"/>
                <a:cs typeface="Trebuchet MS"/>
              </a:rPr>
              <a:t>Underfitting</a:t>
            </a:r>
            <a:r>
              <a:rPr sz="1758" spc="-60"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49" dirty="0">
                <a:latin typeface="Trebuchet MS"/>
                <a:cs typeface="Trebuchet MS"/>
              </a:rPr>
              <a:t>training </a:t>
            </a:r>
            <a:r>
              <a:rPr sz="1758" spc="-14" dirty="0">
                <a:latin typeface="Trebuchet MS"/>
                <a:cs typeface="Trebuchet MS"/>
              </a:rPr>
              <a:t>data</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53" dirty="0">
                <a:latin typeface="Trebuchet MS"/>
                <a:cs typeface="Trebuchet MS"/>
              </a:rPr>
              <a:t>When</a:t>
            </a:r>
            <a:r>
              <a:rPr sz="1758" spc="-102"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7" dirty="0">
                <a:latin typeface="Trebuchet MS"/>
                <a:cs typeface="Trebuchet MS"/>
              </a:rPr>
              <a:t>model</a:t>
            </a:r>
            <a:r>
              <a:rPr sz="1758" spc="-70" dirty="0">
                <a:latin typeface="Trebuchet MS"/>
                <a:cs typeface="Trebuchet MS"/>
              </a:rPr>
              <a:t> </a:t>
            </a:r>
            <a:r>
              <a:rPr sz="1758" dirty="0">
                <a:latin typeface="Trebuchet MS"/>
                <a:cs typeface="Trebuchet MS"/>
              </a:rPr>
              <a:t>is</a:t>
            </a:r>
            <a:r>
              <a:rPr sz="1758" spc="-70" dirty="0">
                <a:latin typeface="Trebuchet MS"/>
                <a:cs typeface="Trebuchet MS"/>
              </a:rPr>
              <a:t> </a:t>
            </a:r>
            <a:r>
              <a:rPr sz="1758" spc="-35" dirty="0">
                <a:latin typeface="Trebuchet MS"/>
                <a:cs typeface="Trebuchet MS"/>
              </a:rPr>
              <a:t>too</a:t>
            </a:r>
            <a:r>
              <a:rPr sz="1758" spc="-70" dirty="0">
                <a:latin typeface="Trebuchet MS"/>
                <a:cs typeface="Trebuchet MS"/>
              </a:rPr>
              <a:t> </a:t>
            </a:r>
            <a:r>
              <a:rPr sz="1758" spc="-7" dirty="0">
                <a:latin typeface="Trebuchet MS"/>
                <a:cs typeface="Trebuchet MS"/>
              </a:rPr>
              <a:t>simple</a:t>
            </a:r>
            <a:endParaRPr sz="1758">
              <a:latin typeface="Trebuchet MS"/>
              <a:cs typeface="Trebuchet MS"/>
            </a:endParaRPr>
          </a:p>
        </p:txBody>
      </p:sp>
      <p:sp>
        <p:nvSpPr>
          <p:cNvPr id="4" name="object 4"/>
          <p:cNvSpPr txBox="1"/>
          <p:nvPr/>
        </p:nvSpPr>
        <p:spPr>
          <a:xfrm>
            <a:off x="2309813" y="4054539"/>
            <a:ext cx="5857429" cy="1387280"/>
          </a:xfrm>
          <a:prstGeom prst="rect">
            <a:avLst/>
          </a:prstGeom>
        </p:spPr>
        <p:txBody>
          <a:bodyPr vert="horz" wrap="square" lIns="0" tIns="8930" rIns="0" bIns="0" rtlCol="0">
            <a:spAutoFit/>
          </a:bodyPr>
          <a:lstStyle/>
          <a:p>
            <a:pPr marL="276810" indent="-267881">
              <a:spcBef>
                <a:spcPts val="70"/>
              </a:spcBef>
              <a:buSzPct val="122000"/>
              <a:buChar char="•"/>
              <a:tabLst>
                <a:tab pos="276810" algn="l"/>
              </a:tabLst>
            </a:pPr>
            <a:r>
              <a:rPr sz="1758" spc="91" dirty="0">
                <a:latin typeface="Trebuchet MS"/>
                <a:cs typeface="Trebuchet MS"/>
              </a:rPr>
              <a:t>How</a:t>
            </a:r>
            <a:r>
              <a:rPr sz="1758" spc="-84"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spc="-14" dirty="0">
                <a:latin typeface="Trebuchet MS"/>
                <a:cs typeface="Trebuchet MS"/>
              </a:rPr>
              <a:t>solve</a:t>
            </a:r>
            <a:r>
              <a:rPr sz="1758" spc="-63" dirty="0">
                <a:latin typeface="Trebuchet MS"/>
                <a:cs typeface="Trebuchet MS"/>
              </a:rPr>
              <a:t> </a:t>
            </a:r>
            <a:r>
              <a:rPr sz="1758" spc="-49" dirty="0">
                <a:latin typeface="Trebuchet MS"/>
                <a:cs typeface="Trebuchet MS"/>
              </a:rPr>
              <a:t>this</a:t>
            </a:r>
            <a:r>
              <a:rPr sz="1758" spc="-63" dirty="0">
                <a:latin typeface="Trebuchet MS"/>
                <a:cs typeface="Trebuchet MS"/>
              </a:rPr>
              <a:t> </a:t>
            </a:r>
            <a:r>
              <a:rPr sz="1758" spc="-7" dirty="0">
                <a:latin typeface="Trebuchet MS"/>
                <a:cs typeface="Trebuchet MS"/>
              </a:rPr>
              <a:t>problem?</a:t>
            </a:r>
            <a:endParaRPr sz="1758">
              <a:latin typeface="Trebuchet MS"/>
              <a:cs typeface="Trebuchet MS"/>
            </a:endParaRPr>
          </a:p>
          <a:p>
            <a:pPr>
              <a:spcBef>
                <a:spcPts val="63"/>
              </a:spcBef>
              <a:buFont typeface="Trebuchet MS"/>
              <a:buChar char="•"/>
            </a:pPr>
            <a:endParaRPr sz="1758">
              <a:latin typeface="Trebuchet MS"/>
              <a:cs typeface="Trebuchet MS"/>
            </a:endParaRPr>
          </a:p>
          <a:p>
            <a:pPr marL="544692" lvl="1" indent="-267881">
              <a:buSzPct val="122000"/>
              <a:buChar char="•"/>
              <a:tabLst>
                <a:tab pos="544692" algn="l"/>
              </a:tabLst>
            </a:pPr>
            <a:r>
              <a:rPr sz="1758" spc="-63" dirty="0">
                <a:latin typeface="Trebuchet MS"/>
                <a:cs typeface="Trebuchet MS"/>
              </a:rPr>
              <a:t>Select</a:t>
            </a:r>
            <a:r>
              <a:rPr sz="1758" spc="-70" dirty="0">
                <a:latin typeface="Trebuchet MS"/>
                <a:cs typeface="Trebuchet MS"/>
              </a:rPr>
              <a:t> </a:t>
            </a:r>
            <a:r>
              <a:rPr sz="1758" dirty="0">
                <a:latin typeface="Trebuchet MS"/>
                <a:cs typeface="Trebuchet MS"/>
              </a:rPr>
              <a:t>a</a:t>
            </a:r>
            <a:r>
              <a:rPr sz="1758" spc="-91" dirty="0">
                <a:latin typeface="Trebuchet MS"/>
                <a:cs typeface="Trebuchet MS"/>
              </a:rPr>
              <a:t> </a:t>
            </a:r>
            <a:r>
              <a:rPr sz="1758" spc="-25" dirty="0">
                <a:latin typeface="Trebuchet MS"/>
                <a:cs typeface="Trebuchet MS"/>
              </a:rPr>
              <a:t>more</a:t>
            </a:r>
            <a:r>
              <a:rPr sz="1758" spc="-80" dirty="0">
                <a:latin typeface="Trebuchet MS"/>
                <a:cs typeface="Trebuchet MS"/>
              </a:rPr>
              <a:t> </a:t>
            </a:r>
            <a:r>
              <a:rPr sz="1758" spc="-32" dirty="0">
                <a:latin typeface="Trebuchet MS"/>
                <a:cs typeface="Trebuchet MS"/>
              </a:rPr>
              <a:t>powerful</a:t>
            </a:r>
            <a:r>
              <a:rPr sz="1758" spc="-80" dirty="0">
                <a:latin typeface="Trebuchet MS"/>
                <a:cs typeface="Trebuchet MS"/>
              </a:rPr>
              <a:t> </a:t>
            </a:r>
            <a:r>
              <a:rPr sz="1758" spc="-7" dirty="0">
                <a:latin typeface="Trebuchet MS"/>
                <a:cs typeface="Trebuchet MS"/>
              </a:rPr>
              <a:t>model</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544692" lvl="1" indent="-267881">
              <a:buSzPct val="122000"/>
              <a:buChar char="•"/>
              <a:tabLst>
                <a:tab pos="544692" algn="l"/>
              </a:tabLst>
            </a:pPr>
            <a:r>
              <a:rPr sz="1758" spc="-7" dirty="0">
                <a:latin typeface="Trebuchet MS"/>
                <a:cs typeface="Trebuchet MS"/>
              </a:rPr>
              <a:t>Reduce</a:t>
            </a:r>
            <a:r>
              <a:rPr sz="1758" spc="-105" dirty="0">
                <a:latin typeface="Trebuchet MS"/>
                <a:cs typeface="Trebuchet MS"/>
              </a:rPr>
              <a:t> </a:t>
            </a:r>
            <a:r>
              <a:rPr sz="1758" spc="-53" dirty="0">
                <a:latin typeface="Trebuchet MS"/>
                <a:cs typeface="Trebuchet MS"/>
              </a:rPr>
              <a:t>constraints</a:t>
            </a:r>
            <a:r>
              <a:rPr sz="1758" spc="-74" dirty="0">
                <a:latin typeface="Trebuchet MS"/>
                <a:cs typeface="Trebuchet MS"/>
              </a:rPr>
              <a:t> </a:t>
            </a:r>
            <a:r>
              <a:rPr sz="1758" dirty="0">
                <a:latin typeface="Trebuchet MS"/>
                <a:cs typeface="Trebuchet MS"/>
              </a:rPr>
              <a:t>on</a:t>
            </a:r>
            <a:r>
              <a:rPr sz="1758" spc="-74"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7" dirty="0">
                <a:latin typeface="Trebuchet MS"/>
                <a:cs typeface="Trebuchet MS"/>
              </a:rPr>
              <a:t>model</a:t>
            </a:r>
            <a:r>
              <a:rPr sz="1758" spc="-74" dirty="0">
                <a:latin typeface="Trebuchet MS"/>
                <a:cs typeface="Trebuchet MS"/>
              </a:rPr>
              <a:t> </a:t>
            </a:r>
            <a:r>
              <a:rPr sz="1758" dirty="0">
                <a:latin typeface="Trebuchet MS"/>
                <a:cs typeface="Trebuchet MS"/>
              </a:rPr>
              <a:t>such</a:t>
            </a:r>
            <a:r>
              <a:rPr sz="1758" spc="-74" dirty="0">
                <a:latin typeface="Trebuchet MS"/>
                <a:cs typeface="Trebuchet MS"/>
              </a:rPr>
              <a:t> </a:t>
            </a:r>
            <a:r>
              <a:rPr sz="1758" dirty="0">
                <a:latin typeface="Trebuchet MS"/>
                <a:cs typeface="Trebuchet MS"/>
              </a:rPr>
              <a:t>as</a:t>
            </a:r>
            <a:r>
              <a:rPr sz="1758" spc="-74" dirty="0">
                <a:latin typeface="Trebuchet MS"/>
                <a:cs typeface="Trebuchet MS"/>
              </a:rPr>
              <a:t> </a:t>
            </a:r>
            <a:r>
              <a:rPr sz="1758" spc="-25" dirty="0">
                <a:latin typeface="Trebuchet MS"/>
                <a:cs typeface="Trebuchet MS"/>
              </a:rPr>
              <a:t>regularization</a:t>
            </a:r>
            <a:endParaRPr sz="1758">
              <a:latin typeface="Trebuchet MS"/>
              <a:cs typeface="Trebuchet MS"/>
            </a:endParaRPr>
          </a:p>
        </p:txBody>
      </p:sp>
      <p:sp>
        <p:nvSpPr>
          <p:cNvPr id="5" name="object 5"/>
          <p:cNvSpPr txBox="1">
            <a:spLocks noGrp="1"/>
          </p:cNvSpPr>
          <p:nvPr>
            <p:ph type="title"/>
          </p:nvPr>
        </p:nvSpPr>
        <p:spPr>
          <a:xfrm>
            <a:off x="2044491" y="131917"/>
            <a:ext cx="7393781" cy="686126"/>
          </a:xfrm>
          <a:prstGeom prst="rect">
            <a:avLst/>
          </a:prstGeom>
        </p:spPr>
        <p:txBody>
          <a:bodyPr vert="horz" wrap="square" lIns="0" tIns="8930" rIns="0" bIns="0" rtlCol="0" anchor="ctr">
            <a:spAutoFit/>
          </a:bodyPr>
          <a:lstStyle/>
          <a:p>
            <a:pPr marL="8929">
              <a:lnSpc>
                <a:spcPct val="100000"/>
              </a:lnSpc>
              <a:spcBef>
                <a:spcPts val="70"/>
              </a:spcBef>
            </a:pPr>
            <a:r>
              <a:rPr spc="-134" dirty="0"/>
              <a:t>Challenges</a:t>
            </a:r>
            <a:r>
              <a:rPr spc="-161" dirty="0"/>
              <a:t> </a:t>
            </a:r>
            <a:r>
              <a:rPr spc="-120" dirty="0"/>
              <a:t>of</a:t>
            </a:r>
            <a:r>
              <a:rPr spc="-158" dirty="0"/>
              <a:t> </a:t>
            </a:r>
            <a:r>
              <a:rPr spc="-155" dirty="0"/>
              <a:t>machine</a:t>
            </a:r>
            <a:r>
              <a:rPr spc="-161" dirty="0"/>
              <a:t> </a:t>
            </a:r>
            <a:r>
              <a:rPr spc="-120" dirty="0"/>
              <a:t>learning</a:t>
            </a:r>
          </a:p>
        </p:txBody>
      </p:sp>
      <p:pic>
        <p:nvPicPr>
          <p:cNvPr id="6" name="object 6"/>
          <p:cNvPicPr/>
          <p:nvPr/>
        </p:nvPicPr>
        <p:blipFill>
          <a:blip r:embed="rId2" cstate="print"/>
          <a:stretch>
            <a:fillRect/>
          </a:stretch>
        </p:blipFill>
        <p:spPr>
          <a:xfrm>
            <a:off x="3995621" y="2083976"/>
            <a:ext cx="4077011" cy="195017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041922" y="841861"/>
            <a:ext cx="8086279" cy="2990515"/>
          </a:xfrm>
          <a:prstGeom prst="rect">
            <a:avLst/>
          </a:prstGeom>
        </p:spPr>
        <p:txBody>
          <a:bodyPr vert="horz" wrap="square" lIns="0" tIns="32147" rIns="0" bIns="0" rtlCol="0">
            <a:spAutoFit/>
          </a:bodyPr>
          <a:lstStyle/>
          <a:p>
            <a:pPr marL="276810" marR="3572" indent="-267881">
              <a:lnSpc>
                <a:spcPts val="1969"/>
              </a:lnSpc>
              <a:spcBef>
                <a:spcPts val="253"/>
              </a:spcBef>
              <a:buSzPct val="122000"/>
              <a:buChar char="•"/>
              <a:tabLst>
                <a:tab pos="276810" algn="l"/>
              </a:tabLst>
            </a:pPr>
            <a:r>
              <a:rPr sz="1758" spc="-60" dirty="0">
                <a:latin typeface="Trebuchet MS"/>
                <a:cs typeface="Trebuchet MS"/>
              </a:rPr>
              <a:t>The</a:t>
            </a:r>
            <a:r>
              <a:rPr sz="1758" spc="-74" dirty="0">
                <a:latin typeface="Trebuchet MS"/>
                <a:cs typeface="Trebuchet MS"/>
              </a:rPr>
              <a:t> </a:t>
            </a:r>
            <a:r>
              <a:rPr sz="1758" dirty="0">
                <a:latin typeface="Trebuchet MS"/>
                <a:cs typeface="Trebuchet MS"/>
              </a:rPr>
              <a:t>only</a:t>
            </a:r>
            <a:r>
              <a:rPr sz="1758" spc="-88" dirty="0">
                <a:latin typeface="Trebuchet MS"/>
                <a:cs typeface="Trebuchet MS"/>
              </a:rPr>
              <a:t> </a:t>
            </a:r>
            <a:r>
              <a:rPr sz="1758" dirty="0">
                <a:latin typeface="Trebuchet MS"/>
                <a:cs typeface="Trebuchet MS"/>
              </a:rPr>
              <a:t>way</a:t>
            </a:r>
            <a:r>
              <a:rPr sz="1758" spc="-56"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dirty="0">
                <a:latin typeface="Trebuchet MS"/>
                <a:cs typeface="Trebuchet MS"/>
              </a:rPr>
              <a:t>know</a:t>
            </a:r>
            <a:r>
              <a:rPr sz="1758" spc="-56" dirty="0">
                <a:latin typeface="Trebuchet MS"/>
                <a:cs typeface="Trebuchet MS"/>
              </a:rPr>
              <a:t> </a:t>
            </a:r>
            <a:r>
              <a:rPr sz="1758" dirty="0">
                <a:latin typeface="Trebuchet MS"/>
                <a:cs typeface="Trebuchet MS"/>
              </a:rPr>
              <a:t>how</a:t>
            </a:r>
            <a:r>
              <a:rPr sz="1758" spc="-56" dirty="0">
                <a:latin typeface="Trebuchet MS"/>
                <a:cs typeface="Trebuchet MS"/>
              </a:rPr>
              <a:t> </a:t>
            </a:r>
            <a:r>
              <a:rPr sz="1758" dirty="0">
                <a:latin typeface="Trebuchet MS"/>
                <a:cs typeface="Trebuchet MS"/>
              </a:rPr>
              <a:t>a</a:t>
            </a:r>
            <a:r>
              <a:rPr sz="1758" spc="-56" dirty="0">
                <a:latin typeface="Trebuchet MS"/>
                <a:cs typeface="Trebuchet MS"/>
              </a:rPr>
              <a:t> </a:t>
            </a:r>
            <a:r>
              <a:rPr sz="1758" spc="-7" dirty="0">
                <a:latin typeface="Trebuchet MS"/>
                <a:cs typeface="Trebuchet MS"/>
              </a:rPr>
              <a:t>model</a:t>
            </a:r>
            <a:r>
              <a:rPr sz="1758" spc="-60" dirty="0">
                <a:latin typeface="Trebuchet MS"/>
                <a:cs typeface="Trebuchet MS"/>
              </a:rPr>
              <a:t> </a:t>
            </a:r>
            <a:r>
              <a:rPr sz="1758" dirty="0">
                <a:latin typeface="Trebuchet MS"/>
                <a:cs typeface="Trebuchet MS"/>
              </a:rPr>
              <a:t>will</a:t>
            </a:r>
            <a:r>
              <a:rPr sz="1758" spc="-56" dirty="0">
                <a:latin typeface="Trebuchet MS"/>
                <a:cs typeface="Trebuchet MS"/>
              </a:rPr>
              <a:t> </a:t>
            </a:r>
            <a:r>
              <a:rPr sz="1758" spc="-39" dirty="0">
                <a:latin typeface="Trebuchet MS"/>
                <a:cs typeface="Trebuchet MS"/>
              </a:rPr>
              <a:t>generalize</a:t>
            </a:r>
            <a:r>
              <a:rPr sz="1758" spc="-56"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dirty="0">
                <a:latin typeface="Trebuchet MS"/>
                <a:cs typeface="Trebuchet MS"/>
              </a:rPr>
              <a:t>new</a:t>
            </a:r>
            <a:r>
              <a:rPr sz="1758" spc="-56" dirty="0">
                <a:latin typeface="Trebuchet MS"/>
                <a:cs typeface="Trebuchet MS"/>
              </a:rPr>
              <a:t> </a:t>
            </a:r>
            <a:r>
              <a:rPr sz="1758" spc="-35" dirty="0">
                <a:latin typeface="Trebuchet MS"/>
                <a:cs typeface="Trebuchet MS"/>
              </a:rPr>
              <a:t>cases</a:t>
            </a:r>
            <a:r>
              <a:rPr sz="1758" spc="-56" dirty="0">
                <a:latin typeface="Trebuchet MS"/>
                <a:cs typeface="Trebuchet MS"/>
              </a:rPr>
              <a:t> </a:t>
            </a:r>
            <a:r>
              <a:rPr sz="1758" dirty="0">
                <a:latin typeface="Trebuchet MS"/>
                <a:cs typeface="Trebuchet MS"/>
              </a:rPr>
              <a:t>is</a:t>
            </a:r>
            <a:r>
              <a:rPr sz="1758" spc="-60" dirty="0">
                <a:latin typeface="Trebuchet MS"/>
                <a:cs typeface="Trebuchet MS"/>
              </a:rPr>
              <a:t> </a:t>
            </a:r>
            <a:r>
              <a:rPr sz="1758" spc="-95" dirty="0">
                <a:latin typeface="Trebuchet MS"/>
                <a:cs typeface="Trebuchet MS"/>
              </a:rPr>
              <a:t>to</a:t>
            </a:r>
            <a:r>
              <a:rPr sz="1758" spc="-42" dirty="0">
                <a:latin typeface="Trebuchet MS"/>
                <a:cs typeface="Trebuchet MS"/>
              </a:rPr>
              <a:t> actually</a:t>
            </a:r>
            <a:r>
              <a:rPr sz="1758" spc="-56" dirty="0">
                <a:latin typeface="Trebuchet MS"/>
                <a:cs typeface="Trebuchet MS"/>
              </a:rPr>
              <a:t> </a:t>
            </a:r>
            <a:r>
              <a:rPr sz="1758" spc="-18" dirty="0">
                <a:latin typeface="Trebuchet MS"/>
                <a:cs typeface="Trebuchet MS"/>
              </a:rPr>
              <a:t>try </a:t>
            </a:r>
            <a:r>
              <a:rPr sz="1758" spc="-120" dirty="0">
                <a:latin typeface="Trebuchet MS"/>
                <a:cs typeface="Trebuchet MS"/>
              </a:rPr>
              <a:t>it</a:t>
            </a:r>
            <a:r>
              <a:rPr sz="1758" spc="-42" dirty="0">
                <a:latin typeface="Trebuchet MS"/>
                <a:cs typeface="Trebuchet MS"/>
              </a:rPr>
              <a:t> </a:t>
            </a:r>
            <a:r>
              <a:rPr sz="1758" spc="-35" dirty="0">
                <a:latin typeface="Trebuchet MS"/>
                <a:cs typeface="Trebuchet MS"/>
              </a:rPr>
              <a:t>out</a:t>
            </a:r>
            <a:r>
              <a:rPr sz="1758" spc="-60" dirty="0">
                <a:latin typeface="Trebuchet MS"/>
                <a:cs typeface="Trebuchet MS"/>
              </a:rPr>
              <a:t> </a:t>
            </a:r>
            <a:r>
              <a:rPr sz="1758" dirty="0">
                <a:latin typeface="Trebuchet MS"/>
                <a:cs typeface="Trebuchet MS"/>
              </a:rPr>
              <a:t>on</a:t>
            </a:r>
            <a:r>
              <a:rPr sz="1758" spc="-49" dirty="0">
                <a:latin typeface="Trebuchet MS"/>
                <a:cs typeface="Trebuchet MS"/>
              </a:rPr>
              <a:t> </a:t>
            </a:r>
            <a:r>
              <a:rPr sz="1758" dirty="0">
                <a:latin typeface="Trebuchet MS"/>
                <a:cs typeface="Trebuchet MS"/>
              </a:rPr>
              <a:t>new</a:t>
            </a:r>
            <a:r>
              <a:rPr sz="1758" spc="-53" dirty="0">
                <a:latin typeface="Trebuchet MS"/>
                <a:cs typeface="Trebuchet MS"/>
              </a:rPr>
              <a:t> </a:t>
            </a:r>
            <a:r>
              <a:rPr sz="1758" spc="-7" dirty="0">
                <a:latin typeface="Trebuchet MS"/>
                <a:cs typeface="Trebuchet MS"/>
              </a:rPr>
              <a:t>cases</a:t>
            </a:r>
            <a:endParaRPr sz="1758">
              <a:latin typeface="Trebuchet MS"/>
              <a:cs typeface="Trebuchet MS"/>
            </a:endParaRPr>
          </a:p>
          <a:p>
            <a:pPr>
              <a:spcBef>
                <a:spcPts val="18"/>
              </a:spcBef>
              <a:buFont typeface="Trebuchet MS"/>
              <a:buChar char="•"/>
            </a:pPr>
            <a:endParaRPr sz="1758">
              <a:latin typeface="Trebuchet MS"/>
              <a:cs typeface="Trebuchet MS"/>
            </a:endParaRPr>
          </a:p>
          <a:p>
            <a:pPr marL="276810" indent="-267881">
              <a:spcBef>
                <a:spcPts val="4"/>
              </a:spcBef>
              <a:buSzPct val="122000"/>
              <a:buChar char="•"/>
              <a:tabLst>
                <a:tab pos="276810" algn="l"/>
              </a:tabLst>
            </a:pPr>
            <a:r>
              <a:rPr sz="1758" spc="-35" dirty="0">
                <a:latin typeface="Trebuchet MS"/>
                <a:cs typeface="Trebuchet MS"/>
              </a:rPr>
              <a:t>Split</a:t>
            </a:r>
            <a:r>
              <a:rPr sz="1758" spc="-98" dirty="0">
                <a:latin typeface="Trebuchet MS"/>
                <a:cs typeface="Trebuchet MS"/>
              </a:rPr>
              <a:t> the</a:t>
            </a:r>
            <a:r>
              <a:rPr sz="1758" spc="-42" dirty="0">
                <a:latin typeface="Trebuchet MS"/>
                <a:cs typeface="Trebuchet MS"/>
              </a:rPr>
              <a:t> </a:t>
            </a:r>
            <a:r>
              <a:rPr sz="1758" spc="-39" dirty="0">
                <a:latin typeface="Trebuchet MS"/>
                <a:cs typeface="Trebuchet MS"/>
              </a:rPr>
              <a:t>available</a:t>
            </a:r>
            <a:r>
              <a:rPr sz="1758" spc="-63" dirty="0">
                <a:latin typeface="Trebuchet MS"/>
                <a:cs typeface="Trebuchet MS"/>
              </a:rPr>
              <a:t> </a:t>
            </a:r>
            <a:r>
              <a:rPr sz="1758" spc="-77" dirty="0">
                <a:latin typeface="Trebuchet MS"/>
                <a:cs typeface="Trebuchet MS"/>
              </a:rPr>
              <a:t>data</a:t>
            </a:r>
            <a:r>
              <a:rPr sz="1758" spc="-53" dirty="0">
                <a:latin typeface="Trebuchet MS"/>
                <a:cs typeface="Trebuchet MS"/>
              </a:rPr>
              <a:t> </a:t>
            </a:r>
            <a:r>
              <a:rPr sz="1758" spc="-35" dirty="0">
                <a:latin typeface="Trebuchet MS"/>
                <a:cs typeface="Trebuchet MS"/>
              </a:rPr>
              <a:t>into</a:t>
            </a:r>
            <a:r>
              <a:rPr sz="1758" spc="-60" dirty="0">
                <a:latin typeface="Trebuchet MS"/>
                <a:cs typeface="Trebuchet MS"/>
              </a:rPr>
              <a:t> </a:t>
            </a:r>
            <a:r>
              <a:rPr sz="1758" spc="-35" dirty="0">
                <a:latin typeface="Trebuchet MS"/>
                <a:cs typeface="Trebuchet MS"/>
              </a:rPr>
              <a:t>two</a:t>
            </a:r>
            <a:r>
              <a:rPr sz="1758" spc="-56" dirty="0">
                <a:latin typeface="Trebuchet MS"/>
                <a:cs typeface="Trebuchet MS"/>
              </a:rPr>
              <a:t> </a:t>
            </a:r>
            <a:r>
              <a:rPr sz="1758" spc="-109" dirty="0">
                <a:latin typeface="Trebuchet MS"/>
                <a:cs typeface="Trebuchet MS"/>
              </a:rPr>
              <a:t>sets:</a:t>
            </a:r>
            <a:r>
              <a:rPr sz="1758" spc="-42" dirty="0">
                <a:latin typeface="Trebuchet MS"/>
                <a:cs typeface="Trebuchet MS"/>
              </a:rPr>
              <a:t> </a:t>
            </a:r>
            <a:r>
              <a:rPr sz="1758" spc="-49" dirty="0">
                <a:latin typeface="Trebuchet MS"/>
                <a:cs typeface="Trebuchet MS"/>
              </a:rPr>
              <a:t>training</a:t>
            </a:r>
            <a:r>
              <a:rPr sz="1758" spc="-56" dirty="0">
                <a:latin typeface="Trebuchet MS"/>
                <a:cs typeface="Trebuchet MS"/>
              </a:rPr>
              <a:t> </a:t>
            </a:r>
            <a:r>
              <a:rPr sz="1758" spc="-112" dirty="0">
                <a:latin typeface="Trebuchet MS"/>
                <a:cs typeface="Trebuchet MS"/>
              </a:rPr>
              <a:t>set</a:t>
            </a:r>
            <a:r>
              <a:rPr sz="1758" spc="-42" dirty="0">
                <a:latin typeface="Trebuchet MS"/>
                <a:cs typeface="Trebuchet MS"/>
              </a:rPr>
              <a:t> </a:t>
            </a:r>
            <a:r>
              <a:rPr sz="1758" dirty="0">
                <a:latin typeface="Trebuchet MS"/>
                <a:cs typeface="Trebuchet MS"/>
              </a:rPr>
              <a:t>and</a:t>
            </a:r>
            <a:r>
              <a:rPr sz="1758" spc="-56" dirty="0">
                <a:latin typeface="Trebuchet MS"/>
                <a:cs typeface="Trebuchet MS"/>
              </a:rPr>
              <a:t> </a:t>
            </a:r>
            <a:r>
              <a:rPr sz="1758" spc="-77" dirty="0">
                <a:latin typeface="Trebuchet MS"/>
                <a:cs typeface="Trebuchet MS"/>
              </a:rPr>
              <a:t>testing</a:t>
            </a:r>
            <a:r>
              <a:rPr sz="1758" spc="-53" dirty="0">
                <a:latin typeface="Trebuchet MS"/>
                <a:cs typeface="Trebuchet MS"/>
              </a:rPr>
              <a:t> </a:t>
            </a:r>
            <a:r>
              <a:rPr sz="1758" spc="-18" dirty="0">
                <a:latin typeface="Trebuchet MS"/>
                <a:cs typeface="Trebuchet MS"/>
              </a:rPr>
              <a:t>set</a:t>
            </a:r>
            <a:endParaRPr sz="1758">
              <a:latin typeface="Trebuchet MS"/>
              <a:cs typeface="Trebuchet MS"/>
            </a:endParaRPr>
          </a:p>
          <a:p>
            <a:pPr>
              <a:spcBef>
                <a:spcPts val="246"/>
              </a:spcBef>
              <a:buFont typeface="Trebuchet MS"/>
              <a:buChar char="•"/>
            </a:pPr>
            <a:endParaRPr sz="1758">
              <a:latin typeface="Trebuchet MS"/>
              <a:cs typeface="Trebuchet MS"/>
            </a:endParaRPr>
          </a:p>
          <a:p>
            <a:pPr marL="544692" marR="476828" lvl="1" indent="-267881">
              <a:lnSpc>
                <a:spcPts val="1969"/>
              </a:lnSpc>
              <a:buSzPct val="122000"/>
              <a:buChar char="•"/>
              <a:tabLst>
                <a:tab pos="544692" algn="l"/>
              </a:tabLst>
            </a:pPr>
            <a:r>
              <a:rPr sz="1758" spc="-60" dirty="0">
                <a:latin typeface="Trebuchet MS"/>
                <a:cs typeface="Trebuchet MS"/>
              </a:rPr>
              <a:t>The</a:t>
            </a:r>
            <a:r>
              <a:rPr sz="1758" spc="-74" dirty="0">
                <a:latin typeface="Trebuchet MS"/>
                <a:cs typeface="Trebuchet MS"/>
              </a:rPr>
              <a:t> </a:t>
            </a:r>
            <a:r>
              <a:rPr sz="1758" spc="-70" dirty="0">
                <a:latin typeface="Trebuchet MS"/>
                <a:cs typeface="Trebuchet MS"/>
              </a:rPr>
              <a:t>error</a:t>
            </a:r>
            <a:r>
              <a:rPr sz="1758" spc="-60" dirty="0">
                <a:latin typeface="Trebuchet MS"/>
                <a:cs typeface="Trebuchet MS"/>
              </a:rPr>
              <a:t> </a:t>
            </a:r>
            <a:r>
              <a:rPr sz="1758" dirty="0">
                <a:latin typeface="Trebuchet MS"/>
                <a:cs typeface="Trebuchet MS"/>
              </a:rPr>
              <a:t>on</a:t>
            </a:r>
            <a:r>
              <a:rPr sz="1758" spc="-63"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134" dirty="0">
                <a:latin typeface="Trebuchet MS"/>
                <a:cs typeface="Trebuchet MS"/>
              </a:rPr>
              <a:t>test</a:t>
            </a:r>
            <a:r>
              <a:rPr sz="1758" spc="-42" dirty="0">
                <a:latin typeface="Trebuchet MS"/>
                <a:cs typeface="Trebuchet MS"/>
              </a:rPr>
              <a:t> </a:t>
            </a:r>
            <a:r>
              <a:rPr sz="1758" spc="-112" dirty="0">
                <a:latin typeface="Trebuchet MS"/>
                <a:cs typeface="Trebuchet MS"/>
              </a:rPr>
              <a:t>set</a:t>
            </a:r>
            <a:r>
              <a:rPr sz="1758" spc="-42" dirty="0">
                <a:latin typeface="Trebuchet MS"/>
                <a:cs typeface="Trebuchet MS"/>
              </a:rPr>
              <a:t> </a:t>
            </a:r>
            <a:r>
              <a:rPr sz="1758" dirty="0">
                <a:latin typeface="Trebuchet MS"/>
                <a:cs typeface="Trebuchet MS"/>
              </a:rPr>
              <a:t>is</a:t>
            </a:r>
            <a:r>
              <a:rPr sz="1758" spc="-53" dirty="0">
                <a:latin typeface="Trebuchet MS"/>
                <a:cs typeface="Trebuchet MS"/>
              </a:rPr>
              <a:t> </a:t>
            </a:r>
            <a:r>
              <a:rPr sz="1758" spc="-21" dirty="0">
                <a:latin typeface="Trebuchet MS"/>
                <a:cs typeface="Trebuchet MS"/>
              </a:rPr>
              <a:t>called</a:t>
            </a:r>
            <a:r>
              <a:rPr sz="1758" spc="-53" dirty="0">
                <a:latin typeface="Trebuchet MS"/>
                <a:cs typeface="Trebuchet MS"/>
              </a:rPr>
              <a:t> </a:t>
            </a:r>
            <a:r>
              <a:rPr sz="1758" spc="-98" dirty="0">
                <a:latin typeface="Trebuchet MS"/>
                <a:cs typeface="Trebuchet MS"/>
              </a:rPr>
              <a:t>the</a:t>
            </a:r>
            <a:r>
              <a:rPr sz="1758" spc="-42" dirty="0">
                <a:latin typeface="Trebuchet MS"/>
                <a:cs typeface="Trebuchet MS"/>
              </a:rPr>
              <a:t> </a:t>
            </a:r>
            <a:r>
              <a:rPr sz="1758" spc="-39" dirty="0">
                <a:latin typeface="Trebuchet MS"/>
                <a:cs typeface="Trebuchet MS"/>
              </a:rPr>
              <a:t>generalization</a:t>
            </a:r>
            <a:r>
              <a:rPr sz="1758" spc="-49" dirty="0">
                <a:latin typeface="Trebuchet MS"/>
                <a:cs typeface="Trebuchet MS"/>
              </a:rPr>
              <a:t> </a:t>
            </a:r>
            <a:r>
              <a:rPr sz="1758" spc="-70" dirty="0">
                <a:latin typeface="Trebuchet MS"/>
                <a:cs typeface="Trebuchet MS"/>
              </a:rPr>
              <a:t>error</a:t>
            </a:r>
            <a:r>
              <a:rPr sz="1758" spc="-53" dirty="0">
                <a:latin typeface="Trebuchet MS"/>
                <a:cs typeface="Trebuchet MS"/>
              </a:rPr>
              <a:t> </a:t>
            </a:r>
            <a:r>
              <a:rPr sz="1758" dirty="0">
                <a:latin typeface="Trebuchet MS"/>
                <a:cs typeface="Trebuchet MS"/>
              </a:rPr>
              <a:t>or</a:t>
            </a:r>
            <a:r>
              <a:rPr sz="1758" spc="-53" dirty="0">
                <a:latin typeface="Trebuchet MS"/>
                <a:cs typeface="Trebuchet MS"/>
              </a:rPr>
              <a:t> out-</a:t>
            </a:r>
            <a:r>
              <a:rPr sz="1758" spc="-49" dirty="0">
                <a:latin typeface="Trebuchet MS"/>
                <a:cs typeface="Trebuchet MS"/>
              </a:rPr>
              <a:t>of-</a:t>
            </a:r>
            <a:r>
              <a:rPr sz="1758" spc="-7" dirty="0">
                <a:latin typeface="Trebuchet MS"/>
                <a:cs typeface="Trebuchet MS"/>
              </a:rPr>
              <a:t>sample error</a:t>
            </a:r>
            <a:endParaRPr sz="1758">
              <a:latin typeface="Trebuchet MS"/>
              <a:cs typeface="Trebuchet MS"/>
            </a:endParaRPr>
          </a:p>
          <a:p>
            <a:pPr lvl="1">
              <a:spcBef>
                <a:spcPts val="21"/>
              </a:spcBef>
              <a:buFont typeface="Trebuchet MS"/>
              <a:buChar char="•"/>
            </a:pPr>
            <a:endParaRPr sz="1758">
              <a:latin typeface="Trebuchet MS"/>
              <a:cs typeface="Trebuchet MS"/>
            </a:endParaRPr>
          </a:p>
          <a:p>
            <a:pPr marL="544692" lvl="1" indent="-267881">
              <a:buSzPct val="122000"/>
              <a:buChar char="•"/>
              <a:tabLst>
                <a:tab pos="544692" algn="l"/>
              </a:tabLst>
            </a:pPr>
            <a:r>
              <a:rPr sz="1758" spc="-84" dirty="0">
                <a:latin typeface="Trebuchet MS"/>
                <a:cs typeface="Trebuchet MS"/>
              </a:rPr>
              <a:t>If</a:t>
            </a:r>
            <a:r>
              <a:rPr sz="1758" spc="-49" dirty="0">
                <a:latin typeface="Trebuchet MS"/>
                <a:cs typeface="Trebuchet MS"/>
              </a:rPr>
              <a:t> training</a:t>
            </a:r>
            <a:r>
              <a:rPr sz="1758" spc="-67" dirty="0">
                <a:latin typeface="Trebuchet MS"/>
                <a:cs typeface="Trebuchet MS"/>
              </a:rPr>
              <a:t> </a:t>
            </a:r>
            <a:r>
              <a:rPr sz="1758" spc="-70" dirty="0">
                <a:latin typeface="Trebuchet MS"/>
                <a:cs typeface="Trebuchet MS"/>
              </a:rPr>
              <a:t>error</a:t>
            </a:r>
            <a:r>
              <a:rPr sz="1758" spc="-56" dirty="0">
                <a:latin typeface="Trebuchet MS"/>
                <a:cs typeface="Trebuchet MS"/>
              </a:rPr>
              <a:t> </a:t>
            </a:r>
            <a:r>
              <a:rPr sz="1758" dirty="0">
                <a:latin typeface="Trebuchet MS"/>
                <a:cs typeface="Trebuchet MS"/>
              </a:rPr>
              <a:t>is</a:t>
            </a:r>
            <a:r>
              <a:rPr sz="1758" spc="-56" dirty="0">
                <a:latin typeface="Trebuchet MS"/>
                <a:cs typeface="Trebuchet MS"/>
              </a:rPr>
              <a:t> </a:t>
            </a:r>
            <a:r>
              <a:rPr sz="1758" dirty="0">
                <a:latin typeface="Trebuchet MS"/>
                <a:cs typeface="Trebuchet MS"/>
              </a:rPr>
              <a:t>low</a:t>
            </a:r>
            <a:r>
              <a:rPr sz="1758" spc="-56" dirty="0">
                <a:latin typeface="Trebuchet MS"/>
                <a:cs typeface="Trebuchet MS"/>
              </a:rPr>
              <a:t> </a:t>
            </a:r>
            <a:r>
              <a:rPr sz="1758" dirty="0">
                <a:latin typeface="Trebuchet MS"/>
                <a:cs typeface="Trebuchet MS"/>
              </a:rPr>
              <a:t>and</a:t>
            </a:r>
            <a:r>
              <a:rPr sz="1758" spc="-56" dirty="0">
                <a:latin typeface="Trebuchet MS"/>
                <a:cs typeface="Trebuchet MS"/>
              </a:rPr>
              <a:t> </a:t>
            </a:r>
            <a:r>
              <a:rPr sz="1758" spc="-39" dirty="0">
                <a:latin typeface="Trebuchet MS"/>
                <a:cs typeface="Trebuchet MS"/>
              </a:rPr>
              <a:t>generalization</a:t>
            </a:r>
            <a:r>
              <a:rPr sz="1758" spc="-56" dirty="0">
                <a:latin typeface="Trebuchet MS"/>
                <a:cs typeface="Trebuchet MS"/>
              </a:rPr>
              <a:t> </a:t>
            </a:r>
            <a:r>
              <a:rPr sz="1758" spc="-70" dirty="0">
                <a:latin typeface="Trebuchet MS"/>
                <a:cs typeface="Trebuchet MS"/>
              </a:rPr>
              <a:t>error</a:t>
            </a:r>
            <a:r>
              <a:rPr sz="1758" spc="-56" dirty="0">
                <a:latin typeface="Trebuchet MS"/>
                <a:cs typeface="Trebuchet MS"/>
              </a:rPr>
              <a:t> </a:t>
            </a:r>
            <a:r>
              <a:rPr sz="1758" dirty="0">
                <a:latin typeface="Trebuchet MS"/>
                <a:cs typeface="Trebuchet MS"/>
              </a:rPr>
              <a:t>is</a:t>
            </a:r>
            <a:r>
              <a:rPr sz="1758" spc="-56" dirty="0">
                <a:latin typeface="Trebuchet MS"/>
                <a:cs typeface="Trebuchet MS"/>
              </a:rPr>
              <a:t> </a:t>
            </a:r>
            <a:r>
              <a:rPr sz="1758" spc="-18" dirty="0">
                <a:latin typeface="Trebuchet MS"/>
                <a:cs typeface="Trebuchet MS"/>
              </a:rPr>
              <a:t>high,</a:t>
            </a:r>
            <a:r>
              <a:rPr sz="1758" spc="-56" dirty="0">
                <a:latin typeface="Trebuchet MS"/>
                <a:cs typeface="Trebuchet MS"/>
              </a:rPr>
              <a:t> then </a:t>
            </a:r>
            <a:r>
              <a:rPr sz="1758" spc="-74" dirty="0">
                <a:latin typeface="Trebuchet MS"/>
                <a:cs typeface="Trebuchet MS"/>
              </a:rPr>
              <a:t>overfitting</a:t>
            </a:r>
            <a:r>
              <a:rPr sz="1758" spc="-56" dirty="0">
                <a:latin typeface="Trebuchet MS"/>
                <a:cs typeface="Trebuchet MS"/>
              </a:rPr>
              <a:t> </a:t>
            </a:r>
            <a:r>
              <a:rPr sz="1758" spc="-7" dirty="0">
                <a:latin typeface="Trebuchet MS"/>
                <a:cs typeface="Trebuchet MS"/>
              </a:rPr>
              <a:t>occurs</a:t>
            </a:r>
            <a:endParaRPr sz="1758">
              <a:latin typeface="Trebuchet MS"/>
              <a:cs typeface="Trebuchet MS"/>
            </a:endParaRPr>
          </a:p>
          <a:p>
            <a:pPr lvl="1">
              <a:spcBef>
                <a:spcPts val="67"/>
              </a:spcBef>
              <a:buFont typeface="Trebuchet MS"/>
              <a:buChar char="•"/>
            </a:pPr>
            <a:endParaRPr sz="1758">
              <a:latin typeface="Trebuchet MS"/>
              <a:cs typeface="Trebuchet MS"/>
            </a:endParaRPr>
          </a:p>
          <a:p>
            <a:pPr marL="276810" indent="-267881">
              <a:buSzPct val="122000"/>
              <a:buChar char="•"/>
              <a:tabLst>
                <a:tab pos="276810" algn="l"/>
              </a:tabLst>
            </a:pPr>
            <a:r>
              <a:rPr sz="1758" spc="91" dirty="0">
                <a:latin typeface="Trebuchet MS"/>
                <a:cs typeface="Trebuchet MS"/>
              </a:rPr>
              <a:t>How</a:t>
            </a:r>
            <a:r>
              <a:rPr sz="1758" spc="-91" dirty="0">
                <a:latin typeface="Trebuchet MS"/>
                <a:cs typeface="Trebuchet MS"/>
              </a:rPr>
              <a:t> </a:t>
            </a:r>
            <a:r>
              <a:rPr sz="1758" spc="-95" dirty="0">
                <a:latin typeface="Trebuchet MS"/>
                <a:cs typeface="Trebuchet MS"/>
              </a:rPr>
              <a:t>to</a:t>
            </a:r>
            <a:r>
              <a:rPr sz="1758" spc="-42" dirty="0">
                <a:latin typeface="Trebuchet MS"/>
                <a:cs typeface="Trebuchet MS"/>
              </a:rPr>
              <a:t> </a:t>
            </a:r>
            <a:r>
              <a:rPr sz="1758" dirty="0">
                <a:latin typeface="Trebuchet MS"/>
                <a:cs typeface="Trebuchet MS"/>
              </a:rPr>
              <a:t>choose</a:t>
            </a:r>
            <a:r>
              <a:rPr sz="1758" spc="-63" dirty="0">
                <a:latin typeface="Trebuchet MS"/>
                <a:cs typeface="Trebuchet MS"/>
              </a:rPr>
              <a:t> </a:t>
            </a:r>
            <a:r>
              <a:rPr sz="1758" spc="-56" dirty="0">
                <a:latin typeface="Trebuchet MS"/>
                <a:cs typeface="Trebuchet MS"/>
              </a:rPr>
              <a:t>suitable</a:t>
            </a:r>
            <a:r>
              <a:rPr sz="1758" spc="-60" dirty="0">
                <a:latin typeface="Trebuchet MS"/>
                <a:cs typeface="Trebuchet MS"/>
              </a:rPr>
              <a:t> </a:t>
            </a:r>
            <a:r>
              <a:rPr sz="1758" spc="-7" dirty="0">
                <a:latin typeface="Trebuchet MS"/>
                <a:cs typeface="Trebuchet MS"/>
              </a:rPr>
              <a:t>models</a:t>
            </a:r>
            <a:r>
              <a:rPr sz="1758" spc="-63" dirty="0">
                <a:latin typeface="Trebuchet MS"/>
                <a:cs typeface="Trebuchet MS"/>
              </a:rPr>
              <a:t> </a:t>
            </a:r>
            <a:r>
              <a:rPr sz="1758" dirty="0">
                <a:latin typeface="Trebuchet MS"/>
                <a:cs typeface="Trebuchet MS"/>
              </a:rPr>
              <a:t>and</a:t>
            </a:r>
            <a:r>
              <a:rPr sz="1758" spc="-63" dirty="0">
                <a:latin typeface="Trebuchet MS"/>
                <a:cs typeface="Trebuchet MS"/>
              </a:rPr>
              <a:t> </a:t>
            </a:r>
            <a:r>
              <a:rPr sz="1758" spc="-74" dirty="0">
                <a:latin typeface="Trebuchet MS"/>
                <a:cs typeface="Trebuchet MS"/>
              </a:rPr>
              <a:t>their</a:t>
            </a:r>
            <a:r>
              <a:rPr sz="1758" spc="-60" dirty="0">
                <a:latin typeface="Trebuchet MS"/>
                <a:cs typeface="Trebuchet MS"/>
              </a:rPr>
              <a:t> </a:t>
            </a:r>
            <a:r>
              <a:rPr sz="1758" spc="-7" dirty="0">
                <a:latin typeface="Trebuchet MS"/>
                <a:cs typeface="Trebuchet MS"/>
              </a:rPr>
              <a:t>hyperparameters?</a:t>
            </a:r>
            <a:endParaRPr sz="1758">
              <a:latin typeface="Trebuchet MS"/>
              <a:cs typeface="Trebuchet MS"/>
            </a:endParaRPr>
          </a:p>
        </p:txBody>
      </p:sp>
      <p:sp>
        <p:nvSpPr>
          <p:cNvPr id="4" name="object 4"/>
          <p:cNvSpPr txBox="1">
            <a:spLocks noGrp="1"/>
          </p:cNvSpPr>
          <p:nvPr>
            <p:ph type="title"/>
          </p:nvPr>
        </p:nvSpPr>
        <p:spPr>
          <a:xfrm>
            <a:off x="2091041" y="99491"/>
            <a:ext cx="7393781" cy="686126"/>
          </a:xfrm>
          <a:prstGeom prst="rect">
            <a:avLst/>
          </a:prstGeom>
        </p:spPr>
        <p:txBody>
          <a:bodyPr vert="horz" wrap="square" lIns="0" tIns="8930" rIns="0" bIns="0" rtlCol="0" anchor="ctr">
            <a:spAutoFit/>
          </a:bodyPr>
          <a:lstStyle/>
          <a:p>
            <a:pPr marL="8929">
              <a:lnSpc>
                <a:spcPct val="100000"/>
              </a:lnSpc>
              <a:spcBef>
                <a:spcPts val="70"/>
              </a:spcBef>
            </a:pPr>
            <a:r>
              <a:rPr spc="-478" dirty="0"/>
              <a:t>T</a:t>
            </a:r>
            <a:r>
              <a:rPr spc="-176" dirty="0"/>
              <a:t>e</a:t>
            </a:r>
            <a:r>
              <a:rPr spc="-172" dirty="0"/>
              <a:t>s</a:t>
            </a:r>
            <a:r>
              <a:rPr spc="-179" dirty="0"/>
              <a:t>t</a:t>
            </a:r>
            <a:r>
              <a:rPr spc="-172" dirty="0"/>
              <a:t>in</a:t>
            </a:r>
            <a:r>
              <a:rPr spc="-109" dirty="0"/>
              <a:t>g</a:t>
            </a:r>
            <a:r>
              <a:rPr spc="-165" dirty="0"/>
              <a:t> </a:t>
            </a:r>
            <a:r>
              <a:rPr spc="-127" dirty="0"/>
              <a:t>and</a:t>
            </a:r>
            <a:r>
              <a:rPr spc="-165" dirty="0"/>
              <a:t> </a:t>
            </a:r>
            <a:r>
              <a:rPr spc="-123" dirty="0"/>
              <a:t>validation</a:t>
            </a:r>
          </a:p>
        </p:txBody>
      </p:sp>
      <p:pic>
        <p:nvPicPr>
          <p:cNvPr id="5" name="object 5"/>
          <p:cNvPicPr/>
          <p:nvPr/>
        </p:nvPicPr>
        <p:blipFill>
          <a:blip r:embed="rId2" cstate="print"/>
          <a:stretch>
            <a:fillRect/>
          </a:stretch>
        </p:blipFill>
        <p:spPr>
          <a:xfrm>
            <a:off x="3973254" y="4196082"/>
            <a:ext cx="4245493" cy="133399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805" y="941238"/>
            <a:ext cx="6997700" cy="4023995"/>
          </a:xfrm>
          <a:prstGeom prst="rect">
            <a:avLst/>
          </a:prstGeom>
        </p:spPr>
        <p:txBody>
          <a:bodyPr vert="horz" wrap="square" lIns="0" tIns="57150" rIns="0" bIns="0" rtlCol="0">
            <a:spAutoFit/>
          </a:bodyPr>
          <a:lstStyle/>
          <a:p>
            <a:pPr marL="12700">
              <a:lnSpc>
                <a:spcPct val="100000"/>
              </a:lnSpc>
              <a:spcBef>
                <a:spcPts val="450"/>
              </a:spcBef>
            </a:pPr>
            <a:r>
              <a:rPr sz="2400" b="1" spc="155" dirty="0">
                <a:latin typeface="Cambria"/>
                <a:cs typeface="Cambria"/>
              </a:rPr>
              <a:t>Algorithms</a:t>
            </a:r>
            <a:r>
              <a:rPr sz="2400" b="1" spc="229" dirty="0">
                <a:latin typeface="Cambria"/>
                <a:cs typeface="Cambria"/>
              </a:rPr>
              <a:t> </a:t>
            </a:r>
            <a:r>
              <a:rPr sz="2400" b="1" spc="170" dirty="0">
                <a:latin typeface="Cambria"/>
                <a:cs typeface="Cambria"/>
              </a:rPr>
              <a:t>and</a:t>
            </a:r>
            <a:r>
              <a:rPr sz="2400" b="1" spc="204" dirty="0">
                <a:latin typeface="Cambria"/>
                <a:cs typeface="Cambria"/>
              </a:rPr>
              <a:t> </a:t>
            </a:r>
            <a:r>
              <a:rPr sz="2400" b="1" spc="135" dirty="0">
                <a:latin typeface="Cambria"/>
                <a:cs typeface="Cambria"/>
              </a:rPr>
              <a:t>Models</a:t>
            </a:r>
            <a:endParaRPr sz="2400">
              <a:latin typeface="Cambria"/>
              <a:cs typeface="Cambria"/>
            </a:endParaRPr>
          </a:p>
          <a:p>
            <a:pPr marL="196215" indent="-183515">
              <a:lnSpc>
                <a:spcPct val="100000"/>
              </a:lnSpc>
              <a:spcBef>
                <a:spcPts val="295"/>
              </a:spcBef>
              <a:buClr>
                <a:srgbClr val="6E6E74"/>
              </a:buClr>
              <a:buSzPct val="80000"/>
              <a:buFont typeface="Arial MT"/>
              <a:buChar char="•"/>
              <a:tabLst>
                <a:tab pos="196215" algn="l"/>
              </a:tabLst>
            </a:pPr>
            <a:r>
              <a:rPr sz="2000" b="1" spc="125" dirty="0">
                <a:latin typeface="Cambria"/>
                <a:cs typeface="Cambria"/>
              </a:rPr>
              <a:t>Algorithms</a:t>
            </a:r>
            <a:endParaRPr sz="2000">
              <a:latin typeface="Cambria"/>
              <a:cs typeface="Cambria"/>
            </a:endParaRPr>
          </a:p>
          <a:p>
            <a:pPr marL="469900" marR="5715" lvl="1" indent="-182880">
              <a:lnSpc>
                <a:spcPts val="1730"/>
              </a:lnSpc>
              <a:spcBef>
                <a:spcPts val="434"/>
              </a:spcBef>
              <a:buClr>
                <a:srgbClr val="6E6E74"/>
              </a:buClr>
              <a:buFont typeface="Arial MT"/>
              <a:buChar char="•"/>
              <a:tabLst>
                <a:tab pos="469900" algn="l"/>
              </a:tabLst>
            </a:pPr>
            <a:r>
              <a:rPr sz="1600" spc="60" dirty="0">
                <a:solidFill>
                  <a:srgbClr val="252525"/>
                </a:solidFill>
                <a:latin typeface="Cambria"/>
                <a:cs typeface="Cambria"/>
              </a:rPr>
              <a:t>Step-</a:t>
            </a:r>
            <a:r>
              <a:rPr sz="1600" dirty="0">
                <a:solidFill>
                  <a:srgbClr val="252525"/>
                </a:solidFill>
                <a:latin typeface="Cambria"/>
                <a:cs typeface="Cambria"/>
              </a:rPr>
              <a:t>by-step</a:t>
            </a:r>
            <a:r>
              <a:rPr sz="1600" spc="105" dirty="0">
                <a:solidFill>
                  <a:srgbClr val="252525"/>
                </a:solidFill>
                <a:latin typeface="Cambria"/>
                <a:cs typeface="Cambria"/>
              </a:rPr>
              <a:t>  </a:t>
            </a:r>
            <a:r>
              <a:rPr sz="1600" dirty="0">
                <a:solidFill>
                  <a:srgbClr val="252525"/>
                </a:solidFill>
                <a:latin typeface="Cambria"/>
                <a:cs typeface="Cambria"/>
              </a:rPr>
              <a:t>procedures</a:t>
            </a:r>
            <a:r>
              <a:rPr sz="1600" spc="105" dirty="0">
                <a:solidFill>
                  <a:srgbClr val="252525"/>
                </a:solidFill>
                <a:latin typeface="Cambria"/>
                <a:cs typeface="Cambria"/>
              </a:rPr>
              <a:t>  </a:t>
            </a:r>
            <a:r>
              <a:rPr sz="1600" dirty="0">
                <a:solidFill>
                  <a:srgbClr val="252525"/>
                </a:solidFill>
                <a:latin typeface="Cambria"/>
                <a:cs typeface="Cambria"/>
              </a:rPr>
              <a:t>or</a:t>
            </a:r>
            <a:r>
              <a:rPr sz="1600" spc="105" dirty="0">
                <a:solidFill>
                  <a:srgbClr val="252525"/>
                </a:solidFill>
                <a:latin typeface="Cambria"/>
                <a:cs typeface="Cambria"/>
              </a:rPr>
              <a:t>  </a:t>
            </a:r>
            <a:r>
              <a:rPr sz="1600" spc="65" dirty="0">
                <a:solidFill>
                  <a:srgbClr val="252525"/>
                </a:solidFill>
                <a:latin typeface="Cambria"/>
                <a:cs typeface="Cambria"/>
              </a:rPr>
              <a:t>mathematical</a:t>
            </a:r>
            <a:r>
              <a:rPr sz="1600" spc="110" dirty="0">
                <a:solidFill>
                  <a:srgbClr val="252525"/>
                </a:solidFill>
                <a:latin typeface="Cambria"/>
                <a:cs typeface="Cambria"/>
              </a:rPr>
              <a:t>  </a:t>
            </a:r>
            <a:r>
              <a:rPr sz="1600" dirty="0">
                <a:solidFill>
                  <a:srgbClr val="252525"/>
                </a:solidFill>
                <a:latin typeface="Cambria"/>
                <a:cs typeface="Cambria"/>
              </a:rPr>
              <a:t>formulas</a:t>
            </a:r>
            <a:r>
              <a:rPr sz="1600" spc="95" dirty="0">
                <a:solidFill>
                  <a:srgbClr val="252525"/>
                </a:solidFill>
                <a:latin typeface="Cambria"/>
                <a:cs typeface="Cambria"/>
              </a:rPr>
              <a:t>  </a:t>
            </a:r>
            <a:r>
              <a:rPr sz="1600" dirty="0">
                <a:solidFill>
                  <a:srgbClr val="252525"/>
                </a:solidFill>
                <a:latin typeface="Cambria"/>
                <a:cs typeface="Cambria"/>
              </a:rPr>
              <a:t>used</a:t>
            </a:r>
            <a:r>
              <a:rPr sz="1600" spc="100" dirty="0">
                <a:solidFill>
                  <a:srgbClr val="252525"/>
                </a:solidFill>
                <a:latin typeface="Cambria"/>
                <a:cs typeface="Cambria"/>
              </a:rPr>
              <a:t>  </a:t>
            </a:r>
            <a:r>
              <a:rPr sz="1600" dirty="0">
                <a:solidFill>
                  <a:srgbClr val="252525"/>
                </a:solidFill>
                <a:latin typeface="Cambria"/>
                <a:cs typeface="Cambria"/>
              </a:rPr>
              <a:t>to</a:t>
            </a:r>
            <a:r>
              <a:rPr sz="1600" spc="110" dirty="0">
                <a:solidFill>
                  <a:srgbClr val="252525"/>
                </a:solidFill>
                <a:latin typeface="Cambria"/>
                <a:cs typeface="Cambria"/>
              </a:rPr>
              <a:t>  </a:t>
            </a:r>
            <a:r>
              <a:rPr sz="1600" spc="-10" dirty="0">
                <a:solidFill>
                  <a:srgbClr val="252525"/>
                </a:solidFill>
                <a:latin typeface="Cambria"/>
                <a:cs typeface="Cambria"/>
              </a:rPr>
              <a:t>process </a:t>
            </a:r>
            <a:r>
              <a:rPr sz="1600" spc="70" dirty="0">
                <a:solidFill>
                  <a:srgbClr val="252525"/>
                </a:solidFill>
                <a:latin typeface="Cambria"/>
                <a:cs typeface="Cambria"/>
              </a:rPr>
              <a:t>data</a:t>
            </a:r>
            <a:r>
              <a:rPr sz="1600" spc="114" dirty="0">
                <a:solidFill>
                  <a:srgbClr val="252525"/>
                </a:solidFill>
                <a:latin typeface="Cambria"/>
                <a:cs typeface="Cambria"/>
              </a:rPr>
              <a:t> </a:t>
            </a:r>
            <a:r>
              <a:rPr sz="1600" spc="65" dirty="0">
                <a:solidFill>
                  <a:srgbClr val="252525"/>
                </a:solidFill>
                <a:latin typeface="Cambria"/>
                <a:cs typeface="Cambria"/>
              </a:rPr>
              <a:t>and</a:t>
            </a:r>
            <a:r>
              <a:rPr sz="1600" spc="95" dirty="0">
                <a:solidFill>
                  <a:srgbClr val="252525"/>
                </a:solidFill>
                <a:latin typeface="Cambria"/>
                <a:cs typeface="Cambria"/>
              </a:rPr>
              <a:t> </a:t>
            </a:r>
            <a:r>
              <a:rPr sz="1600" spc="60" dirty="0">
                <a:solidFill>
                  <a:srgbClr val="252525"/>
                </a:solidFill>
                <a:latin typeface="Cambria"/>
                <a:cs typeface="Cambria"/>
              </a:rPr>
              <a:t>learn</a:t>
            </a:r>
            <a:r>
              <a:rPr sz="1600" spc="105" dirty="0">
                <a:solidFill>
                  <a:srgbClr val="252525"/>
                </a:solidFill>
                <a:latin typeface="Cambria"/>
                <a:cs typeface="Cambria"/>
              </a:rPr>
              <a:t> </a:t>
            </a:r>
            <a:r>
              <a:rPr sz="1600" spc="55" dirty="0">
                <a:solidFill>
                  <a:srgbClr val="252525"/>
                </a:solidFill>
                <a:latin typeface="Cambria"/>
                <a:cs typeface="Cambria"/>
              </a:rPr>
              <a:t>patterns.</a:t>
            </a:r>
            <a:endParaRPr sz="1600">
              <a:latin typeface="Cambria"/>
              <a:cs typeface="Cambria"/>
            </a:endParaRPr>
          </a:p>
          <a:p>
            <a:pPr marL="469900" marR="6985" lvl="1" indent="-182880">
              <a:lnSpc>
                <a:spcPts val="1730"/>
              </a:lnSpc>
              <a:spcBef>
                <a:spcPts val="500"/>
              </a:spcBef>
              <a:buClr>
                <a:srgbClr val="6E6E74"/>
              </a:buClr>
              <a:buFont typeface="Arial MT"/>
              <a:buChar char="•"/>
              <a:tabLst>
                <a:tab pos="469900" algn="l"/>
                <a:tab pos="803275" algn="l"/>
                <a:tab pos="1727200" algn="l"/>
                <a:tab pos="2700655" algn="l"/>
                <a:tab pos="3847465" algn="l"/>
                <a:tab pos="4279900" algn="l"/>
                <a:tab pos="4712970" algn="l"/>
                <a:tab pos="5639435" algn="l"/>
                <a:tab pos="6203950" algn="l"/>
                <a:tab pos="6513195" algn="l"/>
              </a:tabLst>
            </a:pPr>
            <a:r>
              <a:rPr sz="1600" spc="75" dirty="0">
                <a:solidFill>
                  <a:srgbClr val="252525"/>
                </a:solidFill>
                <a:latin typeface="Cambria"/>
                <a:cs typeface="Cambria"/>
              </a:rPr>
              <a:t>In</a:t>
            </a:r>
            <a:r>
              <a:rPr sz="1600" dirty="0">
                <a:solidFill>
                  <a:srgbClr val="252525"/>
                </a:solidFill>
                <a:latin typeface="Cambria"/>
                <a:cs typeface="Cambria"/>
              </a:rPr>
              <a:t>	</a:t>
            </a:r>
            <a:r>
              <a:rPr sz="1600" spc="45" dirty="0">
                <a:solidFill>
                  <a:srgbClr val="252525"/>
                </a:solidFill>
                <a:latin typeface="Cambria"/>
                <a:cs typeface="Cambria"/>
              </a:rPr>
              <a:t>machine</a:t>
            </a:r>
            <a:r>
              <a:rPr sz="1600" dirty="0">
                <a:solidFill>
                  <a:srgbClr val="252525"/>
                </a:solidFill>
                <a:latin typeface="Cambria"/>
                <a:cs typeface="Cambria"/>
              </a:rPr>
              <a:t>	</a:t>
            </a:r>
            <a:r>
              <a:rPr sz="1600" spc="60" dirty="0">
                <a:solidFill>
                  <a:srgbClr val="252525"/>
                </a:solidFill>
                <a:latin typeface="Cambria"/>
                <a:cs typeface="Cambria"/>
              </a:rPr>
              <a:t>learning,</a:t>
            </a:r>
            <a:r>
              <a:rPr sz="1600" dirty="0">
                <a:solidFill>
                  <a:srgbClr val="252525"/>
                </a:solidFill>
                <a:latin typeface="Cambria"/>
                <a:cs typeface="Cambria"/>
              </a:rPr>
              <a:t>	</a:t>
            </a:r>
            <a:r>
              <a:rPr sz="1600" spc="40" dirty="0">
                <a:solidFill>
                  <a:srgbClr val="252525"/>
                </a:solidFill>
                <a:latin typeface="Cambria"/>
                <a:cs typeface="Cambria"/>
              </a:rPr>
              <a:t>algorithms</a:t>
            </a:r>
            <a:r>
              <a:rPr sz="1600" dirty="0">
                <a:solidFill>
                  <a:srgbClr val="252525"/>
                </a:solidFill>
                <a:latin typeface="Cambria"/>
                <a:cs typeface="Cambria"/>
              </a:rPr>
              <a:t>	</a:t>
            </a:r>
            <a:r>
              <a:rPr sz="1600" spc="25" dirty="0">
                <a:solidFill>
                  <a:srgbClr val="252525"/>
                </a:solidFill>
                <a:latin typeface="Cambria"/>
                <a:cs typeface="Cambria"/>
              </a:rPr>
              <a:t>are</a:t>
            </a:r>
            <a:r>
              <a:rPr sz="1600" dirty="0">
                <a:solidFill>
                  <a:srgbClr val="252525"/>
                </a:solidFill>
                <a:latin typeface="Cambria"/>
                <a:cs typeface="Cambria"/>
              </a:rPr>
              <a:t>	</a:t>
            </a:r>
            <a:r>
              <a:rPr sz="1600" spc="30" dirty="0">
                <a:solidFill>
                  <a:srgbClr val="252525"/>
                </a:solidFill>
                <a:latin typeface="Cambria"/>
                <a:cs typeface="Cambria"/>
              </a:rPr>
              <a:t>the</a:t>
            </a:r>
            <a:r>
              <a:rPr sz="1600" dirty="0">
                <a:solidFill>
                  <a:srgbClr val="252525"/>
                </a:solidFill>
                <a:latin typeface="Cambria"/>
                <a:cs typeface="Cambria"/>
              </a:rPr>
              <a:t>	</a:t>
            </a:r>
            <a:r>
              <a:rPr sz="1600" spc="-10" dirty="0">
                <a:solidFill>
                  <a:srgbClr val="252525"/>
                </a:solidFill>
                <a:latin typeface="Cambria"/>
                <a:cs typeface="Cambria"/>
              </a:rPr>
              <a:t>methods</a:t>
            </a:r>
            <a:r>
              <a:rPr sz="1600" dirty="0">
                <a:solidFill>
                  <a:srgbClr val="252525"/>
                </a:solidFill>
                <a:latin typeface="Cambria"/>
                <a:cs typeface="Cambria"/>
              </a:rPr>
              <a:t>	</a:t>
            </a:r>
            <a:r>
              <a:rPr sz="1600" spc="-20" dirty="0">
                <a:solidFill>
                  <a:srgbClr val="252525"/>
                </a:solidFill>
                <a:latin typeface="Cambria"/>
                <a:cs typeface="Cambria"/>
              </a:rPr>
              <a:t>used</a:t>
            </a:r>
            <a:r>
              <a:rPr sz="1600" dirty="0">
                <a:solidFill>
                  <a:srgbClr val="252525"/>
                </a:solidFill>
                <a:latin typeface="Cambria"/>
                <a:cs typeface="Cambria"/>
              </a:rPr>
              <a:t>	</a:t>
            </a:r>
            <a:r>
              <a:rPr sz="1600" spc="-25" dirty="0">
                <a:solidFill>
                  <a:srgbClr val="252525"/>
                </a:solidFill>
                <a:latin typeface="Cambria"/>
                <a:cs typeface="Cambria"/>
              </a:rPr>
              <a:t>to</a:t>
            </a:r>
            <a:r>
              <a:rPr sz="1600" dirty="0">
                <a:solidFill>
                  <a:srgbClr val="252525"/>
                </a:solidFill>
                <a:latin typeface="Cambria"/>
                <a:cs typeface="Cambria"/>
              </a:rPr>
              <a:t>	</a:t>
            </a:r>
            <a:r>
              <a:rPr sz="1600" spc="60" dirty="0">
                <a:solidFill>
                  <a:srgbClr val="252525"/>
                </a:solidFill>
                <a:latin typeface="Cambria"/>
                <a:cs typeface="Cambria"/>
              </a:rPr>
              <a:t>train </a:t>
            </a:r>
            <a:r>
              <a:rPr sz="1600" dirty="0">
                <a:solidFill>
                  <a:srgbClr val="252525"/>
                </a:solidFill>
                <a:latin typeface="Cambria"/>
                <a:cs typeface="Cambria"/>
              </a:rPr>
              <a:t>models</a:t>
            </a:r>
            <a:r>
              <a:rPr sz="1600" spc="225" dirty="0">
                <a:solidFill>
                  <a:srgbClr val="252525"/>
                </a:solidFill>
                <a:latin typeface="Cambria"/>
                <a:cs typeface="Cambria"/>
              </a:rPr>
              <a:t> </a:t>
            </a:r>
            <a:r>
              <a:rPr sz="1600" dirty="0">
                <a:solidFill>
                  <a:srgbClr val="252525"/>
                </a:solidFill>
                <a:latin typeface="Cambria"/>
                <a:cs typeface="Cambria"/>
              </a:rPr>
              <a:t>on</a:t>
            </a:r>
            <a:r>
              <a:rPr sz="1600" spc="195" dirty="0">
                <a:solidFill>
                  <a:srgbClr val="252525"/>
                </a:solidFill>
                <a:latin typeface="Cambria"/>
                <a:cs typeface="Cambria"/>
              </a:rPr>
              <a:t> </a:t>
            </a:r>
            <a:r>
              <a:rPr sz="1600" spc="55" dirty="0">
                <a:solidFill>
                  <a:srgbClr val="252525"/>
                </a:solidFill>
                <a:latin typeface="Cambria"/>
                <a:cs typeface="Cambria"/>
              </a:rPr>
              <a:t>data.</a:t>
            </a:r>
            <a:endParaRPr sz="1600">
              <a:latin typeface="Cambria"/>
              <a:cs typeface="Cambria"/>
            </a:endParaRPr>
          </a:p>
          <a:p>
            <a:pPr marL="470534" lvl="1" indent="-183515">
              <a:lnSpc>
                <a:spcPct val="100000"/>
              </a:lnSpc>
              <a:spcBef>
                <a:spcPts val="275"/>
              </a:spcBef>
              <a:buClr>
                <a:srgbClr val="6E6E74"/>
              </a:buClr>
              <a:buFont typeface="Arial MT"/>
              <a:buChar char="•"/>
              <a:tabLst>
                <a:tab pos="470534" algn="l"/>
              </a:tabLst>
            </a:pPr>
            <a:r>
              <a:rPr sz="1600" b="1" spc="105" dirty="0">
                <a:solidFill>
                  <a:srgbClr val="252525"/>
                </a:solidFill>
                <a:latin typeface="Cambria"/>
                <a:cs typeface="Cambria"/>
              </a:rPr>
              <a:t>Example</a:t>
            </a:r>
            <a:r>
              <a:rPr sz="1600" spc="105" dirty="0">
                <a:solidFill>
                  <a:srgbClr val="252525"/>
                </a:solidFill>
                <a:latin typeface="Cambria"/>
                <a:cs typeface="Cambria"/>
              </a:rPr>
              <a:t>:</a:t>
            </a:r>
            <a:r>
              <a:rPr sz="1600" spc="125" dirty="0">
                <a:solidFill>
                  <a:srgbClr val="252525"/>
                </a:solidFill>
                <a:latin typeface="Cambria"/>
                <a:cs typeface="Cambria"/>
              </a:rPr>
              <a:t> </a:t>
            </a:r>
            <a:r>
              <a:rPr sz="1600" spc="80" dirty="0">
                <a:solidFill>
                  <a:srgbClr val="252525"/>
                </a:solidFill>
                <a:latin typeface="Cambria"/>
                <a:cs typeface="Cambria"/>
              </a:rPr>
              <a:t>Linear</a:t>
            </a:r>
            <a:r>
              <a:rPr sz="1600" spc="105" dirty="0">
                <a:solidFill>
                  <a:srgbClr val="252525"/>
                </a:solidFill>
                <a:latin typeface="Cambria"/>
                <a:cs typeface="Cambria"/>
              </a:rPr>
              <a:t> </a:t>
            </a:r>
            <a:r>
              <a:rPr sz="1600" spc="50" dirty="0">
                <a:solidFill>
                  <a:srgbClr val="252525"/>
                </a:solidFill>
                <a:latin typeface="Cambria"/>
                <a:cs typeface="Cambria"/>
              </a:rPr>
              <a:t>Regression,</a:t>
            </a:r>
            <a:r>
              <a:rPr sz="1600" spc="110" dirty="0">
                <a:solidFill>
                  <a:srgbClr val="252525"/>
                </a:solidFill>
                <a:latin typeface="Cambria"/>
                <a:cs typeface="Cambria"/>
              </a:rPr>
              <a:t> </a:t>
            </a:r>
            <a:r>
              <a:rPr sz="1600" spc="55" dirty="0">
                <a:solidFill>
                  <a:srgbClr val="252525"/>
                </a:solidFill>
                <a:latin typeface="Cambria"/>
                <a:cs typeface="Cambria"/>
              </a:rPr>
              <a:t>Logistic</a:t>
            </a:r>
            <a:r>
              <a:rPr sz="1600" spc="110" dirty="0">
                <a:solidFill>
                  <a:srgbClr val="252525"/>
                </a:solidFill>
                <a:latin typeface="Cambria"/>
                <a:cs typeface="Cambria"/>
              </a:rPr>
              <a:t> </a:t>
            </a:r>
            <a:r>
              <a:rPr sz="1600" spc="50" dirty="0">
                <a:solidFill>
                  <a:srgbClr val="252525"/>
                </a:solidFill>
                <a:latin typeface="Cambria"/>
                <a:cs typeface="Cambria"/>
              </a:rPr>
              <a:t>Regression,</a:t>
            </a:r>
            <a:r>
              <a:rPr sz="1600" spc="110" dirty="0">
                <a:solidFill>
                  <a:srgbClr val="252525"/>
                </a:solidFill>
                <a:latin typeface="Cambria"/>
                <a:cs typeface="Cambria"/>
              </a:rPr>
              <a:t> </a:t>
            </a:r>
            <a:r>
              <a:rPr sz="1600" spc="85" dirty="0">
                <a:solidFill>
                  <a:srgbClr val="252525"/>
                </a:solidFill>
                <a:latin typeface="Cambria"/>
                <a:cs typeface="Cambria"/>
              </a:rPr>
              <a:t>Neural</a:t>
            </a:r>
            <a:r>
              <a:rPr sz="1600" spc="120" dirty="0">
                <a:solidFill>
                  <a:srgbClr val="252525"/>
                </a:solidFill>
                <a:latin typeface="Cambria"/>
                <a:cs typeface="Cambria"/>
              </a:rPr>
              <a:t> </a:t>
            </a:r>
            <a:r>
              <a:rPr sz="1600" spc="55" dirty="0">
                <a:solidFill>
                  <a:srgbClr val="252525"/>
                </a:solidFill>
                <a:latin typeface="Cambria"/>
                <a:cs typeface="Cambria"/>
              </a:rPr>
              <a:t>Networks.</a:t>
            </a:r>
            <a:endParaRPr sz="1600">
              <a:latin typeface="Cambria"/>
              <a:cs typeface="Cambria"/>
            </a:endParaRPr>
          </a:p>
          <a:p>
            <a:pPr lvl="1">
              <a:lnSpc>
                <a:spcPct val="100000"/>
              </a:lnSpc>
              <a:spcBef>
                <a:spcPts val="1180"/>
              </a:spcBef>
              <a:buClr>
                <a:srgbClr val="6E6E74"/>
              </a:buClr>
              <a:buFont typeface="Arial MT"/>
              <a:buChar char="•"/>
            </a:pPr>
            <a:endParaRPr sz="1600">
              <a:latin typeface="Cambria"/>
              <a:cs typeface="Cambria"/>
            </a:endParaRPr>
          </a:p>
          <a:p>
            <a:pPr marL="196215" indent="-183515">
              <a:lnSpc>
                <a:spcPct val="100000"/>
              </a:lnSpc>
              <a:buClr>
                <a:srgbClr val="6E6E74"/>
              </a:buClr>
              <a:buSzPct val="80000"/>
              <a:buFont typeface="Arial MT"/>
              <a:buChar char="•"/>
              <a:tabLst>
                <a:tab pos="196215" algn="l"/>
              </a:tabLst>
            </a:pPr>
            <a:r>
              <a:rPr sz="2000" b="1" spc="125" dirty="0">
                <a:latin typeface="Cambria"/>
                <a:cs typeface="Cambria"/>
              </a:rPr>
              <a:t>Model</a:t>
            </a:r>
            <a:endParaRPr sz="2000">
              <a:latin typeface="Cambria"/>
              <a:cs typeface="Cambria"/>
            </a:endParaRPr>
          </a:p>
          <a:p>
            <a:pPr marL="469900" marR="5080" lvl="1" indent="-182880">
              <a:lnSpc>
                <a:spcPts val="1730"/>
              </a:lnSpc>
              <a:spcBef>
                <a:spcPts val="434"/>
              </a:spcBef>
              <a:buClr>
                <a:srgbClr val="6E6E74"/>
              </a:buClr>
              <a:buFont typeface="Arial MT"/>
              <a:buChar char="•"/>
              <a:tabLst>
                <a:tab pos="469900" algn="l"/>
                <a:tab pos="962025" algn="l"/>
                <a:tab pos="1524635" algn="l"/>
                <a:tab pos="2435860" algn="l"/>
                <a:tab pos="2737485" algn="l"/>
                <a:tab pos="2982595" algn="l"/>
                <a:tab pos="3911600" algn="l"/>
                <a:tab pos="4830445" algn="l"/>
                <a:tab pos="5888355" algn="l"/>
                <a:tab pos="6473190" algn="l"/>
              </a:tabLst>
            </a:pPr>
            <a:r>
              <a:rPr sz="1600" spc="40" dirty="0">
                <a:solidFill>
                  <a:srgbClr val="252525"/>
                </a:solidFill>
                <a:latin typeface="Cambria"/>
                <a:cs typeface="Cambria"/>
              </a:rPr>
              <a:t>The</a:t>
            </a:r>
            <a:r>
              <a:rPr sz="1600" dirty="0">
                <a:solidFill>
                  <a:srgbClr val="252525"/>
                </a:solidFill>
                <a:latin typeface="Cambria"/>
                <a:cs typeface="Cambria"/>
              </a:rPr>
              <a:t>	</a:t>
            </a:r>
            <a:r>
              <a:rPr sz="1600" spc="55" dirty="0">
                <a:solidFill>
                  <a:srgbClr val="252525"/>
                </a:solidFill>
                <a:latin typeface="Cambria"/>
                <a:cs typeface="Cambria"/>
              </a:rPr>
              <a:t>final</a:t>
            </a:r>
            <a:r>
              <a:rPr sz="1600" dirty="0">
                <a:solidFill>
                  <a:srgbClr val="252525"/>
                </a:solidFill>
                <a:latin typeface="Cambria"/>
                <a:cs typeface="Cambria"/>
              </a:rPr>
              <a:t>	</a:t>
            </a:r>
            <a:r>
              <a:rPr sz="1600" spc="-10" dirty="0">
                <a:solidFill>
                  <a:srgbClr val="252525"/>
                </a:solidFill>
                <a:latin typeface="Cambria"/>
                <a:cs typeface="Cambria"/>
              </a:rPr>
              <a:t>outcome</a:t>
            </a:r>
            <a:r>
              <a:rPr sz="1600" dirty="0">
                <a:solidFill>
                  <a:srgbClr val="252525"/>
                </a:solidFill>
                <a:latin typeface="Cambria"/>
                <a:cs typeface="Cambria"/>
              </a:rPr>
              <a:t>	</a:t>
            </a:r>
            <a:r>
              <a:rPr sz="1600" spc="-25" dirty="0">
                <a:solidFill>
                  <a:srgbClr val="252525"/>
                </a:solidFill>
                <a:latin typeface="Cambria"/>
                <a:cs typeface="Cambria"/>
              </a:rPr>
              <a:t>of</a:t>
            </a:r>
            <a:r>
              <a:rPr sz="1600" dirty="0">
                <a:solidFill>
                  <a:srgbClr val="252525"/>
                </a:solidFill>
                <a:latin typeface="Cambria"/>
                <a:cs typeface="Cambria"/>
              </a:rPr>
              <a:t>	</a:t>
            </a:r>
            <a:r>
              <a:rPr sz="1600" spc="40" dirty="0">
                <a:solidFill>
                  <a:srgbClr val="252525"/>
                </a:solidFill>
                <a:latin typeface="Cambria"/>
                <a:cs typeface="Cambria"/>
              </a:rPr>
              <a:t>a</a:t>
            </a:r>
            <a:r>
              <a:rPr sz="1600" dirty="0">
                <a:solidFill>
                  <a:srgbClr val="252525"/>
                </a:solidFill>
                <a:latin typeface="Cambria"/>
                <a:cs typeface="Cambria"/>
              </a:rPr>
              <a:t>	</a:t>
            </a:r>
            <a:r>
              <a:rPr sz="1600" spc="45" dirty="0">
                <a:solidFill>
                  <a:srgbClr val="252525"/>
                </a:solidFill>
                <a:latin typeface="Cambria"/>
                <a:cs typeface="Cambria"/>
              </a:rPr>
              <a:t>machine</a:t>
            </a:r>
            <a:r>
              <a:rPr sz="1600" dirty="0">
                <a:solidFill>
                  <a:srgbClr val="252525"/>
                </a:solidFill>
                <a:latin typeface="Cambria"/>
                <a:cs typeface="Cambria"/>
              </a:rPr>
              <a:t>	</a:t>
            </a:r>
            <a:r>
              <a:rPr sz="1600" spc="50" dirty="0">
                <a:solidFill>
                  <a:srgbClr val="252525"/>
                </a:solidFill>
                <a:latin typeface="Cambria"/>
                <a:cs typeface="Cambria"/>
              </a:rPr>
              <a:t>learning</a:t>
            </a:r>
            <a:r>
              <a:rPr sz="1600" dirty="0">
                <a:solidFill>
                  <a:srgbClr val="252525"/>
                </a:solidFill>
                <a:latin typeface="Cambria"/>
                <a:cs typeface="Cambria"/>
              </a:rPr>
              <a:t>	</a:t>
            </a:r>
            <a:r>
              <a:rPr sz="1600" spc="45" dirty="0">
                <a:solidFill>
                  <a:srgbClr val="252525"/>
                </a:solidFill>
                <a:latin typeface="Cambria"/>
                <a:cs typeface="Cambria"/>
              </a:rPr>
              <a:t>algorithm</a:t>
            </a:r>
            <a:r>
              <a:rPr sz="1600" dirty="0">
                <a:solidFill>
                  <a:srgbClr val="252525"/>
                </a:solidFill>
                <a:latin typeface="Cambria"/>
                <a:cs typeface="Cambria"/>
              </a:rPr>
              <a:t>	</a:t>
            </a:r>
            <a:r>
              <a:rPr sz="1600" spc="45" dirty="0">
                <a:solidFill>
                  <a:srgbClr val="252525"/>
                </a:solidFill>
                <a:latin typeface="Cambria"/>
                <a:cs typeface="Cambria"/>
              </a:rPr>
              <a:t>after</a:t>
            </a:r>
            <a:r>
              <a:rPr sz="1600" dirty="0">
                <a:solidFill>
                  <a:srgbClr val="252525"/>
                </a:solidFill>
                <a:latin typeface="Cambria"/>
                <a:cs typeface="Cambria"/>
              </a:rPr>
              <a:t>	</a:t>
            </a:r>
            <a:r>
              <a:rPr sz="1600" spc="-10" dirty="0">
                <a:solidFill>
                  <a:srgbClr val="252525"/>
                </a:solidFill>
                <a:latin typeface="Cambria"/>
                <a:cs typeface="Cambria"/>
              </a:rPr>
              <a:t>being </a:t>
            </a:r>
            <a:r>
              <a:rPr sz="1600" spc="55" dirty="0">
                <a:solidFill>
                  <a:srgbClr val="252525"/>
                </a:solidFill>
                <a:latin typeface="Cambria"/>
                <a:cs typeface="Cambria"/>
              </a:rPr>
              <a:t>trained</a:t>
            </a:r>
            <a:r>
              <a:rPr sz="1600" spc="135" dirty="0">
                <a:solidFill>
                  <a:srgbClr val="252525"/>
                </a:solidFill>
                <a:latin typeface="Cambria"/>
                <a:cs typeface="Cambria"/>
              </a:rPr>
              <a:t> </a:t>
            </a:r>
            <a:r>
              <a:rPr sz="1600" dirty="0">
                <a:solidFill>
                  <a:srgbClr val="252525"/>
                </a:solidFill>
                <a:latin typeface="Cambria"/>
                <a:cs typeface="Cambria"/>
              </a:rPr>
              <a:t>on</a:t>
            </a:r>
            <a:r>
              <a:rPr sz="1600" spc="114" dirty="0">
                <a:solidFill>
                  <a:srgbClr val="252525"/>
                </a:solidFill>
                <a:latin typeface="Cambria"/>
                <a:cs typeface="Cambria"/>
              </a:rPr>
              <a:t> </a:t>
            </a:r>
            <a:r>
              <a:rPr sz="1600" spc="55" dirty="0">
                <a:solidFill>
                  <a:srgbClr val="252525"/>
                </a:solidFill>
                <a:latin typeface="Cambria"/>
                <a:cs typeface="Cambria"/>
              </a:rPr>
              <a:t>data.</a:t>
            </a:r>
            <a:endParaRPr sz="1600">
              <a:latin typeface="Cambria"/>
              <a:cs typeface="Cambria"/>
            </a:endParaRPr>
          </a:p>
          <a:p>
            <a:pPr marL="470534" lvl="1" indent="-183515">
              <a:lnSpc>
                <a:spcPct val="100000"/>
              </a:lnSpc>
              <a:spcBef>
                <a:spcPts val="270"/>
              </a:spcBef>
              <a:buClr>
                <a:srgbClr val="6E6E74"/>
              </a:buClr>
              <a:buFont typeface="Arial MT"/>
              <a:buChar char="•"/>
              <a:tabLst>
                <a:tab pos="470534" algn="l"/>
              </a:tabLst>
            </a:pPr>
            <a:r>
              <a:rPr sz="1600" spc="150" dirty="0">
                <a:solidFill>
                  <a:srgbClr val="252525"/>
                </a:solidFill>
                <a:latin typeface="Cambria"/>
                <a:cs typeface="Cambria"/>
              </a:rPr>
              <a:t>A</a:t>
            </a:r>
            <a:r>
              <a:rPr sz="1600" spc="210" dirty="0">
                <a:solidFill>
                  <a:srgbClr val="252525"/>
                </a:solidFill>
                <a:latin typeface="Cambria"/>
                <a:cs typeface="Cambria"/>
              </a:rPr>
              <a:t> </a:t>
            </a:r>
            <a:r>
              <a:rPr sz="1600" dirty="0">
                <a:solidFill>
                  <a:srgbClr val="252525"/>
                </a:solidFill>
                <a:latin typeface="Cambria"/>
                <a:cs typeface="Cambria"/>
              </a:rPr>
              <a:t>models</a:t>
            </a:r>
            <a:r>
              <a:rPr sz="1600" spc="245" dirty="0">
                <a:solidFill>
                  <a:srgbClr val="252525"/>
                </a:solidFill>
                <a:latin typeface="Cambria"/>
                <a:cs typeface="Cambria"/>
              </a:rPr>
              <a:t> </a:t>
            </a:r>
            <a:r>
              <a:rPr sz="1600" spc="60" dirty="0">
                <a:solidFill>
                  <a:srgbClr val="252525"/>
                </a:solidFill>
                <a:latin typeface="Cambria"/>
                <a:cs typeface="Cambria"/>
              </a:rPr>
              <a:t>can</a:t>
            </a:r>
            <a:r>
              <a:rPr sz="1600" spc="225" dirty="0">
                <a:solidFill>
                  <a:srgbClr val="252525"/>
                </a:solidFill>
                <a:latin typeface="Cambria"/>
                <a:cs typeface="Cambria"/>
              </a:rPr>
              <a:t> </a:t>
            </a:r>
            <a:r>
              <a:rPr sz="1600" spc="70" dirty="0">
                <a:solidFill>
                  <a:srgbClr val="252525"/>
                </a:solidFill>
                <a:latin typeface="Cambria"/>
                <a:cs typeface="Cambria"/>
              </a:rPr>
              <a:t>make</a:t>
            </a:r>
            <a:r>
              <a:rPr sz="1600" spc="240" dirty="0">
                <a:solidFill>
                  <a:srgbClr val="252525"/>
                </a:solidFill>
                <a:latin typeface="Cambria"/>
                <a:cs typeface="Cambria"/>
              </a:rPr>
              <a:t> </a:t>
            </a:r>
            <a:r>
              <a:rPr sz="1600" dirty="0">
                <a:solidFill>
                  <a:srgbClr val="252525"/>
                </a:solidFill>
                <a:latin typeface="Cambria"/>
                <a:cs typeface="Cambria"/>
              </a:rPr>
              <a:t>predictions</a:t>
            </a:r>
            <a:r>
              <a:rPr sz="1600" spc="250" dirty="0">
                <a:solidFill>
                  <a:srgbClr val="252525"/>
                </a:solidFill>
                <a:latin typeface="Cambria"/>
                <a:cs typeface="Cambria"/>
              </a:rPr>
              <a:t> </a:t>
            </a:r>
            <a:r>
              <a:rPr sz="1600" dirty="0">
                <a:solidFill>
                  <a:srgbClr val="252525"/>
                </a:solidFill>
                <a:latin typeface="Cambria"/>
                <a:cs typeface="Cambria"/>
              </a:rPr>
              <a:t>or</a:t>
            </a:r>
            <a:r>
              <a:rPr sz="1600" spc="229" dirty="0">
                <a:solidFill>
                  <a:srgbClr val="252525"/>
                </a:solidFill>
                <a:latin typeface="Cambria"/>
                <a:cs typeface="Cambria"/>
              </a:rPr>
              <a:t> </a:t>
            </a:r>
            <a:r>
              <a:rPr sz="1600" dirty="0">
                <a:solidFill>
                  <a:srgbClr val="252525"/>
                </a:solidFill>
                <a:latin typeface="Cambria"/>
                <a:cs typeface="Cambria"/>
              </a:rPr>
              <a:t>decisions</a:t>
            </a:r>
            <a:r>
              <a:rPr sz="1600" spc="210" dirty="0">
                <a:solidFill>
                  <a:srgbClr val="252525"/>
                </a:solidFill>
                <a:latin typeface="Cambria"/>
                <a:cs typeface="Cambria"/>
              </a:rPr>
              <a:t> </a:t>
            </a:r>
            <a:r>
              <a:rPr sz="1600" dirty="0">
                <a:solidFill>
                  <a:srgbClr val="252525"/>
                </a:solidFill>
                <a:latin typeface="Cambria"/>
                <a:cs typeface="Cambria"/>
              </a:rPr>
              <a:t>when</a:t>
            </a:r>
            <a:r>
              <a:rPr sz="1600" spc="240" dirty="0">
                <a:solidFill>
                  <a:srgbClr val="252525"/>
                </a:solidFill>
                <a:latin typeface="Cambria"/>
                <a:cs typeface="Cambria"/>
              </a:rPr>
              <a:t> </a:t>
            </a:r>
            <a:r>
              <a:rPr sz="1600" dirty="0">
                <a:solidFill>
                  <a:srgbClr val="252525"/>
                </a:solidFill>
                <a:latin typeface="Cambria"/>
                <a:cs typeface="Cambria"/>
              </a:rPr>
              <a:t>given</a:t>
            </a:r>
            <a:r>
              <a:rPr sz="1600" spc="245" dirty="0">
                <a:solidFill>
                  <a:srgbClr val="252525"/>
                </a:solidFill>
                <a:latin typeface="Cambria"/>
                <a:cs typeface="Cambria"/>
              </a:rPr>
              <a:t> </a:t>
            </a:r>
            <a:r>
              <a:rPr sz="1600" dirty="0">
                <a:solidFill>
                  <a:srgbClr val="252525"/>
                </a:solidFill>
                <a:latin typeface="Cambria"/>
                <a:cs typeface="Cambria"/>
              </a:rPr>
              <a:t>new</a:t>
            </a:r>
            <a:r>
              <a:rPr sz="1600" spc="245" dirty="0">
                <a:solidFill>
                  <a:srgbClr val="252525"/>
                </a:solidFill>
                <a:latin typeface="Cambria"/>
                <a:cs typeface="Cambria"/>
              </a:rPr>
              <a:t> </a:t>
            </a:r>
            <a:r>
              <a:rPr sz="1600" spc="65" dirty="0">
                <a:solidFill>
                  <a:srgbClr val="252525"/>
                </a:solidFill>
                <a:latin typeface="Cambria"/>
                <a:cs typeface="Cambria"/>
              </a:rPr>
              <a:t>data.</a:t>
            </a:r>
            <a:endParaRPr sz="1600">
              <a:latin typeface="Cambria"/>
              <a:cs typeface="Cambria"/>
            </a:endParaRPr>
          </a:p>
          <a:p>
            <a:pPr marL="469900" marR="5715" lvl="1" indent="-182880">
              <a:lnSpc>
                <a:spcPts val="1730"/>
              </a:lnSpc>
              <a:spcBef>
                <a:spcPts val="535"/>
              </a:spcBef>
              <a:buClr>
                <a:srgbClr val="6E6E74"/>
              </a:buClr>
              <a:buFont typeface="Arial MT"/>
              <a:buChar char="•"/>
              <a:tabLst>
                <a:tab pos="469900" algn="l"/>
                <a:tab pos="1580515" algn="l"/>
                <a:tab pos="1862455" algn="l"/>
                <a:tab pos="2687320" algn="l"/>
                <a:tab pos="3386454" algn="l"/>
                <a:tab pos="3919220" algn="l"/>
                <a:tab pos="4712970" algn="l"/>
                <a:tab pos="5394325" algn="l"/>
                <a:tab pos="6084570" algn="l"/>
                <a:tab pos="6757034" algn="l"/>
              </a:tabLst>
            </a:pPr>
            <a:r>
              <a:rPr sz="1600" b="1" spc="95" dirty="0">
                <a:solidFill>
                  <a:srgbClr val="252525"/>
                </a:solidFill>
                <a:latin typeface="Cambria"/>
                <a:cs typeface="Cambria"/>
              </a:rPr>
              <a:t>Example:</a:t>
            </a:r>
            <a:r>
              <a:rPr sz="1600" b="1" dirty="0">
                <a:solidFill>
                  <a:srgbClr val="252525"/>
                </a:solidFill>
                <a:latin typeface="Cambria"/>
                <a:cs typeface="Cambria"/>
              </a:rPr>
              <a:t>	</a:t>
            </a:r>
            <a:r>
              <a:rPr sz="1600" spc="100" dirty="0">
                <a:solidFill>
                  <a:srgbClr val="252525"/>
                </a:solidFill>
                <a:latin typeface="Cambria"/>
                <a:cs typeface="Cambria"/>
              </a:rPr>
              <a:t>A</a:t>
            </a:r>
            <a:r>
              <a:rPr sz="1600" dirty="0">
                <a:solidFill>
                  <a:srgbClr val="252525"/>
                </a:solidFill>
                <a:latin typeface="Cambria"/>
                <a:cs typeface="Cambria"/>
              </a:rPr>
              <a:t>	</a:t>
            </a:r>
            <a:r>
              <a:rPr sz="1600" spc="40" dirty="0">
                <a:solidFill>
                  <a:srgbClr val="252525"/>
                </a:solidFill>
                <a:latin typeface="Cambria"/>
                <a:cs typeface="Cambria"/>
              </a:rPr>
              <a:t>trained</a:t>
            </a:r>
            <a:r>
              <a:rPr sz="1600" dirty="0">
                <a:solidFill>
                  <a:srgbClr val="252525"/>
                </a:solidFill>
                <a:latin typeface="Cambria"/>
                <a:cs typeface="Cambria"/>
              </a:rPr>
              <a:t>	</a:t>
            </a:r>
            <a:r>
              <a:rPr sz="1600" spc="-20" dirty="0">
                <a:solidFill>
                  <a:srgbClr val="252525"/>
                </a:solidFill>
                <a:latin typeface="Cambria"/>
                <a:cs typeface="Cambria"/>
              </a:rPr>
              <a:t>model</a:t>
            </a:r>
            <a:r>
              <a:rPr sz="1600" dirty="0">
                <a:solidFill>
                  <a:srgbClr val="252525"/>
                </a:solidFill>
                <a:latin typeface="Cambria"/>
                <a:cs typeface="Cambria"/>
              </a:rPr>
              <a:t>	</a:t>
            </a:r>
            <a:r>
              <a:rPr sz="1600" spc="65" dirty="0">
                <a:solidFill>
                  <a:srgbClr val="252525"/>
                </a:solidFill>
                <a:latin typeface="Cambria"/>
                <a:cs typeface="Cambria"/>
              </a:rPr>
              <a:t>that</a:t>
            </a:r>
            <a:r>
              <a:rPr sz="1600" dirty="0">
                <a:solidFill>
                  <a:srgbClr val="252525"/>
                </a:solidFill>
                <a:latin typeface="Cambria"/>
                <a:cs typeface="Cambria"/>
              </a:rPr>
              <a:t>	</a:t>
            </a:r>
            <a:r>
              <a:rPr sz="1600" spc="-10" dirty="0">
                <a:solidFill>
                  <a:srgbClr val="252525"/>
                </a:solidFill>
                <a:latin typeface="Cambria"/>
                <a:cs typeface="Cambria"/>
              </a:rPr>
              <a:t>predict</a:t>
            </a:r>
            <a:r>
              <a:rPr sz="1600" dirty="0">
                <a:solidFill>
                  <a:srgbClr val="252525"/>
                </a:solidFill>
                <a:latin typeface="Cambria"/>
                <a:cs typeface="Cambria"/>
              </a:rPr>
              <a:t>	</a:t>
            </a:r>
            <a:r>
              <a:rPr sz="1600" spc="-10" dirty="0">
                <a:solidFill>
                  <a:srgbClr val="252525"/>
                </a:solidFill>
                <a:latin typeface="Cambria"/>
                <a:cs typeface="Cambria"/>
              </a:rPr>
              <a:t>house</a:t>
            </a:r>
            <a:r>
              <a:rPr sz="1600" dirty="0">
                <a:solidFill>
                  <a:srgbClr val="252525"/>
                </a:solidFill>
                <a:latin typeface="Cambria"/>
                <a:cs typeface="Cambria"/>
              </a:rPr>
              <a:t>	</a:t>
            </a:r>
            <a:r>
              <a:rPr sz="1600" spc="-10" dirty="0">
                <a:solidFill>
                  <a:srgbClr val="252525"/>
                </a:solidFill>
                <a:latin typeface="Cambria"/>
                <a:cs typeface="Cambria"/>
              </a:rPr>
              <a:t>prices</a:t>
            </a:r>
            <a:r>
              <a:rPr sz="1600" dirty="0">
                <a:solidFill>
                  <a:srgbClr val="252525"/>
                </a:solidFill>
                <a:latin typeface="Cambria"/>
                <a:cs typeface="Cambria"/>
              </a:rPr>
              <a:t>	</a:t>
            </a:r>
            <a:r>
              <a:rPr sz="1600" spc="-10" dirty="0">
                <a:solidFill>
                  <a:srgbClr val="252525"/>
                </a:solidFill>
                <a:latin typeface="Cambria"/>
                <a:cs typeface="Cambria"/>
              </a:rPr>
              <a:t>based</a:t>
            </a:r>
            <a:r>
              <a:rPr sz="1600" dirty="0">
                <a:solidFill>
                  <a:srgbClr val="252525"/>
                </a:solidFill>
                <a:latin typeface="Cambria"/>
                <a:cs typeface="Cambria"/>
              </a:rPr>
              <a:t>	</a:t>
            </a:r>
            <a:r>
              <a:rPr sz="1600" spc="-25" dirty="0">
                <a:solidFill>
                  <a:srgbClr val="252525"/>
                </a:solidFill>
                <a:latin typeface="Cambria"/>
                <a:cs typeface="Cambria"/>
              </a:rPr>
              <a:t>on </a:t>
            </a:r>
            <a:r>
              <a:rPr sz="1600" dirty="0">
                <a:solidFill>
                  <a:srgbClr val="252525"/>
                </a:solidFill>
                <a:latin typeface="Cambria"/>
                <a:cs typeface="Cambria"/>
              </a:rPr>
              <a:t>features</a:t>
            </a:r>
            <a:r>
              <a:rPr sz="1600" spc="250" dirty="0">
                <a:solidFill>
                  <a:srgbClr val="252525"/>
                </a:solidFill>
                <a:latin typeface="Cambria"/>
                <a:cs typeface="Cambria"/>
              </a:rPr>
              <a:t> </a:t>
            </a:r>
            <a:r>
              <a:rPr sz="1600" spc="55" dirty="0">
                <a:solidFill>
                  <a:srgbClr val="252525"/>
                </a:solidFill>
                <a:latin typeface="Cambria"/>
                <a:cs typeface="Cambria"/>
              </a:rPr>
              <a:t>like</a:t>
            </a:r>
            <a:r>
              <a:rPr sz="1600" spc="215" dirty="0">
                <a:solidFill>
                  <a:srgbClr val="252525"/>
                </a:solidFill>
                <a:latin typeface="Cambria"/>
                <a:cs typeface="Cambria"/>
              </a:rPr>
              <a:t> </a:t>
            </a:r>
            <a:r>
              <a:rPr sz="1600" spc="55" dirty="0">
                <a:solidFill>
                  <a:srgbClr val="252525"/>
                </a:solidFill>
                <a:latin typeface="Cambria"/>
                <a:cs typeface="Cambria"/>
              </a:rPr>
              <a:t>size,</a:t>
            </a:r>
            <a:r>
              <a:rPr sz="1600" spc="240" dirty="0">
                <a:solidFill>
                  <a:srgbClr val="252525"/>
                </a:solidFill>
                <a:latin typeface="Cambria"/>
                <a:cs typeface="Cambria"/>
              </a:rPr>
              <a:t> </a:t>
            </a:r>
            <a:r>
              <a:rPr sz="1600" dirty="0">
                <a:solidFill>
                  <a:srgbClr val="252525"/>
                </a:solidFill>
                <a:latin typeface="Cambria"/>
                <a:cs typeface="Cambria"/>
              </a:rPr>
              <a:t>number</a:t>
            </a:r>
            <a:r>
              <a:rPr sz="1600" spc="250" dirty="0">
                <a:solidFill>
                  <a:srgbClr val="252525"/>
                </a:solidFill>
                <a:latin typeface="Cambria"/>
                <a:cs typeface="Cambria"/>
              </a:rPr>
              <a:t> </a:t>
            </a:r>
            <a:r>
              <a:rPr sz="1600" dirty="0">
                <a:solidFill>
                  <a:srgbClr val="252525"/>
                </a:solidFill>
                <a:latin typeface="Cambria"/>
                <a:cs typeface="Cambria"/>
              </a:rPr>
              <a:t>of</a:t>
            </a:r>
            <a:r>
              <a:rPr sz="1600" spc="235" dirty="0">
                <a:solidFill>
                  <a:srgbClr val="252525"/>
                </a:solidFill>
                <a:latin typeface="Cambria"/>
                <a:cs typeface="Cambria"/>
              </a:rPr>
              <a:t> </a:t>
            </a:r>
            <a:r>
              <a:rPr sz="1600" dirty="0">
                <a:solidFill>
                  <a:srgbClr val="252525"/>
                </a:solidFill>
                <a:latin typeface="Cambria"/>
                <a:cs typeface="Cambria"/>
              </a:rPr>
              <a:t>bedrooms,</a:t>
            </a:r>
            <a:r>
              <a:rPr sz="1600" spc="245" dirty="0">
                <a:solidFill>
                  <a:srgbClr val="252525"/>
                </a:solidFill>
                <a:latin typeface="Cambria"/>
                <a:cs typeface="Cambria"/>
              </a:rPr>
              <a:t> </a:t>
            </a:r>
            <a:r>
              <a:rPr sz="1600" spc="65" dirty="0">
                <a:solidFill>
                  <a:srgbClr val="252525"/>
                </a:solidFill>
                <a:latin typeface="Cambria"/>
                <a:cs typeface="Cambria"/>
              </a:rPr>
              <a:t>and</a:t>
            </a:r>
            <a:r>
              <a:rPr sz="1600" spc="240" dirty="0">
                <a:solidFill>
                  <a:srgbClr val="252525"/>
                </a:solidFill>
                <a:latin typeface="Cambria"/>
                <a:cs typeface="Cambria"/>
              </a:rPr>
              <a:t> </a:t>
            </a:r>
            <a:r>
              <a:rPr sz="1600" spc="-10" dirty="0">
                <a:solidFill>
                  <a:srgbClr val="252525"/>
                </a:solidFill>
                <a:latin typeface="Cambria"/>
                <a:cs typeface="Cambria"/>
              </a:rPr>
              <a:t>location.</a:t>
            </a:r>
            <a:endParaRPr sz="1600">
              <a:latin typeface="Cambria"/>
              <a:cs typeface="Cambria"/>
            </a:endParaRPr>
          </a:p>
        </p:txBody>
      </p:sp>
      <p:pic>
        <p:nvPicPr>
          <p:cNvPr id="3" name="object 3"/>
          <p:cNvPicPr/>
          <p:nvPr/>
        </p:nvPicPr>
        <p:blipFill>
          <a:blip r:embed="rId2" cstate="print"/>
          <a:stretch>
            <a:fillRect/>
          </a:stretch>
        </p:blipFill>
        <p:spPr>
          <a:xfrm>
            <a:off x="8869680" y="119634"/>
            <a:ext cx="2294001" cy="4051173"/>
          </a:xfrm>
          <a:prstGeom prst="rect">
            <a:avLst/>
          </a:prstGeom>
        </p:spPr>
      </p:pic>
      <p:pic>
        <p:nvPicPr>
          <p:cNvPr id="4" name="object 4"/>
          <p:cNvPicPr/>
          <p:nvPr/>
        </p:nvPicPr>
        <p:blipFill>
          <a:blip r:embed="rId3" cstate="print"/>
          <a:stretch>
            <a:fillRect/>
          </a:stretch>
        </p:blipFill>
        <p:spPr>
          <a:xfrm>
            <a:off x="7756017" y="4712681"/>
            <a:ext cx="3476752" cy="1967912"/>
          </a:xfrm>
          <a:prstGeom prst="rect">
            <a:avLst/>
          </a:prstGeom>
        </p:spPr>
      </p:pic>
      <p:sp>
        <p:nvSpPr>
          <p:cNvPr id="5" name="object 5"/>
          <p:cNvSpPr txBox="1">
            <a:spLocks noGrp="1"/>
          </p:cNvSpPr>
          <p:nvPr>
            <p:ph type="title"/>
          </p:nvPr>
        </p:nvSpPr>
        <p:spPr>
          <a:xfrm>
            <a:off x="644656" y="-164519"/>
            <a:ext cx="10515600" cy="1325563"/>
          </a:xfrm>
          <a:prstGeom prst="rect">
            <a:avLst/>
          </a:prstGeom>
        </p:spPr>
        <p:txBody>
          <a:bodyPr vert="horz" wrap="square" lIns="0" tIns="12065" rIns="0" bIns="0" rtlCol="0">
            <a:spAutoFit/>
          </a:bodyPr>
          <a:lstStyle/>
          <a:p>
            <a:pPr marL="12700">
              <a:lnSpc>
                <a:spcPct val="100000"/>
              </a:lnSpc>
              <a:spcBef>
                <a:spcPts val="95"/>
              </a:spcBef>
            </a:pPr>
            <a:r>
              <a:rPr spc="190" dirty="0"/>
              <a:t>Key</a:t>
            </a:r>
            <a:r>
              <a:rPr spc="100" dirty="0"/>
              <a:t> </a:t>
            </a:r>
            <a:r>
              <a:rPr spc="150" dirty="0"/>
              <a:t>Concepts</a:t>
            </a:r>
          </a:p>
        </p:txBody>
      </p:sp>
      <p:pic>
        <p:nvPicPr>
          <p:cNvPr id="6" name="object 6"/>
          <p:cNvPicPr/>
          <p:nvPr/>
        </p:nvPicPr>
        <p:blipFill>
          <a:blip r:embed="rId4" cstate="print"/>
          <a:stretch>
            <a:fillRect/>
          </a:stretch>
        </p:blipFill>
        <p:spPr>
          <a:xfrm>
            <a:off x="2829286" y="5249386"/>
            <a:ext cx="4495109" cy="14783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331</TotalTime>
  <Words>2660</Words>
  <Application>Microsoft Office PowerPoint</Application>
  <PresentationFormat>Widescreen</PresentationFormat>
  <Paragraphs>442</Paragraphs>
  <Slides>56</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56</vt:i4>
      </vt:variant>
    </vt:vector>
  </HeadingPairs>
  <TitlesOfParts>
    <vt:vector size="71" baseType="lpstr">
      <vt:lpstr>Aptos</vt:lpstr>
      <vt:lpstr>Aptos Display</vt:lpstr>
      <vt:lpstr>Arial</vt:lpstr>
      <vt:lpstr>Arial Black</vt:lpstr>
      <vt:lpstr>Arial MT</vt:lpstr>
      <vt:lpstr>Calibri</vt:lpstr>
      <vt:lpstr>Calibri Light</vt:lpstr>
      <vt:lpstr>Cambria</vt:lpstr>
      <vt:lpstr>Segoe Print</vt:lpstr>
      <vt:lpstr>Symbol</vt:lpstr>
      <vt:lpstr>Tahoma</vt:lpstr>
      <vt:lpstr>Times New Roman</vt:lpstr>
      <vt:lpstr>Trebuchet MS</vt:lpstr>
      <vt:lpstr>Wingdings</vt:lpstr>
      <vt:lpstr>Office Theme</vt:lpstr>
      <vt:lpstr>Machine Learning </vt:lpstr>
      <vt:lpstr>What is this course about?</vt:lpstr>
      <vt:lpstr>Is this course a right choice for you?</vt:lpstr>
      <vt:lpstr>Course Prerequisites</vt:lpstr>
      <vt:lpstr>Course structure</vt:lpstr>
      <vt:lpstr>Modules</vt:lpstr>
      <vt:lpstr>Modules</vt:lpstr>
      <vt:lpstr>Modules</vt:lpstr>
      <vt:lpstr>Modules</vt:lpstr>
      <vt:lpstr>Modules</vt:lpstr>
      <vt:lpstr>Modules</vt:lpstr>
      <vt:lpstr>Modules</vt:lpstr>
      <vt:lpstr>Anaconda </vt:lpstr>
      <vt:lpstr>Google Colab</vt:lpstr>
      <vt:lpstr>Visual Studio Code</vt:lpstr>
      <vt:lpstr>AI Umbrella</vt:lpstr>
      <vt:lpstr>Suggested Reference Books</vt:lpstr>
      <vt:lpstr>What is machine learning?</vt:lpstr>
      <vt:lpstr>Machine learning in Artificial Intelligence</vt:lpstr>
      <vt:lpstr>PowerPoint Presentation</vt:lpstr>
      <vt:lpstr>Machine Learning Overview</vt:lpstr>
      <vt:lpstr>What is Machine Learning ?</vt:lpstr>
      <vt:lpstr>Well Defined Learning Task</vt:lpstr>
      <vt:lpstr>Question</vt:lpstr>
      <vt:lpstr>Supervised Learning</vt:lpstr>
      <vt:lpstr>Unsupervised Learning</vt:lpstr>
      <vt:lpstr>Question</vt:lpstr>
      <vt:lpstr>Why It Is Useful ?</vt:lpstr>
      <vt:lpstr>Why It Is Useful ? (Cont.)</vt:lpstr>
      <vt:lpstr>Why It Is Useful ? (Cont.)</vt:lpstr>
      <vt:lpstr>How It Can be ?</vt:lpstr>
      <vt:lpstr>Semantic Gap</vt:lpstr>
      <vt:lpstr>Why Not Hard-Coded ?</vt:lpstr>
      <vt:lpstr>Why Not Hard-Coded ? (Cont.)</vt:lpstr>
      <vt:lpstr>Why Not Hard-Coded ? (Cont.)</vt:lpstr>
      <vt:lpstr>Machine Learning: Overview Example Applications</vt:lpstr>
      <vt:lpstr>Machine Learning: Overview</vt:lpstr>
      <vt:lpstr>Types of machine learning </vt:lpstr>
      <vt:lpstr>PowerPoint Presentation</vt:lpstr>
      <vt:lpstr>Breast cancer (malignant, benign)</vt:lpstr>
      <vt:lpstr>Machine Learning: Overview Nature of ML Problems</vt:lpstr>
      <vt:lpstr>Types of Machine Learning</vt:lpstr>
      <vt:lpstr>Types of machine learning</vt:lpstr>
      <vt:lpstr>Machine Learning: Overview</vt:lpstr>
      <vt:lpstr>Types of machine learning</vt:lpstr>
      <vt:lpstr>Types of Machine Learning</vt:lpstr>
      <vt:lpstr>Machine Learning: Overview Typical Flow</vt:lpstr>
      <vt:lpstr>Types and Applications of Machine Learning</vt:lpstr>
      <vt:lpstr>Machine Learning: Overview Data Types</vt:lpstr>
      <vt:lpstr>Machine Learning: Overview Data Types</vt:lpstr>
      <vt:lpstr>Challenges of machine learning</vt:lpstr>
      <vt:lpstr>Challenges of machine learning</vt:lpstr>
      <vt:lpstr>Example of reducing overfitting</vt:lpstr>
      <vt:lpstr>Challenges of machine learning</vt:lpstr>
      <vt:lpstr>Testing and validation</vt:lpstr>
      <vt:lpstr>Key Concepts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EE514-CS535 Machine Leaning 01-01</dc:title>
  <dc:creator>Zubair Khalid</dc:creator>
  <cp:lastModifiedBy>anwar khan</cp:lastModifiedBy>
  <cp:revision>74</cp:revision>
  <dcterms:created xsi:type="dcterms:W3CDTF">2024-10-17T09:25:24Z</dcterms:created>
  <dcterms:modified xsi:type="dcterms:W3CDTF">2025-10-07T04:20:54Z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2021-01-20T00:00:00Z</vt:filetime>
  </property>
  <property fmtid="{D5CDD505-2E9C-101B-9397-08002B2CF9AE}" pid="3" name="Creator">
    <vt:lpwstr>Microsoft® PowerPoint® for Office 365</vt:lpwstr>
  </property>
  <property fmtid="{D5CDD505-2E9C-101B-9397-08002B2CF9AE}" pid="4" name="LastSaved">
    <vt:filetime>2024-10-17T00:00:00Z</vt:filetime>
  </property>
  <property fmtid="{D5CDD505-2E9C-101B-9397-08002B2CF9AE}" pid="5" name="Producer">
    <vt:lpwstr>Microsoft® PowerPoint® for Office 365</vt:lpwstr>
  </property>
</Properties>
</file>