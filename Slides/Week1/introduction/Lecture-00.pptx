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25" r:id="rId18"/>
    <p:sldId id="326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48" r:id="rId28"/>
    <p:sldId id="349" r:id="rId29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6" autoAdjust="0"/>
  </p:normalViewPr>
  <p:slideViewPr>
    <p:cSldViewPr>
      <p:cViewPr varScale="1">
        <p:scale>
          <a:sx n="152" d="100"/>
          <a:sy n="152" d="100"/>
        </p:scale>
        <p:origin x="428" y="8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7644" y="3128823"/>
            <a:ext cx="989330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82742" y="3128823"/>
            <a:ext cx="364489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75" dirty="0"/>
              <a:t>‹#›</a:t>
            </a:fld>
            <a:r>
              <a:rPr spc="75" dirty="0"/>
              <a:t> </a:t>
            </a:r>
            <a:r>
              <a:rPr spc="100" dirty="0"/>
              <a:t>/</a:t>
            </a:r>
            <a:r>
              <a:rPr spc="80" dirty="0"/>
              <a:t> </a:t>
            </a:r>
            <a:r>
              <a:rPr spc="65" dirty="0"/>
              <a:t>47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slide" Target="slide1.xml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jpg"/><Relationship Id="rId7" Type="http://schemas.openxmlformats.org/officeDocument/2006/relationships/image" Target="../media/image1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slide" Target="slide1.xml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slide" Target="slide1.xml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3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slide" Target="slide27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96510" y="1196377"/>
            <a:ext cx="788670" cy="9709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40"/>
              </a:spcBef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09193" y="905408"/>
            <a:ext cx="5142230" cy="403225"/>
            <a:chOff x="309193" y="905408"/>
            <a:chExt cx="5142230" cy="403225"/>
          </a:xfrm>
        </p:grpSpPr>
        <p:sp>
          <p:nvSpPr>
            <p:cNvPr id="56" name="object 56"/>
            <p:cNvSpPr/>
            <p:nvPr/>
          </p:nvSpPr>
          <p:spPr>
            <a:xfrm>
              <a:off x="309193" y="905408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1067917"/>
              <a:ext cx="5141665" cy="5060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09193" y="1112196"/>
              <a:ext cx="5142230" cy="196850"/>
            </a:xfrm>
            <a:custGeom>
              <a:avLst/>
              <a:gdLst/>
              <a:ahLst/>
              <a:cxnLst/>
              <a:rect l="l" t="t" r="r" b="b"/>
              <a:pathLst>
                <a:path w="5142230" h="196850">
                  <a:moveTo>
                    <a:pt x="5141666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5090865" y="196259"/>
                  </a:lnTo>
                  <a:lnTo>
                    <a:pt x="5110590" y="192250"/>
                  </a:lnTo>
                  <a:lnTo>
                    <a:pt x="5126743" y="181336"/>
                  </a:lnTo>
                  <a:lnTo>
                    <a:pt x="5137657" y="165183"/>
                  </a:lnTo>
                  <a:lnTo>
                    <a:pt x="5141666" y="14545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47294" y="841546"/>
            <a:ext cx="3394075" cy="42925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000" spc="15" dirty="0">
                <a:solidFill>
                  <a:srgbClr val="FFFFFF"/>
                </a:solidFill>
                <a:latin typeface="Georgia"/>
                <a:cs typeface="Georgia"/>
              </a:rPr>
              <a:t>Activity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00" spc="-20" dirty="0">
                <a:latin typeface="Georgia"/>
                <a:cs typeface="Georgia"/>
              </a:rPr>
              <a:t>Write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program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(pseudo-code)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identify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“cat”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image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4899" y="1474958"/>
            <a:ext cx="1530191" cy="1054417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908881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23794" y="518695"/>
            <a:ext cx="1697989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700" b="1" spc="20" dirty="0">
                <a:solidFill>
                  <a:srgbClr val="0000FF"/>
                </a:solidFill>
                <a:latin typeface="Georgia"/>
                <a:cs typeface="Georgia"/>
              </a:rPr>
              <a:t>Traditional</a:t>
            </a:r>
            <a:r>
              <a:rPr sz="700" b="1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b="1" spc="20" dirty="0">
                <a:solidFill>
                  <a:srgbClr val="0000FF"/>
                </a:solidFill>
                <a:latin typeface="Georgia"/>
                <a:cs typeface="Georgia"/>
              </a:rPr>
              <a:t>programing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50">
              <a:latin typeface="Georgia"/>
              <a:cs typeface="Georgia"/>
            </a:endParaRPr>
          </a:p>
          <a:p>
            <a:pPr marL="176530">
              <a:lnSpc>
                <a:spcPts val="819"/>
              </a:lnSpc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7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</a:t>
            </a:r>
            <a:r>
              <a:rPr sz="700" i="1" spc="10" dirty="0">
                <a:latin typeface="Verdana"/>
                <a:cs typeface="Verdana"/>
              </a:rPr>
              <a:t> </a:t>
            </a:r>
            <a:r>
              <a:rPr sz="700" spc="35" dirty="0">
                <a:latin typeface="Verdana"/>
                <a:cs typeface="Verdana"/>
              </a:rPr>
              <a:t>=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50" dirty="0">
                <a:latin typeface="Verdana"/>
                <a:cs typeface="Verdana"/>
              </a:rPr>
              <a:t>1</a:t>
            </a:r>
            <a:r>
              <a:rPr sz="700" spc="10" dirty="0">
                <a:latin typeface="Verdana"/>
                <a:cs typeface="Verdana"/>
              </a:rPr>
              <a:t> </a:t>
            </a:r>
            <a:r>
              <a:rPr sz="700" spc="40" dirty="0">
                <a:latin typeface="Georgia"/>
                <a:cs typeface="Georgia"/>
              </a:rPr>
              <a:t>to</a:t>
            </a:r>
            <a:r>
              <a:rPr sz="700" spc="85" dirty="0">
                <a:latin typeface="Georgia"/>
                <a:cs typeface="Georgia"/>
              </a:rPr>
              <a:t> </a:t>
            </a:r>
            <a:r>
              <a:rPr sz="700" i="1" spc="105" dirty="0">
                <a:latin typeface="Verdana"/>
                <a:cs typeface="Verdana"/>
              </a:rPr>
              <a:t>N</a:t>
            </a:r>
            <a:r>
              <a:rPr sz="700" i="1" spc="85" dirty="0">
                <a:latin typeface="Verdana"/>
                <a:cs typeface="Verdana"/>
              </a:rPr>
              <a:t> </a:t>
            </a:r>
            <a:r>
              <a:rPr sz="700" b="1" spc="20" dirty="0">
                <a:latin typeface="Georgia"/>
                <a:cs typeface="Georgia"/>
              </a:rPr>
              <a:t>do</a:t>
            </a:r>
            <a:endParaRPr sz="700">
              <a:latin typeface="Georgia"/>
              <a:cs typeface="Georgia"/>
            </a:endParaRPr>
          </a:p>
          <a:p>
            <a:pPr marL="303530" marR="392430">
              <a:lnSpc>
                <a:spcPts val="800"/>
              </a:lnSpc>
              <a:spcBef>
                <a:spcPts val="40"/>
              </a:spcBef>
            </a:pPr>
            <a:r>
              <a:rPr sz="700" spc="40" dirty="0">
                <a:latin typeface="Georgia"/>
                <a:cs typeface="Georgia"/>
              </a:rPr>
              <a:t>detect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color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5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Georgia"/>
              <a:cs typeface="Georgia"/>
            </a:endParaRPr>
          </a:p>
          <a:p>
            <a:pPr marL="176530">
              <a:lnSpc>
                <a:spcPts val="819"/>
              </a:lnSpc>
              <a:spcBef>
                <a:spcPts val="5"/>
              </a:spcBef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7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</a:t>
            </a:r>
            <a:r>
              <a:rPr sz="700" i="1" spc="10" dirty="0">
                <a:latin typeface="Verdana"/>
                <a:cs typeface="Verdana"/>
              </a:rPr>
              <a:t> </a:t>
            </a:r>
            <a:r>
              <a:rPr sz="700" spc="35" dirty="0">
                <a:latin typeface="Verdana"/>
                <a:cs typeface="Verdana"/>
              </a:rPr>
              <a:t>=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50" dirty="0">
                <a:latin typeface="Verdana"/>
                <a:cs typeface="Verdana"/>
              </a:rPr>
              <a:t>1</a:t>
            </a:r>
            <a:r>
              <a:rPr sz="700" spc="10" dirty="0">
                <a:latin typeface="Verdana"/>
                <a:cs typeface="Verdana"/>
              </a:rPr>
              <a:t> </a:t>
            </a:r>
            <a:r>
              <a:rPr sz="700" spc="40" dirty="0">
                <a:latin typeface="Georgia"/>
                <a:cs typeface="Georgia"/>
              </a:rPr>
              <a:t>to</a:t>
            </a:r>
            <a:r>
              <a:rPr sz="700" spc="85" dirty="0">
                <a:latin typeface="Georgia"/>
                <a:cs typeface="Georgia"/>
              </a:rPr>
              <a:t> </a:t>
            </a:r>
            <a:r>
              <a:rPr sz="700" i="1" spc="105" dirty="0">
                <a:latin typeface="Verdana"/>
                <a:cs typeface="Verdana"/>
              </a:rPr>
              <a:t>N</a:t>
            </a:r>
            <a:r>
              <a:rPr sz="700" i="1" spc="85" dirty="0">
                <a:latin typeface="Verdana"/>
                <a:cs typeface="Verdana"/>
              </a:rPr>
              <a:t> </a:t>
            </a:r>
            <a:r>
              <a:rPr sz="700" b="1" spc="20" dirty="0">
                <a:latin typeface="Georgia"/>
                <a:cs typeface="Georgia"/>
              </a:rPr>
              <a:t>do</a:t>
            </a:r>
            <a:endParaRPr sz="700">
              <a:latin typeface="Georgia"/>
              <a:cs typeface="Georgia"/>
            </a:endParaRPr>
          </a:p>
          <a:p>
            <a:pPr marL="303530" marR="356870">
              <a:lnSpc>
                <a:spcPts val="800"/>
              </a:lnSpc>
              <a:spcBef>
                <a:spcPts val="35"/>
              </a:spcBef>
            </a:pPr>
            <a:r>
              <a:rPr sz="700" spc="40" dirty="0">
                <a:latin typeface="Georgia"/>
                <a:cs typeface="Georgia"/>
              </a:rPr>
              <a:t>detect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sha</a:t>
            </a:r>
            <a:r>
              <a:rPr sz="700" spc="55" dirty="0">
                <a:latin typeface="Georgia"/>
                <a:cs typeface="Georgia"/>
              </a:rPr>
              <a:t>p</a:t>
            </a:r>
            <a:r>
              <a:rPr sz="700" spc="15" dirty="0">
                <a:latin typeface="Georgia"/>
                <a:cs typeface="Georgia"/>
              </a:rPr>
              <a:t>e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5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 marL="303530" marR="480059" indent="-127000">
              <a:lnSpc>
                <a:spcPts val="800"/>
              </a:lnSpc>
              <a:spcBef>
                <a:spcPts val="620"/>
              </a:spcBef>
            </a:pPr>
            <a:r>
              <a:rPr sz="700" b="1" dirty="0">
                <a:latin typeface="Georgia"/>
                <a:cs typeface="Georgia"/>
              </a:rPr>
              <a:t>for</a:t>
            </a:r>
            <a:r>
              <a:rPr sz="700" b="1" spc="5" dirty="0">
                <a:latin typeface="Georgia"/>
                <a:cs typeface="Georgia"/>
              </a:rPr>
              <a:t> </a:t>
            </a:r>
            <a:r>
              <a:rPr sz="700" i="1" spc="85" dirty="0">
                <a:latin typeface="Verdana"/>
                <a:cs typeface="Verdana"/>
              </a:rPr>
              <a:t>j </a:t>
            </a:r>
            <a:r>
              <a:rPr sz="700" spc="35" dirty="0">
                <a:latin typeface="Verdana"/>
                <a:cs typeface="Verdana"/>
              </a:rPr>
              <a:t>= </a:t>
            </a:r>
            <a:r>
              <a:rPr sz="700" spc="-50" dirty="0">
                <a:latin typeface="Verdana"/>
                <a:cs typeface="Verdana"/>
              </a:rPr>
              <a:t>1 </a:t>
            </a:r>
            <a:r>
              <a:rPr sz="700" spc="40" dirty="0">
                <a:latin typeface="Georgia"/>
                <a:cs typeface="Georgia"/>
              </a:rPr>
              <a:t>to </a:t>
            </a:r>
            <a:r>
              <a:rPr sz="700" i="1" spc="105" dirty="0">
                <a:latin typeface="Verdana"/>
                <a:cs typeface="Verdana"/>
              </a:rPr>
              <a:t>N </a:t>
            </a:r>
            <a:r>
              <a:rPr sz="700" b="1" spc="20" dirty="0">
                <a:latin typeface="Georgia"/>
                <a:cs typeface="Georgia"/>
              </a:rPr>
              <a:t>do </a:t>
            </a:r>
            <a:r>
              <a:rPr sz="700" b="1" spc="25" dirty="0">
                <a:latin typeface="Georgia"/>
                <a:cs typeface="Georgia"/>
              </a:rPr>
              <a:t> </a:t>
            </a:r>
            <a:r>
              <a:rPr sz="700" spc="40" dirty="0">
                <a:latin typeface="Georgia"/>
                <a:cs typeface="Georgia"/>
              </a:rPr>
              <a:t>detect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fur</a:t>
            </a:r>
            <a:r>
              <a:rPr sz="700" dirty="0">
                <a:latin typeface="Georgia"/>
                <a:cs typeface="Georgia"/>
              </a:rPr>
              <a:t> </a:t>
            </a:r>
            <a:r>
              <a:rPr sz="700" spc="-70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(</a:t>
            </a:r>
            <a:r>
              <a:rPr sz="700" i="1" spc="20" dirty="0">
                <a:latin typeface="Verdana"/>
                <a:cs typeface="Verdana"/>
              </a:rPr>
              <a:t>ima</a:t>
            </a:r>
            <a:r>
              <a:rPr sz="700" i="1" spc="45" dirty="0">
                <a:latin typeface="Verdana"/>
                <a:cs typeface="Verdana"/>
              </a:rPr>
              <a:t>g</a:t>
            </a:r>
            <a:r>
              <a:rPr sz="700" i="1" spc="-45" dirty="0">
                <a:latin typeface="Verdana"/>
                <a:cs typeface="Verdana"/>
              </a:rPr>
              <a:t>e</a:t>
            </a:r>
            <a:r>
              <a:rPr sz="750" i="1" spc="254" baseline="-11111" dirty="0">
                <a:latin typeface="Arial"/>
                <a:cs typeface="Arial"/>
              </a:rPr>
              <a:t>N</a:t>
            </a:r>
            <a:r>
              <a:rPr sz="750" i="1" spc="-52" baseline="-11111" dirty="0">
                <a:latin typeface="Arial"/>
                <a:cs typeface="Arial"/>
              </a:rPr>
              <a:t> </a:t>
            </a:r>
            <a:r>
              <a:rPr sz="700" spc="35" dirty="0">
                <a:latin typeface="Georgia"/>
                <a:cs typeface="Georgia"/>
              </a:rPr>
              <a:t>)  </a:t>
            </a:r>
            <a:r>
              <a:rPr sz="700" spc="30" dirty="0">
                <a:latin typeface="Georgia"/>
                <a:cs typeface="Georgia"/>
              </a:rPr>
              <a:t>lots</a:t>
            </a:r>
            <a:r>
              <a:rPr sz="700" spc="90" dirty="0">
                <a:latin typeface="Georgia"/>
                <a:cs typeface="Georgia"/>
              </a:rPr>
              <a:t> </a:t>
            </a:r>
            <a:r>
              <a:rPr sz="700" spc="15" dirty="0">
                <a:latin typeface="Georgia"/>
                <a:cs typeface="Georgia"/>
              </a:rPr>
              <a:t>of</a:t>
            </a:r>
            <a:r>
              <a:rPr sz="700" spc="95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code</a:t>
            </a:r>
            <a:endParaRPr sz="700">
              <a:latin typeface="Georgia"/>
              <a:cs typeface="Georgia"/>
            </a:endParaRPr>
          </a:p>
          <a:p>
            <a:pPr marL="176530">
              <a:lnSpc>
                <a:spcPts val="770"/>
              </a:lnSpc>
            </a:pPr>
            <a:r>
              <a:rPr sz="700" b="1" spc="20" dirty="0">
                <a:latin typeface="Georgia"/>
                <a:cs typeface="Georgia"/>
              </a:rPr>
              <a:t>end</a:t>
            </a:r>
            <a:r>
              <a:rPr sz="700" b="1" spc="40" dirty="0">
                <a:latin typeface="Georgia"/>
                <a:cs typeface="Georgia"/>
              </a:rPr>
              <a:t> </a:t>
            </a:r>
            <a:r>
              <a:rPr sz="700" b="1" dirty="0">
                <a:latin typeface="Georgia"/>
                <a:cs typeface="Georgia"/>
              </a:rPr>
              <a:t>for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819"/>
              </a:lnSpc>
              <a:spcBef>
                <a:spcPts val="115"/>
              </a:spcBef>
            </a:pPr>
            <a:r>
              <a:rPr sz="700" spc="3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795"/>
              </a:lnSpc>
            </a:pPr>
            <a:r>
              <a:rPr sz="700" spc="3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75565">
              <a:lnSpc>
                <a:spcPts val="819"/>
              </a:lnSpc>
            </a:pPr>
            <a:r>
              <a:rPr sz="700" b="1" spc="1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25" dirty="0">
                <a:solidFill>
                  <a:srgbClr val="FF0000"/>
                </a:solidFill>
                <a:latin typeface="Georgia"/>
                <a:cs typeface="Georgia"/>
              </a:rPr>
              <a:t>this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20" dirty="0">
                <a:solidFill>
                  <a:srgbClr val="FF0000"/>
                </a:solidFill>
                <a:latin typeface="Georgia"/>
                <a:cs typeface="Georgia"/>
              </a:rPr>
              <a:t>enough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40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15" dirty="0">
                <a:solidFill>
                  <a:srgbClr val="FF0000"/>
                </a:solidFill>
                <a:latin typeface="Georgia"/>
                <a:cs typeface="Georgia"/>
              </a:rPr>
              <a:t>recognize</a:t>
            </a:r>
            <a:r>
              <a:rPr sz="700" b="1" spc="1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spc="40" dirty="0">
                <a:solidFill>
                  <a:srgbClr val="FF0000"/>
                </a:solidFill>
                <a:latin typeface="Georgia"/>
                <a:cs typeface="Georgia"/>
              </a:rPr>
              <a:t>cat?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888599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87294" y="612462"/>
            <a:ext cx="24066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Can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5" dirty="0">
                <a:solidFill>
                  <a:srgbClr val="EC008C"/>
                </a:solidFill>
                <a:latin typeface="Georgia"/>
                <a:cs typeface="Georgia"/>
              </a:rPr>
              <a:t>we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manually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write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an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algorithm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(hard </a:t>
            </a:r>
            <a:r>
              <a:rPr sz="1000" spc="-229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code)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that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caters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all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variations?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4" y="1127810"/>
            <a:ext cx="2245994" cy="1567053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05" y="885856"/>
            <a:ext cx="2433637" cy="153019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2987294" y="623435"/>
            <a:ext cx="24066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Can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5" dirty="0">
                <a:solidFill>
                  <a:srgbClr val="EC008C"/>
                </a:solidFill>
                <a:latin typeface="Georgia"/>
                <a:cs typeface="Georgia"/>
              </a:rPr>
              <a:t>we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manually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write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an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algorithm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(hard </a:t>
            </a:r>
            <a:r>
              <a:rPr sz="1000" spc="-229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code)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that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caters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all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variations?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4" y="1138783"/>
            <a:ext cx="2369439" cy="1539620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How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different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from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Traditional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Programming?</a:t>
            </a:r>
            <a:endParaRPr sz="900" dirty="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34" y="678103"/>
            <a:ext cx="2225040" cy="190881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2048" y="123698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2048" y="1730438"/>
            <a:ext cx="57746" cy="5774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2048" y="1920227"/>
            <a:ext cx="57746" cy="57746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3240354" y="1158041"/>
            <a:ext cx="2242820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655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Machine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learning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 </a:t>
            </a:r>
            <a:r>
              <a:rPr sz="1000" spc="-25" dirty="0">
                <a:latin typeface="Georgia"/>
                <a:cs typeface="Georgia"/>
              </a:rPr>
              <a:t>are </a:t>
            </a:r>
            <a:r>
              <a:rPr sz="1000" spc="-20" dirty="0">
                <a:latin typeface="Georgia"/>
                <a:cs typeface="Georgia"/>
              </a:rPr>
              <a:t> algorithms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learn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models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from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190"/>
              </a:lnSpc>
            </a:pP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/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experience</a:t>
            </a:r>
            <a:r>
              <a:rPr sz="1000" spc="-2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Georgia"/>
                <a:cs typeface="Georgia"/>
              </a:rPr>
              <a:t>No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need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formulate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explicit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rules.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Algorithm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performance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gets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better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with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experience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5" dirty="0">
                <a:latin typeface="Georgia"/>
                <a:cs typeface="Georgia"/>
              </a:rPr>
              <a:t>/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data.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0" name="object 60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96510" y="1196377"/>
            <a:ext cx="788670" cy="9709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40"/>
              </a:spcBef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What?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09193" y="539025"/>
            <a:ext cx="5142230" cy="540385"/>
            <a:chOff x="309193" y="539025"/>
            <a:chExt cx="5142230" cy="540385"/>
          </a:xfrm>
        </p:grpSpPr>
        <p:sp>
          <p:nvSpPr>
            <p:cNvPr id="56" name="object 56"/>
            <p:cNvSpPr/>
            <p:nvPr/>
          </p:nvSpPr>
          <p:spPr>
            <a:xfrm>
              <a:off x="309193" y="539025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701548"/>
              <a:ext cx="5141665" cy="5060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09193" y="745829"/>
              <a:ext cx="5142230" cy="333375"/>
            </a:xfrm>
            <a:custGeom>
              <a:avLst/>
              <a:gdLst/>
              <a:ahLst/>
              <a:cxnLst/>
              <a:rect l="l" t="t" r="r" b="b"/>
              <a:pathLst>
                <a:path w="5142230" h="333375">
                  <a:moveTo>
                    <a:pt x="5141666" y="0"/>
                  </a:moveTo>
                  <a:lnTo>
                    <a:pt x="0" y="0"/>
                  </a:lnTo>
                  <a:lnTo>
                    <a:pt x="0" y="282527"/>
                  </a:lnTo>
                  <a:lnTo>
                    <a:pt x="4008" y="302252"/>
                  </a:lnTo>
                  <a:lnTo>
                    <a:pt x="14922" y="318405"/>
                  </a:lnTo>
                  <a:lnTo>
                    <a:pt x="31075" y="329319"/>
                  </a:lnTo>
                  <a:lnTo>
                    <a:pt x="50800" y="333328"/>
                  </a:lnTo>
                  <a:lnTo>
                    <a:pt x="5090865" y="333328"/>
                  </a:lnTo>
                  <a:lnTo>
                    <a:pt x="5110590" y="329319"/>
                  </a:lnTo>
                  <a:lnTo>
                    <a:pt x="5126743" y="318405"/>
                  </a:lnTo>
                  <a:lnTo>
                    <a:pt x="5137657" y="302252"/>
                  </a:lnTo>
                  <a:lnTo>
                    <a:pt x="5141666" y="28252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47294" y="482885"/>
            <a:ext cx="4439920" cy="5657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30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10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1000" dirty="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000" spc="-15" dirty="0">
                <a:latin typeface="Georgia"/>
                <a:cs typeface="Georgia"/>
              </a:rPr>
              <a:t>Field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study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gives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computers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ability</a:t>
            </a:r>
            <a:r>
              <a:rPr sz="1000" spc="10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to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learn</a:t>
            </a:r>
            <a:r>
              <a:rPr sz="1000" spc="10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without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explicitly </a:t>
            </a:r>
            <a:r>
              <a:rPr sz="1000" spc="-2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programmed.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7304" y="1966968"/>
            <a:ext cx="10153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15" dirty="0">
                <a:latin typeface="Georgia"/>
                <a:cs typeface="Georgia"/>
              </a:rPr>
              <a:t>Arthur</a:t>
            </a:r>
            <a:r>
              <a:rPr sz="1000" b="1" spc="70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Samuel, </a:t>
            </a:r>
            <a:r>
              <a:rPr sz="1000" b="1" spc="-24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1959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4790" y="1225397"/>
            <a:ext cx="2378392" cy="1875472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3" name="object 63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303970" y="88519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9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What?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498" y="639876"/>
            <a:ext cx="4632960" cy="224409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46937"/>
            <a:ext cx="2063115" cy="132397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2483269" y="446792"/>
            <a:ext cx="2362835" cy="5670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9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8" name="object 5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65987"/>
            <a:ext cx="2286000" cy="128587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483269" y="446792"/>
            <a:ext cx="2362835" cy="7061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89852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9" name="object 59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525183"/>
            <a:ext cx="2273427" cy="236753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2483269" y="446792"/>
            <a:ext cx="2485390" cy="845819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1020444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0" name="object 60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4005" y="718807"/>
            <a:ext cx="2442210" cy="1964689"/>
            <a:chOff x="244005" y="718807"/>
            <a:chExt cx="2442210" cy="1964689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005" y="718807"/>
              <a:ext cx="2352294" cy="196424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8011" y="753490"/>
              <a:ext cx="57746" cy="57746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483269" y="446792"/>
            <a:ext cx="2841625" cy="9848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37731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333182"/>
            <a:ext cx="1988820" cy="75152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2483269" y="446792"/>
            <a:ext cx="2899410" cy="14808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2" name="object 62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61237"/>
            <a:ext cx="2286000" cy="128016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2483269" y="446792"/>
            <a:ext cx="2899410" cy="19716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775460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5" name="object 6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649782"/>
            <a:ext cx="2212848" cy="211836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2483269" y="446792"/>
            <a:ext cx="2899410" cy="21107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43446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5080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775460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6" name="object 66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95120"/>
            <a:ext cx="2057400" cy="122758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2651378"/>
            <a:ext cx="57746" cy="57746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2483269" y="446792"/>
            <a:ext cx="3050540" cy="23031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5855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155575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926589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315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expertise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does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not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exist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(Mars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navigating)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7" name="object 67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04" y="1021905"/>
            <a:ext cx="2034539" cy="1525905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753490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929208"/>
            <a:ext cx="46520" cy="465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068387"/>
            <a:ext cx="46520" cy="4652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207554"/>
            <a:ext cx="46520" cy="4652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2285" y="1346733"/>
            <a:ext cx="46520" cy="4652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8011" y="1525295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018753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194458"/>
            <a:ext cx="46520" cy="46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92285" y="2333637"/>
            <a:ext cx="46520" cy="4652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285" y="2472816"/>
            <a:ext cx="46520" cy="4652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2651378"/>
            <a:ext cx="57746" cy="57746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28011" y="2841167"/>
            <a:ext cx="57746" cy="57746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2483269" y="446792"/>
            <a:ext cx="3050540" cy="26447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Machine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used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when: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Humans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EC008C"/>
                </a:solidFill>
                <a:latin typeface="Georgia"/>
                <a:cs typeface="Georgia"/>
              </a:rPr>
              <a:t>can’t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explain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their</a:t>
            </a:r>
            <a:r>
              <a:rPr sz="1000" spc="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expertise:</a:t>
            </a:r>
            <a:endParaRPr sz="1000" dirty="0">
              <a:latin typeface="Georgia"/>
              <a:cs typeface="Georgia"/>
            </a:endParaRPr>
          </a:p>
          <a:p>
            <a:pPr marL="518795" marR="1585595">
              <a:lnSpc>
                <a:spcPct val="101499"/>
              </a:lnSpc>
              <a:spcBef>
                <a:spcPts val="175"/>
              </a:spcBef>
            </a:pPr>
            <a:r>
              <a:rPr sz="900" spc="-20" dirty="0">
                <a:latin typeface="Georgia"/>
                <a:cs typeface="Georgia"/>
              </a:rPr>
              <a:t>speech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visual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Georgia"/>
                <a:cs typeface="Georgia"/>
              </a:rPr>
              <a:t>face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detection,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expressions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Georgia"/>
                <a:cs typeface="Georgia"/>
              </a:rPr>
              <a:t>hand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writing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(pattern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recog.)</a:t>
            </a:r>
            <a:r>
              <a:rPr sz="900" spc="19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</a:t>
            </a:r>
            <a:endParaRPr sz="900" dirty="0">
              <a:latin typeface="Georgia"/>
              <a:cs typeface="Georgia"/>
            </a:endParaRPr>
          </a:p>
          <a:p>
            <a:pPr marL="265430" marR="155575">
              <a:lnSpc>
                <a:spcPct val="100000"/>
              </a:lnSpc>
              <a:spcBef>
                <a:spcPts val="31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must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be </a:t>
            </a:r>
            <a:r>
              <a:rPr sz="1000" spc="-25" dirty="0">
                <a:latin typeface="Georgia"/>
                <a:cs typeface="Georgia"/>
              </a:rPr>
              <a:t>customized</a:t>
            </a:r>
            <a:r>
              <a:rPr sz="1000" spc="-20" dirty="0">
                <a:latin typeface="Georgia"/>
                <a:cs typeface="Georgia"/>
              </a:rPr>
              <a:t> (personalized 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medicine,</a:t>
            </a:r>
            <a:r>
              <a:rPr sz="1000" spc="-25" dirty="0">
                <a:latin typeface="Georgia"/>
                <a:cs typeface="Georgia"/>
              </a:rPr>
              <a:t> personalized </a:t>
            </a:r>
            <a:r>
              <a:rPr sz="1000" spc="-30" dirty="0">
                <a:latin typeface="Georgia"/>
                <a:cs typeface="Georgia"/>
              </a:rPr>
              <a:t>recommendations,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home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assistant)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1000" spc="-30" dirty="0">
                <a:latin typeface="Georgia"/>
                <a:cs typeface="Georgia"/>
              </a:rPr>
              <a:t>Models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based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huge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amounts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of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data</a:t>
            </a:r>
            <a:endParaRPr sz="1000" dirty="0">
              <a:latin typeface="Georgia"/>
              <a:cs typeface="Georgia"/>
            </a:endParaRPr>
          </a:p>
          <a:p>
            <a:pPr marL="518795" marR="1926589">
              <a:lnSpc>
                <a:spcPct val="101499"/>
              </a:lnSpc>
              <a:spcBef>
                <a:spcPts val="180"/>
              </a:spcBef>
            </a:pPr>
            <a:r>
              <a:rPr sz="900" spc="-25" dirty="0">
                <a:latin typeface="Georgia"/>
                <a:cs typeface="Georgia"/>
              </a:rPr>
              <a:t>genomics </a:t>
            </a:r>
            <a:r>
              <a:rPr sz="900" spc="-2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stock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prices</a:t>
            </a:r>
            <a:endParaRPr sz="900" dirty="0">
              <a:latin typeface="Georgia"/>
              <a:cs typeface="Georgia"/>
            </a:endParaRPr>
          </a:p>
          <a:p>
            <a:pPr marL="518795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Georgia"/>
                <a:cs typeface="Georgia"/>
              </a:rPr>
              <a:t>self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cars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5" dirty="0">
                <a:latin typeface="Georgia"/>
                <a:cs typeface="Georgia"/>
              </a:rPr>
              <a:t>etc.</a:t>
            </a:r>
            <a:endParaRPr sz="9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315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expertise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EC008C"/>
                </a:solidFill>
                <a:latin typeface="Georgia"/>
                <a:cs typeface="Georgia"/>
              </a:rPr>
              <a:t>does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not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exist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(Mars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navigating)</a:t>
            </a:r>
            <a:endParaRPr sz="1000" dirty="0">
              <a:latin typeface="Georgia"/>
              <a:cs typeface="Georgia"/>
            </a:endParaRPr>
          </a:p>
          <a:p>
            <a:pPr marL="265430" marR="394970">
              <a:lnSpc>
                <a:spcPct val="100000"/>
              </a:lnSpc>
              <a:spcBef>
                <a:spcPts val="290"/>
              </a:spcBef>
            </a:pPr>
            <a:r>
              <a:rPr sz="1000" spc="-40" dirty="0">
                <a:latin typeface="Georgia"/>
                <a:cs typeface="Georgia"/>
              </a:rPr>
              <a:t>Human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capabilities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EC008C"/>
                </a:solidFill>
                <a:latin typeface="Georgia"/>
                <a:cs typeface="Georgia"/>
              </a:rPr>
              <a:t>needs</a:t>
            </a:r>
            <a:r>
              <a:rPr sz="1000" spc="9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EC008C"/>
                </a:solidFill>
                <a:latin typeface="Georgia"/>
                <a:cs typeface="Georgia"/>
              </a:rPr>
              <a:t>to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EC008C"/>
                </a:solidFill>
                <a:latin typeface="Georgia"/>
                <a:cs typeface="Georgia"/>
              </a:rPr>
              <a:t>be</a:t>
            </a:r>
            <a:r>
              <a:rPr sz="1000" spc="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augmented </a:t>
            </a:r>
            <a:r>
              <a:rPr sz="1000" spc="-2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(medical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diagnosis)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8" name="object 6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2880004" y="88519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growing?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9193" y="663561"/>
            <a:ext cx="5142230" cy="382905"/>
            <a:chOff x="309193" y="663561"/>
            <a:chExt cx="5142230" cy="382905"/>
          </a:xfrm>
        </p:grpSpPr>
        <p:sp>
          <p:nvSpPr>
            <p:cNvPr id="54" name="object 54"/>
            <p:cNvSpPr/>
            <p:nvPr/>
          </p:nvSpPr>
          <p:spPr>
            <a:xfrm>
              <a:off x="309193" y="663561"/>
              <a:ext cx="5142230" cy="169545"/>
            </a:xfrm>
            <a:custGeom>
              <a:avLst/>
              <a:gdLst/>
              <a:ahLst/>
              <a:cxnLst/>
              <a:rect l="l" t="t" r="r" b="b"/>
              <a:pathLst>
                <a:path w="5142230" h="169544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5141666" y="169546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20458"/>
              <a:ext cx="5141665" cy="5060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9193" y="864730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7294" y="613048"/>
            <a:ext cx="1188085" cy="4025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10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Georgia"/>
                <a:cs typeface="Georgia"/>
              </a:rPr>
              <a:t>Niche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5" dirty="0">
                <a:latin typeface="Georgia"/>
                <a:cs typeface="Georgia"/>
              </a:rPr>
              <a:t>Why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growing?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390091"/>
            <a:ext cx="57746" cy="5774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046" y="1579867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769655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959444"/>
            <a:ext cx="57746" cy="5774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47294" y="1008869"/>
            <a:ext cx="1776095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49000"/>
              </a:lnSpc>
              <a:spcBef>
                <a:spcPts val="100"/>
              </a:spcBef>
            </a:pPr>
            <a:r>
              <a:rPr sz="1000" spc="35" dirty="0">
                <a:latin typeface="Georgia"/>
                <a:cs typeface="Georgia"/>
              </a:rPr>
              <a:t>1.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to: </a:t>
            </a:r>
            <a:r>
              <a:rPr sz="1000" spc="-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imaging</a:t>
            </a:r>
            <a:endParaRPr sz="1000">
              <a:latin typeface="Georgia"/>
              <a:cs typeface="Georgia"/>
            </a:endParaRPr>
          </a:p>
          <a:p>
            <a:pPr marL="145415" marR="588645">
              <a:lnSpc>
                <a:spcPct val="124500"/>
              </a:lnSpc>
            </a:pPr>
            <a:r>
              <a:rPr sz="1000" spc="-30" dirty="0">
                <a:latin typeface="Georgia"/>
                <a:cs typeface="Georgia"/>
              </a:rPr>
              <a:t>Speech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Robotics 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vision: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3285" y="2101808"/>
            <a:ext cx="101600" cy="657860"/>
            <a:chOff x="583285" y="2101808"/>
            <a:chExt cx="101600" cy="657860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101808"/>
              <a:ext cx="101057" cy="1010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240988"/>
              <a:ext cx="101057" cy="10105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285" y="2380167"/>
              <a:ext cx="101057" cy="10105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519346"/>
              <a:ext cx="101057" cy="10105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658525"/>
              <a:ext cx="101057" cy="10105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99579" y="2090441"/>
            <a:ext cx="68580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3399" y="2057636"/>
            <a:ext cx="1075055" cy="718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Georgia"/>
                <a:cs typeface="Georgia"/>
              </a:rPr>
              <a:t>Person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identification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Activity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5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Object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 </a:t>
            </a:r>
            <a:r>
              <a:rPr sz="90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Autonomus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5" dirty="0">
                <a:latin typeface="Georgia"/>
                <a:cs typeface="Georgia"/>
              </a:rPr>
              <a:t>....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046" y="2870428"/>
            <a:ext cx="57746" cy="57746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80352" y="2791490"/>
            <a:ext cx="131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...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2048" y="2004085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193874"/>
            <a:ext cx="57746" cy="57746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2987294" y="1583517"/>
            <a:ext cx="2480945" cy="70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2.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to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all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of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the </a:t>
            </a:r>
            <a:r>
              <a:rPr sz="1000" spc="-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above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problems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and: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Georgia"/>
                <a:cs typeface="Georgia"/>
              </a:rPr>
              <a:t>Improved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Availability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large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volumes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datasets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3151479"/>
            <a:ext cx="5184317" cy="88900"/>
            <a:chOff x="0" y="3151479"/>
            <a:chExt cx="5184317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23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Why?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growing?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9193" y="663561"/>
            <a:ext cx="5142230" cy="382905"/>
            <a:chOff x="309193" y="663561"/>
            <a:chExt cx="5142230" cy="382905"/>
          </a:xfrm>
        </p:grpSpPr>
        <p:sp>
          <p:nvSpPr>
            <p:cNvPr id="54" name="object 54"/>
            <p:cNvSpPr/>
            <p:nvPr/>
          </p:nvSpPr>
          <p:spPr>
            <a:xfrm>
              <a:off x="309193" y="663561"/>
              <a:ext cx="5142230" cy="169545"/>
            </a:xfrm>
            <a:custGeom>
              <a:avLst/>
              <a:gdLst/>
              <a:ahLst/>
              <a:cxnLst/>
              <a:rect l="l" t="t" r="r" b="b"/>
              <a:pathLst>
                <a:path w="5142230" h="169544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9546"/>
                  </a:lnTo>
                  <a:lnTo>
                    <a:pt x="5141666" y="169546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820458"/>
              <a:ext cx="5141665" cy="5060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9193" y="864730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7294" y="613048"/>
            <a:ext cx="1188085" cy="4025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ML</a:t>
            </a:r>
            <a:r>
              <a:rPr sz="10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Georgia"/>
                <a:cs typeface="Georgia"/>
              </a:rPr>
              <a:t>Niche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5" dirty="0">
                <a:latin typeface="Georgia"/>
                <a:cs typeface="Georgia"/>
              </a:rPr>
              <a:t>Why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growing?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390091"/>
            <a:ext cx="57746" cy="5774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2046" y="1579867"/>
            <a:ext cx="57746" cy="577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769655"/>
            <a:ext cx="57746" cy="57746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46" y="1959444"/>
            <a:ext cx="57746" cy="5774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47294" y="1008869"/>
            <a:ext cx="1776095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49000"/>
              </a:lnSpc>
              <a:spcBef>
                <a:spcPts val="100"/>
              </a:spcBef>
            </a:pPr>
            <a:r>
              <a:rPr sz="1000" spc="35" dirty="0">
                <a:latin typeface="Georgia"/>
                <a:cs typeface="Georgia"/>
              </a:rPr>
              <a:t>1.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to: </a:t>
            </a:r>
            <a:r>
              <a:rPr sz="1000" spc="-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Medical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imaging</a:t>
            </a:r>
            <a:endParaRPr sz="1000">
              <a:latin typeface="Georgia"/>
              <a:cs typeface="Georgia"/>
            </a:endParaRPr>
          </a:p>
          <a:p>
            <a:pPr marL="145415" marR="588645">
              <a:lnSpc>
                <a:spcPct val="124500"/>
              </a:lnSpc>
            </a:pPr>
            <a:r>
              <a:rPr sz="1000" spc="-30" dirty="0">
                <a:latin typeface="Georgia"/>
                <a:cs typeface="Georgia"/>
              </a:rPr>
              <a:t>Speech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Robotics 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Computer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vision: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3285" y="2101808"/>
            <a:ext cx="101600" cy="657860"/>
            <a:chOff x="583285" y="2101808"/>
            <a:chExt cx="101600" cy="657860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101808"/>
              <a:ext cx="101057" cy="1010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240988"/>
              <a:ext cx="101057" cy="10105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285" y="2380167"/>
              <a:ext cx="101057" cy="10105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519346"/>
              <a:ext cx="101057" cy="10105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3285" y="2658525"/>
              <a:ext cx="101057" cy="101057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99579" y="2090441"/>
            <a:ext cx="68580" cy="65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5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3399" y="2057636"/>
            <a:ext cx="1075055" cy="718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Georgia"/>
                <a:cs typeface="Georgia"/>
              </a:rPr>
              <a:t>Person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5" dirty="0">
                <a:latin typeface="Georgia"/>
                <a:cs typeface="Georgia"/>
              </a:rPr>
              <a:t>identification </a:t>
            </a:r>
            <a:r>
              <a:rPr sz="900" spc="-204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Activity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recognition </a:t>
            </a:r>
            <a:r>
              <a:rPr sz="900" spc="-5" dirty="0">
                <a:latin typeface="Georgia"/>
                <a:cs typeface="Georgia"/>
              </a:rPr>
              <a:t> </a:t>
            </a:r>
            <a:r>
              <a:rPr sz="900" spc="20" dirty="0">
                <a:latin typeface="Georgia"/>
                <a:cs typeface="Georgia"/>
              </a:rPr>
              <a:t>Object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detection </a:t>
            </a:r>
            <a:r>
              <a:rPr sz="90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Autonomus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5" dirty="0">
                <a:latin typeface="Georgia"/>
                <a:cs typeface="Georgia"/>
              </a:rPr>
              <a:t>driving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5" dirty="0">
                <a:latin typeface="Georgia"/>
                <a:cs typeface="Georgia"/>
              </a:rPr>
              <a:t>....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046" y="2870428"/>
            <a:ext cx="57746" cy="57746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80352" y="2791490"/>
            <a:ext cx="131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...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2048" y="2004085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193874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2048" y="2383663"/>
            <a:ext cx="57746" cy="5774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2987294" y="1583517"/>
            <a:ext cx="2480945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Georgia"/>
                <a:cs typeface="Georgia"/>
              </a:rPr>
              <a:t>2.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preferred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approach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to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all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of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the </a:t>
            </a:r>
            <a:r>
              <a:rPr sz="1000" spc="-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above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problems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and: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sz="1000" spc="-35" dirty="0">
                <a:latin typeface="Georgia"/>
                <a:cs typeface="Georgia"/>
              </a:rPr>
              <a:t>Improved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Availability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large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volumes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datasets</a:t>
            </a:r>
            <a:endParaRPr sz="1000">
              <a:latin typeface="Georgia"/>
              <a:cs typeface="Georgia"/>
            </a:endParaRPr>
          </a:p>
          <a:p>
            <a:pPr marL="265430" marR="173355">
              <a:lnSpc>
                <a:spcPct val="100000"/>
              </a:lnSpc>
              <a:spcBef>
                <a:spcPts val="295"/>
              </a:spcBef>
            </a:pPr>
            <a:r>
              <a:rPr sz="1000" spc="-25" dirty="0">
                <a:latin typeface="Georgia"/>
                <a:cs typeface="Georgia"/>
              </a:rPr>
              <a:t>Self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customizing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software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i.e.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Speech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recognition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Spam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filter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8" name="object 78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303957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524" y="668680"/>
            <a:ext cx="2098548" cy="1389887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 dirty="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" y="659536"/>
            <a:ext cx="3726179" cy="1399031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Dr.</a:t>
            </a:r>
            <a:r>
              <a:rPr spc="160" dirty="0"/>
              <a:t> </a:t>
            </a:r>
            <a:r>
              <a:rPr spc="85" dirty="0"/>
              <a:t>Rizwan</a:t>
            </a:r>
            <a:r>
              <a:rPr spc="90" dirty="0"/>
              <a:t> Ahmed</a:t>
            </a:r>
            <a:r>
              <a:rPr spc="95" dirty="0"/>
              <a:t> </a:t>
            </a:r>
            <a:r>
              <a:rPr spc="100" dirty="0"/>
              <a:t>Khan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25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01" y="659536"/>
            <a:ext cx="3726180" cy="213969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Taxonomy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Machine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783" y="659536"/>
            <a:ext cx="3726179" cy="213969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427" y="543947"/>
            <a:ext cx="3453003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522" y="543947"/>
            <a:ext cx="4164806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Supervised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classification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604" y="543947"/>
            <a:ext cx="4164806" cy="229695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184330" cy="88900"/>
            <a:chOff x="0" y="3151479"/>
            <a:chExt cx="5184330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08142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</a:rPr>
              <a:t>26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1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</a:rPr>
              <a:t>47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Supervised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approximation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077404"/>
            <a:ext cx="57746" cy="5774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267193"/>
            <a:ext cx="57746" cy="5774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48" y="1456969"/>
            <a:ext cx="57746" cy="5774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1836547"/>
            <a:ext cx="57746" cy="5774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2367952"/>
            <a:ext cx="57746" cy="57746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048" y="2557741"/>
            <a:ext cx="57746" cy="57746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296494" y="656836"/>
            <a:ext cx="5172710" cy="215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Supervised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learning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Georgia"/>
                <a:cs typeface="Georgia"/>
              </a:rPr>
              <a:t>about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function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approximation</a:t>
            </a:r>
            <a:endParaRPr sz="1000" dirty="0">
              <a:latin typeface="Georgia"/>
              <a:cs typeface="Georgia"/>
            </a:endParaRPr>
          </a:p>
          <a:p>
            <a:pPr marL="63500">
              <a:lnSpc>
                <a:spcPts val="1200"/>
              </a:lnSpc>
            </a:pPr>
            <a:r>
              <a:rPr sz="1000" b="1" spc="-25" dirty="0">
                <a:latin typeface="Georgia"/>
                <a:cs typeface="Georgia"/>
              </a:rPr>
              <a:t>Problem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Setting:</a:t>
            </a:r>
            <a:endParaRPr sz="1000" dirty="0">
              <a:latin typeface="Georgia"/>
              <a:cs typeface="Georgia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Set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possible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instances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 dirty="0">
              <a:latin typeface="Calibri"/>
              <a:cs typeface="Calibri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35" dirty="0">
                <a:latin typeface="Georgia"/>
                <a:cs typeface="Georgia"/>
              </a:rPr>
              <a:t>Unknown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target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18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:</a:t>
            </a:r>
            <a:r>
              <a:rPr sz="10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sz="1000" spc="-4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1000" dirty="0">
              <a:latin typeface="Calibri"/>
              <a:cs typeface="Calibri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Set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hypotheses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9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0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spc="45" dirty="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spc="45" dirty="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:</a:t>
            </a:r>
            <a:r>
              <a:rPr sz="10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000" i="1" spc="30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1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70" dirty="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endParaRPr sz="1000" dirty="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290"/>
              </a:spcBef>
            </a:pPr>
            <a:r>
              <a:rPr sz="1000" b="1" spc="-25" dirty="0">
                <a:latin typeface="Georgia"/>
                <a:cs typeface="Georgia"/>
              </a:rPr>
              <a:t>Input:</a:t>
            </a:r>
            <a:endParaRPr sz="1000" dirty="0">
              <a:latin typeface="Georgia"/>
              <a:cs typeface="Georgia"/>
            </a:endParaRPr>
          </a:p>
          <a:p>
            <a:pPr marL="316230" marR="8128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Georgia"/>
                <a:cs typeface="Georgia"/>
              </a:rPr>
              <a:t>training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examples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225" dirty="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sz="1000" i="1" spc="225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142" baseline="-1190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50" i="1" spc="89" baseline="-11904" dirty="0">
                <a:solidFill>
                  <a:srgbClr val="0000FF"/>
                </a:solidFill>
                <a:latin typeface="Verdana"/>
                <a:cs typeface="Verdana"/>
              </a:rPr>
              <a:t>i</a:t>
            </a:r>
            <a:r>
              <a:rPr sz="1050" i="1" spc="127" baseline="-1190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i="1" spc="150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sz="1000" spc="150" dirty="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sz="1000" spc="150" dirty="0">
                <a:latin typeface="Georgia"/>
                <a:cs typeface="Georgia"/>
              </a:rPr>
              <a:t>.</a:t>
            </a:r>
            <a:r>
              <a:rPr sz="1000" spc="204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For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example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135" dirty="0">
                <a:latin typeface="Calibri"/>
                <a:cs typeface="Calibri"/>
              </a:rPr>
              <a:t>x</a:t>
            </a:r>
            <a:r>
              <a:rPr sz="1000" i="1" spc="110" dirty="0">
                <a:latin typeface="Calibri"/>
                <a:cs typeface="Calibri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email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40" dirty="0">
                <a:latin typeface="Calibri"/>
                <a:cs typeface="Calibri"/>
              </a:rPr>
              <a:t>y</a:t>
            </a:r>
            <a:r>
              <a:rPr sz="1000" i="1" spc="150" dirty="0">
                <a:latin typeface="Calibri"/>
                <a:cs typeface="Calibri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either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Spam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or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No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Spam.</a:t>
            </a:r>
            <a:endParaRPr sz="1000" dirty="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Georgia"/>
                <a:cs typeface="Georgia"/>
              </a:rPr>
              <a:t>Output:</a:t>
            </a:r>
            <a:endParaRPr sz="1000" dirty="0">
              <a:latin typeface="Georgia"/>
              <a:cs typeface="Georgia"/>
            </a:endParaRPr>
          </a:p>
          <a:p>
            <a:pPr marL="316230">
              <a:lnSpc>
                <a:spcPct val="100000"/>
              </a:lnSpc>
              <a:spcBef>
                <a:spcPts val="295"/>
              </a:spcBef>
            </a:pP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 </a:t>
            </a:r>
            <a:r>
              <a:rPr sz="1000" spc="-135" dirty="0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best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approximates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target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function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i="1" spc="18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-1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5" dirty="0">
                <a:latin typeface="Georgia"/>
                <a:cs typeface="Georgia"/>
              </a:rPr>
              <a:t>.</a:t>
            </a:r>
            <a:r>
              <a:rPr sz="1000" spc="200" dirty="0">
                <a:latin typeface="Georgia"/>
                <a:cs typeface="Georgia"/>
              </a:rPr>
              <a:t> </a:t>
            </a:r>
            <a:r>
              <a:rPr sz="1000" spc="25" dirty="0">
                <a:latin typeface="Georgia"/>
                <a:cs typeface="Georgia"/>
              </a:rPr>
              <a:t>OR</a:t>
            </a:r>
            <a:endParaRPr sz="1000" dirty="0">
              <a:latin typeface="Georgia"/>
              <a:cs typeface="Georgia"/>
            </a:endParaRPr>
          </a:p>
          <a:p>
            <a:pPr marL="316230" marR="237490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classification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“rule”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5" dirty="0">
                <a:latin typeface="Georgia"/>
                <a:cs typeface="Georgia"/>
              </a:rPr>
              <a:t>that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can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class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any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object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from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its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attributes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values.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61" name="object 61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8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2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0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45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38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267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713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275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793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83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87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291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795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99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8033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3074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751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255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759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263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767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2717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75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2797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783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783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875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916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2955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150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654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158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662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166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670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74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6783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182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036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5410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044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8000" y="25256"/>
            <a:ext cx="5556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205865" algn="l"/>
                <a:tab pos="2654300" algn="l"/>
                <a:tab pos="3994150" algn="l"/>
                <a:tab pos="5182870" algn="l"/>
              </a:tabLst>
            </a:pP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Bi</a:t>
            </a:r>
            <a:r>
              <a:rPr sz="500" spc="95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Picture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Ma</a:t>
            </a:r>
            <a:r>
              <a:rPr sz="500" spc="5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c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hine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-1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Learnin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T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axono</a:t>
            </a:r>
            <a:r>
              <a:rPr sz="500" spc="10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m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y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orkfl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o</a:t>
            </a:r>
            <a:r>
              <a:rPr sz="500" spc="10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Examples</a:t>
            </a:r>
            <a:endParaRPr sz="500" dirty="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Unsupervised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Unsupervised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clustering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419" y="579285"/>
            <a:ext cx="4184999" cy="232724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147" y="279084"/>
            <a:ext cx="1749425" cy="2635885"/>
          </a:xfrm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075055">
              <a:lnSpc>
                <a:spcPts val="2350"/>
              </a:lnSpc>
              <a:spcBef>
                <a:spcPts val="3570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Khan</a:t>
            </a:r>
            <a:endParaRPr sz="2200">
              <a:latin typeface="Georgia"/>
              <a:cs typeface="Georgia"/>
            </a:endParaRPr>
          </a:p>
          <a:p>
            <a:pPr marL="923925">
              <a:lnSpc>
                <a:spcPts val="2345"/>
              </a:lnSpc>
            </a:pPr>
            <a:r>
              <a:rPr sz="2200" spc="165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  <a:p>
            <a:pPr marL="730885">
              <a:lnSpc>
                <a:spcPts val="2640"/>
              </a:lnSpc>
            </a:pPr>
            <a:r>
              <a:rPr sz="2200" spc="-50" dirty="0">
                <a:solidFill>
                  <a:srgbClr val="FF8C8C"/>
                </a:solidFill>
                <a:latin typeface="Georgia"/>
                <a:cs typeface="Georgia"/>
              </a:rPr>
              <a:t>an</a:t>
            </a:r>
            <a:endParaRPr sz="2200">
              <a:latin typeface="Georgia"/>
              <a:cs typeface="Georgia"/>
            </a:endParaRPr>
          </a:p>
          <a:p>
            <a:pPr marL="431165">
              <a:lnSpc>
                <a:spcPct val="100000"/>
              </a:lnSpc>
              <a:spcBef>
                <a:spcPts val="1445"/>
              </a:spcBef>
            </a:pPr>
            <a:r>
              <a:rPr sz="2200" spc="-5" dirty="0">
                <a:solidFill>
                  <a:srgbClr val="FF8C8C"/>
                </a:solidFill>
                <a:latin typeface="Georgia"/>
                <a:cs typeface="Georgia"/>
              </a:rPr>
              <a:t>Rizw</a:t>
            </a:r>
            <a:endParaRPr sz="2200">
              <a:latin typeface="Georgia"/>
              <a:cs typeface="Georgia"/>
            </a:endParaRPr>
          </a:p>
          <a:p>
            <a:pPr>
              <a:lnSpc>
                <a:spcPts val="2520"/>
              </a:lnSpc>
              <a:spcBef>
                <a:spcPts val="3245"/>
              </a:spcBef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0" y="205727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Unsupervised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Learning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Unsupervised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Learning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Workflow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clustering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514" y="579285"/>
            <a:ext cx="4184999" cy="2327243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55" name="object 55"/>
            <p:cNvSpPr/>
            <p:nvPr/>
          </p:nvSpPr>
          <p:spPr>
            <a:xfrm>
              <a:off x="0" y="3151479"/>
              <a:ext cx="2304415" cy="88900"/>
            </a:xfrm>
            <a:custGeom>
              <a:avLst/>
              <a:gdLst/>
              <a:ahLst/>
              <a:cxnLst/>
              <a:rect l="l" t="t" r="r" b="b"/>
              <a:pathLst>
                <a:path w="2304415" h="88900">
                  <a:moveTo>
                    <a:pt x="2303970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303970" y="88518"/>
                  </a:lnTo>
                  <a:lnTo>
                    <a:pt x="2303970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03970" y="3151479"/>
              <a:ext cx="2880360" cy="88900"/>
            </a:xfrm>
            <a:custGeom>
              <a:avLst/>
              <a:gdLst/>
              <a:ahLst/>
              <a:cxnLst/>
              <a:rect l="l" t="t" r="r" b="b"/>
              <a:pathLst>
                <a:path w="2880360" h="88900">
                  <a:moveTo>
                    <a:pt x="2880004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2880004" y="88518"/>
                  </a:lnTo>
                  <a:lnTo>
                    <a:pt x="2880004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3962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264293" y="3128823"/>
            <a:ext cx="70104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Machine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Learning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1086</Words>
  <Application>Microsoft Office PowerPoint</Application>
  <PresentationFormat>Custom</PresentationFormat>
  <Paragraphs>242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Georgia</vt:lpstr>
      <vt:lpstr>Lucida Sans Unicode</vt:lpstr>
      <vt:lpstr>Microsoft Sans Serif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anwar khan</cp:lastModifiedBy>
  <cp:revision>37</cp:revision>
  <dcterms:created xsi:type="dcterms:W3CDTF">2024-10-30T02:52:18Z</dcterms:created>
  <dcterms:modified xsi:type="dcterms:W3CDTF">2024-10-30T04:24:34Z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2024-10-30T00:00:00Z</vt:filetime>
  </property>
</Properties>
</file>