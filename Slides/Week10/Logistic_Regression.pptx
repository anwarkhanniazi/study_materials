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0"/>
  </p:notes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58" r:id="rId9"/>
    <p:sldId id="259" r:id="rId10"/>
    <p:sldId id="284" r:id="rId11"/>
    <p:sldId id="260" r:id="rId12"/>
    <p:sldId id="261" r:id="rId13"/>
    <p:sldId id="262" r:id="rId14"/>
    <p:sldId id="263" r:id="rId15"/>
    <p:sldId id="264" r:id="rId16"/>
    <p:sldId id="266" r:id="rId17"/>
    <p:sldId id="286" r:id="rId18"/>
    <p:sldId id="287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3" r:id="rId2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78A056-1B64-43FE-96CE-D3457E6DD859}" type="doc">
      <dgm:prSet loTypeId="urn:microsoft.com/office/officeart/2005/8/layout/arrow5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46DF422-DC64-4D29-9F87-8D8FF19C9075}">
      <dgm:prSet/>
      <dgm:spPr/>
      <dgm:t>
        <a:bodyPr/>
        <a:lstStyle/>
        <a:p>
          <a:r>
            <a:rPr lang="en-US" dirty="0"/>
            <a:t>Logistic Regression</a:t>
          </a:r>
        </a:p>
      </dgm:t>
    </dgm:pt>
    <dgm:pt modelId="{56E4883B-1A93-4A04-9E96-DA767F4B2CE4}" type="parTrans" cxnId="{2EBB0F9F-E9E7-4FB5-BBFD-1AB404421969}">
      <dgm:prSet/>
      <dgm:spPr/>
      <dgm:t>
        <a:bodyPr/>
        <a:lstStyle/>
        <a:p>
          <a:endParaRPr lang="en-US"/>
        </a:p>
      </dgm:t>
    </dgm:pt>
    <dgm:pt modelId="{40EC0E74-ECF3-48E8-ACC0-6EBC163A7362}" type="sibTrans" cxnId="{2EBB0F9F-E9E7-4FB5-BBFD-1AB404421969}">
      <dgm:prSet/>
      <dgm:spPr/>
      <dgm:t>
        <a:bodyPr/>
        <a:lstStyle/>
        <a:p>
          <a:endParaRPr lang="en-US"/>
        </a:p>
      </dgm:t>
    </dgm:pt>
    <dgm:pt modelId="{FB4B9B51-E3F6-4678-8B63-D2A3D5B8D267}">
      <dgm:prSet/>
      <dgm:spPr/>
      <dgm:t>
        <a:bodyPr/>
        <a:lstStyle/>
        <a:p>
          <a:r>
            <a:rPr lang="en-US"/>
            <a:t>Loss/Cost Function</a:t>
          </a:r>
        </a:p>
      </dgm:t>
    </dgm:pt>
    <dgm:pt modelId="{2793EB44-9EE4-4360-8712-8E7B1285AD76}" type="parTrans" cxnId="{333A40A0-126C-4D61-BBEE-324D208FCF16}">
      <dgm:prSet/>
      <dgm:spPr/>
      <dgm:t>
        <a:bodyPr/>
        <a:lstStyle/>
        <a:p>
          <a:endParaRPr lang="en-US"/>
        </a:p>
      </dgm:t>
    </dgm:pt>
    <dgm:pt modelId="{D2A28286-FBED-417E-BBBB-1F67C43B0FE7}" type="sibTrans" cxnId="{333A40A0-126C-4D61-BBEE-324D208FCF16}">
      <dgm:prSet/>
      <dgm:spPr/>
      <dgm:t>
        <a:bodyPr/>
        <a:lstStyle/>
        <a:p>
          <a:endParaRPr lang="en-US"/>
        </a:p>
      </dgm:t>
    </dgm:pt>
    <dgm:pt modelId="{1C119519-9312-49C2-B9D3-1D3BF1B4471E}">
      <dgm:prSet/>
      <dgm:spPr/>
      <dgm:t>
        <a:bodyPr/>
        <a:lstStyle/>
        <a:p>
          <a:r>
            <a:rPr lang="en-US" dirty="0"/>
            <a:t>Logistic Regression Gradient Descent</a:t>
          </a:r>
        </a:p>
      </dgm:t>
    </dgm:pt>
    <dgm:pt modelId="{DC4B5D09-E3A1-465E-AAF2-64AC67FC1337}" type="parTrans" cxnId="{DCC3EDF9-1ED4-4A99-85FF-D6AB805A16DC}">
      <dgm:prSet/>
      <dgm:spPr/>
      <dgm:t>
        <a:bodyPr/>
        <a:lstStyle/>
        <a:p>
          <a:endParaRPr lang="en-US"/>
        </a:p>
      </dgm:t>
    </dgm:pt>
    <dgm:pt modelId="{00A4A593-8D0C-41B3-9EA5-E5F12CC8938E}" type="sibTrans" cxnId="{DCC3EDF9-1ED4-4A99-85FF-D6AB805A16DC}">
      <dgm:prSet/>
      <dgm:spPr/>
      <dgm:t>
        <a:bodyPr/>
        <a:lstStyle/>
        <a:p>
          <a:endParaRPr lang="en-US"/>
        </a:p>
      </dgm:t>
    </dgm:pt>
    <dgm:pt modelId="{7911A4D2-62CF-4003-9271-3DB4EECF70FC}">
      <dgm:prSet/>
      <dgm:spPr/>
      <dgm:t>
        <a:bodyPr/>
        <a:lstStyle/>
        <a:p>
          <a:r>
            <a:rPr lang="en-US" dirty="0"/>
            <a:t>Generative Vs </a:t>
          </a:r>
          <a:r>
            <a:rPr lang="en-US" dirty="0" err="1"/>
            <a:t>Disscriminative</a:t>
          </a:r>
          <a:endParaRPr lang="en-US" dirty="0"/>
        </a:p>
      </dgm:t>
    </dgm:pt>
    <dgm:pt modelId="{573EDBFA-A509-4632-A8F3-F449E7C619A4}" type="parTrans" cxnId="{917588F5-C563-43C6-A157-9AD7EED6F6AF}">
      <dgm:prSet/>
      <dgm:spPr/>
      <dgm:t>
        <a:bodyPr/>
        <a:lstStyle/>
        <a:p>
          <a:endParaRPr lang="en-US"/>
        </a:p>
      </dgm:t>
    </dgm:pt>
    <dgm:pt modelId="{F1C75D48-B6C7-4DD6-A320-7D8B243F4640}" type="sibTrans" cxnId="{917588F5-C563-43C6-A157-9AD7EED6F6AF}">
      <dgm:prSet/>
      <dgm:spPr/>
      <dgm:t>
        <a:bodyPr/>
        <a:lstStyle/>
        <a:p>
          <a:endParaRPr lang="en-US"/>
        </a:p>
      </dgm:t>
    </dgm:pt>
    <dgm:pt modelId="{166AFB13-1470-4E9F-870F-DE09B617D45F}" type="pres">
      <dgm:prSet presAssocID="{B778A056-1B64-43FE-96CE-D3457E6DD859}" presName="diagram" presStyleCnt="0">
        <dgm:presLayoutVars>
          <dgm:dir/>
          <dgm:resizeHandles val="exact"/>
        </dgm:presLayoutVars>
      </dgm:prSet>
      <dgm:spPr/>
    </dgm:pt>
    <dgm:pt modelId="{322FAB79-B995-46AF-9F86-6DA9D4F24A62}" type="pres">
      <dgm:prSet presAssocID="{7911A4D2-62CF-4003-9271-3DB4EECF70FC}" presName="arrow" presStyleLbl="node1" presStyleIdx="0" presStyleCnt="4">
        <dgm:presLayoutVars>
          <dgm:bulletEnabled val="1"/>
        </dgm:presLayoutVars>
      </dgm:prSet>
      <dgm:spPr/>
    </dgm:pt>
    <dgm:pt modelId="{57BF6C16-4696-4002-9C54-F574CA0C6722}" type="pres">
      <dgm:prSet presAssocID="{746DF422-DC64-4D29-9F87-8D8FF19C9075}" presName="arrow" presStyleLbl="node1" presStyleIdx="1" presStyleCnt="4">
        <dgm:presLayoutVars>
          <dgm:bulletEnabled val="1"/>
        </dgm:presLayoutVars>
      </dgm:prSet>
      <dgm:spPr/>
    </dgm:pt>
    <dgm:pt modelId="{B69FB32A-041F-4F2E-9C83-0CC13458B351}" type="pres">
      <dgm:prSet presAssocID="{FB4B9B51-E3F6-4678-8B63-D2A3D5B8D267}" presName="arrow" presStyleLbl="node1" presStyleIdx="2" presStyleCnt="4">
        <dgm:presLayoutVars>
          <dgm:bulletEnabled val="1"/>
        </dgm:presLayoutVars>
      </dgm:prSet>
      <dgm:spPr/>
    </dgm:pt>
    <dgm:pt modelId="{0D71224B-85AF-4B80-AC16-F6DF249CC528}" type="pres">
      <dgm:prSet presAssocID="{1C119519-9312-49C2-B9D3-1D3BF1B4471E}" presName="arrow" presStyleLbl="node1" presStyleIdx="3" presStyleCnt="4">
        <dgm:presLayoutVars>
          <dgm:bulletEnabled val="1"/>
        </dgm:presLayoutVars>
      </dgm:prSet>
      <dgm:spPr/>
    </dgm:pt>
  </dgm:ptLst>
  <dgm:cxnLst>
    <dgm:cxn modelId="{2DED9B14-2546-4D6B-9B19-6C83115D799C}" type="presOf" srcId="{FB4B9B51-E3F6-4678-8B63-D2A3D5B8D267}" destId="{B69FB32A-041F-4F2E-9C83-0CC13458B351}" srcOrd="0" destOrd="0" presId="urn:microsoft.com/office/officeart/2005/8/layout/arrow5"/>
    <dgm:cxn modelId="{D006514F-466A-4010-B69B-24EB11C3E264}" type="presOf" srcId="{B778A056-1B64-43FE-96CE-D3457E6DD859}" destId="{166AFB13-1470-4E9F-870F-DE09B617D45F}" srcOrd="0" destOrd="0" presId="urn:microsoft.com/office/officeart/2005/8/layout/arrow5"/>
    <dgm:cxn modelId="{2EBB0F9F-E9E7-4FB5-BBFD-1AB404421969}" srcId="{B778A056-1B64-43FE-96CE-D3457E6DD859}" destId="{746DF422-DC64-4D29-9F87-8D8FF19C9075}" srcOrd="1" destOrd="0" parTransId="{56E4883B-1A93-4A04-9E96-DA767F4B2CE4}" sibTransId="{40EC0E74-ECF3-48E8-ACC0-6EBC163A7362}"/>
    <dgm:cxn modelId="{91169F9F-80BC-49F9-ADA6-5C0BEB8C8102}" type="presOf" srcId="{746DF422-DC64-4D29-9F87-8D8FF19C9075}" destId="{57BF6C16-4696-4002-9C54-F574CA0C6722}" srcOrd="0" destOrd="0" presId="urn:microsoft.com/office/officeart/2005/8/layout/arrow5"/>
    <dgm:cxn modelId="{333A40A0-126C-4D61-BBEE-324D208FCF16}" srcId="{B778A056-1B64-43FE-96CE-D3457E6DD859}" destId="{FB4B9B51-E3F6-4678-8B63-D2A3D5B8D267}" srcOrd="2" destOrd="0" parTransId="{2793EB44-9EE4-4360-8712-8E7B1285AD76}" sibTransId="{D2A28286-FBED-417E-BBBB-1F67C43B0FE7}"/>
    <dgm:cxn modelId="{47495BA9-146C-4D74-AB3E-20983DBBF31A}" type="presOf" srcId="{1C119519-9312-49C2-B9D3-1D3BF1B4471E}" destId="{0D71224B-85AF-4B80-AC16-F6DF249CC528}" srcOrd="0" destOrd="0" presId="urn:microsoft.com/office/officeart/2005/8/layout/arrow5"/>
    <dgm:cxn modelId="{869FF4A9-CA52-4022-9F44-DAF57A0BE539}" type="presOf" srcId="{7911A4D2-62CF-4003-9271-3DB4EECF70FC}" destId="{322FAB79-B995-46AF-9F86-6DA9D4F24A62}" srcOrd="0" destOrd="0" presId="urn:microsoft.com/office/officeart/2005/8/layout/arrow5"/>
    <dgm:cxn modelId="{917588F5-C563-43C6-A157-9AD7EED6F6AF}" srcId="{B778A056-1B64-43FE-96CE-D3457E6DD859}" destId="{7911A4D2-62CF-4003-9271-3DB4EECF70FC}" srcOrd="0" destOrd="0" parTransId="{573EDBFA-A509-4632-A8F3-F449E7C619A4}" sibTransId="{F1C75D48-B6C7-4DD6-A320-7D8B243F4640}"/>
    <dgm:cxn modelId="{DCC3EDF9-1ED4-4A99-85FF-D6AB805A16DC}" srcId="{B778A056-1B64-43FE-96CE-D3457E6DD859}" destId="{1C119519-9312-49C2-B9D3-1D3BF1B4471E}" srcOrd="3" destOrd="0" parTransId="{DC4B5D09-E3A1-465E-AAF2-64AC67FC1337}" sibTransId="{00A4A593-8D0C-41B3-9EA5-E5F12CC8938E}"/>
    <dgm:cxn modelId="{4545F30E-A330-4AD3-8968-86CCBA246DE4}" type="presParOf" srcId="{166AFB13-1470-4E9F-870F-DE09B617D45F}" destId="{322FAB79-B995-46AF-9F86-6DA9D4F24A62}" srcOrd="0" destOrd="0" presId="urn:microsoft.com/office/officeart/2005/8/layout/arrow5"/>
    <dgm:cxn modelId="{C2DCC0C8-6E8E-4029-AE03-BE8B9A35EADD}" type="presParOf" srcId="{166AFB13-1470-4E9F-870F-DE09B617D45F}" destId="{57BF6C16-4696-4002-9C54-F574CA0C6722}" srcOrd="1" destOrd="0" presId="urn:microsoft.com/office/officeart/2005/8/layout/arrow5"/>
    <dgm:cxn modelId="{744C1CC1-FE4A-4498-A074-16730625D569}" type="presParOf" srcId="{166AFB13-1470-4E9F-870F-DE09B617D45F}" destId="{B69FB32A-041F-4F2E-9C83-0CC13458B351}" srcOrd="2" destOrd="0" presId="urn:microsoft.com/office/officeart/2005/8/layout/arrow5"/>
    <dgm:cxn modelId="{94B561DA-3FE3-4056-B586-1CB6AD34D1E9}" type="presParOf" srcId="{166AFB13-1470-4E9F-870F-DE09B617D45F}" destId="{0D71224B-85AF-4B80-AC16-F6DF249CC528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FAB79-B995-46AF-9F86-6DA9D4F24A62}">
      <dsp:nvSpPr>
        <dsp:cNvPr id="0" name=""/>
        <dsp:cNvSpPr/>
      </dsp:nvSpPr>
      <dsp:spPr>
        <a:xfrm>
          <a:off x="2082045" y="433"/>
          <a:ext cx="2200132" cy="2200132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Generative Vs </a:t>
          </a:r>
          <a:r>
            <a:rPr lang="en-US" sz="1100" kern="1200" dirty="0" err="1"/>
            <a:t>Disscriminative</a:t>
          </a:r>
          <a:endParaRPr lang="en-US" sz="1100" kern="1200" dirty="0"/>
        </a:p>
      </dsp:txBody>
      <dsp:txXfrm>
        <a:off x="2632078" y="433"/>
        <a:ext cx="1100066" cy="1815109"/>
      </dsp:txXfrm>
    </dsp:sp>
    <dsp:sp modelId="{57BF6C16-4696-4002-9C54-F574CA0C6722}">
      <dsp:nvSpPr>
        <dsp:cNvPr id="0" name=""/>
        <dsp:cNvSpPr/>
      </dsp:nvSpPr>
      <dsp:spPr>
        <a:xfrm rot="5400000">
          <a:off x="3738462" y="1656849"/>
          <a:ext cx="2200132" cy="2200132"/>
        </a:xfrm>
        <a:prstGeom prst="downArrow">
          <a:avLst>
            <a:gd name="adj1" fmla="val 50000"/>
            <a:gd name="adj2" fmla="val 3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Logistic Regression</a:t>
          </a:r>
        </a:p>
      </dsp:txBody>
      <dsp:txXfrm rot="-5400000">
        <a:off x="4123486" y="2206882"/>
        <a:ext cx="1815109" cy="1100066"/>
      </dsp:txXfrm>
    </dsp:sp>
    <dsp:sp modelId="{B69FB32A-041F-4F2E-9C83-0CC13458B351}">
      <dsp:nvSpPr>
        <dsp:cNvPr id="0" name=""/>
        <dsp:cNvSpPr/>
      </dsp:nvSpPr>
      <dsp:spPr>
        <a:xfrm rot="10800000">
          <a:off x="2082045" y="3313266"/>
          <a:ext cx="2200132" cy="2200132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Loss/Cost Function</a:t>
          </a:r>
        </a:p>
      </dsp:txBody>
      <dsp:txXfrm rot="10800000">
        <a:off x="2632078" y="3698289"/>
        <a:ext cx="1100066" cy="1815109"/>
      </dsp:txXfrm>
    </dsp:sp>
    <dsp:sp modelId="{0D71224B-85AF-4B80-AC16-F6DF249CC528}">
      <dsp:nvSpPr>
        <dsp:cNvPr id="0" name=""/>
        <dsp:cNvSpPr/>
      </dsp:nvSpPr>
      <dsp:spPr>
        <a:xfrm rot="16200000">
          <a:off x="425629" y="1656849"/>
          <a:ext cx="2200132" cy="2200132"/>
        </a:xfrm>
        <a:prstGeom prst="downArrow">
          <a:avLst>
            <a:gd name="adj1" fmla="val 50000"/>
            <a:gd name="adj2" fmla="val 3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Logistic Regression Gradient Descent</a:t>
          </a:r>
        </a:p>
      </dsp:txBody>
      <dsp:txXfrm rot="5400000">
        <a:off x="425630" y="2206882"/>
        <a:ext cx="1815109" cy="11000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492F6-470B-4597-BDFF-87E932F1016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12F23-201C-485D-BA1D-3F3DD9562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6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12F23-201C-485D-BA1D-3F3DD956215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82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6424-E51E-5FDB-DAAB-C19E88384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87091-BD5B-E4AA-BBEF-646D32BA9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8EE3E-04E0-E1EE-3178-AA4B1B6AD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62DE7-EA3B-CAE9-AE60-D83366F4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238B1-8EC0-083D-41A1-1DFFBCFB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6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7F37-3ADE-4FB9-6B7E-A3AB9918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A317C-7805-F6EA-9815-24FB25D78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18882-8DCC-6956-380F-0F1DA07B6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C5ED3-0A2A-3753-6B07-D51F494B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AC40-120A-239B-8CA5-0C25DEA4F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1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5CFC-C710-0DAA-518E-5EA7784CC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DD273-D560-9D5E-C465-6A4ACF8A7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5865B-BA23-F337-8B3E-48C9CD25C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FBD20-31DE-5686-1024-A5360A46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13387-FA20-AAA0-CA20-E4457A89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0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F1AA-8A11-52CB-1306-5A209378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B7AB-AD7A-5ACB-D2CF-95A9A12CA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06E02-2D59-F8BD-52C5-08C62C140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93D4A-C4BD-89B4-0371-D768583E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9378F-C5E2-D1F0-57B4-C1451A0F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C0F5B-CC36-7C28-83D9-3DBE2D4C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5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291A-1B09-1B53-8C40-72463046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92973-4732-7F79-5013-97194C112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10107-F31A-72C7-A54B-53962B694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AFC5A-4D44-95DD-BFB4-F17A1888B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F7E44-26E4-18B4-2C70-8414C546E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AA975-888E-5761-0A72-8E83CC6F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64C99-F2A8-6705-55D2-EC49CB35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A8780-9DDC-2047-6AEF-9A4B53A9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9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9878-F1B7-A545-7397-5A93E41B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70A45-6A3A-F817-1787-D43FB082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5BD14-97E7-8ACA-E191-731AB3A8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CDCBF5-1D05-3B88-5928-D44A2EDE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8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4C7F0-0263-A332-86A1-46FD37E1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B1D71-7271-6710-D5B4-40C5B85B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ECD20-33EF-C1FF-C191-EF9C3CC3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0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8828-AAFD-B9BB-EEE5-4FF83DD4C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B0C85-5D02-E5A2-1FE8-A9599102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B08F2-5EA7-1FC9-B7AD-01D8BC0F0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5ECF6-A21A-47AF-ACC8-7B21848C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964CB-FDA7-F07C-DB81-E5EF4686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CDACC-A26B-5BA0-954F-AC253817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7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8268-FFF1-6BD8-4EEF-513083235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577534-CE91-0E28-565B-E50A20A436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6DA0-4820-E820-A0FC-41C8A0088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B70BE-09DD-1169-61C0-2997944B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EADBB-57E3-F98E-20C9-E668760D0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D0204-9A21-5D69-7B66-F0ED9835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3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8A67-E2AF-5E52-0876-5B9B6301B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4C5F6-1909-7FE9-D31B-76830FAEA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BC2C-ED41-8D13-3FE7-7DF329819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BBB21-B9AE-7321-773B-DA662FEF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60758-D41C-A141-6D2D-5E652572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8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A7587-FC8C-A37F-117C-07E34FE09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7AFBA-CCA5-9CAD-B18B-863219B41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B662F-E31F-076A-4EBC-2B3A4B45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63D77-023D-1D91-16CA-0433B801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EB6C8-0A6F-C168-5F24-4FB0C622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38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9966" y="4064"/>
            <a:ext cx="359206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Segoe Print"/>
                <a:cs typeface="Segoe Prin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8031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398EA-F3E2-A5D0-BECF-B4D10D589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1F3B4-4623-4B8A-6A6E-69138A1A1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0C3D4-6B2F-8393-3AA1-7DE1C4C3F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FF1B3-555F-10B7-50AA-D7E1AE58F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27508-40BD-DCD7-FE89-165731116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2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8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5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35.png"/><Relationship Id="rId7" Type="http://schemas.openxmlformats.org/officeDocument/2006/relationships/image" Target="../media/image5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47.png"/><Relationship Id="rId16" Type="http://schemas.openxmlformats.org/officeDocument/2006/relationships/image" Target="../media/image29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24.png"/><Relationship Id="rId5" Type="http://schemas.openxmlformats.org/officeDocument/2006/relationships/image" Target="../media/image49.png"/><Relationship Id="rId15" Type="http://schemas.openxmlformats.org/officeDocument/2006/relationships/image" Target="../media/image28.png"/><Relationship Id="rId10" Type="http://schemas.openxmlformats.org/officeDocument/2006/relationships/image" Target="../media/image38.png"/><Relationship Id="rId19" Type="http://schemas.openxmlformats.org/officeDocument/2006/relationships/image" Target="../media/image32.png"/><Relationship Id="rId4" Type="http://schemas.openxmlformats.org/officeDocument/2006/relationships/image" Target="../media/image48.png"/><Relationship Id="rId9" Type="http://schemas.openxmlformats.org/officeDocument/2006/relationships/image" Target="../media/image34.png"/><Relationship Id="rId1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7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9.png"/><Relationship Id="rId3" Type="http://schemas.openxmlformats.org/officeDocument/2006/relationships/image" Target="../media/image105.png"/><Relationship Id="rId7" Type="http://schemas.openxmlformats.org/officeDocument/2006/relationships/image" Target="../media/image114.png"/><Relationship Id="rId12" Type="http://schemas.openxmlformats.org/officeDocument/2006/relationships/image" Target="../media/image11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3.png"/><Relationship Id="rId10" Type="http://schemas.openxmlformats.org/officeDocument/2006/relationships/image" Target="../media/image116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47"/>
              <a:ext cx="8035543" cy="2671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372866"/>
              <a:ext cx="7328026" cy="44668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" y="2398395"/>
              <a:ext cx="11004550" cy="0"/>
            </a:xfrm>
            <a:custGeom>
              <a:avLst/>
              <a:gdLst/>
              <a:ahLst/>
              <a:cxnLst/>
              <a:rect l="l" t="t" r="r" b="b"/>
              <a:pathLst>
                <a:path w="11004550">
                  <a:moveTo>
                    <a:pt x="1100429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164323" y="98297"/>
            <a:ext cx="22802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 marR="5080" indent="-218440">
              <a:lnSpc>
                <a:spcPct val="1108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</a:rPr>
              <a:t>Machine</a:t>
            </a:r>
            <a:r>
              <a:rPr sz="2400" spc="-125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Learning </a:t>
            </a:r>
            <a:r>
              <a:rPr sz="2400" dirty="0">
                <a:solidFill>
                  <a:srgbClr val="FFFFFF"/>
                </a:solidFill>
              </a:rPr>
              <a:t>EE514</a:t>
            </a:r>
            <a:r>
              <a:rPr sz="2400" spc="-1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–</a:t>
            </a:r>
            <a:r>
              <a:rPr sz="2400" spc="-10" dirty="0">
                <a:solidFill>
                  <a:srgbClr val="FFFFFF"/>
                </a:solidFill>
              </a:rPr>
              <a:t> CS535</a:t>
            </a:r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5465826" y="1354073"/>
            <a:ext cx="567499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39420" marR="5080" indent="-426720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r>
              <a:rPr sz="24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Regression:</a:t>
            </a:r>
            <a:r>
              <a:rPr sz="24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Overview,</a:t>
            </a:r>
            <a:r>
              <a:rPr sz="2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24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Function, Gradient</a:t>
            </a:r>
            <a:r>
              <a:rPr sz="2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Descent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089660"/>
            <a:r>
              <a:rPr lang="en-US" sz="4000" kern="1200" spc="-10"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48F3FBB8-1ACE-6057-0872-8532A3AAE3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998753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047" y="118657"/>
            <a:ext cx="1966799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endParaRPr sz="2774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5216" y="1091392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26665" y="961423"/>
            <a:ext cx="7967863" cy="329162"/>
          </a:xfrm>
          <a:prstGeom prst="rect">
            <a:avLst/>
          </a:prstGeom>
        </p:spPr>
        <p:txBody>
          <a:bodyPr vert="horz" wrap="square" lIns="0" tIns="23909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188"/>
              </a:spcBef>
            </a:pPr>
            <a:r>
              <a:rPr sz="1982" spc="-50" dirty="0">
                <a:solidFill>
                  <a:srgbClr val="000000"/>
                </a:solidFill>
              </a:rPr>
              <a:t>Given</a:t>
            </a:r>
            <a:r>
              <a:rPr sz="1982" spc="-89" dirty="0">
                <a:solidFill>
                  <a:srgbClr val="000000"/>
                </a:solidFill>
              </a:rPr>
              <a:t> </a:t>
            </a:r>
            <a:r>
              <a:rPr sz="1982" spc="-50" dirty="0">
                <a:solidFill>
                  <a:srgbClr val="000000"/>
                </a:solidFill>
              </a:rPr>
              <a:t>inputs</a:t>
            </a:r>
            <a:r>
              <a:rPr sz="1982" spc="-40" dirty="0">
                <a:solidFill>
                  <a:srgbClr val="000000"/>
                </a:solidFill>
              </a:rPr>
              <a:t> </a:t>
            </a:r>
            <a:r>
              <a:rPr sz="1982" b="1" dirty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sz="1982" b="1" spc="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82" spc="-50" dirty="0">
                <a:solidFill>
                  <a:srgbClr val="000000"/>
                </a:solidFill>
              </a:rPr>
              <a:t>and</a:t>
            </a:r>
            <a:r>
              <a:rPr sz="1982" spc="-40" dirty="0">
                <a:solidFill>
                  <a:srgbClr val="000000"/>
                </a:solidFill>
              </a:rPr>
              <a:t> </a:t>
            </a:r>
            <a:r>
              <a:rPr sz="1982" spc="-109" dirty="0">
                <a:solidFill>
                  <a:srgbClr val="000000"/>
                </a:solidFill>
              </a:rPr>
              <a:t>classes</a:t>
            </a:r>
            <a:r>
              <a:rPr sz="1982" spc="-40" dirty="0">
                <a:solidFill>
                  <a:srgbClr val="000000"/>
                </a:solidFill>
              </a:rPr>
              <a:t> </a:t>
            </a:r>
            <a:r>
              <a:rPr sz="1982" i="1" dirty="0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sz="1982" i="1" spc="19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82" spc="-159" dirty="0">
                <a:solidFill>
                  <a:srgbClr val="000000"/>
                </a:solidFill>
              </a:rPr>
              <a:t>we</a:t>
            </a:r>
            <a:r>
              <a:rPr sz="1982" spc="10" dirty="0">
                <a:solidFill>
                  <a:srgbClr val="000000"/>
                </a:solidFill>
              </a:rPr>
              <a:t> </a:t>
            </a:r>
            <a:r>
              <a:rPr sz="1982" spc="-40" dirty="0">
                <a:solidFill>
                  <a:srgbClr val="000000"/>
                </a:solidFill>
              </a:rPr>
              <a:t>can </a:t>
            </a:r>
            <a:r>
              <a:rPr sz="1982" dirty="0">
                <a:solidFill>
                  <a:srgbClr val="000000"/>
                </a:solidFill>
              </a:rPr>
              <a:t>do</a:t>
            </a:r>
            <a:r>
              <a:rPr sz="1982" spc="-50" dirty="0">
                <a:solidFill>
                  <a:srgbClr val="000000"/>
                </a:solidFill>
              </a:rPr>
              <a:t> classification</a:t>
            </a:r>
            <a:r>
              <a:rPr sz="1982" spc="-40" dirty="0">
                <a:solidFill>
                  <a:srgbClr val="000000"/>
                </a:solidFill>
              </a:rPr>
              <a:t> </a:t>
            </a:r>
            <a:r>
              <a:rPr sz="1982" dirty="0">
                <a:solidFill>
                  <a:srgbClr val="000000"/>
                </a:solidFill>
              </a:rPr>
              <a:t>in</a:t>
            </a:r>
            <a:r>
              <a:rPr sz="1982" spc="-40" dirty="0">
                <a:solidFill>
                  <a:srgbClr val="000000"/>
                </a:solidFill>
              </a:rPr>
              <a:t> </a:t>
            </a:r>
            <a:r>
              <a:rPr sz="1982" spc="-99" dirty="0">
                <a:solidFill>
                  <a:srgbClr val="000000"/>
                </a:solidFill>
              </a:rPr>
              <a:t>several</a:t>
            </a:r>
            <a:r>
              <a:rPr sz="1982" spc="-40" dirty="0">
                <a:solidFill>
                  <a:srgbClr val="000000"/>
                </a:solidFill>
              </a:rPr>
              <a:t> </a:t>
            </a:r>
            <a:r>
              <a:rPr sz="1982" spc="-69" dirty="0">
                <a:solidFill>
                  <a:srgbClr val="000000"/>
                </a:solidFill>
              </a:rPr>
              <a:t>ways.</a:t>
            </a:r>
            <a:r>
              <a:rPr sz="1982" spc="159" dirty="0">
                <a:solidFill>
                  <a:srgbClr val="000000"/>
                </a:solidFill>
              </a:rPr>
              <a:t> </a:t>
            </a:r>
            <a:r>
              <a:rPr sz="1982" spc="-40" dirty="0">
                <a:solidFill>
                  <a:srgbClr val="000000"/>
                </a:solidFill>
              </a:rPr>
              <a:t>How?</a:t>
            </a:r>
            <a:endParaRPr sz="1982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8356" y="1888031"/>
            <a:ext cx="6595855" cy="433010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7214" y="65617"/>
            <a:ext cx="7118225" cy="58830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Discriminative</a:t>
            </a:r>
            <a:r>
              <a:rPr spc="30" dirty="0"/>
              <a:t> </a:t>
            </a:r>
            <a:r>
              <a:rPr spc="-69" dirty="0"/>
              <a:t>Classifiers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5216" y="1008089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76332" y="816405"/>
            <a:ext cx="7597907" cy="1033885"/>
          </a:xfrm>
          <a:prstGeom prst="rect">
            <a:avLst/>
          </a:prstGeom>
        </p:spPr>
        <p:txBody>
          <a:bodyPr vert="horz" wrap="square" lIns="0" tIns="74243" rIns="0" bIns="0" rtlCol="0">
            <a:spAutoFit/>
          </a:bodyPr>
          <a:lstStyle/>
          <a:p>
            <a:pPr marL="75503">
              <a:spcBef>
                <a:spcPts val="585"/>
              </a:spcBef>
            </a:pPr>
            <a:r>
              <a:rPr sz="1982" b="1" spc="-59" dirty="0">
                <a:latin typeface="Arial"/>
                <a:cs typeface="Arial"/>
              </a:rPr>
              <a:t>Discriminative</a:t>
            </a:r>
            <a:r>
              <a:rPr sz="1982" b="1" spc="79" dirty="0">
                <a:latin typeface="Arial"/>
                <a:cs typeface="Arial"/>
              </a:rPr>
              <a:t> </a:t>
            </a:r>
            <a:r>
              <a:rPr sz="1982" spc="-69" dirty="0">
                <a:latin typeface="Tahoma"/>
                <a:cs typeface="Tahoma"/>
              </a:rPr>
              <a:t>classifiers</a:t>
            </a:r>
            <a:r>
              <a:rPr sz="1982" spc="10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try</a:t>
            </a:r>
            <a:r>
              <a:rPr sz="1982" spc="10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to</a:t>
            </a:r>
            <a:r>
              <a:rPr sz="1982" spc="10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either:</a:t>
            </a:r>
            <a:endParaRPr sz="1982">
              <a:latin typeface="Tahoma"/>
              <a:cs typeface="Tahoma"/>
            </a:endParaRPr>
          </a:p>
          <a:p>
            <a:pPr marL="352346">
              <a:lnSpc>
                <a:spcPts val="2378"/>
              </a:lnSpc>
              <a:spcBef>
                <a:spcPts val="386"/>
              </a:spcBef>
            </a:pPr>
            <a:r>
              <a:rPr sz="1784" spc="979" baseline="13888" dirty="0">
                <a:solidFill>
                  <a:srgbClr val="3333B2"/>
                </a:solidFill>
                <a:latin typeface="Arial MT"/>
                <a:cs typeface="Arial MT"/>
              </a:rPr>
              <a:t>)</a:t>
            </a:r>
            <a:r>
              <a:rPr sz="1784" spc="906" baseline="13888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982" spc="-69" dirty="0">
                <a:latin typeface="Tahoma"/>
                <a:cs typeface="Tahoma"/>
              </a:rPr>
              <a:t>learn</a:t>
            </a:r>
            <a:r>
              <a:rPr sz="1982" spc="-40" dirty="0">
                <a:latin typeface="Tahoma"/>
                <a:cs typeface="Tahoma"/>
              </a:rPr>
              <a:t> </a:t>
            </a:r>
            <a:r>
              <a:rPr sz="1982" spc="-79" dirty="0">
                <a:latin typeface="Tahoma"/>
                <a:cs typeface="Tahoma"/>
              </a:rPr>
              <a:t>mappings</a:t>
            </a:r>
            <a:r>
              <a:rPr sz="1982" spc="-40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directly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from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the</a:t>
            </a:r>
            <a:r>
              <a:rPr sz="1982" spc="-40" dirty="0">
                <a:latin typeface="Tahoma"/>
                <a:cs typeface="Tahoma"/>
              </a:rPr>
              <a:t> </a:t>
            </a:r>
            <a:r>
              <a:rPr sz="1982" spc="-109" dirty="0">
                <a:latin typeface="Tahoma"/>
                <a:cs typeface="Tahoma"/>
              </a:rPr>
              <a:t>space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of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spc="-40" dirty="0">
                <a:latin typeface="Tahoma"/>
                <a:cs typeface="Tahoma"/>
              </a:rPr>
              <a:t>inputs</a:t>
            </a:r>
            <a:r>
              <a:rPr sz="1982" spc="-30" dirty="0">
                <a:latin typeface="Tahoma"/>
                <a:cs typeface="Tahoma"/>
              </a:rPr>
              <a:t> </a:t>
            </a:r>
            <a:r>
              <a:rPr sz="1982" spc="258" dirty="0">
                <a:latin typeface="Cambria"/>
                <a:cs typeface="Cambria"/>
              </a:rPr>
              <a:t>X</a:t>
            </a:r>
            <a:r>
              <a:rPr sz="1982" spc="404" dirty="0">
                <a:latin typeface="Cambria"/>
                <a:cs typeface="Cambria"/>
              </a:rPr>
              <a:t> </a:t>
            </a:r>
            <a:r>
              <a:rPr sz="1982" dirty="0">
                <a:latin typeface="Tahoma"/>
                <a:cs typeface="Tahoma"/>
              </a:rPr>
              <a:t>to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spc="-59" dirty="0">
                <a:latin typeface="Tahoma"/>
                <a:cs typeface="Tahoma"/>
              </a:rPr>
              <a:t>class</a:t>
            </a:r>
            <a:r>
              <a:rPr sz="1982" spc="-40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labels</a:t>
            </a:r>
            <a:endParaRPr sz="1982">
              <a:latin typeface="Tahoma"/>
              <a:cs typeface="Tahoma"/>
            </a:endParaRPr>
          </a:p>
          <a:p>
            <a:pPr marL="624156">
              <a:lnSpc>
                <a:spcPts val="2378"/>
              </a:lnSpc>
            </a:pPr>
            <a:r>
              <a:rPr sz="1982" dirty="0">
                <a:latin typeface="Cambria"/>
                <a:cs typeface="Cambria"/>
              </a:rPr>
              <a:t>{</a:t>
            </a:r>
            <a:r>
              <a:rPr sz="1982" dirty="0">
                <a:latin typeface="Tahoma"/>
                <a:cs typeface="Tahoma"/>
              </a:rPr>
              <a:t>0</a:t>
            </a:r>
            <a:r>
              <a:rPr sz="1982" i="1" dirty="0">
                <a:latin typeface="Calibri"/>
                <a:cs typeface="Calibri"/>
              </a:rPr>
              <a:t>,</a:t>
            </a:r>
            <a:r>
              <a:rPr sz="1982" i="1" spc="-89" dirty="0">
                <a:latin typeface="Calibri"/>
                <a:cs typeface="Calibri"/>
              </a:rPr>
              <a:t> </a:t>
            </a:r>
            <a:r>
              <a:rPr sz="1982" spc="-30" dirty="0">
                <a:latin typeface="Tahoma"/>
                <a:cs typeface="Tahoma"/>
              </a:rPr>
              <a:t>1</a:t>
            </a:r>
            <a:r>
              <a:rPr sz="1982" i="1" spc="-30" dirty="0">
                <a:latin typeface="Calibri"/>
                <a:cs typeface="Calibri"/>
              </a:rPr>
              <a:t>,</a:t>
            </a:r>
            <a:r>
              <a:rPr sz="1982" i="1" spc="-69" dirty="0">
                <a:latin typeface="Calibri"/>
                <a:cs typeface="Calibri"/>
              </a:rPr>
              <a:t> </a:t>
            </a:r>
            <a:r>
              <a:rPr sz="1982" spc="-30" dirty="0">
                <a:latin typeface="Tahoma"/>
                <a:cs typeface="Tahoma"/>
              </a:rPr>
              <a:t>2</a:t>
            </a:r>
            <a:r>
              <a:rPr sz="1982" i="1" spc="-30" dirty="0">
                <a:latin typeface="Calibri"/>
                <a:cs typeface="Calibri"/>
              </a:rPr>
              <a:t>,</a:t>
            </a:r>
            <a:r>
              <a:rPr sz="1982" i="1" spc="-69" dirty="0">
                <a:latin typeface="Calibri"/>
                <a:cs typeface="Calibri"/>
              </a:rPr>
              <a:t> </a:t>
            </a:r>
            <a:r>
              <a:rPr sz="1982" i="1" dirty="0">
                <a:latin typeface="Calibri"/>
                <a:cs typeface="Calibri"/>
              </a:rPr>
              <a:t>.</a:t>
            </a:r>
            <a:r>
              <a:rPr sz="1982" i="1" spc="-59" dirty="0">
                <a:latin typeface="Calibri"/>
                <a:cs typeface="Calibri"/>
              </a:rPr>
              <a:t> </a:t>
            </a:r>
            <a:r>
              <a:rPr sz="1982" i="1" dirty="0">
                <a:latin typeface="Calibri"/>
                <a:cs typeface="Calibri"/>
              </a:rPr>
              <a:t>.</a:t>
            </a:r>
            <a:r>
              <a:rPr sz="1982" i="1" spc="-69" dirty="0">
                <a:latin typeface="Calibri"/>
                <a:cs typeface="Calibri"/>
              </a:rPr>
              <a:t> </a:t>
            </a:r>
            <a:r>
              <a:rPr sz="1982" i="1" dirty="0">
                <a:latin typeface="Calibri"/>
                <a:cs typeface="Calibri"/>
              </a:rPr>
              <a:t>.</a:t>
            </a:r>
            <a:r>
              <a:rPr sz="1982" i="1" spc="-69" dirty="0">
                <a:latin typeface="Calibri"/>
                <a:cs typeface="Calibri"/>
              </a:rPr>
              <a:t> </a:t>
            </a:r>
            <a:r>
              <a:rPr sz="1982" i="1" dirty="0">
                <a:latin typeface="Calibri"/>
                <a:cs typeface="Calibri"/>
              </a:rPr>
              <a:t>,</a:t>
            </a:r>
            <a:r>
              <a:rPr sz="1982" i="1" spc="-59" dirty="0">
                <a:latin typeface="Calibri"/>
                <a:cs typeface="Calibri"/>
              </a:rPr>
              <a:t> </a:t>
            </a:r>
            <a:r>
              <a:rPr sz="1982" i="1" dirty="0">
                <a:latin typeface="Arial"/>
                <a:cs typeface="Arial"/>
              </a:rPr>
              <a:t>K</a:t>
            </a:r>
            <a:r>
              <a:rPr sz="1982" i="1" spc="-277" dirty="0">
                <a:latin typeface="Arial"/>
                <a:cs typeface="Arial"/>
              </a:rPr>
              <a:t> </a:t>
            </a:r>
            <a:r>
              <a:rPr sz="1982" spc="109" dirty="0">
                <a:latin typeface="Cambria"/>
                <a:cs typeface="Cambria"/>
              </a:rPr>
              <a:t>}</a:t>
            </a:r>
            <a:endParaRPr sz="1982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8356" y="2149265"/>
            <a:ext cx="6595855" cy="433010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20119596" y="12874487"/>
            <a:ext cx="5436066" cy="1667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168">
              <a:lnSpc>
                <a:spcPts val="1338"/>
              </a:lnSpc>
            </a:pPr>
            <a:fld id="{81D60167-4931-47E6-BA6A-407CBD079E47}" type="slidenum">
              <a:rPr dirty="0"/>
              <a:pPr marL="25168">
                <a:lnSpc>
                  <a:spcPts val="1338"/>
                </a:lnSpc>
              </a:pPr>
              <a:t>4</a:t>
            </a:fld>
            <a:r>
              <a:rPr spc="20" dirty="0"/>
              <a:t> </a:t>
            </a:r>
            <a:r>
              <a:rPr spc="178" dirty="0"/>
              <a:t>/</a:t>
            </a:r>
            <a:r>
              <a:rPr spc="20" dirty="0"/>
              <a:t> </a:t>
            </a:r>
            <a:r>
              <a:rPr spc="-50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28600" y="108710"/>
            <a:ext cx="7118225" cy="58830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Discriminative</a:t>
            </a:r>
            <a:r>
              <a:rPr spc="30" dirty="0"/>
              <a:t> </a:t>
            </a:r>
            <a:r>
              <a:rPr spc="-69" dirty="0"/>
              <a:t>Classifiers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5216" y="1008089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76332" y="816405"/>
            <a:ext cx="4244410" cy="736303"/>
          </a:xfrm>
          <a:prstGeom prst="rect">
            <a:avLst/>
          </a:prstGeom>
        </p:spPr>
        <p:txBody>
          <a:bodyPr vert="horz" wrap="square" lIns="0" tIns="74243" rIns="0" bIns="0" rtlCol="0">
            <a:spAutoFit/>
          </a:bodyPr>
          <a:lstStyle/>
          <a:p>
            <a:pPr marL="75503">
              <a:spcBef>
                <a:spcPts val="585"/>
              </a:spcBef>
            </a:pPr>
            <a:r>
              <a:rPr sz="1982" b="1" spc="-59" dirty="0">
                <a:latin typeface="Arial"/>
                <a:cs typeface="Arial"/>
              </a:rPr>
              <a:t>Discriminative</a:t>
            </a:r>
            <a:r>
              <a:rPr sz="1982" b="1" spc="79" dirty="0">
                <a:latin typeface="Arial"/>
                <a:cs typeface="Arial"/>
              </a:rPr>
              <a:t> </a:t>
            </a:r>
            <a:r>
              <a:rPr sz="1982" spc="-69" dirty="0">
                <a:latin typeface="Tahoma"/>
                <a:cs typeface="Tahoma"/>
              </a:rPr>
              <a:t>classifiers</a:t>
            </a:r>
            <a:r>
              <a:rPr sz="1982" spc="10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try</a:t>
            </a:r>
            <a:r>
              <a:rPr sz="1982" spc="10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to</a:t>
            </a:r>
            <a:r>
              <a:rPr sz="1982" spc="10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either:</a:t>
            </a:r>
            <a:endParaRPr sz="1982">
              <a:latin typeface="Tahoma"/>
              <a:cs typeface="Tahoma"/>
            </a:endParaRPr>
          </a:p>
          <a:p>
            <a:pPr marL="352346">
              <a:spcBef>
                <a:spcPts val="386"/>
              </a:spcBef>
            </a:pPr>
            <a:r>
              <a:rPr sz="1784" spc="979" baseline="13888" dirty="0">
                <a:solidFill>
                  <a:srgbClr val="3333B2"/>
                </a:solidFill>
                <a:latin typeface="Arial MT"/>
                <a:cs typeface="Arial MT"/>
              </a:rPr>
              <a:t>)</a:t>
            </a:r>
            <a:r>
              <a:rPr sz="1784" spc="860" baseline="13888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982" spc="-20" dirty="0">
                <a:latin typeface="Tahoma"/>
                <a:cs typeface="Tahoma"/>
              </a:rPr>
              <a:t>or</a:t>
            </a:r>
            <a:r>
              <a:rPr sz="1982" spc="-40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try</a:t>
            </a:r>
            <a:r>
              <a:rPr sz="1982" spc="-40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to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spc="-69" dirty="0">
                <a:latin typeface="Tahoma"/>
                <a:cs typeface="Tahoma"/>
              </a:rPr>
              <a:t>learn</a:t>
            </a:r>
            <a:r>
              <a:rPr sz="1982" spc="-40" dirty="0">
                <a:latin typeface="Tahoma"/>
                <a:cs typeface="Tahoma"/>
              </a:rPr>
              <a:t> </a:t>
            </a:r>
            <a:r>
              <a:rPr sz="1982" i="1" spc="-50" dirty="0">
                <a:latin typeface="Arial"/>
                <a:cs typeface="Arial"/>
              </a:rPr>
              <a:t>p</a:t>
            </a:r>
            <a:r>
              <a:rPr sz="1982" spc="-50" dirty="0">
                <a:latin typeface="Tahoma"/>
                <a:cs typeface="Tahoma"/>
              </a:rPr>
              <a:t>(</a:t>
            </a:r>
            <a:r>
              <a:rPr sz="1982" i="1" spc="-50" dirty="0">
                <a:latin typeface="Arial"/>
                <a:cs typeface="Arial"/>
              </a:rPr>
              <a:t>y</a:t>
            </a:r>
            <a:r>
              <a:rPr sz="1982" i="1" spc="-337" dirty="0">
                <a:latin typeface="Arial"/>
                <a:cs typeface="Arial"/>
              </a:rPr>
              <a:t> </a:t>
            </a:r>
            <a:r>
              <a:rPr sz="1982" dirty="0">
                <a:latin typeface="Cambria"/>
                <a:cs typeface="Cambria"/>
              </a:rPr>
              <a:t>|</a:t>
            </a:r>
            <a:r>
              <a:rPr sz="1982" b="1" dirty="0">
                <a:latin typeface="Arial"/>
                <a:cs typeface="Arial"/>
              </a:rPr>
              <a:t>x</a:t>
            </a:r>
            <a:r>
              <a:rPr sz="1982" dirty="0">
                <a:latin typeface="Tahoma"/>
                <a:cs typeface="Tahoma"/>
              </a:rPr>
              <a:t>)</a:t>
            </a:r>
            <a:r>
              <a:rPr sz="1982" spc="-40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directly</a:t>
            </a:r>
            <a:endParaRPr sz="1982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8356" y="2062413"/>
            <a:ext cx="7099357" cy="433010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20119596" y="12874487"/>
            <a:ext cx="5436066" cy="1667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168">
              <a:lnSpc>
                <a:spcPts val="1338"/>
              </a:lnSpc>
            </a:pPr>
            <a:fld id="{81D60167-4931-47E6-BA6A-407CBD079E47}" type="slidenum">
              <a:rPr dirty="0"/>
              <a:pPr marL="25168">
                <a:lnSpc>
                  <a:spcPts val="1338"/>
                </a:lnSpc>
              </a:pPr>
              <a:t>5</a:t>
            </a:fld>
            <a:r>
              <a:rPr spc="20" dirty="0"/>
              <a:t> </a:t>
            </a:r>
            <a:r>
              <a:rPr spc="178" dirty="0"/>
              <a:t>/</a:t>
            </a:r>
            <a:r>
              <a:rPr spc="20" dirty="0"/>
              <a:t> </a:t>
            </a:r>
            <a:r>
              <a:rPr spc="-50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825" y="113980"/>
            <a:ext cx="5478324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89" dirty="0"/>
              <a:t>Generative</a:t>
            </a:r>
            <a:r>
              <a:rPr spc="-109" dirty="0"/>
              <a:t> </a:t>
            </a:r>
            <a:r>
              <a:rPr spc="-69" dirty="0"/>
              <a:t>Classifiers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5216" y="1330151"/>
            <a:ext cx="129332" cy="1293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5216" y="2032183"/>
            <a:ext cx="129332" cy="1293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72771" y="699369"/>
            <a:ext cx="8391927" cy="1551056"/>
          </a:xfrm>
          <a:prstGeom prst="rect">
            <a:avLst/>
          </a:prstGeom>
        </p:spPr>
        <p:txBody>
          <a:bodyPr vert="horz" wrap="square" lIns="0" tIns="124577" rIns="0" bIns="0" rtlCol="0">
            <a:spAutoFit/>
          </a:bodyPr>
          <a:lstStyle/>
          <a:p>
            <a:pPr marL="25168">
              <a:spcBef>
                <a:spcPts val="981"/>
              </a:spcBef>
            </a:pPr>
            <a:r>
              <a:rPr sz="1982" spc="-20" dirty="0">
                <a:latin typeface="Tahoma"/>
                <a:cs typeface="Tahoma"/>
              </a:rPr>
              <a:t>How</a:t>
            </a:r>
            <a:r>
              <a:rPr sz="1982" spc="-89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about</a:t>
            </a:r>
            <a:r>
              <a:rPr sz="1982" spc="-79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this</a:t>
            </a:r>
            <a:r>
              <a:rPr sz="1982" spc="-89" dirty="0">
                <a:latin typeface="Tahoma"/>
                <a:cs typeface="Tahoma"/>
              </a:rPr>
              <a:t> </a:t>
            </a:r>
            <a:r>
              <a:rPr sz="1982" spc="-69" dirty="0">
                <a:latin typeface="Tahoma"/>
                <a:cs typeface="Tahoma"/>
              </a:rPr>
              <a:t>approach:</a:t>
            </a:r>
            <a:r>
              <a:rPr sz="1982" spc="99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build</a:t>
            </a:r>
            <a:r>
              <a:rPr sz="1982" spc="-89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a</a:t>
            </a:r>
            <a:r>
              <a:rPr sz="1982" spc="-89" dirty="0">
                <a:latin typeface="Tahoma"/>
                <a:cs typeface="Tahoma"/>
              </a:rPr>
              <a:t> </a:t>
            </a:r>
            <a:r>
              <a:rPr sz="1982" spc="-50" dirty="0">
                <a:latin typeface="Tahoma"/>
                <a:cs typeface="Tahoma"/>
              </a:rPr>
              <a:t>model</a:t>
            </a:r>
            <a:r>
              <a:rPr sz="1982" spc="-79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of</a:t>
            </a:r>
            <a:r>
              <a:rPr sz="1982" spc="-89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“what</a:t>
            </a:r>
            <a:r>
              <a:rPr sz="1982" spc="-79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data</a:t>
            </a:r>
            <a:r>
              <a:rPr sz="1982" spc="-89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for</a:t>
            </a:r>
            <a:r>
              <a:rPr sz="1982" spc="-79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a</a:t>
            </a:r>
            <a:r>
              <a:rPr sz="1982" spc="-89" dirty="0">
                <a:latin typeface="Tahoma"/>
                <a:cs typeface="Tahoma"/>
              </a:rPr>
              <a:t> </a:t>
            </a:r>
            <a:r>
              <a:rPr sz="1982" spc="-59" dirty="0">
                <a:latin typeface="Tahoma"/>
                <a:cs typeface="Tahoma"/>
              </a:rPr>
              <a:t>class</a:t>
            </a:r>
            <a:r>
              <a:rPr sz="1982" spc="-99" dirty="0">
                <a:latin typeface="Tahoma"/>
                <a:cs typeface="Tahoma"/>
              </a:rPr>
              <a:t> </a:t>
            </a:r>
            <a:r>
              <a:rPr sz="1982" spc="-40" dirty="0">
                <a:latin typeface="Tahoma"/>
                <a:cs typeface="Tahoma"/>
              </a:rPr>
              <a:t>looks</a:t>
            </a:r>
            <a:r>
              <a:rPr sz="1982" spc="-89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like”</a:t>
            </a:r>
            <a:endParaRPr sz="1982" dirty="0">
              <a:latin typeface="Tahoma"/>
              <a:cs typeface="Tahoma"/>
            </a:endParaRPr>
          </a:p>
          <a:p>
            <a:pPr marL="573821" marR="10067">
              <a:spcBef>
                <a:spcPts val="773"/>
              </a:spcBef>
            </a:pPr>
            <a:r>
              <a:rPr sz="1982" b="1" spc="-50" dirty="0">
                <a:latin typeface="Arial"/>
                <a:cs typeface="Arial"/>
              </a:rPr>
              <a:t>Generative</a:t>
            </a:r>
            <a:r>
              <a:rPr sz="1982" b="1" spc="-89" dirty="0">
                <a:latin typeface="Arial"/>
                <a:cs typeface="Arial"/>
              </a:rPr>
              <a:t> </a:t>
            </a:r>
            <a:r>
              <a:rPr sz="1982" spc="-69" dirty="0">
                <a:latin typeface="Tahoma"/>
                <a:cs typeface="Tahoma"/>
              </a:rPr>
              <a:t>classifiers</a:t>
            </a:r>
            <a:r>
              <a:rPr sz="1982" spc="-40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try</a:t>
            </a:r>
            <a:r>
              <a:rPr sz="1982" spc="-10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to</a:t>
            </a:r>
            <a:r>
              <a:rPr sz="1982" spc="-30" dirty="0">
                <a:latin typeface="Tahoma"/>
                <a:cs typeface="Tahoma"/>
              </a:rPr>
              <a:t> </a:t>
            </a:r>
            <a:r>
              <a:rPr sz="1982" spc="-50" dirty="0">
                <a:latin typeface="Tahoma"/>
                <a:cs typeface="Tahoma"/>
              </a:rPr>
              <a:t>model</a:t>
            </a:r>
            <a:r>
              <a:rPr sz="1982" spc="-20" dirty="0">
                <a:latin typeface="Tahoma"/>
                <a:cs typeface="Tahoma"/>
              </a:rPr>
              <a:t> </a:t>
            </a:r>
            <a:r>
              <a:rPr sz="1982" i="1" spc="-20" dirty="0">
                <a:latin typeface="Arial"/>
                <a:cs typeface="Arial"/>
              </a:rPr>
              <a:t>p</a:t>
            </a:r>
            <a:r>
              <a:rPr sz="1982" spc="-20" dirty="0">
                <a:latin typeface="Tahoma"/>
                <a:cs typeface="Tahoma"/>
              </a:rPr>
              <a:t>(</a:t>
            </a:r>
            <a:r>
              <a:rPr sz="1982" b="1" spc="-20" dirty="0">
                <a:latin typeface="Arial"/>
                <a:cs typeface="Arial"/>
              </a:rPr>
              <a:t>x</a:t>
            </a:r>
            <a:r>
              <a:rPr sz="1982" i="1" spc="-20" dirty="0">
                <a:latin typeface="Calibri"/>
                <a:cs typeface="Calibri"/>
              </a:rPr>
              <a:t>,</a:t>
            </a:r>
            <a:r>
              <a:rPr sz="1982" i="1" spc="-119" dirty="0">
                <a:latin typeface="Calibri"/>
                <a:cs typeface="Calibri"/>
              </a:rPr>
              <a:t> </a:t>
            </a:r>
            <a:r>
              <a:rPr sz="1982" i="1" spc="-89" dirty="0">
                <a:latin typeface="Arial"/>
                <a:cs typeface="Arial"/>
              </a:rPr>
              <a:t>y</a:t>
            </a:r>
            <a:r>
              <a:rPr sz="1982" i="1" spc="-337" dirty="0">
                <a:latin typeface="Arial"/>
                <a:cs typeface="Arial"/>
              </a:rPr>
              <a:t> </a:t>
            </a:r>
            <a:r>
              <a:rPr sz="1982" dirty="0">
                <a:latin typeface="Tahoma"/>
                <a:cs typeface="Tahoma"/>
              </a:rPr>
              <a:t>).</a:t>
            </a:r>
            <a:r>
              <a:rPr sz="1982" spc="178" dirty="0">
                <a:latin typeface="Tahoma"/>
                <a:cs typeface="Tahoma"/>
              </a:rPr>
              <a:t> </a:t>
            </a:r>
            <a:r>
              <a:rPr sz="1982" spc="-40" dirty="0">
                <a:latin typeface="Tahoma"/>
                <a:cs typeface="Tahoma"/>
              </a:rPr>
              <a:t>If</a:t>
            </a:r>
            <a:r>
              <a:rPr sz="1982" spc="-10" dirty="0">
                <a:latin typeface="Tahoma"/>
                <a:cs typeface="Tahoma"/>
              </a:rPr>
              <a:t> </a:t>
            </a:r>
            <a:r>
              <a:rPr sz="1982" spc="-168" dirty="0">
                <a:latin typeface="Tahoma"/>
                <a:cs typeface="Tahoma"/>
              </a:rPr>
              <a:t>we</a:t>
            </a:r>
            <a:r>
              <a:rPr sz="1982" spc="10" dirty="0">
                <a:latin typeface="Tahoma"/>
                <a:cs typeface="Tahoma"/>
              </a:rPr>
              <a:t> </a:t>
            </a:r>
            <a:r>
              <a:rPr sz="1982" spc="-69" dirty="0">
                <a:latin typeface="Tahoma"/>
                <a:cs typeface="Tahoma"/>
              </a:rPr>
              <a:t>know</a:t>
            </a:r>
            <a:r>
              <a:rPr sz="1982" spc="-20" dirty="0">
                <a:latin typeface="Tahoma"/>
                <a:cs typeface="Tahoma"/>
              </a:rPr>
              <a:t> </a:t>
            </a:r>
            <a:r>
              <a:rPr sz="1982" i="1" spc="-50" dirty="0">
                <a:latin typeface="Arial"/>
                <a:cs typeface="Arial"/>
              </a:rPr>
              <a:t>p</a:t>
            </a:r>
            <a:r>
              <a:rPr sz="1982" spc="-50" dirty="0">
                <a:latin typeface="Tahoma"/>
                <a:cs typeface="Tahoma"/>
              </a:rPr>
              <a:t>(</a:t>
            </a:r>
            <a:r>
              <a:rPr sz="1982" i="1" spc="-50" dirty="0">
                <a:latin typeface="Arial"/>
                <a:cs typeface="Arial"/>
              </a:rPr>
              <a:t>y</a:t>
            </a:r>
            <a:r>
              <a:rPr sz="1982" i="1" spc="-337" dirty="0">
                <a:latin typeface="Arial"/>
                <a:cs typeface="Arial"/>
              </a:rPr>
              <a:t> </a:t>
            </a:r>
            <a:r>
              <a:rPr sz="1982" dirty="0">
                <a:latin typeface="Tahoma"/>
                <a:cs typeface="Tahoma"/>
              </a:rPr>
              <a:t>)</a:t>
            </a:r>
            <a:r>
              <a:rPr sz="1982" spc="-20" dirty="0">
                <a:latin typeface="Tahoma"/>
                <a:cs typeface="Tahoma"/>
              </a:rPr>
              <a:t> </a:t>
            </a:r>
            <a:r>
              <a:rPr sz="1982" spc="-168" dirty="0">
                <a:latin typeface="Tahoma"/>
                <a:cs typeface="Tahoma"/>
              </a:rPr>
              <a:t>we</a:t>
            </a:r>
            <a:r>
              <a:rPr sz="1982" spc="20" dirty="0">
                <a:latin typeface="Tahoma"/>
                <a:cs typeface="Tahoma"/>
              </a:rPr>
              <a:t> </a:t>
            </a:r>
            <a:r>
              <a:rPr sz="1982" spc="-40" dirty="0">
                <a:latin typeface="Tahoma"/>
                <a:cs typeface="Tahoma"/>
              </a:rPr>
              <a:t>can</a:t>
            </a:r>
            <a:r>
              <a:rPr sz="1982" spc="-20" dirty="0">
                <a:latin typeface="Tahoma"/>
                <a:cs typeface="Tahoma"/>
              </a:rPr>
              <a:t> easily </a:t>
            </a:r>
            <a:r>
              <a:rPr sz="1982" spc="-59" dirty="0">
                <a:latin typeface="Tahoma"/>
                <a:cs typeface="Tahoma"/>
              </a:rPr>
              <a:t>compute</a:t>
            </a:r>
            <a:r>
              <a:rPr sz="1982" spc="-20" dirty="0">
                <a:latin typeface="Tahoma"/>
                <a:cs typeface="Tahoma"/>
              </a:rPr>
              <a:t> </a:t>
            </a:r>
            <a:r>
              <a:rPr sz="1982" i="1" spc="-69" dirty="0">
                <a:latin typeface="Arial"/>
                <a:cs typeface="Arial"/>
              </a:rPr>
              <a:t>p</a:t>
            </a:r>
            <a:r>
              <a:rPr sz="1982" spc="-69" dirty="0">
                <a:latin typeface="Tahoma"/>
                <a:cs typeface="Tahoma"/>
              </a:rPr>
              <a:t>(</a:t>
            </a:r>
            <a:r>
              <a:rPr sz="1982" b="1" spc="-69" dirty="0">
                <a:latin typeface="Arial"/>
                <a:cs typeface="Arial"/>
              </a:rPr>
              <a:t>x</a:t>
            </a:r>
            <a:r>
              <a:rPr sz="1982" spc="-69" dirty="0">
                <a:latin typeface="Cambria"/>
                <a:cs typeface="Cambria"/>
              </a:rPr>
              <a:t>|</a:t>
            </a:r>
            <a:r>
              <a:rPr sz="1982" i="1" spc="-69" dirty="0">
                <a:latin typeface="Arial"/>
                <a:cs typeface="Arial"/>
              </a:rPr>
              <a:t>y</a:t>
            </a:r>
            <a:r>
              <a:rPr sz="1982" i="1" spc="-337" dirty="0">
                <a:latin typeface="Arial"/>
                <a:cs typeface="Arial"/>
              </a:rPr>
              <a:t> </a:t>
            </a:r>
            <a:r>
              <a:rPr sz="1982" spc="-50" dirty="0">
                <a:latin typeface="Tahoma"/>
                <a:cs typeface="Tahoma"/>
              </a:rPr>
              <a:t>).</a:t>
            </a:r>
            <a:endParaRPr sz="1982" dirty="0">
              <a:latin typeface="Tahoma"/>
              <a:cs typeface="Tahoma"/>
            </a:endParaRPr>
          </a:p>
          <a:p>
            <a:pPr marL="573821">
              <a:spcBef>
                <a:spcPts val="773"/>
              </a:spcBef>
            </a:pPr>
            <a:r>
              <a:rPr sz="1982" spc="-40" dirty="0">
                <a:latin typeface="Tahoma"/>
                <a:cs typeface="Tahoma"/>
              </a:rPr>
              <a:t>Classification</a:t>
            </a:r>
            <a:r>
              <a:rPr sz="1982" spc="-59" dirty="0">
                <a:latin typeface="Tahoma"/>
                <a:cs typeface="Tahoma"/>
              </a:rPr>
              <a:t> </a:t>
            </a:r>
            <a:r>
              <a:rPr sz="1982" dirty="0">
                <a:latin typeface="Tahoma"/>
                <a:cs typeface="Tahoma"/>
              </a:rPr>
              <a:t>via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spc="-89" dirty="0">
                <a:latin typeface="Tahoma"/>
                <a:cs typeface="Tahoma"/>
              </a:rPr>
              <a:t>Bayes</a:t>
            </a:r>
            <a:r>
              <a:rPr sz="1982" spc="-59" dirty="0">
                <a:latin typeface="Tahoma"/>
                <a:cs typeface="Tahoma"/>
              </a:rPr>
              <a:t> </a:t>
            </a:r>
            <a:r>
              <a:rPr sz="1982" spc="-40" dirty="0">
                <a:latin typeface="Tahoma"/>
                <a:cs typeface="Tahoma"/>
              </a:rPr>
              <a:t>rule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spc="-40" dirty="0">
                <a:latin typeface="Tahoma"/>
                <a:cs typeface="Tahoma"/>
              </a:rPr>
              <a:t>(thus</a:t>
            </a:r>
            <a:r>
              <a:rPr sz="1982" spc="-59" dirty="0">
                <a:latin typeface="Tahoma"/>
                <a:cs typeface="Tahoma"/>
              </a:rPr>
              <a:t> </a:t>
            </a:r>
            <a:r>
              <a:rPr sz="1982" spc="-50" dirty="0">
                <a:latin typeface="Tahoma"/>
                <a:cs typeface="Tahoma"/>
              </a:rPr>
              <a:t>also</a:t>
            </a:r>
            <a:r>
              <a:rPr sz="1982" spc="-59" dirty="0">
                <a:latin typeface="Tahoma"/>
                <a:cs typeface="Tahoma"/>
              </a:rPr>
              <a:t> </a:t>
            </a:r>
            <a:r>
              <a:rPr sz="1982" spc="-40" dirty="0">
                <a:latin typeface="Tahoma"/>
                <a:cs typeface="Tahoma"/>
              </a:rPr>
              <a:t>called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spc="-89" dirty="0">
                <a:latin typeface="Tahoma"/>
                <a:cs typeface="Tahoma"/>
              </a:rPr>
              <a:t>Bayes</a:t>
            </a:r>
            <a:r>
              <a:rPr sz="1982" spc="-50" dirty="0">
                <a:latin typeface="Tahoma"/>
                <a:cs typeface="Tahoma"/>
              </a:rPr>
              <a:t> </a:t>
            </a:r>
            <a:r>
              <a:rPr sz="1982" spc="-20" dirty="0">
                <a:latin typeface="Tahoma"/>
                <a:cs typeface="Tahoma"/>
              </a:rPr>
              <a:t>classifiers)</a:t>
            </a:r>
            <a:endParaRPr sz="1982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18357" y="2655743"/>
            <a:ext cx="7300757" cy="430585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35188"/>
            <a:ext cx="7010400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89" dirty="0"/>
              <a:t>Generative</a:t>
            </a:r>
            <a:r>
              <a:rPr spc="-129" dirty="0"/>
              <a:t> </a:t>
            </a:r>
            <a:r>
              <a:rPr spc="-20" dirty="0"/>
              <a:t>vs</a:t>
            </a:r>
            <a:r>
              <a:rPr spc="-168" dirty="0"/>
              <a:t> </a:t>
            </a:r>
            <a:r>
              <a:rPr spc="-50" dirty="0"/>
              <a:t>Discriminative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711325"/>
            <a:ext cx="114300" cy="1610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 flipV="1">
            <a:off x="342900" y="4419600"/>
            <a:ext cx="114300" cy="1610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02058" y="1054327"/>
            <a:ext cx="10515600" cy="4749345"/>
          </a:xfrm>
          <a:prstGeom prst="rect">
            <a:avLst/>
          </a:prstGeom>
        </p:spPr>
        <p:txBody>
          <a:bodyPr vert="horz" wrap="square" lIns="0" tIns="17491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377"/>
              </a:spcBef>
              <a:buNone/>
            </a:pPr>
            <a:r>
              <a:rPr lang="en-US" sz="1982" dirty="0"/>
              <a:t> </a:t>
            </a:r>
            <a:r>
              <a:rPr sz="1982" dirty="0"/>
              <a:t>Two</a:t>
            </a:r>
            <a:r>
              <a:rPr sz="1982" spc="-10" dirty="0"/>
              <a:t> </a:t>
            </a:r>
            <a:r>
              <a:rPr sz="1982" spc="-99" dirty="0"/>
              <a:t>approaches</a:t>
            </a:r>
            <a:r>
              <a:rPr sz="1982" spc="-10" dirty="0"/>
              <a:t> </a:t>
            </a:r>
            <a:r>
              <a:rPr sz="1982" dirty="0"/>
              <a:t>to</a:t>
            </a:r>
            <a:r>
              <a:rPr sz="1982" spc="-20" dirty="0"/>
              <a:t> classification:</a:t>
            </a:r>
            <a:endParaRPr lang="en-US" sz="1982" dirty="0"/>
          </a:p>
          <a:p>
            <a:pPr marL="420724" marR="85570" indent="0">
              <a:lnSpc>
                <a:spcPct val="100000"/>
              </a:lnSpc>
              <a:spcBef>
                <a:spcPts val="1169"/>
              </a:spcBef>
              <a:buNone/>
            </a:pPr>
            <a:r>
              <a:rPr lang="en-US" sz="1982" spc="-50" dirty="0">
                <a:solidFill>
                  <a:srgbClr val="0000FF"/>
                </a:solidFill>
              </a:rPr>
              <a:t>Discriminative</a:t>
            </a:r>
            <a:r>
              <a:rPr lang="en-US" sz="1982" dirty="0">
                <a:solidFill>
                  <a:srgbClr val="0000FF"/>
                </a:solidFill>
              </a:rPr>
              <a:t> </a:t>
            </a:r>
            <a:r>
              <a:rPr lang="en-US" sz="1982" spc="-69" dirty="0"/>
              <a:t>classifiers</a:t>
            </a:r>
            <a:r>
              <a:rPr lang="en-US" sz="1982" spc="10" dirty="0"/>
              <a:t> </a:t>
            </a:r>
            <a:r>
              <a:rPr lang="en-US" sz="1982" spc="-69" dirty="0"/>
              <a:t>estimate</a:t>
            </a:r>
            <a:r>
              <a:rPr lang="en-US" sz="1982" dirty="0"/>
              <a:t> </a:t>
            </a:r>
            <a:r>
              <a:rPr lang="en-US" sz="1982" spc="-99" dirty="0"/>
              <a:t>parameters</a:t>
            </a:r>
            <a:r>
              <a:rPr lang="en-US" sz="1982" spc="10" dirty="0"/>
              <a:t> </a:t>
            </a:r>
            <a:r>
              <a:rPr lang="en-US" sz="1982" dirty="0"/>
              <a:t>of </a:t>
            </a:r>
            <a:r>
              <a:rPr lang="en-US" sz="1982" spc="-59" dirty="0"/>
              <a:t>decision</a:t>
            </a:r>
            <a:r>
              <a:rPr lang="en-US" sz="1982" spc="20" dirty="0"/>
              <a:t> </a:t>
            </a:r>
            <a:r>
              <a:rPr lang="en-US" sz="1982" spc="-20" dirty="0"/>
              <a:t>boundary/class </a:t>
            </a:r>
            <a:r>
              <a:rPr lang="en-US" sz="1982" spc="-89" dirty="0"/>
              <a:t>separator</a:t>
            </a:r>
            <a:r>
              <a:rPr lang="en-US" sz="1982" spc="-69" dirty="0"/>
              <a:t> </a:t>
            </a:r>
            <a:r>
              <a:rPr lang="en-US" sz="1982" spc="-20" dirty="0"/>
              <a:t>directly</a:t>
            </a:r>
            <a:r>
              <a:rPr lang="en-US" sz="1982" spc="-139" dirty="0"/>
              <a:t> </a:t>
            </a:r>
            <a:r>
              <a:rPr lang="en-US" sz="1982" spc="-20" dirty="0"/>
              <a:t>from</a:t>
            </a:r>
            <a:r>
              <a:rPr lang="en-US" sz="1982" spc="-109" dirty="0"/>
              <a:t> </a:t>
            </a:r>
            <a:r>
              <a:rPr lang="en-US" sz="1982" spc="-59" dirty="0"/>
              <a:t>labeled</a:t>
            </a:r>
            <a:r>
              <a:rPr lang="en-US" sz="1982" spc="-69" dirty="0"/>
              <a:t> </a:t>
            </a:r>
            <a:r>
              <a:rPr lang="en-US" sz="1982" spc="-79" dirty="0"/>
              <a:t>examples.</a:t>
            </a:r>
            <a:r>
              <a:rPr lang="en-US" sz="1982" spc="129" dirty="0"/>
              <a:t> </a:t>
            </a:r>
            <a:r>
              <a:rPr lang="en-US" sz="1982" spc="-50" dirty="0"/>
              <a:t>Tries</a:t>
            </a:r>
            <a:r>
              <a:rPr lang="en-US" sz="1982" spc="-79" dirty="0"/>
              <a:t> </a:t>
            </a:r>
            <a:r>
              <a:rPr lang="en-US" sz="1982" dirty="0"/>
              <a:t>to</a:t>
            </a:r>
            <a:r>
              <a:rPr lang="en-US" sz="1982" spc="-69" dirty="0"/>
              <a:t> solve:</a:t>
            </a:r>
            <a:r>
              <a:rPr lang="en-US" sz="1982" spc="119" dirty="0"/>
              <a:t> </a:t>
            </a:r>
            <a:r>
              <a:rPr lang="en-US" sz="1982" spc="-20" dirty="0"/>
              <a:t>How</a:t>
            </a:r>
            <a:r>
              <a:rPr lang="en-US" sz="1982" spc="-59" dirty="0"/>
              <a:t> </a:t>
            </a:r>
            <a:r>
              <a:rPr lang="en-US" sz="1982" dirty="0"/>
              <a:t>do</a:t>
            </a:r>
            <a:r>
              <a:rPr lang="en-US" sz="1982" spc="-69" dirty="0"/>
              <a:t> </a:t>
            </a:r>
            <a:r>
              <a:rPr lang="en-US" sz="1982" spc="-218" dirty="0"/>
              <a:t>I</a:t>
            </a:r>
            <a:r>
              <a:rPr lang="en-US" sz="1982" spc="40" dirty="0"/>
              <a:t> </a:t>
            </a:r>
            <a:r>
              <a:rPr lang="en-US" sz="1982" spc="-79" dirty="0"/>
              <a:t>separate </a:t>
            </a:r>
            <a:r>
              <a:rPr lang="en-US" sz="1982" spc="-40" dirty="0"/>
              <a:t>the</a:t>
            </a:r>
            <a:r>
              <a:rPr lang="en-US" sz="1982" spc="-79" dirty="0"/>
              <a:t> </a:t>
            </a:r>
            <a:r>
              <a:rPr lang="en-US" sz="1982" spc="-20" dirty="0"/>
              <a:t>classes?</a:t>
            </a:r>
            <a:endParaRPr lang="en-US" sz="1982" dirty="0"/>
          </a:p>
          <a:p>
            <a:pPr marL="926165">
              <a:lnSpc>
                <a:spcPts val="2378"/>
              </a:lnSpc>
              <a:spcBef>
                <a:spcPts val="959"/>
              </a:spcBef>
            </a:pPr>
            <a:r>
              <a:rPr sz="1784" spc="979" baseline="13888" dirty="0">
                <a:solidFill>
                  <a:srgbClr val="3333B2"/>
                </a:solidFill>
                <a:latin typeface="Arial MT"/>
                <a:cs typeface="Arial MT"/>
              </a:rPr>
              <a:t>)</a:t>
            </a:r>
            <a:r>
              <a:rPr sz="1784" spc="876" baseline="13888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982" spc="-69" dirty="0"/>
              <a:t>learn</a:t>
            </a:r>
            <a:r>
              <a:rPr sz="1982" spc="-30" dirty="0"/>
              <a:t> </a:t>
            </a:r>
            <a:r>
              <a:rPr sz="1982" i="1" spc="-50" dirty="0">
                <a:latin typeface="Arial"/>
                <a:cs typeface="Arial"/>
              </a:rPr>
              <a:t>p</a:t>
            </a:r>
            <a:r>
              <a:rPr sz="1982" spc="-50" dirty="0"/>
              <a:t>(</a:t>
            </a:r>
            <a:r>
              <a:rPr sz="1982" i="1" spc="-50" dirty="0">
                <a:latin typeface="Arial"/>
                <a:cs typeface="Arial"/>
              </a:rPr>
              <a:t>y</a:t>
            </a:r>
            <a:r>
              <a:rPr sz="1982" i="1" spc="-337" dirty="0">
                <a:latin typeface="Arial"/>
                <a:cs typeface="Arial"/>
              </a:rPr>
              <a:t> </a:t>
            </a:r>
            <a:r>
              <a:rPr sz="1982" dirty="0">
                <a:latin typeface="Cambria"/>
                <a:cs typeface="Cambria"/>
              </a:rPr>
              <a:t>|</a:t>
            </a:r>
            <a:r>
              <a:rPr sz="1982" b="1" dirty="0">
                <a:latin typeface="Arial"/>
                <a:cs typeface="Arial"/>
              </a:rPr>
              <a:t>x</a:t>
            </a:r>
            <a:r>
              <a:rPr sz="1982" dirty="0"/>
              <a:t>)</a:t>
            </a:r>
            <a:r>
              <a:rPr sz="1982" spc="-30" dirty="0"/>
              <a:t> </a:t>
            </a:r>
            <a:r>
              <a:rPr sz="1982" spc="-20" dirty="0"/>
              <a:t>directly</a:t>
            </a:r>
            <a:r>
              <a:rPr sz="1982" spc="-40" dirty="0"/>
              <a:t> </a:t>
            </a:r>
            <a:r>
              <a:rPr sz="1982" spc="-20" dirty="0"/>
              <a:t>(logistic</a:t>
            </a:r>
            <a:r>
              <a:rPr sz="1982" spc="-40" dirty="0"/>
              <a:t> </a:t>
            </a:r>
            <a:r>
              <a:rPr sz="1982" spc="-99" dirty="0"/>
              <a:t>regression</a:t>
            </a:r>
            <a:r>
              <a:rPr sz="1982" spc="-30" dirty="0"/>
              <a:t> </a:t>
            </a:r>
            <a:r>
              <a:rPr sz="1982" spc="-20" dirty="0"/>
              <a:t>models)</a:t>
            </a:r>
            <a:endParaRPr sz="1982" dirty="0">
              <a:latin typeface="Arial"/>
              <a:cs typeface="Arial"/>
            </a:endParaRPr>
          </a:p>
          <a:p>
            <a:pPr marL="926165">
              <a:lnSpc>
                <a:spcPts val="2378"/>
              </a:lnSpc>
            </a:pPr>
            <a:r>
              <a:rPr sz="1784" spc="979" baseline="13888" dirty="0">
                <a:solidFill>
                  <a:srgbClr val="3333B2"/>
                </a:solidFill>
                <a:latin typeface="Arial MT"/>
                <a:cs typeface="Arial MT"/>
              </a:rPr>
              <a:t>) </a:t>
            </a:r>
            <a:r>
              <a:rPr sz="1982" spc="-69" dirty="0"/>
              <a:t>learn</a:t>
            </a:r>
            <a:r>
              <a:rPr sz="1982" dirty="0"/>
              <a:t> </a:t>
            </a:r>
            <a:r>
              <a:rPr sz="1982" spc="-79" dirty="0"/>
              <a:t>mappings</a:t>
            </a:r>
            <a:r>
              <a:rPr sz="1982" dirty="0"/>
              <a:t> </a:t>
            </a:r>
            <a:r>
              <a:rPr sz="1982" spc="-20" dirty="0"/>
              <a:t>from </a:t>
            </a:r>
            <a:r>
              <a:rPr sz="1982" spc="-50" dirty="0"/>
              <a:t>inputs</a:t>
            </a:r>
            <a:r>
              <a:rPr sz="1982" spc="-10" dirty="0"/>
              <a:t> </a:t>
            </a:r>
            <a:r>
              <a:rPr sz="1982" dirty="0"/>
              <a:t>to </a:t>
            </a:r>
            <a:r>
              <a:rPr sz="1982" spc="-109" dirty="0"/>
              <a:t>classes</a:t>
            </a:r>
            <a:r>
              <a:rPr sz="1982" spc="-20" dirty="0"/>
              <a:t> </a:t>
            </a:r>
            <a:r>
              <a:rPr sz="1982" spc="-89" dirty="0"/>
              <a:t>(least-</a:t>
            </a:r>
            <a:r>
              <a:rPr sz="1982" spc="-99" dirty="0"/>
              <a:t>squares,</a:t>
            </a:r>
            <a:r>
              <a:rPr sz="1982" dirty="0"/>
              <a:t> </a:t>
            </a:r>
            <a:r>
              <a:rPr sz="1982" spc="-59" dirty="0"/>
              <a:t>decision</a:t>
            </a:r>
            <a:r>
              <a:rPr sz="1982" spc="-10" dirty="0"/>
              <a:t> </a:t>
            </a:r>
            <a:r>
              <a:rPr sz="1982" spc="-20" dirty="0"/>
              <a:t>trees)</a:t>
            </a:r>
            <a:endParaRPr sz="1982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38"/>
              </a:spcBef>
            </a:pPr>
            <a:endParaRPr sz="1982" dirty="0"/>
          </a:p>
          <a:p>
            <a:pPr marL="649324" marR="154781">
              <a:lnSpc>
                <a:spcPct val="100000"/>
              </a:lnSpc>
            </a:pPr>
            <a:endParaRPr lang="en-US" sz="1982" spc="-69" dirty="0">
              <a:solidFill>
                <a:srgbClr val="0000FF"/>
              </a:solidFill>
            </a:endParaRPr>
          </a:p>
          <a:p>
            <a:pPr marL="420724" marR="154781" indent="0">
              <a:lnSpc>
                <a:spcPct val="100000"/>
              </a:lnSpc>
              <a:buNone/>
            </a:pPr>
            <a:r>
              <a:rPr sz="1982" spc="-69" dirty="0">
                <a:solidFill>
                  <a:srgbClr val="0000FF"/>
                </a:solidFill>
              </a:rPr>
              <a:t>Generative</a:t>
            </a:r>
            <a:r>
              <a:rPr sz="1982" spc="-50" dirty="0">
                <a:solidFill>
                  <a:srgbClr val="0000FF"/>
                </a:solidFill>
              </a:rPr>
              <a:t> </a:t>
            </a:r>
            <a:r>
              <a:rPr sz="1982" spc="-79" dirty="0">
                <a:solidFill>
                  <a:srgbClr val="0000FF"/>
                </a:solidFill>
              </a:rPr>
              <a:t>approach</a:t>
            </a:r>
            <a:r>
              <a:rPr sz="1982" spc="-79" dirty="0"/>
              <a:t>:</a:t>
            </a:r>
            <a:r>
              <a:rPr sz="1982" spc="159" dirty="0"/>
              <a:t> </a:t>
            </a:r>
            <a:r>
              <a:rPr sz="1982" spc="-50" dirty="0"/>
              <a:t>model</a:t>
            </a:r>
            <a:r>
              <a:rPr sz="1982" spc="-40" dirty="0"/>
              <a:t> the</a:t>
            </a:r>
            <a:r>
              <a:rPr sz="1982" spc="-50" dirty="0"/>
              <a:t> </a:t>
            </a:r>
            <a:r>
              <a:rPr sz="1982" spc="-40" dirty="0"/>
              <a:t>distribution </a:t>
            </a:r>
            <a:r>
              <a:rPr sz="1982" dirty="0"/>
              <a:t>of</a:t>
            </a:r>
            <a:r>
              <a:rPr sz="1982" spc="-40" dirty="0"/>
              <a:t> </a:t>
            </a:r>
            <a:r>
              <a:rPr sz="1982" spc="-50" dirty="0"/>
              <a:t>inputs </a:t>
            </a:r>
            <a:r>
              <a:rPr sz="1982" spc="-59" dirty="0"/>
              <a:t>characteristic</a:t>
            </a:r>
            <a:r>
              <a:rPr sz="1982" spc="-40" dirty="0"/>
              <a:t> </a:t>
            </a:r>
            <a:r>
              <a:rPr sz="1982" dirty="0"/>
              <a:t>of</a:t>
            </a:r>
            <a:r>
              <a:rPr sz="1982" spc="-40" dirty="0"/>
              <a:t> </a:t>
            </a:r>
            <a:r>
              <a:rPr sz="1982" spc="-50" dirty="0"/>
              <a:t>the </a:t>
            </a:r>
            <a:r>
              <a:rPr sz="1982" spc="-59" dirty="0"/>
              <a:t>class</a:t>
            </a:r>
            <a:r>
              <a:rPr sz="1982" spc="-40" dirty="0"/>
              <a:t> </a:t>
            </a:r>
            <a:r>
              <a:rPr sz="1982" spc="-69" dirty="0"/>
              <a:t>(Bayes</a:t>
            </a:r>
            <a:r>
              <a:rPr sz="1982" spc="-30" dirty="0"/>
              <a:t> </a:t>
            </a:r>
            <a:r>
              <a:rPr sz="1982" spc="-50" dirty="0"/>
              <a:t>classifier).</a:t>
            </a:r>
            <a:r>
              <a:rPr sz="1982" spc="178" dirty="0"/>
              <a:t> </a:t>
            </a:r>
            <a:r>
              <a:rPr sz="1982" spc="-40" dirty="0"/>
              <a:t>Tries</a:t>
            </a:r>
            <a:r>
              <a:rPr sz="1982" spc="-20" dirty="0"/>
              <a:t> </a:t>
            </a:r>
            <a:r>
              <a:rPr sz="1982" dirty="0"/>
              <a:t>to</a:t>
            </a:r>
            <a:r>
              <a:rPr sz="1982" spc="-40" dirty="0"/>
              <a:t> </a:t>
            </a:r>
            <a:r>
              <a:rPr sz="1982" spc="-69" dirty="0"/>
              <a:t>solve:</a:t>
            </a:r>
            <a:r>
              <a:rPr sz="1982" spc="178" dirty="0"/>
              <a:t> </a:t>
            </a:r>
            <a:r>
              <a:rPr sz="1982" dirty="0"/>
              <a:t>What</a:t>
            </a:r>
            <a:r>
              <a:rPr sz="1982" spc="-20" dirty="0"/>
              <a:t> </a:t>
            </a:r>
            <a:r>
              <a:rPr sz="1982" spc="-89" dirty="0"/>
              <a:t>does</a:t>
            </a:r>
            <a:r>
              <a:rPr sz="1982" spc="-30" dirty="0"/>
              <a:t> </a:t>
            </a:r>
            <a:r>
              <a:rPr sz="1982" spc="-89" dirty="0"/>
              <a:t>each</a:t>
            </a:r>
            <a:r>
              <a:rPr sz="1982" spc="-30" dirty="0"/>
              <a:t> </a:t>
            </a:r>
            <a:r>
              <a:rPr sz="1982" spc="-59" dirty="0"/>
              <a:t>class</a:t>
            </a:r>
            <a:r>
              <a:rPr sz="1982" spc="-20" dirty="0"/>
              <a:t> </a:t>
            </a:r>
            <a:r>
              <a:rPr sz="1982" dirty="0"/>
              <a:t>”look”</a:t>
            </a:r>
            <a:r>
              <a:rPr sz="1982" spc="-20" dirty="0"/>
              <a:t> like?</a:t>
            </a:r>
            <a:endParaRPr sz="1982" dirty="0"/>
          </a:p>
          <a:p>
            <a:pPr marL="926165">
              <a:lnSpc>
                <a:spcPts val="2378"/>
              </a:lnSpc>
              <a:spcBef>
                <a:spcPts val="971"/>
              </a:spcBef>
            </a:pPr>
            <a:r>
              <a:rPr sz="1784" spc="979" baseline="13888" dirty="0">
                <a:solidFill>
                  <a:srgbClr val="3333B2"/>
                </a:solidFill>
                <a:latin typeface="Arial MT"/>
                <a:cs typeface="Arial MT"/>
              </a:rPr>
              <a:t>)</a:t>
            </a:r>
            <a:r>
              <a:rPr sz="1784" spc="965" baseline="13888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982" dirty="0"/>
              <a:t>Build a</a:t>
            </a:r>
            <a:r>
              <a:rPr sz="1982" spc="-10" dirty="0"/>
              <a:t> </a:t>
            </a:r>
            <a:r>
              <a:rPr sz="1982" spc="-50" dirty="0"/>
              <a:t>model</a:t>
            </a:r>
            <a:r>
              <a:rPr sz="1982" spc="-10" dirty="0"/>
              <a:t> </a:t>
            </a:r>
            <a:r>
              <a:rPr sz="1982" dirty="0"/>
              <a:t>of</a:t>
            </a:r>
            <a:r>
              <a:rPr sz="1982" spc="-10" dirty="0"/>
              <a:t> </a:t>
            </a:r>
            <a:r>
              <a:rPr sz="1982" i="1" spc="-69" dirty="0">
                <a:latin typeface="Arial"/>
                <a:cs typeface="Arial"/>
              </a:rPr>
              <a:t>p</a:t>
            </a:r>
            <a:r>
              <a:rPr sz="1982" spc="-69" dirty="0"/>
              <a:t>(</a:t>
            </a:r>
            <a:r>
              <a:rPr sz="1982" b="1" spc="-69" dirty="0">
                <a:latin typeface="Arial"/>
                <a:cs typeface="Arial"/>
              </a:rPr>
              <a:t>x</a:t>
            </a:r>
            <a:r>
              <a:rPr sz="1982" spc="-69" dirty="0">
                <a:latin typeface="Cambria"/>
                <a:cs typeface="Cambria"/>
              </a:rPr>
              <a:t>|</a:t>
            </a:r>
            <a:r>
              <a:rPr sz="1982" i="1" spc="-69" dirty="0">
                <a:latin typeface="Arial"/>
                <a:cs typeface="Arial"/>
              </a:rPr>
              <a:t>y</a:t>
            </a:r>
            <a:r>
              <a:rPr sz="1982" i="1" spc="-337" dirty="0">
                <a:latin typeface="Arial"/>
                <a:cs typeface="Arial"/>
              </a:rPr>
              <a:t> </a:t>
            </a:r>
            <a:r>
              <a:rPr sz="1982" spc="-99" dirty="0"/>
              <a:t>)</a:t>
            </a:r>
            <a:endParaRPr sz="1982" dirty="0">
              <a:latin typeface="Arial"/>
              <a:cs typeface="Arial"/>
            </a:endParaRPr>
          </a:p>
          <a:p>
            <a:pPr marL="926165">
              <a:lnSpc>
                <a:spcPts val="2378"/>
              </a:lnSpc>
            </a:pPr>
            <a:r>
              <a:rPr sz="1784" spc="979" baseline="13888" dirty="0">
                <a:solidFill>
                  <a:srgbClr val="3333B2"/>
                </a:solidFill>
                <a:latin typeface="Arial MT"/>
                <a:cs typeface="Arial MT"/>
              </a:rPr>
              <a:t>)</a:t>
            </a:r>
            <a:r>
              <a:rPr sz="1784" spc="1009" baseline="13888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982" dirty="0"/>
              <a:t>Apply </a:t>
            </a:r>
            <a:r>
              <a:rPr sz="1982" spc="-89" dirty="0"/>
              <a:t>Bayes</a:t>
            </a:r>
            <a:r>
              <a:rPr sz="1982" spc="-10" dirty="0"/>
              <a:t> </a:t>
            </a:r>
            <a:r>
              <a:rPr sz="1982" spc="-40" dirty="0"/>
              <a:t>Rule</a:t>
            </a:r>
            <a:endParaRPr sz="1982" dirty="0">
              <a:latin typeface="Arial MT"/>
              <a:cs typeface="Arial M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03066B-F85C-431D-BD22-E34117742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4580672"/>
            <a:ext cx="4114800" cy="183949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850" y="4038091"/>
            <a:ext cx="951547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-"/>
              <a:tabLst>
                <a:tab pos="354965" algn="l"/>
              </a:tabLst>
            </a:pPr>
            <a:r>
              <a:rPr sz="1600" dirty="0">
                <a:latin typeface="Segoe Print"/>
                <a:cs typeface="Segoe Print"/>
              </a:rPr>
              <a:t>Emotion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spc="-10" dirty="0">
                <a:latin typeface="Segoe Print"/>
                <a:cs typeface="Segoe Print"/>
              </a:rPr>
              <a:t>Detection.</a:t>
            </a:r>
            <a:endParaRPr sz="16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Char char="-"/>
              <a:tabLst>
                <a:tab pos="354965" algn="l"/>
              </a:tabLst>
            </a:pPr>
            <a:r>
              <a:rPr sz="1600" dirty="0">
                <a:latin typeface="Segoe Print"/>
                <a:cs typeface="Segoe Print"/>
              </a:rPr>
              <a:t>Vehicle</a:t>
            </a:r>
            <a:r>
              <a:rPr sz="1600" spc="-3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Type,</a:t>
            </a:r>
            <a:r>
              <a:rPr sz="1600" spc="-3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Make,</a:t>
            </a:r>
            <a:r>
              <a:rPr sz="1600" spc="-4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model,</a:t>
            </a:r>
            <a:r>
              <a:rPr sz="1600" spc="-3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of</a:t>
            </a:r>
            <a:r>
              <a:rPr sz="1600" spc="-4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the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vehicle</a:t>
            </a:r>
            <a:r>
              <a:rPr sz="1600" spc="-3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from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the</a:t>
            </a:r>
            <a:r>
              <a:rPr sz="1600" spc="-3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images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streamed</a:t>
            </a:r>
            <a:r>
              <a:rPr sz="1600" spc="-3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by</a:t>
            </a:r>
            <a:r>
              <a:rPr sz="1600" spc="-3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road</a:t>
            </a:r>
            <a:r>
              <a:rPr sz="1600" spc="-50" dirty="0">
                <a:latin typeface="Segoe Print"/>
                <a:cs typeface="Segoe Print"/>
              </a:rPr>
              <a:t> </a:t>
            </a:r>
            <a:r>
              <a:rPr sz="1600" spc="-10" dirty="0">
                <a:latin typeface="Segoe Print"/>
                <a:cs typeface="Segoe Print"/>
              </a:rPr>
              <a:t>cameras.</a:t>
            </a:r>
            <a:endParaRPr sz="16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925"/>
              </a:spcBef>
              <a:buChar char="-"/>
              <a:tabLst>
                <a:tab pos="354965" algn="l"/>
              </a:tabLst>
            </a:pPr>
            <a:r>
              <a:rPr sz="1600" dirty="0">
                <a:latin typeface="Segoe Print"/>
                <a:cs typeface="Segoe Print"/>
              </a:rPr>
              <a:t>Speaker</a:t>
            </a:r>
            <a:r>
              <a:rPr sz="1600" spc="-7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Identification</a:t>
            </a:r>
            <a:r>
              <a:rPr sz="1600" spc="-6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from</a:t>
            </a:r>
            <a:r>
              <a:rPr sz="1600" spc="-7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Speech</a:t>
            </a:r>
            <a:r>
              <a:rPr sz="1600" spc="-65" dirty="0">
                <a:latin typeface="Segoe Print"/>
                <a:cs typeface="Segoe Print"/>
              </a:rPr>
              <a:t> </a:t>
            </a:r>
            <a:r>
              <a:rPr sz="1600" spc="-10" dirty="0">
                <a:latin typeface="Segoe Print"/>
                <a:cs typeface="Segoe Print"/>
              </a:rPr>
              <a:t>Signal.</a:t>
            </a:r>
            <a:endParaRPr sz="16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Char char="-"/>
              <a:tabLst>
                <a:tab pos="354965" algn="l"/>
              </a:tabLst>
            </a:pPr>
            <a:r>
              <a:rPr sz="1600" dirty="0">
                <a:latin typeface="Segoe Print"/>
                <a:cs typeface="Segoe Print"/>
              </a:rPr>
              <a:t>Sentiment</a:t>
            </a:r>
            <a:r>
              <a:rPr sz="1600" spc="-3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Analysis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(Categories:</a:t>
            </a:r>
            <a:r>
              <a:rPr sz="1600" spc="-5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Positive,</a:t>
            </a:r>
            <a:r>
              <a:rPr sz="1600" spc="-5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Negative,</a:t>
            </a:r>
            <a:r>
              <a:rPr sz="1600" spc="-4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Neutral),</a:t>
            </a:r>
            <a:r>
              <a:rPr sz="1600" spc="-4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Text</a:t>
            </a:r>
            <a:r>
              <a:rPr sz="1600" spc="-45" dirty="0">
                <a:latin typeface="Segoe Print"/>
                <a:cs typeface="Segoe Print"/>
              </a:rPr>
              <a:t> </a:t>
            </a:r>
            <a:r>
              <a:rPr sz="1600" spc="-10" dirty="0">
                <a:latin typeface="Segoe Print"/>
                <a:cs typeface="Segoe Print"/>
              </a:rPr>
              <a:t>Analysis.</a:t>
            </a:r>
            <a:endParaRPr sz="16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Char char="-"/>
              <a:tabLst>
                <a:tab pos="354965" algn="l"/>
              </a:tabLst>
            </a:pPr>
            <a:r>
              <a:rPr sz="1600" dirty="0">
                <a:latin typeface="Segoe Print"/>
                <a:cs typeface="Segoe Print"/>
              </a:rPr>
              <a:t>Take</a:t>
            </a:r>
            <a:r>
              <a:rPr sz="1600" spc="-3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an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image</a:t>
            </a:r>
            <a:r>
              <a:rPr sz="1600" spc="-2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of</a:t>
            </a:r>
            <a:r>
              <a:rPr sz="1600" spc="-4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the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sky</a:t>
            </a:r>
            <a:r>
              <a:rPr sz="1600" spc="-3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and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determine</a:t>
            </a:r>
            <a:r>
              <a:rPr sz="1600" spc="-2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the</a:t>
            </a:r>
            <a:r>
              <a:rPr sz="1600" spc="-3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pollution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level</a:t>
            </a:r>
            <a:r>
              <a:rPr sz="1600" spc="-2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(healthy,</a:t>
            </a:r>
            <a:r>
              <a:rPr sz="1600" spc="-3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moderate,</a:t>
            </a:r>
            <a:r>
              <a:rPr sz="1600" spc="-30" dirty="0">
                <a:latin typeface="Segoe Print"/>
                <a:cs typeface="Segoe Print"/>
              </a:rPr>
              <a:t> </a:t>
            </a:r>
            <a:r>
              <a:rPr sz="1600" spc="-10" dirty="0">
                <a:latin typeface="Segoe Print"/>
                <a:cs typeface="Segoe Print"/>
              </a:rPr>
              <a:t>hazard).</a:t>
            </a:r>
            <a:endParaRPr sz="16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61638" y="104297"/>
            <a:ext cx="6858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0547" y="3058667"/>
            <a:ext cx="5029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Multi-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class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(Multinomial)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Classification: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554" y="954786"/>
            <a:ext cx="7440168" cy="861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554" y="3595115"/>
            <a:ext cx="5179314" cy="27584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7838" y="506984"/>
            <a:ext cx="869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Recap: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1554" y="2337816"/>
            <a:ext cx="3362705" cy="27584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7838" y="1872996"/>
            <a:ext cx="4177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Binary</a:t>
            </a:r>
            <a:r>
              <a:rPr sz="2400" b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or</a:t>
            </a:r>
            <a:r>
              <a:rPr sz="2400" b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Binomial</a:t>
            </a:r>
            <a:r>
              <a:rPr sz="24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Classification: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850" y="2757169"/>
            <a:ext cx="95707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50" dirty="0">
                <a:latin typeface="Segoe Print"/>
                <a:cs typeface="Segoe Print"/>
              </a:rPr>
              <a:t>-</a:t>
            </a:r>
            <a:r>
              <a:rPr sz="1600" dirty="0">
                <a:latin typeface="Segoe Print"/>
                <a:cs typeface="Segoe Print"/>
              </a:rPr>
              <a:t>	Disease</a:t>
            </a:r>
            <a:r>
              <a:rPr sz="1600" spc="-5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detection,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spam</a:t>
            </a:r>
            <a:r>
              <a:rPr sz="1600" spc="-5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email</a:t>
            </a:r>
            <a:r>
              <a:rPr sz="1600" spc="-4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detection,</a:t>
            </a:r>
            <a:r>
              <a:rPr sz="1600" spc="-50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fraudulent</a:t>
            </a:r>
            <a:r>
              <a:rPr sz="1600" spc="-4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transaction,</a:t>
            </a:r>
            <a:r>
              <a:rPr sz="1600" spc="-6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win/loss</a:t>
            </a:r>
            <a:r>
              <a:rPr sz="1600" spc="-55" dirty="0">
                <a:latin typeface="Segoe Print"/>
                <a:cs typeface="Segoe Print"/>
              </a:rPr>
              <a:t> </a:t>
            </a:r>
            <a:r>
              <a:rPr sz="1600" dirty="0">
                <a:latin typeface="Segoe Print"/>
                <a:cs typeface="Segoe Print"/>
              </a:rPr>
              <a:t>prediction,</a:t>
            </a:r>
            <a:r>
              <a:rPr sz="1600" spc="-60" dirty="0">
                <a:latin typeface="Segoe Print"/>
                <a:cs typeface="Segoe Print"/>
              </a:rPr>
              <a:t> </a:t>
            </a:r>
            <a:r>
              <a:rPr sz="1600" spc="-20" dirty="0">
                <a:latin typeface="Segoe Print"/>
                <a:cs typeface="Segoe Print"/>
              </a:rPr>
              <a:t>etc.</a:t>
            </a:r>
            <a:endParaRPr sz="16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529" y="750824"/>
            <a:ext cx="10977245" cy="3150863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Overview:</a:t>
            </a:r>
            <a:endParaRPr sz="2400" dirty="0">
              <a:latin typeface="Calibri"/>
              <a:cs typeface="Calibri"/>
            </a:endParaRPr>
          </a:p>
          <a:p>
            <a:pPr marL="430530" indent="-342900">
              <a:lnSpc>
                <a:spcPct val="100000"/>
              </a:lnSpc>
              <a:spcBef>
                <a:spcPts val="1080"/>
              </a:spcBef>
              <a:buFont typeface="Segoe Print"/>
              <a:buChar char="-"/>
              <a:tabLst>
                <a:tab pos="430530" algn="l"/>
              </a:tabLst>
            </a:pPr>
            <a:r>
              <a:rPr sz="1800" b="1" dirty="0">
                <a:latin typeface="Segoe Print"/>
                <a:cs typeface="Segoe Print"/>
              </a:rPr>
              <a:t>Logistic</a:t>
            </a:r>
            <a:r>
              <a:rPr sz="1800" b="1" spc="-80" dirty="0"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Regression:</a:t>
            </a:r>
            <a:r>
              <a:rPr sz="1800" b="1" spc="-7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Discriminative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Classifier</a:t>
            </a:r>
            <a:endParaRPr sz="1800" dirty="0">
              <a:latin typeface="Segoe Print"/>
              <a:cs typeface="Segoe Print"/>
            </a:endParaRPr>
          </a:p>
          <a:p>
            <a:pPr marL="887730" lvl="1" indent="-342900">
              <a:lnSpc>
                <a:spcPct val="100000"/>
              </a:lnSpc>
              <a:spcBef>
                <a:spcPts val="1080"/>
              </a:spcBef>
              <a:buChar char="-"/>
              <a:tabLst>
                <a:tab pos="887730" algn="l"/>
              </a:tabLst>
            </a:pPr>
            <a:r>
              <a:rPr sz="1800" dirty="0">
                <a:latin typeface="Segoe Print"/>
                <a:cs typeface="Segoe Print"/>
              </a:rPr>
              <a:t>Estimate</a:t>
            </a:r>
            <a:r>
              <a:rPr sz="1800" spc="5" dirty="0">
                <a:latin typeface="Segoe Print"/>
                <a:cs typeface="Segoe Print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Print"/>
                <a:cs typeface="Segoe Print"/>
              </a:rPr>
              <a:t>P(y|x)</a:t>
            </a:r>
            <a:r>
              <a:rPr sz="1800" b="1" spc="-3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directly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from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0" dirty="0">
                <a:latin typeface="Segoe Print"/>
                <a:cs typeface="Segoe Print"/>
              </a:rPr>
              <a:t> data</a:t>
            </a:r>
            <a:endParaRPr sz="1800" dirty="0">
              <a:latin typeface="Segoe Print"/>
              <a:cs typeface="Segoe Print"/>
            </a:endParaRPr>
          </a:p>
          <a:p>
            <a:pPr marL="430530" indent="-342900">
              <a:lnSpc>
                <a:spcPct val="100000"/>
              </a:lnSpc>
              <a:spcBef>
                <a:spcPts val="2340"/>
              </a:spcBef>
              <a:buFont typeface="Segoe Print"/>
              <a:buChar char="-"/>
              <a:tabLst>
                <a:tab pos="430530" algn="l"/>
              </a:tabLst>
            </a:pPr>
            <a:r>
              <a:rPr sz="1800" b="1" dirty="0">
                <a:latin typeface="Segoe Print"/>
                <a:cs typeface="Segoe Print"/>
              </a:rPr>
              <a:t>‘Logistic</a:t>
            </a:r>
            <a:r>
              <a:rPr sz="1800" b="1" spc="-60" dirty="0"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regression’</a:t>
            </a:r>
            <a:r>
              <a:rPr sz="1800" b="1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algorithm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carry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out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classification.</a:t>
            </a:r>
            <a:endParaRPr sz="1800" dirty="0">
              <a:latin typeface="Segoe Print"/>
              <a:cs typeface="Segoe Print"/>
            </a:endParaRPr>
          </a:p>
          <a:p>
            <a:pPr marL="887730" lvl="1" indent="-342900">
              <a:lnSpc>
                <a:spcPct val="100000"/>
              </a:lnSpc>
              <a:spcBef>
                <a:spcPts val="1080"/>
              </a:spcBef>
              <a:buChar char="-"/>
              <a:tabLst>
                <a:tab pos="887730" algn="l"/>
              </a:tabLst>
            </a:pPr>
            <a:r>
              <a:rPr sz="1800" dirty="0">
                <a:latin typeface="Segoe Print"/>
                <a:cs typeface="Segoe Print"/>
              </a:rPr>
              <a:t>Name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misleading;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word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‘regression’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due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fact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that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method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attempts</a:t>
            </a:r>
            <a:endParaRPr sz="1800" dirty="0">
              <a:latin typeface="Segoe Print"/>
              <a:cs typeface="Segoe Print"/>
            </a:endParaRPr>
          </a:p>
          <a:p>
            <a:pPr marL="88773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fit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linear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model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feature</a:t>
            </a:r>
            <a:r>
              <a:rPr sz="1800" spc="-10" dirty="0">
                <a:latin typeface="Segoe Print"/>
                <a:cs typeface="Segoe Print"/>
              </a:rPr>
              <a:t> space.</a:t>
            </a:r>
            <a:endParaRPr sz="1800" dirty="0">
              <a:latin typeface="Segoe Print"/>
              <a:cs typeface="Segoe Print"/>
            </a:endParaRPr>
          </a:p>
          <a:p>
            <a:pPr marL="430530" indent="-342900">
              <a:lnSpc>
                <a:spcPct val="100000"/>
              </a:lnSpc>
              <a:spcBef>
                <a:spcPts val="1085"/>
              </a:spcBef>
              <a:buChar char="-"/>
              <a:tabLst>
                <a:tab pos="430530" algn="l"/>
              </a:tabLst>
            </a:pPr>
            <a:r>
              <a:rPr sz="1800" dirty="0">
                <a:latin typeface="Segoe Print"/>
                <a:cs typeface="Segoe Print"/>
              </a:rPr>
              <a:t>Instead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predicting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class,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compute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probability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instance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being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that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class.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275" y="5950458"/>
            <a:ext cx="4485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50" dirty="0">
                <a:latin typeface="Segoe Print"/>
                <a:cs typeface="Segoe Print"/>
              </a:rPr>
              <a:t>-</a:t>
            </a:r>
            <a:r>
              <a:rPr sz="1800" dirty="0">
                <a:latin typeface="Segoe Print"/>
                <a:cs typeface="Segoe Print"/>
              </a:rPr>
              <a:t>	A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simple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form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 neural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network.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08676" y="-11846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5514593"/>
            <a:ext cx="1828800" cy="228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27" y="5053584"/>
            <a:ext cx="6247638" cy="2285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2721" y="5516117"/>
            <a:ext cx="2279142" cy="227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6B80-A38C-487F-8D4C-0AD4758D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193D-4942-4077-A962-DC2464D3E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is used if the response variable is categorical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9F783B-9B00-4473-B45A-78B1A4B0B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362200"/>
            <a:ext cx="8991600" cy="190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438061-D987-45C0-824B-9C6579168543}"/>
              </a:ext>
            </a:extLst>
          </p:cNvPr>
          <p:cNvSpPr/>
          <p:nvPr/>
        </p:nvSpPr>
        <p:spPr>
          <a:xfrm>
            <a:off x="1143000" y="4203610"/>
            <a:ext cx="944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MSS10"/>
              </a:rPr>
              <a:t>It is a problem of classifying data points (described by one or more nominal or numerical predictors) into classes (a categorical response)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CE4292-EE6E-48EC-9AB1-C81358C80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4810039"/>
            <a:ext cx="6400800" cy="16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17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203" y="959104"/>
            <a:ext cx="11070590" cy="208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Model: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147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Consider</a:t>
            </a:r>
            <a:r>
              <a:rPr sz="1800" spc="-8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binary</a:t>
            </a:r>
            <a:r>
              <a:rPr sz="1800" spc="-7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classification</a:t>
            </a:r>
            <a:r>
              <a:rPr sz="1800" spc="-6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problem.</a:t>
            </a:r>
            <a:endParaRPr sz="180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have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20" dirty="0">
                <a:latin typeface="Segoe Print"/>
                <a:cs typeface="Segoe Print"/>
              </a:rPr>
              <a:t>multi-</a:t>
            </a:r>
            <a:r>
              <a:rPr sz="1800" dirty="0">
                <a:latin typeface="Segoe Print"/>
                <a:cs typeface="Segoe Print"/>
              </a:rPr>
              <a:t>dimensional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feature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space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(d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features).</a:t>
            </a:r>
            <a:endParaRPr sz="180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Features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can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categorical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(e.g.,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gender,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ethnicity)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or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continuous</a:t>
            </a:r>
            <a:r>
              <a:rPr sz="1800" spc="-7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(e.g.,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height,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temperature).</a:t>
            </a:r>
            <a:endParaRPr sz="180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Font typeface="Segoe Print"/>
              <a:buChar char="-"/>
              <a:tabLst>
                <a:tab pos="297815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Logistic</a:t>
            </a:r>
            <a:r>
              <a:rPr sz="1800" b="1" u="sng" spc="-75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regression</a:t>
            </a:r>
            <a:r>
              <a:rPr sz="1800" b="1" u="sng" spc="-65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model: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9336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4271" y="4514850"/>
            <a:ext cx="2034539" cy="29718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9863" y="3045714"/>
            <a:ext cx="6696709" cy="3416300"/>
            <a:chOff x="728472" y="2888742"/>
            <a:chExt cx="6696709" cy="3416300"/>
          </a:xfrm>
        </p:grpSpPr>
        <p:sp>
          <p:nvSpPr>
            <p:cNvPr id="6" name="object 6"/>
            <p:cNvSpPr/>
            <p:nvPr/>
          </p:nvSpPr>
          <p:spPr>
            <a:xfrm>
              <a:off x="739902" y="2910078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58" y="4346"/>
                  </a:lnTo>
                  <a:lnTo>
                    <a:pt x="175621" y="16876"/>
                  </a:lnTo>
                  <a:lnTo>
                    <a:pt x="133598" y="36829"/>
                  </a:lnTo>
                  <a:lnTo>
                    <a:pt x="95950" y="63443"/>
                  </a:lnTo>
                  <a:lnTo>
                    <a:pt x="63439" y="95955"/>
                  </a:lnTo>
                  <a:lnTo>
                    <a:pt x="36827" y="133603"/>
                  </a:lnTo>
                  <a:lnTo>
                    <a:pt x="16875" y="175626"/>
                  </a:lnTo>
                  <a:lnTo>
                    <a:pt x="4345" y="221262"/>
                  </a:lnTo>
                  <a:lnTo>
                    <a:pt x="0" y="269748"/>
                  </a:lnTo>
                  <a:lnTo>
                    <a:pt x="4345" y="318233"/>
                  </a:lnTo>
                  <a:lnTo>
                    <a:pt x="16875" y="363869"/>
                  </a:lnTo>
                  <a:lnTo>
                    <a:pt x="36827" y="405891"/>
                  </a:lnTo>
                  <a:lnTo>
                    <a:pt x="63439" y="443540"/>
                  </a:lnTo>
                  <a:lnTo>
                    <a:pt x="95950" y="476052"/>
                  </a:lnTo>
                  <a:lnTo>
                    <a:pt x="133598" y="502665"/>
                  </a:lnTo>
                  <a:lnTo>
                    <a:pt x="175621" y="522619"/>
                  </a:lnTo>
                  <a:lnTo>
                    <a:pt x="221258" y="535149"/>
                  </a:lnTo>
                  <a:lnTo>
                    <a:pt x="269748" y="539496"/>
                  </a:lnTo>
                  <a:lnTo>
                    <a:pt x="318237" y="535149"/>
                  </a:lnTo>
                  <a:lnTo>
                    <a:pt x="363874" y="522619"/>
                  </a:lnTo>
                  <a:lnTo>
                    <a:pt x="405897" y="502666"/>
                  </a:lnTo>
                  <a:lnTo>
                    <a:pt x="443545" y="476052"/>
                  </a:lnTo>
                  <a:lnTo>
                    <a:pt x="476056" y="443540"/>
                  </a:lnTo>
                  <a:lnTo>
                    <a:pt x="502668" y="405892"/>
                  </a:lnTo>
                  <a:lnTo>
                    <a:pt x="522620" y="363869"/>
                  </a:lnTo>
                  <a:lnTo>
                    <a:pt x="535150" y="318233"/>
                  </a:lnTo>
                  <a:lnTo>
                    <a:pt x="539496" y="269748"/>
                  </a:lnTo>
                  <a:lnTo>
                    <a:pt x="535150" y="221262"/>
                  </a:lnTo>
                  <a:lnTo>
                    <a:pt x="522620" y="175626"/>
                  </a:lnTo>
                  <a:lnTo>
                    <a:pt x="502668" y="133604"/>
                  </a:lnTo>
                  <a:lnTo>
                    <a:pt x="476056" y="95955"/>
                  </a:lnTo>
                  <a:lnTo>
                    <a:pt x="443545" y="63443"/>
                  </a:lnTo>
                  <a:lnTo>
                    <a:pt x="405897" y="36830"/>
                  </a:lnTo>
                  <a:lnTo>
                    <a:pt x="363874" y="16876"/>
                  </a:lnTo>
                  <a:lnTo>
                    <a:pt x="318237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3104388"/>
              <a:ext cx="76200" cy="1508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9902" y="3635502"/>
              <a:ext cx="539750" cy="540385"/>
            </a:xfrm>
            <a:custGeom>
              <a:avLst/>
              <a:gdLst/>
              <a:ahLst/>
              <a:cxnLst/>
              <a:rect l="l" t="t" r="r" b="b"/>
              <a:pathLst>
                <a:path w="539750" h="540385">
                  <a:moveTo>
                    <a:pt x="269748" y="0"/>
                  </a:moveTo>
                  <a:lnTo>
                    <a:pt x="221258" y="4350"/>
                  </a:lnTo>
                  <a:lnTo>
                    <a:pt x="175621" y="16895"/>
                  </a:lnTo>
                  <a:lnTo>
                    <a:pt x="133598" y="36872"/>
                  </a:lnTo>
                  <a:lnTo>
                    <a:pt x="95950" y="63518"/>
                  </a:lnTo>
                  <a:lnTo>
                    <a:pt x="63439" y="96073"/>
                  </a:lnTo>
                  <a:lnTo>
                    <a:pt x="36827" y="133773"/>
                  </a:lnTo>
                  <a:lnTo>
                    <a:pt x="16875" y="175857"/>
                  </a:lnTo>
                  <a:lnTo>
                    <a:pt x="4345" y="221563"/>
                  </a:lnTo>
                  <a:lnTo>
                    <a:pt x="0" y="270129"/>
                  </a:lnTo>
                  <a:lnTo>
                    <a:pt x="4345" y="318694"/>
                  </a:lnTo>
                  <a:lnTo>
                    <a:pt x="16875" y="364400"/>
                  </a:lnTo>
                  <a:lnTo>
                    <a:pt x="36827" y="406484"/>
                  </a:lnTo>
                  <a:lnTo>
                    <a:pt x="63439" y="444184"/>
                  </a:lnTo>
                  <a:lnTo>
                    <a:pt x="95950" y="476739"/>
                  </a:lnTo>
                  <a:lnTo>
                    <a:pt x="133598" y="503385"/>
                  </a:lnTo>
                  <a:lnTo>
                    <a:pt x="175621" y="523362"/>
                  </a:lnTo>
                  <a:lnTo>
                    <a:pt x="221258" y="535907"/>
                  </a:lnTo>
                  <a:lnTo>
                    <a:pt x="269748" y="540258"/>
                  </a:lnTo>
                  <a:lnTo>
                    <a:pt x="318237" y="535907"/>
                  </a:lnTo>
                  <a:lnTo>
                    <a:pt x="363874" y="523362"/>
                  </a:lnTo>
                  <a:lnTo>
                    <a:pt x="405897" y="503385"/>
                  </a:lnTo>
                  <a:lnTo>
                    <a:pt x="443545" y="476739"/>
                  </a:lnTo>
                  <a:lnTo>
                    <a:pt x="476056" y="444184"/>
                  </a:lnTo>
                  <a:lnTo>
                    <a:pt x="502668" y="406484"/>
                  </a:lnTo>
                  <a:lnTo>
                    <a:pt x="522620" y="364400"/>
                  </a:lnTo>
                  <a:lnTo>
                    <a:pt x="535150" y="318694"/>
                  </a:lnTo>
                  <a:lnTo>
                    <a:pt x="539496" y="270129"/>
                  </a:lnTo>
                  <a:lnTo>
                    <a:pt x="535150" y="221563"/>
                  </a:lnTo>
                  <a:lnTo>
                    <a:pt x="522620" y="175857"/>
                  </a:lnTo>
                  <a:lnTo>
                    <a:pt x="502668" y="133773"/>
                  </a:lnTo>
                  <a:lnTo>
                    <a:pt x="476056" y="96073"/>
                  </a:lnTo>
                  <a:lnTo>
                    <a:pt x="443545" y="63518"/>
                  </a:lnTo>
                  <a:lnTo>
                    <a:pt x="405897" y="36872"/>
                  </a:lnTo>
                  <a:lnTo>
                    <a:pt x="363874" y="16895"/>
                  </a:lnTo>
                  <a:lnTo>
                    <a:pt x="318237" y="4350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724" y="3803904"/>
              <a:ext cx="339852" cy="2042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9902" y="4394454"/>
              <a:ext cx="539750" cy="540385"/>
            </a:xfrm>
            <a:custGeom>
              <a:avLst/>
              <a:gdLst/>
              <a:ahLst/>
              <a:cxnLst/>
              <a:rect l="l" t="t" r="r" b="b"/>
              <a:pathLst>
                <a:path w="539750" h="540385">
                  <a:moveTo>
                    <a:pt x="269748" y="0"/>
                  </a:moveTo>
                  <a:lnTo>
                    <a:pt x="221258" y="4350"/>
                  </a:lnTo>
                  <a:lnTo>
                    <a:pt x="175621" y="16895"/>
                  </a:lnTo>
                  <a:lnTo>
                    <a:pt x="133598" y="36872"/>
                  </a:lnTo>
                  <a:lnTo>
                    <a:pt x="95950" y="63518"/>
                  </a:lnTo>
                  <a:lnTo>
                    <a:pt x="63439" y="96073"/>
                  </a:lnTo>
                  <a:lnTo>
                    <a:pt x="36827" y="133773"/>
                  </a:lnTo>
                  <a:lnTo>
                    <a:pt x="16875" y="175857"/>
                  </a:lnTo>
                  <a:lnTo>
                    <a:pt x="4345" y="221563"/>
                  </a:lnTo>
                  <a:lnTo>
                    <a:pt x="0" y="270129"/>
                  </a:lnTo>
                  <a:lnTo>
                    <a:pt x="4345" y="318694"/>
                  </a:lnTo>
                  <a:lnTo>
                    <a:pt x="16875" y="364400"/>
                  </a:lnTo>
                  <a:lnTo>
                    <a:pt x="36827" y="406484"/>
                  </a:lnTo>
                  <a:lnTo>
                    <a:pt x="63439" y="444184"/>
                  </a:lnTo>
                  <a:lnTo>
                    <a:pt x="95950" y="476739"/>
                  </a:lnTo>
                  <a:lnTo>
                    <a:pt x="133598" y="503385"/>
                  </a:lnTo>
                  <a:lnTo>
                    <a:pt x="175621" y="523362"/>
                  </a:lnTo>
                  <a:lnTo>
                    <a:pt x="221258" y="535907"/>
                  </a:lnTo>
                  <a:lnTo>
                    <a:pt x="269748" y="540258"/>
                  </a:lnTo>
                  <a:lnTo>
                    <a:pt x="318237" y="535907"/>
                  </a:lnTo>
                  <a:lnTo>
                    <a:pt x="363874" y="523362"/>
                  </a:lnTo>
                  <a:lnTo>
                    <a:pt x="405897" y="503385"/>
                  </a:lnTo>
                  <a:lnTo>
                    <a:pt x="443545" y="476739"/>
                  </a:lnTo>
                  <a:lnTo>
                    <a:pt x="476056" y="444184"/>
                  </a:lnTo>
                  <a:lnTo>
                    <a:pt x="502668" y="406484"/>
                  </a:lnTo>
                  <a:lnTo>
                    <a:pt x="522620" y="364400"/>
                  </a:lnTo>
                  <a:lnTo>
                    <a:pt x="535150" y="318694"/>
                  </a:lnTo>
                  <a:lnTo>
                    <a:pt x="539496" y="270129"/>
                  </a:lnTo>
                  <a:lnTo>
                    <a:pt x="535150" y="221563"/>
                  </a:lnTo>
                  <a:lnTo>
                    <a:pt x="522620" y="175857"/>
                  </a:lnTo>
                  <a:lnTo>
                    <a:pt x="502668" y="133773"/>
                  </a:lnTo>
                  <a:lnTo>
                    <a:pt x="476056" y="96073"/>
                  </a:lnTo>
                  <a:lnTo>
                    <a:pt x="443545" y="63518"/>
                  </a:lnTo>
                  <a:lnTo>
                    <a:pt x="405897" y="36872"/>
                  </a:lnTo>
                  <a:lnTo>
                    <a:pt x="363874" y="16895"/>
                  </a:lnTo>
                  <a:lnTo>
                    <a:pt x="318237" y="4350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724" y="4562856"/>
              <a:ext cx="339852" cy="20421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8472" y="5530596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7" y="0"/>
                  </a:moveTo>
                  <a:lnTo>
                    <a:pt x="221258" y="4345"/>
                  </a:lnTo>
                  <a:lnTo>
                    <a:pt x="175621" y="16875"/>
                  </a:lnTo>
                  <a:lnTo>
                    <a:pt x="133598" y="36827"/>
                  </a:lnTo>
                  <a:lnTo>
                    <a:pt x="95950" y="63439"/>
                  </a:lnTo>
                  <a:lnTo>
                    <a:pt x="63439" y="95950"/>
                  </a:lnTo>
                  <a:lnTo>
                    <a:pt x="36827" y="133598"/>
                  </a:lnTo>
                  <a:lnTo>
                    <a:pt x="16875" y="175621"/>
                  </a:lnTo>
                  <a:lnTo>
                    <a:pt x="4345" y="221258"/>
                  </a:lnTo>
                  <a:lnTo>
                    <a:pt x="0" y="269747"/>
                  </a:lnTo>
                  <a:lnTo>
                    <a:pt x="4345" y="318233"/>
                  </a:lnTo>
                  <a:lnTo>
                    <a:pt x="16875" y="363869"/>
                  </a:lnTo>
                  <a:lnTo>
                    <a:pt x="36827" y="405891"/>
                  </a:lnTo>
                  <a:lnTo>
                    <a:pt x="63439" y="443540"/>
                  </a:lnTo>
                  <a:lnTo>
                    <a:pt x="95950" y="476052"/>
                  </a:lnTo>
                  <a:lnTo>
                    <a:pt x="133598" y="502665"/>
                  </a:lnTo>
                  <a:lnTo>
                    <a:pt x="175621" y="522619"/>
                  </a:lnTo>
                  <a:lnTo>
                    <a:pt x="221258" y="535149"/>
                  </a:lnTo>
                  <a:lnTo>
                    <a:pt x="269747" y="539495"/>
                  </a:lnTo>
                  <a:lnTo>
                    <a:pt x="318237" y="535149"/>
                  </a:lnTo>
                  <a:lnTo>
                    <a:pt x="363874" y="522619"/>
                  </a:lnTo>
                  <a:lnTo>
                    <a:pt x="405897" y="502665"/>
                  </a:lnTo>
                  <a:lnTo>
                    <a:pt x="443545" y="476052"/>
                  </a:lnTo>
                  <a:lnTo>
                    <a:pt x="476056" y="443540"/>
                  </a:lnTo>
                  <a:lnTo>
                    <a:pt x="502668" y="405891"/>
                  </a:lnTo>
                  <a:lnTo>
                    <a:pt x="522620" y="363869"/>
                  </a:lnTo>
                  <a:lnTo>
                    <a:pt x="535150" y="318233"/>
                  </a:lnTo>
                  <a:lnTo>
                    <a:pt x="539496" y="269747"/>
                  </a:lnTo>
                  <a:lnTo>
                    <a:pt x="535150" y="221258"/>
                  </a:lnTo>
                  <a:lnTo>
                    <a:pt x="522620" y="175621"/>
                  </a:lnTo>
                  <a:lnTo>
                    <a:pt x="502668" y="133598"/>
                  </a:lnTo>
                  <a:lnTo>
                    <a:pt x="476056" y="95950"/>
                  </a:lnTo>
                  <a:lnTo>
                    <a:pt x="443545" y="63439"/>
                  </a:lnTo>
                  <a:lnTo>
                    <a:pt x="405897" y="36827"/>
                  </a:lnTo>
                  <a:lnTo>
                    <a:pt x="363874" y="16875"/>
                  </a:lnTo>
                  <a:lnTo>
                    <a:pt x="318237" y="4345"/>
                  </a:lnTo>
                  <a:lnTo>
                    <a:pt x="269747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294" y="5698236"/>
              <a:ext cx="344424" cy="2042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030730" y="2888742"/>
              <a:ext cx="672465" cy="540385"/>
            </a:xfrm>
            <a:custGeom>
              <a:avLst/>
              <a:gdLst/>
              <a:ahLst/>
              <a:cxnLst/>
              <a:rect l="l" t="t" r="r" b="b"/>
              <a:pathLst>
                <a:path w="672464" h="540385">
                  <a:moveTo>
                    <a:pt x="582040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582040" y="540258"/>
                  </a:lnTo>
                  <a:lnTo>
                    <a:pt x="617112" y="533189"/>
                  </a:lnTo>
                  <a:lnTo>
                    <a:pt x="645731" y="513905"/>
                  </a:lnTo>
                  <a:lnTo>
                    <a:pt x="665015" y="485286"/>
                  </a:lnTo>
                  <a:lnTo>
                    <a:pt x="672083" y="450215"/>
                  </a:lnTo>
                  <a:lnTo>
                    <a:pt x="672083" y="90043"/>
                  </a:lnTo>
                  <a:lnTo>
                    <a:pt x="665015" y="54971"/>
                  </a:lnTo>
                  <a:lnTo>
                    <a:pt x="645731" y="26352"/>
                  </a:lnTo>
                  <a:lnTo>
                    <a:pt x="617112" y="706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6188" y="3049524"/>
              <a:ext cx="201168" cy="21945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030730" y="3641598"/>
              <a:ext cx="672465" cy="540385"/>
            </a:xfrm>
            <a:custGeom>
              <a:avLst/>
              <a:gdLst/>
              <a:ahLst/>
              <a:cxnLst/>
              <a:rect l="l" t="t" r="r" b="b"/>
              <a:pathLst>
                <a:path w="672464" h="540385">
                  <a:moveTo>
                    <a:pt x="582040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4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7"/>
                  </a:lnTo>
                  <a:lnTo>
                    <a:pt x="582040" y="540257"/>
                  </a:lnTo>
                  <a:lnTo>
                    <a:pt x="617112" y="533189"/>
                  </a:lnTo>
                  <a:lnTo>
                    <a:pt x="645731" y="513905"/>
                  </a:lnTo>
                  <a:lnTo>
                    <a:pt x="665015" y="485286"/>
                  </a:lnTo>
                  <a:lnTo>
                    <a:pt x="672083" y="450214"/>
                  </a:lnTo>
                  <a:lnTo>
                    <a:pt x="672083" y="90043"/>
                  </a:lnTo>
                  <a:lnTo>
                    <a:pt x="665015" y="54971"/>
                  </a:lnTo>
                  <a:lnTo>
                    <a:pt x="645731" y="26352"/>
                  </a:lnTo>
                  <a:lnTo>
                    <a:pt x="617112" y="706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66188" y="3802380"/>
              <a:ext cx="193548" cy="21640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23872" y="4394454"/>
              <a:ext cx="672465" cy="540385"/>
            </a:xfrm>
            <a:custGeom>
              <a:avLst/>
              <a:gdLst/>
              <a:ahLst/>
              <a:cxnLst/>
              <a:rect l="l" t="t" r="r" b="b"/>
              <a:pathLst>
                <a:path w="672464" h="540385">
                  <a:moveTo>
                    <a:pt x="582040" y="0"/>
                  </a:moveTo>
                  <a:lnTo>
                    <a:pt x="90042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2" y="540258"/>
                  </a:lnTo>
                  <a:lnTo>
                    <a:pt x="582040" y="540258"/>
                  </a:lnTo>
                  <a:lnTo>
                    <a:pt x="617112" y="533189"/>
                  </a:lnTo>
                  <a:lnTo>
                    <a:pt x="645731" y="513905"/>
                  </a:lnTo>
                  <a:lnTo>
                    <a:pt x="665015" y="485286"/>
                  </a:lnTo>
                  <a:lnTo>
                    <a:pt x="672083" y="450215"/>
                  </a:lnTo>
                  <a:lnTo>
                    <a:pt x="672083" y="90043"/>
                  </a:lnTo>
                  <a:lnTo>
                    <a:pt x="665015" y="54971"/>
                  </a:lnTo>
                  <a:lnTo>
                    <a:pt x="645731" y="26352"/>
                  </a:lnTo>
                  <a:lnTo>
                    <a:pt x="617112" y="706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59330" y="4555236"/>
              <a:ext cx="199644" cy="21640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23872" y="5530596"/>
              <a:ext cx="672465" cy="539750"/>
            </a:xfrm>
            <a:custGeom>
              <a:avLst/>
              <a:gdLst/>
              <a:ahLst/>
              <a:cxnLst/>
              <a:rect l="l" t="t" r="r" b="b"/>
              <a:pathLst>
                <a:path w="672464" h="539750">
                  <a:moveTo>
                    <a:pt x="582167" y="0"/>
                  </a:moveTo>
                  <a:lnTo>
                    <a:pt x="89915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5"/>
                  </a:lnTo>
                  <a:lnTo>
                    <a:pt x="0" y="449579"/>
                  </a:lnTo>
                  <a:lnTo>
                    <a:pt x="7066" y="484578"/>
                  </a:lnTo>
                  <a:lnTo>
                    <a:pt x="26336" y="513159"/>
                  </a:lnTo>
                  <a:lnTo>
                    <a:pt x="54917" y="532429"/>
                  </a:lnTo>
                  <a:lnTo>
                    <a:pt x="89915" y="539495"/>
                  </a:lnTo>
                  <a:lnTo>
                    <a:pt x="582167" y="539495"/>
                  </a:lnTo>
                  <a:lnTo>
                    <a:pt x="617166" y="532429"/>
                  </a:lnTo>
                  <a:lnTo>
                    <a:pt x="645747" y="513159"/>
                  </a:lnTo>
                  <a:lnTo>
                    <a:pt x="665017" y="484578"/>
                  </a:lnTo>
                  <a:lnTo>
                    <a:pt x="672083" y="449579"/>
                  </a:lnTo>
                  <a:lnTo>
                    <a:pt x="672083" y="89915"/>
                  </a:lnTo>
                  <a:lnTo>
                    <a:pt x="665017" y="54917"/>
                  </a:lnTo>
                  <a:lnTo>
                    <a:pt x="645747" y="26336"/>
                  </a:lnTo>
                  <a:lnTo>
                    <a:pt x="617166" y="7066"/>
                  </a:lnTo>
                  <a:lnTo>
                    <a:pt x="58216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59330" y="5690616"/>
              <a:ext cx="211836" cy="21793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67968" y="3159252"/>
              <a:ext cx="762635" cy="2641600"/>
            </a:xfrm>
            <a:custGeom>
              <a:avLst/>
              <a:gdLst/>
              <a:ahLst/>
              <a:cxnLst/>
              <a:rect l="l" t="t" r="r" b="b"/>
              <a:pathLst>
                <a:path w="762635" h="2641600">
                  <a:moveTo>
                    <a:pt x="11429" y="0"/>
                  </a:moveTo>
                  <a:lnTo>
                    <a:pt x="762381" y="0"/>
                  </a:lnTo>
                </a:path>
                <a:path w="762635" h="2641600">
                  <a:moveTo>
                    <a:pt x="11429" y="746760"/>
                  </a:moveTo>
                  <a:lnTo>
                    <a:pt x="762381" y="752856"/>
                  </a:lnTo>
                </a:path>
                <a:path w="762635" h="2641600">
                  <a:moveTo>
                    <a:pt x="11429" y="1505712"/>
                  </a:moveTo>
                  <a:lnTo>
                    <a:pt x="755650" y="1505712"/>
                  </a:lnTo>
                </a:path>
                <a:path w="762635" h="2641600">
                  <a:moveTo>
                    <a:pt x="0" y="2641092"/>
                  </a:moveTo>
                  <a:lnTo>
                    <a:pt x="755523" y="264109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23716" y="3757422"/>
              <a:ext cx="1317625" cy="919480"/>
            </a:xfrm>
            <a:custGeom>
              <a:avLst/>
              <a:gdLst/>
              <a:ahLst/>
              <a:cxnLst/>
              <a:rect l="l" t="t" r="r" b="b"/>
              <a:pathLst>
                <a:path w="1317625" h="919479">
                  <a:moveTo>
                    <a:pt x="1317498" y="0"/>
                  </a:moveTo>
                  <a:lnTo>
                    <a:pt x="0" y="0"/>
                  </a:lnTo>
                  <a:lnTo>
                    <a:pt x="0" y="918971"/>
                  </a:lnTo>
                  <a:lnTo>
                    <a:pt x="1317498" y="918971"/>
                  </a:lnTo>
                  <a:lnTo>
                    <a:pt x="131749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57877" y="4078986"/>
              <a:ext cx="249174" cy="27584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684272" y="3148837"/>
              <a:ext cx="4740910" cy="2660015"/>
            </a:xfrm>
            <a:custGeom>
              <a:avLst/>
              <a:gdLst/>
              <a:ahLst/>
              <a:cxnLst/>
              <a:rect l="l" t="t" r="r" b="b"/>
              <a:pathLst>
                <a:path w="4740909" h="2660015">
                  <a:moveTo>
                    <a:pt x="1139190" y="1068324"/>
                  </a:moveTo>
                  <a:lnTo>
                    <a:pt x="1139063" y="1068070"/>
                  </a:lnTo>
                  <a:lnTo>
                    <a:pt x="1136497" y="1059307"/>
                  </a:lnTo>
                  <a:lnTo>
                    <a:pt x="1113142" y="979893"/>
                  </a:lnTo>
                  <a:lnTo>
                    <a:pt x="1113142" y="1079690"/>
                  </a:lnTo>
                  <a:lnTo>
                    <a:pt x="1111580" y="1075753"/>
                  </a:lnTo>
                  <a:lnTo>
                    <a:pt x="1113142" y="1079690"/>
                  </a:lnTo>
                  <a:lnTo>
                    <a:pt x="1113142" y="979893"/>
                  </a:lnTo>
                  <a:lnTo>
                    <a:pt x="1104265" y="949706"/>
                  </a:lnTo>
                  <a:lnTo>
                    <a:pt x="1102017" y="942213"/>
                  </a:lnTo>
                  <a:lnTo>
                    <a:pt x="1102207" y="942213"/>
                  </a:lnTo>
                  <a:lnTo>
                    <a:pt x="1094105" y="937768"/>
                  </a:lnTo>
                  <a:lnTo>
                    <a:pt x="1086485" y="940054"/>
                  </a:lnTo>
                  <a:lnTo>
                    <a:pt x="1078992" y="942213"/>
                  </a:lnTo>
                  <a:lnTo>
                    <a:pt x="1074674" y="950214"/>
                  </a:lnTo>
                  <a:lnTo>
                    <a:pt x="1076833" y="957707"/>
                  </a:lnTo>
                  <a:lnTo>
                    <a:pt x="1089977" y="1002347"/>
                  </a:lnTo>
                  <a:lnTo>
                    <a:pt x="28321" y="0"/>
                  </a:lnTo>
                  <a:lnTo>
                    <a:pt x="8763" y="20828"/>
                  </a:lnTo>
                  <a:lnTo>
                    <a:pt x="1028547" y="983640"/>
                  </a:lnTo>
                  <a:lnTo>
                    <a:pt x="1026668" y="985520"/>
                  </a:lnTo>
                  <a:lnTo>
                    <a:pt x="1026541" y="994537"/>
                  </a:lnTo>
                  <a:lnTo>
                    <a:pt x="1032129" y="1000125"/>
                  </a:lnTo>
                  <a:lnTo>
                    <a:pt x="1050036" y="1018387"/>
                  </a:lnTo>
                  <a:lnTo>
                    <a:pt x="1017397" y="1010793"/>
                  </a:lnTo>
                  <a:lnTo>
                    <a:pt x="1009777" y="1015492"/>
                  </a:lnTo>
                  <a:lnTo>
                    <a:pt x="1009154" y="1018159"/>
                  </a:lnTo>
                  <a:lnTo>
                    <a:pt x="22352" y="749427"/>
                  </a:lnTo>
                  <a:lnTo>
                    <a:pt x="14732" y="777113"/>
                  </a:lnTo>
                  <a:lnTo>
                    <a:pt x="1014628" y="1049261"/>
                  </a:lnTo>
                  <a:lnTo>
                    <a:pt x="1008888" y="1048385"/>
                  </a:lnTo>
                  <a:lnTo>
                    <a:pt x="1001522" y="1053719"/>
                  </a:lnTo>
                  <a:lnTo>
                    <a:pt x="999236" y="1069340"/>
                  </a:lnTo>
                  <a:lnTo>
                    <a:pt x="1004023" y="1075956"/>
                  </a:lnTo>
                  <a:lnTo>
                    <a:pt x="1000125" y="1082675"/>
                  </a:lnTo>
                  <a:lnTo>
                    <a:pt x="1004189" y="1097915"/>
                  </a:lnTo>
                  <a:lnTo>
                    <a:pt x="1012063" y="1102487"/>
                  </a:lnTo>
                  <a:lnTo>
                    <a:pt x="1017308" y="1101077"/>
                  </a:lnTo>
                  <a:lnTo>
                    <a:pt x="6350" y="1502664"/>
                  </a:lnTo>
                  <a:lnTo>
                    <a:pt x="17018" y="1529207"/>
                  </a:lnTo>
                  <a:lnTo>
                    <a:pt x="1016520" y="1132141"/>
                  </a:lnTo>
                  <a:lnTo>
                    <a:pt x="1019048" y="1137793"/>
                  </a:lnTo>
                  <a:lnTo>
                    <a:pt x="1022350" y="1145032"/>
                  </a:lnTo>
                  <a:lnTo>
                    <a:pt x="1030732" y="1148207"/>
                  </a:lnTo>
                  <a:lnTo>
                    <a:pt x="1037971" y="1145032"/>
                  </a:lnTo>
                  <a:lnTo>
                    <a:pt x="1044879" y="1141907"/>
                  </a:lnTo>
                  <a:lnTo>
                    <a:pt x="1040257" y="1147826"/>
                  </a:lnTo>
                  <a:lnTo>
                    <a:pt x="1035304" y="1154049"/>
                  </a:lnTo>
                  <a:lnTo>
                    <a:pt x="1036447" y="1163066"/>
                  </a:lnTo>
                  <a:lnTo>
                    <a:pt x="1047572" y="1171702"/>
                  </a:lnTo>
                  <a:lnTo>
                    <a:pt x="0" y="2643174"/>
                  </a:lnTo>
                  <a:lnTo>
                    <a:pt x="23368" y="2659748"/>
                  </a:lnTo>
                  <a:lnTo>
                    <a:pt x="1103515" y="1142593"/>
                  </a:lnTo>
                  <a:lnTo>
                    <a:pt x="1099312" y="1188720"/>
                  </a:lnTo>
                  <a:lnTo>
                    <a:pt x="1098550" y="1196467"/>
                  </a:lnTo>
                  <a:lnTo>
                    <a:pt x="1104392" y="1203452"/>
                  </a:lnTo>
                  <a:lnTo>
                    <a:pt x="1112266" y="1204214"/>
                  </a:lnTo>
                  <a:lnTo>
                    <a:pt x="1120140" y="1204849"/>
                  </a:lnTo>
                  <a:lnTo>
                    <a:pt x="1127125" y="1199134"/>
                  </a:lnTo>
                  <a:lnTo>
                    <a:pt x="1127760" y="1191260"/>
                  </a:lnTo>
                  <a:lnTo>
                    <a:pt x="1137589" y="1082802"/>
                  </a:lnTo>
                  <a:lnTo>
                    <a:pt x="1138897" y="1068412"/>
                  </a:lnTo>
                  <a:lnTo>
                    <a:pt x="1139190" y="1068451"/>
                  </a:lnTo>
                  <a:lnTo>
                    <a:pt x="1139190" y="1068324"/>
                  </a:lnTo>
                  <a:close/>
                </a:path>
                <a:path w="4740909" h="2660015">
                  <a:moveTo>
                    <a:pt x="4740656" y="1057402"/>
                  </a:moveTo>
                  <a:lnTo>
                    <a:pt x="4716246" y="1043305"/>
                  </a:lnTo>
                  <a:lnTo>
                    <a:pt x="4626737" y="991616"/>
                  </a:lnTo>
                  <a:lnTo>
                    <a:pt x="4617974" y="993902"/>
                  </a:lnTo>
                  <a:lnTo>
                    <a:pt x="4610100" y="1007618"/>
                  </a:lnTo>
                  <a:lnTo>
                    <a:pt x="4612386" y="1016381"/>
                  </a:lnTo>
                  <a:lnTo>
                    <a:pt x="4659541" y="1043546"/>
                  </a:lnTo>
                  <a:lnTo>
                    <a:pt x="2456815" y="1053592"/>
                  </a:lnTo>
                  <a:lnTo>
                    <a:pt x="2456840" y="1057402"/>
                  </a:lnTo>
                  <a:lnTo>
                    <a:pt x="2456954" y="1069848"/>
                  </a:lnTo>
                  <a:lnTo>
                    <a:pt x="2457069" y="1082167"/>
                  </a:lnTo>
                  <a:lnTo>
                    <a:pt x="4659465" y="1072134"/>
                  </a:lnTo>
                  <a:lnTo>
                    <a:pt x="4612767" y="1099693"/>
                  </a:lnTo>
                  <a:lnTo>
                    <a:pt x="4610608" y="1108329"/>
                  </a:lnTo>
                  <a:lnTo>
                    <a:pt x="4614545" y="1115187"/>
                  </a:lnTo>
                  <a:lnTo>
                    <a:pt x="4618609" y="1122045"/>
                  </a:lnTo>
                  <a:lnTo>
                    <a:pt x="4627372" y="1124204"/>
                  </a:lnTo>
                  <a:lnTo>
                    <a:pt x="4740656" y="10574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89760" y="6019800"/>
              <a:ext cx="3999738" cy="284988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82217" y="5170170"/>
            <a:ext cx="27431" cy="23012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95905" y="5164835"/>
            <a:ext cx="27431" cy="23012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46241" y="5010150"/>
            <a:ext cx="938784" cy="217931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126228" y="5377179"/>
            <a:ext cx="25863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C00000"/>
                </a:solidFill>
                <a:latin typeface="Segoe Print"/>
                <a:cs typeface="Segoe Print"/>
              </a:rPr>
              <a:t>Real-</a:t>
            </a: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valued</a:t>
            </a:r>
            <a:r>
              <a:rPr sz="1600" b="1" spc="-5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output</a:t>
            </a:r>
            <a:r>
              <a:rPr sz="1600" b="1" spc="-2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Segoe Print"/>
                <a:cs typeface="Segoe Print"/>
              </a:rPr>
              <a:t>here!</a:t>
            </a:r>
            <a:endParaRPr sz="1600">
              <a:latin typeface="Segoe Print"/>
              <a:cs typeface="Segoe Prin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687056" y="3837432"/>
            <a:ext cx="2474213" cy="75895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235705" y="6271514"/>
            <a:ext cx="1609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AF50"/>
                </a:solidFill>
                <a:latin typeface="Segoe Print"/>
                <a:cs typeface="Segoe Print"/>
              </a:rPr>
              <a:t>Regression</a:t>
            </a:r>
            <a:endParaRPr sz="24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477" y="-106647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1317" y="4514850"/>
            <a:ext cx="2033778" cy="29718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21232" y="2999104"/>
            <a:ext cx="8980423" cy="3181604"/>
            <a:chOff x="728472" y="2888742"/>
            <a:chExt cx="8980423" cy="3181604"/>
          </a:xfrm>
        </p:grpSpPr>
        <p:sp>
          <p:nvSpPr>
            <p:cNvPr id="5" name="object 5"/>
            <p:cNvSpPr/>
            <p:nvPr/>
          </p:nvSpPr>
          <p:spPr>
            <a:xfrm>
              <a:off x="739902" y="2910078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58" y="4346"/>
                  </a:lnTo>
                  <a:lnTo>
                    <a:pt x="175621" y="16876"/>
                  </a:lnTo>
                  <a:lnTo>
                    <a:pt x="133598" y="36829"/>
                  </a:lnTo>
                  <a:lnTo>
                    <a:pt x="95950" y="63443"/>
                  </a:lnTo>
                  <a:lnTo>
                    <a:pt x="63439" y="95955"/>
                  </a:lnTo>
                  <a:lnTo>
                    <a:pt x="36827" y="133603"/>
                  </a:lnTo>
                  <a:lnTo>
                    <a:pt x="16875" y="175626"/>
                  </a:lnTo>
                  <a:lnTo>
                    <a:pt x="4345" y="221262"/>
                  </a:lnTo>
                  <a:lnTo>
                    <a:pt x="0" y="269748"/>
                  </a:lnTo>
                  <a:lnTo>
                    <a:pt x="4345" y="318233"/>
                  </a:lnTo>
                  <a:lnTo>
                    <a:pt x="16875" y="363869"/>
                  </a:lnTo>
                  <a:lnTo>
                    <a:pt x="36827" y="405891"/>
                  </a:lnTo>
                  <a:lnTo>
                    <a:pt x="63439" y="443540"/>
                  </a:lnTo>
                  <a:lnTo>
                    <a:pt x="95950" y="476052"/>
                  </a:lnTo>
                  <a:lnTo>
                    <a:pt x="133598" y="502665"/>
                  </a:lnTo>
                  <a:lnTo>
                    <a:pt x="175621" y="522619"/>
                  </a:lnTo>
                  <a:lnTo>
                    <a:pt x="221258" y="535149"/>
                  </a:lnTo>
                  <a:lnTo>
                    <a:pt x="269748" y="539496"/>
                  </a:lnTo>
                  <a:lnTo>
                    <a:pt x="318237" y="535149"/>
                  </a:lnTo>
                  <a:lnTo>
                    <a:pt x="363874" y="522619"/>
                  </a:lnTo>
                  <a:lnTo>
                    <a:pt x="405897" y="502666"/>
                  </a:lnTo>
                  <a:lnTo>
                    <a:pt x="443545" y="476052"/>
                  </a:lnTo>
                  <a:lnTo>
                    <a:pt x="476056" y="443540"/>
                  </a:lnTo>
                  <a:lnTo>
                    <a:pt x="502668" y="405892"/>
                  </a:lnTo>
                  <a:lnTo>
                    <a:pt x="522620" y="363869"/>
                  </a:lnTo>
                  <a:lnTo>
                    <a:pt x="535150" y="318233"/>
                  </a:lnTo>
                  <a:lnTo>
                    <a:pt x="539496" y="269748"/>
                  </a:lnTo>
                  <a:lnTo>
                    <a:pt x="535150" y="221262"/>
                  </a:lnTo>
                  <a:lnTo>
                    <a:pt x="522620" y="175626"/>
                  </a:lnTo>
                  <a:lnTo>
                    <a:pt x="502668" y="133604"/>
                  </a:lnTo>
                  <a:lnTo>
                    <a:pt x="476056" y="95955"/>
                  </a:lnTo>
                  <a:lnTo>
                    <a:pt x="443545" y="63443"/>
                  </a:lnTo>
                  <a:lnTo>
                    <a:pt x="405897" y="36830"/>
                  </a:lnTo>
                  <a:lnTo>
                    <a:pt x="363874" y="16876"/>
                  </a:lnTo>
                  <a:lnTo>
                    <a:pt x="318237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3104388"/>
              <a:ext cx="76200" cy="1508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39902" y="3635502"/>
              <a:ext cx="539750" cy="540385"/>
            </a:xfrm>
            <a:custGeom>
              <a:avLst/>
              <a:gdLst/>
              <a:ahLst/>
              <a:cxnLst/>
              <a:rect l="l" t="t" r="r" b="b"/>
              <a:pathLst>
                <a:path w="539750" h="540385">
                  <a:moveTo>
                    <a:pt x="269748" y="0"/>
                  </a:moveTo>
                  <a:lnTo>
                    <a:pt x="221258" y="4350"/>
                  </a:lnTo>
                  <a:lnTo>
                    <a:pt x="175621" y="16895"/>
                  </a:lnTo>
                  <a:lnTo>
                    <a:pt x="133598" y="36872"/>
                  </a:lnTo>
                  <a:lnTo>
                    <a:pt x="95950" y="63518"/>
                  </a:lnTo>
                  <a:lnTo>
                    <a:pt x="63439" y="96073"/>
                  </a:lnTo>
                  <a:lnTo>
                    <a:pt x="36827" y="133773"/>
                  </a:lnTo>
                  <a:lnTo>
                    <a:pt x="16875" y="175857"/>
                  </a:lnTo>
                  <a:lnTo>
                    <a:pt x="4345" y="221563"/>
                  </a:lnTo>
                  <a:lnTo>
                    <a:pt x="0" y="270129"/>
                  </a:lnTo>
                  <a:lnTo>
                    <a:pt x="4345" y="318694"/>
                  </a:lnTo>
                  <a:lnTo>
                    <a:pt x="16875" y="364400"/>
                  </a:lnTo>
                  <a:lnTo>
                    <a:pt x="36827" y="406484"/>
                  </a:lnTo>
                  <a:lnTo>
                    <a:pt x="63439" y="444184"/>
                  </a:lnTo>
                  <a:lnTo>
                    <a:pt x="95950" y="476739"/>
                  </a:lnTo>
                  <a:lnTo>
                    <a:pt x="133598" y="503385"/>
                  </a:lnTo>
                  <a:lnTo>
                    <a:pt x="175621" y="523362"/>
                  </a:lnTo>
                  <a:lnTo>
                    <a:pt x="221258" y="535907"/>
                  </a:lnTo>
                  <a:lnTo>
                    <a:pt x="269748" y="540258"/>
                  </a:lnTo>
                  <a:lnTo>
                    <a:pt x="318237" y="535907"/>
                  </a:lnTo>
                  <a:lnTo>
                    <a:pt x="363874" y="523362"/>
                  </a:lnTo>
                  <a:lnTo>
                    <a:pt x="405897" y="503385"/>
                  </a:lnTo>
                  <a:lnTo>
                    <a:pt x="443545" y="476739"/>
                  </a:lnTo>
                  <a:lnTo>
                    <a:pt x="476056" y="444184"/>
                  </a:lnTo>
                  <a:lnTo>
                    <a:pt x="502668" y="406484"/>
                  </a:lnTo>
                  <a:lnTo>
                    <a:pt x="522620" y="364400"/>
                  </a:lnTo>
                  <a:lnTo>
                    <a:pt x="535150" y="318694"/>
                  </a:lnTo>
                  <a:lnTo>
                    <a:pt x="539496" y="270129"/>
                  </a:lnTo>
                  <a:lnTo>
                    <a:pt x="535150" y="221563"/>
                  </a:lnTo>
                  <a:lnTo>
                    <a:pt x="522620" y="175857"/>
                  </a:lnTo>
                  <a:lnTo>
                    <a:pt x="502668" y="133773"/>
                  </a:lnTo>
                  <a:lnTo>
                    <a:pt x="476056" y="96073"/>
                  </a:lnTo>
                  <a:lnTo>
                    <a:pt x="443545" y="63518"/>
                  </a:lnTo>
                  <a:lnTo>
                    <a:pt x="405897" y="36872"/>
                  </a:lnTo>
                  <a:lnTo>
                    <a:pt x="363874" y="16895"/>
                  </a:lnTo>
                  <a:lnTo>
                    <a:pt x="318237" y="4350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724" y="3803904"/>
              <a:ext cx="339852" cy="2042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9902" y="4394454"/>
              <a:ext cx="539750" cy="540385"/>
            </a:xfrm>
            <a:custGeom>
              <a:avLst/>
              <a:gdLst/>
              <a:ahLst/>
              <a:cxnLst/>
              <a:rect l="l" t="t" r="r" b="b"/>
              <a:pathLst>
                <a:path w="539750" h="540385">
                  <a:moveTo>
                    <a:pt x="269748" y="0"/>
                  </a:moveTo>
                  <a:lnTo>
                    <a:pt x="221258" y="4350"/>
                  </a:lnTo>
                  <a:lnTo>
                    <a:pt x="175621" y="16895"/>
                  </a:lnTo>
                  <a:lnTo>
                    <a:pt x="133598" y="36872"/>
                  </a:lnTo>
                  <a:lnTo>
                    <a:pt x="95950" y="63518"/>
                  </a:lnTo>
                  <a:lnTo>
                    <a:pt x="63439" y="96073"/>
                  </a:lnTo>
                  <a:lnTo>
                    <a:pt x="36827" y="133773"/>
                  </a:lnTo>
                  <a:lnTo>
                    <a:pt x="16875" y="175857"/>
                  </a:lnTo>
                  <a:lnTo>
                    <a:pt x="4345" y="221563"/>
                  </a:lnTo>
                  <a:lnTo>
                    <a:pt x="0" y="270129"/>
                  </a:lnTo>
                  <a:lnTo>
                    <a:pt x="4345" y="318694"/>
                  </a:lnTo>
                  <a:lnTo>
                    <a:pt x="16875" y="364400"/>
                  </a:lnTo>
                  <a:lnTo>
                    <a:pt x="36827" y="406484"/>
                  </a:lnTo>
                  <a:lnTo>
                    <a:pt x="63439" y="444184"/>
                  </a:lnTo>
                  <a:lnTo>
                    <a:pt x="95950" y="476739"/>
                  </a:lnTo>
                  <a:lnTo>
                    <a:pt x="133598" y="503385"/>
                  </a:lnTo>
                  <a:lnTo>
                    <a:pt x="175621" y="523362"/>
                  </a:lnTo>
                  <a:lnTo>
                    <a:pt x="221258" y="535907"/>
                  </a:lnTo>
                  <a:lnTo>
                    <a:pt x="269748" y="540258"/>
                  </a:lnTo>
                  <a:lnTo>
                    <a:pt x="318237" y="535907"/>
                  </a:lnTo>
                  <a:lnTo>
                    <a:pt x="363874" y="523362"/>
                  </a:lnTo>
                  <a:lnTo>
                    <a:pt x="405897" y="503385"/>
                  </a:lnTo>
                  <a:lnTo>
                    <a:pt x="443545" y="476739"/>
                  </a:lnTo>
                  <a:lnTo>
                    <a:pt x="476056" y="444184"/>
                  </a:lnTo>
                  <a:lnTo>
                    <a:pt x="502668" y="406484"/>
                  </a:lnTo>
                  <a:lnTo>
                    <a:pt x="522620" y="364400"/>
                  </a:lnTo>
                  <a:lnTo>
                    <a:pt x="535150" y="318694"/>
                  </a:lnTo>
                  <a:lnTo>
                    <a:pt x="539496" y="270129"/>
                  </a:lnTo>
                  <a:lnTo>
                    <a:pt x="535150" y="221563"/>
                  </a:lnTo>
                  <a:lnTo>
                    <a:pt x="522620" y="175857"/>
                  </a:lnTo>
                  <a:lnTo>
                    <a:pt x="502668" y="133773"/>
                  </a:lnTo>
                  <a:lnTo>
                    <a:pt x="476056" y="96073"/>
                  </a:lnTo>
                  <a:lnTo>
                    <a:pt x="443545" y="63518"/>
                  </a:lnTo>
                  <a:lnTo>
                    <a:pt x="405897" y="36872"/>
                  </a:lnTo>
                  <a:lnTo>
                    <a:pt x="363874" y="16895"/>
                  </a:lnTo>
                  <a:lnTo>
                    <a:pt x="318237" y="4350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724" y="4562856"/>
              <a:ext cx="339852" cy="2042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28472" y="5530596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7" y="0"/>
                  </a:moveTo>
                  <a:lnTo>
                    <a:pt x="221258" y="4345"/>
                  </a:lnTo>
                  <a:lnTo>
                    <a:pt x="175621" y="16875"/>
                  </a:lnTo>
                  <a:lnTo>
                    <a:pt x="133598" y="36827"/>
                  </a:lnTo>
                  <a:lnTo>
                    <a:pt x="95950" y="63439"/>
                  </a:lnTo>
                  <a:lnTo>
                    <a:pt x="63439" y="95950"/>
                  </a:lnTo>
                  <a:lnTo>
                    <a:pt x="36827" y="133598"/>
                  </a:lnTo>
                  <a:lnTo>
                    <a:pt x="16875" y="175621"/>
                  </a:lnTo>
                  <a:lnTo>
                    <a:pt x="4345" y="221258"/>
                  </a:lnTo>
                  <a:lnTo>
                    <a:pt x="0" y="269747"/>
                  </a:lnTo>
                  <a:lnTo>
                    <a:pt x="4345" y="318233"/>
                  </a:lnTo>
                  <a:lnTo>
                    <a:pt x="16875" y="363869"/>
                  </a:lnTo>
                  <a:lnTo>
                    <a:pt x="36827" y="405891"/>
                  </a:lnTo>
                  <a:lnTo>
                    <a:pt x="63439" y="443540"/>
                  </a:lnTo>
                  <a:lnTo>
                    <a:pt x="95950" y="476052"/>
                  </a:lnTo>
                  <a:lnTo>
                    <a:pt x="133598" y="502665"/>
                  </a:lnTo>
                  <a:lnTo>
                    <a:pt x="175621" y="522619"/>
                  </a:lnTo>
                  <a:lnTo>
                    <a:pt x="221258" y="535149"/>
                  </a:lnTo>
                  <a:lnTo>
                    <a:pt x="269747" y="539495"/>
                  </a:lnTo>
                  <a:lnTo>
                    <a:pt x="318237" y="535149"/>
                  </a:lnTo>
                  <a:lnTo>
                    <a:pt x="363874" y="522619"/>
                  </a:lnTo>
                  <a:lnTo>
                    <a:pt x="405897" y="502665"/>
                  </a:lnTo>
                  <a:lnTo>
                    <a:pt x="443545" y="476052"/>
                  </a:lnTo>
                  <a:lnTo>
                    <a:pt x="476056" y="443540"/>
                  </a:lnTo>
                  <a:lnTo>
                    <a:pt x="502668" y="405891"/>
                  </a:lnTo>
                  <a:lnTo>
                    <a:pt x="522620" y="363869"/>
                  </a:lnTo>
                  <a:lnTo>
                    <a:pt x="535150" y="318233"/>
                  </a:lnTo>
                  <a:lnTo>
                    <a:pt x="539496" y="269747"/>
                  </a:lnTo>
                  <a:lnTo>
                    <a:pt x="535150" y="221258"/>
                  </a:lnTo>
                  <a:lnTo>
                    <a:pt x="522620" y="175621"/>
                  </a:lnTo>
                  <a:lnTo>
                    <a:pt x="502668" y="133598"/>
                  </a:lnTo>
                  <a:lnTo>
                    <a:pt x="476056" y="95950"/>
                  </a:lnTo>
                  <a:lnTo>
                    <a:pt x="443545" y="63439"/>
                  </a:lnTo>
                  <a:lnTo>
                    <a:pt x="405897" y="36827"/>
                  </a:lnTo>
                  <a:lnTo>
                    <a:pt x="363874" y="16875"/>
                  </a:lnTo>
                  <a:lnTo>
                    <a:pt x="318237" y="4345"/>
                  </a:lnTo>
                  <a:lnTo>
                    <a:pt x="269747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294" y="5698236"/>
              <a:ext cx="344424" cy="2042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30730" y="2888742"/>
              <a:ext cx="672465" cy="540385"/>
            </a:xfrm>
            <a:custGeom>
              <a:avLst/>
              <a:gdLst/>
              <a:ahLst/>
              <a:cxnLst/>
              <a:rect l="l" t="t" r="r" b="b"/>
              <a:pathLst>
                <a:path w="672464" h="540385">
                  <a:moveTo>
                    <a:pt x="582040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582040" y="540258"/>
                  </a:lnTo>
                  <a:lnTo>
                    <a:pt x="617112" y="533189"/>
                  </a:lnTo>
                  <a:lnTo>
                    <a:pt x="645731" y="513905"/>
                  </a:lnTo>
                  <a:lnTo>
                    <a:pt x="665015" y="485286"/>
                  </a:lnTo>
                  <a:lnTo>
                    <a:pt x="672083" y="450215"/>
                  </a:lnTo>
                  <a:lnTo>
                    <a:pt x="672083" y="90043"/>
                  </a:lnTo>
                  <a:lnTo>
                    <a:pt x="665015" y="54971"/>
                  </a:lnTo>
                  <a:lnTo>
                    <a:pt x="645731" y="26352"/>
                  </a:lnTo>
                  <a:lnTo>
                    <a:pt x="617112" y="706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6188" y="3049524"/>
              <a:ext cx="201168" cy="21945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030730" y="3641598"/>
              <a:ext cx="672465" cy="540385"/>
            </a:xfrm>
            <a:custGeom>
              <a:avLst/>
              <a:gdLst/>
              <a:ahLst/>
              <a:cxnLst/>
              <a:rect l="l" t="t" r="r" b="b"/>
              <a:pathLst>
                <a:path w="672464" h="540385">
                  <a:moveTo>
                    <a:pt x="582040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4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7"/>
                  </a:lnTo>
                  <a:lnTo>
                    <a:pt x="582040" y="540257"/>
                  </a:lnTo>
                  <a:lnTo>
                    <a:pt x="617112" y="533189"/>
                  </a:lnTo>
                  <a:lnTo>
                    <a:pt x="645731" y="513905"/>
                  </a:lnTo>
                  <a:lnTo>
                    <a:pt x="665015" y="485286"/>
                  </a:lnTo>
                  <a:lnTo>
                    <a:pt x="672083" y="450214"/>
                  </a:lnTo>
                  <a:lnTo>
                    <a:pt x="672083" y="90043"/>
                  </a:lnTo>
                  <a:lnTo>
                    <a:pt x="665015" y="54971"/>
                  </a:lnTo>
                  <a:lnTo>
                    <a:pt x="645731" y="26352"/>
                  </a:lnTo>
                  <a:lnTo>
                    <a:pt x="617112" y="706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66188" y="3802380"/>
              <a:ext cx="193548" cy="21640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23872" y="4394454"/>
              <a:ext cx="672465" cy="540385"/>
            </a:xfrm>
            <a:custGeom>
              <a:avLst/>
              <a:gdLst/>
              <a:ahLst/>
              <a:cxnLst/>
              <a:rect l="l" t="t" r="r" b="b"/>
              <a:pathLst>
                <a:path w="672464" h="540385">
                  <a:moveTo>
                    <a:pt x="582040" y="0"/>
                  </a:moveTo>
                  <a:lnTo>
                    <a:pt x="90042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2" y="540258"/>
                  </a:lnTo>
                  <a:lnTo>
                    <a:pt x="582040" y="540258"/>
                  </a:lnTo>
                  <a:lnTo>
                    <a:pt x="617112" y="533189"/>
                  </a:lnTo>
                  <a:lnTo>
                    <a:pt x="645731" y="513905"/>
                  </a:lnTo>
                  <a:lnTo>
                    <a:pt x="665015" y="485286"/>
                  </a:lnTo>
                  <a:lnTo>
                    <a:pt x="672083" y="450215"/>
                  </a:lnTo>
                  <a:lnTo>
                    <a:pt x="672083" y="90043"/>
                  </a:lnTo>
                  <a:lnTo>
                    <a:pt x="665015" y="54971"/>
                  </a:lnTo>
                  <a:lnTo>
                    <a:pt x="645731" y="26352"/>
                  </a:lnTo>
                  <a:lnTo>
                    <a:pt x="617112" y="706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59330" y="4555236"/>
              <a:ext cx="199644" cy="21640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023872" y="5530596"/>
              <a:ext cx="672465" cy="539750"/>
            </a:xfrm>
            <a:custGeom>
              <a:avLst/>
              <a:gdLst/>
              <a:ahLst/>
              <a:cxnLst/>
              <a:rect l="l" t="t" r="r" b="b"/>
              <a:pathLst>
                <a:path w="672464" h="539750">
                  <a:moveTo>
                    <a:pt x="582167" y="0"/>
                  </a:moveTo>
                  <a:lnTo>
                    <a:pt x="89915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5"/>
                  </a:lnTo>
                  <a:lnTo>
                    <a:pt x="0" y="449579"/>
                  </a:lnTo>
                  <a:lnTo>
                    <a:pt x="7066" y="484578"/>
                  </a:lnTo>
                  <a:lnTo>
                    <a:pt x="26336" y="513159"/>
                  </a:lnTo>
                  <a:lnTo>
                    <a:pt x="54917" y="532429"/>
                  </a:lnTo>
                  <a:lnTo>
                    <a:pt x="89915" y="539495"/>
                  </a:lnTo>
                  <a:lnTo>
                    <a:pt x="582167" y="539495"/>
                  </a:lnTo>
                  <a:lnTo>
                    <a:pt x="617166" y="532429"/>
                  </a:lnTo>
                  <a:lnTo>
                    <a:pt x="645747" y="513159"/>
                  </a:lnTo>
                  <a:lnTo>
                    <a:pt x="665017" y="484578"/>
                  </a:lnTo>
                  <a:lnTo>
                    <a:pt x="672083" y="449579"/>
                  </a:lnTo>
                  <a:lnTo>
                    <a:pt x="672083" y="89915"/>
                  </a:lnTo>
                  <a:lnTo>
                    <a:pt x="665017" y="54917"/>
                  </a:lnTo>
                  <a:lnTo>
                    <a:pt x="645747" y="26336"/>
                  </a:lnTo>
                  <a:lnTo>
                    <a:pt x="617166" y="7066"/>
                  </a:lnTo>
                  <a:lnTo>
                    <a:pt x="58216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59330" y="5690616"/>
              <a:ext cx="211836" cy="21793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67968" y="3159252"/>
              <a:ext cx="762635" cy="2641600"/>
            </a:xfrm>
            <a:custGeom>
              <a:avLst/>
              <a:gdLst/>
              <a:ahLst/>
              <a:cxnLst/>
              <a:rect l="l" t="t" r="r" b="b"/>
              <a:pathLst>
                <a:path w="762635" h="2641600">
                  <a:moveTo>
                    <a:pt x="11429" y="0"/>
                  </a:moveTo>
                  <a:lnTo>
                    <a:pt x="762381" y="0"/>
                  </a:lnTo>
                </a:path>
                <a:path w="762635" h="2641600">
                  <a:moveTo>
                    <a:pt x="11429" y="746760"/>
                  </a:moveTo>
                  <a:lnTo>
                    <a:pt x="762381" y="752856"/>
                  </a:lnTo>
                </a:path>
                <a:path w="762635" h="2641600">
                  <a:moveTo>
                    <a:pt x="11429" y="1505712"/>
                  </a:moveTo>
                  <a:lnTo>
                    <a:pt x="755650" y="1505712"/>
                  </a:lnTo>
                </a:path>
                <a:path w="762635" h="2641600">
                  <a:moveTo>
                    <a:pt x="0" y="2641092"/>
                  </a:moveTo>
                  <a:lnTo>
                    <a:pt x="755523" y="2641092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23716" y="3757422"/>
              <a:ext cx="1317625" cy="919480"/>
            </a:xfrm>
            <a:custGeom>
              <a:avLst/>
              <a:gdLst/>
              <a:ahLst/>
              <a:cxnLst/>
              <a:rect l="l" t="t" r="r" b="b"/>
              <a:pathLst>
                <a:path w="1317625" h="919479">
                  <a:moveTo>
                    <a:pt x="1317498" y="0"/>
                  </a:moveTo>
                  <a:lnTo>
                    <a:pt x="0" y="0"/>
                  </a:lnTo>
                  <a:lnTo>
                    <a:pt x="0" y="918971"/>
                  </a:lnTo>
                  <a:lnTo>
                    <a:pt x="1317498" y="918971"/>
                  </a:lnTo>
                  <a:lnTo>
                    <a:pt x="131749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57877" y="4078986"/>
              <a:ext cx="249174" cy="2758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684272" y="3148837"/>
              <a:ext cx="4740910" cy="2660015"/>
            </a:xfrm>
            <a:custGeom>
              <a:avLst/>
              <a:gdLst/>
              <a:ahLst/>
              <a:cxnLst/>
              <a:rect l="l" t="t" r="r" b="b"/>
              <a:pathLst>
                <a:path w="4740909" h="2660015">
                  <a:moveTo>
                    <a:pt x="1139190" y="1068324"/>
                  </a:moveTo>
                  <a:lnTo>
                    <a:pt x="1139063" y="1068070"/>
                  </a:lnTo>
                  <a:lnTo>
                    <a:pt x="1136497" y="1059307"/>
                  </a:lnTo>
                  <a:lnTo>
                    <a:pt x="1113142" y="979893"/>
                  </a:lnTo>
                  <a:lnTo>
                    <a:pt x="1113142" y="1079690"/>
                  </a:lnTo>
                  <a:lnTo>
                    <a:pt x="1111580" y="1075753"/>
                  </a:lnTo>
                  <a:lnTo>
                    <a:pt x="1113142" y="1079690"/>
                  </a:lnTo>
                  <a:lnTo>
                    <a:pt x="1113142" y="979893"/>
                  </a:lnTo>
                  <a:lnTo>
                    <a:pt x="1104265" y="949706"/>
                  </a:lnTo>
                  <a:lnTo>
                    <a:pt x="1102017" y="942213"/>
                  </a:lnTo>
                  <a:lnTo>
                    <a:pt x="1102207" y="942213"/>
                  </a:lnTo>
                  <a:lnTo>
                    <a:pt x="1094105" y="937768"/>
                  </a:lnTo>
                  <a:lnTo>
                    <a:pt x="1086485" y="940054"/>
                  </a:lnTo>
                  <a:lnTo>
                    <a:pt x="1078992" y="942213"/>
                  </a:lnTo>
                  <a:lnTo>
                    <a:pt x="1074674" y="950214"/>
                  </a:lnTo>
                  <a:lnTo>
                    <a:pt x="1076833" y="957707"/>
                  </a:lnTo>
                  <a:lnTo>
                    <a:pt x="1089977" y="1002347"/>
                  </a:lnTo>
                  <a:lnTo>
                    <a:pt x="28321" y="0"/>
                  </a:lnTo>
                  <a:lnTo>
                    <a:pt x="8763" y="20828"/>
                  </a:lnTo>
                  <a:lnTo>
                    <a:pt x="1028547" y="983640"/>
                  </a:lnTo>
                  <a:lnTo>
                    <a:pt x="1026668" y="985520"/>
                  </a:lnTo>
                  <a:lnTo>
                    <a:pt x="1026541" y="994537"/>
                  </a:lnTo>
                  <a:lnTo>
                    <a:pt x="1032129" y="1000125"/>
                  </a:lnTo>
                  <a:lnTo>
                    <a:pt x="1050036" y="1018387"/>
                  </a:lnTo>
                  <a:lnTo>
                    <a:pt x="1017397" y="1010793"/>
                  </a:lnTo>
                  <a:lnTo>
                    <a:pt x="1009777" y="1015492"/>
                  </a:lnTo>
                  <a:lnTo>
                    <a:pt x="1009154" y="1018159"/>
                  </a:lnTo>
                  <a:lnTo>
                    <a:pt x="22352" y="749427"/>
                  </a:lnTo>
                  <a:lnTo>
                    <a:pt x="14732" y="777113"/>
                  </a:lnTo>
                  <a:lnTo>
                    <a:pt x="1014628" y="1049261"/>
                  </a:lnTo>
                  <a:lnTo>
                    <a:pt x="1008888" y="1048385"/>
                  </a:lnTo>
                  <a:lnTo>
                    <a:pt x="1001522" y="1053719"/>
                  </a:lnTo>
                  <a:lnTo>
                    <a:pt x="999236" y="1069340"/>
                  </a:lnTo>
                  <a:lnTo>
                    <a:pt x="1004023" y="1075956"/>
                  </a:lnTo>
                  <a:lnTo>
                    <a:pt x="1000125" y="1082675"/>
                  </a:lnTo>
                  <a:lnTo>
                    <a:pt x="1004189" y="1097915"/>
                  </a:lnTo>
                  <a:lnTo>
                    <a:pt x="1012063" y="1102487"/>
                  </a:lnTo>
                  <a:lnTo>
                    <a:pt x="1017308" y="1101077"/>
                  </a:lnTo>
                  <a:lnTo>
                    <a:pt x="6350" y="1502664"/>
                  </a:lnTo>
                  <a:lnTo>
                    <a:pt x="17018" y="1529207"/>
                  </a:lnTo>
                  <a:lnTo>
                    <a:pt x="1016520" y="1132141"/>
                  </a:lnTo>
                  <a:lnTo>
                    <a:pt x="1019048" y="1137793"/>
                  </a:lnTo>
                  <a:lnTo>
                    <a:pt x="1022350" y="1145032"/>
                  </a:lnTo>
                  <a:lnTo>
                    <a:pt x="1030732" y="1148207"/>
                  </a:lnTo>
                  <a:lnTo>
                    <a:pt x="1037971" y="1145032"/>
                  </a:lnTo>
                  <a:lnTo>
                    <a:pt x="1044879" y="1141907"/>
                  </a:lnTo>
                  <a:lnTo>
                    <a:pt x="1040257" y="1147826"/>
                  </a:lnTo>
                  <a:lnTo>
                    <a:pt x="1035304" y="1154049"/>
                  </a:lnTo>
                  <a:lnTo>
                    <a:pt x="1036447" y="1163066"/>
                  </a:lnTo>
                  <a:lnTo>
                    <a:pt x="1047572" y="1171702"/>
                  </a:lnTo>
                  <a:lnTo>
                    <a:pt x="0" y="2643174"/>
                  </a:lnTo>
                  <a:lnTo>
                    <a:pt x="23368" y="2659748"/>
                  </a:lnTo>
                  <a:lnTo>
                    <a:pt x="1103515" y="1142593"/>
                  </a:lnTo>
                  <a:lnTo>
                    <a:pt x="1099312" y="1188720"/>
                  </a:lnTo>
                  <a:lnTo>
                    <a:pt x="1098550" y="1196467"/>
                  </a:lnTo>
                  <a:lnTo>
                    <a:pt x="1104392" y="1203452"/>
                  </a:lnTo>
                  <a:lnTo>
                    <a:pt x="1112266" y="1204214"/>
                  </a:lnTo>
                  <a:lnTo>
                    <a:pt x="1120140" y="1204849"/>
                  </a:lnTo>
                  <a:lnTo>
                    <a:pt x="1127125" y="1199134"/>
                  </a:lnTo>
                  <a:lnTo>
                    <a:pt x="1127760" y="1191260"/>
                  </a:lnTo>
                  <a:lnTo>
                    <a:pt x="1137589" y="1082802"/>
                  </a:lnTo>
                  <a:lnTo>
                    <a:pt x="1138897" y="1068412"/>
                  </a:lnTo>
                  <a:lnTo>
                    <a:pt x="1139190" y="1068451"/>
                  </a:lnTo>
                  <a:lnTo>
                    <a:pt x="1139190" y="1068324"/>
                  </a:lnTo>
                  <a:close/>
                </a:path>
                <a:path w="4740909" h="2660015">
                  <a:moveTo>
                    <a:pt x="4740656" y="1057402"/>
                  </a:moveTo>
                  <a:lnTo>
                    <a:pt x="4716246" y="1043305"/>
                  </a:lnTo>
                  <a:lnTo>
                    <a:pt x="4626737" y="991616"/>
                  </a:lnTo>
                  <a:lnTo>
                    <a:pt x="4617974" y="993902"/>
                  </a:lnTo>
                  <a:lnTo>
                    <a:pt x="4610100" y="1007618"/>
                  </a:lnTo>
                  <a:lnTo>
                    <a:pt x="4612386" y="1016381"/>
                  </a:lnTo>
                  <a:lnTo>
                    <a:pt x="4659541" y="1043546"/>
                  </a:lnTo>
                  <a:lnTo>
                    <a:pt x="2456815" y="1053592"/>
                  </a:lnTo>
                  <a:lnTo>
                    <a:pt x="2456840" y="1057402"/>
                  </a:lnTo>
                  <a:lnTo>
                    <a:pt x="2456954" y="1069848"/>
                  </a:lnTo>
                  <a:lnTo>
                    <a:pt x="2457069" y="1082167"/>
                  </a:lnTo>
                  <a:lnTo>
                    <a:pt x="4659465" y="1072134"/>
                  </a:lnTo>
                  <a:lnTo>
                    <a:pt x="4612767" y="1099693"/>
                  </a:lnTo>
                  <a:lnTo>
                    <a:pt x="4610608" y="1108329"/>
                  </a:lnTo>
                  <a:lnTo>
                    <a:pt x="4614545" y="1115187"/>
                  </a:lnTo>
                  <a:lnTo>
                    <a:pt x="4618609" y="1122045"/>
                  </a:lnTo>
                  <a:lnTo>
                    <a:pt x="4627372" y="1124204"/>
                  </a:lnTo>
                  <a:lnTo>
                    <a:pt x="4740656" y="10574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61326" y="3300159"/>
              <a:ext cx="1432559" cy="32613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424928" y="3746754"/>
              <a:ext cx="1317625" cy="919480"/>
            </a:xfrm>
            <a:custGeom>
              <a:avLst/>
              <a:gdLst/>
              <a:ahLst/>
              <a:cxnLst/>
              <a:rect l="l" t="t" r="r" b="b"/>
              <a:pathLst>
                <a:path w="1317625" h="919479">
                  <a:moveTo>
                    <a:pt x="1317498" y="0"/>
                  </a:moveTo>
                  <a:lnTo>
                    <a:pt x="0" y="0"/>
                  </a:lnTo>
                  <a:lnTo>
                    <a:pt x="0" y="918972"/>
                  </a:lnTo>
                  <a:lnTo>
                    <a:pt x="1317498" y="918972"/>
                  </a:lnTo>
                  <a:lnTo>
                    <a:pt x="131749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90510" y="4089654"/>
              <a:ext cx="387096" cy="25450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742426" y="4155948"/>
              <a:ext cx="966469" cy="132715"/>
            </a:xfrm>
            <a:custGeom>
              <a:avLst/>
              <a:gdLst/>
              <a:ahLst/>
              <a:cxnLst/>
              <a:rect l="l" t="t" r="r" b="b"/>
              <a:pathLst>
                <a:path w="966470" h="132714">
                  <a:moveTo>
                    <a:pt x="909297" y="66293"/>
                  </a:moveTo>
                  <a:lnTo>
                    <a:pt x="837819" y="107950"/>
                  </a:lnTo>
                  <a:lnTo>
                    <a:pt x="835532" y="116712"/>
                  </a:lnTo>
                  <a:lnTo>
                    <a:pt x="839597" y="123443"/>
                  </a:lnTo>
                  <a:lnTo>
                    <a:pt x="843533" y="130301"/>
                  </a:lnTo>
                  <a:lnTo>
                    <a:pt x="852297" y="132587"/>
                  </a:lnTo>
                  <a:lnTo>
                    <a:pt x="941351" y="80644"/>
                  </a:lnTo>
                  <a:lnTo>
                    <a:pt x="937641" y="80644"/>
                  </a:lnTo>
                  <a:lnTo>
                    <a:pt x="937641" y="78612"/>
                  </a:lnTo>
                  <a:lnTo>
                    <a:pt x="930401" y="78612"/>
                  </a:lnTo>
                  <a:lnTo>
                    <a:pt x="909297" y="66293"/>
                  </a:lnTo>
                  <a:close/>
                </a:path>
                <a:path w="966470" h="132714">
                  <a:moveTo>
                    <a:pt x="884928" y="52069"/>
                  </a:moveTo>
                  <a:lnTo>
                    <a:pt x="0" y="52069"/>
                  </a:lnTo>
                  <a:lnTo>
                    <a:pt x="0" y="80644"/>
                  </a:lnTo>
                  <a:lnTo>
                    <a:pt x="884711" y="80644"/>
                  </a:lnTo>
                  <a:lnTo>
                    <a:pt x="909297" y="66293"/>
                  </a:lnTo>
                  <a:lnTo>
                    <a:pt x="884928" y="52069"/>
                  </a:lnTo>
                  <a:close/>
                </a:path>
                <a:path w="966470" h="132714">
                  <a:moveTo>
                    <a:pt x="941574" y="52069"/>
                  </a:moveTo>
                  <a:lnTo>
                    <a:pt x="937641" y="52069"/>
                  </a:lnTo>
                  <a:lnTo>
                    <a:pt x="937641" y="80644"/>
                  </a:lnTo>
                  <a:lnTo>
                    <a:pt x="941351" y="80644"/>
                  </a:lnTo>
                  <a:lnTo>
                    <a:pt x="965962" y="66293"/>
                  </a:lnTo>
                  <a:lnTo>
                    <a:pt x="941574" y="52069"/>
                  </a:lnTo>
                  <a:close/>
                </a:path>
                <a:path w="966470" h="132714">
                  <a:moveTo>
                    <a:pt x="930401" y="53975"/>
                  </a:moveTo>
                  <a:lnTo>
                    <a:pt x="909297" y="66293"/>
                  </a:lnTo>
                  <a:lnTo>
                    <a:pt x="930401" y="78612"/>
                  </a:lnTo>
                  <a:lnTo>
                    <a:pt x="930401" y="53975"/>
                  </a:lnTo>
                  <a:close/>
                </a:path>
                <a:path w="966470" h="132714">
                  <a:moveTo>
                    <a:pt x="937641" y="53975"/>
                  </a:moveTo>
                  <a:lnTo>
                    <a:pt x="930401" y="53975"/>
                  </a:lnTo>
                  <a:lnTo>
                    <a:pt x="930401" y="78612"/>
                  </a:lnTo>
                  <a:lnTo>
                    <a:pt x="937641" y="78612"/>
                  </a:lnTo>
                  <a:lnTo>
                    <a:pt x="937641" y="53975"/>
                  </a:lnTo>
                  <a:close/>
                </a:path>
                <a:path w="966470" h="132714">
                  <a:moveTo>
                    <a:pt x="852297" y="0"/>
                  </a:moveTo>
                  <a:lnTo>
                    <a:pt x="843533" y="2285"/>
                  </a:lnTo>
                  <a:lnTo>
                    <a:pt x="839597" y="9143"/>
                  </a:lnTo>
                  <a:lnTo>
                    <a:pt x="835532" y="15875"/>
                  </a:lnTo>
                  <a:lnTo>
                    <a:pt x="837819" y="24637"/>
                  </a:lnTo>
                  <a:lnTo>
                    <a:pt x="909297" y="66293"/>
                  </a:lnTo>
                  <a:lnTo>
                    <a:pt x="930401" y="53975"/>
                  </a:lnTo>
                  <a:lnTo>
                    <a:pt x="937641" y="53975"/>
                  </a:lnTo>
                  <a:lnTo>
                    <a:pt x="937641" y="52069"/>
                  </a:lnTo>
                  <a:lnTo>
                    <a:pt x="941574" y="52069"/>
                  </a:lnTo>
                  <a:lnTo>
                    <a:pt x="8522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82217" y="5170170"/>
            <a:ext cx="27431" cy="23012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95905" y="5164835"/>
            <a:ext cx="27431" cy="23012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46241" y="5010150"/>
            <a:ext cx="938784" cy="21793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166614" y="5377179"/>
            <a:ext cx="2586355" cy="1033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C00000"/>
                </a:solidFill>
                <a:latin typeface="Segoe Print"/>
                <a:cs typeface="Segoe Print"/>
              </a:rPr>
              <a:t>Real-</a:t>
            </a: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valued</a:t>
            </a:r>
            <a:r>
              <a:rPr sz="1600" b="1" spc="-5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output</a:t>
            </a:r>
            <a:r>
              <a:rPr sz="1600" b="1" spc="-2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Segoe Print"/>
                <a:cs typeface="Segoe Print"/>
              </a:rPr>
              <a:t>here!</a:t>
            </a:r>
            <a:endParaRPr sz="1600">
              <a:latin typeface="Segoe Print"/>
              <a:cs typeface="Segoe Print"/>
            </a:endParaRPr>
          </a:p>
          <a:p>
            <a:pPr marL="219710" marR="197485">
              <a:lnSpc>
                <a:spcPct val="101899"/>
              </a:lnSpc>
              <a:spcBef>
                <a:spcPts val="2100"/>
              </a:spcBef>
            </a:pP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We</a:t>
            </a:r>
            <a:r>
              <a:rPr sz="1600" b="1" spc="-4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want</a:t>
            </a:r>
            <a:r>
              <a:rPr sz="1600" b="1" spc="-2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Segoe Print"/>
                <a:cs typeface="Segoe Print"/>
              </a:rPr>
              <a:t>probability; </a:t>
            </a: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between</a:t>
            </a:r>
            <a:r>
              <a:rPr sz="1600" b="1" spc="-4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0</a:t>
            </a:r>
            <a:r>
              <a:rPr sz="1600" b="1" spc="-2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and</a:t>
            </a:r>
            <a:r>
              <a:rPr sz="1600" b="1" spc="-1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spc="-25" dirty="0">
                <a:solidFill>
                  <a:srgbClr val="C00000"/>
                </a:solidFill>
                <a:latin typeface="Segoe Print"/>
                <a:cs typeface="Segoe Print"/>
              </a:rPr>
              <a:t>1!</a:t>
            </a:r>
            <a:endParaRPr sz="1600">
              <a:latin typeface="Segoe Print"/>
              <a:cs typeface="Segoe Prin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4840" y="958828"/>
            <a:ext cx="11070590" cy="240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Model:</a:t>
            </a:r>
            <a:endParaRPr sz="24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147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Consider</a:t>
            </a:r>
            <a:r>
              <a:rPr sz="1800" spc="-8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binary</a:t>
            </a:r>
            <a:r>
              <a:rPr sz="1800" spc="-7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classification</a:t>
            </a:r>
            <a:r>
              <a:rPr sz="1800" spc="-6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problem.</a:t>
            </a:r>
            <a:endParaRPr sz="1800" dirty="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have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20" dirty="0">
                <a:latin typeface="Segoe Print"/>
                <a:cs typeface="Segoe Print"/>
              </a:rPr>
              <a:t>multi-</a:t>
            </a:r>
            <a:r>
              <a:rPr sz="1800" dirty="0">
                <a:latin typeface="Segoe Print"/>
                <a:cs typeface="Segoe Print"/>
              </a:rPr>
              <a:t>dimensional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feature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space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(d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features).</a:t>
            </a:r>
            <a:endParaRPr sz="1800" dirty="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Features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can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categorical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(e.g.,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gender,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ethnicity)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or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continuous</a:t>
            </a:r>
            <a:r>
              <a:rPr sz="1800" spc="-7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(e.g.,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height,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temperature).</a:t>
            </a:r>
            <a:endParaRPr sz="1800" dirty="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Font typeface="Segoe Print"/>
              <a:buChar char="-"/>
              <a:tabLst>
                <a:tab pos="297815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Logistic</a:t>
            </a:r>
            <a:r>
              <a:rPr sz="1800" b="1" u="sng" spc="-75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regression</a:t>
            </a:r>
            <a:r>
              <a:rPr sz="1800" b="1" u="sng" spc="-65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model:</a:t>
            </a:r>
            <a:endParaRPr sz="1800" dirty="0">
              <a:latin typeface="Segoe Print"/>
              <a:cs typeface="Segoe Print"/>
            </a:endParaRPr>
          </a:p>
          <a:p>
            <a:pPr marL="6690995">
              <a:lnSpc>
                <a:spcPct val="100000"/>
              </a:lnSpc>
              <a:spcBef>
                <a:spcPts val="625"/>
              </a:spcBef>
            </a:pPr>
            <a:r>
              <a:rPr sz="1600" b="1" dirty="0">
                <a:solidFill>
                  <a:srgbClr val="C00000"/>
                </a:solidFill>
                <a:latin typeface="Segoe Print"/>
                <a:cs typeface="Segoe Print"/>
              </a:rPr>
              <a:t>Logistic/Sigmoid</a:t>
            </a:r>
            <a:r>
              <a:rPr sz="1600" b="1" spc="-11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Segoe Print"/>
                <a:cs typeface="Segoe Print"/>
              </a:rPr>
              <a:t>function</a:t>
            </a:r>
            <a:endParaRPr sz="1600" dirty="0">
              <a:latin typeface="Segoe Print"/>
              <a:cs typeface="Segoe Prin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859518" y="3972305"/>
            <a:ext cx="1337309" cy="48920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9156954" y="5910579"/>
            <a:ext cx="19926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0AF50"/>
                </a:solidFill>
                <a:latin typeface="Segoe Print"/>
                <a:cs typeface="Segoe Print"/>
              </a:rPr>
              <a:t>Activation</a:t>
            </a:r>
            <a:r>
              <a:rPr sz="1600" b="1" spc="-12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Segoe Print"/>
                <a:cs typeface="Segoe Print"/>
              </a:rPr>
              <a:t>function</a:t>
            </a:r>
            <a:endParaRPr sz="1600">
              <a:latin typeface="Segoe Print"/>
              <a:cs typeface="Segoe Prin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800338" y="4732020"/>
            <a:ext cx="1731010" cy="1175385"/>
          </a:xfrm>
          <a:custGeom>
            <a:avLst/>
            <a:gdLst/>
            <a:ahLst/>
            <a:cxnLst/>
            <a:rect l="l" t="t" r="r" b="b"/>
            <a:pathLst>
              <a:path w="1731009" h="1175385">
                <a:moveTo>
                  <a:pt x="66668" y="37485"/>
                </a:moveTo>
                <a:lnTo>
                  <a:pt x="59546" y="48019"/>
                </a:lnTo>
                <a:lnTo>
                  <a:pt x="1723897" y="1174927"/>
                </a:lnTo>
                <a:lnTo>
                  <a:pt x="1731009" y="1164399"/>
                </a:lnTo>
                <a:lnTo>
                  <a:pt x="66668" y="37485"/>
                </a:lnTo>
                <a:close/>
              </a:path>
              <a:path w="1731009" h="1175385">
                <a:moveTo>
                  <a:pt x="0" y="0"/>
                </a:moveTo>
                <a:lnTo>
                  <a:pt x="41782" y="74294"/>
                </a:lnTo>
                <a:lnTo>
                  <a:pt x="59546" y="48019"/>
                </a:lnTo>
                <a:lnTo>
                  <a:pt x="49021" y="40893"/>
                </a:lnTo>
                <a:lnTo>
                  <a:pt x="56133" y="30352"/>
                </a:lnTo>
                <a:lnTo>
                  <a:pt x="71490" y="30352"/>
                </a:lnTo>
                <a:lnTo>
                  <a:pt x="84454" y="11175"/>
                </a:lnTo>
                <a:lnTo>
                  <a:pt x="0" y="0"/>
                </a:lnTo>
                <a:close/>
              </a:path>
              <a:path w="1731009" h="1175385">
                <a:moveTo>
                  <a:pt x="56133" y="30352"/>
                </a:moveTo>
                <a:lnTo>
                  <a:pt x="49021" y="40893"/>
                </a:lnTo>
                <a:lnTo>
                  <a:pt x="59546" y="48019"/>
                </a:lnTo>
                <a:lnTo>
                  <a:pt x="66668" y="37485"/>
                </a:lnTo>
                <a:lnTo>
                  <a:pt x="56133" y="30352"/>
                </a:lnTo>
                <a:close/>
              </a:path>
              <a:path w="1731009" h="1175385">
                <a:moveTo>
                  <a:pt x="71490" y="30352"/>
                </a:moveTo>
                <a:lnTo>
                  <a:pt x="56133" y="30352"/>
                </a:lnTo>
                <a:lnTo>
                  <a:pt x="66668" y="37485"/>
                </a:lnTo>
                <a:lnTo>
                  <a:pt x="71490" y="3035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578865"/>
            <a:ext cx="3473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Logistic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(Sigmoid)</a:t>
            </a:r>
            <a:r>
              <a:rPr sz="2400" b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Function</a:t>
            </a:r>
            <a:r>
              <a:rPr sz="2400" b="1" u="sng" spc="60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19" y="1187958"/>
            <a:ext cx="2000250" cy="6416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708" y="2129027"/>
            <a:ext cx="4573524" cy="25450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326152" y="1784235"/>
            <a:ext cx="5194300" cy="3492500"/>
            <a:chOff x="6326152" y="1784235"/>
            <a:chExt cx="5194300" cy="34925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6152" y="1784235"/>
              <a:ext cx="5193720" cy="34922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8002" y="2230373"/>
              <a:ext cx="533400" cy="30556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07368" y="4894326"/>
            <a:ext cx="129540" cy="1371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0708" y="2655570"/>
            <a:ext cx="4251960" cy="25450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0708" y="3174492"/>
            <a:ext cx="2250948" cy="1813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578865"/>
            <a:ext cx="765937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Change</a:t>
            </a:r>
            <a:r>
              <a:rPr sz="2400" b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in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notation: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  <a:tabLst>
                <a:tab pos="297815" algn="l"/>
              </a:tabLst>
            </a:pPr>
            <a:r>
              <a:rPr sz="1800" spc="-50" dirty="0">
                <a:latin typeface="Segoe Print"/>
                <a:cs typeface="Segoe Print"/>
              </a:rPr>
              <a:t>-</a:t>
            </a:r>
            <a:r>
              <a:rPr sz="1800" dirty="0">
                <a:latin typeface="Segoe Print"/>
                <a:cs typeface="Segoe Print"/>
              </a:rPr>
              <a:t>	Treat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bias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term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as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input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feature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for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notational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convenience.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5714" y="54118"/>
            <a:ext cx="670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53147" y="5831332"/>
            <a:ext cx="2089785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23189">
              <a:lnSpc>
                <a:spcPct val="101699"/>
              </a:lnSpc>
              <a:spcBef>
                <a:spcPts val="60"/>
              </a:spcBef>
            </a:pPr>
            <a:r>
              <a:rPr sz="1800" b="1" dirty="0">
                <a:solidFill>
                  <a:srgbClr val="00AF50"/>
                </a:solidFill>
                <a:latin typeface="Segoe Print"/>
                <a:cs typeface="Segoe Print"/>
              </a:rPr>
              <a:t>Linear</a:t>
            </a:r>
            <a:r>
              <a:rPr sz="1800" b="1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Segoe Print"/>
                <a:cs typeface="Segoe Print"/>
              </a:rPr>
              <a:t>function. </a:t>
            </a:r>
            <a:r>
              <a:rPr sz="1800" b="1" dirty="0">
                <a:solidFill>
                  <a:srgbClr val="00AF50"/>
                </a:solidFill>
                <a:latin typeface="Segoe Print"/>
                <a:cs typeface="Segoe Print"/>
              </a:rPr>
              <a:t>Linear</a:t>
            </a:r>
            <a:r>
              <a:rPr sz="1800" b="1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Segoe Print"/>
                <a:cs typeface="Segoe Print"/>
              </a:rPr>
              <a:t>Regression.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07885" y="3960114"/>
            <a:ext cx="1494155" cy="1874520"/>
          </a:xfrm>
          <a:custGeom>
            <a:avLst/>
            <a:gdLst/>
            <a:ahLst/>
            <a:cxnLst/>
            <a:rect l="l" t="t" r="r" b="b"/>
            <a:pathLst>
              <a:path w="1494154" h="1874520">
                <a:moveTo>
                  <a:pt x="52428" y="55580"/>
                </a:moveTo>
                <a:lnTo>
                  <a:pt x="42457" y="63531"/>
                </a:lnTo>
                <a:lnTo>
                  <a:pt x="1484122" y="1873999"/>
                </a:lnTo>
                <a:lnTo>
                  <a:pt x="1494028" y="1866099"/>
                </a:lnTo>
                <a:lnTo>
                  <a:pt x="52428" y="55580"/>
                </a:lnTo>
                <a:close/>
              </a:path>
              <a:path w="1494154" h="1874520">
                <a:moveTo>
                  <a:pt x="0" y="0"/>
                </a:moveTo>
                <a:lnTo>
                  <a:pt x="17653" y="83312"/>
                </a:lnTo>
                <a:lnTo>
                  <a:pt x="42457" y="63531"/>
                </a:lnTo>
                <a:lnTo>
                  <a:pt x="34544" y="53593"/>
                </a:lnTo>
                <a:lnTo>
                  <a:pt x="44577" y="45719"/>
                </a:lnTo>
                <a:lnTo>
                  <a:pt x="64793" y="45719"/>
                </a:lnTo>
                <a:lnTo>
                  <a:pt x="77216" y="35813"/>
                </a:lnTo>
                <a:lnTo>
                  <a:pt x="0" y="0"/>
                </a:lnTo>
                <a:close/>
              </a:path>
              <a:path w="1494154" h="1874520">
                <a:moveTo>
                  <a:pt x="44577" y="45719"/>
                </a:moveTo>
                <a:lnTo>
                  <a:pt x="34544" y="53593"/>
                </a:lnTo>
                <a:lnTo>
                  <a:pt x="42457" y="63531"/>
                </a:lnTo>
                <a:lnTo>
                  <a:pt x="52428" y="55580"/>
                </a:lnTo>
                <a:lnTo>
                  <a:pt x="44577" y="45719"/>
                </a:lnTo>
                <a:close/>
              </a:path>
              <a:path w="1494154" h="1874520">
                <a:moveTo>
                  <a:pt x="64793" y="45719"/>
                </a:moveTo>
                <a:lnTo>
                  <a:pt x="44577" y="45719"/>
                </a:lnTo>
                <a:lnTo>
                  <a:pt x="52428" y="55580"/>
                </a:lnTo>
                <a:lnTo>
                  <a:pt x="64793" y="45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7578" y="3513582"/>
            <a:ext cx="448055" cy="2346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0971" y="3960876"/>
            <a:ext cx="938784" cy="2179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51314" y="3408426"/>
            <a:ext cx="1351026" cy="4389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1990" y="5543551"/>
            <a:ext cx="144780" cy="112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9683" y="5240273"/>
            <a:ext cx="469391" cy="1402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39111" y="5570220"/>
            <a:ext cx="128016" cy="1783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76805" y="5266944"/>
            <a:ext cx="469392" cy="14020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3188" y="5887211"/>
            <a:ext cx="553212" cy="2179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6948" y="4120896"/>
            <a:ext cx="27432" cy="2301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39873" y="4116323"/>
            <a:ext cx="27431" cy="23012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472440" y="1840229"/>
            <a:ext cx="8980805" cy="3181350"/>
            <a:chOff x="472440" y="1840229"/>
            <a:chExt cx="8980805" cy="3181350"/>
          </a:xfrm>
        </p:grpSpPr>
        <p:sp>
          <p:nvSpPr>
            <p:cNvPr id="17" name="object 17"/>
            <p:cNvSpPr/>
            <p:nvPr/>
          </p:nvSpPr>
          <p:spPr>
            <a:xfrm>
              <a:off x="4885817" y="3091941"/>
              <a:ext cx="2284095" cy="132715"/>
            </a:xfrm>
            <a:custGeom>
              <a:avLst/>
              <a:gdLst/>
              <a:ahLst/>
              <a:cxnLst/>
              <a:rect l="l" t="t" r="r" b="b"/>
              <a:pathLst>
                <a:path w="2284095" h="132714">
                  <a:moveTo>
                    <a:pt x="2259439" y="51688"/>
                  </a:moveTo>
                  <a:lnTo>
                    <a:pt x="2255519" y="51688"/>
                  </a:lnTo>
                  <a:lnTo>
                    <a:pt x="2255521" y="51929"/>
                  </a:lnTo>
                  <a:lnTo>
                    <a:pt x="2255647" y="80263"/>
                  </a:lnTo>
                  <a:lnTo>
                    <a:pt x="2202659" y="80505"/>
                  </a:lnTo>
                  <a:lnTo>
                    <a:pt x="2155952" y="108077"/>
                  </a:lnTo>
                  <a:lnTo>
                    <a:pt x="2153792" y="116712"/>
                  </a:lnTo>
                  <a:lnTo>
                    <a:pt x="2157730" y="123571"/>
                  </a:lnTo>
                  <a:lnTo>
                    <a:pt x="2161793" y="130429"/>
                  </a:lnTo>
                  <a:lnTo>
                    <a:pt x="2170557" y="132587"/>
                  </a:lnTo>
                  <a:lnTo>
                    <a:pt x="2283841" y="65786"/>
                  </a:lnTo>
                  <a:lnTo>
                    <a:pt x="2259439" y="51688"/>
                  </a:lnTo>
                  <a:close/>
                </a:path>
                <a:path w="2284095" h="132714">
                  <a:moveTo>
                    <a:pt x="2202738" y="51929"/>
                  </a:moveTo>
                  <a:lnTo>
                    <a:pt x="0" y="61975"/>
                  </a:lnTo>
                  <a:lnTo>
                    <a:pt x="33" y="65786"/>
                  </a:lnTo>
                  <a:lnTo>
                    <a:pt x="144" y="78232"/>
                  </a:lnTo>
                  <a:lnTo>
                    <a:pt x="254" y="90550"/>
                  </a:lnTo>
                  <a:lnTo>
                    <a:pt x="2202659" y="80505"/>
                  </a:lnTo>
                  <a:lnTo>
                    <a:pt x="2227210" y="66023"/>
                  </a:lnTo>
                  <a:lnTo>
                    <a:pt x="2202738" y="51929"/>
                  </a:lnTo>
                  <a:close/>
                </a:path>
                <a:path w="2284095" h="132714">
                  <a:moveTo>
                    <a:pt x="2227210" y="66023"/>
                  </a:moveTo>
                  <a:lnTo>
                    <a:pt x="2202659" y="80505"/>
                  </a:lnTo>
                  <a:lnTo>
                    <a:pt x="2255647" y="80263"/>
                  </a:lnTo>
                  <a:lnTo>
                    <a:pt x="2255637" y="78232"/>
                  </a:lnTo>
                  <a:lnTo>
                    <a:pt x="2248408" y="78232"/>
                  </a:lnTo>
                  <a:lnTo>
                    <a:pt x="2227210" y="66023"/>
                  </a:lnTo>
                  <a:close/>
                </a:path>
                <a:path w="2284095" h="132714">
                  <a:moveTo>
                    <a:pt x="2248281" y="53594"/>
                  </a:moveTo>
                  <a:lnTo>
                    <a:pt x="2227210" y="66023"/>
                  </a:lnTo>
                  <a:lnTo>
                    <a:pt x="2248408" y="78232"/>
                  </a:lnTo>
                  <a:lnTo>
                    <a:pt x="2248281" y="53594"/>
                  </a:lnTo>
                  <a:close/>
                </a:path>
                <a:path w="2284095" h="132714">
                  <a:moveTo>
                    <a:pt x="2255528" y="53594"/>
                  </a:moveTo>
                  <a:lnTo>
                    <a:pt x="2248281" y="53594"/>
                  </a:lnTo>
                  <a:lnTo>
                    <a:pt x="2248408" y="78232"/>
                  </a:lnTo>
                  <a:lnTo>
                    <a:pt x="2255637" y="78232"/>
                  </a:lnTo>
                  <a:lnTo>
                    <a:pt x="2255528" y="53594"/>
                  </a:lnTo>
                  <a:close/>
                </a:path>
                <a:path w="2284095" h="132714">
                  <a:moveTo>
                    <a:pt x="2255519" y="51688"/>
                  </a:moveTo>
                  <a:lnTo>
                    <a:pt x="2202738" y="51929"/>
                  </a:lnTo>
                  <a:lnTo>
                    <a:pt x="2227210" y="66023"/>
                  </a:lnTo>
                  <a:lnTo>
                    <a:pt x="2248281" y="53594"/>
                  </a:lnTo>
                  <a:lnTo>
                    <a:pt x="2255528" y="53594"/>
                  </a:lnTo>
                  <a:lnTo>
                    <a:pt x="2255519" y="51688"/>
                  </a:lnTo>
                  <a:close/>
                </a:path>
                <a:path w="2284095" h="132714">
                  <a:moveTo>
                    <a:pt x="2169922" y="0"/>
                  </a:moveTo>
                  <a:lnTo>
                    <a:pt x="2161159" y="2286"/>
                  </a:lnTo>
                  <a:lnTo>
                    <a:pt x="2153285" y="16002"/>
                  </a:lnTo>
                  <a:lnTo>
                    <a:pt x="2155571" y="24765"/>
                  </a:lnTo>
                  <a:lnTo>
                    <a:pt x="2202738" y="51929"/>
                  </a:lnTo>
                  <a:lnTo>
                    <a:pt x="2259439" y="51688"/>
                  </a:lnTo>
                  <a:lnTo>
                    <a:pt x="2169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69658" y="2698241"/>
              <a:ext cx="1317625" cy="919480"/>
            </a:xfrm>
            <a:custGeom>
              <a:avLst/>
              <a:gdLst/>
              <a:ahLst/>
              <a:cxnLst/>
              <a:rect l="l" t="t" r="r" b="b"/>
              <a:pathLst>
                <a:path w="1317625" h="919479">
                  <a:moveTo>
                    <a:pt x="1317498" y="0"/>
                  </a:moveTo>
                  <a:lnTo>
                    <a:pt x="0" y="0"/>
                  </a:lnTo>
                  <a:lnTo>
                    <a:pt x="0" y="918972"/>
                  </a:lnTo>
                  <a:lnTo>
                    <a:pt x="1317498" y="918972"/>
                  </a:lnTo>
                  <a:lnTo>
                    <a:pt x="131749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34478" y="3041141"/>
              <a:ext cx="387096" cy="25450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487156" y="3106673"/>
              <a:ext cx="966469" cy="132715"/>
            </a:xfrm>
            <a:custGeom>
              <a:avLst/>
              <a:gdLst/>
              <a:ahLst/>
              <a:cxnLst/>
              <a:rect l="l" t="t" r="r" b="b"/>
              <a:pathLst>
                <a:path w="966470" h="132714">
                  <a:moveTo>
                    <a:pt x="909297" y="66294"/>
                  </a:moveTo>
                  <a:lnTo>
                    <a:pt x="837819" y="107950"/>
                  </a:lnTo>
                  <a:lnTo>
                    <a:pt x="835533" y="116712"/>
                  </a:lnTo>
                  <a:lnTo>
                    <a:pt x="839597" y="123443"/>
                  </a:lnTo>
                  <a:lnTo>
                    <a:pt x="843534" y="130301"/>
                  </a:lnTo>
                  <a:lnTo>
                    <a:pt x="852297" y="132587"/>
                  </a:lnTo>
                  <a:lnTo>
                    <a:pt x="941351" y="80645"/>
                  </a:lnTo>
                  <a:lnTo>
                    <a:pt x="937641" y="80645"/>
                  </a:lnTo>
                  <a:lnTo>
                    <a:pt x="937641" y="78612"/>
                  </a:lnTo>
                  <a:lnTo>
                    <a:pt x="930401" y="78612"/>
                  </a:lnTo>
                  <a:lnTo>
                    <a:pt x="909297" y="66294"/>
                  </a:lnTo>
                  <a:close/>
                </a:path>
                <a:path w="966470" h="132714">
                  <a:moveTo>
                    <a:pt x="884928" y="52070"/>
                  </a:moveTo>
                  <a:lnTo>
                    <a:pt x="0" y="52070"/>
                  </a:lnTo>
                  <a:lnTo>
                    <a:pt x="0" y="80645"/>
                  </a:lnTo>
                  <a:lnTo>
                    <a:pt x="884711" y="80645"/>
                  </a:lnTo>
                  <a:lnTo>
                    <a:pt x="909297" y="66294"/>
                  </a:lnTo>
                  <a:lnTo>
                    <a:pt x="884928" y="52070"/>
                  </a:lnTo>
                  <a:close/>
                </a:path>
                <a:path w="966470" h="132714">
                  <a:moveTo>
                    <a:pt x="941574" y="52070"/>
                  </a:moveTo>
                  <a:lnTo>
                    <a:pt x="937641" y="52070"/>
                  </a:lnTo>
                  <a:lnTo>
                    <a:pt x="937641" y="80645"/>
                  </a:lnTo>
                  <a:lnTo>
                    <a:pt x="941351" y="80645"/>
                  </a:lnTo>
                  <a:lnTo>
                    <a:pt x="965961" y="66294"/>
                  </a:lnTo>
                  <a:lnTo>
                    <a:pt x="941574" y="52070"/>
                  </a:lnTo>
                  <a:close/>
                </a:path>
                <a:path w="966470" h="132714">
                  <a:moveTo>
                    <a:pt x="930401" y="53975"/>
                  </a:moveTo>
                  <a:lnTo>
                    <a:pt x="909297" y="66294"/>
                  </a:lnTo>
                  <a:lnTo>
                    <a:pt x="930401" y="78612"/>
                  </a:lnTo>
                  <a:lnTo>
                    <a:pt x="930401" y="53975"/>
                  </a:lnTo>
                  <a:close/>
                </a:path>
                <a:path w="966470" h="132714">
                  <a:moveTo>
                    <a:pt x="937641" y="53975"/>
                  </a:moveTo>
                  <a:lnTo>
                    <a:pt x="930401" y="53975"/>
                  </a:lnTo>
                  <a:lnTo>
                    <a:pt x="930401" y="78612"/>
                  </a:lnTo>
                  <a:lnTo>
                    <a:pt x="937641" y="78612"/>
                  </a:lnTo>
                  <a:lnTo>
                    <a:pt x="937641" y="53975"/>
                  </a:lnTo>
                  <a:close/>
                </a:path>
                <a:path w="966470" h="132714">
                  <a:moveTo>
                    <a:pt x="852297" y="0"/>
                  </a:moveTo>
                  <a:lnTo>
                    <a:pt x="843534" y="2286"/>
                  </a:lnTo>
                  <a:lnTo>
                    <a:pt x="839597" y="9143"/>
                  </a:lnTo>
                  <a:lnTo>
                    <a:pt x="835533" y="15875"/>
                  </a:lnTo>
                  <a:lnTo>
                    <a:pt x="837819" y="24637"/>
                  </a:lnTo>
                  <a:lnTo>
                    <a:pt x="909297" y="66294"/>
                  </a:lnTo>
                  <a:lnTo>
                    <a:pt x="930401" y="53975"/>
                  </a:lnTo>
                  <a:lnTo>
                    <a:pt x="937641" y="53975"/>
                  </a:lnTo>
                  <a:lnTo>
                    <a:pt x="937641" y="52070"/>
                  </a:lnTo>
                  <a:lnTo>
                    <a:pt x="941574" y="52070"/>
                  </a:lnTo>
                  <a:lnTo>
                    <a:pt x="8522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3870" y="1860803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70128" y="0"/>
                  </a:moveTo>
                  <a:lnTo>
                    <a:pt x="221573" y="4350"/>
                  </a:lnTo>
                  <a:lnTo>
                    <a:pt x="175872" y="16895"/>
                  </a:lnTo>
                  <a:lnTo>
                    <a:pt x="133790" y="36872"/>
                  </a:lnTo>
                  <a:lnTo>
                    <a:pt x="96088" y="63518"/>
                  </a:lnTo>
                  <a:lnTo>
                    <a:pt x="63531" y="96073"/>
                  </a:lnTo>
                  <a:lnTo>
                    <a:pt x="36880" y="133773"/>
                  </a:lnTo>
                  <a:lnTo>
                    <a:pt x="16900" y="175857"/>
                  </a:lnTo>
                  <a:lnTo>
                    <a:pt x="4352" y="221563"/>
                  </a:lnTo>
                  <a:lnTo>
                    <a:pt x="0" y="270129"/>
                  </a:lnTo>
                  <a:lnTo>
                    <a:pt x="4352" y="318694"/>
                  </a:lnTo>
                  <a:lnTo>
                    <a:pt x="16900" y="364400"/>
                  </a:lnTo>
                  <a:lnTo>
                    <a:pt x="36880" y="406484"/>
                  </a:lnTo>
                  <a:lnTo>
                    <a:pt x="63531" y="444184"/>
                  </a:lnTo>
                  <a:lnTo>
                    <a:pt x="96088" y="476739"/>
                  </a:lnTo>
                  <a:lnTo>
                    <a:pt x="133790" y="503385"/>
                  </a:lnTo>
                  <a:lnTo>
                    <a:pt x="175872" y="523362"/>
                  </a:lnTo>
                  <a:lnTo>
                    <a:pt x="221573" y="535907"/>
                  </a:lnTo>
                  <a:lnTo>
                    <a:pt x="270128" y="540258"/>
                  </a:lnTo>
                  <a:lnTo>
                    <a:pt x="318684" y="535907"/>
                  </a:lnTo>
                  <a:lnTo>
                    <a:pt x="364385" y="523362"/>
                  </a:lnTo>
                  <a:lnTo>
                    <a:pt x="406467" y="503385"/>
                  </a:lnTo>
                  <a:lnTo>
                    <a:pt x="444169" y="476739"/>
                  </a:lnTo>
                  <a:lnTo>
                    <a:pt x="476726" y="444184"/>
                  </a:lnTo>
                  <a:lnTo>
                    <a:pt x="503377" y="406484"/>
                  </a:lnTo>
                  <a:lnTo>
                    <a:pt x="523357" y="364400"/>
                  </a:lnTo>
                  <a:lnTo>
                    <a:pt x="535905" y="318694"/>
                  </a:lnTo>
                  <a:lnTo>
                    <a:pt x="540258" y="270129"/>
                  </a:lnTo>
                  <a:lnTo>
                    <a:pt x="535905" y="221563"/>
                  </a:lnTo>
                  <a:lnTo>
                    <a:pt x="523357" y="175857"/>
                  </a:lnTo>
                  <a:lnTo>
                    <a:pt x="503377" y="133773"/>
                  </a:lnTo>
                  <a:lnTo>
                    <a:pt x="476726" y="96073"/>
                  </a:lnTo>
                  <a:lnTo>
                    <a:pt x="444169" y="63518"/>
                  </a:lnTo>
                  <a:lnTo>
                    <a:pt x="406467" y="36872"/>
                  </a:lnTo>
                  <a:lnTo>
                    <a:pt x="364385" y="16895"/>
                  </a:lnTo>
                  <a:lnTo>
                    <a:pt x="318684" y="4350"/>
                  </a:lnTo>
                  <a:lnTo>
                    <a:pt x="27012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5518" y="2055113"/>
              <a:ext cx="76962" cy="15087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3870" y="2586989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70128" y="0"/>
                  </a:moveTo>
                  <a:lnTo>
                    <a:pt x="221573" y="4350"/>
                  </a:lnTo>
                  <a:lnTo>
                    <a:pt x="175872" y="16895"/>
                  </a:lnTo>
                  <a:lnTo>
                    <a:pt x="133790" y="36872"/>
                  </a:lnTo>
                  <a:lnTo>
                    <a:pt x="96088" y="63518"/>
                  </a:lnTo>
                  <a:lnTo>
                    <a:pt x="63531" y="96073"/>
                  </a:lnTo>
                  <a:lnTo>
                    <a:pt x="36880" y="133773"/>
                  </a:lnTo>
                  <a:lnTo>
                    <a:pt x="16900" y="175857"/>
                  </a:lnTo>
                  <a:lnTo>
                    <a:pt x="4352" y="221563"/>
                  </a:lnTo>
                  <a:lnTo>
                    <a:pt x="0" y="270129"/>
                  </a:lnTo>
                  <a:lnTo>
                    <a:pt x="4352" y="318694"/>
                  </a:lnTo>
                  <a:lnTo>
                    <a:pt x="16900" y="364400"/>
                  </a:lnTo>
                  <a:lnTo>
                    <a:pt x="36880" y="406484"/>
                  </a:lnTo>
                  <a:lnTo>
                    <a:pt x="63531" y="444184"/>
                  </a:lnTo>
                  <a:lnTo>
                    <a:pt x="96088" y="476739"/>
                  </a:lnTo>
                  <a:lnTo>
                    <a:pt x="133790" y="503385"/>
                  </a:lnTo>
                  <a:lnTo>
                    <a:pt x="175872" y="523362"/>
                  </a:lnTo>
                  <a:lnTo>
                    <a:pt x="221573" y="535907"/>
                  </a:lnTo>
                  <a:lnTo>
                    <a:pt x="270128" y="540258"/>
                  </a:lnTo>
                  <a:lnTo>
                    <a:pt x="318684" y="535907"/>
                  </a:lnTo>
                  <a:lnTo>
                    <a:pt x="364385" y="523362"/>
                  </a:lnTo>
                  <a:lnTo>
                    <a:pt x="406467" y="503385"/>
                  </a:lnTo>
                  <a:lnTo>
                    <a:pt x="444169" y="476739"/>
                  </a:lnTo>
                  <a:lnTo>
                    <a:pt x="476726" y="444184"/>
                  </a:lnTo>
                  <a:lnTo>
                    <a:pt x="503377" y="406484"/>
                  </a:lnTo>
                  <a:lnTo>
                    <a:pt x="523357" y="364400"/>
                  </a:lnTo>
                  <a:lnTo>
                    <a:pt x="535905" y="318694"/>
                  </a:lnTo>
                  <a:lnTo>
                    <a:pt x="540258" y="270129"/>
                  </a:lnTo>
                  <a:lnTo>
                    <a:pt x="535905" y="221563"/>
                  </a:lnTo>
                  <a:lnTo>
                    <a:pt x="523357" y="175857"/>
                  </a:lnTo>
                  <a:lnTo>
                    <a:pt x="503377" y="133773"/>
                  </a:lnTo>
                  <a:lnTo>
                    <a:pt x="476726" y="96073"/>
                  </a:lnTo>
                  <a:lnTo>
                    <a:pt x="444169" y="63518"/>
                  </a:lnTo>
                  <a:lnTo>
                    <a:pt x="406467" y="36872"/>
                  </a:lnTo>
                  <a:lnTo>
                    <a:pt x="364385" y="16895"/>
                  </a:lnTo>
                  <a:lnTo>
                    <a:pt x="318684" y="4350"/>
                  </a:lnTo>
                  <a:lnTo>
                    <a:pt x="27012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3692" y="2754629"/>
              <a:ext cx="340614" cy="20421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83870" y="334594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70128" y="0"/>
                  </a:moveTo>
                  <a:lnTo>
                    <a:pt x="221573" y="4350"/>
                  </a:lnTo>
                  <a:lnTo>
                    <a:pt x="175872" y="16895"/>
                  </a:lnTo>
                  <a:lnTo>
                    <a:pt x="133790" y="36872"/>
                  </a:lnTo>
                  <a:lnTo>
                    <a:pt x="96088" y="63518"/>
                  </a:lnTo>
                  <a:lnTo>
                    <a:pt x="63531" y="96073"/>
                  </a:lnTo>
                  <a:lnTo>
                    <a:pt x="36880" y="133773"/>
                  </a:lnTo>
                  <a:lnTo>
                    <a:pt x="16900" y="175857"/>
                  </a:lnTo>
                  <a:lnTo>
                    <a:pt x="4352" y="221563"/>
                  </a:lnTo>
                  <a:lnTo>
                    <a:pt x="0" y="270129"/>
                  </a:lnTo>
                  <a:lnTo>
                    <a:pt x="4352" y="318694"/>
                  </a:lnTo>
                  <a:lnTo>
                    <a:pt x="16900" y="364400"/>
                  </a:lnTo>
                  <a:lnTo>
                    <a:pt x="36880" y="406484"/>
                  </a:lnTo>
                  <a:lnTo>
                    <a:pt x="63531" y="444184"/>
                  </a:lnTo>
                  <a:lnTo>
                    <a:pt x="96088" y="476739"/>
                  </a:lnTo>
                  <a:lnTo>
                    <a:pt x="133790" y="503385"/>
                  </a:lnTo>
                  <a:lnTo>
                    <a:pt x="175872" y="523362"/>
                  </a:lnTo>
                  <a:lnTo>
                    <a:pt x="221573" y="535907"/>
                  </a:lnTo>
                  <a:lnTo>
                    <a:pt x="270128" y="540258"/>
                  </a:lnTo>
                  <a:lnTo>
                    <a:pt x="318684" y="535907"/>
                  </a:lnTo>
                  <a:lnTo>
                    <a:pt x="364385" y="523362"/>
                  </a:lnTo>
                  <a:lnTo>
                    <a:pt x="406467" y="503385"/>
                  </a:lnTo>
                  <a:lnTo>
                    <a:pt x="444169" y="476739"/>
                  </a:lnTo>
                  <a:lnTo>
                    <a:pt x="476726" y="444184"/>
                  </a:lnTo>
                  <a:lnTo>
                    <a:pt x="503377" y="406484"/>
                  </a:lnTo>
                  <a:lnTo>
                    <a:pt x="523357" y="364400"/>
                  </a:lnTo>
                  <a:lnTo>
                    <a:pt x="535905" y="318694"/>
                  </a:lnTo>
                  <a:lnTo>
                    <a:pt x="540258" y="270129"/>
                  </a:lnTo>
                  <a:lnTo>
                    <a:pt x="535905" y="221563"/>
                  </a:lnTo>
                  <a:lnTo>
                    <a:pt x="523357" y="175857"/>
                  </a:lnTo>
                  <a:lnTo>
                    <a:pt x="503377" y="133773"/>
                  </a:lnTo>
                  <a:lnTo>
                    <a:pt x="476726" y="96073"/>
                  </a:lnTo>
                  <a:lnTo>
                    <a:pt x="444169" y="63518"/>
                  </a:lnTo>
                  <a:lnTo>
                    <a:pt x="406467" y="36872"/>
                  </a:lnTo>
                  <a:lnTo>
                    <a:pt x="364385" y="16895"/>
                  </a:lnTo>
                  <a:lnTo>
                    <a:pt x="318684" y="4350"/>
                  </a:lnTo>
                  <a:lnTo>
                    <a:pt x="27012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3692" y="3513581"/>
              <a:ext cx="340614" cy="20421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2440" y="4481322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70128" y="0"/>
                  </a:moveTo>
                  <a:lnTo>
                    <a:pt x="221573" y="4350"/>
                  </a:lnTo>
                  <a:lnTo>
                    <a:pt x="175872" y="16895"/>
                  </a:lnTo>
                  <a:lnTo>
                    <a:pt x="133790" y="36872"/>
                  </a:lnTo>
                  <a:lnTo>
                    <a:pt x="96088" y="63518"/>
                  </a:lnTo>
                  <a:lnTo>
                    <a:pt x="63531" y="96073"/>
                  </a:lnTo>
                  <a:lnTo>
                    <a:pt x="36880" y="133773"/>
                  </a:lnTo>
                  <a:lnTo>
                    <a:pt x="16900" y="175857"/>
                  </a:lnTo>
                  <a:lnTo>
                    <a:pt x="4352" y="221563"/>
                  </a:lnTo>
                  <a:lnTo>
                    <a:pt x="0" y="270128"/>
                  </a:lnTo>
                  <a:lnTo>
                    <a:pt x="4352" y="318694"/>
                  </a:lnTo>
                  <a:lnTo>
                    <a:pt x="16900" y="364400"/>
                  </a:lnTo>
                  <a:lnTo>
                    <a:pt x="36880" y="406484"/>
                  </a:lnTo>
                  <a:lnTo>
                    <a:pt x="63531" y="444184"/>
                  </a:lnTo>
                  <a:lnTo>
                    <a:pt x="96088" y="476739"/>
                  </a:lnTo>
                  <a:lnTo>
                    <a:pt x="133790" y="503385"/>
                  </a:lnTo>
                  <a:lnTo>
                    <a:pt x="175872" y="523362"/>
                  </a:lnTo>
                  <a:lnTo>
                    <a:pt x="221573" y="535907"/>
                  </a:lnTo>
                  <a:lnTo>
                    <a:pt x="270128" y="540257"/>
                  </a:lnTo>
                  <a:lnTo>
                    <a:pt x="318684" y="535907"/>
                  </a:lnTo>
                  <a:lnTo>
                    <a:pt x="364385" y="523362"/>
                  </a:lnTo>
                  <a:lnTo>
                    <a:pt x="406467" y="503385"/>
                  </a:lnTo>
                  <a:lnTo>
                    <a:pt x="444169" y="476739"/>
                  </a:lnTo>
                  <a:lnTo>
                    <a:pt x="476726" y="444184"/>
                  </a:lnTo>
                  <a:lnTo>
                    <a:pt x="503377" y="406484"/>
                  </a:lnTo>
                  <a:lnTo>
                    <a:pt x="523357" y="364400"/>
                  </a:lnTo>
                  <a:lnTo>
                    <a:pt x="535905" y="318694"/>
                  </a:lnTo>
                  <a:lnTo>
                    <a:pt x="540257" y="270128"/>
                  </a:lnTo>
                  <a:lnTo>
                    <a:pt x="535905" y="221563"/>
                  </a:lnTo>
                  <a:lnTo>
                    <a:pt x="523357" y="175857"/>
                  </a:lnTo>
                  <a:lnTo>
                    <a:pt x="503377" y="133773"/>
                  </a:lnTo>
                  <a:lnTo>
                    <a:pt x="476726" y="96073"/>
                  </a:lnTo>
                  <a:lnTo>
                    <a:pt x="444169" y="63518"/>
                  </a:lnTo>
                  <a:lnTo>
                    <a:pt x="406467" y="36872"/>
                  </a:lnTo>
                  <a:lnTo>
                    <a:pt x="364385" y="16895"/>
                  </a:lnTo>
                  <a:lnTo>
                    <a:pt x="318684" y="4350"/>
                  </a:lnTo>
                  <a:lnTo>
                    <a:pt x="27012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024" y="4648961"/>
              <a:ext cx="343661" cy="20497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774698" y="1840229"/>
              <a:ext cx="673100" cy="540385"/>
            </a:xfrm>
            <a:custGeom>
              <a:avLst/>
              <a:gdLst/>
              <a:ahLst/>
              <a:cxnLst/>
              <a:rect l="l" t="t" r="r" b="b"/>
              <a:pathLst>
                <a:path w="673100" h="540385">
                  <a:moveTo>
                    <a:pt x="582802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582802" y="540258"/>
                  </a:lnTo>
                  <a:lnTo>
                    <a:pt x="617874" y="533189"/>
                  </a:lnTo>
                  <a:lnTo>
                    <a:pt x="646493" y="513905"/>
                  </a:lnTo>
                  <a:lnTo>
                    <a:pt x="665777" y="485286"/>
                  </a:lnTo>
                  <a:lnTo>
                    <a:pt x="672845" y="450215"/>
                  </a:lnTo>
                  <a:lnTo>
                    <a:pt x="672845" y="90043"/>
                  </a:lnTo>
                  <a:lnTo>
                    <a:pt x="665777" y="54971"/>
                  </a:lnTo>
                  <a:lnTo>
                    <a:pt x="646493" y="26352"/>
                  </a:lnTo>
                  <a:lnTo>
                    <a:pt x="617874" y="7068"/>
                  </a:lnTo>
                  <a:lnTo>
                    <a:pt x="58280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10918" y="2000249"/>
              <a:ext cx="201168" cy="2194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774698" y="2593085"/>
              <a:ext cx="673100" cy="540385"/>
            </a:xfrm>
            <a:custGeom>
              <a:avLst/>
              <a:gdLst/>
              <a:ahLst/>
              <a:cxnLst/>
              <a:rect l="l" t="t" r="r" b="b"/>
              <a:pathLst>
                <a:path w="673100" h="540385">
                  <a:moveTo>
                    <a:pt x="582802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2"/>
                  </a:lnTo>
                  <a:lnTo>
                    <a:pt x="0" y="450214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582802" y="540258"/>
                  </a:lnTo>
                  <a:lnTo>
                    <a:pt x="617874" y="533189"/>
                  </a:lnTo>
                  <a:lnTo>
                    <a:pt x="646493" y="513905"/>
                  </a:lnTo>
                  <a:lnTo>
                    <a:pt x="665777" y="485286"/>
                  </a:lnTo>
                  <a:lnTo>
                    <a:pt x="672845" y="450214"/>
                  </a:lnTo>
                  <a:lnTo>
                    <a:pt x="672845" y="90042"/>
                  </a:lnTo>
                  <a:lnTo>
                    <a:pt x="665777" y="54971"/>
                  </a:lnTo>
                  <a:lnTo>
                    <a:pt x="646493" y="26352"/>
                  </a:lnTo>
                  <a:lnTo>
                    <a:pt x="617874" y="7068"/>
                  </a:lnTo>
                  <a:lnTo>
                    <a:pt x="58280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10918" y="2753105"/>
              <a:ext cx="193548" cy="21640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8601" y="3345941"/>
              <a:ext cx="672465" cy="540385"/>
            </a:xfrm>
            <a:custGeom>
              <a:avLst/>
              <a:gdLst/>
              <a:ahLst/>
              <a:cxnLst/>
              <a:rect l="l" t="t" r="r" b="b"/>
              <a:pathLst>
                <a:path w="672464" h="540385">
                  <a:moveTo>
                    <a:pt x="582041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582041" y="540258"/>
                  </a:lnTo>
                  <a:lnTo>
                    <a:pt x="617112" y="533189"/>
                  </a:lnTo>
                  <a:lnTo>
                    <a:pt x="645731" y="513905"/>
                  </a:lnTo>
                  <a:lnTo>
                    <a:pt x="665015" y="485286"/>
                  </a:lnTo>
                  <a:lnTo>
                    <a:pt x="672084" y="450215"/>
                  </a:lnTo>
                  <a:lnTo>
                    <a:pt x="672084" y="90043"/>
                  </a:lnTo>
                  <a:lnTo>
                    <a:pt x="665015" y="54971"/>
                  </a:lnTo>
                  <a:lnTo>
                    <a:pt x="645731" y="26352"/>
                  </a:lnTo>
                  <a:lnTo>
                    <a:pt x="617112" y="7068"/>
                  </a:lnTo>
                  <a:lnTo>
                    <a:pt x="582041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04059" y="3505961"/>
              <a:ext cx="199644" cy="21640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768601" y="4481322"/>
              <a:ext cx="672465" cy="540385"/>
            </a:xfrm>
            <a:custGeom>
              <a:avLst/>
              <a:gdLst/>
              <a:ahLst/>
              <a:cxnLst/>
              <a:rect l="l" t="t" r="r" b="b"/>
              <a:pathLst>
                <a:path w="672464" h="540385">
                  <a:moveTo>
                    <a:pt x="582041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2"/>
                  </a:lnTo>
                  <a:lnTo>
                    <a:pt x="0" y="450214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7"/>
                  </a:lnTo>
                  <a:lnTo>
                    <a:pt x="582041" y="540257"/>
                  </a:lnTo>
                  <a:lnTo>
                    <a:pt x="617112" y="533189"/>
                  </a:lnTo>
                  <a:lnTo>
                    <a:pt x="645731" y="513905"/>
                  </a:lnTo>
                  <a:lnTo>
                    <a:pt x="665015" y="485286"/>
                  </a:lnTo>
                  <a:lnTo>
                    <a:pt x="672084" y="450214"/>
                  </a:lnTo>
                  <a:lnTo>
                    <a:pt x="672084" y="90042"/>
                  </a:lnTo>
                  <a:lnTo>
                    <a:pt x="665015" y="54971"/>
                  </a:lnTo>
                  <a:lnTo>
                    <a:pt x="645731" y="26352"/>
                  </a:lnTo>
                  <a:lnTo>
                    <a:pt x="617112" y="7068"/>
                  </a:lnTo>
                  <a:lnTo>
                    <a:pt x="582041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04059" y="4642103"/>
              <a:ext cx="211836" cy="21793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12698" y="2109977"/>
              <a:ext cx="762635" cy="2642235"/>
            </a:xfrm>
            <a:custGeom>
              <a:avLst/>
              <a:gdLst/>
              <a:ahLst/>
              <a:cxnLst/>
              <a:rect l="l" t="t" r="r" b="b"/>
              <a:pathLst>
                <a:path w="762635" h="2642235">
                  <a:moveTo>
                    <a:pt x="11430" y="20700"/>
                  </a:moveTo>
                  <a:lnTo>
                    <a:pt x="762381" y="0"/>
                  </a:lnTo>
                </a:path>
                <a:path w="762635" h="2642235">
                  <a:moveTo>
                    <a:pt x="11430" y="746760"/>
                  </a:moveTo>
                  <a:lnTo>
                    <a:pt x="762381" y="752856"/>
                  </a:lnTo>
                </a:path>
                <a:path w="762635" h="2642235">
                  <a:moveTo>
                    <a:pt x="11430" y="1505712"/>
                  </a:moveTo>
                  <a:lnTo>
                    <a:pt x="755650" y="1505712"/>
                  </a:lnTo>
                </a:path>
                <a:path w="762635" h="2642235">
                  <a:moveTo>
                    <a:pt x="0" y="2641854"/>
                  </a:moveTo>
                  <a:lnTo>
                    <a:pt x="755522" y="2641854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67684" y="2708147"/>
              <a:ext cx="1318260" cy="920115"/>
            </a:xfrm>
            <a:custGeom>
              <a:avLst/>
              <a:gdLst/>
              <a:ahLst/>
              <a:cxnLst/>
              <a:rect l="l" t="t" r="r" b="b"/>
              <a:pathLst>
                <a:path w="1318260" h="920114">
                  <a:moveTo>
                    <a:pt x="1318260" y="0"/>
                  </a:moveTo>
                  <a:lnTo>
                    <a:pt x="0" y="0"/>
                  </a:lnTo>
                  <a:lnTo>
                    <a:pt x="0" y="919733"/>
                  </a:lnTo>
                  <a:lnTo>
                    <a:pt x="1318260" y="919733"/>
                  </a:lnTo>
                  <a:lnTo>
                    <a:pt x="1318260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02607" y="3030473"/>
              <a:ext cx="248412" cy="27508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429002" y="2099563"/>
              <a:ext cx="1139190" cy="2660650"/>
            </a:xfrm>
            <a:custGeom>
              <a:avLst/>
              <a:gdLst/>
              <a:ahLst/>
              <a:cxnLst/>
              <a:rect l="l" t="t" r="r" b="b"/>
              <a:pathLst>
                <a:path w="1139189" h="2660650">
                  <a:moveTo>
                    <a:pt x="1139190" y="1068324"/>
                  </a:moveTo>
                  <a:lnTo>
                    <a:pt x="1136497" y="1059307"/>
                  </a:lnTo>
                  <a:lnTo>
                    <a:pt x="1104265" y="949706"/>
                  </a:lnTo>
                  <a:lnTo>
                    <a:pt x="1102004" y="942213"/>
                  </a:lnTo>
                  <a:lnTo>
                    <a:pt x="1102207" y="942213"/>
                  </a:lnTo>
                  <a:lnTo>
                    <a:pt x="1094105" y="937768"/>
                  </a:lnTo>
                  <a:lnTo>
                    <a:pt x="1086485" y="940054"/>
                  </a:lnTo>
                  <a:lnTo>
                    <a:pt x="1078992" y="942213"/>
                  </a:lnTo>
                  <a:lnTo>
                    <a:pt x="1074674" y="950214"/>
                  </a:lnTo>
                  <a:lnTo>
                    <a:pt x="1076833" y="957707"/>
                  </a:lnTo>
                  <a:lnTo>
                    <a:pt x="1089977" y="1002347"/>
                  </a:lnTo>
                  <a:lnTo>
                    <a:pt x="28321" y="0"/>
                  </a:lnTo>
                  <a:lnTo>
                    <a:pt x="8763" y="20828"/>
                  </a:lnTo>
                  <a:lnTo>
                    <a:pt x="1028547" y="983640"/>
                  </a:lnTo>
                  <a:lnTo>
                    <a:pt x="1026668" y="985520"/>
                  </a:lnTo>
                  <a:lnTo>
                    <a:pt x="1026541" y="994537"/>
                  </a:lnTo>
                  <a:lnTo>
                    <a:pt x="1032129" y="1000125"/>
                  </a:lnTo>
                  <a:lnTo>
                    <a:pt x="1050036" y="1018387"/>
                  </a:lnTo>
                  <a:lnTo>
                    <a:pt x="1017397" y="1010793"/>
                  </a:lnTo>
                  <a:lnTo>
                    <a:pt x="1009777" y="1015492"/>
                  </a:lnTo>
                  <a:lnTo>
                    <a:pt x="1009154" y="1018159"/>
                  </a:lnTo>
                  <a:lnTo>
                    <a:pt x="22352" y="749427"/>
                  </a:lnTo>
                  <a:lnTo>
                    <a:pt x="14732" y="777113"/>
                  </a:lnTo>
                  <a:lnTo>
                    <a:pt x="1020927" y="1050975"/>
                  </a:lnTo>
                  <a:lnTo>
                    <a:pt x="1008888" y="1049147"/>
                  </a:lnTo>
                  <a:lnTo>
                    <a:pt x="1001522" y="1054481"/>
                  </a:lnTo>
                  <a:lnTo>
                    <a:pt x="999236" y="1070102"/>
                  </a:lnTo>
                  <a:lnTo>
                    <a:pt x="1003808" y="1076325"/>
                  </a:lnTo>
                  <a:lnTo>
                    <a:pt x="1000125" y="1082675"/>
                  </a:lnTo>
                  <a:lnTo>
                    <a:pt x="1004189" y="1097915"/>
                  </a:lnTo>
                  <a:lnTo>
                    <a:pt x="1012063" y="1102487"/>
                  </a:lnTo>
                  <a:lnTo>
                    <a:pt x="1023239" y="1099489"/>
                  </a:lnTo>
                  <a:lnTo>
                    <a:pt x="6350" y="1503426"/>
                  </a:lnTo>
                  <a:lnTo>
                    <a:pt x="17018" y="1529969"/>
                  </a:lnTo>
                  <a:lnTo>
                    <a:pt x="1016520" y="1132903"/>
                  </a:lnTo>
                  <a:lnTo>
                    <a:pt x="1019048" y="1138555"/>
                  </a:lnTo>
                  <a:lnTo>
                    <a:pt x="1022350" y="1145794"/>
                  </a:lnTo>
                  <a:lnTo>
                    <a:pt x="1030732" y="1148969"/>
                  </a:lnTo>
                  <a:lnTo>
                    <a:pt x="1037971" y="1145794"/>
                  </a:lnTo>
                  <a:lnTo>
                    <a:pt x="1044879" y="1142669"/>
                  </a:lnTo>
                  <a:lnTo>
                    <a:pt x="1040257" y="1148588"/>
                  </a:lnTo>
                  <a:lnTo>
                    <a:pt x="1035304" y="1154811"/>
                  </a:lnTo>
                  <a:lnTo>
                    <a:pt x="1036447" y="1163828"/>
                  </a:lnTo>
                  <a:lnTo>
                    <a:pt x="1047572" y="1172464"/>
                  </a:lnTo>
                  <a:lnTo>
                    <a:pt x="0" y="2643886"/>
                  </a:lnTo>
                  <a:lnTo>
                    <a:pt x="23368" y="2660523"/>
                  </a:lnTo>
                  <a:lnTo>
                    <a:pt x="1103515" y="1143355"/>
                  </a:lnTo>
                  <a:lnTo>
                    <a:pt x="1099312" y="1189482"/>
                  </a:lnTo>
                  <a:lnTo>
                    <a:pt x="1098550" y="1197229"/>
                  </a:lnTo>
                  <a:lnTo>
                    <a:pt x="1104392" y="1204214"/>
                  </a:lnTo>
                  <a:lnTo>
                    <a:pt x="1112266" y="1204976"/>
                  </a:lnTo>
                  <a:lnTo>
                    <a:pt x="1120140" y="1205611"/>
                  </a:lnTo>
                  <a:lnTo>
                    <a:pt x="1127125" y="1199896"/>
                  </a:lnTo>
                  <a:lnTo>
                    <a:pt x="1127760" y="1192022"/>
                  </a:lnTo>
                  <a:lnTo>
                    <a:pt x="1137589" y="1083564"/>
                  </a:lnTo>
                  <a:lnTo>
                    <a:pt x="1138910" y="1069022"/>
                  </a:lnTo>
                  <a:lnTo>
                    <a:pt x="1139063" y="1068832"/>
                  </a:lnTo>
                  <a:lnTo>
                    <a:pt x="1137945" y="1068666"/>
                  </a:lnTo>
                  <a:lnTo>
                    <a:pt x="1138936" y="1068400"/>
                  </a:lnTo>
                  <a:lnTo>
                    <a:pt x="1139190" y="1068451"/>
                  </a:lnTo>
                  <a:lnTo>
                    <a:pt x="1139190" y="1068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" name="object 4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603485" y="2926842"/>
            <a:ext cx="2086355" cy="3558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578865"/>
            <a:ext cx="1765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Classification: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3982" y="4526279"/>
            <a:ext cx="3425190" cy="7589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290" y="5502402"/>
            <a:ext cx="5444490" cy="230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5290" y="6005321"/>
            <a:ext cx="5881878" cy="1813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5290" y="3566921"/>
            <a:ext cx="7689342" cy="25374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5290" y="3960114"/>
            <a:ext cx="4357878" cy="23317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636" y="1040130"/>
            <a:ext cx="7887461" cy="22379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578865"/>
            <a:ext cx="722122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  <a:tabLst>
                <a:tab pos="297815" algn="l"/>
              </a:tabLst>
            </a:pPr>
            <a:r>
              <a:rPr sz="1800" spc="-50" dirty="0">
                <a:latin typeface="Segoe Print"/>
                <a:cs typeface="Segoe Print"/>
              </a:rPr>
              <a:t>-</a:t>
            </a:r>
            <a:r>
              <a:rPr sz="1800" dirty="0">
                <a:latin typeface="Segoe Print"/>
                <a:cs typeface="Segoe Print"/>
              </a:rPr>
              <a:t>	Disease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prediction: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Diagnose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cancer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given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size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tumor.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0" y="191997"/>
            <a:ext cx="6096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518" y="1679448"/>
            <a:ext cx="1746504" cy="2194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518" y="2100833"/>
            <a:ext cx="8192261" cy="230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518" y="2515361"/>
            <a:ext cx="3826764" cy="2270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4188" y="2929127"/>
            <a:ext cx="2733293" cy="2971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31029" y="2943605"/>
            <a:ext cx="3595878" cy="2545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4518" y="3602735"/>
            <a:ext cx="3019044" cy="2270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04188" y="4043934"/>
            <a:ext cx="5609082" cy="49453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92095" y="4927853"/>
            <a:ext cx="5196839" cy="25374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4518" y="5590032"/>
            <a:ext cx="5609082" cy="25450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77534" y="5590032"/>
            <a:ext cx="2093975" cy="2270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84107" y="5576315"/>
            <a:ext cx="2139696" cy="2545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28F3-72B1-496D-8D3B-EB498BCD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sigmoid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22033-D268-40EA-8B19-F7E457583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classify using regression models we replace the linear function with the sigmoid function:   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y </a:t>
            </a:r>
            <a:r>
              <a:rPr lang="en-US" dirty="0"/>
              <a:t>| </a:t>
            </a:r>
            <a:r>
              <a:rPr lang="en-US" i="1" dirty="0"/>
              <a:t>X</a:t>
            </a:r>
            <a:r>
              <a:rPr lang="en-US" dirty="0"/>
              <a:t>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Ɵ</a:t>
            </a:r>
            <a:r>
              <a:rPr lang="en-US" dirty="0"/>
              <a:t> 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834DC-8343-4A88-97C7-7106BEA1C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971800"/>
            <a:ext cx="8458200" cy="263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90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CCB04-EEA5-4444-8E82-CB4B78B15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vs. Linear regression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CED957-6ACC-4E18-8ECB-E40833125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6600" y="1690688"/>
            <a:ext cx="56388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62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143000"/>
            <a:ext cx="6022340" cy="1664558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Logistic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Regression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Loss/Cost</a:t>
            </a:r>
            <a:r>
              <a:rPr sz="2400" spc="-2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Segoe Print"/>
                <a:cs typeface="Segoe Print"/>
              </a:rPr>
              <a:t>Function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Logistic</a:t>
            </a:r>
            <a:r>
              <a:rPr sz="2400" spc="-8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Regression</a:t>
            </a:r>
            <a:r>
              <a:rPr sz="2400" spc="-9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Gradient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Descent</a:t>
            </a:r>
            <a:endParaRPr sz="2400" dirty="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838" y="-94588"/>
            <a:ext cx="9525762" cy="1124026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084954">
              <a:lnSpc>
                <a:spcPct val="100000"/>
              </a:lnSpc>
              <a:spcBef>
                <a:spcPts val="405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Model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Training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(Learning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of</a:t>
            </a:r>
            <a:r>
              <a:rPr sz="2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 </a:t>
            </a:r>
            <a:r>
              <a:rPr sz="2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Parameters):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227838" y="4587494"/>
            <a:ext cx="99314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50000"/>
              </a:lnSpc>
              <a:spcBef>
                <a:spcPts val="100"/>
              </a:spcBef>
              <a:buFont typeface="Segoe Print"/>
              <a:buChar char="-"/>
              <a:tabLst>
                <a:tab pos="297815" algn="l"/>
              </a:tabLst>
            </a:pPr>
            <a:r>
              <a:rPr sz="1800" b="1" dirty="0">
                <a:solidFill>
                  <a:srgbClr val="00AF50"/>
                </a:solidFill>
                <a:latin typeface="Segoe Print"/>
                <a:cs typeface="Segoe Print"/>
              </a:rPr>
              <a:t>Objective:</a:t>
            </a:r>
            <a:r>
              <a:rPr sz="1800" b="1" spc="-2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Given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training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data,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that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n</a:t>
            </a:r>
            <a:r>
              <a:rPr sz="1800" b="1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training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samples,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want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find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spc="-25" dirty="0">
                <a:latin typeface="Segoe Print"/>
                <a:cs typeface="Segoe Print"/>
              </a:rPr>
              <a:t>the </a:t>
            </a:r>
            <a:r>
              <a:rPr sz="1800" dirty="0">
                <a:latin typeface="Segoe Print"/>
                <a:cs typeface="Segoe Print"/>
              </a:rPr>
              <a:t>parameters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model.</a:t>
            </a:r>
            <a:endParaRPr sz="180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first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formulate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loss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(cost,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objective)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function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that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want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optimize.</a:t>
            </a:r>
            <a:endParaRPr sz="180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will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employ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gradient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descent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solve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optimization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problem.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554" y="1039367"/>
            <a:ext cx="7440168" cy="861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0573" y="3204972"/>
            <a:ext cx="1351788" cy="4389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9146" y="3204972"/>
            <a:ext cx="2086355" cy="35661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7838" y="2487421"/>
            <a:ext cx="32943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Logistic</a:t>
            </a:r>
            <a:r>
              <a:rPr sz="2400" b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regression</a:t>
            </a:r>
            <a:r>
              <a:rPr sz="24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model: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68367" y="4088129"/>
            <a:ext cx="4900422" cy="2270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49146" y="4074414"/>
            <a:ext cx="1963674" cy="2545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1554" y="2173985"/>
            <a:ext cx="1481328" cy="2758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578865"/>
            <a:ext cx="722122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Loss/Cost</a:t>
            </a:r>
            <a:r>
              <a:rPr sz="2400" b="1" u="sng" spc="-1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Function: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  <a:tabLst>
                <a:tab pos="297815" algn="l"/>
              </a:tabLst>
            </a:pPr>
            <a:r>
              <a:rPr sz="1800" spc="-50" dirty="0">
                <a:latin typeface="Segoe Print"/>
                <a:cs typeface="Segoe Print"/>
              </a:rPr>
              <a:t>-</a:t>
            </a:r>
            <a:r>
              <a:rPr sz="1800" dirty="0">
                <a:latin typeface="Segoe Print"/>
                <a:cs typeface="Segoe Print"/>
              </a:rPr>
              <a:t>	</a:t>
            </a:r>
            <a:r>
              <a:rPr sz="1800" b="1" dirty="0">
                <a:latin typeface="Segoe Print"/>
                <a:cs typeface="Segoe Print"/>
              </a:rPr>
              <a:t>Candidate</a:t>
            </a:r>
            <a:r>
              <a:rPr sz="1800" b="1" spc="-15" dirty="0"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1:</a:t>
            </a:r>
            <a:r>
              <a:rPr sz="1800" b="1" spc="-10" dirty="0">
                <a:latin typeface="Segoe Print"/>
                <a:cs typeface="Segoe Print"/>
              </a:rPr>
              <a:t> </a:t>
            </a:r>
            <a:r>
              <a:rPr sz="1800" spc="-20" dirty="0">
                <a:solidFill>
                  <a:srgbClr val="C00000"/>
                </a:solidFill>
                <a:latin typeface="Segoe Print"/>
                <a:cs typeface="Segoe Print"/>
              </a:rPr>
              <a:t>Squared-</a:t>
            </a:r>
            <a:r>
              <a:rPr sz="1800" dirty="0">
                <a:solidFill>
                  <a:srgbClr val="C00000"/>
                </a:solidFill>
                <a:latin typeface="Segoe Print"/>
                <a:cs typeface="Segoe Print"/>
              </a:rPr>
              <a:t>error</a:t>
            </a:r>
            <a:r>
              <a:rPr sz="1800" dirty="0">
                <a:latin typeface="Segoe Print"/>
                <a:cs typeface="Segoe Print"/>
              </a:rPr>
              <a:t>,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one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used</a:t>
            </a:r>
            <a:r>
              <a:rPr sz="1800" spc="-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regression.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5200" y="158166"/>
            <a:ext cx="6324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9185" y="1669542"/>
            <a:ext cx="5772150" cy="6934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7838" y="3676650"/>
            <a:ext cx="10671175" cy="20828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1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wish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have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loss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function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that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differentiable</a:t>
            </a:r>
            <a:r>
              <a:rPr sz="1800" spc="-1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and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Segoe Print"/>
                <a:cs typeface="Segoe Print"/>
              </a:rPr>
              <a:t>convex</a:t>
            </a:r>
            <a:r>
              <a:rPr sz="1800" spc="-10" dirty="0">
                <a:latin typeface="Segoe Print"/>
                <a:cs typeface="Segoe Print"/>
              </a:rPr>
              <a:t>.</a:t>
            </a:r>
            <a:endParaRPr sz="180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20" dirty="0">
                <a:latin typeface="Segoe Print"/>
                <a:cs typeface="Segoe Print"/>
              </a:rPr>
              <a:t>squared-</a:t>
            </a:r>
            <a:r>
              <a:rPr sz="1800" dirty="0">
                <a:latin typeface="Segoe Print"/>
                <a:cs typeface="Segoe Print"/>
              </a:rPr>
              <a:t>error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not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convex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function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due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sigmoid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operation.</a:t>
            </a:r>
            <a:endParaRPr sz="180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Due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non-</a:t>
            </a:r>
            <a:r>
              <a:rPr sz="1800" dirty="0">
                <a:latin typeface="Segoe Print"/>
                <a:cs typeface="Segoe Print"/>
              </a:rPr>
              <a:t>convexity,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cannot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numerically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solve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find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global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minima.</a:t>
            </a:r>
            <a:endParaRPr sz="1800">
              <a:latin typeface="Segoe Print"/>
              <a:cs typeface="Segoe Print"/>
            </a:endParaRPr>
          </a:p>
          <a:p>
            <a:pPr marL="297815" marR="5080" indent="-285750">
              <a:lnSpc>
                <a:spcPct val="150000"/>
              </a:lnSpc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Furthermore,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hypothesis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function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estimating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probability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and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do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not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spc="-25" dirty="0">
                <a:latin typeface="Segoe Print"/>
                <a:cs typeface="Segoe Print"/>
              </a:rPr>
              <a:t>use </a:t>
            </a:r>
            <a:r>
              <a:rPr sz="1800" dirty="0">
                <a:latin typeface="Segoe Print"/>
                <a:cs typeface="Segoe Print"/>
              </a:rPr>
              <a:t>difference</a:t>
            </a:r>
            <a:r>
              <a:rPr sz="1800" spc="-6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operation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determine</a:t>
            </a:r>
            <a:r>
              <a:rPr sz="1800" spc="-6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distance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between</a:t>
            </a:r>
            <a:r>
              <a:rPr sz="1800" spc="-6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two</a:t>
            </a:r>
            <a:r>
              <a:rPr sz="1800" spc="-7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probability</a:t>
            </a:r>
            <a:r>
              <a:rPr sz="1800" spc="-6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distributions.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9185" y="2737866"/>
            <a:ext cx="371017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578865"/>
            <a:ext cx="9438640" cy="348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Loss/Cost</a:t>
            </a:r>
            <a:r>
              <a:rPr sz="2400" b="1" u="sng" spc="-1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Function:</a:t>
            </a:r>
            <a:endParaRPr sz="2400">
              <a:latin typeface="Calibri"/>
              <a:cs typeface="Calibri"/>
            </a:endParaRPr>
          </a:p>
          <a:p>
            <a:pPr marL="297815" marR="506095" indent="-285750">
              <a:lnSpc>
                <a:spcPct val="150000"/>
              </a:lnSpc>
              <a:spcBef>
                <a:spcPts val="390"/>
              </a:spcBef>
              <a:buFont typeface="Segoe Print"/>
              <a:buChar char="-"/>
              <a:tabLst>
                <a:tab pos="297815" algn="l"/>
              </a:tabLst>
            </a:pPr>
            <a:r>
              <a:rPr sz="1800" b="1" dirty="0">
                <a:latin typeface="Segoe Print"/>
                <a:cs typeface="Segoe Print"/>
              </a:rPr>
              <a:t>Candidate</a:t>
            </a:r>
            <a:r>
              <a:rPr sz="1800" b="1" spc="-30" dirty="0"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2:</a:t>
            </a:r>
            <a:r>
              <a:rPr sz="1800" b="1" spc="-20" dirty="0"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Cross</a:t>
            </a:r>
            <a:r>
              <a:rPr sz="1800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entropy</a:t>
            </a:r>
            <a:r>
              <a:rPr sz="18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loss</a:t>
            </a:r>
            <a:r>
              <a:rPr sz="1800" spc="-3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or</a:t>
            </a:r>
            <a:r>
              <a:rPr sz="1800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Log</a:t>
            </a:r>
            <a:r>
              <a:rPr sz="1800" spc="-2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loss</a:t>
            </a:r>
            <a:r>
              <a:rPr sz="1800" spc="-2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function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used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when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classifier </a:t>
            </a:r>
            <a:r>
              <a:rPr sz="1800" dirty="0">
                <a:latin typeface="Segoe Print"/>
                <a:cs typeface="Segoe Print"/>
              </a:rPr>
              <a:t>output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terms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probability.</a:t>
            </a:r>
            <a:endParaRPr sz="1800">
              <a:latin typeface="Segoe Print"/>
              <a:cs typeface="Segoe Print"/>
            </a:endParaRPr>
          </a:p>
          <a:p>
            <a:pPr marL="297815" marR="468630" indent="-285750">
              <a:lnSpc>
                <a:spcPct val="150000"/>
              </a:lnSpc>
              <a:buChar char="-"/>
              <a:tabLst>
                <a:tab pos="297815" algn="l"/>
                <a:tab pos="1028065" algn="l"/>
              </a:tabLst>
            </a:pPr>
            <a:r>
              <a:rPr sz="1800" spc="-10" dirty="0">
                <a:latin typeface="Segoe Print"/>
                <a:cs typeface="Segoe Print"/>
              </a:rPr>
              <a:t>Idea:</a:t>
            </a:r>
            <a:r>
              <a:rPr sz="1800" dirty="0">
                <a:latin typeface="Segoe Print"/>
                <a:cs typeface="Segoe Print"/>
              </a:rPr>
              <a:t>	</a:t>
            </a:r>
            <a:r>
              <a:rPr sz="1800" spc="-10" dirty="0">
                <a:latin typeface="Segoe Print"/>
                <a:cs typeface="Segoe Print"/>
              </a:rPr>
              <a:t>Cross-</a:t>
            </a:r>
            <a:r>
              <a:rPr sz="1800" dirty="0">
                <a:latin typeface="Segoe Print"/>
                <a:cs typeface="Segoe Print"/>
              </a:rPr>
              <a:t>entropy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loss</a:t>
            </a:r>
            <a:r>
              <a:rPr sz="1800" spc="-6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increases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when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predicted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probability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diverges </a:t>
            </a:r>
            <a:r>
              <a:rPr sz="1800" dirty="0">
                <a:latin typeface="Segoe Print"/>
                <a:cs typeface="Segoe Print"/>
              </a:rPr>
              <a:t>from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actual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label.</a:t>
            </a:r>
            <a:endParaRPr sz="1800">
              <a:latin typeface="Segoe Print"/>
              <a:cs typeface="Segoe Print"/>
            </a:endParaRPr>
          </a:p>
          <a:p>
            <a:pPr marL="755650" marR="5080" indent="-285750">
              <a:lnSpc>
                <a:spcPts val="3240"/>
              </a:lnSpc>
              <a:spcBef>
                <a:spcPts val="285"/>
              </a:spcBef>
              <a:tabLst>
                <a:tab pos="755015" algn="l"/>
              </a:tabLst>
            </a:pPr>
            <a:r>
              <a:rPr sz="1800" spc="-50" dirty="0">
                <a:latin typeface="Segoe Print"/>
                <a:cs typeface="Segoe Print"/>
              </a:rPr>
              <a:t>-</a:t>
            </a:r>
            <a:r>
              <a:rPr sz="1800" dirty="0">
                <a:latin typeface="Segoe Print"/>
                <a:cs typeface="Segoe Print"/>
              </a:rPr>
              <a:t>	If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actual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class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1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and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model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predicts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0,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should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highly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penalize </a:t>
            </a:r>
            <a:r>
              <a:rPr sz="1800" dirty="0">
                <a:latin typeface="Segoe Print"/>
                <a:cs typeface="Segoe Print"/>
              </a:rPr>
              <a:t>it</a:t>
            </a:r>
            <a:r>
              <a:rPr sz="1800" spc="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and</a:t>
            </a:r>
            <a:r>
              <a:rPr sz="1800" spc="-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vice-versa.</a:t>
            </a:r>
            <a:endParaRPr sz="180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2125"/>
              </a:spcBef>
              <a:buFont typeface="Segoe Print"/>
              <a:buChar char="-"/>
              <a:tabLst>
                <a:tab pos="297815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Loss/cost</a:t>
            </a:r>
            <a:r>
              <a:rPr sz="1800" b="1" u="sng" spc="-40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function</a:t>
            </a:r>
            <a:r>
              <a:rPr sz="1800" b="1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for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single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training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example: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65549" y="217174"/>
            <a:ext cx="6477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785" y="4323588"/>
            <a:ext cx="5235702" cy="75895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904112" y="3304794"/>
            <a:ext cx="3914775" cy="3289935"/>
            <a:chOff x="7904112" y="3304794"/>
            <a:chExt cx="3914775" cy="32899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4112" y="3304794"/>
              <a:ext cx="3914507" cy="32895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9770" y="5977127"/>
              <a:ext cx="714755" cy="26974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7838" y="5932932"/>
            <a:ext cx="70935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1800" spc="-50" dirty="0">
                <a:solidFill>
                  <a:srgbClr val="00AF50"/>
                </a:solidFill>
                <a:latin typeface="Segoe Print"/>
                <a:cs typeface="Segoe Print"/>
              </a:rPr>
              <a:t>-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	Mismatch</a:t>
            </a:r>
            <a:r>
              <a:rPr sz="1800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is</a:t>
            </a:r>
            <a:r>
              <a:rPr sz="18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penalized:</a:t>
            </a:r>
            <a:r>
              <a:rPr sz="1800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larger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mistakes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get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larger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penalties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79" y="5439917"/>
            <a:ext cx="2898647" cy="2545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7438" y="5439917"/>
            <a:ext cx="3035808" cy="2545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3379" y="5105400"/>
            <a:ext cx="1170432" cy="2240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448817"/>
            <a:ext cx="7248525" cy="893444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Loss/Cost</a:t>
            </a:r>
            <a:r>
              <a:rPr sz="2400" b="1" u="sng" spc="-1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Function: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297815" algn="l"/>
              </a:tabLst>
            </a:pPr>
            <a:r>
              <a:rPr sz="1800" spc="-50" dirty="0">
                <a:latin typeface="Segoe Print"/>
                <a:cs typeface="Segoe Print"/>
              </a:rPr>
              <a:t>-</a:t>
            </a:r>
            <a:r>
              <a:rPr sz="1800" dirty="0">
                <a:latin typeface="Segoe Print"/>
                <a:cs typeface="Segoe Print"/>
              </a:rPr>
              <a:t>	We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also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express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loss/cost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for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one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training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sample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25" dirty="0">
                <a:latin typeface="Segoe Print"/>
                <a:cs typeface="Segoe Print"/>
              </a:rPr>
              <a:t>as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3800" y="205607"/>
            <a:ext cx="69342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9" y="1578863"/>
            <a:ext cx="5236464" cy="7589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3079" y="3822953"/>
            <a:ext cx="5818632" cy="6934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3079" y="2679954"/>
            <a:ext cx="6547866" cy="303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7838" y="3359150"/>
            <a:ext cx="6214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1800" spc="-50" dirty="0">
                <a:latin typeface="Segoe Print"/>
                <a:cs typeface="Segoe Print"/>
              </a:rPr>
              <a:t>-</a:t>
            </a:r>
            <a:r>
              <a:rPr sz="1800" dirty="0">
                <a:latin typeface="Segoe Print"/>
                <a:cs typeface="Segoe Print"/>
              </a:rPr>
              <a:t>	Using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this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formulation,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define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loss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function: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838" y="4578604"/>
            <a:ext cx="1088009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217170" indent="-285750">
              <a:lnSpc>
                <a:spcPct val="150000"/>
              </a:lnSpc>
              <a:spcBef>
                <a:spcPts val="10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Since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cost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for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each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sample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penalizes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mismatch,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this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loss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function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prefers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correct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class </a:t>
            </a:r>
            <a:r>
              <a:rPr sz="1800" dirty="0">
                <a:latin typeface="Segoe Print"/>
                <a:cs typeface="Segoe Print"/>
              </a:rPr>
              <a:t>label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more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likely.</a:t>
            </a:r>
            <a:endParaRPr sz="1800">
              <a:latin typeface="Segoe Print"/>
              <a:cs typeface="Segoe Print"/>
            </a:endParaRPr>
          </a:p>
          <a:p>
            <a:pPr marL="297815" marR="5080" indent="-285750">
              <a:lnSpc>
                <a:spcPct val="150000"/>
              </a:lnSpc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Finding</a:t>
            </a:r>
            <a:r>
              <a:rPr sz="1800" spc="-6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parameters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that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minimizes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loss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function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or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maximizes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negative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loss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function </a:t>
            </a:r>
            <a:r>
              <a:rPr sz="1800" dirty="0">
                <a:latin typeface="Segoe Print"/>
                <a:cs typeface="Segoe Print"/>
              </a:rPr>
              <a:t>is,</a:t>
            </a:r>
            <a:r>
              <a:rPr sz="1800" spc="-6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fact,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maximum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likelihood</a:t>
            </a:r>
            <a:r>
              <a:rPr sz="1800" spc="-7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estimation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(MLE).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spc="-20" dirty="0">
                <a:latin typeface="Segoe Print"/>
                <a:cs typeface="Segoe Print"/>
              </a:rPr>
              <a:t>How?</a:t>
            </a:r>
            <a:endParaRPr sz="18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1489820"/>
            <a:ext cx="602551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Model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Training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(Learning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Parameters):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  <a:tabLst>
                <a:tab pos="297815" algn="l"/>
              </a:tabLst>
            </a:pPr>
            <a:r>
              <a:rPr sz="1800" spc="-50" dirty="0">
                <a:latin typeface="Segoe Print"/>
                <a:cs typeface="Segoe Print"/>
              </a:rPr>
              <a:t>-</a:t>
            </a:r>
            <a:r>
              <a:rPr sz="1800" dirty="0">
                <a:latin typeface="Segoe Print"/>
                <a:cs typeface="Segoe Print"/>
              </a:rPr>
              <a:t>	We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have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following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optimization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problem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hand: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0" y="296549"/>
            <a:ext cx="4800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802147"/>
            <a:ext cx="7111746" cy="6934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4800" y="4038600"/>
            <a:ext cx="10082530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1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do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not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attempt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find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analytical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solution.</a:t>
            </a:r>
            <a:endParaRPr sz="1800" dirty="0">
              <a:latin typeface="Segoe Print"/>
              <a:cs typeface="Segoe Print"/>
            </a:endParaRPr>
          </a:p>
          <a:p>
            <a:pPr marL="297815" marR="5080" indent="-285750">
              <a:lnSpc>
                <a:spcPct val="150000"/>
              </a:lnSpc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use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properties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convex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functions,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composition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rules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and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concavity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log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25" dirty="0">
                <a:latin typeface="Segoe Print"/>
                <a:cs typeface="Segoe Print"/>
              </a:rPr>
              <a:t>to </a:t>
            </a:r>
            <a:r>
              <a:rPr sz="1800" dirty="0">
                <a:latin typeface="Segoe Print"/>
                <a:cs typeface="Segoe Print"/>
              </a:rPr>
              <a:t>show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that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loss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function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is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convex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function.</a:t>
            </a:r>
            <a:endParaRPr sz="1800" dirty="0">
              <a:latin typeface="Segoe Print"/>
              <a:cs typeface="Segoe Print"/>
            </a:endParaRPr>
          </a:p>
          <a:p>
            <a:pPr marL="297815" indent="-285115">
              <a:lnSpc>
                <a:spcPct val="100000"/>
              </a:lnSpc>
              <a:spcBef>
                <a:spcPts val="108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use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gradient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descent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to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numerically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solve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optimization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problem.</a:t>
            </a:r>
            <a:endParaRPr sz="1800" dirty="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690688"/>
            <a:ext cx="6022340" cy="1664558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Logistic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Regression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Loss/Cost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Function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Logistic</a:t>
            </a:r>
            <a:r>
              <a:rPr sz="2400" spc="-8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Regression</a:t>
            </a:r>
            <a:r>
              <a:rPr sz="2400" spc="-9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Gradient</a:t>
            </a:r>
            <a:r>
              <a:rPr sz="2400" spc="-7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Segoe Print"/>
                <a:cs typeface="Segoe Print"/>
              </a:rPr>
              <a:t>Descent</a:t>
            </a:r>
            <a:endParaRPr sz="2400" dirty="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411734"/>
            <a:ext cx="2298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Gradient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Descent: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0935" y="-16001"/>
            <a:ext cx="61722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56" y="1989582"/>
            <a:ext cx="658368" cy="364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175" y="2049779"/>
            <a:ext cx="5874258" cy="252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7556" y="892302"/>
            <a:ext cx="8102346" cy="2293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0" y="1251203"/>
            <a:ext cx="2722626" cy="5996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7556" y="2465070"/>
            <a:ext cx="5078730" cy="230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54902" y="5982461"/>
            <a:ext cx="1905000" cy="2545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8808" y="3985259"/>
            <a:ext cx="8328659" cy="56997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6550" y="3211829"/>
            <a:ext cx="3662679" cy="17449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2520"/>
              </a:lnSpc>
              <a:spcBef>
                <a:spcPts val="48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Algorithm</a:t>
            </a:r>
            <a:r>
              <a:rPr sz="2400" b="1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(we</a:t>
            </a:r>
            <a:r>
              <a:rPr sz="16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have</a:t>
            </a:r>
            <a:r>
              <a:rPr sz="16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seen</a:t>
            </a:r>
            <a:r>
              <a:rPr sz="1600" b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this</a:t>
            </a:r>
            <a:r>
              <a:rPr sz="16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before)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: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Overall: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Pseudo-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code: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6522" y="5506211"/>
            <a:ext cx="3068574" cy="2270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1322" y="5821679"/>
            <a:ext cx="4953762" cy="60045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6522" y="5129021"/>
            <a:ext cx="2129790" cy="22555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892031" y="5949696"/>
            <a:ext cx="3187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Segoe Print"/>
                <a:cs typeface="Segoe Print"/>
              </a:rPr>
              <a:t>Note:</a:t>
            </a:r>
            <a:r>
              <a:rPr sz="1800" b="1" spc="-7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Simultaneous</a:t>
            </a:r>
            <a:r>
              <a:rPr sz="1800" b="1" spc="-70" dirty="0">
                <a:latin typeface="Segoe Print"/>
                <a:cs typeface="Segoe Print"/>
              </a:rPr>
              <a:t> </a:t>
            </a:r>
            <a:r>
              <a:rPr sz="1800" b="1" spc="-10" dirty="0">
                <a:latin typeface="Segoe Print"/>
                <a:cs typeface="Segoe Print"/>
              </a:rPr>
              <a:t>update.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7556" y="2846832"/>
            <a:ext cx="6826758" cy="23012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578865"/>
            <a:ext cx="4027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Gradient</a:t>
            </a:r>
            <a:r>
              <a:rPr sz="2400" b="1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Descent</a:t>
            </a:r>
            <a:r>
              <a:rPr sz="2400" b="1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Computation: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556" y="1117091"/>
            <a:ext cx="2627376" cy="365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344" y="1592580"/>
            <a:ext cx="5817870" cy="6934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9125" y="3919728"/>
            <a:ext cx="2083307" cy="5532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72661" y="3907535"/>
            <a:ext cx="2511552" cy="6385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7556" y="4114800"/>
            <a:ext cx="987552" cy="2240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7556" y="4808982"/>
            <a:ext cx="1694688" cy="1783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1677" y="3028950"/>
            <a:ext cx="4754880" cy="61569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7556" y="2519172"/>
            <a:ext cx="8311133" cy="2301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19928" y="2982467"/>
            <a:ext cx="4898898" cy="61569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1698" y="5222747"/>
            <a:ext cx="1226820" cy="60045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82723" y="5146547"/>
            <a:ext cx="1732788" cy="75133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66359" y="5184647"/>
            <a:ext cx="2592324" cy="63855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39717" y="5236464"/>
            <a:ext cx="1060703" cy="60045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19566" y="5394959"/>
            <a:ext cx="2113787" cy="25450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867650" y="5383529"/>
            <a:ext cx="371855" cy="24079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908792" y="5394959"/>
            <a:ext cx="371855" cy="24079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838" y="578865"/>
            <a:ext cx="4027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Gradient</a:t>
            </a:r>
            <a:r>
              <a:rPr sz="2400" b="1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Descent</a:t>
            </a:r>
            <a:r>
              <a:rPr sz="2400" b="1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Computation: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28516" y="198941"/>
            <a:ext cx="622782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55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856" y="1284732"/>
            <a:ext cx="4754118" cy="615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856" y="2158745"/>
            <a:ext cx="4898898" cy="6149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10400" y="2047494"/>
            <a:ext cx="1226820" cy="6004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52281" y="2183892"/>
            <a:ext cx="2113026" cy="2545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40745" y="2183892"/>
            <a:ext cx="371855" cy="2407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1856" y="3258311"/>
            <a:ext cx="3411474" cy="67818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82211" y="3396996"/>
            <a:ext cx="1848612" cy="2545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26073" y="3396996"/>
            <a:ext cx="371855" cy="24079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1856" y="4421123"/>
            <a:ext cx="1517142" cy="3032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45385" y="4443984"/>
            <a:ext cx="371856" cy="24079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27838" y="4808220"/>
            <a:ext cx="1011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Overall: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52281" y="5383529"/>
            <a:ext cx="3324605" cy="69341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1856" y="5383529"/>
            <a:ext cx="6785609" cy="69341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09088" y="4421123"/>
            <a:ext cx="1711452" cy="3032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06646" y="4443221"/>
            <a:ext cx="371855" cy="240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1130</Words>
  <Application>Microsoft Office PowerPoint</Application>
  <PresentationFormat>Widescreen</PresentationFormat>
  <Paragraphs>139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Aptos</vt:lpstr>
      <vt:lpstr>Aptos Display</vt:lpstr>
      <vt:lpstr>Arial</vt:lpstr>
      <vt:lpstr>Arial MT</vt:lpstr>
      <vt:lpstr>Calibri</vt:lpstr>
      <vt:lpstr>Cambria</vt:lpstr>
      <vt:lpstr>CMSS10</vt:lpstr>
      <vt:lpstr>Segoe Print</vt:lpstr>
      <vt:lpstr>Tahoma</vt:lpstr>
      <vt:lpstr>Times New Roman</vt:lpstr>
      <vt:lpstr>Office Theme</vt:lpstr>
      <vt:lpstr>Machine Learning EE514 – CS535</vt:lpstr>
      <vt:lpstr>Outline</vt:lpstr>
      <vt:lpstr>Given inputs x and classes y we can do classification in several ways. How?</vt:lpstr>
      <vt:lpstr>Discriminative Classifiers</vt:lpstr>
      <vt:lpstr>Discriminative Classifiers</vt:lpstr>
      <vt:lpstr>Generative Classifiers</vt:lpstr>
      <vt:lpstr>Generative vs Discriminative</vt:lpstr>
      <vt:lpstr>Classification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The sigmoid function </vt:lpstr>
      <vt:lpstr>Logistic regression vs. Linear regression </vt:lpstr>
      <vt:lpstr>Outline</vt:lpstr>
      <vt:lpstr>Logistic Regression Model Training (Learning of Parameters):</vt:lpstr>
      <vt:lpstr>Logistic Regression</vt:lpstr>
      <vt:lpstr>Logistic Regression</vt:lpstr>
      <vt:lpstr>Logistic Regression</vt:lpstr>
      <vt:lpstr>Logistic Regression</vt:lpstr>
      <vt:lpstr>Outline</vt:lpstr>
      <vt:lpstr>Logistic Regression</vt:lpstr>
      <vt:lpstr>Logistic Regression</vt:lpstr>
      <vt:lpstr>Logistic 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EE514-CS535 Machine Leaning 09</dc:title>
  <dc:creator>Zubair Khalid</dc:creator>
  <cp:lastModifiedBy>anwar khan</cp:lastModifiedBy>
  <cp:revision>27</cp:revision>
  <dcterms:created xsi:type="dcterms:W3CDTF">2024-12-30T09:56:25Z</dcterms:created>
  <dcterms:modified xsi:type="dcterms:W3CDTF">2025-12-03T07:26:46Z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2024-12-30T00:00:00Z</vt:filetime>
  </property>
  <property fmtid="{D5CDD505-2E9C-101B-9397-08002B2CF9AE}" pid="5" name="Producer">
    <vt:lpwstr>Microsoft® PowerPoint® for Microsoft 365</vt:lpwstr>
  </property>
</Properties>
</file>