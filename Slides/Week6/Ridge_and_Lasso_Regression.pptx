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3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3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1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4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1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7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3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5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1667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9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2148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75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65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9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Ridge and Lasso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Low Bias, High Variance → Overfitting</a:t>
            </a:r>
          </a:p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High Bias, Low Variance → Underfitting</a:t>
            </a:r>
          </a:p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Regularization balances bias and variance to improve generalization.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Regularization?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Prevents overfitting by adding a penalty on large coefficients.</a:t>
            </a:r>
          </a:p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Helps model generalize better to unseen data.</a:t>
            </a:r>
          </a:p>
          <a:p>
            <a:pPr marL="0" indent="0">
              <a:buNone/>
              <a:defRPr sz="2800">
                <a:latin typeface="Calibri"/>
              </a:defRPr>
            </a:pPr>
            <a:r>
              <a:rPr dirty="0"/>
              <a:t>• Two main techniques: Ridge (L2) and Lasso (L1).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A59F-68B5-46BF-A882-0A9CE766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What are Ridge and Lasso Regression?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42EA9-B792-4780-B6C1-FC5915DC5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Ridge Regression</a:t>
            </a:r>
            <a:r>
              <a:rPr lang="en-US" sz="2800" dirty="0"/>
              <a:t> and </a:t>
            </a:r>
            <a:r>
              <a:rPr lang="en-US" sz="2800" b="1" dirty="0"/>
              <a:t>Lasso Regression</a:t>
            </a:r>
            <a:r>
              <a:rPr lang="en-US" sz="2800" dirty="0"/>
              <a:t> are two popular regularization techniques used to enhance the performance of linear regression models by penalizing large coefficients.</a:t>
            </a:r>
          </a:p>
        </p:txBody>
      </p:sp>
    </p:spTree>
    <p:extLst>
      <p:ext uri="{BB962C8B-B14F-4D97-AF65-F5344CB8AC3E}">
        <p14:creationId xmlns:p14="http://schemas.microsoft.com/office/powerpoint/2010/main" val="330691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A183-A9B6-4ABE-B367-0D7215C6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Ridge Regression (L2 Regularization):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1CE1-E237-410B-ABC7-8BDD54DE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Adds a penalty equal to the square of the magnitude of coefficients.</a:t>
            </a:r>
          </a:p>
          <a:p>
            <a:r>
              <a:rPr lang="en-US" sz="2800" dirty="0"/>
              <a:t>Encourages the model to keep all coefficients small but does not set any coefficients exactly to zero.</a:t>
            </a:r>
          </a:p>
          <a:p>
            <a:r>
              <a:rPr lang="en-US" sz="2800" dirty="0"/>
              <a:t>Useful when you have many features that contribute to the target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30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92CC-F4A2-4A2D-97D2-66B18501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Lasso Regression (L1 Regularization):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5D45-2D30-4EE5-8B8C-2F6F09B7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Adds a penalty equal to the absolute value of the magnitude of coefficients.</a:t>
            </a:r>
          </a:p>
          <a:p>
            <a:r>
              <a:rPr lang="en-US" sz="2800" dirty="0"/>
              <a:t>Can shrink some coefficients to exactly zero, effectively performing feature selection.</a:t>
            </a:r>
          </a:p>
          <a:p>
            <a:r>
              <a:rPr lang="en-US" sz="2800" dirty="0"/>
              <a:t>Useful when you suspect that only a subset of features is relevant.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7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52AC-0DC5-4B7C-8E3E-0024AD90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6723"/>
            <a:ext cx="8229600" cy="1287927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Mathematical Formulation of Ridge and Lasso</a:t>
            </a:r>
            <a:br>
              <a:rPr lang="en-US" sz="3100" b="1" dirty="0"/>
            </a:br>
            <a:r>
              <a:rPr lang="en-US" sz="3100" b="1" dirty="0"/>
              <a:t>Standard Linear Regression: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Mathematical Formula">
            <a:extLst>
              <a:ext uri="{FF2B5EF4-FFF2-40B4-BE49-F238E27FC236}">
                <a16:creationId xmlns:a16="http://schemas.microsoft.com/office/drawing/2014/main" id="{455CF55C-B7AD-4C10-8656-DA7A36E7FA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7775" y="3117179"/>
            <a:ext cx="5892063" cy="196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47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EF98-5915-4AE3-996B-FC90E1FC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Regularized Regression:</a:t>
            </a:r>
            <a:endParaRPr lang="en-US" sz="2800" dirty="0"/>
          </a:p>
        </p:txBody>
      </p:sp>
      <p:pic>
        <p:nvPicPr>
          <p:cNvPr id="2050" name="Picture 2" descr="Mathematical Formula">
            <a:extLst>
              <a:ext uri="{FF2B5EF4-FFF2-40B4-BE49-F238E27FC236}">
                <a16:creationId xmlns:a16="http://schemas.microsoft.com/office/drawing/2014/main" id="{E2DBAB08-17BC-412F-AE9B-1CCE4BCCF2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66383"/>
            <a:ext cx="8229600" cy="176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502E00-ECBF-4E5F-A7AD-FF1AFC07F28B}"/>
              </a:ext>
            </a:extLst>
          </p:cNvPr>
          <p:cNvSpPr/>
          <p:nvPr/>
        </p:nvSpPr>
        <p:spPr>
          <a:xfrm>
            <a:off x="570216" y="3429000"/>
            <a:ext cx="85737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42424"/>
                </a:solidFill>
                <a:latin typeface="source-serif-pro"/>
              </a:rPr>
              <a:t>where λ is the regularization parameter controlling the strength of the penalty.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9396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55F1-4300-4600-B823-FB42DB5B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Ridge Regression (L2 Regularization)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E53E-F3D7-4822-9FEF-6825B89A6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Ridge regression adds a penalty term equal to the square of the magnitude of coefficients: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074" name="Picture 2" descr="https://miro.medium.com/v2/resize:fit:875/1*3xZ9cOsYiFGrQvFQuSrYNg.png">
            <a:extLst>
              <a:ext uri="{FF2B5EF4-FFF2-40B4-BE49-F238E27FC236}">
                <a16:creationId xmlns:a16="http://schemas.microsoft.com/office/drawing/2014/main" id="{B320938D-37F7-4EF1-ADA0-A7A1E56A1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2817635"/>
            <a:ext cx="5553075" cy="142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1A0B2B-F0D8-4556-BED0-79A35F98815D}"/>
              </a:ext>
            </a:extLst>
          </p:cNvPr>
          <p:cNvSpPr/>
          <p:nvPr/>
        </p:nvSpPr>
        <p:spPr>
          <a:xfrm>
            <a:off x="898987" y="4040365"/>
            <a:ext cx="76593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42424"/>
                </a:solidFill>
                <a:latin typeface="source-serif-pro"/>
              </a:rPr>
              <a:t>α</a:t>
            </a:r>
            <a:r>
              <a:rPr lang="en-US" sz="2400" dirty="0">
                <a:solidFill>
                  <a:srgbClr val="242424"/>
                </a:solidFill>
                <a:latin typeface="source-serif-pro"/>
              </a:rPr>
              <a:t>: Regularization parameter controlling the strength of the penalty.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424"/>
                </a:solidFill>
                <a:latin typeface="source-serif-pro"/>
              </a:rPr>
              <a:t>Larger α values increase the penalty, leading to smaller coefficients.</a:t>
            </a:r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171795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B92E-B45E-442E-BBE9-FF708240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2292"/>
            <a:ext cx="6347713" cy="132080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Lasso Regression (L1 Regularization)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1439D-3A76-4D83-9F17-658D04F8F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80" y="804979"/>
            <a:ext cx="8229600" cy="6317800"/>
          </a:xfrm>
        </p:spPr>
        <p:txBody>
          <a:bodyPr/>
          <a:lstStyle/>
          <a:p>
            <a:r>
              <a:rPr lang="en-US" dirty="0"/>
              <a:t>Lasso regression adds a penalty term equal to the absolute value of the magnitude of coefficients:</a:t>
            </a:r>
          </a:p>
          <a:p>
            <a:endParaRPr lang="en-US" dirty="0"/>
          </a:p>
        </p:txBody>
      </p:sp>
      <p:pic>
        <p:nvPicPr>
          <p:cNvPr id="4098" name="Picture 2" descr="https://miro.medium.com/v2/resize:fit:876/1*Pbf-P0FjRg3VJdIhSuqeUg.png">
            <a:extLst>
              <a:ext uri="{FF2B5EF4-FFF2-40B4-BE49-F238E27FC236}">
                <a16:creationId xmlns:a16="http://schemas.microsoft.com/office/drawing/2014/main" id="{8B833F1D-03E0-4EF3-BC66-A8A6F991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470" y="1841519"/>
            <a:ext cx="5562600" cy="226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2DA06E-6862-40A0-9FBF-DEE9883CAFC7}"/>
              </a:ext>
            </a:extLst>
          </p:cNvPr>
          <p:cNvSpPr/>
          <p:nvPr/>
        </p:nvSpPr>
        <p:spPr>
          <a:xfrm>
            <a:off x="1137862" y="3987871"/>
            <a:ext cx="67244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42424"/>
                </a:solidFill>
                <a:latin typeface="source-serif-pro"/>
              </a:rPr>
              <a:t>Similar to Ridge, α controls the penalty strength.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42424"/>
                </a:solidFill>
                <a:latin typeface="source-serif-pro"/>
              </a:rPr>
              <a:t>Lasso can shrink some coefficients to exactly zero, enabling feature selection.</a:t>
            </a: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27039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23AF-350B-4133-B4E7-7D153C65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Choosing Between L1 and L2: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C61D4-BA0F-4799-9D6A-81468543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Use L1 (Lasso) When: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have a high-dimensional dataset with many irrelevant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need a model that is easy to interpret with fewer predictors.</a:t>
            </a:r>
          </a:p>
          <a:p>
            <a:r>
              <a:rPr lang="en-US" b="1" dirty="0"/>
              <a:t>Use L2 (Ridge) When: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suspect multicollinearity among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want to retain all features in the model for a more comprehensive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93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389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source-serif-pro</vt:lpstr>
      <vt:lpstr>Trebuchet MS</vt:lpstr>
      <vt:lpstr>Wingdings 3</vt:lpstr>
      <vt:lpstr>Facet</vt:lpstr>
      <vt:lpstr>Ridge and Lasso Regression</vt:lpstr>
      <vt:lpstr>Bias-Variance Tradeoff</vt:lpstr>
      <vt:lpstr>Why Regularization?</vt:lpstr>
      <vt:lpstr>What are Ridge and Lasso Regression? </vt:lpstr>
      <vt:lpstr>Ridge Regression (L2 Regularization): </vt:lpstr>
      <vt:lpstr>Lasso Regression (L1 Regularization): </vt:lpstr>
      <vt:lpstr>Mathematical Formulation of Ridge and Lasso Standard Linear Regression: </vt:lpstr>
      <vt:lpstr>Regularized Regression:</vt:lpstr>
      <vt:lpstr>Ridge Regression (L2 Regularization) </vt:lpstr>
      <vt:lpstr>Lasso Regression (L1 Regularization) </vt:lpstr>
      <vt:lpstr>Choosing Between L1 and L2: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 and Lasso Regression</dc:title>
  <dc:subject/>
  <dc:creator/>
  <cp:keywords/>
  <dc:description>generated using python-pptx</dc:description>
  <cp:lastModifiedBy>anwar khan</cp:lastModifiedBy>
  <cp:revision>28</cp:revision>
  <dcterms:created xsi:type="dcterms:W3CDTF">2013-01-27T09:14:16Z</dcterms:created>
  <dcterms:modified xsi:type="dcterms:W3CDTF">2025-11-04T03:54:04Z</dcterms:modified>
  <cp:category/>
</cp:coreProperties>
</file>