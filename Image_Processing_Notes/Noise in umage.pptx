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4" r:id="rId13"/>
    <p:sldId id="275" r:id="rId14"/>
    <p:sldId id="276" r:id="rId15"/>
    <p:sldId id="280" r:id="rId16"/>
    <p:sldId id="277" r:id="rId17"/>
    <p:sldId id="278" r:id="rId18"/>
    <p:sldId id="279" r:id="rId19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84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-25" dirty="0"/>
              <a:t>68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-25" dirty="0"/>
              <a:t>68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-25" dirty="0"/>
              <a:t>68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-25" dirty="0"/>
              <a:t>68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-25" dirty="0"/>
              <a:t>68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290" y="129794"/>
            <a:ext cx="5189220" cy="5191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7665" y="3128823"/>
            <a:ext cx="2821305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04358" y="3128823"/>
            <a:ext cx="304800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-25" dirty="0"/>
              <a:t>68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" Target="slide3.xm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6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5.xml"/><Relationship Id="rId5" Type="http://schemas.openxmlformats.org/officeDocument/2006/relationships/slide" Target="slide6.xml"/><Relationship Id="rId10" Type="http://schemas.openxmlformats.org/officeDocument/2006/relationships/image" Target="../media/image11.png"/><Relationship Id="rId4" Type="http://schemas.openxmlformats.org/officeDocument/2006/relationships/slide" Target="slide3.xm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5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5.xml"/><Relationship Id="rId11" Type="http://schemas.openxmlformats.org/officeDocument/2006/relationships/image" Target="../media/image16.png"/><Relationship Id="rId5" Type="http://schemas.openxmlformats.org/officeDocument/2006/relationships/slide" Target="slide6.xml"/><Relationship Id="rId10" Type="http://schemas.openxmlformats.org/officeDocument/2006/relationships/image" Target="../media/image15.png"/><Relationship Id="rId4" Type="http://schemas.openxmlformats.org/officeDocument/2006/relationships/slide" Target="slide3.xml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.png"/><Relationship Id="rId7" Type="http://schemas.openxmlformats.org/officeDocument/2006/relationships/image" Target="../media/image20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.png"/><Relationship Id="rId7" Type="http://schemas.openxmlformats.org/officeDocument/2006/relationships/image" Target="../media/image2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.png"/><Relationship Id="rId7" Type="http://schemas.openxmlformats.org/officeDocument/2006/relationships/image" Target="../media/image20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5300" y="25256"/>
            <a:ext cx="4241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References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2038" y="72643"/>
            <a:ext cx="495300" cy="96520"/>
            <a:chOff x="612038" y="72643"/>
            <a:chExt cx="495300" cy="96520"/>
          </a:xfrm>
        </p:grpSpPr>
        <p:sp>
          <p:nvSpPr>
            <p:cNvPr id="9" name="object 9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77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89229" y="25256"/>
            <a:ext cx="5791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4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al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60703" y="127484"/>
            <a:ext cx="897890" cy="41275"/>
            <a:chOff x="1260703" y="127484"/>
            <a:chExt cx="897890" cy="41275"/>
          </a:xfrm>
        </p:grpSpPr>
        <p:sp>
          <p:nvSpPr>
            <p:cNvPr id="22" name="object 22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237894" y="25256"/>
            <a:ext cx="3543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225344" y="72643"/>
            <a:ext cx="1804670" cy="96520"/>
            <a:chOff x="2225344" y="72643"/>
            <a:chExt cx="1804670" cy="96520"/>
          </a:xfrm>
        </p:grpSpPr>
        <p:sp>
          <p:nvSpPr>
            <p:cNvPr id="42" name="object 42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3790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4869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6885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2202535" y="25256"/>
            <a:ext cx="14166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096258" y="127484"/>
            <a:ext cx="293370" cy="41275"/>
            <a:chOff x="4096258" y="127484"/>
            <a:chExt cx="293370" cy="41275"/>
          </a:xfrm>
        </p:grpSpPr>
        <p:sp>
          <p:nvSpPr>
            <p:cNvPr id="68" name="object 68"/>
            <p:cNvSpPr/>
            <p:nvPr/>
          </p:nvSpPr>
          <p:spPr>
            <a:xfrm>
              <a:off x="40987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199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4073436" y="25256"/>
            <a:ext cx="6483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4813896" y="72643"/>
            <a:ext cx="478790" cy="96520"/>
            <a:chOff x="4813896" y="72643"/>
            <a:chExt cx="478790" cy="96520"/>
          </a:xfrm>
        </p:grpSpPr>
        <p:sp>
          <p:nvSpPr>
            <p:cNvPr id="76" name="object 76"/>
            <p:cNvSpPr/>
            <p:nvPr/>
          </p:nvSpPr>
          <p:spPr>
            <a:xfrm>
              <a:off x="48164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4791087" y="25256"/>
            <a:ext cx="5791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45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5462561" y="127484"/>
            <a:ext cx="92075" cy="41275"/>
            <a:chOff x="5462561" y="127484"/>
            <a:chExt cx="92075" cy="41275"/>
          </a:xfrm>
        </p:grpSpPr>
        <p:sp>
          <p:nvSpPr>
            <p:cNvPr id="84" name="object 84"/>
            <p:cNvSpPr/>
            <p:nvPr/>
          </p:nvSpPr>
          <p:spPr>
            <a:xfrm>
              <a:off x="546510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439752" y="25256"/>
            <a:ext cx="2254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0" y="191325"/>
            <a:ext cx="5760085" cy="99060"/>
          </a:xfrm>
          <a:custGeom>
            <a:avLst/>
            <a:gdLst/>
            <a:ahLst/>
            <a:cxnLst/>
            <a:rect l="l" t="t" r="r" b="b"/>
            <a:pathLst>
              <a:path w="5760085" h="99060">
                <a:moveTo>
                  <a:pt x="5759996" y="0"/>
                </a:moveTo>
                <a:lnTo>
                  <a:pt x="0" y="0"/>
                </a:lnTo>
                <a:lnTo>
                  <a:pt x="0" y="98742"/>
                </a:lnTo>
                <a:lnTo>
                  <a:pt x="5759996" y="98742"/>
                </a:lnTo>
                <a:lnTo>
                  <a:pt x="575999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09181" y="919479"/>
            <a:ext cx="5142230" cy="705485"/>
          </a:xfrm>
          <a:custGeom>
            <a:avLst/>
            <a:gdLst/>
            <a:ahLst/>
            <a:cxnLst/>
            <a:rect l="l" t="t" r="r" b="b"/>
            <a:pathLst>
              <a:path w="5142230" h="705485">
                <a:moveTo>
                  <a:pt x="5141671" y="44424"/>
                </a:moveTo>
                <a:lnTo>
                  <a:pt x="5140363" y="44424"/>
                </a:lnTo>
                <a:lnTo>
                  <a:pt x="5137658" y="31076"/>
                </a:lnTo>
                <a:lnTo>
                  <a:pt x="5126748" y="14922"/>
                </a:lnTo>
                <a:lnTo>
                  <a:pt x="5110594" y="4013"/>
                </a:lnTo>
                <a:lnTo>
                  <a:pt x="5090871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654481"/>
                </a:lnTo>
                <a:lnTo>
                  <a:pt x="4013" y="674217"/>
                </a:lnTo>
                <a:lnTo>
                  <a:pt x="14922" y="690372"/>
                </a:lnTo>
                <a:lnTo>
                  <a:pt x="31076" y="701281"/>
                </a:lnTo>
                <a:lnTo>
                  <a:pt x="50812" y="705294"/>
                </a:lnTo>
                <a:lnTo>
                  <a:pt x="5090871" y="705294"/>
                </a:lnTo>
                <a:lnTo>
                  <a:pt x="5110594" y="701281"/>
                </a:lnTo>
                <a:lnTo>
                  <a:pt x="5126748" y="690372"/>
                </a:lnTo>
                <a:lnTo>
                  <a:pt x="5137658" y="674217"/>
                </a:lnTo>
                <a:lnTo>
                  <a:pt x="5141671" y="654481"/>
                </a:lnTo>
                <a:lnTo>
                  <a:pt x="5141671" y="82384"/>
                </a:lnTo>
                <a:lnTo>
                  <a:pt x="5141671" y="50800"/>
                </a:lnTo>
                <a:lnTo>
                  <a:pt x="5141671" y="4442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2200313" y="1021039"/>
            <a:ext cx="1359535" cy="448136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78740" marR="5080" indent="-66675">
              <a:lnSpc>
                <a:spcPct val="106700"/>
              </a:lnSpc>
              <a:spcBef>
                <a:spcPts val="20"/>
              </a:spcBef>
            </a:pPr>
            <a:r>
              <a:rPr sz="1400" spc="65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Vision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Image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Noise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043810" y="1801677"/>
            <a:ext cx="1671955" cy="3327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latin typeface="Georgia"/>
                <a:cs typeface="Georgia"/>
              </a:rPr>
              <a:t>Mr. Anwar Khan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000" dirty="0">
              <a:latin typeface="Georgia"/>
              <a:cs typeface="Georgia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96" name="object 96"/>
          <p:cNvSpPr txBox="1"/>
          <p:nvPr/>
        </p:nvSpPr>
        <p:spPr>
          <a:xfrm>
            <a:off x="3886072" y="3128823"/>
            <a:ext cx="60960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Filtering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7" name="object 9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1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-2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5300" y="25256"/>
            <a:ext cx="14973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al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225344" y="72643"/>
            <a:ext cx="1804670" cy="96520"/>
            <a:chOff x="2225344" y="72643"/>
            <a:chExt cx="1804670" cy="96520"/>
          </a:xfrm>
        </p:grpSpPr>
        <p:sp>
          <p:nvSpPr>
            <p:cNvPr id="38" name="object 38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90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869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85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202535" y="25256"/>
            <a:ext cx="14166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096258" y="127484"/>
            <a:ext cx="293370" cy="41275"/>
            <a:chOff x="4096258" y="127484"/>
            <a:chExt cx="293370" cy="41275"/>
          </a:xfrm>
        </p:grpSpPr>
        <p:sp>
          <p:nvSpPr>
            <p:cNvPr id="64" name="object 64"/>
            <p:cNvSpPr/>
            <p:nvPr/>
          </p:nvSpPr>
          <p:spPr>
            <a:xfrm>
              <a:off x="40987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199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073436" y="25256"/>
            <a:ext cx="6483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813896" y="72643"/>
            <a:ext cx="478790" cy="96520"/>
            <a:chOff x="4813896" y="72643"/>
            <a:chExt cx="478790" cy="96520"/>
          </a:xfrm>
        </p:grpSpPr>
        <p:sp>
          <p:nvSpPr>
            <p:cNvPr id="72" name="object 72"/>
            <p:cNvSpPr/>
            <p:nvPr/>
          </p:nvSpPr>
          <p:spPr>
            <a:xfrm>
              <a:off x="48164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4791087" y="25256"/>
            <a:ext cx="5791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45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5462561" y="127484"/>
            <a:ext cx="92075" cy="41275"/>
            <a:chOff x="5462561" y="127484"/>
            <a:chExt cx="92075" cy="41275"/>
          </a:xfrm>
        </p:grpSpPr>
        <p:sp>
          <p:nvSpPr>
            <p:cNvPr id="80" name="object 80"/>
            <p:cNvSpPr/>
            <p:nvPr/>
          </p:nvSpPr>
          <p:spPr>
            <a:xfrm>
              <a:off x="546510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5439752" y="25256"/>
            <a:ext cx="2254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0" y="191325"/>
            <a:ext cx="5760085" cy="99060"/>
          </a:xfrm>
          <a:custGeom>
            <a:avLst/>
            <a:gdLst/>
            <a:ahLst/>
            <a:cxnLst/>
            <a:rect l="l" t="t" r="r" b="b"/>
            <a:pathLst>
              <a:path w="5760085" h="99060">
                <a:moveTo>
                  <a:pt x="5759996" y="0"/>
                </a:moveTo>
                <a:lnTo>
                  <a:pt x="0" y="0"/>
                </a:lnTo>
                <a:lnTo>
                  <a:pt x="0" y="98742"/>
                </a:lnTo>
                <a:lnTo>
                  <a:pt x="5759996" y="98742"/>
                </a:lnTo>
                <a:lnTo>
                  <a:pt x="575999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Outline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85" name="object 8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6420" y="863091"/>
            <a:ext cx="141630" cy="293458"/>
          </a:xfrm>
          <a:prstGeom prst="rect">
            <a:avLst/>
          </a:prstGeom>
        </p:spPr>
      </p:pic>
      <p:sp>
        <p:nvSpPr>
          <p:cNvPr id="86" name="object 86"/>
          <p:cNvSpPr txBox="1"/>
          <p:nvPr/>
        </p:nvSpPr>
        <p:spPr>
          <a:xfrm>
            <a:off x="349326" y="832820"/>
            <a:ext cx="7569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aseline="7936" dirty="0">
                <a:solidFill>
                  <a:srgbClr val="EAEAF7"/>
                </a:solidFill>
                <a:latin typeface="Cambria"/>
                <a:cs typeface="Cambria"/>
              </a:rPr>
              <a:t>1</a:t>
            </a:r>
            <a:r>
              <a:rPr sz="1050" spc="337" baseline="7936" dirty="0">
                <a:solidFill>
                  <a:srgbClr val="EAEAF7"/>
                </a:solidFill>
                <a:latin typeface="Cambria"/>
                <a:cs typeface="Cambria"/>
              </a:rPr>
              <a:t>  </a:t>
            </a:r>
            <a:r>
              <a:rPr sz="1000" spc="-25" dirty="0">
                <a:solidFill>
                  <a:srgbClr val="3333B2"/>
                </a:solidFill>
                <a:latin typeface="Georgia"/>
                <a:cs typeface="Georgia"/>
                <a:hlinkClick r:id="rId3" action="ppaction://hlinksldjump"/>
              </a:rPr>
              <a:t>References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49326" y="1012357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EAEAF7"/>
                </a:solidFill>
                <a:latin typeface="Cambria"/>
                <a:cs typeface="Cambria"/>
              </a:rPr>
              <a:t>2</a:t>
            </a:r>
            <a:endParaRPr sz="700">
              <a:latin typeface="Cambria"/>
              <a:cs typeface="Cambria"/>
            </a:endParaRPr>
          </a:p>
        </p:txBody>
      </p:sp>
      <p:pic>
        <p:nvPicPr>
          <p:cNvPr id="88" name="object 8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0153" y="1212507"/>
            <a:ext cx="57746" cy="57746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0153" y="1364335"/>
            <a:ext cx="57746" cy="57746"/>
          </a:xfrm>
          <a:prstGeom prst="rect">
            <a:avLst/>
          </a:prstGeom>
        </p:spPr>
      </p:pic>
      <p:sp>
        <p:nvSpPr>
          <p:cNvPr id="99" name="object 99"/>
          <p:cNvSpPr txBox="1"/>
          <p:nvPr/>
        </p:nvSpPr>
        <p:spPr>
          <a:xfrm>
            <a:off x="497103" y="984648"/>
            <a:ext cx="1844039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marR="711835" indent="-123189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3333B2"/>
                </a:solidFill>
                <a:latin typeface="Georgia"/>
                <a:cs typeface="Georgia"/>
                <a:hlinkClick r:id="rId4" action="ppaction://hlinksldjump"/>
              </a:rPr>
              <a:t>Noise</a:t>
            </a:r>
            <a:r>
              <a:rPr sz="1000" spc="10" dirty="0">
                <a:solidFill>
                  <a:srgbClr val="3333B2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Georgia"/>
                <a:cs typeface="Georgia"/>
                <a:hlinkClick r:id="rId4" action="ppaction://hlinksldjump"/>
              </a:rPr>
              <a:t>Removal</a:t>
            </a:r>
            <a:r>
              <a:rPr sz="1000" spc="-10" dirty="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  <a:hlinkClick r:id="rId8" action="ppaction://hlinksldjump"/>
              </a:rPr>
              <a:t>Noise</a:t>
            </a:r>
            <a:r>
              <a:rPr sz="1000" spc="25" dirty="0"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1000" dirty="0">
                <a:latin typeface="Georgia"/>
                <a:cs typeface="Georgia"/>
                <a:hlinkClick r:id="rId8" action="ppaction://hlinksldjump"/>
              </a:rPr>
              <a:t>in</a:t>
            </a:r>
            <a:r>
              <a:rPr sz="1000" spc="30" dirty="0"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1000" dirty="0">
                <a:latin typeface="Georgia"/>
                <a:cs typeface="Georgia"/>
                <a:hlinkClick r:id="rId8" action="ppaction://hlinksldjump"/>
              </a:rPr>
              <a:t>an</a:t>
            </a:r>
            <a:r>
              <a:rPr sz="1000" spc="30" dirty="0">
                <a:latin typeface="Georgia"/>
                <a:cs typeface="Georgia"/>
                <a:hlinkClick r:id="rId8" action="ppaction://hlinksldjump"/>
              </a:rPr>
              <a:t> </a:t>
            </a:r>
            <a:r>
              <a:rPr sz="1000" spc="-25" dirty="0">
                <a:latin typeface="Georgia"/>
                <a:cs typeface="Georgia"/>
                <a:hlinkClick r:id="rId8" action="ppaction://hlinksldjump"/>
              </a:rPr>
              <a:t>image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  <a:hlinkClick r:id="rId9" action="ppaction://hlinksldjump"/>
              </a:rPr>
              <a:t>Types</a:t>
            </a:r>
            <a:r>
              <a:rPr sz="1000" spc="60" dirty="0">
                <a:latin typeface="Georgia"/>
                <a:cs typeface="Georgia"/>
                <a:hlinkClick r:id="rId9" action="ppaction://hlinksldjump"/>
              </a:rPr>
              <a:t> </a:t>
            </a:r>
            <a:r>
              <a:rPr sz="1000" dirty="0">
                <a:latin typeface="Georgia"/>
                <a:cs typeface="Georgia"/>
                <a:hlinkClick r:id="rId9" action="ppaction://hlinksldjump"/>
              </a:rPr>
              <a:t>of</a:t>
            </a:r>
            <a:r>
              <a:rPr sz="1000" spc="65" dirty="0">
                <a:latin typeface="Georgia"/>
                <a:cs typeface="Georgia"/>
                <a:hlinkClick r:id="rId9" action="ppaction://hlinksldjump"/>
              </a:rPr>
              <a:t> </a:t>
            </a:r>
            <a:r>
              <a:rPr sz="1000" spc="-20" dirty="0">
                <a:latin typeface="Georgia"/>
                <a:cs typeface="Georgia"/>
                <a:hlinkClick r:id="rId9" action="ppaction://hlinksldjump"/>
              </a:rPr>
              <a:t>Noise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3886072" y="3128823"/>
            <a:ext cx="60960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Filtering</a:t>
            </a:r>
            <a:endParaRPr sz="500" dirty="0">
              <a:latin typeface="Georgia"/>
              <a:cs typeface="Georgia"/>
            </a:endParaRPr>
          </a:p>
        </p:txBody>
      </p:sp>
      <p:sp>
        <p:nvSpPr>
          <p:cNvPr id="122" name="object 1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2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-2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5300" y="25256"/>
            <a:ext cx="14973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References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al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225344" y="72643"/>
            <a:ext cx="737870" cy="96520"/>
            <a:chOff x="2225344" y="72643"/>
            <a:chExt cx="737870" cy="96520"/>
          </a:xfrm>
        </p:grpSpPr>
        <p:sp>
          <p:nvSpPr>
            <p:cNvPr id="39" name="object 39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790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202535" y="25256"/>
            <a:ext cx="1038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333216" y="127484"/>
            <a:ext cx="696595" cy="41275"/>
            <a:chOff x="3333216" y="127484"/>
            <a:chExt cx="696595" cy="41275"/>
          </a:xfrm>
        </p:grpSpPr>
        <p:sp>
          <p:nvSpPr>
            <p:cNvPr id="51" name="object 51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869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310394" y="25256"/>
            <a:ext cx="309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096258" y="127484"/>
            <a:ext cx="293370" cy="41275"/>
            <a:chOff x="4096258" y="127484"/>
            <a:chExt cx="293370" cy="41275"/>
          </a:xfrm>
        </p:grpSpPr>
        <p:sp>
          <p:nvSpPr>
            <p:cNvPr id="67" name="object 67"/>
            <p:cNvSpPr/>
            <p:nvPr/>
          </p:nvSpPr>
          <p:spPr>
            <a:xfrm>
              <a:off x="40987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199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073436" y="25256"/>
            <a:ext cx="6483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4813896" y="72643"/>
            <a:ext cx="478790" cy="96520"/>
            <a:chOff x="4813896" y="72643"/>
            <a:chExt cx="478790" cy="96520"/>
          </a:xfrm>
        </p:grpSpPr>
        <p:sp>
          <p:nvSpPr>
            <p:cNvPr id="75" name="object 75"/>
            <p:cNvSpPr/>
            <p:nvPr/>
          </p:nvSpPr>
          <p:spPr>
            <a:xfrm>
              <a:off x="48164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4791087" y="25256"/>
            <a:ext cx="5791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45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462561" y="127484"/>
            <a:ext cx="92075" cy="41275"/>
            <a:chOff x="5462561" y="127484"/>
            <a:chExt cx="92075" cy="41275"/>
          </a:xfrm>
        </p:grpSpPr>
        <p:sp>
          <p:nvSpPr>
            <p:cNvPr id="83" name="object 83"/>
            <p:cNvSpPr/>
            <p:nvPr/>
          </p:nvSpPr>
          <p:spPr>
            <a:xfrm>
              <a:off x="546510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5439752" y="25256"/>
            <a:ext cx="2254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0" y="191325"/>
            <a:ext cx="5760085" cy="99060"/>
          </a:xfrm>
          <a:custGeom>
            <a:avLst/>
            <a:gdLst/>
            <a:ahLst/>
            <a:cxnLst/>
            <a:rect l="l" t="t" r="r" b="b"/>
            <a:pathLst>
              <a:path w="5760085" h="99060">
                <a:moveTo>
                  <a:pt x="5759996" y="0"/>
                </a:moveTo>
                <a:lnTo>
                  <a:pt x="0" y="0"/>
                </a:lnTo>
                <a:lnTo>
                  <a:pt x="0" y="98742"/>
                </a:lnTo>
                <a:lnTo>
                  <a:pt x="5759996" y="98742"/>
                </a:lnTo>
                <a:lnTo>
                  <a:pt x="5759996" y="0"/>
                </a:lnTo>
                <a:close/>
              </a:path>
            </a:pathLst>
          </a:custGeom>
          <a:solidFill>
            <a:srgbClr val="540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Reference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Books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7294" y="1071313"/>
            <a:ext cx="2102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Georgia"/>
                <a:cs typeface="Georgia"/>
              </a:rPr>
              <a:t>Reference</a:t>
            </a:r>
            <a:r>
              <a:rPr sz="1000" b="1" spc="25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books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for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this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lecture: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9" name="object 8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2048" y="1700047"/>
            <a:ext cx="57746" cy="57746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600354" y="1621096"/>
            <a:ext cx="430149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Chapter</a:t>
            </a:r>
            <a:r>
              <a:rPr sz="1000" spc="1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4: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Computer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Vision: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Algorithms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Applications,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Richard</a:t>
            </a:r>
            <a:r>
              <a:rPr sz="1000" spc="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Szeliski</a:t>
            </a:r>
            <a:r>
              <a:rPr sz="1000" spc="-10" dirty="0">
                <a:latin typeface="Georgia"/>
                <a:cs typeface="Georgia"/>
              </a:rPr>
              <a:t>, </a:t>
            </a:r>
            <a:r>
              <a:rPr sz="1000" spc="-20" dirty="0">
                <a:latin typeface="Georgia"/>
                <a:cs typeface="Georgia"/>
              </a:rPr>
              <a:t>Springer,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latest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edition.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97" name="object 97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5300" y="25256"/>
            <a:ext cx="14973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References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al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225344" y="72643"/>
            <a:ext cx="737870" cy="96520"/>
            <a:chOff x="2225344" y="72643"/>
            <a:chExt cx="737870" cy="96520"/>
          </a:xfrm>
        </p:grpSpPr>
        <p:sp>
          <p:nvSpPr>
            <p:cNvPr id="39" name="object 39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790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202535" y="25256"/>
            <a:ext cx="1038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333216" y="127484"/>
            <a:ext cx="696595" cy="41275"/>
            <a:chOff x="3333216" y="127484"/>
            <a:chExt cx="696595" cy="41275"/>
          </a:xfrm>
        </p:grpSpPr>
        <p:sp>
          <p:nvSpPr>
            <p:cNvPr id="51" name="object 51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869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310394" y="25256"/>
            <a:ext cx="309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096258" y="127484"/>
            <a:ext cx="293370" cy="41275"/>
            <a:chOff x="4096258" y="127484"/>
            <a:chExt cx="293370" cy="41275"/>
          </a:xfrm>
        </p:grpSpPr>
        <p:sp>
          <p:nvSpPr>
            <p:cNvPr id="67" name="object 67"/>
            <p:cNvSpPr/>
            <p:nvPr/>
          </p:nvSpPr>
          <p:spPr>
            <a:xfrm>
              <a:off x="40987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19959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073436" y="25256"/>
            <a:ext cx="6483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3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4813896" y="72643"/>
            <a:ext cx="478790" cy="96520"/>
            <a:chOff x="4813896" y="72643"/>
            <a:chExt cx="478790" cy="96520"/>
          </a:xfrm>
        </p:grpSpPr>
        <p:sp>
          <p:nvSpPr>
            <p:cNvPr id="75" name="object 75"/>
            <p:cNvSpPr/>
            <p:nvPr/>
          </p:nvSpPr>
          <p:spPr>
            <a:xfrm>
              <a:off x="48164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4791087" y="25256"/>
            <a:ext cx="5791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45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462561" y="127484"/>
            <a:ext cx="92075" cy="41275"/>
            <a:chOff x="5462561" y="127484"/>
            <a:chExt cx="92075" cy="41275"/>
          </a:xfrm>
        </p:grpSpPr>
        <p:sp>
          <p:nvSpPr>
            <p:cNvPr id="83" name="object 83"/>
            <p:cNvSpPr/>
            <p:nvPr/>
          </p:nvSpPr>
          <p:spPr>
            <a:xfrm>
              <a:off x="546510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5439752" y="25256"/>
            <a:ext cx="2254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0" y="191325"/>
            <a:ext cx="5760085" cy="99060"/>
          </a:xfrm>
          <a:custGeom>
            <a:avLst/>
            <a:gdLst/>
            <a:ahLst/>
            <a:cxnLst/>
            <a:rect l="l" t="t" r="r" b="b"/>
            <a:pathLst>
              <a:path w="5760085" h="99060">
                <a:moveTo>
                  <a:pt x="5759996" y="0"/>
                </a:moveTo>
                <a:lnTo>
                  <a:pt x="0" y="0"/>
                </a:lnTo>
                <a:lnTo>
                  <a:pt x="0" y="98742"/>
                </a:lnTo>
                <a:lnTo>
                  <a:pt x="5759996" y="98742"/>
                </a:lnTo>
                <a:lnTo>
                  <a:pt x="5759996" y="0"/>
                </a:lnTo>
                <a:close/>
              </a:path>
            </a:pathLst>
          </a:custGeom>
          <a:solidFill>
            <a:srgbClr val="540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Reference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Books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7294" y="1071313"/>
            <a:ext cx="2102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Georgia"/>
                <a:cs typeface="Georgia"/>
              </a:rPr>
              <a:t>Reference</a:t>
            </a:r>
            <a:r>
              <a:rPr sz="1000" b="1" spc="25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books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for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this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lecture: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9" name="object 8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2048" y="1700047"/>
            <a:ext cx="57746" cy="57746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600354" y="1621096"/>
            <a:ext cx="4791075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9403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Chapter</a:t>
            </a:r>
            <a:r>
              <a:rPr sz="1000" spc="1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4: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Computer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Vision: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Algorithms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Applications,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Richard</a:t>
            </a:r>
            <a:r>
              <a:rPr sz="1000" spc="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Szeliski</a:t>
            </a:r>
            <a:r>
              <a:rPr sz="1000" spc="-10" dirty="0">
                <a:latin typeface="Georgia"/>
                <a:cs typeface="Georgia"/>
              </a:rPr>
              <a:t>, </a:t>
            </a:r>
            <a:r>
              <a:rPr sz="1000" spc="-20" dirty="0">
                <a:latin typeface="Georgia"/>
                <a:cs typeface="Georgia"/>
              </a:rPr>
              <a:t>Springer,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latest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edition.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Chapter</a:t>
            </a: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3:</a:t>
            </a:r>
            <a:r>
              <a:rPr sz="1000" spc="11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Digital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Processing,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Gonzalez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55" dirty="0">
                <a:solidFill>
                  <a:srgbClr val="0000FF"/>
                </a:solidFill>
                <a:latin typeface="Georgia"/>
                <a:cs typeface="Georgia"/>
              </a:rPr>
              <a:t>&amp;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Woods</a:t>
            </a:r>
            <a:r>
              <a:rPr sz="1000" spc="-10" dirty="0">
                <a:latin typeface="Georgia"/>
                <a:cs typeface="Georgia"/>
              </a:rPr>
              <a:t>,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Prentice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Hall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latest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edition.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91" name="object 9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2048" y="2041664"/>
            <a:ext cx="57746" cy="57746"/>
          </a:xfrm>
          <a:prstGeom prst="rect">
            <a:avLst/>
          </a:prstGeom>
        </p:spPr>
      </p:pic>
      <p:sp>
        <p:nvSpPr>
          <p:cNvPr id="96" name="object 9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98" name="object 98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an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image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What</a:t>
            </a:r>
            <a:r>
              <a:rPr sz="9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048" y="1510791"/>
            <a:ext cx="57746" cy="5774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2048" y="1700580"/>
            <a:ext cx="57746" cy="57746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2048" y="1890369"/>
            <a:ext cx="57746" cy="5774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2048" y="2080158"/>
            <a:ext cx="57746" cy="5774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347294" y="1062055"/>
            <a:ext cx="1388110" cy="1116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Noise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could</a:t>
            </a:r>
            <a:r>
              <a:rPr sz="1000" spc="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arise</a:t>
            </a:r>
            <a:r>
              <a:rPr sz="1000" spc="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due</a:t>
            </a:r>
            <a:r>
              <a:rPr sz="1000" spc="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to: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Georgia"/>
              <a:cs typeface="Georgia"/>
            </a:endParaRPr>
          </a:p>
          <a:p>
            <a:pPr marL="265430" marR="64769">
              <a:lnSpc>
                <a:spcPct val="124500"/>
              </a:lnSpc>
            </a:pPr>
            <a:r>
              <a:rPr sz="1000" dirty="0">
                <a:latin typeface="Georgia"/>
                <a:cs typeface="Georgia"/>
              </a:rPr>
              <a:t>Light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variations </a:t>
            </a:r>
            <a:r>
              <a:rPr sz="1000" dirty="0">
                <a:latin typeface="Georgia"/>
                <a:cs typeface="Georgia"/>
              </a:rPr>
              <a:t>Camera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electronics </a:t>
            </a:r>
            <a:r>
              <a:rPr sz="1000" spc="-10" dirty="0">
                <a:latin typeface="Georgia"/>
                <a:cs typeface="Georgia"/>
              </a:rPr>
              <a:t>Surface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reflectance </a:t>
            </a:r>
            <a:r>
              <a:rPr sz="1000" dirty="0">
                <a:latin typeface="Georgia"/>
                <a:cs typeface="Georgia"/>
              </a:rPr>
              <a:t>Lens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aberrations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7" name="object 8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89" name="object 8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6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-2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an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image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What</a:t>
            </a:r>
            <a:r>
              <a:rPr sz="9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048" y="881506"/>
            <a:ext cx="57746" cy="57746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562254" y="802556"/>
            <a:ext cx="4901565" cy="1038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8382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In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practical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systems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encounter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images.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also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function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gets </a:t>
            </a:r>
            <a:r>
              <a:rPr sz="1000" spc="-25" dirty="0">
                <a:latin typeface="Georgia"/>
                <a:cs typeface="Georgia"/>
              </a:rPr>
              <a:t>combined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with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original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function.</a:t>
            </a:r>
            <a:r>
              <a:rPr sz="1000" spc="1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Thus,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digitized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can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written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as:</a:t>
            </a:r>
            <a:endParaRPr sz="1000" dirty="0">
              <a:latin typeface="Georgia"/>
              <a:cs typeface="Georgia"/>
            </a:endParaRPr>
          </a:p>
          <a:p>
            <a:pPr marL="1725295">
              <a:lnSpc>
                <a:spcPct val="100000"/>
              </a:lnSpc>
              <a:spcBef>
                <a:spcPts val="985"/>
              </a:spcBef>
              <a:tabLst>
                <a:tab pos="4675505" algn="l"/>
              </a:tabLst>
            </a:pPr>
            <a:r>
              <a:rPr sz="1000" i="1" spc="11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1050" i="1" spc="165" baseline="31746" dirty="0">
                <a:solidFill>
                  <a:srgbClr val="0000FF"/>
                </a:solidFill>
                <a:latin typeface="Arial"/>
                <a:cs typeface="Arial"/>
              </a:rPr>
              <a:t>′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110" dirty="0">
                <a:solidFill>
                  <a:srgbClr val="0000FF"/>
                </a:solidFill>
                <a:latin typeface="Calibri"/>
                <a:cs typeface="Calibri"/>
              </a:rPr>
              <a:t>x,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10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10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1000" spc="105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105" dirty="0">
                <a:solidFill>
                  <a:srgbClr val="0000FF"/>
                </a:solidFill>
                <a:latin typeface="Calibri"/>
                <a:cs typeface="Calibri"/>
              </a:rPr>
              <a:t>x,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η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x,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(1)</a:t>
            </a:r>
            <a:endParaRPr sz="10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00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latin typeface="Georgia"/>
                <a:cs typeface="Georgia"/>
              </a:rPr>
              <a:t>where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i="1" spc="175" dirty="0">
                <a:solidFill>
                  <a:srgbClr val="EC008C"/>
                </a:solidFill>
                <a:latin typeface="Calibri"/>
                <a:cs typeface="Calibri"/>
              </a:rPr>
              <a:t>I</a:t>
            </a:r>
            <a:r>
              <a:rPr sz="1050" i="1" spc="262" baseline="27777" dirty="0">
                <a:solidFill>
                  <a:srgbClr val="EC008C"/>
                </a:solidFill>
                <a:latin typeface="Arial"/>
                <a:cs typeface="Arial"/>
              </a:rPr>
              <a:t>′</a:t>
            </a:r>
            <a:r>
              <a:rPr sz="1050" i="1" spc="179" baseline="27777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recorded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i="1" spc="185" dirty="0">
                <a:solidFill>
                  <a:srgbClr val="EC008C"/>
                </a:solidFill>
                <a:latin typeface="Calibri"/>
                <a:cs typeface="Calibri"/>
              </a:rPr>
              <a:t>I</a:t>
            </a:r>
            <a:r>
              <a:rPr sz="1000" i="1" spc="105" dirty="0">
                <a:solidFill>
                  <a:srgbClr val="EC008C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free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EC008C"/>
                </a:solidFill>
                <a:latin typeface="Calibri"/>
                <a:cs typeface="Calibri"/>
              </a:rPr>
              <a:t>η</a:t>
            </a:r>
            <a:r>
              <a:rPr sz="1000" i="1" spc="75" dirty="0">
                <a:solidFill>
                  <a:srgbClr val="EC008C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function.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ftr" sz="quarter" idx="5"/>
          </p:nvPr>
        </p:nvSpPr>
        <p:spPr>
          <a:xfrm>
            <a:off x="317665" y="3151479"/>
            <a:ext cx="2793835" cy="97463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86" name="object 86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an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image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What</a:t>
            </a:r>
            <a:r>
              <a:rPr sz="9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048" y="881506"/>
            <a:ext cx="57746" cy="5774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2048" y="2083498"/>
            <a:ext cx="57746" cy="57746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6323" y="2259202"/>
            <a:ext cx="46520" cy="46520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56323" y="2398382"/>
            <a:ext cx="46520" cy="46520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6323" y="2537561"/>
            <a:ext cx="46520" cy="46520"/>
          </a:xfrm>
          <a:prstGeom prst="rect">
            <a:avLst/>
          </a:prstGeom>
        </p:spPr>
      </p:pic>
      <p:sp>
        <p:nvSpPr>
          <p:cNvPr id="83" name="object 83"/>
          <p:cNvSpPr txBox="1"/>
          <p:nvPr/>
        </p:nvSpPr>
        <p:spPr>
          <a:xfrm>
            <a:off x="549554" y="802556"/>
            <a:ext cx="4926965" cy="1819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 marR="9652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In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practical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systems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encounter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images.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also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function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gets </a:t>
            </a:r>
            <a:r>
              <a:rPr sz="1000" spc="-25" dirty="0">
                <a:latin typeface="Georgia"/>
                <a:cs typeface="Georgia"/>
              </a:rPr>
              <a:t>combined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with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original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function.</a:t>
            </a:r>
            <a:r>
              <a:rPr sz="1000" spc="1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Thus,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digitized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can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written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as:</a:t>
            </a:r>
            <a:endParaRPr sz="1000" dirty="0">
              <a:latin typeface="Georgia"/>
              <a:cs typeface="Georgia"/>
            </a:endParaRPr>
          </a:p>
          <a:p>
            <a:pPr marL="1737995">
              <a:lnSpc>
                <a:spcPct val="100000"/>
              </a:lnSpc>
              <a:spcBef>
                <a:spcPts val="985"/>
              </a:spcBef>
              <a:tabLst>
                <a:tab pos="4688205" algn="l"/>
              </a:tabLst>
            </a:pPr>
            <a:r>
              <a:rPr sz="1000" i="1" spc="11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1050" i="1" spc="165" baseline="31746" dirty="0">
                <a:solidFill>
                  <a:srgbClr val="0000FF"/>
                </a:solidFill>
                <a:latin typeface="Arial"/>
                <a:cs typeface="Arial"/>
              </a:rPr>
              <a:t>′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110" dirty="0">
                <a:solidFill>
                  <a:srgbClr val="0000FF"/>
                </a:solidFill>
                <a:latin typeface="Calibri"/>
                <a:cs typeface="Calibri"/>
              </a:rPr>
              <a:t>x,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10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10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1000" spc="105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105" dirty="0">
                <a:solidFill>
                  <a:srgbClr val="0000FF"/>
                </a:solidFill>
                <a:latin typeface="Calibri"/>
                <a:cs typeface="Calibri"/>
              </a:rPr>
              <a:t>x,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η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x,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(1)</a:t>
            </a:r>
            <a:endParaRPr sz="10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000" dirty="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latin typeface="Georgia"/>
                <a:cs typeface="Georgia"/>
              </a:rPr>
              <a:t>where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i="1" spc="175" dirty="0">
                <a:solidFill>
                  <a:srgbClr val="EC008C"/>
                </a:solidFill>
                <a:latin typeface="Calibri"/>
                <a:cs typeface="Calibri"/>
              </a:rPr>
              <a:t>I</a:t>
            </a:r>
            <a:r>
              <a:rPr sz="1050" i="1" spc="262" baseline="27777" dirty="0">
                <a:solidFill>
                  <a:srgbClr val="EC008C"/>
                </a:solidFill>
                <a:latin typeface="Arial"/>
                <a:cs typeface="Arial"/>
              </a:rPr>
              <a:t>′</a:t>
            </a:r>
            <a:r>
              <a:rPr sz="1050" i="1" spc="179" baseline="27777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recorded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i="1" spc="185" dirty="0">
                <a:solidFill>
                  <a:srgbClr val="EC008C"/>
                </a:solidFill>
                <a:latin typeface="Calibri"/>
                <a:cs typeface="Calibri"/>
              </a:rPr>
              <a:t>I</a:t>
            </a:r>
            <a:r>
              <a:rPr sz="1000" i="1" spc="105" dirty="0">
                <a:solidFill>
                  <a:srgbClr val="EC008C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free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EC008C"/>
                </a:solidFill>
                <a:latin typeface="Calibri"/>
                <a:cs typeface="Calibri"/>
              </a:rPr>
              <a:t>η</a:t>
            </a:r>
            <a:r>
              <a:rPr sz="1000" i="1" spc="75" dirty="0">
                <a:solidFill>
                  <a:srgbClr val="EC008C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function.</a:t>
            </a:r>
            <a:endParaRPr sz="10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000" dirty="0">
              <a:latin typeface="Georgia"/>
              <a:cs typeface="Georgia"/>
            </a:endParaRPr>
          </a:p>
          <a:p>
            <a:pPr marL="62865">
              <a:lnSpc>
                <a:spcPct val="100000"/>
              </a:lnSpc>
            </a:pPr>
            <a:r>
              <a:rPr sz="1000" dirty="0">
                <a:latin typeface="Georgia"/>
                <a:cs typeface="Georgia"/>
              </a:rPr>
              <a:t>What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looks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like?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There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different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types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noise.</a:t>
            </a:r>
            <a:endParaRPr sz="1000" dirty="0">
              <a:latin typeface="Georgia"/>
              <a:cs typeface="Georgia"/>
            </a:endParaRPr>
          </a:p>
          <a:p>
            <a:pPr marL="316230" marR="3481070">
              <a:lnSpc>
                <a:spcPct val="101499"/>
              </a:lnSpc>
              <a:spcBef>
                <a:spcPts val="180"/>
              </a:spcBef>
            </a:pPr>
            <a:r>
              <a:rPr sz="900" dirty="0">
                <a:latin typeface="Georgia"/>
                <a:cs typeface="Georgia"/>
              </a:rPr>
              <a:t>Salt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and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Pepper</a:t>
            </a:r>
            <a:r>
              <a:rPr sz="900" spc="10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noise</a:t>
            </a:r>
            <a:r>
              <a:rPr sz="900" dirty="0">
                <a:latin typeface="Georgia"/>
                <a:cs typeface="Georgia"/>
              </a:rPr>
              <a:t> Impulse</a:t>
            </a:r>
            <a:r>
              <a:rPr sz="900" spc="-10" dirty="0">
                <a:latin typeface="Georgia"/>
                <a:cs typeface="Georgia"/>
              </a:rPr>
              <a:t> noise </a:t>
            </a:r>
            <a:r>
              <a:rPr sz="900" dirty="0">
                <a:latin typeface="Georgia"/>
                <a:cs typeface="Georgia"/>
              </a:rPr>
              <a:t>Gaussian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noise</a:t>
            </a:r>
            <a:endParaRPr sz="900" dirty="0">
              <a:latin typeface="Georgia"/>
              <a:cs typeface="Georgia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90" name="object 90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Types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Salt</a:t>
            </a:r>
            <a:r>
              <a:rPr sz="900" spc="1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&amp;</a:t>
            </a:r>
            <a:r>
              <a:rPr sz="900" spc="1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Pepper</a:t>
            </a:r>
            <a:r>
              <a:rPr sz="900" spc="1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47294" y="494771"/>
            <a:ext cx="3884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-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Salt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55" dirty="0">
                <a:solidFill>
                  <a:srgbClr val="0000FF"/>
                </a:solidFill>
                <a:latin typeface="Georgia"/>
                <a:cs typeface="Georgia"/>
              </a:rPr>
              <a:t>&amp;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Pepper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Noise: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Random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occurrence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black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white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pixels.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79" name="object 7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004" y="763676"/>
            <a:ext cx="2560320" cy="1706880"/>
          </a:xfrm>
          <a:prstGeom prst="rect">
            <a:avLst/>
          </a:prstGeom>
        </p:spPr>
      </p:pic>
      <p:sp>
        <p:nvSpPr>
          <p:cNvPr id="80" name="object 80"/>
          <p:cNvSpPr/>
          <p:nvPr/>
        </p:nvSpPr>
        <p:spPr>
          <a:xfrm>
            <a:off x="189191" y="2723654"/>
            <a:ext cx="2621915" cy="226060"/>
          </a:xfrm>
          <a:custGeom>
            <a:avLst/>
            <a:gdLst/>
            <a:ahLst/>
            <a:cxnLst/>
            <a:rect l="l" t="t" r="r" b="b"/>
            <a:pathLst>
              <a:path w="2621915" h="226060">
                <a:moveTo>
                  <a:pt x="2621635" y="44437"/>
                </a:moveTo>
                <a:lnTo>
                  <a:pt x="2620340" y="44437"/>
                </a:lnTo>
                <a:lnTo>
                  <a:pt x="2617635" y="31076"/>
                </a:lnTo>
                <a:lnTo>
                  <a:pt x="2606713" y="14922"/>
                </a:lnTo>
                <a:lnTo>
                  <a:pt x="2590558" y="4013"/>
                </a:lnTo>
                <a:lnTo>
                  <a:pt x="2570835" y="0"/>
                </a:lnTo>
                <a:lnTo>
                  <a:pt x="50800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82" y="44437"/>
                </a:lnTo>
                <a:lnTo>
                  <a:pt x="0" y="44437"/>
                </a:lnTo>
                <a:lnTo>
                  <a:pt x="0" y="50800"/>
                </a:lnTo>
                <a:lnTo>
                  <a:pt x="0" y="82384"/>
                </a:lnTo>
                <a:lnTo>
                  <a:pt x="0" y="175120"/>
                </a:lnTo>
                <a:lnTo>
                  <a:pt x="4013" y="194856"/>
                </a:lnTo>
                <a:lnTo>
                  <a:pt x="14922" y="211010"/>
                </a:lnTo>
                <a:lnTo>
                  <a:pt x="31076" y="221919"/>
                </a:lnTo>
                <a:lnTo>
                  <a:pt x="50800" y="225933"/>
                </a:lnTo>
                <a:lnTo>
                  <a:pt x="2570835" y="225933"/>
                </a:lnTo>
                <a:lnTo>
                  <a:pt x="2590558" y="221919"/>
                </a:lnTo>
                <a:lnTo>
                  <a:pt x="2606713" y="211010"/>
                </a:lnTo>
                <a:lnTo>
                  <a:pt x="2617635" y="194856"/>
                </a:lnTo>
                <a:lnTo>
                  <a:pt x="2621635" y="175120"/>
                </a:lnTo>
                <a:lnTo>
                  <a:pt x="2621635" y="82384"/>
                </a:lnTo>
                <a:lnTo>
                  <a:pt x="2621635" y="50800"/>
                </a:lnTo>
                <a:lnTo>
                  <a:pt x="2621635" y="44437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227304" y="2741325"/>
            <a:ext cx="8521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Original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2" name="object 8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99994" y="671271"/>
            <a:ext cx="2553652" cy="1706879"/>
          </a:xfrm>
          <a:prstGeom prst="rect">
            <a:avLst/>
          </a:prstGeom>
        </p:spPr>
      </p:pic>
      <p:grpSp>
        <p:nvGrpSpPr>
          <p:cNvPr id="83" name="object 83"/>
          <p:cNvGrpSpPr/>
          <p:nvPr/>
        </p:nvGrpSpPr>
        <p:grpSpPr>
          <a:xfrm>
            <a:off x="2949193" y="2644584"/>
            <a:ext cx="2621915" cy="397510"/>
            <a:chOff x="2949193" y="2644584"/>
            <a:chExt cx="2621915" cy="397510"/>
          </a:xfrm>
        </p:grpSpPr>
        <p:sp>
          <p:nvSpPr>
            <p:cNvPr id="84" name="object 84"/>
            <p:cNvSpPr/>
            <p:nvPr/>
          </p:nvSpPr>
          <p:spPr>
            <a:xfrm>
              <a:off x="2949193" y="2644584"/>
              <a:ext cx="2621915" cy="169545"/>
            </a:xfrm>
            <a:custGeom>
              <a:avLst/>
              <a:gdLst/>
              <a:ahLst/>
              <a:cxnLst/>
              <a:rect l="l" t="t" r="r" b="b"/>
              <a:pathLst>
                <a:path w="2621915" h="169544">
                  <a:moveTo>
                    <a:pt x="2570833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69546"/>
                  </a:lnTo>
                  <a:lnTo>
                    <a:pt x="2621633" y="169546"/>
                  </a:lnTo>
                  <a:lnTo>
                    <a:pt x="2621633" y="50800"/>
                  </a:lnTo>
                  <a:lnTo>
                    <a:pt x="2617625" y="31075"/>
                  </a:lnTo>
                  <a:lnTo>
                    <a:pt x="2606710" y="14922"/>
                  </a:lnTo>
                  <a:lnTo>
                    <a:pt x="2590557" y="4008"/>
                  </a:lnTo>
                  <a:lnTo>
                    <a:pt x="2570833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49193" y="2801480"/>
              <a:ext cx="2621633" cy="50609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2949193" y="2845759"/>
              <a:ext cx="2621915" cy="196850"/>
            </a:xfrm>
            <a:custGeom>
              <a:avLst/>
              <a:gdLst/>
              <a:ahLst/>
              <a:cxnLst/>
              <a:rect l="l" t="t" r="r" b="b"/>
              <a:pathLst>
                <a:path w="2621915" h="196850">
                  <a:moveTo>
                    <a:pt x="2621633" y="0"/>
                  </a:moveTo>
                  <a:lnTo>
                    <a:pt x="0" y="0"/>
                  </a:lnTo>
                  <a:lnTo>
                    <a:pt x="0" y="145458"/>
                  </a:lnTo>
                  <a:lnTo>
                    <a:pt x="4008" y="165183"/>
                  </a:lnTo>
                  <a:lnTo>
                    <a:pt x="14922" y="181336"/>
                  </a:lnTo>
                  <a:lnTo>
                    <a:pt x="31075" y="192250"/>
                  </a:lnTo>
                  <a:lnTo>
                    <a:pt x="50800" y="196259"/>
                  </a:lnTo>
                  <a:lnTo>
                    <a:pt x="2570833" y="196259"/>
                  </a:lnTo>
                  <a:lnTo>
                    <a:pt x="2590557" y="192250"/>
                  </a:lnTo>
                  <a:lnTo>
                    <a:pt x="2606710" y="181336"/>
                  </a:lnTo>
                  <a:lnTo>
                    <a:pt x="2617625" y="165183"/>
                  </a:lnTo>
                  <a:lnTo>
                    <a:pt x="2621633" y="145458"/>
                  </a:lnTo>
                  <a:lnTo>
                    <a:pt x="2621633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2987294" y="2586336"/>
            <a:ext cx="2214880" cy="41783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FFFFFF"/>
                </a:solidFill>
                <a:latin typeface="Georgia"/>
                <a:cs typeface="Georgia"/>
              </a:rPr>
              <a:t>Matlab</a:t>
            </a:r>
            <a:r>
              <a:rPr sz="10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Function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000" dirty="0">
                <a:latin typeface="Georgia"/>
                <a:cs typeface="Georgia"/>
              </a:rPr>
              <a:t>J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imnoise(img1,’salt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55" dirty="0">
                <a:latin typeface="Georgia"/>
                <a:cs typeface="Georgia"/>
              </a:rPr>
              <a:t>&amp;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pepper’,0.02);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94" name="object 94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Types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Salt</a:t>
            </a:r>
            <a:r>
              <a:rPr sz="900" spc="1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&amp;</a:t>
            </a:r>
            <a:r>
              <a:rPr sz="900" spc="1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Pepper</a:t>
            </a:r>
            <a:r>
              <a:rPr sz="900" spc="1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7294" y="689437"/>
            <a:ext cx="3884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-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Salt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55" dirty="0">
                <a:solidFill>
                  <a:srgbClr val="0000FF"/>
                </a:solidFill>
                <a:latin typeface="Georgia"/>
                <a:cs typeface="Georgia"/>
              </a:rPr>
              <a:t>&amp;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Pepper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Noise: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Random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occurrence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black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white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pixels.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80" name="object 8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004" y="878598"/>
            <a:ext cx="2543651" cy="170687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99994" y="1043546"/>
            <a:ext cx="2760002" cy="1347215"/>
          </a:xfrm>
          <a:prstGeom prst="rect">
            <a:avLst/>
          </a:prstGeom>
        </p:spPr>
      </p:pic>
      <p:sp>
        <p:nvSpPr>
          <p:cNvPr id="86" name="object 8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88" name="object 88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Types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Salt</a:t>
            </a:r>
            <a:r>
              <a:rPr sz="900" spc="1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&amp;</a:t>
            </a:r>
            <a:r>
              <a:rPr sz="900" spc="1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Pepper</a:t>
            </a:r>
            <a:r>
              <a:rPr sz="900" spc="1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7294" y="752835"/>
            <a:ext cx="3884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-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Salt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55" dirty="0">
                <a:solidFill>
                  <a:srgbClr val="0000FF"/>
                </a:solidFill>
                <a:latin typeface="Georgia"/>
                <a:cs typeface="Georgia"/>
              </a:rPr>
              <a:t>&amp;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Pepper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Noise: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Random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occurrence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black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white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pixels.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0" name="object 8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004" y="941997"/>
            <a:ext cx="2540317" cy="1700212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19814" y="1111034"/>
            <a:ext cx="2740181" cy="1347216"/>
          </a:xfrm>
          <a:prstGeom prst="rect">
            <a:avLst/>
          </a:prstGeom>
        </p:spPr>
      </p:pic>
      <p:sp>
        <p:nvSpPr>
          <p:cNvPr id="88" name="object 88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Types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Gaussian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7294" y="447070"/>
            <a:ext cx="496697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-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Gaussian</a:t>
            </a:r>
            <a:r>
              <a:rPr sz="1000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Noise: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having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probability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density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(PDF)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equal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the </a:t>
            </a:r>
            <a:r>
              <a:rPr sz="1000" spc="-20" dirty="0">
                <a:latin typeface="Georgia"/>
                <a:cs typeface="Georgia"/>
              </a:rPr>
              <a:t>normal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distribution,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which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also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known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Gaussian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distribution.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21894" y="1273878"/>
            <a:ext cx="3246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Georgia"/>
                <a:cs typeface="Georgia"/>
              </a:rPr>
              <a:t>where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EC008C"/>
                </a:solidFill>
                <a:latin typeface="Calibri"/>
                <a:cs typeface="Calibri"/>
              </a:rPr>
              <a:t>µ</a:t>
            </a:r>
            <a:r>
              <a:rPr sz="1000" i="1" spc="70" dirty="0">
                <a:solidFill>
                  <a:srgbClr val="EC008C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mean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gray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value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EC008C"/>
                </a:solidFill>
                <a:latin typeface="Calibri"/>
                <a:cs typeface="Calibri"/>
              </a:rPr>
              <a:t>σ</a:t>
            </a:r>
            <a:r>
              <a:rPr sz="1050" baseline="27777" dirty="0">
                <a:solidFill>
                  <a:srgbClr val="EC008C"/>
                </a:solidFill>
                <a:latin typeface="Cambria"/>
                <a:cs typeface="Cambria"/>
              </a:rPr>
              <a:t>2</a:t>
            </a:r>
            <a:r>
              <a:rPr sz="1050" spc="270" baseline="27777" dirty="0">
                <a:solidFill>
                  <a:srgbClr val="EC008C"/>
                </a:solidFill>
                <a:latin typeface="Cambria"/>
                <a:cs typeface="Cambr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standard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deviation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4" name="object 8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4120" y="1541242"/>
            <a:ext cx="2421445" cy="1607058"/>
          </a:xfrm>
          <a:prstGeom prst="rect">
            <a:avLst/>
          </a:prstGeom>
        </p:spPr>
      </p:pic>
      <p:sp>
        <p:nvSpPr>
          <p:cNvPr id="89" name="object 8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60"/>
              </a:spcBef>
            </a:pPr>
            <a:r>
              <a:rPr spc="75" dirty="0"/>
              <a:t>9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-25" dirty="0"/>
              <a:t>68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E80C15F5-92FE-47E4-8311-EDFFE80568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926" y="799679"/>
            <a:ext cx="2555871" cy="415889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ACE1F6BB-1262-41C0-907D-4591A9B51C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237" y="1712503"/>
            <a:ext cx="2160758" cy="100970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Types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Gaussian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7294" y="501058"/>
            <a:ext cx="50539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-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Gaussian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Noise:</a:t>
            </a:r>
            <a:r>
              <a:rPr sz="1000" spc="13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having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probability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density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(PDF)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equal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normal distribution.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80" name="object 8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004" y="832040"/>
            <a:ext cx="2560320" cy="1706880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189191" y="2792018"/>
            <a:ext cx="2621915" cy="226060"/>
          </a:xfrm>
          <a:custGeom>
            <a:avLst/>
            <a:gdLst/>
            <a:ahLst/>
            <a:cxnLst/>
            <a:rect l="l" t="t" r="r" b="b"/>
            <a:pathLst>
              <a:path w="2621915" h="226060">
                <a:moveTo>
                  <a:pt x="2621635" y="44437"/>
                </a:moveTo>
                <a:lnTo>
                  <a:pt x="2620340" y="44437"/>
                </a:lnTo>
                <a:lnTo>
                  <a:pt x="2617635" y="31076"/>
                </a:lnTo>
                <a:lnTo>
                  <a:pt x="2606713" y="14922"/>
                </a:lnTo>
                <a:lnTo>
                  <a:pt x="2590558" y="4013"/>
                </a:lnTo>
                <a:lnTo>
                  <a:pt x="2570835" y="0"/>
                </a:lnTo>
                <a:lnTo>
                  <a:pt x="50800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82" y="44437"/>
                </a:lnTo>
                <a:lnTo>
                  <a:pt x="0" y="44437"/>
                </a:lnTo>
                <a:lnTo>
                  <a:pt x="0" y="50800"/>
                </a:lnTo>
                <a:lnTo>
                  <a:pt x="0" y="82384"/>
                </a:lnTo>
                <a:lnTo>
                  <a:pt x="0" y="175120"/>
                </a:lnTo>
                <a:lnTo>
                  <a:pt x="4013" y="194856"/>
                </a:lnTo>
                <a:lnTo>
                  <a:pt x="14922" y="211010"/>
                </a:lnTo>
                <a:lnTo>
                  <a:pt x="31076" y="221919"/>
                </a:lnTo>
                <a:lnTo>
                  <a:pt x="50800" y="225933"/>
                </a:lnTo>
                <a:lnTo>
                  <a:pt x="2570835" y="225933"/>
                </a:lnTo>
                <a:lnTo>
                  <a:pt x="2590558" y="221919"/>
                </a:lnTo>
                <a:lnTo>
                  <a:pt x="2606713" y="211010"/>
                </a:lnTo>
                <a:lnTo>
                  <a:pt x="2617635" y="194856"/>
                </a:lnTo>
                <a:lnTo>
                  <a:pt x="2621635" y="175120"/>
                </a:lnTo>
                <a:lnTo>
                  <a:pt x="2621635" y="82384"/>
                </a:lnTo>
                <a:lnTo>
                  <a:pt x="2621635" y="50800"/>
                </a:lnTo>
                <a:lnTo>
                  <a:pt x="2621635" y="44437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227304" y="2809689"/>
            <a:ext cx="8521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Original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Image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3" name="object 8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99994" y="804760"/>
            <a:ext cx="2616327" cy="1748789"/>
          </a:xfrm>
          <a:prstGeom prst="rect">
            <a:avLst/>
          </a:prstGeom>
        </p:spPr>
      </p:pic>
      <p:sp>
        <p:nvSpPr>
          <p:cNvPr id="84" name="object 84"/>
          <p:cNvSpPr/>
          <p:nvPr/>
        </p:nvSpPr>
        <p:spPr>
          <a:xfrm>
            <a:off x="2949181" y="2806649"/>
            <a:ext cx="2621915" cy="226060"/>
          </a:xfrm>
          <a:custGeom>
            <a:avLst/>
            <a:gdLst/>
            <a:ahLst/>
            <a:cxnLst/>
            <a:rect l="l" t="t" r="r" b="b"/>
            <a:pathLst>
              <a:path w="2621915" h="226060">
                <a:moveTo>
                  <a:pt x="2621635" y="44437"/>
                </a:moveTo>
                <a:lnTo>
                  <a:pt x="2620340" y="44437"/>
                </a:lnTo>
                <a:lnTo>
                  <a:pt x="2617635" y="31076"/>
                </a:lnTo>
                <a:lnTo>
                  <a:pt x="2606713" y="14922"/>
                </a:lnTo>
                <a:lnTo>
                  <a:pt x="2590558" y="4013"/>
                </a:lnTo>
                <a:lnTo>
                  <a:pt x="2570835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82" y="44437"/>
                </a:lnTo>
                <a:lnTo>
                  <a:pt x="0" y="44437"/>
                </a:lnTo>
                <a:lnTo>
                  <a:pt x="0" y="50800"/>
                </a:lnTo>
                <a:lnTo>
                  <a:pt x="0" y="82384"/>
                </a:lnTo>
                <a:lnTo>
                  <a:pt x="0" y="175120"/>
                </a:lnTo>
                <a:lnTo>
                  <a:pt x="4013" y="194856"/>
                </a:lnTo>
                <a:lnTo>
                  <a:pt x="14922" y="211010"/>
                </a:lnTo>
                <a:lnTo>
                  <a:pt x="31076" y="221919"/>
                </a:lnTo>
                <a:lnTo>
                  <a:pt x="50812" y="225933"/>
                </a:lnTo>
                <a:lnTo>
                  <a:pt x="2570835" y="225933"/>
                </a:lnTo>
                <a:lnTo>
                  <a:pt x="2590558" y="221919"/>
                </a:lnTo>
                <a:lnTo>
                  <a:pt x="2606713" y="211010"/>
                </a:lnTo>
                <a:lnTo>
                  <a:pt x="2617635" y="194856"/>
                </a:lnTo>
                <a:lnTo>
                  <a:pt x="2621635" y="175120"/>
                </a:lnTo>
                <a:lnTo>
                  <a:pt x="2621635" y="82384"/>
                </a:lnTo>
                <a:lnTo>
                  <a:pt x="2621635" y="50800"/>
                </a:lnTo>
                <a:lnTo>
                  <a:pt x="2621635" y="44437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2987294" y="2824319"/>
            <a:ext cx="701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Noisy</a:t>
            </a:r>
            <a:r>
              <a:rPr sz="1000" spc="-10" dirty="0">
                <a:latin typeface="Georgia"/>
                <a:cs typeface="Georgia"/>
              </a:rPr>
              <a:t> image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</a:rPr>
              <a:t>13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Types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Gaussian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7294" y="638548"/>
            <a:ext cx="50539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-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Gaussian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Noise:</a:t>
            </a:r>
            <a:r>
              <a:rPr sz="1000" spc="13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having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probability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density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(PDF)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equal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normal distribution.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80" name="object 8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004" y="954938"/>
            <a:ext cx="2543651" cy="170687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99994" y="1119873"/>
            <a:ext cx="2760002" cy="1347216"/>
          </a:xfrm>
          <a:prstGeom prst="rect">
            <a:avLst/>
          </a:prstGeom>
        </p:spPr>
      </p:pic>
      <p:sp>
        <p:nvSpPr>
          <p:cNvPr id="86" name="object 8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88" name="object 88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</a:rPr>
              <a:t>13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Types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Gaussian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7294" y="693945"/>
            <a:ext cx="50539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-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Gaussian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Noise:</a:t>
            </a:r>
            <a:r>
              <a:rPr sz="1000" spc="13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having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probability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density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(PDF)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equal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normal distribution.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80" name="object 8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004" y="1010335"/>
            <a:ext cx="2560320" cy="1720214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22292" y="1224038"/>
            <a:ext cx="2735226" cy="1292733"/>
          </a:xfrm>
          <a:prstGeom prst="rect">
            <a:avLst/>
          </a:prstGeom>
        </p:spPr>
      </p:pic>
      <p:sp>
        <p:nvSpPr>
          <p:cNvPr id="86" name="object 8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88" name="object 88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</a:rPr>
              <a:t>13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8A02F8-203A-4C3F-A07E-347B35CF4336}"/>
              </a:ext>
            </a:extLst>
          </p:cNvPr>
          <p:cNvSpPr/>
          <p:nvPr/>
        </p:nvSpPr>
        <p:spPr>
          <a:xfrm>
            <a:off x="260349" y="327025"/>
            <a:ext cx="52451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latin typeface="+mj-lt"/>
              </a:rPr>
              <a:t>Some common types of noise are salt and pepper noise, impulse noise, and Gaussian noise. </a:t>
            </a:r>
            <a:r>
              <a:rPr lang="en-US" sz="1000" dirty="0">
                <a:solidFill>
                  <a:srgbClr val="FF0000"/>
                </a:solidFill>
                <a:latin typeface="+mj-lt"/>
              </a:rPr>
              <a:t>Salt and pepper noise contains random occurrences of both black and white intensity values</a:t>
            </a:r>
            <a:r>
              <a:rPr lang="en-US" sz="1000" dirty="0">
                <a:latin typeface="+mj-lt"/>
              </a:rPr>
              <a:t>. However, </a:t>
            </a:r>
            <a:r>
              <a:rPr lang="en-US" sz="1000" dirty="0">
                <a:solidFill>
                  <a:srgbClr val="FF0000"/>
                </a:solidFill>
                <a:latin typeface="+mj-lt"/>
              </a:rPr>
              <a:t>impulse noise contains only random occurrences of white intensity values</a:t>
            </a:r>
            <a:r>
              <a:rPr lang="en-US" sz="1000" dirty="0">
                <a:latin typeface="+mj-lt"/>
              </a:rPr>
              <a:t>. Unlike these, Gaussian noise contains variations in intensity that are drawn from a </a:t>
            </a:r>
            <a:r>
              <a:rPr lang="en-US" sz="1000" dirty="0">
                <a:solidFill>
                  <a:srgbClr val="FF0000"/>
                </a:solidFill>
                <a:latin typeface="+mj-lt"/>
              </a:rPr>
              <a:t>Gaussian or normal distribution and is a very good model for many kinds of sensor noise, such as the noise due to camera electronics</a:t>
            </a:r>
            <a:r>
              <a:rPr lang="en-US" sz="1000" dirty="0">
                <a:latin typeface="+mj-lt"/>
              </a:rPr>
              <a:t> (see Figure 4.5)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88971C-8F97-4F2F-94A1-2CDA84B41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31" y="1591059"/>
            <a:ext cx="4549337" cy="167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47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Types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47294" y="1488902"/>
            <a:ext cx="1431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0000FF"/>
                </a:solidFill>
                <a:latin typeface="Georgia"/>
                <a:cs typeface="Georgia"/>
              </a:rPr>
              <a:t>How</a:t>
            </a:r>
            <a:r>
              <a:rPr sz="10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b="1" dirty="0">
                <a:solidFill>
                  <a:srgbClr val="0000FF"/>
                </a:solidFill>
                <a:latin typeface="Georgia"/>
                <a:cs typeface="Georgia"/>
              </a:rPr>
              <a:t>to</a:t>
            </a:r>
            <a:r>
              <a:rPr sz="10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b="1" spc="-40" dirty="0">
                <a:solidFill>
                  <a:srgbClr val="0000FF"/>
                </a:solidFill>
                <a:latin typeface="Georgia"/>
                <a:cs typeface="Georgia"/>
              </a:rPr>
              <a:t>remove</a:t>
            </a:r>
            <a:r>
              <a:rPr sz="10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b="1" spc="-25" dirty="0">
                <a:solidFill>
                  <a:srgbClr val="0000FF"/>
                </a:solidFill>
                <a:latin typeface="Georgia"/>
                <a:cs typeface="Georgia"/>
              </a:rPr>
              <a:t>noise?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85" name="object 85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Types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7294" y="721822"/>
            <a:ext cx="1431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0000FF"/>
                </a:solidFill>
                <a:latin typeface="Georgia"/>
                <a:cs typeface="Georgia"/>
              </a:rPr>
              <a:t>How</a:t>
            </a:r>
            <a:r>
              <a:rPr sz="10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b="1" dirty="0">
                <a:solidFill>
                  <a:srgbClr val="0000FF"/>
                </a:solidFill>
                <a:latin typeface="Georgia"/>
                <a:cs typeface="Georgia"/>
              </a:rPr>
              <a:t>to</a:t>
            </a:r>
            <a:r>
              <a:rPr sz="10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b="1" spc="-40" dirty="0">
                <a:solidFill>
                  <a:srgbClr val="0000FF"/>
                </a:solidFill>
                <a:latin typeface="Georgia"/>
                <a:cs typeface="Georgia"/>
              </a:rPr>
              <a:t>remove</a:t>
            </a:r>
            <a:r>
              <a:rPr sz="10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b="1" spc="-25" dirty="0">
                <a:solidFill>
                  <a:srgbClr val="0000FF"/>
                </a:solidFill>
                <a:latin typeface="Georgia"/>
                <a:cs typeface="Georgia"/>
              </a:rPr>
              <a:t>noise?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0" name="object 8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4479" y="1053706"/>
            <a:ext cx="4581525" cy="1538287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309181" y="2707551"/>
            <a:ext cx="5142230" cy="226060"/>
          </a:xfrm>
          <a:custGeom>
            <a:avLst/>
            <a:gdLst/>
            <a:ahLst/>
            <a:cxnLst/>
            <a:rect l="l" t="t" r="r" b="b"/>
            <a:pathLst>
              <a:path w="5142230" h="226060">
                <a:moveTo>
                  <a:pt x="5141671" y="44424"/>
                </a:moveTo>
                <a:lnTo>
                  <a:pt x="5140363" y="44424"/>
                </a:lnTo>
                <a:lnTo>
                  <a:pt x="5137658" y="31076"/>
                </a:lnTo>
                <a:lnTo>
                  <a:pt x="5126748" y="14922"/>
                </a:lnTo>
                <a:lnTo>
                  <a:pt x="5110594" y="4013"/>
                </a:lnTo>
                <a:lnTo>
                  <a:pt x="5090871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175107"/>
                </a:lnTo>
                <a:lnTo>
                  <a:pt x="4013" y="194843"/>
                </a:lnTo>
                <a:lnTo>
                  <a:pt x="14922" y="210997"/>
                </a:lnTo>
                <a:lnTo>
                  <a:pt x="31076" y="221907"/>
                </a:lnTo>
                <a:lnTo>
                  <a:pt x="50812" y="225920"/>
                </a:lnTo>
                <a:lnTo>
                  <a:pt x="5090871" y="225920"/>
                </a:lnTo>
                <a:lnTo>
                  <a:pt x="5110594" y="221907"/>
                </a:lnTo>
                <a:lnTo>
                  <a:pt x="5126748" y="210997"/>
                </a:lnTo>
                <a:lnTo>
                  <a:pt x="5137658" y="194843"/>
                </a:lnTo>
                <a:lnTo>
                  <a:pt x="5141671" y="175107"/>
                </a:lnTo>
                <a:lnTo>
                  <a:pt x="5141671" y="82384"/>
                </a:lnTo>
                <a:lnTo>
                  <a:pt x="5141671" y="50800"/>
                </a:lnTo>
                <a:lnTo>
                  <a:pt x="5141671" y="44424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347294" y="2725209"/>
            <a:ext cx="8445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Any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idea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now?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191770"/>
            <a:chOff x="0" y="0"/>
            <a:chExt cx="5760085" cy="19177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191770"/>
            </a:xfrm>
            <a:custGeom>
              <a:avLst/>
              <a:gdLst/>
              <a:ahLst/>
              <a:cxnLst/>
              <a:rect l="l" t="t" r="r" b="b"/>
              <a:pathLst>
                <a:path w="5760085" h="191770">
                  <a:moveTo>
                    <a:pt x="5759996" y="0"/>
                  </a:moveTo>
                  <a:lnTo>
                    <a:pt x="0" y="0"/>
                  </a:lnTo>
                  <a:lnTo>
                    <a:pt x="0" y="191325"/>
                  </a:lnTo>
                  <a:lnTo>
                    <a:pt x="5759996" y="191325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5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9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7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1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5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697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3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777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817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37" y="72643"/>
              <a:ext cx="41275" cy="285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63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3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40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4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48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15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656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16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664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168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672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176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680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84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688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92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6964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200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278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782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286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90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94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798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302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8069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31084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940" y="72643"/>
              <a:ext cx="41275" cy="285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3357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61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3655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86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373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77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81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855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89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93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397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901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40543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90949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987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491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19959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499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00385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50791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16437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668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172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67630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018036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995" y="72643"/>
              <a:ext cx="41275" cy="2857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465102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515508" y="130024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19630" algn="l"/>
                <a:tab pos="3990340" algn="l"/>
              </a:tabLst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References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Noise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Remo</a:t>
            </a:r>
            <a:r>
              <a:rPr sz="500" spc="20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al</a:t>
            </a:r>
            <a:r>
              <a:rPr sz="500" spc="27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Filtering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Correlation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1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&amp;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Con</a:t>
            </a:r>
            <a:r>
              <a:rPr sz="500" spc="22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olution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Kernels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Image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Boundary</a:t>
            </a:r>
            <a:r>
              <a:rPr sz="500" spc="270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Noise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Remo</a:t>
            </a:r>
            <a:r>
              <a:rPr sz="500" spc="20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al</a:t>
            </a:r>
            <a:r>
              <a:rPr sz="500" spc="275" dirty="0">
                <a:solidFill>
                  <a:srgbClr val="8C8CAC"/>
                </a:solidFill>
                <a:latin typeface="Georgia"/>
                <a:cs typeface="Georgia"/>
              </a:rPr>
              <a:t> 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Misc.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0" y="191325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Types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Noise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0" y="290067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Noise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7294" y="721822"/>
            <a:ext cx="1431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0000FF"/>
                </a:solidFill>
                <a:latin typeface="Georgia"/>
                <a:cs typeface="Georgia"/>
              </a:rPr>
              <a:t>How</a:t>
            </a:r>
            <a:r>
              <a:rPr sz="10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b="1" dirty="0">
                <a:solidFill>
                  <a:srgbClr val="0000FF"/>
                </a:solidFill>
                <a:latin typeface="Georgia"/>
                <a:cs typeface="Georgia"/>
              </a:rPr>
              <a:t>to</a:t>
            </a:r>
            <a:r>
              <a:rPr sz="10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b="1" spc="-40" dirty="0">
                <a:solidFill>
                  <a:srgbClr val="0000FF"/>
                </a:solidFill>
                <a:latin typeface="Georgia"/>
                <a:cs typeface="Georgia"/>
              </a:rPr>
              <a:t>remove</a:t>
            </a:r>
            <a:r>
              <a:rPr sz="1000" b="1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b="1" spc="-25" dirty="0">
                <a:solidFill>
                  <a:srgbClr val="0000FF"/>
                </a:solidFill>
                <a:latin typeface="Georgia"/>
                <a:cs typeface="Georgia"/>
              </a:rPr>
              <a:t>noise?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0" name="object 8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4479" y="1053706"/>
            <a:ext cx="4581525" cy="1538287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309181" y="2707551"/>
            <a:ext cx="5142230" cy="226060"/>
          </a:xfrm>
          <a:custGeom>
            <a:avLst/>
            <a:gdLst/>
            <a:ahLst/>
            <a:cxnLst/>
            <a:rect l="l" t="t" r="r" b="b"/>
            <a:pathLst>
              <a:path w="5142230" h="226060">
                <a:moveTo>
                  <a:pt x="5141671" y="44424"/>
                </a:moveTo>
                <a:lnTo>
                  <a:pt x="5140363" y="44424"/>
                </a:lnTo>
                <a:lnTo>
                  <a:pt x="5137658" y="31076"/>
                </a:lnTo>
                <a:lnTo>
                  <a:pt x="5126748" y="14922"/>
                </a:lnTo>
                <a:lnTo>
                  <a:pt x="5110594" y="4013"/>
                </a:lnTo>
                <a:lnTo>
                  <a:pt x="5090871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175107"/>
                </a:lnTo>
                <a:lnTo>
                  <a:pt x="4013" y="194843"/>
                </a:lnTo>
                <a:lnTo>
                  <a:pt x="14922" y="210997"/>
                </a:lnTo>
                <a:lnTo>
                  <a:pt x="31076" y="221907"/>
                </a:lnTo>
                <a:lnTo>
                  <a:pt x="50812" y="225920"/>
                </a:lnTo>
                <a:lnTo>
                  <a:pt x="5090871" y="225920"/>
                </a:lnTo>
                <a:lnTo>
                  <a:pt x="5110594" y="221907"/>
                </a:lnTo>
                <a:lnTo>
                  <a:pt x="5126748" y="210997"/>
                </a:lnTo>
                <a:lnTo>
                  <a:pt x="5137658" y="194843"/>
                </a:lnTo>
                <a:lnTo>
                  <a:pt x="5141671" y="175107"/>
                </a:lnTo>
                <a:lnTo>
                  <a:pt x="5141671" y="82384"/>
                </a:lnTo>
                <a:lnTo>
                  <a:pt x="5141671" y="50800"/>
                </a:lnTo>
                <a:lnTo>
                  <a:pt x="5141671" y="44424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347294" y="2725209"/>
            <a:ext cx="4025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How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about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replacing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pixels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average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neighboring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pixels?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89" name="object 89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1237</Words>
  <Application>Microsoft Office PowerPoint</Application>
  <PresentationFormat>Custom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anwar khan</cp:lastModifiedBy>
  <cp:revision>38</cp:revision>
  <dcterms:created xsi:type="dcterms:W3CDTF">2025-10-27T16:07:24Z</dcterms:created>
  <dcterms:modified xsi:type="dcterms:W3CDTF">2025-10-30T07:06:18Z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2025-10-27T00:00:00Z</vt:filetime>
  </property>
  <property fmtid="{D5CDD505-2E9C-101B-9397-08002B2CF9AE}" pid="3" name="LastSaved">
    <vt:filetime>2025-10-27T00:00:00Z</vt:filetime>
  </property>
  <property fmtid="{D5CDD505-2E9C-101B-9397-08002B2CF9AE}" pid="4" name="Producer">
    <vt:lpwstr>iLovePDF</vt:lpwstr>
  </property>
</Properties>
</file>