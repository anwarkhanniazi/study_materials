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76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42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57819-D463-415E-8D56-6C082DE075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9BC5D-FD27-4735-8D2A-4568BB79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9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mitc.org/cvpr15/accepted_papers.php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nips.cc/Conferences/2014/Program/accepted-papers.php" TargetMode="External"/><Relationship Id="rId5" Type="http://schemas.openxmlformats.org/officeDocument/2006/relationships/hyperlink" Target="http://eccv2014.org/accepted-papers/" TargetMode="External"/><Relationship Id="rId4" Type="http://schemas.openxmlformats.org/officeDocument/2006/relationships/hyperlink" Target="http://www.cvpapers.com/iccv2013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https://introtocv.github.io/materials.html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computer vision conferences and papers: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CVPR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IEEE Conference on Computer Vision and Pattern Recognition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ICCV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International Conference on Computer Vision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ECCV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European Conference on Computer Vision</a:t>
            </a: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NeurIPS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Neural Information Processing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EE26-9A22-42BD-AC0E-BD919174AF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0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35420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3333B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3333B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5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535976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071952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5420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743" y="590675"/>
            <a:ext cx="3071495" cy="202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3333B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590" y="3351784"/>
            <a:ext cx="50101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207" y="3351784"/>
            <a:ext cx="15100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039" y="3351784"/>
            <a:ext cx="25463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slide" Target="slide10.xml"/><Relationship Id="rId3" Type="http://schemas.openxmlformats.org/officeDocument/2006/relationships/image" Target="../media/image2.png"/><Relationship Id="rId21" Type="http://schemas.openxmlformats.org/officeDocument/2006/relationships/slide" Target="slide16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slide" Target="slide9.xml"/><Relationship Id="rId25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slide" Target="slide6.xml"/><Relationship Id="rId20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slide" Target="slide19.xml"/><Relationship Id="rId5" Type="http://schemas.openxmlformats.org/officeDocument/2006/relationships/image" Target="../media/image4.png"/><Relationship Id="rId15" Type="http://schemas.openxmlformats.org/officeDocument/2006/relationships/slide" Target="slide4.xml"/><Relationship Id="rId23" Type="http://schemas.openxmlformats.org/officeDocument/2006/relationships/slide" Target="slide18.xml"/><Relationship Id="rId10" Type="http://schemas.openxmlformats.org/officeDocument/2006/relationships/image" Target="../media/image9.png"/><Relationship Id="rId19" Type="http://schemas.openxmlformats.org/officeDocument/2006/relationships/slide" Target="slide11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slide" Target="slide3.xml"/><Relationship Id="rId22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slide" Target="slide21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emf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slide" Target="slide2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slide" Target="slide2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slide" Target="slide2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slide" Target="slide2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3.png"/><Relationship Id="rId7" Type="http://schemas.openxmlformats.org/officeDocument/2006/relationships/slide" Target="slide2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55.png"/><Relationship Id="rId10" Type="http://schemas.openxmlformats.org/officeDocument/2006/relationships/image" Target="../media/image58.emf"/><Relationship Id="rId4" Type="http://schemas.openxmlformats.org/officeDocument/2006/relationships/image" Target="../media/image54.png"/><Relationship Id="rId9" Type="http://schemas.openxmlformats.org/officeDocument/2006/relationships/image" Target="../media/image5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59.png"/><Relationship Id="rId7" Type="http://schemas.openxmlformats.org/officeDocument/2006/relationships/image" Target="../media/image6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1.png"/><Relationship Id="rId10" Type="http://schemas.openxmlformats.org/officeDocument/2006/relationships/image" Target="../media/image64.emf"/><Relationship Id="rId4" Type="http://schemas.openxmlformats.org/officeDocument/2006/relationships/image" Target="../media/image60.png"/><Relationship Id="rId9" Type="http://schemas.openxmlformats.org/officeDocument/2006/relationships/image" Target="../media/image6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5.png"/><Relationship Id="rId7" Type="http://schemas.openxmlformats.org/officeDocument/2006/relationships/slide" Target="slide2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6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70.png"/><Relationship Id="rId7" Type="http://schemas.openxmlformats.org/officeDocument/2006/relationships/slide" Target="slide2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75.png"/><Relationship Id="rId7" Type="http://schemas.openxmlformats.org/officeDocument/2006/relationships/image" Target="../media/image79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80.png"/><Relationship Id="rId7" Type="http://schemas.openxmlformats.org/officeDocument/2006/relationships/image" Target="../media/image83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84.png"/><Relationship Id="rId7" Type="http://schemas.openxmlformats.org/officeDocument/2006/relationships/image" Target="../media/image87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88.png"/><Relationship Id="rId7" Type="http://schemas.openxmlformats.org/officeDocument/2006/relationships/image" Target="../media/image9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92.png"/><Relationship Id="rId7" Type="http://schemas.openxmlformats.org/officeDocument/2006/relationships/image" Target="../media/image95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96.png"/><Relationship Id="rId7" Type="http://schemas.openxmlformats.org/officeDocument/2006/relationships/image" Target="../media/image100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slide" Target="slide21.xm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jp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8138" y="856765"/>
            <a:ext cx="21926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CS-</a:t>
            </a:r>
            <a:r>
              <a:rPr spc="340" dirty="0"/>
              <a:t> </a:t>
            </a:r>
            <a:r>
              <a:rPr dirty="0"/>
              <a:t>Computer</a:t>
            </a:r>
            <a:r>
              <a:rPr spc="345" dirty="0"/>
              <a:t> </a:t>
            </a:r>
            <a:r>
              <a:rPr spc="-10" dirty="0"/>
              <a:t>Vision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0763" y="1389442"/>
            <a:ext cx="1526540" cy="59785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b="1" dirty="0">
                <a:solidFill>
                  <a:srgbClr val="333333"/>
                </a:solidFill>
                <a:latin typeface="Arial"/>
                <a:cs typeface="Arial"/>
              </a:rPr>
              <a:t>Anwar Khan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 dirty="0">
              <a:latin typeface="Arial"/>
              <a:cs typeface="Arial"/>
            </a:endParaRPr>
          </a:p>
          <a:p>
            <a:pPr marL="12700" marR="5080" algn="ctr">
              <a:lnSpc>
                <a:spcPts val="950"/>
              </a:lnSpc>
            </a:pP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Department</a:t>
            </a:r>
            <a:r>
              <a:rPr sz="800" spc="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800" spc="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33333"/>
                </a:solidFill>
                <a:latin typeface="Arial MT"/>
                <a:cs typeface="Arial MT"/>
              </a:rPr>
              <a:t>Computer</a:t>
            </a:r>
            <a:r>
              <a:rPr sz="800" spc="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333333"/>
                </a:solidFill>
                <a:latin typeface="Arial MT"/>
                <a:cs typeface="Arial MT"/>
              </a:rPr>
              <a:t>Science</a:t>
            </a:r>
            <a:r>
              <a:rPr sz="800" spc="-10" dirty="0">
                <a:solidFill>
                  <a:srgbClr val="333333"/>
                </a:solidFill>
                <a:latin typeface="Arial MT"/>
                <a:cs typeface="Arial MT"/>
              </a:rPr>
              <a:t> University</a:t>
            </a:r>
            <a:r>
              <a:rPr sz="800" spc="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 Lahore</a:t>
            </a: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Overview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8782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42581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1465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18672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358798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343" y="150413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6343" y="1643316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6343" y="1782495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6343" y="1921675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6343" y="2060854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6343" y="2200033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6343" y="2339213"/>
            <a:ext cx="65265" cy="6526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xfrm>
            <a:off x="129743" y="590675"/>
            <a:ext cx="3071495" cy="1839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6944" dirty="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r>
              <a:rPr sz="1200" spc="262" baseline="6944" dirty="0">
                <a:solidFill>
                  <a:srgbClr val="EAEAF7"/>
                </a:solidFill>
                <a:latin typeface="Tahoma"/>
                <a:cs typeface="Tahoma"/>
              </a:rPr>
              <a:t>  </a:t>
            </a:r>
            <a:r>
              <a:rPr sz="1100" spc="-10" dirty="0">
                <a:hlinkClick r:id="rId14" action="ppaction://hlinksldjump"/>
              </a:rPr>
              <a:t>Introduction</a:t>
            </a:r>
            <a:endParaRPr sz="1100" dirty="0">
              <a:latin typeface="Tahoma"/>
              <a:cs typeface="Tahoma"/>
            </a:endParaRPr>
          </a:p>
          <a:p>
            <a:pPr marL="316230" marR="1969135">
              <a:lnSpc>
                <a:spcPct val="102600"/>
              </a:lnSpc>
            </a:pPr>
            <a:r>
              <a:rPr spc="-10" dirty="0">
                <a:solidFill>
                  <a:srgbClr val="000000"/>
                </a:solidFill>
                <a:hlinkClick r:id="rId14" action="ppaction://hlinksldjump"/>
              </a:rPr>
              <a:t>Introduction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  <a:hlinkClick r:id="rId15" action="ppaction://hlinksldjump"/>
              </a:rPr>
              <a:t>Digital</a:t>
            </a:r>
            <a:r>
              <a:rPr spc="5" dirty="0">
                <a:solidFill>
                  <a:srgbClr val="000000"/>
                </a:solidFill>
                <a:hlinkClick r:id="rId15" action="ppaction://hlinksldjump"/>
              </a:rPr>
              <a:t> </a:t>
            </a:r>
            <a:r>
              <a:rPr spc="-75" dirty="0">
                <a:solidFill>
                  <a:srgbClr val="000000"/>
                </a:solidFill>
                <a:hlinkClick r:id="rId15" action="ppaction://hlinksldjump"/>
              </a:rPr>
              <a:t>Image</a:t>
            </a: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000000"/>
                </a:solidFill>
                <a:hlinkClick r:id="rId16" action="ppaction://hlinksldjump"/>
              </a:rPr>
              <a:t>Digital</a:t>
            </a:r>
            <a:r>
              <a:rPr spc="-5" dirty="0">
                <a:solidFill>
                  <a:srgbClr val="000000"/>
                </a:solidFill>
                <a:hlinkClick r:id="rId16" action="ppaction://hlinksldjump"/>
              </a:rPr>
              <a:t> </a:t>
            </a:r>
            <a:r>
              <a:rPr spc="-50" dirty="0">
                <a:solidFill>
                  <a:srgbClr val="000000"/>
                </a:solidFill>
                <a:hlinkClick r:id="rId16" action="ppaction://hlinksldjump"/>
              </a:rPr>
              <a:t>Image</a:t>
            </a:r>
            <a:r>
              <a:rPr spc="-5" dirty="0">
                <a:solidFill>
                  <a:srgbClr val="000000"/>
                </a:solidFill>
                <a:hlinkClick r:id="rId16" action="ppaction://hlinksldjump"/>
              </a:rPr>
              <a:t> </a:t>
            </a:r>
            <a:r>
              <a:rPr spc="-10" dirty="0">
                <a:solidFill>
                  <a:srgbClr val="000000"/>
                </a:solidFill>
                <a:hlinkClick r:id="rId16" action="ppaction://hlinksldjump"/>
              </a:rPr>
              <a:t>Processing</a:t>
            </a:r>
          </a:p>
          <a:p>
            <a:pPr marL="316230">
              <a:lnSpc>
                <a:spcPts val="1310"/>
              </a:lnSpc>
              <a:spcBef>
                <a:spcPts val="35"/>
              </a:spcBef>
            </a:pPr>
            <a:r>
              <a:rPr spc="-45" dirty="0">
                <a:solidFill>
                  <a:srgbClr val="000000"/>
                </a:solidFill>
                <a:hlinkClick r:id="rId17" action="ppaction://hlinksldjump"/>
              </a:rPr>
              <a:t>Fundamental</a:t>
            </a:r>
            <a:r>
              <a:rPr dirty="0">
                <a:solidFill>
                  <a:srgbClr val="000000"/>
                </a:solidFill>
                <a:hlinkClick r:id="rId17" action="ppaction://hlinksldjump"/>
              </a:rPr>
              <a:t> </a:t>
            </a:r>
            <a:r>
              <a:rPr spc="-55" dirty="0">
                <a:solidFill>
                  <a:srgbClr val="000000"/>
                </a:solidFill>
                <a:hlinkClick r:id="rId17" action="ppaction://hlinksldjump"/>
              </a:rPr>
              <a:t>Steps</a:t>
            </a:r>
            <a:r>
              <a:rPr spc="5" dirty="0">
                <a:solidFill>
                  <a:srgbClr val="000000"/>
                </a:solidFill>
                <a:hlinkClick r:id="rId17" action="ppaction://hlinksldjump"/>
              </a:rPr>
              <a:t> </a:t>
            </a:r>
            <a:r>
              <a:rPr dirty="0">
                <a:solidFill>
                  <a:srgbClr val="000000"/>
                </a:solidFill>
                <a:hlinkClick r:id="rId17" action="ppaction://hlinksldjump"/>
              </a:rPr>
              <a:t>in Digital</a:t>
            </a:r>
            <a:r>
              <a:rPr spc="5" dirty="0">
                <a:solidFill>
                  <a:srgbClr val="000000"/>
                </a:solidFill>
                <a:hlinkClick r:id="rId17" action="ppaction://hlinksldjump"/>
              </a:rPr>
              <a:t> </a:t>
            </a:r>
            <a:r>
              <a:rPr spc="-50" dirty="0">
                <a:solidFill>
                  <a:srgbClr val="000000"/>
                </a:solidFill>
                <a:hlinkClick r:id="rId17" action="ppaction://hlinksldjump"/>
              </a:rPr>
              <a:t>Image</a:t>
            </a:r>
            <a:r>
              <a:rPr dirty="0">
                <a:solidFill>
                  <a:srgbClr val="000000"/>
                </a:solidFill>
                <a:hlinkClick r:id="rId17" action="ppaction://hlinksldjump"/>
              </a:rPr>
              <a:t> </a:t>
            </a:r>
            <a:r>
              <a:rPr spc="-55" dirty="0">
                <a:solidFill>
                  <a:srgbClr val="000000"/>
                </a:solidFill>
                <a:hlinkClick r:id="rId17" action="ppaction://hlinksldjump"/>
              </a:rPr>
              <a:t>Processing</a:t>
            </a:r>
          </a:p>
          <a:p>
            <a:pPr marL="439420" marR="1633220">
              <a:lnSpc>
                <a:spcPts val="1100"/>
              </a:lnSpc>
              <a:spcBef>
                <a:spcPts val="10"/>
              </a:spcBef>
            </a:pPr>
            <a:r>
              <a:rPr sz="900" spc="-30" dirty="0">
                <a:solidFill>
                  <a:srgbClr val="000000"/>
                </a:solidFill>
                <a:latin typeface="Arial MT"/>
                <a:cs typeface="Arial MT"/>
                <a:hlinkClick r:id="rId18" action="ppaction://hlinksldjump"/>
              </a:rPr>
              <a:t>Image</a:t>
            </a:r>
            <a:r>
              <a:rPr sz="900" spc="-20" dirty="0">
                <a:solidFill>
                  <a:srgbClr val="000000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  <a:hlinkClick r:id="rId18" action="ppaction://hlinksldjump"/>
              </a:rPr>
              <a:t>Aquisition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Arial MT"/>
                <a:cs typeface="Arial MT"/>
                <a:hlinkClick r:id="rId19" action="ppaction://hlinksldjump"/>
              </a:rPr>
              <a:t>Image</a:t>
            </a:r>
            <a:r>
              <a:rPr sz="900" spc="-20" dirty="0">
                <a:solidFill>
                  <a:srgbClr val="000000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900" spc="-40" dirty="0">
                <a:solidFill>
                  <a:srgbClr val="000000"/>
                </a:solidFill>
                <a:latin typeface="Arial MT"/>
                <a:cs typeface="Arial MT"/>
                <a:hlinkClick r:id="rId19" action="ppaction://hlinksldjump"/>
              </a:rPr>
              <a:t>Enhancement</a:t>
            </a:r>
            <a:r>
              <a:rPr sz="90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Arial MT"/>
                <a:cs typeface="Arial MT"/>
                <a:hlinkClick r:id="rId20" action="ppaction://hlinksldjump"/>
              </a:rPr>
              <a:t>Image</a:t>
            </a:r>
            <a:r>
              <a:rPr sz="900" spc="-20" dirty="0">
                <a:solidFill>
                  <a:srgbClr val="000000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  <a:hlinkClick r:id="rId20" action="ppaction://hlinksldjump"/>
              </a:rPr>
              <a:t>Restoration</a:t>
            </a:r>
            <a:endParaRPr sz="900" dirty="0">
              <a:latin typeface="Arial MT"/>
              <a:cs typeface="Arial MT"/>
            </a:endParaRPr>
          </a:p>
          <a:p>
            <a:pPr marL="439420">
              <a:lnSpc>
                <a:spcPts val="1050"/>
              </a:lnSpc>
            </a:pPr>
            <a:r>
              <a:rPr sz="900" spc="-20" dirty="0">
                <a:solidFill>
                  <a:srgbClr val="000000"/>
                </a:solidFill>
                <a:latin typeface="Arial MT"/>
                <a:cs typeface="Arial MT"/>
                <a:hlinkClick r:id="rId21" action="ppaction://hlinksldjump"/>
              </a:rPr>
              <a:t>Morphological</a:t>
            </a:r>
            <a:r>
              <a:rPr sz="900" spc="65" dirty="0">
                <a:solidFill>
                  <a:srgbClr val="000000"/>
                </a:solidFill>
                <a:latin typeface="Arial MT"/>
                <a:cs typeface="Arial MT"/>
                <a:hlinkClick r:id="rId21" action="ppaction://hlinksldjump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  <a:hlinkClick r:id="rId21" action="ppaction://hlinksldjump"/>
              </a:rPr>
              <a:t>Processing</a:t>
            </a:r>
            <a:endParaRPr sz="900" dirty="0">
              <a:latin typeface="Arial MT"/>
              <a:cs typeface="Arial MT"/>
            </a:endParaRPr>
          </a:p>
          <a:p>
            <a:pPr marL="43942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  <a:hlinkClick r:id="rId22" action="ppaction://hlinksldjump"/>
              </a:rPr>
              <a:t>Segmentation</a:t>
            </a:r>
            <a:endParaRPr sz="900" dirty="0">
              <a:latin typeface="Arial MT"/>
              <a:cs typeface="Arial MT"/>
            </a:endParaRPr>
          </a:p>
          <a:p>
            <a:pPr marL="439420" marR="1094740">
              <a:lnSpc>
                <a:spcPct val="101499"/>
              </a:lnSpc>
            </a:pPr>
            <a:r>
              <a:rPr sz="900" spc="-35" dirty="0">
                <a:solidFill>
                  <a:srgbClr val="000000"/>
                </a:solidFill>
                <a:latin typeface="Arial MT"/>
                <a:cs typeface="Arial MT"/>
                <a:hlinkClick r:id="rId23" action="ppaction://hlinksldjump"/>
              </a:rPr>
              <a:t>Representation</a:t>
            </a:r>
            <a:r>
              <a:rPr sz="900" spc="15" dirty="0">
                <a:solidFill>
                  <a:srgbClr val="000000"/>
                </a:solidFill>
                <a:latin typeface="Arial MT"/>
                <a:cs typeface="Arial MT"/>
                <a:hlinkClick r:id="rId23" action="ppaction://hlinksldjump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  <a:hlinkClick r:id="rId23" action="ppaction://hlinksldjump"/>
              </a:rPr>
              <a:t>and</a:t>
            </a:r>
            <a:r>
              <a:rPr sz="900" spc="15" dirty="0">
                <a:solidFill>
                  <a:srgbClr val="000000"/>
                </a:solidFill>
                <a:latin typeface="Arial MT"/>
                <a:cs typeface="Arial MT"/>
                <a:hlinkClick r:id="rId23" action="ppaction://hlinksldjump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  <a:hlinkClick r:id="rId23" action="ppaction://hlinksldjump"/>
              </a:rPr>
              <a:t>Description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0000"/>
                </a:solidFill>
                <a:latin typeface="Arial MT"/>
                <a:cs typeface="Arial MT"/>
                <a:hlinkClick r:id="rId24" action="ppaction://hlinksldjump"/>
              </a:rPr>
              <a:t>Object </a:t>
            </a:r>
            <a:r>
              <a:rPr sz="900" spc="-10" dirty="0">
                <a:solidFill>
                  <a:srgbClr val="000000"/>
                </a:solidFill>
                <a:latin typeface="Arial MT"/>
                <a:cs typeface="Arial MT"/>
                <a:hlinkClick r:id="rId24" action="ppaction://hlinksldjump"/>
              </a:rPr>
              <a:t>Recognition</a:t>
            </a:r>
            <a:endParaRPr sz="900" dirty="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9280" y="2807843"/>
            <a:ext cx="160096" cy="16009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9743" y="280718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34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558024"/>
            <a:ext cx="4483735" cy="612140"/>
            <a:chOff x="87743" y="558024"/>
            <a:chExt cx="4483735" cy="612140"/>
          </a:xfrm>
        </p:grpSpPr>
        <p:sp>
          <p:nvSpPr>
            <p:cNvPr id="5" name="object 5"/>
            <p:cNvSpPr/>
            <p:nvPr/>
          </p:nvSpPr>
          <p:spPr>
            <a:xfrm>
              <a:off x="87743" y="55802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68438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55738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608583"/>
              <a:ext cx="50800" cy="45985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02444"/>
              <a:ext cx="4432935" cy="516890"/>
            </a:xfrm>
            <a:custGeom>
              <a:avLst/>
              <a:gdLst/>
              <a:ahLst/>
              <a:cxnLst/>
              <a:rect l="l" t="t" r="r" b="b"/>
              <a:pathLst>
                <a:path w="4432935" h="516890">
                  <a:moveTo>
                    <a:pt x="4432566" y="0"/>
                  </a:moveTo>
                  <a:lnTo>
                    <a:pt x="0" y="0"/>
                  </a:lnTo>
                  <a:lnTo>
                    <a:pt x="0" y="465994"/>
                  </a:lnTo>
                  <a:lnTo>
                    <a:pt x="4008" y="485718"/>
                  </a:lnTo>
                  <a:lnTo>
                    <a:pt x="14922" y="501871"/>
                  </a:lnTo>
                  <a:lnTo>
                    <a:pt x="31075" y="512786"/>
                  </a:lnTo>
                  <a:lnTo>
                    <a:pt x="50800" y="516794"/>
                  </a:lnTo>
                  <a:lnTo>
                    <a:pt x="4381765" y="516794"/>
                  </a:lnTo>
                  <a:lnTo>
                    <a:pt x="4401490" y="512786"/>
                  </a:lnTo>
                  <a:lnTo>
                    <a:pt x="4417643" y="501871"/>
                  </a:lnTo>
                  <a:lnTo>
                    <a:pt x="4428558" y="485718"/>
                  </a:lnTo>
                  <a:lnTo>
                    <a:pt x="4432566" y="46599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6681"/>
              <a:ext cx="0" cy="441325"/>
            </a:xfrm>
            <a:custGeom>
              <a:avLst/>
              <a:gdLst/>
              <a:ahLst/>
              <a:cxnLst/>
              <a:rect l="l" t="t" r="r" b="b"/>
              <a:pathLst>
                <a:path h="441325">
                  <a:moveTo>
                    <a:pt x="0" y="4408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339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212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85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844" y="572717"/>
            <a:ext cx="4356735" cy="515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Microsoft Sans Serif"/>
                <a:cs typeface="Microsoft Sans Serif"/>
              </a:rPr>
              <a:t>”One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picture</a:t>
            </a:r>
            <a:r>
              <a:rPr sz="1100" spc="-10" dirty="0">
                <a:latin typeface="Microsoft Sans Serif"/>
                <a:cs typeface="Microsoft Sans Serif"/>
              </a:rPr>
              <a:t> is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worth </a:t>
            </a:r>
            <a:r>
              <a:rPr sz="1100" spc="-55" dirty="0">
                <a:latin typeface="Microsoft Sans Serif"/>
                <a:cs typeface="Microsoft Sans Serif"/>
              </a:rPr>
              <a:t>more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than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ten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thousand</a:t>
            </a:r>
            <a:r>
              <a:rPr sz="1100" spc="-10" dirty="0">
                <a:latin typeface="Microsoft Sans Serif"/>
                <a:cs typeface="Microsoft Sans Serif"/>
              </a:rPr>
              <a:t> words.”</a:t>
            </a:r>
            <a:endParaRPr sz="1100" dirty="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1230"/>
              </a:spcBef>
            </a:pPr>
            <a:r>
              <a:rPr sz="1100" dirty="0">
                <a:latin typeface="Microsoft Sans Serif"/>
                <a:cs typeface="Microsoft Sans Serif"/>
              </a:rPr>
              <a:t>-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Anonymous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0217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Digital</a:t>
            </a:r>
            <a:r>
              <a:rPr spc="-10" dirty="0"/>
              <a:t> </a:t>
            </a:r>
            <a:r>
              <a:rPr spc="-85" dirty="0"/>
              <a:t>Image</a:t>
            </a:r>
          </a:p>
        </p:txBody>
      </p:sp>
      <p:sp>
        <p:nvSpPr>
          <p:cNvPr id="4" name="object 4"/>
          <p:cNvSpPr/>
          <p:nvPr/>
        </p:nvSpPr>
        <p:spPr>
          <a:xfrm>
            <a:off x="87743" y="55802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5844" y="537029"/>
            <a:ext cx="6648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Defination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602247"/>
            <a:ext cx="4483735" cy="1094740"/>
            <a:chOff x="87743" y="602247"/>
            <a:chExt cx="4483735" cy="10947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33196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95310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82610"/>
              <a:ext cx="4381765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9930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777465"/>
              <a:ext cx="4432935" cy="868680"/>
            </a:xfrm>
            <a:custGeom>
              <a:avLst/>
              <a:gdLst/>
              <a:ahLst/>
              <a:cxnLst/>
              <a:rect l="l" t="t" r="r" b="b"/>
              <a:pathLst>
                <a:path w="4432935" h="868680">
                  <a:moveTo>
                    <a:pt x="4432566" y="0"/>
                  </a:moveTo>
                  <a:lnTo>
                    <a:pt x="0" y="0"/>
                  </a:lnTo>
                  <a:lnTo>
                    <a:pt x="0" y="817845"/>
                  </a:lnTo>
                  <a:lnTo>
                    <a:pt x="4008" y="837569"/>
                  </a:lnTo>
                  <a:lnTo>
                    <a:pt x="14922" y="853722"/>
                  </a:lnTo>
                  <a:lnTo>
                    <a:pt x="31075" y="864637"/>
                  </a:lnTo>
                  <a:lnTo>
                    <a:pt x="50800" y="868645"/>
                  </a:lnTo>
                  <a:lnTo>
                    <a:pt x="4381765" y="868645"/>
                  </a:lnTo>
                  <a:lnTo>
                    <a:pt x="4401490" y="864637"/>
                  </a:lnTo>
                  <a:lnTo>
                    <a:pt x="4417643" y="853722"/>
                  </a:lnTo>
                  <a:lnTo>
                    <a:pt x="4428558" y="837569"/>
                  </a:lnTo>
                  <a:lnTo>
                    <a:pt x="4432566" y="81784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40347"/>
              <a:ext cx="0" cy="974090"/>
            </a:xfrm>
            <a:custGeom>
              <a:avLst/>
              <a:gdLst/>
              <a:ahLst/>
              <a:cxnLst/>
              <a:rect l="l" t="t" r="r" b="b"/>
              <a:pathLst>
                <a:path h="974090">
                  <a:moveTo>
                    <a:pt x="0" y="9740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27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6149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10" y="6022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1079182"/>
              <a:ext cx="65265" cy="6526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089" y="1289215"/>
              <a:ext cx="65265" cy="6526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089" y="1499247"/>
              <a:ext cx="65265" cy="6526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844" y="666011"/>
            <a:ext cx="4284980" cy="94170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Microsoft Sans Serif"/>
                <a:cs typeface="Microsoft Sans Serif"/>
              </a:rPr>
              <a:t>Digital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Image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-</a:t>
            </a:r>
            <a:endParaRPr sz="1100">
              <a:latin typeface="Microsoft Sans Serif"/>
              <a:cs typeface="Microsoft Sans Serif"/>
            </a:endParaRPr>
          </a:p>
          <a:p>
            <a:pPr marL="289560" marR="1960245">
              <a:lnSpc>
                <a:spcPct val="125299"/>
              </a:lnSpc>
              <a:spcBef>
                <a:spcPts val="295"/>
              </a:spcBef>
            </a:pPr>
            <a:r>
              <a:rPr sz="1100" dirty="0">
                <a:latin typeface="Microsoft Sans Serif"/>
                <a:cs typeface="Microsoft Sans Serif"/>
              </a:rPr>
              <a:t>A two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dimensional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function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-30" dirty="0">
                <a:latin typeface="Cambria"/>
                <a:cs typeface="Cambria"/>
              </a:rPr>
              <a:t> </a:t>
            </a:r>
            <a:r>
              <a:rPr sz="1100" spc="50" dirty="0">
                <a:latin typeface="Microsoft Sans Serif"/>
                <a:cs typeface="Microsoft Sans Serif"/>
              </a:rPr>
              <a:t>(</a:t>
            </a:r>
            <a:r>
              <a:rPr sz="1100" i="1" spc="50" dirty="0">
                <a:latin typeface="Cambria"/>
                <a:cs typeface="Cambria"/>
              </a:rPr>
              <a:t>x</a:t>
            </a:r>
            <a:r>
              <a:rPr sz="1100" i="1" spc="5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y</a:t>
            </a:r>
            <a:r>
              <a:rPr sz="1100" i="1" spc="-125" dirty="0">
                <a:latin typeface="Cambria"/>
                <a:cs typeface="Cambria"/>
              </a:rPr>
              <a:t> </a:t>
            </a:r>
            <a:r>
              <a:rPr sz="1100" spc="5" dirty="0">
                <a:latin typeface="Microsoft Sans Serif"/>
                <a:cs typeface="Microsoft Sans Serif"/>
              </a:rPr>
              <a:t>) </a:t>
            </a:r>
            <a:r>
              <a:rPr sz="1100" dirty="0">
                <a:latin typeface="Microsoft Sans Serif"/>
                <a:cs typeface="Microsoft Sans Serif"/>
              </a:rPr>
              <a:t>x </a:t>
            </a:r>
            <a:r>
              <a:rPr sz="1100" spc="-35" dirty="0">
                <a:latin typeface="Microsoft Sans Serif"/>
                <a:cs typeface="Microsoft Sans Serif"/>
              </a:rPr>
              <a:t>and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y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are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spatial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coordinates</a:t>
            </a:r>
            <a:endParaRPr sz="1100">
              <a:latin typeface="Microsoft Sans Serif"/>
              <a:cs typeface="Microsoft Sans Serif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amplitude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called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intensity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gray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level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point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50" dirty="0">
                <a:latin typeface="Microsoft Sans Serif"/>
                <a:cs typeface="Microsoft Sans Serif"/>
              </a:rPr>
              <a:t>(</a:t>
            </a:r>
            <a:r>
              <a:rPr sz="1100" i="1" spc="50" dirty="0">
                <a:latin typeface="Cambria"/>
                <a:cs typeface="Cambria"/>
              </a:rPr>
              <a:t>x</a:t>
            </a:r>
            <a:r>
              <a:rPr sz="1100" i="1" spc="5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y</a:t>
            </a:r>
            <a:r>
              <a:rPr sz="1100" i="1" spc="-125" dirty="0">
                <a:latin typeface="Cambria"/>
                <a:cs typeface="Cambria"/>
              </a:rPr>
              <a:t> </a:t>
            </a:r>
            <a:r>
              <a:rPr sz="1100" spc="5" dirty="0">
                <a:latin typeface="Microsoft Sans Serif"/>
                <a:cs typeface="Microsoft Sans Serif"/>
              </a:rPr>
              <a:t>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43" y="1798040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5844" y="1785477"/>
            <a:ext cx="28778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Picture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Elements/image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Elements/Pels/Pixels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7743" y="1842262"/>
            <a:ext cx="4483367" cy="1348360"/>
            <a:chOff x="87743" y="1842262"/>
            <a:chExt cx="4483367" cy="134836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000618"/>
              <a:ext cx="4432566" cy="5060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3089021"/>
              <a:ext cx="101600" cy="101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3076321"/>
              <a:ext cx="4381765" cy="11430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310" y="1842274"/>
              <a:ext cx="50800" cy="124674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7743" y="2044894"/>
              <a:ext cx="4432935" cy="1095375"/>
            </a:xfrm>
            <a:custGeom>
              <a:avLst/>
              <a:gdLst/>
              <a:ahLst/>
              <a:cxnLst/>
              <a:rect l="l" t="t" r="r" b="b"/>
              <a:pathLst>
                <a:path w="4432935" h="1095375">
                  <a:moveTo>
                    <a:pt x="4432566" y="0"/>
                  </a:moveTo>
                  <a:lnTo>
                    <a:pt x="0" y="0"/>
                  </a:lnTo>
                  <a:lnTo>
                    <a:pt x="0" y="1044126"/>
                  </a:lnTo>
                  <a:lnTo>
                    <a:pt x="4008" y="1063850"/>
                  </a:lnTo>
                  <a:lnTo>
                    <a:pt x="14922" y="1080003"/>
                  </a:lnTo>
                  <a:lnTo>
                    <a:pt x="31075" y="1090918"/>
                  </a:lnTo>
                  <a:lnTo>
                    <a:pt x="50800" y="1094926"/>
                  </a:lnTo>
                  <a:lnTo>
                    <a:pt x="4381765" y="1094926"/>
                  </a:lnTo>
                  <a:lnTo>
                    <a:pt x="4401490" y="1090918"/>
                  </a:lnTo>
                  <a:lnTo>
                    <a:pt x="4417643" y="1080003"/>
                  </a:lnTo>
                  <a:lnTo>
                    <a:pt x="4428558" y="1063850"/>
                  </a:lnTo>
                  <a:lnTo>
                    <a:pt x="4432566" y="104412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10" y="1880362"/>
              <a:ext cx="0" cy="1228090"/>
            </a:xfrm>
            <a:custGeom>
              <a:avLst/>
              <a:gdLst/>
              <a:ahLst/>
              <a:cxnLst/>
              <a:rect l="l" t="t" r="r" b="b"/>
              <a:pathLst>
                <a:path h="1228089">
                  <a:moveTo>
                    <a:pt x="0" y="12277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10" y="18676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0310" y="1854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20310" y="1842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61AD93A-87FE-417C-A384-89A4665B8C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76" y="2052294"/>
            <a:ext cx="2216081" cy="10811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172AA0D-341E-47D5-BE17-A3D5EED78B8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6997" y="2084677"/>
            <a:ext cx="1967696" cy="97146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A035BE9-26F4-4B91-A5AD-43BF39F0246B}"/>
              </a:ext>
            </a:extLst>
          </p:cNvPr>
          <p:cNvSpPr/>
          <p:nvPr/>
        </p:nvSpPr>
        <p:spPr>
          <a:xfrm>
            <a:off x="3775256" y="1896493"/>
            <a:ext cx="792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8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Intensity 85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3B8C27-C38E-4489-87A2-5AB0B0A0A727}"/>
              </a:ext>
            </a:extLst>
          </p:cNvPr>
          <p:cNvCxnSpPr>
            <a:cxnSpLocks/>
          </p:cNvCxnSpPr>
          <p:nvPr/>
        </p:nvCxnSpPr>
        <p:spPr>
          <a:xfrm flipV="1">
            <a:off x="3886097" y="2325879"/>
            <a:ext cx="162641" cy="90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52501-D0BD-4AA0-9B4B-52BF3C2DB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" y="739775"/>
            <a:ext cx="3124200" cy="2369880"/>
          </a:xfrm>
        </p:spPr>
        <p:txBody>
          <a:bodyPr/>
          <a:lstStyle/>
          <a:p>
            <a:r>
              <a:rPr lang="en-US" b="1" i="1" dirty="0">
                <a:solidFill>
                  <a:schemeClr val="tx1"/>
                </a:solidFill>
              </a:rPr>
              <a:t>f </a:t>
            </a:r>
            <a:r>
              <a:rPr lang="en-US" b="1" dirty="0">
                <a:solidFill>
                  <a:schemeClr val="tx1"/>
                </a:solidFill>
              </a:rPr>
              <a:t>(</a:t>
            </a:r>
            <a:r>
              <a:rPr lang="en-US" b="1" i="1" dirty="0" err="1">
                <a:solidFill>
                  <a:schemeClr val="tx1"/>
                </a:solidFill>
              </a:rPr>
              <a:t>x</a:t>
            </a:r>
            <a:r>
              <a:rPr lang="en-US" b="1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chemeClr val="tx1"/>
                </a:solidFill>
              </a:rPr>
              <a:t>y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):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intensity/brightness of the image at spatial coordinates (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x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y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  <a:latin typeface="+mn-lt"/>
              </a:rPr>
              <a:t>f(</a:t>
            </a:r>
            <a:r>
              <a:rPr lang="es-ES" dirty="0" err="1">
                <a:solidFill>
                  <a:schemeClr val="tx1"/>
                </a:solidFill>
                <a:latin typeface="+mn-lt"/>
              </a:rPr>
              <a:t>x,y</a:t>
            </a:r>
            <a:r>
              <a:rPr lang="es-ES" dirty="0">
                <a:solidFill>
                  <a:schemeClr val="tx1"/>
                </a:solidFill>
                <a:latin typeface="+mn-lt"/>
              </a:rPr>
              <a:t>) = i(x, y) r(x, y) 0 ≤ f(x, y) &lt; ∞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tx1"/>
                </a:solidFill>
              </a:rPr>
              <a:t>Illumination component i(x , y):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The amount of source illumination incident on the scene.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Reflectance component r</a:t>
            </a:r>
            <a:r>
              <a:rPr lang="en-US" b="1">
                <a:solidFill>
                  <a:schemeClr val="tx1"/>
                </a:solidFill>
              </a:rPr>
              <a:t>(x , y</a:t>
            </a:r>
            <a:r>
              <a:rPr lang="en-US" b="1" dirty="0">
                <a:solidFill>
                  <a:schemeClr val="tx1"/>
                </a:solidFill>
              </a:rPr>
              <a:t>): </a:t>
            </a:r>
          </a:p>
          <a:p>
            <a:r>
              <a:rPr lang="en-US" sz="1000" dirty="0">
                <a:solidFill>
                  <a:schemeClr val="tx1"/>
                </a:solidFill>
              </a:rPr>
              <a:t>The amount of illumination reflected by the object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Where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0&lt; 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I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x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,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y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)&lt;∞: Determined by the light source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0&lt; 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r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x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,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y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)&lt;1: Determined by the characteristics of 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615F64-7731-4E4B-A608-2E22FFAFE52D}"/>
              </a:ext>
            </a:extLst>
          </p:cNvPr>
          <p:cNvSpPr/>
          <p:nvPr/>
        </p:nvSpPr>
        <p:spPr>
          <a:xfrm>
            <a:off x="430973" y="115475"/>
            <a:ext cx="35504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fr-FR" sz="1200" b="1" dirty="0"/>
              <a:t>A simple image formation model </a:t>
            </a:r>
            <a:endParaRPr lang="fr-FR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47AA3-6EC4-4BB7-810D-5BB5BAF1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421" y="633688"/>
            <a:ext cx="121722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9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Digital</a:t>
            </a:r>
            <a:r>
              <a:rPr spc="-15" dirty="0"/>
              <a:t> </a:t>
            </a:r>
            <a:r>
              <a:rPr spc="-85" dirty="0"/>
              <a:t>Image</a:t>
            </a:r>
            <a:r>
              <a:rPr spc="-15" dirty="0"/>
              <a:t> </a:t>
            </a:r>
            <a:r>
              <a:rPr spc="-35" dirty="0"/>
              <a:t>Processing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58024"/>
            <a:ext cx="4483735" cy="855980"/>
            <a:chOff x="87743" y="558024"/>
            <a:chExt cx="4483735" cy="855980"/>
          </a:xfrm>
        </p:grpSpPr>
        <p:sp>
          <p:nvSpPr>
            <p:cNvPr id="5" name="object 5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1220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9501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7099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788005"/>
              <a:ext cx="4432935" cy="575310"/>
            </a:xfrm>
            <a:custGeom>
              <a:avLst/>
              <a:gdLst/>
              <a:ahLst/>
              <a:cxnLst/>
              <a:rect l="l" t="t" r="r" b="b"/>
              <a:pathLst>
                <a:path w="4432935" h="575310">
                  <a:moveTo>
                    <a:pt x="4432566" y="0"/>
                  </a:moveTo>
                  <a:lnTo>
                    <a:pt x="0" y="0"/>
                  </a:lnTo>
                  <a:lnTo>
                    <a:pt x="0" y="524196"/>
                  </a:lnTo>
                  <a:lnTo>
                    <a:pt x="4008" y="543921"/>
                  </a:lnTo>
                  <a:lnTo>
                    <a:pt x="14922" y="560074"/>
                  </a:lnTo>
                  <a:lnTo>
                    <a:pt x="31075" y="570988"/>
                  </a:lnTo>
                  <a:lnTo>
                    <a:pt x="50800" y="574997"/>
                  </a:lnTo>
                  <a:lnTo>
                    <a:pt x="4381765" y="574997"/>
                  </a:lnTo>
                  <a:lnTo>
                    <a:pt x="4401490" y="570988"/>
                  </a:lnTo>
                  <a:lnTo>
                    <a:pt x="4417643" y="560074"/>
                  </a:lnTo>
                  <a:lnTo>
                    <a:pt x="4428558" y="543921"/>
                  </a:lnTo>
                  <a:lnTo>
                    <a:pt x="4432566" y="52419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40343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h="691515">
                  <a:moveTo>
                    <a:pt x="0" y="6909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276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14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6022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089" y="1051775"/>
              <a:ext cx="65265" cy="6526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514931"/>
            <a:ext cx="4483735" cy="463550"/>
            <a:chOff x="87743" y="1514931"/>
            <a:chExt cx="4483735" cy="463550"/>
          </a:xfrm>
        </p:grpSpPr>
        <p:sp>
          <p:nvSpPr>
            <p:cNvPr id="18" name="object 18"/>
            <p:cNvSpPr/>
            <p:nvPr/>
          </p:nvSpPr>
          <p:spPr>
            <a:xfrm>
              <a:off x="87743" y="1514931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6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4432566" y="187823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690103"/>
              <a:ext cx="4432566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1876463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1863763"/>
              <a:ext cx="4381765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310" y="1559166"/>
              <a:ext cx="50800" cy="31729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1734378"/>
              <a:ext cx="4432935" cy="193040"/>
            </a:xfrm>
            <a:custGeom>
              <a:avLst/>
              <a:gdLst/>
              <a:ahLst/>
              <a:cxnLst/>
              <a:rect l="l" t="t" r="r" b="b"/>
              <a:pathLst>
                <a:path w="4432935" h="193039">
                  <a:moveTo>
                    <a:pt x="44325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4381765" y="192885"/>
                  </a:lnTo>
                  <a:lnTo>
                    <a:pt x="4401490" y="188876"/>
                  </a:lnTo>
                  <a:lnTo>
                    <a:pt x="4417643" y="177962"/>
                  </a:lnTo>
                  <a:lnTo>
                    <a:pt x="4428558" y="161809"/>
                  </a:lnTo>
                  <a:lnTo>
                    <a:pt x="4432566" y="14208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597260"/>
              <a:ext cx="0" cy="298450"/>
            </a:xfrm>
            <a:custGeom>
              <a:avLst/>
              <a:gdLst/>
              <a:ahLst/>
              <a:cxnLst/>
              <a:rect l="l" t="t" r="r" b="b"/>
              <a:pathLst>
                <a:path h="298450">
                  <a:moveTo>
                    <a:pt x="0" y="2982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0" y="15845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10" y="15718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10" y="15591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089" y="1788109"/>
              <a:ext cx="65265" cy="6526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844" y="494220"/>
            <a:ext cx="4333240" cy="1868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focuses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two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major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tasks</a:t>
            </a:r>
            <a:endParaRPr sz="12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00"/>
              </a:spcBef>
            </a:pPr>
            <a:r>
              <a:rPr sz="1100" spc="-40" dirty="0">
                <a:latin typeface="Microsoft Sans Serif"/>
                <a:cs typeface="Microsoft Sans Serif"/>
              </a:rPr>
              <a:t>Improvement</a:t>
            </a:r>
            <a:r>
              <a:rPr sz="1100" dirty="0">
                <a:latin typeface="Microsoft Sans Serif"/>
                <a:cs typeface="Microsoft Sans Serif"/>
              </a:rPr>
              <a:t> 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pictorial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information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human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interpretation</a:t>
            </a:r>
            <a:endParaRPr sz="1100">
              <a:latin typeface="Microsoft Sans Serif"/>
              <a:cs typeface="Microsoft Sans Serif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spc="-60" dirty="0">
                <a:latin typeface="Microsoft Sans Serif"/>
                <a:cs typeface="Microsoft Sans Serif"/>
              </a:rPr>
              <a:t>Processing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image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data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storage,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transmission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and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representation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autonomous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machine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perception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Defination</a:t>
            </a:r>
            <a:endParaRPr sz="12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1100" spc="-70" dirty="0">
                <a:latin typeface="Microsoft Sans Serif"/>
                <a:cs typeface="Microsoft Sans Serif"/>
              </a:rPr>
              <a:t>Process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digital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images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by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mean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computer</a:t>
            </a:r>
            <a:endParaRPr sz="1100">
              <a:latin typeface="Microsoft Sans Serif"/>
              <a:cs typeface="Microsoft Sans Serif"/>
            </a:endParaRPr>
          </a:p>
          <a:p>
            <a:pPr marL="12700" marR="93345">
              <a:lnSpc>
                <a:spcPct val="102699"/>
              </a:lnSpc>
              <a:spcBef>
                <a:spcPts val="960"/>
              </a:spcBef>
            </a:pP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Some</a:t>
            </a:r>
            <a:r>
              <a:rPr sz="1100" spc="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argument</a:t>
            </a:r>
            <a:r>
              <a:rPr sz="11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about</a:t>
            </a:r>
            <a:r>
              <a:rPr sz="11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sz="11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image</a:t>
            </a:r>
            <a:r>
              <a:rPr sz="11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90" dirty="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sz="11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ends</a:t>
            </a:r>
            <a:r>
              <a:rPr sz="1100" spc="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1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150" dirty="0">
                <a:solidFill>
                  <a:srgbClr val="FF0000"/>
                </a:solidFill>
                <a:latin typeface="Calibri"/>
                <a:cs typeface="Calibri"/>
              </a:rPr>
              <a:t>fields </a:t>
            </a:r>
            <a:r>
              <a:rPr sz="1100" spc="60" dirty="0">
                <a:solidFill>
                  <a:srgbClr val="FF0000"/>
                </a:solidFill>
                <a:latin typeface="Calibri"/>
                <a:cs typeface="Calibri"/>
              </a:rPr>
              <a:t>such</a:t>
            </a:r>
            <a:r>
              <a:rPr sz="1100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95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1100" spc="3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image</a:t>
            </a:r>
            <a:r>
              <a:rPr sz="1100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130" dirty="0">
                <a:solidFill>
                  <a:srgbClr val="FF0000"/>
                </a:solidFill>
                <a:latin typeface="Calibri"/>
                <a:cs typeface="Calibri"/>
              </a:rPr>
              <a:t>analysis</a:t>
            </a:r>
            <a:r>
              <a:rPr sz="1100" spc="3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100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computer</a:t>
            </a:r>
            <a:r>
              <a:rPr sz="1100" spc="3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140" dirty="0">
                <a:solidFill>
                  <a:srgbClr val="FF0000"/>
                </a:solidFill>
                <a:latin typeface="Calibri"/>
                <a:cs typeface="Calibri"/>
              </a:rPr>
              <a:t>vision</a:t>
            </a:r>
            <a:r>
              <a:rPr sz="1100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135" dirty="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Digital</a:t>
            </a:r>
            <a:r>
              <a:rPr spc="-15" dirty="0"/>
              <a:t> </a:t>
            </a:r>
            <a:r>
              <a:rPr spc="-85" dirty="0"/>
              <a:t>Image</a:t>
            </a:r>
            <a:r>
              <a:rPr spc="-15" dirty="0"/>
              <a:t> </a:t>
            </a:r>
            <a:r>
              <a:rPr spc="-35" dirty="0"/>
              <a:t>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336800"/>
            <a:chOff x="87743" y="558024"/>
            <a:chExt cx="4483735" cy="2336800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9303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80334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1907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87989"/>
              <a:ext cx="4432935" cy="2056130"/>
            </a:xfrm>
            <a:custGeom>
              <a:avLst/>
              <a:gdLst/>
              <a:ahLst/>
              <a:cxnLst/>
              <a:rect l="l" t="t" r="r" b="b"/>
              <a:pathLst>
                <a:path w="4432935" h="2056130">
                  <a:moveTo>
                    <a:pt x="4432566" y="0"/>
                  </a:moveTo>
                  <a:lnTo>
                    <a:pt x="0" y="0"/>
                  </a:lnTo>
                  <a:lnTo>
                    <a:pt x="0" y="2005045"/>
                  </a:lnTo>
                  <a:lnTo>
                    <a:pt x="4008" y="2024770"/>
                  </a:lnTo>
                  <a:lnTo>
                    <a:pt x="14922" y="2040923"/>
                  </a:lnTo>
                  <a:lnTo>
                    <a:pt x="31075" y="2051837"/>
                  </a:lnTo>
                  <a:lnTo>
                    <a:pt x="50800" y="2055845"/>
                  </a:lnTo>
                  <a:lnTo>
                    <a:pt x="4381765" y="2055845"/>
                  </a:lnTo>
                  <a:lnTo>
                    <a:pt x="4401490" y="2051837"/>
                  </a:lnTo>
                  <a:lnTo>
                    <a:pt x="4417643" y="2040923"/>
                  </a:lnTo>
                  <a:lnTo>
                    <a:pt x="4428558" y="2024770"/>
                  </a:lnTo>
                  <a:lnTo>
                    <a:pt x="4432566" y="200504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27"/>
              <a:ext cx="0" cy="2172335"/>
            </a:xfrm>
            <a:custGeom>
              <a:avLst/>
              <a:gdLst/>
              <a:ahLst/>
              <a:cxnLst/>
              <a:rect l="l" t="t" r="r" b="b"/>
              <a:pathLst>
                <a:path h="2172335">
                  <a:moveTo>
                    <a:pt x="0" y="21717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844" y="494220"/>
            <a:ext cx="4231005" cy="6280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Computer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Vision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65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continuum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from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image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processing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computer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vision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can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be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broken </a:t>
            </a:r>
            <a:r>
              <a:rPr sz="1100" dirty="0">
                <a:latin typeface="Microsoft Sans Serif"/>
                <a:cs typeface="Microsoft Sans Serif"/>
              </a:rPr>
              <a:t>up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into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low-</a:t>
            </a:r>
            <a:r>
              <a:rPr sz="1100" dirty="0">
                <a:latin typeface="Microsoft Sans Serif"/>
                <a:cs typeface="Microsoft Sans Serif"/>
              </a:rPr>
              <a:t>,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mid-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high-</a:t>
            </a:r>
            <a:r>
              <a:rPr sz="1100" spc="-30" dirty="0">
                <a:latin typeface="Microsoft Sans Serif"/>
                <a:cs typeface="Microsoft Sans Serif"/>
              </a:rPr>
              <a:t>level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processes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544" y="1273017"/>
            <a:ext cx="4331021" cy="1526392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49D98-BE91-4324-B882-698BB11F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060541"/>
            <a:ext cx="3048000" cy="15436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B7F1A8-E88E-40A7-875C-F1A812072B43}"/>
              </a:ext>
            </a:extLst>
          </p:cNvPr>
          <p:cNvSpPr/>
          <p:nvPr/>
        </p:nvSpPr>
        <p:spPr>
          <a:xfrm>
            <a:off x="95250" y="-98425"/>
            <a:ext cx="43434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0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200" b="1" i="0" u="none" strike="noStrike" baseline="0" dirty="0">
                <a:latin typeface="Century Schoolbook" panose="02040604050505020304" pitchFamily="18" charset="0"/>
              </a:rPr>
              <a:t>Classification of DIP and Computer Vision Processes 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7B451-1887-413F-994D-CDCDE60E359B}"/>
              </a:ext>
            </a:extLst>
          </p:cNvPr>
          <p:cNvSpPr/>
          <p:nvPr/>
        </p:nvSpPr>
        <p:spPr>
          <a:xfrm>
            <a:off x="2457450" y="255348"/>
            <a:ext cx="230505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800" b="1" i="0" u="none" strike="noStrike" baseline="0" dirty="0">
                <a:latin typeface="Century Schoolbook" panose="02040604050505020304" pitchFamily="18" charset="0"/>
              </a:rPr>
              <a:t>Low-level process DIP</a:t>
            </a:r>
            <a:endParaRPr lang="en-US" sz="800" b="0" i="0" u="none" strike="noStrike" baseline="0" dirty="0">
              <a:latin typeface="Century Schoolbook" panose="02040604050505020304" pitchFamily="18" charset="0"/>
            </a:endParaRP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Noise reduction</a:t>
            </a: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Contrast enhancement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E3839-871D-47FB-A59C-DA881BFC9FD5}"/>
              </a:ext>
            </a:extLst>
          </p:cNvPr>
          <p:cNvSpPr/>
          <p:nvPr/>
        </p:nvSpPr>
        <p:spPr>
          <a:xfrm>
            <a:off x="2555328" y="2457291"/>
            <a:ext cx="230505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800" b="1" i="0" u="none" strike="noStrike" baseline="0" dirty="0">
                <a:latin typeface="Century Schoolbook" panose="02040604050505020304" pitchFamily="18" charset="0"/>
              </a:rPr>
              <a:t>Mid-level process DIP and CV</a:t>
            </a:r>
            <a:endParaRPr lang="en-US" sz="800" b="0" i="0" u="none" strike="noStrike" baseline="0" dirty="0">
              <a:latin typeface="Century Schoolbook" panose="02040604050505020304" pitchFamily="18" charset="0"/>
            </a:endParaRP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Edge Detection</a:t>
            </a: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Segmentation and recognition of objects (e.g., Car, Pedestrian, Stop Sign).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81E567-905A-460D-9B77-941AB4374C9F}"/>
              </a:ext>
            </a:extLst>
          </p:cNvPr>
          <p:cNvSpPr/>
          <p:nvPr/>
        </p:nvSpPr>
        <p:spPr>
          <a:xfrm>
            <a:off x="216119" y="2388374"/>
            <a:ext cx="2305050" cy="104644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800" b="1" i="0" u="none" strike="noStrike" baseline="0" dirty="0">
                <a:latin typeface="Century Schoolbook" panose="02040604050505020304" pitchFamily="18" charset="0"/>
              </a:rPr>
              <a:t>High-level process CV</a:t>
            </a:r>
            <a:endParaRPr lang="en-US" sz="800" b="0" i="0" u="none" strike="noStrike" baseline="0" dirty="0">
              <a:latin typeface="Century Schoolbook" panose="02040604050505020304" pitchFamily="18" charset="0"/>
            </a:endParaRP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Cognitive decision-making, pedestrian crossing detected, vehicle slows down.</a:t>
            </a: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Lane recognition: Vehicle stays in correct lane</a:t>
            </a: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Traffic sign recognition: Stop Command.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DBD5F9-7E36-4384-9DCD-47FF0FC89450}"/>
              </a:ext>
            </a:extLst>
          </p:cNvPr>
          <p:cNvCxnSpPr/>
          <p:nvPr/>
        </p:nvCxnSpPr>
        <p:spPr>
          <a:xfrm flipH="1" flipV="1">
            <a:off x="2609850" y="892175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81732D-08FC-492B-A696-9E99FDC3AC28}"/>
              </a:ext>
            </a:extLst>
          </p:cNvPr>
          <p:cNvCxnSpPr>
            <a:cxnSpLocks/>
          </p:cNvCxnSpPr>
          <p:nvPr/>
        </p:nvCxnSpPr>
        <p:spPr>
          <a:xfrm>
            <a:off x="1695450" y="2263775"/>
            <a:ext cx="859878" cy="438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D5778E-31A6-4F91-8B7D-5E49264E9C35}"/>
              </a:ext>
            </a:extLst>
          </p:cNvPr>
          <p:cNvCxnSpPr>
            <a:cxnSpLocks/>
          </p:cNvCxnSpPr>
          <p:nvPr/>
        </p:nvCxnSpPr>
        <p:spPr>
          <a:xfrm>
            <a:off x="2228850" y="1913878"/>
            <a:ext cx="381000" cy="763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53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3694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6471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016546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168374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320203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542872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1770634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1922475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074303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0865" y="2226132"/>
            <a:ext cx="52590" cy="5259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2932" y="486868"/>
            <a:ext cx="2216785" cy="183261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Microsoft Sans Serif"/>
                <a:cs typeface="Microsoft Sans Serif"/>
              </a:rPr>
              <a:t>Input: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Image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Output: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Image</a:t>
            </a:r>
            <a:endParaRPr sz="1100">
              <a:latin typeface="Microsoft Sans Serif"/>
              <a:cs typeface="Microsoft Sans Serif"/>
            </a:endParaRPr>
          </a:p>
          <a:p>
            <a:pPr marL="289560" marR="868044">
              <a:lnSpc>
                <a:spcPct val="100000"/>
              </a:lnSpc>
              <a:spcBef>
                <a:spcPts val="475"/>
              </a:spcBef>
            </a:pPr>
            <a:r>
              <a:rPr sz="1000" spc="-45" dirty="0">
                <a:latin typeface="Microsoft Sans Serif"/>
                <a:cs typeface="Microsoft Sans Serif"/>
              </a:rPr>
              <a:t>Image</a:t>
            </a:r>
            <a:r>
              <a:rPr sz="1000" spc="-15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acquisition </a:t>
            </a:r>
            <a:r>
              <a:rPr sz="1000" spc="-45" dirty="0">
                <a:latin typeface="Microsoft Sans Serif"/>
                <a:cs typeface="Microsoft Sans Serif"/>
              </a:rPr>
              <a:t>Image</a:t>
            </a:r>
            <a:r>
              <a:rPr sz="1000" spc="-15" dirty="0">
                <a:latin typeface="Microsoft Sans Serif"/>
                <a:cs typeface="Microsoft Sans Serif"/>
              </a:rPr>
              <a:t> </a:t>
            </a:r>
            <a:r>
              <a:rPr sz="1000" spc="-60" dirty="0">
                <a:latin typeface="Microsoft Sans Serif"/>
                <a:cs typeface="Microsoft Sans Serif"/>
              </a:rPr>
              <a:t>enhancement </a:t>
            </a:r>
            <a:r>
              <a:rPr sz="1000" spc="-45" dirty="0">
                <a:latin typeface="Microsoft Sans Serif"/>
                <a:cs typeface="Microsoft Sans Serif"/>
              </a:rPr>
              <a:t>Image</a:t>
            </a:r>
            <a:r>
              <a:rPr sz="1000" spc="-15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restoration</a:t>
            </a:r>
            <a:endParaRPr sz="1000">
              <a:latin typeface="Microsoft Sans Serif"/>
              <a:cs typeface="Microsoft Sans Serif"/>
            </a:endParaRPr>
          </a:p>
          <a:p>
            <a:pPr marL="289560">
              <a:lnSpc>
                <a:spcPts val="1185"/>
              </a:lnSpc>
            </a:pPr>
            <a:r>
              <a:rPr sz="1000" spc="-30" dirty="0">
                <a:latin typeface="Microsoft Sans Serif"/>
                <a:cs typeface="Microsoft Sans Serif"/>
              </a:rPr>
              <a:t>Morphological</a:t>
            </a:r>
            <a:r>
              <a:rPr sz="1000" spc="60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processing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100" dirty="0">
                <a:latin typeface="Microsoft Sans Serif"/>
                <a:cs typeface="Microsoft Sans Serif"/>
              </a:rPr>
              <a:t>Input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: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Image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and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Output: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Attributes</a:t>
            </a:r>
            <a:endParaRPr sz="1100">
              <a:latin typeface="Microsoft Sans Serif"/>
              <a:cs typeface="Microsoft Sans Serif"/>
            </a:endParaRPr>
          </a:p>
          <a:p>
            <a:pPr marL="289560" marR="594360">
              <a:lnSpc>
                <a:spcPct val="100000"/>
              </a:lnSpc>
              <a:spcBef>
                <a:spcPts val="475"/>
              </a:spcBef>
            </a:pPr>
            <a:r>
              <a:rPr sz="1000" spc="-30" dirty="0">
                <a:latin typeface="Microsoft Sans Serif"/>
                <a:cs typeface="Microsoft Sans Serif"/>
              </a:rPr>
              <a:t>Morphological</a:t>
            </a:r>
            <a:r>
              <a:rPr sz="1000" spc="60" dirty="0">
                <a:latin typeface="Microsoft Sans Serif"/>
                <a:cs typeface="Microsoft Sans Serif"/>
              </a:rPr>
              <a:t> </a:t>
            </a:r>
            <a:r>
              <a:rPr sz="1000" spc="-65" dirty="0">
                <a:latin typeface="Microsoft Sans Serif"/>
                <a:cs typeface="Microsoft Sans Serif"/>
              </a:rPr>
              <a:t>processing</a:t>
            </a:r>
            <a:r>
              <a:rPr sz="1000" spc="-10" dirty="0">
                <a:latin typeface="Microsoft Sans Serif"/>
                <a:cs typeface="Microsoft Sans Serif"/>
              </a:rPr>
              <a:t> Segmentation</a:t>
            </a:r>
            <a:endParaRPr sz="1000">
              <a:latin typeface="Microsoft Sans Serif"/>
              <a:cs typeface="Microsoft Sans Serif"/>
            </a:endParaRPr>
          </a:p>
          <a:p>
            <a:pPr marL="289560" marR="292100">
              <a:lnSpc>
                <a:spcPts val="1200"/>
              </a:lnSpc>
              <a:spcBef>
                <a:spcPts val="30"/>
              </a:spcBef>
            </a:pPr>
            <a:r>
              <a:rPr sz="1000" spc="-10" dirty="0">
                <a:latin typeface="Microsoft Sans Serif"/>
                <a:cs typeface="Microsoft Sans Serif"/>
              </a:rPr>
              <a:t>Object</a:t>
            </a:r>
            <a:r>
              <a:rPr sz="1000" spc="-20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recognition </a:t>
            </a:r>
            <a:r>
              <a:rPr sz="1000" spc="-45" dirty="0">
                <a:latin typeface="Microsoft Sans Serif"/>
                <a:cs typeface="Microsoft Sans Serif"/>
              </a:rPr>
              <a:t>Representation</a:t>
            </a:r>
            <a:r>
              <a:rPr sz="1000" spc="5" dirty="0">
                <a:latin typeface="Microsoft Sans Serif"/>
                <a:cs typeface="Microsoft Sans Serif"/>
              </a:rPr>
              <a:t> </a:t>
            </a:r>
            <a:r>
              <a:rPr sz="1000" spc="-20" dirty="0">
                <a:latin typeface="Microsoft Sans Serif"/>
                <a:cs typeface="Microsoft Sans Serif"/>
              </a:rPr>
              <a:t>and</a:t>
            </a:r>
            <a:r>
              <a:rPr sz="1000" spc="5" dirty="0">
                <a:latin typeface="Microsoft Sans Serif"/>
                <a:cs typeface="Microsoft Sans Serif"/>
              </a:rPr>
              <a:t> </a:t>
            </a:r>
            <a:r>
              <a:rPr sz="1000" spc="-30" dirty="0">
                <a:latin typeface="Microsoft Sans Serif"/>
                <a:cs typeface="Microsoft Sans Serif"/>
              </a:rPr>
              <a:t>description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277110"/>
            <a:chOff x="87743" y="558024"/>
            <a:chExt cx="4483735" cy="2277110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3330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20606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1310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87997"/>
              <a:ext cx="4432935" cy="1996439"/>
            </a:xfrm>
            <a:custGeom>
              <a:avLst/>
              <a:gdLst/>
              <a:ahLst/>
              <a:cxnLst/>
              <a:rect l="l" t="t" r="r" b="b"/>
              <a:pathLst>
                <a:path w="4432935" h="1996439">
                  <a:moveTo>
                    <a:pt x="4432566" y="0"/>
                  </a:moveTo>
                  <a:lnTo>
                    <a:pt x="0" y="0"/>
                  </a:lnTo>
                  <a:lnTo>
                    <a:pt x="0" y="1945309"/>
                  </a:lnTo>
                  <a:lnTo>
                    <a:pt x="4008" y="1965034"/>
                  </a:lnTo>
                  <a:lnTo>
                    <a:pt x="14922" y="1981187"/>
                  </a:lnTo>
                  <a:lnTo>
                    <a:pt x="31075" y="1992101"/>
                  </a:lnTo>
                  <a:lnTo>
                    <a:pt x="50800" y="1996109"/>
                  </a:lnTo>
                  <a:lnTo>
                    <a:pt x="4381765" y="1996109"/>
                  </a:lnTo>
                  <a:lnTo>
                    <a:pt x="4401490" y="1992101"/>
                  </a:lnTo>
                  <a:lnTo>
                    <a:pt x="4417643" y="1981187"/>
                  </a:lnTo>
                  <a:lnTo>
                    <a:pt x="4428558" y="1965034"/>
                  </a:lnTo>
                  <a:lnTo>
                    <a:pt x="4432566" y="194530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35"/>
              <a:ext cx="0" cy="2112645"/>
            </a:xfrm>
            <a:custGeom>
              <a:avLst/>
              <a:gdLst/>
              <a:ahLst/>
              <a:cxnLst/>
              <a:rect l="l" t="t" r="r" b="b"/>
              <a:pathLst>
                <a:path h="2112645">
                  <a:moveTo>
                    <a:pt x="0" y="21120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71640" y="265239"/>
            <a:ext cx="4302760" cy="102463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Aquisition</a:t>
            </a:r>
            <a:endParaRPr sz="1200" dirty="0">
              <a:latin typeface="Tahoma"/>
              <a:cs typeface="Tahoma"/>
            </a:endParaRPr>
          </a:p>
          <a:p>
            <a:endParaRPr lang="en-US" dirty="0"/>
          </a:p>
          <a:p>
            <a:r>
              <a:rPr lang="en-US" sz="1100" dirty="0"/>
              <a:t>Most of the images are generated by the combination of an </a:t>
            </a:r>
            <a:r>
              <a:rPr lang="en-US" sz="1100" dirty="0">
                <a:solidFill>
                  <a:srgbClr val="FF0000"/>
                </a:solidFill>
              </a:rPr>
              <a:t>“illumination” source and the reflection or absorption of energy </a:t>
            </a:r>
            <a:r>
              <a:rPr lang="en-US" sz="1100" dirty="0"/>
              <a:t>from that source by the elements of the “scene” being imaged.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7A7E99-4BEB-4311-9C96-0F205A8417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650" y="1285460"/>
            <a:ext cx="1157468" cy="4888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B11146-D9AF-4ABB-8B3D-0B96331493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8654" y="1880390"/>
            <a:ext cx="1055848" cy="8254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3A2C2C-10C3-435D-8A27-6A1FCFD9D0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7276" y="1789045"/>
            <a:ext cx="761776" cy="42703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C469965-6F2F-4848-A4AC-7C64F45E6D53}"/>
              </a:ext>
            </a:extLst>
          </p:cNvPr>
          <p:cNvSpPr/>
          <p:nvPr/>
        </p:nvSpPr>
        <p:spPr>
          <a:xfrm>
            <a:off x="2637276" y="2021518"/>
            <a:ext cx="9983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800" b="0" i="0" u="none" strike="noStrike" baseline="0" dirty="0">
                <a:latin typeface="Century Schoolbook" panose="02040604050505020304" pitchFamily="18" charset="0"/>
              </a:rPr>
              <a:t>Imaging system</a:t>
            </a:r>
            <a:endParaRPr lang="en-US" sz="80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793760"/>
            <a:chOff x="87743" y="558024"/>
            <a:chExt cx="4483735" cy="2052955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50920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96502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19069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87997"/>
              <a:ext cx="4432935" cy="1772285"/>
            </a:xfrm>
            <a:custGeom>
              <a:avLst/>
              <a:gdLst/>
              <a:ahLst/>
              <a:cxnLst/>
              <a:rect l="l" t="t" r="r" b="b"/>
              <a:pathLst>
                <a:path w="4432935" h="1772285">
                  <a:moveTo>
                    <a:pt x="4432566" y="0"/>
                  </a:moveTo>
                  <a:lnTo>
                    <a:pt x="0" y="0"/>
                  </a:lnTo>
                  <a:lnTo>
                    <a:pt x="0" y="1721204"/>
                  </a:lnTo>
                  <a:lnTo>
                    <a:pt x="4008" y="1740929"/>
                  </a:lnTo>
                  <a:lnTo>
                    <a:pt x="14922" y="1757082"/>
                  </a:lnTo>
                  <a:lnTo>
                    <a:pt x="31075" y="1767996"/>
                  </a:lnTo>
                  <a:lnTo>
                    <a:pt x="50800" y="1772005"/>
                  </a:lnTo>
                  <a:lnTo>
                    <a:pt x="4381765" y="1772005"/>
                  </a:lnTo>
                  <a:lnTo>
                    <a:pt x="4401490" y="1767996"/>
                  </a:lnTo>
                  <a:lnTo>
                    <a:pt x="4417643" y="1757082"/>
                  </a:lnTo>
                  <a:lnTo>
                    <a:pt x="4428558" y="1740929"/>
                  </a:lnTo>
                  <a:lnTo>
                    <a:pt x="4432566" y="172120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35"/>
              <a:ext cx="0" cy="1888489"/>
            </a:xfrm>
            <a:custGeom>
              <a:avLst/>
              <a:gdLst/>
              <a:ahLst/>
              <a:cxnLst/>
              <a:rect l="l" t="t" r="r" b="b"/>
              <a:pathLst>
                <a:path h="1888489">
                  <a:moveTo>
                    <a:pt x="0" y="188791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3096" y="568788"/>
            <a:ext cx="4336415" cy="6280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Enhancement</a:t>
            </a:r>
            <a:endParaRPr sz="1200" dirty="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265"/>
              </a:spcBef>
            </a:pPr>
            <a:r>
              <a:rPr sz="1100" spc="-50" dirty="0">
                <a:latin typeface="Microsoft Sans Serif"/>
                <a:cs typeface="Microsoft Sans Serif"/>
              </a:rPr>
              <a:t>Image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enhancement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</a:t>
            </a:r>
            <a:r>
              <a:rPr sz="1100" spc="-75" dirty="0">
                <a:latin typeface="Microsoft Sans Serif"/>
                <a:cs typeface="Microsoft Sans Serif"/>
              </a:rPr>
              <a:t>process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 </a:t>
            </a:r>
            <a:r>
              <a:rPr sz="1100" spc="-30" dirty="0">
                <a:latin typeface="Microsoft Sans Serif"/>
                <a:cs typeface="Microsoft Sans Serif"/>
              </a:rPr>
              <a:t>manipulating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an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image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so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that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Microsoft Sans Serif"/>
                <a:cs typeface="Microsoft Sans Serif"/>
              </a:rPr>
              <a:t>result </a:t>
            </a:r>
            <a:r>
              <a:rPr sz="1100" spc="-10" dirty="0">
                <a:latin typeface="Microsoft Sans Serif"/>
                <a:cs typeface="Microsoft Sans Serif"/>
              </a:rPr>
              <a:t>is </a:t>
            </a:r>
            <a:r>
              <a:rPr sz="1100" spc="-55" dirty="0">
                <a:latin typeface="Microsoft Sans Serif"/>
                <a:cs typeface="Microsoft Sans Serif"/>
              </a:rPr>
              <a:t>more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suitable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original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b="1" spc="-35" dirty="0">
                <a:latin typeface="Trebuchet MS"/>
                <a:cs typeface="Trebuchet MS"/>
              </a:rPr>
              <a:t>specific</a:t>
            </a:r>
            <a:r>
              <a:rPr sz="1100" b="1" spc="-5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application.</a:t>
            </a:r>
            <a:endParaRPr sz="1100" dirty="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4709" y="1273037"/>
            <a:ext cx="2598554" cy="124254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B0149E-9661-4D3C-A8AA-BD89BDFA45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342" y="2511987"/>
            <a:ext cx="1222098" cy="6627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B0858D-D098-4DFA-AD35-F92A4BDD1A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7159" y="2531910"/>
            <a:ext cx="1196104" cy="64284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5300" y="548498"/>
            <a:ext cx="4483367" cy="2622984"/>
            <a:chOff x="87743" y="558024"/>
            <a:chExt cx="4483367" cy="2622984"/>
          </a:xfrm>
        </p:grpSpPr>
        <p:sp>
          <p:nvSpPr>
            <p:cNvPr id="5" name="object 5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07940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066707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4771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787994"/>
              <a:ext cx="4432935" cy="2342515"/>
            </a:xfrm>
            <a:custGeom>
              <a:avLst/>
              <a:gdLst/>
              <a:ahLst/>
              <a:cxnLst/>
              <a:rect l="l" t="t" r="r" b="b"/>
              <a:pathLst>
                <a:path w="4432935" h="2342515">
                  <a:moveTo>
                    <a:pt x="4432566" y="0"/>
                  </a:moveTo>
                  <a:lnTo>
                    <a:pt x="0" y="0"/>
                  </a:lnTo>
                  <a:lnTo>
                    <a:pt x="0" y="2291412"/>
                  </a:lnTo>
                  <a:lnTo>
                    <a:pt x="4008" y="2311137"/>
                  </a:lnTo>
                  <a:lnTo>
                    <a:pt x="14922" y="2327290"/>
                  </a:lnTo>
                  <a:lnTo>
                    <a:pt x="31075" y="2338204"/>
                  </a:lnTo>
                  <a:lnTo>
                    <a:pt x="50800" y="2342213"/>
                  </a:lnTo>
                  <a:lnTo>
                    <a:pt x="4381765" y="2342213"/>
                  </a:lnTo>
                  <a:lnTo>
                    <a:pt x="4401490" y="2338204"/>
                  </a:lnTo>
                  <a:lnTo>
                    <a:pt x="4417643" y="2327290"/>
                  </a:lnTo>
                  <a:lnTo>
                    <a:pt x="4428558" y="2311137"/>
                  </a:lnTo>
                  <a:lnTo>
                    <a:pt x="4432566" y="229141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40332"/>
              <a:ext cx="0" cy="2458720"/>
            </a:xfrm>
            <a:custGeom>
              <a:avLst/>
              <a:gdLst/>
              <a:ahLst/>
              <a:cxnLst/>
              <a:rect l="l" t="t" r="r" b="b"/>
              <a:pathLst>
                <a:path h="2458720">
                  <a:moveTo>
                    <a:pt x="0" y="24581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27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149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6022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844" y="494220"/>
            <a:ext cx="4358005" cy="23980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Restoration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88C950-3E35-4C68-A859-8086E9710B14}"/>
              </a:ext>
            </a:extLst>
          </p:cNvPr>
          <p:cNvSpPr/>
          <p:nvPr/>
        </p:nvSpPr>
        <p:spPr>
          <a:xfrm>
            <a:off x="382815" y="696773"/>
            <a:ext cx="37366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0" i="0" u="none" strike="noStrike" baseline="0" dirty="0">
                <a:latin typeface="Century Schoolbook" panose="02040604050505020304" pitchFamily="18" charset="0"/>
              </a:rPr>
              <a:t>Repairing old, damaged, or degraded photographs to restore them to their original condition or even improve their visual quality.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FBB6FF4-A6D5-45DE-BD23-1ED089EBDD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973" y="1403463"/>
            <a:ext cx="1371600" cy="15630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8AF70AA-B7BC-4F75-8B6B-8D60A17EFD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4498" y="1369272"/>
            <a:ext cx="1319514" cy="162751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DE87A37-1984-460F-9855-C36BF940255B}"/>
              </a:ext>
            </a:extLst>
          </p:cNvPr>
          <p:cNvSpPr/>
          <p:nvPr/>
        </p:nvSpPr>
        <p:spPr>
          <a:xfrm>
            <a:off x="1061302" y="2709817"/>
            <a:ext cx="11929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200" b="0" i="0" u="none" strike="noStrike" baseline="0" dirty="0">
                <a:latin typeface="Times New Roman" panose="02020603050405020304" pitchFamily="18" charset="0"/>
              </a:rPr>
              <a:t>Damaged Image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1D5A08-C52C-43F2-9C81-B090A278D34D}"/>
              </a:ext>
            </a:extLst>
          </p:cNvPr>
          <p:cNvSpPr/>
          <p:nvPr/>
        </p:nvSpPr>
        <p:spPr>
          <a:xfrm>
            <a:off x="2733572" y="2755098"/>
            <a:ext cx="13420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1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100" b="0" i="0" u="none" strike="noStrike" baseline="0" dirty="0">
                <a:latin typeface="Times New Roman" panose="02020603050405020304" pitchFamily="18" charset="0"/>
              </a:rPr>
              <a:t>Restored Image</a:t>
            </a:r>
            <a:endParaRPr lang="en-US" sz="110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58023"/>
            <a:ext cx="4483735" cy="2467751"/>
            <a:chOff x="87743" y="558024"/>
            <a:chExt cx="4483735" cy="1999614"/>
          </a:xfrm>
        </p:grpSpPr>
        <p:sp>
          <p:nvSpPr>
            <p:cNvPr id="5" name="object 5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5559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42895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18533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787995"/>
              <a:ext cx="4432935" cy="1718945"/>
            </a:xfrm>
            <a:custGeom>
              <a:avLst/>
              <a:gdLst/>
              <a:ahLst/>
              <a:cxnLst/>
              <a:rect l="l" t="t" r="r" b="b"/>
              <a:pathLst>
                <a:path w="4432935" h="1718945">
                  <a:moveTo>
                    <a:pt x="4432566" y="0"/>
                  </a:moveTo>
                  <a:lnTo>
                    <a:pt x="0" y="0"/>
                  </a:lnTo>
                  <a:lnTo>
                    <a:pt x="0" y="1667600"/>
                  </a:lnTo>
                  <a:lnTo>
                    <a:pt x="4008" y="1687324"/>
                  </a:lnTo>
                  <a:lnTo>
                    <a:pt x="14922" y="1703477"/>
                  </a:lnTo>
                  <a:lnTo>
                    <a:pt x="31075" y="1714392"/>
                  </a:lnTo>
                  <a:lnTo>
                    <a:pt x="50800" y="1718400"/>
                  </a:lnTo>
                  <a:lnTo>
                    <a:pt x="4381765" y="1718400"/>
                  </a:lnTo>
                  <a:lnTo>
                    <a:pt x="4401490" y="1714392"/>
                  </a:lnTo>
                  <a:lnTo>
                    <a:pt x="4417643" y="1703477"/>
                  </a:lnTo>
                  <a:lnTo>
                    <a:pt x="4428558" y="1687324"/>
                  </a:lnTo>
                  <a:lnTo>
                    <a:pt x="4432566" y="166760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40334"/>
              <a:ext cx="0" cy="1834514"/>
            </a:xfrm>
            <a:custGeom>
              <a:avLst/>
              <a:gdLst/>
              <a:ahLst/>
              <a:cxnLst/>
              <a:rect l="l" t="t" r="r" b="b"/>
              <a:pathLst>
                <a:path h="1834514">
                  <a:moveTo>
                    <a:pt x="0" y="18343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27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149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6022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844" y="494220"/>
            <a:ext cx="4356100" cy="8001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Color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endParaRPr sz="1200" dirty="0">
              <a:latin typeface="Tahoma"/>
              <a:cs typeface="Tahoma"/>
            </a:endParaRPr>
          </a:p>
          <a:p>
            <a:pPr marL="289560" marR="5080" algn="just">
              <a:lnSpc>
                <a:spcPct val="102600"/>
              </a:lnSpc>
              <a:spcBef>
                <a:spcPts val="265"/>
              </a:spcBef>
            </a:pPr>
            <a:r>
              <a:rPr sz="1100" spc="-40" dirty="0">
                <a:latin typeface="Microsoft Sans Serif"/>
                <a:cs typeface="Microsoft Sans Serif"/>
              </a:rPr>
              <a:t>Color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image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processing</a:t>
            </a:r>
            <a:r>
              <a:rPr sz="1100" dirty="0">
                <a:latin typeface="Microsoft Sans Serif"/>
                <a:cs typeface="Microsoft Sans Serif"/>
              </a:rPr>
              <a:t> is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area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85" dirty="0">
                <a:latin typeface="Microsoft Sans Serif"/>
                <a:cs typeface="Microsoft Sans Serif"/>
              </a:rPr>
              <a:t>has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been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gaining</a:t>
            </a:r>
            <a:r>
              <a:rPr sz="1100" dirty="0">
                <a:latin typeface="Microsoft Sans Serif"/>
                <a:cs typeface="Microsoft Sans Serif"/>
              </a:rPr>
              <a:t> in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importance </a:t>
            </a:r>
            <a:r>
              <a:rPr sz="1100" spc="-90" dirty="0">
                <a:latin typeface="Microsoft Sans Serif"/>
                <a:cs typeface="Microsoft Sans Serif"/>
              </a:rPr>
              <a:t>because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</a:t>
            </a:r>
            <a:r>
              <a:rPr sz="1100" spc="-30" dirty="0">
                <a:latin typeface="Microsoft Sans Serif"/>
                <a:cs typeface="Microsoft Sans Serif"/>
              </a:rPr>
              <a:t>significant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increase</a:t>
            </a:r>
            <a:r>
              <a:rPr sz="1100" dirty="0">
                <a:latin typeface="Microsoft Sans Serif"/>
                <a:cs typeface="Microsoft Sans Serif"/>
              </a:rPr>
              <a:t> in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</a:t>
            </a:r>
            <a:r>
              <a:rPr sz="1100" spc="-110" dirty="0">
                <a:latin typeface="Microsoft Sans Serif"/>
                <a:cs typeface="Microsoft Sans Serif"/>
              </a:rPr>
              <a:t>use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digital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images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over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the </a:t>
            </a:r>
            <a:r>
              <a:rPr sz="1100" spc="-10" dirty="0">
                <a:latin typeface="Microsoft Sans Serif"/>
                <a:cs typeface="Microsoft Sans Serif"/>
              </a:rPr>
              <a:t>Internet.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81FEA2-4D1D-4876-9E42-D4FE411298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350311"/>
            <a:ext cx="1458410" cy="11878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C8EBC9-83AF-4288-A9DE-1AAD45E65F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5848" y="1358123"/>
            <a:ext cx="1458410" cy="117079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E59F69-D90B-48D2-BFC4-9DAC9362883A}"/>
              </a:ext>
            </a:extLst>
          </p:cNvPr>
          <p:cNvSpPr/>
          <p:nvPr/>
        </p:nvSpPr>
        <p:spPr>
          <a:xfrm>
            <a:off x="698161" y="2332720"/>
            <a:ext cx="140761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100" b="0" i="0" u="none" strike="noStrike" baseline="0" dirty="0">
                <a:latin typeface="Times New Roman" panose="02020603050405020304" pitchFamily="18" charset="0"/>
              </a:rPr>
              <a:t>Original Image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3B8950-7E08-4378-BA73-AD5B3BEB8CBE}"/>
              </a:ext>
            </a:extLst>
          </p:cNvPr>
          <p:cNvSpPr/>
          <p:nvPr/>
        </p:nvSpPr>
        <p:spPr>
          <a:xfrm>
            <a:off x="2434112" y="2378420"/>
            <a:ext cx="140761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100" b="0" i="0" u="none" strike="noStrike" baseline="0" dirty="0">
                <a:latin typeface="Times New Roman" panose="02020603050405020304" pitchFamily="18" charset="0"/>
              </a:rPr>
              <a:t>Colorized Image</a:t>
            </a:r>
            <a:endParaRPr lang="en-US" sz="110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292350"/>
            <a:chOff x="87743" y="558024"/>
            <a:chExt cx="4483735" cy="2292350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59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4432566" y="187823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33196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48597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35897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14633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77454"/>
              <a:ext cx="4432935" cy="2022475"/>
            </a:xfrm>
            <a:custGeom>
              <a:avLst/>
              <a:gdLst/>
              <a:ahLst/>
              <a:cxnLst/>
              <a:rect l="l" t="t" r="r" b="b"/>
              <a:pathLst>
                <a:path w="4432935" h="2022475">
                  <a:moveTo>
                    <a:pt x="4432566" y="0"/>
                  </a:moveTo>
                  <a:lnTo>
                    <a:pt x="0" y="0"/>
                  </a:lnTo>
                  <a:lnTo>
                    <a:pt x="0" y="1971142"/>
                  </a:lnTo>
                  <a:lnTo>
                    <a:pt x="4008" y="1990867"/>
                  </a:lnTo>
                  <a:lnTo>
                    <a:pt x="14922" y="2007020"/>
                  </a:lnTo>
                  <a:lnTo>
                    <a:pt x="31075" y="2017934"/>
                  </a:lnTo>
                  <a:lnTo>
                    <a:pt x="50800" y="2021942"/>
                  </a:lnTo>
                  <a:lnTo>
                    <a:pt x="4381765" y="2021942"/>
                  </a:lnTo>
                  <a:lnTo>
                    <a:pt x="4401490" y="2017934"/>
                  </a:lnTo>
                  <a:lnTo>
                    <a:pt x="4417643" y="2007020"/>
                  </a:lnTo>
                  <a:lnTo>
                    <a:pt x="4428558" y="1990867"/>
                  </a:lnTo>
                  <a:lnTo>
                    <a:pt x="4432566" y="197114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36"/>
              <a:ext cx="0" cy="2127885"/>
            </a:xfrm>
            <a:custGeom>
              <a:avLst/>
              <a:gdLst/>
              <a:ahLst/>
              <a:cxnLst/>
              <a:rect l="l" t="t" r="r" b="b"/>
              <a:pathLst>
                <a:path h="2127885">
                  <a:moveTo>
                    <a:pt x="0" y="21273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31202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844" y="505772"/>
            <a:ext cx="4356100" cy="6057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Wavelets</a:t>
            </a:r>
            <a:endParaRPr sz="12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180"/>
              </a:spcBef>
            </a:pPr>
            <a:r>
              <a:rPr sz="1100" spc="-55" dirty="0">
                <a:latin typeface="Microsoft Sans Serif"/>
                <a:cs typeface="Microsoft Sans Serif"/>
              </a:rPr>
              <a:t>Wavelets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are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</a:t>
            </a:r>
            <a:r>
              <a:rPr sz="1100" spc="-25" dirty="0">
                <a:latin typeface="Microsoft Sans Serif"/>
                <a:cs typeface="Microsoft Sans Serif"/>
              </a:rPr>
              <a:t>foundation</a:t>
            </a:r>
            <a:r>
              <a:rPr sz="1100" dirty="0">
                <a:latin typeface="Microsoft Sans Serif"/>
                <a:cs typeface="Microsoft Sans Serif"/>
              </a:rPr>
              <a:t> for </a:t>
            </a:r>
            <a:r>
              <a:rPr sz="1100" spc="-55" dirty="0">
                <a:latin typeface="Microsoft Sans Serif"/>
                <a:cs typeface="Microsoft Sans Serif"/>
              </a:rPr>
              <a:t>representing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images</a:t>
            </a:r>
            <a:r>
              <a:rPr sz="1100" dirty="0">
                <a:latin typeface="Microsoft Sans Serif"/>
                <a:cs typeface="Microsoft Sans Serif"/>
              </a:rPr>
              <a:t> in </a:t>
            </a:r>
            <a:r>
              <a:rPr sz="1100" spc="-50" dirty="0">
                <a:latin typeface="Microsoft Sans Serif"/>
                <a:cs typeface="Microsoft Sans Serif"/>
              </a:rPr>
              <a:t>various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degrees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resolution.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4352" y="1235540"/>
            <a:ext cx="1299292" cy="151942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58024"/>
            <a:ext cx="4483735" cy="2599055"/>
            <a:chOff x="87743" y="558024"/>
            <a:chExt cx="4483735" cy="2599055"/>
          </a:xfrm>
        </p:grpSpPr>
        <p:sp>
          <p:nvSpPr>
            <p:cNvPr id="5" name="object 5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054934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042234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4526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787983"/>
              <a:ext cx="4432935" cy="2317750"/>
            </a:xfrm>
            <a:custGeom>
              <a:avLst/>
              <a:gdLst/>
              <a:ahLst/>
              <a:cxnLst/>
              <a:rect l="l" t="t" r="r" b="b"/>
              <a:pathLst>
                <a:path w="4432935" h="2317750">
                  <a:moveTo>
                    <a:pt x="4432566" y="0"/>
                  </a:moveTo>
                  <a:lnTo>
                    <a:pt x="0" y="0"/>
                  </a:lnTo>
                  <a:lnTo>
                    <a:pt x="0" y="2266951"/>
                  </a:lnTo>
                  <a:lnTo>
                    <a:pt x="4008" y="2286675"/>
                  </a:lnTo>
                  <a:lnTo>
                    <a:pt x="14922" y="2302828"/>
                  </a:lnTo>
                  <a:lnTo>
                    <a:pt x="31075" y="2313742"/>
                  </a:lnTo>
                  <a:lnTo>
                    <a:pt x="50800" y="2317751"/>
                  </a:lnTo>
                  <a:lnTo>
                    <a:pt x="4381765" y="2317751"/>
                  </a:lnTo>
                  <a:lnTo>
                    <a:pt x="4401490" y="2313742"/>
                  </a:lnTo>
                  <a:lnTo>
                    <a:pt x="4417643" y="2302828"/>
                  </a:lnTo>
                  <a:lnTo>
                    <a:pt x="4428558" y="2286675"/>
                  </a:lnTo>
                  <a:lnTo>
                    <a:pt x="4432566" y="22669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40321"/>
              <a:ext cx="0" cy="2433955"/>
            </a:xfrm>
            <a:custGeom>
              <a:avLst/>
              <a:gdLst/>
              <a:ahLst/>
              <a:cxnLst/>
              <a:rect l="l" t="t" r="r" b="b"/>
              <a:pathLst>
                <a:path h="2433955">
                  <a:moveTo>
                    <a:pt x="0" y="24336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276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149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6022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844" y="494220"/>
            <a:ext cx="4357370" cy="8001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Compression</a:t>
            </a:r>
            <a:endParaRPr sz="1200">
              <a:latin typeface="Tahoma"/>
              <a:cs typeface="Tahoma"/>
            </a:endParaRPr>
          </a:p>
          <a:p>
            <a:pPr marL="289560" marR="5080" algn="just">
              <a:lnSpc>
                <a:spcPct val="102600"/>
              </a:lnSpc>
              <a:spcBef>
                <a:spcPts val="265"/>
              </a:spcBef>
            </a:pPr>
            <a:r>
              <a:rPr sz="1100" spc="-60" dirty="0">
                <a:latin typeface="Microsoft Sans Serif"/>
                <a:cs typeface="Microsoft Sans Serif"/>
              </a:rPr>
              <a:t>Compression,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as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name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implies,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deals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techniques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reducing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storage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required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save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image,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bandwidth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required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to </a:t>
            </a:r>
            <a:r>
              <a:rPr sz="1100" dirty="0">
                <a:latin typeface="Microsoft Sans Serif"/>
                <a:cs typeface="Microsoft Sans Serif"/>
              </a:rPr>
              <a:t>transmit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it.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7830" y="1418170"/>
            <a:ext cx="1732383" cy="164313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391410"/>
            <a:chOff x="87743" y="558024"/>
            <a:chExt cx="4483735" cy="2391410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4750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34805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2452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87992"/>
              <a:ext cx="4432935" cy="2110740"/>
            </a:xfrm>
            <a:custGeom>
              <a:avLst/>
              <a:gdLst/>
              <a:ahLst/>
              <a:cxnLst/>
              <a:rect l="l" t="t" r="r" b="b"/>
              <a:pathLst>
                <a:path w="4432935" h="2110740">
                  <a:moveTo>
                    <a:pt x="4432566" y="0"/>
                  </a:moveTo>
                  <a:lnTo>
                    <a:pt x="0" y="0"/>
                  </a:lnTo>
                  <a:lnTo>
                    <a:pt x="0" y="2059513"/>
                  </a:lnTo>
                  <a:lnTo>
                    <a:pt x="4008" y="2079237"/>
                  </a:lnTo>
                  <a:lnTo>
                    <a:pt x="14922" y="2095390"/>
                  </a:lnTo>
                  <a:lnTo>
                    <a:pt x="31075" y="2106304"/>
                  </a:lnTo>
                  <a:lnTo>
                    <a:pt x="50800" y="2110313"/>
                  </a:lnTo>
                  <a:lnTo>
                    <a:pt x="4381765" y="2110313"/>
                  </a:lnTo>
                  <a:lnTo>
                    <a:pt x="4401490" y="2106304"/>
                  </a:lnTo>
                  <a:lnTo>
                    <a:pt x="4417643" y="2095390"/>
                  </a:lnTo>
                  <a:lnTo>
                    <a:pt x="4428558" y="2079237"/>
                  </a:lnTo>
                  <a:lnTo>
                    <a:pt x="4432566" y="205951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30"/>
              <a:ext cx="0" cy="2226310"/>
            </a:xfrm>
            <a:custGeom>
              <a:avLst/>
              <a:gdLst/>
              <a:ahLst/>
              <a:cxnLst/>
              <a:rect l="l" t="t" r="r" b="b"/>
              <a:pathLst>
                <a:path h="2226310">
                  <a:moveTo>
                    <a:pt x="0" y="22262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844" y="494220"/>
            <a:ext cx="4356100" cy="6280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Morphological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endParaRPr sz="12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265"/>
              </a:spcBef>
            </a:pPr>
            <a:r>
              <a:rPr sz="1100" spc="-35" dirty="0">
                <a:latin typeface="Microsoft Sans Serif"/>
                <a:cs typeface="Microsoft Sans Serif"/>
              </a:rPr>
              <a:t>Morphological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processing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deals</a:t>
            </a:r>
            <a:r>
              <a:rPr sz="1100" dirty="0">
                <a:latin typeface="Microsoft Sans Serif"/>
                <a:cs typeface="Microsoft Sans Serif"/>
              </a:rPr>
              <a:t> with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tools</a:t>
            </a:r>
            <a:r>
              <a:rPr sz="1100" dirty="0">
                <a:latin typeface="Microsoft Sans Serif"/>
                <a:cs typeface="Microsoft Sans Serif"/>
              </a:rPr>
              <a:t> for </a:t>
            </a:r>
            <a:r>
              <a:rPr sz="1100" spc="-25" dirty="0">
                <a:latin typeface="Microsoft Sans Serif"/>
                <a:cs typeface="Microsoft Sans Serif"/>
              </a:rPr>
              <a:t>extracting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image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compo- </a:t>
            </a:r>
            <a:r>
              <a:rPr sz="1100" spc="-35" dirty="0">
                <a:latin typeface="Microsoft Sans Serif"/>
                <a:cs typeface="Microsoft Sans Serif"/>
              </a:rPr>
              <a:t>nents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that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are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useful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representation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and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description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shape.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7830" y="1273029"/>
            <a:ext cx="1732309" cy="158085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395855"/>
            <a:chOff x="87743" y="558024"/>
            <a:chExt cx="4483735" cy="2395855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5188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39186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2496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87991"/>
              <a:ext cx="4432935" cy="2115185"/>
            </a:xfrm>
            <a:custGeom>
              <a:avLst/>
              <a:gdLst/>
              <a:ahLst/>
              <a:cxnLst/>
              <a:rect l="l" t="t" r="r" b="b"/>
              <a:pathLst>
                <a:path w="4432935" h="2115185">
                  <a:moveTo>
                    <a:pt x="4432566" y="0"/>
                  </a:moveTo>
                  <a:lnTo>
                    <a:pt x="0" y="0"/>
                  </a:lnTo>
                  <a:lnTo>
                    <a:pt x="0" y="2063895"/>
                  </a:lnTo>
                  <a:lnTo>
                    <a:pt x="4008" y="2083620"/>
                  </a:lnTo>
                  <a:lnTo>
                    <a:pt x="14922" y="2099773"/>
                  </a:lnTo>
                  <a:lnTo>
                    <a:pt x="31075" y="2110687"/>
                  </a:lnTo>
                  <a:lnTo>
                    <a:pt x="50800" y="2114696"/>
                  </a:lnTo>
                  <a:lnTo>
                    <a:pt x="4381765" y="2114696"/>
                  </a:lnTo>
                  <a:lnTo>
                    <a:pt x="4401490" y="2110687"/>
                  </a:lnTo>
                  <a:lnTo>
                    <a:pt x="4417643" y="2099773"/>
                  </a:lnTo>
                  <a:lnTo>
                    <a:pt x="4428558" y="2083620"/>
                  </a:lnTo>
                  <a:lnTo>
                    <a:pt x="4432566" y="20638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29"/>
              <a:ext cx="0" cy="2230755"/>
            </a:xfrm>
            <a:custGeom>
              <a:avLst/>
              <a:gdLst/>
              <a:ahLst/>
              <a:cxnLst/>
              <a:rect l="l" t="t" r="r" b="b"/>
              <a:pathLst>
                <a:path h="2230755">
                  <a:moveTo>
                    <a:pt x="0" y="223060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844" y="494220"/>
            <a:ext cx="4356100" cy="6280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Segmentation</a:t>
            </a:r>
            <a:endParaRPr sz="12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265"/>
              </a:spcBef>
            </a:pPr>
            <a:r>
              <a:rPr sz="1100" spc="-45" dirty="0">
                <a:latin typeface="Microsoft Sans Serif"/>
                <a:cs typeface="Microsoft Sans Serif"/>
              </a:rPr>
              <a:t>Segmentation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procedures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partition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image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into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its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constituent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parts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objects.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7830" y="1273038"/>
            <a:ext cx="1732458" cy="1585223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58024"/>
            <a:ext cx="4483735" cy="2694305"/>
            <a:chOff x="87743" y="558024"/>
            <a:chExt cx="4483735" cy="2694305"/>
          </a:xfrm>
        </p:grpSpPr>
        <p:sp>
          <p:nvSpPr>
            <p:cNvPr id="5" name="object 5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5014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37446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5478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787992"/>
              <a:ext cx="4432935" cy="2413000"/>
            </a:xfrm>
            <a:custGeom>
              <a:avLst/>
              <a:gdLst/>
              <a:ahLst/>
              <a:cxnLst/>
              <a:rect l="l" t="t" r="r" b="b"/>
              <a:pathLst>
                <a:path w="4432935" h="2413000">
                  <a:moveTo>
                    <a:pt x="4432566" y="0"/>
                  </a:moveTo>
                  <a:lnTo>
                    <a:pt x="0" y="0"/>
                  </a:lnTo>
                  <a:lnTo>
                    <a:pt x="0" y="2362153"/>
                  </a:lnTo>
                  <a:lnTo>
                    <a:pt x="4008" y="2381878"/>
                  </a:lnTo>
                  <a:lnTo>
                    <a:pt x="14922" y="2398031"/>
                  </a:lnTo>
                  <a:lnTo>
                    <a:pt x="31075" y="2408945"/>
                  </a:lnTo>
                  <a:lnTo>
                    <a:pt x="50800" y="2412954"/>
                  </a:lnTo>
                  <a:lnTo>
                    <a:pt x="4381765" y="2412954"/>
                  </a:lnTo>
                  <a:lnTo>
                    <a:pt x="4401490" y="2408945"/>
                  </a:lnTo>
                  <a:lnTo>
                    <a:pt x="4417643" y="2398031"/>
                  </a:lnTo>
                  <a:lnTo>
                    <a:pt x="4428558" y="2381878"/>
                  </a:lnTo>
                  <a:lnTo>
                    <a:pt x="4432566" y="236215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40330"/>
              <a:ext cx="0" cy="2529205"/>
            </a:xfrm>
            <a:custGeom>
              <a:avLst/>
              <a:gdLst/>
              <a:ahLst/>
              <a:cxnLst/>
              <a:rect l="l" t="t" r="r" b="b"/>
              <a:pathLst>
                <a:path h="2529205">
                  <a:moveTo>
                    <a:pt x="0" y="25288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27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14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6022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844" y="494220"/>
            <a:ext cx="4356735" cy="9721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Representation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Description</a:t>
            </a:r>
            <a:endParaRPr sz="1200">
              <a:latin typeface="Tahoma"/>
              <a:cs typeface="Tahoma"/>
            </a:endParaRPr>
          </a:p>
          <a:p>
            <a:pPr marL="289560" marR="5080" algn="just">
              <a:lnSpc>
                <a:spcPct val="102600"/>
              </a:lnSpc>
              <a:spcBef>
                <a:spcPts val="265"/>
              </a:spcBef>
            </a:pPr>
            <a:r>
              <a:rPr sz="1100" spc="-50" dirty="0">
                <a:latin typeface="Microsoft Sans Serif"/>
                <a:cs typeface="Microsoft Sans Serif"/>
              </a:rPr>
              <a:t>Representation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description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almost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always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follow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output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a </a:t>
            </a:r>
            <a:r>
              <a:rPr sz="1100" spc="-45" dirty="0">
                <a:latin typeface="Microsoft Sans Serif"/>
                <a:cs typeface="Microsoft Sans Serif"/>
              </a:rPr>
              <a:t>segmentation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stage,which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usually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raw </a:t>
            </a:r>
            <a:r>
              <a:rPr sz="1100" spc="-25" dirty="0">
                <a:latin typeface="Microsoft Sans Serif"/>
                <a:cs typeface="Microsoft Sans Serif"/>
              </a:rPr>
              <a:t>pixel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data,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constituting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either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boundary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region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(i.e.,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set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pixels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separating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one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image </a:t>
            </a:r>
            <a:r>
              <a:rPr sz="1100" spc="-40" dirty="0">
                <a:latin typeface="Microsoft Sans Serif"/>
                <a:cs typeface="Microsoft Sans Serif"/>
              </a:rPr>
              <a:t>region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from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another)</a:t>
            </a:r>
            <a:r>
              <a:rPr sz="1100" dirty="0">
                <a:latin typeface="Microsoft Sans Serif"/>
                <a:cs typeface="Microsoft Sans Serif"/>
              </a:rPr>
              <a:t> or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</a:t>
            </a:r>
            <a:r>
              <a:rPr sz="1100" spc="-20" dirty="0">
                <a:latin typeface="Microsoft Sans Serif"/>
                <a:cs typeface="Microsoft Sans Serif"/>
              </a:rPr>
              <a:t>points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</a:t>
            </a:r>
            <a:r>
              <a:rPr sz="1100" spc="-40" dirty="0">
                <a:latin typeface="Microsoft Sans Serif"/>
                <a:cs typeface="Microsoft Sans Serif"/>
              </a:rPr>
              <a:t>region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itself.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4352" y="1624879"/>
            <a:ext cx="1299287" cy="1531642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Fundamental</a:t>
            </a:r>
            <a:r>
              <a:rPr spc="-35" dirty="0"/>
              <a:t> </a:t>
            </a:r>
            <a:r>
              <a:rPr spc="-25" dirty="0"/>
              <a:t>Steps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85" dirty="0"/>
              <a:t>Image</a:t>
            </a:r>
            <a:r>
              <a:rPr spc="-25" dirty="0"/>
              <a:t> 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611120"/>
            <a:chOff x="87743" y="558024"/>
            <a:chExt cx="4483735" cy="2611120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06726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054565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4650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87987"/>
              <a:ext cx="4432935" cy="2330450"/>
            </a:xfrm>
            <a:custGeom>
              <a:avLst/>
              <a:gdLst/>
              <a:ahLst/>
              <a:cxnLst/>
              <a:rect l="l" t="t" r="r" b="b"/>
              <a:pathLst>
                <a:path w="4432935" h="2330450">
                  <a:moveTo>
                    <a:pt x="4432566" y="0"/>
                  </a:moveTo>
                  <a:lnTo>
                    <a:pt x="0" y="0"/>
                  </a:lnTo>
                  <a:lnTo>
                    <a:pt x="0" y="2279278"/>
                  </a:lnTo>
                  <a:lnTo>
                    <a:pt x="4008" y="2299003"/>
                  </a:lnTo>
                  <a:lnTo>
                    <a:pt x="14922" y="2315156"/>
                  </a:lnTo>
                  <a:lnTo>
                    <a:pt x="31075" y="2326070"/>
                  </a:lnTo>
                  <a:lnTo>
                    <a:pt x="50800" y="2330079"/>
                  </a:lnTo>
                  <a:lnTo>
                    <a:pt x="4381765" y="2330079"/>
                  </a:lnTo>
                  <a:lnTo>
                    <a:pt x="4401490" y="2326070"/>
                  </a:lnTo>
                  <a:lnTo>
                    <a:pt x="4417643" y="2315156"/>
                  </a:lnTo>
                  <a:lnTo>
                    <a:pt x="4428558" y="2299003"/>
                  </a:lnTo>
                  <a:lnTo>
                    <a:pt x="4432566" y="227927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25"/>
              <a:ext cx="0" cy="2446020"/>
            </a:xfrm>
            <a:custGeom>
              <a:avLst/>
              <a:gdLst/>
              <a:ahLst/>
              <a:cxnLst/>
              <a:rect l="l" t="t" r="r" b="b"/>
              <a:pathLst>
                <a:path h="2446020">
                  <a:moveTo>
                    <a:pt x="0" y="24459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9439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844" y="485786"/>
            <a:ext cx="4357370" cy="6445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Object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Recognition</a:t>
            </a:r>
            <a:endParaRPr sz="12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320"/>
              </a:spcBef>
            </a:pPr>
            <a:r>
              <a:rPr sz="1100" spc="-40" dirty="0">
                <a:latin typeface="Microsoft Sans Serif"/>
                <a:cs typeface="Microsoft Sans Serif"/>
              </a:rPr>
              <a:t>Recognition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</a:rPr>
              <a:t>process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that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75" dirty="0">
                <a:latin typeface="Microsoft Sans Serif"/>
                <a:cs typeface="Microsoft Sans Serif"/>
              </a:rPr>
              <a:t>assigns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label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(e.g.,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”vehicle”)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 </a:t>
            </a:r>
            <a:r>
              <a:rPr sz="1100" spc="-20" dirty="0">
                <a:latin typeface="Microsoft Sans Serif"/>
                <a:cs typeface="Microsoft Sans Serif"/>
              </a:rPr>
              <a:t>object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spc="-85" dirty="0">
                <a:latin typeface="Microsoft Sans Serif"/>
                <a:cs typeface="Microsoft Sans Serif"/>
              </a:rPr>
              <a:t>based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its </a:t>
            </a:r>
            <a:r>
              <a:rPr sz="1100" spc="-10" dirty="0">
                <a:latin typeface="Microsoft Sans Serif"/>
                <a:cs typeface="Microsoft Sans Serif"/>
              </a:rPr>
              <a:t>descriptors.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1270" y="1280728"/>
            <a:ext cx="2165466" cy="1792913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Referred </a:t>
            </a:r>
            <a:r>
              <a:rPr spc="-20" dirty="0"/>
              <a:t>Books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3964" y="522216"/>
            <a:ext cx="106680" cy="144780"/>
            <a:chOff x="173964" y="522216"/>
            <a:chExt cx="106680" cy="144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524756"/>
              <a:ext cx="101219" cy="1391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504" y="524756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156" y="543735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809" y="56271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9156" y="594344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591179"/>
              <a:ext cx="31635" cy="442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3440" y="644953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2419" y="5247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2249" y="497310"/>
            <a:ext cx="2092325" cy="134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900" spc="-30" dirty="0">
                <a:solidFill>
                  <a:srgbClr val="3333B2"/>
                </a:solidFill>
                <a:latin typeface="Arial MT"/>
                <a:cs typeface="Arial MT"/>
              </a:rPr>
              <a:t>Rafael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C.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3333B2"/>
                </a:solidFill>
                <a:latin typeface="Arial MT"/>
                <a:cs typeface="Arial MT"/>
              </a:rPr>
              <a:t>Gonzalez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and </a:t>
            </a:r>
            <a:r>
              <a:rPr sz="900" spc="-20" dirty="0">
                <a:solidFill>
                  <a:srgbClr val="3333B2"/>
                </a:solidFill>
                <a:latin typeface="Arial MT"/>
                <a:cs typeface="Arial MT"/>
              </a:rPr>
              <a:t>Richard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E.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 MT"/>
                <a:cs typeface="Arial MT"/>
              </a:rPr>
              <a:t>Woods </a:t>
            </a:r>
            <a:r>
              <a:rPr sz="900" dirty="0">
                <a:latin typeface="Arial MT"/>
                <a:cs typeface="Arial MT"/>
              </a:rPr>
              <a:t>Digital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Image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Processing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i="1" dirty="0">
                <a:solidFill>
                  <a:srgbClr val="7A7ACD"/>
                </a:solidFill>
                <a:latin typeface="Arial"/>
                <a:cs typeface="Arial"/>
              </a:rPr>
              <a:t>Third</a:t>
            </a:r>
            <a:r>
              <a:rPr sz="900" i="1" spc="114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7A7ACD"/>
                </a:solidFill>
                <a:latin typeface="Arial"/>
                <a:cs typeface="Arial"/>
              </a:rPr>
              <a:t>Edition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William</a:t>
            </a:r>
            <a:r>
              <a:rPr sz="900" spc="7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K.</a:t>
            </a:r>
            <a:r>
              <a:rPr sz="900" spc="7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Pratt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Arial MT"/>
                <a:cs typeface="Arial MT"/>
              </a:rPr>
              <a:t>Digital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Image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Processing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i="1" dirty="0">
                <a:solidFill>
                  <a:srgbClr val="7A7ACD"/>
                </a:solidFill>
                <a:latin typeface="Arial"/>
                <a:cs typeface="Arial"/>
              </a:rPr>
              <a:t>Third</a:t>
            </a:r>
            <a:r>
              <a:rPr sz="900" i="1" spc="114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7A7ACD"/>
                </a:solidFill>
                <a:latin typeface="Arial"/>
                <a:cs typeface="Arial"/>
              </a:rPr>
              <a:t>Edition</a:t>
            </a:r>
            <a:endParaRPr sz="900">
              <a:latin typeface="Arial"/>
              <a:cs typeface="Arial"/>
            </a:endParaRPr>
          </a:p>
          <a:p>
            <a:pPr marL="12700" marR="857885">
              <a:lnSpc>
                <a:spcPct val="114999"/>
              </a:lnSpc>
              <a:spcBef>
                <a:spcPts val="240"/>
              </a:spcBef>
            </a:pP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Kenneth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R.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Castleman </a:t>
            </a:r>
            <a:r>
              <a:rPr sz="900" dirty="0">
                <a:latin typeface="Arial MT"/>
                <a:cs typeface="Arial MT"/>
              </a:rPr>
              <a:t>Digital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Image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3964" y="1025847"/>
            <a:ext cx="106680" cy="144780"/>
            <a:chOff x="173964" y="1025847"/>
            <a:chExt cx="106680" cy="14478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1028387"/>
              <a:ext cx="101219" cy="1391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6504" y="102838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156" y="104736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1809" y="106634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156" y="109797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1094811"/>
              <a:ext cx="31635" cy="4428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3440" y="114858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2419" y="102838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73964" y="1529491"/>
            <a:ext cx="106680" cy="144780"/>
            <a:chOff x="173964" y="1529491"/>
            <a:chExt cx="106680" cy="14478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04" y="1532031"/>
              <a:ext cx="101219" cy="13917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76504" y="1532031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9156" y="155101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1809" y="156998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9156" y="1601619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440" y="1598454"/>
              <a:ext cx="31635" cy="4428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3440" y="165222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2419" y="15320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4709" y="1955954"/>
            <a:ext cx="2598586" cy="1228558"/>
          </a:xfrm>
          <a:prstGeom prst="rect">
            <a:avLst/>
          </a:prstGeom>
        </p:spPr>
      </p:pic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084870" y="3351784"/>
            <a:ext cx="43815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spc="-5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2018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8569" y="1218538"/>
            <a:ext cx="109156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45" dirty="0">
                <a:solidFill>
                  <a:srgbClr val="000000"/>
                </a:solidFill>
              </a:rPr>
              <a:t>The</a:t>
            </a:r>
            <a:r>
              <a:rPr sz="2450" spc="-145" dirty="0">
                <a:solidFill>
                  <a:srgbClr val="000000"/>
                </a:solidFill>
              </a:rPr>
              <a:t> </a:t>
            </a:r>
            <a:r>
              <a:rPr sz="2450" spc="-75" dirty="0">
                <a:solidFill>
                  <a:srgbClr val="000000"/>
                </a:solidFill>
              </a:rPr>
              <a:t>End</a:t>
            </a:r>
            <a:endParaRPr sz="245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1152</Words>
  <Application>Microsoft Office PowerPoint</Application>
  <PresentationFormat>Custom</PresentationFormat>
  <Paragraphs>194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MT</vt:lpstr>
      <vt:lpstr>Calibri</vt:lpstr>
      <vt:lpstr>Cambria</vt:lpstr>
      <vt:lpstr>Century Schoolbook</vt:lpstr>
      <vt:lpstr>Microsoft Sans Serif</vt:lpstr>
      <vt:lpstr>Tahoma</vt:lpstr>
      <vt:lpstr>Times New Roman</vt:lpstr>
      <vt:lpstr>Trebuchet MS</vt:lpstr>
      <vt:lpstr>Wingdings</vt:lpstr>
      <vt:lpstr>Office Theme</vt:lpstr>
      <vt:lpstr>CS- Computer Vision</vt:lpstr>
      <vt:lpstr>Overview</vt:lpstr>
      <vt:lpstr>PowerPoint Presentation</vt:lpstr>
      <vt:lpstr>Digital Image</vt:lpstr>
      <vt:lpstr>PowerPoint Presentation</vt:lpstr>
      <vt:lpstr>Digital Image Processing</vt:lpstr>
      <vt:lpstr>Digital Image Processing</vt:lpstr>
      <vt:lpstr>PowerPoint Presentation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Referred Books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Fundamentals - Introduction</dc:title>
  <dc:creator>Rizoan Toufiq</dc:creator>
  <cp:lastModifiedBy>anwar khan</cp:lastModifiedBy>
  <cp:revision>27</cp:revision>
  <dcterms:created xsi:type="dcterms:W3CDTF">2025-10-12T03:47:55Z</dcterms:created>
  <dcterms:modified xsi:type="dcterms:W3CDTF">2025-10-21T07:22:23Z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2025-10-12T00:00:00Z</vt:filetime>
  </property>
  <property fmtid="{D5CDD505-2E9C-101B-9397-08002B2CF9AE}" pid="5" name="PTEX.Fullbanner">
    <vt:lpwstr>This is MiKTeX-pdfTeX 2.9.6642 (1.40.19)</vt:lpwstr>
  </property>
  <property fmtid="{D5CDD505-2E9C-101B-9397-08002B2CF9AE}" pid="6" name="Producer">
    <vt:lpwstr>pdfTeX-1.40.19</vt:lpwstr>
  </property>
</Properties>
</file>