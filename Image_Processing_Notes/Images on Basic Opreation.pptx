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84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5" dirty="0"/>
              <a:t>92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5" dirty="0"/>
              <a:t>92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5" dirty="0"/>
              <a:t>92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5" dirty="0"/>
              <a:t>92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5" dirty="0"/>
              <a:t>92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290" y="129794"/>
            <a:ext cx="5189220" cy="519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04488" y="3128823"/>
            <a:ext cx="773429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17665" y="3128823"/>
            <a:ext cx="2821305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5" dirty="0"/>
              <a:t>92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" Target="slide2.xml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" Target="slide2.xml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3.jpg"/><Relationship Id="rId10" Type="http://schemas.openxmlformats.org/officeDocument/2006/relationships/image" Target="../media/image21.png"/><Relationship Id="rId4" Type="http://schemas.openxmlformats.org/officeDocument/2006/relationships/image" Target="../media/image12.jp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</a:rPr>
              <a:t>Crop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crop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color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7294" y="667478"/>
            <a:ext cx="50603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Exercise:</a:t>
            </a:r>
            <a:r>
              <a:rPr sz="1000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What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changes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required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lang="en-US" sz="1000" spc="30" dirty="0">
                <a:latin typeface="Georgia"/>
                <a:cs typeface="Georgia"/>
              </a:rPr>
              <a:t> Python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code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(previous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slide)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achieve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result.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115" y="1051940"/>
            <a:ext cx="4809172" cy="1692116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46" name="object 4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xfrm>
            <a:off x="3804488" y="3143651"/>
            <a:ext cx="773429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9191" y="1673377"/>
            <a:ext cx="1614170" cy="226060"/>
          </a:xfrm>
          <a:custGeom>
            <a:avLst/>
            <a:gdLst/>
            <a:ahLst/>
            <a:cxnLst/>
            <a:rect l="l" t="t" r="r" b="b"/>
            <a:pathLst>
              <a:path w="1614170" h="226060">
                <a:moveTo>
                  <a:pt x="1613636" y="44437"/>
                </a:moveTo>
                <a:lnTo>
                  <a:pt x="1612341" y="44437"/>
                </a:lnTo>
                <a:lnTo>
                  <a:pt x="1609636" y="31076"/>
                </a:lnTo>
                <a:lnTo>
                  <a:pt x="1598714" y="14922"/>
                </a:lnTo>
                <a:lnTo>
                  <a:pt x="1582559" y="4013"/>
                </a:lnTo>
                <a:lnTo>
                  <a:pt x="1562836" y="0"/>
                </a:lnTo>
                <a:lnTo>
                  <a:pt x="50800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75120"/>
                </a:lnTo>
                <a:lnTo>
                  <a:pt x="4013" y="194856"/>
                </a:lnTo>
                <a:lnTo>
                  <a:pt x="14922" y="211010"/>
                </a:lnTo>
                <a:lnTo>
                  <a:pt x="31076" y="221919"/>
                </a:lnTo>
                <a:lnTo>
                  <a:pt x="50800" y="225933"/>
                </a:lnTo>
                <a:lnTo>
                  <a:pt x="1562836" y="225933"/>
                </a:lnTo>
                <a:lnTo>
                  <a:pt x="1582559" y="221919"/>
                </a:lnTo>
                <a:lnTo>
                  <a:pt x="1598714" y="211010"/>
                </a:lnTo>
                <a:lnTo>
                  <a:pt x="1609636" y="194856"/>
                </a:lnTo>
                <a:lnTo>
                  <a:pt x="1613636" y="175120"/>
                </a:lnTo>
                <a:lnTo>
                  <a:pt x="1613636" y="82384"/>
                </a:lnTo>
                <a:lnTo>
                  <a:pt x="1613636" y="50800"/>
                </a:lnTo>
                <a:lnTo>
                  <a:pt x="1613636" y="44437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27304" y="1691035"/>
            <a:ext cx="957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Original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7814" y="638454"/>
            <a:ext cx="3291840" cy="2194560"/>
          </a:xfrm>
          <a:prstGeom prst="rect">
            <a:avLst/>
          </a:prstGeom>
        </p:spPr>
      </p:pic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xfrm>
            <a:off x="3804488" y="3143651"/>
            <a:ext cx="773429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31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9191" y="1673377"/>
            <a:ext cx="1614170" cy="226060"/>
          </a:xfrm>
          <a:custGeom>
            <a:avLst/>
            <a:gdLst/>
            <a:ahLst/>
            <a:cxnLst/>
            <a:rect l="l" t="t" r="r" b="b"/>
            <a:pathLst>
              <a:path w="1614170" h="226060">
                <a:moveTo>
                  <a:pt x="1613636" y="44437"/>
                </a:moveTo>
                <a:lnTo>
                  <a:pt x="1612341" y="44437"/>
                </a:lnTo>
                <a:lnTo>
                  <a:pt x="1609636" y="31076"/>
                </a:lnTo>
                <a:lnTo>
                  <a:pt x="1598714" y="14922"/>
                </a:lnTo>
                <a:lnTo>
                  <a:pt x="1582559" y="4013"/>
                </a:lnTo>
                <a:lnTo>
                  <a:pt x="1562836" y="0"/>
                </a:lnTo>
                <a:lnTo>
                  <a:pt x="50800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75120"/>
                </a:lnTo>
                <a:lnTo>
                  <a:pt x="4013" y="194856"/>
                </a:lnTo>
                <a:lnTo>
                  <a:pt x="14922" y="211010"/>
                </a:lnTo>
                <a:lnTo>
                  <a:pt x="31076" y="221919"/>
                </a:lnTo>
                <a:lnTo>
                  <a:pt x="50800" y="225933"/>
                </a:lnTo>
                <a:lnTo>
                  <a:pt x="1562836" y="225933"/>
                </a:lnTo>
                <a:lnTo>
                  <a:pt x="1582559" y="221919"/>
                </a:lnTo>
                <a:lnTo>
                  <a:pt x="1598714" y="211010"/>
                </a:lnTo>
                <a:lnTo>
                  <a:pt x="1609636" y="194856"/>
                </a:lnTo>
                <a:lnTo>
                  <a:pt x="1613636" y="175120"/>
                </a:lnTo>
                <a:lnTo>
                  <a:pt x="1613636" y="82384"/>
                </a:lnTo>
                <a:lnTo>
                  <a:pt x="1613636" y="50800"/>
                </a:lnTo>
                <a:lnTo>
                  <a:pt x="1613636" y="44437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27304" y="1691035"/>
            <a:ext cx="957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Original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2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8908" y="638454"/>
            <a:ext cx="3291840" cy="2194560"/>
          </a:xfrm>
          <a:prstGeom prst="rect">
            <a:avLst/>
          </a:prstGeom>
        </p:spPr>
      </p:pic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31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89203" y="903287"/>
            <a:ext cx="1614170" cy="1793239"/>
            <a:chOff x="189203" y="903287"/>
            <a:chExt cx="1614170" cy="1793239"/>
          </a:xfrm>
        </p:grpSpPr>
        <p:sp>
          <p:nvSpPr>
            <p:cNvPr id="44" name="object 44"/>
            <p:cNvSpPr/>
            <p:nvPr/>
          </p:nvSpPr>
          <p:spPr>
            <a:xfrm>
              <a:off x="189203" y="903287"/>
              <a:ext cx="1614170" cy="175260"/>
            </a:xfrm>
            <a:custGeom>
              <a:avLst/>
              <a:gdLst/>
              <a:ahLst/>
              <a:cxnLst/>
              <a:rect l="l" t="t" r="r" b="b"/>
              <a:pathLst>
                <a:path w="1614170" h="175259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1613635" y="175169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203" y="1065809"/>
              <a:ext cx="1613635" cy="5060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9203" y="1110072"/>
              <a:ext cx="1614170" cy="1586230"/>
            </a:xfrm>
            <a:custGeom>
              <a:avLst/>
              <a:gdLst/>
              <a:ahLst/>
              <a:cxnLst/>
              <a:rect l="l" t="t" r="r" b="b"/>
              <a:pathLst>
                <a:path w="1614170" h="1586230">
                  <a:moveTo>
                    <a:pt x="1613635" y="0"/>
                  </a:moveTo>
                  <a:lnTo>
                    <a:pt x="0" y="0"/>
                  </a:lnTo>
                  <a:lnTo>
                    <a:pt x="0" y="1535146"/>
                  </a:lnTo>
                  <a:lnTo>
                    <a:pt x="4008" y="1554871"/>
                  </a:lnTo>
                  <a:lnTo>
                    <a:pt x="14922" y="1571024"/>
                  </a:lnTo>
                  <a:lnTo>
                    <a:pt x="31075" y="1581938"/>
                  </a:lnTo>
                  <a:lnTo>
                    <a:pt x="50800" y="1585947"/>
                  </a:lnTo>
                  <a:lnTo>
                    <a:pt x="1562835" y="1585947"/>
                  </a:lnTo>
                  <a:lnTo>
                    <a:pt x="1582560" y="1581938"/>
                  </a:lnTo>
                  <a:lnTo>
                    <a:pt x="1598713" y="1571024"/>
                  </a:lnTo>
                  <a:lnTo>
                    <a:pt x="1609627" y="1554871"/>
                  </a:lnTo>
                  <a:lnTo>
                    <a:pt x="1613635" y="1535146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046" y="1162278"/>
              <a:ext cx="57746" cy="5774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046" y="2414879"/>
              <a:ext cx="57746" cy="5774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27304" y="847147"/>
            <a:ext cx="1515745" cy="18180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25" dirty="0">
                <a:solidFill>
                  <a:srgbClr val="FFFFFF"/>
                </a:solidFill>
                <a:latin typeface="Georgia"/>
                <a:cs typeface="Georgia"/>
              </a:rPr>
              <a:t>Summed</a:t>
            </a:r>
            <a:r>
              <a:rPr sz="10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endParaRPr sz="100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30"/>
              </a:spcBef>
            </a:pPr>
            <a:r>
              <a:rPr sz="1000" spc="-10" dirty="0">
                <a:latin typeface="Georgia"/>
                <a:cs typeface="Georgia"/>
              </a:rPr>
              <a:t>Before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summing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make </a:t>
            </a:r>
            <a:r>
              <a:rPr sz="1000" spc="-10" dirty="0">
                <a:latin typeface="Georgia"/>
                <a:cs typeface="Georgia"/>
              </a:rPr>
              <a:t>sure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size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images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 </a:t>
            </a:r>
            <a:r>
              <a:rPr sz="1000" spc="-10" dirty="0">
                <a:latin typeface="Georgia"/>
                <a:cs typeface="Georgia"/>
              </a:rPr>
              <a:t>same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addition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 element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by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element operation </a:t>
            </a:r>
            <a:r>
              <a:rPr sz="1000" spc="-30" dirty="0">
                <a:latin typeface="Georgia"/>
                <a:cs typeface="Georgia"/>
              </a:rPr>
              <a:t>(corresponding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pixels values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 </a:t>
            </a:r>
            <a:r>
              <a:rPr sz="1000" spc="-10" dirty="0">
                <a:latin typeface="Georgia"/>
                <a:cs typeface="Georgia"/>
              </a:rPr>
              <a:t>added together).</a:t>
            </a:r>
            <a:endParaRPr sz="1000">
              <a:latin typeface="Georgia"/>
              <a:cs typeface="Georgia"/>
            </a:endParaRPr>
          </a:p>
          <a:p>
            <a:pPr marL="265430" marR="204470">
              <a:lnSpc>
                <a:spcPct val="100000"/>
              </a:lnSpc>
              <a:spcBef>
                <a:spcPts val="260"/>
              </a:spcBef>
            </a:pPr>
            <a:r>
              <a:rPr sz="1000" spc="-10" dirty="0">
                <a:latin typeface="Georgia"/>
                <a:cs typeface="Georgia"/>
              </a:rPr>
              <a:t>Resultant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is washed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out.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Why?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2905" y="688112"/>
            <a:ext cx="3370992" cy="2247328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xfrm>
            <a:off x="3804488" y="3143651"/>
            <a:ext cx="773429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31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:</a:t>
            </a:r>
            <a:r>
              <a:rPr sz="9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Matlab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024" y="845216"/>
            <a:ext cx="2510313" cy="167354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3048990" y="992724"/>
            <a:ext cx="68580" cy="2660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500" spc="75" dirty="0">
                <a:solidFill>
                  <a:srgbClr val="7F7F7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500" spc="10" dirty="0">
                <a:solidFill>
                  <a:srgbClr val="7F7F7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48990" y="1397593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7F7F7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48990" y="1593700"/>
            <a:ext cx="68580" cy="6267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500" spc="-50" dirty="0">
                <a:solidFill>
                  <a:srgbClr val="7F7F7F"/>
                </a:solidFill>
                <a:latin typeface="Georgia"/>
                <a:cs typeface="Georgia"/>
              </a:rPr>
              <a:t>4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500" spc="25" dirty="0">
                <a:solidFill>
                  <a:srgbClr val="7F7F7F"/>
                </a:solidFill>
                <a:latin typeface="Georgia"/>
                <a:cs typeface="Georgia"/>
              </a:rPr>
              <a:t>5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500" spc="-50" dirty="0">
                <a:solidFill>
                  <a:srgbClr val="7F7F7F"/>
                </a:solidFill>
                <a:latin typeface="Georgia"/>
                <a:cs typeface="Georgia"/>
              </a:rPr>
              <a:t>6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500" spc="35" dirty="0">
                <a:solidFill>
                  <a:srgbClr val="7F7F7F"/>
                </a:solidFill>
                <a:latin typeface="Georgia"/>
                <a:cs typeface="Georgia"/>
              </a:rPr>
              <a:t>7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500" spc="-50" dirty="0">
                <a:solidFill>
                  <a:srgbClr val="7F7F7F"/>
                </a:solidFill>
                <a:latin typeface="Georgia"/>
                <a:cs typeface="Georgia"/>
              </a:rPr>
              <a:t>8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155314" y="2283274"/>
            <a:ext cx="1506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Why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image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Georgia"/>
                <a:cs typeface="Georgia"/>
              </a:rPr>
              <a:t>washed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out?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xfrm>
            <a:off x="317665" y="3143651"/>
            <a:ext cx="282130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32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:</a:t>
            </a:r>
            <a:r>
              <a:rPr sz="9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Matlab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024" y="845216"/>
            <a:ext cx="2510313" cy="167354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0057" y="1147229"/>
            <a:ext cx="57746" cy="5774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0057" y="1488846"/>
            <a:ext cx="57746" cy="5774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3408362" y="1068278"/>
            <a:ext cx="1556385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Area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images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 </a:t>
            </a:r>
            <a:r>
              <a:rPr sz="1000" dirty="0">
                <a:latin typeface="Georgia"/>
                <a:cs typeface="Georgia"/>
              </a:rPr>
              <a:t>bright gets </a:t>
            </a:r>
            <a:r>
              <a:rPr sz="1000" spc="-20" dirty="0">
                <a:latin typeface="Georgia"/>
                <a:cs typeface="Georgia"/>
              </a:rPr>
              <a:t>more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brighter.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Scale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intensities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(try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027398" y="1669313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31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014698" y="1643319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82962" y="1561724"/>
            <a:ext cx="1543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scaling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by</a:t>
            </a:r>
            <a:r>
              <a:rPr sz="1000" spc="145" dirty="0">
                <a:latin typeface="Georgia"/>
                <a:cs typeface="Georgia"/>
              </a:rPr>
              <a:t> </a:t>
            </a:r>
            <a:r>
              <a:rPr sz="1050" spc="142" baseline="31746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50" spc="35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before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adding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408362" y="1713552"/>
            <a:ext cx="1637030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images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order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have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max. </a:t>
            </a:r>
            <a:r>
              <a:rPr sz="1000" spc="-10" dirty="0">
                <a:latin typeface="Georgia"/>
                <a:cs typeface="Georgia"/>
              </a:rPr>
              <a:t>255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resultant).</a:t>
            </a:r>
            <a:endParaRPr sz="1000">
              <a:latin typeface="Georgia"/>
              <a:cs typeface="Georgia"/>
            </a:endParaRPr>
          </a:p>
          <a:p>
            <a:pPr marL="12700" marR="130175">
              <a:lnSpc>
                <a:spcPct val="100000"/>
              </a:lnSpc>
              <a:spcBef>
                <a:spcPts val="290"/>
              </a:spcBef>
            </a:pP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Exercise:</a:t>
            </a:r>
            <a:r>
              <a:rPr sz="1000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Try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get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better results!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0057" y="2134120"/>
            <a:ext cx="57746" cy="5774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32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:</a:t>
            </a:r>
            <a:r>
              <a:rPr sz="9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Details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595" y="605148"/>
            <a:ext cx="2223420" cy="148228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3254" y="578218"/>
            <a:ext cx="2295144" cy="153009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063" y="2271814"/>
            <a:ext cx="57746" cy="5774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793457" y="2136424"/>
            <a:ext cx="1005840" cy="26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145"/>
              </a:lnSpc>
              <a:spcBef>
                <a:spcPts val="95"/>
              </a:spcBef>
            </a:pPr>
            <a:r>
              <a:rPr sz="700" i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8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700" spc="405" dirty="0">
                <a:latin typeface="Georgia"/>
                <a:cs typeface="Georgia"/>
              </a:rPr>
              <a:t> </a:t>
            </a:r>
            <a:r>
              <a:rPr sz="1500" spc="195" baseline="-25000" dirty="0">
                <a:latin typeface="Georgia"/>
                <a:cs typeface="Georgia"/>
              </a:rPr>
              <a:t>+</a:t>
            </a:r>
            <a:r>
              <a:rPr sz="1500" spc="472" baseline="-25000" dirty="0">
                <a:latin typeface="Georgia"/>
                <a:cs typeface="Georgia"/>
              </a:rPr>
              <a:t> </a:t>
            </a:r>
            <a:r>
              <a:rPr sz="700" i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6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191135">
              <a:lnSpc>
                <a:spcPts val="785"/>
              </a:lnSpc>
              <a:tabLst>
                <a:tab pos="763905" algn="l"/>
              </a:tabLst>
            </a:pPr>
            <a:r>
              <a:rPr sz="700" spc="-50" dirty="0">
                <a:latin typeface="Georgia"/>
                <a:cs typeface="Georgia"/>
              </a:rPr>
              <a:t>2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0057" y="2271814"/>
            <a:ext cx="57746" cy="5774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3423539" y="2174382"/>
            <a:ext cx="766445" cy="2317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7505" marR="5080" indent="-345440">
              <a:lnSpc>
                <a:spcPts val="790"/>
              </a:lnSpc>
              <a:spcBef>
                <a:spcPts val="165"/>
              </a:spcBef>
            </a:pPr>
            <a:r>
              <a:rPr sz="700" i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7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1+</a:t>
            </a:r>
            <a:r>
              <a:rPr sz="700" i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7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sz="700" spc="7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09193" y="2476982"/>
            <a:ext cx="5142230" cy="425450"/>
            <a:chOff x="309193" y="2476982"/>
            <a:chExt cx="5142230" cy="425450"/>
          </a:xfrm>
        </p:grpSpPr>
        <p:sp>
          <p:nvSpPr>
            <p:cNvPr id="49" name="object 49"/>
            <p:cNvSpPr/>
            <p:nvPr/>
          </p:nvSpPr>
          <p:spPr>
            <a:xfrm>
              <a:off x="309193" y="2476982"/>
              <a:ext cx="5142230" cy="169545"/>
            </a:xfrm>
            <a:custGeom>
              <a:avLst/>
              <a:gdLst/>
              <a:ahLst/>
              <a:cxnLst/>
              <a:rect l="l" t="t" r="r" b="b"/>
              <a:pathLst>
                <a:path w="5142230" h="169544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9546"/>
                  </a:lnTo>
                  <a:lnTo>
                    <a:pt x="5141666" y="169546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3" y="2633878"/>
              <a:ext cx="5141666" cy="5060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09193" y="2678157"/>
              <a:ext cx="5142230" cy="224154"/>
            </a:xfrm>
            <a:custGeom>
              <a:avLst/>
              <a:gdLst/>
              <a:ahLst/>
              <a:cxnLst/>
              <a:rect l="l" t="t" r="r" b="b"/>
              <a:pathLst>
                <a:path w="5142230" h="224155">
                  <a:moveTo>
                    <a:pt x="5141666" y="0"/>
                  </a:moveTo>
                  <a:lnTo>
                    <a:pt x="0" y="0"/>
                  </a:lnTo>
                  <a:lnTo>
                    <a:pt x="0" y="172903"/>
                  </a:lnTo>
                  <a:lnTo>
                    <a:pt x="4008" y="192628"/>
                  </a:lnTo>
                  <a:lnTo>
                    <a:pt x="14922" y="208781"/>
                  </a:lnTo>
                  <a:lnTo>
                    <a:pt x="31075" y="219695"/>
                  </a:lnTo>
                  <a:lnTo>
                    <a:pt x="50800" y="223703"/>
                  </a:lnTo>
                  <a:lnTo>
                    <a:pt x="5090865" y="223703"/>
                  </a:lnTo>
                  <a:lnTo>
                    <a:pt x="5110590" y="219695"/>
                  </a:lnTo>
                  <a:lnTo>
                    <a:pt x="5126743" y="208781"/>
                  </a:lnTo>
                  <a:lnTo>
                    <a:pt x="5137657" y="192628"/>
                  </a:lnTo>
                  <a:lnTo>
                    <a:pt x="5141666" y="17290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21894" y="2403291"/>
            <a:ext cx="2710180" cy="44894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65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Reason</a:t>
            </a:r>
            <a:endParaRPr sz="10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1000" dirty="0">
                <a:latin typeface="Georgia"/>
                <a:cs typeface="Georgia"/>
              </a:rPr>
              <a:t>Why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result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different,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although</a:t>
            </a:r>
            <a:r>
              <a:rPr sz="1000" spc="155" dirty="0">
                <a:latin typeface="Georgia"/>
                <a:cs typeface="Georgia"/>
              </a:rPr>
              <a:t> </a:t>
            </a:r>
            <a:r>
              <a:rPr sz="1050" i="1" u="sng" spc="292" baseline="3174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050" i="1" spc="217" baseline="31746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50" i="1" u="sng" spc="337" baseline="3174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</a:t>
            </a:r>
            <a:r>
              <a:rPr sz="1050" i="1" spc="345" baseline="31746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50" i="1" u="sng" spc="247" baseline="3174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050" u="sng" spc="247" baseline="31746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</a:t>
            </a:r>
            <a:r>
              <a:rPr sz="1050" i="1" u="sng" spc="247" baseline="3174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</a:t>
            </a:r>
            <a:endParaRPr sz="1050" baseline="31746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22588" y="2756169"/>
            <a:ext cx="6959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5590" algn="l"/>
                <a:tab pos="632460" algn="l"/>
              </a:tabLst>
            </a:pPr>
            <a:r>
              <a:rPr sz="700" spc="-50" dirty="0">
                <a:latin typeface="Georgia"/>
                <a:cs typeface="Georgia"/>
              </a:rPr>
              <a:t>2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-50" dirty="0">
                <a:latin typeface="Georgia"/>
                <a:cs typeface="Georgia"/>
              </a:rPr>
              <a:t>2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33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Addition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Addition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:</a:t>
            </a:r>
            <a:r>
              <a:rPr sz="9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Details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595" y="520426"/>
            <a:ext cx="2223420" cy="148228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3254" y="493496"/>
            <a:ext cx="2295144" cy="153009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063" y="2187092"/>
            <a:ext cx="57746" cy="5774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793457" y="2051702"/>
            <a:ext cx="1005840" cy="26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145"/>
              </a:lnSpc>
              <a:spcBef>
                <a:spcPts val="95"/>
              </a:spcBef>
            </a:pPr>
            <a:r>
              <a:rPr sz="700" i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8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700" spc="405" dirty="0">
                <a:latin typeface="Georgia"/>
                <a:cs typeface="Georgia"/>
              </a:rPr>
              <a:t> </a:t>
            </a:r>
            <a:r>
              <a:rPr sz="1500" spc="195" baseline="-25000" dirty="0">
                <a:latin typeface="Georgia"/>
                <a:cs typeface="Georgia"/>
              </a:rPr>
              <a:t>+</a:t>
            </a:r>
            <a:r>
              <a:rPr sz="1500" spc="472" baseline="-25000" dirty="0">
                <a:latin typeface="Georgia"/>
                <a:cs typeface="Georgia"/>
              </a:rPr>
              <a:t> </a:t>
            </a:r>
            <a:r>
              <a:rPr sz="700" i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6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191135">
              <a:lnSpc>
                <a:spcPts val="785"/>
              </a:lnSpc>
              <a:tabLst>
                <a:tab pos="763905" algn="l"/>
              </a:tabLst>
            </a:pPr>
            <a:r>
              <a:rPr sz="700" spc="-50" dirty="0">
                <a:latin typeface="Georgia"/>
                <a:cs typeface="Georgia"/>
              </a:rPr>
              <a:t>2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0057" y="2187092"/>
            <a:ext cx="57746" cy="5774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3423539" y="2089660"/>
            <a:ext cx="766445" cy="2317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7505" marR="5080" indent="-345440">
              <a:lnSpc>
                <a:spcPts val="790"/>
              </a:lnSpc>
              <a:spcBef>
                <a:spcPts val="165"/>
              </a:spcBef>
            </a:pPr>
            <a:r>
              <a:rPr sz="700" i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7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1+</a:t>
            </a:r>
            <a:r>
              <a:rPr sz="700" i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</a:t>
            </a:r>
            <a:r>
              <a:rPr sz="700" u="sng" spc="7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sz="700" spc="7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09193" y="2392273"/>
            <a:ext cx="5142230" cy="636905"/>
            <a:chOff x="309193" y="2392273"/>
            <a:chExt cx="5142230" cy="636905"/>
          </a:xfrm>
        </p:grpSpPr>
        <p:sp>
          <p:nvSpPr>
            <p:cNvPr id="49" name="object 49"/>
            <p:cNvSpPr/>
            <p:nvPr/>
          </p:nvSpPr>
          <p:spPr>
            <a:xfrm>
              <a:off x="309193" y="2392273"/>
              <a:ext cx="5142230" cy="143510"/>
            </a:xfrm>
            <a:custGeom>
              <a:avLst/>
              <a:gdLst/>
              <a:ahLst/>
              <a:cxnLst/>
              <a:rect l="l" t="t" r="r" b="b"/>
              <a:pathLst>
                <a:path w="5142230" h="14351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43398"/>
                  </a:lnTo>
                  <a:lnTo>
                    <a:pt x="5141666" y="143398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3" y="2523020"/>
              <a:ext cx="5141666" cy="5060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09193" y="2567290"/>
              <a:ext cx="5142230" cy="461645"/>
            </a:xfrm>
            <a:custGeom>
              <a:avLst/>
              <a:gdLst/>
              <a:ahLst/>
              <a:cxnLst/>
              <a:rect l="l" t="t" r="r" b="b"/>
              <a:pathLst>
                <a:path w="5142230" h="461644">
                  <a:moveTo>
                    <a:pt x="5141666" y="0"/>
                  </a:moveTo>
                  <a:lnTo>
                    <a:pt x="0" y="0"/>
                  </a:lnTo>
                  <a:lnTo>
                    <a:pt x="0" y="410846"/>
                  </a:lnTo>
                  <a:lnTo>
                    <a:pt x="4008" y="430571"/>
                  </a:lnTo>
                  <a:lnTo>
                    <a:pt x="14922" y="446724"/>
                  </a:lnTo>
                  <a:lnTo>
                    <a:pt x="31075" y="457638"/>
                  </a:lnTo>
                  <a:lnTo>
                    <a:pt x="50800" y="461647"/>
                  </a:lnTo>
                  <a:lnTo>
                    <a:pt x="5090865" y="461647"/>
                  </a:lnTo>
                  <a:lnTo>
                    <a:pt x="5110590" y="457638"/>
                  </a:lnTo>
                  <a:lnTo>
                    <a:pt x="5126743" y="446724"/>
                  </a:lnTo>
                  <a:lnTo>
                    <a:pt x="5137657" y="430571"/>
                  </a:lnTo>
                  <a:lnTo>
                    <a:pt x="5141666" y="41084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7294" y="2334167"/>
            <a:ext cx="2250440" cy="3498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700" spc="-10" dirty="0">
                <a:solidFill>
                  <a:srgbClr val="FFFFFF"/>
                </a:solidFill>
                <a:latin typeface="Georgia"/>
                <a:cs typeface="Georgia"/>
              </a:rPr>
              <a:t>Reason</a:t>
            </a:r>
            <a:endParaRPr sz="7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700" dirty="0">
                <a:latin typeface="Georgia"/>
                <a:cs typeface="Georgia"/>
              </a:rPr>
              <a:t>Consider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two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pixel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values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to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be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added,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183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spc="110" dirty="0">
                <a:latin typeface="Georgia"/>
                <a:cs typeface="Georgia"/>
              </a:rPr>
              <a:t>&amp;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152.</a:t>
            </a:r>
            <a:endParaRPr sz="7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1124" y="2717479"/>
            <a:ext cx="101057" cy="10105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157224" y="2747310"/>
            <a:ext cx="3517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910" algn="l"/>
              </a:tabLst>
            </a:pPr>
            <a:r>
              <a:rPr sz="500" spc="10" dirty="0">
                <a:latin typeface="Georgia"/>
                <a:cs typeface="Georgia"/>
              </a:rPr>
              <a:t>2</a:t>
            </a:r>
            <a:r>
              <a:rPr sz="500" dirty="0">
                <a:latin typeface="Georgia"/>
                <a:cs typeface="Georgia"/>
              </a:rPr>
              <a:t>	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2018" y="2691526"/>
            <a:ext cx="14274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67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Method</a:t>
            </a:r>
            <a:r>
              <a:rPr sz="700" spc="15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1:</a:t>
            </a:r>
            <a:r>
              <a:rPr sz="700" spc="3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50" u="sng" spc="104" baseline="27777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183</a:t>
            </a:r>
            <a:r>
              <a:rPr sz="750" spc="337" baseline="27777" dirty="0">
                <a:latin typeface="Georgia"/>
                <a:cs typeface="Georgia"/>
              </a:rPr>
              <a:t> </a:t>
            </a:r>
            <a:r>
              <a:rPr sz="700" spc="155" dirty="0">
                <a:latin typeface="Georgia"/>
                <a:cs typeface="Georgia"/>
              </a:rPr>
              <a:t>+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50" u="sng" spc="120" baseline="27777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152</a:t>
            </a:r>
            <a:r>
              <a:rPr sz="750" spc="419" baseline="27777" dirty="0">
                <a:latin typeface="Georgia"/>
                <a:cs typeface="Georgia"/>
              </a:rPr>
              <a:t> </a:t>
            </a:r>
            <a:r>
              <a:rPr sz="700" spc="155" dirty="0">
                <a:latin typeface="Georgia"/>
                <a:cs typeface="Georgia"/>
              </a:rPr>
              <a:t>=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168</a:t>
            </a:r>
            <a:endParaRPr sz="700">
              <a:latin typeface="Georgia"/>
              <a:cs typeface="Georgia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1124" y="2878705"/>
            <a:ext cx="101057" cy="101057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39318" y="2852765"/>
            <a:ext cx="4953635" cy="157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640"/>
              </a:lnSpc>
              <a:spcBef>
                <a:spcPts val="95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345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20" dirty="0">
                <a:solidFill>
                  <a:srgbClr val="0000FF"/>
                </a:solidFill>
                <a:latin typeface="Georgia"/>
                <a:cs typeface="Georgia"/>
              </a:rPr>
              <a:t>Method</a:t>
            </a:r>
            <a:r>
              <a:rPr sz="700" spc="1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0000FF"/>
                </a:solidFill>
                <a:latin typeface="Georgia"/>
                <a:cs typeface="Georgia"/>
              </a:rPr>
              <a:t>2:</a:t>
            </a:r>
            <a:r>
              <a:rPr sz="700" spc="36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50" u="sng" spc="135" baseline="3333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183+152</a:t>
            </a:r>
            <a:r>
              <a:rPr sz="750" spc="405" baseline="33333" dirty="0">
                <a:latin typeface="Georgia"/>
                <a:cs typeface="Georgia"/>
              </a:rPr>
              <a:t> </a:t>
            </a:r>
            <a:r>
              <a:rPr sz="700" spc="155" dirty="0">
                <a:latin typeface="Georgia"/>
                <a:cs typeface="Georgia"/>
              </a:rPr>
              <a:t>=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50" u="sng" spc="89" baseline="27777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335</a:t>
            </a:r>
            <a:r>
              <a:rPr sz="750" spc="405" baseline="27777" dirty="0">
                <a:latin typeface="Georgia"/>
                <a:cs typeface="Georgia"/>
              </a:rPr>
              <a:t> </a:t>
            </a:r>
            <a:r>
              <a:rPr sz="700" spc="155" dirty="0">
                <a:latin typeface="Georgia"/>
                <a:cs typeface="Georgia"/>
              </a:rPr>
              <a:t>=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50" u="sng" spc="97" baseline="27777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255</a:t>
            </a:r>
            <a:r>
              <a:rPr sz="750" spc="405" baseline="27777" dirty="0">
                <a:latin typeface="Georgia"/>
                <a:cs typeface="Georgia"/>
              </a:rPr>
              <a:t> </a:t>
            </a:r>
            <a:r>
              <a:rPr sz="700" spc="155" dirty="0">
                <a:latin typeface="Georgia"/>
                <a:cs typeface="Georgia"/>
              </a:rPr>
              <a:t>=</a:t>
            </a:r>
            <a:r>
              <a:rPr sz="700" spc="8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128</a:t>
            </a:r>
            <a:r>
              <a:rPr sz="700" spc="135" dirty="0"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(Anything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above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255</a:t>
            </a:r>
            <a:r>
              <a:rPr sz="700" spc="1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is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truncated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to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255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as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image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is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8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20" dirty="0">
                <a:solidFill>
                  <a:srgbClr val="EC008C"/>
                </a:solidFill>
                <a:latin typeface="Georgia"/>
                <a:cs typeface="Georgia"/>
              </a:rPr>
              <a:t>bit</a:t>
            </a:r>
            <a:r>
              <a:rPr sz="7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EC008C"/>
                </a:solidFill>
                <a:latin typeface="Georgia"/>
                <a:cs typeface="Georgia"/>
              </a:rPr>
              <a:t>(uint8))</a:t>
            </a:r>
            <a:r>
              <a:rPr sz="700" spc="-10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827405">
              <a:lnSpc>
                <a:spcPts val="400"/>
              </a:lnSpc>
              <a:tabLst>
                <a:tab pos="1219200" algn="l"/>
                <a:tab pos="1513840" algn="l"/>
              </a:tabLst>
            </a:pPr>
            <a:r>
              <a:rPr sz="500" spc="10" dirty="0">
                <a:latin typeface="Georgia"/>
                <a:cs typeface="Georgia"/>
              </a:rPr>
              <a:t>2</a:t>
            </a:r>
            <a:r>
              <a:rPr sz="500" dirty="0">
                <a:latin typeface="Georgia"/>
                <a:cs typeface="Georgia"/>
              </a:rPr>
              <a:t>	</a:t>
            </a:r>
            <a:r>
              <a:rPr sz="500" spc="10" dirty="0">
                <a:latin typeface="Georgia"/>
                <a:cs typeface="Georgia"/>
              </a:rPr>
              <a:t>2</a:t>
            </a:r>
            <a:r>
              <a:rPr sz="500" dirty="0">
                <a:latin typeface="Georgia"/>
                <a:cs typeface="Georgia"/>
              </a:rPr>
              <a:t>	</a:t>
            </a:r>
            <a:r>
              <a:rPr sz="500" spc="10" dirty="0"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33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(Average)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004" y="745439"/>
            <a:ext cx="2633472" cy="1755648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949181" y="1643354"/>
            <a:ext cx="2621915" cy="226060"/>
          </a:xfrm>
          <a:custGeom>
            <a:avLst/>
            <a:gdLst/>
            <a:ahLst/>
            <a:cxnLst/>
            <a:rect l="l" t="t" r="r" b="b"/>
            <a:pathLst>
              <a:path w="2621915" h="226060">
                <a:moveTo>
                  <a:pt x="2621635" y="44437"/>
                </a:moveTo>
                <a:lnTo>
                  <a:pt x="2620340" y="44437"/>
                </a:lnTo>
                <a:lnTo>
                  <a:pt x="2617635" y="31076"/>
                </a:lnTo>
                <a:lnTo>
                  <a:pt x="2606713" y="14922"/>
                </a:lnTo>
                <a:lnTo>
                  <a:pt x="2590558" y="4013"/>
                </a:lnTo>
                <a:lnTo>
                  <a:pt x="2570835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37"/>
                </a:lnTo>
                <a:lnTo>
                  <a:pt x="0" y="44437"/>
                </a:lnTo>
                <a:lnTo>
                  <a:pt x="0" y="50812"/>
                </a:lnTo>
                <a:lnTo>
                  <a:pt x="0" y="82384"/>
                </a:lnTo>
                <a:lnTo>
                  <a:pt x="0" y="175133"/>
                </a:lnTo>
                <a:lnTo>
                  <a:pt x="4013" y="194856"/>
                </a:lnTo>
                <a:lnTo>
                  <a:pt x="14922" y="211010"/>
                </a:lnTo>
                <a:lnTo>
                  <a:pt x="31076" y="221919"/>
                </a:lnTo>
                <a:lnTo>
                  <a:pt x="50812" y="225933"/>
                </a:lnTo>
                <a:lnTo>
                  <a:pt x="2570835" y="225933"/>
                </a:lnTo>
                <a:lnTo>
                  <a:pt x="2590558" y="221919"/>
                </a:lnTo>
                <a:lnTo>
                  <a:pt x="2606713" y="211010"/>
                </a:lnTo>
                <a:lnTo>
                  <a:pt x="2617635" y="194856"/>
                </a:lnTo>
                <a:lnTo>
                  <a:pt x="2621635" y="175133"/>
                </a:lnTo>
                <a:lnTo>
                  <a:pt x="2621635" y="82384"/>
                </a:lnTo>
                <a:lnTo>
                  <a:pt x="2621635" y="50812"/>
                </a:lnTo>
                <a:lnTo>
                  <a:pt x="2621635" y="44437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987294" y="1661025"/>
            <a:ext cx="957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Original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47" name="object 4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(Average)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0004" y="854976"/>
            <a:ext cx="5330825" cy="1501140"/>
            <a:chOff x="240004" y="854976"/>
            <a:chExt cx="5330825" cy="1501140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004" y="854976"/>
              <a:ext cx="2667000" cy="150113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949181" y="1619199"/>
              <a:ext cx="2621915" cy="226060"/>
            </a:xfrm>
            <a:custGeom>
              <a:avLst/>
              <a:gdLst/>
              <a:ahLst/>
              <a:cxnLst/>
              <a:rect l="l" t="t" r="r" b="b"/>
              <a:pathLst>
                <a:path w="2621915" h="226060">
                  <a:moveTo>
                    <a:pt x="2621635" y="44437"/>
                  </a:moveTo>
                  <a:lnTo>
                    <a:pt x="2620340" y="44437"/>
                  </a:lnTo>
                  <a:lnTo>
                    <a:pt x="2617635" y="31076"/>
                  </a:lnTo>
                  <a:lnTo>
                    <a:pt x="2606713" y="14922"/>
                  </a:lnTo>
                  <a:lnTo>
                    <a:pt x="2590558" y="4013"/>
                  </a:lnTo>
                  <a:lnTo>
                    <a:pt x="2570835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37"/>
                  </a:lnTo>
                  <a:lnTo>
                    <a:pt x="0" y="44437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175133"/>
                  </a:lnTo>
                  <a:lnTo>
                    <a:pt x="4013" y="194856"/>
                  </a:lnTo>
                  <a:lnTo>
                    <a:pt x="14922" y="211010"/>
                  </a:lnTo>
                  <a:lnTo>
                    <a:pt x="31076" y="221919"/>
                  </a:lnTo>
                  <a:lnTo>
                    <a:pt x="50812" y="225933"/>
                  </a:lnTo>
                  <a:lnTo>
                    <a:pt x="2570835" y="225933"/>
                  </a:lnTo>
                  <a:lnTo>
                    <a:pt x="2590558" y="221919"/>
                  </a:lnTo>
                  <a:lnTo>
                    <a:pt x="2606713" y="211010"/>
                  </a:lnTo>
                  <a:lnTo>
                    <a:pt x="2617635" y="194856"/>
                  </a:lnTo>
                  <a:lnTo>
                    <a:pt x="2621635" y="175133"/>
                  </a:lnTo>
                  <a:lnTo>
                    <a:pt x="2621635" y="82384"/>
                  </a:lnTo>
                  <a:lnTo>
                    <a:pt x="2621635" y="50812"/>
                  </a:lnTo>
                  <a:lnTo>
                    <a:pt x="2621635" y="44437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987294" y="1636857"/>
            <a:ext cx="957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Original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2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47" name="object 4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(Average)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720" y="824229"/>
            <a:ext cx="2582037" cy="1721358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949181" y="1625599"/>
            <a:ext cx="2621915" cy="233679"/>
          </a:xfrm>
          <a:custGeom>
            <a:avLst/>
            <a:gdLst/>
            <a:ahLst/>
            <a:cxnLst/>
            <a:rect l="l" t="t" r="r" b="b"/>
            <a:pathLst>
              <a:path w="2621915" h="233680">
                <a:moveTo>
                  <a:pt x="2621635" y="44437"/>
                </a:moveTo>
                <a:lnTo>
                  <a:pt x="2620340" y="44437"/>
                </a:lnTo>
                <a:lnTo>
                  <a:pt x="2617635" y="31076"/>
                </a:lnTo>
                <a:lnTo>
                  <a:pt x="2606713" y="14922"/>
                </a:lnTo>
                <a:lnTo>
                  <a:pt x="2590558" y="4013"/>
                </a:lnTo>
                <a:lnTo>
                  <a:pt x="2570835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82854"/>
                </a:lnTo>
                <a:lnTo>
                  <a:pt x="4013" y="202590"/>
                </a:lnTo>
                <a:lnTo>
                  <a:pt x="14922" y="218744"/>
                </a:lnTo>
                <a:lnTo>
                  <a:pt x="31076" y="229654"/>
                </a:lnTo>
                <a:lnTo>
                  <a:pt x="50812" y="233667"/>
                </a:lnTo>
                <a:lnTo>
                  <a:pt x="2570835" y="233667"/>
                </a:lnTo>
                <a:lnTo>
                  <a:pt x="2590558" y="229654"/>
                </a:lnTo>
                <a:lnTo>
                  <a:pt x="2606713" y="218744"/>
                </a:lnTo>
                <a:lnTo>
                  <a:pt x="2617635" y="202590"/>
                </a:lnTo>
                <a:lnTo>
                  <a:pt x="2621635" y="182854"/>
                </a:lnTo>
                <a:lnTo>
                  <a:pt x="2621635" y="82384"/>
                </a:lnTo>
                <a:lnTo>
                  <a:pt x="2621635" y="50800"/>
                </a:lnTo>
                <a:lnTo>
                  <a:pt x="2621635" y="44437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987294" y="1651005"/>
            <a:ext cx="2444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Blended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Image: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50%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image1</a:t>
            </a:r>
            <a:r>
              <a:rPr sz="10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50%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image2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47" name="object 4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(Average)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720" y="906589"/>
            <a:ext cx="2582037" cy="1721358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4" name="object 5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(scaling)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5651" y="492290"/>
            <a:ext cx="3012376" cy="2008251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09193" y="2629801"/>
            <a:ext cx="5142230" cy="396240"/>
            <a:chOff x="309193" y="2629801"/>
            <a:chExt cx="5142230" cy="396240"/>
          </a:xfrm>
        </p:grpSpPr>
        <p:sp>
          <p:nvSpPr>
            <p:cNvPr id="44" name="object 44"/>
            <p:cNvSpPr/>
            <p:nvPr/>
          </p:nvSpPr>
          <p:spPr>
            <a:xfrm>
              <a:off x="309193" y="2629801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193" y="2792323"/>
              <a:ext cx="5141666" cy="5060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09193" y="2836609"/>
              <a:ext cx="5142230" cy="189230"/>
            </a:xfrm>
            <a:custGeom>
              <a:avLst/>
              <a:gdLst/>
              <a:ahLst/>
              <a:cxnLst/>
              <a:rect l="l" t="t" r="r" b="b"/>
              <a:pathLst>
                <a:path w="5142230" h="189230">
                  <a:moveTo>
                    <a:pt x="5141666" y="0"/>
                  </a:moveTo>
                  <a:lnTo>
                    <a:pt x="0" y="0"/>
                  </a:lnTo>
                  <a:lnTo>
                    <a:pt x="0" y="138429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29"/>
                  </a:lnTo>
                  <a:lnTo>
                    <a:pt x="5090865" y="189229"/>
                  </a:lnTo>
                  <a:lnTo>
                    <a:pt x="5110590" y="185221"/>
                  </a:lnTo>
                  <a:lnTo>
                    <a:pt x="5126743" y="174307"/>
                  </a:lnTo>
                  <a:lnTo>
                    <a:pt x="5137657" y="158154"/>
                  </a:lnTo>
                  <a:lnTo>
                    <a:pt x="5141666" y="13842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17665" y="2599768"/>
            <a:ext cx="2821305" cy="64516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Variable</a:t>
            </a:r>
            <a:r>
              <a:rPr sz="10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scaling</a:t>
            </a:r>
            <a:endParaRPr sz="10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90"/>
              </a:spcBef>
            </a:pPr>
            <a:r>
              <a:rPr sz="1000" spc="-10" dirty="0">
                <a:latin typeface="Georgia"/>
                <a:cs typeface="Georgia"/>
              </a:rPr>
              <a:t>Blended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Image: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50%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image1</a:t>
            </a:r>
            <a:r>
              <a:rPr sz="10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50%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image2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Dr.</a:t>
            </a:r>
            <a:r>
              <a:rPr sz="500" spc="2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Rizwan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Ahmed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Khan,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https://sites.google.com/site/drkhanrizwan17/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35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(scaling)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6733" y="498690"/>
            <a:ext cx="3012376" cy="200825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09193" y="2644203"/>
            <a:ext cx="5142230" cy="396240"/>
            <a:chOff x="309193" y="2644203"/>
            <a:chExt cx="5142230" cy="396240"/>
          </a:xfrm>
        </p:grpSpPr>
        <p:sp>
          <p:nvSpPr>
            <p:cNvPr id="44" name="object 44"/>
            <p:cNvSpPr/>
            <p:nvPr/>
          </p:nvSpPr>
          <p:spPr>
            <a:xfrm>
              <a:off x="309193" y="2644203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193" y="2806725"/>
              <a:ext cx="5141666" cy="5060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09193" y="2851010"/>
              <a:ext cx="5142230" cy="189230"/>
            </a:xfrm>
            <a:custGeom>
              <a:avLst/>
              <a:gdLst/>
              <a:ahLst/>
              <a:cxnLst/>
              <a:rect l="l" t="t" r="r" b="b"/>
              <a:pathLst>
                <a:path w="5142230" h="189230">
                  <a:moveTo>
                    <a:pt x="5141666" y="0"/>
                  </a:moveTo>
                  <a:lnTo>
                    <a:pt x="0" y="0"/>
                  </a:lnTo>
                  <a:lnTo>
                    <a:pt x="0" y="138429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29"/>
                  </a:lnTo>
                  <a:lnTo>
                    <a:pt x="5090865" y="189229"/>
                  </a:lnTo>
                  <a:lnTo>
                    <a:pt x="5110590" y="185221"/>
                  </a:lnTo>
                  <a:lnTo>
                    <a:pt x="5126743" y="174307"/>
                  </a:lnTo>
                  <a:lnTo>
                    <a:pt x="5137657" y="158154"/>
                  </a:lnTo>
                  <a:lnTo>
                    <a:pt x="5141666" y="13842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17665" y="2614169"/>
            <a:ext cx="2821305" cy="6305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Variable</a:t>
            </a:r>
            <a:r>
              <a:rPr sz="10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scaling</a:t>
            </a:r>
            <a:endParaRPr sz="10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90"/>
              </a:spcBef>
            </a:pPr>
            <a:r>
              <a:rPr sz="1000" spc="-10" dirty="0">
                <a:latin typeface="Georgia"/>
                <a:cs typeface="Georgia"/>
              </a:rPr>
              <a:t>Blended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Image: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30%</a:t>
            </a:r>
            <a:r>
              <a:rPr sz="10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image1</a:t>
            </a:r>
            <a:r>
              <a:rPr sz="1000" spc="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70%</a:t>
            </a: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image2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Dr.</a:t>
            </a:r>
            <a:r>
              <a:rPr sz="500" spc="2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Rizwan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Ahmed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Khan,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https://sites.google.com/site/drkhanrizwan17/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35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2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0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5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8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6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65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1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23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31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27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31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0354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539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43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47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51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55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0593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633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242" y="127494"/>
              <a:ext cx="2911745" cy="410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3444" algn="l"/>
                <a:tab pos="3883025" algn="l"/>
                <a:tab pos="4965065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0" dirty="0">
                <a:solidFill>
                  <a:srgbClr val="8C8CAC"/>
                </a:solidFill>
                <a:latin typeface="Georgia"/>
                <a:cs typeface="Georgia"/>
              </a:rPr>
              <a:t>Data</a:t>
            </a:r>
            <a:r>
              <a:rPr sz="500" spc="409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Manipulation</a:t>
            </a:r>
            <a:r>
              <a:rPr sz="500" spc="409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Histogram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Segmentation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Blending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Images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Blending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(scaling)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images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1815" y="501891"/>
            <a:ext cx="3012376" cy="2008251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09193" y="2639402"/>
            <a:ext cx="5142230" cy="396240"/>
            <a:chOff x="309193" y="2639402"/>
            <a:chExt cx="5142230" cy="396240"/>
          </a:xfrm>
        </p:grpSpPr>
        <p:sp>
          <p:nvSpPr>
            <p:cNvPr id="44" name="object 44"/>
            <p:cNvSpPr/>
            <p:nvPr/>
          </p:nvSpPr>
          <p:spPr>
            <a:xfrm>
              <a:off x="309193" y="2639402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193" y="2801924"/>
              <a:ext cx="5141666" cy="5060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09193" y="2846210"/>
              <a:ext cx="5142230" cy="189230"/>
            </a:xfrm>
            <a:custGeom>
              <a:avLst/>
              <a:gdLst/>
              <a:ahLst/>
              <a:cxnLst/>
              <a:rect l="l" t="t" r="r" b="b"/>
              <a:pathLst>
                <a:path w="5142230" h="189230">
                  <a:moveTo>
                    <a:pt x="5141666" y="0"/>
                  </a:moveTo>
                  <a:lnTo>
                    <a:pt x="0" y="0"/>
                  </a:lnTo>
                  <a:lnTo>
                    <a:pt x="0" y="138429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29"/>
                  </a:lnTo>
                  <a:lnTo>
                    <a:pt x="5090865" y="189229"/>
                  </a:lnTo>
                  <a:lnTo>
                    <a:pt x="5110590" y="185221"/>
                  </a:lnTo>
                  <a:lnTo>
                    <a:pt x="5126743" y="174307"/>
                  </a:lnTo>
                  <a:lnTo>
                    <a:pt x="5137657" y="158154"/>
                  </a:lnTo>
                  <a:lnTo>
                    <a:pt x="5141666" y="13842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17665" y="2609369"/>
            <a:ext cx="2821305" cy="6356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Variable</a:t>
            </a:r>
            <a:r>
              <a:rPr sz="10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scaling</a:t>
            </a:r>
            <a:endParaRPr sz="1000">
              <a:latin typeface="Georgia"/>
              <a:cs typeface="Georgia"/>
            </a:endParaRPr>
          </a:p>
          <a:p>
            <a:pPr marL="41910">
              <a:lnSpc>
                <a:spcPct val="100000"/>
              </a:lnSpc>
              <a:spcBef>
                <a:spcPts val="390"/>
              </a:spcBef>
            </a:pPr>
            <a:r>
              <a:rPr sz="1000" spc="-10" dirty="0">
                <a:latin typeface="Georgia"/>
                <a:cs typeface="Georgia"/>
              </a:rPr>
              <a:t>Blended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Image: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10%</a:t>
            </a:r>
            <a:r>
              <a:rPr sz="1000" spc="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image1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90%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image2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Dr.</a:t>
            </a:r>
            <a:r>
              <a:rPr sz="500" spc="2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Rizwan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Ahmed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Khan,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https://sites.google.com/site/drkhanrizwan17/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Image</a:t>
            </a:r>
            <a:r>
              <a:rPr spc="120" dirty="0"/>
              <a:t> </a:t>
            </a:r>
            <a:r>
              <a:rPr spc="70" dirty="0"/>
              <a:t>as</a:t>
            </a:r>
            <a:r>
              <a:rPr spc="125" dirty="0"/>
              <a:t> </a:t>
            </a:r>
            <a:r>
              <a:rPr spc="85" dirty="0"/>
              <a:t>a</a:t>
            </a:r>
            <a:r>
              <a:rPr spc="125" dirty="0"/>
              <a:t> </a:t>
            </a:r>
            <a:r>
              <a:rPr spc="60" dirty="0"/>
              <a:t>function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35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5" dirty="0">
                <a:solidFill>
                  <a:srgbClr val="FFFFFF"/>
                </a:solidFill>
                <a:latin typeface="Georgia"/>
                <a:cs typeface="Georgia"/>
              </a:rPr>
              <a:t>92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851</Words>
  <Application>Microsoft Office PowerPoint</Application>
  <PresentationFormat>Custom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anwar khan</cp:lastModifiedBy>
  <cp:revision>15</cp:revision>
  <dcterms:created xsi:type="dcterms:W3CDTF">2025-10-23T06:05:09Z</dcterms:created>
  <dcterms:modified xsi:type="dcterms:W3CDTF">2025-10-23T06:30:07Z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LastSaved">
    <vt:filetime>2025-10-23T00:00:00Z</vt:filetime>
  </property>
  <property fmtid="{D5CDD505-2E9C-101B-9397-08002B2CF9AE}" pid="4" name="Producer">
    <vt:lpwstr>iLovePDF</vt:lpwstr>
  </property>
</Properties>
</file>