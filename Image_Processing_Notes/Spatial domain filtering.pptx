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84" r:id="rId2"/>
    <p:sldId id="257" r:id="rId3"/>
    <p:sldId id="258" r:id="rId4"/>
    <p:sldId id="259" r:id="rId5"/>
    <p:sldId id="260" r:id="rId6"/>
    <p:sldId id="262" r:id="rId7"/>
    <p:sldId id="263" r:id="rId8"/>
    <p:sldId id="264" r:id="rId9"/>
    <p:sldId id="333" r:id="rId10"/>
    <p:sldId id="334" r:id="rId11"/>
    <p:sldId id="338" r:id="rId12"/>
    <p:sldId id="265" r:id="rId13"/>
    <p:sldId id="267" r:id="rId14"/>
    <p:sldId id="268" r:id="rId15"/>
    <p:sldId id="335" r:id="rId16"/>
    <p:sldId id="269" r:id="rId17"/>
    <p:sldId id="336" r:id="rId18"/>
    <p:sldId id="337" r:id="rId19"/>
    <p:sldId id="270" r:id="rId20"/>
    <p:sldId id="271" r:id="rId21"/>
    <p:sldId id="272" r:id="rId22"/>
    <p:sldId id="273" r:id="rId23"/>
    <p:sldId id="274" r:id="rId24"/>
    <p:sldId id="275" r:id="rId25"/>
    <p:sldId id="276" r:id="rId26"/>
    <p:sldId id="339" r:id="rId27"/>
    <p:sldId id="340" r:id="rId28"/>
    <p:sldId id="277" r:id="rId29"/>
    <p:sldId id="355" r:id="rId30"/>
    <p:sldId id="341" r:id="rId31"/>
    <p:sldId id="342" r:id="rId32"/>
    <p:sldId id="344" r:id="rId33"/>
    <p:sldId id="343" r:id="rId34"/>
    <p:sldId id="345" r:id="rId35"/>
    <p:sldId id="348" r:id="rId36"/>
    <p:sldId id="278" r:id="rId37"/>
    <p:sldId id="279" r:id="rId38"/>
    <p:sldId id="280" r:id="rId39"/>
    <p:sldId id="356" r:id="rId40"/>
    <p:sldId id="357" r:id="rId41"/>
    <p:sldId id="281" r:id="rId42"/>
    <p:sldId id="349" r:id="rId43"/>
    <p:sldId id="350" r:id="rId44"/>
    <p:sldId id="282" r:id="rId45"/>
    <p:sldId id="351" r:id="rId46"/>
    <p:sldId id="352" r:id="rId47"/>
    <p:sldId id="353" r:id="rId48"/>
    <p:sldId id="354" r:id="rId49"/>
    <p:sldId id="358" r:id="rId50"/>
    <p:sldId id="359" r:id="rId51"/>
    <p:sldId id="360" r:id="rId52"/>
    <p:sldId id="361" r:id="rId53"/>
    <p:sldId id="362" r:id="rId54"/>
    <p:sldId id="363" r:id="rId55"/>
    <p:sldId id="283" r:id="rId5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9E43793-ADFD-4BC4-9AB4-D250F633548F}" type="datetimeFigureOut">
              <a:rPr lang="en-US" smtClean="0"/>
              <a:t>12/9/2025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5E217CE-915E-404E-8F08-9EC9D12FA8E1}" type="slidenum">
              <a:rPr lang="en-US" smtClean="0"/>
              <a:t>‹#›</a:t>
            </a:fld>
            <a:endParaRPr lang="en-US"/>
          </a:p>
        </p:txBody>
      </p:sp>
    </p:spTree>
    <p:extLst>
      <p:ext uri="{BB962C8B-B14F-4D97-AF65-F5344CB8AC3E}">
        <p14:creationId xmlns:p14="http://schemas.microsoft.com/office/powerpoint/2010/main" val="2398806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E217CE-915E-404E-8F08-9EC9D12FA8E1}" type="slidenum">
              <a:rPr lang="en-US" smtClean="0"/>
              <a:t>26</a:t>
            </a:fld>
            <a:endParaRPr lang="en-US"/>
          </a:p>
        </p:txBody>
      </p:sp>
    </p:spTree>
    <p:extLst>
      <p:ext uri="{BB962C8B-B14F-4D97-AF65-F5344CB8AC3E}">
        <p14:creationId xmlns:p14="http://schemas.microsoft.com/office/powerpoint/2010/main" val="2463328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000" b="1" i="0" u="sng">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u="sng">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u="sng">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u="sng">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6892" y="326516"/>
            <a:ext cx="1002665" cy="330834"/>
          </a:xfrm>
          <a:prstGeom prst="rect">
            <a:avLst/>
          </a:prstGeom>
        </p:spPr>
        <p:txBody>
          <a:bodyPr wrap="square" lIns="0" tIns="0" rIns="0" bIns="0">
            <a:spAutoFit/>
          </a:bodyPr>
          <a:lstStyle>
            <a:lvl1pPr>
              <a:defRPr sz="2000" b="1" i="0" u="sng">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386892" y="3381502"/>
            <a:ext cx="8140700" cy="185547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17.png"/><Relationship Id="rId4" Type="http://schemas.openxmlformats.org/officeDocument/2006/relationships/image" Target="../media/image33.jpg"/></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5.jp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6.jp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892" y="326516"/>
            <a:ext cx="7004508" cy="612039"/>
          </a:xfrm>
          <a:prstGeom prst="rect">
            <a:avLst/>
          </a:prstGeom>
        </p:spPr>
        <p:txBody>
          <a:bodyPr vert="horz" wrap="square" lIns="0" tIns="118440" rIns="0" bIns="0" rtlCol="0">
            <a:spAutoFit/>
          </a:bodyPr>
          <a:lstStyle/>
          <a:p>
            <a:pPr marL="2323465">
              <a:lnSpc>
                <a:spcPct val="100000"/>
              </a:lnSpc>
              <a:spcBef>
                <a:spcPts val="105"/>
              </a:spcBef>
            </a:pPr>
            <a:r>
              <a:rPr lang="en-US" sz="3200" dirty="0"/>
              <a:t>Image Enhancement</a:t>
            </a:r>
            <a:endParaRPr sz="3200" dirty="0"/>
          </a:p>
        </p:txBody>
      </p:sp>
      <p:sp>
        <p:nvSpPr>
          <p:cNvPr id="3" name="object 3"/>
          <p:cNvSpPr/>
          <p:nvPr/>
        </p:nvSpPr>
        <p:spPr>
          <a:xfrm>
            <a:off x="533400" y="914400"/>
            <a:ext cx="8229600" cy="0"/>
          </a:xfrm>
          <a:custGeom>
            <a:avLst/>
            <a:gdLst/>
            <a:ahLst/>
            <a:cxnLst/>
            <a:rect l="l" t="t" r="r" b="b"/>
            <a:pathLst>
              <a:path w="8229600">
                <a:moveTo>
                  <a:pt x="0" y="0"/>
                </a:moveTo>
                <a:lnTo>
                  <a:pt x="8229600" y="0"/>
                </a:lnTo>
              </a:path>
            </a:pathLst>
          </a:custGeom>
          <a:ln w="76200">
            <a:solidFill>
              <a:srgbClr val="D24717"/>
            </a:solidFill>
          </a:ln>
        </p:spPr>
        <p:txBody>
          <a:bodyPr wrap="square" lIns="0" tIns="0" rIns="0" bIns="0" rtlCol="0"/>
          <a:lstStyle/>
          <a:p>
            <a:endParaRPr/>
          </a:p>
        </p:txBody>
      </p:sp>
      <p:sp>
        <p:nvSpPr>
          <p:cNvPr id="4" name="object 4"/>
          <p:cNvSpPr txBox="1"/>
          <p:nvPr/>
        </p:nvSpPr>
        <p:spPr>
          <a:xfrm>
            <a:off x="7602473" y="1043685"/>
            <a:ext cx="1080770" cy="299720"/>
          </a:xfrm>
          <a:prstGeom prst="rect">
            <a:avLst/>
          </a:prstGeom>
        </p:spPr>
        <p:txBody>
          <a:bodyPr vert="horz" wrap="square" lIns="0" tIns="12700" rIns="0" bIns="0" rtlCol="0">
            <a:spAutoFit/>
          </a:bodyPr>
          <a:lstStyle/>
          <a:p>
            <a:pPr marL="12700">
              <a:lnSpc>
                <a:spcPct val="100000"/>
              </a:lnSpc>
              <a:spcBef>
                <a:spcPts val="100"/>
              </a:spcBef>
              <a:tabLst>
                <a:tab pos="695325" algn="l"/>
              </a:tabLst>
            </a:pPr>
            <a:r>
              <a:rPr sz="1800" spc="-20" dirty="0">
                <a:latin typeface="Verdana"/>
                <a:cs typeface="Verdana"/>
              </a:rPr>
              <a:t>than</a:t>
            </a:r>
            <a:r>
              <a:rPr sz="1800" dirty="0">
                <a:latin typeface="Verdana"/>
                <a:cs typeface="Verdana"/>
              </a:rPr>
              <a:t>	</a:t>
            </a:r>
            <a:r>
              <a:rPr sz="1800" spc="-25" dirty="0">
                <a:latin typeface="Verdana"/>
                <a:cs typeface="Verdana"/>
              </a:rPr>
              <a:t>the</a:t>
            </a:r>
            <a:endParaRPr sz="1800">
              <a:latin typeface="Verdana"/>
              <a:cs typeface="Verdana"/>
            </a:endParaRPr>
          </a:p>
        </p:txBody>
      </p:sp>
      <p:sp>
        <p:nvSpPr>
          <p:cNvPr id="5" name="object 5"/>
          <p:cNvSpPr txBox="1"/>
          <p:nvPr/>
        </p:nvSpPr>
        <p:spPr>
          <a:xfrm>
            <a:off x="612140" y="1043685"/>
            <a:ext cx="6849745" cy="519430"/>
          </a:xfrm>
          <a:prstGeom prst="rect">
            <a:avLst/>
          </a:prstGeom>
        </p:spPr>
        <p:txBody>
          <a:bodyPr vert="horz" wrap="square" lIns="0" tIns="67310" rIns="0" bIns="0" rtlCol="0">
            <a:spAutoFit/>
          </a:bodyPr>
          <a:lstStyle/>
          <a:p>
            <a:pPr marL="285750" marR="5080" indent="-273685">
              <a:lnSpc>
                <a:spcPct val="80000"/>
              </a:lnSpc>
              <a:spcBef>
                <a:spcPts val="530"/>
              </a:spcBef>
              <a:buClr>
                <a:srgbClr val="D24717"/>
              </a:buClr>
              <a:buSzPct val="83333"/>
              <a:buFont typeface="Wingdings"/>
              <a:buChar char=""/>
              <a:tabLst>
                <a:tab pos="285750" algn="l"/>
                <a:tab pos="1316990" algn="l"/>
                <a:tab pos="1765300" algn="l"/>
                <a:tab pos="2632710" algn="l"/>
                <a:tab pos="3027680" algn="l"/>
                <a:tab pos="3824604" algn="l"/>
                <a:tab pos="4361180" algn="l"/>
                <a:tab pos="5179695" algn="l"/>
                <a:tab pos="5940425" algn="l"/>
              </a:tabLst>
            </a:pPr>
            <a:r>
              <a:rPr sz="1800" spc="-10" dirty="0">
                <a:latin typeface="Verdana"/>
                <a:cs typeface="Verdana"/>
              </a:rPr>
              <a:t>Process</a:t>
            </a:r>
            <a:r>
              <a:rPr sz="1800" dirty="0">
                <a:latin typeface="Verdana"/>
                <a:cs typeface="Verdana"/>
              </a:rPr>
              <a:t>	</a:t>
            </a:r>
            <a:r>
              <a:rPr sz="1800" spc="-25" dirty="0">
                <a:latin typeface="Verdana"/>
                <a:cs typeface="Verdana"/>
              </a:rPr>
              <a:t>an</a:t>
            </a:r>
            <a:r>
              <a:rPr sz="1800" dirty="0">
                <a:latin typeface="Verdana"/>
                <a:cs typeface="Verdana"/>
              </a:rPr>
              <a:t>	</a:t>
            </a:r>
            <a:r>
              <a:rPr sz="1800" spc="-10" dirty="0">
                <a:latin typeface="Verdana"/>
                <a:cs typeface="Verdana"/>
              </a:rPr>
              <a:t>image</a:t>
            </a:r>
            <a:r>
              <a:rPr sz="1800" dirty="0">
                <a:latin typeface="Verdana"/>
                <a:cs typeface="Verdana"/>
              </a:rPr>
              <a:t>	</a:t>
            </a:r>
            <a:r>
              <a:rPr sz="1800" spc="-25" dirty="0">
                <a:latin typeface="Verdana"/>
                <a:cs typeface="Verdana"/>
              </a:rPr>
              <a:t>to</a:t>
            </a:r>
            <a:r>
              <a:rPr sz="1800" dirty="0">
                <a:latin typeface="Verdana"/>
                <a:cs typeface="Verdana"/>
              </a:rPr>
              <a:t>	</a:t>
            </a:r>
            <a:r>
              <a:rPr sz="1800" spc="-20" dirty="0">
                <a:latin typeface="Verdana"/>
                <a:cs typeface="Verdana"/>
              </a:rPr>
              <a:t>make</a:t>
            </a:r>
            <a:r>
              <a:rPr sz="1800" dirty="0">
                <a:latin typeface="Verdana"/>
                <a:cs typeface="Verdana"/>
              </a:rPr>
              <a:t>	</a:t>
            </a:r>
            <a:r>
              <a:rPr sz="1800" spc="-25" dirty="0">
                <a:latin typeface="Verdana"/>
                <a:cs typeface="Verdana"/>
              </a:rPr>
              <a:t>the</a:t>
            </a:r>
            <a:r>
              <a:rPr sz="1800" dirty="0">
                <a:latin typeface="Verdana"/>
                <a:cs typeface="Verdana"/>
              </a:rPr>
              <a:t>	</a:t>
            </a:r>
            <a:r>
              <a:rPr sz="1800" spc="-10" dirty="0">
                <a:latin typeface="Verdana"/>
                <a:cs typeface="Verdana"/>
              </a:rPr>
              <a:t>result</a:t>
            </a:r>
            <a:r>
              <a:rPr sz="1800" dirty="0">
                <a:latin typeface="Verdana"/>
                <a:cs typeface="Verdana"/>
              </a:rPr>
              <a:t>	</a:t>
            </a:r>
            <a:r>
              <a:rPr sz="1800" spc="-20" dirty="0">
                <a:latin typeface="Verdana"/>
                <a:cs typeface="Verdana"/>
              </a:rPr>
              <a:t>more</a:t>
            </a:r>
            <a:r>
              <a:rPr sz="1800" dirty="0">
                <a:latin typeface="Verdana"/>
                <a:cs typeface="Verdana"/>
              </a:rPr>
              <a:t>	</a:t>
            </a:r>
            <a:r>
              <a:rPr sz="1800" spc="-10" dirty="0">
                <a:latin typeface="Verdana"/>
                <a:cs typeface="Verdana"/>
              </a:rPr>
              <a:t>suitable </a:t>
            </a:r>
            <a:r>
              <a:rPr sz="1800" dirty="0">
                <a:latin typeface="Verdana"/>
                <a:cs typeface="Verdana"/>
              </a:rPr>
              <a:t>original</a:t>
            </a:r>
            <a:r>
              <a:rPr sz="1800" spc="-30" dirty="0">
                <a:latin typeface="Verdana"/>
                <a:cs typeface="Verdana"/>
              </a:rPr>
              <a:t> </a:t>
            </a:r>
            <a:r>
              <a:rPr sz="1800" dirty="0">
                <a:latin typeface="Verdana"/>
                <a:cs typeface="Verdana"/>
              </a:rPr>
              <a:t>image</a:t>
            </a:r>
            <a:r>
              <a:rPr sz="1800" spc="-20" dirty="0">
                <a:latin typeface="Verdana"/>
                <a:cs typeface="Verdana"/>
              </a:rPr>
              <a:t> </a:t>
            </a:r>
            <a:r>
              <a:rPr sz="1800" dirty="0">
                <a:latin typeface="Verdana"/>
                <a:cs typeface="Verdana"/>
              </a:rPr>
              <a:t>for</a:t>
            </a:r>
            <a:r>
              <a:rPr sz="1800" spc="-35" dirty="0">
                <a:latin typeface="Verdana"/>
                <a:cs typeface="Verdana"/>
              </a:rPr>
              <a:t> </a:t>
            </a:r>
            <a:r>
              <a:rPr sz="1800" dirty="0">
                <a:latin typeface="Verdana"/>
                <a:cs typeface="Verdana"/>
              </a:rPr>
              <a:t>a</a:t>
            </a:r>
            <a:r>
              <a:rPr sz="1800" spc="-25" dirty="0">
                <a:latin typeface="Verdana"/>
                <a:cs typeface="Verdana"/>
              </a:rPr>
              <a:t> </a:t>
            </a:r>
            <a:r>
              <a:rPr sz="1800" dirty="0">
                <a:solidFill>
                  <a:srgbClr val="9B2C1F"/>
                </a:solidFill>
                <a:latin typeface="Verdana"/>
                <a:cs typeface="Verdana"/>
              </a:rPr>
              <a:t>specific</a:t>
            </a:r>
            <a:r>
              <a:rPr sz="1800" spc="-5" dirty="0">
                <a:solidFill>
                  <a:srgbClr val="9B2C1F"/>
                </a:solidFill>
                <a:latin typeface="Verdana"/>
                <a:cs typeface="Verdana"/>
              </a:rPr>
              <a:t> </a:t>
            </a:r>
            <a:r>
              <a:rPr sz="1800" spc="-10" dirty="0">
                <a:solidFill>
                  <a:srgbClr val="9B2C1F"/>
                </a:solidFill>
                <a:latin typeface="Verdana"/>
                <a:cs typeface="Verdana"/>
              </a:rPr>
              <a:t>application</a:t>
            </a:r>
            <a:endParaRPr sz="1800">
              <a:latin typeface="Verdana"/>
              <a:cs typeface="Verdana"/>
            </a:endParaRPr>
          </a:p>
        </p:txBody>
      </p:sp>
      <p:sp>
        <p:nvSpPr>
          <p:cNvPr id="6" name="object 6"/>
          <p:cNvSpPr txBox="1"/>
          <p:nvPr/>
        </p:nvSpPr>
        <p:spPr>
          <a:xfrm>
            <a:off x="612140" y="1854453"/>
            <a:ext cx="7867015" cy="2001520"/>
          </a:xfrm>
          <a:prstGeom prst="rect">
            <a:avLst/>
          </a:prstGeom>
        </p:spPr>
        <p:txBody>
          <a:bodyPr vert="horz" wrap="square" lIns="0" tIns="12700" rIns="0" bIns="0" rtlCol="0">
            <a:spAutoFit/>
          </a:bodyPr>
          <a:lstStyle/>
          <a:p>
            <a:pPr marL="285115" indent="-272415">
              <a:lnSpc>
                <a:spcPct val="100000"/>
              </a:lnSpc>
              <a:spcBef>
                <a:spcPts val="100"/>
              </a:spcBef>
              <a:buClr>
                <a:srgbClr val="D24717"/>
              </a:buClr>
              <a:buSzPct val="83333"/>
              <a:buFont typeface="Wingdings"/>
              <a:buChar char=""/>
              <a:tabLst>
                <a:tab pos="285115" algn="l"/>
              </a:tabLst>
            </a:pPr>
            <a:r>
              <a:rPr sz="1800" dirty="0">
                <a:latin typeface="Verdana"/>
                <a:cs typeface="Verdana"/>
              </a:rPr>
              <a:t>The</a:t>
            </a:r>
            <a:r>
              <a:rPr sz="1800" spc="-25" dirty="0">
                <a:latin typeface="Verdana"/>
                <a:cs typeface="Verdana"/>
              </a:rPr>
              <a:t> </a:t>
            </a:r>
            <a:r>
              <a:rPr sz="1800" dirty="0">
                <a:latin typeface="Verdana"/>
                <a:cs typeface="Verdana"/>
              </a:rPr>
              <a:t>reasons</a:t>
            </a:r>
            <a:r>
              <a:rPr sz="1800" spc="-30" dirty="0">
                <a:latin typeface="Verdana"/>
                <a:cs typeface="Verdana"/>
              </a:rPr>
              <a:t> </a:t>
            </a:r>
            <a:r>
              <a:rPr sz="1800" dirty="0">
                <a:latin typeface="Verdana"/>
                <a:cs typeface="Verdana"/>
              </a:rPr>
              <a:t>for</a:t>
            </a:r>
            <a:r>
              <a:rPr sz="1800" spc="-30" dirty="0">
                <a:latin typeface="Verdana"/>
                <a:cs typeface="Verdana"/>
              </a:rPr>
              <a:t> </a:t>
            </a:r>
            <a:r>
              <a:rPr sz="1800" dirty="0">
                <a:latin typeface="Verdana"/>
                <a:cs typeface="Verdana"/>
              </a:rPr>
              <a:t>doing</a:t>
            </a:r>
            <a:r>
              <a:rPr sz="1800" spc="-20" dirty="0">
                <a:latin typeface="Verdana"/>
                <a:cs typeface="Verdana"/>
              </a:rPr>
              <a:t> </a:t>
            </a:r>
            <a:r>
              <a:rPr sz="1800" dirty="0">
                <a:latin typeface="Verdana"/>
                <a:cs typeface="Verdana"/>
              </a:rPr>
              <a:t>this</a:t>
            </a:r>
            <a:r>
              <a:rPr sz="1800" spc="-25" dirty="0">
                <a:latin typeface="Verdana"/>
                <a:cs typeface="Verdana"/>
              </a:rPr>
              <a:t> </a:t>
            </a:r>
            <a:r>
              <a:rPr sz="1800" spc="-10" dirty="0">
                <a:latin typeface="Verdana"/>
                <a:cs typeface="Verdana"/>
              </a:rPr>
              <a:t>include:</a:t>
            </a:r>
            <a:endParaRPr sz="1800" dirty="0">
              <a:latin typeface="Verdana"/>
              <a:cs typeface="Verdana"/>
            </a:endParaRPr>
          </a:p>
          <a:p>
            <a:pPr>
              <a:lnSpc>
                <a:spcPct val="100000"/>
              </a:lnSpc>
              <a:spcBef>
                <a:spcPts val="355"/>
              </a:spcBef>
              <a:buClr>
                <a:srgbClr val="D24717"/>
              </a:buClr>
              <a:buFont typeface="Wingdings"/>
              <a:buChar char=""/>
            </a:pPr>
            <a:endParaRPr sz="1800" dirty="0">
              <a:latin typeface="Verdana"/>
              <a:cs typeface="Verdana"/>
            </a:endParaRPr>
          </a:p>
          <a:p>
            <a:pPr marL="742315" lvl="1" indent="-272415">
              <a:lnSpc>
                <a:spcPct val="100000"/>
              </a:lnSpc>
              <a:buClr>
                <a:srgbClr val="D24717"/>
              </a:buClr>
              <a:buSzPct val="84375"/>
              <a:buFont typeface="Wingdings"/>
              <a:buChar char=""/>
              <a:tabLst>
                <a:tab pos="742315" algn="l"/>
              </a:tabLst>
            </a:pPr>
            <a:r>
              <a:rPr sz="1600" dirty="0">
                <a:latin typeface="Verdana"/>
                <a:cs typeface="Verdana"/>
              </a:rPr>
              <a:t>Highlighting</a:t>
            </a:r>
            <a:r>
              <a:rPr sz="1600" spc="-40" dirty="0">
                <a:latin typeface="Verdana"/>
                <a:cs typeface="Verdana"/>
              </a:rPr>
              <a:t> </a:t>
            </a:r>
            <a:r>
              <a:rPr sz="1600" dirty="0">
                <a:latin typeface="Verdana"/>
                <a:cs typeface="Verdana"/>
              </a:rPr>
              <a:t>interesting</a:t>
            </a:r>
            <a:r>
              <a:rPr sz="1600" spc="-50" dirty="0">
                <a:latin typeface="Verdana"/>
                <a:cs typeface="Verdana"/>
              </a:rPr>
              <a:t> </a:t>
            </a:r>
            <a:r>
              <a:rPr sz="1600" dirty="0">
                <a:latin typeface="Verdana"/>
                <a:cs typeface="Verdana"/>
              </a:rPr>
              <a:t>details</a:t>
            </a:r>
            <a:r>
              <a:rPr sz="1600" spc="-45" dirty="0">
                <a:latin typeface="Verdana"/>
                <a:cs typeface="Verdana"/>
              </a:rPr>
              <a:t> </a:t>
            </a:r>
            <a:r>
              <a:rPr sz="1600" dirty="0">
                <a:latin typeface="Verdana"/>
                <a:cs typeface="Verdana"/>
              </a:rPr>
              <a:t>in</a:t>
            </a:r>
            <a:r>
              <a:rPr sz="1600" spc="-85" dirty="0">
                <a:latin typeface="Verdana"/>
                <a:cs typeface="Verdana"/>
              </a:rPr>
              <a:t> </a:t>
            </a:r>
            <a:r>
              <a:rPr sz="1600" dirty="0">
                <a:latin typeface="Verdana"/>
                <a:cs typeface="Verdana"/>
              </a:rPr>
              <a:t>the</a:t>
            </a:r>
            <a:r>
              <a:rPr sz="1600" spc="-75" dirty="0">
                <a:latin typeface="Verdana"/>
                <a:cs typeface="Verdana"/>
              </a:rPr>
              <a:t> </a:t>
            </a:r>
            <a:r>
              <a:rPr sz="1600" spc="-10" dirty="0">
                <a:latin typeface="Verdana"/>
                <a:cs typeface="Verdana"/>
              </a:rPr>
              <a:t>image</a:t>
            </a:r>
            <a:endParaRPr sz="1600" dirty="0">
              <a:latin typeface="Verdana"/>
              <a:cs typeface="Verdana"/>
            </a:endParaRPr>
          </a:p>
          <a:p>
            <a:pPr marL="742315" lvl="1" indent="-272415">
              <a:lnSpc>
                <a:spcPct val="100000"/>
              </a:lnSpc>
              <a:spcBef>
                <a:spcPts val="215"/>
              </a:spcBef>
              <a:buClr>
                <a:srgbClr val="D24717"/>
              </a:buClr>
              <a:buSzPct val="84375"/>
              <a:buFont typeface="Wingdings"/>
              <a:buChar char=""/>
              <a:tabLst>
                <a:tab pos="742315" algn="l"/>
              </a:tabLst>
            </a:pPr>
            <a:r>
              <a:rPr sz="1600" dirty="0">
                <a:latin typeface="Verdana"/>
                <a:cs typeface="Verdana"/>
              </a:rPr>
              <a:t>Removing</a:t>
            </a:r>
            <a:r>
              <a:rPr sz="1600" spc="-50" dirty="0">
                <a:latin typeface="Verdana"/>
                <a:cs typeface="Verdana"/>
              </a:rPr>
              <a:t> </a:t>
            </a:r>
            <a:r>
              <a:rPr sz="1600" dirty="0">
                <a:latin typeface="Verdana"/>
                <a:cs typeface="Verdana"/>
              </a:rPr>
              <a:t>noise</a:t>
            </a:r>
            <a:r>
              <a:rPr sz="1600" spc="-55" dirty="0">
                <a:latin typeface="Verdana"/>
                <a:cs typeface="Verdana"/>
              </a:rPr>
              <a:t> </a:t>
            </a:r>
            <a:r>
              <a:rPr sz="1600" dirty="0">
                <a:latin typeface="Verdana"/>
                <a:cs typeface="Verdana"/>
              </a:rPr>
              <a:t>from</a:t>
            </a:r>
            <a:r>
              <a:rPr sz="1600" spc="-60" dirty="0">
                <a:latin typeface="Verdana"/>
                <a:cs typeface="Verdana"/>
              </a:rPr>
              <a:t> </a:t>
            </a:r>
            <a:r>
              <a:rPr sz="1600" spc="-10" dirty="0">
                <a:latin typeface="Verdana"/>
                <a:cs typeface="Verdana"/>
              </a:rPr>
              <a:t>images</a:t>
            </a:r>
            <a:endParaRPr sz="1600" dirty="0">
              <a:latin typeface="Verdana"/>
              <a:cs typeface="Verdana"/>
            </a:endParaRPr>
          </a:p>
          <a:p>
            <a:pPr marL="742315" lvl="1" indent="-272415">
              <a:lnSpc>
                <a:spcPct val="100000"/>
              </a:lnSpc>
              <a:spcBef>
                <a:spcPts val="215"/>
              </a:spcBef>
              <a:buClr>
                <a:srgbClr val="D24717"/>
              </a:buClr>
              <a:buSzPct val="84375"/>
              <a:buFont typeface="Wingdings"/>
              <a:buChar char=""/>
              <a:tabLst>
                <a:tab pos="742315" algn="l"/>
              </a:tabLst>
            </a:pPr>
            <a:r>
              <a:rPr sz="1600" dirty="0">
                <a:latin typeface="Verdana"/>
                <a:cs typeface="Verdana"/>
              </a:rPr>
              <a:t>Making</a:t>
            </a:r>
            <a:r>
              <a:rPr sz="1600" spc="-40" dirty="0">
                <a:latin typeface="Verdana"/>
                <a:cs typeface="Verdana"/>
              </a:rPr>
              <a:t> </a:t>
            </a:r>
            <a:r>
              <a:rPr sz="1600" dirty="0">
                <a:latin typeface="Verdana"/>
                <a:cs typeface="Verdana"/>
              </a:rPr>
              <a:t>images</a:t>
            </a:r>
            <a:r>
              <a:rPr sz="1600" spc="-30" dirty="0">
                <a:latin typeface="Verdana"/>
                <a:cs typeface="Verdana"/>
              </a:rPr>
              <a:t> </a:t>
            </a:r>
            <a:r>
              <a:rPr sz="1600" dirty="0">
                <a:latin typeface="Verdana"/>
                <a:cs typeface="Verdana"/>
              </a:rPr>
              <a:t>visually</a:t>
            </a:r>
            <a:r>
              <a:rPr sz="1600" spc="-25" dirty="0">
                <a:latin typeface="Verdana"/>
                <a:cs typeface="Verdana"/>
              </a:rPr>
              <a:t> </a:t>
            </a:r>
            <a:r>
              <a:rPr sz="1600" dirty="0">
                <a:latin typeface="Verdana"/>
                <a:cs typeface="Verdana"/>
              </a:rPr>
              <a:t>more</a:t>
            </a:r>
            <a:r>
              <a:rPr sz="1600" spc="-40" dirty="0">
                <a:latin typeface="Verdana"/>
                <a:cs typeface="Verdana"/>
              </a:rPr>
              <a:t> </a:t>
            </a:r>
            <a:r>
              <a:rPr sz="1600" spc="-10" dirty="0">
                <a:latin typeface="Verdana"/>
                <a:cs typeface="Verdana"/>
              </a:rPr>
              <a:t>appealing</a:t>
            </a:r>
            <a:endParaRPr sz="1600" dirty="0">
              <a:latin typeface="Verdana"/>
              <a:cs typeface="Verdana"/>
            </a:endParaRPr>
          </a:p>
          <a:p>
            <a:pPr lvl="1">
              <a:lnSpc>
                <a:spcPct val="100000"/>
              </a:lnSpc>
              <a:spcBef>
                <a:spcPts val="555"/>
              </a:spcBef>
              <a:buClr>
                <a:srgbClr val="D24717"/>
              </a:buClr>
              <a:buFont typeface="Wingdings"/>
              <a:buChar char=""/>
            </a:pPr>
            <a:endParaRPr sz="1600" dirty="0">
              <a:latin typeface="Verdana"/>
              <a:cs typeface="Verdana"/>
            </a:endParaRPr>
          </a:p>
          <a:p>
            <a:pPr marL="285115" indent="-272415">
              <a:lnSpc>
                <a:spcPct val="100000"/>
              </a:lnSpc>
              <a:spcBef>
                <a:spcPts val="5"/>
              </a:spcBef>
              <a:buClr>
                <a:srgbClr val="D24717"/>
              </a:buClr>
              <a:buSzPct val="83333"/>
              <a:buFont typeface="Wingdings"/>
              <a:buChar char=""/>
              <a:tabLst>
                <a:tab pos="285115" algn="l"/>
              </a:tabLst>
            </a:pPr>
            <a:r>
              <a:rPr sz="1800" i="1" dirty="0">
                <a:latin typeface="Verdana"/>
                <a:cs typeface="Verdana"/>
              </a:rPr>
              <a:t>Image</a:t>
            </a:r>
            <a:r>
              <a:rPr sz="1800" i="1" spc="-60" dirty="0">
                <a:latin typeface="Verdana"/>
                <a:cs typeface="Verdana"/>
              </a:rPr>
              <a:t> </a:t>
            </a:r>
            <a:r>
              <a:rPr sz="1800" i="1" dirty="0">
                <a:latin typeface="Verdana"/>
                <a:cs typeface="Verdana"/>
              </a:rPr>
              <a:t>enhancement</a:t>
            </a:r>
            <a:r>
              <a:rPr sz="1800" i="1" spc="-55" dirty="0">
                <a:latin typeface="Verdana"/>
                <a:cs typeface="Verdana"/>
              </a:rPr>
              <a:t> </a:t>
            </a:r>
            <a:r>
              <a:rPr sz="1800" i="1" dirty="0">
                <a:latin typeface="Verdana"/>
                <a:cs typeface="Verdana"/>
              </a:rPr>
              <a:t>is</a:t>
            </a:r>
            <a:r>
              <a:rPr sz="1800" i="1" spc="-55" dirty="0">
                <a:latin typeface="Verdana"/>
                <a:cs typeface="Verdana"/>
              </a:rPr>
              <a:t> </a:t>
            </a:r>
            <a:r>
              <a:rPr sz="1800" i="1" dirty="0">
                <a:latin typeface="Verdana"/>
                <a:cs typeface="Verdana"/>
              </a:rPr>
              <a:t>subjective</a:t>
            </a:r>
            <a:r>
              <a:rPr sz="1800" i="1" spc="-30" dirty="0">
                <a:latin typeface="Verdana"/>
                <a:cs typeface="Verdana"/>
              </a:rPr>
              <a:t> </a:t>
            </a:r>
            <a:r>
              <a:rPr sz="1800" i="1" dirty="0">
                <a:latin typeface="Verdana"/>
                <a:cs typeface="Verdana"/>
              </a:rPr>
              <a:t>(problem</a:t>
            </a:r>
            <a:r>
              <a:rPr sz="1800" i="1" spc="-45" dirty="0">
                <a:latin typeface="Verdana"/>
                <a:cs typeface="Verdana"/>
              </a:rPr>
              <a:t> </a:t>
            </a:r>
            <a:r>
              <a:rPr sz="1800" i="1" dirty="0">
                <a:latin typeface="Verdana"/>
                <a:cs typeface="Verdana"/>
              </a:rPr>
              <a:t>/application</a:t>
            </a:r>
            <a:r>
              <a:rPr sz="1800" i="1" spc="-40" dirty="0">
                <a:latin typeface="Verdana"/>
                <a:cs typeface="Verdana"/>
              </a:rPr>
              <a:t> </a:t>
            </a:r>
            <a:r>
              <a:rPr sz="1800" i="1" spc="-10" dirty="0">
                <a:latin typeface="Verdana"/>
                <a:cs typeface="Verdana"/>
              </a:rPr>
              <a:t>oriented)</a:t>
            </a:r>
            <a:endParaRPr sz="1800" dirty="0">
              <a:latin typeface="Verdana"/>
              <a:cs typeface="Verdana"/>
            </a:endParaRPr>
          </a:p>
        </p:txBody>
      </p:sp>
      <p:pic>
        <p:nvPicPr>
          <p:cNvPr id="7" name="object 7"/>
          <p:cNvPicPr/>
          <p:nvPr/>
        </p:nvPicPr>
        <p:blipFill>
          <a:blip r:embed="rId2" cstate="print"/>
          <a:stretch>
            <a:fillRect/>
          </a:stretch>
        </p:blipFill>
        <p:spPr>
          <a:xfrm>
            <a:off x="1439455" y="4114800"/>
            <a:ext cx="6713944" cy="23488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736342" y="1234566"/>
            <a:ext cx="1075055" cy="391160"/>
          </a:xfrm>
          <a:prstGeom prst="rect">
            <a:avLst/>
          </a:prstGeom>
        </p:spPr>
        <p:txBody>
          <a:bodyPr vert="horz" wrap="square" lIns="0" tIns="12700" rIns="0" bIns="0" rtlCol="0">
            <a:spAutoFit/>
          </a:bodyPr>
          <a:lstStyle/>
          <a:p>
            <a:pPr marL="12700">
              <a:lnSpc>
                <a:spcPct val="100000"/>
              </a:lnSpc>
              <a:spcBef>
                <a:spcPts val="100"/>
              </a:spcBef>
            </a:pPr>
            <a:r>
              <a:rPr sz="2400" u="sng" spc="-10" dirty="0">
                <a:solidFill>
                  <a:srgbClr val="974707"/>
                </a:solidFill>
                <a:uFill>
                  <a:solidFill>
                    <a:srgbClr val="974707"/>
                  </a:solidFill>
                </a:uFill>
              </a:rPr>
              <a:t>Content</a:t>
            </a:r>
            <a:endParaRPr sz="2400"/>
          </a:p>
        </p:txBody>
      </p:sp>
      <p:sp>
        <p:nvSpPr>
          <p:cNvPr id="7" name="object 7"/>
          <p:cNvSpPr txBox="1"/>
          <p:nvPr/>
        </p:nvSpPr>
        <p:spPr>
          <a:xfrm>
            <a:off x="371957" y="1601800"/>
            <a:ext cx="3843654" cy="331470"/>
          </a:xfrm>
          <a:prstGeom prst="rect">
            <a:avLst/>
          </a:prstGeom>
        </p:spPr>
        <p:txBody>
          <a:bodyPr vert="horz" wrap="square" lIns="0" tIns="13335" rIns="0" bIns="0" rtlCol="0">
            <a:spAutoFit/>
          </a:bodyPr>
          <a:lstStyle/>
          <a:p>
            <a:pPr marL="12700">
              <a:lnSpc>
                <a:spcPct val="100000"/>
              </a:lnSpc>
              <a:spcBef>
                <a:spcPts val="105"/>
              </a:spcBef>
              <a:tabLst>
                <a:tab pos="382905" algn="l"/>
              </a:tabLst>
            </a:pPr>
            <a:r>
              <a:rPr sz="2000" b="1" spc="-25" dirty="0">
                <a:solidFill>
                  <a:srgbClr val="C00000"/>
                </a:solidFill>
                <a:latin typeface="Times New Roman"/>
                <a:cs typeface="Times New Roman"/>
              </a:rPr>
              <a:t>1.</a:t>
            </a:r>
            <a:r>
              <a:rPr sz="2000" b="1" dirty="0">
                <a:solidFill>
                  <a:srgbClr val="C00000"/>
                </a:solidFill>
                <a:latin typeface="Times New Roman"/>
                <a:cs typeface="Times New Roman"/>
              </a:rPr>
              <a:t>	Fundamental</a:t>
            </a:r>
            <a:r>
              <a:rPr sz="2000" b="1" spc="-45" dirty="0">
                <a:solidFill>
                  <a:srgbClr val="C00000"/>
                </a:solidFill>
                <a:latin typeface="Times New Roman"/>
                <a:cs typeface="Times New Roman"/>
              </a:rPr>
              <a:t> </a:t>
            </a:r>
            <a:r>
              <a:rPr sz="2000" b="1" dirty="0">
                <a:solidFill>
                  <a:srgbClr val="C00000"/>
                </a:solidFill>
                <a:latin typeface="Times New Roman"/>
                <a:cs typeface="Times New Roman"/>
              </a:rPr>
              <a:t>of</a:t>
            </a:r>
            <a:r>
              <a:rPr sz="2000" b="1" spc="-15" dirty="0">
                <a:solidFill>
                  <a:srgbClr val="C00000"/>
                </a:solidFill>
                <a:latin typeface="Times New Roman"/>
                <a:cs typeface="Times New Roman"/>
              </a:rPr>
              <a:t> </a:t>
            </a:r>
            <a:r>
              <a:rPr sz="2000" b="1" dirty="0">
                <a:solidFill>
                  <a:srgbClr val="C00000"/>
                </a:solidFill>
                <a:latin typeface="Times New Roman"/>
                <a:cs typeface="Times New Roman"/>
              </a:rPr>
              <a:t>spatial</a:t>
            </a:r>
            <a:r>
              <a:rPr sz="2000" b="1" spc="-35" dirty="0">
                <a:solidFill>
                  <a:srgbClr val="C00000"/>
                </a:solidFill>
                <a:latin typeface="Times New Roman"/>
                <a:cs typeface="Times New Roman"/>
              </a:rPr>
              <a:t> </a:t>
            </a:r>
            <a:r>
              <a:rPr sz="2000" b="1" spc="-10" dirty="0">
                <a:solidFill>
                  <a:srgbClr val="C00000"/>
                </a:solidFill>
                <a:latin typeface="Times New Roman"/>
                <a:cs typeface="Times New Roman"/>
              </a:rPr>
              <a:t>filtering</a:t>
            </a:r>
            <a:endParaRPr sz="2000">
              <a:latin typeface="Times New Roman"/>
              <a:cs typeface="Times New Roman"/>
            </a:endParaRPr>
          </a:p>
        </p:txBody>
      </p:sp>
      <p:sp>
        <p:nvSpPr>
          <p:cNvPr id="8" name="object 8"/>
          <p:cNvSpPr txBox="1"/>
          <p:nvPr/>
        </p:nvSpPr>
        <p:spPr>
          <a:xfrm>
            <a:off x="373481" y="1906905"/>
            <a:ext cx="4752975" cy="3989070"/>
          </a:xfrm>
          <a:prstGeom prst="rect">
            <a:avLst/>
          </a:prstGeom>
        </p:spPr>
        <p:txBody>
          <a:bodyPr vert="horz" wrap="square" lIns="0" tIns="13335" rIns="0" bIns="0" rtlCol="0">
            <a:spAutoFit/>
          </a:bodyPr>
          <a:lstStyle/>
          <a:p>
            <a:pPr marL="368300" indent="-168275">
              <a:lnSpc>
                <a:spcPct val="100000"/>
              </a:lnSpc>
              <a:spcBef>
                <a:spcPts val="105"/>
              </a:spcBef>
              <a:buFont typeface="Arial MT"/>
              <a:buChar char="•"/>
              <a:tabLst>
                <a:tab pos="368300" algn="l"/>
              </a:tabLst>
            </a:pPr>
            <a:r>
              <a:rPr sz="2000" b="1" dirty="0">
                <a:solidFill>
                  <a:srgbClr val="006FC0"/>
                </a:solidFill>
                <a:latin typeface="Times New Roman"/>
                <a:cs typeface="Times New Roman"/>
              </a:rPr>
              <a:t>Spatial</a:t>
            </a:r>
            <a:r>
              <a:rPr sz="2000" b="1" spc="-30" dirty="0">
                <a:solidFill>
                  <a:srgbClr val="006FC0"/>
                </a:solidFill>
                <a:latin typeface="Times New Roman"/>
                <a:cs typeface="Times New Roman"/>
              </a:rPr>
              <a:t> </a:t>
            </a:r>
            <a:r>
              <a:rPr sz="2000" b="1" spc="-10" dirty="0">
                <a:solidFill>
                  <a:srgbClr val="006FC0"/>
                </a:solidFill>
                <a:latin typeface="Times New Roman"/>
                <a:cs typeface="Times New Roman"/>
              </a:rPr>
              <a:t>Domain</a:t>
            </a:r>
            <a:endParaRPr sz="2000" dirty="0">
              <a:latin typeface="Times New Roman"/>
              <a:cs typeface="Times New Roman"/>
            </a:endParaRPr>
          </a:p>
          <a:p>
            <a:pPr marL="368300" indent="-168275">
              <a:lnSpc>
                <a:spcPct val="100000"/>
              </a:lnSpc>
              <a:buFont typeface="Arial MT"/>
              <a:buChar char="•"/>
              <a:tabLst>
                <a:tab pos="368300" algn="l"/>
              </a:tabLst>
            </a:pPr>
            <a:r>
              <a:rPr sz="2000" b="1" dirty="0">
                <a:solidFill>
                  <a:srgbClr val="006FC0"/>
                </a:solidFill>
                <a:latin typeface="Times New Roman"/>
                <a:cs typeface="Times New Roman"/>
              </a:rPr>
              <a:t>Frequency</a:t>
            </a:r>
            <a:r>
              <a:rPr sz="2000" b="1" spc="-55" dirty="0">
                <a:solidFill>
                  <a:srgbClr val="006FC0"/>
                </a:solidFill>
                <a:latin typeface="Times New Roman"/>
                <a:cs typeface="Times New Roman"/>
              </a:rPr>
              <a:t> </a:t>
            </a:r>
            <a:r>
              <a:rPr sz="2000" b="1" spc="-10" dirty="0">
                <a:solidFill>
                  <a:srgbClr val="006FC0"/>
                </a:solidFill>
                <a:latin typeface="Times New Roman"/>
                <a:cs typeface="Times New Roman"/>
              </a:rPr>
              <a:t>Domain</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Linear</a:t>
            </a:r>
            <a:r>
              <a:rPr sz="2000" b="1" spc="-80" dirty="0">
                <a:solidFill>
                  <a:srgbClr val="C00000"/>
                </a:solidFill>
                <a:latin typeface="Times New Roman"/>
                <a:cs typeface="Times New Roman"/>
              </a:rPr>
              <a:t> </a:t>
            </a:r>
            <a:r>
              <a:rPr sz="2000" b="1" spc="-10" dirty="0">
                <a:solidFill>
                  <a:srgbClr val="C00000"/>
                </a:solidFill>
                <a:latin typeface="Times New Roman"/>
                <a:cs typeface="Times New Roman"/>
              </a:rPr>
              <a:t>Filters</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Smoothing</a:t>
            </a:r>
            <a:r>
              <a:rPr sz="2000" b="1" spc="-45" dirty="0">
                <a:solidFill>
                  <a:srgbClr val="C00000"/>
                </a:solidFill>
                <a:latin typeface="Times New Roman"/>
                <a:cs typeface="Times New Roman"/>
              </a:rPr>
              <a:t> </a:t>
            </a:r>
            <a:r>
              <a:rPr sz="2000" b="1" spc="-10" dirty="0">
                <a:solidFill>
                  <a:srgbClr val="C00000"/>
                </a:solidFill>
                <a:latin typeface="Times New Roman"/>
                <a:cs typeface="Times New Roman"/>
              </a:rPr>
              <a:t>Filters</a:t>
            </a:r>
            <a:endParaRPr sz="2000" dirty="0">
              <a:latin typeface="Times New Roman"/>
              <a:cs typeface="Times New Roman"/>
            </a:endParaRPr>
          </a:p>
          <a:p>
            <a:pPr marL="422275" lvl="1" indent="-236220">
              <a:lnSpc>
                <a:spcPct val="100000"/>
              </a:lnSpc>
              <a:buFont typeface="Arial MT"/>
              <a:buChar char="•"/>
              <a:tabLst>
                <a:tab pos="422275" algn="l"/>
              </a:tabLst>
            </a:pPr>
            <a:r>
              <a:rPr sz="2000" b="1" spc="-20" dirty="0">
                <a:solidFill>
                  <a:srgbClr val="006FC0"/>
                </a:solidFill>
                <a:latin typeface="Times New Roman"/>
                <a:cs typeface="Times New Roman"/>
              </a:rPr>
              <a:t>Average</a:t>
            </a:r>
            <a:r>
              <a:rPr sz="2000" b="1" spc="-50" dirty="0">
                <a:solidFill>
                  <a:srgbClr val="006FC0"/>
                </a:solidFill>
                <a:latin typeface="Times New Roman"/>
                <a:cs typeface="Times New Roman"/>
              </a:rPr>
              <a:t> </a:t>
            </a:r>
            <a:r>
              <a:rPr sz="2000" b="1" spc="-10" dirty="0">
                <a:solidFill>
                  <a:srgbClr val="006FC0"/>
                </a:solidFill>
                <a:latin typeface="Times New Roman"/>
                <a:cs typeface="Times New Roman"/>
              </a:rPr>
              <a:t>Filter</a:t>
            </a:r>
            <a:endParaRPr sz="2000" dirty="0">
              <a:latin typeface="Times New Roman"/>
              <a:cs typeface="Times New Roman"/>
            </a:endParaRPr>
          </a:p>
          <a:p>
            <a:pPr marL="372745" lvl="1" indent="-186690">
              <a:lnSpc>
                <a:spcPct val="100000"/>
              </a:lnSpc>
              <a:buFont typeface="Arial MT"/>
              <a:buChar char="•"/>
              <a:tabLst>
                <a:tab pos="372745" algn="l"/>
              </a:tabLst>
            </a:pPr>
            <a:r>
              <a:rPr sz="2000" b="1" dirty="0">
                <a:solidFill>
                  <a:srgbClr val="006FC0"/>
                </a:solidFill>
                <a:latin typeface="Times New Roman"/>
                <a:cs typeface="Times New Roman"/>
              </a:rPr>
              <a:t>Gaussian</a:t>
            </a:r>
            <a:r>
              <a:rPr sz="2000" b="1" spc="-40" dirty="0">
                <a:solidFill>
                  <a:srgbClr val="006FC0"/>
                </a:solidFill>
                <a:latin typeface="Times New Roman"/>
                <a:cs typeface="Times New Roman"/>
              </a:rPr>
              <a:t> </a:t>
            </a:r>
            <a:r>
              <a:rPr sz="2000" b="1" spc="-10" dirty="0">
                <a:solidFill>
                  <a:srgbClr val="006FC0"/>
                </a:solidFill>
                <a:latin typeface="Times New Roman"/>
                <a:cs typeface="Times New Roman"/>
              </a:rPr>
              <a:t>Filtering</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Nonlinear</a:t>
            </a:r>
            <a:r>
              <a:rPr sz="2000" b="1" spc="-110" dirty="0">
                <a:solidFill>
                  <a:srgbClr val="C00000"/>
                </a:solidFill>
                <a:latin typeface="Times New Roman"/>
                <a:cs typeface="Times New Roman"/>
              </a:rPr>
              <a:t> </a:t>
            </a:r>
            <a:r>
              <a:rPr sz="2000" b="1" spc="-10" dirty="0">
                <a:solidFill>
                  <a:srgbClr val="C00000"/>
                </a:solidFill>
                <a:latin typeface="Times New Roman"/>
                <a:cs typeface="Times New Roman"/>
              </a:rPr>
              <a:t>Filter</a:t>
            </a:r>
            <a:endParaRPr sz="2000" dirty="0">
              <a:latin typeface="Times New Roman"/>
              <a:cs typeface="Times New Roman"/>
            </a:endParaRPr>
          </a:p>
          <a:p>
            <a:pPr marL="372745" lvl="1" indent="-186690">
              <a:lnSpc>
                <a:spcPct val="100000"/>
              </a:lnSpc>
              <a:buFont typeface="Arial MT"/>
              <a:buChar char="•"/>
              <a:tabLst>
                <a:tab pos="372745" algn="l"/>
              </a:tabLst>
            </a:pPr>
            <a:r>
              <a:rPr sz="2000" b="1" dirty="0">
                <a:solidFill>
                  <a:srgbClr val="006FC0"/>
                </a:solidFill>
                <a:latin typeface="Times New Roman"/>
                <a:cs typeface="Times New Roman"/>
              </a:rPr>
              <a:t>Median</a:t>
            </a:r>
            <a:r>
              <a:rPr sz="2000" b="1" spc="-25" dirty="0">
                <a:solidFill>
                  <a:srgbClr val="006FC0"/>
                </a:solidFill>
                <a:latin typeface="Times New Roman"/>
                <a:cs typeface="Times New Roman"/>
              </a:rPr>
              <a:t> </a:t>
            </a:r>
            <a:r>
              <a:rPr sz="2000" b="1" spc="-10" dirty="0">
                <a:solidFill>
                  <a:srgbClr val="006FC0"/>
                </a:solidFill>
                <a:latin typeface="Times New Roman"/>
                <a:cs typeface="Times New Roman"/>
              </a:rPr>
              <a:t>filter</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Sharpening</a:t>
            </a:r>
            <a:r>
              <a:rPr sz="2000" b="1" spc="-40" dirty="0">
                <a:solidFill>
                  <a:srgbClr val="C00000"/>
                </a:solidFill>
                <a:latin typeface="Times New Roman"/>
                <a:cs typeface="Times New Roman"/>
              </a:rPr>
              <a:t> </a:t>
            </a:r>
            <a:r>
              <a:rPr sz="2000" b="1" spc="-10" dirty="0">
                <a:solidFill>
                  <a:srgbClr val="C00000"/>
                </a:solidFill>
                <a:latin typeface="Times New Roman"/>
                <a:cs typeface="Times New Roman"/>
              </a:rPr>
              <a:t>Filters</a:t>
            </a:r>
            <a:endParaRPr sz="2000" dirty="0">
              <a:latin typeface="Times New Roman"/>
              <a:cs typeface="Times New Roman"/>
            </a:endParaRPr>
          </a:p>
          <a:p>
            <a:pPr marL="372745" lvl="1" indent="-186690">
              <a:lnSpc>
                <a:spcPct val="100000"/>
              </a:lnSpc>
              <a:spcBef>
                <a:spcPts val="5"/>
              </a:spcBef>
              <a:buFont typeface="Arial MT"/>
              <a:buChar char="•"/>
              <a:tabLst>
                <a:tab pos="372745" algn="l"/>
              </a:tabLst>
            </a:pPr>
            <a:r>
              <a:rPr sz="2000" b="1" dirty="0">
                <a:solidFill>
                  <a:srgbClr val="006FC0"/>
                </a:solidFill>
                <a:latin typeface="Times New Roman"/>
                <a:cs typeface="Times New Roman"/>
              </a:rPr>
              <a:t>Laplacian</a:t>
            </a:r>
            <a:r>
              <a:rPr sz="2000" b="1" spc="-45" dirty="0">
                <a:solidFill>
                  <a:srgbClr val="006FC0"/>
                </a:solidFill>
                <a:latin typeface="Times New Roman"/>
                <a:cs typeface="Times New Roman"/>
              </a:rPr>
              <a:t> </a:t>
            </a:r>
            <a:r>
              <a:rPr sz="2000" b="1" spc="-10" dirty="0">
                <a:solidFill>
                  <a:srgbClr val="006FC0"/>
                </a:solidFill>
                <a:latin typeface="Times New Roman"/>
                <a:cs typeface="Times New Roman"/>
              </a:rPr>
              <a:t>Filter</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Edge</a:t>
            </a:r>
            <a:r>
              <a:rPr sz="2000" b="1" spc="-40" dirty="0">
                <a:solidFill>
                  <a:srgbClr val="C00000"/>
                </a:solidFill>
                <a:latin typeface="Times New Roman"/>
                <a:cs typeface="Times New Roman"/>
              </a:rPr>
              <a:t> </a:t>
            </a:r>
            <a:r>
              <a:rPr sz="2000" b="1" spc="-10" dirty="0">
                <a:solidFill>
                  <a:srgbClr val="C00000"/>
                </a:solidFill>
                <a:latin typeface="Times New Roman"/>
                <a:cs typeface="Times New Roman"/>
              </a:rPr>
              <a:t>Detection</a:t>
            </a:r>
            <a:endParaRPr sz="2000" dirty="0">
              <a:latin typeface="Times New Roman"/>
              <a:cs typeface="Times New Roman"/>
            </a:endParaRPr>
          </a:p>
          <a:p>
            <a:pPr marL="372745" lvl="1" indent="-186690">
              <a:lnSpc>
                <a:spcPct val="100000"/>
              </a:lnSpc>
              <a:buFont typeface="Arial MT"/>
              <a:buChar char="•"/>
              <a:tabLst>
                <a:tab pos="372745" algn="l"/>
              </a:tabLst>
            </a:pPr>
            <a:r>
              <a:rPr sz="2000" b="1" dirty="0">
                <a:solidFill>
                  <a:srgbClr val="006FC0"/>
                </a:solidFill>
                <a:latin typeface="Times New Roman"/>
                <a:cs typeface="Times New Roman"/>
              </a:rPr>
              <a:t>Sobel</a:t>
            </a:r>
            <a:r>
              <a:rPr sz="2000" b="1" spc="-20" dirty="0">
                <a:solidFill>
                  <a:srgbClr val="006FC0"/>
                </a:solidFill>
                <a:latin typeface="Times New Roman"/>
                <a:cs typeface="Times New Roman"/>
              </a:rPr>
              <a:t> </a:t>
            </a:r>
            <a:r>
              <a:rPr sz="2000" b="1" spc="-10" dirty="0">
                <a:solidFill>
                  <a:srgbClr val="006FC0"/>
                </a:solidFill>
                <a:latin typeface="Times New Roman"/>
                <a:cs typeface="Times New Roman"/>
              </a:rPr>
              <a:t>Operators</a:t>
            </a:r>
            <a:endParaRPr sz="2000" dirty="0">
              <a:latin typeface="Times New Roman"/>
              <a:cs typeface="Times New Roman"/>
            </a:endParaRPr>
          </a:p>
          <a:p>
            <a:pPr marL="331470" indent="-318770">
              <a:lnSpc>
                <a:spcPct val="100000"/>
              </a:lnSpc>
              <a:buAutoNum type="arabicPeriod" startAt="2"/>
              <a:tabLst>
                <a:tab pos="331470" algn="l"/>
              </a:tabLst>
            </a:pPr>
            <a:r>
              <a:rPr sz="2000" b="1" dirty="0">
                <a:solidFill>
                  <a:srgbClr val="C00000"/>
                </a:solidFill>
                <a:latin typeface="Times New Roman"/>
                <a:cs typeface="Times New Roman"/>
              </a:rPr>
              <a:t>Combining</a:t>
            </a:r>
            <a:r>
              <a:rPr sz="2000" b="1" spc="-45" dirty="0">
                <a:solidFill>
                  <a:srgbClr val="C00000"/>
                </a:solidFill>
                <a:latin typeface="Times New Roman"/>
                <a:cs typeface="Times New Roman"/>
              </a:rPr>
              <a:t> </a:t>
            </a:r>
            <a:r>
              <a:rPr sz="2000" b="1" dirty="0">
                <a:solidFill>
                  <a:srgbClr val="C00000"/>
                </a:solidFill>
                <a:latin typeface="Times New Roman"/>
                <a:cs typeface="Times New Roman"/>
              </a:rPr>
              <a:t>image</a:t>
            </a:r>
            <a:r>
              <a:rPr sz="2000" b="1" spc="-35" dirty="0">
                <a:solidFill>
                  <a:srgbClr val="C00000"/>
                </a:solidFill>
                <a:latin typeface="Times New Roman"/>
                <a:cs typeface="Times New Roman"/>
              </a:rPr>
              <a:t> </a:t>
            </a:r>
            <a:r>
              <a:rPr sz="2000" b="1" dirty="0">
                <a:solidFill>
                  <a:srgbClr val="C00000"/>
                </a:solidFill>
                <a:latin typeface="Times New Roman"/>
                <a:cs typeface="Times New Roman"/>
              </a:rPr>
              <a:t>enhancement</a:t>
            </a:r>
            <a:r>
              <a:rPr sz="2000" b="1" spc="-50" dirty="0">
                <a:solidFill>
                  <a:srgbClr val="C00000"/>
                </a:solidFill>
                <a:latin typeface="Times New Roman"/>
                <a:cs typeface="Times New Roman"/>
              </a:rPr>
              <a:t> </a:t>
            </a:r>
            <a:r>
              <a:rPr sz="2000" b="1" spc="-10" dirty="0">
                <a:solidFill>
                  <a:srgbClr val="C00000"/>
                </a:solidFill>
                <a:latin typeface="Times New Roman"/>
                <a:cs typeface="Times New Roman"/>
              </a:rPr>
              <a:t>methods</a:t>
            </a:r>
            <a:endParaRPr sz="2000" dirty="0">
              <a:latin typeface="Times New Roman"/>
              <a:cs typeface="Times New Roman"/>
            </a:endParaRPr>
          </a:p>
        </p:txBody>
      </p:sp>
      <p:grpSp>
        <p:nvGrpSpPr>
          <p:cNvPr id="9" name="object 9"/>
          <p:cNvGrpSpPr/>
          <p:nvPr/>
        </p:nvGrpSpPr>
        <p:grpSpPr>
          <a:xfrm>
            <a:off x="6333045" y="1331150"/>
            <a:ext cx="2251710" cy="1694180"/>
            <a:chOff x="6333045" y="1331150"/>
            <a:chExt cx="2251710" cy="1694180"/>
          </a:xfrm>
        </p:grpSpPr>
        <p:pic>
          <p:nvPicPr>
            <p:cNvPr id="10" name="object 10"/>
            <p:cNvPicPr/>
            <p:nvPr/>
          </p:nvPicPr>
          <p:blipFill>
            <a:blip r:embed="rId2" cstate="print"/>
            <a:stretch>
              <a:fillRect/>
            </a:stretch>
          </p:blipFill>
          <p:spPr>
            <a:xfrm>
              <a:off x="6367280" y="1392938"/>
              <a:ext cx="2137213" cy="1584967"/>
            </a:xfrm>
            <a:prstGeom prst="rect">
              <a:avLst/>
            </a:prstGeom>
          </p:spPr>
        </p:pic>
        <p:sp>
          <p:nvSpPr>
            <p:cNvPr id="11" name="object 11"/>
            <p:cNvSpPr/>
            <p:nvPr/>
          </p:nvSpPr>
          <p:spPr>
            <a:xfrm>
              <a:off x="6337808" y="1335913"/>
              <a:ext cx="2242185" cy="1684655"/>
            </a:xfrm>
            <a:custGeom>
              <a:avLst/>
              <a:gdLst/>
              <a:ahLst/>
              <a:cxnLst/>
              <a:rect l="l" t="t" r="r" b="b"/>
              <a:pathLst>
                <a:path w="2242184" h="1684655">
                  <a:moveTo>
                    <a:pt x="0" y="1684655"/>
                  </a:moveTo>
                  <a:lnTo>
                    <a:pt x="2241804" y="1684655"/>
                  </a:lnTo>
                  <a:lnTo>
                    <a:pt x="2241804" y="0"/>
                  </a:lnTo>
                  <a:lnTo>
                    <a:pt x="0" y="0"/>
                  </a:lnTo>
                  <a:lnTo>
                    <a:pt x="0" y="1684655"/>
                  </a:lnTo>
                  <a:close/>
                </a:path>
              </a:pathLst>
            </a:custGeom>
            <a:ln w="9525">
              <a:solidFill>
                <a:srgbClr val="000000"/>
              </a:solidFill>
            </a:ln>
          </p:spPr>
          <p:txBody>
            <a:bodyPr wrap="square" lIns="0" tIns="0" rIns="0" bIns="0" rtlCol="0"/>
            <a:lstStyle/>
            <a:p>
              <a:endParaRPr/>
            </a:p>
          </p:txBody>
        </p:sp>
      </p:grpSp>
      <p:sp>
        <p:nvSpPr>
          <p:cNvPr id="12" name="object 12"/>
          <p:cNvSpPr/>
          <p:nvPr/>
        </p:nvSpPr>
        <p:spPr>
          <a:xfrm>
            <a:off x="6342634" y="3715892"/>
            <a:ext cx="2232660" cy="1649730"/>
          </a:xfrm>
          <a:custGeom>
            <a:avLst/>
            <a:gdLst/>
            <a:ahLst/>
            <a:cxnLst/>
            <a:rect l="l" t="t" r="r" b="b"/>
            <a:pathLst>
              <a:path w="2232659" h="1649729">
                <a:moveTo>
                  <a:pt x="0" y="1649349"/>
                </a:moveTo>
                <a:lnTo>
                  <a:pt x="2232279" y="1649349"/>
                </a:lnTo>
                <a:lnTo>
                  <a:pt x="2232279" y="0"/>
                </a:lnTo>
                <a:lnTo>
                  <a:pt x="0" y="0"/>
                </a:lnTo>
                <a:lnTo>
                  <a:pt x="0" y="1649349"/>
                </a:lnTo>
                <a:close/>
              </a:path>
            </a:pathLst>
          </a:custGeom>
          <a:ln w="9525">
            <a:solidFill>
              <a:srgbClr val="000000"/>
            </a:solidFill>
          </a:ln>
        </p:spPr>
        <p:txBody>
          <a:bodyPr wrap="square" lIns="0" tIns="0" rIns="0" bIns="0" rtlCol="0"/>
          <a:lstStyle/>
          <a:p>
            <a:endParaRPr/>
          </a:p>
        </p:txBody>
      </p:sp>
      <p:sp>
        <p:nvSpPr>
          <p:cNvPr id="13" name="object 13"/>
          <p:cNvSpPr txBox="1"/>
          <p:nvPr/>
        </p:nvSpPr>
        <p:spPr>
          <a:xfrm>
            <a:off x="6422516" y="4237735"/>
            <a:ext cx="34036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h </a:t>
            </a:r>
            <a:r>
              <a:rPr sz="1800" b="1" spc="-50" dirty="0">
                <a:latin typeface="Times New Roman"/>
                <a:cs typeface="Times New Roman"/>
              </a:rPr>
              <a:t>=</a:t>
            </a:r>
            <a:endParaRPr sz="1800">
              <a:latin typeface="Times New Roman"/>
              <a:cs typeface="Times New Roman"/>
            </a:endParaRPr>
          </a:p>
        </p:txBody>
      </p:sp>
      <p:sp>
        <p:nvSpPr>
          <p:cNvPr id="14" name="object 14"/>
          <p:cNvSpPr/>
          <p:nvPr/>
        </p:nvSpPr>
        <p:spPr>
          <a:xfrm>
            <a:off x="7881366" y="3831589"/>
            <a:ext cx="67310" cy="1162050"/>
          </a:xfrm>
          <a:custGeom>
            <a:avLst/>
            <a:gdLst/>
            <a:ahLst/>
            <a:cxnLst/>
            <a:rect l="l" t="t" r="r" b="b"/>
            <a:pathLst>
              <a:path w="67309" h="1162050">
                <a:moveTo>
                  <a:pt x="67183" y="0"/>
                </a:moveTo>
                <a:lnTo>
                  <a:pt x="0" y="0"/>
                </a:lnTo>
                <a:lnTo>
                  <a:pt x="0" y="10160"/>
                </a:lnTo>
                <a:lnTo>
                  <a:pt x="43815" y="10160"/>
                </a:lnTo>
                <a:lnTo>
                  <a:pt x="43815" y="1151890"/>
                </a:lnTo>
                <a:lnTo>
                  <a:pt x="0" y="1151890"/>
                </a:lnTo>
                <a:lnTo>
                  <a:pt x="0" y="1162050"/>
                </a:lnTo>
                <a:lnTo>
                  <a:pt x="67183" y="1162050"/>
                </a:lnTo>
                <a:lnTo>
                  <a:pt x="67183" y="1151890"/>
                </a:lnTo>
                <a:lnTo>
                  <a:pt x="67183" y="10160"/>
                </a:lnTo>
                <a:lnTo>
                  <a:pt x="67183" y="0"/>
                </a:lnTo>
                <a:close/>
              </a:path>
            </a:pathLst>
          </a:custGeom>
          <a:solidFill>
            <a:srgbClr val="000000"/>
          </a:solidFill>
        </p:spPr>
        <p:txBody>
          <a:bodyPr wrap="square" lIns="0" tIns="0" rIns="0" bIns="0" rtlCol="0"/>
          <a:lstStyle/>
          <a:p>
            <a:endParaRPr/>
          </a:p>
        </p:txBody>
      </p:sp>
      <p:sp>
        <p:nvSpPr>
          <p:cNvPr id="15" name="object 15"/>
          <p:cNvSpPr/>
          <p:nvPr/>
        </p:nvSpPr>
        <p:spPr>
          <a:xfrm>
            <a:off x="6870954" y="4983479"/>
            <a:ext cx="67310" cy="10160"/>
          </a:xfrm>
          <a:custGeom>
            <a:avLst/>
            <a:gdLst/>
            <a:ahLst/>
            <a:cxnLst/>
            <a:rect l="l" t="t" r="r" b="b"/>
            <a:pathLst>
              <a:path w="67309" h="10160">
                <a:moveTo>
                  <a:pt x="0" y="10160"/>
                </a:moveTo>
                <a:lnTo>
                  <a:pt x="67182" y="10160"/>
                </a:lnTo>
                <a:lnTo>
                  <a:pt x="67182" y="0"/>
                </a:lnTo>
                <a:lnTo>
                  <a:pt x="0" y="0"/>
                </a:lnTo>
                <a:lnTo>
                  <a:pt x="0" y="10160"/>
                </a:lnTo>
                <a:close/>
              </a:path>
            </a:pathLst>
          </a:custGeom>
          <a:solidFill>
            <a:srgbClr val="000000"/>
          </a:solidFill>
        </p:spPr>
        <p:txBody>
          <a:bodyPr wrap="square" lIns="0" tIns="0" rIns="0" bIns="0" rtlCol="0"/>
          <a:lstStyle/>
          <a:p>
            <a:endParaRPr/>
          </a:p>
        </p:txBody>
      </p:sp>
      <p:graphicFrame>
        <p:nvGraphicFramePr>
          <p:cNvPr id="16" name="object 16"/>
          <p:cNvGraphicFramePr>
            <a:graphicFrameLocks noGrp="1"/>
          </p:cNvGraphicFramePr>
          <p:nvPr/>
        </p:nvGraphicFramePr>
        <p:xfrm>
          <a:off x="6870954" y="3715892"/>
          <a:ext cx="974723" cy="1349372"/>
        </p:xfrm>
        <a:graphic>
          <a:graphicData uri="http://schemas.openxmlformats.org/drawingml/2006/table">
            <a:tbl>
              <a:tblPr firstRow="1" bandRow="1">
                <a:tableStyleId>{2D5ABB26-0587-4C30-8999-92F81FD0307C}</a:tableStyleId>
              </a:tblPr>
              <a:tblGrid>
                <a:gridCol w="220979">
                  <a:extLst>
                    <a:ext uri="{9D8B030D-6E8A-4147-A177-3AD203B41FA5}">
                      <a16:colId xmlns:a16="http://schemas.microsoft.com/office/drawing/2014/main" val="20000"/>
                    </a:ext>
                  </a:extLst>
                </a:gridCol>
                <a:gridCol w="241300">
                  <a:extLst>
                    <a:ext uri="{9D8B030D-6E8A-4147-A177-3AD203B41FA5}">
                      <a16:colId xmlns:a16="http://schemas.microsoft.com/office/drawing/2014/main" val="20001"/>
                    </a:ext>
                  </a:extLst>
                </a:gridCol>
                <a:gridCol w="160654">
                  <a:extLst>
                    <a:ext uri="{9D8B030D-6E8A-4147-A177-3AD203B41FA5}">
                      <a16:colId xmlns:a16="http://schemas.microsoft.com/office/drawing/2014/main" val="20002"/>
                    </a:ext>
                  </a:extLst>
                </a:gridCol>
                <a:gridCol w="241300">
                  <a:extLst>
                    <a:ext uri="{9D8B030D-6E8A-4147-A177-3AD203B41FA5}">
                      <a16:colId xmlns:a16="http://schemas.microsoft.com/office/drawing/2014/main" val="20003"/>
                    </a:ext>
                  </a:extLst>
                </a:gridCol>
                <a:gridCol w="110490">
                  <a:extLst>
                    <a:ext uri="{9D8B030D-6E8A-4147-A177-3AD203B41FA5}">
                      <a16:colId xmlns:a16="http://schemas.microsoft.com/office/drawing/2014/main" val="20004"/>
                    </a:ext>
                  </a:extLst>
                </a:gridCol>
              </a:tblGrid>
              <a:tr h="260350">
                <a:tc>
                  <a:txBody>
                    <a:bodyPr/>
                    <a:lstStyle/>
                    <a:p>
                      <a:pPr marL="111760">
                        <a:lnSpc>
                          <a:spcPct val="100000"/>
                        </a:lnSpc>
                        <a:spcBef>
                          <a:spcPts val="215"/>
                        </a:spcBef>
                      </a:pPr>
                      <a:r>
                        <a:rPr sz="1300" spc="-50" dirty="0">
                          <a:latin typeface="Cambria Math"/>
                          <a:cs typeface="Cambria Math"/>
                        </a:rPr>
                        <a:t>𝟏</a:t>
                      </a:r>
                      <a:endParaRPr sz="1300">
                        <a:latin typeface="Cambria Math"/>
                        <a:cs typeface="Cambria Math"/>
                      </a:endParaRPr>
                    </a:p>
                  </a:txBody>
                  <a:tcPr marL="0" marR="0" marT="27305" marB="0">
                    <a:lnL w="28575">
                      <a:solidFill>
                        <a:srgbClr val="000000"/>
                      </a:solidFill>
                      <a:prstDash val="solid"/>
                    </a:lnL>
                  </a:tcPr>
                </a:tc>
                <a:tc>
                  <a:txBody>
                    <a:bodyPr/>
                    <a:lstStyle/>
                    <a:p>
                      <a:pPr>
                        <a:lnSpc>
                          <a:spcPct val="100000"/>
                        </a:lnSpc>
                      </a:pPr>
                      <a:endParaRPr sz="1600">
                        <a:latin typeface="Times New Roman"/>
                        <a:cs typeface="Times New Roman"/>
                      </a:endParaRPr>
                    </a:p>
                  </a:txBody>
                  <a:tcPr marL="0" marR="0" marT="0" marB="0"/>
                </a:tc>
                <a:tc>
                  <a:txBody>
                    <a:bodyPr/>
                    <a:lstStyle/>
                    <a:p>
                      <a:pPr marL="51435">
                        <a:lnSpc>
                          <a:spcPct val="100000"/>
                        </a:lnSpc>
                        <a:spcBef>
                          <a:spcPts val="215"/>
                        </a:spcBef>
                      </a:pPr>
                      <a:r>
                        <a:rPr sz="1300" spc="-50" dirty="0">
                          <a:latin typeface="Cambria Math"/>
                          <a:cs typeface="Cambria Math"/>
                        </a:rPr>
                        <a:t>𝟏</a:t>
                      </a:r>
                      <a:endParaRPr sz="1300">
                        <a:latin typeface="Cambria Math"/>
                        <a:cs typeface="Cambria Math"/>
                      </a:endParaRPr>
                    </a:p>
                  </a:txBody>
                  <a:tcPr marL="0" marR="0" marT="27305" marB="0"/>
                </a:tc>
                <a:tc>
                  <a:txBody>
                    <a:bodyPr/>
                    <a:lstStyle/>
                    <a:p>
                      <a:pPr>
                        <a:lnSpc>
                          <a:spcPct val="100000"/>
                        </a:lnSpc>
                      </a:pPr>
                      <a:endParaRPr sz="1600">
                        <a:latin typeface="Times New Roman"/>
                        <a:cs typeface="Times New Roman"/>
                      </a:endParaRPr>
                    </a:p>
                  </a:txBody>
                  <a:tcPr marL="0" marR="0" marT="0" marB="0"/>
                </a:tc>
                <a:tc>
                  <a:txBody>
                    <a:bodyPr/>
                    <a:lstStyle/>
                    <a:p>
                      <a:pPr marL="1270" algn="ctr">
                        <a:lnSpc>
                          <a:spcPct val="100000"/>
                        </a:lnSpc>
                        <a:spcBef>
                          <a:spcPts val="215"/>
                        </a:spcBef>
                      </a:pPr>
                      <a:r>
                        <a:rPr sz="1300" spc="-50" dirty="0">
                          <a:latin typeface="Cambria Math"/>
                          <a:cs typeface="Cambria Math"/>
                        </a:rPr>
                        <a:t>𝟏</a:t>
                      </a:r>
                      <a:endParaRPr sz="1300">
                        <a:latin typeface="Cambria Math"/>
                        <a:cs typeface="Cambria Math"/>
                      </a:endParaRPr>
                    </a:p>
                  </a:txBody>
                  <a:tcPr marL="0" marR="0" marT="27305" marB="0">
                    <a:lnB w="19050">
                      <a:solidFill>
                        <a:srgbClr val="000000"/>
                      </a:solidFill>
                      <a:prstDash val="solid"/>
                    </a:lnB>
                  </a:tcPr>
                </a:tc>
                <a:extLst>
                  <a:ext uri="{0D108BD9-81ED-4DB2-BD59-A6C34878D82A}">
                    <a16:rowId xmlns:a16="http://schemas.microsoft.com/office/drawing/2014/main" val="10000"/>
                  </a:ext>
                </a:extLst>
              </a:tr>
              <a:tr h="435609">
                <a:tc>
                  <a:txBody>
                    <a:bodyPr/>
                    <a:lstStyle/>
                    <a:p>
                      <a:pPr marL="111760">
                        <a:lnSpc>
                          <a:spcPts val="1520"/>
                        </a:lnSpc>
                        <a:spcBef>
                          <a:spcPts val="120"/>
                        </a:spcBef>
                      </a:pPr>
                      <a:r>
                        <a:rPr sz="1300" spc="-50" dirty="0">
                          <a:latin typeface="Cambria Math"/>
                          <a:cs typeface="Cambria Math"/>
                        </a:rPr>
                        <a:t>𝟗</a:t>
                      </a:r>
                      <a:endParaRPr sz="1300">
                        <a:latin typeface="Cambria Math"/>
                        <a:cs typeface="Cambria Math"/>
                      </a:endParaRPr>
                    </a:p>
                    <a:p>
                      <a:pPr marL="111760">
                        <a:lnSpc>
                          <a:spcPts val="1520"/>
                        </a:lnSpc>
                      </a:pPr>
                      <a:r>
                        <a:rPr sz="1300" spc="-50" dirty="0">
                          <a:latin typeface="Cambria Math"/>
                          <a:cs typeface="Cambria Math"/>
                        </a:rPr>
                        <a:t>𝟏</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marL="51435">
                        <a:lnSpc>
                          <a:spcPts val="1520"/>
                        </a:lnSpc>
                        <a:spcBef>
                          <a:spcPts val="120"/>
                        </a:spcBef>
                      </a:pPr>
                      <a:r>
                        <a:rPr sz="1300" spc="-50" dirty="0">
                          <a:latin typeface="Cambria Math"/>
                          <a:cs typeface="Cambria Math"/>
                        </a:rPr>
                        <a:t>𝟗</a:t>
                      </a:r>
                      <a:endParaRPr sz="1300">
                        <a:latin typeface="Cambria Math"/>
                        <a:cs typeface="Cambria Math"/>
                      </a:endParaRPr>
                    </a:p>
                    <a:p>
                      <a:pPr marL="51435">
                        <a:lnSpc>
                          <a:spcPts val="1520"/>
                        </a:lnSpc>
                      </a:pPr>
                      <a:r>
                        <a:rPr sz="1300" spc="-50" dirty="0">
                          <a:latin typeface="Cambria Math"/>
                          <a:cs typeface="Cambria Math"/>
                        </a:rPr>
                        <a:t>𝟏</a:t>
                      </a:r>
                      <a:endParaRPr sz="1300">
                        <a:latin typeface="Cambria Math"/>
                        <a:cs typeface="Cambria Math"/>
                      </a:endParaRPr>
                    </a:p>
                  </a:txBody>
                  <a:tcPr marL="0" marR="0" marT="15240" marB="0"/>
                </a:tc>
                <a:tc>
                  <a:txBody>
                    <a:bodyPr/>
                    <a:lstStyle/>
                    <a:p>
                      <a:pPr>
                        <a:lnSpc>
                          <a:spcPct val="100000"/>
                        </a:lnSpc>
                      </a:pPr>
                      <a:endParaRPr sz="1900">
                        <a:latin typeface="Times New Roman"/>
                        <a:cs typeface="Times New Roman"/>
                      </a:endParaRPr>
                    </a:p>
                  </a:txBody>
                  <a:tcPr marL="0" marR="0" marT="0" marB="0"/>
                </a:tc>
                <a:tc>
                  <a:txBody>
                    <a:bodyPr/>
                    <a:lstStyle/>
                    <a:p>
                      <a:pPr marL="1270">
                        <a:lnSpc>
                          <a:spcPts val="1520"/>
                        </a:lnSpc>
                        <a:spcBef>
                          <a:spcPts val="120"/>
                        </a:spcBef>
                      </a:pPr>
                      <a:r>
                        <a:rPr sz="1300" spc="-50" dirty="0">
                          <a:latin typeface="Cambria Math"/>
                          <a:cs typeface="Cambria Math"/>
                        </a:rPr>
                        <a:t>𝟗</a:t>
                      </a:r>
                      <a:endParaRPr sz="1300">
                        <a:latin typeface="Cambria Math"/>
                        <a:cs typeface="Cambria Math"/>
                      </a:endParaRPr>
                    </a:p>
                    <a:p>
                      <a:pPr marL="1270">
                        <a:lnSpc>
                          <a:spcPts val="1520"/>
                        </a:lnSpc>
                      </a:pPr>
                      <a:r>
                        <a:rPr sz="1300" spc="-50" dirty="0">
                          <a:latin typeface="Cambria Math"/>
                          <a:cs typeface="Cambria Math"/>
                        </a:rPr>
                        <a:t>𝟏</a:t>
                      </a:r>
                      <a:endParaRPr sz="1300">
                        <a:latin typeface="Cambria Math"/>
                        <a:cs typeface="Cambria Math"/>
                      </a:endParaRPr>
                    </a:p>
                  </a:txBody>
                  <a:tcPr marL="0" marR="0" marT="15240" marB="0">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435609">
                <a:tc>
                  <a:txBody>
                    <a:bodyPr/>
                    <a:lstStyle/>
                    <a:p>
                      <a:pPr marL="111760">
                        <a:lnSpc>
                          <a:spcPts val="1520"/>
                        </a:lnSpc>
                        <a:spcBef>
                          <a:spcPts val="120"/>
                        </a:spcBef>
                      </a:pPr>
                      <a:r>
                        <a:rPr sz="1300" spc="-50" dirty="0">
                          <a:latin typeface="Cambria Math"/>
                          <a:cs typeface="Cambria Math"/>
                        </a:rPr>
                        <a:t>𝟗</a:t>
                      </a:r>
                      <a:endParaRPr sz="1300">
                        <a:latin typeface="Cambria Math"/>
                        <a:cs typeface="Cambria Math"/>
                      </a:endParaRPr>
                    </a:p>
                    <a:p>
                      <a:pPr marL="60960" marR="3175">
                        <a:lnSpc>
                          <a:spcPts val="1520"/>
                        </a:lnSpc>
                      </a:pPr>
                      <a:r>
                        <a:rPr sz="1300" spc="-50" dirty="0">
                          <a:latin typeface="Cambria Math"/>
                          <a:cs typeface="Cambria Math"/>
                        </a:rPr>
                        <a:t>𝟏</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marL="51435">
                        <a:lnSpc>
                          <a:spcPts val="1520"/>
                        </a:lnSpc>
                        <a:spcBef>
                          <a:spcPts val="120"/>
                        </a:spcBef>
                      </a:pPr>
                      <a:r>
                        <a:rPr sz="1300" spc="-50" dirty="0">
                          <a:latin typeface="Cambria Math"/>
                          <a:cs typeface="Cambria Math"/>
                        </a:rPr>
                        <a:t>𝟗</a:t>
                      </a:r>
                      <a:endParaRPr sz="1300">
                        <a:latin typeface="Cambria Math"/>
                        <a:cs typeface="Cambria Math"/>
                      </a:endParaRPr>
                    </a:p>
                    <a:p>
                      <a:pPr marL="1270" marR="3175">
                        <a:lnSpc>
                          <a:spcPts val="1520"/>
                        </a:lnSpc>
                      </a:pPr>
                      <a:r>
                        <a:rPr sz="1300" spc="-50" dirty="0">
                          <a:latin typeface="Cambria Math"/>
                          <a:cs typeface="Cambria Math"/>
                        </a:rPr>
                        <a:t>𝟏</a:t>
                      </a:r>
                      <a:endParaRPr sz="1300">
                        <a:latin typeface="Cambria Math"/>
                        <a:cs typeface="Cambria Math"/>
                      </a:endParaRPr>
                    </a:p>
                  </a:txBody>
                  <a:tcPr marL="0" marR="0" marT="15240" marB="0"/>
                </a:tc>
                <a:tc>
                  <a:txBody>
                    <a:bodyPr/>
                    <a:lstStyle/>
                    <a:p>
                      <a:pPr>
                        <a:lnSpc>
                          <a:spcPct val="100000"/>
                        </a:lnSpc>
                      </a:pPr>
                      <a:endParaRPr sz="1900">
                        <a:latin typeface="Times New Roman"/>
                        <a:cs typeface="Times New Roman"/>
                      </a:endParaRPr>
                    </a:p>
                  </a:txBody>
                  <a:tcPr marL="0" marR="0" marT="0" marB="0"/>
                </a:tc>
                <a:tc>
                  <a:txBody>
                    <a:bodyPr/>
                    <a:lstStyle/>
                    <a:p>
                      <a:pPr marL="1270">
                        <a:lnSpc>
                          <a:spcPts val="1520"/>
                        </a:lnSpc>
                        <a:spcBef>
                          <a:spcPts val="120"/>
                        </a:spcBef>
                      </a:pPr>
                      <a:r>
                        <a:rPr sz="1300" spc="-50" dirty="0">
                          <a:latin typeface="Cambria Math"/>
                          <a:cs typeface="Cambria Math"/>
                        </a:rPr>
                        <a:t>𝟗</a:t>
                      </a:r>
                      <a:endParaRPr sz="1300">
                        <a:latin typeface="Cambria Math"/>
                        <a:cs typeface="Cambria Math"/>
                      </a:endParaRPr>
                    </a:p>
                    <a:p>
                      <a:pPr marL="1270">
                        <a:lnSpc>
                          <a:spcPts val="1520"/>
                        </a:lnSpc>
                      </a:pPr>
                      <a:r>
                        <a:rPr sz="1300" spc="-50" dirty="0">
                          <a:latin typeface="Cambria Math"/>
                          <a:cs typeface="Cambria Math"/>
                        </a:rPr>
                        <a:t>𝟏</a:t>
                      </a:r>
                      <a:endParaRPr sz="1300">
                        <a:latin typeface="Cambria Math"/>
                        <a:cs typeface="Cambria Math"/>
                      </a:endParaRPr>
                    </a:p>
                  </a:txBody>
                  <a:tcPr marL="0" marR="0" marT="15240" marB="0">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217804">
                <a:tc>
                  <a:txBody>
                    <a:bodyPr/>
                    <a:lstStyle/>
                    <a:p>
                      <a:pPr marL="60960" marR="3175">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marL="1270" marR="3175">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tc>
                <a:tc>
                  <a:txBody>
                    <a:bodyPr/>
                    <a:lstStyle/>
                    <a:p>
                      <a:pPr>
                        <a:lnSpc>
                          <a:spcPct val="100000"/>
                        </a:lnSpc>
                      </a:pPr>
                      <a:endParaRPr sz="1300">
                        <a:latin typeface="Times New Roman"/>
                        <a:cs typeface="Times New Roman"/>
                      </a:endParaRPr>
                    </a:p>
                  </a:txBody>
                  <a:tcPr marL="0" marR="0" marT="0" marB="0"/>
                </a:tc>
                <a:tc>
                  <a:txBody>
                    <a:bodyPr/>
                    <a:lstStyle/>
                    <a:p>
                      <a:pPr marL="1270" algn="ctr">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lnT w="19050">
                      <a:solidFill>
                        <a:srgbClr val="000000"/>
                      </a:solidFill>
                      <a:prstDash val="solid"/>
                    </a:lnT>
                  </a:tcPr>
                </a:tc>
                <a:extLst>
                  <a:ext uri="{0D108BD9-81ED-4DB2-BD59-A6C34878D82A}">
                    <a16:rowId xmlns:a16="http://schemas.microsoft.com/office/drawing/2014/main" val="10003"/>
                  </a:ext>
                </a:extLst>
              </a:tr>
            </a:tbl>
          </a:graphicData>
        </a:graphic>
      </p:graphicFrame>
      <p:sp>
        <p:nvSpPr>
          <p:cNvPr id="17" name="object 17"/>
          <p:cNvSpPr/>
          <p:nvPr/>
        </p:nvSpPr>
        <p:spPr>
          <a:xfrm>
            <a:off x="6870954" y="3831590"/>
            <a:ext cx="67310" cy="10160"/>
          </a:xfrm>
          <a:custGeom>
            <a:avLst/>
            <a:gdLst/>
            <a:ahLst/>
            <a:cxnLst/>
            <a:rect l="l" t="t" r="r" b="b"/>
            <a:pathLst>
              <a:path w="67309" h="10160">
                <a:moveTo>
                  <a:pt x="0" y="10160"/>
                </a:moveTo>
                <a:lnTo>
                  <a:pt x="67182" y="10160"/>
                </a:lnTo>
                <a:lnTo>
                  <a:pt x="67182" y="0"/>
                </a:lnTo>
                <a:lnTo>
                  <a:pt x="0" y="0"/>
                </a:lnTo>
                <a:lnTo>
                  <a:pt x="0" y="10160"/>
                </a:lnTo>
                <a:close/>
              </a:path>
            </a:pathLst>
          </a:custGeom>
          <a:solidFill>
            <a:srgbClr val="000000"/>
          </a:solidFill>
        </p:spPr>
        <p:txBody>
          <a:bodyPr wrap="square" lIns="0" tIns="0" rIns="0" bIns="0" rtlCol="0"/>
          <a:lstStyle/>
          <a:p>
            <a:endParaRPr/>
          </a:p>
        </p:txBody>
      </p:sp>
      <p:sp>
        <p:nvSpPr>
          <p:cNvPr id="18" name="object 18"/>
          <p:cNvSpPr/>
          <p:nvPr/>
        </p:nvSpPr>
        <p:spPr>
          <a:xfrm>
            <a:off x="6993381" y="3969003"/>
            <a:ext cx="100965" cy="15240"/>
          </a:xfrm>
          <a:custGeom>
            <a:avLst/>
            <a:gdLst/>
            <a:ahLst/>
            <a:cxnLst/>
            <a:rect l="l" t="t" r="r" b="b"/>
            <a:pathLst>
              <a:path w="100965" h="15239">
                <a:moveTo>
                  <a:pt x="100583" y="0"/>
                </a:moveTo>
                <a:lnTo>
                  <a:pt x="0" y="0"/>
                </a:lnTo>
                <a:lnTo>
                  <a:pt x="0" y="15240"/>
                </a:lnTo>
                <a:lnTo>
                  <a:pt x="100583" y="15240"/>
                </a:lnTo>
                <a:lnTo>
                  <a:pt x="100583" y="0"/>
                </a:lnTo>
                <a:close/>
              </a:path>
            </a:pathLst>
          </a:custGeom>
          <a:solidFill>
            <a:srgbClr val="000000"/>
          </a:solidFill>
        </p:spPr>
        <p:txBody>
          <a:bodyPr wrap="square" lIns="0" tIns="0" rIns="0" bIns="0" rtlCol="0"/>
          <a:lstStyle/>
          <a:p>
            <a:endParaRPr/>
          </a:p>
        </p:txBody>
      </p:sp>
      <p:sp>
        <p:nvSpPr>
          <p:cNvPr id="19" name="object 19"/>
          <p:cNvSpPr/>
          <p:nvPr/>
        </p:nvSpPr>
        <p:spPr>
          <a:xfrm>
            <a:off x="7385050" y="3969003"/>
            <a:ext cx="100965" cy="15240"/>
          </a:xfrm>
          <a:custGeom>
            <a:avLst/>
            <a:gdLst/>
            <a:ahLst/>
            <a:cxnLst/>
            <a:rect l="l" t="t" r="r" b="b"/>
            <a:pathLst>
              <a:path w="100965" h="15239">
                <a:moveTo>
                  <a:pt x="100583" y="0"/>
                </a:moveTo>
                <a:lnTo>
                  <a:pt x="0" y="0"/>
                </a:lnTo>
                <a:lnTo>
                  <a:pt x="0" y="15240"/>
                </a:lnTo>
                <a:lnTo>
                  <a:pt x="100583" y="15240"/>
                </a:lnTo>
                <a:lnTo>
                  <a:pt x="100583" y="0"/>
                </a:lnTo>
                <a:close/>
              </a:path>
            </a:pathLst>
          </a:custGeom>
          <a:solidFill>
            <a:srgbClr val="000000"/>
          </a:solidFill>
        </p:spPr>
        <p:txBody>
          <a:bodyPr wrap="square" lIns="0" tIns="0" rIns="0" bIns="0" rtlCol="0"/>
          <a:lstStyle/>
          <a:p>
            <a:endParaRPr/>
          </a:p>
        </p:txBody>
      </p:sp>
      <p:sp>
        <p:nvSpPr>
          <p:cNvPr id="20" name="object 20"/>
          <p:cNvSpPr/>
          <p:nvPr/>
        </p:nvSpPr>
        <p:spPr>
          <a:xfrm>
            <a:off x="6993381" y="4404867"/>
            <a:ext cx="100965" cy="15240"/>
          </a:xfrm>
          <a:custGeom>
            <a:avLst/>
            <a:gdLst/>
            <a:ahLst/>
            <a:cxnLst/>
            <a:rect l="l" t="t" r="r" b="b"/>
            <a:pathLst>
              <a:path w="100965" h="15239">
                <a:moveTo>
                  <a:pt x="100583" y="0"/>
                </a:moveTo>
                <a:lnTo>
                  <a:pt x="0" y="0"/>
                </a:lnTo>
                <a:lnTo>
                  <a:pt x="0" y="15239"/>
                </a:lnTo>
                <a:lnTo>
                  <a:pt x="100583" y="15239"/>
                </a:lnTo>
                <a:lnTo>
                  <a:pt x="100583" y="0"/>
                </a:lnTo>
                <a:close/>
              </a:path>
            </a:pathLst>
          </a:custGeom>
          <a:solidFill>
            <a:srgbClr val="000000"/>
          </a:solidFill>
        </p:spPr>
        <p:txBody>
          <a:bodyPr wrap="square" lIns="0" tIns="0" rIns="0" bIns="0" rtlCol="0"/>
          <a:lstStyle/>
          <a:p>
            <a:endParaRPr/>
          </a:p>
        </p:txBody>
      </p:sp>
      <p:sp>
        <p:nvSpPr>
          <p:cNvPr id="21" name="object 21"/>
          <p:cNvSpPr/>
          <p:nvPr/>
        </p:nvSpPr>
        <p:spPr>
          <a:xfrm>
            <a:off x="7385050" y="4404867"/>
            <a:ext cx="100965" cy="15240"/>
          </a:xfrm>
          <a:custGeom>
            <a:avLst/>
            <a:gdLst/>
            <a:ahLst/>
            <a:cxnLst/>
            <a:rect l="l" t="t" r="r" b="b"/>
            <a:pathLst>
              <a:path w="100965" h="15239">
                <a:moveTo>
                  <a:pt x="100583" y="0"/>
                </a:moveTo>
                <a:lnTo>
                  <a:pt x="0" y="0"/>
                </a:lnTo>
                <a:lnTo>
                  <a:pt x="0" y="15239"/>
                </a:lnTo>
                <a:lnTo>
                  <a:pt x="100583" y="15239"/>
                </a:lnTo>
                <a:lnTo>
                  <a:pt x="100583" y="0"/>
                </a:lnTo>
                <a:close/>
              </a:path>
            </a:pathLst>
          </a:custGeom>
          <a:solidFill>
            <a:srgbClr val="000000"/>
          </a:solidFill>
        </p:spPr>
        <p:txBody>
          <a:bodyPr wrap="square" lIns="0" tIns="0" rIns="0" bIns="0" rtlCol="0"/>
          <a:lstStyle/>
          <a:p>
            <a:endParaRPr/>
          </a:p>
        </p:txBody>
      </p:sp>
      <p:sp>
        <p:nvSpPr>
          <p:cNvPr id="22" name="object 22"/>
          <p:cNvSpPr/>
          <p:nvPr/>
        </p:nvSpPr>
        <p:spPr>
          <a:xfrm>
            <a:off x="6943090" y="4840732"/>
            <a:ext cx="100965" cy="15240"/>
          </a:xfrm>
          <a:custGeom>
            <a:avLst/>
            <a:gdLst/>
            <a:ahLst/>
            <a:cxnLst/>
            <a:rect l="l" t="t" r="r" b="b"/>
            <a:pathLst>
              <a:path w="100965" h="15239">
                <a:moveTo>
                  <a:pt x="100583" y="0"/>
                </a:moveTo>
                <a:lnTo>
                  <a:pt x="0" y="0"/>
                </a:lnTo>
                <a:lnTo>
                  <a:pt x="0" y="15239"/>
                </a:lnTo>
                <a:lnTo>
                  <a:pt x="100583" y="15239"/>
                </a:lnTo>
                <a:lnTo>
                  <a:pt x="100583" y="0"/>
                </a:lnTo>
                <a:close/>
              </a:path>
            </a:pathLst>
          </a:custGeom>
          <a:solidFill>
            <a:srgbClr val="000000"/>
          </a:solidFill>
        </p:spPr>
        <p:txBody>
          <a:bodyPr wrap="square" lIns="0" tIns="0" rIns="0" bIns="0" rtlCol="0"/>
          <a:lstStyle/>
          <a:p>
            <a:endParaRPr/>
          </a:p>
        </p:txBody>
      </p:sp>
      <p:sp>
        <p:nvSpPr>
          <p:cNvPr id="23" name="object 23"/>
          <p:cNvSpPr/>
          <p:nvPr/>
        </p:nvSpPr>
        <p:spPr>
          <a:xfrm>
            <a:off x="7334757" y="4840732"/>
            <a:ext cx="100965" cy="15240"/>
          </a:xfrm>
          <a:custGeom>
            <a:avLst/>
            <a:gdLst/>
            <a:ahLst/>
            <a:cxnLst/>
            <a:rect l="l" t="t" r="r" b="b"/>
            <a:pathLst>
              <a:path w="100965" h="15239">
                <a:moveTo>
                  <a:pt x="100583" y="0"/>
                </a:moveTo>
                <a:lnTo>
                  <a:pt x="0" y="0"/>
                </a:lnTo>
                <a:lnTo>
                  <a:pt x="0" y="15239"/>
                </a:lnTo>
                <a:lnTo>
                  <a:pt x="100583" y="15239"/>
                </a:lnTo>
                <a:lnTo>
                  <a:pt x="100583" y="0"/>
                </a:lnTo>
                <a:close/>
              </a:path>
            </a:pathLst>
          </a:custGeom>
          <a:solidFill>
            <a:srgbClr val="000000"/>
          </a:solidFill>
        </p:spPr>
        <p:txBody>
          <a:bodyPr wrap="square" lIns="0" tIns="0" rIns="0" bIns="0" rtlCol="0"/>
          <a:lstStyle/>
          <a:p>
            <a:endParaRPr/>
          </a:p>
        </p:txBody>
      </p:sp>
      <p:sp>
        <p:nvSpPr>
          <p:cNvPr id="24" name="TextBox 23">
            <a:extLst>
              <a:ext uri="{FF2B5EF4-FFF2-40B4-BE49-F238E27FC236}">
                <a16:creationId xmlns:a16="http://schemas.microsoft.com/office/drawing/2014/main" id="{9A5B5622-C50E-45FE-BB9B-8C716DBA885C}"/>
              </a:ext>
            </a:extLst>
          </p:cNvPr>
          <p:cNvSpPr txBox="1"/>
          <p:nvPr/>
        </p:nvSpPr>
        <p:spPr>
          <a:xfrm>
            <a:off x="375382" y="388668"/>
            <a:ext cx="7848600" cy="523220"/>
          </a:xfrm>
          <a:prstGeom prst="rect">
            <a:avLst/>
          </a:prstGeom>
          <a:noFill/>
        </p:spPr>
        <p:txBody>
          <a:bodyPr wrap="square" rtlCol="0">
            <a:spAutoFit/>
          </a:bodyPr>
          <a:lstStyle/>
          <a:p>
            <a:r>
              <a:rPr lang="en-US" sz="2800" b="1" dirty="0">
                <a:latin typeface="+mn-lt"/>
              </a:rPr>
              <a:t>Filtering</a:t>
            </a:r>
            <a:r>
              <a:rPr lang="en-US" b="1" dirty="0">
                <a:latin typeface="+mn-lt"/>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5185" y="324594"/>
            <a:ext cx="5529074" cy="391685"/>
          </a:xfrm>
          <a:prstGeom prst="rect">
            <a:avLst/>
          </a:prstGeom>
        </p:spPr>
      </p:pic>
      <p:sp>
        <p:nvSpPr>
          <p:cNvPr id="3" name="object 3"/>
          <p:cNvSpPr txBox="1"/>
          <p:nvPr/>
        </p:nvSpPr>
        <p:spPr>
          <a:xfrm>
            <a:off x="444804" y="912317"/>
            <a:ext cx="8371205" cy="5818505"/>
          </a:xfrm>
          <a:prstGeom prst="rect">
            <a:avLst/>
          </a:prstGeom>
        </p:spPr>
        <p:txBody>
          <a:bodyPr vert="horz" wrap="square" lIns="0" tIns="13335" rIns="0" bIns="0" rtlCol="0">
            <a:spAutoFit/>
          </a:bodyPr>
          <a:lstStyle/>
          <a:p>
            <a:pPr marL="12700">
              <a:lnSpc>
                <a:spcPct val="100000"/>
              </a:lnSpc>
              <a:spcBef>
                <a:spcPts val="105"/>
              </a:spcBef>
            </a:pPr>
            <a:r>
              <a:rPr sz="2000" b="1" dirty="0">
                <a:latin typeface="Times New Roman"/>
                <a:cs typeface="Times New Roman"/>
              </a:rPr>
              <a:t>Filtering</a:t>
            </a:r>
            <a:r>
              <a:rPr sz="2000" b="1" spc="-35" dirty="0">
                <a:latin typeface="Times New Roman"/>
                <a:cs typeface="Times New Roman"/>
              </a:rPr>
              <a:t> </a:t>
            </a:r>
            <a:r>
              <a:rPr sz="2000" b="1" dirty="0">
                <a:latin typeface="Times New Roman"/>
                <a:cs typeface="Times New Roman"/>
              </a:rPr>
              <a:t>is</a:t>
            </a:r>
            <a:r>
              <a:rPr sz="2000" b="1" spc="-20" dirty="0">
                <a:latin typeface="Times New Roman"/>
                <a:cs typeface="Times New Roman"/>
              </a:rPr>
              <a:t> </a:t>
            </a:r>
            <a:r>
              <a:rPr sz="2000" b="1" dirty="0">
                <a:latin typeface="Times New Roman"/>
                <a:cs typeface="Times New Roman"/>
              </a:rPr>
              <a:t>a</a:t>
            </a:r>
            <a:r>
              <a:rPr sz="2000" b="1" spc="-5" dirty="0">
                <a:latin typeface="Times New Roman"/>
                <a:cs typeface="Times New Roman"/>
              </a:rPr>
              <a:t> </a:t>
            </a:r>
            <a:r>
              <a:rPr sz="2000" b="1" dirty="0">
                <a:latin typeface="Times New Roman"/>
                <a:cs typeface="Times New Roman"/>
              </a:rPr>
              <a:t>fundamental</a:t>
            </a:r>
            <a:r>
              <a:rPr sz="2000" b="1" spc="-55" dirty="0">
                <a:latin typeface="Times New Roman"/>
                <a:cs typeface="Times New Roman"/>
              </a:rPr>
              <a:t> </a:t>
            </a:r>
            <a:r>
              <a:rPr sz="2000" b="1" dirty="0">
                <a:latin typeface="Times New Roman"/>
                <a:cs typeface="Times New Roman"/>
              </a:rPr>
              <a:t>operation</a:t>
            </a:r>
            <a:r>
              <a:rPr sz="2000" b="1" spc="-50" dirty="0">
                <a:latin typeface="Times New Roman"/>
                <a:cs typeface="Times New Roman"/>
              </a:rPr>
              <a:t> </a:t>
            </a:r>
            <a:r>
              <a:rPr sz="2000" b="1" dirty="0">
                <a:latin typeface="Times New Roman"/>
                <a:cs typeface="Times New Roman"/>
              </a:rPr>
              <a:t>in</a:t>
            </a:r>
            <a:r>
              <a:rPr sz="2000" b="1" spc="-5" dirty="0">
                <a:latin typeface="Times New Roman"/>
                <a:cs typeface="Times New Roman"/>
              </a:rPr>
              <a:t> </a:t>
            </a:r>
            <a:r>
              <a:rPr sz="2000" b="1" dirty="0">
                <a:latin typeface="Times New Roman"/>
                <a:cs typeface="Times New Roman"/>
              </a:rPr>
              <a:t>image</a:t>
            </a:r>
            <a:r>
              <a:rPr sz="2000" b="1" spc="-35" dirty="0">
                <a:latin typeface="Times New Roman"/>
                <a:cs typeface="Times New Roman"/>
              </a:rPr>
              <a:t> </a:t>
            </a:r>
            <a:r>
              <a:rPr sz="2000" b="1" dirty="0">
                <a:latin typeface="Times New Roman"/>
                <a:cs typeface="Times New Roman"/>
              </a:rPr>
              <a:t>processing.</a:t>
            </a:r>
            <a:r>
              <a:rPr sz="2000" b="1" spc="-40" dirty="0">
                <a:latin typeface="Times New Roman"/>
                <a:cs typeface="Times New Roman"/>
              </a:rPr>
              <a:t> </a:t>
            </a:r>
            <a:r>
              <a:rPr sz="2000" b="1" dirty="0">
                <a:latin typeface="Times New Roman"/>
                <a:cs typeface="Times New Roman"/>
              </a:rPr>
              <a:t>It</a:t>
            </a:r>
            <a:r>
              <a:rPr sz="2000" b="1" spc="-25" dirty="0">
                <a:latin typeface="Times New Roman"/>
                <a:cs typeface="Times New Roman"/>
              </a:rPr>
              <a:t> </a:t>
            </a:r>
            <a:r>
              <a:rPr sz="2000" b="1" dirty="0">
                <a:latin typeface="Times New Roman"/>
                <a:cs typeface="Times New Roman"/>
              </a:rPr>
              <a:t>can</a:t>
            </a:r>
            <a:r>
              <a:rPr sz="2000" b="1" spc="-10" dirty="0">
                <a:latin typeface="Times New Roman"/>
                <a:cs typeface="Times New Roman"/>
              </a:rPr>
              <a:t> </a:t>
            </a:r>
            <a:r>
              <a:rPr sz="2000" b="1" dirty="0">
                <a:latin typeface="Times New Roman"/>
                <a:cs typeface="Times New Roman"/>
              </a:rPr>
              <a:t>be</a:t>
            </a:r>
            <a:r>
              <a:rPr sz="2000" b="1" spc="-20" dirty="0">
                <a:latin typeface="Times New Roman"/>
                <a:cs typeface="Times New Roman"/>
              </a:rPr>
              <a:t> </a:t>
            </a:r>
            <a:r>
              <a:rPr sz="2000" b="1" dirty="0">
                <a:latin typeface="Times New Roman"/>
                <a:cs typeface="Times New Roman"/>
              </a:rPr>
              <a:t>used</a:t>
            </a:r>
            <a:r>
              <a:rPr sz="2000" b="1" spc="-15" dirty="0">
                <a:latin typeface="Times New Roman"/>
                <a:cs typeface="Times New Roman"/>
              </a:rPr>
              <a:t> </a:t>
            </a:r>
            <a:r>
              <a:rPr sz="2000" b="1" spc="-20" dirty="0">
                <a:latin typeface="Times New Roman"/>
                <a:cs typeface="Times New Roman"/>
              </a:rPr>
              <a:t>for:</a:t>
            </a:r>
            <a:endParaRPr sz="2000">
              <a:latin typeface="Times New Roman"/>
              <a:cs typeface="Times New Roman"/>
            </a:endParaRPr>
          </a:p>
          <a:p>
            <a:pPr marL="285750" indent="-273050">
              <a:lnSpc>
                <a:spcPct val="100000"/>
              </a:lnSpc>
              <a:buClr>
                <a:srgbClr val="C00000"/>
              </a:buClr>
              <a:buAutoNum type="arabicPlain"/>
              <a:tabLst>
                <a:tab pos="285750" algn="l"/>
              </a:tabLst>
            </a:pPr>
            <a:r>
              <a:rPr sz="2000" b="1" i="1" dirty="0">
                <a:solidFill>
                  <a:srgbClr val="006FC0"/>
                </a:solidFill>
                <a:latin typeface="Times New Roman"/>
                <a:cs typeface="Times New Roman"/>
              </a:rPr>
              <a:t>image</a:t>
            </a:r>
            <a:r>
              <a:rPr sz="2000" b="1" i="1" spc="-40" dirty="0">
                <a:solidFill>
                  <a:srgbClr val="006FC0"/>
                </a:solidFill>
                <a:latin typeface="Times New Roman"/>
                <a:cs typeface="Times New Roman"/>
              </a:rPr>
              <a:t> </a:t>
            </a:r>
            <a:r>
              <a:rPr sz="2000" b="1" i="1" spc="-10" dirty="0">
                <a:solidFill>
                  <a:srgbClr val="006FC0"/>
                </a:solidFill>
                <a:latin typeface="Times New Roman"/>
                <a:cs typeface="Times New Roman"/>
              </a:rPr>
              <a:t>enhancement</a:t>
            </a:r>
            <a:endParaRPr sz="2000">
              <a:latin typeface="Times New Roman"/>
              <a:cs typeface="Times New Roman"/>
            </a:endParaRPr>
          </a:p>
          <a:p>
            <a:pPr marL="285750" indent="-273050">
              <a:lnSpc>
                <a:spcPct val="100000"/>
              </a:lnSpc>
              <a:buClr>
                <a:srgbClr val="C00000"/>
              </a:buClr>
              <a:buFont typeface="Times New Roman"/>
              <a:buAutoNum type="arabicPlain"/>
              <a:tabLst>
                <a:tab pos="285750" algn="l"/>
              </a:tabLst>
            </a:pPr>
            <a:r>
              <a:rPr sz="2000" b="1" i="1" dirty="0">
                <a:solidFill>
                  <a:srgbClr val="006FC0"/>
                </a:solidFill>
                <a:latin typeface="Times New Roman"/>
                <a:cs typeface="Times New Roman"/>
              </a:rPr>
              <a:t>Noise</a:t>
            </a:r>
            <a:r>
              <a:rPr sz="2000" b="1" i="1" spc="-45" dirty="0">
                <a:solidFill>
                  <a:srgbClr val="006FC0"/>
                </a:solidFill>
                <a:latin typeface="Times New Roman"/>
                <a:cs typeface="Times New Roman"/>
              </a:rPr>
              <a:t> </a:t>
            </a:r>
            <a:r>
              <a:rPr sz="2000" b="1" i="1" spc="-10" dirty="0">
                <a:solidFill>
                  <a:srgbClr val="006FC0"/>
                </a:solidFill>
                <a:latin typeface="Times New Roman"/>
                <a:cs typeface="Times New Roman"/>
              </a:rPr>
              <a:t>reduction</a:t>
            </a:r>
            <a:endParaRPr sz="2000">
              <a:latin typeface="Times New Roman"/>
              <a:cs typeface="Times New Roman"/>
            </a:endParaRPr>
          </a:p>
          <a:p>
            <a:pPr marL="285750" indent="-273050">
              <a:lnSpc>
                <a:spcPct val="100000"/>
              </a:lnSpc>
              <a:buClr>
                <a:srgbClr val="C00000"/>
              </a:buClr>
              <a:buFont typeface="Times New Roman"/>
              <a:buAutoNum type="arabicPlain"/>
              <a:tabLst>
                <a:tab pos="285750" algn="l"/>
              </a:tabLst>
            </a:pPr>
            <a:r>
              <a:rPr sz="2000" b="1" i="1" dirty="0">
                <a:solidFill>
                  <a:srgbClr val="006FC0"/>
                </a:solidFill>
                <a:latin typeface="Times New Roman"/>
                <a:cs typeface="Times New Roman"/>
              </a:rPr>
              <a:t>Edge</a:t>
            </a:r>
            <a:r>
              <a:rPr sz="2000" b="1" i="1" spc="-5" dirty="0">
                <a:solidFill>
                  <a:srgbClr val="006FC0"/>
                </a:solidFill>
                <a:latin typeface="Times New Roman"/>
                <a:cs typeface="Times New Roman"/>
              </a:rPr>
              <a:t> </a:t>
            </a:r>
            <a:r>
              <a:rPr sz="2000" b="1" i="1" spc="-10" dirty="0">
                <a:solidFill>
                  <a:srgbClr val="006FC0"/>
                </a:solidFill>
                <a:latin typeface="Times New Roman"/>
                <a:cs typeface="Times New Roman"/>
              </a:rPr>
              <a:t>detection</a:t>
            </a:r>
            <a:r>
              <a:rPr sz="2000" b="1" spc="-10" dirty="0">
                <a:latin typeface="Times New Roman"/>
                <a:cs typeface="Times New Roman"/>
              </a:rPr>
              <a:t>,</a:t>
            </a:r>
            <a:endParaRPr sz="2000">
              <a:latin typeface="Times New Roman"/>
              <a:cs typeface="Times New Roman"/>
            </a:endParaRPr>
          </a:p>
          <a:p>
            <a:pPr marL="349885" indent="-337185">
              <a:lnSpc>
                <a:spcPct val="100000"/>
              </a:lnSpc>
              <a:buClr>
                <a:srgbClr val="C00000"/>
              </a:buClr>
              <a:buFont typeface="Times New Roman"/>
              <a:buAutoNum type="arabicPlain"/>
              <a:tabLst>
                <a:tab pos="349885" algn="l"/>
              </a:tabLst>
            </a:pPr>
            <a:r>
              <a:rPr sz="2000" b="1" i="1" spc="-10" dirty="0">
                <a:solidFill>
                  <a:srgbClr val="006FC0"/>
                </a:solidFill>
                <a:latin typeface="Times New Roman"/>
                <a:cs typeface="Times New Roman"/>
              </a:rPr>
              <a:t>Sharpening</a:t>
            </a:r>
            <a:r>
              <a:rPr sz="2000" b="1" spc="-10" dirty="0">
                <a:latin typeface="Times New Roman"/>
                <a:cs typeface="Times New Roman"/>
              </a:rPr>
              <a:t>.</a:t>
            </a:r>
            <a:endParaRPr sz="2000">
              <a:latin typeface="Times New Roman"/>
              <a:cs typeface="Times New Roman"/>
            </a:endParaRPr>
          </a:p>
          <a:p>
            <a:pPr>
              <a:lnSpc>
                <a:spcPct val="100000"/>
              </a:lnSpc>
              <a:spcBef>
                <a:spcPts val="100"/>
              </a:spcBef>
              <a:buAutoNum type="arabicPlain"/>
            </a:pPr>
            <a:endParaRPr sz="2000">
              <a:latin typeface="Times New Roman"/>
              <a:cs typeface="Times New Roman"/>
            </a:endParaRPr>
          </a:p>
          <a:p>
            <a:pPr marL="12700" algn="just">
              <a:lnSpc>
                <a:spcPct val="100000"/>
              </a:lnSpc>
              <a:spcBef>
                <a:spcPts val="5"/>
              </a:spcBef>
            </a:pPr>
            <a:r>
              <a:rPr sz="2000" b="1" dirty="0">
                <a:latin typeface="Times New Roman"/>
                <a:cs typeface="Times New Roman"/>
              </a:rPr>
              <a:t>The</a:t>
            </a:r>
            <a:r>
              <a:rPr sz="2000" b="1" spc="-10" dirty="0">
                <a:latin typeface="Times New Roman"/>
                <a:cs typeface="Times New Roman"/>
              </a:rPr>
              <a:t> </a:t>
            </a:r>
            <a:r>
              <a:rPr sz="2000" b="1" dirty="0">
                <a:solidFill>
                  <a:srgbClr val="006FC0"/>
                </a:solidFill>
                <a:latin typeface="Times New Roman"/>
                <a:cs typeface="Times New Roman"/>
              </a:rPr>
              <a:t>concept</a:t>
            </a:r>
            <a:r>
              <a:rPr sz="2000" b="1" spc="-30" dirty="0">
                <a:solidFill>
                  <a:srgbClr val="006FC0"/>
                </a:solidFill>
                <a:latin typeface="Times New Roman"/>
                <a:cs typeface="Times New Roman"/>
              </a:rPr>
              <a:t> </a:t>
            </a:r>
            <a:r>
              <a:rPr sz="2000" b="1" dirty="0">
                <a:solidFill>
                  <a:srgbClr val="006FC0"/>
                </a:solidFill>
                <a:latin typeface="Times New Roman"/>
                <a:cs typeface="Times New Roman"/>
              </a:rPr>
              <a:t>of filtering</a:t>
            </a:r>
            <a:r>
              <a:rPr sz="2000" b="1" spc="-30" dirty="0">
                <a:solidFill>
                  <a:srgbClr val="006FC0"/>
                </a:solidFill>
                <a:latin typeface="Times New Roman"/>
                <a:cs typeface="Times New Roman"/>
              </a:rPr>
              <a:t> </a:t>
            </a:r>
            <a:r>
              <a:rPr sz="2000" b="1" dirty="0">
                <a:latin typeface="Times New Roman"/>
                <a:cs typeface="Times New Roman"/>
              </a:rPr>
              <a:t>has</a:t>
            </a:r>
            <a:r>
              <a:rPr sz="2000" b="1" spc="-25" dirty="0">
                <a:latin typeface="Times New Roman"/>
                <a:cs typeface="Times New Roman"/>
              </a:rPr>
              <a:t> </a:t>
            </a:r>
            <a:r>
              <a:rPr sz="2000" b="1" dirty="0">
                <a:latin typeface="Times New Roman"/>
                <a:cs typeface="Times New Roman"/>
              </a:rPr>
              <a:t>been</a:t>
            </a:r>
            <a:r>
              <a:rPr sz="2000" b="1" spc="-10" dirty="0">
                <a:latin typeface="Times New Roman"/>
                <a:cs typeface="Times New Roman"/>
              </a:rPr>
              <a:t> </a:t>
            </a:r>
            <a:r>
              <a:rPr sz="2000" b="1" dirty="0">
                <a:latin typeface="Times New Roman"/>
                <a:cs typeface="Times New Roman"/>
              </a:rPr>
              <a:t>applied</a:t>
            </a:r>
            <a:r>
              <a:rPr sz="2000" b="1" spc="-20" dirty="0">
                <a:latin typeface="Times New Roman"/>
                <a:cs typeface="Times New Roman"/>
              </a:rPr>
              <a:t> </a:t>
            </a:r>
            <a:r>
              <a:rPr sz="2000" b="1" dirty="0">
                <a:latin typeface="Times New Roman"/>
                <a:cs typeface="Times New Roman"/>
              </a:rPr>
              <a:t>in</a:t>
            </a:r>
            <a:r>
              <a:rPr sz="2000" b="1" spc="-10" dirty="0">
                <a:latin typeface="Times New Roman"/>
                <a:cs typeface="Times New Roman"/>
              </a:rPr>
              <a:t> </a:t>
            </a:r>
            <a:r>
              <a:rPr sz="2000" b="1" spc="-20" dirty="0">
                <a:latin typeface="Times New Roman"/>
                <a:cs typeface="Times New Roman"/>
              </a:rPr>
              <a:t>the:</a:t>
            </a:r>
            <a:endParaRPr sz="2000">
              <a:latin typeface="Times New Roman"/>
              <a:cs typeface="Times New Roman"/>
            </a:endParaRPr>
          </a:p>
          <a:p>
            <a:pPr marL="12700" marR="777875" algn="just">
              <a:lnSpc>
                <a:spcPct val="100000"/>
              </a:lnSpc>
            </a:pPr>
            <a:r>
              <a:rPr sz="2000" b="1" u="sng" dirty="0">
                <a:solidFill>
                  <a:srgbClr val="FF0000"/>
                </a:solidFill>
                <a:uFill>
                  <a:solidFill>
                    <a:srgbClr val="FF0000"/>
                  </a:solidFill>
                </a:uFill>
                <a:latin typeface="Times New Roman"/>
                <a:cs typeface="Times New Roman"/>
              </a:rPr>
              <a:t>Frequency</a:t>
            </a:r>
            <a:r>
              <a:rPr sz="2000" b="1" u="sng" spc="-40" dirty="0">
                <a:solidFill>
                  <a:srgbClr val="FF0000"/>
                </a:solidFill>
                <a:uFill>
                  <a:solidFill>
                    <a:srgbClr val="FF0000"/>
                  </a:solidFill>
                </a:uFill>
                <a:latin typeface="Times New Roman"/>
                <a:cs typeface="Times New Roman"/>
              </a:rPr>
              <a:t> </a:t>
            </a:r>
            <a:r>
              <a:rPr sz="2000" b="1" u="sng" dirty="0">
                <a:solidFill>
                  <a:srgbClr val="FF0000"/>
                </a:solidFill>
                <a:uFill>
                  <a:solidFill>
                    <a:srgbClr val="FF0000"/>
                  </a:solidFill>
                </a:uFill>
                <a:latin typeface="Times New Roman"/>
                <a:cs typeface="Times New Roman"/>
              </a:rPr>
              <a:t>domain</a:t>
            </a:r>
            <a:r>
              <a:rPr sz="2000" b="1" dirty="0">
                <a:latin typeface="Times New Roman"/>
                <a:cs typeface="Times New Roman"/>
              </a:rPr>
              <a:t>,</a:t>
            </a:r>
            <a:r>
              <a:rPr sz="2000" b="1" spc="-50" dirty="0">
                <a:latin typeface="Times New Roman"/>
                <a:cs typeface="Times New Roman"/>
              </a:rPr>
              <a:t> </a:t>
            </a:r>
            <a:r>
              <a:rPr sz="2000" b="1" dirty="0">
                <a:latin typeface="Times New Roman"/>
                <a:cs typeface="Times New Roman"/>
              </a:rPr>
              <a:t>where</a:t>
            </a:r>
            <a:r>
              <a:rPr sz="2000" b="1" spc="-20" dirty="0">
                <a:latin typeface="Times New Roman"/>
                <a:cs typeface="Times New Roman"/>
              </a:rPr>
              <a:t> </a:t>
            </a:r>
            <a:r>
              <a:rPr sz="2000" b="1" dirty="0">
                <a:latin typeface="Times New Roman"/>
                <a:cs typeface="Times New Roman"/>
              </a:rPr>
              <a:t>it</a:t>
            </a:r>
            <a:r>
              <a:rPr sz="2000" b="1" spc="-35" dirty="0">
                <a:latin typeface="Times New Roman"/>
                <a:cs typeface="Times New Roman"/>
              </a:rPr>
              <a:t> </a:t>
            </a:r>
            <a:r>
              <a:rPr sz="2000" b="1" dirty="0">
                <a:latin typeface="Times New Roman"/>
                <a:cs typeface="Times New Roman"/>
              </a:rPr>
              <a:t>rejects</a:t>
            </a:r>
            <a:r>
              <a:rPr sz="2000" b="1" spc="-50" dirty="0">
                <a:latin typeface="Times New Roman"/>
                <a:cs typeface="Times New Roman"/>
              </a:rPr>
              <a:t> </a:t>
            </a:r>
            <a:r>
              <a:rPr sz="2000" b="1" dirty="0">
                <a:latin typeface="Times New Roman"/>
                <a:cs typeface="Times New Roman"/>
              </a:rPr>
              <a:t>some</a:t>
            </a:r>
            <a:r>
              <a:rPr sz="2000" b="1" spc="-45" dirty="0">
                <a:latin typeface="Times New Roman"/>
                <a:cs typeface="Times New Roman"/>
              </a:rPr>
              <a:t> </a:t>
            </a:r>
            <a:r>
              <a:rPr sz="2000" b="1" dirty="0">
                <a:latin typeface="Times New Roman"/>
                <a:cs typeface="Times New Roman"/>
              </a:rPr>
              <a:t>frequency</a:t>
            </a:r>
            <a:r>
              <a:rPr sz="2000" b="1" spc="-50" dirty="0">
                <a:latin typeface="Times New Roman"/>
                <a:cs typeface="Times New Roman"/>
              </a:rPr>
              <a:t> </a:t>
            </a:r>
            <a:r>
              <a:rPr sz="2000" b="1" dirty="0">
                <a:latin typeface="Times New Roman"/>
                <a:cs typeface="Times New Roman"/>
              </a:rPr>
              <a:t>components</a:t>
            </a:r>
            <a:r>
              <a:rPr sz="2000" b="1" spc="-65" dirty="0">
                <a:latin typeface="Times New Roman"/>
                <a:cs typeface="Times New Roman"/>
              </a:rPr>
              <a:t> </a:t>
            </a:r>
            <a:r>
              <a:rPr sz="2000" b="1" spc="-10" dirty="0">
                <a:latin typeface="Times New Roman"/>
                <a:cs typeface="Times New Roman"/>
              </a:rPr>
              <a:t>while </a:t>
            </a:r>
            <a:r>
              <a:rPr sz="2000" b="1" dirty="0">
                <a:latin typeface="Times New Roman"/>
                <a:cs typeface="Times New Roman"/>
              </a:rPr>
              <a:t>accepting</a:t>
            </a:r>
            <a:r>
              <a:rPr sz="2000" b="1" spc="-20" dirty="0">
                <a:latin typeface="Times New Roman"/>
                <a:cs typeface="Times New Roman"/>
              </a:rPr>
              <a:t> </a:t>
            </a:r>
            <a:r>
              <a:rPr sz="2000" b="1" spc="-10" dirty="0">
                <a:latin typeface="Times New Roman"/>
                <a:cs typeface="Times New Roman"/>
              </a:rPr>
              <a:t>others.</a:t>
            </a:r>
            <a:endParaRPr sz="2000">
              <a:latin typeface="Times New Roman"/>
              <a:cs typeface="Times New Roman"/>
            </a:endParaRPr>
          </a:p>
          <a:p>
            <a:pPr marL="12700" marR="5080" algn="just">
              <a:lnSpc>
                <a:spcPct val="100000"/>
              </a:lnSpc>
            </a:pPr>
            <a:r>
              <a:rPr sz="2000" b="1" u="sng" dirty="0">
                <a:solidFill>
                  <a:srgbClr val="FF0000"/>
                </a:solidFill>
                <a:uFill>
                  <a:solidFill>
                    <a:srgbClr val="FF0000"/>
                  </a:solidFill>
                </a:uFill>
                <a:latin typeface="Times New Roman"/>
                <a:cs typeface="Times New Roman"/>
              </a:rPr>
              <a:t>Spatial</a:t>
            </a:r>
            <a:r>
              <a:rPr sz="2000" b="1" u="sng" spc="65" dirty="0">
                <a:solidFill>
                  <a:srgbClr val="FF0000"/>
                </a:solidFill>
                <a:uFill>
                  <a:solidFill>
                    <a:srgbClr val="FF0000"/>
                  </a:solidFill>
                </a:uFill>
                <a:latin typeface="Times New Roman"/>
                <a:cs typeface="Times New Roman"/>
              </a:rPr>
              <a:t> </a:t>
            </a:r>
            <a:r>
              <a:rPr sz="2000" b="1" u="sng" dirty="0">
                <a:solidFill>
                  <a:srgbClr val="FF0000"/>
                </a:solidFill>
                <a:uFill>
                  <a:solidFill>
                    <a:srgbClr val="FF0000"/>
                  </a:solidFill>
                </a:uFill>
                <a:latin typeface="Times New Roman"/>
                <a:cs typeface="Times New Roman"/>
              </a:rPr>
              <a:t>domain</a:t>
            </a:r>
            <a:r>
              <a:rPr sz="2000" b="1" dirty="0">
                <a:latin typeface="Times New Roman"/>
                <a:cs typeface="Times New Roman"/>
              </a:rPr>
              <a:t>,</a:t>
            </a:r>
            <a:r>
              <a:rPr sz="2000" b="1" spc="80" dirty="0">
                <a:latin typeface="Times New Roman"/>
                <a:cs typeface="Times New Roman"/>
              </a:rPr>
              <a:t> </a:t>
            </a:r>
            <a:r>
              <a:rPr sz="2000" b="1" dirty="0">
                <a:latin typeface="Times New Roman"/>
                <a:cs typeface="Times New Roman"/>
              </a:rPr>
              <a:t>Spatial</a:t>
            </a:r>
            <a:r>
              <a:rPr sz="2000" b="1" spc="70" dirty="0">
                <a:latin typeface="Times New Roman"/>
                <a:cs typeface="Times New Roman"/>
              </a:rPr>
              <a:t> </a:t>
            </a:r>
            <a:r>
              <a:rPr sz="2000" b="1" dirty="0">
                <a:latin typeface="Times New Roman"/>
                <a:cs typeface="Times New Roman"/>
              </a:rPr>
              <a:t>filtering</a:t>
            </a:r>
            <a:r>
              <a:rPr sz="2000" b="1" spc="75" dirty="0">
                <a:latin typeface="Times New Roman"/>
                <a:cs typeface="Times New Roman"/>
              </a:rPr>
              <a:t> </a:t>
            </a:r>
            <a:r>
              <a:rPr sz="2000" b="1" dirty="0">
                <a:latin typeface="Times New Roman"/>
                <a:cs typeface="Times New Roman"/>
              </a:rPr>
              <a:t>modifies</a:t>
            </a:r>
            <a:r>
              <a:rPr sz="2000" b="1" spc="60" dirty="0">
                <a:latin typeface="Times New Roman"/>
                <a:cs typeface="Times New Roman"/>
              </a:rPr>
              <a:t> </a:t>
            </a:r>
            <a:r>
              <a:rPr sz="2000" b="1" dirty="0">
                <a:latin typeface="Times New Roman"/>
                <a:cs typeface="Times New Roman"/>
              </a:rPr>
              <a:t>an</a:t>
            </a:r>
            <a:r>
              <a:rPr sz="2000" b="1" spc="75" dirty="0">
                <a:latin typeface="Times New Roman"/>
                <a:cs typeface="Times New Roman"/>
              </a:rPr>
              <a:t> </a:t>
            </a:r>
            <a:r>
              <a:rPr sz="2000" b="1" dirty="0">
                <a:latin typeface="Times New Roman"/>
                <a:cs typeface="Times New Roman"/>
              </a:rPr>
              <a:t>image</a:t>
            </a:r>
            <a:r>
              <a:rPr sz="2000" b="1" spc="70" dirty="0">
                <a:latin typeface="Times New Roman"/>
                <a:cs typeface="Times New Roman"/>
              </a:rPr>
              <a:t> </a:t>
            </a:r>
            <a:r>
              <a:rPr sz="2000" b="1" dirty="0">
                <a:latin typeface="Times New Roman"/>
                <a:cs typeface="Times New Roman"/>
              </a:rPr>
              <a:t>by</a:t>
            </a:r>
            <a:r>
              <a:rPr sz="2000" b="1" spc="85" dirty="0">
                <a:latin typeface="Times New Roman"/>
                <a:cs typeface="Times New Roman"/>
              </a:rPr>
              <a:t> </a:t>
            </a:r>
            <a:r>
              <a:rPr sz="2000" b="1" dirty="0">
                <a:latin typeface="Times New Roman"/>
                <a:cs typeface="Times New Roman"/>
              </a:rPr>
              <a:t>replacing</a:t>
            </a:r>
            <a:r>
              <a:rPr sz="2000" b="1" spc="75" dirty="0">
                <a:latin typeface="Times New Roman"/>
                <a:cs typeface="Times New Roman"/>
              </a:rPr>
              <a:t> </a:t>
            </a:r>
            <a:r>
              <a:rPr sz="2000" b="1" dirty="0">
                <a:latin typeface="Times New Roman"/>
                <a:cs typeface="Times New Roman"/>
              </a:rPr>
              <a:t>the</a:t>
            </a:r>
            <a:r>
              <a:rPr sz="2000" b="1" spc="65" dirty="0">
                <a:latin typeface="Times New Roman"/>
                <a:cs typeface="Times New Roman"/>
              </a:rPr>
              <a:t> </a:t>
            </a:r>
            <a:r>
              <a:rPr sz="2000" b="1" dirty="0">
                <a:latin typeface="Times New Roman"/>
                <a:cs typeface="Times New Roman"/>
              </a:rPr>
              <a:t>value</a:t>
            </a:r>
            <a:r>
              <a:rPr sz="2000" b="1" spc="55" dirty="0">
                <a:latin typeface="Times New Roman"/>
                <a:cs typeface="Times New Roman"/>
              </a:rPr>
              <a:t> </a:t>
            </a:r>
            <a:r>
              <a:rPr sz="2000" b="1" spc="-25" dirty="0">
                <a:latin typeface="Times New Roman"/>
                <a:cs typeface="Times New Roman"/>
              </a:rPr>
              <a:t>of </a:t>
            </a:r>
            <a:r>
              <a:rPr sz="2000" b="1" dirty="0">
                <a:latin typeface="Times New Roman"/>
                <a:cs typeface="Times New Roman"/>
              </a:rPr>
              <a:t>each</a:t>
            </a:r>
            <a:r>
              <a:rPr sz="2000" b="1" spc="30" dirty="0">
                <a:latin typeface="Times New Roman"/>
                <a:cs typeface="Times New Roman"/>
              </a:rPr>
              <a:t>  </a:t>
            </a:r>
            <a:r>
              <a:rPr sz="2000" b="1" dirty="0">
                <a:latin typeface="Times New Roman"/>
                <a:cs typeface="Times New Roman"/>
              </a:rPr>
              <a:t>pixel</a:t>
            </a:r>
            <a:r>
              <a:rPr sz="2000" b="1" spc="35" dirty="0">
                <a:latin typeface="Times New Roman"/>
                <a:cs typeface="Times New Roman"/>
              </a:rPr>
              <a:t>  </a:t>
            </a:r>
            <a:r>
              <a:rPr sz="2000" b="1" dirty="0">
                <a:latin typeface="Times New Roman"/>
                <a:cs typeface="Times New Roman"/>
              </a:rPr>
              <a:t>with</a:t>
            </a:r>
            <a:r>
              <a:rPr sz="2000" b="1" spc="30" dirty="0">
                <a:latin typeface="Times New Roman"/>
                <a:cs typeface="Times New Roman"/>
              </a:rPr>
              <a:t>  </a:t>
            </a:r>
            <a:r>
              <a:rPr sz="2000" b="1" dirty="0">
                <a:latin typeface="Times New Roman"/>
                <a:cs typeface="Times New Roman"/>
              </a:rPr>
              <a:t>a</a:t>
            </a:r>
            <a:r>
              <a:rPr sz="2000" b="1" spc="30" dirty="0">
                <a:latin typeface="Times New Roman"/>
                <a:cs typeface="Times New Roman"/>
              </a:rPr>
              <a:t>  </a:t>
            </a:r>
            <a:r>
              <a:rPr sz="2000" b="1" dirty="0">
                <a:latin typeface="Times New Roman"/>
                <a:cs typeface="Times New Roman"/>
              </a:rPr>
              <a:t>function</a:t>
            </a:r>
            <a:r>
              <a:rPr sz="2000" b="1" spc="35" dirty="0">
                <a:latin typeface="Times New Roman"/>
                <a:cs typeface="Times New Roman"/>
              </a:rPr>
              <a:t>  </a:t>
            </a:r>
            <a:r>
              <a:rPr sz="2000" b="1" dirty="0">
                <a:latin typeface="Times New Roman"/>
                <a:cs typeface="Times New Roman"/>
              </a:rPr>
              <a:t>of</a:t>
            </a:r>
            <a:r>
              <a:rPr sz="2000" b="1" spc="35"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values</a:t>
            </a:r>
            <a:r>
              <a:rPr sz="2000" b="1" spc="30" dirty="0">
                <a:latin typeface="Times New Roman"/>
                <a:cs typeface="Times New Roman"/>
              </a:rPr>
              <a:t>  </a:t>
            </a:r>
            <a:r>
              <a:rPr sz="2000" b="1" dirty="0">
                <a:latin typeface="Times New Roman"/>
                <a:cs typeface="Times New Roman"/>
              </a:rPr>
              <a:t>of</a:t>
            </a:r>
            <a:r>
              <a:rPr sz="2000" b="1" spc="3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pixel</a:t>
            </a:r>
            <a:r>
              <a:rPr sz="2000" b="1" spc="35" dirty="0">
                <a:latin typeface="Times New Roman"/>
                <a:cs typeface="Times New Roman"/>
              </a:rPr>
              <a:t>  </a:t>
            </a:r>
            <a:r>
              <a:rPr sz="2000" b="1" dirty="0">
                <a:latin typeface="Times New Roman"/>
                <a:cs typeface="Times New Roman"/>
              </a:rPr>
              <a:t>and</a:t>
            </a:r>
            <a:r>
              <a:rPr sz="2000" b="1" spc="35" dirty="0">
                <a:latin typeface="Times New Roman"/>
                <a:cs typeface="Times New Roman"/>
              </a:rPr>
              <a:t>  </a:t>
            </a:r>
            <a:r>
              <a:rPr sz="2000" b="1" dirty="0">
                <a:latin typeface="Times New Roman"/>
                <a:cs typeface="Times New Roman"/>
              </a:rPr>
              <a:t>its</a:t>
            </a:r>
            <a:r>
              <a:rPr sz="2000" b="1" spc="35" dirty="0">
                <a:latin typeface="Times New Roman"/>
                <a:cs typeface="Times New Roman"/>
              </a:rPr>
              <a:t>  </a:t>
            </a:r>
            <a:r>
              <a:rPr sz="2000" b="1" spc="-10" dirty="0">
                <a:latin typeface="Times New Roman"/>
                <a:cs typeface="Times New Roman"/>
              </a:rPr>
              <a:t>neighbors </a:t>
            </a:r>
            <a:r>
              <a:rPr sz="2000" b="1" dirty="0">
                <a:latin typeface="Times New Roman"/>
                <a:cs typeface="Times New Roman"/>
              </a:rPr>
              <a:t>(filtering</a:t>
            </a:r>
            <a:r>
              <a:rPr sz="2000" b="1" spc="-40" dirty="0">
                <a:latin typeface="Times New Roman"/>
                <a:cs typeface="Times New Roman"/>
              </a:rPr>
              <a:t> </a:t>
            </a:r>
            <a:r>
              <a:rPr sz="2000" b="1" dirty="0">
                <a:latin typeface="Times New Roman"/>
                <a:cs typeface="Times New Roman"/>
              </a:rPr>
              <a:t>is</a:t>
            </a:r>
            <a:r>
              <a:rPr sz="2000" b="1" spc="-10" dirty="0">
                <a:latin typeface="Times New Roman"/>
                <a:cs typeface="Times New Roman"/>
              </a:rPr>
              <a:t> </a:t>
            </a:r>
            <a:r>
              <a:rPr sz="2000" b="1" dirty="0">
                <a:latin typeface="Times New Roman"/>
                <a:cs typeface="Times New Roman"/>
              </a:rPr>
              <a:t>pixel</a:t>
            </a:r>
            <a:r>
              <a:rPr sz="2000" b="1" spc="-25" dirty="0">
                <a:latin typeface="Times New Roman"/>
                <a:cs typeface="Times New Roman"/>
              </a:rPr>
              <a:t> </a:t>
            </a:r>
            <a:r>
              <a:rPr sz="2000" b="1" dirty="0">
                <a:latin typeface="Times New Roman"/>
                <a:cs typeface="Times New Roman"/>
              </a:rPr>
              <a:t>neighborhood</a:t>
            </a:r>
            <a:r>
              <a:rPr sz="2000" b="1" spc="-40" dirty="0">
                <a:latin typeface="Times New Roman"/>
                <a:cs typeface="Times New Roman"/>
              </a:rPr>
              <a:t> </a:t>
            </a:r>
            <a:r>
              <a:rPr sz="2000" b="1" spc="-10" dirty="0">
                <a:latin typeface="Times New Roman"/>
                <a:cs typeface="Times New Roman"/>
              </a:rPr>
              <a:t>operation).</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355600" marR="5715" lvl="1" indent="-342900">
              <a:lnSpc>
                <a:spcPct val="100000"/>
              </a:lnSpc>
              <a:buFont typeface="Wingdings"/>
              <a:buChar char=""/>
              <a:tabLst>
                <a:tab pos="355600" algn="l"/>
                <a:tab pos="419100" algn="l"/>
                <a:tab pos="1751330" algn="l"/>
                <a:tab pos="2378075" algn="l"/>
                <a:tab pos="3228340" algn="l"/>
                <a:tab pos="4234815" algn="l"/>
                <a:tab pos="5524500" algn="l"/>
                <a:tab pos="6446520" algn="l"/>
                <a:tab pos="7447915" algn="l"/>
              </a:tabLst>
            </a:pPr>
            <a:r>
              <a:rPr sz="2000" dirty="0">
                <a:solidFill>
                  <a:srgbClr val="C00000"/>
                </a:solidFill>
                <a:latin typeface="Times New Roman"/>
                <a:cs typeface="Times New Roman"/>
              </a:rPr>
              <a:t>	</a:t>
            </a:r>
            <a:r>
              <a:rPr sz="2000" b="1" spc="-10" dirty="0">
                <a:latin typeface="Times New Roman"/>
                <a:cs typeface="Times New Roman"/>
              </a:rPr>
              <a:t>Commonly</a:t>
            </a:r>
            <a:r>
              <a:rPr sz="2000" b="1" dirty="0">
                <a:latin typeface="Times New Roman"/>
                <a:cs typeface="Times New Roman"/>
              </a:rPr>
              <a:t>	</a:t>
            </a:r>
            <a:r>
              <a:rPr sz="2000" b="1" spc="-20" dirty="0">
                <a:latin typeface="Times New Roman"/>
                <a:cs typeface="Times New Roman"/>
              </a:rPr>
              <a:t>used</a:t>
            </a:r>
            <a:r>
              <a:rPr sz="2000" b="1" dirty="0">
                <a:latin typeface="Times New Roman"/>
                <a:cs typeface="Times New Roman"/>
              </a:rPr>
              <a:t>	</a:t>
            </a:r>
            <a:r>
              <a:rPr sz="2000" b="1" spc="-10" dirty="0">
                <a:latin typeface="Times New Roman"/>
                <a:cs typeface="Times New Roman"/>
              </a:rPr>
              <a:t>spatial</a:t>
            </a:r>
            <a:r>
              <a:rPr sz="2000" b="1" dirty="0">
                <a:latin typeface="Times New Roman"/>
                <a:cs typeface="Times New Roman"/>
              </a:rPr>
              <a:t>	</a:t>
            </a:r>
            <a:r>
              <a:rPr sz="2000" b="1" spc="-10" dirty="0">
                <a:latin typeface="Times New Roman"/>
                <a:cs typeface="Times New Roman"/>
              </a:rPr>
              <a:t>filtering</a:t>
            </a:r>
            <a:r>
              <a:rPr sz="2000" b="1" dirty="0">
                <a:latin typeface="Times New Roman"/>
                <a:cs typeface="Times New Roman"/>
              </a:rPr>
              <a:t>	</a:t>
            </a:r>
            <a:r>
              <a:rPr sz="2000" b="1" spc="-10" dirty="0">
                <a:latin typeface="Times New Roman"/>
                <a:cs typeface="Times New Roman"/>
              </a:rPr>
              <a:t>techniques</a:t>
            </a:r>
            <a:r>
              <a:rPr sz="2000" b="1" dirty="0">
                <a:latin typeface="Times New Roman"/>
                <a:cs typeface="Times New Roman"/>
              </a:rPr>
              <a:t>	</a:t>
            </a:r>
            <a:r>
              <a:rPr sz="2000" b="1" spc="-10" dirty="0">
                <a:latin typeface="Times New Roman"/>
                <a:cs typeface="Times New Roman"/>
              </a:rPr>
              <a:t>include</a:t>
            </a:r>
            <a:r>
              <a:rPr sz="2000" b="1" dirty="0">
                <a:latin typeface="Times New Roman"/>
                <a:cs typeface="Times New Roman"/>
              </a:rPr>
              <a:t>	</a:t>
            </a:r>
            <a:r>
              <a:rPr sz="2000" b="1" spc="-10" dirty="0">
                <a:solidFill>
                  <a:srgbClr val="6F2F9F"/>
                </a:solidFill>
                <a:latin typeface="Times New Roman"/>
                <a:cs typeface="Times New Roman"/>
              </a:rPr>
              <a:t>median,</a:t>
            </a:r>
            <a:r>
              <a:rPr sz="2000" b="1" dirty="0">
                <a:solidFill>
                  <a:srgbClr val="6F2F9F"/>
                </a:solidFill>
                <a:latin typeface="Times New Roman"/>
                <a:cs typeface="Times New Roman"/>
              </a:rPr>
              <a:t>	</a:t>
            </a:r>
            <a:r>
              <a:rPr sz="2000" b="1" spc="-10" dirty="0">
                <a:solidFill>
                  <a:srgbClr val="6F2F9F"/>
                </a:solidFill>
                <a:latin typeface="Times New Roman"/>
                <a:cs typeface="Times New Roman"/>
              </a:rPr>
              <a:t>average, </a:t>
            </a:r>
            <a:r>
              <a:rPr sz="2000" b="1" dirty="0">
                <a:solidFill>
                  <a:srgbClr val="6F2F9F"/>
                </a:solidFill>
                <a:latin typeface="Times New Roman"/>
                <a:cs typeface="Times New Roman"/>
              </a:rPr>
              <a:t>Gaussian</a:t>
            </a:r>
            <a:r>
              <a:rPr sz="2000" b="1" spc="-35" dirty="0">
                <a:solidFill>
                  <a:srgbClr val="6F2F9F"/>
                </a:solidFill>
                <a:latin typeface="Times New Roman"/>
                <a:cs typeface="Times New Roman"/>
              </a:rPr>
              <a:t> </a:t>
            </a:r>
            <a:r>
              <a:rPr sz="2000" b="1" dirty="0">
                <a:solidFill>
                  <a:srgbClr val="6F2F9F"/>
                </a:solidFill>
                <a:latin typeface="Times New Roman"/>
                <a:cs typeface="Times New Roman"/>
              </a:rPr>
              <a:t>filtering</a:t>
            </a:r>
            <a:r>
              <a:rPr sz="2000" b="1" dirty="0">
                <a:latin typeface="Times New Roman"/>
                <a:cs typeface="Times New Roman"/>
              </a:rPr>
              <a:t>,</a:t>
            </a:r>
            <a:r>
              <a:rPr sz="2000" b="1" spc="-45" dirty="0">
                <a:latin typeface="Times New Roman"/>
                <a:cs typeface="Times New Roman"/>
              </a:rPr>
              <a:t> </a:t>
            </a:r>
            <a:r>
              <a:rPr sz="2000" b="1" spc="-20" dirty="0">
                <a:latin typeface="Times New Roman"/>
                <a:cs typeface="Times New Roman"/>
              </a:rPr>
              <a:t>etc.</a:t>
            </a:r>
            <a:endParaRPr sz="2000">
              <a:latin typeface="Times New Roman"/>
              <a:cs typeface="Times New Roman"/>
            </a:endParaRPr>
          </a:p>
          <a:p>
            <a:pPr marL="354965" lvl="1" indent="-342265">
              <a:lnSpc>
                <a:spcPct val="100000"/>
              </a:lnSpc>
              <a:spcBef>
                <a:spcPts val="5"/>
              </a:spcBef>
              <a:buClr>
                <a:srgbClr val="C00000"/>
              </a:buClr>
              <a:buFont typeface="Wingdings"/>
              <a:buChar char=""/>
              <a:tabLst>
                <a:tab pos="354965" algn="l"/>
              </a:tabLst>
            </a:pPr>
            <a:r>
              <a:rPr sz="2000" b="1" dirty="0">
                <a:latin typeface="Times New Roman"/>
                <a:cs typeface="Times New Roman"/>
              </a:rPr>
              <a:t>The </a:t>
            </a:r>
            <a:r>
              <a:rPr sz="2000" b="1" dirty="0">
                <a:solidFill>
                  <a:srgbClr val="FF0000"/>
                </a:solidFill>
                <a:latin typeface="Times New Roman"/>
                <a:cs typeface="Times New Roman"/>
              </a:rPr>
              <a:t>filtering</a:t>
            </a:r>
            <a:r>
              <a:rPr sz="2000" b="1" spc="-40" dirty="0">
                <a:solidFill>
                  <a:srgbClr val="FF0000"/>
                </a:solidFill>
                <a:latin typeface="Times New Roman"/>
                <a:cs typeface="Times New Roman"/>
              </a:rPr>
              <a:t> </a:t>
            </a:r>
            <a:r>
              <a:rPr sz="2000" b="1" dirty="0">
                <a:solidFill>
                  <a:srgbClr val="FF0000"/>
                </a:solidFill>
                <a:latin typeface="Times New Roman"/>
                <a:cs typeface="Times New Roman"/>
              </a:rPr>
              <a:t>function</a:t>
            </a:r>
            <a:r>
              <a:rPr sz="2000" b="1" spc="-25" dirty="0">
                <a:solidFill>
                  <a:srgbClr val="FF0000"/>
                </a:solidFill>
                <a:latin typeface="Times New Roman"/>
                <a:cs typeface="Times New Roman"/>
              </a:rPr>
              <a:t> </a:t>
            </a:r>
            <a:r>
              <a:rPr sz="2000" b="1" dirty="0">
                <a:latin typeface="Times New Roman"/>
                <a:cs typeface="Times New Roman"/>
              </a:rPr>
              <a:t>sometimes</a:t>
            </a:r>
            <a:r>
              <a:rPr sz="2000" b="1" spc="-50" dirty="0">
                <a:latin typeface="Times New Roman"/>
                <a:cs typeface="Times New Roman"/>
              </a:rPr>
              <a:t> </a:t>
            </a:r>
            <a:r>
              <a:rPr sz="2000" b="1" dirty="0">
                <a:latin typeface="Times New Roman"/>
                <a:cs typeface="Times New Roman"/>
              </a:rPr>
              <a:t>is</a:t>
            </a:r>
            <a:r>
              <a:rPr sz="2000" b="1" spc="-15" dirty="0">
                <a:latin typeface="Times New Roman"/>
                <a:cs typeface="Times New Roman"/>
              </a:rPr>
              <a:t> </a:t>
            </a:r>
            <a:r>
              <a:rPr sz="2000" b="1" dirty="0">
                <a:latin typeface="Times New Roman"/>
                <a:cs typeface="Times New Roman"/>
              </a:rPr>
              <a:t>called</a:t>
            </a:r>
            <a:r>
              <a:rPr sz="2000" b="1" spc="-20" dirty="0">
                <a:latin typeface="Times New Roman"/>
                <a:cs typeface="Times New Roman"/>
              </a:rPr>
              <a:t> </a:t>
            </a:r>
            <a:r>
              <a:rPr sz="2000" b="1" dirty="0">
                <a:solidFill>
                  <a:srgbClr val="006FC0"/>
                </a:solidFill>
                <a:latin typeface="Times New Roman"/>
                <a:cs typeface="Times New Roman"/>
              </a:rPr>
              <a:t>filter</a:t>
            </a:r>
            <a:r>
              <a:rPr sz="2000" b="1" spc="-60" dirty="0">
                <a:solidFill>
                  <a:srgbClr val="006FC0"/>
                </a:solidFill>
                <a:latin typeface="Times New Roman"/>
                <a:cs typeface="Times New Roman"/>
              </a:rPr>
              <a:t> </a:t>
            </a:r>
            <a:r>
              <a:rPr sz="2000" b="1" dirty="0">
                <a:solidFill>
                  <a:srgbClr val="006FC0"/>
                </a:solidFill>
                <a:latin typeface="Times New Roman"/>
                <a:cs typeface="Times New Roman"/>
              </a:rPr>
              <a:t>mask</a:t>
            </a:r>
            <a:r>
              <a:rPr sz="2000" b="1" dirty="0">
                <a:latin typeface="Times New Roman"/>
                <a:cs typeface="Times New Roman"/>
              </a:rPr>
              <a:t>,</a:t>
            </a:r>
            <a:r>
              <a:rPr sz="2000" b="1" spc="-35" dirty="0">
                <a:latin typeface="Times New Roman"/>
                <a:cs typeface="Times New Roman"/>
              </a:rPr>
              <a:t> </a:t>
            </a:r>
            <a:r>
              <a:rPr sz="2000" b="1" dirty="0">
                <a:latin typeface="Times New Roman"/>
                <a:cs typeface="Times New Roman"/>
              </a:rPr>
              <a:t>or</a:t>
            </a:r>
            <a:r>
              <a:rPr sz="2000" b="1" spc="-45" dirty="0">
                <a:latin typeface="Times New Roman"/>
                <a:cs typeface="Times New Roman"/>
              </a:rPr>
              <a:t> </a:t>
            </a:r>
            <a:r>
              <a:rPr sz="2000" b="1" dirty="0">
                <a:solidFill>
                  <a:srgbClr val="006FC0"/>
                </a:solidFill>
                <a:latin typeface="Times New Roman"/>
                <a:cs typeface="Times New Roman"/>
              </a:rPr>
              <a:t>filter</a:t>
            </a:r>
            <a:r>
              <a:rPr sz="2000" b="1" spc="-60" dirty="0">
                <a:solidFill>
                  <a:srgbClr val="006FC0"/>
                </a:solidFill>
                <a:latin typeface="Times New Roman"/>
                <a:cs typeface="Times New Roman"/>
              </a:rPr>
              <a:t> </a:t>
            </a:r>
            <a:r>
              <a:rPr sz="2000" b="1" spc="-10" dirty="0">
                <a:solidFill>
                  <a:srgbClr val="006FC0"/>
                </a:solidFill>
                <a:latin typeface="Times New Roman"/>
                <a:cs typeface="Times New Roman"/>
              </a:rPr>
              <a:t>kernel</a:t>
            </a:r>
            <a:r>
              <a:rPr sz="2000" b="1" spc="-10" dirty="0">
                <a:latin typeface="Times New Roman"/>
                <a:cs typeface="Times New Roman"/>
              </a:rPr>
              <a:t>.</a:t>
            </a:r>
            <a:endParaRPr sz="2000">
              <a:latin typeface="Times New Roman"/>
              <a:cs typeface="Times New Roman"/>
            </a:endParaRPr>
          </a:p>
          <a:p>
            <a:pPr marL="354965" lvl="1" indent="-342265">
              <a:lnSpc>
                <a:spcPct val="100000"/>
              </a:lnSpc>
              <a:buClr>
                <a:srgbClr val="C00000"/>
              </a:buClr>
              <a:buFont typeface="Wingdings"/>
              <a:buChar char=""/>
              <a:tabLst>
                <a:tab pos="354965" algn="l"/>
              </a:tabLst>
            </a:pPr>
            <a:r>
              <a:rPr sz="2000" b="1" dirty="0">
                <a:latin typeface="Times New Roman"/>
                <a:cs typeface="Times New Roman"/>
              </a:rPr>
              <a:t>They</a:t>
            </a:r>
            <a:r>
              <a:rPr sz="2000" b="1" spc="-30" dirty="0">
                <a:latin typeface="Times New Roman"/>
                <a:cs typeface="Times New Roman"/>
              </a:rPr>
              <a:t> </a:t>
            </a:r>
            <a:r>
              <a:rPr sz="2000" b="1" dirty="0">
                <a:latin typeface="Times New Roman"/>
                <a:cs typeface="Times New Roman"/>
              </a:rPr>
              <a:t>can</a:t>
            </a:r>
            <a:r>
              <a:rPr sz="2000" b="1" spc="-10" dirty="0">
                <a:latin typeface="Times New Roman"/>
                <a:cs typeface="Times New Roman"/>
              </a:rPr>
              <a:t> </a:t>
            </a:r>
            <a:r>
              <a:rPr sz="2000" b="1" dirty="0">
                <a:latin typeface="Times New Roman"/>
                <a:cs typeface="Times New Roman"/>
              </a:rPr>
              <a:t>be</a:t>
            </a:r>
            <a:r>
              <a:rPr sz="2000" b="1" spc="-25" dirty="0">
                <a:latin typeface="Times New Roman"/>
                <a:cs typeface="Times New Roman"/>
              </a:rPr>
              <a:t> </a:t>
            </a:r>
            <a:r>
              <a:rPr sz="2000" b="1" dirty="0">
                <a:latin typeface="Times New Roman"/>
                <a:cs typeface="Times New Roman"/>
              </a:rPr>
              <a:t>broadly</a:t>
            </a:r>
            <a:r>
              <a:rPr sz="2000" b="1" spc="-45" dirty="0">
                <a:latin typeface="Times New Roman"/>
                <a:cs typeface="Times New Roman"/>
              </a:rPr>
              <a:t> </a:t>
            </a:r>
            <a:r>
              <a:rPr sz="2000" b="1" dirty="0">
                <a:latin typeface="Times New Roman"/>
                <a:cs typeface="Times New Roman"/>
              </a:rPr>
              <a:t>classified</a:t>
            </a:r>
            <a:r>
              <a:rPr sz="2000" b="1" spc="-45" dirty="0">
                <a:latin typeface="Times New Roman"/>
                <a:cs typeface="Times New Roman"/>
              </a:rPr>
              <a:t> </a:t>
            </a:r>
            <a:r>
              <a:rPr sz="2000" b="1" dirty="0">
                <a:latin typeface="Times New Roman"/>
                <a:cs typeface="Times New Roman"/>
              </a:rPr>
              <a:t>into</a:t>
            </a:r>
            <a:r>
              <a:rPr sz="2000" b="1" spc="-40" dirty="0">
                <a:latin typeface="Times New Roman"/>
                <a:cs typeface="Times New Roman"/>
              </a:rPr>
              <a:t> </a:t>
            </a:r>
            <a:r>
              <a:rPr sz="2000" b="1" dirty="0">
                <a:latin typeface="Times New Roman"/>
                <a:cs typeface="Times New Roman"/>
              </a:rPr>
              <a:t>two</a:t>
            </a:r>
            <a:r>
              <a:rPr sz="2000" b="1" spc="-10" dirty="0">
                <a:latin typeface="Times New Roman"/>
                <a:cs typeface="Times New Roman"/>
              </a:rPr>
              <a:t> </a:t>
            </a:r>
            <a:r>
              <a:rPr sz="2000" b="1" dirty="0">
                <a:latin typeface="Times New Roman"/>
                <a:cs typeface="Times New Roman"/>
              </a:rPr>
              <a:t>different</a:t>
            </a:r>
            <a:r>
              <a:rPr sz="2000" b="1" spc="-40" dirty="0">
                <a:latin typeface="Times New Roman"/>
                <a:cs typeface="Times New Roman"/>
              </a:rPr>
              <a:t> </a:t>
            </a:r>
            <a:r>
              <a:rPr sz="2000" b="1" dirty="0">
                <a:latin typeface="Times New Roman"/>
                <a:cs typeface="Times New Roman"/>
              </a:rPr>
              <a:t>categories</a:t>
            </a:r>
            <a:r>
              <a:rPr sz="2000" b="1" spc="-40" dirty="0">
                <a:latin typeface="Times New Roman"/>
                <a:cs typeface="Times New Roman"/>
              </a:rPr>
              <a:t> </a:t>
            </a:r>
            <a:r>
              <a:rPr sz="2000" b="1" spc="-50" dirty="0">
                <a:latin typeface="Times New Roman"/>
                <a:cs typeface="Times New Roman"/>
              </a:rPr>
              <a:t>:</a:t>
            </a:r>
            <a:endParaRPr sz="2000">
              <a:latin typeface="Times New Roman"/>
              <a:cs typeface="Times New Roman"/>
            </a:endParaRPr>
          </a:p>
          <a:p>
            <a:pPr marL="468630" lvl="2" indent="-281305">
              <a:lnSpc>
                <a:spcPct val="100000"/>
              </a:lnSpc>
              <a:buClr>
                <a:srgbClr val="C00000"/>
              </a:buClr>
              <a:buAutoNum type="arabicPeriod"/>
              <a:tabLst>
                <a:tab pos="468630" algn="l"/>
              </a:tabLst>
            </a:pPr>
            <a:r>
              <a:rPr sz="2000" b="1" dirty="0">
                <a:solidFill>
                  <a:srgbClr val="006FC0"/>
                </a:solidFill>
                <a:latin typeface="Times New Roman"/>
                <a:cs typeface="Times New Roman"/>
              </a:rPr>
              <a:t>Linear</a:t>
            </a:r>
            <a:r>
              <a:rPr sz="2000" b="1" spc="-50" dirty="0">
                <a:solidFill>
                  <a:srgbClr val="006FC0"/>
                </a:solidFill>
                <a:latin typeface="Times New Roman"/>
                <a:cs typeface="Times New Roman"/>
              </a:rPr>
              <a:t> </a:t>
            </a:r>
            <a:r>
              <a:rPr sz="2000" b="1" spc="-10" dirty="0">
                <a:solidFill>
                  <a:srgbClr val="006FC0"/>
                </a:solidFill>
                <a:latin typeface="Times New Roman"/>
                <a:cs typeface="Times New Roman"/>
              </a:rPr>
              <a:t>filtering</a:t>
            </a:r>
            <a:r>
              <a:rPr sz="2000" b="1" spc="-10" dirty="0">
                <a:latin typeface="Times New Roman"/>
                <a:cs typeface="Times New Roman"/>
              </a:rPr>
              <a:t>.</a:t>
            </a:r>
            <a:endParaRPr sz="2000">
              <a:latin typeface="Times New Roman"/>
              <a:cs typeface="Times New Roman"/>
            </a:endParaRPr>
          </a:p>
          <a:p>
            <a:pPr marL="468630" lvl="2" indent="-281305">
              <a:lnSpc>
                <a:spcPct val="100000"/>
              </a:lnSpc>
              <a:buClr>
                <a:srgbClr val="C00000"/>
              </a:buClr>
              <a:buAutoNum type="arabicPeriod"/>
              <a:tabLst>
                <a:tab pos="468630" algn="l"/>
              </a:tabLst>
            </a:pPr>
            <a:r>
              <a:rPr sz="2000" b="1" dirty="0">
                <a:solidFill>
                  <a:srgbClr val="006FC0"/>
                </a:solidFill>
                <a:latin typeface="Times New Roman"/>
                <a:cs typeface="Times New Roman"/>
              </a:rPr>
              <a:t>Nonlinear</a:t>
            </a:r>
            <a:r>
              <a:rPr sz="2000" b="1" spc="-75" dirty="0">
                <a:solidFill>
                  <a:srgbClr val="006FC0"/>
                </a:solidFill>
                <a:latin typeface="Times New Roman"/>
                <a:cs typeface="Times New Roman"/>
              </a:rPr>
              <a:t> </a:t>
            </a:r>
            <a:r>
              <a:rPr sz="2000" b="1" dirty="0">
                <a:solidFill>
                  <a:srgbClr val="006FC0"/>
                </a:solidFill>
                <a:latin typeface="Times New Roman"/>
                <a:cs typeface="Times New Roman"/>
              </a:rPr>
              <a:t>filtering</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a:t>
            </a:r>
            <a:r>
              <a:rPr sz="2000" b="1" spc="-10" dirty="0">
                <a:solidFill>
                  <a:srgbClr val="006FC0"/>
                </a:solidFill>
                <a:latin typeface="Times New Roman"/>
                <a:cs typeface="Times New Roman"/>
              </a:rPr>
              <a:t> </a:t>
            </a:r>
            <a:r>
              <a:rPr sz="2000" b="1" spc="-20" dirty="0">
                <a:solidFill>
                  <a:srgbClr val="006FC0"/>
                </a:solidFill>
                <a:latin typeface="Times New Roman"/>
                <a:cs typeface="Times New Roman"/>
              </a:rPr>
              <a:t>Order-</a:t>
            </a:r>
            <a:r>
              <a:rPr sz="2000" b="1" dirty="0">
                <a:solidFill>
                  <a:srgbClr val="006FC0"/>
                </a:solidFill>
                <a:latin typeface="Times New Roman"/>
                <a:cs typeface="Times New Roman"/>
              </a:rPr>
              <a:t>statistic</a:t>
            </a:r>
            <a:r>
              <a:rPr sz="2000" b="1" spc="-45" dirty="0">
                <a:solidFill>
                  <a:srgbClr val="006FC0"/>
                </a:solidFill>
                <a:latin typeface="Times New Roman"/>
                <a:cs typeface="Times New Roman"/>
              </a:rPr>
              <a:t> </a:t>
            </a:r>
            <a:r>
              <a:rPr sz="2000" b="1" spc="-10" dirty="0">
                <a:solidFill>
                  <a:srgbClr val="006FC0"/>
                </a:solidFill>
                <a:latin typeface="Times New Roman"/>
                <a:cs typeface="Times New Roman"/>
              </a:rPr>
              <a:t>filters)</a:t>
            </a:r>
            <a:r>
              <a:rPr sz="2000" b="1" spc="-10" dirty="0">
                <a:latin typeface="Times New Roman"/>
                <a:cs typeface="Times New Roman"/>
              </a:rPr>
              <a:t>.</a:t>
            </a:r>
            <a:endParaRPr sz="2000">
              <a:latin typeface="Times New Roman"/>
              <a:cs typeface="Times New Roman"/>
            </a:endParaRPr>
          </a:p>
        </p:txBody>
      </p:sp>
      <p:grpSp>
        <p:nvGrpSpPr>
          <p:cNvPr id="4" name="object 4"/>
          <p:cNvGrpSpPr/>
          <p:nvPr/>
        </p:nvGrpSpPr>
        <p:grpSpPr>
          <a:xfrm>
            <a:off x="426719" y="795527"/>
            <a:ext cx="8211820" cy="91440"/>
            <a:chOff x="426719" y="795527"/>
            <a:chExt cx="8211820" cy="91440"/>
          </a:xfrm>
        </p:grpSpPr>
        <p:pic>
          <p:nvPicPr>
            <p:cNvPr id="5" name="object 5"/>
            <p:cNvPicPr/>
            <p:nvPr/>
          </p:nvPicPr>
          <p:blipFill>
            <a:blip r:embed="rId3" cstate="print"/>
            <a:stretch>
              <a:fillRect/>
            </a:stretch>
          </p:blipFill>
          <p:spPr>
            <a:xfrm>
              <a:off x="426719" y="795527"/>
              <a:ext cx="8211311" cy="91440"/>
            </a:xfrm>
            <a:prstGeom prst="rect">
              <a:avLst/>
            </a:prstGeom>
          </p:spPr>
        </p:pic>
        <p:sp>
          <p:nvSpPr>
            <p:cNvPr id="6" name="object 6"/>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8429" y="1052321"/>
            <a:ext cx="5335905" cy="941069"/>
          </a:xfrm>
          <a:prstGeom prst="rect">
            <a:avLst/>
          </a:prstGeom>
        </p:spPr>
        <p:txBody>
          <a:bodyPr vert="horz" wrap="square" lIns="0" tIns="13335" rIns="0" bIns="0" rtlCol="0">
            <a:spAutoFit/>
          </a:bodyPr>
          <a:lstStyle/>
          <a:p>
            <a:pPr marL="12700" marR="5080" algn="just">
              <a:lnSpc>
                <a:spcPct val="100000"/>
              </a:lnSpc>
              <a:spcBef>
                <a:spcPts val="105"/>
              </a:spcBef>
            </a:pPr>
            <a:r>
              <a:rPr sz="2000" b="1" dirty="0">
                <a:latin typeface="Times New Roman"/>
                <a:cs typeface="Times New Roman"/>
              </a:rPr>
              <a:t>An</a:t>
            </a:r>
            <a:r>
              <a:rPr sz="2000" b="1" spc="25" dirty="0">
                <a:latin typeface="Times New Roman"/>
                <a:cs typeface="Times New Roman"/>
              </a:rPr>
              <a:t> </a:t>
            </a:r>
            <a:r>
              <a:rPr sz="2000" b="1" dirty="0">
                <a:latin typeface="Times New Roman"/>
                <a:cs typeface="Times New Roman"/>
              </a:rPr>
              <a:t>image</a:t>
            </a:r>
            <a:r>
              <a:rPr sz="2000" b="1" spc="25" dirty="0">
                <a:latin typeface="Times New Roman"/>
                <a:cs typeface="Times New Roman"/>
              </a:rPr>
              <a:t> </a:t>
            </a:r>
            <a:r>
              <a:rPr sz="2000" b="1" dirty="0">
                <a:latin typeface="Times New Roman"/>
                <a:cs typeface="Times New Roman"/>
              </a:rPr>
              <a:t>can</a:t>
            </a:r>
            <a:r>
              <a:rPr sz="2000" b="1" spc="20" dirty="0">
                <a:latin typeface="Times New Roman"/>
                <a:cs typeface="Times New Roman"/>
              </a:rPr>
              <a:t> </a:t>
            </a:r>
            <a:r>
              <a:rPr sz="2000" b="1" dirty="0">
                <a:latin typeface="Times New Roman"/>
                <a:cs typeface="Times New Roman"/>
              </a:rPr>
              <a:t>be</a:t>
            </a:r>
            <a:r>
              <a:rPr sz="2000" b="1" spc="30" dirty="0">
                <a:latin typeface="Times New Roman"/>
                <a:cs typeface="Times New Roman"/>
              </a:rPr>
              <a:t> </a:t>
            </a:r>
            <a:r>
              <a:rPr sz="2000" b="1" dirty="0">
                <a:latin typeface="Times New Roman"/>
                <a:cs typeface="Times New Roman"/>
              </a:rPr>
              <a:t>represented</a:t>
            </a:r>
            <a:r>
              <a:rPr sz="2000" b="1" spc="40" dirty="0">
                <a:latin typeface="Times New Roman"/>
                <a:cs typeface="Times New Roman"/>
              </a:rPr>
              <a:t> </a:t>
            </a:r>
            <a:r>
              <a:rPr sz="2000" b="1" dirty="0">
                <a:latin typeface="Times New Roman"/>
                <a:cs typeface="Times New Roman"/>
              </a:rPr>
              <a:t>in</a:t>
            </a:r>
            <a:r>
              <a:rPr sz="2000" b="1" spc="5"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dirty="0">
                <a:latin typeface="Times New Roman"/>
                <a:cs typeface="Times New Roman"/>
              </a:rPr>
              <a:t>form</a:t>
            </a:r>
            <a:r>
              <a:rPr sz="2000" b="1" spc="10"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dirty="0">
                <a:latin typeface="Times New Roman"/>
                <a:cs typeface="Times New Roman"/>
              </a:rPr>
              <a:t>a</a:t>
            </a:r>
            <a:r>
              <a:rPr sz="2000" b="1" spc="20" dirty="0">
                <a:latin typeface="Times New Roman"/>
                <a:cs typeface="Times New Roman"/>
              </a:rPr>
              <a:t> </a:t>
            </a:r>
            <a:r>
              <a:rPr sz="2000" b="1" spc="-25" dirty="0">
                <a:solidFill>
                  <a:srgbClr val="6F2F9F"/>
                </a:solidFill>
                <a:latin typeface="Times New Roman"/>
                <a:cs typeface="Times New Roman"/>
              </a:rPr>
              <a:t>2D </a:t>
            </a:r>
            <a:r>
              <a:rPr sz="2000" b="1" dirty="0">
                <a:solidFill>
                  <a:srgbClr val="6F2F9F"/>
                </a:solidFill>
                <a:latin typeface="Times New Roman"/>
                <a:cs typeface="Times New Roman"/>
              </a:rPr>
              <a:t>matrix</a:t>
            </a:r>
            <a:r>
              <a:rPr sz="2000" b="1" spc="340" dirty="0">
                <a:solidFill>
                  <a:srgbClr val="6F2F9F"/>
                </a:solidFill>
                <a:latin typeface="Times New Roman"/>
                <a:cs typeface="Times New Roman"/>
              </a:rPr>
              <a:t>  </a:t>
            </a:r>
            <a:r>
              <a:rPr sz="2000" b="1" dirty="0">
                <a:latin typeface="Times New Roman"/>
                <a:cs typeface="Times New Roman"/>
              </a:rPr>
              <a:t>where</a:t>
            </a:r>
            <a:r>
              <a:rPr sz="2000" b="1" spc="340" dirty="0">
                <a:latin typeface="Times New Roman"/>
                <a:cs typeface="Times New Roman"/>
              </a:rPr>
              <a:t>  </a:t>
            </a:r>
            <a:r>
              <a:rPr sz="2000" b="1" dirty="0">
                <a:latin typeface="Times New Roman"/>
                <a:cs typeface="Times New Roman"/>
              </a:rPr>
              <a:t>each</a:t>
            </a:r>
            <a:r>
              <a:rPr sz="2000" b="1" spc="340" dirty="0">
                <a:latin typeface="Times New Roman"/>
                <a:cs typeface="Times New Roman"/>
              </a:rPr>
              <a:t>  </a:t>
            </a:r>
            <a:r>
              <a:rPr sz="2000" b="1" dirty="0">
                <a:latin typeface="Times New Roman"/>
                <a:cs typeface="Times New Roman"/>
              </a:rPr>
              <a:t>element</a:t>
            </a:r>
            <a:r>
              <a:rPr sz="2000" b="1" spc="335" dirty="0">
                <a:latin typeface="Times New Roman"/>
                <a:cs typeface="Times New Roman"/>
              </a:rPr>
              <a:t>  </a:t>
            </a:r>
            <a:r>
              <a:rPr sz="2000" b="1" dirty="0">
                <a:latin typeface="Times New Roman"/>
                <a:cs typeface="Times New Roman"/>
              </a:rPr>
              <a:t>of</a:t>
            </a:r>
            <a:r>
              <a:rPr sz="2000" b="1" spc="340" dirty="0">
                <a:latin typeface="Times New Roman"/>
                <a:cs typeface="Times New Roman"/>
              </a:rPr>
              <a:t>  </a:t>
            </a:r>
            <a:r>
              <a:rPr sz="2000" b="1" dirty="0">
                <a:latin typeface="Times New Roman"/>
                <a:cs typeface="Times New Roman"/>
              </a:rPr>
              <a:t>the</a:t>
            </a:r>
            <a:r>
              <a:rPr sz="2000" b="1" spc="335" dirty="0">
                <a:latin typeface="Times New Roman"/>
                <a:cs typeface="Times New Roman"/>
              </a:rPr>
              <a:t>  </a:t>
            </a:r>
            <a:r>
              <a:rPr sz="2000" b="1" spc="-10" dirty="0">
                <a:latin typeface="Times New Roman"/>
                <a:cs typeface="Times New Roman"/>
              </a:rPr>
              <a:t>matrix </a:t>
            </a:r>
            <a:r>
              <a:rPr sz="2000" b="1" dirty="0">
                <a:latin typeface="Times New Roman"/>
                <a:cs typeface="Times New Roman"/>
              </a:rPr>
              <a:t>represents</a:t>
            </a:r>
            <a:r>
              <a:rPr sz="2000" b="1" spc="-70" dirty="0">
                <a:latin typeface="Times New Roman"/>
                <a:cs typeface="Times New Roman"/>
              </a:rPr>
              <a:t> </a:t>
            </a:r>
            <a:r>
              <a:rPr sz="2000" b="1" dirty="0">
                <a:solidFill>
                  <a:srgbClr val="6F2F9F"/>
                </a:solidFill>
                <a:latin typeface="Times New Roman"/>
                <a:cs typeface="Times New Roman"/>
              </a:rPr>
              <a:t>pixel</a:t>
            </a:r>
            <a:r>
              <a:rPr sz="2000" b="1" spc="-55" dirty="0">
                <a:solidFill>
                  <a:srgbClr val="6F2F9F"/>
                </a:solidFill>
                <a:latin typeface="Times New Roman"/>
                <a:cs typeface="Times New Roman"/>
              </a:rPr>
              <a:t> </a:t>
            </a:r>
            <a:r>
              <a:rPr sz="2000" b="1" spc="-10" dirty="0">
                <a:solidFill>
                  <a:srgbClr val="6F2F9F"/>
                </a:solidFill>
                <a:latin typeface="Times New Roman"/>
                <a:cs typeface="Times New Roman"/>
              </a:rPr>
              <a:t>intensity</a:t>
            </a:r>
            <a:r>
              <a:rPr sz="2000" b="1" spc="-10" dirty="0">
                <a:latin typeface="Times New Roman"/>
                <a:cs typeface="Times New Roman"/>
              </a:rPr>
              <a:t>.</a:t>
            </a:r>
            <a:endParaRPr sz="2000">
              <a:latin typeface="Times New Roman"/>
              <a:cs typeface="Times New Roman"/>
            </a:endParaRPr>
          </a:p>
        </p:txBody>
      </p:sp>
      <p:sp>
        <p:nvSpPr>
          <p:cNvPr id="3" name="object 3"/>
          <p:cNvSpPr txBox="1"/>
          <p:nvPr/>
        </p:nvSpPr>
        <p:spPr>
          <a:xfrm>
            <a:off x="338429" y="1966976"/>
            <a:ext cx="3282950" cy="330835"/>
          </a:xfrm>
          <a:prstGeom prst="rect">
            <a:avLst/>
          </a:prstGeom>
        </p:spPr>
        <p:txBody>
          <a:bodyPr vert="horz" wrap="square" lIns="0" tIns="13335" rIns="0" bIns="0" rtlCol="0">
            <a:spAutoFit/>
          </a:bodyPr>
          <a:lstStyle/>
          <a:p>
            <a:pPr marL="12700">
              <a:lnSpc>
                <a:spcPct val="100000"/>
              </a:lnSpc>
              <a:spcBef>
                <a:spcPts val="105"/>
              </a:spcBef>
              <a:tabLst>
                <a:tab pos="697865" algn="l"/>
                <a:tab pos="1408430" algn="l"/>
                <a:tab pos="1824355" algn="l"/>
                <a:tab pos="2341245" algn="l"/>
              </a:tabLst>
            </a:pPr>
            <a:r>
              <a:rPr sz="2000" b="1" spc="-20" dirty="0">
                <a:latin typeface="Times New Roman"/>
                <a:cs typeface="Times New Roman"/>
              </a:rPr>
              <a:t>This</a:t>
            </a:r>
            <a:r>
              <a:rPr sz="2000" b="1" dirty="0">
                <a:latin typeface="Times New Roman"/>
                <a:cs typeface="Times New Roman"/>
              </a:rPr>
              <a:t>	</a:t>
            </a:r>
            <a:r>
              <a:rPr sz="2000" b="1" spc="-10" dirty="0">
                <a:solidFill>
                  <a:srgbClr val="006FC0"/>
                </a:solidFill>
                <a:latin typeface="Times New Roman"/>
                <a:cs typeface="Times New Roman"/>
              </a:rPr>
              <a:t>state</a:t>
            </a:r>
            <a:r>
              <a:rPr sz="2000" b="1" dirty="0">
                <a:solidFill>
                  <a:srgbClr val="006FC0"/>
                </a:solidFill>
                <a:latin typeface="Times New Roman"/>
                <a:cs typeface="Times New Roman"/>
              </a:rPr>
              <a:t>	</a:t>
            </a:r>
            <a:r>
              <a:rPr sz="2000" b="1" spc="-25" dirty="0">
                <a:solidFill>
                  <a:srgbClr val="006FC0"/>
                </a:solidFill>
                <a:latin typeface="Times New Roman"/>
                <a:cs typeface="Times New Roman"/>
              </a:rPr>
              <a:t>of</a:t>
            </a:r>
            <a:r>
              <a:rPr sz="2000" b="1" dirty="0">
                <a:solidFill>
                  <a:srgbClr val="006FC0"/>
                </a:solidFill>
                <a:latin typeface="Times New Roman"/>
                <a:cs typeface="Times New Roman"/>
              </a:rPr>
              <a:t>	</a:t>
            </a:r>
            <a:r>
              <a:rPr sz="2000" b="1" spc="-25" dirty="0">
                <a:solidFill>
                  <a:srgbClr val="006FC0"/>
                </a:solidFill>
                <a:latin typeface="Times New Roman"/>
                <a:cs typeface="Times New Roman"/>
              </a:rPr>
              <a:t>2D</a:t>
            </a:r>
            <a:r>
              <a:rPr sz="2000" b="1" dirty="0">
                <a:solidFill>
                  <a:srgbClr val="006FC0"/>
                </a:solidFill>
                <a:latin typeface="Times New Roman"/>
                <a:cs typeface="Times New Roman"/>
              </a:rPr>
              <a:t>	</a:t>
            </a:r>
            <a:r>
              <a:rPr sz="2000" b="1" spc="-10" dirty="0">
                <a:solidFill>
                  <a:srgbClr val="006FC0"/>
                </a:solidFill>
                <a:latin typeface="Times New Roman"/>
                <a:cs typeface="Times New Roman"/>
              </a:rPr>
              <a:t>matrices</a:t>
            </a:r>
            <a:endParaRPr sz="2000">
              <a:latin typeface="Times New Roman"/>
              <a:cs typeface="Times New Roman"/>
            </a:endParaRPr>
          </a:p>
        </p:txBody>
      </p:sp>
      <p:sp>
        <p:nvSpPr>
          <p:cNvPr id="4" name="object 4"/>
          <p:cNvSpPr txBox="1"/>
          <p:nvPr/>
        </p:nvSpPr>
        <p:spPr>
          <a:xfrm>
            <a:off x="3800094" y="1966976"/>
            <a:ext cx="1874520" cy="330835"/>
          </a:xfrm>
          <a:prstGeom prst="rect">
            <a:avLst/>
          </a:prstGeom>
        </p:spPr>
        <p:txBody>
          <a:bodyPr vert="horz" wrap="square" lIns="0" tIns="13335" rIns="0" bIns="0" rtlCol="0">
            <a:spAutoFit/>
          </a:bodyPr>
          <a:lstStyle/>
          <a:p>
            <a:pPr marL="12700">
              <a:lnSpc>
                <a:spcPct val="100000"/>
              </a:lnSpc>
              <a:spcBef>
                <a:spcPts val="105"/>
              </a:spcBef>
              <a:tabLst>
                <a:tab pos="655955" algn="l"/>
                <a:tab pos="1521460" algn="l"/>
              </a:tabLst>
            </a:pPr>
            <a:r>
              <a:rPr sz="2000" b="1" spc="-20" dirty="0">
                <a:solidFill>
                  <a:srgbClr val="006FC0"/>
                </a:solidFill>
                <a:latin typeface="Times New Roman"/>
                <a:cs typeface="Times New Roman"/>
              </a:rPr>
              <a:t>that</a:t>
            </a:r>
            <a:r>
              <a:rPr sz="2000" b="1" dirty="0">
                <a:solidFill>
                  <a:srgbClr val="006FC0"/>
                </a:solidFill>
                <a:latin typeface="Times New Roman"/>
                <a:cs typeface="Times New Roman"/>
              </a:rPr>
              <a:t>	</a:t>
            </a:r>
            <a:r>
              <a:rPr sz="2000" b="1" spc="-10" dirty="0">
                <a:solidFill>
                  <a:srgbClr val="006FC0"/>
                </a:solidFill>
                <a:latin typeface="Times New Roman"/>
                <a:cs typeface="Times New Roman"/>
              </a:rPr>
              <a:t>depict</a:t>
            </a:r>
            <a:r>
              <a:rPr sz="2000" b="1" dirty="0">
                <a:solidFill>
                  <a:srgbClr val="006FC0"/>
                </a:solidFill>
                <a:latin typeface="Times New Roman"/>
                <a:cs typeface="Times New Roman"/>
              </a:rPr>
              <a:t>	</a:t>
            </a:r>
            <a:r>
              <a:rPr sz="2000" b="1" spc="-25" dirty="0">
                <a:solidFill>
                  <a:srgbClr val="006FC0"/>
                </a:solidFill>
                <a:latin typeface="Times New Roman"/>
                <a:cs typeface="Times New Roman"/>
              </a:rPr>
              <a:t>the</a:t>
            </a:r>
            <a:endParaRPr sz="2000">
              <a:latin typeface="Times New Roman"/>
              <a:cs typeface="Times New Roman"/>
            </a:endParaRPr>
          </a:p>
        </p:txBody>
      </p:sp>
      <p:sp>
        <p:nvSpPr>
          <p:cNvPr id="5" name="object 5"/>
          <p:cNvSpPr txBox="1"/>
          <p:nvPr/>
        </p:nvSpPr>
        <p:spPr>
          <a:xfrm>
            <a:off x="270763" y="2271776"/>
            <a:ext cx="5403215" cy="3919854"/>
          </a:xfrm>
          <a:prstGeom prst="rect">
            <a:avLst/>
          </a:prstGeom>
        </p:spPr>
        <p:txBody>
          <a:bodyPr vert="horz" wrap="square" lIns="0" tIns="13335" rIns="0" bIns="0" rtlCol="0">
            <a:spAutoFit/>
          </a:bodyPr>
          <a:lstStyle/>
          <a:p>
            <a:pPr marL="80010" marR="5080" algn="just">
              <a:lnSpc>
                <a:spcPct val="100000"/>
              </a:lnSpc>
              <a:spcBef>
                <a:spcPts val="105"/>
              </a:spcBef>
            </a:pPr>
            <a:r>
              <a:rPr sz="2000" b="1" dirty="0">
                <a:solidFill>
                  <a:srgbClr val="006FC0"/>
                </a:solidFill>
                <a:latin typeface="Times New Roman"/>
                <a:cs typeface="Times New Roman"/>
              </a:rPr>
              <a:t>intensity</a:t>
            </a:r>
            <a:r>
              <a:rPr sz="2000" b="1" spc="254" dirty="0">
                <a:solidFill>
                  <a:srgbClr val="006FC0"/>
                </a:solidFill>
                <a:latin typeface="Times New Roman"/>
                <a:cs typeface="Times New Roman"/>
              </a:rPr>
              <a:t>  </a:t>
            </a:r>
            <a:r>
              <a:rPr sz="2000" b="1" dirty="0">
                <a:solidFill>
                  <a:srgbClr val="006FC0"/>
                </a:solidFill>
                <a:latin typeface="Times New Roman"/>
                <a:cs typeface="Times New Roman"/>
              </a:rPr>
              <a:t>distribution</a:t>
            </a:r>
            <a:r>
              <a:rPr sz="2000" b="1" spc="254" dirty="0">
                <a:solidFill>
                  <a:srgbClr val="006FC0"/>
                </a:solidFill>
                <a:latin typeface="Times New Roman"/>
                <a:cs typeface="Times New Roman"/>
              </a:rPr>
              <a:t>  </a:t>
            </a:r>
            <a:r>
              <a:rPr sz="2000" b="1" dirty="0">
                <a:solidFill>
                  <a:srgbClr val="006FC0"/>
                </a:solidFill>
                <a:latin typeface="Times New Roman"/>
                <a:cs typeface="Times New Roman"/>
              </a:rPr>
              <a:t>of</a:t>
            </a:r>
            <a:r>
              <a:rPr sz="2000" b="1" spc="250" dirty="0">
                <a:solidFill>
                  <a:srgbClr val="006FC0"/>
                </a:solidFill>
                <a:latin typeface="Times New Roman"/>
                <a:cs typeface="Times New Roman"/>
              </a:rPr>
              <a:t>  </a:t>
            </a:r>
            <a:r>
              <a:rPr sz="2000" b="1" dirty="0">
                <a:solidFill>
                  <a:srgbClr val="006FC0"/>
                </a:solidFill>
                <a:latin typeface="Times New Roman"/>
                <a:cs typeface="Times New Roman"/>
              </a:rPr>
              <a:t>an</a:t>
            </a:r>
            <a:r>
              <a:rPr sz="2000" b="1" spc="254" dirty="0">
                <a:solidFill>
                  <a:srgbClr val="006FC0"/>
                </a:solidFill>
                <a:latin typeface="Times New Roman"/>
                <a:cs typeface="Times New Roman"/>
              </a:rPr>
              <a:t>  </a:t>
            </a:r>
            <a:r>
              <a:rPr sz="2000" b="1" dirty="0">
                <a:solidFill>
                  <a:srgbClr val="006FC0"/>
                </a:solidFill>
                <a:latin typeface="Times New Roman"/>
                <a:cs typeface="Times New Roman"/>
              </a:rPr>
              <a:t>image</a:t>
            </a:r>
            <a:r>
              <a:rPr sz="2000" b="1" spc="260" dirty="0">
                <a:solidFill>
                  <a:srgbClr val="006FC0"/>
                </a:solidFill>
                <a:latin typeface="Times New Roman"/>
                <a:cs typeface="Times New Roman"/>
              </a:rPr>
              <a:t>  </a:t>
            </a:r>
            <a:r>
              <a:rPr sz="2000" b="1" dirty="0">
                <a:solidFill>
                  <a:srgbClr val="006FC0"/>
                </a:solidFill>
                <a:latin typeface="Times New Roman"/>
                <a:cs typeface="Times New Roman"/>
              </a:rPr>
              <a:t>is</a:t>
            </a:r>
            <a:r>
              <a:rPr sz="2000" b="1" spc="245" dirty="0">
                <a:solidFill>
                  <a:srgbClr val="006FC0"/>
                </a:solidFill>
                <a:latin typeface="Times New Roman"/>
                <a:cs typeface="Times New Roman"/>
              </a:rPr>
              <a:t>  </a:t>
            </a:r>
            <a:r>
              <a:rPr sz="2000" b="1" spc="-10" dirty="0">
                <a:solidFill>
                  <a:srgbClr val="006FC0"/>
                </a:solidFill>
                <a:latin typeface="Times New Roman"/>
                <a:cs typeface="Times New Roman"/>
              </a:rPr>
              <a:t>called </a:t>
            </a:r>
            <a:r>
              <a:rPr sz="2000" b="1" dirty="0">
                <a:solidFill>
                  <a:srgbClr val="FF0000"/>
                </a:solidFill>
                <a:latin typeface="Times New Roman"/>
                <a:cs typeface="Times New Roman"/>
              </a:rPr>
              <a:t>Spatial</a:t>
            </a:r>
            <a:r>
              <a:rPr sz="2000" b="1" spc="150" dirty="0">
                <a:solidFill>
                  <a:srgbClr val="FF0000"/>
                </a:solidFill>
                <a:latin typeface="Times New Roman"/>
                <a:cs typeface="Times New Roman"/>
              </a:rPr>
              <a:t> </a:t>
            </a:r>
            <a:r>
              <a:rPr sz="2000" b="1" dirty="0">
                <a:solidFill>
                  <a:srgbClr val="FF0000"/>
                </a:solidFill>
                <a:latin typeface="Times New Roman"/>
                <a:cs typeface="Times New Roman"/>
              </a:rPr>
              <a:t>Domain</a:t>
            </a:r>
            <a:r>
              <a:rPr sz="2000" b="1" dirty="0">
                <a:latin typeface="Times New Roman"/>
                <a:cs typeface="Times New Roman"/>
              </a:rPr>
              <a:t>.</a:t>
            </a:r>
            <a:r>
              <a:rPr sz="2000" b="1" spc="160" dirty="0">
                <a:latin typeface="Times New Roman"/>
                <a:cs typeface="Times New Roman"/>
              </a:rPr>
              <a:t> </a:t>
            </a:r>
            <a:r>
              <a:rPr sz="2000" b="1" dirty="0">
                <a:latin typeface="Times New Roman"/>
                <a:cs typeface="Times New Roman"/>
              </a:rPr>
              <a:t>It</a:t>
            </a:r>
            <a:r>
              <a:rPr sz="2000" b="1" spc="165" dirty="0">
                <a:latin typeface="Times New Roman"/>
                <a:cs typeface="Times New Roman"/>
              </a:rPr>
              <a:t> </a:t>
            </a:r>
            <a:r>
              <a:rPr sz="2000" b="1" dirty="0">
                <a:latin typeface="Times New Roman"/>
                <a:cs typeface="Times New Roman"/>
              </a:rPr>
              <a:t>can</a:t>
            </a:r>
            <a:r>
              <a:rPr sz="2000" b="1" spc="175" dirty="0">
                <a:latin typeface="Times New Roman"/>
                <a:cs typeface="Times New Roman"/>
              </a:rPr>
              <a:t> </a:t>
            </a:r>
            <a:r>
              <a:rPr sz="2000" b="1" dirty="0">
                <a:latin typeface="Times New Roman"/>
                <a:cs typeface="Times New Roman"/>
              </a:rPr>
              <a:t>be</a:t>
            </a:r>
            <a:r>
              <a:rPr sz="2000" b="1" spc="160" dirty="0">
                <a:latin typeface="Times New Roman"/>
                <a:cs typeface="Times New Roman"/>
              </a:rPr>
              <a:t> </a:t>
            </a:r>
            <a:r>
              <a:rPr sz="2000" b="1" dirty="0">
                <a:latin typeface="Times New Roman"/>
                <a:cs typeface="Times New Roman"/>
              </a:rPr>
              <a:t>represented</a:t>
            </a:r>
            <a:r>
              <a:rPr sz="2000" b="1" spc="165" dirty="0">
                <a:latin typeface="Times New Roman"/>
                <a:cs typeface="Times New Roman"/>
              </a:rPr>
              <a:t> </a:t>
            </a:r>
            <a:r>
              <a:rPr sz="2000" b="1" dirty="0">
                <a:latin typeface="Times New Roman"/>
                <a:cs typeface="Times New Roman"/>
              </a:rPr>
              <a:t>as</a:t>
            </a:r>
            <a:r>
              <a:rPr sz="2000" b="1" spc="160" dirty="0">
                <a:latin typeface="Times New Roman"/>
                <a:cs typeface="Times New Roman"/>
              </a:rPr>
              <a:t> </a:t>
            </a:r>
            <a:r>
              <a:rPr sz="2000" b="1" spc="-10" dirty="0">
                <a:latin typeface="Times New Roman"/>
                <a:cs typeface="Times New Roman"/>
              </a:rPr>
              <a:t>shown below.</a:t>
            </a:r>
            <a:endParaRPr sz="2000">
              <a:latin typeface="Times New Roman"/>
              <a:cs typeface="Times New Roman"/>
            </a:endParaRPr>
          </a:p>
          <a:p>
            <a:pPr>
              <a:lnSpc>
                <a:spcPct val="100000"/>
              </a:lnSpc>
              <a:spcBef>
                <a:spcPts val="1950"/>
              </a:spcBef>
            </a:pPr>
            <a:endParaRPr sz="2000">
              <a:latin typeface="Times New Roman"/>
              <a:cs typeface="Times New Roman"/>
            </a:endParaRPr>
          </a:p>
          <a:p>
            <a:pPr marL="295910" marR="76835" indent="-283845" algn="just">
              <a:lnSpc>
                <a:spcPct val="100000"/>
              </a:lnSpc>
              <a:buFont typeface="Arial MT"/>
              <a:buChar char="•"/>
              <a:tabLst>
                <a:tab pos="299085" algn="l"/>
              </a:tabLst>
            </a:pPr>
            <a:r>
              <a:rPr sz="2000" b="1" dirty="0">
                <a:latin typeface="Times New Roman"/>
                <a:cs typeface="Times New Roman"/>
              </a:rPr>
              <a:t>For</a:t>
            </a:r>
            <a:r>
              <a:rPr sz="2000" b="1" spc="25" dirty="0">
                <a:latin typeface="Times New Roman"/>
                <a:cs typeface="Times New Roman"/>
              </a:rPr>
              <a:t>  </a:t>
            </a:r>
            <a:r>
              <a:rPr sz="2000" b="1" dirty="0">
                <a:latin typeface="Times New Roman"/>
                <a:cs typeface="Times New Roman"/>
              </a:rPr>
              <a:t>the</a:t>
            </a:r>
            <a:r>
              <a:rPr sz="2000" b="1" spc="40" dirty="0">
                <a:latin typeface="Times New Roman"/>
                <a:cs typeface="Times New Roman"/>
              </a:rPr>
              <a:t>  </a:t>
            </a:r>
            <a:r>
              <a:rPr sz="2000" b="1" dirty="0">
                <a:solidFill>
                  <a:srgbClr val="006FC0"/>
                </a:solidFill>
                <a:latin typeface="Times New Roman"/>
                <a:cs typeface="Times New Roman"/>
              </a:rPr>
              <a:t>RGB</a:t>
            </a:r>
            <a:r>
              <a:rPr sz="2000" b="1" spc="45" dirty="0">
                <a:solidFill>
                  <a:srgbClr val="006FC0"/>
                </a:solidFill>
                <a:latin typeface="Times New Roman"/>
                <a:cs typeface="Times New Roman"/>
              </a:rPr>
              <a:t>  </a:t>
            </a:r>
            <a:r>
              <a:rPr sz="2000" b="1" dirty="0">
                <a:solidFill>
                  <a:srgbClr val="006FC0"/>
                </a:solidFill>
                <a:latin typeface="Times New Roman"/>
                <a:cs typeface="Times New Roman"/>
              </a:rPr>
              <a:t>image</a:t>
            </a:r>
            <a:r>
              <a:rPr sz="2000" b="1" dirty="0">
                <a:latin typeface="Times New Roman"/>
                <a:cs typeface="Times New Roman"/>
              </a:rPr>
              <a:t>,</a:t>
            </a:r>
            <a:r>
              <a:rPr sz="2000" b="1" spc="40" dirty="0">
                <a:latin typeface="Times New Roman"/>
                <a:cs typeface="Times New Roman"/>
              </a:rPr>
              <a:t>  </a:t>
            </a:r>
            <a:r>
              <a:rPr sz="2000" b="1" dirty="0">
                <a:latin typeface="Times New Roman"/>
                <a:cs typeface="Times New Roman"/>
              </a:rPr>
              <a:t>the</a:t>
            </a:r>
            <a:r>
              <a:rPr sz="2000" b="1" spc="45" dirty="0">
                <a:latin typeface="Times New Roman"/>
                <a:cs typeface="Times New Roman"/>
              </a:rPr>
              <a:t>  </a:t>
            </a:r>
            <a:r>
              <a:rPr sz="2000" b="1" dirty="0">
                <a:latin typeface="Times New Roman"/>
                <a:cs typeface="Times New Roman"/>
              </a:rPr>
              <a:t>spatial</a:t>
            </a:r>
            <a:r>
              <a:rPr sz="2000" b="1" spc="40" dirty="0">
                <a:latin typeface="Times New Roman"/>
                <a:cs typeface="Times New Roman"/>
              </a:rPr>
              <a:t>  </a:t>
            </a:r>
            <a:r>
              <a:rPr sz="2000" b="1" dirty="0">
                <a:latin typeface="Times New Roman"/>
                <a:cs typeface="Times New Roman"/>
              </a:rPr>
              <a:t>domain</a:t>
            </a:r>
            <a:r>
              <a:rPr sz="2000" b="1" spc="45" dirty="0">
                <a:latin typeface="Times New Roman"/>
                <a:cs typeface="Times New Roman"/>
              </a:rPr>
              <a:t>  </a:t>
            </a:r>
            <a:r>
              <a:rPr sz="2000" b="1" spc="-25" dirty="0">
                <a:latin typeface="Times New Roman"/>
                <a:cs typeface="Times New Roman"/>
              </a:rPr>
              <a:t>is 	</a:t>
            </a:r>
            <a:r>
              <a:rPr sz="2000" b="1" dirty="0">
                <a:latin typeface="Times New Roman"/>
                <a:cs typeface="Times New Roman"/>
              </a:rPr>
              <a:t>represented</a:t>
            </a:r>
            <a:r>
              <a:rPr sz="2000" b="1" spc="470" dirty="0">
                <a:latin typeface="Times New Roman"/>
                <a:cs typeface="Times New Roman"/>
              </a:rPr>
              <a:t> </a:t>
            </a:r>
            <a:r>
              <a:rPr sz="2000" b="1" dirty="0">
                <a:latin typeface="Times New Roman"/>
                <a:cs typeface="Times New Roman"/>
              </a:rPr>
              <a:t>as</a:t>
            </a:r>
            <a:r>
              <a:rPr sz="2000" b="1" spc="480" dirty="0">
                <a:latin typeface="Times New Roman"/>
                <a:cs typeface="Times New Roman"/>
              </a:rPr>
              <a:t> </a:t>
            </a:r>
            <a:r>
              <a:rPr sz="2000" b="1" dirty="0">
                <a:latin typeface="Times New Roman"/>
                <a:cs typeface="Times New Roman"/>
              </a:rPr>
              <a:t>a</a:t>
            </a:r>
            <a:r>
              <a:rPr sz="2000" b="1" spc="475" dirty="0">
                <a:latin typeface="Times New Roman"/>
                <a:cs typeface="Times New Roman"/>
              </a:rPr>
              <a:t> </a:t>
            </a:r>
            <a:r>
              <a:rPr sz="2000" b="1" dirty="0">
                <a:solidFill>
                  <a:srgbClr val="006FC0"/>
                </a:solidFill>
                <a:latin typeface="Times New Roman"/>
                <a:cs typeface="Times New Roman"/>
              </a:rPr>
              <a:t>3D</a:t>
            </a:r>
            <a:r>
              <a:rPr sz="2000" b="1" spc="465" dirty="0">
                <a:solidFill>
                  <a:srgbClr val="006FC0"/>
                </a:solidFill>
                <a:latin typeface="Times New Roman"/>
                <a:cs typeface="Times New Roman"/>
              </a:rPr>
              <a:t> </a:t>
            </a:r>
            <a:r>
              <a:rPr sz="2000" b="1" dirty="0">
                <a:solidFill>
                  <a:srgbClr val="006FC0"/>
                </a:solidFill>
                <a:latin typeface="Times New Roman"/>
                <a:cs typeface="Times New Roman"/>
              </a:rPr>
              <a:t>vector</a:t>
            </a:r>
            <a:r>
              <a:rPr sz="2000" b="1" spc="440" dirty="0">
                <a:solidFill>
                  <a:srgbClr val="006FC0"/>
                </a:solidFill>
                <a:latin typeface="Times New Roman"/>
                <a:cs typeface="Times New Roman"/>
              </a:rPr>
              <a:t> </a:t>
            </a:r>
            <a:r>
              <a:rPr sz="2000" b="1" dirty="0">
                <a:latin typeface="Times New Roman"/>
                <a:cs typeface="Times New Roman"/>
              </a:rPr>
              <a:t>of</a:t>
            </a:r>
            <a:r>
              <a:rPr sz="2000" b="1" spc="484" dirty="0">
                <a:latin typeface="Times New Roman"/>
                <a:cs typeface="Times New Roman"/>
              </a:rPr>
              <a:t> </a:t>
            </a:r>
            <a:r>
              <a:rPr sz="2000" b="1" dirty="0">
                <a:solidFill>
                  <a:srgbClr val="006FC0"/>
                </a:solidFill>
                <a:latin typeface="Times New Roman"/>
                <a:cs typeface="Times New Roman"/>
              </a:rPr>
              <a:t>2D</a:t>
            </a:r>
            <a:r>
              <a:rPr sz="2000" b="1" spc="484" dirty="0">
                <a:solidFill>
                  <a:srgbClr val="006FC0"/>
                </a:solidFill>
                <a:latin typeface="Times New Roman"/>
                <a:cs typeface="Times New Roman"/>
              </a:rPr>
              <a:t> </a:t>
            </a:r>
            <a:r>
              <a:rPr sz="2000" b="1" spc="-10" dirty="0">
                <a:solidFill>
                  <a:srgbClr val="006FC0"/>
                </a:solidFill>
                <a:latin typeface="Times New Roman"/>
                <a:cs typeface="Times New Roman"/>
              </a:rPr>
              <a:t>matrices</a:t>
            </a:r>
            <a:r>
              <a:rPr sz="2000" b="1" spc="-10" dirty="0">
                <a:latin typeface="Times New Roman"/>
                <a:cs typeface="Times New Roman"/>
              </a:rPr>
              <a:t>. 	</a:t>
            </a:r>
            <a:r>
              <a:rPr sz="2000" b="1" dirty="0">
                <a:latin typeface="Times New Roman"/>
                <a:cs typeface="Times New Roman"/>
              </a:rPr>
              <a:t>Each</a:t>
            </a:r>
            <a:r>
              <a:rPr sz="2000" b="1" spc="210" dirty="0">
                <a:latin typeface="Times New Roman"/>
                <a:cs typeface="Times New Roman"/>
              </a:rPr>
              <a:t> </a:t>
            </a:r>
            <a:r>
              <a:rPr sz="2000" b="1" dirty="0">
                <a:solidFill>
                  <a:srgbClr val="00AF50"/>
                </a:solidFill>
                <a:latin typeface="Times New Roman"/>
                <a:cs typeface="Times New Roman"/>
              </a:rPr>
              <a:t>2D</a:t>
            </a:r>
            <a:r>
              <a:rPr sz="2000" b="1" spc="215" dirty="0">
                <a:solidFill>
                  <a:srgbClr val="00AF50"/>
                </a:solidFill>
                <a:latin typeface="Times New Roman"/>
                <a:cs typeface="Times New Roman"/>
              </a:rPr>
              <a:t> </a:t>
            </a:r>
            <a:r>
              <a:rPr sz="2000" b="1" dirty="0">
                <a:solidFill>
                  <a:srgbClr val="00AF50"/>
                </a:solidFill>
                <a:latin typeface="Times New Roman"/>
                <a:cs typeface="Times New Roman"/>
              </a:rPr>
              <a:t>matrix</a:t>
            </a:r>
            <a:r>
              <a:rPr sz="2000" b="1" spc="229" dirty="0">
                <a:solidFill>
                  <a:srgbClr val="00AF50"/>
                </a:solidFill>
                <a:latin typeface="Times New Roman"/>
                <a:cs typeface="Times New Roman"/>
              </a:rPr>
              <a:t> </a:t>
            </a:r>
            <a:r>
              <a:rPr sz="2000" b="1" dirty="0">
                <a:latin typeface="Times New Roman"/>
                <a:cs typeface="Times New Roman"/>
              </a:rPr>
              <a:t>contains</a:t>
            </a:r>
            <a:r>
              <a:rPr sz="2000" b="1" spc="215" dirty="0">
                <a:latin typeface="Times New Roman"/>
                <a:cs typeface="Times New Roman"/>
              </a:rPr>
              <a:t> </a:t>
            </a:r>
            <a:r>
              <a:rPr sz="2000" b="1" dirty="0">
                <a:latin typeface="Times New Roman"/>
                <a:cs typeface="Times New Roman"/>
              </a:rPr>
              <a:t>the</a:t>
            </a:r>
            <a:r>
              <a:rPr sz="2000" b="1" spc="220" dirty="0">
                <a:latin typeface="Times New Roman"/>
                <a:cs typeface="Times New Roman"/>
              </a:rPr>
              <a:t> </a:t>
            </a:r>
            <a:r>
              <a:rPr sz="2000" b="1" dirty="0">
                <a:latin typeface="Times New Roman"/>
                <a:cs typeface="Times New Roman"/>
              </a:rPr>
              <a:t>intensities</a:t>
            </a:r>
            <a:r>
              <a:rPr sz="2000" b="1" spc="200" dirty="0">
                <a:latin typeface="Times New Roman"/>
                <a:cs typeface="Times New Roman"/>
              </a:rPr>
              <a:t> </a:t>
            </a:r>
            <a:r>
              <a:rPr sz="2000" b="1" dirty="0">
                <a:latin typeface="Times New Roman"/>
                <a:cs typeface="Times New Roman"/>
              </a:rPr>
              <a:t>for</a:t>
            </a:r>
            <a:r>
              <a:rPr sz="2000" b="1" spc="165" dirty="0">
                <a:latin typeface="Times New Roman"/>
                <a:cs typeface="Times New Roman"/>
              </a:rPr>
              <a:t> </a:t>
            </a:r>
            <a:r>
              <a:rPr sz="2000" b="1" spc="-50" dirty="0">
                <a:latin typeface="Times New Roman"/>
                <a:cs typeface="Times New Roman"/>
              </a:rPr>
              <a:t>a 	</a:t>
            </a:r>
            <a:r>
              <a:rPr sz="2000" b="1" dirty="0">
                <a:solidFill>
                  <a:srgbClr val="00AF50"/>
                </a:solidFill>
                <a:latin typeface="Times New Roman"/>
                <a:cs typeface="Times New Roman"/>
              </a:rPr>
              <a:t>single</a:t>
            </a:r>
            <a:r>
              <a:rPr sz="2000" b="1" spc="-30" dirty="0">
                <a:solidFill>
                  <a:srgbClr val="00AF50"/>
                </a:solidFill>
                <a:latin typeface="Times New Roman"/>
                <a:cs typeface="Times New Roman"/>
              </a:rPr>
              <a:t> </a:t>
            </a:r>
            <a:r>
              <a:rPr sz="2000" b="1" dirty="0">
                <a:solidFill>
                  <a:srgbClr val="00AF50"/>
                </a:solidFill>
                <a:latin typeface="Times New Roman"/>
                <a:cs typeface="Times New Roman"/>
              </a:rPr>
              <a:t>color</a:t>
            </a:r>
            <a:r>
              <a:rPr sz="2000" b="1" spc="-55" dirty="0">
                <a:solidFill>
                  <a:srgbClr val="00AF50"/>
                </a:solidFill>
                <a:latin typeface="Times New Roman"/>
                <a:cs typeface="Times New Roman"/>
              </a:rPr>
              <a:t> </a:t>
            </a:r>
            <a:r>
              <a:rPr sz="2000" b="1" dirty="0">
                <a:latin typeface="Times New Roman"/>
                <a:cs typeface="Times New Roman"/>
              </a:rPr>
              <a:t>as</a:t>
            </a:r>
            <a:r>
              <a:rPr sz="2000" b="1" spc="-15" dirty="0">
                <a:latin typeface="Times New Roman"/>
                <a:cs typeface="Times New Roman"/>
              </a:rPr>
              <a:t> </a:t>
            </a:r>
            <a:r>
              <a:rPr sz="2000" b="1" dirty="0">
                <a:latin typeface="Times New Roman"/>
                <a:cs typeface="Times New Roman"/>
              </a:rPr>
              <a:t>shown</a:t>
            </a:r>
            <a:r>
              <a:rPr sz="2000" b="1" spc="-20" dirty="0">
                <a:latin typeface="Times New Roman"/>
                <a:cs typeface="Times New Roman"/>
              </a:rPr>
              <a:t> </a:t>
            </a:r>
            <a:r>
              <a:rPr sz="2000" b="1" spc="-10" dirty="0">
                <a:latin typeface="Times New Roman"/>
                <a:cs typeface="Times New Roman"/>
              </a:rPr>
              <a:t>below.</a:t>
            </a:r>
            <a:endParaRPr sz="2000">
              <a:latin typeface="Times New Roman"/>
              <a:cs typeface="Times New Roman"/>
            </a:endParaRPr>
          </a:p>
          <a:p>
            <a:pPr marL="295910" marR="75565" indent="-283845" algn="just">
              <a:lnSpc>
                <a:spcPct val="100000"/>
              </a:lnSpc>
              <a:spcBef>
                <a:spcPts val="5"/>
              </a:spcBef>
              <a:buFont typeface="Arial MT"/>
              <a:buChar char="•"/>
              <a:tabLst>
                <a:tab pos="299085" algn="l"/>
              </a:tabLst>
            </a:pPr>
            <a:r>
              <a:rPr sz="2000" b="1" dirty="0">
                <a:latin typeface="Times New Roman"/>
                <a:cs typeface="Times New Roman"/>
              </a:rPr>
              <a:t>Each</a:t>
            </a:r>
            <a:r>
              <a:rPr sz="2000" b="1" spc="330" dirty="0">
                <a:latin typeface="Times New Roman"/>
                <a:cs typeface="Times New Roman"/>
              </a:rPr>
              <a:t> </a:t>
            </a:r>
            <a:r>
              <a:rPr sz="2000" b="1" dirty="0">
                <a:solidFill>
                  <a:srgbClr val="6F2F9F"/>
                </a:solidFill>
                <a:latin typeface="Times New Roman"/>
                <a:cs typeface="Times New Roman"/>
              </a:rPr>
              <a:t>pixel</a:t>
            </a:r>
            <a:r>
              <a:rPr sz="2000" b="1" spc="335" dirty="0">
                <a:solidFill>
                  <a:srgbClr val="6F2F9F"/>
                </a:solidFill>
                <a:latin typeface="Times New Roman"/>
                <a:cs typeface="Times New Roman"/>
              </a:rPr>
              <a:t> </a:t>
            </a:r>
            <a:r>
              <a:rPr sz="2000" b="1" dirty="0">
                <a:solidFill>
                  <a:srgbClr val="6F2F9F"/>
                </a:solidFill>
                <a:latin typeface="Times New Roman"/>
                <a:cs typeface="Times New Roman"/>
              </a:rPr>
              <a:t>intensity</a:t>
            </a:r>
            <a:r>
              <a:rPr sz="2000" b="1" spc="345" dirty="0">
                <a:solidFill>
                  <a:srgbClr val="6F2F9F"/>
                </a:solidFill>
                <a:latin typeface="Times New Roman"/>
                <a:cs typeface="Times New Roman"/>
              </a:rPr>
              <a:t> </a:t>
            </a:r>
            <a:r>
              <a:rPr sz="2000" b="1" dirty="0">
                <a:latin typeface="Times New Roman"/>
                <a:cs typeface="Times New Roman"/>
              </a:rPr>
              <a:t>is</a:t>
            </a:r>
            <a:r>
              <a:rPr sz="2000" b="1" spc="325" dirty="0">
                <a:latin typeface="Times New Roman"/>
                <a:cs typeface="Times New Roman"/>
              </a:rPr>
              <a:t> </a:t>
            </a:r>
            <a:r>
              <a:rPr sz="2000" b="1" dirty="0">
                <a:solidFill>
                  <a:srgbClr val="6F2F9F"/>
                </a:solidFill>
                <a:latin typeface="Times New Roman"/>
                <a:cs typeface="Times New Roman"/>
              </a:rPr>
              <a:t>represented</a:t>
            </a:r>
            <a:r>
              <a:rPr sz="2000" b="1" spc="330" dirty="0">
                <a:solidFill>
                  <a:srgbClr val="6F2F9F"/>
                </a:solidFill>
                <a:latin typeface="Times New Roman"/>
                <a:cs typeface="Times New Roman"/>
              </a:rPr>
              <a:t> </a:t>
            </a:r>
            <a:r>
              <a:rPr sz="2000" b="1" dirty="0">
                <a:solidFill>
                  <a:srgbClr val="6F2F9F"/>
                </a:solidFill>
                <a:latin typeface="Times New Roman"/>
                <a:cs typeface="Times New Roman"/>
              </a:rPr>
              <a:t>as</a:t>
            </a:r>
            <a:r>
              <a:rPr sz="2000" b="1" spc="320" dirty="0">
                <a:solidFill>
                  <a:srgbClr val="6F2F9F"/>
                </a:solidFill>
                <a:latin typeface="Times New Roman"/>
                <a:cs typeface="Times New Roman"/>
              </a:rPr>
              <a:t> </a:t>
            </a:r>
            <a:r>
              <a:rPr sz="2000" b="1" dirty="0">
                <a:solidFill>
                  <a:srgbClr val="6F2F9F"/>
                </a:solidFill>
                <a:latin typeface="Times New Roman"/>
                <a:cs typeface="Times New Roman"/>
              </a:rPr>
              <a:t>I(x,</a:t>
            </a:r>
            <a:r>
              <a:rPr sz="2000" b="1" spc="325" dirty="0">
                <a:solidFill>
                  <a:srgbClr val="6F2F9F"/>
                </a:solidFill>
                <a:latin typeface="Times New Roman"/>
                <a:cs typeface="Times New Roman"/>
              </a:rPr>
              <a:t> </a:t>
            </a:r>
            <a:r>
              <a:rPr sz="2000" b="1" spc="-25" dirty="0">
                <a:solidFill>
                  <a:srgbClr val="6F2F9F"/>
                </a:solidFill>
                <a:latin typeface="Times New Roman"/>
                <a:cs typeface="Times New Roman"/>
              </a:rPr>
              <a:t>y) 	</a:t>
            </a:r>
            <a:r>
              <a:rPr sz="2000" b="1" dirty="0">
                <a:latin typeface="Times New Roman"/>
                <a:cs typeface="Times New Roman"/>
              </a:rPr>
              <a:t>where</a:t>
            </a:r>
            <a:r>
              <a:rPr sz="2000" b="1" spc="15" dirty="0">
                <a:latin typeface="Times New Roman"/>
                <a:cs typeface="Times New Roman"/>
              </a:rPr>
              <a:t> </a:t>
            </a:r>
            <a:r>
              <a:rPr sz="2000" b="1" dirty="0">
                <a:solidFill>
                  <a:srgbClr val="FF0000"/>
                </a:solidFill>
                <a:latin typeface="Times New Roman"/>
                <a:cs typeface="Times New Roman"/>
              </a:rPr>
              <a:t>x, y</a:t>
            </a:r>
            <a:r>
              <a:rPr sz="2000" b="1" spc="30" dirty="0">
                <a:solidFill>
                  <a:srgbClr val="FF0000"/>
                </a:solidFill>
                <a:latin typeface="Times New Roman"/>
                <a:cs typeface="Times New Roman"/>
              </a:rPr>
              <a:t> </a:t>
            </a:r>
            <a:r>
              <a:rPr sz="2000" b="1" dirty="0">
                <a:latin typeface="Times New Roman"/>
                <a:cs typeface="Times New Roman"/>
              </a:rPr>
              <a:t>is</a:t>
            </a:r>
            <a:r>
              <a:rPr sz="2000" b="1" spc="10"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spc="-10" dirty="0">
                <a:solidFill>
                  <a:srgbClr val="FF0000"/>
                </a:solidFill>
                <a:latin typeface="Times New Roman"/>
                <a:cs typeface="Times New Roman"/>
              </a:rPr>
              <a:t>co-</a:t>
            </a:r>
            <a:r>
              <a:rPr sz="2000" b="1" dirty="0">
                <a:solidFill>
                  <a:srgbClr val="FF0000"/>
                </a:solidFill>
                <a:latin typeface="Times New Roman"/>
                <a:cs typeface="Times New Roman"/>
              </a:rPr>
              <a:t>ordinate</a:t>
            </a:r>
            <a:r>
              <a:rPr sz="2000" b="1" spc="25" dirty="0">
                <a:solidFill>
                  <a:srgbClr val="FF0000"/>
                </a:solidFill>
                <a:latin typeface="Times New Roman"/>
                <a:cs typeface="Times New Roman"/>
              </a:rPr>
              <a:t> </a:t>
            </a:r>
            <a:r>
              <a:rPr sz="2000" b="1" dirty="0">
                <a:solidFill>
                  <a:srgbClr val="FF0000"/>
                </a:solidFill>
                <a:latin typeface="Times New Roman"/>
                <a:cs typeface="Times New Roman"/>
              </a:rPr>
              <a:t>of</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the</a:t>
            </a:r>
            <a:r>
              <a:rPr sz="2000" b="1" spc="10" dirty="0">
                <a:solidFill>
                  <a:srgbClr val="FF0000"/>
                </a:solidFill>
                <a:latin typeface="Times New Roman"/>
                <a:cs typeface="Times New Roman"/>
              </a:rPr>
              <a:t> </a:t>
            </a:r>
            <a:r>
              <a:rPr sz="2000" b="1" dirty="0">
                <a:solidFill>
                  <a:srgbClr val="FF0000"/>
                </a:solidFill>
                <a:latin typeface="Times New Roman"/>
                <a:cs typeface="Times New Roman"/>
              </a:rPr>
              <a:t>pixel</a:t>
            </a:r>
            <a:r>
              <a:rPr sz="2000" b="1" spc="10" dirty="0">
                <a:solidFill>
                  <a:srgbClr val="FF0000"/>
                </a:solidFill>
                <a:latin typeface="Times New Roman"/>
                <a:cs typeface="Times New Roman"/>
              </a:rPr>
              <a:t> </a:t>
            </a:r>
            <a:r>
              <a:rPr sz="2000" b="1" dirty="0">
                <a:latin typeface="Times New Roman"/>
                <a:cs typeface="Times New Roman"/>
              </a:rPr>
              <a:t>in</a:t>
            </a:r>
            <a:r>
              <a:rPr sz="2000" b="1" spc="15"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2D</a:t>
            </a:r>
            <a:r>
              <a:rPr sz="2000" b="1" spc="480" dirty="0">
                <a:solidFill>
                  <a:srgbClr val="FF0000"/>
                </a:solidFill>
                <a:latin typeface="Times New Roman"/>
                <a:cs typeface="Times New Roman"/>
              </a:rPr>
              <a:t> </a:t>
            </a:r>
            <a:r>
              <a:rPr sz="2000" b="1" dirty="0">
                <a:solidFill>
                  <a:srgbClr val="FF0000"/>
                </a:solidFill>
                <a:latin typeface="Times New Roman"/>
                <a:cs typeface="Times New Roman"/>
              </a:rPr>
              <a:t>matrix</a:t>
            </a:r>
            <a:r>
              <a:rPr sz="2000" b="1" dirty="0">
                <a:latin typeface="Times New Roman"/>
                <a:cs typeface="Times New Roman"/>
              </a:rPr>
              <a:t>.</a:t>
            </a:r>
            <a:r>
              <a:rPr sz="2000" b="1" spc="484" dirty="0">
                <a:latin typeface="Times New Roman"/>
                <a:cs typeface="Times New Roman"/>
              </a:rPr>
              <a:t> </a:t>
            </a:r>
            <a:r>
              <a:rPr sz="2000" b="1" dirty="0">
                <a:latin typeface="Times New Roman"/>
                <a:cs typeface="Times New Roman"/>
              </a:rPr>
              <a:t>Different</a:t>
            </a:r>
            <a:r>
              <a:rPr sz="2000" b="1" spc="480" dirty="0">
                <a:latin typeface="Times New Roman"/>
                <a:cs typeface="Times New Roman"/>
              </a:rPr>
              <a:t> </a:t>
            </a:r>
            <a:r>
              <a:rPr sz="2000" b="1" dirty="0">
                <a:latin typeface="Times New Roman"/>
                <a:cs typeface="Times New Roman"/>
              </a:rPr>
              <a:t>operations</a:t>
            </a:r>
            <a:r>
              <a:rPr sz="2000" b="1" spc="490" dirty="0">
                <a:latin typeface="Times New Roman"/>
                <a:cs typeface="Times New Roman"/>
              </a:rPr>
              <a:t> </a:t>
            </a:r>
            <a:r>
              <a:rPr sz="2000" b="1" dirty="0">
                <a:latin typeface="Times New Roman"/>
                <a:cs typeface="Times New Roman"/>
              </a:rPr>
              <a:t>are</a:t>
            </a:r>
            <a:r>
              <a:rPr sz="2000" b="1" spc="480" dirty="0">
                <a:latin typeface="Times New Roman"/>
                <a:cs typeface="Times New Roman"/>
              </a:rPr>
              <a:t> </a:t>
            </a:r>
            <a:r>
              <a:rPr sz="2000" b="1" spc="-10" dirty="0">
                <a:latin typeface="Times New Roman"/>
                <a:cs typeface="Times New Roman"/>
              </a:rPr>
              <a:t>carried 	</a:t>
            </a:r>
            <a:r>
              <a:rPr sz="2000" b="1" dirty="0">
                <a:latin typeface="Times New Roman"/>
                <a:cs typeface="Times New Roman"/>
              </a:rPr>
              <a:t>out</a:t>
            </a:r>
            <a:r>
              <a:rPr sz="2000" b="1" spc="-20" dirty="0">
                <a:latin typeface="Times New Roman"/>
                <a:cs typeface="Times New Roman"/>
              </a:rPr>
              <a:t> </a:t>
            </a:r>
            <a:r>
              <a:rPr sz="2000" b="1" dirty="0">
                <a:latin typeface="Times New Roman"/>
                <a:cs typeface="Times New Roman"/>
              </a:rPr>
              <a:t>in</a:t>
            </a:r>
            <a:r>
              <a:rPr sz="2000" b="1" spc="-10" dirty="0">
                <a:latin typeface="Times New Roman"/>
                <a:cs typeface="Times New Roman"/>
              </a:rPr>
              <a:t> </a:t>
            </a:r>
            <a:r>
              <a:rPr sz="2000" b="1" dirty="0">
                <a:latin typeface="Times New Roman"/>
                <a:cs typeface="Times New Roman"/>
              </a:rPr>
              <a:t>this</a:t>
            </a:r>
            <a:r>
              <a:rPr sz="2000" b="1" spc="-25" dirty="0">
                <a:latin typeface="Times New Roman"/>
                <a:cs typeface="Times New Roman"/>
              </a:rPr>
              <a:t> </a:t>
            </a:r>
            <a:r>
              <a:rPr sz="2000" b="1" spc="-10" dirty="0">
                <a:latin typeface="Times New Roman"/>
                <a:cs typeface="Times New Roman"/>
              </a:rPr>
              <a:t>value.</a:t>
            </a:r>
            <a:endParaRPr sz="2000">
              <a:latin typeface="Times New Roman"/>
              <a:cs typeface="Times New Roman"/>
            </a:endParaRPr>
          </a:p>
        </p:txBody>
      </p:sp>
      <p:pic>
        <p:nvPicPr>
          <p:cNvPr id="6" name="object 6"/>
          <p:cNvPicPr/>
          <p:nvPr/>
        </p:nvPicPr>
        <p:blipFill>
          <a:blip r:embed="rId2" cstate="print"/>
          <a:stretch>
            <a:fillRect/>
          </a:stretch>
        </p:blipFill>
        <p:spPr>
          <a:xfrm>
            <a:off x="6015076" y="1198582"/>
            <a:ext cx="2829753" cy="2182834"/>
          </a:xfrm>
          <a:prstGeom prst="rect">
            <a:avLst/>
          </a:prstGeom>
        </p:spPr>
      </p:pic>
      <p:grpSp>
        <p:nvGrpSpPr>
          <p:cNvPr id="7" name="object 7"/>
          <p:cNvGrpSpPr/>
          <p:nvPr/>
        </p:nvGrpSpPr>
        <p:grpSpPr>
          <a:xfrm>
            <a:off x="5930582" y="3851478"/>
            <a:ext cx="3040380" cy="2414270"/>
            <a:chOff x="5930582" y="3851478"/>
            <a:chExt cx="3040380" cy="2414270"/>
          </a:xfrm>
        </p:grpSpPr>
        <p:pic>
          <p:nvPicPr>
            <p:cNvPr id="8" name="object 8"/>
            <p:cNvPicPr/>
            <p:nvPr/>
          </p:nvPicPr>
          <p:blipFill>
            <a:blip r:embed="rId3" cstate="print"/>
            <a:stretch>
              <a:fillRect/>
            </a:stretch>
          </p:blipFill>
          <p:spPr>
            <a:xfrm>
              <a:off x="5973529" y="3935641"/>
              <a:ext cx="2892661" cy="2266298"/>
            </a:xfrm>
            <a:prstGeom prst="rect">
              <a:avLst/>
            </a:prstGeom>
          </p:spPr>
        </p:pic>
        <p:sp>
          <p:nvSpPr>
            <p:cNvPr id="9" name="object 9"/>
            <p:cNvSpPr/>
            <p:nvPr/>
          </p:nvSpPr>
          <p:spPr>
            <a:xfrm>
              <a:off x="5935345" y="3856240"/>
              <a:ext cx="3030855" cy="2404745"/>
            </a:xfrm>
            <a:custGeom>
              <a:avLst/>
              <a:gdLst/>
              <a:ahLst/>
              <a:cxnLst/>
              <a:rect l="l" t="t" r="r" b="b"/>
              <a:pathLst>
                <a:path w="3030854" h="2404745">
                  <a:moveTo>
                    <a:pt x="0" y="2404744"/>
                  </a:moveTo>
                  <a:lnTo>
                    <a:pt x="3030854" y="2404744"/>
                  </a:lnTo>
                  <a:lnTo>
                    <a:pt x="3030854" y="0"/>
                  </a:lnTo>
                  <a:lnTo>
                    <a:pt x="0" y="0"/>
                  </a:lnTo>
                  <a:lnTo>
                    <a:pt x="0" y="2404744"/>
                  </a:lnTo>
                  <a:close/>
                </a:path>
              </a:pathLst>
            </a:custGeom>
            <a:ln w="9525">
              <a:solidFill>
                <a:srgbClr val="000000"/>
              </a:solidFill>
            </a:ln>
          </p:spPr>
          <p:txBody>
            <a:bodyPr wrap="square" lIns="0" tIns="0" rIns="0" bIns="0" rtlCol="0"/>
            <a:lstStyle/>
            <a:p>
              <a:endParaRPr/>
            </a:p>
          </p:txBody>
        </p:sp>
      </p:grpSp>
      <p:pic>
        <p:nvPicPr>
          <p:cNvPr id="10" name="object 10"/>
          <p:cNvPicPr/>
          <p:nvPr/>
        </p:nvPicPr>
        <p:blipFill>
          <a:blip r:embed="rId4" cstate="print"/>
          <a:stretch>
            <a:fillRect/>
          </a:stretch>
        </p:blipFill>
        <p:spPr>
          <a:xfrm>
            <a:off x="3124197" y="324576"/>
            <a:ext cx="2695958" cy="390179"/>
          </a:xfrm>
          <a:prstGeom prst="rect">
            <a:avLst/>
          </a:prstGeom>
        </p:spPr>
      </p:pic>
      <p:grpSp>
        <p:nvGrpSpPr>
          <p:cNvPr id="11" name="object 11"/>
          <p:cNvGrpSpPr/>
          <p:nvPr/>
        </p:nvGrpSpPr>
        <p:grpSpPr>
          <a:xfrm>
            <a:off x="426719" y="795527"/>
            <a:ext cx="8211820" cy="91440"/>
            <a:chOff x="426719" y="795527"/>
            <a:chExt cx="8211820" cy="91440"/>
          </a:xfrm>
        </p:grpSpPr>
        <p:pic>
          <p:nvPicPr>
            <p:cNvPr id="12" name="object 12"/>
            <p:cNvPicPr/>
            <p:nvPr/>
          </p:nvPicPr>
          <p:blipFill>
            <a:blip r:embed="rId5" cstate="print"/>
            <a:stretch>
              <a:fillRect/>
            </a:stretch>
          </p:blipFill>
          <p:spPr>
            <a:xfrm>
              <a:off x="426719" y="795527"/>
              <a:ext cx="8211311" cy="91440"/>
            </a:xfrm>
            <a:prstGeom prst="rect">
              <a:avLst/>
            </a:prstGeom>
          </p:spPr>
        </p:pic>
        <p:sp>
          <p:nvSpPr>
            <p:cNvPr id="13" name="object 13"/>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39946" y="4265269"/>
            <a:ext cx="4446032" cy="2007886"/>
          </a:xfrm>
          <a:prstGeom prst="rect">
            <a:avLst/>
          </a:prstGeom>
        </p:spPr>
      </p:pic>
      <p:sp>
        <p:nvSpPr>
          <p:cNvPr id="3" name="object 3"/>
          <p:cNvSpPr txBox="1"/>
          <p:nvPr/>
        </p:nvSpPr>
        <p:spPr>
          <a:xfrm>
            <a:off x="386892" y="933450"/>
            <a:ext cx="8363584" cy="4935220"/>
          </a:xfrm>
          <a:prstGeom prst="rect">
            <a:avLst/>
          </a:prstGeom>
        </p:spPr>
        <p:txBody>
          <a:bodyPr vert="horz" wrap="square" lIns="0" tIns="13335" rIns="0" bIns="0" rtlCol="0">
            <a:spAutoFit/>
          </a:bodyPr>
          <a:lstStyle/>
          <a:p>
            <a:pPr marL="12700" marR="10160">
              <a:lnSpc>
                <a:spcPct val="100000"/>
              </a:lnSpc>
              <a:spcBef>
                <a:spcPts val="105"/>
              </a:spcBef>
            </a:pPr>
            <a:r>
              <a:rPr sz="2000" b="1" dirty="0">
                <a:latin typeface="Times New Roman"/>
                <a:cs typeface="Times New Roman"/>
              </a:rPr>
              <a:t>In</a:t>
            </a:r>
            <a:r>
              <a:rPr sz="2000" b="1" spc="365" dirty="0">
                <a:latin typeface="Times New Roman"/>
                <a:cs typeface="Times New Roman"/>
              </a:rPr>
              <a:t> </a:t>
            </a:r>
            <a:r>
              <a:rPr sz="2000" b="1" spc="-10" dirty="0">
                <a:latin typeface="Times New Roman"/>
                <a:cs typeface="Times New Roman"/>
              </a:rPr>
              <a:t>frequency-</a:t>
            </a:r>
            <a:r>
              <a:rPr sz="2000" b="1" dirty="0">
                <a:latin typeface="Times New Roman"/>
                <a:cs typeface="Times New Roman"/>
              </a:rPr>
              <a:t>domain</a:t>
            </a:r>
            <a:r>
              <a:rPr sz="2000" b="1" spc="370" dirty="0">
                <a:latin typeface="Times New Roman"/>
                <a:cs typeface="Times New Roman"/>
              </a:rPr>
              <a:t> </a:t>
            </a:r>
            <a:r>
              <a:rPr sz="2000" b="1" dirty="0">
                <a:latin typeface="Times New Roman"/>
                <a:cs typeface="Times New Roman"/>
              </a:rPr>
              <a:t>methods</a:t>
            </a:r>
            <a:r>
              <a:rPr sz="2000" b="1" spc="360" dirty="0">
                <a:latin typeface="Times New Roman"/>
                <a:cs typeface="Times New Roman"/>
              </a:rPr>
              <a:t> </a:t>
            </a:r>
            <a:r>
              <a:rPr sz="2000" b="1" dirty="0">
                <a:latin typeface="Times New Roman"/>
                <a:cs typeface="Times New Roman"/>
              </a:rPr>
              <a:t>are</a:t>
            </a:r>
            <a:r>
              <a:rPr sz="2000" b="1" spc="360" dirty="0">
                <a:latin typeface="Times New Roman"/>
                <a:cs typeface="Times New Roman"/>
              </a:rPr>
              <a:t> </a:t>
            </a:r>
            <a:r>
              <a:rPr sz="2000" b="1" dirty="0">
                <a:latin typeface="Times New Roman"/>
                <a:cs typeface="Times New Roman"/>
              </a:rPr>
              <a:t>based</a:t>
            </a:r>
            <a:r>
              <a:rPr sz="2000" b="1" spc="375" dirty="0">
                <a:latin typeface="Times New Roman"/>
                <a:cs typeface="Times New Roman"/>
              </a:rPr>
              <a:t> </a:t>
            </a:r>
            <a:r>
              <a:rPr sz="2000" b="1" dirty="0">
                <a:latin typeface="Times New Roman"/>
                <a:cs typeface="Times New Roman"/>
              </a:rPr>
              <a:t>on</a:t>
            </a:r>
            <a:r>
              <a:rPr sz="2000" b="1" spc="355" dirty="0">
                <a:latin typeface="Times New Roman"/>
                <a:cs typeface="Times New Roman"/>
              </a:rPr>
              <a:t> </a:t>
            </a:r>
            <a:r>
              <a:rPr sz="2000" b="1" dirty="0">
                <a:latin typeface="Times New Roman"/>
                <a:cs typeface="Times New Roman"/>
              </a:rPr>
              <a:t>the</a:t>
            </a:r>
            <a:r>
              <a:rPr sz="2000" b="1" spc="365" dirty="0">
                <a:latin typeface="Times New Roman"/>
                <a:cs typeface="Times New Roman"/>
              </a:rPr>
              <a:t> </a:t>
            </a:r>
            <a:r>
              <a:rPr sz="2000" b="1" dirty="0">
                <a:solidFill>
                  <a:srgbClr val="00AF50"/>
                </a:solidFill>
                <a:latin typeface="Times New Roman"/>
                <a:cs typeface="Times New Roman"/>
              </a:rPr>
              <a:t>Fourier</a:t>
            </a:r>
            <a:r>
              <a:rPr sz="2000" b="1" spc="330" dirty="0">
                <a:solidFill>
                  <a:srgbClr val="00AF50"/>
                </a:solidFill>
                <a:latin typeface="Times New Roman"/>
                <a:cs typeface="Times New Roman"/>
              </a:rPr>
              <a:t> </a:t>
            </a:r>
            <a:r>
              <a:rPr sz="2000" b="1" dirty="0">
                <a:solidFill>
                  <a:srgbClr val="00AF50"/>
                </a:solidFill>
                <a:latin typeface="Times New Roman"/>
                <a:cs typeface="Times New Roman"/>
              </a:rPr>
              <a:t>Transform</a:t>
            </a:r>
            <a:r>
              <a:rPr sz="2000" b="1" spc="365" dirty="0">
                <a:solidFill>
                  <a:srgbClr val="00AF50"/>
                </a:solidFill>
                <a:latin typeface="Times New Roman"/>
                <a:cs typeface="Times New Roman"/>
              </a:rPr>
              <a:t> </a:t>
            </a:r>
            <a:r>
              <a:rPr sz="2000" b="1" dirty="0">
                <a:solidFill>
                  <a:srgbClr val="00AF50"/>
                </a:solidFill>
                <a:latin typeface="Times New Roman"/>
                <a:cs typeface="Times New Roman"/>
              </a:rPr>
              <a:t>of</a:t>
            </a:r>
            <a:r>
              <a:rPr sz="2000" b="1" spc="370" dirty="0">
                <a:solidFill>
                  <a:srgbClr val="00AF50"/>
                </a:solidFill>
                <a:latin typeface="Times New Roman"/>
                <a:cs typeface="Times New Roman"/>
              </a:rPr>
              <a:t> </a:t>
            </a:r>
            <a:r>
              <a:rPr sz="2000" b="1" spc="-25" dirty="0">
                <a:solidFill>
                  <a:srgbClr val="00AF50"/>
                </a:solidFill>
                <a:latin typeface="Times New Roman"/>
                <a:cs typeface="Times New Roman"/>
              </a:rPr>
              <a:t>an </a:t>
            </a:r>
            <a:r>
              <a:rPr sz="2000" b="1" spc="-10" dirty="0">
                <a:solidFill>
                  <a:srgbClr val="00AF50"/>
                </a:solidFill>
                <a:latin typeface="Times New Roman"/>
                <a:cs typeface="Times New Roman"/>
              </a:rPr>
              <a:t>image</a:t>
            </a:r>
            <a:r>
              <a:rPr sz="2000" b="1" spc="-10" dirty="0">
                <a:latin typeface="Times New Roman"/>
                <a:cs typeface="Times New Roman"/>
              </a:rPr>
              <a:t>.</a:t>
            </a:r>
            <a:endParaRPr sz="2000">
              <a:latin typeface="Times New Roman"/>
              <a:cs typeface="Times New Roman"/>
            </a:endParaRPr>
          </a:p>
          <a:p>
            <a:pPr marL="12700" marR="8890">
              <a:lnSpc>
                <a:spcPct val="100000"/>
              </a:lnSpc>
            </a:pPr>
            <a:r>
              <a:rPr sz="2000" b="1" dirty="0">
                <a:latin typeface="Times New Roman"/>
                <a:cs typeface="Times New Roman"/>
              </a:rPr>
              <a:t>Roughly,</a:t>
            </a:r>
            <a:r>
              <a:rPr sz="2000" b="1" spc="229" dirty="0">
                <a:latin typeface="Times New Roman"/>
                <a:cs typeface="Times New Roman"/>
              </a:rPr>
              <a:t> </a:t>
            </a:r>
            <a:r>
              <a:rPr sz="2000" b="1" dirty="0">
                <a:latin typeface="Times New Roman"/>
                <a:cs typeface="Times New Roman"/>
              </a:rPr>
              <a:t>the</a:t>
            </a:r>
            <a:r>
              <a:rPr sz="2000" b="1" spc="245" dirty="0">
                <a:latin typeface="Times New Roman"/>
                <a:cs typeface="Times New Roman"/>
              </a:rPr>
              <a:t> </a:t>
            </a:r>
            <a:r>
              <a:rPr sz="2000" b="1" dirty="0">
                <a:latin typeface="Times New Roman"/>
                <a:cs typeface="Times New Roman"/>
              </a:rPr>
              <a:t>term</a:t>
            </a:r>
            <a:r>
              <a:rPr sz="2000" b="1" spc="229" dirty="0">
                <a:latin typeface="Times New Roman"/>
                <a:cs typeface="Times New Roman"/>
              </a:rPr>
              <a:t> </a:t>
            </a:r>
            <a:r>
              <a:rPr sz="2000" b="1" dirty="0">
                <a:latin typeface="Times New Roman"/>
                <a:cs typeface="Times New Roman"/>
              </a:rPr>
              <a:t>frequency</a:t>
            </a:r>
            <a:r>
              <a:rPr sz="2000" b="1" spc="260" dirty="0">
                <a:latin typeface="Times New Roman"/>
                <a:cs typeface="Times New Roman"/>
              </a:rPr>
              <a:t> </a:t>
            </a:r>
            <a:r>
              <a:rPr sz="2000" b="1" dirty="0">
                <a:latin typeface="Times New Roman"/>
                <a:cs typeface="Times New Roman"/>
              </a:rPr>
              <a:t>in</a:t>
            </a:r>
            <a:r>
              <a:rPr sz="2000" b="1" spc="245" dirty="0">
                <a:latin typeface="Times New Roman"/>
                <a:cs typeface="Times New Roman"/>
              </a:rPr>
              <a:t> </a:t>
            </a:r>
            <a:r>
              <a:rPr sz="2000" b="1" dirty="0">
                <a:latin typeface="Times New Roman"/>
                <a:cs typeface="Times New Roman"/>
              </a:rPr>
              <a:t>an</a:t>
            </a:r>
            <a:r>
              <a:rPr sz="2000" b="1" spc="254" dirty="0">
                <a:latin typeface="Times New Roman"/>
                <a:cs typeface="Times New Roman"/>
              </a:rPr>
              <a:t> </a:t>
            </a:r>
            <a:r>
              <a:rPr sz="2000" b="1" dirty="0">
                <a:latin typeface="Times New Roman"/>
                <a:cs typeface="Times New Roman"/>
              </a:rPr>
              <a:t>image</a:t>
            </a:r>
            <a:r>
              <a:rPr sz="2000" b="1" spc="250" dirty="0">
                <a:latin typeface="Times New Roman"/>
                <a:cs typeface="Times New Roman"/>
              </a:rPr>
              <a:t> </a:t>
            </a:r>
            <a:r>
              <a:rPr sz="2000" b="1" dirty="0">
                <a:solidFill>
                  <a:srgbClr val="FF0000"/>
                </a:solidFill>
                <a:latin typeface="Times New Roman"/>
                <a:cs typeface="Times New Roman"/>
              </a:rPr>
              <a:t>tells</a:t>
            </a:r>
            <a:r>
              <a:rPr sz="2000" b="1" spc="235" dirty="0">
                <a:solidFill>
                  <a:srgbClr val="FF0000"/>
                </a:solidFill>
                <a:latin typeface="Times New Roman"/>
                <a:cs typeface="Times New Roman"/>
              </a:rPr>
              <a:t> </a:t>
            </a:r>
            <a:r>
              <a:rPr sz="2000" b="1" dirty="0">
                <a:solidFill>
                  <a:srgbClr val="FF0000"/>
                </a:solidFill>
                <a:latin typeface="Times New Roman"/>
                <a:cs typeface="Times New Roman"/>
              </a:rPr>
              <a:t>about</a:t>
            </a:r>
            <a:r>
              <a:rPr sz="2000" b="1" spc="245" dirty="0">
                <a:solidFill>
                  <a:srgbClr val="FF0000"/>
                </a:solidFill>
                <a:latin typeface="Times New Roman"/>
                <a:cs typeface="Times New Roman"/>
              </a:rPr>
              <a:t> </a:t>
            </a:r>
            <a:r>
              <a:rPr sz="2000" b="1" dirty="0">
                <a:solidFill>
                  <a:srgbClr val="FF0000"/>
                </a:solidFill>
                <a:latin typeface="Times New Roman"/>
                <a:cs typeface="Times New Roman"/>
              </a:rPr>
              <a:t>the</a:t>
            </a:r>
            <a:r>
              <a:rPr sz="2000" b="1" spc="254" dirty="0">
                <a:solidFill>
                  <a:srgbClr val="FF0000"/>
                </a:solidFill>
                <a:latin typeface="Times New Roman"/>
                <a:cs typeface="Times New Roman"/>
              </a:rPr>
              <a:t> </a:t>
            </a:r>
            <a:r>
              <a:rPr sz="2000" b="1" dirty="0">
                <a:solidFill>
                  <a:srgbClr val="FF0000"/>
                </a:solidFill>
                <a:latin typeface="Times New Roman"/>
                <a:cs typeface="Times New Roman"/>
              </a:rPr>
              <a:t>rate</a:t>
            </a:r>
            <a:r>
              <a:rPr sz="2000" b="1" spc="250" dirty="0">
                <a:solidFill>
                  <a:srgbClr val="FF0000"/>
                </a:solidFill>
                <a:latin typeface="Times New Roman"/>
                <a:cs typeface="Times New Roman"/>
              </a:rPr>
              <a:t> </a:t>
            </a:r>
            <a:r>
              <a:rPr sz="2000" b="1" dirty="0">
                <a:solidFill>
                  <a:srgbClr val="FF0000"/>
                </a:solidFill>
                <a:latin typeface="Times New Roman"/>
                <a:cs typeface="Times New Roman"/>
              </a:rPr>
              <a:t>of</a:t>
            </a:r>
            <a:r>
              <a:rPr sz="2000" b="1" spc="254" dirty="0">
                <a:solidFill>
                  <a:srgbClr val="FF0000"/>
                </a:solidFill>
                <a:latin typeface="Times New Roman"/>
                <a:cs typeface="Times New Roman"/>
              </a:rPr>
              <a:t> </a:t>
            </a:r>
            <a:r>
              <a:rPr sz="2000" b="1" dirty="0">
                <a:solidFill>
                  <a:srgbClr val="FF0000"/>
                </a:solidFill>
                <a:latin typeface="Times New Roman"/>
                <a:cs typeface="Times New Roman"/>
              </a:rPr>
              <a:t>change</a:t>
            </a:r>
            <a:r>
              <a:rPr sz="2000" b="1" spc="245" dirty="0">
                <a:solidFill>
                  <a:srgbClr val="FF0000"/>
                </a:solidFill>
                <a:latin typeface="Times New Roman"/>
                <a:cs typeface="Times New Roman"/>
              </a:rPr>
              <a:t> </a:t>
            </a:r>
            <a:r>
              <a:rPr sz="2000" b="1" spc="-25" dirty="0">
                <a:solidFill>
                  <a:srgbClr val="FF0000"/>
                </a:solidFill>
                <a:latin typeface="Times New Roman"/>
                <a:cs typeface="Times New Roman"/>
              </a:rPr>
              <a:t>of </a:t>
            </a:r>
            <a:r>
              <a:rPr sz="2000" b="1" dirty="0">
                <a:solidFill>
                  <a:srgbClr val="FF0000"/>
                </a:solidFill>
                <a:latin typeface="Times New Roman"/>
                <a:cs typeface="Times New Roman"/>
              </a:rPr>
              <a:t>pixel</a:t>
            </a:r>
            <a:r>
              <a:rPr sz="2000" b="1" spc="-25" dirty="0">
                <a:solidFill>
                  <a:srgbClr val="FF0000"/>
                </a:solidFill>
                <a:latin typeface="Times New Roman"/>
                <a:cs typeface="Times New Roman"/>
              </a:rPr>
              <a:t> </a:t>
            </a:r>
            <a:r>
              <a:rPr sz="2000" b="1" spc="-10" dirty="0">
                <a:solidFill>
                  <a:srgbClr val="FF0000"/>
                </a:solidFill>
                <a:latin typeface="Times New Roman"/>
                <a:cs typeface="Times New Roman"/>
              </a:rPr>
              <a:t>values.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marR="5080">
              <a:lnSpc>
                <a:spcPct val="100000"/>
              </a:lnSpc>
            </a:pPr>
            <a:r>
              <a:rPr sz="2000" b="1" dirty="0">
                <a:latin typeface="Times New Roman"/>
                <a:cs typeface="Times New Roman"/>
              </a:rPr>
              <a:t>The</a:t>
            </a:r>
            <a:r>
              <a:rPr sz="2000" b="1" spc="415" dirty="0">
                <a:latin typeface="Times New Roman"/>
                <a:cs typeface="Times New Roman"/>
              </a:rPr>
              <a:t> </a:t>
            </a:r>
            <a:r>
              <a:rPr sz="2000" b="1" dirty="0">
                <a:latin typeface="Times New Roman"/>
                <a:cs typeface="Times New Roman"/>
              </a:rPr>
              <a:t>tie</a:t>
            </a:r>
            <a:r>
              <a:rPr sz="2000" b="1" spc="430" dirty="0">
                <a:latin typeface="Times New Roman"/>
                <a:cs typeface="Times New Roman"/>
              </a:rPr>
              <a:t> </a:t>
            </a:r>
            <a:r>
              <a:rPr sz="2000" b="1" dirty="0">
                <a:latin typeface="Times New Roman"/>
                <a:cs typeface="Times New Roman"/>
              </a:rPr>
              <a:t>between</a:t>
            </a:r>
            <a:r>
              <a:rPr sz="2000" b="1" spc="430" dirty="0">
                <a:latin typeface="Times New Roman"/>
                <a:cs typeface="Times New Roman"/>
              </a:rPr>
              <a:t> </a:t>
            </a:r>
            <a:r>
              <a:rPr sz="2000" b="1" dirty="0">
                <a:latin typeface="Times New Roman"/>
                <a:cs typeface="Times New Roman"/>
              </a:rPr>
              <a:t>spatial-</a:t>
            </a:r>
            <a:r>
              <a:rPr sz="2000" b="1" spc="425" dirty="0">
                <a:latin typeface="Times New Roman"/>
                <a:cs typeface="Times New Roman"/>
              </a:rPr>
              <a:t> </a:t>
            </a:r>
            <a:r>
              <a:rPr sz="2000" b="1" dirty="0">
                <a:latin typeface="Times New Roman"/>
                <a:cs typeface="Times New Roman"/>
              </a:rPr>
              <a:t>and</a:t>
            </a:r>
            <a:r>
              <a:rPr sz="2000" b="1" spc="434" dirty="0">
                <a:latin typeface="Times New Roman"/>
                <a:cs typeface="Times New Roman"/>
              </a:rPr>
              <a:t> </a:t>
            </a:r>
            <a:r>
              <a:rPr sz="2000" b="1" spc="-10" dirty="0">
                <a:latin typeface="Times New Roman"/>
                <a:cs typeface="Times New Roman"/>
              </a:rPr>
              <a:t>frequency-</a:t>
            </a:r>
            <a:r>
              <a:rPr sz="2000" b="1" dirty="0">
                <a:latin typeface="Times New Roman"/>
                <a:cs typeface="Times New Roman"/>
              </a:rPr>
              <a:t>domain</a:t>
            </a:r>
            <a:r>
              <a:rPr sz="2000" b="1" spc="434" dirty="0">
                <a:latin typeface="Times New Roman"/>
                <a:cs typeface="Times New Roman"/>
              </a:rPr>
              <a:t> </a:t>
            </a:r>
            <a:r>
              <a:rPr sz="2000" b="1" dirty="0">
                <a:latin typeface="Times New Roman"/>
                <a:cs typeface="Times New Roman"/>
              </a:rPr>
              <a:t>processing</a:t>
            </a:r>
            <a:r>
              <a:rPr sz="2000" b="1" spc="440" dirty="0">
                <a:latin typeface="Times New Roman"/>
                <a:cs typeface="Times New Roman"/>
              </a:rPr>
              <a:t> </a:t>
            </a:r>
            <a:r>
              <a:rPr sz="2000" b="1" dirty="0">
                <a:latin typeface="Times New Roman"/>
                <a:cs typeface="Times New Roman"/>
              </a:rPr>
              <a:t>is</a:t>
            </a:r>
            <a:r>
              <a:rPr sz="2000" b="1" spc="420" dirty="0">
                <a:latin typeface="Times New Roman"/>
                <a:cs typeface="Times New Roman"/>
              </a:rPr>
              <a:t> </a:t>
            </a:r>
            <a:r>
              <a:rPr sz="2000" b="1" dirty="0">
                <a:latin typeface="Times New Roman"/>
                <a:cs typeface="Times New Roman"/>
              </a:rPr>
              <a:t>the</a:t>
            </a:r>
            <a:r>
              <a:rPr sz="2000" b="1" spc="425" dirty="0">
                <a:latin typeface="Times New Roman"/>
                <a:cs typeface="Times New Roman"/>
              </a:rPr>
              <a:t> </a:t>
            </a:r>
            <a:r>
              <a:rPr sz="2000" b="1" spc="-10" dirty="0">
                <a:latin typeface="Times New Roman"/>
                <a:cs typeface="Times New Roman"/>
              </a:rPr>
              <a:t>Fourier transform.</a:t>
            </a:r>
            <a:endParaRPr sz="2000">
              <a:latin typeface="Times New Roman"/>
              <a:cs typeface="Times New Roman"/>
            </a:endParaRPr>
          </a:p>
          <a:p>
            <a:pPr marL="354965" indent="-342265">
              <a:lnSpc>
                <a:spcPct val="100000"/>
              </a:lnSpc>
              <a:buClr>
                <a:srgbClr val="C00000"/>
              </a:buClr>
              <a:buFont typeface="Wingdings"/>
              <a:buChar char=""/>
              <a:tabLst>
                <a:tab pos="354965" algn="l"/>
              </a:tabLst>
            </a:pPr>
            <a:r>
              <a:rPr sz="2000" b="1" dirty="0">
                <a:latin typeface="Times New Roman"/>
                <a:cs typeface="Times New Roman"/>
              </a:rPr>
              <a:t>We</a:t>
            </a:r>
            <a:r>
              <a:rPr sz="2000" b="1" spc="-30" dirty="0">
                <a:latin typeface="Times New Roman"/>
                <a:cs typeface="Times New Roman"/>
              </a:rPr>
              <a:t> </a:t>
            </a:r>
            <a:r>
              <a:rPr sz="2000" b="1" dirty="0">
                <a:latin typeface="Times New Roman"/>
                <a:cs typeface="Times New Roman"/>
              </a:rPr>
              <a:t>use</a:t>
            </a:r>
            <a:r>
              <a:rPr sz="2000" b="1" spc="-25"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solidFill>
                  <a:srgbClr val="FF0000"/>
                </a:solidFill>
                <a:latin typeface="Times New Roman"/>
                <a:cs typeface="Times New Roman"/>
              </a:rPr>
              <a:t>Fourier</a:t>
            </a:r>
            <a:r>
              <a:rPr sz="2000" b="1" spc="-75" dirty="0">
                <a:solidFill>
                  <a:srgbClr val="FF0000"/>
                </a:solidFill>
                <a:latin typeface="Times New Roman"/>
                <a:cs typeface="Times New Roman"/>
              </a:rPr>
              <a:t> </a:t>
            </a:r>
            <a:r>
              <a:rPr sz="2000" b="1" dirty="0">
                <a:solidFill>
                  <a:srgbClr val="FF0000"/>
                </a:solidFill>
                <a:latin typeface="Times New Roman"/>
                <a:cs typeface="Times New Roman"/>
              </a:rPr>
              <a:t>transform</a:t>
            </a:r>
            <a:r>
              <a:rPr sz="2000" b="1" spc="-45" dirty="0">
                <a:solidFill>
                  <a:srgbClr val="FF0000"/>
                </a:solidFill>
                <a:latin typeface="Times New Roman"/>
                <a:cs typeface="Times New Roman"/>
              </a:rPr>
              <a:t> </a:t>
            </a:r>
            <a:r>
              <a:rPr sz="2000" b="1" dirty="0">
                <a:latin typeface="Times New Roman"/>
                <a:cs typeface="Times New Roman"/>
              </a:rPr>
              <a:t>to</a:t>
            </a:r>
            <a:r>
              <a:rPr sz="2000" b="1" spc="-30" dirty="0">
                <a:latin typeface="Times New Roman"/>
                <a:cs typeface="Times New Roman"/>
              </a:rPr>
              <a:t> </a:t>
            </a:r>
            <a:r>
              <a:rPr sz="2000" b="1" dirty="0">
                <a:latin typeface="Times New Roman"/>
                <a:cs typeface="Times New Roman"/>
              </a:rPr>
              <a:t>go</a:t>
            </a:r>
            <a:r>
              <a:rPr sz="2000" b="1" spc="-35" dirty="0">
                <a:latin typeface="Times New Roman"/>
                <a:cs typeface="Times New Roman"/>
              </a:rPr>
              <a:t> </a:t>
            </a:r>
            <a:r>
              <a:rPr sz="2000" b="1" dirty="0">
                <a:latin typeface="Times New Roman"/>
                <a:cs typeface="Times New Roman"/>
              </a:rPr>
              <a:t>from</a:t>
            </a:r>
            <a:r>
              <a:rPr sz="2000" b="1" spc="-3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spc="-10" dirty="0">
                <a:latin typeface="Times New Roman"/>
                <a:cs typeface="Times New Roman"/>
              </a:rPr>
              <a:t>spatial</a:t>
            </a:r>
            <a:endParaRPr sz="2000">
              <a:latin typeface="Times New Roman"/>
              <a:cs typeface="Times New Roman"/>
            </a:endParaRPr>
          </a:p>
          <a:p>
            <a:pPr marL="355600" marR="8255" indent="-342900">
              <a:lnSpc>
                <a:spcPct val="100000"/>
              </a:lnSpc>
              <a:buClr>
                <a:srgbClr val="C00000"/>
              </a:buClr>
              <a:buFont typeface="Wingdings"/>
              <a:buChar char=""/>
              <a:tabLst>
                <a:tab pos="355600" algn="l"/>
              </a:tabLst>
            </a:pPr>
            <a:r>
              <a:rPr sz="2000" b="1" dirty="0">
                <a:latin typeface="Times New Roman"/>
                <a:cs typeface="Times New Roman"/>
              </a:rPr>
              <a:t>To</a:t>
            </a:r>
            <a:r>
              <a:rPr sz="2000" b="1" spc="390" dirty="0">
                <a:latin typeface="Times New Roman"/>
                <a:cs typeface="Times New Roman"/>
              </a:rPr>
              <a:t> </a:t>
            </a:r>
            <a:r>
              <a:rPr sz="2000" b="1" dirty="0">
                <a:latin typeface="Times New Roman"/>
                <a:cs typeface="Times New Roman"/>
              </a:rPr>
              <a:t>the</a:t>
            </a:r>
            <a:r>
              <a:rPr sz="2000" b="1" spc="385" dirty="0">
                <a:latin typeface="Times New Roman"/>
                <a:cs typeface="Times New Roman"/>
              </a:rPr>
              <a:t> </a:t>
            </a:r>
            <a:r>
              <a:rPr sz="2000" b="1" dirty="0">
                <a:latin typeface="Times New Roman"/>
                <a:cs typeface="Times New Roman"/>
              </a:rPr>
              <a:t>frequency</a:t>
            </a:r>
            <a:r>
              <a:rPr sz="2000" b="1" spc="390" dirty="0">
                <a:latin typeface="Times New Roman"/>
                <a:cs typeface="Times New Roman"/>
              </a:rPr>
              <a:t> </a:t>
            </a:r>
            <a:r>
              <a:rPr sz="2000" b="1" dirty="0">
                <a:latin typeface="Times New Roman"/>
                <a:cs typeface="Times New Roman"/>
              </a:rPr>
              <a:t>domain;</a:t>
            </a:r>
            <a:r>
              <a:rPr sz="2000" b="1" spc="380" dirty="0">
                <a:latin typeface="Times New Roman"/>
                <a:cs typeface="Times New Roman"/>
              </a:rPr>
              <a:t> </a:t>
            </a:r>
            <a:r>
              <a:rPr sz="2000" b="1" dirty="0">
                <a:latin typeface="Times New Roman"/>
                <a:cs typeface="Times New Roman"/>
              </a:rPr>
              <a:t>to</a:t>
            </a:r>
            <a:r>
              <a:rPr sz="2000" b="1" spc="395" dirty="0">
                <a:latin typeface="Times New Roman"/>
                <a:cs typeface="Times New Roman"/>
              </a:rPr>
              <a:t> </a:t>
            </a:r>
            <a:r>
              <a:rPr sz="2000" b="1" dirty="0">
                <a:latin typeface="Times New Roman"/>
                <a:cs typeface="Times New Roman"/>
              </a:rPr>
              <a:t>return</a:t>
            </a:r>
            <a:r>
              <a:rPr sz="2000" b="1" spc="380" dirty="0">
                <a:latin typeface="Times New Roman"/>
                <a:cs typeface="Times New Roman"/>
              </a:rPr>
              <a:t> </a:t>
            </a:r>
            <a:r>
              <a:rPr sz="2000" b="1" dirty="0">
                <a:latin typeface="Times New Roman"/>
                <a:cs typeface="Times New Roman"/>
              </a:rPr>
              <a:t>to</a:t>
            </a:r>
            <a:r>
              <a:rPr sz="2000" b="1" spc="380" dirty="0">
                <a:latin typeface="Times New Roman"/>
                <a:cs typeface="Times New Roman"/>
              </a:rPr>
              <a:t> </a:t>
            </a:r>
            <a:r>
              <a:rPr sz="2000" b="1" dirty="0">
                <a:latin typeface="Times New Roman"/>
                <a:cs typeface="Times New Roman"/>
              </a:rPr>
              <a:t>the</a:t>
            </a:r>
            <a:r>
              <a:rPr sz="2000" b="1" spc="385" dirty="0">
                <a:latin typeface="Times New Roman"/>
                <a:cs typeface="Times New Roman"/>
              </a:rPr>
              <a:t> </a:t>
            </a:r>
            <a:r>
              <a:rPr sz="2000" b="1" dirty="0">
                <a:latin typeface="Times New Roman"/>
                <a:cs typeface="Times New Roman"/>
              </a:rPr>
              <a:t>spatial</a:t>
            </a:r>
            <a:r>
              <a:rPr sz="2000" b="1" spc="375" dirty="0">
                <a:latin typeface="Times New Roman"/>
                <a:cs typeface="Times New Roman"/>
              </a:rPr>
              <a:t> </a:t>
            </a:r>
            <a:r>
              <a:rPr sz="2000" b="1" dirty="0">
                <a:latin typeface="Times New Roman"/>
                <a:cs typeface="Times New Roman"/>
              </a:rPr>
              <a:t>domain</a:t>
            </a:r>
            <a:r>
              <a:rPr sz="2000" b="1" spc="385" dirty="0">
                <a:latin typeface="Times New Roman"/>
                <a:cs typeface="Times New Roman"/>
              </a:rPr>
              <a:t> </a:t>
            </a:r>
            <a:r>
              <a:rPr sz="2000" b="1" dirty="0">
                <a:latin typeface="Times New Roman"/>
                <a:cs typeface="Times New Roman"/>
              </a:rPr>
              <a:t>we</a:t>
            </a:r>
            <a:r>
              <a:rPr sz="2000" b="1" spc="385" dirty="0">
                <a:latin typeface="Times New Roman"/>
                <a:cs typeface="Times New Roman"/>
              </a:rPr>
              <a:t> </a:t>
            </a:r>
            <a:r>
              <a:rPr sz="2000" b="1" dirty="0">
                <a:latin typeface="Times New Roman"/>
                <a:cs typeface="Times New Roman"/>
              </a:rPr>
              <a:t>use</a:t>
            </a:r>
            <a:r>
              <a:rPr sz="2000" b="1" spc="390"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inverse</a:t>
            </a:r>
            <a:r>
              <a:rPr sz="2000" b="1" spc="-30" dirty="0">
                <a:solidFill>
                  <a:srgbClr val="FF0000"/>
                </a:solidFill>
                <a:latin typeface="Times New Roman"/>
                <a:cs typeface="Times New Roman"/>
              </a:rPr>
              <a:t> </a:t>
            </a:r>
            <a:r>
              <a:rPr sz="2000" b="1" dirty="0">
                <a:solidFill>
                  <a:srgbClr val="FF0000"/>
                </a:solidFill>
                <a:latin typeface="Times New Roman"/>
                <a:cs typeface="Times New Roman"/>
              </a:rPr>
              <a:t>Fourier</a:t>
            </a:r>
            <a:r>
              <a:rPr sz="2000" b="1" spc="-45" dirty="0">
                <a:solidFill>
                  <a:srgbClr val="FF0000"/>
                </a:solidFill>
                <a:latin typeface="Times New Roman"/>
                <a:cs typeface="Times New Roman"/>
              </a:rPr>
              <a:t> </a:t>
            </a:r>
            <a:r>
              <a:rPr sz="2000" b="1" spc="-10" dirty="0">
                <a:solidFill>
                  <a:srgbClr val="FF0000"/>
                </a:solidFill>
                <a:latin typeface="Times New Roman"/>
                <a:cs typeface="Times New Roman"/>
              </a:rPr>
              <a:t>transform</a:t>
            </a:r>
            <a:r>
              <a:rPr sz="2000" b="1" spc="-10" dirty="0">
                <a:latin typeface="Times New Roman"/>
                <a:cs typeface="Times New Roman"/>
              </a:rPr>
              <a:t>.</a:t>
            </a:r>
            <a:endParaRPr sz="2000">
              <a:latin typeface="Times New Roman"/>
              <a:cs typeface="Times New Roman"/>
            </a:endParaRPr>
          </a:p>
          <a:p>
            <a:pPr>
              <a:lnSpc>
                <a:spcPct val="100000"/>
              </a:lnSpc>
              <a:spcBef>
                <a:spcPts val="345"/>
              </a:spcBef>
            </a:pPr>
            <a:endParaRPr sz="2000">
              <a:latin typeface="Times New Roman"/>
              <a:cs typeface="Times New Roman"/>
            </a:endParaRPr>
          </a:p>
          <a:p>
            <a:pPr marL="12700" marR="4833620" algn="just">
              <a:lnSpc>
                <a:spcPct val="100000"/>
              </a:lnSpc>
            </a:pPr>
            <a:r>
              <a:rPr sz="2000" b="1" dirty="0">
                <a:latin typeface="Times New Roman"/>
                <a:cs typeface="Times New Roman"/>
              </a:rPr>
              <a:t>The</a:t>
            </a:r>
            <a:r>
              <a:rPr sz="2000" b="1" spc="180" dirty="0">
                <a:latin typeface="Times New Roman"/>
                <a:cs typeface="Times New Roman"/>
              </a:rPr>
              <a:t>  </a:t>
            </a:r>
            <a:r>
              <a:rPr sz="2000" b="1" dirty="0">
                <a:latin typeface="Times New Roman"/>
                <a:cs typeface="Times New Roman"/>
              </a:rPr>
              <a:t>figure</a:t>
            </a:r>
            <a:r>
              <a:rPr sz="2000" b="1" spc="170" dirty="0">
                <a:latin typeface="Times New Roman"/>
                <a:cs typeface="Times New Roman"/>
              </a:rPr>
              <a:t>  </a:t>
            </a:r>
            <a:r>
              <a:rPr sz="2000" b="1" dirty="0">
                <a:latin typeface="Times New Roman"/>
                <a:cs typeface="Times New Roman"/>
              </a:rPr>
              <a:t>below</a:t>
            </a:r>
            <a:r>
              <a:rPr sz="2000" b="1" spc="180" dirty="0">
                <a:latin typeface="Times New Roman"/>
                <a:cs typeface="Times New Roman"/>
              </a:rPr>
              <a:t>  </a:t>
            </a:r>
            <a:r>
              <a:rPr sz="2000" b="1" dirty="0">
                <a:latin typeface="Times New Roman"/>
                <a:cs typeface="Times New Roman"/>
              </a:rPr>
              <a:t>depicts</a:t>
            </a:r>
            <a:r>
              <a:rPr sz="2000" b="1" spc="180" dirty="0">
                <a:latin typeface="Times New Roman"/>
                <a:cs typeface="Times New Roman"/>
              </a:rPr>
              <a:t>  </a:t>
            </a:r>
            <a:r>
              <a:rPr sz="2000" b="1" spc="-25" dirty="0">
                <a:latin typeface="Times New Roman"/>
                <a:cs typeface="Times New Roman"/>
              </a:rPr>
              <a:t>the </a:t>
            </a:r>
            <a:r>
              <a:rPr sz="2000" b="1" dirty="0">
                <a:latin typeface="Times New Roman"/>
                <a:cs typeface="Times New Roman"/>
              </a:rPr>
              <a:t>conversion</a:t>
            </a:r>
            <a:r>
              <a:rPr sz="2000" b="1" spc="85" dirty="0">
                <a:latin typeface="Times New Roman"/>
                <a:cs typeface="Times New Roman"/>
              </a:rPr>
              <a:t>  </a:t>
            </a:r>
            <a:r>
              <a:rPr sz="2000" b="1" dirty="0">
                <a:latin typeface="Times New Roman"/>
                <a:cs typeface="Times New Roman"/>
              </a:rPr>
              <a:t>of</a:t>
            </a:r>
            <a:r>
              <a:rPr sz="2000" b="1" spc="90" dirty="0">
                <a:latin typeface="Times New Roman"/>
                <a:cs typeface="Times New Roman"/>
              </a:rPr>
              <a:t>  </a:t>
            </a:r>
            <a:r>
              <a:rPr sz="2000" b="1" dirty="0">
                <a:latin typeface="Times New Roman"/>
                <a:cs typeface="Times New Roman"/>
              </a:rPr>
              <a:t>the</a:t>
            </a:r>
            <a:r>
              <a:rPr sz="2000" b="1" spc="95" dirty="0">
                <a:latin typeface="Times New Roman"/>
                <a:cs typeface="Times New Roman"/>
              </a:rPr>
              <a:t>  </a:t>
            </a:r>
            <a:r>
              <a:rPr sz="2000" b="1" dirty="0">
                <a:latin typeface="Times New Roman"/>
                <a:cs typeface="Times New Roman"/>
              </a:rPr>
              <a:t>image</a:t>
            </a:r>
            <a:r>
              <a:rPr sz="2000" b="1" spc="90" dirty="0">
                <a:latin typeface="Times New Roman"/>
                <a:cs typeface="Times New Roman"/>
              </a:rPr>
              <a:t>  </a:t>
            </a:r>
            <a:r>
              <a:rPr sz="2000" b="1" spc="-20" dirty="0">
                <a:latin typeface="Times New Roman"/>
                <a:cs typeface="Times New Roman"/>
              </a:rPr>
              <a:t>from </a:t>
            </a:r>
            <a:r>
              <a:rPr sz="2000" b="1" dirty="0">
                <a:latin typeface="Times New Roman"/>
                <a:cs typeface="Times New Roman"/>
              </a:rPr>
              <a:t>the</a:t>
            </a:r>
            <a:r>
              <a:rPr sz="2000" b="1" spc="200" dirty="0">
                <a:latin typeface="Times New Roman"/>
                <a:cs typeface="Times New Roman"/>
              </a:rPr>
              <a:t>   </a:t>
            </a:r>
            <a:r>
              <a:rPr sz="2000" b="1" dirty="0">
                <a:solidFill>
                  <a:srgbClr val="006FC0"/>
                </a:solidFill>
                <a:latin typeface="Times New Roman"/>
                <a:cs typeface="Times New Roman"/>
              </a:rPr>
              <a:t>spatial</a:t>
            </a:r>
            <a:r>
              <a:rPr sz="2000" b="1" spc="204" dirty="0">
                <a:solidFill>
                  <a:srgbClr val="006FC0"/>
                </a:solidFill>
                <a:latin typeface="Times New Roman"/>
                <a:cs typeface="Times New Roman"/>
              </a:rPr>
              <a:t>   </a:t>
            </a:r>
            <a:r>
              <a:rPr sz="2000" b="1" dirty="0">
                <a:solidFill>
                  <a:srgbClr val="006FC0"/>
                </a:solidFill>
                <a:latin typeface="Times New Roman"/>
                <a:cs typeface="Times New Roman"/>
              </a:rPr>
              <a:t>domain</a:t>
            </a:r>
            <a:r>
              <a:rPr sz="2000" b="1" spc="195" dirty="0">
                <a:solidFill>
                  <a:srgbClr val="006FC0"/>
                </a:solidFill>
                <a:latin typeface="Times New Roman"/>
                <a:cs typeface="Times New Roman"/>
              </a:rPr>
              <a:t>   </a:t>
            </a:r>
            <a:r>
              <a:rPr sz="2000" b="1" dirty="0">
                <a:latin typeface="Times New Roman"/>
                <a:cs typeface="Times New Roman"/>
              </a:rPr>
              <a:t>to</a:t>
            </a:r>
            <a:r>
              <a:rPr sz="2000" b="1" spc="204" dirty="0">
                <a:latin typeface="Times New Roman"/>
                <a:cs typeface="Times New Roman"/>
              </a:rPr>
              <a:t>   </a:t>
            </a:r>
            <a:r>
              <a:rPr sz="2000" b="1" spc="-25" dirty="0">
                <a:latin typeface="Times New Roman"/>
                <a:cs typeface="Times New Roman"/>
              </a:rPr>
              <a:t>the </a:t>
            </a:r>
            <a:r>
              <a:rPr sz="2000" b="1" dirty="0">
                <a:solidFill>
                  <a:srgbClr val="006FC0"/>
                </a:solidFill>
                <a:latin typeface="Times New Roman"/>
                <a:cs typeface="Times New Roman"/>
              </a:rPr>
              <a:t>frequency</a:t>
            </a:r>
            <a:r>
              <a:rPr sz="2000" b="1" spc="-10" dirty="0">
                <a:solidFill>
                  <a:srgbClr val="006FC0"/>
                </a:solidFill>
                <a:latin typeface="Times New Roman"/>
                <a:cs typeface="Times New Roman"/>
              </a:rPr>
              <a:t> </a:t>
            </a:r>
            <a:r>
              <a:rPr sz="2000" b="1" dirty="0">
                <a:solidFill>
                  <a:srgbClr val="006FC0"/>
                </a:solidFill>
                <a:latin typeface="Times New Roman"/>
                <a:cs typeface="Times New Roman"/>
              </a:rPr>
              <a:t>domain</a:t>
            </a:r>
            <a:r>
              <a:rPr sz="2000" b="1" spc="-10" dirty="0">
                <a:solidFill>
                  <a:srgbClr val="006FC0"/>
                </a:solidFill>
                <a:latin typeface="Times New Roman"/>
                <a:cs typeface="Times New Roman"/>
              </a:rPr>
              <a:t> </a:t>
            </a:r>
            <a:r>
              <a:rPr sz="2000" b="1" dirty="0">
                <a:latin typeface="Times New Roman"/>
                <a:cs typeface="Times New Roman"/>
              </a:rPr>
              <a:t>using</a:t>
            </a:r>
            <a:r>
              <a:rPr sz="2000" b="1" spc="-10" dirty="0">
                <a:latin typeface="Times New Roman"/>
                <a:cs typeface="Times New Roman"/>
              </a:rPr>
              <a:t> </a:t>
            </a:r>
            <a:r>
              <a:rPr sz="2000" b="1" spc="-10" dirty="0">
                <a:solidFill>
                  <a:srgbClr val="006FC0"/>
                </a:solidFill>
                <a:latin typeface="Times New Roman"/>
                <a:cs typeface="Times New Roman"/>
              </a:rPr>
              <a:t>Fourier Transformation</a:t>
            </a:r>
            <a:r>
              <a:rPr sz="2000" b="1" spc="-10" dirty="0">
                <a:latin typeface="Times New Roman"/>
                <a:cs typeface="Times New Roman"/>
              </a:rPr>
              <a:t>.</a:t>
            </a:r>
            <a:endParaRPr sz="2000">
              <a:latin typeface="Times New Roman"/>
              <a:cs typeface="Times New Roman"/>
            </a:endParaRPr>
          </a:p>
        </p:txBody>
      </p:sp>
      <p:pic>
        <p:nvPicPr>
          <p:cNvPr id="4" name="object 4"/>
          <p:cNvPicPr/>
          <p:nvPr/>
        </p:nvPicPr>
        <p:blipFill>
          <a:blip r:embed="rId3" cstate="print"/>
          <a:stretch>
            <a:fillRect/>
          </a:stretch>
        </p:blipFill>
        <p:spPr>
          <a:xfrm>
            <a:off x="2801109" y="324594"/>
            <a:ext cx="3331466" cy="391685"/>
          </a:xfrm>
          <a:prstGeom prst="rect">
            <a:avLst/>
          </a:prstGeom>
        </p:spPr>
      </p:pic>
      <p:grpSp>
        <p:nvGrpSpPr>
          <p:cNvPr id="5" name="object 5"/>
          <p:cNvGrpSpPr/>
          <p:nvPr/>
        </p:nvGrpSpPr>
        <p:grpSpPr>
          <a:xfrm>
            <a:off x="426719" y="795527"/>
            <a:ext cx="8211820" cy="91440"/>
            <a:chOff x="426719" y="795527"/>
            <a:chExt cx="8211820" cy="91440"/>
          </a:xfrm>
        </p:grpSpPr>
        <p:pic>
          <p:nvPicPr>
            <p:cNvPr id="6" name="object 6"/>
            <p:cNvPicPr/>
            <p:nvPr/>
          </p:nvPicPr>
          <p:blipFill>
            <a:blip r:embed="rId4" cstate="print"/>
            <a:stretch>
              <a:fillRect/>
            </a:stretch>
          </p:blipFill>
          <p:spPr>
            <a:xfrm>
              <a:off x="426719" y="795527"/>
              <a:ext cx="8211311" cy="91440"/>
            </a:xfrm>
            <a:prstGeom prst="rect">
              <a:avLst/>
            </a:prstGeom>
          </p:spPr>
        </p:pic>
        <p:sp>
          <p:nvSpPr>
            <p:cNvPr id="7" name="object 7"/>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0855" y="902588"/>
            <a:ext cx="8501380" cy="5737860"/>
          </a:xfrm>
          <a:prstGeom prst="rect">
            <a:avLst/>
          </a:prstGeom>
        </p:spPr>
        <p:txBody>
          <a:bodyPr vert="horz" wrap="square" lIns="0" tIns="13335" rIns="0" bIns="0" rtlCol="0">
            <a:spAutoFit/>
          </a:bodyPr>
          <a:lstStyle/>
          <a:p>
            <a:pPr marL="12700" marR="153035">
              <a:lnSpc>
                <a:spcPct val="100000"/>
              </a:lnSpc>
              <a:spcBef>
                <a:spcPts val="105"/>
              </a:spcBef>
              <a:tabLst>
                <a:tab pos="1917700" algn="l"/>
                <a:tab pos="3707129" algn="l"/>
                <a:tab pos="3964940" algn="l"/>
                <a:tab pos="7051675" algn="l"/>
                <a:tab pos="8068309" algn="l"/>
              </a:tabLst>
            </a:pPr>
            <a:r>
              <a:rPr sz="2000" b="1" dirty="0">
                <a:latin typeface="Times New Roman"/>
                <a:cs typeface="Times New Roman"/>
              </a:rPr>
              <a:t>A</a:t>
            </a:r>
            <a:r>
              <a:rPr sz="2000" b="1" spc="405" dirty="0">
                <a:latin typeface="Times New Roman"/>
                <a:cs typeface="Times New Roman"/>
              </a:rPr>
              <a:t> </a:t>
            </a:r>
            <a:r>
              <a:rPr sz="2000" b="1" dirty="0">
                <a:latin typeface="Times New Roman"/>
                <a:cs typeface="Times New Roman"/>
              </a:rPr>
              <a:t>linear</a:t>
            </a:r>
            <a:r>
              <a:rPr sz="2000" b="1" spc="465" dirty="0">
                <a:latin typeface="Times New Roman"/>
                <a:cs typeface="Times New Roman"/>
              </a:rPr>
              <a:t> </a:t>
            </a:r>
            <a:r>
              <a:rPr sz="2000" b="1" spc="-10" dirty="0">
                <a:latin typeface="Times New Roman"/>
                <a:cs typeface="Times New Roman"/>
              </a:rPr>
              <a:t>spatial</a:t>
            </a:r>
            <a:r>
              <a:rPr sz="2000" b="1" dirty="0">
                <a:latin typeface="Times New Roman"/>
                <a:cs typeface="Times New Roman"/>
              </a:rPr>
              <a:t>	filter</a:t>
            </a:r>
            <a:r>
              <a:rPr sz="2000" b="1" spc="480" dirty="0">
                <a:latin typeface="Times New Roman"/>
                <a:cs typeface="Times New Roman"/>
              </a:rPr>
              <a:t> </a:t>
            </a:r>
            <a:r>
              <a:rPr sz="2000" b="1" spc="-10" dirty="0">
                <a:latin typeface="Times New Roman"/>
                <a:cs typeface="Times New Roman"/>
              </a:rPr>
              <a:t>performs</a:t>
            </a:r>
            <a:r>
              <a:rPr sz="2000" b="1" dirty="0">
                <a:latin typeface="Times New Roman"/>
                <a:cs typeface="Times New Roman"/>
              </a:rPr>
              <a:t>	</a:t>
            </a:r>
            <a:r>
              <a:rPr sz="2000" b="1" spc="-50" dirty="0">
                <a:latin typeface="Times New Roman"/>
                <a:cs typeface="Times New Roman"/>
              </a:rPr>
              <a:t>a</a:t>
            </a:r>
            <a:r>
              <a:rPr sz="2000" b="1" dirty="0">
                <a:latin typeface="Times New Roman"/>
                <a:cs typeface="Times New Roman"/>
              </a:rPr>
              <a:t>	</a:t>
            </a:r>
            <a:r>
              <a:rPr sz="2000" b="1" spc="-10" dirty="0">
                <a:latin typeface="Times New Roman"/>
                <a:cs typeface="Times New Roman"/>
              </a:rPr>
              <a:t>sum-of-</a:t>
            </a:r>
            <a:r>
              <a:rPr sz="2000" b="1" dirty="0">
                <a:latin typeface="Times New Roman"/>
                <a:cs typeface="Times New Roman"/>
              </a:rPr>
              <a:t>products</a:t>
            </a:r>
            <a:r>
              <a:rPr sz="2000" b="1" spc="459" dirty="0">
                <a:latin typeface="Times New Roman"/>
                <a:cs typeface="Times New Roman"/>
              </a:rPr>
              <a:t> </a:t>
            </a:r>
            <a:r>
              <a:rPr sz="2000" b="1" spc="-10" dirty="0">
                <a:latin typeface="Times New Roman"/>
                <a:cs typeface="Times New Roman"/>
              </a:rPr>
              <a:t>operation</a:t>
            </a:r>
            <a:r>
              <a:rPr sz="2000" b="1" dirty="0">
                <a:latin typeface="Times New Roman"/>
                <a:cs typeface="Times New Roman"/>
              </a:rPr>
              <a:t>	</a:t>
            </a:r>
            <a:r>
              <a:rPr sz="2000" b="1" spc="-10" dirty="0">
                <a:latin typeface="Times New Roman"/>
                <a:cs typeface="Times New Roman"/>
              </a:rPr>
              <a:t>between</a:t>
            </a:r>
            <a:r>
              <a:rPr sz="2000" b="1" dirty="0">
                <a:latin typeface="Times New Roman"/>
                <a:cs typeface="Times New Roman"/>
              </a:rPr>
              <a:t>	</a:t>
            </a:r>
            <a:r>
              <a:rPr sz="2000" b="1" spc="-25" dirty="0">
                <a:latin typeface="Times New Roman"/>
                <a:cs typeface="Times New Roman"/>
              </a:rPr>
              <a:t>an </a:t>
            </a:r>
            <a:r>
              <a:rPr sz="2000" b="1" dirty="0">
                <a:latin typeface="Times New Roman"/>
                <a:cs typeface="Times New Roman"/>
              </a:rPr>
              <a:t>image</a:t>
            </a:r>
            <a:r>
              <a:rPr sz="2000" b="1" spc="-25" dirty="0">
                <a:latin typeface="Times New Roman"/>
                <a:cs typeface="Times New Roman"/>
              </a:rPr>
              <a:t> </a:t>
            </a:r>
            <a:r>
              <a:rPr sz="2000" b="1" dirty="0">
                <a:solidFill>
                  <a:srgbClr val="FF0000"/>
                </a:solidFill>
                <a:latin typeface="Times New Roman"/>
                <a:cs typeface="Times New Roman"/>
              </a:rPr>
              <a:t>f </a:t>
            </a:r>
            <a:r>
              <a:rPr sz="2000" b="1" dirty="0">
                <a:latin typeface="Times New Roman"/>
                <a:cs typeface="Times New Roman"/>
              </a:rPr>
              <a:t>and</a:t>
            </a:r>
            <a:r>
              <a:rPr sz="2000" b="1" spc="-15" dirty="0">
                <a:latin typeface="Times New Roman"/>
                <a:cs typeface="Times New Roman"/>
              </a:rPr>
              <a:t> </a:t>
            </a:r>
            <a:r>
              <a:rPr sz="2000" b="1" dirty="0">
                <a:latin typeface="Times New Roman"/>
                <a:cs typeface="Times New Roman"/>
              </a:rPr>
              <a:t>a</a:t>
            </a:r>
            <a:r>
              <a:rPr sz="2000" b="1" spc="-5" dirty="0">
                <a:latin typeface="Times New Roman"/>
                <a:cs typeface="Times New Roman"/>
              </a:rPr>
              <a:t> </a:t>
            </a:r>
            <a:r>
              <a:rPr sz="2000" b="1" dirty="0">
                <a:latin typeface="Times New Roman"/>
                <a:cs typeface="Times New Roman"/>
              </a:rPr>
              <a:t>filter</a:t>
            </a:r>
            <a:r>
              <a:rPr sz="2000" b="1" spc="-55" dirty="0">
                <a:latin typeface="Times New Roman"/>
                <a:cs typeface="Times New Roman"/>
              </a:rPr>
              <a:t> </a:t>
            </a:r>
            <a:r>
              <a:rPr sz="2000" b="1" dirty="0">
                <a:latin typeface="Times New Roman"/>
                <a:cs typeface="Times New Roman"/>
              </a:rPr>
              <a:t>kernel,</a:t>
            </a:r>
            <a:r>
              <a:rPr sz="2000" b="1" spc="-30" dirty="0">
                <a:latin typeface="Times New Roman"/>
                <a:cs typeface="Times New Roman"/>
              </a:rPr>
              <a:t> </a:t>
            </a:r>
            <a:r>
              <a:rPr sz="2000" b="1" spc="-25" dirty="0">
                <a:solidFill>
                  <a:srgbClr val="FF0000"/>
                </a:solidFill>
                <a:latin typeface="Times New Roman"/>
                <a:cs typeface="Times New Roman"/>
              </a:rPr>
              <a:t>w</a:t>
            </a:r>
            <a:r>
              <a:rPr sz="2000" b="1" spc="-25" dirty="0">
                <a:latin typeface="Times New Roman"/>
                <a:cs typeface="Times New Roman"/>
              </a:rPr>
              <a:t>.</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355600" marR="153670" indent="-343535">
              <a:lnSpc>
                <a:spcPct val="100000"/>
              </a:lnSpc>
              <a:buClr>
                <a:srgbClr val="FF0000"/>
              </a:buClr>
              <a:buFont typeface="Wingdings"/>
              <a:buChar char=""/>
              <a:tabLst>
                <a:tab pos="355600" algn="l"/>
              </a:tabLst>
            </a:pPr>
            <a:r>
              <a:rPr sz="2000" b="1" dirty="0">
                <a:latin typeface="Times New Roman"/>
                <a:cs typeface="Times New Roman"/>
              </a:rPr>
              <a:t>The</a:t>
            </a:r>
            <a:r>
              <a:rPr sz="2000" b="1" spc="75" dirty="0">
                <a:latin typeface="Times New Roman"/>
                <a:cs typeface="Times New Roman"/>
              </a:rPr>
              <a:t> </a:t>
            </a:r>
            <a:r>
              <a:rPr sz="2000" b="1" dirty="0">
                <a:latin typeface="Times New Roman"/>
                <a:cs typeface="Times New Roman"/>
              </a:rPr>
              <a:t>kernel</a:t>
            </a:r>
            <a:r>
              <a:rPr sz="2000" b="1" spc="80" dirty="0">
                <a:latin typeface="Times New Roman"/>
                <a:cs typeface="Times New Roman"/>
              </a:rPr>
              <a:t> </a:t>
            </a:r>
            <a:r>
              <a:rPr sz="2000" b="1" dirty="0">
                <a:latin typeface="Times New Roman"/>
                <a:cs typeface="Times New Roman"/>
              </a:rPr>
              <a:t>is</a:t>
            </a:r>
            <a:r>
              <a:rPr sz="2000" b="1" spc="85" dirty="0">
                <a:latin typeface="Times New Roman"/>
                <a:cs typeface="Times New Roman"/>
              </a:rPr>
              <a:t> </a:t>
            </a:r>
            <a:r>
              <a:rPr sz="2000" b="1" dirty="0">
                <a:latin typeface="Times New Roman"/>
                <a:cs typeface="Times New Roman"/>
              </a:rPr>
              <a:t>an</a:t>
            </a:r>
            <a:r>
              <a:rPr sz="2000" b="1" spc="90" dirty="0">
                <a:latin typeface="Times New Roman"/>
                <a:cs typeface="Times New Roman"/>
              </a:rPr>
              <a:t> </a:t>
            </a:r>
            <a:r>
              <a:rPr sz="2000" b="1" dirty="0">
                <a:latin typeface="Times New Roman"/>
                <a:cs typeface="Times New Roman"/>
              </a:rPr>
              <a:t>array</a:t>
            </a:r>
            <a:r>
              <a:rPr sz="2000" b="1" spc="85" dirty="0">
                <a:latin typeface="Times New Roman"/>
                <a:cs typeface="Times New Roman"/>
              </a:rPr>
              <a:t> </a:t>
            </a:r>
            <a:r>
              <a:rPr sz="2000" b="1" dirty="0">
                <a:latin typeface="Times New Roman"/>
                <a:cs typeface="Times New Roman"/>
              </a:rPr>
              <a:t>whose</a:t>
            </a:r>
            <a:r>
              <a:rPr sz="2000" b="1" spc="80" dirty="0">
                <a:latin typeface="Times New Roman"/>
                <a:cs typeface="Times New Roman"/>
              </a:rPr>
              <a:t> </a:t>
            </a:r>
            <a:r>
              <a:rPr sz="2000" b="1" dirty="0">
                <a:solidFill>
                  <a:srgbClr val="FF0000"/>
                </a:solidFill>
                <a:latin typeface="Times New Roman"/>
                <a:cs typeface="Times New Roman"/>
              </a:rPr>
              <a:t>size</a:t>
            </a:r>
            <a:r>
              <a:rPr sz="2000" b="1" spc="100" dirty="0">
                <a:solidFill>
                  <a:srgbClr val="FF0000"/>
                </a:solidFill>
                <a:latin typeface="Times New Roman"/>
                <a:cs typeface="Times New Roman"/>
              </a:rPr>
              <a:t> </a:t>
            </a:r>
            <a:r>
              <a:rPr sz="2000" b="1" dirty="0">
                <a:latin typeface="Times New Roman"/>
                <a:cs typeface="Times New Roman"/>
              </a:rPr>
              <a:t>defines</a:t>
            </a:r>
            <a:r>
              <a:rPr sz="2000" b="1" spc="75" dirty="0">
                <a:latin typeface="Times New Roman"/>
                <a:cs typeface="Times New Roman"/>
              </a:rPr>
              <a:t> </a:t>
            </a:r>
            <a:r>
              <a:rPr sz="2000" b="1" dirty="0">
                <a:latin typeface="Times New Roman"/>
                <a:cs typeface="Times New Roman"/>
              </a:rPr>
              <a:t>the</a:t>
            </a:r>
            <a:r>
              <a:rPr sz="2000" b="1" spc="90" dirty="0">
                <a:latin typeface="Times New Roman"/>
                <a:cs typeface="Times New Roman"/>
              </a:rPr>
              <a:t> </a:t>
            </a:r>
            <a:r>
              <a:rPr sz="2000" b="1" dirty="0">
                <a:solidFill>
                  <a:srgbClr val="006FC0"/>
                </a:solidFill>
                <a:latin typeface="Times New Roman"/>
                <a:cs typeface="Times New Roman"/>
              </a:rPr>
              <a:t>neighborhood</a:t>
            </a:r>
            <a:r>
              <a:rPr sz="2000" b="1" spc="75" dirty="0">
                <a:solidFill>
                  <a:srgbClr val="006FC0"/>
                </a:solidFill>
                <a:latin typeface="Times New Roman"/>
                <a:cs typeface="Times New Roman"/>
              </a:rPr>
              <a:t> </a:t>
            </a:r>
            <a:r>
              <a:rPr sz="2000" b="1" dirty="0">
                <a:solidFill>
                  <a:srgbClr val="006FC0"/>
                </a:solidFill>
                <a:latin typeface="Times New Roman"/>
                <a:cs typeface="Times New Roman"/>
              </a:rPr>
              <a:t>of</a:t>
            </a:r>
            <a:r>
              <a:rPr sz="2000" b="1" spc="85" dirty="0">
                <a:solidFill>
                  <a:srgbClr val="006FC0"/>
                </a:solidFill>
                <a:latin typeface="Times New Roman"/>
                <a:cs typeface="Times New Roman"/>
              </a:rPr>
              <a:t> </a:t>
            </a:r>
            <a:r>
              <a:rPr sz="2000" b="1" spc="-10" dirty="0">
                <a:solidFill>
                  <a:srgbClr val="006FC0"/>
                </a:solidFill>
                <a:latin typeface="Times New Roman"/>
                <a:cs typeface="Times New Roman"/>
              </a:rPr>
              <a:t>operation</a:t>
            </a:r>
            <a:r>
              <a:rPr sz="2000" b="1" spc="-10" dirty="0">
                <a:latin typeface="Times New Roman"/>
                <a:cs typeface="Times New Roman"/>
              </a:rPr>
              <a:t>, </a:t>
            </a:r>
            <a:r>
              <a:rPr sz="2000" b="1" dirty="0">
                <a:latin typeface="Times New Roman"/>
                <a:cs typeface="Times New Roman"/>
              </a:rPr>
              <a:t>and</a:t>
            </a:r>
            <a:r>
              <a:rPr sz="2000" b="1" spc="-20" dirty="0">
                <a:latin typeface="Times New Roman"/>
                <a:cs typeface="Times New Roman"/>
              </a:rPr>
              <a:t> </a:t>
            </a:r>
            <a:r>
              <a:rPr sz="2000" b="1" dirty="0">
                <a:latin typeface="Times New Roman"/>
                <a:cs typeface="Times New Roman"/>
              </a:rPr>
              <a:t>whose</a:t>
            </a:r>
            <a:r>
              <a:rPr sz="2000" b="1" spc="-20" dirty="0">
                <a:latin typeface="Times New Roman"/>
                <a:cs typeface="Times New Roman"/>
              </a:rPr>
              <a:t> </a:t>
            </a:r>
            <a:r>
              <a:rPr sz="2000" b="1" dirty="0">
                <a:solidFill>
                  <a:srgbClr val="FF0000"/>
                </a:solidFill>
                <a:latin typeface="Times New Roman"/>
                <a:cs typeface="Times New Roman"/>
              </a:rPr>
              <a:t>coefficients</a:t>
            </a:r>
            <a:r>
              <a:rPr sz="2000" b="1" spc="-50" dirty="0">
                <a:solidFill>
                  <a:srgbClr val="FF0000"/>
                </a:solidFill>
                <a:latin typeface="Times New Roman"/>
                <a:cs typeface="Times New Roman"/>
              </a:rPr>
              <a:t> </a:t>
            </a:r>
            <a:r>
              <a:rPr sz="2000" b="1" dirty="0">
                <a:latin typeface="Times New Roman"/>
                <a:cs typeface="Times New Roman"/>
              </a:rPr>
              <a:t>determine</a:t>
            </a:r>
            <a:r>
              <a:rPr sz="2000" b="1" spc="-4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solidFill>
                  <a:srgbClr val="006FC0"/>
                </a:solidFill>
                <a:latin typeface="Times New Roman"/>
                <a:cs typeface="Times New Roman"/>
              </a:rPr>
              <a:t>nature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of</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5" dirty="0">
                <a:solidFill>
                  <a:srgbClr val="006FC0"/>
                </a:solidFill>
                <a:latin typeface="Times New Roman"/>
                <a:cs typeface="Times New Roman"/>
              </a:rPr>
              <a:t> </a:t>
            </a:r>
            <a:r>
              <a:rPr sz="2000" b="1" spc="-10" dirty="0">
                <a:solidFill>
                  <a:srgbClr val="006FC0"/>
                </a:solidFill>
                <a:latin typeface="Times New Roman"/>
                <a:cs typeface="Times New Roman"/>
              </a:rPr>
              <a:t>filter</a:t>
            </a:r>
            <a:r>
              <a:rPr sz="2000" b="1" spc="-10" dirty="0">
                <a:latin typeface="Times New Roman"/>
                <a:cs typeface="Times New Roman"/>
              </a:rPr>
              <a:t>.</a:t>
            </a:r>
            <a:endParaRPr sz="2000">
              <a:latin typeface="Times New Roman"/>
              <a:cs typeface="Times New Roman"/>
            </a:endParaRPr>
          </a:p>
          <a:p>
            <a:pPr marL="355600" marR="151130" indent="-343535">
              <a:lnSpc>
                <a:spcPct val="100000"/>
              </a:lnSpc>
              <a:buFont typeface="Wingdings"/>
              <a:buChar char=""/>
              <a:tabLst>
                <a:tab pos="355600" algn="l"/>
                <a:tab pos="419734" algn="l"/>
              </a:tabLst>
            </a:pPr>
            <a:r>
              <a:rPr sz="2000" dirty="0">
                <a:solidFill>
                  <a:srgbClr val="FF0000"/>
                </a:solidFill>
                <a:latin typeface="Times New Roman"/>
                <a:cs typeface="Times New Roman"/>
              </a:rPr>
              <a:t>	</a:t>
            </a:r>
            <a:r>
              <a:rPr sz="2000" b="1" dirty="0">
                <a:latin typeface="Times New Roman"/>
                <a:cs typeface="Times New Roman"/>
              </a:rPr>
              <a:t>Other</a:t>
            </a:r>
            <a:r>
              <a:rPr sz="2000" b="1" spc="185" dirty="0">
                <a:latin typeface="Times New Roman"/>
                <a:cs typeface="Times New Roman"/>
              </a:rPr>
              <a:t> </a:t>
            </a:r>
            <a:r>
              <a:rPr sz="2000" b="1" dirty="0">
                <a:latin typeface="Times New Roman"/>
                <a:cs typeface="Times New Roman"/>
              </a:rPr>
              <a:t>terms</a:t>
            </a:r>
            <a:r>
              <a:rPr sz="2000" b="1" spc="225" dirty="0">
                <a:latin typeface="Times New Roman"/>
                <a:cs typeface="Times New Roman"/>
              </a:rPr>
              <a:t> </a:t>
            </a:r>
            <a:r>
              <a:rPr sz="2000" b="1" dirty="0">
                <a:latin typeface="Times New Roman"/>
                <a:cs typeface="Times New Roman"/>
              </a:rPr>
              <a:t>used</a:t>
            </a:r>
            <a:r>
              <a:rPr sz="2000" b="1" spc="229" dirty="0">
                <a:latin typeface="Times New Roman"/>
                <a:cs typeface="Times New Roman"/>
              </a:rPr>
              <a:t> </a:t>
            </a:r>
            <a:r>
              <a:rPr sz="2000" b="1" dirty="0">
                <a:latin typeface="Times New Roman"/>
                <a:cs typeface="Times New Roman"/>
              </a:rPr>
              <a:t>to</a:t>
            </a:r>
            <a:r>
              <a:rPr sz="2000" b="1" spc="245" dirty="0">
                <a:latin typeface="Times New Roman"/>
                <a:cs typeface="Times New Roman"/>
              </a:rPr>
              <a:t> </a:t>
            </a:r>
            <a:r>
              <a:rPr sz="2000" b="1" dirty="0">
                <a:latin typeface="Times New Roman"/>
                <a:cs typeface="Times New Roman"/>
              </a:rPr>
              <a:t>refer</a:t>
            </a:r>
            <a:r>
              <a:rPr sz="2000" b="1" spc="195" dirty="0">
                <a:latin typeface="Times New Roman"/>
                <a:cs typeface="Times New Roman"/>
              </a:rPr>
              <a:t> </a:t>
            </a:r>
            <a:r>
              <a:rPr sz="2000" b="1" dirty="0">
                <a:latin typeface="Times New Roman"/>
                <a:cs typeface="Times New Roman"/>
              </a:rPr>
              <a:t>to</a:t>
            </a:r>
            <a:r>
              <a:rPr sz="2000" b="1" spc="235" dirty="0">
                <a:latin typeface="Times New Roman"/>
                <a:cs typeface="Times New Roman"/>
              </a:rPr>
              <a:t> </a:t>
            </a:r>
            <a:r>
              <a:rPr sz="2000" b="1" dirty="0">
                <a:latin typeface="Times New Roman"/>
                <a:cs typeface="Times New Roman"/>
              </a:rPr>
              <a:t>a</a:t>
            </a:r>
            <a:r>
              <a:rPr sz="2000" b="1" spc="245" dirty="0">
                <a:latin typeface="Times New Roman"/>
                <a:cs typeface="Times New Roman"/>
              </a:rPr>
              <a:t> </a:t>
            </a:r>
            <a:r>
              <a:rPr sz="2000" b="1" dirty="0">
                <a:latin typeface="Times New Roman"/>
                <a:cs typeface="Times New Roman"/>
              </a:rPr>
              <a:t>spatial</a:t>
            </a:r>
            <a:r>
              <a:rPr sz="2000" b="1" spc="215" dirty="0">
                <a:latin typeface="Times New Roman"/>
                <a:cs typeface="Times New Roman"/>
              </a:rPr>
              <a:t> </a:t>
            </a:r>
            <a:r>
              <a:rPr sz="2000" b="1" dirty="0">
                <a:latin typeface="Times New Roman"/>
                <a:cs typeface="Times New Roman"/>
              </a:rPr>
              <a:t>filter</a:t>
            </a:r>
            <a:r>
              <a:rPr sz="2000" b="1" spc="200" dirty="0">
                <a:latin typeface="Times New Roman"/>
                <a:cs typeface="Times New Roman"/>
              </a:rPr>
              <a:t> </a:t>
            </a:r>
            <a:r>
              <a:rPr sz="2000" b="1" dirty="0">
                <a:latin typeface="Times New Roman"/>
                <a:cs typeface="Times New Roman"/>
              </a:rPr>
              <a:t>kernel</a:t>
            </a:r>
            <a:r>
              <a:rPr sz="2000" b="1" spc="225" dirty="0">
                <a:latin typeface="Times New Roman"/>
                <a:cs typeface="Times New Roman"/>
              </a:rPr>
              <a:t> </a:t>
            </a:r>
            <a:r>
              <a:rPr sz="2000" b="1" dirty="0">
                <a:latin typeface="Times New Roman"/>
                <a:cs typeface="Times New Roman"/>
              </a:rPr>
              <a:t>are</a:t>
            </a:r>
            <a:r>
              <a:rPr sz="2000" b="1" spc="235" dirty="0">
                <a:latin typeface="Times New Roman"/>
                <a:cs typeface="Times New Roman"/>
              </a:rPr>
              <a:t> </a:t>
            </a:r>
            <a:r>
              <a:rPr sz="2000" b="1" dirty="0">
                <a:latin typeface="Times New Roman"/>
                <a:cs typeface="Times New Roman"/>
              </a:rPr>
              <a:t>mask,</a:t>
            </a:r>
            <a:r>
              <a:rPr sz="2000" b="1" spc="235" dirty="0">
                <a:latin typeface="Times New Roman"/>
                <a:cs typeface="Times New Roman"/>
              </a:rPr>
              <a:t> </a:t>
            </a:r>
            <a:r>
              <a:rPr sz="2000" b="1" spc="-10" dirty="0">
                <a:latin typeface="Times New Roman"/>
                <a:cs typeface="Times New Roman"/>
              </a:rPr>
              <a:t>template, </a:t>
            </a:r>
            <a:r>
              <a:rPr sz="2000" b="1" dirty="0">
                <a:latin typeface="Times New Roman"/>
                <a:cs typeface="Times New Roman"/>
              </a:rPr>
              <a:t>and</a:t>
            </a:r>
            <a:r>
              <a:rPr sz="2000" b="1" spc="-15" dirty="0">
                <a:latin typeface="Times New Roman"/>
                <a:cs typeface="Times New Roman"/>
              </a:rPr>
              <a:t> </a:t>
            </a:r>
            <a:r>
              <a:rPr sz="2000" b="1" spc="-10" dirty="0">
                <a:latin typeface="Times New Roman"/>
                <a:cs typeface="Times New Roman"/>
              </a:rPr>
              <a:t>window.</a:t>
            </a:r>
            <a:endParaRPr sz="2000">
              <a:latin typeface="Times New Roman"/>
              <a:cs typeface="Times New Roman"/>
            </a:endParaRPr>
          </a:p>
          <a:p>
            <a:pPr marL="355600" indent="-342900">
              <a:lnSpc>
                <a:spcPct val="100000"/>
              </a:lnSpc>
              <a:spcBef>
                <a:spcPts val="5"/>
              </a:spcBef>
              <a:buClr>
                <a:srgbClr val="FF0000"/>
              </a:buClr>
              <a:buFont typeface="Wingdings"/>
              <a:buChar char=""/>
              <a:tabLst>
                <a:tab pos="355600" algn="l"/>
              </a:tabLst>
            </a:pPr>
            <a:r>
              <a:rPr sz="2000" b="1" dirty="0">
                <a:latin typeface="Times New Roman"/>
                <a:cs typeface="Times New Roman"/>
              </a:rPr>
              <a:t>We</a:t>
            </a:r>
            <a:r>
              <a:rPr sz="2000" b="1" spc="-30" dirty="0">
                <a:latin typeface="Times New Roman"/>
                <a:cs typeface="Times New Roman"/>
              </a:rPr>
              <a:t> </a:t>
            </a:r>
            <a:r>
              <a:rPr sz="2000" b="1" dirty="0">
                <a:latin typeface="Times New Roman"/>
                <a:cs typeface="Times New Roman"/>
              </a:rPr>
              <a:t>use</a:t>
            </a:r>
            <a:r>
              <a:rPr sz="2000" b="1" spc="-25"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term</a:t>
            </a:r>
            <a:r>
              <a:rPr sz="2000" b="1" spc="-35" dirty="0">
                <a:latin typeface="Times New Roman"/>
                <a:cs typeface="Times New Roman"/>
              </a:rPr>
              <a:t> </a:t>
            </a:r>
            <a:r>
              <a:rPr sz="2000" b="1" dirty="0">
                <a:latin typeface="Times New Roman"/>
                <a:cs typeface="Times New Roman"/>
              </a:rPr>
              <a:t>filter</a:t>
            </a:r>
            <a:r>
              <a:rPr sz="2000" b="1" spc="-70" dirty="0">
                <a:latin typeface="Times New Roman"/>
                <a:cs typeface="Times New Roman"/>
              </a:rPr>
              <a:t> </a:t>
            </a:r>
            <a:r>
              <a:rPr sz="2000" b="1" dirty="0">
                <a:latin typeface="Times New Roman"/>
                <a:cs typeface="Times New Roman"/>
              </a:rPr>
              <a:t>kernel</a:t>
            </a:r>
            <a:r>
              <a:rPr sz="2000" b="1" spc="-50" dirty="0">
                <a:latin typeface="Times New Roman"/>
                <a:cs typeface="Times New Roman"/>
              </a:rPr>
              <a:t> </a:t>
            </a:r>
            <a:r>
              <a:rPr sz="2000" b="1" dirty="0">
                <a:latin typeface="Times New Roman"/>
                <a:cs typeface="Times New Roman"/>
              </a:rPr>
              <a:t>or</a:t>
            </a:r>
            <a:r>
              <a:rPr sz="2000" b="1" spc="-60" dirty="0">
                <a:latin typeface="Times New Roman"/>
                <a:cs typeface="Times New Roman"/>
              </a:rPr>
              <a:t> </a:t>
            </a:r>
            <a:r>
              <a:rPr sz="2000" b="1" dirty="0">
                <a:latin typeface="Times New Roman"/>
                <a:cs typeface="Times New Roman"/>
              </a:rPr>
              <a:t>simply</a:t>
            </a:r>
            <a:r>
              <a:rPr sz="2000" b="1" spc="-35" dirty="0">
                <a:latin typeface="Times New Roman"/>
                <a:cs typeface="Times New Roman"/>
              </a:rPr>
              <a:t> </a:t>
            </a:r>
            <a:r>
              <a:rPr sz="2000" b="1" spc="-10" dirty="0">
                <a:latin typeface="Times New Roman"/>
                <a:cs typeface="Times New Roman"/>
              </a:rPr>
              <a:t>kernel.</a:t>
            </a:r>
            <a:endParaRPr sz="2000">
              <a:latin typeface="Times New Roman"/>
              <a:cs typeface="Times New Roman"/>
            </a:endParaRPr>
          </a:p>
          <a:p>
            <a:pPr>
              <a:lnSpc>
                <a:spcPct val="100000"/>
              </a:lnSpc>
              <a:spcBef>
                <a:spcPts val="1520"/>
              </a:spcBef>
            </a:pPr>
            <a:endParaRPr sz="2000">
              <a:latin typeface="Times New Roman"/>
              <a:cs typeface="Times New Roman"/>
            </a:endParaRPr>
          </a:p>
          <a:p>
            <a:pPr marL="12700" marR="5080" algn="just">
              <a:lnSpc>
                <a:spcPct val="100000"/>
              </a:lnSpc>
            </a:pPr>
            <a:r>
              <a:rPr sz="2000" b="1" dirty="0">
                <a:latin typeface="Times New Roman"/>
                <a:cs typeface="Times New Roman"/>
              </a:rPr>
              <a:t>The</a:t>
            </a:r>
            <a:r>
              <a:rPr sz="2000" b="1" spc="55" dirty="0">
                <a:latin typeface="Times New Roman"/>
                <a:cs typeface="Times New Roman"/>
              </a:rPr>
              <a:t> </a:t>
            </a:r>
            <a:r>
              <a:rPr sz="2000" b="1" dirty="0">
                <a:latin typeface="Times New Roman"/>
                <a:cs typeface="Times New Roman"/>
              </a:rPr>
              <a:t>equation</a:t>
            </a:r>
            <a:r>
              <a:rPr sz="2000" b="1" spc="25" dirty="0">
                <a:latin typeface="Times New Roman"/>
                <a:cs typeface="Times New Roman"/>
              </a:rPr>
              <a:t> </a:t>
            </a:r>
            <a:r>
              <a:rPr sz="2000" b="1" dirty="0">
                <a:latin typeface="Times New Roman"/>
                <a:cs typeface="Times New Roman"/>
              </a:rPr>
              <a:t>below</a:t>
            </a:r>
            <a:r>
              <a:rPr sz="2000" b="1" spc="50" dirty="0">
                <a:latin typeface="Times New Roman"/>
                <a:cs typeface="Times New Roman"/>
              </a:rPr>
              <a:t> </a:t>
            </a:r>
            <a:r>
              <a:rPr sz="2000" b="1" dirty="0">
                <a:latin typeface="Times New Roman"/>
                <a:cs typeface="Times New Roman"/>
              </a:rPr>
              <a:t>illustrates</a:t>
            </a:r>
            <a:r>
              <a:rPr sz="2000" b="1" spc="40" dirty="0">
                <a:latin typeface="Times New Roman"/>
                <a:cs typeface="Times New Roman"/>
              </a:rPr>
              <a:t> </a:t>
            </a:r>
            <a:r>
              <a:rPr sz="2000" b="1" dirty="0">
                <a:latin typeface="Times New Roman"/>
                <a:cs typeface="Times New Roman"/>
              </a:rPr>
              <a:t>the</a:t>
            </a:r>
            <a:r>
              <a:rPr sz="2000" b="1" spc="55" dirty="0">
                <a:latin typeface="Times New Roman"/>
                <a:cs typeface="Times New Roman"/>
              </a:rPr>
              <a:t> </a:t>
            </a:r>
            <a:r>
              <a:rPr sz="2000" b="1" dirty="0">
                <a:latin typeface="Times New Roman"/>
                <a:cs typeface="Times New Roman"/>
              </a:rPr>
              <a:t>mechanics</a:t>
            </a:r>
            <a:r>
              <a:rPr sz="2000" b="1" spc="30" dirty="0">
                <a:latin typeface="Times New Roman"/>
                <a:cs typeface="Times New Roman"/>
              </a:rPr>
              <a:t> </a:t>
            </a:r>
            <a:r>
              <a:rPr sz="2000" b="1" dirty="0">
                <a:latin typeface="Times New Roman"/>
                <a:cs typeface="Times New Roman"/>
              </a:rPr>
              <a:t>of</a:t>
            </a:r>
            <a:r>
              <a:rPr sz="2000" b="1" spc="65" dirty="0">
                <a:latin typeface="Times New Roman"/>
                <a:cs typeface="Times New Roman"/>
              </a:rPr>
              <a:t> </a:t>
            </a:r>
            <a:r>
              <a:rPr sz="2000" b="1" dirty="0">
                <a:latin typeface="Times New Roman"/>
                <a:cs typeface="Times New Roman"/>
              </a:rPr>
              <a:t>linear</a:t>
            </a:r>
            <a:r>
              <a:rPr sz="2000" b="1" spc="10" dirty="0">
                <a:latin typeface="Times New Roman"/>
                <a:cs typeface="Times New Roman"/>
              </a:rPr>
              <a:t> </a:t>
            </a:r>
            <a:r>
              <a:rPr sz="2000" b="1" dirty="0">
                <a:latin typeface="Times New Roman"/>
                <a:cs typeface="Times New Roman"/>
              </a:rPr>
              <a:t>spatial</a:t>
            </a:r>
            <a:r>
              <a:rPr sz="2000" b="1" spc="40" dirty="0">
                <a:latin typeface="Times New Roman"/>
                <a:cs typeface="Times New Roman"/>
              </a:rPr>
              <a:t> </a:t>
            </a:r>
            <a:r>
              <a:rPr sz="2000" b="1" dirty="0">
                <a:latin typeface="Times New Roman"/>
                <a:cs typeface="Times New Roman"/>
              </a:rPr>
              <a:t>filtering</a:t>
            </a:r>
            <a:r>
              <a:rPr sz="2000" b="1" spc="60" dirty="0">
                <a:latin typeface="Times New Roman"/>
                <a:cs typeface="Times New Roman"/>
              </a:rPr>
              <a:t> </a:t>
            </a:r>
            <a:r>
              <a:rPr sz="2000" b="1" dirty="0">
                <a:latin typeface="Times New Roman"/>
                <a:cs typeface="Times New Roman"/>
              </a:rPr>
              <a:t>using</a:t>
            </a:r>
            <a:r>
              <a:rPr sz="2000" b="1" spc="50" dirty="0">
                <a:latin typeface="Times New Roman"/>
                <a:cs typeface="Times New Roman"/>
              </a:rPr>
              <a:t> </a:t>
            </a:r>
            <a:r>
              <a:rPr sz="2000" b="1" spc="-50" dirty="0">
                <a:latin typeface="Times New Roman"/>
                <a:cs typeface="Times New Roman"/>
              </a:rPr>
              <a:t>a </a:t>
            </a:r>
            <a:r>
              <a:rPr sz="2000" b="1" dirty="0">
                <a:latin typeface="Times New Roman"/>
                <a:cs typeface="Times New Roman"/>
              </a:rPr>
              <a:t>kernel.</a:t>
            </a:r>
            <a:r>
              <a:rPr sz="2000" b="1" spc="-15" dirty="0">
                <a:latin typeface="Times New Roman"/>
                <a:cs typeface="Times New Roman"/>
              </a:rPr>
              <a:t> </a:t>
            </a:r>
            <a:r>
              <a:rPr sz="2000" b="1" dirty="0">
                <a:latin typeface="Times New Roman"/>
                <a:cs typeface="Times New Roman"/>
              </a:rPr>
              <a:t>At</a:t>
            </a:r>
            <a:r>
              <a:rPr sz="2000" b="1" spc="-10" dirty="0">
                <a:latin typeface="Times New Roman"/>
                <a:cs typeface="Times New Roman"/>
              </a:rPr>
              <a:t> </a:t>
            </a:r>
            <a:r>
              <a:rPr sz="2000" b="1" dirty="0">
                <a:latin typeface="Times New Roman"/>
                <a:cs typeface="Times New Roman"/>
              </a:rPr>
              <a:t>any</a:t>
            </a:r>
            <a:r>
              <a:rPr sz="2000" b="1" spc="-15" dirty="0">
                <a:latin typeface="Times New Roman"/>
                <a:cs typeface="Times New Roman"/>
              </a:rPr>
              <a:t> </a:t>
            </a:r>
            <a:r>
              <a:rPr sz="2000" b="1" dirty="0">
                <a:latin typeface="Times New Roman"/>
                <a:cs typeface="Times New Roman"/>
              </a:rPr>
              <a:t>point</a:t>
            </a:r>
            <a:r>
              <a:rPr sz="2000" b="1" spc="-25" dirty="0">
                <a:latin typeface="Times New Roman"/>
                <a:cs typeface="Times New Roman"/>
              </a:rPr>
              <a:t> </a:t>
            </a:r>
            <a:r>
              <a:rPr sz="2000" b="1" dirty="0">
                <a:latin typeface="Times New Roman"/>
                <a:cs typeface="Times New Roman"/>
              </a:rPr>
              <a:t>(x,</a:t>
            </a:r>
            <a:r>
              <a:rPr sz="2000" b="1" spc="-10" dirty="0">
                <a:latin typeface="Times New Roman"/>
                <a:cs typeface="Times New Roman"/>
              </a:rPr>
              <a:t> </a:t>
            </a:r>
            <a:r>
              <a:rPr sz="2000" b="1" dirty="0">
                <a:latin typeface="Times New Roman"/>
                <a:cs typeface="Times New Roman"/>
              </a:rPr>
              <a:t>y)</a:t>
            </a:r>
            <a:r>
              <a:rPr sz="2000" b="1" spc="-15" dirty="0">
                <a:latin typeface="Times New Roman"/>
                <a:cs typeface="Times New Roman"/>
              </a:rPr>
              <a:t> </a:t>
            </a:r>
            <a:r>
              <a:rPr sz="2000" b="1" dirty="0">
                <a:latin typeface="Times New Roman"/>
                <a:cs typeface="Times New Roman"/>
              </a:rPr>
              <a:t>in</a:t>
            </a:r>
            <a:r>
              <a:rPr sz="2000" b="1" spc="-2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image,</a:t>
            </a:r>
            <a:r>
              <a:rPr sz="2000" b="1" spc="-2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response,</a:t>
            </a:r>
            <a:r>
              <a:rPr sz="2000" b="1" spc="-30" dirty="0">
                <a:latin typeface="Times New Roman"/>
                <a:cs typeface="Times New Roman"/>
              </a:rPr>
              <a:t> </a:t>
            </a:r>
            <a:r>
              <a:rPr sz="2000" b="1" dirty="0">
                <a:latin typeface="Times New Roman"/>
                <a:cs typeface="Times New Roman"/>
              </a:rPr>
              <a:t>g(x,</a:t>
            </a:r>
            <a:r>
              <a:rPr sz="2000" b="1" spc="-15" dirty="0">
                <a:latin typeface="Times New Roman"/>
                <a:cs typeface="Times New Roman"/>
              </a:rPr>
              <a:t> </a:t>
            </a:r>
            <a:r>
              <a:rPr sz="2000" b="1" dirty="0">
                <a:latin typeface="Times New Roman"/>
                <a:cs typeface="Times New Roman"/>
              </a:rPr>
              <a:t>y),</a:t>
            </a:r>
            <a:r>
              <a:rPr sz="2000" b="1" spc="-20"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spc="-10" dirty="0">
                <a:latin typeface="Times New Roman"/>
                <a:cs typeface="Times New Roman"/>
              </a:rPr>
              <a:t>filter,</a:t>
            </a:r>
            <a:r>
              <a:rPr sz="2000" b="1" spc="-5" dirty="0">
                <a:latin typeface="Times New Roman"/>
                <a:cs typeface="Times New Roman"/>
              </a:rPr>
              <a:t> </a:t>
            </a:r>
            <a:r>
              <a:rPr sz="2000" b="1" dirty="0">
                <a:latin typeface="Times New Roman"/>
                <a:cs typeface="Times New Roman"/>
              </a:rPr>
              <a:t>is</a:t>
            </a:r>
            <a:r>
              <a:rPr sz="2000" b="1" spc="-15" dirty="0">
                <a:latin typeface="Times New Roman"/>
                <a:cs typeface="Times New Roman"/>
              </a:rPr>
              <a:t> </a:t>
            </a:r>
            <a:r>
              <a:rPr sz="2000" b="1" spc="-25" dirty="0">
                <a:latin typeface="Times New Roman"/>
                <a:cs typeface="Times New Roman"/>
              </a:rPr>
              <a:t>the </a:t>
            </a:r>
            <a:r>
              <a:rPr sz="2000" b="1" dirty="0">
                <a:latin typeface="Times New Roman"/>
                <a:cs typeface="Times New Roman"/>
              </a:rPr>
              <a:t>sum</a:t>
            </a:r>
            <a:r>
              <a:rPr sz="2000" b="1" spc="165" dirty="0">
                <a:latin typeface="Times New Roman"/>
                <a:cs typeface="Times New Roman"/>
              </a:rPr>
              <a:t> </a:t>
            </a:r>
            <a:r>
              <a:rPr sz="2000" b="1" dirty="0">
                <a:latin typeface="Times New Roman"/>
                <a:cs typeface="Times New Roman"/>
              </a:rPr>
              <a:t>of</a:t>
            </a:r>
            <a:r>
              <a:rPr sz="2000" b="1" spc="170" dirty="0">
                <a:latin typeface="Times New Roman"/>
                <a:cs typeface="Times New Roman"/>
              </a:rPr>
              <a:t> </a:t>
            </a:r>
            <a:r>
              <a:rPr sz="2000" b="1" dirty="0">
                <a:latin typeface="Times New Roman"/>
                <a:cs typeface="Times New Roman"/>
              </a:rPr>
              <a:t>products</a:t>
            </a:r>
            <a:r>
              <a:rPr sz="2000" b="1" spc="160" dirty="0">
                <a:latin typeface="Times New Roman"/>
                <a:cs typeface="Times New Roman"/>
              </a:rPr>
              <a:t> </a:t>
            </a:r>
            <a:r>
              <a:rPr sz="2000" b="1" dirty="0">
                <a:latin typeface="Times New Roman"/>
                <a:cs typeface="Times New Roman"/>
              </a:rPr>
              <a:t>of</a:t>
            </a:r>
            <a:r>
              <a:rPr sz="2000" b="1" spc="170" dirty="0">
                <a:latin typeface="Times New Roman"/>
                <a:cs typeface="Times New Roman"/>
              </a:rPr>
              <a:t> </a:t>
            </a:r>
            <a:r>
              <a:rPr sz="2000" b="1" dirty="0">
                <a:latin typeface="Times New Roman"/>
                <a:cs typeface="Times New Roman"/>
              </a:rPr>
              <a:t>the</a:t>
            </a:r>
            <a:r>
              <a:rPr sz="2000" b="1" spc="175" dirty="0">
                <a:latin typeface="Times New Roman"/>
                <a:cs typeface="Times New Roman"/>
              </a:rPr>
              <a:t> </a:t>
            </a:r>
            <a:r>
              <a:rPr sz="2000" b="1" dirty="0">
                <a:latin typeface="Times New Roman"/>
                <a:cs typeface="Times New Roman"/>
              </a:rPr>
              <a:t>kernel</a:t>
            </a:r>
            <a:r>
              <a:rPr sz="2000" b="1" spc="170" dirty="0">
                <a:latin typeface="Times New Roman"/>
                <a:cs typeface="Times New Roman"/>
              </a:rPr>
              <a:t> </a:t>
            </a:r>
            <a:r>
              <a:rPr sz="2000" b="1" dirty="0">
                <a:latin typeface="Times New Roman"/>
                <a:cs typeface="Times New Roman"/>
              </a:rPr>
              <a:t>coefficients</a:t>
            </a:r>
            <a:r>
              <a:rPr sz="2000" b="1" spc="155" dirty="0">
                <a:latin typeface="Times New Roman"/>
                <a:cs typeface="Times New Roman"/>
              </a:rPr>
              <a:t> </a:t>
            </a:r>
            <a:r>
              <a:rPr sz="2000" b="1" dirty="0">
                <a:latin typeface="Times New Roman"/>
                <a:cs typeface="Times New Roman"/>
              </a:rPr>
              <a:t>and</a:t>
            </a:r>
            <a:r>
              <a:rPr sz="2000" b="1" spc="165" dirty="0">
                <a:latin typeface="Times New Roman"/>
                <a:cs typeface="Times New Roman"/>
              </a:rPr>
              <a:t> </a:t>
            </a:r>
            <a:r>
              <a:rPr sz="2000" b="1" dirty="0">
                <a:latin typeface="Times New Roman"/>
                <a:cs typeface="Times New Roman"/>
              </a:rPr>
              <a:t>the</a:t>
            </a:r>
            <a:r>
              <a:rPr sz="2000" b="1" spc="180" dirty="0">
                <a:latin typeface="Times New Roman"/>
                <a:cs typeface="Times New Roman"/>
              </a:rPr>
              <a:t> </a:t>
            </a:r>
            <a:r>
              <a:rPr sz="2000" b="1" dirty="0">
                <a:latin typeface="Times New Roman"/>
                <a:cs typeface="Times New Roman"/>
              </a:rPr>
              <a:t>image</a:t>
            </a:r>
            <a:r>
              <a:rPr sz="2000" b="1" spc="175" dirty="0">
                <a:latin typeface="Times New Roman"/>
                <a:cs typeface="Times New Roman"/>
              </a:rPr>
              <a:t> </a:t>
            </a:r>
            <a:r>
              <a:rPr sz="2000" b="1" dirty="0">
                <a:latin typeface="Times New Roman"/>
                <a:cs typeface="Times New Roman"/>
              </a:rPr>
              <a:t>pixels</a:t>
            </a:r>
            <a:r>
              <a:rPr sz="2000" b="1" spc="175" dirty="0">
                <a:latin typeface="Times New Roman"/>
                <a:cs typeface="Times New Roman"/>
              </a:rPr>
              <a:t> </a:t>
            </a:r>
            <a:r>
              <a:rPr sz="2000" b="1" spc="-10" dirty="0">
                <a:latin typeface="Times New Roman"/>
                <a:cs typeface="Times New Roman"/>
              </a:rPr>
              <a:t>encompassed </a:t>
            </a:r>
            <a:r>
              <a:rPr sz="2000" b="1" dirty="0">
                <a:latin typeface="Times New Roman"/>
                <a:cs typeface="Times New Roman"/>
              </a:rPr>
              <a:t>by</a:t>
            </a:r>
            <a:r>
              <a:rPr sz="2000" b="1" spc="-5"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spc="-10" dirty="0">
                <a:latin typeface="Times New Roman"/>
                <a:cs typeface="Times New Roman"/>
              </a:rPr>
              <a:t>kernel:</a:t>
            </a:r>
            <a:endParaRPr sz="2000">
              <a:latin typeface="Times New Roman"/>
              <a:cs typeface="Times New Roman"/>
            </a:endParaRPr>
          </a:p>
          <a:p>
            <a:pPr marR="1140460" algn="r">
              <a:lnSpc>
                <a:spcPct val="100000"/>
              </a:lnSpc>
              <a:spcBef>
                <a:spcPts val="1060"/>
              </a:spcBef>
              <a:tabLst>
                <a:tab pos="2837815" algn="l"/>
              </a:tabLst>
            </a:pPr>
            <a:r>
              <a:rPr sz="2000" b="1" dirty="0">
                <a:solidFill>
                  <a:srgbClr val="00AF50"/>
                </a:solidFill>
                <a:latin typeface="Times New Roman"/>
                <a:cs typeface="Times New Roman"/>
              </a:rPr>
              <a:t>g</a:t>
            </a:r>
            <a:r>
              <a:rPr sz="2000" b="1" spc="-10" dirty="0">
                <a:solidFill>
                  <a:srgbClr val="00AF50"/>
                </a:solidFill>
                <a:latin typeface="Times New Roman"/>
                <a:cs typeface="Times New Roman"/>
              </a:rPr>
              <a:t> </a:t>
            </a:r>
            <a:r>
              <a:rPr sz="2000" b="1" dirty="0">
                <a:latin typeface="Times New Roman"/>
                <a:cs typeface="Times New Roman"/>
              </a:rPr>
              <a:t>(x</a:t>
            </a:r>
            <a:r>
              <a:rPr sz="2000" b="1" spc="-15" dirty="0">
                <a:latin typeface="Times New Roman"/>
                <a:cs typeface="Times New Roman"/>
              </a:rPr>
              <a:t> </a:t>
            </a:r>
            <a:r>
              <a:rPr sz="2000" b="1" dirty="0">
                <a:latin typeface="Times New Roman"/>
                <a:cs typeface="Times New Roman"/>
              </a:rPr>
              <a:t>, y )</a:t>
            </a:r>
            <a:r>
              <a:rPr sz="2000" b="1" spc="-15"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solidFill>
                  <a:srgbClr val="FF0000"/>
                </a:solidFill>
                <a:latin typeface="Times New Roman"/>
                <a:cs typeface="Times New Roman"/>
              </a:rPr>
              <a:t>w</a:t>
            </a:r>
            <a:r>
              <a:rPr sz="2000" b="1" spc="-5" dirty="0">
                <a:solidFill>
                  <a:srgbClr val="FF0000"/>
                </a:solidFill>
                <a:latin typeface="Times New Roman"/>
                <a:cs typeface="Times New Roman"/>
              </a:rPr>
              <a:t> </a:t>
            </a:r>
            <a:r>
              <a:rPr sz="2000" b="1" dirty="0">
                <a:latin typeface="Times New Roman"/>
                <a:cs typeface="Times New Roman"/>
              </a:rPr>
              <a:t>( −</a:t>
            </a:r>
            <a:r>
              <a:rPr sz="2000" b="1" spc="-5" dirty="0">
                <a:latin typeface="Times New Roman"/>
                <a:cs typeface="Times New Roman"/>
              </a:rPr>
              <a:t> </a:t>
            </a:r>
            <a:r>
              <a:rPr sz="2000" b="1" dirty="0">
                <a:latin typeface="Times New Roman"/>
                <a:cs typeface="Times New Roman"/>
              </a:rPr>
              <a:t>1,</a:t>
            </a:r>
            <a:r>
              <a:rPr sz="2000" b="1" spc="-20" dirty="0">
                <a:latin typeface="Times New Roman"/>
                <a:cs typeface="Times New Roman"/>
              </a:rPr>
              <a:t> </a:t>
            </a:r>
            <a:r>
              <a:rPr sz="2000" b="1" dirty="0">
                <a:latin typeface="Times New Roman"/>
                <a:cs typeface="Times New Roman"/>
              </a:rPr>
              <a:t>− 1)</a:t>
            </a:r>
            <a:r>
              <a:rPr sz="2000" b="1" spc="-20" dirty="0">
                <a:latin typeface="Times New Roman"/>
                <a:cs typeface="Times New Roman"/>
              </a:rPr>
              <a:t> </a:t>
            </a:r>
            <a:r>
              <a:rPr sz="2000" b="1" dirty="0">
                <a:solidFill>
                  <a:srgbClr val="006FC0"/>
                </a:solidFill>
                <a:latin typeface="Times New Roman"/>
                <a:cs typeface="Times New Roman"/>
              </a:rPr>
              <a:t>f</a:t>
            </a:r>
            <a:r>
              <a:rPr sz="2000" b="1" spc="-5" dirty="0">
                <a:solidFill>
                  <a:srgbClr val="006FC0"/>
                </a:solidFill>
                <a:latin typeface="Times New Roman"/>
                <a:cs typeface="Times New Roman"/>
              </a:rPr>
              <a:t> </a:t>
            </a:r>
            <a:r>
              <a:rPr sz="2000" b="1" spc="-50" dirty="0">
                <a:latin typeface="Times New Roman"/>
                <a:cs typeface="Times New Roman"/>
              </a:rPr>
              <a:t>(</a:t>
            </a:r>
            <a:r>
              <a:rPr sz="2000" b="1" dirty="0">
                <a:latin typeface="Times New Roman"/>
                <a:cs typeface="Times New Roman"/>
              </a:rPr>
              <a:t>	x-1,</a:t>
            </a:r>
            <a:r>
              <a:rPr sz="2000" b="1" spc="470" dirty="0">
                <a:latin typeface="Times New Roman"/>
                <a:cs typeface="Times New Roman"/>
              </a:rPr>
              <a:t> </a:t>
            </a:r>
            <a:r>
              <a:rPr sz="2000" b="1" dirty="0">
                <a:latin typeface="Times New Roman"/>
                <a:cs typeface="Times New Roman"/>
              </a:rPr>
              <a:t>y−</a:t>
            </a:r>
            <a:r>
              <a:rPr sz="2000" b="1" spc="-20" dirty="0">
                <a:latin typeface="Times New Roman"/>
                <a:cs typeface="Times New Roman"/>
              </a:rPr>
              <a:t> </a:t>
            </a:r>
            <a:r>
              <a:rPr sz="2000" b="1" dirty="0">
                <a:latin typeface="Times New Roman"/>
                <a:cs typeface="Times New Roman"/>
              </a:rPr>
              <a:t>1)</a:t>
            </a:r>
            <a:r>
              <a:rPr sz="2000" b="1" spc="-15" dirty="0">
                <a:latin typeface="Times New Roman"/>
                <a:cs typeface="Times New Roman"/>
              </a:rPr>
              <a:t> </a:t>
            </a:r>
            <a:r>
              <a:rPr sz="2000" b="1" dirty="0">
                <a:latin typeface="Times New Roman"/>
                <a:cs typeface="Times New Roman"/>
              </a:rPr>
              <a:t>+ </a:t>
            </a:r>
            <a:r>
              <a:rPr sz="2000" b="1" dirty="0">
                <a:solidFill>
                  <a:srgbClr val="FF0000"/>
                </a:solidFill>
                <a:latin typeface="Times New Roman"/>
                <a:cs typeface="Times New Roman"/>
              </a:rPr>
              <a:t>w </a:t>
            </a:r>
            <a:r>
              <a:rPr sz="2000" b="1" dirty="0">
                <a:latin typeface="Times New Roman"/>
                <a:cs typeface="Times New Roman"/>
              </a:rPr>
              <a:t>( −</a:t>
            </a:r>
            <a:r>
              <a:rPr sz="2000" b="1" spc="-5" dirty="0">
                <a:latin typeface="Times New Roman"/>
                <a:cs typeface="Times New Roman"/>
              </a:rPr>
              <a:t> </a:t>
            </a:r>
            <a:r>
              <a:rPr sz="2000" b="1" dirty="0">
                <a:latin typeface="Times New Roman"/>
                <a:cs typeface="Times New Roman"/>
              </a:rPr>
              <a:t>1,</a:t>
            </a:r>
            <a:r>
              <a:rPr sz="2000" b="1" spc="-20" dirty="0">
                <a:latin typeface="Times New Roman"/>
                <a:cs typeface="Times New Roman"/>
              </a:rPr>
              <a:t> </a:t>
            </a:r>
            <a:r>
              <a:rPr sz="2000" b="1" dirty="0">
                <a:latin typeface="Times New Roman"/>
                <a:cs typeface="Times New Roman"/>
              </a:rPr>
              <a:t>0)</a:t>
            </a:r>
            <a:r>
              <a:rPr sz="2000" b="1" spc="-5" dirty="0">
                <a:latin typeface="Times New Roman"/>
                <a:cs typeface="Times New Roman"/>
              </a:rPr>
              <a:t> </a:t>
            </a:r>
            <a:r>
              <a:rPr sz="2000" b="1" dirty="0">
                <a:solidFill>
                  <a:srgbClr val="006FC0"/>
                </a:solidFill>
                <a:latin typeface="Times New Roman"/>
                <a:cs typeface="Times New Roman"/>
              </a:rPr>
              <a:t>f</a:t>
            </a:r>
            <a:r>
              <a:rPr sz="2000" b="1" spc="-15" dirty="0">
                <a:solidFill>
                  <a:srgbClr val="006FC0"/>
                </a:solidFill>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latin typeface="Times New Roman"/>
                <a:cs typeface="Times New Roman"/>
              </a:rPr>
              <a:t>x − 1,</a:t>
            </a:r>
            <a:r>
              <a:rPr sz="2000" b="1" spc="-20" dirty="0">
                <a:latin typeface="Times New Roman"/>
                <a:cs typeface="Times New Roman"/>
              </a:rPr>
              <a:t> </a:t>
            </a:r>
            <a:r>
              <a:rPr sz="2000" b="1" dirty="0">
                <a:latin typeface="Times New Roman"/>
                <a:cs typeface="Times New Roman"/>
              </a:rPr>
              <a:t>y )</a:t>
            </a:r>
            <a:r>
              <a:rPr sz="2000" b="1" spc="-5" dirty="0">
                <a:latin typeface="Times New Roman"/>
                <a:cs typeface="Times New Roman"/>
              </a:rPr>
              <a:t> </a:t>
            </a:r>
            <a:r>
              <a:rPr sz="2000" b="1" spc="-50" dirty="0">
                <a:latin typeface="Times New Roman"/>
                <a:cs typeface="Times New Roman"/>
              </a:rPr>
              <a:t>+</a:t>
            </a:r>
            <a:endParaRPr sz="2000">
              <a:latin typeface="Times New Roman"/>
              <a:cs typeface="Times New Roman"/>
            </a:endParaRPr>
          </a:p>
          <a:p>
            <a:pPr marR="1126490" algn="r">
              <a:lnSpc>
                <a:spcPct val="100000"/>
              </a:lnSpc>
            </a:pPr>
            <a:r>
              <a:rPr sz="2000" b="1" dirty="0">
                <a:latin typeface="Times New Roman"/>
                <a:cs typeface="Times New Roman"/>
              </a:rPr>
              <a:t>…</a:t>
            </a:r>
            <a:r>
              <a:rPr sz="2000" b="1" spc="-15" dirty="0">
                <a:latin typeface="Times New Roman"/>
                <a:cs typeface="Times New Roman"/>
              </a:rPr>
              <a:t> </a:t>
            </a:r>
            <a:r>
              <a:rPr sz="2000" b="1" dirty="0">
                <a:latin typeface="Times New Roman"/>
                <a:cs typeface="Times New Roman"/>
              </a:rPr>
              <a:t>+</a:t>
            </a:r>
            <a:r>
              <a:rPr sz="2000" b="1" spc="-10" dirty="0">
                <a:latin typeface="Times New Roman"/>
                <a:cs typeface="Times New Roman"/>
              </a:rPr>
              <a:t> </a:t>
            </a:r>
            <a:r>
              <a:rPr sz="2000" b="1" dirty="0">
                <a:solidFill>
                  <a:srgbClr val="FF0000"/>
                </a:solidFill>
                <a:latin typeface="Times New Roman"/>
                <a:cs typeface="Times New Roman"/>
              </a:rPr>
              <a:t>w</a:t>
            </a:r>
            <a:r>
              <a:rPr sz="2000" b="1" spc="5" dirty="0">
                <a:solidFill>
                  <a:srgbClr val="FF0000"/>
                </a:solidFill>
                <a:latin typeface="Times New Roman"/>
                <a:cs typeface="Times New Roman"/>
              </a:rPr>
              <a:t> </a:t>
            </a:r>
            <a:r>
              <a:rPr sz="2000" b="1" dirty="0">
                <a:latin typeface="Times New Roman"/>
                <a:cs typeface="Times New Roman"/>
              </a:rPr>
              <a:t>(0,</a:t>
            </a:r>
            <a:r>
              <a:rPr sz="2000" b="1" spc="-20" dirty="0">
                <a:latin typeface="Times New Roman"/>
                <a:cs typeface="Times New Roman"/>
              </a:rPr>
              <a:t> </a:t>
            </a:r>
            <a:r>
              <a:rPr sz="2000" b="1" dirty="0">
                <a:latin typeface="Times New Roman"/>
                <a:cs typeface="Times New Roman"/>
              </a:rPr>
              <a:t>0)</a:t>
            </a:r>
            <a:r>
              <a:rPr sz="2000" b="1" spc="-20" dirty="0">
                <a:latin typeface="Times New Roman"/>
                <a:cs typeface="Times New Roman"/>
              </a:rPr>
              <a:t> </a:t>
            </a:r>
            <a:r>
              <a:rPr sz="2000" b="1" dirty="0">
                <a:solidFill>
                  <a:srgbClr val="006FC0"/>
                </a:solidFill>
                <a:latin typeface="Times New Roman"/>
                <a:cs typeface="Times New Roman"/>
              </a:rPr>
              <a:t>f</a:t>
            </a:r>
            <a:r>
              <a:rPr sz="2000" b="1" spc="-5" dirty="0">
                <a:solidFill>
                  <a:srgbClr val="006FC0"/>
                </a:solidFill>
                <a:latin typeface="Times New Roman"/>
                <a:cs typeface="Times New Roman"/>
              </a:rPr>
              <a:t> </a:t>
            </a:r>
            <a:r>
              <a:rPr sz="2000" b="1" dirty="0">
                <a:latin typeface="Times New Roman"/>
                <a:cs typeface="Times New Roman"/>
              </a:rPr>
              <a:t>(x</a:t>
            </a:r>
            <a:r>
              <a:rPr sz="2000" b="1" spc="-10"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latin typeface="Times New Roman"/>
                <a:cs typeface="Times New Roman"/>
              </a:rPr>
              <a:t>y</a:t>
            </a:r>
            <a:r>
              <a:rPr sz="2000" b="1" spc="-10" dirty="0">
                <a:latin typeface="Times New Roman"/>
                <a:cs typeface="Times New Roman"/>
              </a:rPr>
              <a:t> </a:t>
            </a:r>
            <a:r>
              <a:rPr sz="2000" b="1" dirty="0">
                <a:latin typeface="Times New Roman"/>
                <a:cs typeface="Times New Roman"/>
              </a:rPr>
              <a:t>) +</a:t>
            </a:r>
            <a:r>
              <a:rPr sz="2000" b="1" spc="-5" dirty="0">
                <a:latin typeface="Times New Roman"/>
                <a:cs typeface="Times New Roman"/>
              </a:rPr>
              <a:t> </a:t>
            </a:r>
            <a:r>
              <a:rPr sz="2000" b="1" dirty="0">
                <a:latin typeface="Times New Roman"/>
                <a:cs typeface="Times New Roman"/>
              </a:rPr>
              <a:t>… +</a:t>
            </a:r>
            <a:r>
              <a:rPr sz="2000" b="1" spc="484" dirty="0">
                <a:latin typeface="Times New Roman"/>
                <a:cs typeface="Times New Roman"/>
              </a:rPr>
              <a:t> </a:t>
            </a:r>
            <a:r>
              <a:rPr sz="2000" b="1" dirty="0">
                <a:solidFill>
                  <a:srgbClr val="FF0000"/>
                </a:solidFill>
                <a:latin typeface="Times New Roman"/>
                <a:cs typeface="Times New Roman"/>
              </a:rPr>
              <a:t>w</a:t>
            </a:r>
            <a:r>
              <a:rPr sz="2000" b="1" dirty="0">
                <a:latin typeface="Times New Roman"/>
                <a:cs typeface="Times New Roman"/>
              </a:rPr>
              <a:t>(1,</a:t>
            </a:r>
            <a:r>
              <a:rPr sz="2000" b="1" spc="-5" dirty="0">
                <a:latin typeface="Times New Roman"/>
                <a:cs typeface="Times New Roman"/>
              </a:rPr>
              <a:t> </a:t>
            </a:r>
            <a:r>
              <a:rPr sz="2000" b="1" dirty="0">
                <a:latin typeface="Times New Roman"/>
                <a:cs typeface="Times New Roman"/>
              </a:rPr>
              <a:t>1)</a:t>
            </a:r>
            <a:r>
              <a:rPr sz="2000" b="1" spc="-25" dirty="0">
                <a:latin typeface="Times New Roman"/>
                <a:cs typeface="Times New Roman"/>
              </a:rPr>
              <a:t> </a:t>
            </a:r>
            <a:r>
              <a:rPr sz="2000" b="1" dirty="0">
                <a:solidFill>
                  <a:srgbClr val="006FC0"/>
                </a:solidFill>
                <a:latin typeface="Times New Roman"/>
                <a:cs typeface="Times New Roman"/>
              </a:rPr>
              <a:t>f</a:t>
            </a:r>
            <a:r>
              <a:rPr sz="2000" b="1" spc="-5" dirty="0">
                <a:solidFill>
                  <a:srgbClr val="006FC0"/>
                </a:solidFill>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latin typeface="Times New Roman"/>
                <a:cs typeface="Times New Roman"/>
              </a:rPr>
              <a:t>x</a:t>
            </a:r>
            <a:r>
              <a:rPr sz="2000" b="1" spc="-5" dirty="0">
                <a:latin typeface="Times New Roman"/>
                <a:cs typeface="Times New Roman"/>
              </a:rPr>
              <a:t> </a:t>
            </a:r>
            <a:r>
              <a:rPr sz="2000" b="1" dirty="0">
                <a:latin typeface="Times New Roman"/>
                <a:cs typeface="Times New Roman"/>
              </a:rPr>
              <a:t>+1,</a:t>
            </a:r>
            <a:r>
              <a:rPr sz="2000" b="1" spc="-20" dirty="0">
                <a:latin typeface="Times New Roman"/>
                <a:cs typeface="Times New Roman"/>
              </a:rPr>
              <a:t> </a:t>
            </a:r>
            <a:r>
              <a:rPr sz="2000" b="1" dirty="0">
                <a:latin typeface="Times New Roman"/>
                <a:cs typeface="Times New Roman"/>
              </a:rPr>
              <a:t>y</a:t>
            </a:r>
            <a:r>
              <a:rPr sz="2000" b="1" spc="-5" dirty="0">
                <a:latin typeface="Times New Roman"/>
                <a:cs typeface="Times New Roman"/>
              </a:rPr>
              <a:t> </a:t>
            </a:r>
            <a:r>
              <a:rPr sz="2000" b="1" dirty="0">
                <a:latin typeface="Times New Roman"/>
                <a:cs typeface="Times New Roman"/>
              </a:rPr>
              <a:t>+ </a:t>
            </a:r>
            <a:r>
              <a:rPr sz="2000" b="1" spc="-25" dirty="0">
                <a:latin typeface="Times New Roman"/>
                <a:cs typeface="Times New Roman"/>
              </a:rPr>
              <a:t>1)</a:t>
            </a:r>
            <a:endParaRPr sz="2000">
              <a:latin typeface="Times New Roman"/>
              <a:cs typeface="Times New Roman"/>
            </a:endParaRPr>
          </a:p>
          <a:p>
            <a:pPr marL="106045" marR="217170">
              <a:lnSpc>
                <a:spcPct val="100000"/>
              </a:lnSpc>
              <a:spcBef>
                <a:spcPts val="1685"/>
              </a:spcBef>
            </a:pPr>
            <a:r>
              <a:rPr sz="2000" b="1" dirty="0">
                <a:latin typeface="Times New Roman"/>
                <a:cs typeface="Times New Roman"/>
              </a:rPr>
              <a:t>As</a:t>
            </a:r>
            <a:r>
              <a:rPr sz="2000" b="1" spc="-10" dirty="0">
                <a:latin typeface="Times New Roman"/>
                <a:cs typeface="Times New Roman"/>
              </a:rPr>
              <a:t> </a:t>
            </a:r>
            <a:r>
              <a:rPr sz="2000" b="1" dirty="0">
                <a:latin typeface="Times New Roman"/>
                <a:cs typeface="Times New Roman"/>
              </a:rPr>
              <a:t>coordinates</a:t>
            </a:r>
            <a:r>
              <a:rPr sz="2000" b="1" spc="-40" dirty="0">
                <a:latin typeface="Times New Roman"/>
                <a:cs typeface="Times New Roman"/>
              </a:rPr>
              <a:t> </a:t>
            </a:r>
            <a:r>
              <a:rPr sz="2000" b="1" dirty="0">
                <a:latin typeface="Times New Roman"/>
                <a:cs typeface="Times New Roman"/>
              </a:rPr>
              <a:t>x</a:t>
            </a:r>
            <a:r>
              <a:rPr sz="2000" b="1" spc="-5" dirty="0">
                <a:latin typeface="Times New Roman"/>
                <a:cs typeface="Times New Roman"/>
              </a:rPr>
              <a:t> </a:t>
            </a:r>
            <a:r>
              <a:rPr sz="2000" b="1" dirty="0">
                <a:latin typeface="Times New Roman"/>
                <a:cs typeface="Times New Roman"/>
              </a:rPr>
              <a:t>and</a:t>
            </a:r>
            <a:r>
              <a:rPr sz="2000" b="1" spc="-20" dirty="0">
                <a:latin typeface="Times New Roman"/>
                <a:cs typeface="Times New Roman"/>
              </a:rPr>
              <a:t> </a:t>
            </a:r>
            <a:r>
              <a:rPr sz="2000" b="1" dirty="0">
                <a:latin typeface="Times New Roman"/>
                <a:cs typeface="Times New Roman"/>
              </a:rPr>
              <a:t>y</a:t>
            </a:r>
            <a:r>
              <a:rPr sz="2000" b="1" spc="-5" dirty="0">
                <a:latin typeface="Times New Roman"/>
                <a:cs typeface="Times New Roman"/>
              </a:rPr>
              <a:t> </a:t>
            </a:r>
            <a:r>
              <a:rPr sz="2000" b="1" dirty="0">
                <a:latin typeface="Times New Roman"/>
                <a:cs typeface="Times New Roman"/>
              </a:rPr>
              <a:t>are</a:t>
            </a:r>
            <a:r>
              <a:rPr sz="2000" b="1" spc="-15" dirty="0">
                <a:latin typeface="Times New Roman"/>
                <a:cs typeface="Times New Roman"/>
              </a:rPr>
              <a:t> </a:t>
            </a:r>
            <a:r>
              <a:rPr sz="2000" b="1" dirty="0">
                <a:latin typeface="Times New Roman"/>
                <a:cs typeface="Times New Roman"/>
              </a:rPr>
              <a:t>varied,</a:t>
            </a:r>
            <a:r>
              <a:rPr sz="2000" b="1" spc="-3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center</a:t>
            </a:r>
            <a:r>
              <a:rPr sz="2000" b="1" spc="-65" dirty="0">
                <a:latin typeface="Times New Roman"/>
                <a:cs typeface="Times New Roman"/>
              </a:rPr>
              <a:t> </a:t>
            </a:r>
            <a:r>
              <a:rPr sz="2000" b="1" dirty="0">
                <a:latin typeface="Times New Roman"/>
                <a:cs typeface="Times New Roman"/>
              </a:rPr>
              <a:t>of</a:t>
            </a:r>
            <a:r>
              <a:rPr sz="2000" b="1" spc="-5" dirty="0">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latin typeface="Times New Roman"/>
                <a:cs typeface="Times New Roman"/>
              </a:rPr>
              <a:t>kernel</a:t>
            </a:r>
            <a:r>
              <a:rPr sz="2000" b="1" spc="-20" dirty="0">
                <a:latin typeface="Times New Roman"/>
                <a:cs typeface="Times New Roman"/>
              </a:rPr>
              <a:t> </a:t>
            </a:r>
            <a:r>
              <a:rPr sz="2000" b="1" dirty="0">
                <a:latin typeface="Times New Roman"/>
                <a:cs typeface="Times New Roman"/>
              </a:rPr>
              <a:t>moves</a:t>
            </a:r>
            <a:r>
              <a:rPr sz="2000" b="1" spc="-40" dirty="0">
                <a:latin typeface="Times New Roman"/>
                <a:cs typeface="Times New Roman"/>
              </a:rPr>
              <a:t> </a:t>
            </a:r>
            <a:r>
              <a:rPr sz="2000" b="1" dirty="0">
                <a:latin typeface="Times New Roman"/>
                <a:cs typeface="Times New Roman"/>
              </a:rPr>
              <a:t>from</a:t>
            </a:r>
            <a:r>
              <a:rPr sz="2000" b="1" spc="-20" dirty="0">
                <a:latin typeface="Times New Roman"/>
                <a:cs typeface="Times New Roman"/>
              </a:rPr>
              <a:t> </a:t>
            </a:r>
            <a:r>
              <a:rPr sz="2000" b="1" spc="-10" dirty="0">
                <a:latin typeface="Times New Roman"/>
                <a:cs typeface="Times New Roman"/>
              </a:rPr>
              <a:t>pixel </a:t>
            </a:r>
            <a:r>
              <a:rPr sz="2000" b="1" dirty="0">
                <a:latin typeface="Times New Roman"/>
                <a:cs typeface="Times New Roman"/>
              </a:rPr>
              <a:t>to</a:t>
            </a:r>
            <a:r>
              <a:rPr sz="2000" b="1" spc="-30" dirty="0">
                <a:latin typeface="Times New Roman"/>
                <a:cs typeface="Times New Roman"/>
              </a:rPr>
              <a:t> </a:t>
            </a:r>
            <a:r>
              <a:rPr sz="2000" b="1" dirty="0">
                <a:latin typeface="Times New Roman"/>
                <a:cs typeface="Times New Roman"/>
              </a:rPr>
              <a:t>pixel,</a:t>
            </a:r>
            <a:r>
              <a:rPr sz="2000" b="1" spc="-30" dirty="0">
                <a:latin typeface="Times New Roman"/>
                <a:cs typeface="Times New Roman"/>
              </a:rPr>
              <a:t> </a:t>
            </a:r>
            <a:r>
              <a:rPr sz="2000" b="1" dirty="0">
                <a:latin typeface="Times New Roman"/>
                <a:cs typeface="Times New Roman"/>
              </a:rPr>
              <a:t>generating</a:t>
            </a:r>
            <a:r>
              <a:rPr sz="2000" b="1" spc="-4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filtered</a:t>
            </a:r>
            <a:r>
              <a:rPr sz="2000" b="1" spc="-40" dirty="0">
                <a:latin typeface="Times New Roman"/>
                <a:cs typeface="Times New Roman"/>
              </a:rPr>
              <a:t> </a:t>
            </a:r>
            <a:r>
              <a:rPr sz="2000" b="1" dirty="0">
                <a:latin typeface="Times New Roman"/>
                <a:cs typeface="Times New Roman"/>
              </a:rPr>
              <a:t>image,</a:t>
            </a:r>
            <a:r>
              <a:rPr sz="2000" b="1" spc="-40" dirty="0">
                <a:latin typeface="Times New Roman"/>
                <a:cs typeface="Times New Roman"/>
              </a:rPr>
              <a:t> </a:t>
            </a:r>
            <a:r>
              <a:rPr sz="2000" b="1" dirty="0">
                <a:latin typeface="Times New Roman"/>
                <a:cs typeface="Times New Roman"/>
              </a:rPr>
              <a:t>g,</a:t>
            </a:r>
            <a:r>
              <a:rPr sz="2000" b="1" spc="-10" dirty="0">
                <a:latin typeface="Times New Roman"/>
                <a:cs typeface="Times New Roman"/>
              </a:rPr>
              <a:t> </a:t>
            </a:r>
            <a:r>
              <a:rPr sz="2000" b="1" dirty="0">
                <a:latin typeface="Times New Roman"/>
                <a:cs typeface="Times New Roman"/>
              </a:rPr>
              <a:t>in</a:t>
            </a:r>
            <a:r>
              <a:rPr sz="2000" b="1" spc="-20" dirty="0">
                <a:latin typeface="Times New Roman"/>
                <a:cs typeface="Times New Roman"/>
              </a:rPr>
              <a:t> </a:t>
            </a:r>
            <a:r>
              <a:rPr sz="2000" b="1" dirty="0">
                <a:latin typeface="Times New Roman"/>
                <a:cs typeface="Times New Roman"/>
              </a:rPr>
              <a:t>the</a:t>
            </a:r>
            <a:r>
              <a:rPr sz="2000" b="1" spc="-10" dirty="0">
                <a:latin typeface="Times New Roman"/>
                <a:cs typeface="Times New Roman"/>
              </a:rPr>
              <a:t> process</a:t>
            </a:r>
            <a:endParaRPr sz="2000">
              <a:latin typeface="Times New Roman"/>
              <a:cs typeface="Times New Roman"/>
            </a:endParaRPr>
          </a:p>
        </p:txBody>
      </p:sp>
      <p:pic>
        <p:nvPicPr>
          <p:cNvPr id="3" name="object 3"/>
          <p:cNvPicPr/>
          <p:nvPr/>
        </p:nvPicPr>
        <p:blipFill>
          <a:blip r:embed="rId2" cstate="print"/>
          <a:stretch>
            <a:fillRect/>
          </a:stretch>
        </p:blipFill>
        <p:spPr>
          <a:xfrm>
            <a:off x="3261354" y="324589"/>
            <a:ext cx="2406401" cy="309394"/>
          </a:xfrm>
          <a:prstGeom prst="rect">
            <a:avLst/>
          </a:prstGeom>
        </p:spPr>
      </p:pic>
      <p:grpSp>
        <p:nvGrpSpPr>
          <p:cNvPr id="4" name="object 4"/>
          <p:cNvGrpSpPr/>
          <p:nvPr/>
        </p:nvGrpSpPr>
        <p:grpSpPr>
          <a:xfrm>
            <a:off x="426719" y="795527"/>
            <a:ext cx="8211820" cy="91440"/>
            <a:chOff x="426719" y="795527"/>
            <a:chExt cx="8211820" cy="91440"/>
          </a:xfrm>
        </p:grpSpPr>
        <p:pic>
          <p:nvPicPr>
            <p:cNvPr id="5" name="object 5"/>
            <p:cNvPicPr/>
            <p:nvPr/>
          </p:nvPicPr>
          <p:blipFill>
            <a:blip r:embed="rId3" cstate="print"/>
            <a:stretch>
              <a:fillRect/>
            </a:stretch>
          </p:blipFill>
          <p:spPr>
            <a:xfrm>
              <a:off x="426719" y="795527"/>
              <a:ext cx="8211311" cy="91440"/>
            </a:xfrm>
            <a:prstGeom prst="rect">
              <a:avLst/>
            </a:prstGeom>
          </p:spPr>
        </p:pic>
        <p:sp>
          <p:nvSpPr>
            <p:cNvPr id="6" name="object 6"/>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350" y="667893"/>
            <a:ext cx="3944620" cy="940435"/>
          </a:xfrm>
          <a:prstGeom prst="rect">
            <a:avLst/>
          </a:prstGeom>
        </p:spPr>
        <p:txBody>
          <a:bodyPr vert="horz" wrap="square" lIns="0" tIns="13335" rIns="0" bIns="0" rtlCol="0">
            <a:spAutoFit/>
          </a:bodyPr>
          <a:lstStyle/>
          <a:p>
            <a:pPr marL="12700" marR="5080" algn="just">
              <a:lnSpc>
                <a:spcPct val="100000"/>
              </a:lnSpc>
              <a:spcBef>
                <a:spcPts val="105"/>
              </a:spcBef>
            </a:pPr>
            <a:r>
              <a:rPr u="none" dirty="0">
                <a:solidFill>
                  <a:srgbClr val="000000"/>
                </a:solidFill>
              </a:rPr>
              <a:t>Observe</a:t>
            </a:r>
            <a:r>
              <a:rPr u="none" spc="370" dirty="0">
                <a:solidFill>
                  <a:srgbClr val="000000"/>
                </a:solidFill>
              </a:rPr>
              <a:t> </a:t>
            </a:r>
            <a:r>
              <a:rPr u="none" dirty="0">
                <a:solidFill>
                  <a:srgbClr val="000000"/>
                </a:solidFill>
              </a:rPr>
              <a:t>that</a:t>
            </a:r>
            <a:r>
              <a:rPr u="none" spc="375" dirty="0">
                <a:solidFill>
                  <a:srgbClr val="000000"/>
                </a:solidFill>
              </a:rPr>
              <a:t> </a:t>
            </a:r>
            <a:r>
              <a:rPr u="none" dirty="0">
                <a:solidFill>
                  <a:srgbClr val="000000"/>
                </a:solidFill>
              </a:rPr>
              <a:t>the</a:t>
            </a:r>
            <a:r>
              <a:rPr u="none" spc="390" dirty="0">
                <a:solidFill>
                  <a:srgbClr val="000000"/>
                </a:solidFill>
              </a:rPr>
              <a:t> </a:t>
            </a:r>
            <a:r>
              <a:rPr u="none" dirty="0">
                <a:solidFill>
                  <a:srgbClr val="000000"/>
                </a:solidFill>
              </a:rPr>
              <a:t>center</a:t>
            </a:r>
            <a:r>
              <a:rPr u="none" spc="360" dirty="0">
                <a:solidFill>
                  <a:srgbClr val="000000"/>
                </a:solidFill>
              </a:rPr>
              <a:t> </a:t>
            </a:r>
            <a:r>
              <a:rPr u="none" spc="-10" dirty="0">
                <a:solidFill>
                  <a:srgbClr val="000000"/>
                </a:solidFill>
              </a:rPr>
              <a:t>coefficient </a:t>
            </a:r>
            <a:r>
              <a:rPr u="none" dirty="0">
                <a:solidFill>
                  <a:srgbClr val="000000"/>
                </a:solidFill>
              </a:rPr>
              <a:t>of</a:t>
            </a:r>
            <a:r>
              <a:rPr u="none" spc="490" dirty="0">
                <a:solidFill>
                  <a:srgbClr val="000000"/>
                </a:solidFill>
              </a:rPr>
              <a:t> </a:t>
            </a:r>
            <a:r>
              <a:rPr u="none" dirty="0">
                <a:solidFill>
                  <a:srgbClr val="000000"/>
                </a:solidFill>
              </a:rPr>
              <a:t>the</a:t>
            </a:r>
            <a:r>
              <a:rPr u="none" spc="495" dirty="0">
                <a:solidFill>
                  <a:srgbClr val="000000"/>
                </a:solidFill>
              </a:rPr>
              <a:t> </a:t>
            </a:r>
            <a:r>
              <a:rPr u="none" dirty="0">
                <a:solidFill>
                  <a:srgbClr val="000000"/>
                </a:solidFill>
              </a:rPr>
              <a:t>kernel,</a:t>
            </a:r>
            <a:r>
              <a:rPr u="none" spc="484" dirty="0">
                <a:solidFill>
                  <a:srgbClr val="000000"/>
                </a:solidFill>
              </a:rPr>
              <a:t> </a:t>
            </a:r>
            <a:r>
              <a:rPr u="none" dirty="0">
                <a:solidFill>
                  <a:srgbClr val="000000"/>
                </a:solidFill>
              </a:rPr>
              <a:t>w(0,</a:t>
            </a:r>
            <a:r>
              <a:rPr u="none" spc="484" dirty="0">
                <a:solidFill>
                  <a:srgbClr val="000000"/>
                </a:solidFill>
              </a:rPr>
              <a:t> </a:t>
            </a:r>
            <a:r>
              <a:rPr u="none" dirty="0">
                <a:solidFill>
                  <a:srgbClr val="000000"/>
                </a:solidFill>
              </a:rPr>
              <a:t>0),</a:t>
            </a:r>
            <a:r>
              <a:rPr u="none" spc="484" dirty="0">
                <a:solidFill>
                  <a:srgbClr val="000000"/>
                </a:solidFill>
              </a:rPr>
              <a:t> </a:t>
            </a:r>
            <a:r>
              <a:rPr u="none" dirty="0">
                <a:solidFill>
                  <a:srgbClr val="000000"/>
                </a:solidFill>
              </a:rPr>
              <a:t>aligns  </a:t>
            </a:r>
            <a:r>
              <a:rPr u="none" spc="-20" dirty="0">
                <a:solidFill>
                  <a:srgbClr val="000000"/>
                </a:solidFill>
              </a:rPr>
              <a:t>with </a:t>
            </a:r>
            <a:r>
              <a:rPr u="none" dirty="0">
                <a:solidFill>
                  <a:srgbClr val="000000"/>
                </a:solidFill>
              </a:rPr>
              <a:t>the</a:t>
            </a:r>
            <a:r>
              <a:rPr u="none" spc="-10" dirty="0">
                <a:solidFill>
                  <a:srgbClr val="000000"/>
                </a:solidFill>
              </a:rPr>
              <a:t> </a:t>
            </a:r>
            <a:r>
              <a:rPr u="none" dirty="0">
                <a:solidFill>
                  <a:srgbClr val="000000"/>
                </a:solidFill>
              </a:rPr>
              <a:t>pixel</a:t>
            </a:r>
            <a:r>
              <a:rPr u="none" spc="-20" dirty="0">
                <a:solidFill>
                  <a:srgbClr val="000000"/>
                </a:solidFill>
              </a:rPr>
              <a:t> </a:t>
            </a:r>
            <a:r>
              <a:rPr u="none" dirty="0">
                <a:solidFill>
                  <a:srgbClr val="000000"/>
                </a:solidFill>
              </a:rPr>
              <a:t>at</a:t>
            </a:r>
            <a:r>
              <a:rPr u="none" spc="-20" dirty="0">
                <a:solidFill>
                  <a:srgbClr val="000000"/>
                </a:solidFill>
              </a:rPr>
              <a:t> </a:t>
            </a:r>
            <a:r>
              <a:rPr u="none" dirty="0">
                <a:solidFill>
                  <a:srgbClr val="000000"/>
                </a:solidFill>
              </a:rPr>
              <a:t>location</a:t>
            </a:r>
            <a:r>
              <a:rPr u="none" spc="-35" dirty="0">
                <a:solidFill>
                  <a:srgbClr val="000000"/>
                </a:solidFill>
              </a:rPr>
              <a:t> </a:t>
            </a:r>
            <a:r>
              <a:rPr u="none" dirty="0">
                <a:solidFill>
                  <a:srgbClr val="000000"/>
                </a:solidFill>
              </a:rPr>
              <a:t>(x,</a:t>
            </a:r>
            <a:r>
              <a:rPr u="none" spc="-10" dirty="0">
                <a:solidFill>
                  <a:srgbClr val="000000"/>
                </a:solidFill>
              </a:rPr>
              <a:t> </a:t>
            </a:r>
            <a:r>
              <a:rPr u="none" spc="-25" dirty="0">
                <a:solidFill>
                  <a:srgbClr val="000000"/>
                </a:solidFill>
              </a:rPr>
              <a:t>y).</a:t>
            </a:r>
          </a:p>
        </p:txBody>
      </p:sp>
      <p:sp>
        <p:nvSpPr>
          <p:cNvPr id="6" name="object 6"/>
          <p:cNvSpPr txBox="1"/>
          <p:nvPr/>
        </p:nvSpPr>
        <p:spPr>
          <a:xfrm>
            <a:off x="314350" y="2497074"/>
            <a:ext cx="3945254" cy="2167901"/>
          </a:xfrm>
          <a:prstGeom prst="rect">
            <a:avLst/>
          </a:prstGeom>
        </p:spPr>
        <p:txBody>
          <a:bodyPr vert="horz" wrap="square" lIns="0" tIns="13335" rIns="0" bIns="0" rtlCol="0">
            <a:spAutoFit/>
          </a:bodyPr>
          <a:lstStyle/>
          <a:p>
            <a:pPr marL="12700" marR="5080" algn="just">
              <a:lnSpc>
                <a:spcPct val="100000"/>
              </a:lnSpc>
            </a:pPr>
            <a:r>
              <a:rPr sz="2000" b="1" dirty="0">
                <a:latin typeface="Times New Roman"/>
                <a:cs typeface="Times New Roman"/>
              </a:rPr>
              <a:t>This</a:t>
            </a:r>
            <a:r>
              <a:rPr sz="2000" b="1" spc="105" dirty="0">
                <a:latin typeface="Times New Roman"/>
                <a:cs typeface="Times New Roman"/>
              </a:rPr>
              <a:t>  </a:t>
            </a:r>
            <a:r>
              <a:rPr sz="2000" b="1" dirty="0">
                <a:latin typeface="Times New Roman"/>
                <a:cs typeface="Times New Roman"/>
              </a:rPr>
              <a:t>means</a:t>
            </a:r>
            <a:r>
              <a:rPr sz="2000" b="1" spc="100" dirty="0">
                <a:latin typeface="Times New Roman"/>
                <a:cs typeface="Times New Roman"/>
              </a:rPr>
              <a:t>  </a:t>
            </a:r>
            <a:r>
              <a:rPr sz="2000" b="1" dirty="0">
                <a:latin typeface="Times New Roman"/>
                <a:cs typeface="Times New Roman"/>
              </a:rPr>
              <a:t>that</a:t>
            </a:r>
            <a:r>
              <a:rPr sz="2000" b="1" spc="105" dirty="0">
                <a:latin typeface="Times New Roman"/>
                <a:cs typeface="Times New Roman"/>
              </a:rPr>
              <a:t>  </a:t>
            </a:r>
            <a:r>
              <a:rPr sz="2000" b="1" dirty="0">
                <a:latin typeface="Times New Roman"/>
                <a:cs typeface="Times New Roman"/>
              </a:rPr>
              <a:t>our</a:t>
            </a:r>
            <a:r>
              <a:rPr sz="2000" b="1" spc="85" dirty="0">
                <a:latin typeface="Times New Roman"/>
                <a:cs typeface="Times New Roman"/>
              </a:rPr>
              <a:t>  </a:t>
            </a:r>
            <a:r>
              <a:rPr sz="2000" b="1" dirty="0">
                <a:latin typeface="Times New Roman"/>
                <a:cs typeface="Times New Roman"/>
              </a:rPr>
              <a:t>focus</a:t>
            </a:r>
            <a:r>
              <a:rPr sz="2000" b="1" spc="110" dirty="0">
                <a:latin typeface="Times New Roman"/>
                <a:cs typeface="Times New Roman"/>
              </a:rPr>
              <a:t>  </a:t>
            </a:r>
            <a:r>
              <a:rPr sz="2000" b="1" dirty="0">
                <a:latin typeface="Times New Roman"/>
                <a:cs typeface="Times New Roman"/>
              </a:rPr>
              <a:t>is</a:t>
            </a:r>
            <a:r>
              <a:rPr sz="2000" b="1" spc="100" dirty="0">
                <a:latin typeface="Times New Roman"/>
                <a:cs typeface="Times New Roman"/>
              </a:rPr>
              <a:t>  </a:t>
            </a:r>
            <a:r>
              <a:rPr sz="2000" b="1" spc="-25" dirty="0">
                <a:latin typeface="Times New Roman"/>
                <a:cs typeface="Times New Roman"/>
              </a:rPr>
              <a:t>on </a:t>
            </a:r>
            <a:r>
              <a:rPr sz="2000" b="1" dirty="0">
                <a:latin typeface="Times New Roman"/>
                <a:cs typeface="Times New Roman"/>
              </a:rPr>
              <a:t>kernels</a:t>
            </a:r>
            <a:r>
              <a:rPr sz="2000" b="1" spc="229" dirty="0">
                <a:latin typeface="Times New Roman"/>
                <a:cs typeface="Times New Roman"/>
              </a:rPr>
              <a:t>   </a:t>
            </a:r>
            <a:r>
              <a:rPr sz="2000" b="1" dirty="0">
                <a:latin typeface="Times New Roman"/>
                <a:cs typeface="Times New Roman"/>
              </a:rPr>
              <a:t>of</a:t>
            </a:r>
            <a:r>
              <a:rPr sz="2000" b="1" spc="235" dirty="0">
                <a:latin typeface="Times New Roman"/>
                <a:cs typeface="Times New Roman"/>
              </a:rPr>
              <a:t>   </a:t>
            </a:r>
            <a:r>
              <a:rPr sz="2000" b="1" dirty="0">
                <a:latin typeface="Times New Roman"/>
                <a:cs typeface="Times New Roman"/>
              </a:rPr>
              <a:t>odd</a:t>
            </a:r>
            <a:r>
              <a:rPr sz="2000" b="1" spc="229" dirty="0">
                <a:latin typeface="Times New Roman"/>
                <a:cs typeface="Times New Roman"/>
              </a:rPr>
              <a:t>   </a:t>
            </a:r>
            <a:r>
              <a:rPr sz="2000" b="1" dirty="0">
                <a:latin typeface="Times New Roman"/>
                <a:cs typeface="Times New Roman"/>
              </a:rPr>
              <a:t>size</a:t>
            </a:r>
            <a:r>
              <a:rPr sz="2000" b="1" spc="235" dirty="0">
                <a:latin typeface="Times New Roman"/>
                <a:cs typeface="Times New Roman"/>
              </a:rPr>
              <a:t>   </a:t>
            </a:r>
            <a:r>
              <a:rPr sz="2000" b="1" dirty="0">
                <a:latin typeface="Times New Roman"/>
                <a:cs typeface="Times New Roman"/>
              </a:rPr>
              <a:t>in</a:t>
            </a:r>
            <a:r>
              <a:rPr sz="2000" b="1" spc="240" dirty="0">
                <a:latin typeface="Times New Roman"/>
                <a:cs typeface="Times New Roman"/>
              </a:rPr>
              <a:t>   </a:t>
            </a:r>
            <a:r>
              <a:rPr sz="2000" b="1" spc="-20" dirty="0">
                <a:latin typeface="Times New Roman"/>
                <a:cs typeface="Times New Roman"/>
              </a:rPr>
              <a:t>both </a:t>
            </a:r>
            <a:r>
              <a:rPr sz="2000" b="1" dirty="0">
                <a:latin typeface="Times New Roman"/>
                <a:cs typeface="Times New Roman"/>
              </a:rPr>
              <a:t>coordinate</a:t>
            </a:r>
            <a:r>
              <a:rPr sz="2000" b="1" spc="-45" dirty="0">
                <a:latin typeface="Times New Roman"/>
                <a:cs typeface="Times New Roman"/>
              </a:rPr>
              <a:t> </a:t>
            </a:r>
            <a:r>
              <a:rPr sz="2000" b="1" spc="-10" dirty="0">
                <a:latin typeface="Times New Roman"/>
                <a:cs typeface="Times New Roman"/>
              </a:rPr>
              <a:t>directions.</a:t>
            </a:r>
            <a:endParaRPr sz="2000" dirty="0">
              <a:latin typeface="Times New Roman"/>
              <a:cs typeface="Times New Roman"/>
            </a:endParaRPr>
          </a:p>
          <a:p>
            <a:pPr marL="355600" marR="5715" indent="-342900" algn="just">
              <a:lnSpc>
                <a:spcPct val="100000"/>
              </a:lnSpc>
              <a:buClr>
                <a:srgbClr val="FF0000"/>
              </a:buClr>
              <a:buFont typeface="Wingdings"/>
              <a:buChar char=""/>
              <a:tabLst>
                <a:tab pos="355600" algn="l"/>
              </a:tabLst>
            </a:pPr>
            <a:r>
              <a:rPr sz="2000" b="1" dirty="0">
                <a:latin typeface="Times New Roman"/>
                <a:cs typeface="Times New Roman"/>
              </a:rPr>
              <a:t>In</a:t>
            </a:r>
            <a:r>
              <a:rPr sz="2000" b="1" spc="475" dirty="0">
                <a:latin typeface="Times New Roman"/>
                <a:cs typeface="Times New Roman"/>
              </a:rPr>
              <a:t>   </a:t>
            </a:r>
            <a:r>
              <a:rPr sz="2000" b="1" dirty="0">
                <a:latin typeface="Times New Roman"/>
                <a:cs typeface="Times New Roman"/>
              </a:rPr>
              <a:t>general,</a:t>
            </a:r>
            <a:r>
              <a:rPr sz="2000" b="1" spc="475" dirty="0">
                <a:latin typeface="Times New Roman"/>
                <a:cs typeface="Times New Roman"/>
              </a:rPr>
              <a:t>   </a:t>
            </a:r>
            <a:r>
              <a:rPr sz="2000" b="1" dirty="0">
                <a:latin typeface="Times New Roman"/>
                <a:cs typeface="Times New Roman"/>
              </a:rPr>
              <a:t>linear</a:t>
            </a:r>
            <a:r>
              <a:rPr sz="2000" b="1" spc="465" dirty="0">
                <a:latin typeface="Times New Roman"/>
                <a:cs typeface="Times New Roman"/>
              </a:rPr>
              <a:t>   </a:t>
            </a:r>
            <a:r>
              <a:rPr sz="2000" b="1" spc="-10" dirty="0">
                <a:latin typeface="Times New Roman"/>
                <a:cs typeface="Times New Roman"/>
              </a:rPr>
              <a:t>spatial </a:t>
            </a:r>
            <a:r>
              <a:rPr sz="2000" b="1" dirty="0">
                <a:latin typeface="Times New Roman"/>
                <a:cs typeface="Times New Roman"/>
              </a:rPr>
              <a:t>filtering</a:t>
            </a:r>
            <a:r>
              <a:rPr sz="2000" b="1" spc="30" dirty="0">
                <a:latin typeface="Times New Roman"/>
                <a:cs typeface="Times New Roman"/>
              </a:rPr>
              <a:t> </a:t>
            </a:r>
            <a:r>
              <a:rPr sz="2000" b="1" dirty="0">
                <a:latin typeface="Times New Roman"/>
                <a:cs typeface="Times New Roman"/>
              </a:rPr>
              <a:t>of</a:t>
            </a:r>
            <a:r>
              <a:rPr sz="2000" b="1" spc="30" dirty="0">
                <a:latin typeface="Times New Roman"/>
                <a:cs typeface="Times New Roman"/>
              </a:rPr>
              <a:t> </a:t>
            </a:r>
            <a:r>
              <a:rPr sz="2000" b="1" dirty="0">
                <a:latin typeface="Times New Roman"/>
                <a:cs typeface="Times New Roman"/>
              </a:rPr>
              <a:t>an</a:t>
            </a:r>
            <a:r>
              <a:rPr sz="2000" b="1" spc="30" dirty="0">
                <a:latin typeface="Times New Roman"/>
                <a:cs typeface="Times New Roman"/>
              </a:rPr>
              <a:t> </a:t>
            </a:r>
            <a:r>
              <a:rPr sz="2000" b="1" dirty="0">
                <a:latin typeface="Times New Roman"/>
                <a:cs typeface="Times New Roman"/>
              </a:rPr>
              <a:t>image</a:t>
            </a:r>
            <a:r>
              <a:rPr sz="2000" b="1" spc="25" dirty="0">
                <a:latin typeface="Times New Roman"/>
                <a:cs typeface="Times New Roman"/>
              </a:rPr>
              <a:t> </a:t>
            </a:r>
            <a:r>
              <a:rPr sz="2000" b="1" dirty="0">
                <a:latin typeface="Times New Roman"/>
                <a:cs typeface="Times New Roman"/>
              </a:rPr>
              <a:t>of</a:t>
            </a:r>
            <a:r>
              <a:rPr sz="2000" b="1" spc="45" dirty="0">
                <a:latin typeface="Times New Roman"/>
                <a:cs typeface="Times New Roman"/>
              </a:rPr>
              <a:t> </a:t>
            </a:r>
            <a:r>
              <a:rPr sz="2000" b="1" dirty="0">
                <a:latin typeface="Times New Roman"/>
                <a:cs typeface="Times New Roman"/>
              </a:rPr>
              <a:t>size</a:t>
            </a:r>
            <a:r>
              <a:rPr sz="2000" b="1" spc="30" dirty="0">
                <a:latin typeface="Times New Roman"/>
                <a:cs typeface="Times New Roman"/>
              </a:rPr>
              <a:t> </a:t>
            </a:r>
            <a:r>
              <a:rPr sz="2000" b="1" spc="-25" dirty="0">
                <a:solidFill>
                  <a:srgbClr val="C00000"/>
                </a:solidFill>
                <a:latin typeface="Times New Roman"/>
                <a:cs typeface="Times New Roman"/>
              </a:rPr>
              <a:t>MxN </a:t>
            </a:r>
            <a:r>
              <a:rPr sz="2000" b="1" dirty="0">
                <a:latin typeface="Times New Roman"/>
                <a:cs typeface="Times New Roman"/>
              </a:rPr>
              <a:t>with</a:t>
            </a:r>
            <a:r>
              <a:rPr sz="2000" b="1" spc="-15" dirty="0">
                <a:latin typeface="Times New Roman"/>
                <a:cs typeface="Times New Roman"/>
              </a:rPr>
              <a:t> </a:t>
            </a:r>
            <a:r>
              <a:rPr sz="2000" b="1" dirty="0">
                <a:latin typeface="Times New Roman"/>
                <a:cs typeface="Times New Roman"/>
              </a:rPr>
              <a:t>a</a:t>
            </a:r>
            <a:r>
              <a:rPr sz="2000" b="1" spc="-15" dirty="0">
                <a:latin typeface="Times New Roman"/>
                <a:cs typeface="Times New Roman"/>
              </a:rPr>
              <a:t> </a:t>
            </a:r>
            <a:r>
              <a:rPr sz="2000" b="1" dirty="0">
                <a:latin typeface="Times New Roman"/>
                <a:cs typeface="Times New Roman"/>
              </a:rPr>
              <a:t>kernel</a:t>
            </a:r>
            <a:r>
              <a:rPr sz="2000" b="1" spc="-25"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dirty="0">
                <a:latin typeface="Times New Roman"/>
                <a:cs typeface="Times New Roman"/>
              </a:rPr>
              <a:t>size</a:t>
            </a:r>
            <a:r>
              <a:rPr sz="2000" b="1" spc="-10" dirty="0">
                <a:latin typeface="Times New Roman"/>
                <a:cs typeface="Times New Roman"/>
              </a:rPr>
              <a:t> </a:t>
            </a:r>
            <a:r>
              <a:rPr sz="2000" b="1" dirty="0">
                <a:solidFill>
                  <a:srgbClr val="006FC0"/>
                </a:solidFill>
                <a:latin typeface="Times New Roman"/>
                <a:cs typeface="Times New Roman"/>
              </a:rPr>
              <a:t>mxn </a:t>
            </a:r>
            <a:r>
              <a:rPr sz="2000" b="1" dirty="0">
                <a:latin typeface="Times New Roman"/>
                <a:cs typeface="Times New Roman"/>
              </a:rPr>
              <a:t>is</a:t>
            </a:r>
            <a:r>
              <a:rPr sz="2000" b="1" spc="-20" dirty="0">
                <a:latin typeface="Times New Roman"/>
                <a:cs typeface="Times New Roman"/>
              </a:rPr>
              <a:t> </a:t>
            </a:r>
            <a:r>
              <a:rPr sz="2000" b="1" spc="-10" dirty="0">
                <a:latin typeface="Times New Roman"/>
                <a:cs typeface="Times New Roman"/>
              </a:rPr>
              <a:t>given </a:t>
            </a:r>
            <a:r>
              <a:rPr sz="2000" b="1" dirty="0">
                <a:latin typeface="Times New Roman"/>
                <a:cs typeface="Times New Roman"/>
              </a:rPr>
              <a:t>by</a:t>
            </a:r>
            <a:r>
              <a:rPr sz="2000" b="1" spc="-5"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spc="-10" dirty="0">
                <a:latin typeface="Times New Roman"/>
                <a:cs typeface="Times New Roman"/>
              </a:rPr>
              <a:t>expression</a:t>
            </a:r>
            <a:endParaRPr sz="2000" dirty="0">
              <a:latin typeface="Times New Roman"/>
              <a:cs typeface="Times New Roman"/>
            </a:endParaRPr>
          </a:p>
        </p:txBody>
      </p:sp>
      <p:sp>
        <p:nvSpPr>
          <p:cNvPr id="10" name="object 10"/>
          <p:cNvSpPr txBox="1"/>
          <p:nvPr/>
        </p:nvSpPr>
        <p:spPr>
          <a:xfrm>
            <a:off x="407619" y="5664911"/>
            <a:ext cx="8206740" cy="666849"/>
          </a:xfrm>
          <a:prstGeom prst="rect">
            <a:avLst/>
          </a:prstGeom>
        </p:spPr>
        <p:txBody>
          <a:bodyPr vert="horz" wrap="square" lIns="0" tIns="50800" rIns="0" bIns="0" rtlCol="0">
            <a:spAutoFit/>
          </a:bodyPr>
          <a:lstStyle/>
          <a:p>
            <a:pPr marL="12700" marR="5080">
              <a:lnSpc>
                <a:spcPct val="100000"/>
              </a:lnSpc>
              <a:spcBef>
                <a:spcPts val="434"/>
              </a:spcBef>
            </a:pPr>
            <a:r>
              <a:rPr sz="2000" b="1" dirty="0">
                <a:latin typeface="Times New Roman"/>
                <a:cs typeface="Times New Roman"/>
              </a:rPr>
              <a:t>where</a:t>
            </a:r>
            <a:r>
              <a:rPr sz="2000" b="1" spc="-10" dirty="0">
                <a:latin typeface="Times New Roman"/>
                <a:cs typeface="Times New Roman"/>
              </a:rPr>
              <a:t> </a:t>
            </a:r>
            <a:r>
              <a:rPr sz="2000" b="1" dirty="0">
                <a:latin typeface="Times New Roman"/>
                <a:cs typeface="Times New Roman"/>
              </a:rPr>
              <a:t>x</a:t>
            </a:r>
            <a:r>
              <a:rPr sz="2000" b="1" spc="-10" dirty="0">
                <a:latin typeface="Times New Roman"/>
                <a:cs typeface="Times New Roman"/>
              </a:rPr>
              <a:t> </a:t>
            </a:r>
            <a:r>
              <a:rPr sz="2000" b="1" dirty="0">
                <a:latin typeface="Times New Roman"/>
                <a:cs typeface="Times New Roman"/>
              </a:rPr>
              <a:t>and</a:t>
            </a:r>
            <a:r>
              <a:rPr sz="2000" b="1" spc="-30" dirty="0">
                <a:latin typeface="Times New Roman"/>
                <a:cs typeface="Times New Roman"/>
              </a:rPr>
              <a:t> </a:t>
            </a:r>
            <a:r>
              <a:rPr sz="2000" b="1" dirty="0">
                <a:latin typeface="Times New Roman"/>
                <a:cs typeface="Times New Roman"/>
              </a:rPr>
              <a:t>y are</a:t>
            </a:r>
            <a:r>
              <a:rPr sz="2000" b="1" spc="-30" dirty="0">
                <a:latin typeface="Times New Roman"/>
                <a:cs typeface="Times New Roman"/>
              </a:rPr>
              <a:t> </a:t>
            </a:r>
            <a:r>
              <a:rPr sz="2000" b="1" dirty="0">
                <a:latin typeface="Times New Roman"/>
                <a:cs typeface="Times New Roman"/>
              </a:rPr>
              <a:t>varied</a:t>
            </a:r>
            <a:r>
              <a:rPr sz="2000" b="1" spc="-30" dirty="0">
                <a:latin typeface="Times New Roman"/>
                <a:cs typeface="Times New Roman"/>
              </a:rPr>
              <a:t> </a:t>
            </a:r>
            <a:r>
              <a:rPr sz="2000" b="1" dirty="0">
                <a:latin typeface="Times New Roman"/>
                <a:cs typeface="Times New Roman"/>
              </a:rPr>
              <a:t>so</a:t>
            </a:r>
            <a:r>
              <a:rPr sz="2000" b="1" spc="-10" dirty="0">
                <a:latin typeface="Times New Roman"/>
                <a:cs typeface="Times New Roman"/>
              </a:rPr>
              <a:t> </a:t>
            </a:r>
            <a:r>
              <a:rPr sz="2000" b="1" dirty="0">
                <a:latin typeface="Times New Roman"/>
                <a:cs typeface="Times New Roman"/>
              </a:rPr>
              <a:t>that</a:t>
            </a:r>
            <a:r>
              <a:rPr sz="2000" b="1" spc="-3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center</a:t>
            </a:r>
            <a:r>
              <a:rPr sz="2000" b="1" spc="-50" dirty="0">
                <a:latin typeface="Times New Roman"/>
                <a:cs typeface="Times New Roman"/>
              </a:rPr>
              <a:t> </a:t>
            </a:r>
            <a:r>
              <a:rPr sz="2000" b="1" dirty="0">
                <a:latin typeface="Times New Roman"/>
                <a:cs typeface="Times New Roman"/>
              </a:rPr>
              <a:t>(origin)</a:t>
            </a:r>
            <a:r>
              <a:rPr sz="2000" b="1" spc="-45" dirty="0">
                <a:latin typeface="Times New Roman"/>
                <a:cs typeface="Times New Roman"/>
              </a:rPr>
              <a:t> </a:t>
            </a:r>
            <a:r>
              <a:rPr sz="2000" b="1" dirty="0">
                <a:latin typeface="Times New Roman"/>
                <a:cs typeface="Times New Roman"/>
              </a:rPr>
              <a:t>of</a:t>
            </a:r>
            <a:r>
              <a:rPr sz="2000" b="1" spc="-20"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dirty="0">
                <a:latin typeface="Times New Roman"/>
                <a:cs typeface="Times New Roman"/>
              </a:rPr>
              <a:t>kernel</a:t>
            </a:r>
            <a:r>
              <a:rPr sz="2000" b="1" spc="-20" dirty="0">
                <a:latin typeface="Times New Roman"/>
                <a:cs typeface="Times New Roman"/>
              </a:rPr>
              <a:t> </a:t>
            </a:r>
            <a:r>
              <a:rPr sz="2000" b="1" dirty="0">
                <a:latin typeface="Times New Roman"/>
                <a:cs typeface="Times New Roman"/>
              </a:rPr>
              <a:t>visits</a:t>
            </a:r>
            <a:r>
              <a:rPr sz="2000" b="1" spc="-40" dirty="0">
                <a:latin typeface="Times New Roman"/>
                <a:cs typeface="Times New Roman"/>
              </a:rPr>
              <a:t> </a:t>
            </a:r>
            <a:r>
              <a:rPr sz="2000" b="1" spc="-10" dirty="0">
                <a:latin typeface="Times New Roman"/>
                <a:cs typeface="Times New Roman"/>
              </a:rPr>
              <a:t>every </a:t>
            </a:r>
            <a:r>
              <a:rPr sz="2000" b="1" dirty="0">
                <a:latin typeface="Times New Roman"/>
                <a:cs typeface="Times New Roman"/>
              </a:rPr>
              <a:t>pixel</a:t>
            </a:r>
            <a:r>
              <a:rPr sz="2000" b="1" spc="-30" dirty="0">
                <a:latin typeface="Times New Roman"/>
                <a:cs typeface="Times New Roman"/>
              </a:rPr>
              <a:t> </a:t>
            </a:r>
            <a:r>
              <a:rPr sz="2000" b="1" dirty="0">
                <a:latin typeface="Times New Roman"/>
                <a:cs typeface="Times New Roman"/>
              </a:rPr>
              <a:t>in f</a:t>
            </a:r>
            <a:r>
              <a:rPr sz="2000" b="1" spc="-15" dirty="0">
                <a:latin typeface="Times New Roman"/>
                <a:cs typeface="Times New Roman"/>
              </a:rPr>
              <a:t> </a:t>
            </a:r>
            <a:r>
              <a:rPr sz="2000" b="1" spc="-20" dirty="0">
                <a:latin typeface="Times New Roman"/>
                <a:cs typeface="Times New Roman"/>
              </a:rPr>
              <a:t>once.</a:t>
            </a:r>
            <a:endParaRPr sz="2000" dirty="0">
              <a:latin typeface="Times New Roman"/>
              <a:cs typeface="Times New Roman"/>
            </a:endParaRPr>
          </a:p>
        </p:txBody>
      </p:sp>
      <p:grpSp>
        <p:nvGrpSpPr>
          <p:cNvPr id="11" name="object 11"/>
          <p:cNvGrpSpPr/>
          <p:nvPr/>
        </p:nvGrpSpPr>
        <p:grpSpPr>
          <a:xfrm>
            <a:off x="4565078" y="791654"/>
            <a:ext cx="4385945" cy="4519295"/>
            <a:chOff x="4565078" y="791654"/>
            <a:chExt cx="4385945" cy="4519295"/>
          </a:xfrm>
        </p:grpSpPr>
        <p:pic>
          <p:nvPicPr>
            <p:cNvPr id="12" name="object 12"/>
            <p:cNvPicPr/>
            <p:nvPr/>
          </p:nvPicPr>
          <p:blipFill>
            <a:blip r:embed="rId2" cstate="print"/>
            <a:stretch>
              <a:fillRect/>
            </a:stretch>
          </p:blipFill>
          <p:spPr>
            <a:xfrm>
              <a:off x="4610754" y="969074"/>
              <a:ext cx="4240333" cy="4195795"/>
            </a:xfrm>
            <a:prstGeom prst="rect">
              <a:avLst/>
            </a:prstGeom>
          </p:spPr>
        </p:pic>
        <p:sp>
          <p:nvSpPr>
            <p:cNvPr id="13" name="object 13"/>
            <p:cNvSpPr/>
            <p:nvPr/>
          </p:nvSpPr>
          <p:spPr>
            <a:xfrm>
              <a:off x="4569840" y="796416"/>
              <a:ext cx="4376420" cy="4509770"/>
            </a:xfrm>
            <a:custGeom>
              <a:avLst/>
              <a:gdLst/>
              <a:ahLst/>
              <a:cxnLst/>
              <a:rect l="l" t="t" r="r" b="b"/>
              <a:pathLst>
                <a:path w="4376420" h="4509770">
                  <a:moveTo>
                    <a:pt x="0" y="4509516"/>
                  </a:moveTo>
                  <a:lnTo>
                    <a:pt x="4376166" y="4509516"/>
                  </a:lnTo>
                  <a:lnTo>
                    <a:pt x="4376166" y="0"/>
                  </a:lnTo>
                  <a:lnTo>
                    <a:pt x="0" y="0"/>
                  </a:lnTo>
                  <a:lnTo>
                    <a:pt x="0" y="4509516"/>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6892" y="656031"/>
            <a:ext cx="3815079" cy="1855470"/>
          </a:xfrm>
          <a:prstGeom prst="rect">
            <a:avLst/>
          </a:prstGeom>
        </p:spPr>
        <p:txBody>
          <a:bodyPr vert="horz" wrap="square" lIns="0" tIns="13335" rIns="0" bIns="0" rtlCol="0">
            <a:spAutoFit/>
          </a:bodyPr>
          <a:lstStyle/>
          <a:p>
            <a:pPr marL="355600" marR="5080" indent="-342900" algn="just">
              <a:lnSpc>
                <a:spcPct val="100000"/>
              </a:lnSpc>
              <a:spcBef>
                <a:spcPts val="105"/>
              </a:spcBef>
              <a:buFont typeface="Wingdings"/>
              <a:buChar char=""/>
              <a:tabLst>
                <a:tab pos="355600" algn="l"/>
              </a:tabLst>
            </a:pPr>
            <a:r>
              <a:rPr sz="2000" b="1" dirty="0">
                <a:solidFill>
                  <a:srgbClr val="C00000"/>
                </a:solidFill>
                <a:latin typeface="Times New Roman"/>
                <a:cs typeface="Times New Roman"/>
              </a:rPr>
              <a:t>Correlation</a:t>
            </a:r>
            <a:r>
              <a:rPr sz="2000" b="1" spc="350" dirty="0">
                <a:solidFill>
                  <a:srgbClr val="C00000"/>
                </a:solidFill>
                <a:latin typeface="Times New Roman"/>
                <a:cs typeface="Times New Roman"/>
              </a:rPr>
              <a:t> </a:t>
            </a:r>
            <a:r>
              <a:rPr sz="2000" b="1" dirty="0">
                <a:latin typeface="Times New Roman"/>
                <a:cs typeface="Times New Roman"/>
              </a:rPr>
              <a:t>consists</a:t>
            </a:r>
            <a:r>
              <a:rPr sz="2000" b="1" spc="335" dirty="0">
                <a:latin typeface="Times New Roman"/>
                <a:cs typeface="Times New Roman"/>
              </a:rPr>
              <a:t> </a:t>
            </a:r>
            <a:r>
              <a:rPr sz="2000" b="1" dirty="0">
                <a:latin typeface="Times New Roman"/>
                <a:cs typeface="Times New Roman"/>
              </a:rPr>
              <a:t>of</a:t>
            </a:r>
            <a:r>
              <a:rPr sz="2000" b="1" spc="335" dirty="0">
                <a:latin typeface="Times New Roman"/>
                <a:cs typeface="Times New Roman"/>
              </a:rPr>
              <a:t> </a:t>
            </a:r>
            <a:r>
              <a:rPr sz="2000" b="1" spc="-10" dirty="0">
                <a:latin typeface="Times New Roman"/>
                <a:cs typeface="Times New Roman"/>
              </a:rPr>
              <a:t>moving </a:t>
            </a:r>
            <a:r>
              <a:rPr sz="2000" b="1" dirty="0">
                <a:latin typeface="Times New Roman"/>
                <a:cs typeface="Times New Roman"/>
              </a:rPr>
              <a:t>the</a:t>
            </a:r>
            <a:r>
              <a:rPr sz="2000" b="1" spc="350" dirty="0">
                <a:latin typeface="Times New Roman"/>
                <a:cs typeface="Times New Roman"/>
              </a:rPr>
              <a:t> </a:t>
            </a:r>
            <a:r>
              <a:rPr sz="2000" b="1" dirty="0">
                <a:latin typeface="Times New Roman"/>
                <a:cs typeface="Times New Roman"/>
              </a:rPr>
              <a:t>center</a:t>
            </a:r>
            <a:r>
              <a:rPr sz="2000" b="1" spc="325" dirty="0">
                <a:latin typeface="Times New Roman"/>
                <a:cs typeface="Times New Roman"/>
              </a:rPr>
              <a:t> </a:t>
            </a:r>
            <a:r>
              <a:rPr sz="2000" b="1" dirty="0">
                <a:latin typeface="Times New Roman"/>
                <a:cs typeface="Times New Roman"/>
              </a:rPr>
              <a:t>of</a:t>
            </a:r>
            <a:r>
              <a:rPr sz="2000" b="1" spc="360" dirty="0">
                <a:latin typeface="Times New Roman"/>
                <a:cs typeface="Times New Roman"/>
              </a:rPr>
              <a:t> </a:t>
            </a:r>
            <a:r>
              <a:rPr sz="2000" b="1" dirty="0">
                <a:latin typeface="Times New Roman"/>
                <a:cs typeface="Times New Roman"/>
              </a:rPr>
              <a:t>a</a:t>
            </a:r>
            <a:r>
              <a:rPr sz="2000" b="1" spc="370" dirty="0">
                <a:latin typeface="Times New Roman"/>
                <a:cs typeface="Times New Roman"/>
              </a:rPr>
              <a:t> </a:t>
            </a:r>
            <a:r>
              <a:rPr sz="2000" b="1" dirty="0">
                <a:latin typeface="Times New Roman"/>
                <a:cs typeface="Times New Roman"/>
              </a:rPr>
              <a:t>kernel</a:t>
            </a:r>
            <a:r>
              <a:rPr sz="2000" b="1" spc="350" dirty="0">
                <a:latin typeface="Times New Roman"/>
                <a:cs typeface="Times New Roman"/>
              </a:rPr>
              <a:t> </a:t>
            </a:r>
            <a:r>
              <a:rPr sz="2000" b="1" dirty="0">
                <a:latin typeface="Times New Roman"/>
                <a:cs typeface="Times New Roman"/>
              </a:rPr>
              <a:t>over</a:t>
            </a:r>
            <a:r>
              <a:rPr sz="2000" b="1" spc="320" dirty="0">
                <a:latin typeface="Times New Roman"/>
                <a:cs typeface="Times New Roman"/>
              </a:rPr>
              <a:t> </a:t>
            </a:r>
            <a:r>
              <a:rPr sz="2000" b="1" spc="-25" dirty="0">
                <a:latin typeface="Times New Roman"/>
                <a:cs typeface="Times New Roman"/>
              </a:rPr>
              <a:t>an </a:t>
            </a:r>
            <a:r>
              <a:rPr sz="2000" b="1" dirty="0">
                <a:latin typeface="Times New Roman"/>
                <a:cs typeface="Times New Roman"/>
              </a:rPr>
              <a:t>image,</a:t>
            </a:r>
            <a:r>
              <a:rPr sz="2000" b="1" spc="215" dirty="0">
                <a:latin typeface="Times New Roman"/>
                <a:cs typeface="Times New Roman"/>
              </a:rPr>
              <a:t> </a:t>
            </a:r>
            <a:r>
              <a:rPr sz="2000" b="1" dirty="0">
                <a:latin typeface="Times New Roman"/>
                <a:cs typeface="Times New Roman"/>
              </a:rPr>
              <a:t>and</a:t>
            </a:r>
            <a:r>
              <a:rPr sz="2000" b="1" spc="235" dirty="0">
                <a:latin typeface="Times New Roman"/>
                <a:cs typeface="Times New Roman"/>
              </a:rPr>
              <a:t> </a:t>
            </a:r>
            <a:r>
              <a:rPr sz="2000" b="1" dirty="0">
                <a:latin typeface="Times New Roman"/>
                <a:cs typeface="Times New Roman"/>
              </a:rPr>
              <a:t>computing</a:t>
            </a:r>
            <a:r>
              <a:rPr sz="2000" b="1" spc="220" dirty="0">
                <a:latin typeface="Times New Roman"/>
                <a:cs typeface="Times New Roman"/>
              </a:rPr>
              <a:t> </a:t>
            </a:r>
            <a:r>
              <a:rPr sz="2000" b="1" dirty="0">
                <a:latin typeface="Times New Roman"/>
                <a:cs typeface="Times New Roman"/>
              </a:rPr>
              <a:t>the</a:t>
            </a:r>
            <a:r>
              <a:rPr sz="2000" b="1" spc="235" dirty="0">
                <a:latin typeface="Times New Roman"/>
                <a:cs typeface="Times New Roman"/>
              </a:rPr>
              <a:t> </a:t>
            </a:r>
            <a:r>
              <a:rPr sz="2000" b="1" spc="-25" dirty="0">
                <a:latin typeface="Times New Roman"/>
                <a:cs typeface="Times New Roman"/>
              </a:rPr>
              <a:t>sum </a:t>
            </a:r>
            <a:r>
              <a:rPr sz="2000" b="1" dirty="0">
                <a:latin typeface="Times New Roman"/>
                <a:cs typeface="Times New Roman"/>
              </a:rPr>
              <a:t>of</a:t>
            </a:r>
            <a:r>
              <a:rPr sz="2000" b="1" spc="-40" dirty="0">
                <a:latin typeface="Times New Roman"/>
                <a:cs typeface="Times New Roman"/>
              </a:rPr>
              <a:t> </a:t>
            </a:r>
            <a:r>
              <a:rPr sz="2000" b="1" dirty="0">
                <a:latin typeface="Times New Roman"/>
                <a:cs typeface="Times New Roman"/>
              </a:rPr>
              <a:t>products</a:t>
            </a:r>
            <a:r>
              <a:rPr sz="2000" b="1" spc="-30" dirty="0">
                <a:latin typeface="Times New Roman"/>
                <a:cs typeface="Times New Roman"/>
              </a:rPr>
              <a:t> </a:t>
            </a:r>
            <a:r>
              <a:rPr sz="2000" b="1" dirty="0">
                <a:latin typeface="Times New Roman"/>
                <a:cs typeface="Times New Roman"/>
              </a:rPr>
              <a:t>at</a:t>
            </a:r>
            <a:r>
              <a:rPr sz="2000" b="1" spc="-25" dirty="0">
                <a:latin typeface="Times New Roman"/>
                <a:cs typeface="Times New Roman"/>
              </a:rPr>
              <a:t> </a:t>
            </a:r>
            <a:r>
              <a:rPr sz="2000" b="1" dirty="0">
                <a:latin typeface="Times New Roman"/>
                <a:cs typeface="Times New Roman"/>
              </a:rPr>
              <a:t>each</a:t>
            </a:r>
            <a:r>
              <a:rPr sz="2000" b="1" spc="-10" dirty="0">
                <a:latin typeface="Times New Roman"/>
                <a:cs typeface="Times New Roman"/>
              </a:rPr>
              <a:t> location.</a:t>
            </a:r>
            <a:endParaRPr sz="2000">
              <a:latin typeface="Times New Roman"/>
              <a:cs typeface="Times New Roman"/>
            </a:endParaRPr>
          </a:p>
          <a:p>
            <a:pPr marL="354965" indent="-342265" algn="just">
              <a:lnSpc>
                <a:spcPct val="100000"/>
              </a:lnSpc>
              <a:buClr>
                <a:srgbClr val="C00000"/>
              </a:buClr>
              <a:buFont typeface="Wingdings"/>
              <a:buChar char=""/>
              <a:tabLst>
                <a:tab pos="354965" algn="l"/>
              </a:tabLst>
            </a:pPr>
            <a:r>
              <a:rPr sz="2000" b="1" dirty="0">
                <a:latin typeface="Times New Roman"/>
                <a:cs typeface="Times New Roman"/>
              </a:rPr>
              <a:t>We</a:t>
            </a:r>
            <a:r>
              <a:rPr sz="2000" b="1" spc="35" dirty="0">
                <a:latin typeface="Times New Roman"/>
                <a:cs typeface="Times New Roman"/>
              </a:rPr>
              <a:t>  </a:t>
            </a:r>
            <a:r>
              <a:rPr sz="2000" b="1" dirty="0">
                <a:latin typeface="Times New Roman"/>
                <a:cs typeface="Times New Roman"/>
              </a:rPr>
              <a:t>used</a:t>
            </a:r>
            <a:r>
              <a:rPr sz="2000" b="1" spc="35" dirty="0">
                <a:latin typeface="Times New Roman"/>
                <a:cs typeface="Times New Roman"/>
              </a:rPr>
              <a:t>  </a:t>
            </a:r>
            <a:r>
              <a:rPr sz="2000" b="1" dirty="0">
                <a:latin typeface="Times New Roman"/>
                <a:cs typeface="Times New Roman"/>
              </a:rPr>
              <a:t>correlation</a:t>
            </a:r>
            <a:r>
              <a:rPr sz="2000" b="1" spc="40" dirty="0">
                <a:latin typeface="Times New Roman"/>
                <a:cs typeface="Times New Roman"/>
              </a:rPr>
              <a:t>  </a:t>
            </a:r>
            <a:r>
              <a:rPr sz="2000" b="1" dirty="0">
                <a:latin typeface="Times New Roman"/>
                <a:cs typeface="Times New Roman"/>
              </a:rPr>
              <a:t>to</a:t>
            </a:r>
            <a:r>
              <a:rPr sz="2000" b="1" spc="45" dirty="0">
                <a:latin typeface="Times New Roman"/>
                <a:cs typeface="Times New Roman"/>
              </a:rPr>
              <a:t>  </a:t>
            </a:r>
            <a:r>
              <a:rPr sz="2000" b="1" spc="-10" dirty="0">
                <a:latin typeface="Times New Roman"/>
                <a:cs typeface="Times New Roman"/>
              </a:rPr>
              <a:t>check</a:t>
            </a:r>
            <a:endParaRPr sz="2000">
              <a:latin typeface="Times New Roman"/>
              <a:cs typeface="Times New Roman"/>
            </a:endParaRPr>
          </a:p>
          <a:p>
            <a:pPr marL="355600" algn="just">
              <a:lnSpc>
                <a:spcPct val="100000"/>
              </a:lnSpc>
            </a:pPr>
            <a:r>
              <a:rPr sz="2000" b="1" dirty="0">
                <a:latin typeface="Times New Roman"/>
                <a:cs typeface="Times New Roman"/>
              </a:rPr>
              <a:t>similarity</a:t>
            </a:r>
            <a:r>
              <a:rPr sz="2000" b="1" spc="-45" dirty="0">
                <a:latin typeface="Times New Roman"/>
                <a:cs typeface="Times New Roman"/>
              </a:rPr>
              <a:t> </a:t>
            </a:r>
            <a:r>
              <a:rPr sz="2000" b="1" dirty="0">
                <a:latin typeface="Times New Roman"/>
                <a:cs typeface="Times New Roman"/>
              </a:rPr>
              <a:t>between</a:t>
            </a:r>
            <a:r>
              <a:rPr sz="2000" b="1" spc="-25" dirty="0">
                <a:latin typeface="Times New Roman"/>
                <a:cs typeface="Times New Roman"/>
              </a:rPr>
              <a:t> </a:t>
            </a:r>
            <a:r>
              <a:rPr sz="2000" b="1" dirty="0">
                <a:latin typeface="Times New Roman"/>
                <a:cs typeface="Times New Roman"/>
              </a:rPr>
              <a:t>two</a:t>
            </a:r>
            <a:r>
              <a:rPr sz="2000" b="1" spc="-20" dirty="0">
                <a:latin typeface="Times New Roman"/>
                <a:cs typeface="Times New Roman"/>
              </a:rPr>
              <a:t> image</a:t>
            </a:r>
            <a:endParaRPr sz="2000">
              <a:latin typeface="Times New Roman"/>
              <a:cs typeface="Times New Roman"/>
            </a:endParaRPr>
          </a:p>
        </p:txBody>
      </p:sp>
      <p:sp>
        <p:nvSpPr>
          <p:cNvPr id="3" name="object 3"/>
          <p:cNvSpPr txBox="1"/>
          <p:nvPr/>
        </p:nvSpPr>
        <p:spPr>
          <a:xfrm>
            <a:off x="589280" y="2750108"/>
            <a:ext cx="1388110" cy="638810"/>
          </a:xfrm>
          <a:prstGeom prst="rect">
            <a:avLst/>
          </a:prstGeom>
        </p:spPr>
        <p:txBody>
          <a:bodyPr vert="horz" wrap="square" lIns="0" tIns="73025" rIns="0" bIns="0" rtlCol="0">
            <a:spAutoFit/>
          </a:bodyPr>
          <a:lstStyle/>
          <a:p>
            <a:pPr marR="104775" algn="r">
              <a:lnSpc>
                <a:spcPct val="100000"/>
              </a:lnSpc>
              <a:spcBef>
                <a:spcPts val="575"/>
              </a:spcBef>
            </a:pPr>
            <a:r>
              <a:rPr sz="1300" spc="-50" dirty="0">
                <a:latin typeface="Cambria Math"/>
                <a:cs typeface="Cambria Math"/>
              </a:rPr>
              <a:t>𝒂</a:t>
            </a:r>
            <a:endParaRPr sz="1300" dirty="0">
              <a:latin typeface="Cambria Math"/>
              <a:cs typeface="Cambria Math"/>
            </a:endParaRPr>
          </a:p>
          <a:p>
            <a:pPr marL="12700">
              <a:lnSpc>
                <a:spcPct val="100000"/>
              </a:lnSpc>
              <a:spcBef>
                <a:spcPts val="630"/>
              </a:spcBef>
            </a:pPr>
            <a:r>
              <a:rPr sz="1800" spc="-10" dirty="0">
                <a:latin typeface="Cambria Math"/>
                <a:cs typeface="Cambria Math"/>
              </a:rPr>
              <a:t>𝒈(𝒙,</a:t>
            </a:r>
            <a:r>
              <a:rPr sz="1800" spc="-95" dirty="0">
                <a:latin typeface="Cambria Math"/>
                <a:cs typeface="Cambria Math"/>
              </a:rPr>
              <a:t> </a:t>
            </a:r>
            <a:r>
              <a:rPr sz="1800" dirty="0">
                <a:latin typeface="Cambria Math"/>
                <a:cs typeface="Cambria Math"/>
              </a:rPr>
              <a:t>𝒚)</a:t>
            </a:r>
            <a:r>
              <a:rPr sz="1800" spc="90" dirty="0">
                <a:latin typeface="Cambria Math"/>
                <a:cs typeface="Cambria Math"/>
              </a:rPr>
              <a:t> </a:t>
            </a:r>
            <a:r>
              <a:rPr sz="1800" dirty="0">
                <a:latin typeface="Cambria Math"/>
                <a:cs typeface="Cambria Math"/>
              </a:rPr>
              <a:t>=</a:t>
            </a:r>
            <a:r>
              <a:rPr sz="1800" spc="610" dirty="0">
                <a:latin typeface="Cambria Math"/>
                <a:cs typeface="Cambria Math"/>
              </a:rPr>
              <a:t> </a:t>
            </a:r>
            <a:r>
              <a:rPr sz="1800" spc="1055" dirty="0">
                <a:latin typeface="Cambria Math"/>
                <a:cs typeface="Cambria Math"/>
              </a:rPr>
              <a:t>∑</a:t>
            </a:r>
            <a:endParaRPr sz="1800" dirty="0">
              <a:latin typeface="Cambria Math"/>
              <a:cs typeface="Cambria Math"/>
            </a:endParaRPr>
          </a:p>
        </p:txBody>
      </p:sp>
      <p:sp>
        <p:nvSpPr>
          <p:cNvPr id="4" name="object 4"/>
          <p:cNvSpPr/>
          <p:nvPr/>
        </p:nvSpPr>
        <p:spPr>
          <a:xfrm>
            <a:off x="2717419" y="3158870"/>
            <a:ext cx="445134" cy="212090"/>
          </a:xfrm>
          <a:custGeom>
            <a:avLst/>
            <a:gdLst/>
            <a:ahLst/>
            <a:cxnLst/>
            <a:rect l="l" t="t" r="r" b="b"/>
            <a:pathLst>
              <a:path w="445135" h="212089">
                <a:moveTo>
                  <a:pt x="377317" y="0"/>
                </a:moveTo>
                <a:lnTo>
                  <a:pt x="374269" y="8636"/>
                </a:lnTo>
                <a:lnTo>
                  <a:pt x="386554" y="13946"/>
                </a:lnTo>
                <a:lnTo>
                  <a:pt x="397113" y="21304"/>
                </a:lnTo>
                <a:lnTo>
                  <a:pt x="418504" y="55449"/>
                </a:lnTo>
                <a:lnTo>
                  <a:pt x="425576" y="104901"/>
                </a:lnTo>
                <a:lnTo>
                  <a:pt x="424791" y="123571"/>
                </a:lnTo>
                <a:lnTo>
                  <a:pt x="413004" y="169290"/>
                </a:lnTo>
                <a:lnTo>
                  <a:pt x="386697" y="197865"/>
                </a:lnTo>
                <a:lnTo>
                  <a:pt x="374650" y="203200"/>
                </a:lnTo>
                <a:lnTo>
                  <a:pt x="377317" y="211836"/>
                </a:lnTo>
                <a:lnTo>
                  <a:pt x="417786" y="187707"/>
                </a:lnTo>
                <a:lnTo>
                  <a:pt x="440515" y="143335"/>
                </a:lnTo>
                <a:lnTo>
                  <a:pt x="444881" y="105917"/>
                </a:lnTo>
                <a:lnTo>
                  <a:pt x="443802" y="86830"/>
                </a:lnTo>
                <a:lnTo>
                  <a:pt x="427355" y="37211"/>
                </a:lnTo>
                <a:lnTo>
                  <a:pt x="392672" y="5546"/>
                </a:lnTo>
                <a:lnTo>
                  <a:pt x="377317" y="0"/>
                </a:lnTo>
                <a:close/>
              </a:path>
              <a:path w="445135" h="212089">
                <a:moveTo>
                  <a:pt x="67563" y="0"/>
                </a:moveTo>
                <a:lnTo>
                  <a:pt x="27166" y="24163"/>
                </a:lnTo>
                <a:lnTo>
                  <a:pt x="4381" y="68611"/>
                </a:lnTo>
                <a:lnTo>
                  <a:pt x="57" y="104901"/>
                </a:lnTo>
                <a:lnTo>
                  <a:pt x="0" y="105917"/>
                </a:lnTo>
                <a:lnTo>
                  <a:pt x="992" y="123571"/>
                </a:lnTo>
                <a:lnTo>
                  <a:pt x="1093" y="125370"/>
                </a:lnTo>
                <a:lnTo>
                  <a:pt x="4365" y="143335"/>
                </a:lnTo>
                <a:lnTo>
                  <a:pt x="27094" y="187707"/>
                </a:lnTo>
                <a:lnTo>
                  <a:pt x="67563" y="211836"/>
                </a:lnTo>
                <a:lnTo>
                  <a:pt x="70231" y="203200"/>
                </a:lnTo>
                <a:lnTo>
                  <a:pt x="58183" y="197865"/>
                </a:lnTo>
                <a:lnTo>
                  <a:pt x="47767" y="190436"/>
                </a:lnTo>
                <a:lnTo>
                  <a:pt x="26376" y="155765"/>
                </a:lnTo>
                <a:lnTo>
                  <a:pt x="19346" y="105917"/>
                </a:lnTo>
                <a:lnTo>
                  <a:pt x="19304" y="104901"/>
                </a:lnTo>
                <a:lnTo>
                  <a:pt x="20089" y="86830"/>
                </a:lnTo>
                <a:lnTo>
                  <a:pt x="31876" y="42163"/>
                </a:lnTo>
                <a:lnTo>
                  <a:pt x="58398" y="13946"/>
                </a:lnTo>
                <a:lnTo>
                  <a:pt x="70612" y="8636"/>
                </a:lnTo>
                <a:lnTo>
                  <a:pt x="67563" y="0"/>
                </a:lnTo>
                <a:close/>
              </a:path>
            </a:pathLst>
          </a:custGeom>
          <a:solidFill>
            <a:srgbClr val="000000"/>
          </a:solidFill>
        </p:spPr>
        <p:txBody>
          <a:bodyPr wrap="square" lIns="0" tIns="0" rIns="0" bIns="0" rtlCol="0"/>
          <a:lstStyle/>
          <a:p>
            <a:endParaRPr/>
          </a:p>
        </p:txBody>
      </p:sp>
      <p:sp>
        <p:nvSpPr>
          <p:cNvPr id="5" name="object 5"/>
          <p:cNvSpPr txBox="1"/>
          <p:nvPr/>
        </p:nvSpPr>
        <p:spPr>
          <a:xfrm>
            <a:off x="2108961" y="2750108"/>
            <a:ext cx="2515235" cy="638810"/>
          </a:xfrm>
          <a:prstGeom prst="rect">
            <a:avLst/>
          </a:prstGeom>
        </p:spPr>
        <p:txBody>
          <a:bodyPr vert="horz" wrap="square" lIns="0" tIns="73025" rIns="0" bIns="0" rtlCol="0">
            <a:spAutoFit/>
          </a:bodyPr>
          <a:lstStyle/>
          <a:p>
            <a:pPr marL="113030">
              <a:lnSpc>
                <a:spcPct val="100000"/>
              </a:lnSpc>
              <a:spcBef>
                <a:spcPts val="575"/>
              </a:spcBef>
            </a:pPr>
            <a:r>
              <a:rPr sz="1300" spc="-50" dirty="0">
                <a:latin typeface="Cambria Math"/>
                <a:cs typeface="Cambria Math"/>
              </a:rPr>
              <a:t>𝒃</a:t>
            </a:r>
            <a:endParaRPr sz="1300" dirty="0">
              <a:latin typeface="Cambria Math"/>
              <a:cs typeface="Cambria Math"/>
            </a:endParaRPr>
          </a:p>
          <a:p>
            <a:pPr marL="12700">
              <a:lnSpc>
                <a:spcPct val="100000"/>
              </a:lnSpc>
              <a:spcBef>
                <a:spcPts val="630"/>
              </a:spcBef>
            </a:pPr>
            <a:r>
              <a:rPr sz="1800" spc="1105" dirty="0">
                <a:latin typeface="Cambria Math"/>
                <a:cs typeface="Cambria Math"/>
              </a:rPr>
              <a:t>∑</a:t>
            </a:r>
            <a:r>
              <a:rPr sz="1800" spc="335" dirty="0">
                <a:latin typeface="Cambria Math"/>
                <a:cs typeface="Cambria Math"/>
              </a:rPr>
              <a:t> </a:t>
            </a:r>
            <a:r>
              <a:rPr sz="1800" dirty="0">
                <a:latin typeface="Cambria Math"/>
                <a:cs typeface="Cambria Math"/>
              </a:rPr>
              <a:t>𝒘</a:t>
            </a:r>
            <a:r>
              <a:rPr sz="1800" spc="340" dirty="0">
                <a:latin typeface="Cambria Math"/>
                <a:cs typeface="Cambria Math"/>
              </a:rPr>
              <a:t> </a:t>
            </a:r>
            <a:r>
              <a:rPr sz="1800" spc="-10" dirty="0">
                <a:latin typeface="Cambria Math"/>
                <a:cs typeface="Cambria Math"/>
              </a:rPr>
              <a:t>𝒔,</a:t>
            </a:r>
            <a:r>
              <a:rPr sz="1800" spc="-95" dirty="0">
                <a:latin typeface="Cambria Math"/>
                <a:cs typeface="Cambria Math"/>
              </a:rPr>
              <a:t> </a:t>
            </a:r>
            <a:r>
              <a:rPr sz="1800" dirty="0">
                <a:latin typeface="Cambria Math"/>
                <a:cs typeface="Cambria Math"/>
              </a:rPr>
              <a:t>𝒕</a:t>
            </a:r>
            <a:r>
              <a:rPr sz="1800" spc="355" dirty="0">
                <a:latin typeface="Cambria Math"/>
                <a:cs typeface="Cambria Math"/>
              </a:rPr>
              <a:t> </a:t>
            </a:r>
            <a:r>
              <a:rPr sz="1800" dirty="0">
                <a:latin typeface="Cambria Math"/>
                <a:cs typeface="Cambria Math"/>
              </a:rPr>
              <a:t>𝒇(𝒙</a:t>
            </a:r>
            <a:r>
              <a:rPr sz="1800" spc="-15" dirty="0">
                <a:latin typeface="Cambria Math"/>
                <a:cs typeface="Cambria Math"/>
              </a:rPr>
              <a:t> </a:t>
            </a:r>
            <a:r>
              <a:rPr sz="1800" dirty="0">
                <a:latin typeface="Cambria Math"/>
                <a:cs typeface="Cambria Math"/>
              </a:rPr>
              <a:t>+</a:t>
            </a:r>
            <a:r>
              <a:rPr sz="1800" spc="10" dirty="0">
                <a:latin typeface="Cambria Math"/>
                <a:cs typeface="Cambria Math"/>
              </a:rPr>
              <a:t> </a:t>
            </a:r>
            <a:r>
              <a:rPr sz="1800" spc="-10" dirty="0">
                <a:latin typeface="Cambria Math"/>
                <a:cs typeface="Cambria Math"/>
              </a:rPr>
              <a:t>𝒔,</a:t>
            </a:r>
            <a:r>
              <a:rPr sz="1800" spc="-95" dirty="0">
                <a:latin typeface="Cambria Math"/>
                <a:cs typeface="Cambria Math"/>
              </a:rPr>
              <a:t> </a:t>
            </a:r>
            <a:r>
              <a:rPr sz="1800" dirty="0">
                <a:latin typeface="Cambria Math"/>
                <a:cs typeface="Cambria Math"/>
              </a:rPr>
              <a:t>𝒚 +</a:t>
            </a:r>
            <a:r>
              <a:rPr sz="1800" spc="5" dirty="0">
                <a:latin typeface="Cambria Math"/>
                <a:cs typeface="Cambria Math"/>
              </a:rPr>
              <a:t> </a:t>
            </a:r>
            <a:r>
              <a:rPr sz="1800" spc="-25" dirty="0">
                <a:latin typeface="Cambria Math"/>
                <a:cs typeface="Cambria Math"/>
              </a:rPr>
              <a:t>𝒕)</a:t>
            </a:r>
            <a:endParaRPr sz="1800" dirty="0">
              <a:latin typeface="Cambria Math"/>
              <a:cs typeface="Cambria Math"/>
            </a:endParaRPr>
          </a:p>
        </p:txBody>
      </p:sp>
      <p:sp>
        <p:nvSpPr>
          <p:cNvPr id="6" name="object 6"/>
          <p:cNvSpPr txBox="1"/>
          <p:nvPr/>
        </p:nvSpPr>
        <p:spPr>
          <a:xfrm>
            <a:off x="1586230" y="3440683"/>
            <a:ext cx="908050"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Cambria Math"/>
                <a:cs typeface="Cambria Math"/>
              </a:rPr>
              <a:t>𝒔=−𝒂</a:t>
            </a:r>
            <a:r>
              <a:rPr sz="1300" spc="-55" dirty="0">
                <a:latin typeface="Cambria Math"/>
                <a:cs typeface="Cambria Math"/>
              </a:rPr>
              <a:t> </a:t>
            </a:r>
            <a:r>
              <a:rPr sz="1300" spc="-20" dirty="0">
                <a:latin typeface="Cambria Math"/>
                <a:cs typeface="Cambria Math"/>
              </a:rPr>
              <a:t>𝒕=−𝒃</a:t>
            </a:r>
            <a:endParaRPr sz="1300">
              <a:latin typeface="Cambria Math"/>
              <a:cs typeface="Cambria Math"/>
            </a:endParaRPr>
          </a:p>
        </p:txBody>
      </p:sp>
      <p:sp>
        <p:nvSpPr>
          <p:cNvPr id="7" name="object 7"/>
          <p:cNvSpPr txBox="1"/>
          <p:nvPr/>
        </p:nvSpPr>
        <p:spPr>
          <a:xfrm>
            <a:off x="348589" y="4173727"/>
            <a:ext cx="4517390" cy="2162175"/>
          </a:xfrm>
          <a:prstGeom prst="rect">
            <a:avLst/>
          </a:prstGeom>
        </p:spPr>
        <p:txBody>
          <a:bodyPr vert="horz" wrap="square" lIns="0" tIns="12700" rIns="0" bIns="0" rtlCol="0">
            <a:spAutoFit/>
          </a:bodyPr>
          <a:lstStyle/>
          <a:p>
            <a:pPr marL="406400" marR="55880" indent="-342900" algn="just">
              <a:lnSpc>
                <a:spcPct val="100099"/>
              </a:lnSpc>
              <a:spcBef>
                <a:spcPts val="100"/>
              </a:spcBef>
              <a:buClr>
                <a:srgbClr val="C00000"/>
              </a:buClr>
              <a:buFont typeface="Wingdings"/>
              <a:buChar char=""/>
              <a:tabLst>
                <a:tab pos="406400" algn="l"/>
              </a:tabLst>
            </a:pPr>
            <a:r>
              <a:rPr sz="2000" b="1" dirty="0">
                <a:latin typeface="Times New Roman"/>
                <a:cs typeface="Times New Roman"/>
              </a:rPr>
              <a:t>The</a:t>
            </a:r>
            <a:r>
              <a:rPr sz="2000" b="1" spc="60" dirty="0">
                <a:latin typeface="Times New Roman"/>
                <a:cs typeface="Times New Roman"/>
              </a:rPr>
              <a:t> </a:t>
            </a:r>
            <a:r>
              <a:rPr sz="2000" b="1" dirty="0">
                <a:latin typeface="Times New Roman"/>
                <a:cs typeface="Times New Roman"/>
              </a:rPr>
              <a:t>mechanics</a:t>
            </a:r>
            <a:r>
              <a:rPr sz="2000" b="1" spc="75" dirty="0">
                <a:latin typeface="Times New Roman"/>
                <a:cs typeface="Times New Roman"/>
              </a:rPr>
              <a:t> </a:t>
            </a:r>
            <a:r>
              <a:rPr sz="2000" b="1" dirty="0">
                <a:latin typeface="Times New Roman"/>
                <a:cs typeface="Times New Roman"/>
              </a:rPr>
              <a:t>of</a:t>
            </a:r>
            <a:r>
              <a:rPr sz="2000" b="1" spc="65" dirty="0">
                <a:latin typeface="Times New Roman"/>
                <a:cs typeface="Times New Roman"/>
              </a:rPr>
              <a:t> </a:t>
            </a:r>
            <a:r>
              <a:rPr sz="2000" b="1" dirty="0">
                <a:latin typeface="Times New Roman"/>
                <a:cs typeface="Times New Roman"/>
              </a:rPr>
              <a:t>spatial</a:t>
            </a:r>
            <a:r>
              <a:rPr sz="2000" b="1" spc="60" dirty="0">
                <a:latin typeface="Times New Roman"/>
                <a:cs typeface="Times New Roman"/>
              </a:rPr>
              <a:t> </a:t>
            </a:r>
            <a:r>
              <a:rPr sz="2000" b="1" spc="-10" dirty="0">
                <a:solidFill>
                  <a:srgbClr val="C00000"/>
                </a:solidFill>
                <a:latin typeface="Times New Roman"/>
                <a:cs typeface="Times New Roman"/>
              </a:rPr>
              <a:t>convolution </a:t>
            </a:r>
            <a:r>
              <a:rPr sz="2000" b="1" dirty="0">
                <a:latin typeface="Times New Roman"/>
                <a:cs typeface="Times New Roman"/>
              </a:rPr>
              <a:t>are</a:t>
            </a:r>
            <a:r>
              <a:rPr sz="2000" b="1" spc="495" dirty="0">
                <a:latin typeface="Times New Roman"/>
                <a:cs typeface="Times New Roman"/>
              </a:rPr>
              <a:t>  </a:t>
            </a:r>
            <a:r>
              <a:rPr sz="2000" b="1" dirty="0">
                <a:latin typeface="Times New Roman"/>
                <a:cs typeface="Times New Roman"/>
              </a:rPr>
              <a:t>the</a:t>
            </a:r>
            <a:r>
              <a:rPr sz="2000" b="1" spc="165" dirty="0">
                <a:latin typeface="Times New Roman"/>
                <a:cs typeface="Times New Roman"/>
              </a:rPr>
              <a:t>   </a:t>
            </a:r>
            <a:r>
              <a:rPr sz="2000" b="1" dirty="0">
                <a:latin typeface="Times New Roman"/>
                <a:cs typeface="Times New Roman"/>
              </a:rPr>
              <a:t>same,</a:t>
            </a:r>
            <a:r>
              <a:rPr sz="2000" b="1" spc="165" dirty="0">
                <a:latin typeface="Times New Roman"/>
                <a:cs typeface="Times New Roman"/>
              </a:rPr>
              <a:t>   </a:t>
            </a:r>
            <a:r>
              <a:rPr sz="2000" b="1" dirty="0">
                <a:solidFill>
                  <a:srgbClr val="FF0000"/>
                </a:solidFill>
                <a:latin typeface="Times New Roman"/>
                <a:cs typeface="Times New Roman"/>
              </a:rPr>
              <a:t>except</a:t>
            </a:r>
            <a:r>
              <a:rPr sz="2000" b="1" spc="495" dirty="0">
                <a:solidFill>
                  <a:srgbClr val="FF0000"/>
                </a:solidFill>
                <a:latin typeface="Times New Roman"/>
                <a:cs typeface="Times New Roman"/>
              </a:rPr>
              <a:t>  </a:t>
            </a:r>
            <a:r>
              <a:rPr sz="2000" b="1" dirty="0">
                <a:solidFill>
                  <a:srgbClr val="FF0000"/>
                </a:solidFill>
                <a:latin typeface="Times New Roman"/>
                <a:cs typeface="Times New Roman"/>
              </a:rPr>
              <a:t>that</a:t>
            </a:r>
            <a:r>
              <a:rPr sz="2000" b="1" spc="495" dirty="0">
                <a:solidFill>
                  <a:srgbClr val="FF0000"/>
                </a:solidFill>
                <a:latin typeface="Times New Roman"/>
                <a:cs typeface="Times New Roman"/>
              </a:rPr>
              <a:t>  </a:t>
            </a:r>
            <a:r>
              <a:rPr sz="2000" b="1" spc="-25" dirty="0">
                <a:solidFill>
                  <a:srgbClr val="FF0000"/>
                </a:solidFill>
                <a:latin typeface="Times New Roman"/>
                <a:cs typeface="Times New Roman"/>
              </a:rPr>
              <a:t>the </a:t>
            </a:r>
            <a:r>
              <a:rPr sz="2000" b="1" dirty="0">
                <a:solidFill>
                  <a:srgbClr val="FF0000"/>
                </a:solidFill>
                <a:latin typeface="Times New Roman"/>
                <a:cs typeface="Times New Roman"/>
              </a:rPr>
              <a:t>correlation</a:t>
            </a:r>
            <a:r>
              <a:rPr sz="2000" b="1" spc="-50" dirty="0">
                <a:solidFill>
                  <a:srgbClr val="FF0000"/>
                </a:solidFill>
                <a:latin typeface="Times New Roman"/>
                <a:cs typeface="Times New Roman"/>
              </a:rPr>
              <a:t> </a:t>
            </a:r>
            <a:r>
              <a:rPr sz="2000" b="1" dirty="0">
                <a:solidFill>
                  <a:srgbClr val="FF0000"/>
                </a:solidFill>
                <a:latin typeface="Times New Roman"/>
                <a:cs typeface="Times New Roman"/>
              </a:rPr>
              <a:t>kernel</a:t>
            </a:r>
            <a:r>
              <a:rPr sz="2000" b="1" spc="-35" dirty="0">
                <a:solidFill>
                  <a:srgbClr val="FF0000"/>
                </a:solidFill>
                <a:latin typeface="Times New Roman"/>
                <a:cs typeface="Times New Roman"/>
              </a:rPr>
              <a:t> </a:t>
            </a:r>
            <a:r>
              <a:rPr sz="2000" b="1" dirty="0">
                <a:solidFill>
                  <a:srgbClr val="FF0000"/>
                </a:solidFill>
                <a:latin typeface="Times New Roman"/>
                <a:cs typeface="Times New Roman"/>
              </a:rPr>
              <a:t>is</a:t>
            </a:r>
            <a:r>
              <a:rPr sz="2000" b="1" spc="-40" dirty="0">
                <a:solidFill>
                  <a:srgbClr val="FF0000"/>
                </a:solidFill>
                <a:latin typeface="Times New Roman"/>
                <a:cs typeface="Times New Roman"/>
              </a:rPr>
              <a:t> </a:t>
            </a:r>
            <a:r>
              <a:rPr sz="2000" b="1" dirty="0">
                <a:solidFill>
                  <a:srgbClr val="FF0000"/>
                </a:solidFill>
                <a:latin typeface="Times New Roman"/>
                <a:cs typeface="Times New Roman"/>
              </a:rPr>
              <a:t>rotated</a:t>
            </a:r>
            <a:r>
              <a:rPr sz="2000" b="1" spc="-35" dirty="0">
                <a:solidFill>
                  <a:srgbClr val="FF0000"/>
                </a:solidFill>
                <a:latin typeface="Times New Roman"/>
                <a:cs typeface="Times New Roman"/>
              </a:rPr>
              <a:t> </a:t>
            </a:r>
            <a:r>
              <a:rPr sz="2000" b="1" dirty="0">
                <a:solidFill>
                  <a:srgbClr val="FF0000"/>
                </a:solidFill>
                <a:latin typeface="Times New Roman"/>
                <a:cs typeface="Times New Roman"/>
              </a:rPr>
              <a:t>by</a:t>
            </a:r>
            <a:r>
              <a:rPr sz="2000" b="1" spc="-35" dirty="0">
                <a:solidFill>
                  <a:srgbClr val="FF0000"/>
                </a:solidFill>
                <a:latin typeface="Times New Roman"/>
                <a:cs typeface="Times New Roman"/>
              </a:rPr>
              <a:t> </a:t>
            </a:r>
            <a:r>
              <a:rPr sz="2000" spc="-10" dirty="0">
                <a:solidFill>
                  <a:srgbClr val="FF0000"/>
                </a:solidFill>
                <a:latin typeface="Cambria Math"/>
                <a:cs typeface="Cambria Math"/>
              </a:rPr>
              <a:t>𝟏𝟖𝟎</a:t>
            </a:r>
            <a:r>
              <a:rPr sz="3000" b="1" spc="-15" baseline="20833" dirty="0">
                <a:solidFill>
                  <a:srgbClr val="FF0000"/>
                </a:solidFill>
                <a:latin typeface="Times New Roman"/>
                <a:cs typeface="Times New Roman"/>
              </a:rPr>
              <a:t>◦</a:t>
            </a:r>
            <a:r>
              <a:rPr sz="2000" b="1" spc="-10" dirty="0">
                <a:latin typeface="Times New Roman"/>
                <a:cs typeface="Times New Roman"/>
              </a:rPr>
              <a:t>. </a:t>
            </a:r>
            <a:r>
              <a:rPr sz="2000" b="1" dirty="0">
                <a:latin typeface="Times New Roman"/>
                <a:cs typeface="Times New Roman"/>
              </a:rPr>
              <a:t>Thus,</a:t>
            </a:r>
            <a:r>
              <a:rPr sz="2000" b="1" spc="5" dirty="0">
                <a:latin typeface="Times New Roman"/>
                <a:cs typeface="Times New Roman"/>
              </a:rPr>
              <a:t> </a:t>
            </a:r>
            <a:r>
              <a:rPr sz="2000" b="1" dirty="0">
                <a:latin typeface="Times New Roman"/>
                <a:cs typeface="Times New Roman"/>
              </a:rPr>
              <a:t>when</a:t>
            </a:r>
            <a:r>
              <a:rPr sz="2000" b="1" spc="5" dirty="0">
                <a:latin typeface="Times New Roman"/>
                <a:cs typeface="Times New Roman"/>
              </a:rPr>
              <a:t> </a:t>
            </a:r>
            <a:r>
              <a:rPr sz="2000" b="1" dirty="0">
                <a:latin typeface="Times New Roman"/>
                <a:cs typeface="Times New Roman"/>
              </a:rPr>
              <a:t>the values</a:t>
            </a:r>
            <a:r>
              <a:rPr sz="2000" b="1" spc="-5"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dirty="0">
                <a:latin typeface="Times New Roman"/>
                <a:cs typeface="Times New Roman"/>
              </a:rPr>
              <a:t>a</a:t>
            </a:r>
            <a:r>
              <a:rPr sz="2000" b="1" spc="15" dirty="0">
                <a:latin typeface="Times New Roman"/>
                <a:cs typeface="Times New Roman"/>
              </a:rPr>
              <a:t> </a:t>
            </a:r>
            <a:r>
              <a:rPr sz="2000" b="1" dirty="0">
                <a:latin typeface="Times New Roman"/>
                <a:cs typeface="Times New Roman"/>
              </a:rPr>
              <a:t>kernel</a:t>
            </a:r>
            <a:r>
              <a:rPr sz="2000" b="1" spc="-5" dirty="0">
                <a:latin typeface="Times New Roman"/>
                <a:cs typeface="Times New Roman"/>
              </a:rPr>
              <a:t> </a:t>
            </a:r>
            <a:r>
              <a:rPr sz="2000" b="1" spc="-25" dirty="0">
                <a:latin typeface="Times New Roman"/>
                <a:cs typeface="Times New Roman"/>
              </a:rPr>
              <a:t>are </a:t>
            </a:r>
            <a:r>
              <a:rPr sz="2000" b="1" dirty="0">
                <a:latin typeface="Times New Roman"/>
                <a:cs typeface="Times New Roman"/>
              </a:rPr>
              <a:t>symmetric</a:t>
            </a:r>
            <a:r>
              <a:rPr sz="2000" b="1" spc="355" dirty="0">
                <a:latin typeface="Times New Roman"/>
                <a:cs typeface="Times New Roman"/>
              </a:rPr>
              <a:t>    </a:t>
            </a:r>
            <a:r>
              <a:rPr sz="2000" b="1" dirty="0">
                <a:latin typeface="Times New Roman"/>
                <a:cs typeface="Times New Roman"/>
              </a:rPr>
              <a:t>about</a:t>
            </a:r>
            <a:r>
              <a:rPr sz="2000" b="1" spc="355" dirty="0">
                <a:latin typeface="Times New Roman"/>
                <a:cs typeface="Times New Roman"/>
              </a:rPr>
              <a:t>    </a:t>
            </a:r>
            <a:r>
              <a:rPr sz="2000" b="1" dirty="0">
                <a:latin typeface="Times New Roman"/>
                <a:cs typeface="Times New Roman"/>
              </a:rPr>
              <a:t>its</a:t>
            </a:r>
            <a:r>
              <a:rPr sz="2000" b="1" spc="360" dirty="0">
                <a:latin typeface="Times New Roman"/>
                <a:cs typeface="Times New Roman"/>
              </a:rPr>
              <a:t>    </a:t>
            </a:r>
            <a:r>
              <a:rPr sz="2000" b="1" spc="-25" dirty="0">
                <a:latin typeface="Times New Roman"/>
                <a:cs typeface="Times New Roman"/>
              </a:rPr>
              <a:t>center, </a:t>
            </a:r>
            <a:r>
              <a:rPr sz="2000" b="1" dirty="0">
                <a:latin typeface="Times New Roman"/>
                <a:cs typeface="Times New Roman"/>
              </a:rPr>
              <a:t>correlation</a:t>
            </a:r>
            <a:r>
              <a:rPr sz="2000" b="1" spc="80" dirty="0">
                <a:latin typeface="Times New Roman"/>
                <a:cs typeface="Times New Roman"/>
              </a:rPr>
              <a:t> </a:t>
            </a:r>
            <a:r>
              <a:rPr sz="2000" b="1" dirty="0">
                <a:latin typeface="Times New Roman"/>
                <a:cs typeface="Times New Roman"/>
              </a:rPr>
              <a:t>and</a:t>
            </a:r>
            <a:r>
              <a:rPr sz="2000" b="1" spc="85" dirty="0">
                <a:latin typeface="Times New Roman"/>
                <a:cs typeface="Times New Roman"/>
              </a:rPr>
              <a:t> </a:t>
            </a:r>
            <a:r>
              <a:rPr sz="2000" b="1" dirty="0">
                <a:latin typeface="Times New Roman"/>
                <a:cs typeface="Times New Roman"/>
              </a:rPr>
              <a:t>convolution</a:t>
            </a:r>
            <a:r>
              <a:rPr sz="2000" b="1" spc="85" dirty="0">
                <a:latin typeface="Times New Roman"/>
                <a:cs typeface="Times New Roman"/>
              </a:rPr>
              <a:t> </a:t>
            </a:r>
            <a:r>
              <a:rPr sz="2000" b="1" dirty="0">
                <a:latin typeface="Times New Roman"/>
                <a:cs typeface="Times New Roman"/>
              </a:rPr>
              <a:t>yield</a:t>
            </a:r>
            <a:r>
              <a:rPr sz="2000" b="1" spc="75" dirty="0">
                <a:latin typeface="Times New Roman"/>
                <a:cs typeface="Times New Roman"/>
              </a:rPr>
              <a:t> </a:t>
            </a:r>
            <a:r>
              <a:rPr sz="2000" b="1" spc="-25" dirty="0">
                <a:latin typeface="Times New Roman"/>
                <a:cs typeface="Times New Roman"/>
              </a:rPr>
              <a:t>the </a:t>
            </a:r>
            <a:r>
              <a:rPr sz="2000" b="1" dirty="0">
                <a:latin typeface="Times New Roman"/>
                <a:cs typeface="Times New Roman"/>
              </a:rPr>
              <a:t>same</a:t>
            </a:r>
            <a:r>
              <a:rPr sz="2000" b="1" spc="-25" dirty="0">
                <a:latin typeface="Times New Roman"/>
                <a:cs typeface="Times New Roman"/>
              </a:rPr>
              <a:t> </a:t>
            </a:r>
            <a:r>
              <a:rPr sz="2000" b="1" spc="-10" dirty="0">
                <a:latin typeface="Times New Roman"/>
                <a:cs typeface="Times New Roman"/>
              </a:rPr>
              <a:t>result.</a:t>
            </a:r>
            <a:endParaRPr sz="2000" dirty="0">
              <a:latin typeface="Times New Roman"/>
              <a:cs typeface="Times New Roman"/>
            </a:endParaRPr>
          </a:p>
        </p:txBody>
      </p:sp>
      <p:grpSp>
        <p:nvGrpSpPr>
          <p:cNvPr id="8" name="object 8"/>
          <p:cNvGrpSpPr/>
          <p:nvPr/>
        </p:nvGrpSpPr>
        <p:grpSpPr>
          <a:xfrm>
            <a:off x="5109527" y="246570"/>
            <a:ext cx="3619500" cy="6348095"/>
            <a:chOff x="5109527" y="246570"/>
            <a:chExt cx="3619500" cy="6348095"/>
          </a:xfrm>
        </p:grpSpPr>
        <p:pic>
          <p:nvPicPr>
            <p:cNvPr id="9" name="object 9"/>
            <p:cNvPicPr/>
            <p:nvPr/>
          </p:nvPicPr>
          <p:blipFill>
            <a:blip r:embed="rId2" cstate="print"/>
            <a:stretch>
              <a:fillRect/>
            </a:stretch>
          </p:blipFill>
          <p:spPr>
            <a:xfrm>
              <a:off x="5256911" y="308711"/>
              <a:ext cx="3206495" cy="3002046"/>
            </a:xfrm>
            <a:prstGeom prst="rect">
              <a:avLst/>
            </a:prstGeom>
          </p:spPr>
        </p:pic>
        <p:sp>
          <p:nvSpPr>
            <p:cNvPr id="10" name="object 10"/>
            <p:cNvSpPr/>
            <p:nvPr/>
          </p:nvSpPr>
          <p:spPr>
            <a:xfrm>
              <a:off x="5118100" y="251333"/>
              <a:ext cx="3606165" cy="3182620"/>
            </a:xfrm>
            <a:custGeom>
              <a:avLst/>
              <a:gdLst/>
              <a:ahLst/>
              <a:cxnLst/>
              <a:rect l="l" t="t" r="r" b="b"/>
              <a:pathLst>
                <a:path w="3606165" h="3182620">
                  <a:moveTo>
                    <a:pt x="0" y="3182366"/>
                  </a:moveTo>
                  <a:lnTo>
                    <a:pt x="3606165" y="3182366"/>
                  </a:lnTo>
                  <a:lnTo>
                    <a:pt x="3606165" y="0"/>
                  </a:lnTo>
                  <a:lnTo>
                    <a:pt x="0" y="0"/>
                  </a:lnTo>
                  <a:lnTo>
                    <a:pt x="0" y="3182366"/>
                  </a:lnTo>
                  <a:close/>
                </a:path>
              </a:pathLst>
            </a:custGeom>
            <a:ln w="9525">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5241038" y="3519992"/>
              <a:ext cx="3222097" cy="2972432"/>
            </a:xfrm>
            <a:prstGeom prst="rect">
              <a:avLst/>
            </a:prstGeom>
          </p:spPr>
        </p:pic>
        <p:sp>
          <p:nvSpPr>
            <p:cNvPr id="12" name="object 12"/>
            <p:cNvSpPr/>
            <p:nvPr/>
          </p:nvSpPr>
          <p:spPr>
            <a:xfrm>
              <a:off x="5114290" y="3482276"/>
              <a:ext cx="3609975" cy="3107690"/>
            </a:xfrm>
            <a:custGeom>
              <a:avLst/>
              <a:gdLst/>
              <a:ahLst/>
              <a:cxnLst/>
              <a:rect l="l" t="t" r="r" b="b"/>
              <a:pathLst>
                <a:path w="3609975" h="3107690">
                  <a:moveTo>
                    <a:pt x="0" y="3107182"/>
                  </a:moveTo>
                  <a:lnTo>
                    <a:pt x="3609975" y="3107182"/>
                  </a:lnTo>
                  <a:lnTo>
                    <a:pt x="3609975" y="0"/>
                  </a:lnTo>
                  <a:lnTo>
                    <a:pt x="0" y="0"/>
                  </a:lnTo>
                  <a:lnTo>
                    <a:pt x="0" y="3107182"/>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object 88"/>
          <p:cNvPicPr/>
          <p:nvPr/>
        </p:nvPicPr>
        <p:blipFill>
          <a:blip r:embed="rId2" cstate="print"/>
          <a:stretch>
            <a:fillRect/>
          </a:stretch>
        </p:blipFill>
        <p:spPr>
          <a:xfrm>
            <a:off x="590029" y="2310148"/>
            <a:ext cx="91580" cy="91580"/>
          </a:xfrm>
          <a:prstGeom prst="rect">
            <a:avLst/>
          </a:prstGeom>
        </p:spPr>
      </p:pic>
      <p:sp>
        <p:nvSpPr>
          <p:cNvPr id="89" name="object 89"/>
          <p:cNvSpPr txBox="1"/>
          <p:nvPr/>
        </p:nvSpPr>
        <p:spPr>
          <a:xfrm>
            <a:off x="761792" y="2184940"/>
            <a:ext cx="3583078" cy="751444"/>
          </a:xfrm>
          <a:prstGeom prst="rect">
            <a:avLst/>
          </a:prstGeom>
        </p:spPr>
        <p:txBody>
          <a:bodyPr vert="horz" wrap="square" lIns="0" tIns="19134" rIns="0" bIns="0" rtlCol="0">
            <a:spAutoFit/>
          </a:bodyPr>
          <a:lstStyle/>
          <a:p>
            <a:pPr marL="20141" marR="8056">
              <a:spcBef>
                <a:spcPts val="151"/>
              </a:spcBef>
            </a:pPr>
            <a:r>
              <a:rPr sz="1586" dirty="0">
                <a:latin typeface="Times New Roman"/>
                <a:cs typeface="Times New Roman"/>
              </a:rPr>
              <a:t>Convolution</a:t>
            </a:r>
            <a:r>
              <a:rPr sz="1586" spc="285" dirty="0">
                <a:latin typeface="Times New Roman"/>
                <a:cs typeface="Times New Roman"/>
              </a:rPr>
              <a:t> </a:t>
            </a:r>
            <a:r>
              <a:rPr sz="1586" dirty="0">
                <a:latin typeface="Times New Roman"/>
                <a:cs typeface="Times New Roman"/>
              </a:rPr>
              <a:t>is</a:t>
            </a:r>
            <a:r>
              <a:rPr sz="1586" spc="293" dirty="0">
                <a:latin typeface="Times New Roman"/>
                <a:cs typeface="Times New Roman"/>
              </a:rPr>
              <a:t> </a:t>
            </a:r>
            <a:r>
              <a:rPr sz="1586" dirty="0">
                <a:latin typeface="Times New Roman"/>
                <a:cs typeface="Times New Roman"/>
              </a:rPr>
              <a:t>very</a:t>
            </a:r>
            <a:r>
              <a:rPr sz="1586" spc="293" dirty="0">
                <a:latin typeface="Times New Roman"/>
                <a:cs typeface="Times New Roman"/>
              </a:rPr>
              <a:t> </a:t>
            </a:r>
            <a:r>
              <a:rPr sz="1586" dirty="0">
                <a:latin typeface="Times New Roman"/>
                <a:cs typeface="Times New Roman"/>
              </a:rPr>
              <a:t>similar</a:t>
            </a:r>
            <a:r>
              <a:rPr sz="1586" spc="293" dirty="0">
                <a:latin typeface="Times New Roman"/>
                <a:cs typeface="Times New Roman"/>
              </a:rPr>
              <a:t> </a:t>
            </a:r>
            <a:r>
              <a:rPr sz="1586" spc="40" dirty="0">
                <a:latin typeface="Times New Roman"/>
                <a:cs typeface="Times New Roman"/>
              </a:rPr>
              <a:t>to</a:t>
            </a:r>
            <a:r>
              <a:rPr sz="1586" spc="793" dirty="0">
                <a:latin typeface="Times New Roman"/>
                <a:cs typeface="Times New Roman"/>
              </a:rPr>
              <a:t> </a:t>
            </a:r>
            <a:r>
              <a:rPr sz="1586" dirty="0">
                <a:latin typeface="Times New Roman"/>
                <a:cs typeface="Times New Roman"/>
              </a:rPr>
              <a:t>correlation,</a:t>
            </a:r>
            <a:r>
              <a:rPr sz="1586" spc="278" dirty="0">
                <a:latin typeface="Times New Roman"/>
                <a:cs typeface="Times New Roman"/>
              </a:rPr>
              <a:t> </a:t>
            </a:r>
            <a:r>
              <a:rPr sz="1586" dirty="0">
                <a:latin typeface="Times New Roman"/>
                <a:cs typeface="Times New Roman"/>
              </a:rPr>
              <a:t>the</a:t>
            </a:r>
            <a:r>
              <a:rPr sz="1586" spc="285" dirty="0">
                <a:latin typeface="Times New Roman"/>
                <a:cs typeface="Times New Roman"/>
              </a:rPr>
              <a:t> </a:t>
            </a:r>
            <a:r>
              <a:rPr sz="1586" dirty="0">
                <a:latin typeface="Times New Roman"/>
                <a:cs typeface="Times New Roman"/>
              </a:rPr>
              <a:t>only</a:t>
            </a:r>
            <a:r>
              <a:rPr sz="1586" spc="278" dirty="0">
                <a:latin typeface="Times New Roman"/>
                <a:cs typeface="Times New Roman"/>
              </a:rPr>
              <a:t> </a:t>
            </a:r>
            <a:r>
              <a:rPr sz="1586" dirty="0">
                <a:latin typeface="Times New Roman"/>
                <a:cs typeface="Times New Roman"/>
              </a:rPr>
              <a:t>difference</a:t>
            </a:r>
            <a:r>
              <a:rPr sz="1586" spc="285" dirty="0">
                <a:latin typeface="Times New Roman"/>
                <a:cs typeface="Times New Roman"/>
              </a:rPr>
              <a:t> </a:t>
            </a:r>
            <a:r>
              <a:rPr sz="1586" dirty="0">
                <a:latin typeface="Times New Roman"/>
                <a:cs typeface="Times New Roman"/>
              </a:rPr>
              <a:t>is</a:t>
            </a:r>
            <a:r>
              <a:rPr sz="1586" spc="278" dirty="0">
                <a:latin typeface="Times New Roman"/>
                <a:cs typeface="Times New Roman"/>
              </a:rPr>
              <a:t> </a:t>
            </a:r>
            <a:r>
              <a:rPr sz="1586" spc="-16" dirty="0">
                <a:solidFill>
                  <a:srgbClr val="EC008C"/>
                </a:solidFill>
                <a:latin typeface="Times New Roman"/>
                <a:cs typeface="Times New Roman"/>
              </a:rPr>
              <a:t>flipped kernel</a:t>
            </a:r>
            <a:r>
              <a:rPr sz="1586" spc="-16" dirty="0">
                <a:latin typeface="Times New Roman"/>
                <a:cs typeface="Times New Roman"/>
              </a:rPr>
              <a:t>.</a:t>
            </a:r>
            <a:endParaRPr sz="1586">
              <a:latin typeface="Times New Roman"/>
              <a:cs typeface="Times New Roman"/>
            </a:endParaRPr>
          </a:p>
        </p:txBody>
      </p:sp>
      <p:pic>
        <p:nvPicPr>
          <p:cNvPr id="97" name="object 97"/>
          <p:cNvPicPr/>
          <p:nvPr/>
        </p:nvPicPr>
        <p:blipFill>
          <a:blip r:embed="rId3" cstate="print"/>
          <a:stretch>
            <a:fillRect/>
          </a:stretch>
        </p:blipFill>
        <p:spPr>
          <a:xfrm>
            <a:off x="4757700" y="1955406"/>
            <a:ext cx="3371598" cy="3262837"/>
          </a:xfrm>
          <a:prstGeom prst="rect">
            <a:avLst/>
          </a:prstGeom>
        </p:spPr>
      </p:pic>
      <p:sp>
        <p:nvSpPr>
          <p:cNvPr id="104" name="object 104"/>
          <p:cNvSpPr txBox="1">
            <a:spLocks noGrp="1"/>
          </p:cNvSpPr>
          <p:nvPr>
            <p:ph type="sldNum" sz="quarter" idx="7"/>
          </p:nvPr>
        </p:nvSpPr>
        <p:spPr>
          <a:xfrm>
            <a:off x="10441078" y="11826777"/>
            <a:ext cx="3335344" cy="309540"/>
          </a:xfrm>
          <a:prstGeom prst="rect">
            <a:avLst/>
          </a:prstGeom>
        </p:spPr>
        <p:txBody>
          <a:bodyPr vert="horz" wrap="square" lIns="0" tIns="32226" rIns="0" bIns="0" rtlCol="0">
            <a:spAutoFit/>
          </a:bodyPr>
          <a:lstStyle/>
          <a:p>
            <a:pPr marL="60423">
              <a:spcBef>
                <a:spcPts val="254"/>
              </a:spcBef>
            </a:pPr>
            <a:r>
              <a:rPr spc="87" dirty="0"/>
              <a:t>36</a:t>
            </a:r>
            <a:r>
              <a:rPr spc="181" dirty="0"/>
              <a:t> </a:t>
            </a:r>
            <a:r>
              <a:rPr spc="151" dirty="0"/>
              <a:t>/</a:t>
            </a:r>
            <a:r>
              <a:rPr spc="190" dirty="0"/>
              <a:t> </a:t>
            </a:r>
            <a:r>
              <a:rPr spc="-40" dirty="0"/>
              <a:t>68</a:t>
            </a:r>
          </a:p>
        </p:txBody>
      </p:sp>
      <p:sp>
        <p:nvSpPr>
          <p:cNvPr id="92" name="TextBox 91">
            <a:extLst>
              <a:ext uri="{FF2B5EF4-FFF2-40B4-BE49-F238E27FC236}">
                <a16:creationId xmlns:a16="http://schemas.microsoft.com/office/drawing/2014/main" id="{A033486E-C55C-4B66-B775-1B4BE5338D3E}"/>
              </a:ext>
            </a:extLst>
          </p:cNvPr>
          <p:cNvSpPr txBox="1"/>
          <p:nvPr/>
        </p:nvSpPr>
        <p:spPr>
          <a:xfrm>
            <a:off x="533400" y="609600"/>
            <a:ext cx="7884940" cy="523220"/>
          </a:xfrm>
          <a:prstGeom prst="rect">
            <a:avLst/>
          </a:prstGeom>
          <a:noFill/>
        </p:spPr>
        <p:txBody>
          <a:bodyPr wrap="square" rtlCol="0">
            <a:spAutoFit/>
          </a:bodyPr>
          <a:lstStyle/>
          <a:p>
            <a:r>
              <a:rPr lang="en-US" sz="2800" b="1" dirty="0">
                <a:latin typeface="+mj-lt"/>
              </a:rPr>
              <a:t>Convolution</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object 98"/>
          <p:cNvPicPr/>
          <p:nvPr/>
        </p:nvPicPr>
        <p:blipFill>
          <a:blip r:embed="rId2" cstate="print"/>
          <a:stretch>
            <a:fillRect/>
          </a:stretch>
        </p:blipFill>
        <p:spPr>
          <a:xfrm>
            <a:off x="445880" y="3250852"/>
            <a:ext cx="2914801" cy="1783684"/>
          </a:xfrm>
          <a:prstGeom prst="rect">
            <a:avLst/>
          </a:prstGeom>
        </p:spPr>
      </p:pic>
      <p:sp>
        <p:nvSpPr>
          <p:cNvPr id="99" name="object 99"/>
          <p:cNvSpPr txBox="1"/>
          <p:nvPr/>
        </p:nvSpPr>
        <p:spPr>
          <a:xfrm>
            <a:off x="5460921" y="3716883"/>
            <a:ext cx="2580058" cy="263362"/>
          </a:xfrm>
          <a:prstGeom prst="rect">
            <a:avLst/>
          </a:prstGeom>
        </p:spPr>
        <p:txBody>
          <a:bodyPr vert="horz" wrap="square" lIns="0" tIns="19134" rIns="0" bIns="0" rtlCol="0">
            <a:spAutoFit/>
          </a:bodyPr>
          <a:lstStyle/>
          <a:p>
            <a:pPr marL="60423">
              <a:spcBef>
                <a:spcPts val="151"/>
              </a:spcBef>
            </a:pPr>
            <a:r>
              <a:rPr sz="1586" i="1" spc="278" dirty="0">
                <a:solidFill>
                  <a:srgbClr val="0000FF"/>
                </a:solidFill>
                <a:latin typeface="Calibri"/>
                <a:cs typeface="Calibri"/>
              </a:rPr>
              <a:t>F</a:t>
            </a:r>
            <a:r>
              <a:rPr sz="1586" i="1" spc="214" dirty="0">
                <a:solidFill>
                  <a:srgbClr val="0000FF"/>
                </a:solidFill>
                <a:latin typeface="Calibri"/>
                <a:cs typeface="Calibri"/>
              </a:rPr>
              <a:t> </a:t>
            </a:r>
            <a:r>
              <a:rPr sz="1586" dirty="0">
                <a:solidFill>
                  <a:srgbClr val="0000FF"/>
                </a:solidFill>
                <a:latin typeface="Cambria"/>
                <a:cs typeface="Cambria"/>
              </a:rPr>
              <a:t>∗</a:t>
            </a:r>
            <a:r>
              <a:rPr sz="1586" spc="16" dirty="0">
                <a:solidFill>
                  <a:srgbClr val="0000FF"/>
                </a:solidFill>
                <a:latin typeface="Cambria"/>
                <a:cs typeface="Cambria"/>
              </a:rPr>
              <a:t> </a:t>
            </a:r>
            <a:r>
              <a:rPr sz="1586" i="1" spc="317" dirty="0">
                <a:solidFill>
                  <a:srgbClr val="0000FF"/>
                </a:solidFill>
                <a:latin typeface="Calibri"/>
                <a:cs typeface="Calibri"/>
              </a:rPr>
              <a:t>H</a:t>
            </a:r>
            <a:r>
              <a:rPr sz="1586" i="1" spc="214" dirty="0">
                <a:solidFill>
                  <a:srgbClr val="0000FF"/>
                </a:solidFill>
                <a:latin typeface="Calibri"/>
                <a:cs typeface="Calibri"/>
              </a:rPr>
              <a:t> </a:t>
            </a:r>
            <a:r>
              <a:rPr sz="1586" spc="324" dirty="0">
                <a:solidFill>
                  <a:srgbClr val="0000FF"/>
                </a:solidFill>
                <a:latin typeface="Times New Roman"/>
                <a:cs typeface="Times New Roman"/>
              </a:rPr>
              <a:t>=</a:t>
            </a:r>
            <a:r>
              <a:rPr sz="1586" spc="56" dirty="0">
                <a:solidFill>
                  <a:srgbClr val="0000FF"/>
                </a:solidFill>
                <a:latin typeface="Times New Roman"/>
                <a:cs typeface="Times New Roman"/>
              </a:rPr>
              <a:t> </a:t>
            </a:r>
            <a:r>
              <a:rPr sz="1586" i="1" spc="143" dirty="0">
                <a:solidFill>
                  <a:srgbClr val="0000FF"/>
                </a:solidFill>
                <a:latin typeface="Calibri"/>
                <a:cs typeface="Calibri"/>
              </a:rPr>
              <a:t>f</a:t>
            </a:r>
            <a:r>
              <a:rPr sz="1665" spc="214" baseline="-11904" dirty="0">
                <a:solidFill>
                  <a:srgbClr val="0000FF"/>
                </a:solidFill>
                <a:latin typeface="Georgia"/>
                <a:cs typeface="Georgia"/>
              </a:rPr>
              <a:t>1</a:t>
            </a:r>
            <a:r>
              <a:rPr sz="1586" i="1" spc="143" dirty="0">
                <a:solidFill>
                  <a:srgbClr val="0000FF"/>
                </a:solidFill>
                <a:latin typeface="Calibri"/>
                <a:cs typeface="Calibri"/>
              </a:rPr>
              <a:t>h</a:t>
            </a:r>
            <a:r>
              <a:rPr sz="1665" spc="214" baseline="-11904" dirty="0">
                <a:solidFill>
                  <a:srgbClr val="0000FF"/>
                </a:solidFill>
                <a:latin typeface="Georgia"/>
                <a:cs typeface="Georgia"/>
              </a:rPr>
              <a:t>9</a:t>
            </a:r>
            <a:r>
              <a:rPr sz="1665" spc="262"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40" dirty="0">
                <a:solidFill>
                  <a:srgbClr val="0000FF"/>
                </a:solidFill>
                <a:latin typeface="Times New Roman"/>
                <a:cs typeface="Times New Roman"/>
              </a:rPr>
              <a:t> </a:t>
            </a:r>
            <a:r>
              <a:rPr sz="1586" i="1" spc="103" dirty="0">
                <a:solidFill>
                  <a:srgbClr val="0000FF"/>
                </a:solidFill>
                <a:latin typeface="Calibri"/>
                <a:cs typeface="Calibri"/>
              </a:rPr>
              <a:t>f</a:t>
            </a:r>
            <a:r>
              <a:rPr sz="1665" spc="154" baseline="-11904" dirty="0">
                <a:solidFill>
                  <a:srgbClr val="0000FF"/>
                </a:solidFill>
                <a:latin typeface="Georgia"/>
                <a:cs typeface="Georgia"/>
              </a:rPr>
              <a:t>2</a:t>
            </a:r>
            <a:r>
              <a:rPr sz="1586" i="1" spc="103" dirty="0">
                <a:solidFill>
                  <a:srgbClr val="0000FF"/>
                </a:solidFill>
                <a:latin typeface="Calibri"/>
                <a:cs typeface="Calibri"/>
              </a:rPr>
              <a:t>h</a:t>
            </a:r>
            <a:r>
              <a:rPr sz="1665" spc="154" baseline="-11904" dirty="0">
                <a:solidFill>
                  <a:srgbClr val="0000FF"/>
                </a:solidFill>
                <a:latin typeface="Georgia"/>
                <a:cs typeface="Georgia"/>
              </a:rPr>
              <a:t>8</a:t>
            </a:r>
            <a:r>
              <a:rPr sz="1665" spc="273"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40" dirty="0">
                <a:solidFill>
                  <a:srgbClr val="0000FF"/>
                </a:solidFill>
                <a:latin typeface="Times New Roman"/>
                <a:cs typeface="Times New Roman"/>
              </a:rPr>
              <a:t> </a:t>
            </a:r>
            <a:r>
              <a:rPr sz="1586" i="1" spc="103" dirty="0">
                <a:solidFill>
                  <a:srgbClr val="0000FF"/>
                </a:solidFill>
                <a:latin typeface="Calibri"/>
                <a:cs typeface="Calibri"/>
              </a:rPr>
              <a:t>f</a:t>
            </a:r>
            <a:r>
              <a:rPr sz="1665" spc="154" baseline="-11904" dirty="0">
                <a:solidFill>
                  <a:srgbClr val="0000FF"/>
                </a:solidFill>
                <a:latin typeface="Georgia"/>
                <a:cs typeface="Georgia"/>
              </a:rPr>
              <a:t>3</a:t>
            </a:r>
            <a:r>
              <a:rPr sz="1586" i="1" spc="103" dirty="0">
                <a:solidFill>
                  <a:srgbClr val="0000FF"/>
                </a:solidFill>
                <a:latin typeface="Calibri"/>
                <a:cs typeface="Calibri"/>
              </a:rPr>
              <a:t>h</a:t>
            </a:r>
            <a:r>
              <a:rPr sz="1665" spc="154" baseline="-11904" dirty="0">
                <a:solidFill>
                  <a:srgbClr val="0000FF"/>
                </a:solidFill>
                <a:latin typeface="Georgia"/>
                <a:cs typeface="Georgia"/>
              </a:rPr>
              <a:t>7</a:t>
            </a:r>
            <a:endParaRPr sz="1665" baseline="-11904">
              <a:latin typeface="Georgia"/>
              <a:cs typeface="Georgia"/>
            </a:endParaRPr>
          </a:p>
        </p:txBody>
      </p:sp>
      <p:sp>
        <p:nvSpPr>
          <p:cNvPr id="100" name="object 100"/>
          <p:cNvSpPr txBox="1"/>
          <p:nvPr/>
        </p:nvSpPr>
        <p:spPr>
          <a:xfrm>
            <a:off x="6101907" y="3957670"/>
            <a:ext cx="1939575" cy="632536"/>
          </a:xfrm>
          <a:prstGeom prst="rect">
            <a:avLst/>
          </a:prstGeom>
        </p:spPr>
        <p:txBody>
          <a:bodyPr vert="horz" wrap="square" lIns="0" tIns="79557" rIns="0" bIns="0" rtlCol="0">
            <a:spAutoFit/>
          </a:bodyPr>
          <a:lstStyle/>
          <a:p>
            <a:pPr marL="60423">
              <a:spcBef>
                <a:spcPts val="626"/>
              </a:spcBef>
            </a:pPr>
            <a:r>
              <a:rPr sz="1586" spc="151" dirty="0">
                <a:solidFill>
                  <a:srgbClr val="0000FF"/>
                </a:solidFill>
                <a:latin typeface="Times New Roman"/>
                <a:cs typeface="Times New Roman"/>
              </a:rPr>
              <a:t>+</a:t>
            </a:r>
            <a:r>
              <a:rPr sz="1586" i="1" spc="151" dirty="0">
                <a:solidFill>
                  <a:srgbClr val="0000FF"/>
                </a:solidFill>
                <a:latin typeface="Calibri"/>
                <a:cs typeface="Calibri"/>
              </a:rPr>
              <a:t>f</a:t>
            </a:r>
            <a:r>
              <a:rPr sz="1665" spc="225" baseline="-11904" dirty="0">
                <a:solidFill>
                  <a:srgbClr val="0000FF"/>
                </a:solidFill>
                <a:latin typeface="Georgia"/>
                <a:cs typeface="Georgia"/>
              </a:rPr>
              <a:t>4</a:t>
            </a:r>
            <a:r>
              <a:rPr sz="1586" i="1" spc="151" dirty="0">
                <a:solidFill>
                  <a:srgbClr val="0000FF"/>
                </a:solidFill>
                <a:latin typeface="Calibri"/>
                <a:cs typeface="Calibri"/>
              </a:rPr>
              <a:t>h</a:t>
            </a:r>
            <a:r>
              <a:rPr sz="1665" spc="225" baseline="-11904" dirty="0">
                <a:solidFill>
                  <a:srgbClr val="0000FF"/>
                </a:solidFill>
                <a:latin typeface="Georgia"/>
                <a:cs typeface="Georgia"/>
              </a:rPr>
              <a:t>6</a:t>
            </a:r>
            <a:r>
              <a:rPr sz="1665" spc="262"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48" dirty="0">
                <a:solidFill>
                  <a:srgbClr val="0000FF"/>
                </a:solidFill>
                <a:latin typeface="Times New Roman"/>
                <a:cs typeface="Times New Roman"/>
              </a:rPr>
              <a:t> </a:t>
            </a:r>
            <a:r>
              <a:rPr sz="1586" i="1" spc="127" dirty="0">
                <a:solidFill>
                  <a:srgbClr val="0000FF"/>
                </a:solidFill>
                <a:latin typeface="Calibri"/>
                <a:cs typeface="Calibri"/>
              </a:rPr>
              <a:t>f</a:t>
            </a:r>
            <a:r>
              <a:rPr sz="1665" spc="190" baseline="-11904" dirty="0">
                <a:solidFill>
                  <a:srgbClr val="0000FF"/>
                </a:solidFill>
                <a:latin typeface="Georgia"/>
                <a:cs typeface="Georgia"/>
              </a:rPr>
              <a:t>5</a:t>
            </a:r>
            <a:r>
              <a:rPr sz="1586" i="1" spc="127" dirty="0">
                <a:solidFill>
                  <a:srgbClr val="0000FF"/>
                </a:solidFill>
                <a:latin typeface="Calibri"/>
                <a:cs typeface="Calibri"/>
              </a:rPr>
              <a:t>h</a:t>
            </a:r>
            <a:r>
              <a:rPr sz="1665" spc="190" baseline="-11904" dirty="0">
                <a:solidFill>
                  <a:srgbClr val="0000FF"/>
                </a:solidFill>
                <a:latin typeface="Georgia"/>
                <a:cs typeface="Georgia"/>
              </a:rPr>
              <a:t>5</a:t>
            </a:r>
            <a:r>
              <a:rPr sz="1665" spc="262"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40" dirty="0">
                <a:solidFill>
                  <a:srgbClr val="0000FF"/>
                </a:solidFill>
                <a:latin typeface="Times New Roman"/>
                <a:cs typeface="Times New Roman"/>
              </a:rPr>
              <a:t> </a:t>
            </a:r>
            <a:r>
              <a:rPr sz="1586" i="1" spc="71" dirty="0">
                <a:solidFill>
                  <a:srgbClr val="0000FF"/>
                </a:solidFill>
                <a:latin typeface="Calibri"/>
                <a:cs typeface="Calibri"/>
              </a:rPr>
              <a:t>f</a:t>
            </a:r>
            <a:r>
              <a:rPr sz="1665" spc="106" baseline="-11904" dirty="0">
                <a:solidFill>
                  <a:srgbClr val="0000FF"/>
                </a:solidFill>
                <a:latin typeface="Georgia"/>
                <a:cs typeface="Georgia"/>
              </a:rPr>
              <a:t>6</a:t>
            </a:r>
            <a:r>
              <a:rPr sz="1586" i="1" spc="71" dirty="0">
                <a:solidFill>
                  <a:srgbClr val="0000FF"/>
                </a:solidFill>
                <a:latin typeface="Calibri"/>
                <a:cs typeface="Calibri"/>
              </a:rPr>
              <a:t>h</a:t>
            </a:r>
            <a:r>
              <a:rPr sz="1665" spc="106" baseline="-11904" dirty="0">
                <a:solidFill>
                  <a:srgbClr val="0000FF"/>
                </a:solidFill>
                <a:latin typeface="Georgia"/>
                <a:cs typeface="Georgia"/>
              </a:rPr>
              <a:t>4</a:t>
            </a:r>
            <a:endParaRPr sz="1665" baseline="-11904">
              <a:latin typeface="Georgia"/>
              <a:cs typeface="Georgia"/>
            </a:endParaRPr>
          </a:p>
          <a:p>
            <a:pPr marL="60423">
              <a:spcBef>
                <a:spcPts val="468"/>
              </a:spcBef>
            </a:pPr>
            <a:r>
              <a:rPr sz="1586" spc="167" dirty="0">
                <a:solidFill>
                  <a:srgbClr val="0000FF"/>
                </a:solidFill>
                <a:latin typeface="Times New Roman"/>
                <a:cs typeface="Times New Roman"/>
              </a:rPr>
              <a:t>+</a:t>
            </a:r>
            <a:r>
              <a:rPr sz="1586" i="1" spc="167" dirty="0">
                <a:solidFill>
                  <a:srgbClr val="0000FF"/>
                </a:solidFill>
                <a:latin typeface="Calibri"/>
                <a:cs typeface="Calibri"/>
              </a:rPr>
              <a:t>f</a:t>
            </a:r>
            <a:r>
              <a:rPr sz="1665" spc="249" baseline="-11904" dirty="0">
                <a:solidFill>
                  <a:srgbClr val="0000FF"/>
                </a:solidFill>
                <a:latin typeface="Georgia"/>
                <a:cs typeface="Georgia"/>
              </a:rPr>
              <a:t>7</a:t>
            </a:r>
            <a:r>
              <a:rPr sz="1586" i="1" spc="167" dirty="0">
                <a:solidFill>
                  <a:srgbClr val="0000FF"/>
                </a:solidFill>
                <a:latin typeface="Calibri"/>
                <a:cs typeface="Calibri"/>
              </a:rPr>
              <a:t>h</a:t>
            </a:r>
            <a:r>
              <a:rPr sz="1665" spc="249" baseline="-11904" dirty="0">
                <a:solidFill>
                  <a:srgbClr val="0000FF"/>
                </a:solidFill>
                <a:latin typeface="Georgia"/>
                <a:cs typeface="Georgia"/>
              </a:rPr>
              <a:t>3</a:t>
            </a:r>
            <a:r>
              <a:rPr sz="1665" spc="273"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32" dirty="0">
                <a:solidFill>
                  <a:srgbClr val="0000FF"/>
                </a:solidFill>
                <a:latin typeface="Times New Roman"/>
                <a:cs typeface="Times New Roman"/>
              </a:rPr>
              <a:t> </a:t>
            </a:r>
            <a:r>
              <a:rPr sz="1586" i="1" spc="103" dirty="0">
                <a:solidFill>
                  <a:srgbClr val="0000FF"/>
                </a:solidFill>
                <a:latin typeface="Calibri"/>
                <a:cs typeface="Calibri"/>
              </a:rPr>
              <a:t>f</a:t>
            </a:r>
            <a:r>
              <a:rPr sz="1665" spc="154" baseline="-11904" dirty="0">
                <a:solidFill>
                  <a:srgbClr val="0000FF"/>
                </a:solidFill>
                <a:latin typeface="Georgia"/>
                <a:cs typeface="Georgia"/>
              </a:rPr>
              <a:t>8</a:t>
            </a:r>
            <a:r>
              <a:rPr sz="1586" i="1" spc="103" dirty="0">
                <a:solidFill>
                  <a:srgbClr val="0000FF"/>
                </a:solidFill>
                <a:latin typeface="Calibri"/>
                <a:cs typeface="Calibri"/>
              </a:rPr>
              <a:t>h</a:t>
            </a:r>
            <a:r>
              <a:rPr sz="1665" spc="154" baseline="-11904" dirty="0">
                <a:solidFill>
                  <a:srgbClr val="0000FF"/>
                </a:solidFill>
                <a:latin typeface="Georgia"/>
                <a:cs typeface="Georgia"/>
              </a:rPr>
              <a:t>2</a:t>
            </a:r>
            <a:r>
              <a:rPr sz="1665" spc="273" baseline="-11904" dirty="0">
                <a:solidFill>
                  <a:srgbClr val="0000FF"/>
                </a:solidFill>
                <a:latin typeface="Georgia"/>
                <a:cs typeface="Georgia"/>
              </a:rPr>
              <a:t> </a:t>
            </a:r>
            <a:r>
              <a:rPr sz="1586" spc="324" dirty="0">
                <a:solidFill>
                  <a:srgbClr val="0000FF"/>
                </a:solidFill>
                <a:latin typeface="Times New Roman"/>
                <a:cs typeface="Times New Roman"/>
              </a:rPr>
              <a:t>+</a:t>
            </a:r>
            <a:r>
              <a:rPr sz="1586" spc="-32" dirty="0">
                <a:solidFill>
                  <a:srgbClr val="0000FF"/>
                </a:solidFill>
                <a:latin typeface="Times New Roman"/>
                <a:cs typeface="Times New Roman"/>
              </a:rPr>
              <a:t> </a:t>
            </a:r>
            <a:r>
              <a:rPr sz="1586" i="1" spc="111" dirty="0">
                <a:solidFill>
                  <a:srgbClr val="0000FF"/>
                </a:solidFill>
                <a:latin typeface="Calibri"/>
                <a:cs typeface="Calibri"/>
              </a:rPr>
              <a:t>f</a:t>
            </a:r>
            <a:r>
              <a:rPr sz="1665" spc="165" baseline="-11904" dirty="0">
                <a:solidFill>
                  <a:srgbClr val="0000FF"/>
                </a:solidFill>
                <a:latin typeface="Georgia"/>
                <a:cs typeface="Georgia"/>
              </a:rPr>
              <a:t>9</a:t>
            </a:r>
            <a:r>
              <a:rPr sz="1586" i="1" spc="111" dirty="0">
                <a:solidFill>
                  <a:srgbClr val="0000FF"/>
                </a:solidFill>
                <a:latin typeface="Calibri"/>
                <a:cs typeface="Calibri"/>
              </a:rPr>
              <a:t>h</a:t>
            </a:r>
            <a:r>
              <a:rPr sz="1665" spc="165" baseline="-11904" dirty="0">
                <a:solidFill>
                  <a:srgbClr val="0000FF"/>
                </a:solidFill>
                <a:latin typeface="Georgia"/>
                <a:cs typeface="Georgia"/>
              </a:rPr>
              <a:t>1</a:t>
            </a:r>
            <a:endParaRPr sz="1665" baseline="-11904">
              <a:latin typeface="Georgia"/>
              <a:cs typeface="Georgia"/>
            </a:endParaRPr>
          </a:p>
        </p:txBody>
      </p:sp>
      <p:sp>
        <p:nvSpPr>
          <p:cNvPr id="101" name="object 101"/>
          <p:cNvSpPr txBox="1"/>
          <p:nvPr/>
        </p:nvSpPr>
        <p:spPr>
          <a:xfrm>
            <a:off x="8477636" y="4019884"/>
            <a:ext cx="297079" cy="263362"/>
          </a:xfrm>
          <a:prstGeom prst="rect">
            <a:avLst/>
          </a:prstGeom>
        </p:spPr>
        <p:txBody>
          <a:bodyPr vert="horz" wrap="square" lIns="0" tIns="19134" rIns="0" bIns="0" rtlCol="0">
            <a:spAutoFit/>
          </a:bodyPr>
          <a:lstStyle/>
          <a:p>
            <a:pPr marL="20141">
              <a:spcBef>
                <a:spcPts val="151"/>
              </a:spcBef>
            </a:pPr>
            <a:r>
              <a:rPr sz="1586" spc="-40" dirty="0">
                <a:solidFill>
                  <a:srgbClr val="0000FF"/>
                </a:solidFill>
                <a:latin typeface="Times New Roman"/>
                <a:cs typeface="Times New Roman"/>
              </a:rPr>
              <a:t>(7)</a:t>
            </a:r>
            <a:endParaRPr sz="1586">
              <a:latin typeface="Times New Roman"/>
              <a:cs typeface="Times New Roman"/>
            </a:endParaRPr>
          </a:p>
        </p:txBody>
      </p:sp>
      <p:sp>
        <p:nvSpPr>
          <p:cNvPr id="106" name="object 106"/>
          <p:cNvSpPr txBox="1">
            <a:spLocks noGrp="1"/>
          </p:cNvSpPr>
          <p:nvPr>
            <p:ph type="ftr" sz="quarter" idx="5"/>
          </p:nvPr>
        </p:nvSpPr>
        <p:spPr>
          <a:xfrm>
            <a:off x="4930509" y="11826777"/>
            <a:ext cx="4640479" cy="863537"/>
          </a:xfrm>
          <a:prstGeom prst="rect">
            <a:avLst/>
          </a:prstGeom>
        </p:spPr>
        <p:txBody>
          <a:bodyPr vert="horz" wrap="square" lIns="0" tIns="32226" rIns="0" bIns="0" rtlCol="0">
            <a:spAutoFit/>
          </a:bodyPr>
          <a:lstStyle/>
          <a:p>
            <a:pPr marL="20141">
              <a:spcBef>
                <a:spcPts val="254"/>
              </a:spcBef>
            </a:pPr>
            <a:r>
              <a:rPr spc="127" dirty="0"/>
              <a:t>Dr.</a:t>
            </a:r>
            <a:r>
              <a:rPr spc="333" dirty="0"/>
              <a:t> </a:t>
            </a:r>
            <a:r>
              <a:rPr spc="127" dirty="0"/>
              <a:t>Rizwan</a:t>
            </a:r>
            <a:r>
              <a:rPr spc="206" dirty="0"/>
              <a:t> </a:t>
            </a:r>
            <a:r>
              <a:rPr spc="151" dirty="0"/>
              <a:t>Ahmed</a:t>
            </a:r>
            <a:r>
              <a:rPr spc="214" dirty="0"/>
              <a:t> </a:t>
            </a:r>
            <a:r>
              <a:rPr spc="135" dirty="0"/>
              <a:t>Khan,</a:t>
            </a:r>
            <a:r>
              <a:rPr spc="206" dirty="0"/>
              <a:t> </a:t>
            </a:r>
            <a:r>
              <a:rPr spc="103" dirty="0"/>
              <a:t>https://sites.google.com/site/drkhanrizwan17/</a:t>
            </a:r>
          </a:p>
        </p:txBody>
      </p:sp>
      <p:sp>
        <p:nvSpPr>
          <p:cNvPr id="108" name="object 108"/>
          <p:cNvSpPr txBox="1"/>
          <p:nvPr/>
        </p:nvSpPr>
        <p:spPr>
          <a:xfrm>
            <a:off x="8418340" y="5818001"/>
            <a:ext cx="477341" cy="154562"/>
          </a:xfrm>
          <a:prstGeom prst="rect">
            <a:avLst/>
          </a:prstGeom>
        </p:spPr>
        <p:txBody>
          <a:bodyPr vert="horz" wrap="square" lIns="0" tIns="32226" rIns="0" bIns="0" rtlCol="0">
            <a:spAutoFit/>
          </a:bodyPr>
          <a:lstStyle/>
          <a:p>
            <a:pPr marL="20141">
              <a:spcBef>
                <a:spcPts val="254"/>
              </a:spcBef>
            </a:pPr>
            <a:r>
              <a:rPr sz="793" spc="111" dirty="0">
                <a:solidFill>
                  <a:srgbClr val="FFFFFF"/>
                </a:solidFill>
                <a:latin typeface="Georgia"/>
                <a:cs typeface="Georgia"/>
              </a:rPr>
              <a:t>37</a:t>
            </a:r>
            <a:r>
              <a:rPr sz="793" spc="190" dirty="0">
                <a:solidFill>
                  <a:srgbClr val="FFFFFF"/>
                </a:solidFill>
                <a:latin typeface="Georgia"/>
                <a:cs typeface="Georgia"/>
              </a:rPr>
              <a:t> </a:t>
            </a:r>
            <a:r>
              <a:rPr sz="793" spc="151" dirty="0">
                <a:solidFill>
                  <a:srgbClr val="FFFFFF"/>
                </a:solidFill>
                <a:latin typeface="Georgia"/>
                <a:cs typeface="Georgia"/>
              </a:rPr>
              <a:t>/</a:t>
            </a:r>
            <a:r>
              <a:rPr sz="793" spc="190" dirty="0">
                <a:solidFill>
                  <a:srgbClr val="FFFFFF"/>
                </a:solidFill>
                <a:latin typeface="Georgia"/>
                <a:cs typeface="Georgia"/>
              </a:rPr>
              <a:t> </a:t>
            </a:r>
            <a:r>
              <a:rPr sz="793" spc="-40" dirty="0">
                <a:solidFill>
                  <a:srgbClr val="FFFFFF"/>
                </a:solidFill>
                <a:latin typeface="Georgia"/>
                <a:cs typeface="Georgia"/>
              </a:rPr>
              <a:t>68</a:t>
            </a:r>
            <a:endParaRPr sz="793">
              <a:latin typeface="Georgia"/>
              <a:cs typeface="Georgia"/>
            </a:endParaRPr>
          </a:p>
        </p:txBody>
      </p:sp>
      <p:sp>
        <p:nvSpPr>
          <p:cNvPr id="2" name="TextBox 1">
            <a:extLst>
              <a:ext uri="{FF2B5EF4-FFF2-40B4-BE49-F238E27FC236}">
                <a16:creationId xmlns:a16="http://schemas.microsoft.com/office/drawing/2014/main" id="{8CCF430B-EC33-4BE3-86B8-74655D80F5B2}"/>
              </a:ext>
            </a:extLst>
          </p:cNvPr>
          <p:cNvSpPr txBox="1"/>
          <p:nvPr/>
        </p:nvSpPr>
        <p:spPr>
          <a:xfrm>
            <a:off x="533400" y="609600"/>
            <a:ext cx="7884940" cy="523220"/>
          </a:xfrm>
          <a:prstGeom prst="rect">
            <a:avLst/>
          </a:prstGeom>
          <a:noFill/>
        </p:spPr>
        <p:txBody>
          <a:bodyPr wrap="square" rtlCol="0">
            <a:spAutoFit/>
          </a:bodyPr>
          <a:lstStyle/>
          <a:p>
            <a:r>
              <a:rPr lang="en-US" sz="2800" b="1" dirty="0">
                <a:latin typeface="+mj-lt"/>
              </a:rPr>
              <a:t>Convolution</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1050/1*FllkU0HqHL7jYqk-2-U8Gg.png">
            <a:extLst>
              <a:ext uri="{FF2B5EF4-FFF2-40B4-BE49-F238E27FC236}">
                <a16:creationId xmlns:a16="http://schemas.microsoft.com/office/drawing/2014/main" id="{76E6D7D4-9700-420F-AE78-7F4FDB4E6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99306"/>
            <a:ext cx="7924800" cy="5259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59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0855" y="830071"/>
            <a:ext cx="8355965" cy="3074670"/>
          </a:xfrm>
          <a:prstGeom prst="rect">
            <a:avLst/>
          </a:prstGeom>
        </p:spPr>
        <p:txBody>
          <a:bodyPr vert="horz" wrap="square" lIns="0" tIns="13335" rIns="0" bIns="0" rtlCol="0">
            <a:spAutoFit/>
          </a:bodyPr>
          <a:lstStyle/>
          <a:p>
            <a:pPr marL="12700" marR="8890">
              <a:lnSpc>
                <a:spcPct val="100000"/>
              </a:lnSpc>
              <a:spcBef>
                <a:spcPts val="105"/>
              </a:spcBef>
            </a:pPr>
            <a:r>
              <a:rPr sz="2000" b="1" dirty="0">
                <a:solidFill>
                  <a:srgbClr val="C00000"/>
                </a:solidFill>
                <a:latin typeface="Times New Roman"/>
                <a:cs typeface="Times New Roman"/>
              </a:rPr>
              <a:t>Smoothing</a:t>
            </a:r>
            <a:r>
              <a:rPr sz="2000" b="1" spc="340" dirty="0">
                <a:solidFill>
                  <a:srgbClr val="C00000"/>
                </a:solidFill>
                <a:latin typeface="Times New Roman"/>
                <a:cs typeface="Times New Roman"/>
              </a:rPr>
              <a:t> </a:t>
            </a:r>
            <a:r>
              <a:rPr sz="2000" b="1" dirty="0">
                <a:latin typeface="Times New Roman"/>
                <a:cs typeface="Times New Roman"/>
              </a:rPr>
              <a:t>(also</a:t>
            </a:r>
            <a:r>
              <a:rPr sz="2000" b="1" spc="350" dirty="0">
                <a:latin typeface="Times New Roman"/>
                <a:cs typeface="Times New Roman"/>
              </a:rPr>
              <a:t> </a:t>
            </a:r>
            <a:r>
              <a:rPr sz="2000" b="1" dirty="0">
                <a:latin typeface="Times New Roman"/>
                <a:cs typeface="Times New Roman"/>
              </a:rPr>
              <a:t>called</a:t>
            </a:r>
            <a:r>
              <a:rPr sz="2000" b="1" spc="330" dirty="0">
                <a:latin typeface="Times New Roman"/>
                <a:cs typeface="Times New Roman"/>
              </a:rPr>
              <a:t> </a:t>
            </a:r>
            <a:r>
              <a:rPr sz="2000" b="1" dirty="0">
                <a:latin typeface="Times New Roman"/>
                <a:cs typeface="Times New Roman"/>
              </a:rPr>
              <a:t>averaging)</a:t>
            </a:r>
            <a:r>
              <a:rPr sz="2000" b="1" spc="335" dirty="0">
                <a:latin typeface="Times New Roman"/>
                <a:cs typeface="Times New Roman"/>
              </a:rPr>
              <a:t> </a:t>
            </a:r>
            <a:r>
              <a:rPr sz="2000" b="1" dirty="0">
                <a:latin typeface="Times New Roman"/>
                <a:cs typeface="Times New Roman"/>
              </a:rPr>
              <a:t>spatial</a:t>
            </a:r>
            <a:r>
              <a:rPr sz="2000" b="1" spc="340" dirty="0">
                <a:latin typeface="Times New Roman"/>
                <a:cs typeface="Times New Roman"/>
              </a:rPr>
              <a:t> </a:t>
            </a:r>
            <a:r>
              <a:rPr sz="2000" b="1" dirty="0">
                <a:latin typeface="Times New Roman"/>
                <a:cs typeface="Times New Roman"/>
              </a:rPr>
              <a:t>filters</a:t>
            </a:r>
            <a:r>
              <a:rPr sz="2000" b="1" spc="335" dirty="0">
                <a:latin typeface="Times New Roman"/>
                <a:cs typeface="Times New Roman"/>
              </a:rPr>
              <a:t> </a:t>
            </a:r>
            <a:r>
              <a:rPr sz="2000" b="1" dirty="0">
                <a:latin typeface="Times New Roman"/>
                <a:cs typeface="Times New Roman"/>
              </a:rPr>
              <a:t>are</a:t>
            </a:r>
            <a:r>
              <a:rPr sz="2000" b="1" spc="340" dirty="0">
                <a:latin typeface="Times New Roman"/>
                <a:cs typeface="Times New Roman"/>
              </a:rPr>
              <a:t> </a:t>
            </a:r>
            <a:r>
              <a:rPr sz="2000" b="1" dirty="0">
                <a:solidFill>
                  <a:srgbClr val="FF0000"/>
                </a:solidFill>
                <a:latin typeface="Times New Roman"/>
                <a:cs typeface="Times New Roman"/>
              </a:rPr>
              <a:t>used</a:t>
            </a:r>
            <a:r>
              <a:rPr sz="2000" b="1" spc="340" dirty="0">
                <a:solidFill>
                  <a:srgbClr val="FF0000"/>
                </a:solidFill>
                <a:latin typeface="Times New Roman"/>
                <a:cs typeface="Times New Roman"/>
              </a:rPr>
              <a:t> </a:t>
            </a:r>
            <a:r>
              <a:rPr sz="2000" b="1" dirty="0">
                <a:solidFill>
                  <a:srgbClr val="FF0000"/>
                </a:solidFill>
                <a:latin typeface="Times New Roman"/>
                <a:cs typeface="Times New Roman"/>
              </a:rPr>
              <a:t>to</a:t>
            </a:r>
            <a:r>
              <a:rPr sz="2000" b="1" spc="360" dirty="0">
                <a:solidFill>
                  <a:srgbClr val="FF0000"/>
                </a:solidFill>
                <a:latin typeface="Times New Roman"/>
                <a:cs typeface="Times New Roman"/>
              </a:rPr>
              <a:t> </a:t>
            </a:r>
            <a:r>
              <a:rPr sz="2000" b="1" dirty="0">
                <a:solidFill>
                  <a:srgbClr val="006FC0"/>
                </a:solidFill>
                <a:latin typeface="Times New Roman"/>
                <a:cs typeface="Times New Roman"/>
              </a:rPr>
              <a:t>reduce</a:t>
            </a:r>
            <a:r>
              <a:rPr sz="2000" b="1" spc="325" dirty="0">
                <a:solidFill>
                  <a:srgbClr val="006FC0"/>
                </a:solidFill>
                <a:latin typeface="Times New Roman"/>
                <a:cs typeface="Times New Roman"/>
              </a:rPr>
              <a:t> </a:t>
            </a:r>
            <a:r>
              <a:rPr sz="2000" b="1" spc="-10" dirty="0">
                <a:solidFill>
                  <a:srgbClr val="006FC0"/>
                </a:solidFill>
                <a:latin typeface="Times New Roman"/>
                <a:cs typeface="Times New Roman"/>
              </a:rPr>
              <a:t>sharp </a:t>
            </a:r>
            <a:r>
              <a:rPr sz="2000" b="1" dirty="0">
                <a:solidFill>
                  <a:srgbClr val="006FC0"/>
                </a:solidFill>
                <a:latin typeface="Times New Roman"/>
                <a:cs typeface="Times New Roman"/>
              </a:rPr>
              <a:t>transitions</a:t>
            </a:r>
            <a:r>
              <a:rPr sz="2000" b="1" spc="-55" dirty="0">
                <a:solidFill>
                  <a:srgbClr val="006FC0"/>
                </a:solidFill>
                <a:latin typeface="Times New Roman"/>
                <a:cs typeface="Times New Roman"/>
              </a:rPr>
              <a:t> </a:t>
            </a:r>
            <a:r>
              <a:rPr sz="2000" b="1" dirty="0">
                <a:solidFill>
                  <a:srgbClr val="006FC0"/>
                </a:solidFill>
                <a:latin typeface="Times New Roman"/>
                <a:cs typeface="Times New Roman"/>
              </a:rPr>
              <a:t>in</a:t>
            </a:r>
            <a:r>
              <a:rPr sz="2000" b="1" spc="-10" dirty="0">
                <a:solidFill>
                  <a:srgbClr val="006FC0"/>
                </a:solidFill>
                <a:latin typeface="Times New Roman"/>
                <a:cs typeface="Times New Roman"/>
              </a:rPr>
              <a:t> intensity.</a:t>
            </a:r>
            <a:endParaRPr sz="2000" dirty="0">
              <a:latin typeface="Times New Roman"/>
              <a:cs typeface="Times New Roman"/>
            </a:endParaRPr>
          </a:p>
          <a:p>
            <a:pPr marL="12700" marR="6350">
              <a:lnSpc>
                <a:spcPct val="100000"/>
              </a:lnSpc>
            </a:pPr>
            <a:r>
              <a:rPr sz="2000" b="1" dirty="0">
                <a:latin typeface="Times New Roman"/>
                <a:cs typeface="Times New Roman"/>
              </a:rPr>
              <a:t>Because</a:t>
            </a:r>
            <a:r>
              <a:rPr sz="2000" b="1" spc="120" dirty="0">
                <a:latin typeface="Times New Roman"/>
                <a:cs typeface="Times New Roman"/>
              </a:rPr>
              <a:t> </a:t>
            </a:r>
            <a:r>
              <a:rPr sz="2000" b="1" dirty="0">
                <a:latin typeface="Times New Roman"/>
                <a:cs typeface="Times New Roman"/>
              </a:rPr>
              <a:t>random</a:t>
            </a:r>
            <a:r>
              <a:rPr sz="2000" b="1" spc="125" dirty="0">
                <a:latin typeface="Times New Roman"/>
                <a:cs typeface="Times New Roman"/>
              </a:rPr>
              <a:t> </a:t>
            </a:r>
            <a:r>
              <a:rPr sz="2000" b="1" dirty="0">
                <a:latin typeface="Times New Roman"/>
                <a:cs typeface="Times New Roman"/>
              </a:rPr>
              <a:t>noise</a:t>
            </a:r>
            <a:r>
              <a:rPr sz="2000" b="1" spc="114" dirty="0">
                <a:latin typeface="Times New Roman"/>
                <a:cs typeface="Times New Roman"/>
              </a:rPr>
              <a:t> </a:t>
            </a:r>
            <a:r>
              <a:rPr sz="2000" b="1" dirty="0">
                <a:latin typeface="Times New Roman"/>
                <a:cs typeface="Times New Roman"/>
              </a:rPr>
              <a:t>typically</a:t>
            </a:r>
            <a:r>
              <a:rPr sz="2000" b="1" spc="130" dirty="0">
                <a:latin typeface="Times New Roman"/>
                <a:cs typeface="Times New Roman"/>
              </a:rPr>
              <a:t> </a:t>
            </a:r>
            <a:r>
              <a:rPr sz="2000" b="1" dirty="0">
                <a:latin typeface="Times New Roman"/>
                <a:cs typeface="Times New Roman"/>
              </a:rPr>
              <a:t>consists</a:t>
            </a:r>
            <a:r>
              <a:rPr sz="2000" b="1" spc="120" dirty="0">
                <a:latin typeface="Times New Roman"/>
                <a:cs typeface="Times New Roman"/>
              </a:rPr>
              <a:t> </a:t>
            </a:r>
            <a:r>
              <a:rPr sz="2000" b="1" dirty="0">
                <a:latin typeface="Times New Roman"/>
                <a:cs typeface="Times New Roman"/>
              </a:rPr>
              <a:t>of</a:t>
            </a:r>
            <a:r>
              <a:rPr sz="2000" b="1" spc="120" dirty="0">
                <a:latin typeface="Times New Roman"/>
                <a:cs typeface="Times New Roman"/>
              </a:rPr>
              <a:t> </a:t>
            </a:r>
            <a:r>
              <a:rPr sz="2000" b="1" dirty="0">
                <a:latin typeface="Times New Roman"/>
                <a:cs typeface="Times New Roman"/>
              </a:rPr>
              <a:t>sharp</a:t>
            </a:r>
            <a:r>
              <a:rPr sz="2000" b="1" spc="114" dirty="0">
                <a:latin typeface="Times New Roman"/>
                <a:cs typeface="Times New Roman"/>
              </a:rPr>
              <a:t> </a:t>
            </a:r>
            <a:r>
              <a:rPr sz="2000" b="1" dirty="0">
                <a:latin typeface="Times New Roman"/>
                <a:cs typeface="Times New Roman"/>
              </a:rPr>
              <a:t>transitions</a:t>
            </a:r>
            <a:r>
              <a:rPr sz="2000" b="1" spc="125" dirty="0">
                <a:latin typeface="Times New Roman"/>
                <a:cs typeface="Times New Roman"/>
              </a:rPr>
              <a:t> </a:t>
            </a:r>
            <a:r>
              <a:rPr sz="2000" b="1" dirty="0">
                <a:latin typeface="Times New Roman"/>
                <a:cs typeface="Times New Roman"/>
              </a:rPr>
              <a:t>in</a:t>
            </a:r>
            <a:r>
              <a:rPr sz="2000" b="1" spc="114" dirty="0">
                <a:latin typeface="Times New Roman"/>
                <a:cs typeface="Times New Roman"/>
              </a:rPr>
              <a:t> </a:t>
            </a:r>
            <a:r>
              <a:rPr sz="2000" b="1" dirty="0">
                <a:latin typeface="Times New Roman"/>
                <a:cs typeface="Times New Roman"/>
              </a:rPr>
              <a:t>intensity,</a:t>
            </a:r>
            <a:r>
              <a:rPr sz="2000" b="1" spc="114" dirty="0">
                <a:latin typeface="Times New Roman"/>
                <a:cs typeface="Times New Roman"/>
              </a:rPr>
              <a:t> </a:t>
            </a:r>
            <a:r>
              <a:rPr sz="2000" b="1" spc="-25" dirty="0">
                <a:latin typeface="Times New Roman"/>
                <a:cs typeface="Times New Roman"/>
              </a:rPr>
              <a:t>an </a:t>
            </a:r>
            <a:r>
              <a:rPr sz="2000" b="1" dirty="0">
                <a:latin typeface="Times New Roman"/>
                <a:cs typeface="Times New Roman"/>
              </a:rPr>
              <a:t>obvious</a:t>
            </a:r>
            <a:r>
              <a:rPr sz="2000" b="1" spc="-45" dirty="0">
                <a:latin typeface="Times New Roman"/>
                <a:cs typeface="Times New Roman"/>
              </a:rPr>
              <a:t> </a:t>
            </a:r>
            <a:r>
              <a:rPr sz="2000" b="1" dirty="0">
                <a:latin typeface="Times New Roman"/>
                <a:cs typeface="Times New Roman"/>
              </a:rPr>
              <a:t>application</a:t>
            </a:r>
            <a:r>
              <a:rPr sz="2000" b="1" spc="-45"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dirty="0">
                <a:latin typeface="Times New Roman"/>
                <a:cs typeface="Times New Roman"/>
              </a:rPr>
              <a:t>smoothing</a:t>
            </a:r>
            <a:r>
              <a:rPr sz="2000" b="1" spc="-35" dirty="0">
                <a:latin typeface="Times New Roman"/>
                <a:cs typeface="Times New Roman"/>
              </a:rPr>
              <a:t> </a:t>
            </a:r>
            <a:r>
              <a:rPr sz="2000" b="1" dirty="0">
                <a:latin typeface="Times New Roman"/>
                <a:cs typeface="Times New Roman"/>
              </a:rPr>
              <a:t>is</a:t>
            </a:r>
            <a:r>
              <a:rPr sz="2000" b="1" spc="5" dirty="0">
                <a:latin typeface="Times New Roman"/>
                <a:cs typeface="Times New Roman"/>
              </a:rPr>
              <a:t> </a:t>
            </a:r>
            <a:r>
              <a:rPr sz="2000" b="1" dirty="0">
                <a:latin typeface="Times New Roman"/>
                <a:cs typeface="Times New Roman"/>
              </a:rPr>
              <a:t>noise</a:t>
            </a:r>
            <a:r>
              <a:rPr sz="2000" b="1" spc="-20" dirty="0">
                <a:latin typeface="Times New Roman"/>
                <a:cs typeface="Times New Roman"/>
              </a:rPr>
              <a:t> </a:t>
            </a:r>
            <a:r>
              <a:rPr sz="2000" b="1" spc="-10" dirty="0">
                <a:latin typeface="Times New Roman"/>
                <a:cs typeface="Times New Roman"/>
              </a:rPr>
              <a:t>reduction.</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marR="5080">
              <a:lnSpc>
                <a:spcPct val="100000"/>
              </a:lnSpc>
              <a:tabLst>
                <a:tab pos="6431280" algn="l"/>
              </a:tabLst>
            </a:pPr>
            <a:r>
              <a:rPr sz="2000" b="1" dirty="0">
                <a:latin typeface="Times New Roman"/>
                <a:cs typeface="Times New Roman"/>
              </a:rPr>
              <a:t>Smoothing</a:t>
            </a:r>
            <a:r>
              <a:rPr sz="2000" b="1" spc="160" dirty="0">
                <a:latin typeface="Times New Roman"/>
                <a:cs typeface="Times New Roman"/>
              </a:rPr>
              <a:t> </a:t>
            </a:r>
            <a:r>
              <a:rPr sz="2000" b="1" dirty="0">
                <a:latin typeface="Times New Roman"/>
                <a:cs typeface="Times New Roman"/>
              </a:rPr>
              <a:t>prior</a:t>
            </a:r>
            <a:r>
              <a:rPr sz="2000" b="1" spc="125" dirty="0">
                <a:latin typeface="Times New Roman"/>
                <a:cs typeface="Times New Roman"/>
              </a:rPr>
              <a:t> </a:t>
            </a:r>
            <a:r>
              <a:rPr sz="2000" b="1" dirty="0">
                <a:latin typeface="Times New Roman"/>
                <a:cs typeface="Times New Roman"/>
              </a:rPr>
              <a:t>to</a:t>
            </a:r>
            <a:r>
              <a:rPr sz="2000" b="1" spc="165" dirty="0">
                <a:latin typeface="Times New Roman"/>
                <a:cs typeface="Times New Roman"/>
              </a:rPr>
              <a:t> </a:t>
            </a:r>
            <a:r>
              <a:rPr sz="2000" b="1" dirty="0">
                <a:latin typeface="Times New Roman"/>
                <a:cs typeface="Times New Roman"/>
              </a:rPr>
              <a:t>image</a:t>
            </a:r>
            <a:r>
              <a:rPr sz="2000" b="1" spc="165" dirty="0">
                <a:latin typeface="Times New Roman"/>
                <a:cs typeface="Times New Roman"/>
              </a:rPr>
              <a:t> </a:t>
            </a:r>
            <a:r>
              <a:rPr sz="2000" b="1" dirty="0">
                <a:latin typeface="Times New Roman"/>
                <a:cs typeface="Times New Roman"/>
              </a:rPr>
              <a:t>resampling</a:t>
            </a:r>
            <a:r>
              <a:rPr sz="2000" b="1" spc="150" dirty="0">
                <a:latin typeface="Times New Roman"/>
                <a:cs typeface="Times New Roman"/>
              </a:rPr>
              <a:t> </a:t>
            </a:r>
            <a:r>
              <a:rPr sz="2000" b="1" dirty="0">
                <a:latin typeface="Times New Roman"/>
                <a:cs typeface="Times New Roman"/>
              </a:rPr>
              <a:t>to</a:t>
            </a:r>
            <a:r>
              <a:rPr sz="2000" b="1" spc="150" dirty="0">
                <a:latin typeface="Times New Roman"/>
                <a:cs typeface="Times New Roman"/>
              </a:rPr>
              <a:t> </a:t>
            </a:r>
            <a:r>
              <a:rPr sz="2000" b="1" dirty="0">
                <a:latin typeface="Times New Roman"/>
                <a:cs typeface="Times New Roman"/>
              </a:rPr>
              <a:t>reduce</a:t>
            </a:r>
            <a:r>
              <a:rPr sz="2000" b="1" spc="155" dirty="0">
                <a:latin typeface="Times New Roman"/>
                <a:cs typeface="Times New Roman"/>
              </a:rPr>
              <a:t> </a:t>
            </a:r>
            <a:r>
              <a:rPr sz="2000" b="1" spc="-10" dirty="0">
                <a:latin typeface="Times New Roman"/>
                <a:cs typeface="Times New Roman"/>
              </a:rPr>
              <a:t>aliasing,</a:t>
            </a:r>
            <a:r>
              <a:rPr sz="2000" b="1" dirty="0">
                <a:latin typeface="Times New Roman"/>
                <a:cs typeface="Times New Roman"/>
              </a:rPr>
              <a:t>	is</a:t>
            </a:r>
            <a:r>
              <a:rPr sz="2000" b="1" spc="175" dirty="0">
                <a:latin typeface="Times New Roman"/>
                <a:cs typeface="Times New Roman"/>
              </a:rPr>
              <a:t> </a:t>
            </a:r>
            <a:r>
              <a:rPr sz="2000" b="1" dirty="0">
                <a:latin typeface="Times New Roman"/>
                <a:cs typeface="Times New Roman"/>
              </a:rPr>
              <a:t>also</a:t>
            </a:r>
            <a:r>
              <a:rPr sz="2000" b="1" spc="165" dirty="0">
                <a:latin typeface="Times New Roman"/>
                <a:cs typeface="Times New Roman"/>
              </a:rPr>
              <a:t> </a:t>
            </a:r>
            <a:r>
              <a:rPr sz="2000" b="1" dirty="0">
                <a:latin typeface="Times New Roman"/>
                <a:cs typeface="Times New Roman"/>
              </a:rPr>
              <a:t>a</a:t>
            </a:r>
            <a:r>
              <a:rPr sz="2000" b="1" spc="190" dirty="0">
                <a:latin typeface="Times New Roman"/>
                <a:cs typeface="Times New Roman"/>
              </a:rPr>
              <a:t> </a:t>
            </a:r>
            <a:r>
              <a:rPr sz="2000" b="1" spc="-10" dirty="0">
                <a:latin typeface="Times New Roman"/>
                <a:cs typeface="Times New Roman"/>
              </a:rPr>
              <a:t>common application.</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355600" indent="-342900">
              <a:lnSpc>
                <a:spcPct val="100000"/>
              </a:lnSpc>
              <a:spcBef>
                <a:spcPts val="5"/>
              </a:spcBef>
              <a:buClr>
                <a:srgbClr val="FF0000"/>
              </a:buClr>
              <a:buFont typeface="Wingdings"/>
              <a:buChar char=""/>
              <a:tabLst>
                <a:tab pos="355600" algn="l"/>
              </a:tabLst>
            </a:pPr>
            <a:r>
              <a:rPr sz="2000" b="1" dirty="0">
                <a:latin typeface="Times New Roman"/>
                <a:cs typeface="Times New Roman"/>
              </a:rPr>
              <a:t>The</a:t>
            </a:r>
            <a:r>
              <a:rPr sz="2000" b="1" spc="-5" dirty="0">
                <a:latin typeface="Times New Roman"/>
                <a:cs typeface="Times New Roman"/>
              </a:rPr>
              <a:t> </a:t>
            </a:r>
            <a:r>
              <a:rPr sz="2000" b="1" dirty="0">
                <a:solidFill>
                  <a:srgbClr val="006FC0"/>
                </a:solidFill>
                <a:latin typeface="Times New Roman"/>
                <a:cs typeface="Times New Roman"/>
              </a:rPr>
              <a:t>commonly</a:t>
            </a:r>
            <a:r>
              <a:rPr sz="2000" b="1" spc="-50" dirty="0">
                <a:solidFill>
                  <a:srgbClr val="006FC0"/>
                </a:solidFill>
                <a:latin typeface="Times New Roman"/>
                <a:cs typeface="Times New Roman"/>
              </a:rPr>
              <a:t> </a:t>
            </a:r>
            <a:r>
              <a:rPr sz="2000" b="1" dirty="0">
                <a:solidFill>
                  <a:srgbClr val="006FC0"/>
                </a:solidFill>
                <a:latin typeface="Times New Roman"/>
                <a:cs typeface="Times New Roman"/>
              </a:rPr>
              <a:t>used</a:t>
            </a:r>
            <a:r>
              <a:rPr sz="2000" b="1" spc="-10" dirty="0">
                <a:solidFill>
                  <a:srgbClr val="006FC0"/>
                </a:solidFill>
                <a:latin typeface="Times New Roman"/>
                <a:cs typeface="Times New Roman"/>
              </a:rPr>
              <a:t> </a:t>
            </a:r>
            <a:r>
              <a:rPr sz="2000" b="1" dirty="0">
                <a:solidFill>
                  <a:srgbClr val="006FC0"/>
                </a:solidFill>
                <a:latin typeface="Times New Roman"/>
                <a:cs typeface="Times New Roman"/>
              </a:rPr>
              <a:t>smoothing</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filters</a:t>
            </a:r>
            <a:r>
              <a:rPr sz="2000" b="1" spc="-40" dirty="0">
                <a:solidFill>
                  <a:srgbClr val="006FC0"/>
                </a:solidFill>
                <a:latin typeface="Times New Roman"/>
                <a:cs typeface="Times New Roman"/>
              </a:rPr>
              <a:t> </a:t>
            </a:r>
            <a:r>
              <a:rPr sz="2000" b="1" spc="-20" dirty="0">
                <a:latin typeface="Times New Roman"/>
                <a:cs typeface="Times New Roman"/>
              </a:rPr>
              <a:t>are</a:t>
            </a:r>
            <a:r>
              <a:rPr sz="2000" b="1" spc="-120" dirty="0">
                <a:latin typeface="Times New Roman"/>
                <a:cs typeface="Times New Roman"/>
              </a:rPr>
              <a:t> </a:t>
            </a:r>
            <a:r>
              <a:rPr sz="2000" b="1" spc="-10" dirty="0">
                <a:solidFill>
                  <a:srgbClr val="FF0000"/>
                </a:solidFill>
                <a:latin typeface="Times New Roman"/>
                <a:cs typeface="Times New Roman"/>
              </a:rPr>
              <a:t>Averaging</a:t>
            </a:r>
            <a:r>
              <a:rPr sz="2000" b="1" spc="-50" dirty="0">
                <a:solidFill>
                  <a:srgbClr val="FF0000"/>
                </a:solidFill>
                <a:latin typeface="Times New Roman"/>
                <a:cs typeface="Times New Roman"/>
              </a:rPr>
              <a:t> </a:t>
            </a:r>
            <a:r>
              <a:rPr sz="2000" b="1" dirty="0">
                <a:latin typeface="Times New Roman"/>
                <a:cs typeface="Times New Roman"/>
              </a:rPr>
              <a:t>and</a:t>
            </a:r>
            <a:r>
              <a:rPr sz="2000" b="1" spc="-20" dirty="0">
                <a:latin typeface="Times New Roman"/>
                <a:cs typeface="Times New Roman"/>
              </a:rPr>
              <a:t> </a:t>
            </a:r>
            <a:r>
              <a:rPr sz="2000" b="1" dirty="0">
                <a:solidFill>
                  <a:srgbClr val="FF0000"/>
                </a:solidFill>
                <a:latin typeface="Times New Roman"/>
                <a:cs typeface="Times New Roman"/>
              </a:rPr>
              <a:t>Gaussian</a:t>
            </a:r>
            <a:r>
              <a:rPr sz="2000" b="1" spc="-45" dirty="0">
                <a:solidFill>
                  <a:srgbClr val="FF0000"/>
                </a:solidFill>
                <a:latin typeface="Times New Roman"/>
                <a:cs typeface="Times New Roman"/>
              </a:rPr>
              <a:t> </a:t>
            </a:r>
            <a:r>
              <a:rPr sz="2000" b="1" spc="-10" dirty="0">
                <a:solidFill>
                  <a:srgbClr val="FF0000"/>
                </a:solidFill>
                <a:latin typeface="Times New Roman"/>
                <a:cs typeface="Times New Roman"/>
              </a:rPr>
              <a:t>filters</a:t>
            </a:r>
            <a:r>
              <a:rPr sz="2000" b="1" spc="-10" dirty="0">
                <a:latin typeface="Times New Roman"/>
                <a:cs typeface="Times New Roman"/>
              </a:rPr>
              <a:t>.</a:t>
            </a:r>
            <a:endParaRPr sz="2000" dirty="0">
              <a:latin typeface="Times New Roman"/>
              <a:cs typeface="Times New Roman"/>
            </a:endParaRPr>
          </a:p>
          <a:p>
            <a:pPr marL="355600" indent="-342900">
              <a:lnSpc>
                <a:spcPct val="100000"/>
              </a:lnSpc>
              <a:buClr>
                <a:srgbClr val="FF0000"/>
              </a:buClr>
              <a:buFont typeface="Wingdings"/>
              <a:buChar char=""/>
              <a:tabLst>
                <a:tab pos="355600" algn="l"/>
              </a:tabLst>
            </a:pPr>
            <a:r>
              <a:rPr sz="2000" b="1" dirty="0">
                <a:latin typeface="Times New Roman"/>
                <a:cs typeface="Times New Roman"/>
              </a:rPr>
              <a:t>It</a:t>
            </a:r>
            <a:r>
              <a:rPr sz="2000" b="1" spc="-30" dirty="0">
                <a:latin typeface="Times New Roman"/>
                <a:cs typeface="Times New Roman"/>
              </a:rPr>
              <a:t> </a:t>
            </a:r>
            <a:r>
              <a:rPr sz="2000" b="1" dirty="0">
                <a:latin typeface="Times New Roman"/>
                <a:cs typeface="Times New Roman"/>
              </a:rPr>
              <a:t>can</a:t>
            </a:r>
            <a:r>
              <a:rPr sz="2000" b="1" spc="-10" dirty="0">
                <a:latin typeface="Times New Roman"/>
                <a:cs typeface="Times New Roman"/>
              </a:rPr>
              <a:t> </a:t>
            </a:r>
            <a:r>
              <a:rPr sz="2000" b="1" dirty="0">
                <a:latin typeface="Times New Roman"/>
                <a:cs typeface="Times New Roman"/>
              </a:rPr>
              <a:t>be</a:t>
            </a:r>
            <a:r>
              <a:rPr sz="2000" b="1" spc="-10" dirty="0">
                <a:latin typeface="Times New Roman"/>
                <a:cs typeface="Times New Roman"/>
              </a:rPr>
              <a:t> </a:t>
            </a:r>
            <a:r>
              <a:rPr sz="2000" b="1" dirty="0">
                <a:solidFill>
                  <a:srgbClr val="006FC0"/>
                </a:solidFill>
                <a:latin typeface="Times New Roman"/>
                <a:cs typeface="Times New Roman"/>
              </a:rPr>
              <a:t>performed</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using</a:t>
            </a:r>
            <a:r>
              <a:rPr sz="2000" b="1" spc="-15" dirty="0">
                <a:solidFill>
                  <a:srgbClr val="006FC0"/>
                </a:solidFill>
                <a:latin typeface="Times New Roman"/>
                <a:cs typeface="Times New Roman"/>
              </a:rPr>
              <a:t> </a:t>
            </a:r>
            <a:r>
              <a:rPr sz="2000" b="1" dirty="0">
                <a:latin typeface="Times New Roman"/>
                <a:cs typeface="Times New Roman"/>
              </a:rPr>
              <a:t>the</a:t>
            </a:r>
            <a:r>
              <a:rPr sz="2000" b="1" spc="-10" dirty="0">
                <a:latin typeface="Times New Roman"/>
                <a:cs typeface="Times New Roman"/>
              </a:rPr>
              <a:t> </a:t>
            </a:r>
            <a:r>
              <a:rPr sz="2000" b="1" dirty="0">
                <a:solidFill>
                  <a:srgbClr val="00AF50"/>
                </a:solidFill>
                <a:latin typeface="Times New Roman"/>
                <a:cs typeface="Times New Roman"/>
              </a:rPr>
              <a:t>convolution</a:t>
            </a:r>
            <a:r>
              <a:rPr sz="2000" b="1" spc="-40" dirty="0">
                <a:solidFill>
                  <a:srgbClr val="00AF50"/>
                </a:solidFill>
                <a:latin typeface="Times New Roman"/>
                <a:cs typeface="Times New Roman"/>
              </a:rPr>
              <a:t> </a:t>
            </a:r>
            <a:r>
              <a:rPr sz="2000" b="1" spc="-10" dirty="0">
                <a:solidFill>
                  <a:srgbClr val="00AF50"/>
                </a:solidFill>
                <a:latin typeface="Times New Roman"/>
                <a:cs typeface="Times New Roman"/>
              </a:rPr>
              <a:t>operation</a:t>
            </a:r>
            <a:r>
              <a:rPr sz="2000" b="1" spc="-10" dirty="0">
                <a:latin typeface="Times New Roman"/>
                <a:cs typeface="Times New Roman"/>
              </a:rPr>
              <a:t>.</a:t>
            </a:r>
            <a:endParaRPr sz="2000" dirty="0">
              <a:latin typeface="Times New Roman"/>
              <a:cs typeface="Times New Roman"/>
            </a:endParaRPr>
          </a:p>
        </p:txBody>
      </p:sp>
      <p:grpSp>
        <p:nvGrpSpPr>
          <p:cNvPr id="3" name="object 3"/>
          <p:cNvGrpSpPr/>
          <p:nvPr/>
        </p:nvGrpSpPr>
        <p:grpSpPr>
          <a:xfrm>
            <a:off x="426719" y="295638"/>
            <a:ext cx="8211820" cy="520065"/>
            <a:chOff x="426719" y="295638"/>
            <a:chExt cx="8211820" cy="520065"/>
          </a:xfrm>
        </p:grpSpPr>
        <p:pic>
          <p:nvPicPr>
            <p:cNvPr id="4" name="object 4"/>
            <p:cNvPicPr/>
            <p:nvPr/>
          </p:nvPicPr>
          <p:blipFill>
            <a:blip r:embed="rId2" cstate="print"/>
            <a:stretch>
              <a:fillRect/>
            </a:stretch>
          </p:blipFill>
          <p:spPr>
            <a:xfrm>
              <a:off x="426719" y="722502"/>
              <a:ext cx="8211311" cy="92709"/>
            </a:xfrm>
            <a:prstGeom prst="rect">
              <a:avLst/>
            </a:prstGeom>
          </p:spPr>
        </p:pic>
        <p:sp>
          <p:nvSpPr>
            <p:cNvPr id="5" name="object 5"/>
            <p:cNvSpPr/>
            <p:nvPr/>
          </p:nvSpPr>
          <p:spPr>
            <a:xfrm>
              <a:off x="460374" y="748538"/>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921505" y="295638"/>
              <a:ext cx="3098294" cy="391685"/>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3151" y="920622"/>
            <a:ext cx="8117840" cy="940435"/>
          </a:xfrm>
          <a:prstGeom prst="rect">
            <a:avLst/>
          </a:prstGeom>
        </p:spPr>
        <p:txBody>
          <a:bodyPr vert="horz" wrap="square" lIns="0" tIns="13335" rIns="0" bIns="0" rtlCol="0">
            <a:spAutoFit/>
          </a:bodyPr>
          <a:lstStyle/>
          <a:p>
            <a:pPr marL="12700" marR="5080">
              <a:lnSpc>
                <a:spcPct val="100000"/>
              </a:lnSpc>
              <a:spcBef>
                <a:spcPts val="105"/>
              </a:spcBef>
            </a:pPr>
            <a:r>
              <a:rPr u="none" dirty="0">
                <a:solidFill>
                  <a:srgbClr val="000000"/>
                </a:solidFill>
              </a:rPr>
              <a:t>The</a:t>
            </a:r>
            <a:r>
              <a:rPr u="none" spc="-10" dirty="0">
                <a:solidFill>
                  <a:srgbClr val="000000"/>
                </a:solidFill>
              </a:rPr>
              <a:t> </a:t>
            </a:r>
            <a:r>
              <a:rPr u="none" dirty="0">
                <a:solidFill>
                  <a:srgbClr val="000000"/>
                </a:solidFill>
              </a:rPr>
              <a:t>average</a:t>
            </a:r>
            <a:r>
              <a:rPr u="none" spc="-40" dirty="0">
                <a:solidFill>
                  <a:srgbClr val="000000"/>
                </a:solidFill>
              </a:rPr>
              <a:t> </a:t>
            </a:r>
            <a:r>
              <a:rPr u="none" dirty="0">
                <a:solidFill>
                  <a:srgbClr val="000000"/>
                </a:solidFill>
              </a:rPr>
              <a:t>filtering</a:t>
            </a:r>
            <a:r>
              <a:rPr u="none" spc="-45" dirty="0">
                <a:solidFill>
                  <a:srgbClr val="000000"/>
                </a:solidFill>
              </a:rPr>
              <a:t> </a:t>
            </a:r>
            <a:r>
              <a:rPr u="none" dirty="0">
                <a:solidFill>
                  <a:srgbClr val="000000"/>
                </a:solidFill>
              </a:rPr>
              <a:t>is</a:t>
            </a:r>
            <a:r>
              <a:rPr u="none" spc="-15" dirty="0">
                <a:solidFill>
                  <a:srgbClr val="000000"/>
                </a:solidFill>
              </a:rPr>
              <a:t> </a:t>
            </a:r>
            <a:r>
              <a:rPr u="none" dirty="0">
                <a:solidFill>
                  <a:srgbClr val="000000"/>
                </a:solidFill>
              </a:rPr>
              <a:t>also</a:t>
            </a:r>
            <a:r>
              <a:rPr u="none" spc="-20" dirty="0">
                <a:solidFill>
                  <a:srgbClr val="000000"/>
                </a:solidFill>
              </a:rPr>
              <a:t> </a:t>
            </a:r>
            <a:r>
              <a:rPr u="none" dirty="0">
                <a:solidFill>
                  <a:srgbClr val="000000"/>
                </a:solidFill>
              </a:rPr>
              <a:t>called</a:t>
            </a:r>
            <a:r>
              <a:rPr u="none" spc="-10" dirty="0">
                <a:solidFill>
                  <a:srgbClr val="000000"/>
                </a:solidFill>
              </a:rPr>
              <a:t> </a:t>
            </a:r>
            <a:r>
              <a:rPr u="none" dirty="0">
                <a:solidFill>
                  <a:srgbClr val="006FC0"/>
                </a:solidFill>
              </a:rPr>
              <a:t>mean filtering</a:t>
            </a:r>
            <a:r>
              <a:rPr u="none" dirty="0">
                <a:solidFill>
                  <a:srgbClr val="000000"/>
                </a:solidFill>
              </a:rPr>
              <a:t>.</a:t>
            </a:r>
            <a:r>
              <a:rPr u="none" spc="-75" dirty="0">
                <a:solidFill>
                  <a:srgbClr val="000000"/>
                </a:solidFill>
              </a:rPr>
              <a:t> </a:t>
            </a:r>
            <a:r>
              <a:rPr u="none" dirty="0">
                <a:solidFill>
                  <a:srgbClr val="000000"/>
                </a:solidFill>
              </a:rPr>
              <a:t>Where</a:t>
            </a:r>
            <a:r>
              <a:rPr u="none" spc="-15" dirty="0">
                <a:solidFill>
                  <a:srgbClr val="000000"/>
                </a:solidFill>
              </a:rPr>
              <a:t> </a:t>
            </a:r>
            <a:r>
              <a:rPr u="none" dirty="0">
                <a:solidFill>
                  <a:srgbClr val="000000"/>
                </a:solidFill>
              </a:rPr>
              <a:t>the</a:t>
            </a:r>
            <a:r>
              <a:rPr u="none" spc="-25" dirty="0">
                <a:solidFill>
                  <a:srgbClr val="000000"/>
                </a:solidFill>
              </a:rPr>
              <a:t> </a:t>
            </a:r>
            <a:r>
              <a:rPr u="none" dirty="0">
                <a:solidFill>
                  <a:srgbClr val="000000"/>
                </a:solidFill>
              </a:rPr>
              <a:t>output</a:t>
            </a:r>
            <a:r>
              <a:rPr u="none" spc="-35" dirty="0">
                <a:solidFill>
                  <a:srgbClr val="000000"/>
                </a:solidFill>
              </a:rPr>
              <a:t> </a:t>
            </a:r>
            <a:r>
              <a:rPr u="none" spc="-10" dirty="0">
                <a:solidFill>
                  <a:srgbClr val="000000"/>
                </a:solidFill>
              </a:rPr>
              <a:t>pixel </a:t>
            </a:r>
            <a:r>
              <a:rPr u="none" dirty="0">
                <a:solidFill>
                  <a:srgbClr val="000000"/>
                </a:solidFill>
              </a:rPr>
              <a:t>value</a:t>
            </a:r>
            <a:r>
              <a:rPr u="none" spc="-30" dirty="0">
                <a:solidFill>
                  <a:srgbClr val="000000"/>
                </a:solidFill>
              </a:rPr>
              <a:t> </a:t>
            </a:r>
            <a:r>
              <a:rPr u="none" dirty="0">
                <a:solidFill>
                  <a:srgbClr val="000000"/>
                </a:solidFill>
              </a:rPr>
              <a:t>is</a:t>
            </a:r>
            <a:r>
              <a:rPr u="none" spc="-15" dirty="0">
                <a:solidFill>
                  <a:srgbClr val="000000"/>
                </a:solidFill>
              </a:rPr>
              <a:t> </a:t>
            </a:r>
            <a:r>
              <a:rPr u="none" dirty="0">
                <a:solidFill>
                  <a:srgbClr val="000000"/>
                </a:solidFill>
              </a:rPr>
              <a:t>the</a:t>
            </a:r>
            <a:r>
              <a:rPr u="none" spc="-25" dirty="0">
                <a:solidFill>
                  <a:srgbClr val="000000"/>
                </a:solidFill>
              </a:rPr>
              <a:t> </a:t>
            </a:r>
            <a:r>
              <a:rPr u="none" dirty="0">
                <a:solidFill>
                  <a:srgbClr val="000000"/>
                </a:solidFill>
              </a:rPr>
              <a:t>mean of</a:t>
            </a:r>
            <a:r>
              <a:rPr u="none" spc="-15" dirty="0">
                <a:solidFill>
                  <a:srgbClr val="000000"/>
                </a:solidFill>
              </a:rPr>
              <a:t> </a:t>
            </a:r>
            <a:r>
              <a:rPr u="none" dirty="0">
                <a:solidFill>
                  <a:srgbClr val="000000"/>
                </a:solidFill>
              </a:rPr>
              <a:t>its</a:t>
            </a:r>
            <a:r>
              <a:rPr u="none" spc="-20" dirty="0">
                <a:solidFill>
                  <a:srgbClr val="000000"/>
                </a:solidFill>
              </a:rPr>
              <a:t> </a:t>
            </a:r>
            <a:r>
              <a:rPr u="none" dirty="0">
                <a:solidFill>
                  <a:srgbClr val="000000"/>
                </a:solidFill>
              </a:rPr>
              <a:t>neighborhood.</a:t>
            </a:r>
            <a:r>
              <a:rPr u="none" spc="-80" dirty="0">
                <a:solidFill>
                  <a:srgbClr val="000000"/>
                </a:solidFill>
              </a:rPr>
              <a:t> </a:t>
            </a:r>
            <a:r>
              <a:rPr u="none" dirty="0">
                <a:solidFill>
                  <a:srgbClr val="000000"/>
                </a:solidFill>
              </a:rPr>
              <a:t>Thus,</a:t>
            </a:r>
            <a:r>
              <a:rPr u="none" spc="-5" dirty="0">
                <a:solidFill>
                  <a:srgbClr val="000000"/>
                </a:solidFill>
              </a:rPr>
              <a:t> </a:t>
            </a:r>
            <a:r>
              <a:rPr u="none" dirty="0">
                <a:solidFill>
                  <a:srgbClr val="000000"/>
                </a:solidFill>
              </a:rPr>
              <a:t>the</a:t>
            </a:r>
            <a:r>
              <a:rPr u="none" spc="-25" dirty="0">
                <a:solidFill>
                  <a:srgbClr val="000000"/>
                </a:solidFill>
              </a:rPr>
              <a:t> </a:t>
            </a:r>
            <a:r>
              <a:rPr u="none" dirty="0">
                <a:solidFill>
                  <a:srgbClr val="000000"/>
                </a:solidFill>
              </a:rPr>
              <a:t>filtering</a:t>
            </a:r>
            <a:r>
              <a:rPr u="none" spc="-30" dirty="0">
                <a:solidFill>
                  <a:srgbClr val="000000"/>
                </a:solidFill>
              </a:rPr>
              <a:t> </a:t>
            </a:r>
            <a:r>
              <a:rPr u="none" dirty="0">
                <a:solidFill>
                  <a:srgbClr val="000000"/>
                </a:solidFill>
              </a:rPr>
              <a:t>mask</a:t>
            </a:r>
            <a:r>
              <a:rPr u="none" spc="-15" dirty="0">
                <a:solidFill>
                  <a:srgbClr val="000000"/>
                </a:solidFill>
              </a:rPr>
              <a:t> </a:t>
            </a:r>
            <a:r>
              <a:rPr u="none" dirty="0">
                <a:solidFill>
                  <a:srgbClr val="000000"/>
                </a:solidFill>
              </a:rPr>
              <a:t>is</a:t>
            </a:r>
            <a:r>
              <a:rPr u="none" spc="-15" dirty="0">
                <a:solidFill>
                  <a:srgbClr val="000000"/>
                </a:solidFill>
              </a:rPr>
              <a:t> </a:t>
            </a:r>
            <a:r>
              <a:rPr u="none" dirty="0">
                <a:solidFill>
                  <a:srgbClr val="000000"/>
                </a:solidFill>
              </a:rPr>
              <a:t>as </a:t>
            </a:r>
            <a:r>
              <a:rPr u="none" spc="-10" dirty="0">
                <a:solidFill>
                  <a:srgbClr val="000000"/>
                </a:solidFill>
              </a:rPr>
              <a:t>follows </a:t>
            </a:r>
            <a:r>
              <a:rPr u="none" dirty="0">
                <a:solidFill>
                  <a:srgbClr val="000000"/>
                </a:solidFill>
              </a:rPr>
              <a:t>(3*3</a:t>
            </a:r>
            <a:r>
              <a:rPr u="none" spc="-30" dirty="0">
                <a:solidFill>
                  <a:srgbClr val="000000"/>
                </a:solidFill>
              </a:rPr>
              <a:t> </a:t>
            </a:r>
            <a:r>
              <a:rPr u="none" dirty="0">
                <a:solidFill>
                  <a:srgbClr val="000000"/>
                </a:solidFill>
              </a:rPr>
              <a:t>as</a:t>
            </a:r>
            <a:r>
              <a:rPr u="none" spc="-10" dirty="0">
                <a:solidFill>
                  <a:srgbClr val="000000"/>
                </a:solidFill>
              </a:rPr>
              <a:t> </a:t>
            </a:r>
            <a:r>
              <a:rPr u="none" dirty="0">
                <a:solidFill>
                  <a:srgbClr val="000000"/>
                </a:solidFill>
              </a:rPr>
              <a:t>an </a:t>
            </a:r>
            <a:r>
              <a:rPr u="none" spc="-10" dirty="0">
                <a:solidFill>
                  <a:srgbClr val="000000"/>
                </a:solidFill>
              </a:rPr>
              <a:t>example).</a:t>
            </a:r>
          </a:p>
        </p:txBody>
      </p:sp>
      <p:pic>
        <p:nvPicPr>
          <p:cNvPr id="3" name="object 3"/>
          <p:cNvPicPr/>
          <p:nvPr/>
        </p:nvPicPr>
        <p:blipFill>
          <a:blip r:embed="rId2" cstate="print"/>
          <a:stretch>
            <a:fillRect/>
          </a:stretch>
        </p:blipFill>
        <p:spPr>
          <a:xfrm>
            <a:off x="5712766" y="2318112"/>
            <a:ext cx="2079604" cy="803399"/>
          </a:xfrm>
          <a:prstGeom prst="rect">
            <a:avLst/>
          </a:prstGeom>
        </p:spPr>
      </p:pic>
      <p:sp>
        <p:nvSpPr>
          <p:cNvPr id="4" name="object 4"/>
          <p:cNvSpPr txBox="1"/>
          <p:nvPr/>
        </p:nvSpPr>
        <p:spPr>
          <a:xfrm>
            <a:off x="440842" y="3627246"/>
            <a:ext cx="7984490" cy="1830705"/>
          </a:xfrm>
          <a:prstGeom prst="rect">
            <a:avLst/>
          </a:prstGeom>
        </p:spPr>
        <p:txBody>
          <a:bodyPr vert="horz" wrap="square" lIns="0" tIns="12700" rIns="0" bIns="0" rtlCol="0">
            <a:spAutoFit/>
          </a:bodyPr>
          <a:lstStyle/>
          <a:p>
            <a:pPr marL="44450">
              <a:lnSpc>
                <a:spcPct val="100000"/>
              </a:lnSpc>
              <a:spcBef>
                <a:spcPts val="100"/>
              </a:spcBef>
            </a:pPr>
            <a:r>
              <a:rPr sz="2000" b="1" dirty="0">
                <a:latin typeface="Times New Roman"/>
                <a:cs typeface="Times New Roman"/>
              </a:rPr>
              <a:t>In</a:t>
            </a:r>
            <a:r>
              <a:rPr sz="2000" b="1" spc="-15" dirty="0">
                <a:latin typeface="Times New Roman"/>
                <a:cs typeface="Times New Roman"/>
              </a:rPr>
              <a:t> </a:t>
            </a:r>
            <a:r>
              <a:rPr sz="2000" b="1" dirty="0">
                <a:latin typeface="Times New Roman"/>
                <a:cs typeface="Times New Roman"/>
              </a:rPr>
              <a:t>practice,</a:t>
            </a:r>
            <a:r>
              <a:rPr sz="2000" b="1" spc="-35" dirty="0">
                <a:latin typeface="Times New Roman"/>
                <a:cs typeface="Times New Roman"/>
              </a:rPr>
              <a:t> </a:t>
            </a:r>
            <a:r>
              <a:rPr sz="2000" b="1" dirty="0">
                <a:solidFill>
                  <a:srgbClr val="006FC0"/>
                </a:solidFill>
                <a:latin typeface="Times New Roman"/>
                <a:cs typeface="Times New Roman"/>
              </a:rPr>
              <a:t>the</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size</a:t>
            </a:r>
            <a:r>
              <a:rPr sz="2000" b="1" spc="-5" dirty="0">
                <a:solidFill>
                  <a:srgbClr val="006FC0"/>
                </a:solidFill>
                <a:latin typeface="Times New Roman"/>
                <a:cs typeface="Times New Roman"/>
              </a:rPr>
              <a:t> </a:t>
            </a:r>
            <a:r>
              <a:rPr sz="2000" b="1" dirty="0">
                <a:solidFill>
                  <a:srgbClr val="006FC0"/>
                </a:solidFill>
                <a:latin typeface="Times New Roman"/>
                <a:cs typeface="Times New Roman"/>
              </a:rPr>
              <a:t>of</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15" dirty="0">
                <a:solidFill>
                  <a:srgbClr val="006FC0"/>
                </a:solidFill>
                <a:latin typeface="Times New Roman"/>
                <a:cs typeface="Times New Roman"/>
              </a:rPr>
              <a:t> </a:t>
            </a:r>
            <a:r>
              <a:rPr sz="2000" b="1" dirty="0">
                <a:solidFill>
                  <a:srgbClr val="006FC0"/>
                </a:solidFill>
                <a:latin typeface="Times New Roman"/>
                <a:cs typeface="Times New Roman"/>
              </a:rPr>
              <a:t>mask</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controls</a:t>
            </a:r>
            <a:r>
              <a:rPr sz="2000" b="1" spc="-25" dirty="0">
                <a:solidFill>
                  <a:srgbClr val="006FC0"/>
                </a:solidFill>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solidFill>
                  <a:srgbClr val="00AF50"/>
                </a:solidFill>
                <a:latin typeface="Times New Roman"/>
                <a:cs typeface="Times New Roman"/>
              </a:rPr>
              <a:t>degree</a:t>
            </a:r>
            <a:r>
              <a:rPr sz="2000" b="1" spc="-20" dirty="0">
                <a:solidFill>
                  <a:srgbClr val="00AF50"/>
                </a:solidFill>
                <a:latin typeface="Times New Roman"/>
                <a:cs typeface="Times New Roman"/>
              </a:rPr>
              <a:t> </a:t>
            </a:r>
            <a:r>
              <a:rPr sz="2000" b="1" dirty="0">
                <a:solidFill>
                  <a:srgbClr val="00AF50"/>
                </a:solidFill>
                <a:latin typeface="Times New Roman"/>
                <a:cs typeface="Times New Roman"/>
              </a:rPr>
              <a:t>of</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smoothing</a:t>
            </a:r>
            <a:r>
              <a:rPr sz="2000" b="1" spc="-45" dirty="0">
                <a:solidFill>
                  <a:srgbClr val="00AF50"/>
                </a:solidFill>
                <a:latin typeface="Times New Roman"/>
                <a:cs typeface="Times New Roman"/>
              </a:rPr>
              <a:t> </a:t>
            </a:r>
            <a:r>
              <a:rPr sz="2000" b="1" dirty="0">
                <a:solidFill>
                  <a:srgbClr val="00AF50"/>
                </a:solidFill>
                <a:latin typeface="Times New Roman"/>
                <a:cs typeface="Times New Roman"/>
              </a:rPr>
              <a:t>and</a:t>
            </a:r>
            <a:r>
              <a:rPr sz="2000" b="1" spc="-15" dirty="0">
                <a:solidFill>
                  <a:srgbClr val="00AF50"/>
                </a:solidFill>
                <a:latin typeface="Times New Roman"/>
                <a:cs typeface="Times New Roman"/>
              </a:rPr>
              <a:t> </a:t>
            </a:r>
            <a:r>
              <a:rPr sz="2000" b="1" spc="-20" dirty="0">
                <a:solidFill>
                  <a:srgbClr val="00AF50"/>
                </a:solidFill>
                <a:latin typeface="Times New Roman"/>
                <a:cs typeface="Times New Roman"/>
              </a:rPr>
              <a:t>loss</a:t>
            </a:r>
            <a:endParaRPr sz="2000">
              <a:latin typeface="Times New Roman"/>
              <a:cs typeface="Times New Roman"/>
            </a:endParaRPr>
          </a:p>
          <a:p>
            <a:pPr marL="44450">
              <a:lnSpc>
                <a:spcPct val="100000"/>
              </a:lnSpc>
              <a:spcBef>
                <a:spcPts val="5"/>
              </a:spcBef>
            </a:pPr>
            <a:r>
              <a:rPr sz="2000" b="1" dirty="0">
                <a:solidFill>
                  <a:srgbClr val="00AF50"/>
                </a:solidFill>
                <a:latin typeface="Times New Roman"/>
                <a:cs typeface="Times New Roman"/>
              </a:rPr>
              <a:t>of</a:t>
            </a:r>
            <a:r>
              <a:rPr sz="2000" b="1" spc="-15" dirty="0">
                <a:solidFill>
                  <a:srgbClr val="00AF50"/>
                </a:solidFill>
                <a:latin typeface="Times New Roman"/>
                <a:cs typeface="Times New Roman"/>
              </a:rPr>
              <a:t> </a:t>
            </a:r>
            <a:r>
              <a:rPr sz="2000" b="1" dirty="0">
                <a:solidFill>
                  <a:srgbClr val="00AF50"/>
                </a:solidFill>
                <a:latin typeface="Times New Roman"/>
                <a:cs typeface="Times New Roman"/>
              </a:rPr>
              <a:t>the</a:t>
            </a:r>
            <a:r>
              <a:rPr sz="2000" b="1" spc="-10" dirty="0">
                <a:solidFill>
                  <a:srgbClr val="00AF50"/>
                </a:solidFill>
                <a:latin typeface="Times New Roman"/>
                <a:cs typeface="Times New Roman"/>
              </a:rPr>
              <a:t> details</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5"/>
              </a:spcBef>
            </a:pPr>
            <a:endParaRPr sz="2000">
              <a:latin typeface="Times New Roman"/>
              <a:cs typeface="Times New Roman"/>
            </a:endParaRPr>
          </a:p>
          <a:p>
            <a:pPr marL="12700">
              <a:lnSpc>
                <a:spcPct val="100000"/>
              </a:lnSpc>
            </a:pPr>
            <a:r>
              <a:rPr sz="2000" b="1" u="sng" dirty="0">
                <a:solidFill>
                  <a:srgbClr val="FF0000"/>
                </a:solidFill>
                <a:uFill>
                  <a:solidFill>
                    <a:srgbClr val="FF0000"/>
                  </a:solidFill>
                </a:uFill>
                <a:latin typeface="Times New Roman"/>
                <a:cs typeface="Times New Roman"/>
              </a:rPr>
              <a:t>Example</a:t>
            </a:r>
            <a:r>
              <a:rPr sz="2000" b="1" u="sng" spc="-25" dirty="0">
                <a:solidFill>
                  <a:srgbClr val="FF0000"/>
                </a:solidFill>
                <a:uFill>
                  <a:solidFill>
                    <a:srgbClr val="FF0000"/>
                  </a:solidFill>
                </a:uFill>
                <a:latin typeface="Times New Roman"/>
                <a:cs typeface="Times New Roman"/>
              </a:rPr>
              <a:t> </a:t>
            </a:r>
            <a:r>
              <a:rPr sz="2000" b="1" u="sng" spc="-50" dirty="0">
                <a:solidFill>
                  <a:srgbClr val="FF0000"/>
                </a:solidFill>
                <a:uFill>
                  <a:solidFill>
                    <a:srgbClr val="FF0000"/>
                  </a:solidFill>
                </a:uFill>
                <a:latin typeface="Times New Roman"/>
                <a:cs typeface="Times New Roman"/>
              </a:rPr>
              <a:t>:</a:t>
            </a:r>
            <a:endParaRPr sz="2000">
              <a:latin typeface="Times New Roman"/>
              <a:cs typeface="Times New Roman"/>
            </a:endParaRPr>
          </a:p>
          <a:p>
            <a:pPr marL="12700">
              <a:lnSpc>
                <a:spcPct val="100000"/>
              </a:lnSpc>
            </a:pPr>
            <a:r>
              <a:rPr sz="2000" b="1" dirty="0">
                <a:solidFill>
                  <a:srgbClr val="006FC0"/>
                </a:solidFill>
                <a:latin typeface="Times New Roman"/>
                <a:cs typeface="Times New Roman"/>
              </a:rPr>
              <a:t>Used average</a:t>
            </a:r>
            <a:r>
              <a:rPr sz="2000" b="1" spc="-30"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75" dirty="0">
                <a:solidFill>
                  <a:srgbClr val="006FC0"/>
                </a:solidFill>
                <a:latin typeface="Times New Roman"/>
                <a:cs typeface="Times New Roman"/>
              </a:rPr>
              <a:t> </a:t>
            </a:r>
            <a:r>
              <a:rPr sz="2000" b="1" dirty="0">
                <a:solidFill>
                  <a:srgbClr val="006FC0"/>
                </a:solidFill>
                <a:latin typeface="Times New Roman"/>
                <a:cs typeface="Times New Roman"/>
              </a:rPr>
              <a:t>to</a:t>
            </a:r>
            <a:r>
              <a:rPr sz="2000" b="1" spc="5" dirty="0">
                <a:solidFill>
                  <a:srgbClr val="006FC0"/>
                </a:solidFill>
                <a:latin typeface="Times New Roman"/>
                <a:cs typeface="Times New Roman"/>
              </a:rPr>
              <a:t> </a:t>
            </a:r>
            <a:r>
              <a:rPr sz="2000" b="1" dirty="0">
                <a:solidFill>
                  <a:srgbClr val="006FC0"/>
                </a:solidFill>
                <a:latin typeface="Times New Roman"/>
                <a:cs typeface="Times New Roman"/>
              </a:rPr>
              <a:t>smooth</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sub</a:t>
            </a:r>
            <a:r>
              <a:rPr sz="2000" b="1" spc="5" dirty="0">
                <a:solidFill>
                  <a:srgbClr val="006FC0"/>
                </a:solidFill>
                <a:latin typeface="Times New Roman"/>
                <a:cs typeface="Times New Roman"/>
              </a:rPr>
              <a:t> </a:t>
            </a:r>
            <a:r>
              <a:rPr sz="2000" b="1" dirty="0">
                <a:solidFill>
                  <a:srgbClr val="006FC0"/>
                </a:solidFill>
                <a:latin typeface="Times New Roman"/>
                <a:cs typeface="Times New Roman"/>
              </a:rPr>
              <a:t>image</a:t>
            </a:r>
            <a:r>
              <a:rPr sz="2000" b="1" spc="-35" dirty="0">
                <a:solidFill>
                  <a:srgbClr val="006FC0"/>
                </a:solidFill>
                <a:latin typeface="Times New Roman"/>
                <a:cs typeface="Times New Roman"/>
              </a:rPr>
              <a:t> </a:t>
            </a:r>
            <a:r>
              <a:rPr sz="2000" b="1" dirty="0">
                <a:solidFill>
                  <a:srgbClr val="006FC0"/>
                </a:solidFill>
                <a:latin typeface="Times New Roman"/>
                <a:cs typeface="Times New Roman"/>
              </a:rPr>
              <a:t>as </a:t>
            </a:r>
            <a:r>
              <a:rPr sz="2000" b="1" spc="-10" dirty="0">
                <a:solidFill>
                  <a:srgbClr val="006FC0"/>
                </a:solidFill>
                <a:latin typeface="Times New Roman"/>
                <a:cs typeface="Times New Roman"/>
              </a:rPr>
              <a:t>shown</a:t>
            </a:r>
            <a:endParaRPr sz="2000">
              <a:latin typeface="Times New Roman"/>
              <a:cs typeface="Times New Roman"/>
            </a:endParaRPr>
          </a:p>
        </p:txBody>
      </p:sp>
      <p:sp>
        <p:nvSpPr>
          <p:cNvPr id="5" name="object 5"/>
          <p:cNvSpPr txBox="1"/>
          <p:nvPr/>
        </p:nvSpPr>
        <p:spPr>
          <a:xfrm>
            <a:off x="2851150" y="2465323"/>
            <a:ext cx="34036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h </a:t>
            </a:r>
            <a:r>
              <a:rPr sz="1800" b="1" spc="-50" dirty="0">
                <a:latin typeface="Times New Roman"/>
                <a:cs typeface="Times New Roman"/>
              </a:rPr>
              <a:t>=</a:t>
            </a:r>
            <a:endParaRPr sz="1800">
              <a:latin typeface="Times New Roman"/>
              <a:cs typeface="Times New Roman"/>
            </a:endParaRPr>
          </a:p>
        </p:txBody>
      </p:sp>
      <p:sp>
        <p:nvSpPr>
          <p:cNvPr id="6" name="object 6"/>
          <p:cNvSpPr/>
          <p:nvPr/>
        </p:nvSpPr>
        <p:spPr>
          <a:xfrm>
            <a:off x="4310634" y="2059939"/>
            <a:ext cx="67310" cy="1160780"/>
          </a:xfrm>
          <a:custGeom>
            <a:avLst/>
            <a:gdLst/>
            <a:ahLst/>
            <a:cxnLst/>
            <a:rect l="l" t="t" r="r" b="b"/>
            <a:pathLst>
              <a:path w="67310" h="1160780">
                <a:moveTo>
                  <a:pt x="67183" y="0"/>
                </a:moveTo>
                <a:lnTo>
                  <a:pt x="0" y="0"/>
                </a:lnTo>
                <a:lnTo>
                  <a:pt x="0" y="8890"/>
                </a:lnTo>
                <a:lnTo>
                  <a:pt x="43688" y="8890"/>
                </a:lnTo>
                <a:lnTo>
                  <a:pt x="43688" y="1151890"/>
                </a:lnTo>
                <a:lnTo>
                  <a:pt x="0" y="1151890"/>
                </a:lnTo>
                <a:lnTo>
                  <a:pt x="0" y="1160780"/>
                </a:lnTo>
                <a:lnTo>
                  <a:pt x="67183" y="1160780"/>
                </a:lnTo>
                <a:lnTo>
                  <a:pt x="67183" y="1151890"/>
                </a:lnTo>
                <a:lnTo>
                  <a:pt x="67183" y="8890"/>
                </a:lnTo>
                <a:lnTo>
                  <a:pt x="67183" y="0"/>
                </a:lnTo>
                <a:close/>
              </a:path>
            </a:pathLst>
          </a:custGeom>
          <a:solidFill>
            <a:srgbClr val="000000"/>
          </a:solidFill>
        </p:spPr>
        <p:txBody>
          <a:bodyPr wrap="square" lIns="0" tIns="0" rIns="0" bIns="0" rtlCol="0"/>
          <a:lstStyle/>
          <a:p>
            <a:endParaRPr/>
          </a:p>
        </p:txBody>
      </p:sp>
      <p:sp>
        <p:nvSpPr>
          <p:cNvPr id="7" name="object 7"/>
          <p:cNvSpPr/>
          <p:nvPr/>
        </p:nvSpPr>
        <p:spPr>
          <a:xfrm>
            <a:off x="3300221" y="3211829"/>
            <a:ext cx="67310" cy="8890"/>
          </a:xfrm>
          <a:custGeom>
            <a:avLst/>
            <a:gdLst/>
            <a:ahLst/>
            <a:cxnLst/>
            <a:rect l="l" t="t" r="r" b="b"/>
            <a:pathLst>
              <a:path w="67310" h="8889">
                <a:moveTo>
                  <a:pt x="0" y="8889"/>
                </a:moveTo>
                <a:lnTo>
                  <a:pt x="67182" y="8889"/>
                </a:lnTo>
                <a:lnTo>
                  <a:pt x="67182" y="0"/>
                </a:lnTo>
                <a:lnTo>
                  <a:pt x="0" y="0"/>
                </a:lnTo>
                <a:lnTo>
                  <a:pt x="0" y="8889"/>
                </a:lnTo>
                <a:close/>
              </a:path>
            </a:pathLst>
          </a:custGeom>
          <a:solidFill>
            <a:srgbClr val="000000"/>
          </a:solidFill>
        </p:spPr>
        <p:txBody>
          <a:bodyPr wrap="square" lIns="0" tIns="0" rIns="0" bIns="0" rtlCol="0"/>
          <a:lstStyle/>
          <a:p>
            <a:endParaRPr/>
          </a:p>
        </p:txBody>
      </p:sp>
      <p:graphicFrame>
        <p:nvGraphicFramePr>
          <p:cNvPr id="8" name="object 8"/>
          <p:cNvGraphicFramePr>
            <a:graphicFrameLocks noGrp="1"/>
          </p:cNvGraphicFramePr>
          <p:nvPr/>
        </p:nvGraphicFramePr>
        <p:xfrm>
          <a:off x="3300221" y="2006252"/>
          <a:ext cx="974723" cy="1287142"/>
        </p:xfrm>
        <a:graphic>
          <a:graphicData uri="http://schemas.openxmlformats.org/drawingml/2006/table">
            <a:tbl>
              <a:tblPr firstRow="1" bandRow="1">
                <a:tableStyleId>{2D5ABB26-0587-4C30-8999-92F81FD0307C}</a:tableStyleId>
              </a:tblPr>
              <a:tblGrid>
                <a:gridCol w="220979">
                  <a:extLst>
                    <a:ext uri="{9D8B030D-6E8A-4147-A177-3AD203B41FA5}">
                      <a16:colId xmlns:a16="http://schemas.microsoft.com/office/drawing/2014/main" val="20000"/>
                    </a:ext>
                  </a:extLst>
                </a:gridCol>
                <a:gridCol w="241300">
                  <a:extLst>
                    <a:ext uri="{9D8B030D-6E8A-4147-A177-3AD203B41FA5}">
                      <a16:colId xmlns:a16="http://schemas.microsoft.com/office/drawing/2014/main" val="20001"/>
                    </a:ext>
                  </a:extLst>
                </a:gridCol>
                <a:gridCol w="160654">
                  <a:extLst>
                    <a:ext uri="{9D8B030D-6E8A-4147-A177-3AD203B41FA5}">
                      <a16:colId xmlns:a16="http://schemas.microsoft.com/office/drawing/2014/main" val="20002"/>
                    </a:ext>
                  </a:extLst>
                </a:gridCol>
                <a:gridCol w="241300">
                  <a:extLst>
                    <a:ext uri="{9D8B030D-6E8A-4147-A177-3AD203B41FA5}">
                      <a16:colId xmlns:a16="http://schemas.microsoft.com/office/drawing/2014/main" val="20003"/>
                    </a:ext>
                  </a:extLst>
                </a:gridCol>
                <a:gridCol w="110490">
                  <a:extLst>
                    <a:ext uri="{9D8B030D-6E8A-4147-A177-3AD203B41FA5}">
                      <a16:colId xmlns:a16="http://schemas.microsoft.com/office/drawing/2014/main" val="20004"/>
                    </a:ext>
                  </a:extLst>
                </a:gridCol>
              </a:tblGrid>
              <a:tr h="198120">
                <a:tc>
                  <a:txBody>
                    <a:bodyPr/>
                    <a:lstStyle/>
                    <a:p>
                      <a:pPr marL="111125">
                        <a:lnSpc>
                          <a:spcPts val="1285"/>
                        </a:lnSpc>
                      </a:pPr>
                      <a:r>
                        <a:rPr sz="1300" spc="-50" dirty="0">
                          <a:latin typeface="Cambria Math"/>
                          <a:cs typeface="Cambria Math"/>
                        </a:rPr>
                        <a:t>𝟏</a:t>
                      </a:r>
                      <a:endParaRPr sz="1300">
                        <a:latin typeface="Cambria Math"/>
                        <a:cs typeface="Cambria Math"/>
                      </a:endParaRPr>
                    </a:p>
                  </a:txBody>
                  <a:tcPr marL="0" marR="0" marT="0" marB="0">
                    <a:lnL w="28575">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50800">
                        <a:lnSpc>
                          <a:spcPts val="1285"/>
                        </a:lnSpc>
                      </a:pPr>
                      <a:r>
                        <a:rPr sz="1300" spc="-50" dirty="0">
                          <a:latin typeface="Cambria Math"/>
                          <a:cs typeface="Cambria Math"/>
                        </a:rPr>
                        <a:t>𝟏</a:t>
                      </a:r>
                      <a:endParaRPr sz="1300">
                        <a:latin typeface="Cambria Math"/>
                        <a:cs typeface="Cambria Math"/>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L="635" algn="ctr">
                        <a:lnSpc>
                          <a:spcPts val="1285"/>
                        </a:lnSpc>
                      </a:pPr>
                      <a:r>
                        <a:rPr sz="1300" spc="-50" dirty="0">
                          <a:latin typeface="Cambria Math"/>
                          <a:cs typeface="Cambria Math"/>
                        </a:rPr>
                        <a:t>𝟏</a:t>
                      </a:r>
                      <a:endParaRPr sz="1300">
                        <a:latin typeface="Cambria Math"/>
                        <a:cs typeface="Cambria Math"/>
                      </a:endParaRPr>
                    </a:p>
                  </a:txBody>
                  <a:tcPr marL="0" marR="0" marT="0" marB="0">
                    <a:lnB w="19050">
                      <a:solidFill>
                        <a:srgbClr val="000000"/>
                      </a:solidFill>
                      <a:prstDash val="solid"/>
                    </a:lnB>
                  </a:tcPr>
                </a:tc>
                <a:extLst>
                  <a:ext uri="{0D108BD9-81ED-4DB2-BD59-A6C34878D82A}">
                    <a16:rowId xmlns:a16="http://schemas.microsoft.com/office/drawing/2014/main" val="10000"/>
                  </a:ext>
                </a:extLst>
              </a:tr>
              <a:tr h="435609">
                <a:tc>
                  <a:txBody>
                    <a:bodyPr/>
                    <a:lstStyle/>
                    <a:p>
                      <a:pPr marL="111125">
                        <a:lnSpc>
                          <a:spcPts val="1520"/>
                        </a:lnSpc>
                        <a:spcBef>
                          <a:spcPts val="120"/>
                        </a:spcBef>
                      </a:pPr>
                      <a:r>
                        <a:rPr sz="1300" spc="-50" dirty="0">
                          <a:latin typeface="Cambria Math"/>
                          <a:cs typeface="Cambria Math"/>
                        </a:rPr>
                        <a:t>𝟗</a:t>
                      </a:r>
                      <a:endParaRPr sz="1300">
                        <a:latin typeface="Cambria Math"/>
                        <a:cs typeface="Cambria Math"/>
                      </a:endParaRPr>
                    </a:p>
                    <a:p>
                      <a:pPr marL="111125">
                        <a:lnSpc>
                          <a:spcPts val="1520"/>
                        </a:lnSpc>
                      </a:pPr>
                      <a:r>
                        <a:rPr sz="1300" spc="-50" dirty="0">
                          <a:latin typeface="Cambria Math"/>
                          <a:cs typeface="Cambria Math"/>
                        </a:rPr>
                        <a:t>𝟏</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marL="50800">
                        <a:lnSpc>
                          <a:spcPts val="1520"/>
                        </a:lnSpc>
                        <a:spcBef>
                          <a:spcPts val="120"/>
                        </a:spcBef>
                      </a:pPr>
                      <a:r>
                        <a:rPr sz="1300" spc="-50" dirty="0">
                          <a:latin typeface="Cambria Math"/>
                          <a:cs typeface="Cambria Math"/>
                        </a:rPr>
                        <a:t>𝟗</a:t>
                      </a:r>
                      <a:endParaRPr sz="1300">
                        <a:latin typeface="Cambria Math"/>
                        <a:cs typeface="Cambria Math"/>
                      </a:endParaRPr>
                    </a:p>
                    <a:p>
                      <a:pPr marL="50800">
                        <a:lnSpc>
                          <a:spcPts val="1520"/>
                        </a:lnSpc>
                      </a:pPr>
                      <a:r>
                        <a:rPr sz="1300" spc="-50" dirty="0">
                          <a:latin typeface="Cambria Math"/>
                          <a:cs typeface="Cambria Math"/>
                        </a:rPr>
                        <a:t>𝟏</a:t>
                      </a:r>
                      <a:endParaRPr sz="1300">
                        <a:latin typeface="Cambria Math"/>
                        <a:cs typeface="Cambria Math"/>
                      </a:endParaRPr>
                    </a:p>
                  </a:txBody>
                  <a:tcPr marL="0" marR="0" marT="15240" marB="0"/>
                </a:tc>
                <a:tc>
                  <a:txBody>
                    <a:bodyPr/>
                    <a:lstStyle/>
                    <a:p>
                      <a:pPr>
                        <a:lnSpc>
                          <a:spcPct val="100000"/>
                        </a:lnSpc>
                      </a:pPr>
                      <a:endParaRPr sz="1900">
                        <a:latin typeface="Times New Roman"/>
                        <a:cs typeface="Times New Roman"/>
                      </a:endParaRPr>
                    </a:p>
                  </a:txBody>
                  <a:tcPr marL="0" marR="0" marT="0" marB="0"/>
                </a:tc>
                <a:tc>
                  <a:txBody>
                    <a:bodyPr/>
                    <a:lstStyle/>
                    <a:p>
                      <a:pPr marL="635">
                        <a:lnSpc>
                          <a:spcPts val="1520"/>
                        </a:lnSpc>
                        <a:spcBef>
                          <a:spcPts val="120"/>
                        </a:spcBef>
                      </a:pPr>
                      <a:r>
                        <a:rPr sz="1300" spc="-50" dirty="0">
                          <a:latin typeface="Cambria Math"/>
                          <a:cs typeface="Cambria Math"/>
                        </a:rPr>
                        <a:t>𝟗</a:t>
                      </a:r>
                      <a:endParaRPr sz="1300">
                        <a:latin typeface="Cambria Math"/>
                        <a:cs typeface="Cambria Math"/>
                      </a:endParaRPr>
                    </a:p>
                    <a:p>
                      <a:pPr marL="635">
                        <a:lnSpc>
                          <a:spcPts val="1520"/>
                        </a:lnSpc>
                      </a:pPr>
                      <a:r>
                        <a:rPr sz="1300" spc="-50" dirty="0">
                          <a:latin typeface="Cambria Math"/>
                          <a:cs typeface="Cambria Math"/>
                        </a:rPr>
                        <a:t>𝟏</a:t>
                      </a:r>
                      <a:endParaRPr sz="1300">
                        <a:latin typeface="Cambria Math"/>
                        <a:cs typeface="Cambria Math"/>
                      </a:endParaRPr>
                    </a:p>
                  </a:txBody>
                  <a:tcPr marL="0" marR="0" marT="15240" marB="0">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435609">
                <a:tc>
                  <a:txBody>
                    <a:bodyPr/>
                    <a:lstStyle/>
                    <a:p>
                      <a:pPr marL="111125">
                        <a:lnSpc>
                          <a:spcPts val="1520"/>
                        </a:lnSpc>
                        <a:spcBef>
                          <a:spcPts val="120"/>
                        </a:spcBef>
                      </a:pPr>
                      <a:r>
                        <a:rPr sz="1300" spc="-50" dirty="0">
                          <a:latin typeface="Cambria Math"/>
                          <a:cs typeface="Cambria Math"/>
                        </a:rPr>
                        <a:t>𝟗</a:t>
                      </a:r>
                      <a:endParaRPr sz="1300">
                        <a:latin typeface="Cambria Math"/>
                        <a:cs typeface="Cambria Math"/>
                      </a:endParaRPr>
                    </a:p>
                    <a:p>
                      <a:pPr marL="60960" marR="3175">
                        <a:lnSpc>
                          <a:spcPts val="1520"/>
                        </a:lnSpc>
                      </a:pPr>
                      <a:r>
                        <a:rPr sz="1300" spc="-50" dirty="0">
                          <a:latin typeface="Cambria Math"/>
                          <a:cs typeface="Cambria Math"/>
                        </a:rPr>
                        <a:t>𝟏</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marL="50800">
                        <a:lnSpc>
                          <a:spcPts val="1520"/>
                        </a:lnSpc>
                        <a:spcBef>
                          <a:spcPts val="120"/>
                        </a:spcBef>
                      </a:pPr>
                      <a:r>
                        <a:rPr sz="1300" spc="-50" dirty="0">
                          <a:latin typeface="Cambria Math"/>
                          <a:cs typeface="Cambria Math"/>
                        </a:rPr>
                        <a:t>𝟗</a:t>
                      </a:r>
                      <a:endParaRPr sz="1300">
                        <a:latin typeface="Cambria Math"/>
                        <a:cs typeface="Cambria Math"/>
                      </a:endParaRPr>
                    </a:p>
                    <a:p>
                      <a:pPr marL="635" marR="3175">
                        <a:lnSpc>
                          <a:spcPts val="1520"/>
                        </a:lnSpc>
                      </a:pPr>
                      <a:r>
                        <a:rPr sz="1300" spc="-50" dirty="0">
                          <a:latin typeface="Cambria Math"/>
                          <a:cs typeface="Cambria Math"/>
                        </a:rPr>
                        <a:t>𝟏</a:t>
                      </a:r>
                      <a:endParaRPr sz="1300">
                        <a:latin typeface="Cambria Math"/>
                        <a:cs typeface="Cambria Math"/>
                      </a:endParaRPr>
                    </a:p>
                  </a:txBody>
                  <a:tcPr marL="0" marR="0" marT="15240" marB="0"/>
                </a:tc>
                <a:tc>
                  <a:txBody>
                    <a:bodyPr/>
                    <a:lstStyle/>
                    <a:p>
                      <a:pPr>
                        <a:lnSpc>
                          <a:spcPct val="100000"/>
                        </a:lnSpc>
                      </a:pPr>
                      <a:endParaRPr sz="1900">
                        <a:latin typeface="Times New Roman"/>
                        <a:cs typeface="Times New Roman"/>
                      </a:endParaRPr>
                    </a:p>
                  </a:txBody>
                  <a:tcPr marL="0" marR="0" marT="0" marB="0"/>
                </a:tc>
                <a:tc>
                  <a:txBody>
                    <a:bodyPr/>
                    <a:lstStyle/>
                    <a:p>
                      <a:pPr marL="635">
                        <a:lnSpc>
                          <a:spcPts val="1520"/>
                        </a:lnSpc>
                        <a:spcBef>
                          <a:spcPts val="120"/>
                        </a:spcBef>
                      </a:pPr>
                      <a:r>
                        <a:rPr sz="1300" spc="-50" dirty="0">
                          <a:latin typeface="Cambria Math"/>
                          <a:cs typeface="Cambria Math"/>
                        </a:rPr>
                        <a:t>𝟗</a:t>
                      </a:r>
                      <a:endParaRPr sz="1300">
                        <a:latin typeface="Cambria Math"/>
                        <a:cs typeface="Cambria Math"/>
                      </a:endParaRPr>
                    </a:p>
                    <a:p>
                      <a:pPr marL="635">
                        <a:lnSpc>
                          <a:spcPts val="1520"/>
                        </a:lnSpc>
                      </a:pPr>
                      <a:r>
                        <a:rPr sz="1300" spc="-50" dirty="0">
                          <a:latin typeface="Cambria Math"/>
                          <a:cs typeface="Cambria Math"/>
                        </a:rPr>
                        <a:t>𝟏</a:t>
                      </a:r>
                      <a:endParaRPr sz="1300">
                        <a:latin typeface="Cambria Math"/>
                        <a:cs typeface="Cambria Math"/>
                      </a:endParaRPr>
                    </a:p>
                  </a:txBody>
                  <a:tcPr marL="0" marR="0" marT="15240" marB="0">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217804">
                <a:tc>
                  <a:txBody>
                    <a:bodyPr/>
                    <a:lstStyle/>
                    <a:p>
                      <a:pPr marL="60960" marR="3175">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lnL w="28575">
                      <a:solidFill>
                        <a:srgbClr val="000000"/>
                      </a:solidFill>
                      <a:prstDash val="solid"/>
                    </a:lnL>
                  </a:tcPr>
                </a:tc>
                <a:tc>
                  <a:txBody>
                    <a:bodyPr/>
                    <a:lstStyle/>
                    <a:p>
                      <a:pPr>
                        <a:lnSpc>
                          <a:spcPct val="100000"/>
                        </a:lnSpc>
                      </a:pPr>
                      <a:endParaRPr sz="1300">
                        <a:latin typeface="Times New Roman"/>
                        <a:cs typeface="Times New Roman"/>
                      </a:endParaRPr>
                    </a:p>
                  </a:txBody>
                  <a:tcPr marL="0" marR="0" marT="0" marB="0"/>
                </a:tc>
                <a:tc>
                  <a:txBody>
                    <a:bodyPr/>
                    <a:lstStyle/>
                    <a:p>
                      <a:pPr marL="635" marR="3175">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tc>
                <a:tc>
                  <a:txBody>
                    <a:bodyPr/>
                    <a:lstStyle/>
                    <a:p>
                      <a:pPr>
                        <a:lnSpc>
                          <a:spcPct val="100000"/>
                        </a:lnSpc>
                      </a:pPr>
                      <a:endParaRPr sz="1300">
                        <a:latin typeface="Times New Roman"/>
                        <a:cs typeface="Times New Roman"/>
                      </a:endParaRPr>
                    </a:p>
                  </a:txBody>
                  <a:tcPr marL="0" marR="0" marT="0" marB="0"/>
                </a:tc>
                <a:tc>
                  <a:txBody>
                    <a:bodyPr/>
                    <a:lstStyle/>
                    <a:p>
                      <a:pPr marL="635" algn="ctr">
                        <a:lnSpc>
                          <a:spcPts val="1495"/>
                        </a:lnSpc>
                        <a:spcBef>
                          <a:spcPts val="120"/>
                        </a:spcBef>
                      </a:pPr>
                      <a:r>
                        <a:rPr sz="1300" spc="-50" dirty="0">
                          <a:latin typeface="Cambria Math"/>
                          <a:cs typeface="Cambria Math"/>
                        </a:rPr>
                        <a:t>𝟗</a:t>
                      </a:r>
                      <a:endParaRPr sz="1300">
                        <a:latin typeface="Cambria Math"/>
                        <a:cs typeface="Cambria Math"/>
                      </a:endParaRPr>
                    </a:p>
                  </a:txBody>
                  <a:tcPr marL="0" marR="0" marT="15240" marB="0">
                    <a:lnT w="19050">
                      <a:solidFill>
                        <a:srgbClr val="000000"/>
                      </a:solidFill>
                      <a:prstDash val="solid"/>
                    </a:lnT>
                  </a:tcPr>
                </a:tc>
                <a:extLst>
                  <a:ext uri="{0D108BD9-81ED-4DB2-BD59-A6C34878D82A}">
                    <a16:rowId xmlns:a16="http://schemas.microsoft.com/office/drawing/2014/main" val="10003"/>
                  </a:ext>
                </a:extLst>
              </a:tr>
            </a:tbl>
          </a:graphicData>
        </a:graphic>
      </p:graphicFrame>
      <p:sp>
        <p:nvSpPr>
          <p:cNvPr id="9" name="object 9"/>
          <p:cNvSpPr/>
          <p:nvPr/>
        </p:nvSpPr>
        <p:spPr>
          <a:xfrm>
            <a:off x="3300221" y="2059939"/>
            <a:ext cx="67310" cy="8890"/>
          </a:xfrm>
          <a:custGeom>
            <a:avLst/>
            <a:gdLst/>
            <a:ahLst/>
            <a:cxnLst/>
            <a:rect l="l" t="t" r="r" b="b"/>
            <a:pathLst>
              <a:path w="67310" h="8889">
                <a:moveTo>
                  <a:pt x="0" y="8889"/>
                </a:moveTo>
                <a:lnTo>
                  <a:pt x="67182" y="8889"/>
                </a:lnTo>
                <a:lnTo>
                  <a:pt x="67182" y="0"/>
                </a:lnTo>
                <a:lnTo>
                  <a:pt x="0" y="0"/>
                </a:lnTo>
                <a:lnTo>
                  <a:pt x="0" y="8889"/>
                </a:lnTo>
                <a:close/>
              </a:path>
            </a:pathLst>
          </a:custGeom>
          <a:solidFill>
            <a:srgbClr val="000000"/>
          </a:solidFill>
        </p:spPr>
        <p:txBody>
          <a:bodyPr wrap="square" lIns="0" tIns="0" rIns="0" bIns="0" rtlCol="0"/>
          <a:lstStyle/>
          <a:p>
            <a:endParaRPr/>
          </a:p>
        </p:txBody>
      </p:sp>
      <p:sp>
        <p:nvSpPr>
          <p:cNvPr id="10" name="object 10"/>
          <p:cNvSpPr/>
          <p:nvPr/>
        </p:nvSpPr>
        <p:spPr>
          <a:xfrm>
            <a:off x="3422522" y="2197100"/>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sp>
        <p:nvSpPr>
          <p:cNvPr id="11" name="object 11"/>
          <p:cNvSpPr/>
          <p:nvPr/>
        </p:nvSpPr>
        <p:spPr>
          <a:xfrm>
            <a:off x="3814190" y="2197100"/>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sp>
        <p:nvSpPr>
          <p:cNvPr id="12" name="object 12"/>
          <p:cNvSpPr/>
          <p:nvPr/>
        </p:nvSpPr>
        <p:spPr>
          <a:xfrm>
            <a:off x="3422522" y="2632964"/>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sp>
        <p:nvSpPr>
          <p:cNvPr id="13" name="object 13"/>
          <p:cNvSpPr/>
          <p:nvPr/>
        </p:nvSpPr>
        <p:spPr>
          <a:xfrm>
            <a:off x="3814190" y="2632964"/>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sp>
        <p:nvSpPr>
          <p:cNvPr id="14" name="object 14"/>
          <p:cNvSpPr/>
          <p:nvPr/>
        </p:nvSpPr>
        <p:spPr>
          <a:xfrm>
            <a:off x="3372230" y="3068827"/>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sp>
        <p:nvSpPr>
          <p:cNvPr id="15" name="object 15"/>
          <p:cNvSpPr/>
          <p:nvPr/>
        </p:nvSpPr>
        <p:spPr>
          <a:xfrm>
            <a:off x="3763898" y="3068827"/>
            <a:ext cx="100965" cy="15240"/>
          </a:xfrm>
          <a:custGeom>
            <a:avLst/>
            <a:gdLst/>
            <a:ahLst/>
            <a:cxnLst/>
            <a:rect l="l" t="t" r="r" b="b"/>
            <a:pathLst>
              <a:path w="100964" h="15239">
                <a:moveTo>
                  <a:pt x="100584" y="0"/>
                </a:moveTo>
                <a:lnTo>
                  <a:pt x="0" y="0"/>
                </a:lnTo>
                <a:lnTo>
                  <a:pt x="0" y="15239"/>
                </a:lnTo>
                <a:lnTo>
                  <a:pt x="100584" y="15239"/>
                </a:lnTo>
                <a:lnTo>
                  <a:pt x="100584" y="0"/>
                </a:lnTo>
                <a:close/>
              </a:path>
            </a:pathLst>
          </a:custGeom>
          <a:solidFill>
            <a:srgbClr val="000000"/>
          </a:solidFill>
        </p:spPr>
        <p:txBody>
          <a:bodyPr wrap="square" lIns="0" tIns="0" rIns="0" bIns="0" rtlCol="0"/>
          <a:lstStyle/>
          <a:p>
            <a:endParaRPr/>
          </a:p>
        </p:txBody>
      </p:sp>
      <p:graphicFrame>
        <p:nvGraphicFramePr>
          <p:cNvPr id="16" name="object 16"/>
          <p:cNvGraphicFramePr>
            <a:graphicFrameLocks noGrp="1"/>
          </p:cNvGraphicFramePr>
          <p:nvPr/>
        </p:nvGraphicFramePr>
        <p:xfrm>
          <a:off x="6569836" y="5144770"/>
          <a:ext cx="2195192" cy="1366520"/>
        </p:xfrm>
        <a:graphic>
          <a:graphicData uri="http://schemas.openxmlformats.org/drawingml/2006/table">
            <a:tbl>
              <a:tblPr firstRow="1" bandRow="1">
                <a:tableStyleId>{2D5ABB26-0587-4C30-8999-92F81FD0307C}</a:tableStyleId>
              </a:tblPr>
              <a:tblGrid>
                <a:gridCol w="470534">
                  <a:extLst>
                    <a:ext uri="{9D8B030D-6E8A-4147-A177-3AD203B41FA5}">
                      <a16:colId xmlns:a16="http://schemas.microsoft.com/office/drawing/2014/main" val="20000"/>
                    </a:ext>
                  </a:extLst>
                </a:gridCol>
                <a:gridCol w="485775">
                  <a:extLst>
                    <a:ext uri="{9D8B030D-6E8A-4147-A177-3AD203B41FA5}">
                      <a16:colId xmlns:a16="http://schemas.microsoft.com/office/drawing/2014/main" val="20001"/>
                    </a:ext>
                  </a:extLst>
                </a:gridCol>
                <a:gridCol w="448309">
                  <a:extLst>
                    <a:ext uri="{9D8B030D-6E8A-4147-A177-3AD203B41FA5}">
                      <a16:colId xmlns:a16="http://schemas.microsoft.com/office/drawing/2014/main" val="20002"/>
                    </a:ext>
                  </a:extLst>
                </a:gridCol>
                <a:gridCol w="405764">
                  <a:extLst>
                    <a:ext uri="{9D8B030D-6E8A-4147-A177-3AD203B41FA5}">
                      <a16:colId xmlns:a16="http://schemas.microsoft.com/office/drawing/2014/main" val="20003"/>
                    </a:ext>
                  </a:extLst>
                </a:gridCol>
                <a:gridCol w="384810">
                  <a:extLst>
                    <a:ext uri="{9D8B030D-6E8A-4147-A177-3AD203B41FA5}">
                      <a16:colId xmlns:a16="http://schemas.microsoft.com/office/drawing/2014/main" val="20004"/>
                    </a:ext>
                  </a:extLst>
                </a:gridCol>
              </a:tblGrid>
              <a:tr h="341630">
                <a:tc>
                  <a:txBody>
                    <a:bodyPr/>
                    <a:lstStyle/>
                    <a:p>
                      <a:pPr marL="1905" algn="ctr">
                        <a:lnSpc>
                          <a:spcPct val="100000"/>
                        </a:lnSpc>
                        <a:spcBef>
                          <a:spcPts val="470"/>
                        </a:spcBef>
                      </a:pPr>
                      <a:r>
                        <a:rPr sz="1400" b="1" spc="-50" dirty="0">
                          <a:latin typeface="Times New Roman"/>
                          <a:cs typeface="Times New Roman"/>
                        </a:rPr>
                        <a:t>6</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9</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70"/>
                        </a:spcBef>
                      </a:pPr>
                      <a:r>
                        <a:rPr sz="1400" b="1" spc="-25" dirty="0">
                          <a:latin typeface="Times New Roman"/>
                          <a:cs typeface="Times New Roman"/>
                        </a:rPr>
                        <a:t>12</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41630">
                <a:tc>
                  <a:txBody>
                    <a:bodyPr/>
                    <a:lstStyle/>
                    <a:p>
                      <a:pPr marL="1905"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70"/>
                        </a:spcBef>
                      </a:pPr>
                      <a:r>
                        <a:rPr sz="1400" b="1" spc="-25" dirty="0">
                          <a:latin typeface="Times New Roman"/>
                          <a:cs typeface="Times New Roman"/>
                        </a:rPr>
                        <a:t>15</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6</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470"/>
                        </a:spcBef>
                      </a:pPr>
                      <a:r>
                        <a:rPr sz="1400" b="1" spc="-25" dirty="0">
                          <a:latin typeface="Times New Roman"/>
                          <a:cs typeface="Times New Roman"/>
                        </a:rPr>
                        <a:t>14</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70"/>
                        </a:spcBef>
                      </a:pPr>
                      <a:r>
                        <a:rPr sz="1400" b="1" spc="-25" dirty="0">
                          <a:latin typeface="Times New Roman"/>
                          <a:cs typeface="Times New Roman"/>
                        </a:rPr>
                        <a:t>13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1630">
                <a:tc>
                  <a:txBody>
                    <a:bodyPr/>
                    <a:lstStyle/>
                    <a:p>
                      <a:pPr marL="1905"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5</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9</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1630">
                <a:tc>
                  <a:txBody>
                    <a:bodyPr/>
                    <a:lstStyle/>
                    <a:p>
                      <a:pPr marL="1270" algn="ctr">
                        <a:lnSpc>
                          <a:spcPct val="100000"/>
                        </a:lnSpc>
                        <a:spcBef>
                          <a:spcPts val="470"/>
                        </a:spcBef>
                      </a:pPr>
                      <a:r>
                        <a:rPr sz="1400" b="1" spc="-25" dirty="0">
                          <a:latin typeface="Times New Roman"/>
                          <a:cs typeface="Times New Roman"/>
                        </a:rPr>
                        <a:t>14</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70"/>
                        </a:spcBef>
                      </a:pPr>
                      <a:r>
                        <a:rPr sz="1400" b="1" spc="-25" dirty="0">
                          <a:latin typeface="Times New Roman"/>
                          <a:cs typeface="Times New Roman"/>
                        </a:rPr>
                        <a:t>16</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17" name="object 17"/>
          <p:cNvGrpSpPr/>
          <p:nvPr/>
        </p:nvGrpSpPr>
        <p:grpSpPr>
          <a:xfrm>
            <a:off x="426719" y="295638"/>
            <a:ext cx="8211820" cy="520065"/>
            <a:chOff x="426719" y="295638"/>
            <a:chExt cx="8211820" cy="520065"/>
          </a:xfrm>
        </p:grpSpPr>
        <p:pic>
          <p:nvPicPr>
            <p:cNvPr id="18" name="object 18"/>
            <p:cNvPicPr/>
            <p:nvPr/>
          </p:nvPicPr>
          <p:blipFill>
            <a:blip r:embed="rId3" cstate="print"/>
            <a:stretch>
              <a:fillRect/>
            </a:stretch>
          </p:blipFill>
          <p:spPr>
            <a:xfrm>
              <a:off x="426719" y="722502"/>
              <a:ext cx="8211311" cy="92709"/>
            </a:xfrm>
            <a:prstGeom prst="rect">
              <a:avLst/>
            </a:prstGeom>
          </p:spPr>
        </p:pic>
        <p:sp>
          <p:nvSpPr>
            <p:cNvPr id="19" name="object 19"/>
            <p:cNvSpPr/>
            <p:nvPr/>
          </p:nvSpPr>
          <p:spPr>
            <a:xfrm>
              <a:off x="460374" y="748538"/>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pic>
          <p:nvPicPr>
            <p:cNvPr id="20" name="object 20"/>
            <p:cNvPicPr/>
            <p:nvPr/>
          </p:nvPicPr>
          <p:blipFill>
            <a:blip r:embed="rId4" cstate="print"/>
            <a:stretch>
              <a:fillRect/>
            </a:stretch>
          </p:blipFill>
          <p:spPr>
            <a:xfrm>
              <a:off x="3252213" y="295638"/>
              <a:ext cx="2508506" cy="391685"/>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835657" y="2083307"/>
            <a:ext cx="1404620" cy="1393825"/>
            <a:chOff x="1835657" y="2083307"/>
            <a:chExt cx="1404620" cy="1393825"/>
          </a:xfrm>
        </p:grpSpPr>
        <p:sp>
          <p:nvSpPr>
            <p:cNvPr id="3" name="object 3"/>
            <p:cNvSpPr/>
            <p:nvPr/>
          </p:nvSpPr>
          <p:spPr>
            <a:xfrm>
              <a:off x="1835658" y="2095982"/>
              <a:ext cx="1404620" cy="342265"/>
            </a:xfrm>
            <a:custGeom>
              <a:avLst/>
              <a:gdLst/>
              <a:ahLst/>
              <a:cxnLst/>
              <a:rect l="l" t="t" r="r" b="b"/>
              <a:pathLst>
                <a:path w="1404620" h="342264">
                  <a:moveTo>
                    <a:pt x="470725" y="0"/>
                  </a:moveTo>
                  <a:lnTo>
                    <a:pt x="0" y="0"/>
                  </a:lnTo>
                  <a:lnTo>
                    <a:pt x="0" y="342036"/>
                  </a:lnTo>
                  <a:lnTo>
                    <a:pt x="470725" y="342036"/>
                  </a:lnTo>
                  <a:lnTo>
                    <a:pt x="470725" y="0"/>
                  </a:lnTo>
                  <a:close/>
                </a:path>
                <a:path w="1404620" h="342264">
                  <a:moveTo>
                    <a:pt x="1404556" y="0"/>
                  </a:moveTo>
                  <a:lnTo>
                    <a:pt x="956360" y="0"/>
                  </a:lnTo>
                  <a:lnTo>
                    <a:pt x="470789" y="0"/>
                  </a:lnTo>
                  <a:lnTo>
                    <a:pt x="470789" y="342036"/>
                  </a:lnTo>
                  <a:lnTo>
                    <a:pt x="956310" y="342036"/>
                  </a:lnTo>
                  <a:lnTo>
                    <a:pt x="1404556" y="342036"/>
                  </a:lnTo>
                  <a:lnTo>
                    <a:pt x="1404556" y="0"/>
                  </a:lnTo>
                  <a:close/>
                </a:path>
              </a:pathLst>
            </a:custGeom>
            <a:solidFill>
              <a:srgbClr val="FFFF00"/>
            </a:solidFill>
          </p:spPr>
          <p:txBody>
            <a:bodyPr wrap="square" lIns="0" tIns="0" rIns="0" bIns="0" rtlCol="0"/>
            <a:lstStyle/>
            <a:p>
              <a:endParaRPr/>
            </a:p>
          </p:txBody>
        </p:sp>
        <p:sp>
          <p:nvSpPr>
            <p:cNvPr id="4" name="object 4"/>
            <p:cNvSpPr/>
            <p:nvPr/>
          </p:nvSpPr>
          <p:spPr>
            <a:xfrm>
              <a:off x="2306446" y="2437993"/>
              <a:ext cx="485775" cy="342265"/>
            </a:xfrm>
            <a:custGeom>
              <a:avLst/>
              <a:gdLst/>
              <a:ahLst/>
              <a:cxnLst/>
              <a:rect l="l" t="t" r="r" b="b"/>
              <a:pathLst>
                <a:path w="485775" h="342264">
                  <a:moveTo>
                    <a:pt x="485571" y="0"/>
                  </a:moveTo>
                  <a:lnTo>
                    <a:pt x="0" y="0"/>
                  </a:lnTo>
                  <a:lnTo>
                    <a:pt x="0" y="342036"/>
                  </a:lnTo>
                  <a:lnTo>
                    <a:pt x="485571" y="342036"/>
                  </a:lnTo>
                  <a:lnTo>
                    <a:pt x="485571" y="0"/>
                  </a:lnTo>
                  <a:close/>
                </a:path>
              </a:pathLst>
            </a:custGeom>
            <a:solidFill>
              <a:srgbClr val="C3D59B"/>
            </a:solidFill>
          </p:spPr>
          <p:txBody>
            <a:bodyPr wrap="square" lIns="0" tIns="0" rIns="0" bIns="0" rtlCol="0"/>
            <a:lstStyle/>
            <a:p>
              <a:endParaRPr/>
            </a:p>
          </p:txBody>
        </p:sp>
        <p:sp>
          <p:nvSpPr>
            <p:cNvPr id="5" name="object 5"/>
            <p:cNvSpPr/>
            <p:nvPr/>
          </p:nvSpPr>
          <p:spPr>
            <a:xfrm>
              <a:off x="2306447" y="2437993"/>
              <a:ext cx="934085" cy="684530"/>
            </a:xfrm>
            <a:custGeom>
              <a:avLst/>
              <a:gdLst/>
              <a:ahLst/>
              <a:cxnLst/>
              <a:rect l="l" t="t" r="r" b="b"/>
              <a:pathLst>
                <a:path w="934085" h="684530">
                  <a:moveTo>
                    <a:pt x="933767" y="0"/>
                  </a:moveTo>
                  <a:lnTo>
                    <a:pt x="485521" y="0"/>
                  </a:lnTo>
                  <a:lnTo>
                    <a:pt x="485521" y="342011"/>
                  </a:lnTo>
                  <a:lnTo>
                    <a:pt x="0" y="342011"/>
                  </a:lnTo>
                  <a:lnTo>
                    <a:pt x="0" y="684047"/>
                  </a:lnTo>
                  <a:lnTo>
                    <a:pt x="485521" y="684047"/>
                  </a:lnTo>
                  <a:lnTo>
                    <a:pt x="933767" y="684047"/>
                  </a:lnTo>
                  <a:lnTo>
                    <a:pt x="933767" y="342036"/>
                  </a:lnTo>
                  <a:lnTo>
                    <a:pt x="933767" y="0"/>
                  </a:lnTo>
                  <a:close/>
                </a:path>
              </a:pathLst>
            </a:custGeom>
            <a:solidFill>
              <a:srgbClr val="FFFF00"/>
            </a:solidFill>
          </p:spPr>
          <p:txBody>
            <a:bodyPr wrap="square" lIns="0" tIns="0" rIns="0" bIns="0" rtlCol="0"/>
            <a:lstStyle/>
            <a:p>
              <a:endParaRPr/>
            </a:p>
          </p:txBody>
        </p:sp>
        <p:sp>
          <p:nvSpPr>
            <p:cNvPr id="6" name="object 6"/>
            <p:cNvSpPr/>
            <p:nvPr/>
          </p:nvSpPr>
          <p:spPr>
            <a:xfrm>
              <a:off x="2306446" y="2089657"/>
              <a:ext cx="485775" cy="1381125"/>
            </a:xfrm>
            <a:custGeom>
              <a:avLst/>
              <a:gdLst/>
              <a:ahLst/>
              <a:cxnLst/>
              <a:rect l="l" t="t" r="r" b="b"/>
              <a:pathLst>
                <a:path w="485775" h="1381125">
                  <a:moveTo>
                    <a:pt x="0" y="0"/>
                  </a:moveTo>
                  <a:lnTo>
                    <a:pt x="0" y="1380743"/>
                  </a:lnTo>
                </a:path>
                <a:path w="485775" h="1381125">
                  <a:moveTo>
                    <a:pt x="485520" y="0"/>
                  </a:moveTo>
                  <a:lnTo>
                    <a:pt x="485520" y="1380743"/>
                  </a:lnTo>
                </a:path>
              </a:pathLst>
            </a:custGeom>
            <a:ln w="12700">
              <a:solidFill>
                <a:srgbClr val="000000"/>
              </a:solidFill>
            </a:ln>
          </p:spPr>
          <p:txBody>
            <a:bodyPr wrap="square" lIns="0" tIns="0" rIns="0" bIns="0" rtlCol="0"/>
            <a:lstStyle/>
            <a:p>
              <a:endParaRPr/>
            </a:p>
          </p:txBody>
        </p:sp>
      </p:grpSp>
      <p:graphicFrame>
        <p:nvGraphicFramePr>
          <p:cNvPr id="7" name="object 7"/>
          <p:cNvGraphicFramePr>
            <a:graphicFrameLocks noGrp="1"/>
          </p:cNvGraphicFramePr>
          <p:nvPr/>
        </p:nvGraphicFramePr>
        <p:xfrm>
          <a:off x="1829307" y="2089657"/>
          <a:ext cx="2195192" cy="1366520"/>
        </p:xfrm>
        <a:graphic>
          <a:graphicData uri="http://schemas.openxmlformats.org/drawingml/2006/table">
            <a:tbl>
              <a:tblPr firstRow="1" bandRow="1">
                <a:tableStyleId>{2D5ABB26-0587-4C30-8999-92F81FD0307C}</a:tableStyleId>
              </a:tblPr>
              <a:tblGrid>
                <a:gridCol w="47053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05764">
                  <a:extLst>
                    <a:ext uri="{9D8B030D-6E8A-4147-A177-3AD203B41FA5}">
                      <a16:colId xmlns:a16="http://schemas.microsoft.com/office/drawing/2014/main" val="20003"/>
                    </a:ext>
                  </a:extLst>
                </a:gridCol>
                <a:gridCol w="384810">
                  <a:extLst>
                    <a:ext uri="{9D8B030D-6E8A-4147-A177-3AD203B41FA5}">
                      <a16:colId xmlns:a16="http://schemas.microsoft.com/office/drawing/2014/main" val="20004"/>
                    </a:ext>
                  </a:extLst>
                </a:gridCol>
              </a:tblGrid>
              <a:tr h="341630">
                <a:tc>
                  <a:txBody>
                    <a:bodyPr/>
                    <a:lstStyle/>
                    <a:p>
                      <a:pPr algn="ctr">
                        <a:lnSpc>
                          <a:spcPct val="100000"/>
                        </a:lnSpc>
                        <a:spcBef>
                          <a:spcPts val="465"/>
                        </a:spcBef>
                      </a:pPr>
                      <a:r>
                        <a:rPr sz="1400" b="1" spc="-50" dirty="0">
                          <a:latin typeface="Times New Roman"/>
                          <a:cs typeface="Times New Roman"/>
                        </a:rPr>
                        <a:t>6</a:t>
                      </a:r>
                      <a:endParaRPr sz="1400">
                        <a:latin typeface="Times New Roman"/>
                        <a:cs typeface="Times New Roman"/>
                      </a:endParaRPr>
                    </a:p>
                  </a:txBody>
                  <a:tcPr marL="0" marR="0" marT="5905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6985" algn="ctr">
                        <a:lnSpc>
                          <a:spcPct val="100000"/>
                        </a:lnSpc>
                        <a:spcBef>
                          <a:spcPts val="465"/>
                        </a:spcBef>
                      </a:pPr>
                      <a:r>
                        <a:rPr sz="1400" b="1" spc="-50" dirty="0">
                          <a:latin typeface="Times New Roman"/>
                          <a:cs typeface="Times New Roman"/>
                        </a:rPr>
                        <a:t>8</a:t>
                      </a:r>
                      <a:endParaRPr sz="1400">
                        <a:latin typeface="Times New Roman"/>
                        <a:cs typeface="Times New Roman"/>
                      </a:endParaRPr>
                    </a:p>
                  </a:txBody>
                  <a:tcPr marL="0" marR="0" marT="59055" marB="0">
                    <a:lnT w="12700">
                      <a:solidFill>
                        <a:srgbClr val="000000"/>
                      </a:solidFill>
                      <a:prstDash val="solid"/>
                    </a:lnT>
                    <a:lnB w="12700">
                      <a:solidFill>
                        <a:srgbClr val="000000"/>
                      </a:solidFill>
                      <a:prstDash val="solid"/>
                    </a:lnB>
                  </a:tcPr>
                </a:tc>
                <a:tc>
                  <a:txBody>
                    <a:bodyPr/>
                    <a:lstStyle/>
                    <a:p>
                      <a:pPr marL="6985" algn="ctr">
                        <a:lnSpc>
                          <a:spcPct val="100000"/>
                        </a:lnSpc>
                        <a:spcBef>
                          <a:spcPts val="465"/>
                        </a:spcBef>
                      </a:pPr>
                      <a:r>
                        <a:rPr sz="1400" b="1" spc="-50" dirty="0">
                          <a:latin typeface="Times New Roman"/>
                          <a:cs typeface="Times New Roman"/>
                        </a:rPr>
                        <a:t>9</a:t>
                      </a:r>
                      <a:endParaRPr sz="1400">
                        <a:latin typeface="Times New Roman"/>
                        <a:cs typeface="Times New Roman"/>
                      </a:endParaRPr>
                    </a:p>
                  </a:txBody>
                  <a:tcPr marL="0" marR="0" marT="59055" marB="0">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465"/>
                        </a:spcBef>
                      </a:pPr>
                      <a:r>
                        <a:rPr sz="1400" b="1" spc="-25" dirty="0">
                          <a:latin typeface="Times New Roman"/>
                          <a:cs typeface="Times New Roman"/>
                        </a:rPr>
                        <a:t>10</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65"/>
                        </a:spcBef>
                      </a:pPr>
                      <a:r>
                        <a:rPr sz="1400" b="1" spc="-25" dirty="0">
                          <a:latin typeface="Times New Roman"/>
                          <a:cs typeface="Times New Roman"/>
                        </a:rPr>
                        <a:t>12</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41630">
                <a:tc>
                  <a:txBody>
                    <a:bodyPr/>
                    <a:lstStyle/>
                    <a:p>
                      <a:pPr algn="ctr">
                        <a:lnSpc>
                          <a:spcPct val="100000"/>
                        </a:lnSpc>
                        <a:spcBef>
                          <a:spcPts val="465"/>
                        </a:spcBef>
                      </a:pPr>
                      <a:r>
                        <a:rPr sz="1400" b="1" spc="-50" dirty="0">
                          <a:latin typeface="Times New Roman"/>
                          <a:cs typeface="Times New Roman"/>
                        </a:rPr>
                        <a:t>7</a:t>
                      </a:r>
                      <a:endParaRPr sz="1400">
                        <a:latin typeface="Times New Roman"/>
                        <a:cs typeface="Times New Roman"/>
                      </a:endParaRPr>
                    </a:p>
                  </a:txBody>
                  <a:tcPr marL="0" marR="0" marT="59055" marB="0">
                    <a:lnL w="12700">
                      <a:solidFill>
                        <a:srgbClr val="000000"/>
                      </a:solidFill>
                      <a:prstDash val="solid"/>
                    </a:lnL>
                    <a:lnT w="12700">
                      <a:solidFill>
                        <a:srgbClr val="000000"/>
                      </a:solidFill>
                      <a:prstDash val="solid"/>
                    </a:lnT>
                    <a:lnB w="12700">
                      <a:solidFill>
                        <a:srgbClr val="000000"/>
                      </a:solidFill>
                      <a:prstDash val="solid"/>
                    </a:lnB>
                    <a:solidFill>
                      <a:srgbClr val="FFFF00"/>
                    </a:solidFill>
                  </a:tcPr>
                </a:tc>
                <a:tc>
                  <a:txBody>
                    <a:bodyPr/>
                    <a:lstStyle/>
                    <a:p>
                      <a:pPr marL="9525" algn="ctr">
                        <a:lnSpc>
                          <a:spcPct val="100000"/>
                        </a:lnSpc>
                        <a:spcBef>
                          <a:spcPts val="465"/>
                        </a:spcBef>
                      </a:pPr>
                      <a:r>
                        <a:rPr sz="1400" b="1" spc="-25" dirty="0">
                          <a:latin typeface="Times New Roman"/>
                          <a:cs typeface="Times New Roman"/>
                        </a:rPr>
                        <a:t>15</a:t>
                      </a:r>
                      <a:endParaRPr sz="1400">
                        <a:latin typeface="Times New Roman"/>
                        <a:cs typeface="Times New Roman"/>
                      </a:endParaRPr>
                    </a:p>
                  </a:txBody>
                  <a:tcPr marL="0" marR="0" marT="59055" marB="0">
                    <a:lnT w="12700">
                      <a:solidFill>
                        <a:srgbClr val="000000"/>
                      </a:solidFill>
                      <a:prstDash val="solid"/>
                    </a:lnT>
                    <a:lnB w="12700">
                      <a:solidFill>
                        <a:srgbClr val="000000"/>
                      </a:solidFill>
                      <a:prstDash val="solid"/>
                    </a:lnB>
                  </a:tcPr>
                </a:tc>
                <a:tc>
                  <a:txBody>
                    <a:bodyPr/>
                    <a:lstStyle/>
                    <a:p>
                      <a:pPr marL="7620" algn="ctr">
                        <a:lnSpc>
                          <a:spcPct val="100000"/>
                        </a:lnSpc>
                        <a:spcBef>
                          <a:spcPts val="465"/>
                        </a:spcBef>
                      </a:pPr>
                      <a:r>
                        <a:rPr sz="1400" b="1" spc="-50" dirty="0">
                          <a:latin typeface="Times New Roman"/>
                          <a:cs typeface="Times New Roman"/>
                        </a:rPr>
                        <a:t>6</a:t>
                      </a:r>
                      <a:endParaRPr sz="1400">
                        <a:latin typeface="Times New Roman"/>
                        <a:cs typeface="Times New Roman"/>
                      </a:endParaRPr>
                    </a:p>
                  </a:txBody>
                  <a:tcPr marL="0" marR="0" marT="5905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14</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65"/>
                        </a:spcBef>
                      </a:pPr>
                      <a:r>
                        <a:rPr sz="1400" b="1" spc="-25" dirty="0">
                          <a:latin typeface="Times New Roman"/>
                          <a:cs typeface="Times New Roman"/>
                        </a:rPr>
                        <a:t>13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1630">
                <a:tc>
                  <a:txBody>
                    <a:bodyPr/>
                    <a:lstStyle/>
                    <a:p>
                      <a:pPr algn="ctr">
                        <a:lnSpc>
                          <a:spcPct val="100000"/>
                        </a:lnSpc>
                        <a:spcBef>
                          <a:spcPts val="465"/>
                        </a:spcBef>
                      </a:pPr>
                      <a:r>
                        <a:rPr sz="1400" b="1" spc="-50" dirty="0">
                          <a:latin typeface="Times New Roman"/>
                          <a:cs typeface="Times New Roman"/>
                        </a:rPr>
                        <a:t>3</a:t>
                      </a:r>
                      <a:endParaRPr sz="1400">
                        <a:latin typeface="Times New Roman"/>
                        <a:cs typeface="Times New Roman"/>
                      </a:endParaRPr>
                    </a:p>
                  </a:txBody>
                  <a:tcPr marL="0" marR="0" marT="59055" marB="0">
                    <a:lnL w="12700">
                      <a:solidFill>
                        <a:srgbClr val="000000"/>
                      </a:solidFill>
                      <a:prstDash val="solid"/>
                    </a:lnL>
                    <a:lnT w="12700">
                      <a:solidFill>
                        <a:srgbClr val="000000"/>
                      </a:solidFill>
                      <a:prstDash val="solid"/>
                    </a:lnT>
                    <a:lnB w="12700">
                      <a:solidFill>
                        <a:srgbClr val="000000"/>
                      </a:solidFill>
                      <a:prstDash val="solid"/>
                    </a:lnB>
                    <a:solidFill>
                      <a:srgbClr val="FFFF00"/>
                    </a:solidFill>
                  </a:tcPr>
                </a:tc>
                <a:tc>
                  <a:txBody>
                    <a:bodyPr/>
                    <a:lstStyle/>
                    <a:p>
                      <a:pPr marL="6985" algn="ctr">
                        <a:lnSpc>
                          <a:spcPct val="100000"/>
                        </a:lnSpc>
                        <a:spcBef>
                          <a:spcPts val="465"/>
                        </a:spcBef>
                      </a:pPr>
                      <a:r>
                        <a:rPr sz="1400" b="1" spc="-50" dirty="0">
                          <a:latin typeface="Times New Roman"/>
                          <a:cs typeface="Times New Roman"/>
                        </a:rPr>
                        <a:t>7</a:t>
                      </a:r>
                      <a:endParaRPr sz="1400">
                        <a:latin typeface="Times New Roman"/>
                        <a:cs typeface="Times New Roman"/>
                      </a:endParaRPr>
                    </a:p>
                  </a:txBody>
                  <a:tcPr marL="0" marR="0" marT="59055" marB="0">
                    <a:lnT w="12700">
                      <a:solidFill>
                        <a:srgbClr val="000000"/>
                      </a:solidFill>
                      <a:prstDash val="solid"/>
                    </a:lnT>
                    <a:lnB w="12700">
                      <a:solidFill>
                        <a:srgbClr val="000000"/>
                      </a:solidFill>
                      <a:prstDash val="solid"/>
                    </a:lnB>
                    <a:solidFill>
                      <a:srgbClr val="FFFF00"/>
                    </a:solidFill>
                  </a:tcPr>
                </a:tc>
                <a:tc>
                  <a:txBody>
                    <a:bodyPr/>
                    <a:lstStyle/>
                    <a:p>
                      <a:pPr marL="6985" algn="ctr">
                        <a:lnSpc>
                          <a:spcPct val="100000"/>
                        </a:lnSpc>
                        <a:spcBef>
                          <a:spcPts val="465"/>
                        </a:spcBef>
                      </a:pPr>
                      <a:r>
                        <a:rPr sz="1400" b="1" spc="-50" dirty="0">
                          <a:latin typeface="Times New Roman"/>
                          <a:cs typeface="Times New Roman"/>
                        </a:rPr>
                        <a:t>5</a:t>
                      </a:r>
                      <a:endParaRPr sz="1400">
                        <a:latin typeface="Times New Roman"/>
                        <a:cs typeface="Times New Roman"/>
                      </a:endParaRPr>
                    </a:p>
                  </a:txBody>
                  <a:tcPr marL="0" marR="0" marT="5905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9</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50" dirty="0">
                          <a:latin typeface="Times New Roman"/>
                          <a:cs typeface="Times New Roman"/>
                        </a:rPr>
                        <a:t>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1630">
                <a:tc>
                  <a:txBody>
                    <a:bodyPr/>
                    <a:lstStyle/>
                    <a:p>
                      <a:pPr algn="ctr">
                        <a:lnSpc>
                          <a:spcPct val="100000"/>
                        </a:lnSpc>
                        <a:spcBef>
                          <a:spcPts val="465"/>
                        </a:spcBef>
                      </a:pPr>
                      <a:r>
                        <a:rPr sz="1400" b="1" spc="-25" dirty="0">
                          <a:latin typeface="Times New Roman"/>
                          <a:cs typeface="Times New Roman"/>
                        </a:rPr>
                        <a:t>14</a:t>
                      </a:r>
                      <a:endParaRPr sz="1400">
                        <a:latin typeface="Times New Roman"/>
                        <a:cs typeface="Times New Roman"/>
                      </a:endParaRPr>
                    </a:p>
                  </a:txBody>
                  <a:tcPr marL="0" marR="0" marT="5905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9525" algn="ctr">
                        <a:lnSpc>
                          <a:spcPct val="100000"/>
                        </a:lnSpc>
                        <a:spcBef>
                          <a:spcPts val="465"/>
                        </a:spcBef>
                      </a:pPr>
                      <a:r>
                        <a:rPr sz="1400" b="1" spc="-25" dirty="0">
                          <a:latin typeface="Times New Roman"/>
                          <a:cs typeface="Times New Roman"/>
                        </a:rPr>
                        <a:t>16</a:t>
                      </a:r>
                      <a:endParaRPr sz="1400">
                        <a:latin typeface="Times New Roman"/>
                        <a:cs typeface="Times New Roman"/>
                      </a:endParaRPr>
                    </a:p>
                  </a:txBody>
                  <a:tcPr marL="0" marR="0" marT="59055" marB="0">
                    <a:lnT w="12700">
                      <a:solidFill>
                        <a:srgbClr val="000000"/>
                      </a:solidFill>
                      <a:prstDash val="solid"/>
                    </a:lnT>
                    <a:lnB w="12700">
                      <a:solidFill>
                        <a:srgbClr val="000000"/>
                      </a:solidFill>
                      <a:prstDash val="solid"/>
                    </a:lnB>
                  </a:tcPr>
                </a:tc>
                <a:tc>
                  <a:txBody>
                    <a:bodyPr/>
                    <a:lstStyle/>
                    <a:p>
                      <a:pPr marL="9525" algn="ctr">
                        <a:lnSpc>
                          <a:spcPct val="100000"/>
                        </a:lnSpc>
                        <a:spcBef>
                          <a:spcPts val="465"/>
                        </a:spcBef>
                      </a:pPr>
                      <a:r>
                        <a:rPr sz="1400" b="1" spc="-25" dirty="0">
                          <a:latin typeface="Times New Roman"/>
                          <a:cs typeface="Times New Roman"/>
                        </a:rPr>
                        <a:t>10</a:t>
                      </a:r>
                      <a:endParaRPr sz="1400">
                        <a:latin typeface="Times New Roman"/>
                        <a:cs typeface="Times New Roman"/>
                      </a:endParaRPr>
                    </a:p>
                  </a:txBody>
                  <a:tcPr marL="0" marR="0" marT="5905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7</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50" dirty="0">
                          <a:latin typeface="Times New Roman"/>
                          <a:cs typeface="Times New Roman"/>
                        </a:rPr>
                        <a:t>8</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Answer</a:t>
            </a:r>
            <a:r>
              <a:rPr spc="-80" dirty="0"/>
              <a:t> </a:t>
            </a:r>
            <a:r>
              <a:rPr spc="-50" dirty="0"/>
              <a:t>:</a:t>
            </a:r>
          </a:p>
        </p:txBody>
      </p:sp>
      <p:sp>
        <p:nvSpPr>
          <p:cNvPr id="9" name="object 9"/>
          <p:cNvSpPr/>
          <p:nvPr/>
        </p:nvSpPr>
        <p:spPr>
          <a:xfrm>
            <a:off x="831189" y="807973"/>
            <a:ext cx="504190" cy="1125220"/>
          </a:xfrm>
          <a:custGeom>
            <a:avLst/>
            <a:gdLst/>
            <a:ahLst/>
            <a:cxnLst/>
            <a:rect l="l" t="t" r="r" b="b"/>
            <a:pathLst>
              <a:path w="504190" h="1125220">
                <a:moveTo>
                  <a:pt x="0" y="0"/>
                </a:moveTo>
                <a:lnTo>
                  <a:pt x="0" y="1125220"/>
                </a:lnTo>
              </a:path>
              <a:path w="504190" h="1125220">
                <a:moveTo>
                  <a:pt x="504088" y="0"/>
                </a:moveTo>
                <a:lnTo>
                  <a:pt x="504088" y="1125220"/>
                </a:lnTo>
              </a:path>
            </a:pathLst>
          </a:custGeom>
          <a:ln w="12700">
            <a:solidFill>
              <a:srgbClr val="000000"/>
            </a:solidFill>
          </a:ln>
        </p:spPr>
        <p:txBody>
          <a:bodyPr wrap="square" lIns="0" tIns="0" rIns="0" bIns="0" rtlCol="0"/>
          <a:lstStyle/>
          <a:p>
            <a:endParaRPr/>
          </a:p>
        </p:txBody>
      </p:sp>
      <p:graphicFrame>
        <p:nvGraphicFramePr>
          <p:cNvPr id="10" name="object 10"/>
          <p:cNvGraphicFramePr>
            <a:graphicFrameLocks noGrp="1"/>
          </p:cNvGraphicFramePr>
          <p:nvPr/>
        </p:nvGraphicFramePr>
        <p:xfrm>
          <a:off x="320776" y="807973"/>
          <a:ext cx="1511934" cy="1111250"/>
        </p:xfrm>
        <a:graphic>
          <a:graphicData uri="http://schemas.openxmlformats.org/drawingml/2006/table">
            <a:tbl>
              <a:tblPr firstRow="1" bandRow="1">
                <a:tableStyleId>{2D5ABB26-0587-4C30-8999-92F81FD0307C}</a:tableStyleId>
              </a:tblPr>
              <a:tblGrid>
                <a:gridCol w="503555">
                  <a:extLst>
                    <a:ext uri="{9D8B030D-6E8A-4147-A177-3AD203B41FA5}">
                      <a16:colId xmlns:a16="http://schemas.microsoft.com/office/drawing/2014/main" val="20000"/>
                    </a:ext>
                  </a:extLst>
                </a:gridCol>
                <a:gridCol w="504189">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25" dirty="0">
                          <a:latin typeface="Times New Roman"/>
                          <a:cs typeface="Times New Roman"/>
                        </a:rPr>
                        <a:t>1/9</a:t>
                      </a:r>
                      <a:endParaRPr sz="1800">
                        <a:latin typeface="Times New Roman"/>
                        <a:cs typeface="Times New Roman"/>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1" name="object 11"/>
          <p:cNvSpPr/>
          <p:nvPr/>
        </p:nvSpPr>
        <p:spPr>
          <a:xfrm>
            <a:off x="337616" y="790574"/>
            <a:ext cx="2866390" cy="2345690"/>
          </a:xfrm>
          <a:custGeom>
            <a:avLst/>
            <a:gdLst/>
            <a:ahLst/>
            <a:cxnLst/>
            <a:rect l="l" t="t" r="r" b="b"/>
            <a:pathLst>
              <a:path w="2866390" h="2345690">
                <a:moveTo>
                  <a:pt x="1498168" y="2345563"/>
                </a:moveTo>
                <a:lnTo>
                  <a:pt x="1495856" y="2339086"/>
                </a:lnTo>
                <a:lnTo>
                  <a:pt x="1461211" y="2241931"/>
                </a:lnTo>
                <a:lnTo>
                  <a:pt x="1458798" y="2235327"/>
                </a:lnTo>
                <a:lnTo>
                  <a:pt x="1451559" y="2231898"/>
                </a:lnTo>
                <a:lnTo>
                  <a:pt x="1444955" y="2234311"/>
                </a:lnTo>
                <a:lnTo>
                  <a:pt x="1438351" y="2236597"/>
                </a:lnTo>
                <a:lnTo>
                  <a:pt x="1434922" y="2243836"/>
                </a:lnTo>
                <a:lnTo>
                  <a:pt x="1437335" y="2250440"/>
                </a:lnTo>
                <a:lnTo>
                  <a:pt x="1451229" y="2289505"/>
                </a:lnTo>
                <a:lnTo>
                  <a:pt x="16370" y="1079627"/>
                </a:lnTo>
                <a:lnTo>
                  <a:pt x="0" y="1099058"/>
                </a:lnTo>
                <a:lnTo>
                  <a:pt x="1434744" y="2308745"/>
                </a:lnTo>
                <a:lnTo>
                  <a:pt x="1394155" y="2301621"/>
                </a:lnTo>
                <a:lnTo>
                  <a:pt x="1387170" y="2300478"/>
                </a:lnTo>
                <a:lnTo>
                  <a:pt x="1380693" y="2305050"/>
                </a:lnTo>
                <a:lnTo>
                  <a:pt x="1379423" y="2312035"/>
                </a:lnTo>
                <a:lnTo>
                  <a:pt x="1378280" y="2318893"/>
                </a:lnTo>
                <a:lnTo>
                  <a:pt x="1382852" y="2325497"/>
                </a:lnTo>
                <a:lnTo>
                  <a:pt x="1498168" y="2345563"/>
                </a:lnTo>
                <a:close/>
              </a:path>
              <a:path w="2866390" h="2345690">
                <a:moveTo>
                  <a:pt x="1498168" y="1305433"/>
                </a:moveTo>
                <a:lnTo>
                  <a:pt x="1495806" y="1298829"/>
                </a:lnTo>
                <a:lnTo>
                  <a:pt x="1461211" y="1201801"/>
                </a:lnTo>
                <a:lnTo>
                  <a:pt x="1458798" y="1195197"/>
                </a:lnTo>
                <a:lnTo>
                  <a:pt x="1451559" y="1191768"/>
                </a:lnTo>
                <a:lnTo>
                  <a:pt x="1444955" y="1194054"/>
                </a:lnTo>
                <a:lnTo>
                  <a:pt x="1438351" y="1196467"/>
                </a:lnTo>
                <a:lnTo>
                  <a:pt x="1434922" y="1203706"/>
                </a:lnTo>
                <a:lnTo>
                  <a:pt x="1437335" y="1210310"/>
                </a:lnTo>
                <a:lnTo>
                  <a:pt x="1451229" y="1249375"/>
                </a:lnTo>
                <a:lnTo>
                  <a:pt x="16370" y="39497"/>
                </a:lnTo>
                <a:lnTo>
                  <a:pt x="0" y="58928"/>
                </a:lnTo>
                <a:lnTo>
                  <a:pt x="1434833" y="1268577"/>
                </a:lnTo>
                <a:lnTo>
                  <a:pt x="1394155" y="1261491"/>
                </a:lnTo>
                <a:lnTo>
                  <a:pt x="1387170" y="1260348"/>
                </a:lnTo>
                <a:lnTo>
                  <a:pt x="1380693" y="1264920"/>
                </a:lnTo>
                <a:lnTo>
                  <a:pt x="1379423" y="1271905"/>
                </a:lnTo>
                <a:lnTo>
                  <a:pt x="1378280" y="1278763"/>
                </a:lnTo>
                <a:lnTo>
                  <a:pt x="1382852" y="1285367"/>
                </a:lnTo>
                <a:lnTo>
                  <a:pt x="1498168" y="1305433"/>
                </a:lnTo>
                <a:close/>
              </a:path>
              <a:path w="2866390" h="2345690">
                <a:moveTo>
                  <a:pt x="2866212" y="1305433"/>
                </a:moveTo>
                <a:lnTo>
                  <a:pt x="2863837" y="1297305"/>
                </a:lnTo>
                <a:lnTo>
                  <a:pt x="2835579" y="1200277"/>
                </a:lnTo>
                <a:lnTo>
                  <a:pt x="2833446" y="1193165"/>
                </a:lnTo>
                <a:lnTo>
                  <a:pt x="2826334" y="1189228"/>
                </a:lnTo>
                <a:lnTo>
                  <a:pt x="2819603" y="1191260"/>
                </a:lnTo>
                <a:lnTo>
                  <a:pt x="2812872" y="1193165"/>
                </a:lnTo>
                <a:lnTo>
                  <a:pt x="2809062" y="1200277"/>
                </a:lnTo>
                <a:lnTo>
                  <a:pt x="2811094" y="1207008"/>
                </a:lnTo>
                <a:lnTo>
                  <a:pt x="2822625" y="1246632"/>
                </a:lnTo>
                <a:lnTo>
                  <a:pt x="1506804" y="0"/>
                </a:lnTo>
                <a:lnTo>
                  <a:pt x="1489405" y="18415"/>
                </a:lnTo>
                <a:lnTo>
                  <a:pt x="2805239" y="1265059"/>
                </a:lnTo>
                <a:lnTo>
                  <a:pt x="2758135" y="1253998"/>
                </a:lnTo>
                <a:lnTo>
                  <a:pt x="2751277" y="1258189"/>
                </a:lnTo>
                <a:lnTo>
                  <a:pt x="2749740" y="1265059"/>
                </a:lnTo>
                <a:lnTo>
                  <a:pt x="2748102" y="1271905"/>
                </a:lnTo>
                <a:lnTo>
                  <a:pt x="2752496" y="1278890"/>
                </a:lnTo>
                <a:lnTo>
                  <a:pt x="2752979" y="1278890"/>
                </a:lnTo>
                <a:lnTo>
                  <a:pt x="2866212" y="1305433"/>
                </a:lnTo>
                <a:close/>
              </a:path>
            </a:pathLst>
          </a:custGeom>
          <a:solidFill>
            <a:srgbClr val="C0504D"/>
          </a:solidFill>
        </p:spPr>
        <p:txBody>
          <a:bodyPr wrap="square" lIns="0" tIns="0" rIns="0" bIns="0" rtlCol="0"/>
          <a:lstStyle/>
          <a:p>
            <a:endParaRPr/>
          </a:p>
        </p:txBody>
      </p:sp>
      <p:grpSp>
        <p:nvGrpSpPr>
          <p:cNvPr id="12" name="object 12"/>
          <p:cNvGrpSpPr/>
          <p:nvPr/>
        </p:nvGrpSpPr>
        <p:grpSpPr>
          <a:xfrm>
            <a:off x="295656" y="768095"/>
            <a:ext cx="3124200" cy="2543810"/>
            <a:chOff x="295656" y="768095"/>
            <a:chExt cx="3124200" cy="2543810"/>
          </a:xfrm>
        </p:grpSpPr>
        <p:pic>
          <p:nvPicPr>
            <p:cNvPr id="13" name="object 13"/>
            <p:cNvPicPr/>
            <p:nvPr/>
          </p:nvPicPr>
          <p:blipFill>
            <a:blip r:embed="rId2" cstate="print"/>
            <a:stretch>
              <a:fillRect/>
            </a:stretch>
          </p:blipFill>
          <p:spPr>
            <a:xfrm>
              <a:off x="1784603" y="768095"/>
              <a:ext cx="1575816" cy="1504188"/>
            </a:xfrm>
            <a:prstGeom prst="rect">
              <a:avLst/>
            </a:prstGeom>
          </p:spPr>
        </p:pic>
        <p:pic>
          <p:nvPicPr>
            <p:cNvPr id="14" name="object 14"/>
            <p:cNvPicPr/>
            <p:nvPr/>
          </p:nvPicPr>
          <p:blipFill>
            <a:blip r:embed="rId3" cstate="print"/>
            <a:stretch>
              <a:fillRect/>
            </a:stretch>
          </p:blipFill>
          <p:spPr>
            <a:xfrm>
              <a:off x="295656" y="807719"/>
              <a:ext cx="1696212" cy="1464564"/>
            </a:xfrm>
            <a:prstGeom prst="rect">
              <a:avLst/>
            </a:prstGeom>
          </p:spPr>
        </p:pic>
        <p:pic>
          <p:nvPicPr>
            <p:cNvPr id="15" name="object 15"/>
            <p:cNvPicPr/>
            <p:nvPr/>
          </p:nvPicPr>
          <p:blipFill>
            <a:blip r:embed="rId4" cstate="print"/>
            <a:stretch>
              <a:fillRect/>
            </a:stretch>
          </p:blipFill>
          <p:spPr>
            <a:xfrm>
              <a:off x="295656" y="1847087"/>
              <a:ext cx="1696212" cy="1464564"/>
            </a:xfrm>
            <a:prstGeom prst="rect">
              <a:avLst/>
            </a:prstGeom>
          </p:spPr>
        </p:pic>
        <p:pic>
          <p:nvPicPr>
            <p:cNvPr id="16" name="object 16"/>
            <p:cNvPicPr/>
            <p:nvPr/>
          </p:nvPicPr>
          <p:blipFill>
            <a:blip r:embed="rId5" cstate="print"/>
            <a:stretch>
              <a:fillRect/>
            </a:stretch>
          </p:blipFill>
          <p:spPr>
            <a:xfrm>
              <a:off x="1784603" y="1847087"/>
              <a:ext cx="1635251" cy="1464564"/>
            </a:xfrm>
            <a:prstGeom prst="rect">
              <a:avLst/>
            </a:prstGeom>
          </p:spPr>
        </p:pic>
        <p:sp>
          <p:nvSpPr>
            <p:cNvPr id="17" name="object 17"/>
            <p:cNvSpPr/>
            <p:nvPr/>
          </p:nvSpPr>
          <p:spPr>
            <a:xfrm>
              <a:off x="1827275" y="1870456"/>
              <a:ext cx="1437640" cy="1266190"/>
            </a:xfrm>
            <a:custGeom>
              <a:avLst/>
              <a:gdLst/>
              <a:ahLst/>
              <a:cxnLst/>
              <a:rect l="l" t="t" r="r" b="b"/>
              <a:pathLst>
                <a:path w="1437639" h="1266189">
                  <a:moveTo>
                    <a:pt x="1327531" y="1218311"/>
                  </a:moveTo>
                  <a:lnTo>
                    <a:pt x="1320800" y="1222756"/>
                  </a:lnTo>
                  <a:lnTo>
                    <a:pt x="1319530" y="1229741"/>
                  </a:lnTo>
                  <a:lnTo>
                    <a:pt x="1318133" y="1236599"/>
                  </a:lnTo>
                  <a:lnTo>
                    <a:pt x="1322705" y="1243203"/>
                  </a:lnTo>
                  <a:lnTo>
                    <a:pt x="1437513" y="1265682"/>
                  </a:lnTo>
                  <a:lnTo>
                    <a:pt x="1435142" y="1258570"/>
                  </a:lnTo>
                  <a:lnTo>
                    <a:pt x="1410208" y="1258570"/>
                  </a:lnTo>
                  <a:lnTo>
                    <a:pt x="1375006" y="1227628"/>
                  </a:lnTo>
                  <a:lnTo>
                    <a:pt x="1327531" y="1218311"/>
                  </a:lnTo>
                  <a:close/>
                </a:path>
                <a:path w="1437639" h="1266189">
                  <a:moveTo>
                    <a:pt x="1375006" y="1227628"/>
                  </a:moveTo>
                  <a:lnTo>
                    <a:pt x="1410208" y="1258570"/>
                  </a:lnTo>
                  <a:lnTo>
                    <a:pt x="1415013" y="1253109"/>
                  </a:lnTo>
                  <a:lnTo>
                    <a:pt x="1406525" y="1253109"/>
                  </a:lnTo>
                  <a:lnTo>
                    <a:pt x="1399621" y="1232429"/>
                  </a:lnTo>
                  <a:lnTo>
                    <a:pt x="1375006" y="1227628"/>
                  </a:lnTo>
                  <a:close/>
                </a:path>
                <a:path w="1437639" h="1266189">
                  <a:moveTo>
                    <a:pt x="1393317" y="1151128"/>
                  </a:moveTo>
                  <a:lnTo>
                    <a:pt x="1386713" y="1153287"/>
                  </a:lnTo>
                  <a:lnTo>
                    <a:pt x="1379982" y="1155573"/>
                  </a:lnTo>
                  <a:lnTo>
                    <a:pt x="1376426" y="1162685"/>
                  </a:lnTo>
                  <a:lnTo>
                    <a:pt x="1378585" y="1169416"/>
                  </a:lnTo>
                  <a:lnTo>
                    <a:pt x="1391612" y="1208440"/>
                  </a:lnTo>
                  <a:lnTo>
                    <a:pt x="1426972" y="1239520"/>
                  </a:lnTo>
                  <a:lnTo>
                    <a:pt x="1410208" y="1258570"/>
                  </a:lnTo>
                  <a:lnTo>
                    <a:pt x="1435142" y="1258570"/>
                  </a:lnTo>
                  <a:lnTo>
                    <a:pt x="1402715" y="1161288"/>
                  </a:lnTo>
                  <a:lnTo>
                    <a:pt x="1400556" y="1154684"/>
                  </a:lnTo>
                  <a:lnTo>
                    <a:pt x="1393317" y="1151128"/>
                  </a:lnTo>
                  <a:close/>
                </a:path>
                <a:path w="1437639" h="1266189">
                  <a:moveTo>
                    <a:pt x="1399621" y="1232429"/>
                  </a:moveTo>
                  <a:lnTo>
                    <a:pt x="1406525" y="1253109"/>
                  </a:lnTo>
                  <a:lnTo>
                    <a:pt x="1421003" y="1236599"/>
                  </a:lnTo>
                  <a:lnTo>
                    <a:pt x="1399621" y="1232429"/>
                  </a:lnTo>
                  <a:close/>
                </a:path>
                <a:path w="1437639" h="1266189">
                  <a:moveTo>
                    <a:pt x="1391612" y="1208440"/>
                  </a:moveTo>
                  <a:lnTo>
                    <a:pt x="1399621" y="1232429"/>
                  </a:lnTo>
                  <a:lnTo>
                    <a:pt x="1421003" y="1236599"/>
                  </a:lnTo>
                  <a:lnTo>
                    <a:pt x="1406525" y="1253109"/>
                  </a:lnTo>
                  <a:lnTo>
                    <a:pt x="1415013" y="1253109"/>
                  </a:lnTo>
                  <a:lnTo>
                    <a:pt x="1426972" y="1239520"/>
                  </a:lnTo>
                  <a:lnTo>
                    <a:pt x="1391612" y="1208440"/>
                  </a:lnTo>
                  <a:close/>
                </a:path>
                <a:path w="1437639" h="1266189">
                  <a:moveTo>
                    <a:pt x="16763" y="0"/>
                  </a:moveTo>
                  <a:lnTo>
                    <a:pt x="0" y="19050"/>
                  </a:lnTo>
                  <a:lnTo>
                    <a:pt x="1375006" y="1227628"/>
                  </a:lnTo>
                  <a:lnTo>
                    <a:pt x="1399621" y="1232429"/>
                  </a:lnTo>
                  <a:lnTo>
                    <a:pt x="1391612" y="1208440"/>
                  </a:lnTo>
                  <a:lnTo>
                    <a:pt x="16763" y="0"/>
                  </a:lnTo>
                  <a:close/>
                </a:path>
              </a:pathLst>
            </a:custGeom>
            <a:solidFill>
              <a:srgbClr val="C0504D"/>
            </a:solidFill>
          </p:spPr>
          <p:txBody>
            <a:bodyPr wrap="square" lIns="0" tIns="0" rIns="0" bIns="0" rtlCol="0"/>
            <a:lstStyle/>
            <a:p>
              <a:endParaRPr/>
            </a:p>
          </p:txBody>
        </p:sp>
      </p:grpSp>
      <p:sp>
        <p:nvSpPr>
          <p:cNvPr id="18" name="object 18"/>
          <p:cNvSpPr txBox="1"/>
          <p:nvPr/>
        </p:nvSpPr>
        <p:spPr>
          <a:xfrm>
            <a:off x="2851150" y="491997"/>
            <a:ext cx="5116830" cy="13284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(6*1/9)</a:t>
            </a:r>
            <a:r>
              <a:rPr sz="1800" b="1" spc="-20" dirty="0">
                <a:latin typeface="Times New Roman"/>
                <a:cs typeface="Times New Roman"/>
              </a:rPr>
              <a:t> </a:t>
            </a:r>
            <a:r>
              <a:rPr sz="1800" b="1" dirty="0">
                <a:latin typeface="Times New Roman"/>
                <a:cs typeface="Times New Roman"/>
              </a:rPr>
              <a:t>+(8*1/9)</a:t>
            </a:r>
            <a:r>
              <a:rPr sz="1800" b="1" spc="-10" dirty="0">
                <a:latin typeface="Times New Roman"/>
                <a:cs typeface="Times New Roman"/>
              </a:rPr>
              <a:t> </a:t>
            </a:r>
            <a:r>
              <a:rPr sz="1800" b="1" dirty="0">
                <a:latin typeface="Times New Roman"/>
                <a:cs typeface="Times New Roman"/>
              </a:rPr>
              <a:t>+(9*1/9)</a:t>
            </a:r>
            <a:r>
              <a:rPr sz="1800" b="1" spc="-30" dirty="0">
                <a:latin typeface="Times New Roman"/>
                <a:cs typeface="Times New Roman"/>
              </a:rPr>
              <a:t> </a:t>
            </a:r>
            <a:r>
              <a:rPr sz="1800" b="1" dirty="0">
                <a:latin typeface="Times New Roman"/>
                <a:cs typeface="Times New Roman"/>
              </a:rPr>
              <a:t>+(7*1/9)</a:t>
            </a:r>
            <a:r>
              <a:rPr sz="1800" b="1" spc="-10" dirty="0">
                <a:latin typeface="Times New Roman"/>
                <a:cs typeface="Times New Roman"/>
              </a:rPr>
              <a:t> </a:t>
            </a:r>
            <a:r>
              <a:rPr sz="1800" b="1" dirty="0">
                <a:latin typeface="Times New Roman"/>
                <a:cs typeface="Times New Roman"/>
              </a:rPr>
              <a:t>+(15*1/9)</a:t>
            </a:r>
            <a:r>
              <a:rPr sz="1800" b="1" spc="-15" dirty="0">
                <a:latin typeface="Times New Roman"/>
                <a:cs typeface="Times New Roman"/>
              </a:rPr>
              <a:t> </a:t>
            </a:r>
            <a:r>
              <a:rPr sz="1800" b="1" spc="-10" dirty="0">
                <a:latin typeface="Times New Roman"/>
                <a:cs typeface="Times New Roman"/>
              </a:rPr>
              <a:t>+(6*1/9)</a:t>
            </a:r>
            <a:endParaRPr sz="1800">
              <a:latin typeface="Times New Roman"/>
              <a:cs typeface="Times New Roman"/>
            </a:endParaRPr>
          </a:p>
          <a:p>
            <a:pPr marL="12700">
              <a:lnSpc>
                <a:spcPct val="100000"/>
              </a:lnSpc>
            </a:pPr>
            <a:r>
              <a:rPr sz="1800" b="1" dirty="0">
                <a:latin typeface="Times New Roman"/>
                <a:cs typeface="Times New Roman"/>
              </a:rPr>
              <a:t>+(3*1/9)</a:t>
            </a:r>
            <a:r>
              <a:rPr sz="1800" b="1" spc="-25" dirty="0">
                <a:latin typeface="Times New Roman"/>
                <a:cs typeface="Times New Roman"/>
              </a:rPr>
              <a:t> </a:t>
            </a:r>
            <a:r>
              <a:rPr sz="1800" b="1" dirty="0">
                <a:latin typeface="Times New Roman"/>
                <a:cs typeface="Times New Roman"/>
              </a:rPr>
              <a:t>+(7*1/9)</a:t>
            </a:r>
            <a:r>
              <a:rPr sz="1800" b="1" spc="-40" dirty="0">
                <a:latin typeface="Times New Roman"/>
                <a:cs typeface="Times New Roman"/>
              </a:rPr>
              <a:t> </a:t>
            </a:r>
            <a:r>
              <a:rPr sz="1800" b="1" dirty="0">
                <a:latin typeface="Times New Roman"/>
                <a:cs typeface="Times New Roman"/>
              </a:rPr>
              <a:t>+(5*1/9)</a:t>
            </a:r>
            <a:r>
              <a:rPr sz="1800" b="1" spc="-20" dirty="0">
                <a:latin typeface="Times New Roman"/>
                <a:cs typeface="Times New Roman"/>
              </a:rPr>
              <a:t> </a:t>
            </a:r>
            <a:r>
              <a:rPr sz="1800" b="1" spc="-10" dirty="0">
                <a:latin typeface="Times New Roman"/>
                <a:cs typeface="Times New Roman"/>
              </a:rPr>
              <a:t>=7.33</a:t>
            </a:r>
            <a:endParaRPr sz="1800">
              <a:latin typeface="Times New Roman"/>
              <a:cs typeface="Times New Roman"/>
            </a:endParaRPr>
          </a:p>
          <a:p>
            <a:pPr marL="505459" marR="1499870" indent="1278255">
              <a:lnSpc>
                <a:spcPct val="133900"/>
              </a:lnSpc>
              <a:spcBef>
                <a:spcPts val="150"/>
              </a:spcBef>
            </a:pPr>
            <a:r>
              <a:rPr sz="1800" b="1" spc="-25" dirty="0">
                <a:solidFill>
                  <a:srgbClr val="FF0000"/>
                </a:solidFill>
                <a:latin typeface="Times New Roman"/>
                <a:cs typeface="Times New Roman"/>
              </a:rPr>
              <a:t>OR </a:t>
            </a:r>
            <a:r>
              <a:rPr sz="1800" b="1" dirty="0">
                <a:latin typeface="Times New Roman"/>
                <a:cs typeface="Times New Roman"/>
              </a:rPr>
              <a:t>(6+8+9+7+15+6+3+7+5)/9</a:t>
            </a:r>
            <a:r>
              <a:rPr sz="1800" b="1" spc="-50" dirty="0">
                <a:latin typeface="Times New Roman"/>
                <a:cs typeface="Times New Roman"/>
              </a:rPr>
              <a:t> </a:t>
            </a:r>
            <a:r>
              <a:rPr sz="1800" b="1" spc="-10" dirty="0">
                <a:latin typeface="Times New Roman"/>
                <a:cs typeface="Times New Roman"/>
              </a:rPr>
              <a:t>=7.33</a:t>
            </a:r>
            <a:endParaRPr sz="1800">
              <a:latin typeface="Times New Roman"/>
              <a:cs typeface="Times New Roman"/>
            </a:endParaRPr>
          </a:p>
        </p:txBody>
      </p:sp>
      <p:graphicFrame>
        <p:nvGraphicFramePr>
          <p:cNvPr id="19" name="object 19"/>
          <p:cNvGraphicFramePr>
            <a:graphicFrameLocks noGrp="1"/>
          </p:cNvGraphicFramePr>
          <p:nvPr/>
        </p:nvGraphicFramePr>
        <p:xfrm>
          <a:off x="4748276" y="2089657"/>
          <a:ext cx="2482849" cy="1366520"/>
        </p:xfrm>
        <a:graphic>
          <a:graphicData uri="http://schemas.openxmlformats.org/drawingml/2006/table">
            <a:tbl>
              <a:tblPr firstRow="1" bandRow="1">
                <a:tableStyleId>{2D5ABB26-0587-4C30-8999-92F81FD0307C}</a:tableStyleId>
              </a:tblPr>
              <a:tblGrid>
                <a:gridCol w="546735">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gridCol w="432435">
                  <a:extLst>
                    <a:ext uri="{9D8B030D-6E8A-4147-A177-3AD203B41FA5}">
                      <a16:colId xmlns:a16="http://schemas.microsoft.com/office/drawing/2014/main" val="20003"/>
                    </a:ext>
                  </a:extLst>
                </a:gridCol>
                <a:gridCol w="504189">
                  <a:extLst>
                    <a:ext uri="{9D8B030D-6E8A-4147-A177-3AD203B41FA5}">
                      <a16:colId xmlns:a16="http://schemas.microsoft.com/office/drawing/2014/main" val="20004"/>
                    </a:ext>
                  </a:extLst>
                </a:gridCol>
              </a:tblGrid>
              <a:tr h="341630">
                <a:tc>
                  <a:txBody>
                    <a:bodyPr/>
                    <a:lstStyle/>
                    <a:p>
                      <a:pPr marL="1270" algn="ctr">
                        <a:lnSpc>
                          <a:spcPct val="100000"/>
                        </a:lnSpc>
                        <a:spcBef>
                          <a:spcPts val="465"/>
                        </a:spcBef>
                      </a:pPr>
                      <a:r>
                        <a:rPr sz="1400" b="1" spc="-50" dirty="0">
                          <a:latin typeface="Times New Roman"/>
                          <a:cs typeface="Times New Roman"/>
                        </a:rPr>
                        <a:t>6</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8</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9</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10</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12</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41630">
                <a:tc>
                  <a:txBody>
                    <a:bodyPr/>
                    <a:lstStyle/>
                    <a:p>
                      <a:pPr marL="1270" algn="ctr">
                        <a:lnSpc>
                          <a:spcPct val="100000"/>
                        </a:lnSpc>
                        <a:spcBef>
                          <a:spcPts val="465"/>
                        </a:spcBef>
                      </a:pPr>
                      <a:r>
                        <a:rPr sz="1400" b="1" spc="-50" dirty="0">
                          <a:latin typeface="Times New Roman"/>
                          <a:cs typeface="Times New Roman"/>
                        </a:rPr>
                        <a:t>7</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65"/>
                        </a:spcBef>
                      </a:pPr>
                      <a:r>
                        <a:rPr sz="1400" b="1" spc="-20" dirty="0">
                          <a:latin typeface="Times New Roman"/>
                          <a:cs typeface="Times New Roman"/>
                        </a:rPr>
                        <a:t>7.33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3D59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1630">
                <a:tc>
                  <a:txBody>
                    <a:bodyPr/>
                    <a:lstStyle/>
                    <a:p>
                      <a:pPr marL="1270" algn="ctr">
                        <a:lnSpc>
                          <a:spcPct val="100000"/>
                        </a:lnSpc>
                        <a:spcBef>
                          <a:spcPts val="465"/>
                        </a:spcBef>
                      </a:pPr>
                      <a:r>
                        <a:rPr sz="1400" b="1" spc="-50" dirty="0">
                          <a:latin typeface="Times New Roman"/>
                          <a:cs typeface="Times New Roman"/>
                        </a:rPr>
                        <a:t>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3</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1630">
                <a:tc>
                  <a:txBody>
                    <a:bodyPr/>
                    <a:lstStyle/>
                    <a:p>
                      <a:pPr marL="635" algn="ctr">
                        <a:lnSpc>
                          <a:spcPct val="100000"/>
                        </a:lnSpc>
                        <a:spcBef>
                          <a:spcPts val="465"/>
                        </a:spcBef>
                      </a:pPr>
                      <a:r>
                        <a:rPr sz="1400" b="1" spc="-25" dirty="0">
                          <a:latin typeface="Times New Roman"/>
                          <a:cs typeface="Times New Roman"/>
                        </a:rPr>
                        <a:t>14</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16</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65"/>
                        </a:spcBef>
                      </a:pPr>
                      <a:r>
                        <a:rPr sz="1400" b="1" spc="-25" dirty="0">
                          <a:latin typeface="Times New Roman"/>
                          <a:cs typeface="Times New Roman"/>
                        </a:rPr>
                        <a:t>10</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465"/>
                        </a:spcBef>
                      </a:pPr>
                      <a:r>
                        <a:rPr sz="1400" b="1" spc="-50" dirty="0">
                          <a:latin typeface="Times New Roman"/>
                          <a:cs typeface="Times New Roman"/>
                        </a:rPr>
                        <a:t>7</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sz="1400" b="1" spc="-50" dirty="0">
                          <a:latin typeface="Times New Roman"/>
                          <a:cs typeface="Times New Roman"/>
                        </a:rPr>
                        <a:t>8</a:t>
                      </a:r>
                      <a:endParaRPr sz="1400">
                        <a:latin typeface="Times New Roman"/>
                        <a:cs typeface="Times New Roman"/>
                      </a:endParaRPr>
                    </a:p>
                  </a:txBody>
                  <a:tcPr marL="0" marR="0" marT="590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20" name="object 20"/>
          <p:cNvGrpSpPr/>
          <p:nvPr/>
        </p:nvGrpSpPr>
        <p:grpSpPr>
          <a:xfrm>
            <a:off x="426721" y="3553967"/>
            <a:ext cx="8067040" cy="105410"/>
            <a:chOff x="426721" y="3553967"/>
            <a:chExt cx="8067040" cy="105410"/>
          </a:xfrm>
        </p:grpSpPr>
        <p:pic>
          <p:nvPicPr>
            <p:cNvPr id="21" name="object 21"/>
            <p:cNvPicPr/>
            <p:nvPr/>
          </p:nvPicPr>
          <p:blipFill>
            <a:blip r:embed="rId6" cstate="print"/>
            <a:stretch>
              <a:fillRect/>
            </a:stretch>
          </p:blipFill>
          <p:spPr>
            <a:xfrm>
              <a:off x="426721" y="3553967"/>
              <a:ext cx="8066528" cy="105155"/>
            </a:xfrm>
            <a:prstGeom prst="rect">
              <a:avLst/>
            </a:prstGeom>
          </p:spPr>
        </p:pic>
        <p:sp>
          <p:nvSpPr>
            <p:cNvPr id="22" name="object 22"/>
            <p:cNvSpPr/>
            <p:nvPr/>
          </p:nvSpPr>
          <p:spPr>
            <a:xfrm>
              <a:off x="460375" y="3584193"/>
              <a:ext cx="8000365" cy="0"/>
            </a:xfrm>
            <a:custGeom>
              <a:avLst/>
              <a:gdLst/>
              <a:ahLst/>
              <a:cxnLst/>
              <a:rect l="l" t="t" r="r" b="b"/>
              <a:pathLst>
                <a:path w="8000365">
                  <a:moveTo>
                    <a:pt x="0" y="0"/>
                  </a:moveTo>
                  <a:lnTo>
                    <a:pt x="8000110" y="0"/>
                  </a:lnTo>
                </a:path>
              </a:pathLst>
            </a:custGeom>
            <a:ln w="38100">
              <a:solidFill>
                <a:srgbClr val="C0504D"/>
              </a:solidFill>
            </a:ln>
          </p:spPr>
          <p:txBody>
            <a:bodyPr wrap="square" lIns="0" tIns="0" rIns="0" bIns="0" rtlCol="0"/>
            <a:lstStyle/>
            <a:p>
              <a:endParaRPr/>
            </a:p>
          </p:txBody>
        </p:sp>
      </p:grpSp>
      <p:grpSp>
        <p:nvGrpSpPr>
          <p:cNvPr id="23" name="object 23"/>
          <p:cNvGrpSpPr/>
          <p:nvPr/>
        </p:nvGrpSpPr>
        <p:grpSpPr>
          <a:xfrm>
            <a:off x="2509901" y="5223636"/>
            <a:ext cx="1339850" cy="1393825"/>
            <a:chOff x="2509901" y="5223636"/>
            <a:chExt cx="1339850" cy="1393825"/>
          </a:xfrm>
        </p:grpSpPr>
        <p:sp>
          <p:nvSpPr>
            <p:cNvPr id="24" name="object 24"/>
            <p:cNvSpPr/>
            <p:nvPr/>
          </p:nvSpPr>
          <p:spPr>
            <a:xfrm>
              <a:off x="2509901" y="5236311"/>
              <a:ext cx="934085" cy="342265"/>
            </a:xfrm>
            <a:custGeom>
              <a:avLst/>
              <a:gdLst/>
              <a:ahLst/>
              <a:cxnLst/>
              <a:rect l="l" t="t" r="r" b="b"/>
              <a:pathLst>
                <a:path w="934085" h="342264">
                  <a:moveTo>
                    <a:pt x="933767" y="0"/>
                  </a:moveTo>
                  <a:lnTo>
                    <a:pt x="485571" y="0"/>
                  </a:lnTo>
                  <a:lnTo>
                    <a:pt x="0" y="0"/>
                  </a:lnTo>
                  <a:lnTo>
                    <a:pt x="0" y="342036"/>
                  </a:lnTo>
                  <a:lnTo>
                    <a:pt x="485521" y="342036"/>
                  </a:lnTo>
                  <a:lnTo>
                    <a:pt x="933767" y="342036"/>
                  </a:lnTo>
                  <a:lnTo>
                    <a:pt x="933767" y="0"/>
                  </a:lnTo>
                  <a:close/>
                </a:path>
              </a:pathLst>
            </a:custGeom>
            <a:solidFill>
              <a:srgbClr val="FFFF00"/>
            </a:solidFill>
          </p:spPr>
          <p:txBody>
            <a:bodyPr wrap="square" lIns="0" tIns="0" rIns="0" bIns="0" rtlCol="0"/>
            <a:lstStyle/>
            <a:p>
              <a:endParaRPr/>
            </a:p>
          </p:txBody>
        </p:sp>
        <p:sp>
          <p:nvSpPr>
            <p:cNvPr id="25" name="object 25"/>
            <p:cNvSpPr/>
            <p:nvPr/>
          </p:nvSpPr>
          <p:spPr>
            <a:xfrm>
              <a:off x="2995422" y="5578322"/>
              <a:ext cx="448309" cy="342265"/>
            </a:xfrm>
            <a:custGeom>
              <a:avLst/>
              <a:gdLst/>
              <a:ahLst/>
              <a:cxnLst/>
              <a:rect l="l" t="t" r="r" b="b"/>
              <a:pathLst>
                <a:path w="448310" h="342264">
                  <a:moveTo>
                    <a:pt x="448246" y="0"/>
                  </a:moveTo>
                  <a:lnTo>
                    <a:pt x="0" y="0"/>
                  </a:lnTo>
                  <a:lnTo>
                    <a:pt x="0" y="342036"/>
                  </a:lnTo>
                  <a:lnTo>
                    <a:pt x="448246" y="342036"/>
                  </a:lnTo>
                  <a:lnTo>
                    <a:pt x="448246" y="0"/>
                  </a:lnTo>
                  <a:close/>
                </a:path>
              </a:pathLst>
            </a:custGeom>
            <a:solidFill>
              <a:srgbClr val="C3D59B"/>
            </a:solidFill>
          </p:spPr>
          <p:txBody>
            <a:bodyPr wrap="square" lIns="0" tIns="0" rIns="0" bIns="0" rtlCol="0"/>
            <a:lstStyle/>
            <a:p>
              <a:endParaRPr/>
            </a:p>
          </p:txBody>
        </p:sp>
        <p:sp>
          <p:nvSpPr>
            <p:cNvPr id="26" name="object 26"/>
            <p:cNvSpPr/>
            <p:nvPr/>
          </p:nvSpPr>
          <p:spPr>
            <a:xfrm>
              <a:off x="2995422" y="5920358"/>
              <a:ext cx="854710" cy="342265"/>
            </a:xfrm>
            <a:custGeom>
              <a:avLst/>
              <a:gdLst/>
              <a:ahLst/>
              <a:cxnLst/>
              <a:rect l="l" t="t" r="r" b="b"/>
              <a:pathLst>
                <a:path w="854710" h="342264">
                  <a:moveTo>
                    <a:pt x="448246" y="0"/>
                  </a:moveTo>
                  <a:lnTo>
                    <a:pt x="0" y="0"/>
                  </a:lnTo>
                  <a:lnTo>
                    <a:pt x="0" y="342036"/>
                  </a:lnTo>
                  <a:lnTo>
                    <a:pt x="448246" y="342036"/>
                  </a:lnTo>
                  <a:lnTo>
                    <a:pt x="448246" y="0"/>
                  </a:lnTo>
                  <a:close/>
                </a:path>
                <a:path w="854710" h="342264">
                  <a:moveTo>
                    <a:pt x="854151" y="0"/>
                  </a:moveTo>
                  <a:lnTo>
                    <a:pt x="448310" y="0"/>
                  </a:lnTo>
                  <a:lnTo>
                    <a:pt x="448310" y="342036"/>
                  </a:lnTo>
                  <a:lnTo>
                    <a:pt x="854151" y="342036"/>
                  </a:lnTo>
                  <a:lnTo>
                    <a:pt x="854151" y="0"/>
                  </a:lnTo>
                  <a:close/>
                </a:path>
              </a:pathLst>
            </a:custGeom>
            <a:solidFill>
              <a:srgbClr val="FFFF00"/>
            </a:solidFill>
          </p:spPr>
          <p:txBody>
            <a:bodyPr wrap="square" lIns="0" tIns="0" rIns="0" bIns="0" rtlCol="0"/>
            <a:lstStyle/>
            <a:p>
              <a:endParaRPr/>
            </a:p>
          </p:txBody>
        </p:sp>
        <p:sp>
          <p:nvSpPr>
            <p:cNvPr id="27" name="object 27"/>
            <p:cNvSpPr/>
            <p:nvPr/>
          </p:nvSpPr>
          <p:spPr>
            <a:xfrm>
              <a:off x="2995422" y="5229986"/>
              <a:ext cx="448309" cy="1381125"/>
            </a:xfrm>
            <a:custGeom>
              <a:avLst/>
              <a:gdLst/>
              <a:ahLst/>
              <a:cxnLst/>
              <a:rect l="l" t="t" r="r" b="b"/>
              <a:pathLst>
                <a:path w="448310" h="1381125">
                  <a:moveTo>
                    <a:pt x="0" y="0"/>
                  </a:moveTo>
                  <a:lnTo>
                    <a:pt x="0" y="1380794"/>
                  </a:lnTo>
                </a:path>
                <a:path w="448310" h="1381125">
                  <a:moveTo>
                    <a:pt x="448310" y="0"/>
                  </a:moveTo>
                  <a:lnTo>
                    <a:pt x="448310" y="1380794"/>
                  </a:lnTo>
                </a:path>
              </a:pathLst>
            </a:custGeom>
            <a:ln w="12700">
              <a:solidFill>
                <a:srgbClr val="000000"/>
              </a:solidFill>
            </a:ln>
          </p:spPr>
          <p:txBody>
            <a:bodyPr wrap="square" lIns="0" tIns="0" rIns="0" bIns="0" rtlCol="0"/>
            <a:lstStyle/>
            <a:p>
              <a:endParaRPr/>
            </a:p>
          </p:txBody>
        </p:sp>
      </p:grpSp>
      <p:sp>
        <p:nvSpPr>
          <p:cNvPr id="28" name="object 28"/>
          <p:cNvSpPr/>
          <p:nvPr/>
        </p:nvSpPr>
        <p:spPr>
          <a:xfrm>
            <a:off x="2039239" y="5229986"/>
            <a:ext cx="0" cy="1381125"/>
          </a:xfrm>
          <a:custGeom>
            <a:avLst/>
            <a:gdLst/>
            <a:ahLst/>
            <a:cxnLst/>
            <a:rect l="l" t="t" r="r" b="b"/>
            <a:pathLst>
              <a:path h="1381125">
                <a:moveTo>
                  <a:pt x="0" y="0"/>
                </a:moveTo>
                <a:lnTo>
                  <a:pt x="0" y="1380794"/>
                </a:lnTo>
              </a:path>
            </a:pathLst>
          </a:custGeom>
          <a:ln w="12700">
            <a:solidFill>
              <a:srgbClr val="000000"/>
            </a:solidFill>
          </a:ln>
        </p:spPr>
        <p:txBody>
          <a:bodyPr wrap="square" lIns="0" tIns="0" rIns="0" bIns="0" rtlCol="0"/>
          <a:lstStyle/>
          <a:p>
            <a:endParaRPr/>
          </a:p>
        </p:txBody>
      </p:sp>
      <p:graphicFrame>
        <p:nvGraphicFramePr>
          <p:cNvPr id="29" name="object 29"/>
          <p:cNvGraphicFramePr>
            <a:graphicFrameLocks noGrp="1"/>
          </p:cNvGraphicFramePr>
          <p:nvPr/>
        </p:nvGraphicFramePr>
        <p:xfrm>
          <a:off x="2026539" y="5229986"/>
          <a:ext cx="2199004" cy="136652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85140">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405130">
                  <a:extLst>
                    <a:ext uri="{9D8B030D-6E8A-4147-A177-3AD203B41FA5}">
                      <a16:colId xmlns:a16="http://schemas.microsoft.com/office/drawing/2014/main" val="20003"/>
                    </a:ext>
                  </a:extLst>
                </a:gridCol>
                <a:gridCol w="384175">
                  <a:extLst>
                    <a:ext uri="{9D8B030D-6E8A-4147-A177-3AD203B41FA5}">
                      <a16:colId xmlns:a16="http://schemas.microsoft.com/office/drawing/2014/main" val="20004"/>
                    </a:ext>
                  </a:extLst>
                </a:gridCol>
              </a:tblGrid>
              <a:tr h="341630">
                <a:tc>
                  <a:txBody>
                    <a:bodyPr/>
                    <a:lstStyle/>
                    <a:p>
                      <a:pPr marL="6350" algn="ctr">
                        <a:lnSpc>
                          <a:spcPct val="100000"/>
                        </a:lnSpc>
                        <a:spcBef>
                          <a:spcPts val="470"/>
                        </a:spcBef>
                      </a:pPr>
                      <a:r>
                        <a:rPr sz="1400" b="1" spc="-50" dirty="0">
                          <a:latin typeface="Times New Roman"/>
                          <a:cs typeface="Times New Roman"/>
                        </a:rPr>
                        <a:t>6</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9</a:t>
                      </a:r>
                      <a:endParaRPr sz="1400">
                        <a:latin typeface="Times New Roman"/>
                        <a:cs typeface="Times New Roman"/>
                      </a:endParaRPr>
                    </a:p>
                  </a:txBody>
                  <a:tcPr marL="0" marR="0" marT="59690" marB="0">
                    <a:lnT w="12700">
                      <a:solidFill>
                        <a:srgbClr val="000000"/>
                      </a:solidFill>
                      <a:prstDash val="solid"/>
                    </a:lnT>
                    <a:lnB w="12700">
                      <a:solidFill>
                        <a:srgbClr val="000000"/>
                      </a:solidFill>
                      <a:prstDash val="solid"/>
                    </a:lnB>
                  </a:tcPr>
                </a:tc>
                <a:tc>
                  <a:txBody>
                    <a:bodyPr/>
                    <a:lstStyle/>
                    <a:p>
                      <a:pPr marL="1905"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470"/>
                        </a:spcBef>
                      </a:pPr>
                      <a:r>
                        <a:rPr sz="1400" b="1" spc="-25" dirty="0">
                          <a:latin typeface="Times New Roman"/>
                          <a:cs typeface="Times New Roman"/>
                        </a:rPr>
                        <a:t>12</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41630">
                <a:tc>
                  <a:txBody>
                    <a:bodyPr/>
                    <a:lstStyle/>
                    <a:p>
                      <a:pPr marL="6350"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25" dirty="0">
                          <a:latin typeface="Times New Roman"/>
                          <a:cs typeface="Times New Roman"/>
                        </a:rPr>
                        <a:t>15</a:t>
                      </a:r>
                      <a:endParaRPr sz="1400">
                        <a:latin typeface="Times New Roman"/>
                        <a:cs typeface="Times New Roman"/>
                      </a:endParaRPr>
                    </a:p>
                  </a:txBody>
                  <a:tcPr marL="0" marR="0" marT="59690" marB="0">
                    <a:lnL w="12700">
                      <a:solidFill>
                        <a:srgbClr val="000000"/>
                      </a:solidFill>
                      <a:prstDash val="solid"/>
                    </a:lnL>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470"/>
                        </a:spcBef>
                      </a:pPr>
                      <a:r>
                        <a:rPr sz="1400" b="1" spc="-50" dirty="0">
                          <a:latin typeface="Times New Roman"/>
                          <a:cs typeface="Times New Roman"/>
                        </a:rPr>
                        <a:t>6</a:t>
                      </a:r>
                      <a:endParaRPr sz="1400">
                        <a:latin typeface="Times New Roman"/>
                        <a:cs typeface="Times New Roman"/>
                      </a:endParaRPr>
                    </a:p>
                  </a:txBody>
                  <a:tcPr marL="0" marR="0" marT="59690" marB="0">
                    <a:lnT w="12700">
                      <a:solidFill>
                        <a:srgbClr val="000000"/>
                      </a:solidFill>
                      <a:prstDash val="solid"/>
                    </a:lnT>
                    <a:lnB w="12700">
                      <a:solidFill>
                        <a:srgbClr val="000000"/>
                      </a:solidFill>
                      <a:prstDash val="solid"/>
                    </a:lnB>
                  </a:tcPr>
                </a:tc>
                <a:tc>
                  <a:txBody>
                    <a:bodyPr/>
                    <a:lstStyle/>
                    <a:p>
                      <a:pPr marL="1905" algn="ctr">
                        <a:lnSpc>
                          <a:spcPct val="100000"/>
                        </a:lnSpc>
                        <a:spcBef>
                          <a:spcPts val="470"/>
                        </a:spcBef>
                      </a:pPr>
                      <a:r>
                        <a:rPr sz="1400" b="1" spc="-25" dirty="0">
                          <a:latin typeface="Times New Roman"/>
                          <a:cs typeface="Times New Roman"/>
                        </a:rPr>
                        <a:t>14</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470"/>
                        </a:spcBef>
                      </a:pPr>
                      <a:r>
                        <a:rPr sz="1400" b="1" spc="-25" dirty="0">
                          <a:latin typeface="Times New Roman"/>
                          <a:cs typeface="Times New Roman"/>
                        </a:rPr>
                        <a:t>13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1630">
                <a:tc>
                  <a:txBody>
                    <a:bodyPr/>
                    <a:lstStyle/>
                    <a:p>
                      <a:pPr marL="6350"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470"/>
                        </a:spcBef>
                      </a:pPr>
                      <a:r>
                        <a:rPr sz="1400" b="1" spc="-50" dirty="0">
                          <a:latin typeface="Times New Roman"/>
                          <a:cs typeface="Times New Roman"/>
                        </a:rPr>
                        <a:t>5</a:t>
                      </a:r>
                      <a:endParaRPr sz="1400">
                        <a:latin typeface="Times New Roman"/>
                        <a:cs typeface="Times New Roman"/>
                      </a:endParaRPr>
                    </a:p>
                  </a:txBody>
                  <a:tcPr marL="0" marR="0" marT="59690" marB="0">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9</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1630">
                <a:tc>
                  <a:txBody>
                    <a:bodyPr/>
                    <a:lstStyle/>
                    <a:p>
                      <a:pPr marL="5715" algn="ctr">
                        <a:lnSpc>
                          <a:spcPct val="100000"/>
                        </a:lnSpc>
                        <a:spcBef>
                          <a:spcPts val="470"/>
                        </a:spcBef>
                      </a:pPr>
                      <a:r>
                        <a:rPr sz="1400" b="1" spc="-25" dirty="0">
                          <a:latin typeface="Times New Roman"/>
                          <a:cs typeface="Times New Roman"/>
                        </a:rPr>
                        <a:t>14</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25" dirty="0">
                          <a:latin typeface="Times New Roman"/>
                          <a:cs typeface="Times New Roman"/>
                        </a:rPr>
                        <a:t>16</a:t>
                      </a:r>
                      <a:endParaRPr sz="1400">
                        <a:latin typeface="Times New Roman"/>
                        <a:cs typeface="Times New Roman"/>
                      </a:endParaRPr>
                    </a:p>
                  </a:txBody>
                  <a:tcPr marL="0" marR="0" marT="5969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30" name="object 30"/>
          <p:cNvSpPr/>
          <p:nvPr/>
        </p:nvSpPr>
        <p:spPr>
          <a:xfrm>
            <a:off x="1484630" y="3962780"/>
            <a:ext cx="0" cy="1125220"/>
          </a:xfrm>
          <a:custGeom>
            <a:avLst/>
            <a:gdLst/>
            <a:ahLst/>
            <a:cxnLst/>
            <a:rect l="l" t="t" r="r" b="b"/>
            <a:pathLst>
              <a:path h="1125220">
                <a:moveTo>
                  <a:pt x="0" y="0"/>
                </a:moveTo>
                <a:lnTo>
                  <a:pt x="0" y="1125220"/>
                </a:lnTo>
              </a:path>
            </a:pathLst>
          </a:custGeom>
          <a:ln w="12700">
            <a:solidFill>
              <a:srgbClr val="000000"/>
            </a:solidFill>
          </a:ln>
        </p:spPr>
        <p:txBody>
          <a:bodyPr wrap="square" lIns="0" tIns="0" rIns="0" bIns="0" rtlCol="0"/>
          <a:lstStyle/>
          <a:p>
            <a:endParaRPr/>
          </a:p>
        </p:txBody>
      </p:sp>
      <p:sp>
        <p:nvSpPr>
          <p:cNvPr id="31" name="object 31"/>
          <p:cNvSpPr/>
          <p:nvPr/>
        </p:nvSpPr>
        <p:spPr>
          <a:xfrm>
            <a:off x="1988692" y="3962780"/>
            <a:ext cx="0" cy="1125220"/>
          </a:xfrm>
          <a:custGeom>
            <a:avLst/>
            <a:gdLst/>
            <a:ahLst/>
            <a:cxnLst/>
            <a:rect l="l" t="t" r="r" b="b"/>
            <a:pathLst>
              <a:path h="1125220">
                <a:moveTo>
                  <a:pt x="0" y="0"/>
                </a:moveTo>
                <a:lnTo>
                  <a:pt x="0" y="1125220"/>
                </a:lnTo>
              </a:path>
            </a:pathLst>
          </a:custGeom>
          <a:ln w="12700">
            <a:solidFill>
              <a:srgbClr val="000000"/>
            </a:solidFill>
          </a:ln>
        </p:spPr>
        <p:txBody>
          <a:bodyPr wrap="square" lIns="0" tIns="0" rIns="0" bIns="0" rtlCol="0"/>
          <a:lstStyle/>
          <a:p>
            <a:endParaRPr/>
          </a:p>
        </p:txBody>
      </p:sp>
      <p:graphicFrame>
        <p:nvGraphicFramePr>
          <p:cNvPr id="32" name="object 32"/>
          <p:cNvGraphicFramePr>
            <a:graphicFrameLocks noGrp="1"/>
          </p:cNvGraphicFramePr>
          <p:nvPr/>
        </p:nvGraphicFramePr>
        <p:xfrm>
          <a:off x="974191" y="3962780"/>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25" dirty="0">
                          <a:latin typeface="Times New Roman"/>
                          <a:cs typeface="Times New Roman"/>
                        </a:rPr>
                        <a:t>1/9</a:t>
                      </a:r>
                      <a:endParaRPr sz="1800">
                        <a:latin typeface="Times New Roman"/>
                        <a:cs typeface="Times New Roman"/>
                      </a:endParaRPr>
                    </a:p>
                  </a:txBody>
                  <a:tcPr marL="0" marR="0" marT="38735"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9"/>
                        </a:spcBef>
                      </a:pPr>
                      <a:r>
                        <a:rPr sz="1800" b="1" spc="-25" dirty="0">
                          <a:latin typeface="Times New Roman"/>
                          <a:cs typeface="Times New Roman"/>
                        </a:rPr>
                        <a:t>1/9</a:t>
                      </a:r>
                      <a:endParaRPr sz="1800">
                        <a:latin typeface="Times New Roman"/>
                        <a:cs typeface="Times New Roman"/>
                      </a:endParaRPr>
                    </a:p>
                  </a:txBody>
                  <a:tcPr marL="0" marR="0" marT="39369"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25" dirty="0">
                          <a:latin typeface="Times New Roman"/>
                          <a:cs typeface="Times New Roman"/>
                        </a:rPr>
                        <a:t>1/9</a:t>
                      </a:r>
                      <a:endParaRPr sz="1800">
                        <a:latin typeface="Times New Roman"/>
                        <a:cs typeface="Times New Roman"/>
                      </a:endParaRPr>
                    </a:p>
                  </a:txBody>
                  <a:tcPr marL="0" marR="0" marT="39369" marB="0">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25" dirty="0">
                          <a:latin typeface="Times New Roman"/>
                          <a:cs typeface="Times New Roman"/>
                        </a:rPr>
                        <a:t>1/9</a:t>
                      </a:r>
                      <a:endParaRPr sz="1800">
                        <a:latin typeface="Times New Roman"/>
                        <a:cs typeface="Times New Roman"/>
                      </a:endParaRPr>
                    </a:p>
                  </a:txBody>
                  <a:tcPr marL="0" marR="0" marT="39369" marB="0">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33" name="object 33"/>
          <p:cNvSpPr/>
          <p:nvPr/>
        </p:nvSpPr>
        <p:spPr>
          <a:xfrm>
            <a:off x="2483230" y="3950970"/>
            <a:ext cx="1377315" cy="1305560"/>
          </a:xfrm>
          <a:custGeom>
            <a:avLst/>
            <a:gdLst/>
            <a:ahLst/>
            <a:cxnLst/>
            <a:rect l="l" t="t" r="r" b="b"/>
            <a:pathLst>
              <a:path w="1377314" h="1305560">
                <a:moveTo>
                  <a:pt x="1268857" y="1253870"/>
                </a:moveTo>
                <a:lnTo>
                  <a:pt x="1261998" y="1258188"/>
                </a:lnTo>
                <a:lnTo>
                  <a:pt x="1260474" y="1264919"/>
                </a:lnTo>
                <a:lnTo>
                  <a:pt x="1258823" y="1271777"/>
                </a:lnTo>
                <a:lnTo>
                  <a:pt x="1263092" y="1278762"/>
                </a:lnTo>
                <a:lnTo>
                  <a:pt x="1263542" y="1278762"/>
                </a:lnTo>
                <a:lnTo>
                  <a:pt x="1376933" y="1305305"/>
                </a:lnTo>
                <a:lnTo>
                  <a:pt x="1374594" y="1297304"/>
                </a:lnTo>
                <a:lnTo>
                  <a:pt x="1350009" y="1297304"/>
                </a:lnTo>
                <a:lnTo>
                  <a:pt x="1315824" y="1264919"/>
                </a:lnTo>
                <a:lnTo>
                  <a:pt x="1268857" y="1253870"/>
                </a:lnTo>
                <a:close/>
              </a:path>
              <a:path w="1377314" h="1305560">
                <a:moveTo>
                  <a:pt x="1315924" y="1264919"/>
                </a:moveTo>
                <a:lnTo>
                  <a:pt x="1321844" y="1270622"/>
                </a:lnTo>
                <a:lnTo>
                  <a:pt x="1350009" y="1297304"/>
                </a:lnTo>
                <a:lnTo>
                  <a:pt x="1355372" y="1291589"/>
                </a:lnTo>
                <a:lnTo>
                  <a:pt x="1346454" y="1291589"/>
                </a:lnTo>
                <a:lnTo>
                  <a:pt x="1340324" y="1270622"/>
                </a:lnTo>
                <a:lnTo>
                  <a:pt x="1315924" y="1264919"/>
                </a:lnTo>
                <a:close/>
              </a:path>
              <a:path w="1377314" h="1305560">
                <a:moveTo>
                  <a:pt x="1337056" y="1189227"/>
                </a:moveTo>
                <a:lnTo>
                  <a:pt x="1330324" y="1191132"/>
                </a:lnTo>
                <a:lnTo>
                  <a:pt x="1323594" y="1193164"/>
                </a:lnTo>
                <a:lnTo>
                  <a:pt x="1319783" y="1200149"/>
                </a:lnTo>
                <a:lnTo>
                  <a:pt x="1321689" y="1206880"/>
                </a:lnTo>
                <a:lnTo>
                  <a:pt x="1333241" y="1246395"/>
                </a:lnTo>
                <a:lnTo>
                  <a:pt x="1367408" y="1278762"/>
                </a:lnTo>
                <a:lnTo>
                  <a:pt x="1350009" y="1297304"/>
                </a:lnTo>
                <a:lnTo>
                  <a:pt x="1374594" y="1297304"/>
                </a:lnTo>
                <a:lnTo>
                  <a:pt x="1346184" y="1200149"/>
                </a:lnTo>
                <a:lnTo>
                  <a:pt x="1344203" y="1193164"/>
                </a:lnTo>
                <a:lnTo>
                  <a:pt x="1344168" y="1193037"/>
                </a:lnTo>
                <a:lnTo>
                  <a:pt x="1337056" y="1189227"/>
                </a:lnTo>
                <a:close/>
              </a:path>
              <a:path w="1377314" h="1305560">
                <a:moveTo>
                  <a:pt x="1340324" y="1270622"/>
                </a:moveTo>
                <a:lnTo>
                  <a:pt x="1346454" y="1291589"/>
                </a:lnTo>
                <a:lnTo>
                  <a:pt x="1361567" y="1275587"/>
                </a:lnTo>
                <a:lnTo>
                  <a:pt x="1340324" y="1270622"/>
                </a:lnTo>
                <a:close/>
              </a:path>
              <a:path w="1377314" h="1305560">
                <a:moveTo>
                  <a:pt x="1333241" y="1246395"/>
                </a:moveTo>
                <a:lnTo>
                  <a:pt x="1340324" y="1270622"/>
                </a:lnTo>
                <a:lnTo>
                  <a:pt x="1361567" y="1275587"/>
                </a:lnTo>
                <a:lnTo>
                  <a:pt x="1346454" y="1291589"/>
                </a:lnTo>
                <a:lnTo>
                  <a:pt x="1355372" y="1291589"/>
                </a:lnTo>
                <a:lnTo>
                  <a:pt x="1367408" y="1278762"/>
                </a:lnTo>
                <a:lnTo>
                  <a:pt x="1333241" y="1246395"/>
                </a:lnTo>
                <a:close/>
              </a:path>
              <a:path w="1377314" h="1305560">
                <a:moveTo>
                  <a:pt x="17525" y="0"/>
                </a:moveTo>
                <a:lnTo>
                  <a:pt x="0" y="18414"/>
                </a:lnTo>
                <a:lnTo>
                  <a:pt x="1308718" y="1258188"/>
                </a:lnTo>
                <a:lnTo>
                  <a:pt x="1315924" y="1264919"/>
                </a:lnTo>
                <a:lnTo>
                  <a:pt x="1340324" y="1270622"/>
                </a:lnTo>
                <a:lnTo>
                  <a:pt x="1333241" y="1246395"/>
                </a:lnTo>
                <a:lnTo>
                  <a:pt x="17525" y="0"/>
                </a:lnTo>
                <a:close/>
              </a:path>
            </a:pathLst>
          </a:custGeom>
          <a:solidFill>
            <a:srgbClr val="C0504D"/>
          </a:solidFill>
        </p:spPr>
        <p:txBody>
          <a:bodyPr wrap="square" lIns="0" tIns="0" rIns="0" bIns="0" rtlCol="0"/>
          <a:lstStyle/>
          <a:p>
            <a:endParaRPr/>
          </a:p>
        </p:txBody>
      </p:sp>
      <p:grpSp>
        <p:nvGrpSpPr>
          <p:cNvPr id="34" name="object 34"/>
          <p:cNvGrpSpPr/>
          <p:nvPr/>
        </p:nvGrpSpPr>
        <p:grpSpPr>
          <a:xfrm>
            <a:off x="978408" y="3928871"/>
            <a:ext cx="3037840" cy="2490470"/>
            <a:chOff x="978408" y="3928871"/>
            <a:chExt cx="3037840" cy="2490470"/>
          </a:xfrm>
        </p:grpSpPr>
        <p:pic>
          <p:nvPicPr>
            <p:cNvPr id="35" name="object 35"/>
            <p:cNvPicPr/>
            <p:nvPr/>
          </p:nvPicPr>
          <p:blipFill>
            <a:blip r:embed="rId7" cstate="print"/>
            <a:stretch>
              <a:fillRect/>
            </a:stretch>
          </p:blipFill>
          <p:spPr>
            <a:xfrm>
              <a:off x="2439924" y="3928871"/>
              <a:ext cx="1575815" cy="1502664"/>
            </a:xfrm>
            <a:prstGeom prst="rect">
              <a:avLst/>
            </a:prstGeom>
          </p:spPr>
        </p:pic>
        <p:pic>
          <p:nvPicPr>
            <p:cNvPr id="36" name="object 36"/>
            <p:cNvPicPr/>
            <p:nvPr/>
          </p:nvPicPr>
          <p:blipFill>
            <a:blip r:embed="rId8" cstate="print"/>
            <a:stretch>
              <a:fillRect/>
            </a:stretch>
          </p:blipFill>
          <p:spPr>
            <a:xfrm>
              <a:off x="978408" y="3994403"/>
              <a:ext cx="1697736" cy="1464564"/>
            </a:xfrm>
            <a:prstGeom prst="rect">
              <a:avLst/>
            </a:prstGeom>
          </p:spPr>
        </p:pic>
        <p:sp>
          <p:nvSpPr>
            <p:cNvPr id="37" name="object 37"/>
            <p:cNvSpPr/>
            <p:nvPr/>
          </p:nvSpPr>
          <p:spPr>
            <a:xfrm>
              <a:off x="1021689" y="4017771"/>
              <a:ext cx="1498600" cy="1266190"/>
            </a:xfrm>
            <a:custGeom>
              <a:avLst/>
              <a:gdLst/>
              <a:ahLst/>
              <a:cxnLst/>
              <a:rect l="l" t="t" r="r" b="b"/>
              <a:pathLst>
                <a:path w="1498600" h="1266189">
                  <a:moveTo>
                    <a:pt x="1387246" y="1220723"/>
                  </a:moveTo>
                  <a:lnTo>
                    <a:pt x="1380642" y="1225422"/>
                  </a:lnTo>
                  <a:lnTo>
                    <a:pt x="1379499" y="1232280"/>
                  </a:lnTo>
                  <a:lnTo>
                    <a:pt x="1378229" y="1239265"/>
                  </a:lnTo>
                  <a:lnTo>
                    <a:pt x="1382801" y="1245869"/>
                  </a:lnTo>
                  <a:lnTo>
                    <a:pt x="1389786" y="1247012"/>
                  </a:lnTo>
                  <a:lnTo>
                    <a:pt x="1498117" y="1265936"/>
                  </a:lnTo>
                  <a:lnTo>
                    <a:pt x="1495762" y="1259331"/>
                  </a:lnTo>
                  <a:lnTo>
                    <a:pt x="1470685" y="1259331"/>
                  </a:lnTo>
                  <a:lnTo>
                    <a:pt x="1434794" y="1229073"/>
                  </a:lnTo>
                  <a:lnTo>
                    <a:pt x="1394104" y="1221993"/>
                  </a:lnTo>
                  <a:lnTo>
                    <a:pt x="1387246" y="1220723"/>
                  </a:lnTo>
                  <a:close/>
                </a:path>
                <a:path w="1498600" h="1266189">
                  <a:moveTo>
                    <a:pt x="1434794" y="1229073"/>
                  </a:moveTo>
                  <a:lnTo>
                    <a:pt x="1470685" y="1259331"/>
                  </a:lnTo>
                  <a:lnTo>
                    <a:pt x="1475289" y="1253870"/>
                  </a:lnTo>
                  <a:lnTo>
                    <a:pt x="1466875" y="1253870"/>
                  </a:lnTo>
                  <a:lnTo>
                    <a:pt x="1459576" y="1233384"/>
                  </a:lnTo>
                  <a:lnTo>
                    <a:pt x="1434794" y="1229073"/>
                  </a:lnTo>
                  <a:close/>
                </a:path>
                <a:path w="1498600" h="1266189">
                  <a:moveTo>
                    <a:pt x="1451635" y="1152270"/>
                  </a:moveTo>
                  <a:lnTo>
                    <a:pt x="1445031" y="1154557"/>
                  </a:lnTo>
                  <a:lnTo>
                    <a:pt x="1438427" y="1156970"/>
                  </a:lnTo>
                  <a:lnTo>
                    <a:pt x="1434871" y="1164208"/>
                  </a:lnTo>
                  <a:lnTo>
                    <a:pt x="1437284" y="1170813"/>
                  </a:lnTo>
                  <a:lnTo>
                    <a:pt x="1451092" y="1209570"/>
                  </a:lnTo>
                  <a:lnTo>
                    <a:pt x="1487068" y="1239900"/>
                  </a:lnTo>
                  <a:lnTo>
                    <a:pt x="1470685" y="1259331"/>
                  </a:lnTo>
                  <a:lnTo>
                    <a:pt x="1495762" y="1259331"/>
                  </a:lnTo>
                  <a:lnTo>
                    <a:pt x="1461160" y="1162303"/>
                  </a:lnTo>
                  <a:lnTo>
                    <a:pt x="1458874" y="1155700"/>
                  </a:lnTo>
                  <a:lnTo>
                    <a:pt x="1451635" y="1152270"/>
                  </a:lnTo>
                  <a:close/>
                </a:path>
                <a:path w="1498600" h="1266189">
                  <a:moveTo>
                    <a:pt x="1459576" y="1233384"/>
                  </a:moveTo>
                  <a:lnTo>
                    <a:pt x="1466875" y="1253870"/>
                  </a:lnTo>
                  <a:lnTo>
                    <a:pt x="1480972" y="1237106"/>
                  </a:lnTo>
                  <a:lnTo>
                    <a:pt x="1459576" y="1233384"/>
                  </a:lnTo>
                  <a:close/>
                </a:path>
                <a:path w="1498600" h="1266189">
                  <a:moveTo>
                    <a:pt x="1451092" y="1209570"/>
                  </a:moveTo>
                  <a:lnTo>
                    <a:pt x="1459576" y="1233384"/>
                  </a:lnTo>
                  <a:lnTo>
                    <a:pt x="1480972" y="1237106"/>
                  </a:lnTo>
                  <a:lnTo>
                    <a:pt x="1466875" y="1253870"/>
                  </a:lnTo>
                  <a:lnTo>
                    <a:pt x="1475289" y="1253870"/>
                  </a:lnTo>
                  <a:lnTo>
                    <a:pt x="1487068" y="1239900"/>
                  </a:lnTo>
                  <a:lnTo>
                    <a:pt x="1451092" y="1209570"/>
                  </a:lnTo>
                  <a:close/>
                </a:path>
                <a:path w="1498600" h="1266189">
                  <a:moveTo>
                    <a:pt x="16370" y="0"/>
                  </a:moveTo>
                  <a:lnTo>
                    <a:pt x="0" y="19430"/>
                  </a:lnTo>
                  <a:lnTo>
                    <a:pt x="1434794" y="1229073"/>
                  </a:lnTo>
                  <a:lnTo>
                    <a:pt x="1459576" y="1233384"/>
                  </a:lnTo>
                  <a:lnTo>
                    <a:pt x="1451092" y="1209570"/>
                  </a:lnTo>
                  <a:lnTo>
                    <a:pt x="16370" y="0"/>
                  </a:lnTo>
                  <a:close/>
                </a:path>
              </a:pathLst>
            </a:custGeom>
            <a:solidFill>
              <a:srgbClr val="C0504D"/>
            </a:solidFill>
          </p:spPr>
          <p:txBody>
            <a:bodyPr wrap="square" lIns="0" tIns="0" rIns="0" bIns="0" rtlCol="0"/>
            <a:lstStyle/>
            <a:p>
              <a:endParaRPr/>
            </a:p>
          </p:txBody>
        </p:sp>
        <p:pic>
          <p:nvPicPr>
            <p:cNvPr id="38" name="object 38"/>
            <p:cNvPicPr/>
            <p:nvPr/>
          </p:nvPicPr>
          <p:blipFill>
            <a:blip r:embed="rId9" cstate="print"/>
            <a:stretch>
              <a:fillRect/>
            </a:stretch>
          </p:blipFill>
          <p:spPr>
            <a:xfrm>
              <a:off x="979932" y="5052059"/>
              <a:ext cx="1665732" cy="1367027"/>
            </a:xfrm>
            <a:prstGeom prst="rect">
              <a:avLst/>
            </a:prstGeom>
          </p:spPr>
        </p:pic>
        <p:sp>
          <p:nvSpPr>
            <p:cNvPr id="39" name="object 39"/>
            <p:cNvSpPr/>
            <p:nvPr/>
          </p:nvSpPr>
          <p:spPr>
            <a:xfrm>
              <a:off x="1021981" y="5075173"/>
              <a:ext cx="1467485" cy="1168400"/>
            </a:xfrm>
            <a:custGeom>
              <a:avLst/>
              <a:gdLst/>
              <a:ahLst/>
              <a:cxnLst/>
              <a:rect l="l" t="t" r="r" b="b"/>
              <a:pathLst>
                <a:path w="1467485" h="1168400">
                  <a:moveTo>
                    <a:pt x="1355204" y="1126236"/>
                  </a:moveTo>
                  <a:lnTo>
                    <a:pt x="1348727" y="1131062"/>
                  </a:lnTo>
                  <a:lnTo>
                    <a:pt x="1347711" y="1138008"/>
                  </a:lnTo>
                  <a:lnTo>
                    <a:pt x="1346822" y="1144943"/>
                  </a:lnTo>
                  <a:lnTo>
                    <a:pt x="1351648" y="1151382"/>
                  </a:lnTo>
                  <a:lnTo>
                    <a:pt x="1467345" y="1168019"/>
                  </a:lnTo>
                  <a:lnTo>
                    <a:pt x="1465121" y="1162304"/>
                  </a:lnTo>
                  <a:lnTo>
                    <a:pt x="1439786" y="1162304"/>
                  </a:lnTo>
                  <a:lnTo>
                    <a:pt x="1402978" y="1133099"/>
                  </a:lnTo>
                  <a:lnTo>
                    <a:pt x="1355204" y="1126236"/>
                  </a:lnTo>
                  <a:close/>
                </a:path>
                <a:path w="1467485" h="1168400">
                  <a:moveTo>
                    <a:pt x="1402978" y="1133099"/>
                  </a:moveTo>
                  <a:lnTo>
                    <a:pt x="1439786" y="1162304"/>
                  </a:lnTo>
                  <a:lnTo>
                    <a:pt x="1444009" y="1156970"/>
                  </a:lnTo>
                  <a:lnTo>
                    <a:pt x="1435849" y="1156970"/>
                  </a:lnTo>
                  <a:lnTo>
                    <a:pt x="1427917" y="1136682"/>
                  </a:lnTo>
                  <a:lnTo>
                    <a:pt x="1402978" y="1133099"/>
                  </a:lnTo>
                  <a:close/>
                </a:path>
                <a:path w="1467485" h="1168400">
                  <a:moveTo>
                    <a:pt x="1417561" y="1055789"/>
                  </a:moveTo>
                  <a:lnTo>
                    <a:pt x="1404480" y="1060881"/>
                  </a:lnTo>
                  <a:lnTo>
                    <a:pt x="1401178" y="1068247"/>
                  </a:lnTo>
                  <a:lnTo>
                    <a:pt x="1403718" y="1074788"/>
                  </a:lnTo>
                  <a:lnTo>
                    <a:pt x="1418746" y="1113224"/>
                  </a:lnTo>
                  <a:lnTo>
                    <a:pt x="1455534" y="1142415"/>
                  </a:lnTo>
                  <a:lnTo>
                    <a:pt x="1439786" y="1162304"/>
                  </a:lnTo>
                  <a:lnTo>
                    <a:pt x="1465121" y="1162304"/>
                  </a:lnTo>
                  <a:lnTo>
                    <a:pt x="1424927" y="1059014"/>
                  </a:lnTo>
                  <a:lnTo>
                    <a:pt x="1417561" y="1055789"/>
                  </a:lnTo>
                  <a:close/>
                </a:path>
                <a:path w="1467485" h="1168400">
                  <a:moveTo>
                    <a:pt x="1427917" y="1136682"/>
                  </a:moveTo>
                  <a:lnTo>
                    <a:pt x="1435849" y="1156970"/>
                  </a:lnTo>
                  <a:lnTo>
                    <a:pt x="1449438" y="1139774"/>
                  </a:lnTo>
                  <a:lnTo>
                    <a:pt x="1427917" y="1136682"/>
                  </a:lnTo>
                  <a:close/>
                </a:path>
                <a:path w="1467485" h="1168400">
                  <a:moveTo>
                    <a:pt x="1418746" y="1113224"/>
                  </a:moveTo>
                  <a:lnTo>
                    <a:pt x="1427917" y="1136682"/>
                  </a:lnTo>
                  <a:lnTo>
                    <a:pt x="1449438" y="1139774"/>
                  </a:lnTo>
                  <a:lnTo>
                    <a:pt x="1435849" y="1156970"/>
                  </a:lnTo>
                  <a:lnTo>
                    <a:pt x="1444009" y="1156970"/>
                  </a:lnTo>
                  <a:lnTo>
                    <a:pt x="1455534" y="1142415"/>
                  </a:lnTo>
                  <a:lnTo>
                    <a:pt x="1418746" y="1113224"/>
                  </a:lnTo>
                  <a:close/>
                </a:path>
                <a:path w="1467485" h="1168400">
                  <a:moveTo>
                    <a:pt x="15786" y="0"/>
                  </a:moveTo>
                  <a:lnTo>
                    <a:pt x="0" y="19938"/>
                  </a:lnTo>
                  <a:lnTo>
                    <a:pt x="1402978" y="1133099"/>
                  </a:lnTo>
                  <a:lnTo>
                    <a:pt x="1427917" y="1136682"/>
                  </a:lnTo>
                  <a:lnTo>
                    <a:pt x="1418746" y="1113224"/>
                  </a:lnTo>
                  <a:lnTo>
                    <a:pt x="15786" y="0"/>
                  </a:lnTo>
                  <a:close/>
                </a:path>
              </a:pathLst>
            </a:custGeom>
            <a:solidFill>
              <a:srgbClr val="C0504D"/>
            </a:solidFill>
          </p:spPr>
          <p:txBody>
            <a:bodyPr wrap="square" lIns="0" tIns="0" rIns="0" bIns="0" rtlCol="0"/>
            <a:lstStyle/>
            <a:p>
              <a:endParaRPr/>
            </a:p>
          </p:txBody>
        </p:sp>
        <p:pic>
          <p:nvPicPr>
            <p:cNvPr id="40" name="object 40"/>
            <p:cNvPicPr/>
            <p:nvPr/>
          </p:nvPicPr>
          <p:blipFill>
            <a:blip r:embed="rId10" cstate="print"/>
            <a:stretch>
              <a:fillRect/>
            </a:stretch>
          </p:blipFill>
          <p:spPr>
            <a:xfrm>
              <a:off x="2438400" y="5053583"/>
              <a:ext cx="1498091" cy="1365503"/>
            </a:xfrm>
            <a:prstGeom prst="rect">
              <a:avLst/>
            </a:prstGeom>
          </p:spPr>
        </p:pic>
        <p:sp>
          <p:nvSpPr>
            <p:cNvPr id="41" name="object 41"/>
            <p:cNvSpPr/>
            <p:nvPr/>
          </p:nvSpPr>
          <p:spPr>
            <a:xfrm>
              <a:off x="2480818" y="5075681"/>
              <a:ext cx="1299210" cy="1167765"/>
            </a:xfrm>
            <a:custGeom>
              <a:avLst/>
              <a:gdLst/>
              <a:ahLst/>
              <a:cxnLst/>
              <a:rect l="l" t="t" r="r" b="b"/>
              <a:pathLst>
                <a:path w="1299210" h="1167764">
                  <a:moveTo>
                    <a:pt x="1189608" y="1119022"/>
                  </a:moveTo>
                  <a:lnTo>
                    <a:pt x="1183005" y="1123442"/>
                  </a:lnTo>
                  <a:lnTo>
                    <a:pt x="1181481" y="1130312"/>
                  </a:lnTo>
                  <a:lnTo>
                    <a:pt x="1180083" y="1137183"/>
                  </a:lnTo>
                  <a:lnTo>
                    <a:pt x="1184529" y="1143901"/>
                  </a:lnTo>
                  <a:lnTo>
                    <a:pt x="1299083" y="1167511"/>
                  </a:lnTo>
                  <a:lnTo>
                    <a:pt x="1296711" y="1160132"/>
                  </a:lnTo>
                  <a:lnTo>
                    <a:pt x="1271905" y="1160132"/>
                  </a:lnTo>
                  <a:lnTo>
                    <a:pt x="1236926" y="1128747"/>
                  </a:lnTo>
                  <a:lnTo>
                    <a:pt x="1189608" y="1119022"/>
                  </a:lnTo>
                  <a:close/>
                </a:path>
                <a:path w="1299210" h="1167764">
                  <a:moveTo>
                    <a:pt x="1236926" y="1128747"/>
                  </a:moveTo>
                  <a:lnTo>
                    <a:pt x="1271905" y="1160132"/>
                  </a:lnTo>
                  <a:lnTo>
                    <a:pt x="1276914" y="1154569"/>
                  </a:lnTo>
                  <a:lnTo>
                    <a:pt x="1268348" y="1154569"/>
                  </a:lnTo>
                  <a:lnTo>
                    <a:pt x="1261672" y="1133849"/>
                  </a:lnTo>
                  <a:lnTo>
                    <a:pt x="1236926" y="1128747"/>
                  </a:lnTo>
                  <a:close/>
                </a:path>
                <a:path w="1299210" h="1167764">
                  <a:moveTo>
                    <a:pt x="1256157" y="1052461"/>
                  </a:moveTo>
                  <a:lnTo>
                    <a:pt x="1242821" y="1056767"/>
                  </a:lnTo>
                  <a:lnTo>
                    <a:pt x="1239139" y="1063917"/>
                  </a:lnTo>
                  <a:lnTo>
                    <a:pt x="1253937" y="1109843"/>
                  </a:lnTo>
                  <a:lnTo>
                    <a:pt x="1288922" y="1141234"/>
                  </a:lnTo>
                  <a:lnTo>
                    <a:pt x="1271905" y="1160132"/>
                  </a:lnTo>
                  <a:lnTo>
                    <a:pt x="1296711" y="1160132"/>
                  </a:lnTo>
                  <a:lnTo>
                    <a:pt x="1263269" y="1056132"/>
                  </a:lnTo>
                  <a:lnTo>
                    <a:pt x="1256157" y="1052461"/>
                  </a:lnTo>
                  <a:close/>
                </a:path>
                <a:path w="1299210" h="1167764">
                  <a:moveTo>
                    <a:pt x="1261672" y="1133849"/>
                  </a:moveTo>
                  <a:lnTo>
                    <a:pt x="1268348" y="1154569"/>
                  </a:lnTo>
                  <a:lnTo>
                    <a:pt x="1282954" y="1138237"/>
                  </a:lnTo>
                  <a:lnTo>
                    <a:pt x="1261672" y="1133849"/>
                  </a:lnTo>
                  <a:close/>
                </a:path>
                <a:path w="1299210" h="1167764">
                  <a:moveTo>
                    <a:pt x="1253937" y="1109843"/>
                  </a:moveTo>
                  <a:lnTo>
                    <a:pt x="1261672" y="1133849"/>
                  </a:lnTo>
                  <a:lnTo>
                    <a:pt x="1282954" y="1138237"/>
                  </a:lnTo>
                  <a:lnTo>
                    <a:pt x="1268348" y="1154569"/>
                  </a:lnTo>
                  <a:lnTo>
                    <a:pt x="1276914" y="1154569"/>
                  </a:lnTo>
                  <a:lnTo>
                    <a:pt x="1288922" y="1141234"/>
                  </a:lnTo>
                  <a:lnTo>
                    <a:pt x="1253937" y="1109843"/>
                  </a:lnTo>
                  <a:close/>
                </a:path>
                <a:path w="1299210" h="1167764">
                  <a:moveTo>
                    <a:pt x="17018" y="0"/>
                  </a:moveTo>
                  <a:lnTo>
                    <a:pt x="0" y="18923"/>
                  </a:lnTo>
                  <a:lnTo>
                    <a:pt x="1236926" y="1128747"/>
                  </a:lnTo>
                  <a:lnTo>
                    <a:pt x="1261672" y="1133849"/>
                  </a:lnTo>
                  <a:lnTo>
                    <a:pt x="1253937" y="1109843"/>
                  </a:lnTo>
                  <a:lnTo>
                    <a:pt x="17018" y="0"/>
                  </a:lnTo>
                  <a:close/>
                </a:path>
              </a:pathLst>
            </a:custGeom>
            <a:solidFill>
              <a:srgbClr val="C0504D"/>
            </a:solidFill>
          </p:spPr>
          <p:txBody>
            <a:bodyPr wrap="square" lIns="0" tIns="0" rIns="0" bIns="0" rtlCol="0"/>
            <a:lstStyle/>
            <a:p>
              <a:endParaRPr/>
            </a:p>
          </p:txBody>
        </p:sp>
      </p:grpSp>
      <p:sp>
        <p:nvSpPr>
          <p:cNvPr id="42" name="object 42"/>
          <p:cNvSpPr txBox="1"/>
          <p:nvPr/>
        </p:nvSpPr>
        <p:spPr>
          <a:xfrm>
            <a:off x="3054476" y="3662298"/>
            <a:ext cx="5345430" cy="125031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(8*1/9)</a:t>
            </a:r>
            <a:r>
              <a:rPr sz="1800" b="1" spc="-20" dirty="0">
                <a:latin typeface="Times New Roman"/>
                <a:cs typeface="Times New Roman"/>
              </a:rPr>
              <a:t> </a:t>
            </a:r>
            <a:r>
              <a:rPr sz="1800" b="1" dirty="0">
                <a:latin typeface="Times New Roman"/>
                <a:cs typeface="Times New Roman"/>
              </a:rPr>
              <a:t>+(9*1/9)</a:t>
            </a:r>
            <a:r>
              <a:rPr sz="1800" b="1" spc="-10" dirty="0">
                <a:latin typeface="Times New Roman"/>
                <a:cs typeface="Times New Roman"/>
              </a:rPr>
              <a:t> </a:t>
            </a:r>
            <a:r>
              <a:rPr sz="1800" b="1" dirty="0">
                <a:latin typeface="Times New Roman"/>
                <a:cs typeface="Times New Roman"/>
              </a:rPr>
              <a:t>+(10*1/9)</a:t>
            </a:r>
            <a:r>
              <a:rPr sz="1800" b="1" spc="-30" dirty="0">
                <a:latin typeface="Times New Roman"/>
                <a:cs typeface="Times New Roman"/>
              </a:rPr>
              <a:t> </a:t>
            </a:r>
            <a:r>
              <a:rPr sz="1800" b="1" dirty="0">
                <a:latin typeface="Times New Roman"/>
                <a:cs typeface="Times New Roman"/>
              </a:rPr>
              <a:t>+(15*1/9)</a:t>
            </a:r>
            <a:r>
              <a:rPr sz="1800" b="1" spc="-10" dirty="0">
                <a:latin typeface="Times New Roman"/>
                <a:cs typeface="Times New Roman"/>
              </a:rPr>
              <a:t> </a:t>
            </a:r>
            <a:r>
              <a:rPr sz="1800" b="1" dirty="0">
                <a:latin typeface="Times New Roman"/>
                <a:cs typeface="Times New Roman"/>
              </a:rPr>
              <a:t>+(6*1/9)</a:t>
            </a:r>
            <a:r>
              <a:rPr sz="1800" b="1" spc="-15" dirty="0">
                <a:latin typeface="Times New Roman"/>
                <a:cs typeface="Times New Roman"/>
              </a:rPr>
              <a:t> </a:t>
            </a:r>
            <a:r>
              <a:rPr sz="1800" b="1" spc="-10" dirty="0">
                <a:latin typeface="Times New Roman"/>
                <a:cs typeface="Times New Roman"/>
              </a:rPr>
              <a:t>+(14*1/9)</a:t>
            </a:r>
            <a:endParaRPr sz="1800">
              <a:latin typeface="Times New Roman"/>
              <a:cs typeface="Times New Roman"/>
            </a:endParaRPr>
          </a:p>
          <a:p>
            <a:pPr marL="12700">
              <a:lnSpc>
                <a:spcPct val="100000"/>
              </a:lnSpc>
            </a:pPr>
            <a:r>
              <a:rPr sz="1800" b="1" dirty="0">
                <a:latin typeface="Times New Roman"/>
                <a:cs typeface="Times New Roman"/>
              </a:rPr>
              <a:t>+(7*1/9)</a:t>
            </a:r>
            <a:r>
              <a:rPr sz="1800" b="1" spc="-15" dirty="0">
                <a:latin typeface="Times New Roman"/>
                <a:cs typeface="Times New Roman"/>
              </a:rPr>
              <a:t> </a:t>
            </a:r>
            <a:r>
              <a:rPr sz="1800" b="1" dirty="0">
                <a:latin typeface="Times New Roman"/>
                <a:cs typeface="Times New Roman"/>
              </a:rPr>
              <a:t>+(5*1/9)</a:t>
            </a:r>
            <a:r>
              <a:rPr sz="1800" b="1" spc="-25" dirty="0">
                <a:latin typeface="Times New Roman"/>
                <a:cs typeface="Times New Roman"/>
              </a:rPr>
              <a:t> </a:t>
            </a:r>
            <a:r>
              <a:rPr sz="1800" b="1" dirty="0">
                <a:latin typeface="Times New Roman"/>
                <a:cs typeface="Times New Roman"/>
              </a:rPr>
              <a:t>+(9*1/9)</a:t>
            </a:r>
            <a:r>
              <a:rPr sz="1800" b="1" spc="-10" dirty="0">
                <a:latin typeface="Times New Roman"/>
                <a:cs typeface="Times New Roman"/>
              </a:rPr>
              <a:t> =9.22</a:t>
            </a:r>
            <a:endParaRPr sz="1800">
              <a:latin typeface="Times New Roman"/>
              <a:cs typeface="Times New Roman"/>
            </a:endParaRPr>
          </a:p>
          <a:p>
            <a:pPr marL="592455" marR="1412875" indent="1191260">
              <a:lnSpc>
                <a:spcPct val="121300"/>
              </a:lnSpc>
              <a:spcBef>
                <a:spcPts val="80"/>
              </a:spcBef>
            </a:pPr>
            <a:r>
              <a:rPr sz="1800" b="1" spc="-25" dirty="0">
                <a:solidFill>
                  <a:srgbClr val="FF0000"/>
                </a:solidFill>
                <a:latin typeface="Times New Roman"/>
                <a:cs typeface="Times New Roman"/>
              </a:rPr>
              <a:t>OR </a:t>
            </a:r>
            <a:r>
              <a:rPr sz="1800" b="1" dirty="0">
                <a:latin typeface="Times New Roman"/>
                <a:cs typeface="Times New Roman"/>
              </a:rPr>
              <a:t>(8+9+10+15+6+14+7+5+9)/9</a:t>
            </a:r>
            <a:r>
              <a:rPr sz="1800" b="1" spc="-55" dirty="0">
                <a:latin typeface="Times New Roman"/>
                <a:cs typeface="Times New Roman"/>
              </a:rPr>
              <a:t> </a:t>
            </a:r>
            <a:r>
              <a:rPr sz="1800" b="1" spc="-10" dirty="0">
                <a:latin typeface="Times New Roman"/>
                <a:cs typeface="Times New Roman"/>
              </a:rPr>
              <a:t>=9.22</a:t>
            </a:r>
            <a:endParaRPr sz="1800">
              <a:latin typeface="Times New Roman"/>
              <a:cs typeface="Times New Roman"/>
            </a:endParaRPr>
          </a:p>
        </p:txBody>
      </p:sp>
      <p:graphicFrame>
        <p:nvGraphicFramePr>
          <p:cNvPr id="43" name="object 43"/>
          <p:cNvGraphicFramePr>
            <a:graphicFrameLocks noGrp="1"/>
          </p:cNvGraphicFramePr>
          <p:nvPr/>
        </p:nvGraphicFramePr>
        <p:xfrm>
          <a:off x="4821173" y="5229986"/>
          <a:ext cx="2478404" cy="1366520"/>
        </p:xfrm>
        <a:graphic>
          <a:graphicData uri="http://schemas.openxmlformats.org/drawingml/2006/table">
            <a:tbl>
              <a:tblPr firstRow="1" bandRow="1">
                <a:tableStyleId>{2D5ABB26-0587-4C30-8999-92F81FD0307C}</a:tableStyleId>
              </a:tblPr>
              <a:tblGrid>
                <a:gridCol w="54483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503555">
                  <a:extLst>
                    <a:ext uri="{9D8B030D-6E8A-4147-A177-3AD203B41FA5}">
                      <a16:colId xmlns:a16="http://schemas.microsoft.com/office/drawing/2014/main" val="20002"/>
                    </a:ext>
                  </a:extLst>
                </a:gridCol>
                <a:gridCol w="396239">
                  <a:extLst>
                    <a:ext uri="{9D8B030D-6E8A-4147-A177-3AD203B41FA5}">
                      <a16:colId xmlns:a16="http://schemas.microsoft.com/office/drawing/2014/main" val="20003"/>
                    </a:ext>
                  </a:extLst>
                </a:gridCol>
                <a:gridCol w="538480">
                  <a:extLst>
                    <a:ext uri="{9D8B030D-6E8A-4147-A177-3AD203B41FA5}">
                      <a16:colId xmlns:a16="http://schemas.microsoft.com/office/drawing/2014/main" val="20004"/>
                    </a:ext>
                  </a:extLst>
                </a:gridCol>
              </a:tblGrid>
              <a:tr h="341630">
                <a:tc>
                  <a:txBody>
                    <a:bodyPr/>
                    <a:lstStyle/>
                    <a:p>
                      <a:pPr marL="635" algn="ctr">
                        <a:lnSpc>
                          <a:spcPct val="100000"/>
                        </a:lnSpc>
                        <a:spcBef>
                          <a:spcPts val="470"/>
                        </a:spcBef>
                      </a:pPr>
                      <a:r>
                        <a:rPr sz="1400" b="1" spc="-50" dirty="0">
                          <a:latin typeface="Times New Roman"/>
                          <a:cs typeface="Times New Roman"/>
                        </a:rPr>
                        <a:t>6</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50" dirty="0">
                          <a:latin typeface="Times New Roman"/>
                          <a:cs typeface="Times New Roman"/>
                        </a:rPr>
                        <a:t>9</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25" dirty="0">
                          <a:latin typeface="Times New Roman"/>
                          <a:cs typeface="Times New Roman"/>
                        </a:rPr>
                        <a:t>12</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41630">
                <a:tc>
                  <a:txBody>
                    <a:bodyPr/>
                    <a:lstStyle/>
                    <a:p>
                      <a:pPr marL="635"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20" dirty="0">
                          <a:latin typeface="Times New Roman"/>
                          <a:cs typeface="Times New Roman"/>
                        </a:rPr>
                        <a:t>7.33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20" dirty="0">
                          <a:latin typeface="Times New Roman"/>
                          <a:cs typeface="Times New Roman"/>
                        </a:rPr>
                        <a:t>9.22</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3D59B"/>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25" dirty="0">
                          <a:latin typeface="Times New Roman"/>
                          <a:cs typeface="Times New Roman"/>
                        </a:rPr>
                        <a:t>13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1630">
                <a:tc>
                  <a:txBody>
                    <a:bodyPr/>
                    <a:lstStyle/>
                    <a:p>
                      <a:pPr marL="635"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3</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1630">
                <a:tc>
                  <a:txBody>
                    <a:bodyPr/>
                    <a:lstStyle/>
                    <a:p>
                      <a:pPr marL="2540" algn="ctr">
                        <a:lnSpc>
                          <a:spcPct val="100000"/>
                        </a:lnSpc>
                        <a:spcBef>
                          <a:spcPts val="470"/>
                        </a:spcBef>
                      </a:pPr>
                      <a:r>
                        <a:rPr sz="1400" b="1" spc="-25" dirty="0">
                          <a:latin typeface="Times New Roman"/>
                          <a:cs typeface="Times New Roman"/>
                        </a:rPr>
                        <a:t>14</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sz="1400" b="1" spc="-25" dirty="0">
                          <a:latin typeface="Times New Roman"/>
                          <a:cs typeface="Times New Roman"/>
                        </a:rPr>
                        <a:t>16</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25" dirty="0">
                          <a:latin typeface="Times New Roman"/>
                          <a:cs typeface="Times New Roman"/>
                        </a:rPr>
                        <a:t>10</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70"/>
                        </a:spcBef>
                      </a:pPr>
                      <a:r>
                        <a:rPr sz="1400" b="1" spc="-50" dirty="0">
                          <a:latin typeface="Times New Roman"/>
                          <a:cs typeface="Times New Roman"/>
                        </a:rPr>
                        <a:t>7</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70"/>
                        </a:spcBef>
                      </a:pPr>
                      <a:r>
                        <a:rPr sz="1400" b="1" spc="-50" dirty="0">
                          <a:latin typeface="Times New Roman"/>
                          <a:cs typeface="Times New Roman"/>
                        </a:rPr>
                        <a:t>8</a:t>
                      </a:r>
                      <a:endParaRPr sz="1400">
                        <a:latin typeface="Times New Roman"/>
                        <a:cs typeface="Times New Roman"/>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3C76F9-BA9A-4C8B-95F8-482754538309}"/>
              </a:ext>
            </a:extLst>
          </p:cNvPr>
          <p:cNvPicPr>
            <a:picLocks noChangeAspect="1"/>
          </p:cNvPicPr>
          <p:nvPr/>
        </p:nvPicPr>
        <p:blipFill>
          <a:blip r:embed="rId2"/>
          <a:stretch>
            <a:fillRect/>
          </a:stretch>
        </p:blipFill>
        <p:spPr>
          <a:xfrm>
            <a:off x="1066800" y="1600200"/>
            <a:ext cx="7010400" cy="3657600"/>
          </a:xfrm>
          <a:prstGeom prst="rect">
            <a:avLst/>
          </a:prstGeom>
        </p:spPr>
      </p:pic>
    </p:spTree>
    <p:extLst>
      <p:ext uri="{BB962C8B-B14F-4D97-AF65-F5344CB8AC3E}">
        <p14:creationId xmlns:p14="http://schemas.microsoft.com/office/powerpoint/2010/main" val="3319982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799338"/>
            <a:ext cx="8341359" cy="936795"/>
          </a:xfrm>
          <a:prstGeom prst="rect">
            <a:avLst/>
          </a:prstGeom>
        </p:spPr>
        <p:txBody>
          <a:bodyPr vert="horz" wrap="square" lIns="0" tIns="13335" rIns="0" bIns="0" rtlCol="0">
            <a:spAutoFit/>
          </a:bodyPr>
          <a:lstStyle/>
          <a:p>
            <a:pPr marL="12700">
              <a:lnSpc>
                <a:spcPct val="100000"/>
              </a:lnSpc>
              <a:spcBef>
                <a:spcPts val="105"/>
              </a:spcBef>
            </a:pPr>
            <a:r>
              <a:rPr lang="en-US" sz="2000" dirty="0"/>
              <a:t>A </a:t>
            </a:r>
            <a:r>
              <a:rPr lang="en-US" sz="2000" b="1" dirty="0"/>
              <a:t>Gaussian filter</a:t>
            </a:r>
            <a:r>
              <a:rPr lang="en-US" sz="2000" dirty="0"/>
              <a:t> is a </a:t>
            </a:r>
            <a:r>
              <a:rPr lang="en-US" sz="2000" b="1" dirty="0"/>
              <a:t>weighted average filter</a:t>
            </a:r>
            <a:r>
              <a:rPr lang="en-US" sz="2000" dirty="0"/>
              <a:t>, where nearby pixels have </a:t>
            </a:r>
            <a:r>
              <a:rPr lang="en-US" sz="2000" b="1" dirty="0"/>
              <a:t>more influence</a:t>
            </a:r>
            <a:r>
              <a:rPr lang="en-US" sz="2000" dirty="0"/>
              <a:t> than distant ones.</a:t>
            </a:r>
            <a:br>
              <a:rPr lang="en-US" sz="2000" dirty="0"/>
            </a:br>
            <a:endParaRPr sz="2000" dirty="0">
              <a:latin typeface="Times New Roman"/>
              <a:cs typeface="Times New Roman"/>
            </a:endParaRPr>
          </a:p>
        </p:txBody>
      </p:sp>
      <p:pic>
        <p:nvPicPr>
          <p:cNvPr id="4" name="object 4"/>
          <p:cNvPicPr/>
          <p:nvPr/>
        </p:nvPicPr>
        <p:blipFill>
          <a:blip r:embed="rId2" cstate="print"/>
          <a:stretch>
            <a:fillRect/>
          </a:stretch>
        </p:blipFill>
        <p:spPr>
          <a:xfrm>
            <a:off x="1259636" y="2527708"/>
            <a:ext cx="275729" cy="291056"/>
          </a:xfrm>
          <a:prstGeom prst="rect">
            <a:avLst/>
          </a:prstGeom>
        </p:spPr>
      </p:pic>
      <p:pic>
        <p:nvPicPr>
          <p:cNvPr id="5" name="object 5"/>
          <p:cNvPicPr/>
          <p:nvPr/>
        </p:nvPicPr>
        <p:blipFill>
          <a:blip r:embed="rId2" cstate="print"/>
          <a:stretch>
            <a:fillRect/>
          </a:stretch>
        </p:blipFill>
        <p:spPr>
          <a:xfrm>
            <a:off x="2314955" y="3456206"/>
            <a:ext cx="275729" cy="291056"/>
          </a:xfrm>
          <a:prstGeom prst="rect">
            <a:avLst/>
          </a:prstGeom>
        </p:spPr>
      </p:pic>
      <p:sp>
        <p:nvSpPr>
          <p:cNvPr id="6" name="object 6"/>
          <p:cNvSpPr txBox="1"/>
          <p:nvPr/>
        </p:nvSpPr>
        <p:spPr>
          <a:xfrm>
            <a:off x="396341" y="2509774"/>
            <a:ext cx="8312784" cy="1872949"/>
          </a:xfrm>
          <a:prstGeom prst="rect">
            <a:avLst/>
          </a:prstGeom>
        </p:spPr>
        <p:txBody>
          <a:bodyPr vert="horz" wrap="square" lIns="0" tIns="13335" rIns="0" bIns="0" rtlCol="0">
            <a:spAutoFit/>
          </a:bodyPr>
          <a:lstStyle/>
          <a:p>
            <a:pPr marL="12700" marR="4585335" algn="just">
              <a:lnSpc>
                <a:spcPct val="100000"/>
              </a:lnSpc>
              <a:spcBef>
                <a:spcPts val="105"/>
              </a:spcBef>
            </a:pPr>
            <a:r>
              <a:rPr sz="2000" b="1" dirty="0">
                <a:solidFill>
                  <a:srgbClr val="FF0000"/>
                </a:solidFill>
                <a:latin typeface="Times New Roman"/>
                <a:cs typeface="Times New Roman"/>
              </a:rPr>
              <a:t>Where:</a:t>
            </a:r>
            <a:r>
              <a:rPr sz="2000" b="1" spc="315" dirty="0">
                <a:solidFill>
                  <a:srgbClr val="FF0000"/>
                </a:solidFill>
                <a:latin typeface="Times New Roman"/>
                <a:cs typeface="Times New Roman"/>
              </a:rPr>
              <a:t>    </a:t>
            </a:r>
            <a:r>
              <a:rPr sz="2000" b="1" dirty="0">
                <a:latin typeface="Times New Roman"/>
                <a:cs typeface="Times New Roman"/>
              </a:rPr>
              <a:t>is</a:t>
            </a:r>
            <a:r>
              <a:rPr sz="2000" b="1" spc="305" dirty="0">
                <a:latin typeface="Times New Roman"/>
                <a:cs typeface="Times New Roman"/>
              </a:rPr>
              <a:t>  </a:t>
            </a:r>
            <a:r>
              <a:rPr sz="2000" b="1" dirty="0">
                <a:latin typeface="Times New Roman"/>
                <a:cs typeface="Times New Roman"/>
              </a:rPr>
              <a:t>the</a:t>
            </a:r>
            <a:r>
              <a:rPr sz="2000" b="1" spc="310" dirty="0">
                <a:latin typeface="Times New Roman"/>
                <a:cs typeface="Times New Roman"/>
              </a:rPr>
              <a:t>  </a:t>
            </a:r>
            <a:r>
              <a:rPr sz="2000" b="1" dirty="0">
                <a:latin typeface="Times New Roman"/>
                <a:cs typeface="Times New Roman"/>
              </a:rPr>
              <a:t>variance</a:t>
            </a:r>
            <a:r>
              <a:rPr sz="2000" b="1" spc="310" dirty="0">
                <a:latin typeface="Times New Roman"/>
                <a:cs typeface="Times New Roman"/>
              </a:rPr>
              <a:t>  </a:t>
            </a:r>
            <a:r>
              <a:rPr sz="2000" b="1" spc="-25" dirty="0">
                <a:latin typeface="Times New Roman"/>
                <a:cs typeface="Times New Roman"/>
              </a:rPr>
              <a:t>and </a:t>
            </a:r>
            <a:r>
              <a:rPr sz="2000" b="1" dirty="0">
                <a:latin typeface="Times New Roman"/>
                <a:cs typeface="Times New Roman"/>
              </a:rPr>
              <a:t>controls</a:t>
            </a:r>
            <a:r>
              <a:rPr sz="2000" b="1" spc="-5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dirty="0">
                <a:latin typeface="Times New Roman"/>
                <a:cs typeface="Times New Roman"/>
              </a:rPr>
              <a:t>degree</a:t>
            </a:r>
            <a:r>
              <a:rPr sz="2000" b="1" spc="-25" dirty="0">
                <a:latin typeface="Times New Roman"/>
                <a:cs typeface="Times New Roman"/>
              </a:rPr>
              <a:t> </a:t>
            </a:r>
            <a:r>
              <a:rPr sz="2000" b="1" dirty="0">
                <a:latin typeface="Times New Roman"/>
                <a:cs typeface="Times New Roman"/>
              </a:rPr>
              <a:t>of</a:t>
            </a:r>
            <a:r>
              <a:rPr sz="2000" b="1" spc="-35" dirty="0">
                <a:latin typeface="Times New Roman"/>
                <a:cs typeface="Times New Roman"/>
              </a:rPr>
              <a:t> </a:t>
            </a:r>
            <a:r>
              <a:rPr sz="2000" b="1" spc="-10" dirty="0">
                <a:latin typeface="Times New Roman"/>
                <a:cs typeface="Times New Roman"/>
              </a:rPr>
              <a:t>smoothing.</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marR="4580890" algn="just">
              <a:lnSpc>
                <a:spcPct val="100000"/>
              </a:lnSpc>
            </a:pPr>
            <a:r>
              <a:rPr sz="2000" b="1" dirty="0">
                <a:solidFill>
                  <a:srgbClr val="006FC0"/>
                </a:solidFill>
                <a:latin typeface="Times New Roman"/>
                <a:cs typeface="Times New Roman"/>
              </a:rPr>
              <a:t>The</a:t>
            </a:r>
            <a:r>
              <a:rPr sz="2000" b="1" spc="140" dirty="0">
                <a:solidFill>
                  <a:srgbClr val="006FC0"/>
                </a:solidFill>
                <a:latin typeface="Times New Roman"/>
                <a:cs typeface="Times New Roman"/>
              </a:rPr>
              <a:t> </a:t>
            </a:r>
            <a:r>
              <a:rPr sz="2000" b="1" dirty="0">
                <a:solidFill>
                  <a:srgbClr val="006FC0"/>
                </a:solidFill>
                <a:latin typeface="Times New Roman"/>
                <a:cs typeface="Times New Roman"/>
              </a:rPr>
              <a:t>larger</a:t>
            </a:r>
            <a:r>
              <a:rPr sz="2000" b="1" spc="95" dirty="0">
                <a:solidFill>
                  <a:srgbClr val="006FC0"/>
                </a:solidFill>
                <a:latin typeface="Times New Roman"/>
                <a:cs typeface="Times New Roman"/>
              </a:rPr>
              <a:t> </a:t>
            </a:r>
            <a:r>
              <a:rPr sz="2000" b="1" dirty="0">
                <a:solidFill>
                  <a:srgbClr val="006FC0"/>
                </a:solidFill>
                <a:latin typeface="Times New Roman"/>
                <a:cs typeface="Times New Roman"/>
              </a:rPr>
              <a:t>value</a:t>
            </a:r>
            <a:r>
              <a:rPr sz="2000" b="1" spc="459" dirty="0">
                <a:solidFill>
                  <a:srgbClr val="006FC0"/>
                </a:solidFill>
                <a:latin typeface="Times New Roman"/>
                <a:cs typeface="Times New Roman"/>
              </a:rPr>
              <a:t>    </a:t>
            </a:r>
            <a:r>
              <a:rPr sz="2000" b="1" dirty="0">
                <a:latin typeface="Times New Roman"/>
                <a:cs typeface="Times New Roman"/>
              </a:rPr>
              <a:t>is,</a:t>
            </a:r>
            <a:r>
              <a:rPr sz="2000" b="1" spc="140" dirty="0">
                <a:latin typeface="Times New Roman"/>
                <a:cs typeface="Times New Roman"/>
              </a:rPr>
              <a:t> </a:t>
            </a:r>
            <a:r>
              <a:rPr sz="2000" b="1" dirty="0">
                <a:latin typeface="Times New Roman"/>
                <a:cs typeface="Times New Roman"/>
              </a:rPr>
              <a:t>the</a:t>
            </a:r>
            <a:r>
              <a:rPr sz="2000" b="1" spc="120" dirty="0">
                <a:latin typeface="Times New Roman"/>
                <a:cs typeface="Times New Roman"/>
              </a:rPr>
              <a:t> </a:t>
            </a:r>
            <a:r>
              <a:rPr sz="2000" b="1" spc="-10" dirty="0">
                <a:solidFill>
                  <a:srgbClr val="00AF50"/>
                </a:solidFill>
                <a:latin typeface="Times New Roman"/>
                <a:cs typeface="Times New Roman"/>
              </a:rPr>
              <a:t>larger </a:t>
            </a:r>
            <a:r>
              <a:rPr sz="2000" b="1" dirty="0">
                <a:solidFill>
                  <a:srgbClr val="00AF50"/>
                </a:solidFill>
                <a:latin typeface="Times New Roman"/>
                <a:cs typeface="Times New Roman"/>
              </a:rPr>
              <a:t>degree</a:t>
            </a:r>
            <a:r>
              <a:rPr sz="2000" b="1" spc="295" dirty="0">
                <a:solidFill>
                  <a:srgbClr val="00AF50"/>
                </a:solidFill>
                <a:latin typeface="Times New Roman"/>
                <a:cs typeface="Times New Roman"/>
              </a:rPr>
              <a:t>    </a:t>
            </a:r>
            <a:r>
              <a:rPr sz="2000" b="1" dirty="0">
                <a:solidFill>
                  <a:srgbClr val="00AF50"/>
                </a:solidFill>
                <a:latin typeface="Times New Roman"/>
                <a:cs typeface="Times New Roman"/>
              </a:rPr>
              <a:t>smoothing</a:t>
            </a:r>
            <a:r>
              <a:rPr sz="2000" b="1" spc="300" dirty="0">
                <a:solidFill>
                  <a:srgbClr val="00AF50"/>
                </a:solidFill>
                <a:latin typeface="Times New Roman"/>
                <a:cs typeface="Times New Roman"/>
              </a:rPr>
              <a:t>    </a:t>
            </a:r>
            <a:r>
              <a:rPr sz="2000" b="1" dirty="0">
                <a:solidFill>
                  <a:srgbClr val="00AF50"/>
                </a:solidFill>
                <a:latin typeface="Times New Roman"/>
                <a:cs typeface="Times New Roman"/>
              </a:rPr>
              <a:t>can</a:t>
            </a:r>
            <a:r>
              <a:rPr sz="2000" b="1" spc="300" dirty="0">
                <a:solidFill>
                  <a:srgbClr val="00AF50"/>
                </a:solidFill>
                <a:latin typeface="Times New Roman"/>
                <a:cs typeface="Times New Roman"/>
              </a:rPr>
              <a:t>    </a:t>
            </a:r>
            <a:r>
              <a:rPr sz="2000" b="1" spc="-25" dirty="0">
                <a:solidFill>
                  <a:srgbClr val="00AF50"/>
                </a:solidFill>
                <a:latin typeface="Times New Roman"/>
                <a:cs typeface="Times New Roman"/>
              </a:rPr>
              <a:t>be </a:t>
            </a:r>
            <a:r>
              <a:rPr sz="2000" b="1" spc="-10" dirty="0">
                <a:solidFill>
                  <a:srgbClr val="00AF50"/>
                </a:solidFill>
                <a:latin typeface="Times New Roman"/>
                <a:cs typeface="Times New Roman"/>
              </a:rPr>
              <a:t>achieved</a:t>
            </a:r>
            <a:r>
              <a:rPr sz="2000" b="1" spc="-10" dirty="0">
                <a:latin typeface="Times New Roman"/>
                <a:cs typeface="Times New Roman"/>
              </a:rPr>
              <a:t>.</a:t>
            </a:r>
            <a:endParaRPr sz="2000" dirty="0">
              <a:latin typeface="Times New Roman"/>
              <a:cs typeface="Times New Roman"/>
            </a:endParaRPr>
          </a:p>
        </p:txBody>
      </p:sp>
      <p:pic>
        <p:nvPicPr>
          <p:cNvPr id="7" name="object 7"/>
          <p:cNvPicPr/>
          <p:nvPr/>
        </p:nvPicPr>
        <p:blipFill>
          <a:blip r:embed="rId3" cstate="print"/>
          <a:stretch>
            <a:fillRect/>
          </a:stretch>
        </p:blipFill>
        <p:spPr>
          <a:xfrm>
            <a:off x="4690516" y="1275969"/>
            <a:ext cx="4171746" cy="2945129"/>
          </a:xfrm>
          <a:prstGeom prst="rect">
            <a:avLst/>
          </a:prstGeom>
        </p:spPr>
      </p:pic>
      <p:pic>
        <p:nvPicPr>
          <p:cNvPr id="8" name="object 8"/>
          <p:cNvPicPr/>
          <p:nvPr/>
        </p:nvPicPr>
        <p:blipFill>
          <a:blip r:embed="rId4" cstate="print"/>
          <a:stretch>
            <a:fillRect/>
          </a:stretch>
        </p:blipFill>
        <p:spPr>
          <a:xfrm>
            <a:off x="4229615" y="4282516"/>
            <a:ext cx="4820507" cy="452577"/>
          </a:xfrm>
          <a:prstGeom prst="rect">
            <a:avLst/>
          </a:prstGeom>
        </p:spPr>
      </p:pic>
      <p:grpSp>
        <p:nvGrpSpPr>
          <p:cNvPr id="9" name="object 9"/>
          <p:cNvGrpSpPr/>
          <p:nvPr/>
        </p:nvGrpSpPr>
        <p:grpSpPr>
          <a:xfrm>
            <a:off x="426719" y="295638"/>
            <a:ext cx="8211820" cy="520065"/>
            <a:chOff x="426719" y="295638"/>
            <a:chExt cx="8211820" cy="520065"/>
          </a:xfrm>
        </p:grpSpPr>
        <p:pic>
          <p:nvPicPr>
            <p:cNvPr id="10" name="object 10"/>
            <p:cNvPicPr/>
            <p:nvPr/>
          </p:nvPicPr>
          <p:blipFill>
            <a:blip r:embed="rId5" cstate="print"/>
            <a:stretch>
              <a:fillRect/>
            </a:stretch>
          </p:blipFill>
          <p:spPr>
            <a:xfrm>
              <a:off x="426719" y="722502"/>
              <a:ext cx="8211311" cy="92709"/>
            </a:xfrm>
            <a:prstGeom prst="rect">
              <a:avLst/>
            </a:prstGeom>
          </p:spPr>
        </p:pic>
        <p:sp>
          <p:nvSpPr>
            <p:cNvPr id="11" name="object 11"/>
            <p:cNvSpPr/>
            <p:nvPr/>
          </p:nvSpPr>
          <p:spPr>
            <a:xfrm>
              <a:off x="460374" y="748538"/>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2859019" y="295638"/>
              <a:ext cx="3224788" cy="391685"/>
            </a:xfrm>
            <a:prstGeom prst="rect">
              <a:avLst/>
            </a:prstGeom>
          </p:spPr>
        </p:pic>
      </p:grpSp>
      <p:pic>
        <p:nvPicPr>
          <p:cNvPr id="13" name="Picture 12">
            <a:extLst>
              <a:ext uri="{FF2B5EF4-FFF2-40B4-BE49-F238E27FC236}">
                <a16:creationId xmlns:a16="http://schemas.microsoft.com/office/drawing/2014/main" id="{CEEFDF7C-B96E-4732-B858-9E8970C9D242}"/>
              </a:ext>
            </a:extLst>
          </p:cNvPr>
          <p:cNvPicPr>
            <a:picLocks noChangeAspect="1"/>
          </p:cNvPicPr>
          <p:nvPr/>
        </p:nvPicPr>
        <p:blipFill>
          <a:blip r:embed="rId7"/>
          <a:stretch>
            <a:fillRect/>
          </a:stretch>
        </p:blipFill>
        <p:spPr>
          <a:xfrm>
            <a:off x="1144339" y="1586832"/>
            <a:ext cx="2360861" cy="5969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B18B22-CDAD-450C-B11C-10A1381B3204}"/>
              </a:ext>
            </a:extLst>
          </p:cNvPr>
          <p:cNvPicPr>
            <a:picLocks noChangeAspect="1"/>
          </p:cNvPicPr>
          <p:nvPr/>
        </p:nvPicPr>
        <p:blipFill>
          <a:blip r:embed="rId2"/>
          <a:stretch>
            <a:fillRect/>
          </a:stretch>
        </p:blipFill>
        <p:spPr>
          <a:xfrm>
            <a:off x="533400" y="1447800"/>
            <a:ext cx="7696200" cy="3251242"/>
          </a:xfrm>
          <a:prstGeom prst="rect">
            <a:avLst/>
          </a:prstGeom>
        </p:spPr>
      </p:pic>
    </p:spTree>
    <p:extLst>
      <p:ext uri="{BB962C8B-B14F-4D97-AF65-F5344CB8AC3E}">
        <p14:creationId xmlns:p14="http://schemas.microsoft.com/office/powerpoint/2010/main" val="3351900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BD118F-765A-433D-A4F7-1D37DC94081B}"/>
              </a:ext>
            </a:extLst>
          </p:cNvPr>
          <p:cNvPicPr>
            <a:picLocks noChangeAspect="1"/>
          </p:cNvPicPr>
          <p:nvPr/>
        </p:nvPicPr>
        <p:blipFill>
          <a:blip r:embed="rId2"/>
          <a:stretch>
            <a:fillRect/>
          </a:stretch>
        </p:blipFill>
        <p:spPr>
          <a:xfrm>
            <a:off x="1524000" y="1524000"/>
            <a:ext cx="6251685" cy="3657600"/>
          </a:xfrm>
          <a:prstGeom prst="rect">
            <a:avLst/>
          </a:prstGeom>
        </p:spPr>
      </p:pic>
    </p:spTree>
    <p:extLst>
      <p:ext uri="{BB962C8B-B14F-4D97-AF65-F5344CB8AC3E}">
        <p14:creationId xmlns:p14="http://schemas.microsoft.com/office/powerpoint/2010/main" val="2444734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0336" y="1076959"/>
            <a:ext cx="8020050" cy="4599305"/>
          </a:xfrm>
          <a:prstGeom prst="rect">
            <a:avLst/>
          </a:prstGeom>
        </p:spPr>
        <p:txBody>
          <a:bodyPr vert="horz" wrap="square" lIns="0" tIns="13335" rIns="0" bIns="0" rtlCol="0">
            <a:spAutoFit/>
          </a:bodyPr>
          <a:lstStyle/>
          <a:p>
            <a:pPr marL="12700" marR="5715">
              <a:lnSpc>
                <a:spcPct val="100000"/>
              </a:lnSpc>
              <a:spcBef>
                <a:spcPts val="105"/>
              </a:spcBef>
              <a:tabLst>
                <a:tab pos="597535" algn="l"/>
                <a:tab pos="2466340" algn="l"/>
                <a:tab pos="3260725" algn="l"/>
                <a:tab pos="3769995" algn="l"/>
                <a:tab pos="4705985" algn="l"/>
                <a:tab pos="5989320" algn="l"/>
                <a:tab pos="6847205" algn="l"/>
                <a:tab pos="7656830" algn="l"/>
              </a:tabLst>
            </a:pPr>
            <a:r>
              <a:rPr sz="2000" b="1" spc="-25" dirty="0">
                <a:latin typeface="Times New Roman"/>
                <a:cs typeface="Times New Roman"/>
              </a:rPr>
              <a:t>The</a:t>
            </a:r>
            <a:r>
              <a:rPr sz="2000" b="1" dirty="0">
                <a:latin typeface="Times New Roman"/>
                <a:cs typeface="Times New Roman"/>
              </a:rPr>
              <a:t>	</a:t>
            </a:r>
            <a:r>
              <a:rPr sz="2000" b="1" spc="-25" dirty="0">
                <a:latin typeface="Times New Roman"/>
                <a:cs typeface="Times New Roman"/>
              </a:rPr>
              <a:t>order-</a:t>
            </a:r>
            <a:r>
              <a:rPr sz="2000" b="1" spc="-10" dirty="0">
                <a:latin typeface="Times New Roman"/>
                <a:cs typeface="Times New Roman"/>
              </a:rPr>
              <a:t>statistical</a:t>
            </a:r>
            <a:r>
              <a:rPr sz="2000" b="1" dirty="0">
                <a:latin typeface="Times New Roman"/>
                <a:cs typeface="Times New Roman"/>
              </a:rPr>
              <a:t>	</a:t>
            </a:r>
            <a:r>
              <a:rPr sz="2000" b="1" spc="-10" dirty="0">
                <a:latin typeface="Times New Roman"/>
                <a:cs typeface="Times New Roman"/>
              </a:rPr>
              <a:t>filters</a:t>
            </a:r>
            <a:r>
              <a:rPr sz="2000" b="1" dirty="0">
                <a:latin typeface="Times New Roman"/>
                <a:cs typeface="Times New Roman"/>
              </a:rPr>
              <a:t>	</a:t>
            </a:r>
            <a:r>
              <a:rPr sz="2000" b="1" spc="-25" dirty="0">
                <a:latin typeface="Times New Roman"/>
                <a:cs typeface="Times New Roman"/>
              </a:rPr>
              <a:t>are</a:t>
            </a:r>
            <a:r>
              <a:rPr sz="2000" b="1" dirty="0">
                <a:latin typeface="Times New Roman"/>
                <a:cs typeface="Times New Roman"/>
              </a:rPr>
              <a:t>	</a:t>
            </a:r>
            <a:r>
              <a:rPr sz="2000" b="1" spc="-10" dirty="0">
                <a:latin typeface="Times New Roman"/>
                <a:cs typeface="Times New Roman"/>
              </a:rPr>
              <a:t>usually</a:t>
            </a:r>
            <a:r>
              <a:rPr sz="2000" b="1" dirty="0">
                <a:latin typeface="Times New Roman"/>
                <a:cs typeface="Times New Roman"/>
              </a:rPr>
              <a:t>	</a:t>
            </a:r>
            <a:r>
              <a:rPr sz="2000" b="1" dirty="0">
                <a:solidFill>
                  <a:srgbClr val="FF0000"/>
                </a:solidFill>
                <a:latin typeface="Times New Roman"/>
                <a:cs typeface="Times New Roman"/>
              </a:rPr>
              <a:t>non-</a:t>
            </a:r>
            <a:r>
              <a:rPr sz="2000" b="1" spc="-10" dirty="0">
                <a:solidFill>
                  <a:srgbClr val="FF0000"/>
                </a:solidFill>
                <a:latin typeface="Times New Roman"/>
                <a:cs typeface="Times New Roman"/>
              </a:rPr>
              <a:t>linear</a:t>
            </a:r>
            <a:r>
              <a:rPr sz="2000" b="1" dirty="0">
                <a:solidFill>
                  <a:srgbClr val="FF0000"/>
                </a:solidFill>
                <a:latin typeface="Times New Roman"/>
                <a:cs typeface="Times New Roman"/>
              </a:rPr>
              <a:t>	</a:t>
            </a:r>
            <a:r>
              <a:rPr sz="2000" b="1" spc="-10" dirty="0">
                <a:solidFill>
                  <a:srgbClr val="FF0000"/>
                </a:solidFill>
                <a:latin typeface="Times New Roman"/>
                <a:cs typeface="Times New Roman"/>
              </a:rPr>
              <a:t>filters</a:t>
            </a:r>
            <a:r>
              <a:rPr sz="2000" b="1" spc="-10" dirty="0">
                <a:latin typeface="Times New Roman"/>
                <a:cs typeface="Times New Roman"/>
              </a:rPr>
              <a:t>,</a:t>
            </a:r>
            <a:r>
              <a:rPr sz="2000" b="1" dirty="0">
                <a:latin typeface="Times New Roman"/>
                <a:cs typeface="Times New Roman"/>
              </a:rPr>
              <a:t>	</a:t>
            </a:r>
            <a:r>
              <a:rPr sz="2000" b="1" spc="-10" dirty="0">
                <a:latin typeface="Times New Roman"/>
                <a:cs typeface="Times New Roman"/>
              </a:rPr>
              <a:t>which</a:t>
            </a:r>
            <a:r>
              <a:rPr sz="2000" b="1" dirty="0">
                <a:latin typeface="Times New Roman"/>
                <a:cs typeface="Times New Roman"/>
              </a:rPr>
              <a:t>	</a:t>
            </a:r>
            <a:r>
              <a:rPr sz="2000" b="1" spc="-20" dirty="0">
                <a:latin typeface="Times New Roman"/>
                <a:cs typeface="Times New Roman"/>
              </a:rPr>
              <a:t>are </a:t>
            </a:r>
            <a:r>
              <a:rPr sz="2000" b="1" dirty="0">
                <a:latin typeface="Times New Roman"/>
                <a:cs typeface="Times New Roman"/>
              </a:rPr>
              <a:t>hardly</a:t>
            </a:r>
            <a:r>
              <a:rPr sz="2000" b="1" spc="-55" dirty="0">
                <a:latin typeface="Times New Roman"/>
                <a:cs typeface="Times New Roman"/>
              </a:rPr>
              <a:t> </a:t>
            </a:r>
            <a:r>
              <a:rPr sz="2000" b="1" dirty="0">
                <a:latin typeface="Times New Roman"/>
                <a:cs typeface="Times New Roman"/>
              </a:rPr>
              <a:t>represented</a:t>
            </a:r>
            <a:r>
              <a:rPr sz="2000" b="1" spc="-50" dirty="0">
                <a:latin typeface="Times New Roman"/>
                <a:cs typeface="Times New Roman"/>
              </a:rPr>
              <a:t> </a:t>
            </a:r>
            <a:r>
              <a:rPr sz="2000" b="1" dirty="0">
                <a:latin typeface="Times New Roman"/>
                <a:cs typeface="Times New Roman"/>
              </a:rPr>
              <a:t>by</a:t>
            </a:r>
            <a:r>
              <a:rPr sz="2000" b="1" spc="-30" dirty="0">
                <a:latin typeface="Times New Roman"/>
                <a:cs typeface="Times New Roman"/>
              </a:rPr>
              <a:t> </a:t>
            </a:r>
            <a:r>
              <a:rPr sz="2000" b="1" spc="-10" dirty="0">
                <a:latin typeface="Times New Roman"/>
                <a:cs typeface="Times New Roman"/>
              </a:rPr>
              <a:t>convolution.</a:t>
            </a:r>
            <a:endParaRPr sz="2000" dirty="0">
              <a:latin typeface="Times New Roman"/>
              <a:cs typeface="Times New Roman"/>
            </a:endParaRPr>
          </a:p>
          <a:p>
            <a:pPr>
              <a:lnSpc>
                <a:spcPct val="100000"/>
              </a:lnSpc>
              <a:spcBef>
                <a:spcPts val="95"/>
              </a:spcBef>
            </a:pPr>
            <a:endParaRPr sz="2000" dirty="0">
              <a:latin typeface="Times New Roman"/>
              <a:cs typeface="Times New Roman"/>
            </a:endParaRPr>
          </a:p>
          <a:p>
            <a:pPr marL="355600" marR="5080" indent="-343535" algn="just">
              <a:lnSpc>
                <a:spcPct val="100000"/>
              </a:lnSpc>
              <a:spcBef>
                <a:spcPts val="5"/>
              </a:spcBef>
              <a:buClr>
                <a:srgbClr val="C00000"/>
              </a:buClr>
              <a:buFont typeface="Wingdings"/>
              <a:buChar char=""/>
              <a:tabLst>
                <a:tab pos="355600" algn="l"/>
              </a:tabLst>
            </a:pPr>
            <a:r>
              <a:rPr sz="2000" b="1" dirty="0">
                <a:latin typeface="Times New Roman"/>
                <a:cs typeface="Times New Roman"/>
              </a:rPr>
              <a:t>The</a:t>
            </a:r>
            <a:r>
              <a:rPr sz="2000" b="1" spc="95" dirty="0">
                <a:latin typeface="Times New Roman"/>
                <a:cs typeface="Times New Roman"/>
              </a:rPr>
              <a:t> </a:t>
            </a:r>
            <a:r>
              <a:rPr sz="2000" b="1" dirty="0">
                <a:latin typeface="Times New Roman"/>
                <a:cs typeface="Times New Roman"/>
              </a:rPr>
              <a:t>value</a:t>
            </a:r>
            <a:r>
              <a:rPr sz="2000" b="1" spc="105" dirty="0">
                <a:latin typeface="Times New Roman"/>
                <a:cs typeface="Times New Roman"/>
              </a:rPr>
              <a:t> </a:t>
            </a:r>
            <a:r>
              <a:rPr sz="2000" b="1" dirty="0">
                <a:latin typeface="Times New Roman"/>
                <a:cs typeface="Times New Roman"/>
              </a:rPr>
              <a:t>of</a:t>
            </a:r>
            <a:r>
              <a:rPr sz="2000" b="1" spc="95" dirty="0">
                <a:latin typeface="Times New Roman"/>
                <a:cs typeface="Times New Roman"/>
              </a:rPr>
              <a:t> </a:t>
            </a:r>
            <a:r>
              <a:rPr sz="2000" b="1" dirty="0">
                <a:latin typeface="Times New Roman"/>
                <a:cs typeface="Times New Roman"/>
              </a:rPr>
              <a:t>a</a:t>
            </a:r>
            <a:r>
              <a:rPr sz="2000" b="1" spc="114" dirty="0">
                <a:latin typeface="Times New Roman"/>
                <a:cs typeface="Times New Roman"/>
              </a:rPr>
              <a:t> </a:t>
            </a:r>
            <a:r>
              <a:rPr sz="2000" b="1" dirty="0">
                <a:latin typeface="Times New Roman"/>
                <a:cs typeface="Times New Roman"/>
              </a:rPr>
              <a:t>given</a:t>
            </a:r>
            <a:r>
              <a:rPr sz="2000" b="1" spc="110" dirty="0">
                <a:latin typeface="Times New Roman"/>
                <a:cs typeface="Times New Roman"/>
              </a:rPr>
              <a:t> </a:t>
            </a:r>
            <a:r>
              <a:rPr sz="2000" b="1" dirty="0">
                <a:latin typeface="Times New Roman"/>
                <a:cs typeface="Times New Roman"/>
              </a:rPr>
              <a:t>pixel</a:t>
            </a:r>
            <a:r>
              <a:rPr sz="2000" b="1" spc="95" dirty="0">
                <a:latin typeface="Times New Roman"/>
                <a:cs typeface="Times New Roman"/>
              </a:rPr>
              <a:t> </a:t>
            </a:r>
            <a:r>
              <a:rPr sz="2000" b="1" dirty="0">
                <a:latin typeface="Times New Roman"/>
                <a:cs typeface="Times New Roman"/>
              </a:rPr>
              <a:t>in</a:t>
            </a:r>
            <a:r>
              <a:rPr sz="2000" b="1" spc="105" dirty="0">
                <a:latin typeface="Times New Roman"/>
                <a:cs typeface="Times New Roman"/>
              </a:rPr>
              <a:t> </a:t>
            </a:r>
            <a:r>
              <a:rPr sz="2000" b="1" dirty="0">
                <a:latin typeface="Times New Roman"/>
                <a:cs typeface="Times New Roman"/>
              </a:rPr>
              <a:t>the</a:t>
            </a:r>
            <a:r>
              <a:rPr sz="2000" b="1" spc="95" dirty="0">
                <a:latin typeface="Times New Roman"/>
                <a:cs typeface="Times New Roman"/>
              </a:rPr>
              <a:t> </a:t>
            </a:r>
            <a:r>
              <a:rPr sz="2000" b="1" dirty="0">
                <a:latin typeface="Times New Roman"/>
                <a:cs typeface="Times New Roman"/>
              </a:rPr>
              <a:t>output</a:t>
            </a:r>
            <a:r>
              <a:rPr sz="2000" b="1" spc="105" dirty="0">
                <a:latin typeface="Times New Roman"/>
                <a:cs typeface="Times New Roman"/>
              </a:rPr>
              <a:t> </a:t>
            </a:r>
            <a:r>
              <a:rPr sz="2000" b="1" dirty="0">
                <a:latin typeface="Times New Roman"/>
                <a:cs typeface="Times New Roman"/>
              </a:rPr>
              <a:t>image</a:t>
            </a:r>
            <a:r>
              <a:rPr sz="2000" b="1" spc="100" dirty="0">
                <a:latin typeface="Times New Roman"/>
                <a:cs typeface="Times New Roman"/>
              </a:rPr>
              <a:t> </a:t>
            </a:r>
            <a:r>
              <a:rPr sz="2000" b="1" dirty="0">
                <a:latin typeface="Times New Roman"/>
                <a:cs typeface="Times New Roman"/>
              </a:rPr>
              <a:t>is</a:t>
            </a:r>
            <a:r>
              <a:rPr sz="2000" b="1" spc="100" dirty="0">
                <a:latin typeface="Times New Roman"/>
                <a:cs typeface="Times New Roman"/>
              </a:rPr>
              <a:t> </a:t>
            </a:r>
            <a:r>
              <a:rPr sz="2000" b="1" dirty="0">
                <a:latin typeface="Times New Roman"/>
                <a:cs typeface="Times New Roman"/>
              </a:rPr>
              <a:t>represented</a:t>
            </a:r>
            <a:r>
              <a:rPr sz="2000" b="1" spc="114" dirty="0">
                <a:latin typeface="Times New Roman"/>
                <a:cs typeface="Times New Roman"/>
              </a:rPr>
              <a:t> </a:t>
            </a:r>
            <a:r>
              <a:rPr sz="2000" b="1" dirty="0">
                <a:latin typeface="Times New Roman"/>
                <a:cs typeface="Times New Roman"/>
              </a:rPr>
              <a:t>by</a:t>
            </a:r>
            <a:r>
              <a:rPr sz="2000" b="1" spc="105" dirty="0">
                <a:latin typeface="Times New Roman"/>
                <a:cs typeface="Times New Roman"/>
              </a:rPr>
              <a:t> </a:t>
            </a:r>
            <a:r>
              <a:rPr sz="2000" b="1" spc="-20" dirty="0">
                <a:latin typeface="Times New Roman"/>
                <a:cs typeface="Times New Roman"/>
              </a:rPr>
              <a:t>some </a:t>
            </a:r>
            <a:r>
              <a:rPr sz="2000" b="1" dirty="0">
                <a:latin typeface="Times New Roman"/>
                <a:cs typeface="Times New Roman"/>
              </a:rPr>
              <a:t>statistic</a:t>
            </a:r>
            <a:r>
              <a:rPr sz="2000" b="1" spc="10" dirty="0">
                <a:latin typeface="Times New Roman"/>
                <a:cs typeface="Times New Roman"/>
              </a:rPr>
              <a:t> </a:t>
            </a:r>
            <a:r>
              <a:rPr sz="2000" b="1" dirty="0">
                <a:latin typeface="Times New Roman"/>
                <a:cs typeface="Times New Roman"/>
              </a:rPr>
              <a:t>within</a:t>
            </a:r>
            <a:r>
              <a:rPr sz="2000" b="1" spc="25" dirty="0">
                <a:latin typeface="Times New Roman"/>
                <a:cs typeface="Times New Roman"/>
              </a:rPr>
              <a:t> </a:t>
            </a:r>
            <a:r>
              <a:rPr sz="2000" b="1" dirty="0">
                <a:latin typeface="Times New Roman"/>
                <a:cs typeface="Times New Roman"/>
              </a:rPr>
              <a:t>its</a:t>
            </a:r>
            <a:r>
              <a:rPr sz="2000" b="1" spc="20" dirty="0">
                <a:latin typeface="Times New Roman"/>
                <a:cs typeface="Times New Roman"/>
              </a:rPr>
              <a:t> </a:t>
            </a:r>
            <a:r>
              <a:rPr sz="2000" b="1" dirty="0">
                <a:latin typeface="Times New Roman"/>
                <a:cs typeface="Times New Roman"/>
              </a:rPr>
              <a:t>support</a:t>
            </a:r>
            <a:r>
              <a:rPr sz="2000" b="1" spc="5" dirty="0">
                <a:latin typeface="Times New Roman"/>
                <a:cs typeface="Times New Roman"/>
              </a:rPr>
              <a:t> </a:t>
            </a:r>
            <a:r>
              <a:rPr sz="2000" b="1" dirty="0">
                <a:latin typeface="Times New Roman"/>
                <a:cs typeface="Times New Roman"/>
              </a:rPr>
              <a:t>neighborhood</a:t>
            </a:r>
            <a:r>
              <a:rPr sz="2000" b="1" spc="25" dirty="0">
                <a:latin typeface="Times New Roman"/>
                <a:cs typeface="Times New Roman"/>
              </a:rPr>
              <a:t> </a:t>
            </a:r>
            <a:r>
              <a:rPr sz="2000" b="1" dirty="0">
                <a:latin typeface="Times New Roman"/>
                <a:cs typeface="Times New Roman"/>
              </a:rPr>
              <a:t>in</a:t>
            </a:r>
            <a:r>
              <a:rPr sz="2000" b="1" spc="1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original</a:t>
            </a:r>
            <a:r>
              <a:rPr sz="2000" b="1" spc="25" dirty="0">
                <a:latin typeface="Times New Roman"/>
                <a:cs typeface="Times New Roman"/>
              </a:rPr>
              <a:t> </a:t>
            </a:r>
            <a:r>
              <a:rPr sz="2000" b="1" dirty="0">
                <a:latin typeface="Times New Roman"/>
                <a:cs typeface="Times New Roman"/>
              </a:rPr>
              <a:t>image,</a:t>
            </a:r>
            <a:r>
              <a:rPr sz="2000" b="1" spc="10" dirty="0">
                <a:latin typeface="Times New Roman"/>
                <a:cs typeface="Times New Roman"/>
              </a:rPr>
              <a:t> </a:t>
            </a:r>
            <a:r>
              <a:rPr sz="2000" b="1" dirty="0">
                <a:latin typeface="Times New Roman"/>
                <a:cs typeface="Times New Roman"/>
              </a:rPr>
              <a:t>such </a:t>
            </a:r>
            <a:r>
              <a:rPr sz="2000" b="1" spc="-25" dirty="0">
                <a:latin typeface="Times New Roman"/>
                <a:cs typeface="Times New Roman"/>
              </a:rPr>
              <a:t>as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median</a:t>
            </a:r>
            <a:r>
              <a:rPr sz="2000" b="1" spc="-35" dirty="0">
                <a:latin typeface="Times New Roman"/>
                <a:cs typeface="Times New Roman"/>
              </a:rPr>
              <a:t> </a:t>
            </a:r>
            <a:r>
              <a:rPr sz="2000" b="1" spc="-10" dirty="0">
                <a:latin typeface="Times New Roman"/>
                <a:cs typeface="Times New Roman"/>
              </a:rPr>
              <a:t>filter.</a:t>
            </a:r>
            <a:endParaRPr sz="2000" dirty="0">
              <a:latin typeface="Times New Roman"/>
              <a:cs typeface="Times New Roman"/>
            </a:endParaRPr>
          </a:p>
          <a:p>
            <a:pPr>
              <a:lnSpc>
                <a:spcPct val="100000"/>
              </a:lnSpc>
              <a:spcBef>
                <a:spcPts val="100"/>
              </a:spcBef>
              <a:buClr>
                <a:srgbClr val="C00000"/>
              </a:buClr>
              <a:buFont typeface="Wingdings"/>
              <a:buChar char=""/>
            </a:pPr>
            <a:endParaRPr sz="2000" dirty="0">
              <a:latin typeface="Times New Roman"/>
              <a:cs typeface="Times New Roman"/>
            </a:endParaRPr>
          </a:p>
          <a:p>
            <a:pPr marL="12700">
              <a:lnSpc>
                <a:spcPct val="100000"/>
              </a:lnSpc>
            </a:pPr>
            <a:r>
              <a:rPr sz="2000" b="1" dirty="0">
                <a:solidFill>
                  <a:srgbClr val="006FC0"/>
                </a:solidFill>
                <a:latin typeface="Times New Roman"/>
                <a:cs typeface="Times New Roman"/>
              </a:rPr>
              <a:t>There</a:t>
            </a:r>
            <a:r>
              <a:rPr sz="2000" b="1" spc="-10" dirty="0">
                <a:solidFill>
                  <a:srgbClr val="006FC0"/>
                </a:solidFill>
                <a:latin typeface="Times New Roman"/>
                <a:cs typeface="Times New Roman"/>
              </a:rPr>
              <a:t> </a:t>
            </a:r>
            <a:r>
              <a:rPr sz="2000" b="1" dirty="0">
                <a:solidFill>
                  <a:srgbClr val="006FC0"/>
                </a:solidFill>
                <a:latin typeface="Times New Roman"/>
                <a:cs typeface="Times New Roman"/>
              </a:rPr>
              <a:t>are</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some</a:t>
            </a:r>
            <a:r>
              <a:rPr sz="2000" b="1" spc="-30" dirty="0">
                <a:solidFill>
                  <a:srgbClr val="006FC0"/>
                </a:solidFill>
                <a:latin typeface="Times New Roman"/>
                <a:cs typeface="Times New Roman"/>
              </a:rPr>
              <a:t> </a:t>
            </a:r>
            <a:r>
              <a:rPr sz="2000" b="1" dirty="0">
                <a:solidFill>
                  <a:srgbClr val="006FC0"/>
                </a:solidFill>
                <a:latin typeface="Times New Roman"/>
                <a:cs typeface="Times New Roman"/>
              </a:rPr>
              <a:t>other</a:t>
            </a:r>
            <a:r>
              <a:rPr sz="2000" b="1" spc="-65" dirty="0">
                <a:solidFill>
                  <a:srgbClr val="006FC0"/>
                </a:solidFill>
                <a:latin typeface="Times New Roman"/>
                <a:cs typeface="Times New Roman"/>
              </a:rPr>
              <a:t> </a:t>
            </a:r>
            <a:r>
              <a:rPr sz="2000" b="1" dirty="0">
                <a:solidFill>
                  <a:srgbClr val="006FC0"/>
                </a:solidFill>
                <a:latin typeface="Times New Roman"/>
                <a:cs typeface="Times New Roman"/>
              </a:rPr>
              <a:t>filters</a:t>
            </a:r>
            <a:r>
              <a:rPr sz="2000" b="1" spc="-45" dirty="0">
                <a:solidFill>
                  <a:srgbClr val="006FC0"/>
                </a:solidFill>
                <a:latin typeface="Times New Roman"/>
                <a:cs typeface="Times New Roman"/>
              </a:rPr>
              <a:t> </a:t>
            </a:r>
            <a:r>
              <a:rPr sz="2000" b="1" dirty="0">
                <a:solidFill>
                  <a:srgbClr val="006FC0"/>
                </a:solidFill>
                <a:latin typeface="Times New Roman"/>
                <a:cs typeface="Times New Roman"/>
              </a:rPr>
              <a:t>as</a:t>
            </a:r>
            <a:r>
              <a:rPr sz="2000" b="1" spc="-30" dirty="0">
                <a:solidFill>
                  <a:srgbClr val="006FC0"/>
                </a:solidFill>
                <a:latin typeface="Times New Roman"/>
                <a:cs typeface="Times New Roman"/>
              </a:rPr>
              <a:t> </a:t>
            </a:r>
            <a:r>
              <a:rPr sz="2000" b="1" dirty="0">
                <a:solidFill>
                  <a:srgbClr val="006FC0"/>
                </a:solidFill>
                <a:latin typeface="Times New Roman"/>
                <a:cs typeface="Times New Roman"/>
              </a:rPr>
              <a:t>well such</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as</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30" dirty="0">
                <a:solidFill>
                  <a:srgbClr val="006FC0"/>
                </a:solidFill>
                <a:latin typeface="Times New Roman"/>
                <a:cs typeface="Times New Roman"/>
              </a:rPr>
              <a:t> </a:t>
            </a:r>
            <a:r>
              <a:rPr sz="2000" b="1" dirty="0">
                <a:solidFill>
                  <a:srgbClr val="FF0000"/>
                </a:solidFill>
                <a:latin typeface="Times New Roman"/>
                <a:cs typeface="Times New Roman"/>
              </a:rPr>
              <a:t>max/min</a:t>
            </a:r>
            <a:r>
              <a:rPr sz="2000" b="1" spc="-40" dirty="0">
                <a:solidFill>
                  <a:srgbClr val="FF0000"/>
                </a:solidFill>
                <a:latin typeface="Times New Roman"/>
                <a:cs typeface="Times New Roman"/>
              </a:rPr>
              <a:t> </a:t>
            </a:r>
            <a:r>
              <a:rPr sz="2000" b="1" spc="-10" dirty="0">
                <a:solidFill>
                  <a:srgbClr val="FF0000"/>
                </a:solidFill>
                <a:latin typeface="Times New Roman"/>
                <a:cs typeface="Times New Roman"/>
              </a:rPr>
              <a:t>filter</a:t>
            </a:r>
            <a:r>
              <a:rPr sz="2000" b="1" spc="-10" dirty="0">
                <a:latin typeface="Times New Roman"/>
                <a:cs typeface="Times New Roman"/>
              </a:rPr>
              <a:t>.</a:t>
            </a:r>
            <a:endParaRPr sz="2000" dirty="0">
              <a:latin typeface="Times New Roman"/>
              <a:cs typeface="Times New Roman"/>
            </a:endParaRPr>
          </a:p>
          <a:p>
            <a:pPr marL="355600" indent="-342900">
              <a:lnSpc>
                <a:spcPct val="100000"/>
              </a:lnSpc>
              <a:buClr>
                <a:srgbClr val="C00000"/>
              </a:buClr>
              <a:buFont typeface="Wingdings"/>
              <a:buChar char=""/>
              <a:tabLst>
                <a:tab pos="355600" algn="l"/>
                <a:tab pos="915035" algn="l"/>
                <a:tab pos="1853564" algn="l"/>
                <a:tab pos="2518410" algn="l"/>
                <a:tab pos="3370579" algn="l"/>
                <a:tab pos="4388485" algn="l"/>
                <a:tab pos="4862830" algn="l"/>
                <a:tab pos="5575935" algn="l"/>
                <a:tab pos="5922010" algn="l"/>
                <a:tab pos="6396355" algn="l"/>
                <a:tab pos="7052945" algn="l"/>
                <a:tab pos="7667625" algn="l"/>
              </a:tabLst>
            </a:pPr>
            <a:r>
              <a:rPr sz="2000" b="1" spc="-25" dirty="0">
                <a:latin typeface="Times New Roman"/>
                <a:cs typeface="Times New Roman"/>
              </a:rPr>
              <a:t>The</a:t>
            </a:r>
            <a:r>
              <a:rPr sz="2000" b="1" dirty="0">
                <a:latin typeface="Times New Roman"/>
                <a:cs typeface="Times New Roman"/>
              </a:rPr>
              <a:t>	</a:t>
            </a:r>
            <a:r>
              <a:rPr sz="2000" b="1" spc="-10" dirty="0">
                <a:solidFill>
                  <a:srgbClr val="FF0000"/>
                </a:solidFill>
                <a:latin typeface="Times New Roman"/>
                <a:cs typeface="Times New Roman"/>
              </a:rPr>
              <a:t>median</a:t>
            </a:r>
            <a:r>
              <a:rPr sz="2000" b="1" dirty="0">
                <a:solidFill>
                  <a:srgbClr val="FF0000"/>
                </a:solidFill>
                <a:latin typeface="Times New Roman"/>
                <a:cs typeface="Times New Roman"/>
              </a:rPr>
              <a:t>	</a:t>
            </a:r>
            <a:r>
              <a:rPr sz="2000" b="1" spc="-10" dirty="0">
                <a:solidFill>
                  <a:srgbClr val="FF0000"/>
                </a:solidFill>
                <a:latin typeface="Times New Roman"/>
                <a:cs typeface="Times New Roman"/>
              </a:rPr>
              <a:t>filter</a:t>
            </a:r>
            <a:r>
              <a:rPr sz="2000" b="1" dirty="0">
                <a:solidFill>
                  <a:srgbClr val="FF0000"/>
                </a:solidFill>
                <a:latin typeface="Times New Roman"/>
                <a:cs typeface="Times New Roman"/>
              </a:rPr>
              <a:t>	</a:t>
            </a:r>
            <a:r>
              <a:rPr sz="2000" b="1" spc="-10" dirty="0">
                <a:latin typeface="Times New Roman"/>
                <a:cs typeface="Times New Roman"/>
              </a:rPr>
              <a:t>simply</a:t>
            </a:r>
            <a:r>
              <a:rPr sz="2000" b="1" dirty="0">
                <a:latin typeface="Times New Roman"/>
                <a:cs typeface="Times New Roman"/>
              </a:rPr>
              <a:t>	</a:t>
            </a:r>
            <a:r>
              <a:rPr sz="2000" b="1" spc="-10" dirty="0">
                <a:latin typeface="Times New Roman"/>
                <a:cs typeface="Times New Roman"/>
              </a:rPr>
              <a:t>replaces</a:t>
            </a:r>
            <a:r>
              <a:rPr sz="2000" b="1" dirty="0">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10" dirty="0">
                <a:latin typeface="Times New Roman"/>
                <a:cs typeface="Times New Roman"/>
              </a:rPr>
              <a:t>value</a:t>
            </a:r>
            <a:r>
              <a:rPr sz="2000" b="1" dirty="0">
                <a:latin typeface="Times New Roman"/>
                <a:cs typeface="Times New Roman"/>
              </a:rPr>
              <a:t>	</a:t>
            </a:r>
            <a:r>
              <a:rPr sz="2000" b="1" spc="-25" dirty="0">
                <a:latin typeface="Times New Roman"/>
                <a:cs typeface="Times New Roman"/>
              </a:rPr>
              <a:t>of</a:t>
            </a:r>
            <a:r>
              <a:rPr sz="2000" b="1" dirty="0">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10" dirty="0">
                <a:latin typeface="Times New Roman"/>
                <a:cs typeface="Times New Roman"/>
              </a:rPr>
              <a:t>pixel</a:t>
            </a:r>
            <a:r>
              <a:rPr sz="2000" b="1" dirty="0">
                <a:latin typeface="Times New Roman"/>
                <a:cs typeface="Times New Roman"/>
              </a:rPr>
              <a:t>	</a:t>
            </a:r>
            <a:r>
              <a:rPr sz="2000" b="1" spc="-20" dirty="0">
                <a:latin typeface="Times New Roman"/>
                <a:cs typeface="Times New Roman"/>
              </a:rPr>
              <a:t>with</a:t>
            </a:r>
            <a:r>
              <a:rPr sz="2000" b="1" dirty="0">
                <a:latin typeface="Times New Roman"/>
                <a:cs typeface="Times New Roman"/>
              </a:rPr>
              <a:t>	</a:t>
            </a:r>
            <a:r>
              <a:rPr sz="2000" b="1" spc="-25" dirty="0">
                <a:latin typeface="Times New Roman"/>
                <a:cs typeface="Times New Roman"/>
              </a:rPr>
              <a:t>the</a:t>
            </a:r>
            <a:endParaRPr sz="2000" dirty="0">
              <a:latin typeface="Times New Roman"/>
              <a:cs typeface="Times New Roman"/>
            </a:endParaRPr>
          </a:p>
          <a:p>
            <a:pPr marL="355600">
              <a:lnSpc>
                <a:spcPct val="100000"/>
              </a:lnSpc>
              <a:spcBef>
                <a:spcPts val="5"/>
              </a:spcBef>
            </a:pPr>
            <a:r>
              <a:rPr sz="2000" b="1" dirty="0">
                <a:latin typeface="Times New Roman"/>
                <a:cs typeface="Times New Roman"/>
              </a:rPr>
              <a:t>median</a:t>
            </a:r>
            <a:r>
              <a:rPr sz="2000" b="1" spc="-30" dirty="0">
                <a:latin typeface="Times New Roman"/>
                <a:cs typeface="Times New Roman"/>
              </a:rPr>
              <a:t> </a:t>
            </a:r>
            <a:r>
              <a:rPr sz="2000" b="1" dirty="0">
                <a:latin typeface="Times New Roman"/>
                <a:cs typeface="Times New Roman"/>
              </a:rPr>
              <a:t>value</a:t>
            </a:r>
            <a:r>
              <a:rPr sz="2000" b="1" spc="-35" dirty="0">
                <a:latin typeface="Times New Roman"/>
                <a:cs typeface="Times New Roman"/>
              </a:rPr>
              <a:t> </a:t>
            </a:r>
            <a:r>
              <a:rPr sz="2000" b="1" dirty="0">
                <a:latin typeface="Times New Roman"/>
                <a:cs typeface="Times New Roman"/>
              </a:rPr>
              <a:t>within</a:t>
            </a:r>
            <a:r>
              <a:rPr sz="2000" b="1" spc="-30" dirty="0">
                <a:latin typeface="Times New Roman"/>
                <a:cs typeface="Times New Roman"/>
              </a:rPr>
              <a:t> </a:t>
            </a:r>
            <a:r>
              <a:rPr sz="2000" b="1" dirty="0">
                <a:latin typeface="Times New Roman"/>
                <a:cs typeface="Times New Roman"/>
              </a:rPr>
              <a:t>its</a:t>
            </a:r>
            <a:r>
              <a:rPr sz="2000" b="1" spc="-25" dirty="0">
                <a:latin typeface="Times New Roman"/>
                <a:cs typeface="Times New Roman"/>
              </a:rPr>
              <a:t> </a:t>
            </a:r>
            <a:r>
              <a:rPr sz="2000" b="1" spc="-10" dirty="0">
                <a:latin typeface="Times New Roman"/>
                <a:cs typeface="Times New Roman"/>
              </a:rPr>
              <a:t>neighborhood.</a:t>
            </a:r>
            <a:endParaRPr sz="2000" dirty="0">
              <a:latin typeface="Times New Roman"/>
              <a:cs typeface="Times New Roman"/>
            </a:endParaRPr>
          </a:p>
          <a:p>
            <a:pPr marL="355600" marR="7620" indent="-343535">
              <a:lnSpc>
                <a:spcPct val="100000"/>
              </a:lnSpc>
              <a:buClr>
                <a:srgbClr val="C00000"/>
              </a:buClr>
              <a:buFont typeface="Wingdings"/>
              <a:buChar char=""/>
              <a:tabLst>
                <a:tab pos="355600" algn="l"/>
                <a:tab pos="984885" algn="l"/>
                <a:tab pos="2146300" algn="l"/>
                <a:tab pos="2882900" algn="l"/>
                <a:tab pos="3969385" algn="l"/>
                <a:tab pos="4512310" algn="l"/>
                <a:tab pos="5295900" algn="l"/>
                <a:tab pos="5711825" algn="l"/>
                <a:tab pos="6254115" algn="l"/>
                <a:tab pos="6981825" algn="l"/>
                <a:tab pos="7665720" algn="l"/>
              </a:tabLst>
            </a:pPr>
            <a:r>
              <a:rPr sz="2000" b="1" spc="-25" dirty="0">
                <a:latin typeface="Times New Roman"/>
                <a:cs typeface="Times New Roman"/>
              </a:rPr>
              <a:t>The</a:t>
            </a:r>
            <a:r>
              <a:rPr sz="2000" b="1" dirty="0">
                <a:latin typeface="Times New Roman"/>
                <a:cs typeface="Times New Roman"/>
              </a:rPr>
              <a:t>	</a:t>
            </a:r>
            <a:r>
              <a:rPr sz="2000" b="1" spc="-10" dirty="0">
                <a:solidFill>
                  <a:srgbClr val="FF0000"/>
                </a:solidFill>
                <a:latin typeface="Times New Roman"/>
                <a:cs typeface="Times New Roman"/>
              </a:rPr>
              <a:t>max/min</a:t>
            </a:r>
            <a:r>
              <a:rPr sz="2000" b="1" dirty="0">
                <a:solidFill>
                  <a:srgbClr val="FF0000"/>
                </a:solidFill>
                <a:latin typeface="Times New Roman"/>
                <a:cs typeface="Times New Roman"/>
              </a:rPr>
              <a:t>	</a:t>
            </a:r>
            <a:r>
              <a:rPr sz="2000" b="1" spc="-10" dirty="0">
                <a:solidFill>
                  <a:srgbClr val="FF0000"/>
                </a:solidFill>
                <a:latin typeface="Times New Roman"/>
                <a:cs typeface="Times New Roman"/>
              </a:rPr>
              <a:t>filter</a:t>
            </a:r>
            <a:r>
              <a:rPr sz="2000" b="1" dirty="0">
                <a:solidFill>
                  <a:srgbClr val="FF0000"/>
                </a:solidFill>
                <a:latin typeface="Times New Roman"/>
                <a:cs typeface="Times New Roman"/>
              </a:rPr>
              <a:t>	</a:t>
            </a:r>
            <a:r>
              <a:rPr sz="2000" b="1" spc="-10" dirty="0">
                <a:latin typeface="Times New Roman"/>
                <a:cs typeface="Times New Roman"/>
              </a:rPr>
              <a:t>replaces</a:t>
            </a:r>
            <a:r>
              <a:rPr sz="2000" b="1" dirty="0">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10" dirty="0">
                <a:latin typeface="Times New Roman"/>
                <a:cs typeface="Times New Roman"/>
              </a:rPr>
              <a:t>value</a:t>
            </a:r>
            <a:r>
              <a:rPr sz="2000" b="1" dirty="0">
                <a:latin typeface="Times New Roman"/>
                <a:cs typeface="Times New Roman"/>
              </a:rPr>
              <a:t>	</a:t>
            </a:r>
            <a:r>
              <a:rPr sz="2000" b="1" spc="-25" dirty="0">
                <a:latin typeface="Times New Roman"/>
                <a:cs typeface="Times New Roman"/>
              </a:rPr>
              <a:t>of</a:t>
            </a:r>
            <a:r>
              <a:rPr sz="2000" b="1" dirty="0">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10" dirty="0">
                <a:latin typeface="Times New Roman"/>
                <a:cs typeface="Times New Roman"/>
              </a:rPr>
              <a:t>pixel</a:t>
            </a:r>
            <a:r>
              <a:rPr sz="2000" b="1" dirty="0">
                <a:latin typeface="Times New Roman"/>
                <a:cs typeface="Times New Roman"/>
              </a:rPr>
              <a:t>	</a:t>
            </a:r>
            <a:r>
              <a:rPr sz="2000" b="1" spc="-20" dirty="0">
                <a:latin typeface="Times New Roman"/>
                <a:cs typeface="Times New Roman"/>
              </a:rPr>
              <a:t>with</a:t>
            </a:r>
            <a:r>
              <a:rPr sz="2000" b="1" dirty="0">
                <a:latin typeface="Times New Roman"/>
                <a:cs typeface="Times New Roman"/>
              </a:rPr>
              <a:t>	</a:t>
            </a:r>
            <a:r>
              <a:rPr sz="2000" b="1" spc="-25" dirty="0">
                <a:latin typeface="Times New Roman"/>
                <a:cs typeface="Times New Roman"/>
              </a:rPr>
              <a:t>the </a:t>
            </a:r>
            <a:r>
              <a:rPr sz="2000" b="1" dirty="0">
                <a:latin typeface="Times New Roman"/>
                <a:cs typeface="Times New Roman"/>
              </a:rPr>
              <a:t>maximum/minimum</a:t>
            </a:r>
            <a:r>
              <a:rPr sz="2000" b="1" spc="-70" dirty="0">
                <a:latin typeface="Times New Roman"/>
                <a:cs typeface="Times New Roman"/>
              </a:rPr>
              <a:t> </a:t>
            </a:r>
            <a:r>
              <a:rPr sz="2000" b="1" dirty="0">
                <a:latin typeface="Times New Roman"/>
                <a:cs typeface="Times New Roman"/>
              </a:rPr>
              <a:t>value</a:t>
            </a:r>
            <a:r>
              <a:rPr sz="2000" b="1" spc="-35" dirty="0">
                <a:latin typeface="Times New Roman"/>
                <a:cs typeface="Times New Roman"/>
              </a:rPr>
              <a:t> </a:t>
            </a:r>
            <a:r>
              <a:rPr sz="2000" b="1" dirty="0">
                <a:latin typeface="Times New Roman"/>
                <a:cs typeface="Times New Roman"/>
              </a:rPr>
              <a:t>within</a:t>
            </a:r>
            <a:r>
              <a:rPr sz="2000" b="1" spc="-20" dirty="0">
                <a:latin typeface="Times New Roman"/>
                <a:cs typeface="Times New Roman"/>
              </a:rPr>
              <a:t> </a:t>
            </a:r>
            <a:r>
              <a:rPr sz="2000" b="1" dirty="0">
                <a:latin typeface="Times New Roman"/>
                <a:cs typeface="Times New Roman"/>
              </a:rPr>
              <a:t>its</a:t>
            </a:r>
            <a:r>
              <a:rPr sz="2000" b="1" spc="-30" dirty="0">
                <a:latin typeface="Times New Roman"/>
                <a:cs typeface="Times New Roman"/>
              </a:rPr>
              <a:t> </a:t>
            </a:r>
            <a:r>
              <a:rPr sz="2000" b="1" spc="-10" dirty="0">
                <a:latin typeface="Times New Roman"/>
                <a:cs typeface="Times New Roman"/>
              </a:rPr>
              <a:t>neighborhood.</a:t>
            </a:r>
            <a:endParaRPr sz="2000" dirty="0">
              <a:latin typeface="Times New Roman"/>
              <a:cs typeface="Times New Roman"/>
            </a:endParaRPr>
          </a:p>
          <a:p>
            <a:pPr>
              <a:lnSpc>
                <a:spcPct val="100000"/>
              </a:lnSpc>
              <a:spcBef>
                <a:spcPts val="95"/>
              </a:spcBef>
            </a:pPr>
            <a:endParaRPr sz="2000" dirty="0">
              <a:latin typeface="Times New Roman"/>
              <a:cs typeface="Times New Roman"/>
            </a:endParaRPr>
          </a:p>
          <a:p>
            <a:pPr marL="12700" marR="5715">
              <a:lnSpc>
                <a:spcPct val="100000"/>
              </a:lnSpc>
              <a:spcBef>
                <a:spcPts val="5"/>
              </a:spcBef>
            </a:pPr>
            <a:r>
              <a:rPr sz="2000" b="1" dirty="0">
                <a:latin typeface="Times New Roman"/>
                <a:cs typeface="Times New Roman"/>
              </a:rPr>
              <a:t>Those</a:t>
            </a:r>
            <a:r>
              <a:rPr sz="2000" b="1" spc="215" dirty="0">
                <a:latin typeface="Times New Roman"/>
                <a:cs typeface="Times New Roman"/>
              </a:rPr>
              <a:t> </a:t>
            </a:r>
            <a:r>
              <a:rPr sz="2000" b="1" dirty="0">
                <a:latin typeface="Times New Roman"/>
                <a:cs typeface="Times New Roman"/>
              </a:rPr>
              <a:t>filters</a:t>
            </a:r>
            <a:r>
              <a:rPr sz="2000" b="1" spc="200" dirty="0">
                <a:latin typeface="Times New Roman"/>
                <a:cs typeface="Times New Roman"/>
              </a:rPr>
              <a:t> </a:t>
            </a:r>
            <a:r>
              <a:rPr sz="2000" b="1" dirty="0">
                <a:latin typeface="Times New Roman"/>
                <a:cs typeface="Times New Roman"/>
              </a:rPr>
              <a:t>are</a:t>
            </a:r>
            <a:r>
              <a:rPr sz="2000" b="1" spc="215" dirty="0">
                <a:latin typeface="Times New Roman"/>
                <a:cs typeface="Times New Roman"/>
              </a:rPr>
              <a:t> </a:t>
            </a:r>
            <a:r>
              <a:rPr sz="2000" b="1" dirty="0">
                <a:latin typeface="Times New Roman"/>
                <a:cs typeface="Times New Roman"/>
              </a:rPr>
              <a:t>normally</a:t>
            </a:r>
            <a:r>
              <a:rPr sz="2000" b="1" spc="204" dirty="0">
                <a:latin typeface="Times New Roman"/>
                <a:cs typeface="Times New Roman"/>
              </a:rPr>
              <a:t> </a:t>
            </a:r>
            <a:r>
              <a:rPr sz="2000" b="1" dirty="0">
                <a:solidFill>
                  <a:srgbClr val="006FC0"/>
                </a:solidFill>
                <a:latin typeface="Times New Roman"/>
                <a:cs typeface="Times New Roman"/>
              </a:rPr>
              <a:t>non-linear</a:t>
            </a:r>
            <a:r>
              <a:rPr sz="2000" b="1" spc="170" dirty="0">
                <a:solidFill>
                  <a:srgbClr val="006FC0"/>
                </a:solidFill>
                <a:latin typeface="Times New Roman"/>
                <a:cs typeface="Times New Roman"/>
              </a:rPr>
              <a:t> </a:t>
            </a:r>
            <a:r>
              <a:rPr sz="2000" b="1" dirty="0">
                <a:latin typeface="Times New Roman"/>
                <a:cs typeface="Times New Roman"/>
              </a:rPr>
              <a:t>and</a:t>
            </a:r>
            <a:r>
              <a:rPr sz="2000" b="1" spc="225" dirty="0">
                <a:latin typeface="Times New Roman"/>
                <a:cs typeface="Times New Roman"/>
              </a:rPr>
              <a:t> </a:t>
            </a:r>
            <a:r>
              <a:rPr sz="2000" b="1" dirty="0">
                <a:solidFill>
                  <a:srgbClr val="006FC0"/>
                </a:solidFill>
                <a:latin typeface="Times New Roman"/>
                <a:cs typeface="Times New Roman"/>
              </a:rPr>
              <a:t>cannot</a:t>
            </a:r>
            <a:r>
              <a:rPr sz="2000" b="1" spc="229" dirty="0">
                <a:solidFill>
                  <a:srgbClr val="006FC0"/>
                </a:solidFill>
                <a:latin typeface="Times New Roman"/>
                <a:cs typeface="Times New Roman"/>
              </a:rPr>
              <a:t> </a:t>
            </a:r>
            <a:r>
              <a:rPr sz="2000" b="1" dirty="0">
                <a:solidFill>
                  <a:srgbClr val="006FC0"/>
                </a:solidFill>
                <a:latin typeface="Times New Roman"/>
                <a:cs typeface="Times New Roman"/>
              </a:rPr>
              <a:t>be</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easily</a:t>
            </a:r>
            <a:r>
              <a:rPr sz="2000" b="1" spc="225" dirty="0">
                <a:solidFill>
                  <a:srgbClr val="006FC0"/>
                </a:solidFill>
                <a:latin typeface="Times New Roman"/>
                <a:cs typeface="Times New Roman"/>
              </a:rPr>
              <a:t> </a:t>
            </a:r>
            <a:r>
              <a:rPr sz="2000" b="1" spc="-10" dirty="0">
                <a:solidFill>
                  <a:srgbClr val="006FC0"/>
                </a:solidFill>
                <a:latin typeface="Times New Roman"/>
                <a:cs typeface="Times New Roman"/>
              </a:rPr>
              <a:t>implemented </a:t>
            </a:r>
            <a:r>
              <a:rPr sz="2000" b="1" dirty="0">
                <a:solidFill>
                  <a:srgbClr val="006FC0"/>
                </a:solidFill>
                <a:latin typeface="Times New Roman"/>
                <a:cs typeface="Times New Roman"/>
              </a:rPr>
              <a:t>in</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frequency</a:t>
            </a:r>
            <a:r>
              <a:rPr sz="2000" b="1" spc="-35" dirty="0">
                <a:solidFill>
                  <a:srgbClr val="006FC0"/>
                </a:solidFill>
                <a:latin typeface="Times New Roman"/>
                <a:cs typeface="Times New Roman"/>
              </a:rPr>
              <a:t> </a:t>
            </a:r>
            <a:r>
              <a:rPr sz="2000" b="1" spc="-10" dirty="0">
                <a:solidFill>
                  <a:srgbClr val="006FC0"/>
                </a:solidFill>
                <a:latin typeface="Times New Roman"/>
                <a:cs typeface="Times New Roman"/>
              </a:rPr>
              <a:t>domain.</a:t>
            </a:r>
            <a:endParaRPr sz="2000" dirty="0">
              <a:latin typeface="Times New Roman"/>
              <a:cs typeface="Times New Roman"/>
            </a:endParaRPr>
          </a:p>
        </p:txBody>
      </p:sp>
      <p:pic>
        <p:nvPicPr>
          <p:cNvPr id="3" name="object 3"/>
          <p:cNvPicPr/>
          <p:nvPr/>
        </p:nvPicPr>
        <p:blipFill>
          <a:blip r:embed="rId2" cstate="print"/>
          <a:stretch>
            <a:fillRect/>
          </a:stretch>
        </p:blipFill>
        <p:spPr>
          <a:xfrm>
            <a:off x="3057144" y="324589"/>
            <a:ext cx="2820924" cy="309394"/>
          </a:xfrm>
          <a:prstGeom prst="rect">
            <a:avLst/>
          </a:prstGeom>
        </p:spPr>
      </p:pic>
      <p:grpSp>
        <p:nvGrpSpPr>
          <p:cNvPr id="4" name="object 4"/>
          <p:cNvGrpSpPr/>
          <p:nvPr/>
        </p:nvGrpSpPr>
        <p:grpSpPr>
          <a:xfrm>
            <a:off x="426719" y="795527"/>
            <a:ext cx="8211820" cy="91440"/>
            <a:chOff x="426719" y="795527"/>
            <a:chExt cx="8211820" cy="91440"/>
          </a:xfrm>
        </p:grpSpPr>
        <p:pic>
          <p:nvPicPr>
            <p:cNvPr id="5" name="object 5"/>
            <p:cNvPicPr/>
            <p:nvPr/>
          </p:nvPicPr>
          <p:blipFill>
            <a:blip r:embed="rId3" cstate="print"/>
            <a:stretch>
              <a:fillRect/>
            </a:stretch>
          </p:blipFill>
          <p:spPr>
            <a:xfrm>
              <a:off x="426719" y="795527"/>
              <a:ext cx="8211311" cy="91440"/>
            </a:xfrm>
            <a:prstGeom prst="rect">
              <a:avLst/>
            </a:prstGeom>
          </p:spPr>
        </p:pic>
        <p:sp>
          <p:nvSpPr>
            <p:cNvPr id="6" name="object 6"/>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3014" y="846836"/>
            <a:ext cx="8297545" cy="2666365"/>
          </a:xfrm>
          <a:prstGeom prst="rect">
            <a:avLst/>
          </a:prstGeom>
        </p:spPr>
        <p:txBody>
          <a:bodyPr vert="horz" wrap="square" lIns="0" tIns="13335" rIns="0" bIns="0" rtlCol="0">
            <a:spAutoFit/>
          </a:bodyPr>
          <a:lstStyle/>
          <a:p>
            <a:pPr marL="298450" indent="-285750">
              <a:lnSpc>
                <a:spcPct val="100000"/>
              </a:lnSpc>
              <a:spcBef>
                <a:spcPts val="105"/>
              </a:spcBef>
              <a:buClr>
                <a:srgbClr val="C00000"/>
              </a:buClr>
              <a:buFont typeface="Wingdings"/>
              <a:buChar char=""/>
              <a:tabLst>
                <a:tab pos="298450" algn="l"/>
              </a:tabLst>
            </a:pPr>
            <a:r>
              <a:rPr sz="2000" b="1" spc="-20" dirty="0">
                <a:latin typeface="Times New Roman"/>
                <a:cs typeface="Times New Roman"/>
              </a:rPr>
              <a:t>However,</a:t>
            </a:r>
            <a:r>
              <a:rPr sz="2000" b="1" spc="-25"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common</a:t>
            </a:r>
            <a:r>
              <a:rPr sz="2000" b="1" spc="-35" dirty="0">
                <a:latin typeface="Times New Roman"/>
                <a:cs typeface="Times New Roman"/>
              </a:rPr>
              <a:t> </a:t>
            </a:r>
            <a:r>
              <a:rPr sz="2000" b="1" dirty="0">
                <a:latin typeface="Times New Roman"/>
                <a:cs typeface="Times New Roman"/>
              </a:rPr>
              <a:t>elements</a:t>
            </a:r>
            <a:r>
              <a:rPr sz="2000" b="1" spc="-30" dirty="0">
                <a:latin typeface="Times New Roman"/>
                <a:cs typeface="Times New Roman"/>
              </a:rPr>
              <a:t> </a:t>
            </a:r>
            <a:r>
              <a:rPr sz="2000" b="1" dirty="0">
                <a:latin typeface="Times New Roman"/>
                <a:cs typeface="Times New Roman"/>
              </a:rPr>
              <a:t>of</a:t>
            </a:r>
            <a:r>
              <a:rPr sz="2000" b="1" spc="-25" dirty="0">
                <a:latin typeface="Times New Roman"/>
                <a:cs typeface="Times New Roman"/>
              </a:rPr>
              <a:t> </a:t>
            </a:r>
            <a:r>
              <a:rPr sz="2000" b="1" dirty="0">
                <a:latin typeface="Times New Roman"/>
                <a:cs typeface="Times New Roman"/>
              </a:rPr>
              <a:t>a</a:t>
            </a:r>
            <a:r>
              <a:rPr sz="2000" b="1" spc="-10" dirty="0">
                <a:latin typeface="Times New Roman"/>
                <a:cs typeface="Times New Roman"/>
              </a:rPr>
              <a:t> </a:t>
            </a:r>
            <a:r>
              <a:rPr sz="2000" b="1" dirty="0">
                <a:latin typeface="Times New Roman"/>
                <a:cs typeface="Times New Roman"/>
              </a:rPr>
              <a:t>filter</a:t>
            </a:r>
            <a:r>
              <a:rPr sz="2000" b="1" spc="-65" dirty="0">
                <a:latin typeface="Times New Roman"/>
                <a:cs typeface="Times New Roman"/>
              </a:rPr>
              <a:t> </a:t>
            </a:r>
            <a:r>
              <a:rPr sz="2000" b="1" spc="-20" dirty="0">
                <a:latin typeface="Times New Roman"/>
                <a:cs typeface="Times New Roman"/>
              </a:rPr>
              <a:t>are:</a:t>
            </a:r>
            <a:endParaRPr sz="2000">
              <a:latin typeface="Times New Roman"/>
              <a:cs typeface="Times New Roman"/>
            </a:endParaRPr>
          </a:p>
          <a:p>
            <a:pPr marL="76200">
              <a:lnSpc>
                <a:spcPct val="100000"/>
              </a:lnSpc>
            </a:pPr>
            <a:r>
              <a:rPr sz="2000" b="1" dirty="0">
                <a:latin typeface="Times New Roman"/>
                <a:cs typeface="Times New Roman"/>
              </a:rPr>
              <a:t>(</a:t>
            </a:r>
            <a:r>
              <a:rPr sz="2000" b="1" spc="-15" dirty="0">
                <a:latin typeface="Times New Roman"/>
                <a:cs typeface="Times New Roman"/>
              </a:rPr>
              <a:t> </a:t>
            </a:r>
            <a:r>
              <a:rPr sz="2000" b="1" dirty="0">
                <a:latin typeface="Times New Roman"/>
                <a:cs typeface="Times New Roman"/>
              </a:rPr>
              <a:t>1</a:t>
            </a:r>
            <a:r>
              <a:rPr sz="2000" b="1" spc="-5" dirty="0">
                <a:latin typeface="Times New Roman"/>
                <a:cs typeface="Times New Roman"/>
              </a:rPr>
              <a:t> </a:t>
            </a:r>
            <a:r>
              <a:rPr sz="2000" b="1" dirty="0">
                <a:latin typeface="Times New Roman"/>
                <a:cs typeface="Times New Roman"/>
              </a:rPr>
              <a:t>)</a:t>
            </a:r>
            <a:r>
              <a:rPr sz="2000" b="1" spc="-125" dirty="0">
                <a:latin typeface="Times New Roman"/>
                <a:cs typeface="Times New Roman"/>
              </a:rPr>
              <a:t> </a:t>
            </a:r>
            <a:r>
              <a:rPr sz="2000" b="1" dirty="0">
                <a:latin typeface="Times New Roman"/>
                <a:cs typeface="Times New Roman"/>
              </a:rPr>
              <a:t>A</a:t>
            </a:r>
            <a:r>
              <a:rPr sz="2000" b="1" spc="-110" dirty="0">
                <a:latin typeface="Times New Roman"/>
                <a:cs typeface="Times New Roman"/>
              </a:rPr>
              <a:t> </a:t>
            </a:r>
            <a:r>
              <a:rPr sz="2000" b="1" spc="-10" dirty="0">
                <a:latin typeface="Times New Roman"/>
                <a:cs typeface="Times New Roman"/>
              </a:rPr>
              <a:t>neighborhood</a:t>
            </a:r>
            <a:endParaRPr sz="2000">
              <a:latin typeface="Times New Roman"/>
              <a:cs typeface="Times New Roman"/>
            </a:endParaRPr>
          </a:p>
          <a:p>
            <a:pPr marL="76200">
              <a:lnSpc>
                <a:spcPct val="100000"/>
              </a:lnSpc>
            </a:pPr>
            <a:r>
              <a:rPr sz="2000" b="1" dirty="0">
                <a:latin typeface="Times New Roman"/>
                <a:cs typeface="Times New Roman"/>
              </a:rPr>
              <a:t>(</a:t>
            </a:r>
            <a:r>
              <a:rPr sz="2000" b="1" spc="-10" dirty="0">
                <a:latin typeface="Times New Roman"/>
                <a:cs typeface="Times New Roman"/>
              </a:rPr>
              <a:t> </a:t>
            </a:r>
            <a:r>
              <a:rPr sz="2000" b="1" dirty="0">
                <a:latin typeface="Times New Roman"/>
                <a:cs typeface="Times New Roman"/>
              </a:rPr>
              <a:t>2)</a:t>
            </a:r>
            <a:r>
              <a:rPr sz="2000" b="1" spc="380" dirty="0">
                <a:latin typeface="Times New Roman"/>
                <a:cs typeface="Times New Roman"/>
              </a:rPr>
              <a:t> </a:t>
            </a:r>
            <a:r>
              <a:rPr sz="2000" b="1" dirty="0">
                <a:latin typeface="Times New Roman"/>
                <a:cs typeface="Times New Roman"/>
              </a:rPr>
              <a:t>An</a:t>
            </a:r>
            <a:r>
              <a:rPr sz="2000" b="1" spc="-20" dirty="0">
                <a:latin typeface="Times New Roman"/>
                <a:cs typeface="Times New Roman"/>
              </a:rPr>
              <a:t> </a:t>
            </a:r>
            <a:r>
              <a:rPr sz="2000" b="1" dirty="0">
                <a:latin typeface="Times New Roman"/>
                <a:cs typeface="Times New Roman"/>
              </a:rPr>
              <a:t>operation</a:t>
            </a:r>
            <a:r>
              <a:rPr sz="2000" b="1" spc="-45" dirty="0">
                <a:latin typeface="Times New Roman"/>
                <a:cs typeface="Times New Roman"/>
              </a:rPr>
              <a:t> </a:t>
            </a:r>
            <a:r>
              <a:rPr sz="2000" b="1" dirty="0">
                <a:latin typeface="Times New Roman"/>
                <a:cs typeface="Times New Roman"/>
              </a:rPr>
              <a:t>on</a:t>
            </a:r>
            <a:r>
              <a:rPr sz="2000" b="1" spc="-5" dirty="0">
                <a:latin typeface="Times New Roman"/>
                <a:cs typeface="Times New Roman"/>
              </a:rPr>
              <a:t>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neighborhood</a:t>
            </a:r>
            <a:r>
              <a:rPr sz="2000" b="1" spc="-50" dirty="0">
                <a:latin typeface="Times New Roman"/>
                <a:cs typeface="Times New Roman"/>
              </a:rPr>
              <a:t> </a:t>
            </a:r>
            <a:r>
              <a:rPr sz="2000" b="1" dirty="0">
                <a:latin typeface="Times New Roman"/>
                <a:cs typeface="Times New Roman"/>
              </a:rPr>
              <a:t>include</a:t>
            </a:r>
            <a:r>
              <a:rPr sz="2000" b="1" spc="-20" dirty="0">
                <a:latin typeface="Times New Roman"/>
                <a:cs typeface="Times New Roman"/>
              </a:rPr>
              <a:t>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pixel</a:t>
            </a:r>
            <a:r>
              <a:rPr sz="2000" b="1" spc="-35" dirty="0">
                <a:latin typeface="Times New Roman"/>
                <a:cs typeface="Times New Roman"/>
              </a:rPr>
              <a:t> </a:t>
            </a:r>
            <a:r>
              <a:rPr sz="2000" b="1" spc="-10" dirty="0">
                <a:latin typeface="Times New Roman"/>
                <a:cs typeface="Times New Roman"/>
              </a:rPr>
              <a:t>itself.</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355600" marR="1033780" indent="-343535">
              <a:lnSpc>
                <a:spcPct val="100000"/>
              </a:lnSpc>
              <a:buClr>
                <a:srgbClr val="C00000"/>
              </a:buClr>
              <a:buFont typeface="Wingdings"/>
              <a:buChar char=""/>
              <a:tabLst>
                <a:tab pos="355600" algn="l"/>
              </a:tabLst>
            </a:pPr>
            <a:r>
              <a:rPr sz="2000" b="1" spc="-10" dirty="0">
                <a:latin typeface="Times New Roman"/>
                <a:cs typeface="Times New Roman"/>
              </a:rPr>
              <a:t>Typically</a:t>
            </a:r>
            <a:r>
              <a:rPr sz="2000" b="1" spc="-50" dirty="0">
                <a:latin typeface="Times New Roman"/>
                <a:cs typeface="Times New Roman"/>
              </a:rPr>
              <a:t> </a:t>
            </a:r>
            <a:r>
              <a:rPr sz="2000" b="1" dirty="0">
                <a:latin typeface="Times New Roman"/>
                <a:cs typeface="Times New Roman"/>
              </a:rPr>
              <a:t>the</a:t>
            </a:r>
            <a:r>
              <a:rPr sz="2000" b="1" spc="-45" dirty="0">
                <a:latin typeface="Times New Roman"/>
                <a:cs typeface="Times New Roman"/>
              </a:rPr>
              <a:t> </a:t>
            </a:r>
            <a:r>
              <a:rPr sz="2000" b="1" dirty="0">
                <a:latin typeface="Times New Roman"/>
                <a:cs typeface="Times New Roman"/>
              </a:rPr>
              <a:t>neighborhood</a:t>
            </a:r>
            <a:r>
              <a:rPr sz="2000" b="1" spc="-55" dirty="0">
                <a:latin typeface="Times New Roman"/>
                <a:cs typeface="Times New Roman"/>
              </a:rPr>
              <a:t> </a:t>
            </a:r>
            <a:r>
              <a:rPr sz="2000" b="1" dirty="0">
                <a:latin typeface="Times New Roman"/>
                <a:cs typeface="Times New Roman"/>
              </a:rPr>
              <a:t>is</a:t>
            </a:r>
            <a:r>
              <a:rPr sz="2000" b="1" spc="-35" dirty="0">
                <a:latin typeface="Times New Roman"/>
                <a:cs typeface="Times New Roman"/>
              </a:rPr>
              <a:t> </a:t>
            </a:r>
            <a:r>
              <a:rPr sz="2000" b="1" dirty="0">
                <a:latin typeface="Times New Roman"/>
                <a:cs typeface="Times New Roman"/>
              </a:rPr>
              <a:t>a</a:t>
            </a:r>
            <a:r>
              <a:rPr sz="2000" b="1" spc="-20" dirty="0">
                <a:latin typeface="Times New Roman"/>
                <a:cs typeface="Times New Roman"/>
              </a:rPr>
              <a:t> </a:t>
            </a:r>
            <a:r>
              <a:rPr sz="2000" b="1" dirty="0">
                <a:latin typeface="Times New Roman"/>
                <a:cs typeface="Times New Roman"/>
              </a:rPr>
              <a:t>rectangular</a:t>
            </a:r>
            <a:r>
              <a:rPr sz="2000" b="1" spc="-85" dirty="0">
                <a:latin typeface="Times New Roman"/>
                <a:cs typeface="Times New Roman"/>
              </a:rPr>
              <a:t> </a:t>
            </a:r>
            <a:r>
              <a:rPr sz="2000" b="1" dirty="0">
                <a:latin typeface="Times New Roman"/>
                <a:cs typeface="Times New Roman"/>
              </a:rPr>
              <a:t>of</a:t>
            </a:r>
            <a:r>
              <a:rPr sz="2000" b="1" spc="-35" dirty="0">
                <a:latin typeface="Times New Roman"/>
                <a:cs typeface="Times New Roman"/>
              </a:rPr>
              <a:t> </a:t>
            </a:r>
            <a:r>
              <a:rPr sz="2000" b="1" dirty="0">
                <a:latin typeface="Times New Roman"/>
                <a:cs typeface="Times New Roman"/>
              </a:rPr>
              <a:t>different</a:t>
            </a:r>
            <a:r>
              <a:rPr sz="2000" b="1" spc="-60" dirty="0">
                <a:latin typeface="Times New Roman"/>
                <a:cs typeface="Times New Roman"/>
              </a:rPr>
              <a:t> </a:t>
            </a:r>
            <a:r>
              <a:rPr sz="2000" b="1" dirty="0">
                <a:latin typeface="Times New Roman"/>
                <a:cs typeface="Times New Roman"/>
              </a:rPr>
              <a:t>size,</a:t>
            </a:r>
            <a:r>
              <a:rPr sz="2000" b="1" spc="-20" dirty="0">
                <a:latin typeface="Times New Roman"/>
                <a:cs typeface="Times New Roman"/>
              </a:rPr>
              <a:t> </a:t>
            </a:r>
            <a:r>
              <a:rPr sz="2000" b="1" spc="-25" dirty="0">
                <a:latin typeface="Times New Roman"/>
                <a:cs typeface="Times New Roman"/>
              </a:rPr>
              <a:t>for </a:t>
            </a:r>
            <a:r>
              <a:rPr sz="2000" b="1" dirty="0">
                <a:latin typeface="Times New Roman"/>
                <a:cs typeface="Times New Roman"/>
              </a:rPr>
              <a:t>example</a:t>
            </a:r>
            <a:r>
              <a:rPr sz="2000" b="1" spc="-50" dirty="0">
                <a:latin typeface="Times New Roman"/>
                <a:cs typeface="Times New Roman"/>
              </a:rPr>
              <a:t> </a:t>
            </a:r>
            <a:r>
              <a:rPr sz="2000" b="1" dirty="0">
                <a:latin typeface="Times New Roman"/>
                <a:cs typeface="Times New Roman"/>
              </a:rPr>
              <a:t>3x3,</a:t>
            </a:r>
            <a:r>
              <a:rPr sz="2000" b="1" spc="-20" dirty="0">
                <a:latin typeface="Times New Roman"/>
                <a:cs typeface="Times New Roman"/>
              </a:rPr>
              <a:t> </a:t>
            </a:r>
            <a:r>
              <a:rPr sz="2000" b="1" dirty="0">
                <a:latin typeface="Times New Roman"/>
                <a:cs typeface="Times New Roman"/>
              </a:rPr>
              <a:t>5x5</a:t>
            </a:r>
            <a:r>
              <a:rPr sz="2000" b="1" spc="-30" dirty="0">
                <a:latin typeface="Times New Roman"/>
                <a:cs typeface="Times New Roman"/>
              </a:rPr>
              <a:t> </a:t>
            </a:r>
            <a:r>
              <a:rPr sz="2000" b="1" dirty="0">
                <a:latin typeface="Times New Roman"/>
                <a:cs typeface="Times New Roman"/>
              </a:rPr>
              <a:t>… and</a:t>
            </a:r>
            <a:r>
              <a:rPr sz="2000" b="1" spc="-20" dirty="0">
                <a:latin typeface="Times New Roman"/>
                <a:cs typeface="Times New Roman"/>
              </a:rPr>
              <a:t> </a:t>
            </a:r>
            <a:r>
              <a:rPr sz="2000" b="1" dirty="0">
                <a:latin typeface="Times New Roman"/>
                <a:cs typeface="Times New Roman"/>
              </a:rPr>
              <a:t>smaller</a:t>
            </a:r>
            <a:r>
              <a:rPr sz="2000" b="1" spc="-60" dirty="0">
                <a:latin typeface="Times New Roman"/>
                <a:cs typeface="Times New Roman"/>
              </a:rPr>
              <a:t> </a:t>
            </a:r>
            <a:r>
              <a:rPr sz="2000" b="1" dirty="0">
                <a:latin typeface="Times New Roman"/>
                <a:cs typeface="Times New Roman"/>
              </a:rPr>
              <a:t>than</a:t>
            </a:r>
            <a:r>
              <a:rPr sz="2000" b="1" spc="-30" dirty="0">
                <a:latin typeface="Times New Roman"/>
                <a:cs typeface="Times New Roman"/>
              </a:rPr>
              <a:t>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image</a:t>
            </a:r>
            <a:r>
              <a:rPr sz="2000" b="1" spc="-20" dirty="0">
                <a:latin typeface="Times New Roman"/>
                <a:cs typeface="Times New Roman"/>
              </a:rPr>
              <a:t> </a:t>
            </a:r>
            <a:r>
              <a:rPr sz="2000" b="1" spc="-10" dirty="0">
                <a:latin typeface="Times New Roman"/>
                <a:cs typeface="Times New Roman"/>
              </a:rPr>
              <a:t>itself.</a:t>
            </a:r>
            <a:endParaRPr sz="2000">
              <a:latin typeface="Times New Roman"/>
              <a:cs typeface="Times New Roman"/>
            </a:endParaRPr>
          </a:p>
          <a:p>
            <a:pPr marL="40005" marR="5080">
              <a:lnSpc>
                <a:spcPct val="100000"/>
              </a:lnSpc>
              <a:spcBef>
                <a:spcPts val="1585"/>
              </a:spcBef>
            </a:pPr>
            <a:r>
              <a:rPr sz="2000" b="1" dirty="0">
                <a:latin typeface="Times New Roman"/>
                <a:cs typeface="Times New Roman"/>
              </a:rPr>
              <a:t>Figure</a:t>
            </a:r>
            <a:r>
              <a:rPr sz="2000" b="1" spc="385" dirty="0">
                <a:latin typeface="Times New Roman"/>
                <a:cs typeface="Times New Roman"/>
              </a:rPr>
              <a:t> </a:t>
            </a:r>
            <a:r>
              <a:rPr sz="2000" b="1" dirty="0">
                <a:latin typeface="Times New Roman"/>
                <a:cs typeface="Times New Roman"/>
              </a:rPr>
              <a:t>below</a:t>
            </a:r>
            <a:r>
              <a:rPr sz="2000" b="1" spc="395" dirty="0">
                <a:latin typeface="Times New Roman"/>
                <a:cs typeface="Times New Roman"/>
              </a:rPr>
              <a:t> </a:t>
            </a:r>
            <a:r>
              <a:rPr sz="2000" b="1" dirty="0">
                <a:latin typeface="Times New Roman"/>
                <a:cs typeface="Times New Roman"/>
              </a:rPr>
              <a:t>shows</a:t>
            </a:r>
            <a:r>
              <a:rPr sz="2000" b="1" spc="395" dirty="0">
                <a:latin typeface="Times New Roman"/>
                <a:cs typeface="Times New Roman"/>
              </a:rPr>
              <a:t> </a:t>
            </a:r>
            <a:r>
              <a:rPr sz="2000" b="1" dirty="0">
                <a:latin typeface="Times New Roman"/>
                <a:cs typeface="Times New Roman"/>
              </a:rPr>
              <a:t>the</a:t>
            </a:r>
            <a:r>
              <a:rPr sz="2000" b="1" spc="395" dirty="0">
                <a:latin typeface="Times New Roman"/>
                <a:cs typeface="Times New Roman"/>
              </a:rPr>
              <a:t> </a:t>
            </a:r>
            <a:r>
              <a:rPr sz="2000" b="1" dirty="0">
                <a:latin typeface="Times New Roman"/>
                <a:cs typeface="Times New Roman"/>
              </a:rPr>
              <a:t>filtered</a:t>
            </a:r>
            <a:r>
              <a:rPr sz="2000" b="1" spc="395" dirty="0">
                <a:latin typeface="Times New Roman"/>
                <a:cs typeface="Times New Roman"/>
              </a:rPr>
              <a:t> </a:t>
            </a:r>
            <a:r>
              <a:rPr sz="2000" b="1" dirty="0">
                <a:latin typeface="Times New Roman"/>
                <a:cs typeface="Times New Roman"/>
              </a:rPr>
              <a:t>image</a:t>
            </a:r>
            <a:r>
              <a:rPr sz="2000" b="1" spc="385" dirty="0">
                <a:latin typeface="Times New Roman"/>
                <a:cs typeface="Times New Roman"/>
              </a:rPr>
              <a:t> </a:t>
            </a:r>
            <a:r>
              <a:rPr sz="2000" b="1" dirty="0">
                <a:latin typeface="Times New Roman"/>
                <a:cs typeface="Times New Roman"/>
              </a:rPr>
              <a:t>using</a:t>
            </a:r>
            <a:r>
              <a:rPr sz="2000" b="1" spc="395" dirty="0">
                <a:latin typeface="Times New Roman"/>
                <a:cs typeface="Times New Roman"/>
              </a:rPr>
              <a:t> </a:t>
            </a:r>
            <a:r>
              <a:rPr sz="2000" b="1" dirty="0">
                <a:latin typeface="Times New Roman"/>
                <a:cs typeface="Times New Roman"/>
              </a:rPr>
              <a:t>a</a:t>
            </a:r>
            <a:r>
              <a:rPr sz="2000" b="1" spc="409" dirty="0">
                <a:latin typeface="Times New Roman"/>
                <a:cs typeface="Times New Roman"/>
              </a:rPr>
              <a:t> </a:t>
            </a:r>
            <a:r>
              <a:rPr sz="2000" b="1" dirty="0">
                <a:latin typeface="Times New Roman"/>
                <a:cs typeface="Times New Roman"/>
              </a:rPr>
              <a:t>median</a:t>
            </a:r>
            <a:r>
              <a:rPr sz="2000" b="1" spc="390" dirty="0">
                <a:latin typeface="Times New Roman"/>
                <a:cs typeface="Times New Roman"/>
              </a:rPr>
              <a:t> </a:t>
            </a:r>
            <a:r>
              <a:rPr sz="2000" b="1" dirty="0">
                <a:latin typeface="Times New Roman"/>
                <a:cs typeface="Times New Roman"/>
              </a:rPr>
              <a:t>filter</a:t>
            </a:r>
            <a:r>
              <a:rPr sz="2000" b="1" spc="365" dirty="0">
                <a:latin typeface="Times New Roman"/>
                <a:cs typeface="Times New Roman"/>
              </a:rPr>
              <a:t> </a:t>
            </a:r>
            <a:r>
              <a:rPr sz="2000" b="1" dirty="0">
                <a:latin typeface="Times New Roman"/>
                <a:cs typeface="Times New Roman"/>
              </a:rPr>
              <a:t>of</a:t>
            </a:r>
            <a:r>
              <a:rPr sz="2000" b="1" spc="405" dirty="0">
                <a:latin typeface="Times New Roman"/>
                <a:cs typeface="Times New Roman"/>
              </a:rPr>
              <a:t> </a:t>
            </a:r>
            <a:r>
              <a:rPr sz="2000" b="1" spc="-10" dirty="0">
                <a:latin typeface="Times New Roman"/>
                <a:cs typeface="Times New Roman"/>
              </a:rPr>
              <a:t>different </a:t>
            </a:r>
            <a:r>
              <a:rPr sz="2000" b="1" dirty="0">
                <a:latin typeface="Times New Roman"/>
                <a:cs typeface="Times New Roman"/>
              </a:rPr>
              <a:t>mask</a:t>
            </a:r>
            <a:r>
              <a:rPr sz="2000" b="1" spc="-15" dirty="0">
                <a:latin typeface="Times New Roman"/>
                <a:cs typeface="Times New Roman"/>
              </a:rPr>
              <a:t> </a:t>
            </a:r>
            <a:r>
              <a:rPr sz="2000" b="1" spc="-10" dirty="0">
                <a:latin typeface="Times New Roman"/>
                <a:cs typeface="Times New Roman"/>
              </a:rPr>
              <a:t>sizes.</a:t>
            </a:r>
            <a:endParaRPr sz="2000">
              <a:latin typeface="Times New Roman"/>
              <a:cs typeface="Times New Roman"/>
            </a:endParaRPr>
          </a:p>
        </p:txBody>
      </p:sp>
      <p:pic>
        <p:nvPicPr>
          <p:cNvPr id="3" name="object 3"/>
          <p:cNvPicPr/>
          <p:nvPr/>
        </p:nvPicPr>
        <p:blipFill>
          <a:blip r:embed="rId2" cstate="print"/>
          <a:stretch>
            <a:fillRect/>
          </a:stretch>
        </p:blipFill>
        <p:spPr>
          <a:xfrm>
            <a:off x="1756729" y="3877652"/>
            <a:ext cx="6454152" cy="275947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334" y="990345"/>
            <a:ext cx="8341359" cy="4537710"/>
          </a:xfrm>
          <a:prstGeom prst="rect">
            <a:avLst/>
          </a:prstGeom>
        </p:spPr>
        <p:txBody>
          <a:bodyPr vert="horz" wrap="square" lIns="0" tIns="13335" rIns="0" bIns="0" rtlCol="0">
            <a:spAutoFit/>
          </a:bodyPr>
          <a:lstStyle/>
          <a:p>
            <a:pPr marL="300355" marR="5080">
              <a:lnSpc>
                <a:spcPct val="100000"/>
              </a:lnSpc>
              <a:spcBef>
                <a:spcPts val="105"/>
              </a:spcBef>
            </a:pPr>
            <a:r>
              <a:rPr sz="2000" b="1" dirty="0">
                <a:latin typeface="Times New Roman"/>
                <a:cs typeface="Times New Roman"/>
              </a:rPr>
              <a:t>The</a:t>
            </a:r>
            <a:r>
              <a:rPr sz="2000" b="1" spc="445" dirty="0">
                <a:latin typeface="Times New Roman"/>
                <a:cs typeface="Times New Roman"/>
              </a:rPr>
              <a:t> </a:t>
            </a:r>
            <a:r>
              <a:rPr sz="2000" b="1" dirty="0">
                <a:solidFill>
                  <a:srgbClr val="006FC0"/>
                </a:solidFill>
                <a:latin typeface="Times New Roman"/>
                <a:cs typeface="Times New Roman"/>
              </a:rPr>
              <a:t>median</a:t>
            </a:r>
            <a:r>
              <a:rPr sz="2000" b="1" spc="450"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420" dirty="0">
                <a:solidFill>
                  <a:srgbClr val="006FC0"/>
                </a:solidFill>
                <a:latin typeface="Times New Roman"/>
                <a:cs typeface="Times New Roman"/>
              </a:rPr>
              <a:t> </a:t>
            </a:r>
            <a:r>
              <a:rPr sz="2000" b="1" dirty="0">
                <a:latin typeface="Times New Roman"/>
                <a:cs typeface="Times New Roman"/>
              </a:rPr>
              <a:t>is</a:t>
            </a:r>
            <a:r>
              <a:rPr sz="2000" b="1" spc="440" dirty="0">
                <a:latin typeface="Times New Roman"/>
                <a:cs typeface="Times New Roman"/>
              </a:rPr>
              <a:t> </a:t>
            </a:r>
            <a:r>
              <a:rPr sz="2000" b="1" dirty="0">
                <a:latin typeface="Times New Roman"/>
                <a:cs typeface="Times New Roman"/>
              </a:rPr>
              <a:t>a</a:t>
            </a:r>
            <a:r>
              <a:rPr sz="2000" b="1" spc="459" dirty="0">
                <a:latin typeface="Times New Roman"/>
                <a:cs typeface="Times New Roman"/>
              </a:rPr>
              <a:t> </a:t>
            </a:r>
            <a:r>
              <a:rPr sz="2000" b="1" spc="-10" dirty="0">
                <a:solidFill>
                  <a:srgbClr val="FF0000"/>
                </a:solidFill>
                <a:latin typeface="Times New Roman"/>
                <a:cs typeface="Times New Roman"/>
              </a:rPr>
              <a:t>non-</a:t>
            </a:r>
            <a:r>
              <a:rPr sz="2000" b="1" dirty="0">
                <a:solidFill>
                  <a:srgbClr val="FF0000"/>
                </a:solidFill>
                <a:latin typeface="Times New Roman"/>
                <a:cs typeface="Times New Roman"/>
              </a:rPr>
              <a:t>linear</a:t>
            </a:r>
            <a:r>
              <a:rPr sz="2000" b="1" spc="409" dirty="0">
                <a:solidFill>
                  <a:srgbClr val="FF0000"/>
                </a:solidFill>
                <a:latin typeface="Times New Roman"/>
                <a:cs typeface="Times New Roman"/>
              </a:rPr>
              <a:t> </a:t>
            </a:r>
            <a:r>
              <a:rPr sz="2000" b="1" dirty="0">
                <a:solidFill>
                  <a:srgbClr val="FF0000"/>
                </a:solidFill>
                <a:latin typeface="Times New Roman"/>
                <a:cs typeface="Times New Roman"/>
              </a:rPr>
              <a:t>filter</a:t>
            </a:r>
            <a:r>
              <a:rPr sz="2000" b="1" spc="409" dirty="0">
                <a:solidFill>
                  <a:srgbClr val="FF0000"/>
                </a:solidFill>
                <a:latin typeface="Times New Roman"/>
                <a:cs typeface="Times New Roman"/>
              </a:rPr>
              <a:t> </a:t>
            </a:r>
            <a:r>
              <a:rPr sz="2000" b="1" dirty="0">
                <a:latin typeface="Times New Roman"/>
                <a:cs typeface="Times New Roman"/>
              </a:rPr>
              <a:t>(order</a:t>
            </a:r>
            <a:r>
              <a:rPr sz="2000" b="1" spc="400" dirty="0">
                <a:latin typeface="Times New Roman"/>
                <a:cs typeface="Times New Roman"/>
              </a:rPr>
              <a:t> </a:t>
            </a:r>
            <a:r>
              <a:rPr sz="2000" b="1" dirty="0">
                <a:latin typeface="Times New Roman"/>
                <a:cs typeface="Times New Roman"/>
              </a:rPr>
              <a:t>filter).</a:t>
            </a:r>
            <a:r>
              <a:rPr sz="2000" b="1" spc="445" dirty="0">
                <a:latin typeface="Times New Roman"/>
                <a:cs typeface="Times New Roman"/>
              </a:rPr>
              <a:t> </a:t>
            </a:r>
            <a:r>
              <a:rPr sz="2000" b="1" dirty="0">
                <a:latin typeface="Times New Roman"/>
                <a:cs typeface="Times New Roman"/>
              </a:rPr>
              <a:t>These</a:t>
            </a:r>
            <a:r>
              <a:rPr sz="2000" b="1" spc="445" dirty="0">
                <a:latin typeface="Times New Roman"/>
                <a:cs typeface="Times New Roman"/>
              </a:rPr>
              <a:t> </a:t>
            </a:r>
            <a:r>
              <a:rPr sz="2000" b="1" dirty="0">
                <a:latin typeface="Times New Roman"/>
                <a:cs typeface="Times New Roman"/>
              </a:rPr>
              <a:t>filters</a:t>
            </a:r>
            <a:r>
              <a:rPr sz="2000" b="1" spc="440" dirty="0">
                <a:latin typeface="Times New Roman"/>
                <a:cs typeface="Times New Roman"/>
              </a:rPr>
              <a:t> </a:t>
            </a:r>
            <a:r>
              <a:rPr sz="2000" b="1" spc="-25" dirty="0">
                <a:latin typeface="Times New Roman"/>
                <a:cs typeface="Times New Roman"/>
              </a:rPr>
              <a:t>are </a:t>
            </a:r>
            <a:r>
              <a:rPr sz="2000" b="1" dirty="0">
                <a:latin typeface="Times New Roman"/>
                <a:cs typeface="Times New Roman"/>
              </a:rPr>
              <a:t>based</a:t>
            </a:r>
            <a:r>
              <a:rPr sz="2000" b="1" spc="-25" dirty="0">
                <a:latin typeface="Times New Roman"/>
                <a:cs typeface="Times New Roman"/>
              </a:rPr>
              <a:t> </a:t>
            </a:r>
            <a:r>
              <a:rPr sz="2000" b="1" dirty="0">
                <a:latin typeface="Times New Roman"/>
                <a:cs typeface="Times New Roman"/>
              </a:rPr>
              <a:t>on</a:t>
            </a:r>
            <a:r>
              <a:rPr sz="2000" b="1" spc="-5" dirty="0">
                <a:latin typeface="Times New Roman"/>
                <a:cs typeface="Times New Roman"/>
              </a:rPr>
              <a:t> </a:t>
            </a:r>
            <a:r>
              <a:rPr sz="2000" b="1" dirty="0">
                <a:latin typeface="Times New Roman"/>
                <a:cs typeface="Times New Roman"/>
              </a:rPr>
              <a:t>as</a:t>
            </a:r>
            <a:r>
              <a:rPr sz="2000" b="1" spc="-20" dirty="0">
                <a:latin typeface="Times New Roman"/>
                <a:cs typeface="Times New Roman"/>
              </a:rPr>
              <a:t> </a:t>
            </a:r>
            <a:r>
              <a:rPr sz="2000" b="1" dirty="0">
                <a:latin typeface="Times New Roman"/>
                <a:cs typeface="Times New Roman"/>
              </a:rPr>
              <a:t>specific</a:t>
            </a:r>
            <a:r>
              <a:rPr sz="2000" b="1" spc="-30" dirty="0">
                <a:latin typeface="Times New Roman"/>
                <a:cs typeface="Times New Roman"/>
              </a:rPr>
              <a:t> </a:t>
            </a:r>
            <a:r>
              <a:rPr sz="2000" b="1" dirty="0">
                <a:latin typeface="Times New Roman"/>
                <a:cs typeface="Times New Roman"/>
              </a:rPr>
              <a:t>type</a:t>
            </a:r>
            <a:r>
              <a:rPr sz="2000" b="1" spc="-20" dirty="0">
                <a:latin typeface="Times New Roman"/>
                <a:cs typeface="Times New Roman"/>
              </a:rPr>
              <a:t> </a:t>
            </a:r>
            <a:r>
              <a:rPr sz="2000" b="1" dirty="0">
                <a:latin typeface="Times New Roman"/>
                <a:cs typeface="Times New Roman"/>
              </a:rPr>
              <a:t>of</a:t>
            </a:r>
            <a:r>
              <a:rPr sz="2000" b="1" spc="-20" dirty="0">
                <a:latin typeface="Times New Roman"/>
                <a:cs typeface="Times New Roman"/>
              </a:rPr>
              <a:t> </a:t>
            </a:r>
            <a:r>
              <a:rPr sz="2000" b="1" dirty="0">
                <a:latin typeface="Times New Roman"/>
                <a:cs typeface="Times New Roman"/>
              </a:rPr>
              <a:t>image</a:t>
            </a:r>
            <a:r>
              <a:rPr sz="2000" b="1" spc="-25" dirty="0">
                <a:latin typeface="Times New Roman"/>
                <a:cs typeface="Times New Roman"/>
              </a:rPr>
              <a:t> </a:t>
            </a:r>
            <a:r>
              <a:rPr sz="2000" b="1" dirty="0">
                <a:latin typeface="Times New Roman"/>
                <a:cs typeface="Times New Roman"/>
              </a:rPr>
              <a:t>statistics</a:t>
            </a:r>
            <a:r>
              <a:rPr sz="2000" b="1" spc="-30" dirty="0">
                <a:latin typeface="Times New Roman"/>
                <a:cs typeface="Times New Roman"/>
              </a:rPr>
              <a:t> </a:t>
            </a:r>
            <a:r>
              <a:rPr sz="2000" b="1" dirty="0">
                <a:latin typeface="Times New Roman"/>
                <a:cs typeface="Times New Roman"/>
              </a:rPr>
              <a:t>called</a:t>
            </a:r>
            <a:r>
              <a:rPr sz="2000" b="1" spc="-20" dirty="0">
                <a:latin typeface="Times New Roman"/>
                <a:cs typeface="Times New Roman"/>
              </a:rPr>
              <a:t> </a:t>
            </a:r>
            <a:r>
              <a:rPr sz="2000" b="1" dirty="0">
                <a:latin typeface="Times New Roman"/>
                <a:cs typeface="Times New Roman"/>
              </a:rPr>
              <a:t>order</a:t>
            </a:r>
            <a:r>
              <a:rPr sz="2000" b="1" spc="-40" dirty="0">
                <a:latin typeface="Times New Roman"/>
                <a:cs typeface="Times New Roman"/>
              </a:rPr>
              <a:t> </a:t>
            </a:r>
            <a:r>
              <a:rPr sz="2000" b="1" spc="-10" dirty="0">
                <a:latin typeface="Times New Roman"/>
                <a:cs typeface="Times New Roman"/>
              </a:rPr>
              <a:t>statistics.</a:t>
            </a:r>
            <a:endParaRPr sz="2000">
              <a:latin typeface="Times New Roman"/>
              <a:cs typeface="Times New Roman"/>
            </a:endParaRPr>
          </a:p>
          <a:p>
            <a:pPr>
              <a:lnSpc>
                <a:spcPct val="100000"/>
              </a:lnSpc>
              <a:spcBef>
                <a:spcPts val="95"/>
              </a:spcBef>
            </a:pPr>
            <a:endParaRPr sz="2000">
              <a:latin typeface="Times New Roman"/>
              <a:cs typeface="Times New Roman"/>
            </a:endParaRPr>
          </a:p>
          <a:p>
            <a:pPr marL="643255" marR="5080" indent="-342900" algn="just">
              <a:lnSpc>
                <a:spcPct val="100000"/>
              </a:lnSpc>
              <a:spcBef>
                <a:spcPts val="5"/>
              </a:spcBef>
              <a:buClr>
                <a:srgbClr val="FF0000"/>
              </a:buClr>
              <a:buFont typeface="Wingdings"/>
              <a:buChar char=""/>
              <a:tabLst>
                <a:tab pos="643255" algn="l"/>
              </a:tabLst>
            </a:pPr>
            <a:r>
              <a:rPr sz="2000" b="1" dirty="0">
                <a:latin typeface="Times New Roman"/>
                <a:cs typeface="Times New Roman"/>
              </a:rPr>
              <a:t>Typically,</a:t>
            </a:r>
            <a:r>
              <a:rPr sz="2000" b="1" spc="360" dirty="0">
                <a:latin typeface="Times New Roman"/>
                <a:cs typeface="Times New Roman"/>
              </a:rPr>
              <a:t> </a:t>
            </a:r>
            <a:r>
              <a:rPr sz="2000" b="1" dirty="0">
                <a:latin typeface="Times New Roman"/>
                <a:cs typeface="Times New Roman"/>
              </a:rPr>
              <a:t>these</a:t>
            </a:r>
            <a:r>
              <a:rPr sz="2000" b="1" spc="370" dirty="0">
                <a:latin typeface="Times New Roman"/>
                <a:cs typeface="Times New Roman"/>
              </a:rPr>
              <a:t> </a:t>
            </a:r>
            <a:r>
              <a:rPr sz="2000" b="1" dirty="0">
                <a:latin typeface="Times New Roman"/>
                <a:cs typeface="Times New Roman"/>
              </a:rPr>
              <a:t>filters</a:t>
            </a:r>
            <a:r>
              <a:rPr sz="2000" b="1" spc="370" dirty="0">
                <a:latin typeface="Times New Roman"/>
                <a:cs typeface="Times New Roman"/>
              </a:rPr>
              <a:t> </a:t>
            </a:r>
            <a:r>
              <a:rPr sz="2000" b="1" dirty="0">
                <a:latin typeface="Times New Roman"/>
                <a:cs typeface="Times New Roman"/>
              </a:rPr>
              <a:t>operate</a:t>
            </a:r>
            <a:r>
              <a:rPr sz="2000" b="1" spc="370" dirty="0">
                <a:latin typeface="Times New Roman"/>
                <a:cs typeface="Times New Roman"/>
              </a:rPr>
              <a:t> </a:t>
            </a:r>
            <a:r>
              <a:rPr sz="2000" b="1" dirty="0">
                <a:latin typeface="Times New Roman"/>
                <a:cs typeface="Times New Roman"/>
              </a:rPr>
              <a:t>on</a:t>
            </a:r>
            <a:r>
              <a:rPr sz="2000" b="1" spc="370" dirty="0">
                <a:latin typeface="Times New Roman"/>
                <a:cs typeface="Times New Roman"/>
              </a:rPr>
              <a:t> </a:t>
            </a:r>
            <a:r>
              <a:rPr sz="2000" b="1" dirty="0">
                <a:latin typeface="Times New Roman"/>
                <a:cs typeface="Times New Roman"/>
              </a:rPr>
              <a:t>small</a:t>
            </a:r>
            <a:r>
              <a:rPr sz="2000" b="1" spc="360" dirty="0">
                <a:latin typeface="Times New Roman"/>
                <a:cs typeface="Times New Roman"/>
              </a:rPr>
              <a:t> </a:t>
            </a:r>
            <a:r>
              <a:rPr sz="2000" b="1" dirty="0">
                <a:latin typeface="Times New Roman"/>
                <a:cs typeface="Times New Roman"/>
              </a:rPr>
              <a:t>sub</a:t>
            </a:r>
            <a:r>
              <a:rPr sz="2000" b="1" spc="380" dirty="0">
                <a:latin typeface="Times New Roman"/>
                <a:cs typeface="Times New Roman"/>
              </a:rPr>
              <a:t> </a:t>
            </a:r>
            <a:r>
              <a:rPr sz="2000" b="1" dirty="0">
                <a:latin typeface="Times New Roman"/>
                <a:cs typeface="Times New Roman"/>
              </a:rPr>
              <a:t>image,</a:t>
            </a:r>
            <a:r>
              <a:rPr sz="2000" b="1" spc="375" dirty="0">
                <a:latin typeface="Times New Roman"/>
                <a:cs typeface="Times New Roman"/>
              </a:rPr>
              <a:t> </a:t>
            </a:r>
            <a:r>
              <a:rPr sz="2000" b="1" dirty="0">
                <a:latin typeface="Times New Roman"/>
                <a:cs typeface="Times New Roman"/>
              </a:rPr>
              <a:t>“Window”,</a:t>
            </a:r>
            <a:r>
              <a:rPr sz="2000" b="1" spc="370" dirty="0">
                <a:latin typeface="Times New Roman"/>
                <a:cs typeface="Times New Roman"/>
              </a:rPr>
              <a:t> </a:t>
            </a:r>
            <a:r>
              <a:rPr sz="2000" b="1" spc="-25" dirty="0">
                <a:latin typeface="Times New Roman"/>
                <a:cs typeface="Times New Roman"/>
              </a:rPr>
              <a:t>and </a:t>
            </a:r>
            <a:r>
              <a:rPr sz="2000" b="1" dirty="0">
                <a:latin typeface="Times New Roman"/>
                <a:cs typeface="Times New Roman"/>
              </a:rPr>
              <a:t>replace</a:t>
            </a:r>
            <a:r>
              <a:rPr sz="2000" b="1" spc="-3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center</a:t>
            </a:r>
            <a:r>
              <a:rPr sz="2000" b="1" spc="-65" dirty="0">
                <a:latin typeface="Times New Roman"/>
                <a:cs typeface="Times New Roman"/>
              </a:rPr>
              <a:t> </a:t>
            </a:r>
            <a:r>
              <a:rPr sz="2000" b="1" dirty="0">
                <a:latin typeface="Times New Roman"/>
                <a:cs typeface="Times New Roman"/>
              </a:rPr>
              <a:t>pixel</a:t>
            </a:r>
            <a:r>
              <a:rPr sz="2000" b="1" spc="-15" dirty="0">
                <a:latin typeface="Times New Roman"/>
                <a:cs typeface="Times New Roman"/>
              </a:rPr>
              <a:t> </a:t>
            </a:r>
            <a:r>
              <a:rPr sz="2000" b="1" dirty="0">
                <a:latin typeface="Times New Roman"/>
                <a:cs typeface="Times New Roman"/>
              </a:rPr>
              <a:t>value</a:t>
            </a:r>
            <a:r>
              <a:rPr sz="2000" b="1" spc="-30" dirty="0">
                <a:latin typeface="Times New Roman"/>
                <a:cs typeface="Times New Roman"/>
              </a:rPr>
              <a:t> </a:t>
            </a:r>
            <a:r>
              <a:rPr sz="2000" b="1" dirty="0">
                <a:latin typeface="Times New Roman"/>
                <a:cs typeface="Times New Roman"/>
              </a:rPr>
              <a:t>(similar</a:t>
            </a:r>
            <a:r>
              <a:rPr sz="2000" b="1" spc="-85" dirty="0">
                <a:latin typeface="Times New Roman"/>
                <a:cs typeface="Times New Roman"/>
              </a:rPr>
              <a:t> </a:t>
            </a:r>
            <a:r>
              <a:rPr sz="2000" b="1" dirty="0">
                <a:latin typeface="Times New Roman"/>
                <a:cs typeface="Times New Roman"/>
              </a:rPr>
              <a:t>to</a:t>
            </a:r>
            <a:r>
              <a:rPr sz="2000" b="1" spc="-10"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convolution</a:t>
            </a:r>
            <a:r>
              <a:rPr sz="2000" b="1" spc="-35" dirty="0">
                <a:latin typeface="Times New Roman"/>
                <a:cs typeface="Times New Roman"/>
              </a:rPr>
              <a:t> </a:t>
            </a:r>
            <a:r>
              <a:rPr sz="2000" b="1" spc="-10" dirty="0">
                <a:latin typeface="Times New Roman"/>
                <a:cs typeface="Times New Roman"/>
              </a:rPr>
              <a:t>process).</a:t>
            </a:r>
            <a:endParaRPr sz="2000">
              <a:latin typeface="Times New Roman"/>
              <a:cs typeface="Times New Roman"/>
            </a:endParaRPr>
          </a:p>
          <a:p>
            <a:pPr marL="643255" marR="5080" indent="-342900" algn="just">
              <a:lnSpc>
                <a:spcPct val="100000"/>
              </a:lnSpc>
              <a:buClr>
                <a:srgbClr val="FF0000"/>
              </a:buClr>
              <a:buFont typeface="Wingdings"/>
              <a:buChar char=""/>
              <a:tabLst>
                <a:tab pos="643255" algn="l"/>
              </a:tabLst>
            </a:pPr>
            <a:r>
              <a:rPr sz="2000" b="1" dirty="0">
                <a:solidFill>
                  <a:srgbClr val="006FC0"/>
                </a:solidFill>
                <a:latin typeface="Times New Roman"/>
                <a:cs typeface="Times New Roman"/>
              </a:rPr>
              <a:t>Order</a:t>
            </a:r>
            <a:r>
              <a:rPr sz="2000" b="1" spc="110" dirty="0">
                <a:solidFill>
                  <a:srgbClr val="006FC0"/>
                </a:solidFill>
                <a:latin typeface="Times New Roman"/>
                <a:cs typeface="Times New Roman"/>
              </a:rPr>
              <a:t>  </a:t>
            </a:r>
            <a:r>
              <a:rPr sz="2000" b="1" dirty="0">
                <a:solidFill>
                  <a:srgbClr val="006FC0"/>
                </a:solidFill>
                <a:latin typeface="Times New Roman"/>
                <a:cs typeface="Times New Roman"/>
              </a:rPr>
              <a:t>statistics</a:t>
            </a:r>
            <a:r>
              <a:rPr sz="2000" b="1" spc="140" dirty="0">
                <a:solidFill>
                  <a:srgbClr val="006FC0"/>
                </a:solidFill>
                <a:latin typeface="Times New Roman"/>
                <a:cs typeface="Times New Roman"/>
              </a:rPr>
              <a:t>  </a:t>
            </a:r>
            <a:r>
              <a:rPr sz="2000" b="1" dirty="0">
                <a:latin typeface="Times New Roman"/>
                <a:cs typeface="Times New Roman"/>
              </a:rPr>
              <a:t>is</a:t>
            </a:r>
            <a:r>
              <a:rPr sz="2000" b="1" spc="135" dirty="0">
                <a:latin typeface="Times New Roman"/>
                <a:cs typeface="Times New Roman"/>
              </a:rPr>
              <a:t>  </a:t>
            </a:r>
            <a:r>
              <a:rPr sz="2000" b="1" dirty="0">
                <a:latin typeface="Times New Roman"/>
                <a:cs typeface="Times New Roman"/>
              </a:rPr>
              <a:t>a</a:t>
            </a:r>
            <a:r>
              <a:rPr sz="2000" b="1" spc="135" dirty="0">
                <a:latin typeface="Times New Roman"/>
                <a:cs typeface="Times New Roman"/>
              </a:rPr>
              <a:t>  </a:t>
            </a:r>
            <a:r>
              <a:rPr sz="2000" b="1" dirty="0">
                <a:solidFill>
                  <a:srgbClr val="00AF50"/>
                </a:solidFill>
                <a:latin typeface="Times New Roman"/>
                <a:cs typeface="Times New Roman"/>
              </a:rPr>
              <a:t>technique</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that</a:t>
            </a:r>
            <a:r>
              <a:rPr sz="2000" b="1" spc="130" dirty="0">
                <a:solidFill>
                  <a:srgbClr val="00AF50"/>
                </a:solidFill>
                <a:latin typeface="Times New Roman"/>
                <a:cs typeface="Times New Roman"/>
              </a:rPr>
              <a:t>  </a:t>
            </a:r>
            <a:r>
              <a:rPr sz="2000" b="1" dirty="0">
                <a:solidFill>
                  <a:srgbClr val="00AF50"/>
                </a:solidFill>
                <a:latin typeface="Times New Roman"/>
                <a:cs typeface="Times New Roman"/>
              </a:rPr>
              <a:t>arranges</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the</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entire</a:t>
            </a:r>
            <a:r>
              <a:rPr sz="2000" b="1" spc="130" dirty="0">
                <a:solidFill>
                  <a:srgbClr val="00AF50"/>
                </a:solidFill>
                <a:latin typeface="Times New Roman"/>
                <a:cs typeface="Times New Roman"/>
              </a:rPr>
              <a:t>  </a:t>
            </a:r>
            <a:r>
              <a:rPr sz="2000" b="1" dirty="0">
                <a:solidFill>
                  <a:srgbClr val="00AF50"/>
                </a:solidFill>
                <a:latin typeface="Times New Roman"/>
                <a:cs typeface="Times New Roman"/>
              </a:rPr>
              <a:t>pixel</a:t>
            </a:r>
            <a:r>
              <a:rPr sz="2000" b="1" spc="135" dirty="0">
                <a:solidFill>
                  <a:srgbClr val="00AF50"/>
                </a:solidFill>
                <a:latin typeface="Times New Roman"/>
                <a:cs typeface="Times New Roman"/>
              </a:rPr>
              <a:t>  </a:t>
            </a:r>
            <a:r>
              <a:rPr sz="2000" b="1" spc="-25" dirty="0">
                <a:solidFill>
                  <a:srgbClr val="00AF50"/>
                </a:solidFill>
                <a:latin typeface="Times New Roman"/>
                <a:cs typeface="Times New Roman"/>
              </a:rPr>
              <a:t>in </a:t>
            </a:r>
            <a:r>
              <a:rPr sz="2000" b="1" dirty="0">
                <a:solidFill>
                  <a:srgbClr val="00AF50"/>
                </a:solidFill>
                <a:latin typeface="Times New Roman"/>
                <a:cs typeface="Times New Roman"/>
              </a:rPr>
              <a:t>sequential</a:t>
            </a:r>
            <a:r>
              <a:rPr sz="2000" b="1" spc="280" dirty="0">
                <a:solidFill>
                  <a:srgbClr val="00AF50"/>
                </a:solidFill>
                <a:latin typeface="Times New Roman"/>
                <a:cs typeface="Times New Roman"/>
              </a:rPr>
              <a:t> </a:t>
            </a:r>
            <a:r>
              <a:rPr sz="2000" b="1" dirty="0">
                <a:solidFill>
                  <a:srgbClr val="00AF50"/>
                </a:solidFill>
                <a:latin typeface="Times New Roman"/>
                <a:cs typeface="Times New Roman"/>
              </a:rPr>
              <a:t>order,</a:t>
            </a:r>
            <a:r>
              <a:rPr sz="2000" b="1" spc="290" dirty="0">
                <a:solidFill>
                  <a:srgbClr val="00AF50"/>
                </a:solidFill>
                <a:latin typeface="Times New Roman"/>
                <a:cs typeface="Times New Roman"/>
              </a:rPr>
              <a:t> </a:t>
            </a:r>
            <a:r>
              <a:rPr sz="2000" b="1" dirty="0">
                <a:latin typeface="Times New Roman"/>
                <a:cs typeface="Times New Roman"/>
              </a:rPr>
              <a:t>given</a:t>
            </a:r>
            <a:r>
              <a:rPr sz="2000" b="1" spc="290" dirty="0">
                <a:latin typeface="Times New Roman"/>
                <a:cs typeface="Times New Roman"/>
              </a:rPr>
              <a:t> </a:t>
            </a:r>
            <a:r>
              <a:rPr sz="2000" b="1" dirty="0">
                <a:latin typeface="Times New Roman"/>
                <a:cs typeface="Times New Roman"/>
              </a:rPr>
              <a:t>an</a:t>
            </a:r>
            <a:r>
              <a:rPr sz="2000" b="1" spc="285" dirty="0">
                <a:latin typeface="Times New Roman"/>
                <a:cs typeface="Times New Roman"/>
              </a:rPr>
              <a:t> </a:t>
            </a:r>
            <a:r>
              <a:rPr sz="2000" b="1" dirty="0">
                <a:latin typeface="Times New Roman"/>
                <a:cs typeface="Times New Roman"/>
              </a:rPr>
              <a:t>NxN</a:t>
            </a:r>
            <a:r>
              <a:rPr sz="2000" b="1" spc="295" dirty="0">
                <a:latin typeface="Times New Roman"/>
                <a:cs typeface="Times New Roman"/>
              </a:rPr>
              <a:t> </a:t>
            </a:r>
            <a:r>
              <a:rPr sz="2000" b="1" dirty="0">
                <a:latin typeface="Times New Roman"/>
                <a:cs typeface="Times New Roman"/>
              </a:rPr>
              <a:t>window</a:t>
            </a:r>
            <a:r>
              <a:rPr sz="2000" b="1" spc="295" dirty="0">
                <a:latin typeface="Times New Roman"/>
                <a:cs typeface="Times New Roman"/>
              </a:rPr>
              <a:t> </a:t>
            </a:r>
            <a:r>
              <a:rPr sz="2000" b="1" dirty="0">
                <a:latin typeface="Times New Roman"/>
                <a:cs typeface="Times New Roman"/>
              </a:rPr>
              <a:t>(W)</a:t>
            </a:r>
            <a:r>
              <a:rPr sz="2000" b="1" spc="290" dirty="0">
                <a:latin typeface="Times New Roman"/>
                <a:cs typeface="Times New Roman"/>
              </a:rPr>
              <a:t> </a:t>
            </a:r>
            <a:r>
              <a:rPr sz="2000" b="1" dirty="0">
                <a:latin typeface="Times New Roman"/>
                <a:cs typeface="Times New Roman"/>
              </a:rPr>
              <a:t>the</a:t>
            </a:r>
            <a:r>
              <a:rPr sz="2000" b="1" spc="280" dirty="0">
                <a:latin typeface="Times New Roman"/>
                <a:cs typeface="Times New Roman"/>
              </a:rPr>
              <a:t> </a:t>
            </a:r>
            <a:r>
              <a:rPr sz="2000" b="1" dirty="0">
                <a:latin typeface="Times New Roman"/>
                <a:cs typeface="Times New Roman"/>
              </a:rPr>
              <a:t>pixel</a:t>
            </a:r>
            <a:r>
              <a:rPr sz="2000" b="1" spc="290" dirty="0">
                <a:latin typeface="Times New Roman"/>
                <a:cs typeface="Times New Roman"/>
              </a:rPr>
              <a:t> </a:t>
            </a:r>
            <a:r>
              <a:rPr sz="2000" b="1" dirty="0">
                <a:latin typeface="Times New Roman"/>
                <a:cs typeface="Times New Roman"/>
              </a:rPr>
              <a:t>values</a:t>
            </a:r>
            <a:r>
              <a:rPr sz="2000" b="1" spc="275" dirty="0">
                <a:latin typeface="Times New Roman"/>
                <a:cs typeface="Times New Roman"/>
              </a:rPr>
              <a:t> </a:t>
            </a:r>
            <a:r>
              <a:rPr sz="2000" b="1" dirty="0">
                <a:latin typeface="Times New Roman"/>
                <a:cs typeface="Times New Roman"/>
              </a:rPr>
              <a:t>can</a:t>
            </a:r>
            <a:r>
              <a:rPr sz="2000" b="1" spc="290" dirty="0">
                <a:latin typeface="Times New Roman"/>
                <a:cs typeface="Times New Roman"/>
              </a:rPr>
              <a:t> </a:t>
            </a:r>
            <a:r>
              <a:rPr sz="2000" b="1" spc="-25" dirty="0">
                <a:latin typeface="Times New Roman"/>
                <a:cs typeface="Times New Roman"/>
              </a:rPr>
              <a:t>be </a:t>
            </a:r>
            <a:r>
              <a:rPr sz="2000" b="1" dirty="0">
                <a:latin typeface="Times New Roman"/>
                <a:cs typeface="Times New Roman"/>
              </a:rPr>
              <a:t>ordered</a:t>
            </a:r>
            <a:r>
              <a:rPr sz="2000" b="1" spc="-50" dirty="0">
                <a:latin typeface="Times New Roman"/>
                <a:cs typeface="Times New Roman"/>
              </a:rPr>
              <a:t> </a:t>
            </a:r>
            <a:r>
              <a:rPr sz="2000" b="1" dirty="0">
                <a:latin typeface="Times New Roman"/>
                <a:cs typeface="Times New Roman"/>
              </a:rPr>
              <a:t>from</a:t>
            </a:r>
            <a:r>
              <a:rPr sz="2000" b="1" spc="-30" dirty="0">
                <a:latin typeface="Times New Roman"/>
                <a:cs typeface="Times New Roman"/>
              </a:rPr>
              <a:t> </a:t>
            </a:r>
            <a:r>
              <a:rPr sz="2000" b="1" dirty="0">
                <a:latin typeface="Times New Roman"/>
                <a:cs typeface="Times New Roman"/>
              </a:rPr>
              <a:t>smallest</a:t>
            </a:r>
            <a:r>
              <a:rPr sz="2000" b="1" spc="-45" dirty="0">
                <a:latin typeface="Times New Roman"/>
                <a:cs typeface="Times New Roman"/>
              </a:rPr>
              <a:t> </a:t>
            </a:r>
            <a:r>
              <a:rPr sz="2000" b="1" dirty="0">
                <a:latin typeface="Times New Roman"/>
                <a:cs typeface="Times New Roman"/>
              </a:rPr>
              <a:t>to</a:t>
            </a:r>
            <a:r>
              <a:rPr sz="2000" b="1" spc="-30" dirty="0">
                <a:latin typeface="Times New Roman"/>
                <a:cs typeface="Times New Roman"/>
              </a:rPr>
              <a:t> </a:t>
            </a:r>
            <a:r>
              <a:rPr sz="2000" b="1" dirty="0">
                <a:latin typeface="Times New Roman"/>
                <a:cs typeface="Times New Roman"/>
              </a:rPr>
              <a:t>the</a:t>
            </a:r>
            <a:r>
              <a:rPr sz="2000" b="1" spc="-35" dirty="0">
                <a:latin typeface="Times New Roman"/>
                <a:cs typeface="Times New Roman"/>
              </a:rPr>
              <a:t> </a:t>
            </a:r>
            <a:r>
              <a:rPr sz="2000" b="1" spc="-10" dirty="0">
                <a:latin typeface="Times New Roman"/>
                <a:cs typeface="Times New Roman"/>
              </a:rPr>
              <a:t>largest.</a:t>
            </a:r>
            <a:endParaRPr sz="2000">
              <a:latin typeface="Times New Roman"/>
              <a:cs typeface="Times New Roman"/>
            </a:endParaRPr>
          </a:p>
          <a:p>
            <a:pPr>
              <a:lnSpc>
                <a:spcPct val="100000"/>
              </a:lnSpc>
              <a:spcBef>
                <a:spcPts val="630"/>
              </a:spcBef>
            </a:pPr>
            <a:endParaRPr sz="2000">
              <a:latin typeface="Times New Roman"/>
              <a:cs typeface="Times New Roman"/>
            </a:endParaRPr>
          </a:p>
          <a:p>
            <a:pPr marR="482600" algn="ctr">
              <a:lnSpc>
                <a:spcPct val="100000"/>
              </a:lnSpc>
            </a:pPr>
            <a:r>
              <a:rPr sz="2000" b="1" dirty="0">
                <a:latin typeface="Times New Roman"/>
                <a:cs typeface="Times New Roman"/>
              </a:rPr>
              <a:t>I1</a:t>
            </a:r>
            <a:r>
              <a:rPr sz="2000" b="1" spc="-20" dirty="0">
                <a:latin typeface="Times New Roman"/>
                <a:cs typeface="Times New Roman"/>
              </a:rPr>
              <a:t> </a:t>
            </a:r>
            <a:r>
              <a:rPr sz="2000" b="1" dirty="0">
                <a:latin typeface="Times New Roman"/>
                <a:cs typeface="Times New Roman"/>
              </a:rPr>
              <a:t>≤</a:t>
            </a:r>
            <a:r>
              <a:rPr sz="2000" b="1" spc="-20" dirty="0">
                <a:latin typeface="Times New Roman"/>
                <a:cs typeface="Times New Roman"/>
              </a:rPr>
              <a:t> </a:t>
            </a:r>
            <a:r>
              <a:rPr sz="2000" b="1" dirty="0">
                <a:latin typeface="Times New Roman"/>
                <a:cs typeface="Times New Roman"/>
              </a:rPr>
              <a:t>I2</a:t>
            </a:r>
            <a:r>
              <a:rPr sz="2000" b="1" spc="-30"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latin typeface="Times New Roman"/>
                <a:cs typeface="Times New Roman"/>
              </a:rPr>
              <a:t>I3...…………………&lt;</a:t>
            </a:r>
            <a:r>
              <a:rPr sz="2000" b="1" spc="-50"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12700" algn="just">
              <a:lnSpc>
                <a:spcPct val="100000"/>
              </a:lnSpc>
              <a:spcBef>
                <a:spcPts val="1395"/>
              </a:spcBef>
            </a:pPr>
            <a:r>
              <a:rPr sz="2000" b="1" u="sng" dirty="0">
                <a:solidFill>
                  <a:srgbClr val="FF0000"/>
                </a:solidFill>
                <a:uFill>
                  <a:solidFill>
                    <a:srgbClr val="FF0000"/>
                  </a:solidFill>
                </a:uFill>
                <a:latin typeface="Times New Roman"/>
                <a:cs typeface="Times New Roman"/>
              </a:rPr>
              <a:t>Where:</a:t>
            </a:r>
            <a:r>
              <a:rPr sz="2000" b="1" spc="-30" dirty="0">
                <a:solidFill>
                  <a:srgbClr val="FF0000"/>
                </a:solidFill>
                <a:latin typeface="Times New Roman"/>
                <a:cs typeface="Times New Roman"/>
              </a:rPr>
              <a:t> </a:t>
            </a:r>
            <a:r>
              <a:rPr sz="2000" b="1" dirty="0">
                <a:latin typeface="Times New Roman"/>
                <a:cs typeface="Times New Roman"/>
              </a:rPr>
              <a:t>I1,</a:t>
            </a:r>
            <a:r>
              <a:rPr sz="2000" b="1" spc="-25" dirty="0">
                <a:latin typeface="Times New Roman"/>
                <a:cs typeface="Times New Roman"/>
              </a:rPr>
              <a:t> </a:t>
            </a:r>
            <a:r>
              <a:rPr sz="2000" b="1" dirty="0">
                <a:latin typeface="Times New Roman"/>
                <a:cs typeface="Times New Roman"/>
              </a:rPr>
              <a:t>I2,</a:t>
            </a:r>
            <a:r>
              <a:rPr sz="2000" b="1" spc="-10" dirty="0">
                <a:latin typeface="Times New Roman"/>
                <a:cs typeface="Times New Roman"/>
              </a:rPr>
              <a:t> </a:t>
            </a:r>
            <a:r>
              <a:rPr sz="2000" b="1" dirty="0">
                <a:latin typeface="Times New Roman"/>
                <a:cs typeface="Times New Roman"/>
              </a:rPr>
              <a:t>I3...……,</a:t>
            </a:r>
            <a:r>
              <a:rPr sz="2000" b="1" spc="-50"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12700" marR="5563870" algn="just">
              <a:lnSpc>
                <a:spcPct val="100000"/>
              </a:lnSpc>
            </a:pPr>
            <a:r>
              <a:rPr sz="2000" b="1" dirty="0">
                <a:latin typeface="Times New Roman"/>
                <a:cs typeface="Times New Roman"/>
              </a:rPr>
              <a:t>are</a:t>
            </a:r>
            <a:r>
              <a:rPr sz="2000" b="1" spc="-30" dirty="0">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latin typeface="Times New Roman"/>
                <a:cs typeface="Times New Roman"/>
              </a:rPr>
              <a:t>intensity</a:t>
            </a:r>
            <a:r>
              <a:rPr sz="2000" b="1" spc="-35" dirty="0">
                <a:latin typeface="Times New Roman"/>
                <a:cs typeface="Times New Roman"/>
              </a:rPr>
              <a:t> </a:t>
            </a:r>
            <a:r>
              <a:rPr sz="2000" b="1" dirty="0">
                <a:latin typeface="Times New Roman"/>
                <a:cs typeface="Times New Roman"/>
              </a:rPr>
              <a:t>values</a:t>
            </a:r>
            <a:r>
              <a:rPr sz="2000" b="1" spc="-45" dirty="0">
                <a:latin typeface="Times New Roman"/>
                <a:cs typeface="Times New Roman"/>
              </a:rPr>
              <a:t> </a:t>
            </a:r>
            <a:r>
              <a:rPr sz="2000" b="1" spc="-25" dirty="0">
                <a:latin typeface="Times New Roman"/>
                <a:cs typeface="Times New Roman"/>
              </a:rPr>
              <a:t>of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subset</a:t>
            </a:r>
            <a:r>
              <a:rPr sz="2000" b="1" spc="-30"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dirty="0">
                <a:latin typeface="Times New Roman"/>
                <a:cs typeface="Times New Roman"/>
              </a:rPr>
              <a:t>pixels</a:t>
            </a:r>
            <a:r>
              <a:rPr sz="2000" b="1" spc="-25" dirty="0">
                <a:latin typeface="Times New Roman"/>
                <a:cs typeface="Times New Roman"/>
              </a:rPr>
              <a:t> </a:t>
            </a:r>
            <a:r>
              <a:rPr sz="2000" b="1" dirty="0">
                <a:latin typeface="Times New Roman"/>
                <a:cs typeface="Times New Roman"/>
              </a:rPr>
              <a:t>in</a:t>
            </a:r>
            <a:r>
              <a:rPr sz="2000" b="1" spc="-15" dirty="0">
                <a:latin typeface="Times New Roman"/>
                <a:cs typeface="Times New Roman"/>
              </a:rPr>
              <a:t> </a:t>
            </a:r>
            <a:r>
              <a:rPr sz="2000" b="1" spc="-25" dirty="0">
                <a:latin typeface="Times New Roman"/>
                <a:cs typeface="Times New Roman"/>
              </a:rPr>
              <a:t>the </a:t>
            </a:r>
            <a:r>
              <a:rPr sz="2000" b="1" spc="-10" dirty="0">
                <a:latin typeface="Times New Roman"/>
                <a:cs typeface="Times New Roman"/>
              </a:rPr>
              <a:t>image.</a:t>
            </a:r>
            <a:endParaRPr sz="2000">
              <a:latin typeface="Times New Roman"/>
              <a:cs typeface="Times New Roman"/>
            </a:endParaRPr>
          </a:p>
        </p:txBody>
      </p:sp>
      <p:pic>
        <p:nvPicPr>
          <p:cNvPr id="3" name="object 3"/>
          <p:cNvPicPr/>
          <p:nvPr/>
        </p:nvPicPr>
        <p:blipFill>
          <a:blip r:embed="rId2" cstate="print"/>
          <a:stretch>
            <a:fillRect/>
          </a:stretch>
        </p:blipFill>
        <p:spPr>
          <a:xfrm>
            <a:off x="3491865" y="4281004"/>
            <a:ext cx="5101323" cy="2229850"/>
          </a:xfrm>
          <a:prstGeom prst="rect">
            <a:avLst/>
          </a:prstGeom>
        </p:spPr>
      </p:pic>
      <p:pic>
        <p:nvPicPr>
          <p:cNvPr id="4" name="object 4"/>
          <p:cNvPicPr/>
          <p:nvPr/>
        </p:nvPicPr>
        <p:blipFill>
          <a:blip r:embed="rId3" cstate="print"/>
          <a:stretch>
            <a:fillRect/>
          </a:stretch>
        </p:blipFill>
        <p:spPr>
          <a:xfrm>
            <a:off x="3314696" y="324589"/>
            <a:ext cx="2307339" cy="309394"/>
          </a:xfrm>
          <a:prstGeom prst="rect">
            <a:avLst/>
          </a:prstGeom>
        </p:spPr>
      </p:pic>
      <p:grpSp>
        <p:nvGrpSpPr>
          <p:cNvPr id="5" name="object 5"/>
          <p:cNvGrpSpPr/>
          <p:nvPr/>
        </p:nvGrpSpPr>
        <p:grpSpPr>
          <a:xfrm>
            <a:off x="426719" y="795527"/>
            <a:ext cx="8211820" cy="91440"/>
            <a:chOff x="426719" y="795527"/>
            <a:chExt cx="8211820" cy="91440"/>
          </a:xfrm>
        </p:grpSpPr>
        <p:pic>
          <p:nvPicPr>
            <p:cNvPr id="6" name="object 6"/>
            <p:cNvPicPr/>
            <p:nvPr/>
          </p:nvPicPr>
          <p:blipFill>
            <a:blip r:embed="rId4" cstate="print"/>
            <a:stretch>
              <a:fillRect/>
            </a:stretch>
          </p:blipFill>
          <p:spPr>
            <a:xfrm>
              <a:off x="426719" y="795527"/>
              <a:ext cx="8211311" cy="91440"/>
            </a:xfrm>
            <a:prstGeom prst="rect">
              <a:avLst/>
            </a:prstGeom>
          </p:spPr>
        </p:pic>
        <p:sp>
          <p:nvSpPr>
            <p:cNvPr id="7" name="object 7"/>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7229982" y="1178178"/>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840">
                <a:tc>
                  <a:txBody>
                    <a:bodyPr/>
                    <a:lstStyle/>
                    <a:p>
                      <a:pPr algn="ctr">
                        <a:lnSpc>
                          <a:spcPct val="100000"/>
                        </a:lnSpc>
                        <a:spcBef>
                          <a:spcPts val="300"/>
                        </a:spcBef>
                      </a:pPr>
                      <a:r>
                        <a:rPr sz="1800" b="1" spc="-50" dirty="0">
                          <a:latin typeface="Times New Roman"/>
                          <a:cs typeface="Times New Roman"/>
                        </a:rPr>
                        <a:t>5</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5</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1800" b="1" spc="-50" dirty="0">
                          <a:latin typeface="Times New Roman"/>
                          <a:cs typeface="Times New Roman"/>
                        </a:rPr>
                        <a:t>6</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4</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1800" b="1" spc="-50" dirty="0">
                          <a:latin typeface="Times New Roman"/>
                          <a:cs typeface="Times New Roman"/>
                        </a:rPr>
                        <a:t>5</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4</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1800" b="1" spc="-50" dirty="0">
                          <a:latin typeface="Times New Roman"/>
                          <a:cs typeface="Times New Roman"/>
                        </a:rPr>
                        <a:t>7</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3" name="object 3"/>
          <p:cNvSpPr txBox="1"/>
          <p:nvPr/>
        </p:nvSpPr>
        <p:spPr>
          <a:xfrm>
            <a:off x="402437" y="500633"/>
            <a:ext cx="8270875" cy="5628640"/>
          </a:xfrm>
          <a:prstGeom prst="rect">
            <a:avLst/>
          </a:prstGeom>
        </p:spPr>
        <p:txBody>
          <a:bodyPr vert="horz" wrap="square" lIns="0" tIns="13335" rIns="0" bIns="0" rtlCol="0">
            <a:spAutoFit/>
          </a:bodyPr>
          <a:lstStyle/>
          <a:p>
            <a:pPr marL="156210">
              <a:lnSpc>
                <a:spcPct val="100000"/>
              </a:lnSpc>
              <a:spcBef>
                <a:spcPts val="105"/>
              </a:spcBef>
            </a:pPr>
            <a:r>
              <a:rPr sz="2000" b="1" u="sng" spc="-10" dirty="0">
                <a:solidFill>
                  <a:srgbClr val="C00000"/>
                </a:solidFill>
                <a:uFill>
                  <a:solidFill>
                    <a:srgbClr val="C00000"/>
                  </a:solidFill>
                </a:uFill>
                <a:latin typeface="Times New Roman"/>
                <a:cs typeface="Times New Roman"/>
              </a:rPr>
              <a:t>Example:</a:t>
            </a:r>
            <a:endParaRPr sz="2000">
              <a:latin typeface="Times New Roman"/>
              <a:cs typeface="Times New Roman"/>
            </a:endParaRPr>
          </a:p>
          <a:p>
            <a:pPr marL="282575">
              <a:lnSpc>
                <a:spcPct val="100000"/>
              </a:lnSpc>
            </a:pPr>
            <a:r>
              <a:rPr sz="2000" b="1" dirty="0">
                <a:latin typeface="Times New Roman"/>
                <a:cs typeface="Times New Roman"/>
              </a:rPr>
              <a:t>Given</a:t>
            </a:r>
            <a:r>
              <a:rPr sz="2000" b="1" spc="-25"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following</a:t>
            </a:r>
            <a:r>
              <a:rPr sz="2000" b="1" spc="-35" dirty="0">
                <a:latin typeface="Times New Roman"/>
                <a:cs typeface="Times New Roman"/>
              </a:rPr>
              <a:t> </a:t>
            </a:r>
            <a:r>
              <a:rPr sz="2000" b="1" dirty="0">
                <a:latin typeface="Times New Roman"/>
                <a:cs typeface="Times New Roman"/>
              </a:rPr>
              <a:t>3X3</a:t>
            </a:r>
            <a:r>
              <a:rPr sz="2000" b="1" spc="-35" dirty="0">
                <a:latin typeface="Times New Roman"/>
                <a:cs typeface="Times New Roman"/>
              </a:rPr>
              <a:t> </a:t>
            </a:r>
            <a:r>
              <a:rPr sz="2000" b="1" dirty="0">
                <a:latin typeface="Times New Roman"/>
                <a:cs typeface="Times New Roman"/>
              </a:rPr>
              <a:t>neighborhood</a:t>
            </a:r>
            <a:r>
              <a:rPr sz="2000" b="1" spc="-45" dirty="0">
                <a:latin typeface="Times New Roman"/>
                <a:cs typeface="Times New Roman"/>
              </a:rPr>
              <a:t> </a:t>
            </a:r>
            <a:r>
              <a:rPr sz="2000" b="1" spc="-50" dirty="0">
                <a:latin typeface="Times New Roman"/>
                <a:cs typeface="Times New Roman"/>
              </a:rPr>
              <a:t>:</a:t>
            </a:r>
            <a:endParaRPr sz="2000">
              <a:latin typeface="Times New Roman"/>
              <a:cs typeface="Times New Roman"/>
            </a:endParaRPr>
          </a:p>
          <a:p>
            <a:pPr marL="612775" indent="-281305">
              <a:lnSpc>
                <a:spcPct val="100000"/>
              </a:lnSpc>
              <a:spcBef>
                <a:spcPts val="1200"/>
              </a:spcBef>
              <a:buClr>
                <a:srgbClr val="FF0000"/>
              </a:buClr>
              <a:buAutoNum type="arabicPeriod"/>
              <a:tabLst>
                <a:tab pos="612775" algn="l"/>
              </a:tabLst>
            </a:pPr>
            <a:r>
              <a:rPr sz="2000" b="1" dirty="0">
                <a:solidFill>
                  <a:srgbClr val="006FC0"/>
                </a:solidFill>
                <a:latin typeface="Times New Roman"/>
                <a:cs typeface="Times New Roman"/>
              </a:rPr>
              <a:t>Sort</a:t>
            </a:r>
            <a:r>
              <a:rPr sz="2000" b="1" spc="-3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value</a:t>
            </a:r>
            <a:r>
              <a:rPr sz="2000" b="1" spc="-25" dirty="0">
                <a:solidFill>
                  <a:srgbClr val="006FC0"/>
                </a:solidFill>
                <a:latin typeface="Times New Roman"/>
                <a:cs typeface="Times New Roman"/>
              </a:rPr>
              <a:t> </a:t>
            </a:r>
            <a:r>
              <a:rPr sz="2000" b="1" dirty="0">
                <a:latin typeface="Times New Roman"/>
                <a:cs typeface="Times New Roman"/>
              </a:rPr>
              <a:t>in</a:t>
            </a:r>
            <a:r>
              <a:rPr sz="2000" b="1" spc="-10" dirty="0">
                <a:latin typeface="Times New Roman"/>
                <a:cs typeface="Times New Roman"/>
              </a:rPr>
              <a:t> </a:t>
            </a:r>
            <a:r>
              <a:rPr sz="2000" b="1" dirty="0">
                <a:latin typeface="Times New Roman"/>
                <a:cs typeface="Times New Roman"/>
              </a:rPr>
              <a:t>order</a:t>
            </a:r>
            <a:r>
              <a:rPr sz="2000" b="1" spc="-50" dirty="0">
                <a:latin typeface="Times New Roman"/>
                <a:cs typeface="Times New Roman"/>
              </a:rPr>
              <a:t> </a:t>
            </a:r>
            <a:r>
              <a:rPr sz="2000" b="1" dirty="0">
                <a:latin typeface="Times New Roman"/>
                <a:cs typeface="Times New Roman"/>
              </a:rPr>
              <a:t>of</a:t>
            </a:r>
            <a:r>
              <a:rPr sz="2000" b="1" spc="-20" dirty="0">
                <a:latin typeface="Times New Roman"/>
                <a:cs typeface="Times New Roman"/>
              </a:rPr>
              <a:t> </a:t>
            </a:r>
            <a:r>
              <a:rPr sz="2000" b="1" dirty="0">
                <a:latin typeface="Times New Roman"/>
                <a:cs typeface="Times New Roman"/>
              </a:rPr>
              <a:t>size (3,3,4,4,5,5,5,6,7)</a:t>
            </a:r>
            <a:r>
              <a:rPr sz="2000" b="1" spc="-40" dirty="0">
                <a:latin typeface="Times New Roman"/>
                <a:cs typeface="Times New Roman"/>
              </a:rPr>
              <a:t> </a:t>
            </a:r>
            <a:r>
              <a:rPr sz="2000" b="1" spc="-50" dirty="0">
                <a:latin typeface="Times New Roman"/>
                <a:cs typeface="Times New Roman"/>
              </a:rPr>
              <a:t>.</a:t>
            </a:r>
            <a:endParaRPr sz="2000">
              <a:latin typeface="Times New Roman"/>
              <a:cs typeface="Times New Roman"/>
            </a:endParaRPr>
          </a:p>
          <a:p>
            <a:pPr marL="612775" indent="-281305">
              <a:lnSpc>
                <a:spcPct val="100000"/>
              </a:lnSpc>
              <a:buClr>
                <a:srgbClr val="FF0000"/>
              </a:buClr>
              <a:buAutoNum type="arabicPeriod"/>
              <a:tabLst>
                <a:tab pos="612775" algn="l"/>
              </a:tabLst>
            </a:pPr>
            <a:r>
              <a:rPr sz="2000" b="1" dirty="0">
                <a:solidFill>
                  <a:srgbClr val="006FC0"/>
                </a:solidFill>
                <a:latin typeface="Times New Roman"/>
                <a:cs typeface="Times New Roman"/>
              </a:rPr>
              <a:t>Select</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15" dirty="0">
                <a:solidFill>
                  <a:srgbClr val="006FC0"/>
                </a:solidFill>
                <a:latin typeface="Times New Roman"/>
                <a:cs typeface="Times New Roman"/>
              </a:rPr>
              <a:t> </a:t>
            </a:r>
            <a:r>
              <a:rPr sz="2000" b="1" dirty="0">
                <a:solidFill>
                  <a:srgbClr val="006FC0"/>
                </a:solidFill>
                <a:latin typeface="Times New Roman"/>
                <a:cs typeface="Times New Roman"/>
              </a:rPr>
              <a:t>middle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value</a:t>
            </a:r>
            <a:r>
              <a:rPr sz="2000" b="1" spc="-30" dirty="0">
                <a:solidFill>
                  <a:srgbClr val="006FC0"/>
                </a:solidFill>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dirty="0">
                <a:latin typeface="Times New Roman"/>
                <a:cs typeface="Times New Roman"/>
              </a:rPr>
              <a:t>un</a:t>
            </a:r>
            <a:r>
              <a:rPr sz="2000" b="1" spc="-15" dirty="0">
                <a:latin typeface="Times New Roman"/>
                <a:cs typeface="Times New Roman"/>
              </a:rPr>
              <a:t> </a:t>
            </a:r>
            <a:r>
              <a:rPr sz="2000" b="1" dirty="0">
                <a:latin typeface="Times New Roman"/>
                <a:cs typeface="Times New Roman"/>
              </a:rPr>
              <a:t>this</a:t>
            </a:r>
            <a:r>
              <a:rPr sz="2000" b="1" spc="-25" dirty="0">
                <a:latin typeface="Times New Roman"/>
                <a:cs typeface="Times New Roman"/>
              </a:rPr>
              <a:t> </a:t>
            </a:r>
            <a:r>
              <a:rPr sz="2000" b="1" dirty="0">
                <a:latin typeface="Times New Roman"/>
                <a:cs typeface="Times New Roman"/>
              </a:rPr>
              <a:t>case</a:t>
            </a:r>
            <a:r>
              <a:rPr sz="2000" b="1" spc="-5" dirty="0">
                <a:latin typeface="Times New Roman"/>
                <a:cs typeface="Times New Roman"/>
              </a:rPr>
              <a:t> </a:t>
            </a:r>
            <a:r>
              <a:rPr sz="2000" b="1" dirty="0">
                <a:latin typeface="Times New Roman"/>
                <a:cs typeface="Times New Roman"/>
              </a:rPr>
              <a:t>it</a:t>
            </a:r>
            <a:r>
              <a:rPr sz="2000" b="1" spc="-10" dirty="0">
                <a:latin typeface="Times New Roman"/>
                <a:cs typeface="Times New Roman"/>
              </a:rPr>
              <a:t> </a:t>
            </a:r>
            <a:r>
              <a:rPr sz="2000" b="1" dirty="0">
                <a:latin typeface="Times New Roman"/>
                <a:cs typeface="Times New Roman"/>
              </a:rPr>
              <a:t>is</a:t>
            </a:r>
            <a:r>
              <a:rPr sz="2000" b="1" spc="-10" dirty="0">
                <a:latin typeface="Times New Roman"/>
                <a:cs typeface="Times New Roman"/>
              </a:rPr>
              <a:t> </a:t>
            </a:r>
            <a:r>
              <a:rPr sz="2000" b="1" spc="-25" dirty="0">
                <a:latin typeface="Times New Roman"/>
                <a:cs typeface="Times New Roman"/>
              </a:rPr>
              <a:t>5.</a:t>
            </a:r>
            <a:endParaRPr sz="2000">
              <a:latin typeface="Times New Roman"/>
              <a:cs typeface="Times New Roman"/>
            </a:endParaRPr>
          </a:p>
          <a:p>
            <a:pPr marL="673100" indent="-341630">
              <a:lnSpc>
                <a:spcPct val="100000"/>
              </a:lnSpc>
              <a:buClr>
                <a:srgbClr val="FF0000"/>
              </a:buClr>
              <a:buAutoNum type="arabicPeriod"/>
              <a:tabLst>
                <a:tab pos="673100" algn="l"/>
              </a:tabLst>
            </a:pPr>
            <a:r>
              <a:rPr sz="2000" b="1" dirty="0">
                <a:latin typeface="Times New Roman"/>
                <a:cs typeface="Times New Roman"/>
              </a:rPr>
              <a:t>This</a:t>
            </a:r>
            <a:r>
              <a:rPr sz="2000" b="1" spc="-15" dirty="0">
                <a:latin typeface="Times New Roman"/>
                <a:cs typeface="Times New Roman"/>
              </a:rPr>
              <a:t> </a:t>
            </a:r>
            <a:r>
              <a:rPr sz="2000" b="1" dirty="0">
                <a:latin typeface="Times New Roman"/>
                <a:cs typeface="Times New Roman"/>
              </a:rPr>
              <a:t>5</a:t>
            </a:r>
            <a:r>
              <a:rPr sz="2000" b="1" spc="-10" dirty="0">
                <a:latin typeface="Times New Roman"/>
                <a:cs typeface="Times New Roman"/>
              </a:rPr>
              <a:t> </a:t>
            </a:r>
            <a:r>
              <a:rPr sz="2000" b="1" dirty="0">
                <a:latin typeface="Times New Roman"/>
                <a:cs typeface="Times New Roman"/>
              </a:rPr>
              <a:t>is</a:t>
            </a:r>
            <a:r>
              <a:rPr sz="2000" b="1" spc="-15" dirty="0">
                <a:latin typeface="Times New Roman"/>
                <a:cs typeface="Times New Roman"/>
              </a:rPr>
              <a:t> </a:t>
            </a:r>
            <a:r>
              <a:rPr sz="2000" b="1" dirty="0">
                <a:latin typeface="Times New Roman"/>
                <a:cs typeface="Times New Roman"/>
              </a:rPr>
              <a:t>then</a:t>
            </a:r>
            <a:r>
              <a:rPr sz="2000" b="1" spc="-25" dirty="0">
                <a:latin typeface="Times New Roman"/>
                <a:cs typeface="Times New Roman"/>
              </a:rPr>
              <a:t> </a:t>
            </a:r>
            <a:r>
              <a:rPr sz="2000" b="1" dirty="0">
                <a:solidFill>
                  <a:srgbClr val="006FC0"/>
                </a:solidFill>
                <a:latin typeface="Times New Roman"/>
                <a:cs typeface="Times New Roman"/>
              </a:rPr>
              <a:t>placed</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in center</a:t>
            </a:r>
            <a:r>
              <a:rPr sz="2000" b="1" spc="-55" dirty="0">
                <a:solidFill>
                  <a:srgbClr val="006FC0"/>
                </a:solidFill>
                <a:latin typeface="Times New Roman"/>
                <a:cs typeface="Times New Roman"/>
              </a:rPr>
              <a:t> </a:t>
            </a:r>
            <a:r>
              <a:rPr sz="2000" b="1" spc="-10" dirty="0">
                <a:solidFill>
                  <a:srgbClr val="006FC0"/>
                </a:solidFill>
                <a:latin typeface="Times New Roman"/>
                <a:cs typeface="Times New Roman"/>
              </a:rPr>
              <a:t>location</a:t>
            </a:r>
            <a:r>
              <a:rPr sz="2000" b="1" spc="-10" dirty="0">
                <a:latin typeface="Times New Roman"/>
                <a:cs typeface="Times New Roman"/>
              </a:rPr>
              <a:t>.</a:t>
            </a:r>
            <a:endParaRPr sz="2000">
              <a:latin typeface="Times New Roman"/>
              <a:cs typeface="Times New Roman"/>
            </a:endParaRPr>
          </a:p>
          <a:p>
            <a:pPr>
              <a:lnSpc>
                <a:spcPct val="100000"/>
              </a:lnSpc>
              <a:spcBef>
                <a:spcPts val="2205"/>
              </a:spcBef>
            </a:pPr>
            <a:endParaRPr sz="2000">
              <a:latin typeface="Times New Roman"/>
              <a:cs typeface="Times New Roman"/>
            </a:endParaRPr>
          </a:p>
          <a:p>
            <a:pPr marL="355600" marR="5080" indent="-342900" algn="just">
              <a:lnSpc>
                <a:spcPct val="100000"/>
              </a:lnSpc>
              <a:buClr>
                <a:srgbClr val="FF0000"/>
              </a:buClr>
              <a:buFont typeface="Wingdings"/>
              <a:buChar char=""/>
              <a:tabLst>
                <a:tab pos="355600" algn="l"/>
              </a:tabLst>
            </a:pPr>
            <a:r>
              <a:rPr sz="2000" b="1" dirty="0">
                <a:latin typeface="Times New Roman"/>
                <a:cs typeface="Times New Roman"/>
              </a:rPr>
              <a:t>A</a:t>
            </a:r>
            <a:r>
              <a:rPr sz="2000" b="1" spc="140" dirty="0">
                <a:latin typeface="Times New Roman"/>
                <a:cs typeface="Times New Roman"/>
              </a:rPr>
              <a:t> </a:t>
            </a:r>
            <a:r>
              <a:rPr sz="2000" b="1" dirty="0">
                <a:solidFill>
                  <a:srgbClr val="FF0000"/>
                </a:solidFill>
                <a:latin typeface="Times New Roman"/>
                <a:cs typeface="Times New Roman"/>
              </a:rPr>
              <a:t>median</a:t>
            </a:r>
            <a:r>
              <a:rPr sz="2000" b="1" spc="240" dirty="0">
                <a:solidFill>
                  <a:srgbClr val="FF0000"/>
                </a:solidFill>
                <a:latin typeface="Times New Roman"/>
                <a:cs typeface="Times New Roman"/>
              </a:rPr>
              <a:t> </a:t>
            </a:r>
            <a:r>
              <a:rPr sz="2000" b="1" dirty="0">
                <a:solidFill>
                  <a:srgbClr val="FF0000"/>
                </a:solidFill>
                <a:latin typeface="Times New Roman"/>
                <a:cs typeface="Times New Roman"/>
              </a:rPr>
              <a:t>filter</a:t>
            </a:r>
            <a:r>
              <a:rPr sz="2000" b="1" spc="204" dirty="0">
                <a:solidFill>
                  <a:srgbClr val="FF0000"/>
                </a:solidFill>
                <a:latin typeface="Times New Roman"/>
                <a:cs typeface="Times New Roman"/>
              </a:rPr>
              <a:t> </a:t>
            </a:r>
            <a:r>
              <a:rPr sz="2000" b="1" dirty="0">
                <a:latin typeface="Times New Roman"/>
                <a:cs typeface="Times New Roman"/>
              </a:rPr>
              <a:t>can</a:t>
            </a:r>
            <a:r>
              <a:rPr sz="2000" b="1" spc="240" dirty="0">
                <a:latin typeface="Times New Roman"/>
                <a:cs typeface="Times New Roman"/>
              </a:rPr>
              <a:t> </a:t>
            </a:r>
            <a:r>
              <a:rPr sz="2000" b="1" dirty="0">
                <a:latin typeface="Times New Roman"/>
                <a:cs typeface="Times New Roman"/>
              </a:rPr>
              <a:t>use</a:t>
            </a:r>
            <a:r>
              <a:rPr sz="2000" b="1" spc="235" dirty="0">
                <a:latin typeface="Times New Roman"/>
                <a:cs typeface="Times New Roman"/>
              </a:rPr>
              <a:t> </a:t>
            </a:r>
            <a:r>
              <a:rPr sz="2000" b="1" dirty="0">
                <a:latin typeface="Times New Roman"/>
                <a:cs typeface="Times New Roman"/>
              </a:rPr>
              <a:t>a</a:t>
            </a:r>
            <a:r>
              <a:rPr sz="2000" b="1" spc="235" dirty="0">
                <a:latin typeface="Times New Roman"/>
                <a:cs typeface="Times New Roman"/>
              </a:rPr>
              <a:t> </a:t>
            </a:r>
            <a:r>
              <a:rPr sz="2000" b="1" dirty="0">
                <a:latin typeface="Times New Roman"/>
                <a:cs typeface="Times New Roman"/>
              </a:rPr>
              <a:t>neighborhood</a:t>
            </a:r>
            <a:r>
              <a:rPr sz="2000" b="1" spc="240" dirty="0">
                <a:latin typeface="Times New Roman"/>
                <a:cs typeface="Times New Roman"/>
              </a:rPr>
              <a:t> </a:t>
            </a:r>
            <a:r>
              <a:rPr sz="2000" b="1" dirty="0">
                <a:latin typeface="Times New Roman"/>
                <a:cs typeface="Times New Roman"/>
              </a:rPr>
              <a:t>of</a:t>
            </a:r>
            <a:r>
              <a:rPr sz="2000" b="1" spc="250" dirty="0">
                <a:latin typeface="Times New Roman"/>
                <a:cs typeface="Times New Roman"/>
              </a:rPr>
              <a:t> </a:t>
            </a:r>
            <a:r>
              <a:rPr sz="2000" b="1" dirty="0">
                <a:latin typeface="Times New Roman"/>
                <a:cs typeface="Times New Roman"/>
              </a:rPr>
              <a:t>any</a:t>
            </a:r>
            <a:r>
              <a:rPr sz="2000" b="1" spc="235" dirty="0">
                <a:latin typeface="Times New Roman"/>
                <a:cs typeface="Times New Roman"/>
              </a:rPr>
              <a:t> </a:t>
            </a:r>
            <a:r>
              <a:rPr sz="2000" b="1" dirty="0">
                <a:latin typeface="Times New Roman"/>
                <a:cs typeface="Times New Roman"/>
              </a:rPr>
              <a:t>size,</a:t>
            </a:r>
            <a:r>
              <a:rPr sz="2000" b="1" spc="245" dirty="0">
                <a:latin typeface="Times New Roman"/>
                <a:cs typeface="Times New Roman"/>
              </a:rPr>
              <a:t> </a:t>
            </a:r>
            <a:r>
              <a:rPr sz="2000" b="1" dirty="0">
                <a:latin typeface="Times New Roman"/>
                <a:cs typeface="Times New Roman"/>
              </a:rPr>
              <a:t>but</a:t>
            </a:r>
            <a:r>
              <a:rPr sz="2000" b="1" spc="240" dirty="0">
                <a:latin typeface="Times New Roman"/>
                <a:cs typeface="Times New Roman"/>
              </a:rPr>
              <a:t> </a:t>
            </a:r>
            <a:r>
              <a:rPr sz="2000" b="1" dirty="0">
                <a:latin typeface="Times New Roman"/>
                <a:cs typeface="Times New Roman"/>
              </a:rPr>
              <a:t>3X3,</a:t>
            </a:r>
            <a:r>
              <a:rPr sz="2000" b="1" spc="235" dirty="0">
                <a:latin typeface="Times New Roman"/>
                <a:cs typeface="Times New Roman"/>
              </a:rPr>
              <a:t> </a:t>
            </a:r>
            <a:r>
              <a:rPr sz="2000" b="1" dirty="0">
                <a:latin typeface="Times New Roman"/>
                <a:cs typeface="Times New Roman"/>
              </a:rPr>
              <a:t>5X5</a:t>
            </a:r>
            <a:r>
              <a:rPr sz="2000" b="1" spc="225" dirty="0">
                <a:latin typeface="Times New Roman"/>
                <a:cs typeface="Times New Roman"/>
              </a:rPr>
              <a:t> </a:t>
            </a:r>
            <a:r>
              <a:rPr sz="2000" b="1" spc="-25" dirty="0">
                <a:latin typeface="Times New Roman"/>
                <a:cs typeface="Times New Roman"/>
              </a:rPr>
              <a:t>and </a:t>
            </a:r>
            <a:r>
              <a:rPr sz="2000" b="1" dirty="0">
                <a:latin typeface="Times New Roman"/>
                <a:cs typeface="Times New Roman"/>
              </a:rPr>
              <a:t>7X7</a:t>
            </a:r>
            <a:r>
              <a:rPr sz="2000" b="1" spc="-50" dirty="0">
                <a:latin typeface="Times New Roman"/>
                <a:cs typeface="Times New Roman"/>
              </a:rPr>
              <a:t> </a:t>
            </a:r>
            <a:r>
              <a:rPr sz="2000" b="1" dirty="0">
                <a:latin typeface="Times New Roman"/>
                <a:cs typeface="Times New Roman"/>
              </a:rPr>
              <a:t>are</a:t>
            </a:r>
            <a:r>
              <a:rPr sz="2000" b="1" spc="-20" dirty="0">
                <a:latin typeface="Times New Roman"/>
                <a:cs typeface="Times New Roman"/>
              </a:rPr>
              <a:t> </a:t>
            </a:r>
            <a:r>
              <a:rPr sz="2000" b="1" spc="-10" dirty="0">
                <a:latin typeface="Times New Roman"/>
                <a:cs typeface="Times New Roman"/>
              </a:rPr>
              <a:t>typical.</a:t>
            </a:r>
            <a:endParaRPr sz="2000">
              <a:latin typeface="Times New Roman"/>
              <a:cs typeface="Times New Roman"/>
            </a:endParaRPr>
          </a:p>
          <a:p>
            <a:pPr marL="355600" marR="5080" indent="-342900" algn="just">
              <a:lnSpc>
                <a:spcPct val="100000"/>
              </a:lnSpc>
              <a:spcBef>
                <a:spcPts val="5"/>
              </a:spcBef>
              <a:buClr>
                <a:srgbClr val="FF0000"/>
              </a:buClr>
              <a:buFont typeface="Wingdings"/>
              <a:buChar char=""/>
              <a:tabLst>
                <a:tab pos="355600" algn="l"/>
              </a:tabLst>
            </a:pPr>
            <a:r>
              <a:rPr sz="2000" b="1" dirty="0">
                <a:latin typeface="Times New Roman"/>
                <a:cs typeface="Times New Roman"/>
              </a:rPr>
              <a:t>Note  that  the</a:t>
            </a:r>
            <a:r>
              <a:rPr sz="2000" b="1" spc="495" dirty="0">
                <a:latin typeface="Times New Roman"/>
                <a:cs typeface="Times New Roman"/>
              </a:rPr>
              <a:t> </a:t>
            </a:r>
            <a:r>
              <a:rPr sz="2000" b="1" dirty="0">
                <a:solidFill>
                  <a:srgbClr val="006FC0"/>
                </a:solidFill>
                <a:latin typeface="Times New Roman"/>
                <a:cs typeface="Times New Roman"/>
              </a:rPr>
              <a:t>output</a:t>
            </a:r>
            <a:r>
              <a:rPr sz="2000" b="1" spc="5" dirty="0">
                <a:solidFill>
                  <a:srgbClr val="006FC0"/>
                </a:solidFill>
                <a:latin typeface="Times New Roman"/>
                <a:cs typeface="Times New Roman"/>
              </a:rPr>
              <a:t>  </a:t>
            </a:r>
            <a:r>
              <a:rPr sz="2000" b="1" dirty="0">
                <a:solidFill>
                  <a:srgbClr val="006FC0"/>
                </a:solidFill>
                <a:latin typeface="Times New Roman"/>
                <a:cs typeface="Times New Roman"/>
              </a:rPr>
              <a:t>image  </a:t>
            </a:r>
            <a:r>
              <a:rPr sz="2000" b="1" dirty="0">
                <a:solidFill>
                  <a:srgbClr val="FF0000"/>
                </a:solidFill>
                <a:latin typeface="Times New Roman"/>
                <a:cs typeface="Times New Roman"/>
              </a:rPr>
              <a:t>must</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be</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written  to</a:t>
            </a:r>
            <a:r>
              <a:rPr sz="2000" b="1" spc="495" dirty="0">
                <a:solidFill>
                  <a:srgbClr val="FF0000"/>
                </a:solidFill>
                <a:latin typeface="Times New Roman"/>
                <a:cs typeface="Times New Roman"/>
              </a:rPr>
              <a:t> </a:t>
            </a:r>
            <a:r>
              <a:rPr sz="2000" b="1" dirty="0">
                <a:solidFill>
                  <a:srgbClr val="FF0000"/>
                </a:solidFill>
                <a:latin typeface="Times New Roman"/>
                <a:cs typeface="Times New Roman"/>
              </a:rPr>
              <a:t>a</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separate</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image  </a:t>
            </a:r>
            <a:r>
              <a:rPr sz="2000" b="1" spc="-25" dirty="0">
                <a:latin typeface="Times New Roman"/>
                <a:cs typeface="Times New Roman"/>
              </a:rPr>
              <a:t>(a </a:t>
            </a:r>
            <a:r>
              <a:rPr sz="2000" b="1" dirty="0">
                <a:latin typeface="Times New Roman"/>
                <a:cs typeface="Times New Roman"/>
              </a:rPr>
              <a:t>buffer);</a:t>
            </a:r>
            <a:r>
              <a:rPr sz="2000" b="1" spc="180" dirty="0">
                <a:latin typeface="Times New Roman"/>
                <a:cs typeface="Times New Roman"/>
              </a:rPr>
              <a:t>  </a:t>
            </a:r>
            <a:r>
              <a:rPr sz="2000" b="1" dirty="0">
                <a:latin typeface="Times New Roman"/>
                <a:cs typeface="Times New Roman"/>
              </a:rPr>
              <a:t>so</a:t>
            </a:r>
            <a:r>
              <a:rPr sz="2000" b="1" spc="195" dirty="0">
                <a:latin typeface="Times New Roman"/>
                <a:cs typeface="Times New Roman"/>
              </a:rPr>
              <a:t>  </a:t>
            </a:r>
            <a:r>
              <a:rPr sz="2000" b="1" dirty="0">
                <a:latin typeface="Times New Roman"/>
                <a:cs typeface="Times New Roman"/>
              </a:rPr>
              <a:t>that</a:t>
            </a:r>
            <a:r>
              <a:rPr sz="2000" b="1" spc="190" dirty="0">
                <a:latin typeface="Times New Roman"/>
                <a:cs typeface="Times New Roman"/>
              </a:rPr>
              <a:t>  </a:t>
            </a:r>
            <a:r>
              <a:rPr sz="2000" b="1" dirty="0">
                <a:latin typeface="Times New Roman"/>
                <a:cs typeface="Times New Roman"/>
              </a:rPr>
              <a:t>the</a:t>
            </a:r>
            <a:r>
              <a:rPr sz="2000" b="1" spc="185" dirty="0">
                <a:latin typeface="Times New Roman"/>
                <a:cs typeface="Times New Roman"/>
              </a:rPr>
              <a:t>  </a:t>
            </a:r>
            <a:r>
              <a:rPr sz="2000" b="1" dirty="0">
                <a:latin typeface="Times New Roman"/>
                <a:cs typeface="Times New Roman"/>
              </a:rPr>
              <a:t>results</a:t>
            </a:r>
            <a:r>
              <a:rPr sz="2000" b="1" spc="190" dirty="0">
                <a:latin typeface="Times New Roman"/>
                <a:cs typeface="Times New Roman"/>
              </a:rPr>
              <a:t>  </a:t>
            </a:r>
            <a:r>
              <a:rPr sz="2000" b="1" dirty="0">
                <a:latin typeface="Times New Roman"/>
                <a:cs typeface="Times New Roman"/>
              </a:rPr>
              <a:t>are</a:t>
            </a:r>
            <a:r>
              <a:rPr sz="2000" b="1" spc="190" dirty="0">
                <a:latin typeface="Times New Roman"/>
                <a:cs typeface="Times New Roman"/>
              </a:rPr>
              <a:t>  </a:t>
            </a:r>
            <a:r>
              <a:rPr sz="2000" b="1" dirty="0">
                <a:latin typeface="Times New Roman"/>
                <a:cs typeface="Times New Roman"/>
              </a:rPr>
              <a:t>not</a:t>
            </a:r>
            <a:r>
              <a:rPr sz="2000" b="1" spc="185" dirty="0">
                <a:latin typeface="Times New Roman"/>
                <a:cs typeface="Times New Roman"/>
              </a:rPr>
              <a:t>  </a:t>
            </a:r>
            <a:r>
              <a:rPr sz="2000" b="1" dirty="0">
                <a:latin typeface="Times New Roman"/>
                <a:cs typeface="Times New Roman"/>
              </a:rPr>
              <a:t>corrupted</a:t>
            </a:r>
            <a:r>
              <a:rPr sz="2000" b="1" spc="190" dirty="0">
                <a:latin typeface="Times New Roman"/>
                <a:cs typeface="Times New Roman"/>
              </a:rPr>
              <a:t>  </a:t>
            </a:r>
            <a:r>
              <a:rPr sz="2000" b="1" dirty="0">
                <a:latin typeface="Times New Roman"/>
                <a:cs typeface="Times New Roman"/>
              </a:rPr>
              <a:t>as</a:t>
            </a:r>
            <a:r>
              <a:rPr sz="2000" b="1" spc="190" dirty="0">
                <a:latin typeface="Times New Roman"/>
                <a:cs typeface="Times New Roman"/>
              </a:rPr>
              <a:t>  </a:t>
            </a:r>
            <a:r>
              <a:rPr sz="2000" b="1" dirty="0">
                <a:latin typeface="Times New Roman"/>
                <a:cs typeface="Times New Roman"/>
              </a:rPr>
              <a:t>this</a:t>
            </a:r>
            <a:r>
              <a:rPr sz="2000" b="1" spc="190" dirty="0">
                <a:latin typeface="Times New Roman"/>
                <a:cs typeface="Times New Roman"/>
              </a:rPr>
              <a:t>  </a:t>
            </a:r>
            <a:r>
              <a:rPr sz="2000" b="1" dirty="0">
                <a:latin typeface="Times New Roman"/>
                <a:cs typeface="Times New Roman"/>
              </a:rPr>
              <a:t>process</a:t>
            </a:r>
            <a:r>
              <a:rPr sz="2000" b="1" spc="195" dirty="0">
                <a:latin typeface="Times New Roman"/>
                <a:cs typeface="Times New Roman"/>
              </a:rPr>
              <a:t>  </a:t>
            </a:r>
            <a:r>
              <a:rPr sz="2000" b="1" spc="-25" dirty="0">
                <a:latin typeface="Times New Roman"/>
                <a:cs typeface="Times New Roman"/>
              </a:rPr>
              <a:t>is </a:t>
            </a:r>
            <a:r>
              <a:rPr sz="2000" b="1" dirty="0">
                <a:latin typeface="Times New Roman"/>
                <a:cs typeface="Times New Roman"/>
              </a:rPr>
              <a:t>performed.</a:t>
            </a:r>
            <a:r>
              <a:rPr sz="2000" b="1" spc="5"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dirty="0">
                <a:latin typeface="Times New Roman"/>
                <a:cs typeface="Times New Roman"/>
              </a:rPr>
              <a:t>median</a:t>
            </a:r>
            <a:r>
              <a:rPr sz="2000" b="1" spc="20" dirty="0">
                <a:latin typeface="Times New Roman"/>
                <a:cs typeface="Times New Roman"/>
              </a:rPr>
              <a:t> </a:t>
            </a:r>
            <a:r>
              <a:rPr sz="2000" b="1" dirty="0">
                <a:latin typeface="Times New Roman"/>
                <a:cs typeface="Times New Roman"/>
              </a:rPr>
              <a:t>filtering operation</a:t>
            </a:r>
            <a:r>
              <a:rPr sz="2000" b="1" spc="15" dirty="0">
                <a:latin typeface="Times New Roman"/>
                <a:cs typeface="Times New Roman"/>
              </a:rPr>
              <a:t> </a:t>
            </a:r>
            <a:r>
              <a:rPr sz="2000" b="1" dirty="0">
                <a:latin typeface="Times New Roman"/>
                <a:cs typeface="Times New Roman"/>
              </a:rPr>
              <a:t>is</a:t>
            </a:r>
            <a:r>
              <a:rPr sz="2000" b="1" spc="15" dirty="0">
                <a:latin typeface="Times New Roman"/>
                <a:cs typeface="Times New Roman"/>
              </a:rPr>
              <a:t> </a:t>
            </a:r>
            <a:r>
              <a:rPr sz="2000" b="1" dirty="0">
                <a:latin typeface="Times New Roman"/>
                <a:cs typeface="Times New Roman"/>
              </a:rPr>
              <a:t>performed</a:t>
            </a:r>
            <a:r>
              <a:rPr sz="2000" b="1" spc="10" dirty="0">
                <a:latin typeface="Times New Roman"/>
                <a:cs typeface="Times New Roman"/>
              </a:rPr>
              <a:t> </a:t>
            </a:r>
            <a:r>
              <a:rPr sz="2000" b="1" dirty="0">
                <a:latin typeface="Times New Roman"/>
                <a:cs typeface="Times New Roman"/>
              </a:rPr>
              <a:t>on</a:t>
            </a:r>
            <a:r>
              <a:rPr sz="2000" b="1" spc="5" dirty="0">
                <a:latin typeface="Times New Roman"/>
                <a:cs typeface="Times New Roman"/>
              </a:rPr>
              <a:t> </a:t>
            </a:r>
            <a:r>
              <a:rPr sz="2000" b="1" dirty="0">
                <a:latin typeface="Times New Roman"/>
                <a:cs typeface="Times New Roman"/>
              </a:rPr>
              <a:t>an</a:t>
            </a:r>
            <a:r>
              <a:rPr sz="2000" b="1" spc="5" dirty="0">
                <a:latin typeface="Times New Roman"/>
                <a:cs typeface="Times New Roman"/>
              </a:rPr>
              <a:t> </a:t>
            </a:r>
            <a:r>
              <a:rPr sz="2000" b="1" dirty="0">
                <a:latin typeface="Times New Roman"/>
                <a:cs typeface="Times New Roman"/>
              </a:rPr>
              <a:t>image</a:t>
            </a:r>
            <a:r>
              <a:rPr sz="2000" b="1" spc="15" dirty="0">
                <a:latin typeface="Times New Roman"/>
                <a:cs typeface="Times New Roman"/>
              </a:rPr>
              <a:t> </a:t>
            </a:r>
            <a:r>
              <a:rPr sz="2000" b="1" spc="-25" dirty="0">
                <a:latin typeface="Times New Roman"/>
                <a:cs typeface="Times New Roman"/>
              </a:rPr>
              <a:t>by </a:t>
            </a:r>
            <a:r>
              <a:rPr sz="2000" b="1" dirty="0">
                <a:latin typeface="Times New Roman"/>
                <a:cs typeface="Times New Roman"/>
              </a:rPr>
              <a:t>applying</a:t>
            </a:r>
            <a:r>
              <a:rPr sz="2000" b="1" spc="30"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sliding</a:t>
            </a:r>
            <a:r>
              <a:rPr sz="2000" b="1" spc="35" dirty="0">
                <a:latin typeface="Times New Roman"/>
                <a:cs typeface="Times New Roman"/>
              </a:rPr>
              <a:t>  </a:t>
            </a:r>
            <a:r>
              <a:rPr sz="2000" b="1" dirty="0">
                <a:latin typeface="Times New Roman"/>
                <a:cs typeface="Times New Roman"/>
              </a:rPr>
              <a:t>window</a:t>
            </a:r>
            <a:r>
              <a:rPr sz="2000" b="1" spc="30" dirty="0">
                <a:latin typeface="Times New Roman"/>
                <a:cs typeface="Times New Roman"/>
              </a:rPr>
              <a:t>  </a:t>
            </a:r>
            <a:r>
              <a:rPr sz="2000" b="1" dirty="0">
                <a:latin typeface="Times New Roman"/>
                <a:cs typeface="Times New Roman"/>
              </a:rPr>
              <a:t>concepts,</a:t>
            </a:r>
            <a:r>
              <a:rPr sz="2000" b="1" spc="35" dirty="0">
                <a:latin typeface="Times New Roman"/>
                <a:cs typeface="Times New Roman"/>
              </a:rPr>
              <a:t>  </a:t>
            </a:r>
            <a:r>
              <a:rPr sz="2000" b="1" dirty="0">
                <a:latin typeface="Times New Roman"/>
                <a:cs typeface="Times New Roman"/>
              </a:rPr>
              <a:t>similar</a:t>
            </a:r>
            <a:r>
              <a:rPr sz="2000" b="1" spc="15" dirty="0">
                <a:latin typeface="Times New Roman"/>
                <a:cs typeface="Times New Roman"/>
              </a:rPr>
              <a:t>  </a:t>
            </a:r>
            <a:r>
              <a:rPr sz="2000" b="1" dirty="0">
                <a:latin typeface="Times New Roman"/>
                <a:cs typeface="Times New Roman"/>
              </a:rPr>
              <a:t>to</a:t>
            </a:r>
            <a:r>
              <a:rPr sz="2000" b="1" spc="35" dirty="0">
                <a:latin typeface="Times New Roman"/>
                <a:cs typeface="Times New Roman"/>
              </a:rPr>
              <a:t>  </a:t>
            </a:r>
            <a:r>
              <a:rPr sz="2000" b="1" dirty="0">
                <a:latin typeface="Times New Roman"/>
                <a:cs typeface="Times New Roman"/>
              </a:rPr>
              <a:t>what</a:t>
            </a:r>
            <a:r>
              <a:rPr sz="2000" b="1" spc="35" dirty="0">
                <a:latin typeface="Times New Roman"/>
                <a:cs typeface="Times New Roman"/>
              </a:rPr>
              <a:t>  </a:t>
            </a:r>
            <a:r>
              <a:rPr sz="2000" b="1" dirty="0">
                <a:latin typeface="Times New Roman"/>
                <a:cs typeface="Times New Roman"/>
              </a:rPr>
              <a:t>is</a:t>
            </a:r>
            <a:r>
              <a:rPr sz="2000" b="1" spc="25" dirty="0">
                <a:latin typeface="Times New Roman"/>
                <a:cs typeface="Times New Roman"/>
              </a:rPr>
              <a:t>  </a:t>
            </a:r>
            <a:r>
              <a:rPr sz="2000" b="1" dirty="0">
                <a:latin typeface="Times New Roman"/>
                <a:cs typeface="Times New Roman"/>
              </a:rPr>
              <a:t>done</a:t>
            </a:r>
            <a:r>
              <a:rPr sz="2000" b="1" spc="35" dirty="0">
                <a:latin typeface="Times New Roman"/>
                <a:cs typeface="Times New Roman"/>
              </a:rPr>
              <a:t>  </a:t>
            </a:r>
            <a:r>
              <a:rPr sz="2000" b="1" spc="-20" dirty="0">
                <a:latin typeface="Times New Roman"/>
                <a:cs typeface="Times New Roman"/>
              </a:rPr>
              <a:t>with </a:t>
            </a:r>
            <a:r>
              <a:rPr sz="2000" b="1" spc="-10" dirty="0">
                <a:latin typeface="Times New Roman"/>
                <a:cs typeface="Times New Roman"/>
              </a:rPr>
              <a:t>convolution).</a:t>
            </a:r>
            <a:endParaRPr sz="2000">
              <a:latin typeface="Times New Roman"/>
              <a:cs typeface="Times New Roman"/>
            </a:endParaRPr>
          </a:p>
          <a:p>
            <a:pPr marL="355600" marR="5715" indent="-342900" algn="just">
              <a:lnSpc>
                <a:spcPct val="100000"/>
              </a:lnSpc>
              <a:buClr>
                <a:srgbClr val="FF0000"/>
              </a:buClr>
              <a:buFont typeface="Wingdings"/>
              <a:buChar char=""/>
              <a:tabLst>
                <a:tab pos="355600" algn="l"/>
              </a:tabLst>
            </a:pPr>
            <a:r>
              <a:rPr sz="2000" b="1" dirty="0">
                <a:latin typeface="Times New Roman"/>
                <a:cs typeface="Times New Roman"/>
              </a:rPr>
              <a:t>The</a:t>
            </a:r>
            <a:r>
              <a:rPr sz="2000" b="1" spc="240" dirty="0">
                <a:latin typeface="Times New Roman"/>
                <a:cs typeface="Times New Roman"/>
              </a:rPr>
              <a:t> </a:t>
            </a:r>
            <a:r>
              <a:rPr sz="2000" b="1" dirty="0">
                <a:latin typeface="Times New Roman"/>
                <a:cs typeface="Times New Roman"/>
              </a:rPr>
              <a:t>window</a:t>
            </a:r>
            <a:r>
              <a:rPr sz="2000" b="1" spc="245" dirty="0">
                <a:latin typeface="Times New Roman"/>
                <a:cs typeface="Times New Roman"/>
              </a:rPr>
              <a:t> </a:t>
            </a:r>
            <a:r>
              <a:rPr sz="2000" b="1" dirty="0">
                <a:latin typeface="Times New Roman"/>
                <a:cs typeface="Times New Roman"/>
              </a:rPr>
              <a:t>is</a:t>
            </a:r>
            <a:r>
              <a:rPr sz="2000" b="1" spc="245" dirty="0">
                <a:latin typeface="Times New Roman"/>
                <a:cs typeface="Times New Roman"/>
              </a:rPr>
              <a:t> </a:t>
            </a:r>
            <a:r>
              <a:rPr sz="2000" b="1" dirty="0">
                <a:latin typeface="Times New Roman"/>
                <a:cs typeface="Times New Roman"/>
              </a:rPr>
              <a:t>overlaid</a:t>
            </a:r>
            <a:r>
              <a:rPr sz="2000" b="1" spc="245" dirty="0">
                <a:latin typeface="Times New Roman"/>
                <a:cs typeface="Times New Roman"/>
              </a:rPr>
              <a:t> </a:t>
            </a:r>
            <a:r>
              <a:rPr sz="2000" b="1" dirty="0">
                <a:latin typeface="Times New Roman"/>
                <a:cs typeface="Times New Roman"/>
              </a:rPr>
              <a:t>on</a:t>
            </a:r>
            <a:r>
              <a:rPr sz="2000" b="1" spc="235" dirty="0">
                <a:latin typeface="Times New Roman"/>
                <a:cs typeface="Times New Roman"/>
              </a:rPr>
              <a:t> </a:t>
            </a:r>
            <a:r>
              <a:rPr sz="2000" b="1" dirty="0">
                <a:latin typeface="Times New Roman"/>
                <a:cs typeface="Times New Roman"/>
              </a:rPr>
              <a:t>the</a:t>
            </a:r>
            <a:r>
              <a:rPr sz="2000" b="1" spc="235" dirty="0">
                <a:latin typeface="Times New Roman"/>
                <a:cs typeface="Times New Roman"/>
              </a:rPr>
              <a:t> </a:t>
            </a:r>
            <a:r>
              <a:rPr sz="2000" b="1" dirty="0">
                <a:latin typeface="Times New Roman"/>
                <a:cs typeface="Times New Roman"/>
              </a:rPr>
              <a:t>upper</a:t>
            </a:r>
            <a:r>
              <a:rPr sz="2000" b="1" spc="210" dirty="0">
                <a:latin typeface="Times New Roman"/>
                <a:cs typeface="Times New Roman"/>
              </a:rPr>
              <a:t> </a:t>
            </a:r>
            <a:r>
              <a:rPr sz="2000" b="1" dirty="0">
                <a:latin typeface="Times New Roman"/>
                <a:cs typeface="Times New Roman"/>
              </a:rPr>
              <a:t>left</a:t>
            </a:r>
            <a:r>
              <a:rPr sz="2000" b="1" spc="245" dirty="0">
                <a:latin typeface="Times New Roman"/>
                <a:cs typeface="Times New Roman"/>
              </a:rPr>
              <a:t> </a:t>
            </a:r>
            <a:r>
              <a:rPr sz="2000" b="1" dirty="0">
                <a:latin typeface="Times New Roman"/>
                <a:cs typeface="Times New Roman"/>
              </a:rPr>
              <a:t>corner</a:t>
            </a:r>
            <a:r>
              <a:rPr sz="2000" b="1" spc="200" dirty="0">
                <a:latin typeface="Times New Roman"/>
                <a:cs typeface="Times New Roman"/>
              </a:rPr>
              <a:t> </a:t>
            </a:r>
            <a:r>
              <a:rPr sz="2000" b="1" dirty="0">
                <a:latin typeface="Times New Roman"/>
                <a:cs typeface="Times New Roman"/>
              </a:rPr>
              <a:t>of</a:t>
            </a:r>
            <a:r>
              <a:rPr sz="2000" b="1" spc="235" dirty="0">
                <a:latin typeface="Times New Roman"/>
                <a:cs typeface="Times New Roman"/>
              </a:rPr>
              <a:t> </a:t>
            </a:r>
            <a:r>
              <a:rPr sz="2000" b="1" dirty="0">
                <a:latin typeface="Times New Roman"/>
                <a:cs typeface="Times New Roman"/>
              </a:rPr>
              <a:t>the</a:t>
            </a:r>
            <a:r>
              <a:rPr sz="2000" b="1" spc="240" dirty="0">
                <a:latin typeface="Times New Roman"/>
                <a:cs typeface="Times New Roman"/>
              </a:rPr>
              <a:t> </a:t>
            </a:r>
            <a:r>
              <a:rPr sz="2000" b="1" dirty="0">
                <a:latin typeface="Times New Roman"/>
                <a:cs typeface="Times New Roman"/>
              </a:rPr>
              <a:t>image,</a:t>
            </a:r>
            <a:r>
              <a:rPr sz="2000" b="1" spc="235" dirty="0">
                <a:latin typeface="Times New Roman"/>
                <a:cs typeface="Times New Roman"/>
              </a:rPr>
              <a:t> </a:t>
            </a:r>
            <a:r>
              <a:rPr sz="2000" b="1" dirty="0">
                <a:latin typeface="Times New Roman"/>
                <a:cs typeface="Times New Roman"/>
              </a:rPr>
              <a:t>and</a:t>
            </a:r>
            <a:r>
              <a:rPr sz="2000" b="1" spc="235" dirty="0">
                <a:latin typeface="Times New Roman"/>
                <a:cs typeface="Times New Roman"/>
              </a:rPr>
              <a:t> </a:t>
            </a:r>
            <a:r>
              <a:rPr sz="2000" b="1" spc="-25" dirty="0">
                <a:latin typeface="Times New Roman"/>
                <a:cs typeface="Times New Roman"/>
              </a:rPr>
              <a:t>the </a:t>
            </a:r>
            <a:r>
              <a:rPr sz="2000" b="1" dirty="0">
                <a:latin typeface="Times New Roman"/>
                <a:cs typeface="Times New Roman"/>
              </a:rPr>
              <a:t>median</a:t>
            </a:r>
            <a:r>
              <a:rPr sz="2000" b="1" spc="245" dirty="0">
                <a:latin typeface="Times New Roman"/>
                <a:cs typeface="Times New Roman"/>
              </a:rPr>
              <a:t> </a:t>
            </a:r>
            <a:r>
              <a:rPr sz="2000" b="1" dirty="0">
                <a:latin typeface="Times New Roman"/>
                <a:cs typeface="Times New Roman"/>
              </a:rPr>
              <a:t>is</a:t>
            </a:r>
            <a:r>
              <a:rPr sz="2000" b="1" spc="240" dirty="0">
                <a:latin typeface="Times New Roman"/>
                <a:cs typeface="Times New Roman"/>
              </a:rPr>
              <a:t> </a:t>
            </a:r>
            <a:r>
              <a:rPr sz="2000" b="1" dirty="0">
                <a:latin typeface="Times New Roman"/>
                <a:cs typeface="Times New Roman"/>
              </a:rPr>
              <a:t>determined.</a:t>
            </a:r>
            <a:r>
              <a:rPr sz="2000" b="1" spc="240" dirty="0">
                <a:latin typeface="Times New Roman"/>
                <a:cs typeface="Times New Roman"/>
              </a:rPr>
              <a:t> </a:t>
            </a:r>
            <a:r>
              <a:rPr sz="2000" b="1" dirty="0">
                <a:latin typeface="Times New Roman"/>
                <a:cs typeface="Times New Roman"/>
              </a:rPr>
              <a:t>This</a:t>
            </a:r>
            <a:r>
              <a:rPr sz="2000" b="1" spc="229" dirty="0">
                <a:latin typeface="Times New Roman"/>
                <a:cs typeface="Times New Roman"/>
              </a:rPr>
              <a:t> </a:t>
            </a:r>
            <a:r>
              <a:rPr sz="2000" b="1" dirty="0">
                <a:latin typeface="Times New Roman"/>
                <a:cs typeface="Times New Roman"/>
              </a:rPr>
              <a:t>value</a:t>
            </a:r>
            <a:r>
              <a:rPr sz="2000" b="1" spc="240" dirty="0">
                <a:latin typeface="Times New Roman"/>
                <a:cs typeface="Times New Roman"/>
              </a:rPr>
              <a:t> </a:t>
            </a:r>
            <a:r>
              <a:rPr sz="2000" b="1" dirty="0">
                <a:latin typeface="Times New Roman"/>
                <a:cs typeface="Times New Roman"/>
              </a:rPr>
              <a:t>is</a:t>
            </a:r>
            <a:r>
              <a:rPr sz="2000" b="1" spc="240" dirty="0">
                <a:latin typeface="Times New Roman"/>
                <a:cs typeface="Times New Roman"/>
              </a:rPr>
              <a:t> </a:t>
            </a:r>
            <a:r>
              <a:rPr sz="2000" b="1" dirty="0">
                <a:latin typeface="Times New Roman"/>
                <a:cs typeface="Times New Roman"/>
              </a:rPr>
              <a:t>put</a:t>
            </a:r>
            <a:r>
              <a:rPr sz="2000" b="1" spc="235" dirty="0">
                <a:latin typeface="Times New Roman"/>
                <a:cs typeface="Times New Roman"/>
              </a:rPr>
              <a:t> </a:t>
            </a:r>
            <a:r>
              <a:rPr sz="2000" b="1" dirty="0">
                <a:latin typeface="Times New Roman"/>
                <a:cs typeface="Times New Roman"/>
              </a:rPr>
              <a:t>into</a:t>
            </a:r>
            <a:r>
              <a:rPr sz="2000" b="1" spc="229" dirty="0">
                <a:latin typeface="Times New Roman"/>
                <a:cs typeface="Times New Roman"/>
              </a:rPr>
              <a:t> </a:t>
            </a:r>
            <a:r>
              <a:rPr sz="2000" b="1" dirty="0">
                <a:latin typeface="Times New Roman"/>
                <a:cs typeface="Times New Roman"/>
              </a:rPr>
              <a:t>the</a:t>
            </a:r>
            <a:r>
              <a:rPr sz="2000" b="1" spc="240" dirty="0">
                <a:latin typeface="Times New Roman"/>
                <a:cs typeface="Times New Roman"/>
              </a:rPr>
              <a:t> </a:t>
            </a:r>
            <a:r>
              <a:rPr sz="2000" b="1" dirty="0">
                <a:latin typeface="Times New Roman"/>
                <a:cs typeface="Times New Roman"/>
              </a:rPr>
              <a:t>output</a:t>
            </a:r>
            <a:r>
              <a:rPr sz="2000" b="1" spc="245" dirty="0">
                <a:latin typeface="Times New Roman"/>
                <a:cs typeface="Times New Roman"/>
              </a:rPr>
              <a:t> </a:t>
            </a:r>
            <a:r>
              <a:rPr sz="2000" b="1" dirty="0">
                <a:latin typeface="Times New Roman"/>
                <a:cs typeface="Times New Roman"/>
              </a:rPr>
              <a:t>image</a:t>
            </a:r>
            <a:r>
              <a:rPr sz="2000" b="1" spc="245" dirty="0">
                <a:latin typeface="Times New Roman"/>
                <a:cs typeface="Times New Roman"/>
              </a:rPr>
              <a:t> </a:t>
            </a:r>
            <a:r>
              <a:rPr sz="2000" b="1" spc="-10" dirty="0">
                <a:latin typeface="Times New Roman"/>
                <a:cs typeface="Times New Roman"/>
              </a:rPr>
              <a:t>(buffer) </a:t>
            </a:r>
            <a:r>
              <a:rPr sz="2000" b="1" dirty="0">
                <a:latin typeface="Times New Roman"/>
                <a:cs typeface="Times New Roman"/>
              </a:rPr>
              <a:t>corresponding</a:t>
            </a:r>
            <a:r>
              <a:rPr sz="2000" b="1" spc="100" dirty="0">
                <a:latin typeface="Times New Roman"/>
                <a:cs typeface="Times New Roman"/>
              </a:rPr>
              <a:t> </a:t>
            </a:r>
            <a:r>
              <a:rPr sz="2000" b="1" dirty="0">
                <a:latin typeface="Times New Roman"/>
                <a:cs typeface="Times New Roman"/>
              </a:rPr>
              <a:t>to</a:t>
            </a:r>
            <a:r>
              <a:rPr sz="2000" b="1" spc="95" dirty="0">
                <a:latin typeface="Times New Roman"/>
                <a:cs typeface="Times New Roman"/>
              </a:rPr>
              <a:t> </a:t>
            </a:r>
            <a:r>
              <a:rPr sz="2000" b="1" dirty="0">
                <a:latin typeface="Times New Roman"/>
                <a:cs typeface="Times New Roman"/>
              </a:rPr>
              <a:t>the</a:t>
            </a:r>
            <a:r>
              <a:rPr sz="2000" b="1" spc="95" dirty="0">
                <a:latin typeface="Times New Roman"/>
                <a:cs typeface="Times New Roman"/>
              </a:rPr>
              <a:t> </a:t>
            </a:r>
            <a:r>
              <a:rPr sz="2000" b="1" dirty="0">
                <a:latin typeface="Times New Roman"/>
                <a:cs typeface="Times New Roman"/>
              </a:rPr>
              <a:t>center</a:t>
            </a:r>
            <a:r>
              <a:rPr sz="2000" b="1" spc="75" dirty="0">
                <a:latin typeface="Times New Roman"/>
                <a:cs typeface="Times New Roman"/>
              </a:rPr>
              <a:t> </a:t>
            </a:r>
            <a:r>
              <a:rPr sz="2000" b="1" dirty="0">
                <a:latin typeface="Times New Roman"/>
                <a:cs typeface="Times New Roman"/>
              </a:rPr>
              <a:t>location</a:t>
            </a:r>
            <a:r>
              <a:rPr sz="2000" b="1" spc="90" dirty="0">
                <a:latin typeface="Times New Roman"/>
                <a:cs typeface="Times New Roman"/>
              </a:rPr>
              <a:t> </a:t>
            </a:r>
            <a:r>
              <a:rPr sz="2000" b="1" dirty="0">
                <a:latin typeface="Times New Roman"/>
                <a:cs typeface="Times New Roman"/>
              </a:rPr>
              <a:t>of</a:t>
            </a:r>
            <a:r>
              <a:rPr sz="2000" b="1" spc="100" dirty="0">
                <a:latin typeface="Times New Roman"/>
                <a:cs typeface="Times New Roman"/>
              </a:rPr>
              <a:t> </a:t>
            </a:r>
            <a:r>
              <a:rPr sz="2000" b="1" dirty="0">
                <a:latin typeface="Times New Roman"/>
                <a:cs typeface="Times New Roman"/>
              </a:rPr>
              <a:t>the</a:t>
            </a:r>
            <a:r>
              <a:rPr sz="2000" b="1" spc="105" dirty="0">
                <a:latin typeface="Times New Roman"/>
                <a:cs typeface="Times New Roman"/>
              </a:rPr>
              <a:t> </a:t>
            </a:r>
            <a:r>
              <a:rPr sz="2000" b="1" dirty="0">
                <a:latin typeface="Times New Roman"/>
                <a:cs typeface="Times New Roman"/>
              </a:rPr>
              <a:t>window.</a:t>
            </a:r>
            <a:r>
              <a:rPr sz="2000" b="1" spc="110" dirty="0">
                <a:latin typeface="Times New Roman"/>
                <a:cs typeface="Times New Roman"/>
              </a:rPr>
              <a:t> </a:t>
            </a:r>
            <a:r>
              <a:rPr sz="2000" b="1" dirty="0">
                <a:latin typeface="Times New Roman"/>
                <a:cs typeface="Times New Roman"/>
              </a:rPr>
              <a:t>The</a:t>
            </a:r>
            <a:r>
              <a:rPr sz="2000" b="1" spc="105" dirty="0">
                <a:latin typeface="Times New Roman"/>
                <a:cs typeface="Times New Roman"/>
              </a:rPr>
              <a:t> </a:t>
            </a:r>
            <a:r>
              <a:rPr sz="2000" b="1" dirty="0">
                <a:latin typeface="Times New Roman"/>
                <a:cs typeface="Times New Roman"/>
              </a:rPr>
              <a:t>window</a:t>
            </a:r>
            <a:r>
              <a:rPr sz="2000" b="1" spc="105" dirty="0">
                <a:latin typeface="Times New Roman"/>
                <a:cs typeface="Times New Roman"/>
              </a:rPr>
              <a:t> </a:t>
            </a:r>
            <a:r>
              <a:rPr sz="2000" b="1" dirty="0">
                <a:latin typeface="Times New Roman"/>
                <a:cs typeface="Times New Roman"/>
              </a:rPr>
              <a:t>is</a:t>
            </a:r>
            <a:r>
              <a:rPr sz="2000" b="1" spc="80" dirty="0">
                <a:latin typeface="Times New Roman"/>
                <a:cs typeface="Times New Roman"/>
              </a:rPr>
              <a:t> </a:t>
            </a:r>
            <a:r>
              <a:rPr sz="2000" b="1" spc="-20" dirty="0">
                <a:latin typeface="Times New Roman"/>
                <a:cs typeface="Times New Roman"/>
              </a:rPr>
              <a:t>then </a:t>
            </a:r>
            <a:r>
              <a:rPr sz="2000" b="1" dirty="0">
                <a:latin typeface="Times New Roman"/>
                <a:cs typeface="Times New Roman"/>
              </a:rPr>
              <a:t>slide</a:t>
            </a:r>
            <a:r>
              <a:rPr sz="2000" b="1" spc="-35" dirty="0">
                <a:latin typeface="Times New Roman"/>
                <a:cs typeface="Times New Roman"/>
              </a:rPr>
              <a:t> </a:t>
            </a:r>
            <a:r>
              <a:rPr sz="2000" b="1" dirty="0">
                <a:latin typeface="Times New Roman"/>
                <a:cs typeface="Times New Roman"/>
              </a:rPr>
              <a:t>one</a:t>
            </a:r>
            <a:r>
              <a:rPr sz="2000" b="1" spc="-35" dirty="0">
                <a:latin typeface="Times New Roman"/>
                <a:cs typeface="Times New Roman"/>
              </a:rPr>
              <a:t> </a:t>
            </a:r>
            <a:r>
              <a:rPr sz="2000" b="1" dirty="0">
                <a:latin typeface="Times New Roman"/>
                <a:cs typeface="Times New Roman"/>
              </a:rPr>
              <a:t>pixel</a:t>
            </a:r>
            <a:r>
              <a:rPr sz="2000" b="1" spc="-25" dirty="0">
                <a:latin typeface="Times New Roman"/>
                <a:cs typeface="Times New Roman"/>
              </a:rPr>
              <a:t> over,</a:t>
            </a:r>
            <a:r>
              <a:rPr sz="2000" b="1" spc="-40" dirty="0">
                <a:latin typeface="Times New Roman"/>
                <a:cs typeface="Times New Roman"/>
              </a:rPr>
              <a:t> </a:t>
            </a:r>
            <a:r>
              <a:rPr sz="2000" b="1" dirty="0">
                <a:latin typeface="Times New Roman"/>
                <a:cs typeface="Times New Roman"/>
              </a:rPr>
              <a:t>and</a:t>
            </a:r>
            <a:r>
              <a:rPr sz="2000" b="1" spc="-20" dirty="0">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latin typeface="Times New Roman"/>
                <a:cs typeface="Times New Roman"/>
              </a:rPr>
              <a:t>process</a:t>
            </a:r>
            <a:r>
              <a:rPr sz="2000" b="1" spc="-35" dirty="0">
                <a:latin typeface="Times New Roman"/>
                <a:cs typeface="Times New Roman"/>
              </a:rPr>
              <a:t> </a:t>
            </a:r>
            <a:r>
              <a:rPr sz="2000" b="1" dirty="0">
                <a:latin typeface="Times New Roman"/>
                <a:cs typeface="Times New Roman"/>
              </a:rPr>
              <a:t>is</a:t>
            </a:r>
            <a:r>
              <a:rPr sz="2000" b="1" spc="-20" dirty="0">
                <a:latin typeface="Times New Roman"/>
                <a:cs typeface="Times New Roman"/>
              </a:rPr>
              <a:t> </a:t>
            </a:r>
            <a:r>
              <a:rPr sz="2000" b="1" spc="-10" dirty="0">
                <a:latin typeface="Times New Roman"/>
                <a:cs typeface="Times New Roman"/>
              </a:rPr>
              <a:t>repeated.</a:t>
            </a:r>
            <a:endParaRPr sz="20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149847" y="1221866"/>
          <a:ext cx="2518406" cy="1524000"/>
        </p:xfrm>
        <a:graphic>
          <a:graphicData uri="http://schemas.openxmlformats.org/drawingml/2006/table">
            <a:tbl>
              <a:tblPr firstRow="1" bandRow="1">
                <a:tableStyleId>{2D5ABB26-0587-4C30-8999-92F81FD0307C}</a:tableStyleId>
              </a:tblPr>
              <a:tblGrid>
                <a:gridCol w="419734">
                  <a:extLst>
                    <a:ext uri="{9D8B030D-6E8A-4147-A177-3AD203B41FA5}">
                      <a16:colId xmlns:a16="http://schemas.microsoft.com/office/drawing/2014/main" val="20000"/>
                    </a:ext>
                  </a:extLst>
                </a:gridCol>
                <a:gridCol w="419734">
                  <a:extLst>
                    <a:ext uri="{9D8B030D-6E8A-4147-A177-3AD203B41FA5}">
                      <a16:colId xmlns:a16="http://schemas.microsoft.com/office/drawing/2014/main" val="20001"/>
                    </a:ext>
                  </a:extLst>
                </a:gridCol>
                <a:gridCol w="419734">
                  <a:extLst>
                    <a:ext uri="{9D8B030D-6E8A-4147-A177-3AD203B41FA5}">
                      <a16:colId xmlns:a16="http://schemas.microsoft.com/office/drawing/2014/main" val="20002"/>
                    </a:ext>
                  </a:extLst>
                </a:gridCol>
                <a:gridCol w="419734">
                  <a:extLst>
                    <a:ext uri="{9D8B030D-6E8A-4147-A177-3AD203B41FA5}">
                      <a16:colId xmlns:a16="http://schemas.microsoft.com/office/drawing/2014/main" val="20003"/>
                    </a:ext>
                  </a:extLst>
                </a:gridCol>
                <a:gridCol w="419735">
                  <a:extLst>
                    <a:ext uri="{9D8B030D-6E8A-4147-A177-3AD203B41FA5}">
                      <a16:colId xmlns:a16="http://schemas.microsoft.com/office/drawing/2014/main" val="20004"/>
                    </a:ext>
                  </a:extLst>
                </a:gridCol>
                <a:gridCol w="419735">
                  <a:extLst>
                    <a:ext uri="{9D8B030D-6E8A-4147-A177-3AD203B41FA5}">
                      <a16:colId xmlns:a16="http://schemas.microsoft.com/office/drawing/2014/main" val="20005"/>
                    </a:ext>
                  </a:extLst>
                </a:gridCol>
              </a:tblGrid>
              <a:tr h="304800">
                <a:tc>
                  <a:txBody>
                    <a:bodyPr/>
                    <a:lstStyle/>
                    <a:p>
                      <a:pPr marL="635" algn="ctr">
                        <a:lnSpc>
                          <a:spcPct val="100000"/>
                        </a:lnSpc>
                        <a:spcBef>
                          <a:spcPts val="315"/>
                        </a:spcBef>
                      </a:pPr>
                      <a:r>
                        <a:rPr sz="1400" b="1" spc="-50" dirty="0">
                          <a:latin typeface="Times New Roman"/>
                          <a:cs typeface="Times New Roman"/>
                        </a:rPr>
                        <a:t>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16</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17</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315"/>
                        </a:spcBef>
                      </a:pPr>
                      <a:r>
                        <a:rPr sz="1400" b="1" spc="-25" dirty="0">
                          <a:latin typeface="Times New Roman"/>
                          <a:cs typeface="Times New Roman"/>
                        </a:rPr>
                        <a:t>21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50" dirty="0">
                          <a:latin typeface="Times New Roman"/>
                          <a:cs typeface="Times New Roman"/>
                        </a:rPr>
                        <a:t>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3D59B"/>
                    </a:solidFill>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315"/>
                        </a:spcBef>
                      </a:pPr>
                      <a:r>
                        <a:rPr sz="1400" b="1" spc="-25" dirty="0">
                          <a:latin typeface="Times New Roman"/>
                          <a:cs typeface="Times New Roman"/>
                        </a:rPr>
                        <a:t>43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51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18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algn="ctr">
                        <a:lnSpc>
                          <a:spcPct val="100000"/>
                        </a:lnSpc>
                        <a:spcBef>
                          <a:spcPts val="315"/>
                        </a:spcBef>
                      </a:pPr>
                      <a:r>
                        <a:rPr sz="1400" b="1" spc="-25" dirty="0">
                          <a:latin typeface="Times New Roman"/>
                          <a:cs typeface="Times New Roman"/>
                        </a:rPr>
                        <a:t>52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44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3" name="object 3"/>
          <p:cNvGraphicFramePr>
            <a:graphicFrameLocks noGrp="1"/>
          </p:cNvGraphicFramePr>
          <p:nvPr/>
        </p:nvGraphicFramePr>
        <p:xfrm>
          <a:off x="6193409" y="2972180"/>
          <a:ext cx="2518406" cy="1524000"/>
        </p:xfrm>
        <a:graphic>
          <a:graphicData uri="http://schemas.openxmlformats.org/drawingml/2006/table">
            <a:tbl>
              <a:tblPr firstRow="1" bandRow="1">
                <a:tableStyleId>{2D5ABB26-0587-4C30-8999-92F81FD0307C}</a:tableStyleId>
              </a:tblPr>
              <a:tblGrid>
                <a:gridCol w="419734">
                  <a:extLst>
                    <a:ext uri="{9D8B030D-6E8A-4147-A177-3AD203B41FA5}">
                      <a16:colId xmlns:a16="http://schemas.microsoft.com/office/drawing/2014/main" val="20000"/>
                    </a:ext>
                  </a:extLst>
                </a:gridCol>
                <a:gridCol w="419734">
                  <a:extLst>
                    <a:ext uri="{9D8B030D-6E8A-4147-A177-3AD203B41FA5}">
                      <a16:colId xmlns:a16="http://schemas.microsoft.com/office/drawing/2014/main" val="20001"/>
                    </a:ext>
                  </a:extLst>
                </a:gridCol>
                <a:gridCol w="419734">
                  <a:extLst>
                    <a:ext uri="{9D8B030D-6E8A-4147-A177-3AD203B41FA5}">
                      <a16:colId xmlns:a16="http://schemas.microsoft.com/office/drawing/2014/main" val="20002"/>
                    </a:ext>
                  </a:extLst>
                </a:gridCol>
                <a:gridCol w="419734">
                  <a:extLst>
                    <a:ext uri="{9D8B030D-6E8A-4147-A177-3AD203B41FA5}">
                      <a16:colId xmlns:a16="http://schemas.microsoft.com/office/drawing/2014/main" val="20003"/>
                    </a:ext>
                  </a:extLst>
                </a:gridCol>
                <a:gridCol w="419735">
                  <a:extLst>
                    <a:ext uri="{9D8B030D-6E8A-4147-A177-3AD203B41FA5}">
                      <a16:colId xmlns:a16="http://schemas.microsoft.com/office/drawing/2014/main" val="20004"/>
                    </a:ext>
                  </a:extLst>
                </a:gridCol>
                <a:gridCol w="419735">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3D59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2"/>
                  </a:ext>
                </a:extLst>
              </a:tr>
              <a:tr h="304800">
                <a:tc>
                  <a:txBody>
                    <a:bodyPr/>
                    <a:lstStyle/>
                    <a:p>
                      <a:pPr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3"/>
                  </a:ext>
                </a:extLst>
              </a:tr>
              <a:tr h="304800">
                <a:tc>
                  <a:txBody>
                    <a:bodyPr/>
                    <a:lstStyle/>
                    <a:p>
                      <a:pPr algn="ctr">
                        <a:lnSpc>
                          <a:spcPct val="100000"/>
                        </a:lnSpc>
                        <a:spcBef>
                          <a:spcPts val="320"/>
                        </a:spcBef>
                      </a:pPr>
                      <a:r>
                        <a:rPr sz="1400" b="1" spc="-25" dirty="0">
                          <a:latin typeface="Times New Roman"/>
                          <a:cs typeface="Times New Roman"/>
                        </a:rPr>
                        <a:t>52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44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34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473455" y="406145"/>
            <a:ext cx="8317230" cy="5955030"/>
          </a:xfrm>
          <a:prstGeom prst="rect">
            <a:avLst/>
          </a:prstGeom>
        </p:spPr>
        <p:txBody>
          <a:bodyPr vert="horz" wrap="square" lIns="0" tIns="13335" rIns="0" bIns="0" rtlCol="0">
            <a:spAutoFit/>
          </a:bodyPr>
          <a:lstStyle/>
          <a:p>
            <a:pPr marL="13335" algn="just">
              <a:lnSpc>
                <a:spcPct val="100000"/>
              </a:lnSpc>
              <a:spcBef>
                <a:spcPts val="105"/>
              </a:spcBef>
            </a:pPr>
            <a:r>
              <a:rPr sz="2000" b="1" u="sng" dirty="0">
                <a:solidFill>
                  <a:srgbClr val="C00000"/>
                </a:solidFill>
                <a:uFill>
                  <a:solidFill>
                    <a:srgbClr val="C00000"/>
                  </a:solidFill>
                </a:uFill>
                <a:latin typeface="Times New Roman"/>
                <a:cs typeface="Times New Roman"/>
              </a:rPr>
              <a:t>Example</a:t>
            </a:r>
            <a:r>
              <a:rPr sz="2000" b="1" u="sng" spc="-20" dirty="0">
                <a:solidFill>
                  <a:srgbClr val="C00000"/>
                </a:solidFill>
                <a:uFill>
                  <a:solidFill>
                    <a:srgbClr val="C00000"/>
                  </a:solidFill>
                </a:uFill>
                <a:latin typeface="Times New Roman"/>
                <a:cs typeface="Times New Roman"/>
              </a:rPr>
              <a:t> </a:t>
            </a:r>
            <a:r>
              <a:rPr sz="2000" b="1" u="sng" spc="-25" dirty="0">
                <a:solidFill>
                  <a:srgbClr val="C00000"/>
                </a:solidFill>
                <a:uFill>
                  <a:solidFill>
                    <a:srgbClr val="C00000"/>
                  </a:solidFill>
                </a:uFill>
                <a:latin typeface="Times New Roman"/>
                <a:cs typeface="Times New Roman"/>
              </a:rPr>
              <a:t>1:</a:t>
            </a:r>
            <a:endParaRPr sz="2000">
              <a:latin typeface="Times New Roman"/>
              <a:cs typeface="Times New Roman"/>
            </a:endParaRPr>
          </a:p>
          <a:p>
            <a:pPr marL="13335" algn="just">
              <a:lnSpc>
                <a:spcPct val="100000"/>
              </a:lnSpc>
            </a:pPr>
            <a:r>
              <a:rPr sz="2000" b="1" dirty="0">
                <a:latin typeface="Times New Roman"/>
                <a:cs typeface="Times New Roman"/>
              </a:rPr>
              <a:t>Using</a:t>
            </a:r>
            <a:r>
              <a:rPr sz="2000" b="1" spc="-25" dirty="0">
                <a:latin typeface="Times New Roman"/>
                <a:cs typeface="Times New Roman"/>
              </a:rPr>
              <a:t> </a:t>
            </a:r>
            <a:r>
              <a:rPr sz="2000" b="1" dirty="0">
                <a:latin typeface="Times New Roman"/>
                <a:cs typeface="Times New Roman"/>
              </a:rPr>
              <a:t>median</a:t>
            </a:r>
            <a:r>
              <a:rPr sz="2000" b="1" spc="-15" dirty="0">
                <a:latin typeface="Times New Roman"/>
                <a:cs typeface="Times New Roman"/>
              </a:rPr>
              <a:t> </a:t>
            </a:r>
            <a:r>
              <a:rPr sz="2000" b="1" dirty="0">
                <a:latin typeface="Times New Roman"/>
                <a:cs typeface="Times New Roman"/>
              </a:rPr>
              <a:t>filters</a:t>
            </a:r>
            <a:r>
              <a:rPr sz="2000" b="1" spc="-45" dirty="0">
                <a:latin typeface="Times New Roman"/>
                <a:cs typeface="Times New Roman"/>
              </a:rPr>
              <a:t> </a:t>
            </a:r>
            <a:r>
              <a:rPr sz="2000" b="1" dirty="0">
                <a:latin typeface="Times New Roman"/>
                <a:cs typeface="Times New Roman"/>
              </a:rPr>
              <a:t>to</a:t>
            </a:r>
            <a:r>
              <a:rPr sz="2000" b="1" spc="-20" dirty="0">
                <a:latin typeface="Times New Roman"/>
                <a:cs typeface="Times New Roman"/>
              </a:rPr>
              <a:t> </a:t>
            </a:r>
            <a:r>
              <a:rPr sz="2000" b="1" dirty="0">
                <a:latin typeface="Times New Roman"/>
                <a:cs typeface="Times New Roman"/>
              </a:rPr>
              <a:t>remove</a:t>
            </a:r>
            <a:r>
              <a:rPr sz="2000" b="1" spc="-30" dirty="0">
                <a:latin typeface="Times New Roman"/>
                <a:cs typeface="Times New Roman"/>
              </a:rPr>
              <a:t> </a:t>
            </a:r>
            <a:r>
              <a:rPr sz="2000" b="1" dirty="0">
                <a:latin typeface="Times New Roman"/>
                <a:cs typeface="Times New Roman"/>
              </a:rPr>
              <a:t>salt</a:t>
            </a:r>
            <a:r>
              <a:rPr sz="2000" b="1" spc="-30" dirty="0">
                <a:latin typeface="Times New Roman"/>
                <a:cs typeface="Times New Roman"/>
              </a:rPr>
              <a:t> </a:t>
            </a:r>
            <a:r>
              <a:rPr sz="2000" b="1" dirty="0">
                <a:latin typeface="Times New Roman"/>
                <a:cs typeface="Times New Roman"/>
              </a:rPr>
              <a:t>and</a:t>
            </a:r>
            <a:r>
              <a:rPr sz="2000" b="1" spc="-25" dirty="0">
                <a:latin typeface="Times New Roman"/>
                <a:cs typeface="Times New Roman"/>
              </a:rPr>
              <a:t> </a:t>
            </a:r>
            <a:r>
              <a:rPr sz="2000" b="1" dirty="0">
                <a:latin typeface="Times New Roman"/>
                <a:cs typeface="Times New Roman"/>
              </a:rPr>
              <a:t>pepper</a:t>
            </a:r>
            <a:r>
              <a:rPr sz="2000" b="1" spc="-55" dirty="0">
                <a:latin typeface="Times New Roman"/>
                <a:cs typeface="Times New Roman"/>
              </a:rPr>
              <a:t> </a:t>
            </a:r>
            <a:r>
              <a:rPr sz="2000" b="1" dirty="0">
                <a:latin typeface="Times New Roman"/>
                <a:cs typeface="Times New Roman"/>
              </a:rPr>
              <a:t>noise,</a:t>
            </a:r>
            <a:r>
              <a:rPr sz="2000" b="1" spc="-35" dirty="0">
                <a:latin typeface="Times New Roman"/>
                <a:cs typeface="Times New Roman"/>
              </a:rPr>
              <a:t> </a:t>
            </a:r>
            <a:r>
              <a:rPr sz="2000" b="1" dirty="0">
                <a:latin typeface="Times New Roman"/>
                <a:cs typeface="Times New Roman"/>
              </a:rPr>
              <a:t>from</a:t>
            </a:r>
            <a:r>
              <a:rPr sz="2000" b="1" spc="-5" dirty="0">
                <a:latin typeface="Times New Roman"/>
                <a:cs typeface="Times New Roman"/>
              </a:rPr>
              <a:t> </a:t>
            </a:r>
            <a:r>
              <a:rPr sz="2000" b="1" dirty="0">
                <a:latin typeface="Times New Roman"/>
                <a:cs typeface="Times New Roman"/>
              </a:rPr>
              <a:t>sub</a:t>
            </a:r>
            <a:r>
              <a:rPr sz="2000" b="1" spc="-5" dirty="0">
                <a:latin typeface="Times New Roman"/>
                <a:cs typeface="Times New Roman"/>
              </a:rPr>
              <a:t> </a:t>
            </a:r>
            <a:r>
              <a:rPr sz="2000" b="1" dirty="0">
                <a:latin typeface="Times New Roman"/>
                <a:cs typeface="Times New Roman"/>
              </a:rPr>
              <a:t>image</a:t>
            </a:r>
            <a:r>
              <a:rPr sz="2000" b="1" spc="-35" dirty="0">
                <a:latin typeface="Times New Roman"/>
                <a:cs typeface="Times New Roman"/>
              </a:rPr>
              <a:t> </a:t>
            </a:r>
            <a:r>
              <a:rPr sz="2000" b="1" dirty="0">
                <a:latin typeface="Times New Roman"/>
                <a:cs typeface="Times New Roman"/>
              </a:rPr>
              <a:t>I(r</a:t>
            </a:r>
            <a:r>
              <a:rPr sz="2000" b="1" spc="-45"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spc="-25" dirty="0">
                <a:latin typeface="Times New Roman"/>
                <a:cs typeface="Times New Roman"/>
              </a:rPr>
              <a:t>c).</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415"/>
              </a:spcBef>
            </a:pPr>
            <a:endParaRPr sz="2000">
              <a:latin typeface="Times New Roman"/>
              <a:cs typeface="Times New Roman"/>
            </a:endParaRPr>
          </a:p>
          <a:p>
            <a:pPr marL="12700" algn="just">
              <a:lnSpc>
                <a:spcPct val="100000"/>
              </a:lnSpc>
            </a:pPr>
            <a:r>
              <a:rPr sz="2000" b="1" u="sng" dirty="0">
                <a:solidFill>
                  <a:srgbClr val="00AF50"/>
                </a:solidFill>
                <a:uFill>
                  <a:solidFill>
                    <a:srgbClr val="00AF50"/>
                  </a:solidFill>
                </a:uFill>
                <a:latin typeface="Times New Roman"/>
                <a:cs typeface="Times New Roman"/>
              </a:rPr>
              <a:t>First</a:t>
            </a:r>
            <a:r>
              <a:rPr sz="2000" b="1" u="sng" spc="-2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469265" indent="-456565" algn="just">
              <a:lnSpc>
                <a:spcPct val="100000"/>
              </a:lnSpc>
              <a:buAutoNum type="arabicPeriod"/>
              <a:tabLst>
                <a:tab pos="469265" algn="l"/>
              </a:tabLst>
            </a:pPr>
            <a:r>
              <a:rPr sz="2000" b="1" dirty="0">
                <a:solidFill>
                  <a:srgbClr val="006FC0"/>
                </a:solidFill>
                <a:latin typeface="Times New Roman"/>
                <a:cs typeface="Times New Roman"/>
              </a:rPr>
              <a:t>Rearrange</a:t>
            </a:r>
            <a:r>
              <a:rPr sz="2000" b="1" spc="459" dirty="0">
                <a:solidFill>
                  <a:srgbClr val="006FC0"/>
                </a:solidFill>
                <a:latin typeface="Times New Roman"/>
                <a:cs typeface="Times New Roman"/>
              </a:rPr>
              <a:t>  </a:t>
            </a:r>
            <a:r>
              <a:rPr sz="2000" b="1" dirty="0">
                <a:latin typeface="Times New Roman"/>
                <a:cs typeface="Times New Roman"/>
              </a:rPr>
              <a:t>the</a:t>
            </a:r>
            <a:r>
              <a:rPr sz="2000" b="1" spc="455" dirty="0">
                <a:latin typeface="Times New Roman"/>
                <a:cs typeface="Times New Roman"/>
              </a:rPr>
              <a:t>  </a:t>
            </a:r>
            <a:r>
              <a:rPr sz="2000" b="1" dirty="0">
                <a:latin typeface="Times New Roman"/>
                <a:cs typeface="Times New Roman"/>
              </a:rPr>
              <a:t>3x3</a:t>
            </a:r>
            <a:r>
              <a:rPr sz="2000" b="1" spc="459" dirty="0">
                <a:latin typeface="Times New Roman"/>
                <a:cs typeface="Times New Roman"/>
              </a:rPr>
              <a:t>  </a:t>
            </a:r>
            <a:r>
              <a:rPr sz="2000" b="1" dirty="0">
                <a:latin typeface="Times New Roman"/>
                <a:cs typeface="Times New Roman"/>
              </a:rPr>
              <a:t>neighbor</a:t>
            </a:r>
            <a:r>
              <a:rPr sz="2000" b="1" spc="445" dirty="0">
                <a:latin typeface="Times New Roman"/>
                <a:cs typeface="Times New Roman"/>
              </a:rPr>
              <a:t>  </a:t>
            </a:r>
            <a:r>
              <a:rPr sz="2000" b="1" dirty="0">
                <a:latin typeface="Times New Roman"/>
                <a:cs typeface="Times New Roman"/>
              </a:rPr>
              <a:t>pixels</a:t>
            </a:r>
            <a:r>
              <a:rPr sz="2000" b="1" spc="459"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469900" algn="just">
              <a:lnSpc>
                <a:spcPct val="100000"/>
              </a:lnSpc>
              <a:spcBef>
                <a:spcPts val="5"/>
              </a:spcBef>
            </a:pPr>
            <a:r>
              <a:rPr sz="2000" b="1" dirty="0">
                <a:latin typeface="Times New Roman"/>
                <a:cs typeface="Times New Roman"/>
              </a:rPr>
              <a:t>ascending</a:t>
            </a:r>
            <a:r>
              <a:rPr sz="2000" b="1" spc="-4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25" dirty="0">
                <a:latin typeface="Times New Roman"/>
                <a:cs typeface="Times New Roman"/>
              </a:rPr>
              <a:t> as:</a:t>
            </a:r>
            <a:endParaRPr sz="2000">
              <a:latin typeface="Times New Roman"/>
              <a:cs typeface="Times New Roman"/>
            </a:endParaRPr>
          </a:p>
          <a:p>
            <a:pPr marL="1091565" algn="just">
              <a:lnSpc>
                <a:spcPct val="100000"/>
              </a:lnSpc>
            </a:pPr>
            <a:r>
              <a:rPr sz="2000" b="1" dirty="0">
                <a:latin typeface="Times New Roman"/>
                <a:cs typeface="Times New Roman"/>
              </a:rPr>
              <a:t>2,</a:t>
            </a:r>
            <a:r>
              <a:rPr sz="2000" b="1" spc="-10" dirty="0">
                <a:latin typeface="Times New Roman"/>
                <a:cs typeface="Times New Roman"/>
              </a:rPr>
              <a:t> </a:t>
            </a:r>
            <a:r>
              <a:rPr sz="2000" b="1" dirty="0">
                <a:latin typeface="Times New Roman"/>
                <a:cs typeface="Times New Roman"/>
              </a:rPr>
              <a:t>5,</a:t>
            </a:r>
            <a:r>
              <a:rPr sz="2000" b="1" spc="5" dirty="0">
                <a:latin typeface="Times New Roman"/>
                <a:cs typeface="Times New Roman"/>
              </a:rPr>
              <a:t> </a:t>
            </a:r>
            <a:r>
              <a:rPr sz="2000" b="1" dirty="0">
                <a:latin typeface="Times New Roman"/>
                <a:cs typeface="Times New Roman"/>
              </a:rPr>
              <a:t>16,</a:t>
            </a:r>
            <a:r>
              <a:rPr sz="2000" b="1" spc="-15" dirty="0">
                <a:latin typeface="Times New Roman"/>
                <a:cs typeface="Times New Roman"/>
              </a:rPr>
              <a:t> </a:t>
            </a:r>
            <a:r>
              <a:rPr sz="2000" b="1" dirty="0">
                <a:latin typeface="Times New Roman"/>
                <a:cs typeface="Times New Roman"/>
              </a:rPr>
              <a:t>19,</a:t>
            </a:r>
            <a:r>
              <a:rPr sz="2000" b="1" spc="-10" dirty="0">
                <a:latin typeface="Times New Roman"/>
                <a:cs typeface="Times New Roman"/>
              </a:rPr>
              <a:t> </a:t>
            </a:r>
            <a:r>
              <a:rPr sz="2000" b="1" dirty="0">
                <a:solidFill>
                  <a:srgbClr val="FF0000"/>
                </a:solidFill>
                <a:latin typeface="Times New Roman"/>
                <a:cs typeface="Times New Roman"/>
              </a:rPr>
              <a:t>20</a:t>
            </a:r>
            <a:r>
              <a:rPr sz="2000" b="1" dirty="0">
                <a:latin typeface="Times New Roman"/>
                <a:cs typeface="Times New Roman"/>
              </a:rPr>
              <a:t>,  21,</a:t>
            </a:r>
            <a:r>
              <a:rPr sz="2000" b="1" spc="-25" dirty="0">
                <a:latin typeface="Times New Roman"/>
                <a:cs typeface="Times New Roman"/>
              </a:rPr>
              <a:t> </a:t>
            </a:r>
            <a:r>
              <a:rPr sz="2000" b="1" dirty="0">
                <a:latin typeface="Times New Roman"/>
                <a:cs typeface="Times New Roman"/>
              </a:rPr>
              <a:t>25,</a:t>
            </a:r>
            <a:r>
              <a:rPr sz="2000" b="1" spc="-10" dirty="0">
                <a:latin typeface="Times New Roman"/>
                <a:cs typeface="Times New Roman"/>
              </a:rPr>
              <a:t> </a:t>
            </a:r>
            <a:r>
              <a:rPr sz="2000" b="1" dirty="0">
                <a:latin typeface="Times New Roman"/>
                <a:cs typeface="Times New Roman"/>
              </a:rPr>
              <a:t>43,</a:t>
            </a:r>
            <a:r>
              <a:rPr sz="2000" b="1" spc="-10" dirty="0">
                <a:latin typeface="Times New Roman"/>
                <a:cs typeface="Times New Roman"/>
              </a:rPr>
              <a:t> </a:t>
            </a:r>
            <a:r>
              <a:rPr sz="2000" b="1" spc="-25" dirty="0">
                <a:latin typeface="Times New Roman"/>
                <a:cs typeface="Times New Roman"/>
              </a:rPr>
              <a:t>51</a:t>
            </a:r>
            <a:endParaRPr sz="2000">
              <a:latin typeface="Times New Roman"/>
              <a:cs typeface="Times New Roman"/>
            </a:endParaRPr>
          </a:p>
          <a:p>
            <a:pPr marL="320675" marR="2931160" indent="-308610" algn="just">
              <a:lnSpc>
                <a:spcPct val="100000"/>
              </a:lnSpc>
              <a:buClr>
                <a:srgbClr val="006FC0"/>
              </a:buClr>
              <a:buAutoNum type="arabicPeriod" startAt="2"/>
              <a:tabLst>
                <a:tab pos="376555" algn="l"/>
              </a:tabLst>
            </a:pPr>
            <a:r>
              <a:rPr sz="2000" b="1" dirty="0">
                <a:latin typeface="Times New Roman"/>
                <a:cs typeface="Times New Roman"/>
              </a:rPr>
              <a:t>By</a:t>
            </a:r>
            <a:r>
              <a:rPr sz="2000" b="1" spc="400" dirty="0">
                <a:latin typeface="Times New Roman"/>
                <a:cs typeface="Times New Roman"/>
              </a:rPr>
              <a:t> </a:t>
            </a:r>
            <a:r>
              <a:rPr sz="2000" b="1" dirty="0">
                <a:solidFill>
                  <a:srgbClr val="006FC0"/>
                </a:solidFill>
                <a:latin typeface="Times New Roman"/>
                <a:cs typeface="Times New Roman"/>
              </a:rPr>
              <a:t>using</a:t>
            </a:r>
            <a:r>
              <a:rPr sz="2000" b="1" spc="390" dirty="0">
                <a:solidFill>
                  <a:srgbClr val="006FC0"/>
                </a:solidFill>
                <a:latin typeface="Times New Roman"/>
                <a:cs typeface="Times New Roman"/>
              </a:rPr>
              <a:t> </a:t>
            </a:r>
            <a:r>
              <a:rPr sz="2000" b="1" dirty="0">
                <a:solidFill>
                  <a:srgbClr val="006FC0"/>
                </a:solidFill>
                <a:latin typeface="Times New Roman"/>
                <a:cs typeface="Times New Roman"/>
              </a:rPr>
              <a:t>median</a:t>
            </a:r>
            <a:r>
              <a:rPr sz="2000" b="1" spc="405"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365" dirty="0">
                <a:solidFill>
                  <a:srgbClr val="006FC0"/>
                </a:solidFill>
                <a:latin typeface="Times New Roman"/>
                <a:cs typeface="Times New Roman"/>
              </a:rPr>
              <a:t> </a:t>
            </a:r>
            <a:r>
              <a:rPr sz="2000" b="1" dirty="0">
                <a:latin typeface="Times New Roman"/>
                <a:cs typeface="Times New Roman"/>
              </a:rPr>
              <a:t>we</a:t>
            </a:r>
            <a:r>
              <a:rPr sz="2000" b="1" spc="409" dirty="0">
                <a:latin typeface="Times New Roman"/>
                <a:cs typeface="Times New Roman"/>
              </a:rPr>
              <a:t> </a:t>
            </a:r>
            <a:r>
              <a:rPr sz="2000" b="1" dirty="0">
                <a:latin typeface="Times New Roman"/>
                <a:cs typeface="Times New Roman"/>
              </a:rPr>
              <a:t>select</a:t>
            </a:r>
            <a:r>
              <a:rPr sz="2000" b="1" spc="400" dirty="0">
                <a:latin typeface="Times New Roman"/>
                <a:cs typeface="Times New Roman"/>
              </a:rPr>
              <a:t> </a:t>
            </a:r>
            <a:r>
              <a:rPr sz="2000" b="1" dirty="0">
                <a:latin typeface="Times New Roman"/>
                <a:cs typeface="Times New Roman"/>
              </a:rPr>
              <a:t>the</a:t>
            </a:r>
            <a:r>
              <a:rPr sz="2000" b="1" spc="400" dirty="0">
                <a:latin typeface="Times New Roman"/>
                <a:cs typeface="Times New Roman"/>
              </a:rPr>
              <a:t> </a:t>
            </a:r>
            <a:r>
              <a:rPr sz="2000" b="1" spc="-10" dirty="0">
                <a:solidFill>
                  <a:srgbClr val="FF0000"/>
                </a:solidFill>
                <a:latin typeface="Times New Roman"/>
                <a:cs typeface="Times New Roman"/>
              </a:rPr>
              <a:t>median 	</a:t>
            </a:r>
            <a:r>
              <a:rPr sz="2000" b="1" dirty="0">
                <a:solidFill>
                  <a:srgbClr val="FF0000"/>
                </a:solidFill>
                <a:latin typeface="Times New Roman"/>
                <a:cs typeface="Times New Roman"/>
              </a:rPr>
              <a:t>value</a:t>
            </a:r>
            <a:r>
              <a:rPr sz="2000" b="1" spc="490" dirty="0">
                <a:solidFill>
                  <a:srgbClr val="FF0000"/>
                </a:solidFill>
                <a:latin typeface="Times New Roman"/>
                <a:cs typeface="Times New Roman"/>
              </a:rPr>
              <a:t> </a:t>
            </a:r>
            <a:r>
              <a:rPr sz="2000" b="1" dirty="0">
                <a:solidFill>
                  <a:srgbClr val="FF0000"/>
                </a:solidFill>
                <a:latin typeface="Times New Roman"/>
                <a:cs typeface="Times New Roman"/>
              </a:rPr>
              <a:t>20  </a:t>
            </a:r>
            <a:r>
              <a:rPr sz="2000" b="1" dirty="0">
                <a:latin typeface="Times New Roman"/>
                <a:cs typeface="Times New Roman"/>
              </a:rPr>
              <a:t>and</a:t>
            </a:r>
            <a:r>
              <a:rPr sz="2000" b="1" spc="495" dirty="0">
                <a:latin typeface="Times New Roman"/>
                <a:cs typeface="Times New Roman"/>
              </a:rPr>
              <a:t> </a:t>
            </a:r>
            <a:r>
              <a:rPr sz="2000" b="1" dirty="0">
                <a:latin typeface="Times New Roman"/>
                <a:cs typeface="Times New Roman"/>
              </a:rPr>
              <a:t>put</a:t>
            </a:r>
            <a:r>
              <a:rPr sz="2000" b="1" spc="495" dirty="0">
                <a:latin typeface="Times New Roman"/>
                <a:cs typeface="Times New Roman"/>
              </a:rPr>
              <a:t> </a:t>
            </a:r>
            <a:r>
              <a:rPr sz="2000" b="1" dirty="0">
                <a:latin typeface="Times New Roman"/>
                <a:cs typeface="Times New Roman"/>
              </a:rPr>
              <a:t>it  in  buffer</a:t>
            </a:r>
            <a:r>
              <a:rPr sz="2000" b="1" spc="465" dirty="0">
                <a:latin typeface="Times New Roman"/>
                <a:cs typeface="Times New Roman"/>
              </a:rPr>
              <a:t> </a:t>
            </a:r>
            <a:r>
              <a:rPr sz="2000" b="1" dirty="0">
                <a:latin typeface="Times New Roman"/>
                <a:cs typeface="Times New Roman"/>
              </a:rPr>
              <a:t>image  in</a:t>
            </a:r>
            <a:r>
              <a:rPr sz="2000" b="1" spc="495"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a:p>
            <a:pPr>
              <a:lnSpc>
                <a:spcPct val="100000"/>
              </a:lnSpc>
              <a:spcBef>
                <a:spcPts val="955"/>
              </a:spcBef>
              <a:buClr>
                <a:srgbClr val="006FC0"/>
              </a:buClr>
              <a:buFont typeface="Times New Roman"/>
              <a:buAutoNum type="arabicPeriod" startAt="2"/>
            </a:pPr>
            <a:endParaRPr sz="2000">
              <a:latin typeface="Times New Roman"/>
              <a:cs typeface="Times New Roman"/>
            </a:endParaRPr>
          </a:p>
          <a:p>
            <a:pPr marL="12700" algn="just">
              <a:lnSpc>
                <a:spcPct val="100000"/>
              </a:lnSpc>
              <a:spcBef>
                <a:spcPts val="5"/>
              </a:spcBef>
            </a:pPr>
            <a:r>
              <a:rPr sz="2000" b="1" u="sng" dirty="0">
                <a:solidFill>
                  <a:srgbClr val="00AF50"/>
                </a:solidFill>
                <a:uFill>
                  <a:solidFill>
                    <a:srgbClr val="00AF50"/>
                  </a:solidFill>
                </a:uFill>
                <a:latin typeface="Times New Roman"/>
                <a:cs typeface="Times New Roman"/>
              </a:rPr>
              <a:t>Second</a:t>
            </a:r>
            <a:r>
              <a:rPr sz="2000" b="1" u="sng" spc="-1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469265" lvl="1" indent="-456565" algn="just">
              <a:lnSpc>
                <a:spcPct val="100000"/>
              </a:lnSpc>
              <a:buAutoNum type="arabicPeriod"/>
              <a:tabLst>
                <a:tab pos="469265" algn="l"/>
              </a:tabLst>
            </a:pPr>
            <a:r>
              <a:rPr sz="2000" b="1" dirty="0">
                <a:solidFill>
                  <a:srgbClr val="006FC0"/>
                </a:solidFill>
                <a:latin typeface="Times New Roman"/>
                <a:cs typeface="Times New Roman"/>
              </a:rPr>
              <a:t>Rearrange</a:t>
            </a:r>
            <a:r>
              <a:rPr sz="2000" b="1" spc="459" dirty="0">
                <a:solidFill>
                  <a:srgbClr val="006FC0"/>
                </a:solidFill>
                <a:latin typeface="Times New Roman"/>
                <a:cs typeface="Times New Roman"/>
              </a:rPr>
              <a:t>  </a:t>
            </a:r>
            <a:r>
              <a:rPr sz="2000" b="1" dirty="0">
                <a:latin typeface="Times New Roman"/>
                <a:cs typeface="Times New Roman"/>
              </a:rPr>
              <a:t>the</a:t>
            </a:r>
            <a:r>
              <a:rPr sz="2000" b="1" spc="455" dirty="0">
                <a:latin typeface="Times New Roman"/>
                <a:cs typeface="Times New Roman"/>
              </a:rPr>
              <a:t>  </a:t>
            </a:r>
            <a:r>
              <a:rPr sz="2000" b="1" dirty="0">
                <a:latin typeface="Times New Roman"/>
                <a:cs typeface="Times New Roman"/>
              </a:rPr>
              <a:t>3x3</a:t>
            </a:r>
            <a:r>
              <a:rPr sz="2000" b="1" spc="459" dirty="0">
                <a:latin typeface="Times New Roman"/>
                <a:cs typeface="Times New Roman"/>
              </a:rPr>
              <a:t>  </a:t>
            </a:r>
            <a:r>
              <a:rPr sz="2000" b="1" dirty="0">
                <a:latin typeface="Times New Roman"/>
                <a:cs typeface="Times New Roman"/>
              </a:rPr>
              <a:t>neighbor</a:t>
            </a:r>
            <a:r>
              <a:rPr sz="2000" b="1" spc="445" dirty="0">
                <a:latin typeface="Times New Roman"/>
                <a:cs typeface="Times New Roman"/>
              </a:rPr>
              <a:t>  </a:t>
            </a:r>
            <a:r>
              <a:rPr sz="2000" b="1" dirty="0">
                <a:latin typeface="Times New Roman"/>
                <a:cs typeface="Times New Roman"/>
              </a:rPr>
              <a:t>pixels</a:t>
            </a:r>
            <a:r>
              <a:rPr sz="2000" b="1" spc="459"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469900" algn="just">
              <a:lnSpc>
                <a:spcPct val="100000"/>
              </a:lnSpc>
            </a:pPr>
            <a:r>
              <a:rPr sz="2000" b="1" dirty="0">
                <a:latin typeface="Times New Roman"/>
                <a:cs typeface="Times New Roman"/>
              </a:rPr>
              <a:t>ascending</a:t>
            </a:r>
            <a:r>
              <a:rPr sz="2000" b="1" spc="-4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25" dirty="0">
                <a:latin typeface="Times New Roman"/>
                <a:cs typeface="Times New Roman"/>
              </a:rPr>
              <a:t> as:</a:t>
            </a:r>
            <a:endParaRPr sz="2000">
              <a:latin typeface="Times New Roman"/>
              <a:cs typeface="Times New Roman"/>
            </a:endParaRPr>
          </a:p>
          <a:p>
            <a:pPr marL="1091565" algn="just">
              <a:lnSpc>
                <a:spcPct val="100000"/>
              </a:lnSpc>
            </a:pPr>
            <a:r>
              <a:rPr sz="2000" b="1" dirty="0">
                <a:latin typeface="Times New Roman"/>
                <a:cs typeface="Times New Roman"/>
              </a:rPr>
              <a:t>2, 15,</a:t>
            </a:r>
            <a:r>
              <a:rPr sz="2000" b="1" spc="-10" dirty="0">
                <a:latin typeface="Times New Roman"/>
                <a:cs typeface="Times New Roman"/>
              </a:rPr>
              <a:t> </a:t>
            </a:r>
            <a:r>
              <a:rPr sz="2000" b="1" dirty="0">
                <a:latin typeface="Times New Roman"/>
                <a:cs typeface="Times New Roman"/>
              </a:rPr>
              <a:t>16,</a:t>
            </a:r>
            <a:r>
              <a:rPr sz="2000" b="1" spc="-10" dirty="0">
                <a:latin typeface="Times New Roman"/>
                <a:cs typeface="Times New Roman"/>
              </a:rPr>
              <a:t> </a:t>
            </a:r>
            <a:r>
              <a:rPr sz="2000" b="1" dirty="0">
                <a:latin typeface="Times New Roman"/>
                <a:cs typeface="Times New Roman"/>
              </a:rPr>
              <a:t>18,</a:t>
            </a:r>
            <a:r>
              <a:rPr sz="2000" b="1" spc="-10" dirty="0">
                <a:latin typeface="Times New Roman"/>
                <a:cs typeface="Times New Roman"/>
              </a:rPr>
              <a:t> </a:t>
            </a:r>
            <a:r>
              <a:rPr sz="2000" b="1" dirty="0">
                <a:solidFill>
                  <a:srgbClr val="FF0000"/>
                </a:solidFill>
                <a:latin typeface="Times New Roman"/>
                <a:cs typeface="Times New Roman"/>
              </a:rPr>
              <a:t>19</a:t>
            </a:r>
            <a:r>
              <a:rPr sz="2000" b="1" dirty="0">
                <a:latin typeface="Times New Roman"/>
                <a:cs typeface="Times New Roman"/>
              </a:rPr>
              <a:t>,</a:t>
            </a:r>
            <a:r>
              <a:rPr sz="2000" b="1" spc="-10" dirty="0">
                <a:latin typeface="Times New Roman"/>
                <a:cs typeface="Times New Roman"/>
              </a:rPr>
              <a:t> </a:t>
            </a:r>
            <a:r>
              <a:rPr sz="2000" b="1" dirty="0">
                <a:latin typeface="Times New Roman"/>
                <a:cs typeface="Times New Roman"/>
              </a:rPr>
              <a:t>20,</a:t>
            </a:r>
            <a:r>
              <a:rPr sz="2000" b="1" spc="-10" dirty="0">
                <a:latin typeface="Times New Roman"/>
                <a:cs typeface="Times New Roman"/>
              </a:rPr>
              <a:t> </a:t>
            </a:r>
            <a:r>
              <a:rPr sz="2000" b="1" dirty="0">
                <a:latin typeface="Times New Roman"/>
                <a:cs typeface="Times New Roman"/>
              </a:rPr>
              <a:t>23,</a:t>
            </a:r>
            <a:r>
              <a:rPr sz="2000" b="1" spc="-10" dirty="0">
                <a:latin typeface="Times New Roman"/>
                <a:cs typeface="Times New Roman"/>
              </a:rPr>
              <a:t> </a:t>
            </a:r>
            <a:r>
              <a:rPr sz="2000" b="1" dirty="0">
                <a:latin typeface="Times New Roman"/>
                <a:cs typeface="Times New Roman"/>
              </a:rPr>
              <a:t>25,</a:t>
            </a:r>
            <a:r>
              <a:rPr sz="2000" b="1" spc="-10" dirty="0">
                <a:latin typeface="Times New Roman"/>
                <a:cs typeface="Times New Roman"/>
              </a:rPr>
              <a:t> </a:t>
            </a:r>
            <a:r>
              <a:rPr sz="2000" b="1" spc="-25" dirty="0">
                <a:latin typeface="Times New Roman"/>
                <a:cs typeface="Times New Roman"/>
              </a:rPr>
              <a:t>51</a:t>
            </a:r>
            <a:endParaRPr sz="2000">
              <a:latin typeface="Times New Roman"/>
              <a:cs typeface="Times New Roman"/>
            </a:endParaRPr>
          </a:p>
          <a:p>
            <a:pPr marL="320675" marR="2931160" lvl="1" indent="-308610" algn="just">
              <a:lnSpc>
                <a:spcPct val="100000"/>
              </a:lnSpc>
              <a:buClr>
                <a:srgbClr val="006FC0"/>
              </a:buClr>
              <a:buAutoNum type="arabicPeriod" startAt="2"/>
              <a:tabLst>
                <a:tab pos="376555" algn="l"/>
              </a:tabLst>
            </a:pPr>
            <a:r>
              <a:rPr sz="2000" b="1" dirty="0">
                <a:latin typeface="Times New Roman"/>
                <a:cs typeface="Times New Roman"/>
              </a:rPr>
              <a:t>By</a:t>
            </a:r>
            <a:r>
              <a:rPr sz="2000" b="1" spc="400" dirty="0">
                <a:latin typeface="Times New Roman"/>
                <a:cs typeface="Times New Roman"/>
              </a:rPr>
              <a:t> </a:t>
            </a:r>
            <a:r>
              <a:rPr sz="2000" b="1" dirty="0">
                <a:solidFill>
                  <a:srgbClr val="006FC0"/>
                </a:solidFill>
                <a:latin typeface="Times New Roman"/>
                <a:cs typeface="Times New Roman"/>
              </a:rPr>
              <a:t>using</a:t>
            </a:r>
            <a:r>
              <a:rPr sz="2000" b="1" spc="390" dirty="0">
                <a:solidFill>
                  <a:srgbClr val="006FC0"/>
                </a:solidFill>
                <a:latin typeface="Times New Roman"/>
                <a:cs typeface="Times New Roman"/>
              </a:rPr>
              <a:t> </a:t>
            </a:r>
            <a:r>
              <a:rPr sz="2000" b="1" dirty="0">
                <a:solidFill>
                  <a:srgbClr val="006FC0"/>
                </a:solidFill>
                <a:latin typeface="Times New Roman"/>
                <a:cs typeface="Times New Roman"/>
              </a:rPr>
              <a:t>median</a:t>
            </a:r>
            <a:r>
              <a:rPr sz="2000" b="1" spc="405"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365" dirty="0">
                <a:solidFill>
                  <a:srgbClr val="006FC0"/>
                </a:solidFill>
                <a:latin typeface="Times New Roman"/>
                <a:cs typeface="Times New Roman"/>
              </a:rPr>
              <a:t> </a:t>
            </a:r>
            <a:r>
              <a:rPr sz="2000" b="1" dirty="0">
                <a:latin typeface="Times New Roman"/>
                <a:cs typeface="Times New Roman"/>
              </a:rPr>
              <a:t>we</a:t>
            </a:r>
            <a:r>
              <a:rPr sz="2000" b="1" spc="409" dirty="0">
                <a:latin typeface="Times New Roman"/>
                <a:cs typeface="Times New Roman"/>
              </a:rPr>
              <a:t> </a:t>
            </a:r>
            <a:r>
              <a:rPr sz="2000" b="1" dirty="0">
                <a:latin typeface="Times New Roman"/>
                <a:cs typeface="Times New Roman"/>
              </a:rPr>
              <a:t>select</a:t>
            </a:r>
            <a:r>
              <a:rPr sz="2000" b="1" spc="400" dirty="0">
                <a:latin typeface="Times New Roman"/>
                <a:cs typeface="Times New Roman"/>
              </a:rPr>
              <a:t> </a:t>
            </a:r>
            <a:r>
              <a:rPr sz="2000" b="1" dirty="0">
                <a:latin typeface="Times New Roman"/>
                <a:cs typeface="Times New Roman"/>
              </a:rPr>
              <a:t>the</a:t>
            </a:r>
            <a:r>
              <a:rPr sz="2000" b="1" spc="400" dirty="0">
                <a:latin typeface="Times New Roman"/>
                <a:cs typeface="Times New Roman"/>
              </a:rPr>
              <a:t> </a:t>
            </a:r>
            <a:r>
              <a:rPr sz="2000" b="1" spc="-10" dirty="0">
                <a:solidFill>
                  <a:srgbClr val="FF0000"/>
                </a:solidFill>
                <a:latin typeface="Times New Roman"/>
                <a:cs typeface="Times New Roman"/>
              </a:rPr>
              <a:t>median 	</a:t>
            </a:r>
            <a:r>
              <a:rPr sz="2000" b="1" dirty="0">
                <a:solidFill>
                  <a:srgbClr val="FF0000"/>
                </a:solidFill>
                <a:latin typeface="Times New Roman"/>
                <a:cs typeface="Times New Roman"/>
              </a:rPr>
              <a:t>value</a:t>
            </a:r>
            <a:r>
              <a:rPr sz="2000" b="1" spc="490" dirty="0">
                <a:solidFill>
                  <a:srgbClr val="FF0000"/>
                </a:solidFill>
                <a:latin typeface="Times New Roman"/>
                <a:cs typeface="Times New Roman"/>
              </a:rPr>
              <a:t> </a:t>
            </a:r>
            <a:r>
              <a:rPr sz="2000" b="1" dirty="0">
                <a:solidFill>
                  <a:srgbClr val="FF0000"/>
                </a:solidFill>
                <a:latin typeface="Times New Roman"/>
                <a:cs typeface="Times New Roman"/>
              </a:rPr>
              <a:t>19  </a:t>
            </a:r>
            <a:r>
              <a:rPr sz="2000" b="1" dirty="0">
                <a:latin typeface="Times New Roman"/>
                <a:cs typeface="Times New Roman"/>
              </a:rPr>
              <a:t>and</a:t>
            </a:r>
            <a:r>
              <a:rPr sz="2000" b="1" spc="495" dirty="0">
                <a:latin typeface="Times New Roman"/>
                <a:cs typeface="Times New Roman"/>
              </a:rPr>
              <a:t> </a:t>
            </a:r>
            <a:r>
              <a:rPr sz="2000" b="1" dirty="0">
                <a:latin typeface="Times New Roman"/>
                <a:cs typeface="Times New Roman"/>
              </a:rPr>
              <a:t>put</a:t>
            </a:r>
            <a:r>
              <a:rPr sz="2000" b="1" spc="495" dirty="0">
                <a:latin typeface="Times New Roman"/>
                <a:cs typeface="Times New Roman"/>
              </a:rPr>
              <a:t> </a:t>
            </a:r>
            <a:r>
              <a:rPr sz="2000" b="1" dirty="0">
                <a:latin typeface="Times New Roman"/>
                <a:cs typeface="Times New Roman"/>
              </a:rPr>
              <a:t>it  in  buffer</a:t>
            </a:r>
            <a:r>
              <a:rPr sz="2000" b="1" spc="465" dirty="0">
                <a:latin typeface="Times New Roman"/>
                <a:cs typeface="Times New Roman"/>
              </a:rPr>
              <a:t> </a:t>
            </a:r>
            <a:r>
              <a:rPr sz="2000" b="1" dirty="0">
                <a:latin typeface="Times New Roman"/>
                <a:cs typeface="Times New Roman"/>
              </a:rPr>
              <a:t>image  in</a:t>
            </a:r>
            <a:r>
              <a:rPr sz="2000" b="1" spc="495"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p:txBody>
      </p:sp>
      <p:graphicFrame>
        <p:nvGraphicFramePr>
          <p:cNvPr id="5" name="object 5"/>
          <p:cNvGraphicFramePr>
            <a:graphicFrameLocks noGrp="1"/>
          </p:cNvGraphicFramePr>
          <p:nvPr/>
        </p:nvGraphicFramePr>
        <p:xfrm>
          <a:off x="6221857" y="4677664"/>
          <a:ext cx="2518406" cy="1524000"/>
        </p:xfrm>
        <a:graphic>
          <a:graphicData uri="http://schemas.openxmlformats.org/drawingml/2006/table">
            <a:tbl>
              <a:tblPr firstRow="1" bandRow="1">
                <a:tableStyleId>{2D5ABB26-0587-4C30-8999-92F81FD0307C}</a:tableStyleId>
              </a:tblPr>
              <a:tblGrid>
                <a:gridCol w="419734">
                  <a:extLst>
                    <a:ext uri="{9D8B030D-6E8A-4147-A177-3AD203B41FA5}">
                      <a16:colId xmlns:a16="http://schemas.microsoft.com/office/drawing/2014/main" val="20000"/>
                    </a:ext>
                  </a:extLst>
                </a:gridCol>
                <a:gridCol w="419734">
                  <a:extLst>
                    <a:ext uri="{9D8B030D-6E8A-4147-A177-3AD203B41FA5}">
                      <a16:colId xmlns:a16="http://schemas.microsoft.com/office/drawing/2014/main" val="20001"/>
                    </a:ext>
                  </a:extLst>
                </a:gridCol>
                <a:gridCol w="419734">
                  <a:extLst>
                    <a:ext uri="{9D8B030D-6E8A-4147-A177-3AD203B41FA5}">
                      <a16:colId xmlns:a16="http://schemas.microsoft.com/office/drawing/2014/main" val="20002"/>
                    </a:ext>
                  </a:extLst>
                </a:gridCol>
                <a:gridCol w="419734">
                  <a:extLst>
                    <a:ext uri="{9D8B030D-6E8A-4147-A177-3AD203B41FA5}">
                      <a16:colId xmlns:a16="http://schemas.microsoft.com/office/drawing/2014/main" val="20003"/>
                    </a:ext>
                  </a:extLst>
                </a:gridCol>
                <a:gridCol w="419735">
                  <a:extLst>
                    <a:ext uri="{9D8B030D-6E8A-4147-A177-3AD203B41FA5}">
                      <a16:colId xmlns:a16="http://schemas.microsoft.com/office/drawing/2014/main" val="20004"/>
                    </a:ext>
                  </a:extLst>
                </a:gridCol>
                <a:gridCol w="419735">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6E3BC"/>
                    </a:solidFill>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3D59B"/>
                    </a:solidFill>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2"/>
                  </a:ext>
                </a:extLst>
              </a:tr>
              <a:tr h="304800">
                <a:tc>
                  <a:txBody>
                    <a:bodyPr/>
                    <a:lstStyle/>
                    <a:p>
                      <a:pPr algn="ctr">
                        <a:lnSpc>
                          <a:spcPct val="100000"/>
                        </a:lnSpc>
                        <a:spcBef>
                          <a:spcPts val="325"/>
                        </a:spcBef>
                      </a:pPr>
                      <a:r>
                        <a:rPr sz="1400" b="1" spc="-25" dirty="0">
                          <a:latin typeface="Times New Roman"/>
                          <a:cs typeface="Times New Roman"/>
                        </a:rPr>
                        <a:t>15</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40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3"/>
                  </a:ext>
                </a:extLst>
              </a:tr>
              <a:tr h="304800">
                <a:tc>
                  <a:txBody>
                    <a:bodyPr/>
                    <a:lstStyle/>
                    <a:p>
                      <a:pPr algn="ctr">
                        <a:lnSpc>
                          <a:spcPct val="100000"/>
                        </a:lnSpc>
                        <a:spcBef>
                          <a:spcPts val="325"/>
                        </a:spcBef>
                      </a:pPr>
                      <a:r>
                        <a:rPr sz="1400" b="1" spc="-25" dirty="0">
                          <a:latin typeface="Times New Roman"/>
                          <a:cs typeface="Times New Roman"/>
                        </a:rPr>
                        <a:t>52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5"/>
                        </a:spcBef>
                      </a:pPr>
                      <a:r>
                        <a:rPr sz="1400" b="1" spc="-25" dirty="0">
                          <a:latin typeface="Times New Roman"/>
                          <a:cs typeface="Times New Roman"/>
                        </a:rPr>
                        <a:t>44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34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5"/>
                        </a:spcBef>
                      </a:pPr>
                      <a:r>
                        <a:rPr sz="1400" b="1" spc="-25" dirty="0">
                          <a:latin typeface="Times New Roman"/>
                          <a:cs typeface="Times New Roman"/>
                        </a:rPr>
                        <a:t>12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10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13</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149847" y="1221866"/>
          <a:ext cx="2518406" cy="1524000"/>
        </p:xfrm>
        <a:graphic>
          <a:graphicData uri="http://schemas.openxmlformats.org/drawingml/2006/table">
            <a:tbl>
              <a:tblPr firstRow="1" bandRow="1">
                <a:tableStyleId>{2D5ABB26-0587-4C30-8999-92F81FD0307C}</a:tableStyleId>
              </a:tblPr>
              <a:tblGrid>
                <a:gridCol w="419734">
                  <a:extLst>
                    <a:ext uri="{9D8B030D-6E8A-4147-A177-3AD203B41FA5}">
                      <a16:colId xmlns:a16="http://schemas.microsoft.com/office/drawing/2014/main" val="20000"/>
                    </a:ext>
                  </a:extLst>
                </a:gridCol>
                <a:gridCol w="419734">
                  <a:extLst>
                    <a:ext uri="{9D8B030D-6E8A-4147-A177-3AD203B41FA5}">
                      <a16:colId xmlns:a16="http://schemas.microsoft.com/office/drawing/2014/main" val="20001"/>
                    </a:ext>
                  </a:extLst>
                </a:gridCol>
                <a:gridCol w="419734">
                  <a:extLst>
                    <a:ext uri="{9D8B030D-6E8A-4147-A177-3AD203B41FA5}">
                      <a16:colId xmlns:a16="http://schemas.microsoft.com/office/drawing/2014/main" val="20002"/>
                    </a:ext>
                  </a:extLst>
                </a:gridCol>
                <a:gridCol w="419734">
                  <a:extLst>
                    <a:ext uri="{9D8B030D-6E8A-4147-A177-3AD203B41FA5}">
                      <a16:colId xmlns:a16="http://schemas.microsoft.com/office/drawing/2014/main" val="20003"/>
                    </a:ext>
                  </a:extLst>
                </a:gridCol>
                <a:gridCol w="419735">
                  <a:extLst>
                    <a:ext uri="{9D8B030D-6E8A-4147-A177-3AD203B41FA5}">
                      <a16:colId xmlns:a16="http://schemas.microsoft.com/office/drawing/2014/main" val="20004"/>
                    </a:ext>
                  </a:extLst>
                </a:gridCol>
                <a:gridCol w="419735">
                  <a:extLst>
                    <a:ext uri="{9D8B030D-6E8A-4147-A177-3AD203B41FA5}">
                      <a16:colId xmlns:a16="http://schemas.microsoft.com/office/drawing/2014/main" val="20005"/>
                    </a:ext>
                  </a:extLst>
                </a:gridCol>
              </a:tblGrid>
              <a:tr h="304800">
                <a:tc>
                  <a:txBody>
                    <a:bodyPr/>
                    <a:lstStyle/>
                    <a:p>
                      <a:pPr marL="635" algn="ctr">
                        <a:lnSpc>
                          <a:spcPct val="100000"/>
                        </a:lnSpc>
                        <a:spcBef>
                          <a:spcPts val="315"/>
                        </a:spcBef>
                      </a:pPr>
                      <a:r>
                        <a:rPr sz="1400" b="1" spc="-50" dirty="0">
                          <a:latin typeface="Times New Roman"/>
                          <a:cs typeface="Times New Roman"/>
                        </a:rPr>
                        <a:t>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16</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17</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315"/>
                        </a:spcBef>
                      </a:pPr>
                      <a:r>
                        <a:rPr sz="1400" b="1" spc="-25" dirty="0">
                          <a:latin typeface="Times New Roman"/>
                          <a:cs typeface="Times New Roman"/>
                        </a:rPr>
                        <a:t>21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13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315"/>
                        </a:spcBef>
                      </a:pPr>
                      <a:r>
                        <a:rPr sz="1400" b="1" spc="-25" dirty="0">
                          <a:latin typeface="Times New Roman"/>
                          <a:cs typeface="Times New Roman"/>
                        </a:rPr>
                        <a:t>43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51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18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algn="ctr">
                        <a:lnSpc>
                          <a:spcPct val="100000"/>
                        </a:lnSpc>
                        <a:spcBef>
                          <a:spcPts val="315"/>
                        </a:spcBef>
                      </a:pPr>
                      <a:r>
                        <a:rPr sz="1400" b="1" spc="-25" dirty="0">
                          <a:latin typeface="Times New Roman"/>
                          <a:cs typeface="Times New Roman"/>
                        </a:rPr>
                        <a:t>52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44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3" name="object 3"/>
          <p:cNvGraphicFramePr>
            <a:graphicFrameLocks noGrp="1"/>
          </p:cNvGraphicFramePr>
          <p:nvPr/>
        </p:nvGraphicFramePr>
        <p:xfrm>
          <a:off x="6178803" y="2972180"/>
          <a:ext cx="2522217" cy="1524000"/>
        </p:xfrm>
        <a:graphic>
          <a:graphicData uri="http://schemas.openxmlformats.org/drawingml/2006/table">
            <a:tbl>
              <a:tblPr firstRow="1" bandRow="1">
                <a:tableStyleId>{2D5ABB26-0587-4C30-8999-92F81FD0307C}</a:tableStyleId>
              </a:tblPr>
              <a:tblGrid>
                <a:gridCol w="420370">
                  <a:extLst>
                    <a:ext uri="{9D8B030D-6E8A-4147-A177-3AD203B41FA5}">
                      <a16:colId xmlns:a16="http://schemas.microsoft.com/office/drawing/2014/main" val="20000"/>
                    </a:ext>
                  </a:extLst>
                </a:gridCol>
                <a:gridCol w="420370">
                  <a:extLst>
                    <a:ext uri="{9D8B030D-6E8A-4147-A177-3AD203B41FA5}">
                      <a16:colId xmlns:a16="http://schemas.microsoft.com/office/drawing/2014/main" val="20001"/>
                    </a:ext>
                  </a:extLst>
                </a:gridCol>
                <a:gridCol w="420370">
                  <a:extLst>
                    <a:ext uri="{9D8B030D-6E8A-4147-A177-3AD203B41FA5}">
                      <a16:colId xmlns:a16="http://schemas.microsoft.com/office/drawing/2014/main" val="20002"/>
                    </a:ext>
                  </a:extLst>
                </a:gridCol>
                <a:gridCol w="420369">
                  <a:extLst>
                    <a:ext uri="{9D8B030D-6E8A-4147-A177-3AD203B41FA5}">
                      <a16:colId xmlns:a16="http://schemas.microsoft.com/office/drawing/2014/main" val="20003"/>
                    </a:ext>
                  </a:extLst>
                </a:gridCol>
                <a:gridCol w="420369">
                  <a:extLst>
                    <a:ext uri="{9D8B030D-6E8A-4147-A177-3AD203B41FA5}">
                      <a16:colId xmlns:a16="http://schemas.microsoft.com/office/drawing/2014/main" val="20004"/>
                    </a:ext>
                  </a:extLst>
                </a:gridCol>
                <a:gridCol w="420369">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2"/>
                  </a:ext>
                </a:extLst>
              </a:tr>
              <a:tr h="304800">
                <a:tc>
                  <a:txBody>
                    <a:bodyPr/>
                    <a:lstStyle/>
                    <a:p>
                      <a:pPr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3"/>
                  </a:ext>
                </a:extLst>
              </a:tr>
              <a:tr h="304800">
                <a:tc>
                  <a:txBody>
                    <a:bodyPr/>
                    <a:lstStyle/>
                    <a:p>
                      <a:pPr algn="ctr">
                        <a:lnSpc>
                          <a:spcPct val="100000"/>
                        </a:lnSpc>
                        <a:spcBef>
                          <a:spcPts val="320"/>
                        </a:spcBef>
                      </a:pPr>
                      <a:r>
                        <a:rPr sz="1400" b="1" spc="-25" dirty="0">
                          <a:latin typeface="Times New Roman"/>
                          <a:cs typeface="Times New Roman"/>
                        </a:rPr>
                        <a:t>52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44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34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330200" y="440816"/>
            <a:ext cx="7999730" cy="5965190"/>
          </a:xfrm>
          <a:prstGeom prst="rect">
            <a:avLst/>
          </a:prstGeom>
        </p:spPr>
        <p:txBody>
          <a:bodyPr vert="horz" wrap="square" lIns="0" tIns="13335" rIns="0" bIns="0" rtlCol="0">
            <a:spAutoFit/>
          </a:bodyPr>
          <a:lstStyle/>
          <a:p>
            <a:pPr marL="12700">
              <a:lnSpc>
                <a:spcPct val="100000"/>
              </a:lnSpc>
              <a:spcBef>
                <a:spcPts val="105"/>
              </a:spcBef>
            </a:pPr>
            <a:r>
              <a:rPr sz="2000" b="1" u="sng" dirty="0">
                <a:solidFill>
                  <a:srgbClr val="C00000"/>
                </a:solidFill>
                <a:uFill>
                  <a:solidFill>
                    <a:srgbClr val="C00000"/>
                  </a:solidFill>
                </a:uFill>
                <a:latin typeface="Times New Roman"/>
                <a:cs typeface="Times New Roman"/>
              </a:rPr>
              <a:t>Example</a:t>
            </a:r>
            <a:r>
              <a:rPr sz="2000" b="1" u="sng" spc="-25" dirty="0">
                <a:solidFill>
                  <a:srgbClr val="C00000"/>
                </a:solidFill>
                <a:uFill>
                  <a:solidFill>
                    <a:srgbClr val="C00000"/>
                  </a:solidFill>
                </a:uFill>
                <a:latin typeface="Times New Roman"/>
                <a:cs typeface="Times New Roman"/>
              </a:rPr>
              <a:t> 2:</a:t>
            </a:r>
            <a:endParaRPr sz="2000">
              <a:latin typeface="Times New Roman"/>
              <a:cs typeface="Times New Roman"/>
            </a:endParaRPr>
          </a:p>
          <a:p>
            <a:pPr marL="12700">
              <a:lnSpc>
                <a:spcPct val="100000"/>
              </a:lnSpc>
            </a:pPr>
            <a:r>
              <a:rPr sz="2000" b="1" dirty="0">
                <a:latin typeface="Times New Roman"/>
                <a:cs typeface="Times New Roman"/>
              </a:rPr>
              <a:t>Using</a:t>
            </a:r>
            <a:r>
              <a:rPr sz="2000" b="1" spc="-20" dirty="0">
                <a:latin typeface="Times New Roman"/>
                <a:cs typeface="Times New Roman"/>
              </a:rPr>
              <a:t> </a:t>
            </a:r>
            <a:r>
              <a:rPr sz="2000" b="1" dirty="0">
                <a:latin typeface="Times New Roman"/>
                <a:cs typeface="Times New Roman"/>
              </a:rPr>
              <a:t>min.</a:t>
            </a:r>
            <a:r>
              <a:rPr sz="2000" b="1" spc="-25" dirty="0">
                <a:latin typeface="Times New Roman"/>
                <a:cs typeface="Times New Roman"/>
              </a:rPr>
              <a:t> </a:t>
            </a:r>
            <a:r>
              <a:rPr sz="2000" b="1" dirty="0">
                <a:latin typeface="Times New Roman"/>
                <a:cs typeface="Times New Roman"/>
              </a:rPr>
              <a:t>filters</a:t>
            </a:r>
            <a:r>
              <a:rPr sz="2000" b="1" spc="-25" dirty="0">
                <a:latin typeface="Times New Roman"/>
                <a:cs typeface="Times New Roman"/>
              </a:rPr>
              <a:t> </a:t>
            </a:r>
            <a:r>
              <a:rPr sz="2000" b="1" dirty="0">
                <a:latin typeface="Times New Roman"/>
                <a:cs typeface="Times New Roman"/>
              </a:rPr>
              <a:t>to</a:t>
            </a:r>
            <a:r>
              <a:rPr sz="2000" b="1" spc="-10" dirty="0">
                <a:latin typeface="Times New Roman"/>
                <a:cs typeface="Times New Roman"/>
              </a:rPr>
              <a:t> </a:t>
            </a:r>
            <a:r>
              <a:rPr sz="2000" b="1" dirty="0">
                <a:latin typeface="Times New Roman"/>
                <a:cs typeface="Times New Roman"/>
              </a:rPr>
              <a:t>remove</a:t>
            </a:r>
            <a:r>
              <a:rPr sz="2000" b="1" spc="-25" dirty="0">
                <a:latin typeface="Times New Roman"/>
                <a:cs typeface="Times New Roman"/>
              </a:rPr>
              <a:t> </a:t>
            </a:r>
            <a:r>
              <a:rPr sz="2000" b="1" dirty="0">
                <a:latin typeface="Times New Roman"/>
                <a:cs typeface="Times New Roman"/>
              </a:rPr>
              <a:t>salt</a:t>
            </a:r>
            <a:r>
              <a:rPr sz="2000" b="1" spc="-35" dirty="0">
                <a:latin typeface="Times New Roman"/>
                <a:cs typeface="Times New Roman"/>
              </a:rPr>
              <a:t> </a:t>
            </a:r>
            <a:r>
              <a:rPr sz="2000" b="1" dirty="0">
                <a:latin typeface="Times New Roman"/>
                <a:cs typeface="Times New Roman"/>
              </a:rPr>
              <a:t>and</a:t>
            </a:r>
            <a:r>
              <a:rPr sz="2000" b="1" spc="-10" dirty="0">
                <a:latin typeface="Times New Roman"/>
                <a:cs typeface="Times New Roman"/>
              </a:rPr>
              <a:t> </a:t>
            </a:r>
            <a:r>
              <a:rPr sz="2000" b="1" dirty="0">
                <a:latin typeface="Times New Roman"/>
                <a:cs typeface="Times New Roman"/>
              </a:rPr>
              <a:t>pepper</a:t>
            </a:r>
            <a:r>
              <a:rPr sz="2000" b="1" spc="-50" dirty="0">
                <a:latin typeface="Times New Roman"/>
                <a:cs typeface="Times New Roman"/>
              </a:rPr>
              <a:t> </a:t>
            </a:r>
            <a:r>
              <a:rPr sz="2000" b="1" dirty="0">
                <a:latin typeface="Times New Roman"/>
                <a:cs typeface="Times New Roman"/>
              </a:rPr>
              <a:t>noise,</a:t>
            </a:r>
            <a:r>
              <a:rPr sz="2000" b="1" spc="-30" dirty="0">
                <a:latin typeface="Times New Roman"/>
                <a:cs typeface="Times New Roman"/>
              </a:rPr>
              <a:t> </a:t>
            </a:r>
            <a:r>
              <a:rPr sz="2000" b="1" dirty="0">
                <a:latin typeface="Times New Roman"/>
                <a:cs typeface="Times New Roman"/>
              </a:rPr>
              <a:t>from</a:t>
            </a:r>
            <a:r>
              <a:rPr sz="2000" b="1" spc="-55" dirty="0">
                <a:latin typeface="Times New Roman"/>
                <a:cs typeface="Times New Roman"/>
              </a:rPr>
              <a:t> </a:t>
            </a:r>
            <a:r>
              <a:rPr sz="2000" b="1" dirty="0">
                <a:latin typeface="Times New Roman"/>
                <a:cs typeface="Times New Roman"/>
              </a:rPr>
              <a:t>sub</a:t>
            </a:r>
            <a:r>
              <a:rPr sz="2000" b="1" spc="-20" dirty="0">
                <a:latin typeface="Times New Roman"/>
                <a:cs typeface="Times New Roman"/>
              </a:rPr>
              <a:t> </a:t>
            </a:r>
            <a:r>
              <a:rPr sz="2000" b="1" dirty="0">
                <a:latin typeface="Times New Roman"/>
                <a:cs typeface="Times New Roman"/>
              </a:rPr>
              <a:t>image</a:t>
            </a:r>
            <a:r>
              <a:rPr sz="2000" b="1" spc="-30" dirty="0">
                <a:latin typeface="Times New Roman"/>
                <a:cs typeface="Times New Roman"/>
              </a:rPr>
              <a:t> </a:t>
            </a:r>
            <a:r>
              <a:rPr sz="2000" b="1" dirty="0">
                <a:latin typeface="Times New Roman"/>
                <a:cs typeface="Times New Roman"/>
              </a:rPr>
              <a:t>I(r</a:t>
            </a:r>
            <a:r>
              <a:rPr sz="2000" b="1" spc="-45" dirty="0">
                <a:latin typeface="Times New Roman"/>
                <a:cs typeface="Times New Roman"/>
              </a:rPr>
              <a:t> </a:t>
            </a:r>
            <a:r>
              <a:rPr sz="2000" b="1" dirty="0">
                <a:latin typeface="Times New Roman"/>
                <a:cs typeface="Times New Roman"/>
              </a:rPr>
              <a:t>, </a:t>
            </a:r>
            <a:r>
              <a:rPr sz="2000" b="1" spc="-25" dirty="0">
                <a:latin typeface="Times New Roman"/>
                <a:cs typeface="Times New Roman"/>
              </a:rPr>
              <a:t>c).</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40"/>
              </a:spcBef>
            </a:pPr>
            <a:endParaRPr sz="2000">
              <a:latin typeface="Times New Roman"/>
              <a:cs typeface="Times New Roman"/>
            </a:endParaRPr>
          </a:p>
          <a:p>
            <a:pPr marL="155575" algn="just">
              <a:lnSpc>
                <a:spcPct val="100000"/>
              </a:lnSpc>
              <a:spcBef>
                <a:spcPts val="5"/>
              </a:spcBef>
            </a:pPr>
            <a:r>
              <a:rPr sz="2000" b="1" u="sng" dirty="0">
                <a:solidFill>
                  <a:srgbClr val="00AF50"/>
                </a:solidFill>
                <a:uFill>
                  <a:solidFill>
                    <a:srgbClr val="00AF50"/>
                  </a:solidFill>
                </a:uFill>
                <a:latin typeface="Times New Roman"/>
                <a:cs typeface="Times New Roman"/>
              </a:rPr>
              <a:t>First</a:t>
            </a:r>
            <a:r>
              <a:rPr sz="2000" b="1" u="sng" spc="-2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612140" indent="-456565" algn="just">
              <a:lnSpc>
                <a:spcPct val="100000"/>
              </a:lnSpc>
              <a:buAutoNum type="arabicPeriod"/>
              <a:tabLst>
                <a:tab pos="612140" algn="l"/>
              </a:tabLst>
            </a:pPr>
            <a:r>
              <a:rPr sz="2000" b="1" dirty="0">
                <a:solidFill>
                  <a:srgbClr val="006FC0"/>
                </a:solidFill>
                <a:latin typeface="Times New Roman"/>
                <a:cs typeface="Times New Roman"/>
              </a:rPr>
              <a:t>Rearrange</a:t>
            </a:r>
            <a:r>
              <a:rPr sz="2000" b="1" spc="459" dirty="0">
                <a:solidFill>
                  <a:srgbClr val="006FC0"/>
                </a:solidFill>
                <a:latin typeface="Times New Roman"/>
                <a:cs typeface="Times New Roman"/>
              </a:rPr>
              <a:t>  </a:t>
            </a:r>
            <a:r>
              <a:rPr sz="2000" b="1" dirty="0">
                <a:latin typeface="Times New Roman"/>
                <a:cs typeface="Times New Roman"/>
              </a:rPr>
              <a:t>the</a:t>
            </a:r>
            <a:r>
              <a:rPr sz="2000" b="1" spc="455" dirty="0">
                <a:latin typeface="Times New Roman"/>
                <a:cs typeface="Times New Roman"/>
              </a:rPr>
              <a:t>  </a:t>
            </a:r>
            <a:r>
              <a:rPr sz="2000" b="1" dirty="0">
                <a:latin typeface="Times New Roman"/>
                <a:cs typeface="Times New Roman"/>
              </a:rPr>
              <a:t>3x3</a:t>
            </a:r>
            <a:r>
              <a:rPr sz="2000" b="1" spc="459" dirty="0">
                <a:latin typeface="Times New Roman"/>
                <a:cs typeface="Times New Roman"/>
              </a:rPr>
              <a:t>  </a:t>
            </a:r>
            <a:r>
              <a:rPr sz="2000" b="1" dirty="0">
                <a:latin typeface="Times New Roman"/>
                <a:cs typeface="Times New Roman"/>
              </a:rPr>
              <a:t>neighbor</a:t>
            </a:r>
            <a:r>
              <a:rPr sz="2000" b="1" spc="445" dirty="0">
                <a:latin typeface="Times New Roman"/>
                <a:cs typeface="Times New Roman"/>
              </a:rPr>
              <a:t>  </a:t>
            </a:r>
            <a:r>
              <a:rPr sz="2000" b="1" dirty="0">
                <a:latin typeface="Times New Roman"/>
                <a:cs typeface="Times New Roman"/>
              </a:rPr>
              <a:t>pixels</a:t>
            </a:r>
            <a:r>
              <a:rPr sz="2000" b="1" spc="459"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612775" algn="just">
              <a:lnSpc>
                <a:spcPct val="100000"/>
              </a:lnSpc>
            </a:pPr>
            <a:r>
              <a:rPr sz="2000" b="1" dirty="0">
                <a:latin typeface="Times New Roman"/>
                <a:cs typeface="Times New Roman"/>
              </a:rPr>
              <a:t>ascending</a:t>
            </a:r>
            <a:r>
              <a:rPr sz="2000" b="1" spc="-4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25" dirty="0">
                <a:latin typeface="Times New Roman"/>
                <a:cs typeface="Times New Roman"/>
              </a:rPr>
              <a:t> as:</a:t>
            </a:r>
            <a:endParaRPr sz="2000">
              <a:latin typeface="Times New Roman"/>
              <a:cs typeface="Times New Roman"/>
            </a:endParaRPr>
          </a:p>
          <a:p>
            <a:pPr marL="1234440" algn="just">
              <a:lnSpc>
                <a:spcPct val="100000"/>
              </a:lnSpc>
            </a:pPr>
            <a:r>
              <a:rPr sz="2000" b="1" dirty="0">
                <a:solidFill>
                  <a:srgbClr val="FF0000"/>
                </a:solidFill>
                <a:latin typeface="Times New Roman"/>
                <a:cs typeface="Times New Roman"/>
              </a:rPr>
              <a:t>5</a:t>
            </a:r>
            <a:r>
              <a:rPr sz="2000" b="1" dirty="0">
                <a:latin typeface="Times New Roman"/>
                <a:cs typeface="Times New Roman"/>
              </a:rPr>
              <a:t>, 13,</a:t>
            </a:r>
            <a:r>
              <a:rPr sz="2000" b="1" spc="-10" dirty="0">
                <a:latin typeface="Times New Roman"/>
                <a:cs typeface="Times New Roman"/>
              </a:rPr>
              <a:t> </a:t>
            </a:r>
            <a:r>
              <a:rPr sz="2000" b="1" dirty="0">
                <a:latin typeface="Times New Roman"/>
                <a:cs typeface="Times New Roman"/>
              </a:rPr>
              <a:t>16,</a:t>
            </a:r>
            <a:r>
              <a:rPr sz="2000" b="1" spc="-10" dirty="0">
                <a:latin typeface="Times New Roman"/>
                <a:cs typeface="Times New Roman"/>
              </a:rPr>
              <a:t> </a:t>
            </a:r>
            <a:r>
              <a:rPr sz="2000" b="1" dirty="0">
                <a:latin typeface="Times New Roman"/>
                <a:cs typeface="Times New Roman"/>
              </a:rPr>
              <a:t>19,</a:t>
            </a:r>
            <a:r>
              <a:rPr sz="2000" b="1" spc="-10" dirty="0">
                <a:latin typeface="Times New Roman"/>
                <a:cs typeface="Times New Roman"/>
              </a:rPr>
              <a:t> </a:t>
            </a:r>
            <a:r>
              <a:rPr sz="2000" b="1" dirty="0">
                <a:latin typeface="Times New Roman"/>
                <a:cs typeface="Times New Roman"/>
              </a:rPr>
              <a:t>20,</a:t>
            </a:r>
            <a:r>
              <a:rPr sz="2000" b="1" spc="-10" dirty="0">
                <a:latin typeface="Times New Roman"/>
                <a:cs typeface="Times New Roman"/>
              </a:rPr>
              <a:t> </a:t>
            </a:r>
            <a:r>
              <a:rPr sz="2000" b="1" dirty="0">
                <a:latin typeface="Times New Roman"/>
                <a:cs typeface="Times New Roman"/>
              </a:rPr>
              <a:t>21,</a:t>
            </a:r>
            <a:r>
              <a:rPr sz="2000" b="1" spc="-10" dirty="0">
                <a:latin typeface="Times New Roman"/>
                <a:cs typeface="Times New Roman"/>
              </a:rPr>
              <a:t> </a:t>
            </a:r>
            <a:r>
              <a:rPr sz="2000" b="1" dirty="0">
                <a:latin typeface="Times New Roman"/>
                <a:cs typeface="Times New Roman"/>
              </a:rPr>
              <a:t>25,</a:t>
            </a:r>
            <a:r>
              <a:rPr sz="2000" b="1" spc="-10" dirty="0">
                <a:latin typeface="Times New Roman"/>
                <a:cs typeface="Times New Roman"/>
              </a:rPr>
              <a:t> </a:t>
            </a:r>
            <a:r>
              <a:rPr sz="2000" b="1" dirty="0">
                <a:latin typeface="Times New Roman"/>
                <a:cs typeface="Times New Roman"/>
              </a:rPr>
              <a:t>25,</a:t>
            </a:r>
            <a:r>
              <a:rPr sz="2000" b="1" spc="-10" dirty="0">
                <a:latin typeface="Times New Roman"/>
                <a:cs typeface="Times New Roman"/>
              </a:rPr>
              <a:t> </a:t>
            </a:r>
            <a:r>
              <a:rPr sz="2000" b="1" dirty="0">
                <a:latin typeface="Times New Roman"/>
                <a:cs typeface="Times New Roman"/>
              </a:rPr>
              <a:t>43,</a:t>
            </a:r>
            <a:r>
              <a:rPr sz="2000" b="1" spc="-10" dirty="0">
                <a:latin typeface="Times New Roman"/>
                <a:cs typeface="Times New Roman"/>
              </a:rPr>
              <a:t> </a:t>
            </a:r>
            <a:r>
              <a:rPr sz="2000" b="1" spc="-25" dirty="0">
                <a:latin typeface="Times New Roman"/>
                <a:cs typeface="Times New Roman"/>
              </a:rPr>
              <a:t>51</a:t>
            </a:r>
            <a:endParaRPr sz="2000">
              <a:latin typeface="Times New Roman"/>
              <a:cs typeface="Times New Roman"/>
            </a:endParaRPr>
          </a:p>
          <a:p>
            <a:pPr marL="471805" marR="2470150" indent="-316230" algn="just">
              <a:lnSpc>
                <a:spcPct val="100000"/>
              </a:lnSpc>
              <a:buClr>
                <a:srgbClr val="006FC0"/>
              </a:buClr>
              <a:buAutoNum type="arabicPeriod" startAt="2"/>
              <a:tabLst>
                <a:tab pos="520065" algn="l"/>
              </a:tabLst>
            </a:pPr>
            <a:r>
              <a:rPr sz="2000" b="1" dirty="0">
                <a:latin typeface="Times New Roman"/>
                <a:cs typeface="Times New Roman"/>
              </a:rPr>
              <a:t>By</a:t>
            </a:r>
            <a:r>
              <a:rPr sz="2000" b="1" spc="475" dirty="0">
                <a:latin typeface="Times New Roman"/>
                <a:cs typeface="Times New Roman"/>
              </a:rPr>
              <a:t> </a:t>
            </a:r>
            <a:r>
              <a:rPr sz="2000" b="1" dirty="0">
                <a:solidFill>
                  <a:srgbClr val="006FC0"/>
                </a:solidFill>
                <a:latin typeface="Times New Roman"/>
                <a:cs typeface="Times New Roman"/>
              </a:rPr>
              <a:t>using</a:t>
            </a:r>
            <a:r>
              <a:rPr sz="2000" b="1" spc="465" dirty="0">
                <a:solidFill>
                  <a:srgbClr val="006FC0"/>
                </a:solidFill>
                <a:latin typeface="Times New Roman"/>
                <a:cs typeface="Times New Roman"/>
              </a:rPr>
              <a:t> </a:t>
            </a:r>
            <a:r>
              <a:rPr sz="2000" b="1" dirty="0">
                <a:solidFill>
                  <a:srgbClr val="006FC0"/>
                </a:solidFill>
                <a:latin typeface="Times New Roman"/>
                <a:cs typeface="Times New Roman"/>
              </a:rPr>
              <a:t>min.</a:t>
            </a:r>
            <a:r>
              <a:rPr sz="2000" b="1" spc="459"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440" dirty="0">
                <a:solidFill>
                  <a:srgbClr val="006FC0"/>
                </a:solidFill>
                <a:latin typeface="Times New Roman"/>
                <a:cs typeface="Times New Roman"/>
              </a:rPr>
              <a:t> </a:t>
            </a:r>
            <a:r>
              <a:rPr sz="2000" b="1" dirty="0">
                <a:latin typeface="Times New Roman"/>
                <a:cs typeface="Times New Roman"/>
              </a:rPr>
              <a:t>we</a:t>
            </a:r>
            <a:r>
              <a:rPr sz="2000" b="1" spc="470" dirty="0">
                <a:latin typeface="Times New Roman"/>
                <a:cs typeface="Times New Roman"/>
              </a:rPr>
              <a:t> </a:t>
            </a:r>
            <a:r>
              <a:rPr sz="2000" b="1" dirty="0">
                <a:latin typeface="Times New Roman"/>
                <a:cs typeface="Times New Roman"/>
              </a:rPr>
              <a:t>select</a:t>
            </a:r>
            <a:r>
              <a:rPr sz="2000" b="1" spc="459" dirty="0">
                <a:latin typeface="Times New Roman"/>
                <a:cs typeface="Times New Roman"/>
              </a:rPr>
              <a:t> </a:t>
            </a:r>
            <a:r>
              <a:rPr sz="2000" b="1" dirty="0">
                <a:latin typeface="Times New Roman"/>
                <a:cs typeface="Times New Roman"/>
              </a:rPr>
              <a:t>the</a:t>
            </a:r>
            <a:r>
              <a:rPr sz="2000" b="1" spc="455" dirty="0">
                <a:latin typeface="Times New Roman"/>
                <a:cs typeface="Times New Roman"/>
              </a:rPr>
              <a:t> </a:t>
            </a:r>
            <a:r>
              <a:rPr sz="2000" b="1" spc="-10" dirty="0">
                <a:solidFill>
                  <a:srgbClr val="FF0000"/>
                </a:solidFill>
                <a:latin typeface="Times New Roman"/>
                <a:cs typeface="Times New Roman"/>
              </a:rPr>
              <a:t>minimum 	</a:t>
            </a:r>
            <a:r>
              <a:rPr sz="2000" b="1" dirty="0">
                <a:solidFill>
                  <a:srgbClr val="FF0000"/>
                </a:solidFill>
                <a:latin typeface="Times New Roman"/>
                <a:cs typeface="Times New Roman"/>
              </a:rPr>
              <a:t>value</a:t>
            </a:r>
            <a:r>
              <a:rPr sz="2000" b="1" spc="50" dirty="0">
                <a:solidFill>
                  <a:srgbClr val="FF0000"/>
                </a:solidFill>
                <a:latin typeface="Times New Roman"/>
                <a:cs typeface="Times New Roman"/>
              </a:rPr>
              <a:t>  </a:t>
            </a:r>
            <a:r>
              <a:rPr sz="2000" b="1" dirty="0">
                <a:solidFill>
                  <a:srgbClr val="FF0000"/>
                </a:solidFill>
                <a:latin typeface="Times New Roman"/>
                <a:cs typeface="Times New Roman"/>
              </a:rPr>
              <a:t>5</a:t>
            </a:r>
            <a:r>
              <a:rPr sz="2000" b="1" spc="55" dirty="0">
                <a:solidFill>
                  <a:srgbClr val="FF0000"/>
                </a:solidFill>
                <a:latin typeface="Times New Roman"/>
                <a:cs typeface="Times New Roman"/>
              </a:rPr>
              <a:t>  </a:t>
            </a:r>
            <a:r>
              <a:rPr sz="2000" b="1" dirty="0">
                <a:latin typeface="Times New Roman"/>
                <a:cs typeface="Times New Roman"/>
              </a:rPr>
              <a:t>and</a:t>
            </a:r>
            <a:r>
              <a:rPr sz="2000" b="1" spc="50" dirty="0">
                <a:latin typeface="Times New Roman"/>
                <a:cs typeface="Times New Roman"/>
              </a:rPr>
              <a:t>  </a:t>
            </a:r>
            <a:r>
              <a:rPr sz="2000" b="1" dirty="0">
                <a:latin typeface="Times New Roman"/>
                <a:cs typeface="Times New Roman"/>
              </a:rPr>
              <a:t>put</a:t>
            </a:r>
            <a:r>
              <a:rPr sz="2000" b="1" spc="55" dirty="0">
                <a:latin typeface="Times New Roman"/>
                <a:cs typeface="Times New Roman"/>
              </a:rPr>
              <a:t>  </a:t>
            </a:r>
            <a:r>
              <a:rPr sz="2000" b="1" dirty="0">
                <a:latin typeface="Times New Roman"/>
                <a:cs typeface="Times New Roman"/>
              </a:rPr>
              <a:t>it</a:t>
            </a:r>
            <a:r>
              <a:rPr sz="2000" b="1" spc="60" dirty="0">
                <a:latin typeface="Times New Roman"/>
                <a:cs typeface="Times New Roman"/>
              </a:rPr>
              <a:t>  </a:t>
            </a:r>
            <a:r>
              <a:rPr sz="2000" b="1" dirty="0">
                <a:latin typeface="Times New Roman"/>
                <a:cs typeface="Times New Roman"/>
              </a:rPr>
              <a:t>in</a:t>
            </a:r>
            <a:r>
              <a:rPr sz="2000" b="1" spc="60" dirty="0">
                <a:latin typeface="Times New Roman"/>
                <a:cs typeface="Times New Roman"/>
              </a:rPr>
              <a:t>  </a:t>
            </a:r>
            <a:r>
              <a:rPr sz="2000" b="1" dirty="0">
                <a:latin typeface="Times New Roman"/>
                <a:cs typeface="Times New Roman"/>
              </a:rPr>
              <a:t>buffer</a:t>
            </a:r>
            <a:r>
              <a:rPr sz="2000" b="1" spc="40" dirty="0">
                <a:latin typeface="Times New Roman"/>
                <a:cs typeface="Times New Roman"/>
              </a:rPr>
              <a:t>  </a:t>
            </a:r>
            <a:r>
              <a:rPr sz="2000" b="1" dirty="0">
                <a:latin typeface="Times New Roman"/>
                <a:cs typeface="Times New Roman"/>
              </a:rPr>
              <a:t>image</a:t>
            </a:r>
            <a:r>
              <a:rPr sz="2000" b="1" spc="55" dirty="0">
                <a:latin typeface="Times New Roman"/>
                <a:cs typeface="Times New Roman"/>
              </a:rPr>
              <a:t>  </a:t>
            </a:r>
            <a:r>
              <a:rPr sz="2000" b="1" dirty="0">
                <a:latin typeface="Times New Roman"/>
                <a:cs typeface="Times New Roman"/>
              </a:rPr>
              <a:t>in</a:t>
            </a:r>
            <a:r>
              <a:rPr sz="2000" b="1" spc="55"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a:p>
            <a:pPr>
              <a:lnSpc>
                <a:spcPct val="100000"/>
              </a:lnSpc>
              <a:spcBef>
                <a:spcPts val="1315"/>
              </a:spcBef>
              <a:buClr>
                <a:srgbClr val="006FC0"/>
              </a:buClr>
              <a:buFont typeface="Times New Roman"/>
              <a:buAutoNum type="arabicPeriod" startAt="2"/>
            </a:pPr>
            <a:endParaRPr sz="2000">
              <a:latin typeface="Times New Roman"/>
              <a:cs typeface="Times New Roman"/>
            </a:endParaRPr>
          </a:p>
          <a:p>
            <a:pPr marL="199390">
              <a:lnSpc>
                <a:spcPct val="100000"/>
              </a:lnSpc>
            </a:pPr>
            <a:r>
              <a:rPr sz="2000" b="1" u="sng" dirty="0">
                <a:solidFill>
                  <a:srgbClr val="00AF50"/>
                </a:solidFill>
                <a:uFill>
                  <a:solidFill>
                    <a:srgbClr val="00AF50"/>
                  </a:solidFill>
                </a:uFill>
                <a:latin typeface="Times New Roman"/>
                <a:cs typeface="Times New Roman"/>
              </a:rPr>
              <a:t>Second</a:t>
            </a:r>
            <a:r>
              <a:rPr sz="2000" b="1" u="sng" spc="-1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656590" marR="2426970" lvl="1" indent="-457200">
              <a:lnSpc>
                <a:spcPct val="100000"/>
              </a:lnSpc>
              <a:buAutoNum type="arabicPeriod"/>
              <a:tabLst>
                <a:tab pos="656590" algn="l"/>
                <a:tab pos="2060575" algn="l"/>
                <a:tab pos="2644140" algn="l"/>
                <a:tab pos="3272154" algn="l"/>
                <a:tab pos="4486910" algn="l"/>
                <a:tab pos="5352415" algn="l"/>
              </a:tabLst>
            </a:pPr>
            <a:r>
              <a:rPr sz="2000" b="1" spc="-10" dirty="0">
                <a:solidFill>
                  <a:srgbClr val="006FC0"/>
                </a:solidFill>
                <a:latin typeface="Times New Roman"/>
                <a:cs typeface="Times New Roman"/>
              </a:rPr>
              <a:t>Rearrange</a:t>
            </a:r>
            <a:r>
              <a:rPr sz="2000" b="1" dirty="0">
                <a:solidFill>
                  <a:srgbClr val="006FC0"/>
                </a:solidFill>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25" dirty="0">
                <a:latin typeface="Times New Roman"/>
                <a:cs typeface="Times New Roman"/>
              </a:rPr>
              <a:t>3x3</a:t>
            </a:r>
            <a:r>
              <a:rPr sz="2000" b="1" dirty="0">
                <a:latin typeface="Times New Roman"/>
                <a:cs typeface="Times New Roman"/>
              </a:rPr>
              <a:t>	</a:t>
            </a:r>
            <a:r>
              <a:rPr sz="2000" b="1" spc="-10" dirty="0">
                <a:latin typeface="Times New Roman"/>
                <a:cs typeface="Times New Roman"/>
              </a:rPr>
              <a:t>neighbor</a:t>
            </a:r>
            <a:r>
              <a:rPr sz="2000" b="1" dirty="0">
                <a:latin typeface="Times New Roman"/>
                <a:cs typeface="Times New Roman"/>
              </a:rPr>
              <a:t>	</a:t>
            </a:r>
            <a:r>
              <a:rPr sz="2000" b="1" spc="-10" dirty="0">
                <a:latin typeface="Times New Roman"/>
                <a:cs typeface="Times New Roman"/>
              </a:rPr>
              <a:t>pixels</a:t>
            </a:r>
            <a:r>
              <a:rPr sz="2000" b="1" dirty="0">
                <a:latin typeface="Times New Roman"/>
                <a:cs typeface="Times New Roman"/>
              </a:rPr>
              <a:t>	</a:t>
            </a:r>
            <a:r>
              <a:rPr sz="2000" b="1" spc="-25" dirty="0">
                <a:latin typeface="Times New Roman"/>
                <a:cs typeface="Times New Roman"/>
              </a:rPr>
              <a:t>in </a:t>
            </a:r>
            <a:r>
              <a:rPr sz="2000" b="1" dirty="0">
                <a:latin typeface="Times New Roman"/>
                <a:cs typeface="Times New Roman"/>
              </a:rPr>
              <a:t>ascending</a:t>
            </a:r>
            <a:r>
              <a:rPr sz="2000" b="1" spc="-3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15" dirty="0">
                <a:latin typeface="Times New Roman"/>
                <a:cs typeface="Times New Roman"/>
              </a:rPr>
              <a:t> </a:t>
            </a:r>
            <a:r>
              <a:rPr sz="2000" b="1" spc="-25" dirty="0">
                <a:latin typeface="Times New Roman"/>
                <a:cs typeface="Times New Roman"/>
              </a:rPr>
              <a:t>as:</a:t>
            </a:r>
            <a:endParaRPr sz="2000">
              <a:latin typeface="Times New Roman"/>
              <a:cs typeface="Times New Roman"/>
            </a:endParaRPr>
          </a:p>
          <a:p>
            <a:pPr marL="1278255">
              <a:lnSpc>
                <a:spcPct val="100000"/>
              </a:lnSpc>
            </a:pPr>
            <a:r>
              <a:rPr sz="2000" b="1" spc="-10" dirty="0">
                <a:solidFill>
                  <a:srgbClr val="FF0000"/>
                </a:solidFill>
                <a:latin typeface="Times New Roman"/>
                <a:cs typeface="Times New Roman"/>
              </a:rPr>
              <a:t>13</a:t>
            </a:r>
            <a:r>
              <a:rPr sz="2000" b="1" spc="-10" dirty="0">
                <a:latin typeface="Times New Roman"/>
                <a:cs typeface="Times New Roman"/>
              </a:rPr>
              <a:t>,15,16,19,20,22,23,25,51</a:t>
            </a:r>
            <a:endParaRPr sz="2000">
              <a:latin typeface="Times New Roman"/>
              <a:cs typeface="Times New Roman"/>
            </a:endParaRPr>
          </a:p>
          <a:p>
            <a:pPr marL="514350" marR="2426335" lvl="1" indent="-315595" algn="just">
              <a:lnSpc>
                <a:spcPct val="100000"/>
              </a:lnSpc>
              <a:buClr>
                <a:srgbClr val="006FC0"/>
              </a:buClr>
              <a:buAutoNum type="arabicPeriod" startAt="2"/>
              <a:tabLst>
                <a:tab pos="563245" algn="l"/>
              </a:tabLst>
            </a:pPr>
            <a:r>
              <a:rPr sz="2000" b="1" dirty="0">
                <a:latin typeface="Times New Roman"/>
                <a:cs typeface="Times New Roman"/>
              </a:rPr>
              <a:t>By</a:t>
            </a:r>
            <a:r>
              <a:rPr sz="2000" b="1" spc="470" dirty="0">
                <a:latin typeface="Times New Roman"/>
                <a:cs typeface="Times New Roman"/>
              </a:rPr>
              <a:t> </a:t>
            </a:r>
            <a:r>
              <a:rPr sz="2000" b="1" dirty="0">
                <a:solidFill>
                  <a:srgbClr val="006FC0"/>
                </a:solidFill>
                <a:latin typeface="Times New Roman"/>
                <a:cs typeface="Times New Roman"/>
              </a:rPr>
              <a:t>using</a:t>
            </a:r>
            <a:r>
              <a:rPr sz="2000" b="1" spc="465" dirty="0">
                <a:solidFill>
                  <a:srgbClr val="006FC0"/>
                </a:solidFill>
                <a:latin typeface="Times New Roman"/>
                <a:cs typeface="Times New Roman"/>
              </a:rPr>
              <a:t> </a:t>
            </a:r>
            <a:r>
              <a:rPr sz="2000" b="1" dirty="0">
                <a:solidFill>
                  <a:srgbClr val="006FC0"/>
                </a:solidFill>
                <a:latin typeface="Times New Roman"/>
                <a:cs typeface="Times New Roman"/>
              </a:rPr>
              <a:t>min.</a:t>
            </a:r>
            <a:r>
              <a:rPr sz="2000" b="1" spc="459"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434" dirty="0">
                <a:solidFill>
                  <a:srgbClr val="006FC0"/>
                </a:solidFill>
                <a:latin typeface="Times New Roman"/>
                <a:cs typeface="Times New Roman"/>
              </a:rPr>
              <a:t> </a:t>
            </a:r>
            <a:r>
              <a:rPr sz="2000" b="1" dirty="0">
                <a:latin typeface="Times New Roman"/>
                <a:cs typeface="Times New Roman"/>
              </a:rPr>
              <a:t>we</a:t>
            </a:r>
            <a:r>
              <a:rPr sz="2000" b="1" spc="470" dirty="0">
                <a:latin typeface="Times New Roman"/>
                <a:cs typeface="Times New Roman"/>
              </a:rPr>
              <a:t> </a:t>
            </a:r>
            <a:r>
              <a:rPr sz="2000" b="1" dirty="0">
                <a:latin typeface="Times New Roman"/>
                <a:cs typeface="Times New Roman"/>
              </a:rPr>
              <a:t>select</a:t>
            </a:r>
            <a:r>
              <a:rPr sz="2000" b="1" spc="459" dirty="0">
                <a:latin typeface="Times New Roman"/>
                <a:cs typeface="Times New Roman"/>
              </a:rPr>
              <a:t> </a:t>
            </a:r>
            <a:r>
              <a:rPr sz="2000" b="1" dirty="0">
                <a:latin typeface="Times New Roman"/>
                <a:cs typeface="Times New Roman"/>
              </a:rPr>
              <a:t>the</a:t>
            </a:r>
            <a:r>
              <a:rPr sz="2000" b="1" spc="459" dirty="0">
                <a:latin typeface="Times New Roman"/>
                <a:cs typeface="Times New Roman"/>
              </a:rPr>
              <a:t> </a:t>
            </a:r>
            <a:r>
              <a:rPr sz="2000" b="1" spc="-10" dirty="0">
                <a:solidFill>
                  <a:srgbClr val="FF0000"/>
                </a:solidFill>
                <a:latin typeface="Times New Roman"/>
                <a:cs typeface="Times New Roman"/>
              </a:rPr>
              <a:t>minimum 	</a:t>
            </a:r>
            <a:r>
              <a:rPr sz="2000" b="1" dirty="0">
                <a:solidFill>
                  <a:srgbClr val="FF0000"/>
                </a:solidFill>
                <a:latin typeface="Times New Roman"/>
                <a:cs typeface="Times New Roman"/>
              </a:rPr>
              <a:t>value</a:t>
            </a:r>
            <a:r>
              <a:rPr sz="2000" b="1" spc="490" dirty="0">
                <a:solidFill>
                  <a:srgbClr val="FF0000"/>
                </a:solidFill>
                <a:latin typeface="Times New Roman"/>
                <a:cs typeface="Times New Roman"/>
              </a:rPr>
              <a:t> </a:t>
            </a:r>
            <a:r>
              <a:rPr sz="2000" b="1" dirty="0">
                <a:solidFill>
                  <a:srgbClr val="FF0000"/>
                </a:solidFill>
                <a:latin typeface="Times New Roman"/>
                <a:cs typeface="Times New Roman"/>
              </a:rPr>
              <a:t>13  </a:t>
            </a:r>
            <a:r>
              <a:rPr sz="2000" b="1" dirty="0">
                <a:latin typeface="Times New Roman"/>
                <a:cs typeface="Times New Roman"/>
              </a:rPr>
              <a:t>and</a:t>
            </a:r>
            <a:r>
              <a:rPr sz="2000" b="1" spc="495" dirty="0">
                <a:latin typeface="Times New Roman"/>
                <a:cs typeface="Times New Roman"/>
              </a:rPr>
              <a:t> </a:t>
            </a:r>
            <a:r>
              <a:rPr sz="2000" b="1" dirty="0">
                <a:latin typeface="Times New Roman"/>
                <a:cs typeface="Times New Roman"/>
              </a:rPr>
              <a:t>put</a:t>
            </a:r>
            <a:r>
              <a:rPr sz="2000" b="1" spc="495" dirty="0">
                <a:latin typeface="Times New Roman"/>
                <a:cs typeface="Times New Roman"/>
              </a:rPr>
              <a:t> </a:t>
            </a:r>
            <a:r>
              <a:rPr sz="2000" b="1" dirty="0">
                <a:latin typeface="Times New Roman"/>
                <a:cs typeface="Times New Roman"/>
              </a:rPr>
              <a:t>it  in  buffer</a:t>
            </a:r>
            <a:r>
              <a:rPr sz="2000" b="1" spc="465" dirty="0">
                <a:latin typeface="Times New Roman"/>
                <a:cs typeface="Times New Roman"/>
              </a:rPr>
              <a:t> </a:t>
            </a:r>
            <a:r>
              <a:rPr sz="2000" b="1" dirty="0">
                <a:latin typeface="Times New Roman"/>
                <a:cs typeface="Times New Roman"/>
              </a:rPr>
              <a:t>image</a:t>
            </a:r>
            <a:r>
              <a:rPr sz="2000" b="1" spc="495" dirty="0">
                <a:latin typeface="Times New Roman"/>
                <a:cs typeface="Times New Roman"/>
              </a:rPr>
              <a:t> </a:t>
            </a:r>
            <a:r>
              <a:rPr sz="2000" b="1" dirty="0">
                <a:latin typeface="Times New Roman"/>
                <a:cs typeface="Times New Roman"/>
              </a:rPr>
              <a:t>in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p:txBody>
      </p:sp>
      <p:graphicFrame>
        <p:nvGraphicFramePr>
          <p:cNvPr id="5" name="object 5"/>
          <p:cNvGraphicFramePr>
            <a:graphicFrameLocks noGrp="1"/>
          </p:cNvGraphicFramePr>
          <p:nvPr/>
        </p:nvGraphicFramePr>
        <p:xfrm>
          <a:off x="6192773" y="4677664"/>
          <a:ext cx="2522217" cy="1524000"/>
        </p:xfrm>
        <a:graphic>
          <a:graphicData uri="http://schemas.openxmlformats.org/drawingml/2006/table">
            <a:tbl>
              <a:tblPr firstRow="1" bandRow="1">
                <a:tableStyleId>{2D5ABB26-0587-4C30-8999-92F81FD0307C}</a:tableStyleId>
              </a:tblPr>
              <a:tblGrid>
                <a:gridCol w="420370">
                  <a:extLst>
                    <a:ext uri="{9D8B030D-6E8A-4147-A177-3AD203B41FA5}">
                      <a16:colId xmlns:a16="http://schemas.microsoft.com/office/drawing/2014/main" val="20000"/>
                    </a:ext>
                  </a:extLst>
                </a:gridCol>
                <a:gridCol w="420370">
                  <a:extLst>
                    <a:ext uri="{9D8B030D-6E8A-4147-A177-3AD203B41FA5}">
                      <a16:colId xmlns:a16="http://schemas.microsoft.com/office/drawing/2014/main" val="20001"/>
                    </a:ext>
                  </a:extLst>
                </a:gridCol>
                <a:gridCol w="420370">
                  <a:extLst>
                    <a:ext uri="{9D8B030D-6E8A-4147-A177-3AD203B41FA5}">
                      <a16:colId xmlns:a16="http://schemas.microsoft.com/office/drawing/2014/main" val="20002"/>
                    </a:ext>
                  </a:extLst>
                </a:gridCol>
                <a:gridCol w="420369">
                  <a:extLst>
                    <a:ext uri="{9D8B030D-6E8A-4147-A177-3AD203B41FA5}">
                      <a16:colId xmlns:a16="http://schemas.microsoft.com/office/drawing/2014/main" val="20003"/>
                    </a:ext>
                  </a:extLst>
                </a:gridCol>
                <a:gridCol w="420369">
                  <a:extLst>
                    <a:ext uri="{9D8B030D-6E8A-4147-A177-3AD203B41FA5}">
                      <a16:colId xmlns:a16="http://schemas.microsoft.com/office/drawing/2014/main" val="20004"/>
                    </a:ext>
                  </a:extLst>
                </a:gridCol>
                <a:gridCol w="420369">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6E3BC"/>
                    </a:solidFill>
                  </a:tcPr>
                </a:tc>
                <a:tc>
                  <a:txBody>
                    <a:bodyPr/>
                    <a:lstStyle/>
                    <a:p>
                      <a:pPr marL="635" algn="ctr">
                        <a:lnSpc>
                          <a:spcPct val="100000"/>
                        </a:lnSpc>
                        <a:spcBef>
                          <a:spcPts val="320"/>
                        </a:spcBef>
                      </a:pPr>
                      <a:r>
                        <a:rPr sz="1400" b="1" spc="-25" dirty="0">
                          <a:latin typeface="Times New Roman"/>
                          <a:cs typeface="Times New Roman"/>
                        </a:rPr>
                        <a:t>13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2"/>
                  </a:ext>
                </a:extLst>
              </a:tr>
              <a:tr h="304800">
                <a:tc>
                  <a:txBody>
                    <a:bodyPr/>
                    <a:lstStyle/>
                    <a:p>
                      <a:pPr algn="ctr">
                        <a:lnSpc>
                          <a:spcPct val="100000"/>
                        </a:lnSpc>
                        <a:spcBef>
                          <a:spcPts val="325"/>
                        </a:spcBef>
                      </a:pPr>
                      <a:r>
                        <a:rPr sz="1400" b="1" spc="-25" dirty="0">
                          <a:latin typeface="Times New Roman"/>
                          <a:cs typeface="Times New Roman"/>
                        </a:rPr>
                        <a:t>15</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40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3"/>
                  </a:ext>
                </a:extLst>
              </a:tr>
              <a:tr h="304800">
                <a:tc>
                  <a:txBody>
                    <a:bodyPr/>
                    <a:lstStyle/>
                    <a:p>
                      <a:pPr algn="ctr">
                        <a:lnSpc>
                          <a:spcPct val="100000"/>
                        </a:lnSpc>
                        <a:spcBef>
                          <a:spcPts val="325"/>
                        </a:spcBef>
                      </a:pPr>
                      <a:r>
                        <a:rPr sz="1400" b="1" spc="-25" dirty="0">
                          <a:latin typeface="Times New Roman"/>
                          <a:cs typeface="Times New Roman"/>
                        </a:rPr>
                        <a:t>52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5"/>
                        </a:spcBef>
                      </a:pPr>
                      <a:r>
                        <a:rPr sz="1400" b="1" spc="-25" dirty="0">
                          <a:latin typeface="Times New Roman"/>
                          <a:cs typeface="Times New Roman"/>
                        </a:rPr>
                        <a:t>44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34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12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algn="ctr">
                        <a:lnSpc>
                          <a:spcPct val="100000"/>
                        </a:lnSpc>
                        <a:spcBef>
                          <a:spcPts val="325"/>
                        </a:spcBef>
                      </a:pPr>
                      <a:r>
                        <a:rPr sz="1400" b="1" spc="-25" dirty="0">
                          <a:latin typeface="Times New Roman"/>
                          <a:cs typeface="Times New Roman"/>
                        </a:rPr>
                        <a:t>10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tc>
                  <a:txBody>
                    <a:bodyPr/>
                    <a:lstStyle/>
                    <a:p>
                      <a:pPr marL="635" algn="ctr">
                        <a:lnSpc>
                          <a:spcPct val="100000"/>
                        </a:lnSpc>
                        <a:spcBef>
                          <a:spcPts val="325"/>
                        </a:spcBef>
                      </a:pPr>
                      <a:r>
                        <a:rPr sz="1400" b="1" spc="-25" dirty="0">
                          <a:latin typeface="Times New Roman"/>
                          <a:cs typeface="Times New Roman"/>
                        </a:rPr>
                        <a:t>13</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DCD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149847" y="1221866"/>
          <a:ext cx="2518406" cy="1524000"/>
        </p:xfrm>
        <a:graphic>
          <a:graphicData uri="http://schemas.openxmlformats.org/drawingml/2006/table">
            <a:tbl>
              <a:tblPr firstRow="1" bandRow="1">
                <a:tableStyleId>{2D5ABB26-0587-4C30-8999-92F81FD0307C}</a:tableStyleId>
              </a:tblPr>
              <a:tblGrid>
                <a:gridCol w="419734">
                  <a:extLst>
                    <a:ext uri="{9D8B030D-6E8A-4147-A177-3AD203B41FA5}">
                      <a16:colId xmlns:a16="http://schemas.microsoft.com/office/drawing/2014/main" val="20000"/>
                    </a:ext>
                  </a:extLst>
                </a:gridCol>
                <a:gridCol w="419734">
                  <a:extLst>
                    <a:ext uri="{9D8B030D-6E8A-4147-A177-3AD203B41FA5}">
                      <a16:colId xmlns:a16="http://schemas.microsoft.com/office/drawing/2014/main" val="20001"/>
                    </a:ext>
                  </a:extLst>
                </a:gridCol>
                <a:gridCol w="419734">
                  <a:extLst>
                    <a:ext uri="{9D8B030D-6E8A-4147-A177-3AD203B41FA5}">
                      <a16:colId xmlns:a16="http://schemas.microsoft.com/office/drawing/2014/main" val="20002"/>
                    </a:ext>
                  </a:extLst>
                </a:gridCol>
                <a:gridCol w="419734">
                  <a:extLst>
                    <a:ext uri="{9D8B030D-6E8A-4147-A177-3AD203B41FA5}">
                      <a16:colId xmlns:a16="http://schemas.microsoft.com/office/drawing/2014/main" val="20003"/>
                    </a:ext>
                  </a:extLst>
                </a:gridCol>
                <a:gridCol w="419735">
                  <a:extLst>
                    <a:ext uri="{9D8B030D-6E8A-4147-A177-3AD203B41FA5}">
                      <a16:colId xmlns:a16="http://schemas.microsoft.com/office/drawing/2014/main" val="20004"/>
                    </a:ext>
                  </a:extLst>
                </a:gridCol>
                <a:gridCol w="419735">
                  <a:extLst>
                    <a:ext uri="{9D8B030D-6E8A-4147-A177-3AD203B41FA5}">
                      <a16:colId xmlns:a16="http://schemas.microsoft.com/office/drawing/2014/main" val="20005"/>
                    </a:ext>
                  </a:extLst>
                </a:gridCol>
              </a:tblGrid>
              <a:tr h="304800">
                <a:tc>
                  <a:txBody>
                    <a:bodyPr/>
                    <a:lstStyle/>
                    <a:p>
                      <a:pPr marL="635" algn="ctr">
                        <a:lnSpc>
                          <a:spcPct val="100000"/>
                        </a:lnSpc>
                        <a:spcBef>
                          <a:spcPts val="315"/>
                        </a:spcBef>
                      </a:pPr>
                      <a:r>
                        <a:rPr sz="1400" b="1" spc="-50" dirty="0">
                          <a:latin typeface="Times New Roman"/>
                          <a:cs typeface="Times New Roman"/>
                        </a:rPr>
                        <a:t>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16</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17</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20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315"/>
                        </a:spcBef>
                      </a:pPr>
                      <a:r>
                        <a:rPr sz="1400" b="1" spc="-25" dirty="0">
                          <a:latin typeface="Times New Roman"/>
                          <a:cs typeface="Times New Roman"/>
                        </a:rPr>
                        <a:t>21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13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315"/>
                        </a:spcBef>
                      </a:pPr>
                      <a:r>
                        <a:rPr sz="1400" b="1" spc="-25" dirty="0">
                          <a:latin typeface="Times New Roman"/>
                          <a:cs typeface="Times New Roman"/>
                        </a:rPr>
                        <a:t>43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15"/>
                        </a:spcBef>
                      </a:pPr>
                      <a:r>
                        <a:rPr sz="1400" b="1" spc="-25" dirty="0">
                          <a:latin typeface="Times New Roman"/>
                          <a:cs typeface="Times New Roman"/>
                        </a:rPr>
                        <a:t>51</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19</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15"/>
                        </a:spcBef>
                      </a:pPr>
                      <a:r>
                        <a:rPr sz="1400" b="1" spc="-25" dirty="0">
                          <a:latin typeface="Times New Roman"/>
                          <a:cs typeface="Times New Roman"/>
                        </a:rPr>
                        <a:t>22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315"/>
                        </a:spcBef>
                      </a:pPr>
                      <a:r>
                        <a:rPr sz="1400" b="1" spc="-25" dirty="0">
                          <a:latin typeface="Times New Roman"/>
                          <a:cs typeface="Times New Roman"/>
                        </a:rPr>
                        <a:t>15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18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25</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23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38</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40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algn="ctr">
                        <a:lnSpc>
                          <a:spcPct val="100000"/>
                        </a:lnSpc>
                        <a:spcBef>
                          <a:spcPts val="315"/>
                        </a:spcBef>
                      </a:pPr>
                      <a:r>
                        <a:rPr sz="1400" b="1" spc="-25" dirty="0">
                          <a:latin typeface="Times New Roman"/>
                          <a:cs typeface="Times New Roman"/>
                        </a:rPr>
                        <a:t>52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1400" b="1" spc="-25" dirty="0">
                          <a:latin typeface="Times New Roman"/>
                          <a:cs typeface="Times New Roman"/>
                        </a:rPr>
                        <a:t>44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34</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12</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b="1" spc="-25" dirty="0">
                          <a:latin typeface="Times New Roman"/>
                          <a:cs typeface="Times New Roman"/>
                        </a:rPr>
                        <a:t>10</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1400" b="1" spc="-25" dirty="0">
                          <a:latin typeface="Times New Roman"/>
                          <a:cs typeface="Times New Roman"/>
                        </a:rPr>
                        <a:t>13</a:t>
                      </a:r>
                      <a:endParaRPr sz="1400">
                        <a:latin typeface="Times New Roman"/>
                        <a:cs typeface="Times New Roman"/>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3" name="object 3"/>
          <p:cNvGraphicFramePr>
            <a:graphicFrameLocks noGrp="1"/>
          </p:cNvGraphicFramePr>
          <p:nvPr/>
        </p:nvGraphicFramePr>
        <p:xfrm>
          <a:off x="6178803" y="2972180"/>
          <a:ext cx="2522217" cy="1524000"/>
        </p:xfrm>
        <a:graphic>
          <a:graphicData uri="http://schemas.openxmlformats.org/drawingml/2006/table">
            <a:tbl>
              <a:tblPr firstRow="1" bandRow="1">
                <a:tableStyleId>{2D5ABB26-0587-4C30-8999-92F81FD0307C}</a:tableStyleId>
              </a:tblPr>
              <a:tblGrid>
                <a:gridCol w="420370">
                  <a:extLst>
                    <a:ext uri="{9D8B030D-6E8A-4147-A177-3AD203B41FA5}">
                      <a16:colId xmlns:a16="http://schemas.microsoft.com/office/drawing/2014/main" val="20000"/>
                    </a:ext>
                  </a:extLst>
                </a:gridCol>
                <a:gridCol w="420370">
                  <a:extLst>
                    <a:ext uri="{9D8B030D-6E8A-4147-A177-3AD203B41FA5}">
                      <a16:colId xmlns:a16="http://schemas.microsoft.com/office/drawing/2014/main" val="20001"/>
                    </a:ext>
                  </a:extLst>
                </a:gridCol>
                <a:gridCol w="420370">
                  <a:extLst>
                    <a:ext uri="{9D8B030D-6E8A-4147-A177-3AD203B41FA5}">
                      <a16:colId xmlns:a16="http://schemas.microsoft.com/office/drawing/2014/main" val="20002"/>
                    </a:ext>
                  </a:extLst>
                </a:gridCol>
                <a:gridCol w="420369">
                  <a:extLst>
                    <a:ext uri="{9D8B030D-6E8A-4147-A177-3AD203B41FA5}">
                      <a16:colId xmlns:a16="http://schemas.microsoft.com/office/drawing/2014/main" val="20003"/>
                    </a:ext>
                  </a:extLst>
                </a:gridCol>
                <a:gridCol w="420369">
                  <a:extLst>
                    <a:ext uri="{9D8B030D-6E8A-4147-A177-3AD203B41FA5}">
                      <a16:colId xmlns:a16="http://schemas.microsoft.com/office/drawing/2014/main" val="20004"/>
                    </a:ext>
                  </a:extLst>
                </a:gridCol>
                <a:gridCol w="420369">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51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algn="ctr">
                        <a:lnSpc>
                          <a:spcPct val="100000"/>
                        </a:lnSpc>
                        <a:spcBef>
                          <a:spcPts val="320"/>
                        </a:spcBef>
                      </a:pPr>
                      <a:r>
                        <a:rPr sz="1400" b="1" spc="-25" dirty="0">
                          <a:latin typeface="Times New Roman"/>
                          <a:cs typeface="Times New Roman"/>
                        </a:rPr>
                        <a:t>52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44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34</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10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4" name="object 4"/>
          <p:cNvSpPr txBox="1"/>
          <p:nvPr/>
        </p:nvSpPr>
        <p:spPr>
          <a:xfrm>
            <a:off x="473455" y="406145"/>
            <a:ext cx="8042909" cy="6000115"/>
          </a:xfrm>
          <a:prstGeom prst="rect">
            <a:avLst/>
          </a:prstGeom>
        </p:spPr>
        <p:txBody>
          <a:bodyPr vert="horz" wrap="square" lIns="0" tIns="13335" rIns="0" bIns="0" rtlCol="0">
            <a:spAutoFit/>
          </a:bodyPr>
          <a:lstStyle/>
          <a:p>
            <a:pPr marL="13335" algn="just">
              <a:lnSpc>
                <a:spcPct val="100000"/>
              </a:lnSpc>
              <a:spcBef>
                <a:spcPts val="105"/>
              </a:spcBef>
            </a:pPr>
            <a:r>
              <a:rPr sz="2000" b="1" u="sng" dirty="0">
                <a:solidFill>
                  <a:srgbClr val="C00000"/>
                </a:solidFill>
                <a:uFill>
                  <a:solidFill>
                    <a:srgbClr val="C00000"/>
                  </a:solidFill>
                </a:uFill>
                <a:latin typeface="Times New Roman"/>
                <a:cs typeface="Times New Roman"/>
              </a:rPr>
              <a:t>Example</a:t>
            </a:r>
            <a:r>
              <a:rPr sz="2000" b="1" u="sng" spc="-20" dirty="0">
                <a:solidFill>
                  <a:srgbClr val="C00000"/>
                </a:solidFill>
                <a:uFill>
                  <a:solidFill>
                    <a:srgbClr val="C00000"/>
                  </a:solidFill>
                </a:uFill>
                <a:latin typeface="Times New Roman"/>
                <a:cs typeface="Times New Roman"/>
              </a:rPr>
              <a:t> </a:t>
            </a:r>
            <a:r>
              <a:rPr sz="2000" b="1" u="sng" spc="-25" dirty="0">
                <a:solidFill>
                  <a:srgbClr val="C00000"/>
                </a:solidFill>
                <a:uFill>
                  <a:solidFill>
                    <a:srgbClr val="C00000"/>
                  </a:solidFill>
                </a:uFill>
                <a:latin typeface="Times New Roman"/>
                <a:cs typeface="Times New Roman"/>
              </a:rPr>
              <a:t>3:</a:t>
            </a:r>
            <a:endParaRPr sz="2000">
              <a:latin typeface="Times New Roman"/>
              <a:cs typeface="Times New Roman"/>
            </a:endParaRPr>
          </a:p>
          <a:p>
            <a:pPr marL="13335" algn="just">
              <a:lnSpc>
                <a:spcPct val="100000"/>
              </a:lnSpc>
            </a:pPr>
            <a:r>
              <a:rPr sz="2000" b="1" dirty="0">
                <a:latin typeface="Times New Roman"/>
                <a:cs typeface="Times New Roman"/>
              </a:rPr>
              <a:t>Using</a:t>
            </a:r>
            <a:r>
              <a:rPr sz="2000" b="1" spc="-20" dirty="0">
                <a:latin typeface="Times New Roman"/>
                <a:cs typeface="Times New Roman"/>
              </a:rPr>
              <a:t> </a:t>
            </a:r>
            <a:r>
              <a:rPr sz="2000" b="1" dirty="0">
                <a:latin typeface="Times New Roman"/>
                <a:cs typeface="Times New Roman"/>
              </a:rPr>
              <a:t>max.</a:t>
            </a:r>
            <a:r>
              <a:rPr sz="2000" b="1" spc="-30" dirty="0">
                <a:latin typeface="Times New Roman"/>
                <a:cs typeface="Times New Roman"/>
              </a:rPr>
              <a:t> </a:t>
            </a:r>
            <a:r>
              <a:rPr sz="2000" b="1" dirty="0">
                <a:latin typeface="Times New Roman"/>
                <a:cs typeface="Times New Roman"/>
              </a:rPr>
              <a:t>filters</a:t>
            </a:r>
            <a:r>
              <a:rPr sz="2000" b="1" spc="-30" dirty="0">
                <a:latin typeface="Times New Roman"/>
                <a:cs typeface="Times New Roman"/>
              </a:rPr>
              <a:t> </a:t>
            </a:r>
            <a:r>
              <a:rPr sz="2000" b="1" dirty="0">
                <a:latin typeface="Times New Roman"/>
                <a:cs typeface="Times New Roman"/>
              </a:rPr>
              <a:t>to</a:t>
            </a:r>
            <a:r>
              <a:rPr sz="2000" b="1" spc="-20" dirty="0">
                <a:latin typeface="Times New Roman"/>
                <a:cs typeface="Times New Roman"/>
              </a:rPr>
              <a:t> </a:t>
            </a:r>
            <a:r>
              <a:rPr sz="2000" b="1" dirty="0">
                <a:latin typeface="Times New Roman"/>
                <a:cs typeface="Times New Roman"/>
              </a:rPr>
              <a:t>remove</a:t>
            </a:r>
            <a:r>
              <a:rPr sz="2000" b="1" spc="-30" dirty="0">
                <a:latin typeface="Times New Roman"/>
                <a:cs typeface="Times New Roman"/>
              </a:rPr>
              <a:t> </a:t>
            </a:r>
            <a:r>
              <a:rPr sz="2000" b="1" dirty="0">
                <a:latin typeface="Times New Roman"/>
                <a:cs typeface="Times New Roman"/>
              </a:rPr>
              <a:t>salt</a:t>
            </a:r>
            <a:r>
              <a:rPr sz="2000" b="1" spc="-40" dirty="0">
                <a:latin typeface="Times New Roman"/>
                <a:cs typeface="Times New Roman"/>
              </a:rPr>
              <a:t> </a:t>
            </a:r>
            <a:r>
              <a:rPr sz="2000" b="1" dirty="0">
                <a:latin typeface="Times New Roman"/>
                <a:cs typeface="Times New Roman"/>
              </a:rPr>
              <a:t>and</a:t>
            </a:r>
            <a:r>
              <a:rPr sz="2000" b="1" spc="-15" dirty="0">
                <a:latin typeface="Times New Roman"/>
                <a:cs typeface="Times New Roman"/>
              </a:rPr>
              <a:t> </a:t>
            </a:r>
            <a:r>
              <a:rPr sz="2000" b="1" dirty="0">
                <a:latin typeface="Times New Roman"/>
                <a:cs typeface="Times New Roman"/>
              </a:rPr>
              <a:t>pepper</a:t>
            </a:r>
            <a:r>
              <a:rPr sz="2000" b="1" spc="-65" dirty="0">
                <a:latin typeface="Times New Roman"/>
                <a:cs typeface="Times New Roman"/>
              </a:rPr>
              <a:t> </a:t>
            </a:r>
            <a:r>
              <a:rPr sz="2000" b="1" dirty="0">
                <a:latin typeface="Times New Roman"/>
                <a:cs typeface="Times New Roman"/>
              </a:rPr>
              <a:t>noise,</a:t>
            </a:r>
            <a:r>
              <a:rPr sz="2000" b="1" spc="-25" dirty="0">
                <a:latin typeface="Times New Roman"/>
                <a:cs typeface="Times New Roman"/>
              </a:rPr>
              <a:t> </a:t>
            </a:r>
            <a:r>
              <a:rPr sz="2000" b="1" dirty="0">
                <a:latin typeface="Times New Roman"/>
                <a:cs typeface="Times New Roman"/>
              </a:rPr>
              <a:t>from</a:t>
            </a:r>
            <a:r>
              <a:rPr sz="2000" b="1" spc="-5" dirty="0">
                <a:latin typeface="Times New Roman"/>
                <a:cs typeface="Times New Roman"/>
              </a:rPr>
              <a:t> </a:t>
            </a:r>
            <a:r>
              <a:rPr sz="2000" b="1" dirty="0">
                <a:latin typeface="Times New Roman"/>
                <a:cs typeface="Times New Roman"/>
              </a:rPr>
              <a:t>sub</a:t>
            </a:r>
            <a:r>
              <a:rPr sz="2000" b="1" spc="-5" dirty="0">
                <a:latin typeface="Times New Roman"/>
                <a:cs typeface="Times New Roman"/>
              </a:rPr>
              <a:t> </a:t>
            </a:r>
            <a:r>
              <a:rPr sz="2000" b="1" dirty="0">
                <a:latin typeface="Times New Roman"/>
                <a:cs typeface="Times New Roman"/>
              </a:rPr>
              <a:t>image</a:t>
            </a:r>
            <a:r>
              <a:rPr sz="2000" b="1" spc="-40" dirty="0">
                <a:latin typeface="Times New Roman"/>
                <a:cs typeface="Times New Roman"/>
              </a:rPr>
              <a:t> </a:t>
            </a:r>
            <a:r>
              <a:rPr sz="2000" b="1" dirty="0">
                <a:latin typeface="Times New Roman"/>
                <a:cs typeface="Times New Roman"/>
              </a:rPr>
              <a:t>I(r</a:t>
            </a:r>
            <a:r>
              <a:rPr sz="2000" b="1" spc="-40"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r>
              <a:rPr sz="2000" b="1" spc="-25" dirty="0">
                <a:latin typeface="Times New Roman"/>
                <a:cs typeface="Times New Roman"/>
              </a:rPr>
              <a:t>c).</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415"/>
              </a:spcBef>
            </a:pPr>
            <a:endParaRPr sz="2000">
              <a:latin typeface="Times New Roman"/>
              <a:cs typeface="Times New Roman"/>
            </a:endParaRPr>
          </a:p>
          <a:p>
            <a:pPr marL="12700" algn="just">
              <a:lnSpc>
                <a:spcPct val="100000"/>
              </a:lnSpc>
            </a:pPr>
            <a:r>
              <a:rPr sz="2000" b="1" u="sng" dirty="0">
                <a:solidFill>
                  <a:srgbClr val="00AF50"/>
                </a:solidFill>
                <a:uFill>
                  <a:solidFill>
                    <a:srgbClr val="00AF50"/>
                  </a:solidFill>
                </a:uFill>
                <a:latin typeface="Times New Roman"/>
                <a:cs typeface="Times New Roman"/>
              </a:rPr>
              <a:t>First</a:t>
            </a:r>
            <a:r>
              <a:rPr sz="2000" b="1" u="sng" spc="-2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469265" indent="-456565" algn="just">
              <a:lnSpc>
                <a:spcPct val="100000"/>
              </a:lnSpc>
              <a:buAutoNum type="arabicPeriod"/>
              <a:tabLst>
                <a:tab pos="469265" algn="l"/>
              </a:tabLst>
            </a:pPr>
            <a:r>
              <a:rPr sz="2000" b="1" dirty="0">
                <a:solidFill>
                  <a:srgbClr val="006FC0"/>
                </a:solidFill>
                <a:latin typeface="Times New Roman"/>
                <a:cs typeface="Times New Roman"/>
              </a:rPr>
              <a:t>Rearrange</a:t>
            </a:r>
            <a:r>
              <a:rPr sz="2000" b="1" spc="459" dirty="0">
                <a:solidFill>
                  <a:srgbClr val="006FC0"/>
                </a:solidFill>
                <a:latin typeface="Times New Roman"/>
                <a:cs typeface="Times New Roman"/>
              </a:rPr>
              <a:t>  </a:t>
            </a:r>
            <a:r>
              <a:rPr sz="2000" b="1" dirty="0">
                <a:latin typeface="Times New Roman"/>
                <a:cs typeface="Times New Roman"/>
              </a:rPr>
              <a:t>the</a:t>
            </a:r>
            <a:r>
              <a:rPr sz="2000" b="1" spc="455" dirty="0">
                <a:latin typeface="Times New Roman"/>
                <a:cs typeface="Times New Roman"/>
              </a:rPr>
              <a:t>  </a:t>
            </a:r>
            <a:r>
              <a:rPr sz="2000" b="1" dirty="0">
                <a:latin typeface="Times New Roman"/>
                <a:cs typeface="Times New Roman"/>
              </a:rPr>
              <a:t>3x3</a:t>
            </a:r>
            <a:r>
              <a:rPr sz="2000" b="1" spc="459" dirty="0">
                <a:latin typeface="Times New Roman"/>
                <a:cs typeface="Times New Roman"/>
              </a:rPr>
              <a:t>  </a:t>
            </a:r>
            <a:r>
              <a:rPr sz="2000" b="1" dirty="0">
                <a:latin typeface="Times New Roman"/>
                <a:cs typeface="Times New Roman"/>
              </a:rPr>
              <a:t>neighbor</a:t>
            </a:r>
            <a:r>
              <a:rPr sz="2000" b="1" spc="445" dirty="0">
                <a:latin typeface="Times New Roman"/>
                <a:cs typeface="Times New Roman"/>
              </a:rPr>
              <a:t>  </a:t>
            </a:r>
            <a:r>
              <a:rPr sz="2000" b="1" dirty="0">
                <a:latin typeface="Times New Roman"/>
                <a:cs typeface="Times New Roman"/>
              </a:rPr>
              <a:t>pixels</a:t>
            </a:r>
            <a:r>
              <a:rPr sz="2000" b="1" spc="459" dirty="0">
                <a:latin typeface="Times New Roman"/>
                <a:cs typeface="Times New Roman"/>
              </a:rPr>
              <a:t>  </a:t>
            </a:r>
            <a:r>
              <a:rPr sz="2000" b="1" spc="-25" dirty="0">
                <a:latin typeface="Times New Roman"/>
                <a:cs typeface="Times New Roman"/>
              </a:rPr>
              <a:t>in</a:t>
            </a:r>
            <a:endParaRPr sz="2000">
              <a:latin typeface="Times New Roman"/>
              <a:cs typeface="Times New Roman"/>
            </a:endParaRPr>
          </a:p>
          <a:p>
            <a:pPr marL="469900" algn="just">
              <a:lnSpc>
                <a:spcPct val="100000"/>
              </a:lnSpc>
              <a:spcBef>
                <a:spcPts val="5"/>
              </a:spcBef>
            </a:pPr>
            <a:r>
              <a:rPr sz="2000" b="1" dirty="0">
                <a:latin typeface="Times New Roman"/>
                <a:cs typeface="Times New Roman"/>
              </a:rPr>
              <a:t>ascending</a:t>
            </a:r>
            <a:r>
              <a:rPr sz="2000" b="1" spc="-4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25" dirty="0">
                <a:latin typeface="Times New Roman"/>
                <a:cs typeface="Times New Roman"/>
              </a:rPr>
              <a:t> as:</a:t>
            </a:r>
            <a:endParaRPr sz="2000">
              <a:latin typeface="Times New Roman"/>
              <a:cs typeface="Times New Roman"/>
            </a:endParaRPr>
          </a:p>
          <a:p>
            <a:pPr marL="1091565" algn="just">
              <a:lnSpc>
                <a:spcPct val="100000"/>
              </a:lnSpc>
            </a:pPr>
            <a:r>
              <a:rPr sz="2000" b="1" dirty="0">
                <a:latin typeface="Times New Roman"/>
                <a:cs typeface="Times New Roman"/>
              </a:rPr>
              <a:t>5,13,16,19,20,</a:t>
            </a:r>
            <a:r>
              <a:rPr sz="2000" b="1" spc="-50" dirty="0">
                <a:latin typeface="Times New Roman"/>
                <a:cs typeface="Times New Roman"/>
              </a:rPr>
              <a:t> </a:t>
            </a:r>
            <a:r>
              <a:rPr sz="2000" b="1" spc="-10" dirty="0">
                <a:latin typeface="Times New Roman"/>
                <a:cs typeface="Times New Roman"/>
              </a:rPr>
              <a:t>21,25,25,43,</a:t>
            </a:r>
            <a:r>
              <a:rPr sz="2000" b="1" spc="-10" dirty="0">
                <a:solidFill>
                  <a:srgbClr val="FF0000"/>
                </a:solidFill>
                <a:latin typeface="Times New Roman"/>
                <a:cs typeface="Times New Roman"/>
              </a:rPr>
              <a:t>51</a:t>
            </a:r>
            <a:endParaRPr sz="2000">
              <a:latin typeface="Times New Roman"/>
              <a:cs typeface="Times New Roman"/>
            </a:endParaRPr>
          </a:p>
          <a:p>
            <a:pPr marL="317500" marR="2656840" indent="-305435" algn="just">
              <a:lnSpc>
                <a:spcPct val="100000"/>
              </a:lnSpc>
              <a:buClr>
                <a:srgbClr val="006FC0"/>
              </a:buClr>
              <a:buAutoNum type="arabicPeriod" startAt="2"/>
              <a:tabLst>
                <a:tab pos="376555" algn="l"/>
              </a:tabLst>
            </a:pPr>
            <a:r>
              <a:rPr sz="2000" b="1" dirty="0">
                <a:latin typeface="Times New Roman"/>
                <a:cs typeface="Times New Roman"/>
              </a:rPr>
              <a:t>By</a:t>
            </a:r>
            <a:r>
              <a:rPr sz="2000" b="1" spc="390" dirty="0">
                <a:latin typeface="Times New Roman"/>
                <a:cs typeface="Times New Roman"/>
              </a:rPr>
              <a:t> </a:t>
            </a:r>
            <a:r>
              <a:rPr sz="2000" b="1" dirty="0">
                <a:solidFill>
                  <a:srgbClr val="006FC0"/>
                </a:solidFill>
                <a:latin typeface="Times New Roman"/>
                <a:cs typeface="Times New Roman"/>
              </a:rPr>
              <a:t>using</a:t>
            </a:r>
            <a:r>
              <a:rPr sz="2000" b="1" spc="380" dirty="0">
                <a:solidFill>
                  <a:srgbClr val="006FC0"/>
                </a:solidFill>
                <a:latin typeface="Times New Roman"/>
                <a:cs typeface="Times New Roman"/>
              </a:rPr>
              <a:t> </a:t>
            </a:r>
            <a:r>
              <a:rPr sz="2000" b="1" dirty="0">
                <a:solidFill>
                  <a:srgbClr val="006FC0"/>
                </a:solidFill>
                <a:latin typeface="Times New Roman"/>
                <a:cs typeface="Times New Roman"/>
              </a:rPr>
              <a:t>max.</a:t>
            </a:r>
            <a:r>
              <a:rPr sz="2000" b="1" spc="380"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350" dirty="0">
                <a:solidFill>
                  <a:srgbClr val="006FC0"/>
                </a:solidFill>
                <a:latin typeface="Times New Roman"/>
                <a:cs typeface="Times New Roman"/>
              </a:rPr>
              <a:t> </a:t>
            </a:r>
            <a:r>
              <a:rPr sz="2000" b="1" dirty="0">
                <a:latin typeface="Times New Roman"/>
                <a:cs typeface="Times New Roman"/>
              </a:rPr>
              <a:t>we</a:t>
            </a:r>
            <a:r>
              <a:rPr sz="2000" b="1" spc="390" dirty="0">
                <a:latin typeface="Times New Roman"/>
                <a:cs typeface="Times New Roman"/>
              </a:rPr>
              <a:t> </a:t>
            </a:r>
            <a:r>
              <a:rPr sz="2000" b="1" dirty="0">
                <a:latin typeface="Times New Roman"/>
                <a:cs typeface="Times New Roman"/>
              </a:rPr>
              <a:t>select</a:t>
            </a:r>
            <a:r>
              <a:rPr sz="2000" b="1" spc="375" dirty="0">
                <a:latin typeface="Times New Roman"/>
                <a:cs typeface="Times New Roman"/>
              </a:rPr>
              <a:t> </a:t>
            </a:r>
            <a:r>
              <a:rPr sz="2000" b="1" dirty="0">
                <a:latin typeface="Times New Roman"/>
                <a:cs typeface="Times New Roman"/>
              </a:rPr>
              <a:t>the</a:t>
            </a:r>
            <a:r>
              <a:rPr sz="2000" b="1" spc="370" dirty="0">
                <a:latin typeface="Times New Roman"/>
                <a:cs typeface="Times New Roman"/>
              </a:rPr>
              <a:t> </a:t>
            </a:r>
            <a:r>
              <a:rPr sz="2000" b="1" spc="-10" dirty="0">
                <a:solidFill>
                  <a:srgbClr val="FF0000"/>
                </a:solidFill>
                <a:latin typeface="Times New Roman"/>
                <a:cs typeface="Times New Roman"/>
              </a:rPr>
              <a:t>maximum 	</a:t>
            </a:r>
            <a:r>
              <a:rPr sz="2000" b="1" dirty="0">
                <a:solidFill>
                  <a:srgbClr val="FF0000"/>
                </a:solidFill>
                <a:latin typeface="Times New Roman"/>
                <a:cs typeface="Times New Roman"/>
              </a:rPr>
              <a:t>value</a:t>
            </a:r>
            <a:r>
              <a:rPr sz="2000" b="1" spc="490" dirty="0">
                <a:solidFill>
                  <a:srgbClr val="FF0000"/>
                </a:solidFill>
                <a:latin typeface="Times New Roman"/>
                <a:cs typeface="Times New Roman"/>
              </a:rPr>
              <a:t> </a:t>
            </a:r>
            <a:r>
              <a:rPr sz="2000" b="1" dirty="0">
                <a:solidFill>
                  <a:srgbClr val="FF0000"/>
                </a:solidFill>
                <a:latin typeface="Times New Roman"/>
                <a:cs typeface="Times New Roman"/>
              </a:rPr>
              <a:t>51  </a:t>
            </a:r>
            <a:r>
              <a:rPr sz="2000" b="1" dirty="0">
                <a:latin typeface="Times New Roman"/>
                <a:cs typeface="Times New Roman"/>
              </a:rPr>
              <a:t>and</a:t>
            </a:r>
            <a:r>
              <a:rPr sz="2000" b="1" spc="495" dirty="0">
                <a:latin typeface="Times New Roman"/>
                <a:cs typeface="Times New Roman"/>
              </a:rPr>
              <a:t> </a:t>
            </a:r>
            <a:r>
              <a:rPr sz="2000" b="1" dirty="0">
                <a:latin typeface="Times New Roman"/>
                <a:cs typeface="Times New Roman"/>
              </a:rPr>
              <a:t>put</a:t>
            </a:r>
            <a:r>
              <a:rPr sz="2000" b="1" spc="495" dirty="0">
                <a:latin typeface="Times New Roman"/>
                <a:cs typeface="Times New Roman"/>
              </a:rPr>
              <a:t> </a:t>
            </a:r>
            <a:r>
              <a:rPr sz="2000" b="1" dirty="0">
                <a:latin typeface="Times New Roman"/>
                <a:cs typeface="Times New Roman"/>
              </a:rPr>
              <a:t>it  in  buffer</a:t>
            </a:r>
            <a:r>
              <a:rPr sz="2000" b="1" spc="465" dirty="0">
                <a:latin typeface="Times New Roman"/>
                <a:cs typeface="Times New Roman"/>
              </a:rPr>
              <a:t> </a:t>
            </a:r>
            <a:r>
              <a:rPr sz="2000" b="1" dirty="0">
                <a:latin typeface="Times New Roman"/>
                <a:cs typeface="Times New Roman"/>
              </a:rPr>
              <a:t>image  in</a:t>
            </a:r>
            <a:r>
              <a:rPr sz="2000" b="1" spc="495" dirty="0">
                <a:latin typeface="Times New Roman"/>
                <a:cs typeface="Times New Roman"/>
              </a:rPr>
              <a:t>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a:p>
            <a:pPr>
              <a:lnSpc>
                <a:spcPct val="100000"/>
              </a:lnSpc>
              <a:spcBef>
                <a:spcPts val="1310"/>
              </a:spcBef>
              <a:buClr>
                <a:srgbClr val="006FC0"/>
              </a:buClr>
              <a:buFont typeface="Times New Roman"/>
              <a:buAutoNum type="arabicPeriod" startAt="2"/>
            </a:pPr>
            <a:endParaRPr sz="2000">
              <a:latin typeface="Times New Roman"/>
              <a:cs typeface="Times New Roman"/>
            </a:endParaRPr>
          </a:p>
          <a:p>
            <a:pPr marL="55880">
              <a:lnSpc>
                <a:spcPct val="100000"/>
              </a:lnSpc>
              <a:spcBef>
                <a:spcPts val="5"/>
              </a:spcBef>
            </a:pPr>
            <a:r>
              <a:rPr sz="2000" b="1" u="sng" dirty="0">
                <a:solidFill>
                  <a:srgbClr val="00AF50"/>
                </a:solidFill>
                <a:uFill>
                  <a:solidFill>
                    <a:srgbClr val="00AF50"/>
                  </a:solidFill>
                </a:uFill>
                <a:latin typeface="Times New Roman"/>
                <a:cs typeface="Times New Roman"/>
              </a:rPr>
              <a:t>Second</a:t>
            </a:r>
            <a:r>
              <a:rPr sz="2000" b="1" u="sng" spc="-15" dirty="0">
                <a:solidFill>
                  <a:srgbClr val="00AF50"/>
                </a:solidFill>
                <a:uFill>
                  <a:solidFill>
                    <a:srgbClr val="00AF50"/>
                  </a:solidFill>
                </a:uFill>
                <a:latin typeface="Times New Roman"/>
                <a:cs typeface="Times New Roman"/>
              </a:rPr>
              <a:t> </a:t>
            </a:r>
            <a:r>
              <a:rPr sz="2000" b="1" u="sng" spc="-10" dirty="0">
                <a:solidFill>
                  <a:srgbClr val="00AF50"/>
                </a:solidFill>
                <a:uFill>
                  <a:solidFill>
                    <a:srgbClr val="00AF50"/>
                  </a:solidFill>
                </a:uFill>
                <a:latin typeface="Times New Roman"/>
                <a:cs typeface="Times New Roman"/>
              </a:rPr>
              <a:t>pixel:</a:t>
            </a:r>
            <a:endParaRPr sz="2000">
              <a:latin typeface="Times New Roman"/>
              <a:cs typeface="Times New Roman"/>
            </a:endParaRPr>
          </a:p>
          <a:p>
            <a:pPr marL="513080" marR="2614295" lvl="1" indent="-457200">
              <a:lnSpc>
                <a:spcPct val="100000"/>
              </a:lnSpc>
              <a:buAutoNum type="arabicPeriod"/>
              <a:tabLst>
                <a:tab pos="513080" algn="l"/>
                <a:tab pos="1917064" algn="l"/>
                <a:tab pos="2500630" algn="l"/>
                <a:tab pos="3128645" algn="l"/>
                <a:tab pos="4343400" algn="l"/>
                <a:tab pos="5209540" algn="l"/>
              </a:tabLst>
            </a:pPr>
            <a:r>
              <a:rPr sz="2000" b="1" spc="-10" dirty="0">
                <a:solidFill>
                  <a:srgbClr val="006FC0"/>
                </a:solidFill>
                <a:latin typeface="Times New Roman"/>
                <a:cs typeface="Times New Roman"/>
              </a:rPr>
              <a:t>Rearrange</a:t>
            </a:r>
            <a:r>
              <a:rPr sz="2000" b="1" dirty="0">
                <a:solidFill>
                  <a:srgbClr val="006FC0"/>
                </a:solidFill>
                <a:latin typeface="Times New Roman"/>
                <a:cs typeface="Times New Roman"/>
              </a:rPr>
              <a:t>	</a:t>
            </a:r>
            <a:r>
              <a:rPr sz="2000" b="1" spc="-25" dirty="0">
                <a:latin typeface="Times New Roman"/>
                <a:cs typeface="Times New Roman"/>
              </a:rPr>
              <a:t>the</a:t>
            </a:r>
            <a:r>
              <a:rPr sz="2000" b="1" dirty="0">
                <a:latin typeface="Times New Roman"/>
                <a:cs typeface="Times New Roman"/>
              </a:rPr>
              <a:t>	</a:t>
            </a:r>
            <a:r>
              <a:rPr sz="2000" b="1" spc="-25" dirty="0">
                <a:latin typeface="Times New Roman"/>
                <a:cs typeface="Times New Roman"/>
              </a:rPr>
              <a:t>3x3</a:t>
            </a:r>
            <a:r>
              <a:rPr sz="2000" b="1" dirty="0">
                <a:latin typeface="Times New Roman"/>
                <a:cs typeface="Times New Roman"/>
              </a:rPr>
              <a:t>	</a:t>
            </a:r>
            <a:r>
              <a:rPr sz="2000" b="1" spc="-10" dirty="0">
                <a:latin typeface="Times New Roman"/>
                <a:cs typeface="Times New Roman"/>
              </a:rPr>
              <a:t>neighbor</a:t>
            </a:r>
            <a:r>
              <a:rPr sz="2000" b="1" dirty="0">
                <a:latin typeface="Times New Roman"/>
                <a:cs typeface="Times New Roman"/>
              </a:rPr>
              <a:t>	</a:t>
            </a:r>
            <a:r>
              <a:rPr sz="2000" b="1" spc="-10" dirty="0">
                <a:latin typeface="Times New Roman"/>
                <a:cs typeface="Times New Roman"/>
              </a:rPr>
              <a:t>pixels</a:t>
            </a:r>
            <a:r>
              <a:rPr sz="2000" b="1" dirty="0">
                <a:latin typeface="Times New Roman"/>
                <a:cs typeface="Times New Roman"/>
              </a:rPr>
              <a:t>	</a:t>
            </a:r>
            <a:r>
              <a:rPr sz="2000" b="1" spc="-25" dirty="0">
                <a:latin typeface="Times New Roman"/>
                <a:cs typeface="Times New Roman"/>
              </a:rPr>
              <a:t>in </a:t>
            </a:r>
            <a:r>
              <a:rPr sz="2000" b="1" dirty="0">
                <a:latin typeface="Times New Roman"/>
                <a:cs typeface="Times New Roman"/>
              </a:rPr>
              <a:t>ascending</a:t>
            </a:r>
            <a:r>
              <a:rPr sz="2000" b="1" spc="-35" dirty="0">
                <a:latin typeface="Times New Roman"/>
                <a:cs typeface="Times New Roman"/>
              </a:rPr>
              <a:t> </a:t>
            </a:r>
            <a:r>
              <a:rPr sz="2000" b="1" dirty="0">
                <a:latin typeface="Times New Roman"/>
                <a:cs typeface="Times New Roman"/>
              </a:rPr>
              <a:t>way</a:t>
            </a:r>
            <a:r>
              <a:rPr sz="2000" b="1" spc="-10" dirty="0">
                <a:latin typeface="Times New Roman"/>
                <a:cs typeface="Times New Roman"/>
              </a:rPr>
              <a:t> </a:t>
            </a:r>
            <a:r>
              <a:rPr sz="2000" b="1" dirty="0">
                <a:latin typeface="Times New Roman"/>
                <a:cs typeface="Times New Roman"/>
              </a:rPr>
              <a:t>such</a:t>
            </a:r>
            <a:r>
              <a:rPr sz="2000" b="1" spc="-15" dirty="0">
                <a:latin typeface="Times New Roman"/>
                <a:cs typeface="Times New Roman"/>
              </a:rPr>
              <a:t> </a:t>
            </a:r>
            <a:r>
              <a:rPr sz="2000" b="1" spc="-25" dirty="0">
                <a:latin typeface="Times New Roman"/>
                <a:cs typeface="Times New Roman"/>
              </a:rPr>
              <a:t>as:</a:t>
            </a:r>
            <a:endParaRPr sz="2000">
              <a:latin typeface="Times New Roman"/>
              <a:cs typeface="Times New Roman"/>
            </a:endParaRPr>
          </a:p>
          <a:p>
            <a:pPr marL="1134745">
              <a:lnSpc>
                <a:spcPct val="100000"/>
              </a:lnSpc>
            </a:pPr>
            <a:r>
              <a:rPr sz="2000" b="1" spc="-10" dirty="0">
                <a:latin typeface="Times New Roman"/>
                <a:cs typeface="Times New Roman"/>
              </a:rPr>
              <a:t>13,15,16,19,20,22,23,25,</a:t>
            </a:r>
            <a:r>
              <a:rPr sz="2000" b="1" spc="-10" dirty="0">
                <a:solidFill>
                  <a:srgbClr val="FF0000"/>
                </a:solidFill>
                <a:latin typeface="Times New Roman"/>
                <a:cs typeface="Times New Roman"/>
              </a:rPr>
              <a:t>51</a:t>
            </a:r>
            <a:endParaRPr sz="2000">
              <a:latin typeface="Times New Roman"/>
              <a:cs typeface="Times New Roman"/>
            </a:endParaRPr>
          </a:p>
          <a:p>
            <a:pPr marL="360680" marR="2613025" lvl="1" indent="-304800" algn="just">
              <a:lnSpc>
                <a:spcPct val="100000"/>
              </a:lnSpc>
              <a:buClr>
                <a:srgbClr val="006FC0"/>
              </a:buClr>
              <a:buAutoNum type="arabicPeriod" startAt="2"/>
              <a:tabLst>
                <a:tab pos="420370" algn="l"/>
              </a:tabLst>
            </a:pPr>
            <a:r>
              <a:rPr sz="2000" b="1" dirty="0">
                <a:latin typeface="Times New Roman"/>
                <a:cs typeface="Times New Roman"/>
              </a:rPr>
              <a:t>By</a:t>
            </a:r>
            <a:r>
              <a:rPr sz="2000" b="1" spc="390" dirty="0">
                <a:latin typeface="Times New Roman"/>
                <a:cs typeface="Times New Roman"/>
              </a:rPr>
              <a:t> </a:t>
            </a:r>
            <a:r>
              <a:rPr sz="2000" b="1" dirty="0">
                <a:solidFill>
                  <a:srgbClr val="006FC0"/>
                </a:solidFill>
                <a:latin typeface="Times New Roman"/>
                <a:cs typeface="Times New Roman"/>
              </a:rPr>
              <a:t>using</a:t>
            </a:r>
            <a:r>
              <a:rPr sz="2000" b="1" spc="380" dirty="0">
                <a:solidFill>
                  <a:srgbClr val="006FC0"/>
                </a:solidFill>
                <a:latin typeface="Times New Roman"/>
                <a:cs typeface="Times New Roman"/>
              </a:rPr>
              <a:t> </a:t>
            </a:r>
            <a:r>
              <a:rPr sz="2000" b="1" dirty="0">
                <a:solidFill>
                  <a:srgbClr val="006FC0"/>
                </a:solidFill>
                <a:latin typeface="Times New Roman"/>
                <a:cs typeface="Times New Roman"/>
              </a:rPr>
              <a:t>max.</a:t>
            </a:r>
            <a:r>
              <a:rPr sz="2000" b="1" spc="380"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350" dirty="0">
                <a:solidFill>
                  <a:srgbClr val="006FC0"/>
                </a:solidFill>
                <a:latin typeface="Times New Roman"/>
                <a:cs typeface="Times New Roman"/>
              </a:rPr>
              <a:t> </a:t>
            </a:r>
            <a:r>
              <a:rPr sz="2000" b="1" dirty="0">
                <a:latin typeface="Times New Roman"/>
                <a:cs typeface="Times New Roman"/>
              </a:rPr>
              <a:t>we</a:t>
            </a:r>
            <a:r>
              <a:rPr sz="2000" b="1" spc="385" dirty="0">
                <a:latin typeface="Times New Roman"/>
                <a:cs typeface="Times New Roman"/>
              </a:rPr>
              <a:t> </a:t>
            </a:r>
            <a:r>
              <a:rPr sz="2000" b="1" dirty="0">
                <a:latin typeface="Times New Roman"/>
                <a:cs typeface="Times New Roman"/>
              </a:rPr>
              <a:t>select</a:t>
            </a:r>
            <a:r>
              <a:rPr sz="2000" b="1" spc="375" dirty="0">
                <a:latin typeface="Times New Roman"/>
                <a:cs typeface="Times New Roman"/>
              </a:rPr>
              <a:t> </a:t>
            </a:r>
            <a:r>
              <a:rPr sz="2000" b="1" dirty="0">
                <a:latin typeface="Times New Roman"/>
                <a:cs typeface="Times New Roman"/>
              </a:rPr>
              <a:t>the</a:t>
            </a:r>
            <a:r>
              <a:rPr sz="2000" b="1" spc="375" dirty="0">
                <a:latin typeface="Times New Roman"/>
                <a:cs typeface="Times New Roman"/>
              </a:rPr>
              <a:t> </a:t>
            </a:r>
            <a:r>
              <a:rPr sz="2000" b="1" spc="-10" dirty="0">
                <a:solidFill>
                  <a:srgbClr val="FF0000"/>
                </a:solidFill>
                <a:latin typeface="Times New Roman"/>
                <a:cs typeface="Times New Roman"/>
              </a:rPr>
              <a:t>maximum 	</a:t>
            </a:r>
            <a:r>
              <a:rPr sz="2000" b="1" dirty="0">
                <a:solidFill>
                  <a:srgbClr val="FF0000"/>
                </a:solidFill>
                <a:latin typeface="Times New Roman"/>
                <a:cs typeface="Times New Roman"/>
              </a:rPr>
              <a:t>value</a:t>
            </a:r>
            <a:r>
              <a:rPr sz="2000" b="1" spc="490" dirty="0">
                <a:solidFill>
                  <a:srgbClr val="FF0000"/>
                </a:solidFill>
                <a:latin typeface="Times New Roman"/>
                <a:cs typeface="Times New Roman"/>
              </a:rPr>
              <a:t> </a:t>
            </a:r>
            <a:r>
              <a:rPr sz="2000" b="1" dirty="0">
                <a:solidFill>
                  <a:srgbClr val="FF0000"/>
                </a:solidFill>
                <a:latin typeface="Times New Roman"/>
                <a:cs typeface="Times New Roman"/>
              </a:rPr>
              <a:t>51  </a:t>
            </a:r>
            <a:r>
              <a:rPr sz="2000" b="1" dirty="0">
                <a:latin typeface="Times New Roman"/>
                <a:cs typeface="Times New Roman"/>
              </a:rPr>
              <a:t>and</a:t>
            </a:r>
            <a:r>
              <a:rPr sz="2000" b="1" spc="495" dirty="0">
                <a:latin typeface="Times New Roman"/>
                <a:cs typeface="Times New Roman"/>
              </a:rPr>
              <a:t> </a:t>
            </a:r>
            <a:r>
              <a:rPr sz="2000" b="1" dirty="0">
                <a:latin typeface="Times New Roman"/>
                <a:cs typeface="Times New Roman"/>
              </a:rPr>
              <a:t>put</a:t>
            </a:r>
            <a:r>
              <a:rPr sz="2000" b="1" spc="495" dirty="0">
                <a:latin typeface="Times New Roman"/>
                <a:cs typeface="Times New Roman"/>
              </a:rPr>
              <a:t> </a:t>
            </a:r>
            <a:r>
              <a:rPr sz="2000" b="1" dirty="0">
                <a:latin typeface="Times New Roman"/>
                <a:cs typeface="Times New Roman"/>
              </a:rPr>
              <a:t>it  in  buffer</a:t>
            </a:r>
            <a:r>
              <a:rPr sz="2000" b="1" spc="465" dirty="0">
                <a:latin typeface="Times New Roman"/>
                <a:cs typeface="Times New Roman"/>
              </a:rPr>
              <a:t> </a:t>
            </a:r>
            <a:r>
              <a:rPr sz="2000" b="1" dirty="0">
                <a:latin typeface="Times New Roman"/>
                <a:cs typeface="Times New Roman"/>
              </a:rPr>
              <a:t>image</a:t>
            </a:r>
            <a:r>
              <a:rPr sz="2000" b="1" spc="495" dirty="0">
                <a:latin typeface="Times New Roman"/>
                <a:cs typeface="Times New Roman"/>
              </a:rPr>
              <a:t> </a:t>
            </a:r>
            <a:r>
              <a:rPr sz="2000" b="1" dirty="0">
                <a:latin typeface="Times New Roman"/>
                <a:cs typeface="Times New Roman"/>
              </a:rPr>
              <a:t>in  </a:t>
            </a:r>
            <a:r>
              <a:rPr sz="2000" b="1" spc="-25" dirty="0">
                <a:latin typeface="Times New Roman"/>
                <a:cs typeface="Times New Roman"/>
              </a:rPr>
              <a:t>the 	</a:t>
            </a:r>
            <a:r>
              <a:rPr sz="2000" b="1" dirty="0">
                <a:solidFill>
                  <a:srgbClr val="FF0000"/>
                </a:solidFill>
                <a:latin typeface="Times New Roman"/>
                <a:cs typeface="Times New Roman"/>
              </a:rPr>
              <a:t>position</a:t>
            </a:r>
            <a:r>
              <a:rPr sz="2000" b="1" spc="-45" dirty="0">
                <a:solidFill>
                  <a:srgbClr val="FF0000"/>
                </a:solidFill>
                <a:latin typeface="Times New Roman"/>
                <a:cs typeface="Times New Roman"/>
              </a:rPr>
              <a:t> </a:t>
            </a:r>
            <a:r>
              <a:rPr sz="2000" b="1" spc="-20" dirty="0">
                <a:solidFill>
                  <a:srgbClr val="FF0000"/>
                </a:solidFill>
                <a:latin typeface="Times New Roman"/>
                <a:cs typeface="Times New Roman"/>
              </a:rPr>
              <a:t>(1,1)</a:t>
            </a:r>
            <a:endParaRPr sz="2000">
              <a:latin typeface="Times New Roman"/>
              <a:cs typeface="Times New Roman"/>
            </a:endParaRPr>
          </a:p>
        </p:txBody>
      </p:sp>
      <p:graphicFrame>
        <p:nvGraphicFramePr>
          <p:cNvPr id="5" name="object 5"/>
          <p:cNvGraphicFramePr>
            <a:graphicFrameLocks noGrp="1"/>
          </p:cNvGraphicFramePr>
          <p:nvPr/>
        </p:nvGraphicFramePr>
        <p:xfrm>
          <a:off x="6192773" y="4677664"/>
          <a:ext cx="2522217" cy="1524000"/>
        </p:xfrm>
        <a:graphic>
          <a:graphicData uri="http://schemas.openxmlformats.org/drawingml/2006/table">
            <a:tbl>
              <a:tblPr firstRow="1" bandRow="1">
                <a:tableStyleId>{2D5ABB26-0587-4C30-8999-92F81FD0307C}</a:tableStyleId>
              </a:tblPr>
              <a:tblGrid>
                <a:gridCol w="420370">
                  <a:extLst>
                    <a:ext uri="{9D8B030D-6E8A-4147-A177-3AD203B41FA5}">
                      <a16:colId xmlns:a16="http://schemas.microsoft.com/office/drawing/2014/main" val="20000"/>
                    </a:ext>
                  </a:extLst>
                </a:gridCol>
                <a:gridCol w="420370">
                  <a:extLst>
                    <a:ext uri="{9D8B030D-6E8A-4147-A177-3AD203B41FA5}">
                      <a16:colId xmlns:a16="http://schemas.microsoft.com/office/drawing/2014/main" val="20001"/>
                    </a:ext>
                  </a:extLst>
                </a:gridCol>
                <a:gridCol w="420370">
                  <a:extLst>
                    <a:ext uri="{9D8B030D-6E8A-4147-A177-3AD203B41FA5}">
                      <a16:colId xmlns:a16="http://schemas.microsoft.com/office/drawing/2014/main" val="20002"/>
                    </a:ext>
                  </a:extLst>
                </a:gridCol>
                <a:gridCol w="420369">
                  <a:extLst>
                    <a:ext uri="{9D8B030D-6E8A-4147-A177-3AD203B41FA5}">
                      <a16:colId xmlns:a16="http://schemas.microsoft.com/office/drawing/2014/main" val="20003"/>
                    </a:ext>
                  </a:extLst>
                </a:gridCol>
                <a:gridCol w="420369">
                  <a:extLst>
                    <a:ext uri="{9D8B030D-6E8A-4147-A177-3AD203B41FA5}">
                      <a16:colId xmlns:a16="http://schemas.microsoft.com/office/drawing/2014/main" val="20004"/>
                    </a:ext>
                  </a:extLst>
                </a:gridCol>
                <a:gridCol w="420369">
                  <a:extLst>
                    <a:ext uri="{9D8B030D-6E8A-4147-A177-3AD203B41FA5}">
                      <a16:colId xmlns:a16="http://schemas.microsoft.com/office/drawing/2014/main" val="20005"/>
                    </a:ext>
                  </a:extLst>
                </a:gridCol>
              </a:tblGrid>
              <a:tr h="304800">
                <a:tc>
                  <a:txBody>
                    <a:bodyPr/>
                    <a:lstStyle/>
                    <a:p>
                      <a:pPr marL="635" algn="ctr">
                        <a:lnSpc>
                          <a:spcPct val="100000"/>
                        </a:lnSpc>
                        <a:spcBef>
                          <a:spcPts val="320"/>
                        </a:spcBef>
                      </a:pPr>
                      <a:r>
                        <a:rPr sz="1400" b="1" spc="-50" dirty="0">
                          <a:latin typeface="Times New Roman"/>
                          <a:cs typeface="Times New Roman"/>
                        </a:rPr>
                        <a:t>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16</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15</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17</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20</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4800">
                <a:tc>
                  <a:txBody>
                    <a:bodyPr/>
                    <a:lstStyle/>
                    <a:p>
                      <a:pPr algn="ctr">
                        <a:lnSpc>
                          <a:spcPct val="100000"/>
                        </a:lnSpc>
                        <a:spcBef>
                          <a:spcPts val="320"/>
                        </a:spcBef>
                      </a:pPr>
                      <a:r>
                        <a:rPr sz="1400" b="1" spc="-25" dirty="0">
                          <a:latin typeface="Times New Roman"/>
                          <a:cs typeface="Times New Roman"/>
                        </a:rPr>
                        <a:t>21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400" b="1" spc="-25" dirty="0">
                          <a:latin typeface="Times New Roman"/>
                          <a:cs typeface="Times New Roman"/>
                        </a:rPr>
                        <a:t>51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6E3BC"/>
                    </a:solidFill>
                  </a:tcPr>
                </a:tc>
                <a:tc>
                  <a:txBody>
                    <a:bodyPr/>
                    <a:lstStyle/>
                    <a:p>
                      <a:pPr marL="635" algn="ctr">
                        <a:lnSpc>
                          <a:spcPct val="100000"/>
                        </a:lnSpc>
                        <a:spcBef>
                          <a:spcPts val="320"/>
                        </a:spcBef>
                      </a:pPr>
                      <a:r>
                        <a:rPr sz="1400" b="1" spc="-25" dirty="0">
                          <a:latin typeface="Times New Roman"/>
                          <a:cs typeface="Times New Roman"/>
                        </a:rPr>
                        <a:t>51</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19</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800">
                <a:tc>
                  <a:txBody>
                    <a:bodyPr/>
                    <a:lstStyle/>
                    <a:p>
                      <a:pPr algn="ctr">
                        <a:lnSpc>
                          <a:spcPct val="100000"/>
                        </a:lnSpc>
                        <a:spcBef>
                          <a:spcPts val="320"/>
                        </a:spcBef>
                      </a:pPr>
                      <a:r>
                        <a:rPr sz="1400" b="1" spc="-25" dirty="0">
                          <a:latin typeface="Times New Roman"/>
                          <a:cs typeface="Times New Roman"/>
                        </a:rPr>
                        <a:t>43</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400" b="1" spc="-50" dirty="0">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400" b="1" spc="-25" dirty="0">
                          <a:latin typeface="Times New Roman"/>
                          <a:cs typeface="Times New Roman"/>
                        </a:rPr>
                        <a:t>42</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algn="ctr">
                        <a:lnSpc>
                          <a:spcPct val="100000"/>
                        </a:lnSpc>
                        <a:spcBef>
                          <a:spcPts val="325"/>
                        </a:spcBef>
                      </a:pPr>
                      <a:r>
                        <a:rPr sz="1400" b="1" spc="-25" dirty="0">
                          <a:latin typeface="Times New Roman"/>
                          <a:cs typeface="Times New Roman"/>
                        </a:rPr>
                        <a:t>15</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5"/>
                        </a:spcBef>
                      </a:pPr>
                      <a:r>
                        <a:rPr sz="1400" b="1" spc="-50" dirty="0">
                          <a:latin typeface="Times New Roman"/>
                          <a:cs typeface="Times New Roman"/>
                        </a:rPr>
                        <a:t>?</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40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algn="ctr">
                        <a:lnSpc>
                          <a:spcPct val="100000"/>
                        </a:lnSpc>
                        <a:spcBef>
                          <a:spcPts val="325"/>
                        </a:spcBef>
                      </a:pPr>
                      <a:r>
                        <a:rPr sz="1400" b="1" spc="-25" dirty="0">
                          <a:latin typeface="Times New Roman"/>
                          <a:cs typeface="Times New Roman"/>
                        </a:rPr>
                        <a:t>52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400" b="1" spc="-25" dirty="0">
                          <a:latin typeface="Times New Roman"/>
                          <a:cs typeface="Times New Roman"/>
                        </a:rPr>
                        <a:t>44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34</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12</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400" b="1" spc="-25" dirty="0">
                          <a:latin typeface="Times New Roman"/>
                          <a:cs typeface="Times New Roman"/>
                        </a:rPr>
                        <a:t>10</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400" b="1" spc="-25" dirty="0">
                          <a:latin typeface="Times New Roman"/>
                          <a:cs typeface="Times New Roman"/>
                        </a:rPr>
                        <a:t>13</a:t>
                      </a:r>
                      <a:endParaRPr sz="14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467611" y="373824"/>
            <a:ext cx="6237732" cy="902208"/>
          </a:xfrm>
          <a:prstGeom prst="rect">
            <a:avLst/>
          </a:prstGeom>
        </p:spPr>
      </p:pic>
      <p:grpSp>
        <p:nvGrpSpPr>
          <p:cNvPr id="4" name="object 4"/>
          <p:cNvGrpSpPr/>
          <p:nvPr/>
        </p:nvGrpSpPr>
        <p:grpSpPr>
          <a:xfrm>
            <a:off x="225552" y="1530096"/>
            <a:ext cx="4018915" cy="792480"/>
            <a:chOff x="225552" y="1530096"/>
            <a:chExt cx="4018915" cy="792480"/>
          </a:xfrm>
        </p:grpSpPr>
        <p:pic>
          <p:nvPicPr>
            <p:cNvPr id="5" name="object 5"/>
            <p:cNvPicPr/>
            <p:nvPr/>
          </p:nvPicPr>
          <p:blipFill>
            <a:blip r:embed="rId4" cstate="print"/>
            <a:stretch>
              <a:fillRect/>
            </a:stretch>
          </p:blipFill>
          <p:spPr>
            <a:xfrm>
              <a:off x="225552" y="1653540"/>
              <a:ext cx="644651" cy="601979"/>
            </a:xfrm>
            <a:prstGeom prst="rect">
              <a:avLst/>
            </a:prstGeom>
          </p:spPr>
        </p:pic>
        <p:pic>
          <p:nvPicPr>
            <p:cNvPr id="6" name="object 6"/>
            <p:cNvPicPr/>
            <p:nvPr/>
          </p:nvPicPr>
          <p:blipFill>
            <a:blip r:embed="rId5" cstate="print"/>
            <a:stretch>
              <a:fillRect/>
            </a:stretch>
          </p:blipFill>
          <p:spPr>
            <a:xfrm>
              <a:off x="513588" y="1530096"/>
              <a:ext cx="3730752" cy="792479"/>
            </a:xfrm>
            <a:prstGeom prst="rect">
              <a:avLst/>
            </a:prstGeom>
          </p:spPr>
        </p:pic>
      </p:grpSp>
      <p:sp>
        <p:nvSpPr>
          <p:cNvPr id="7" name="object 7"/>
          <p:cNvSpPr txBox="1"/>
          <p:nvPr/>
        </p:nvSpPr>
        <p:spPr>
          <a:xfrm>
            <a:off x="380491" y="1631949"/>
            <a:ext cx="3626485" cy="452120"/>
          </a:xfrm>
          <a:prstGeom prst="rect">
            <a:avLst/>
          </a:prstGeom>
        </p:spPr>
        <p:txBody>
          <a:bodyPr vert="horz" wrap="square" lIns="0" tIns="12065" rIns="0" bIns="0" rtlCol="0">
            <a:spAutoFit/>
          </a:bodyPr>
          <a:lstStyle/>
          <a:p>
            <a:pPr marL="354965" indent="-342265">
              <a:lnSpc>
                <a:spcPct val="100000"/>
              </a:lnSpc>
              <a:spcBef>
                <a:spcPts val="95"/>
              </a:spcBef>
              <a:buClr>
                <a:srgbClr val="9966FF"/>
              </a:buClr>
              <a:buSzPct val="80357"/>
              <a:buChar char="►"/>
              <a:tabLst>
                <a:tab pos="354965" algn="l"/>
              </a:tabLst>
            </a:pPr>
            <a:r>
              <a:rPr sz="2800" dirty="0">
                <a:latin typeface="Tahoma"/>
                <a:cs typeface="Tahoma"/>
              </a:rPr>
              <a:t>Blurring</a:t>
            </a:r>
            <a:r>
              <a:rPr sz="2800" spc="-40" dirty="0">
                <a:latin typeface="Tahoma"/>
                <a:cs typeface="Tahoma"/>
              </a:rPr>
              <a:t> </a:t>
            </a:r>
            <a:r>
              <a:rPr sz="2800" dirty="0">
                <a:latin typeface="Tahoma"/>
                <a:cs typeface="Tahoma"/>
              </a:rPr>
              <a:t>/</a:t>
            </a:r>
            <a:r>
              <a:rPr sz="2800" spc="-50" dirty="0">
                <a:latin typeface="Tahoma"/>
                <a:cs typeface="Tahoma"/>
              </a:rPr>
              <a:t> </a:t>
            </a:r>
            <a:r>
              <a:rPr sz="2800" spc="-10" dirty="0">
                <a:latin typeface="Tahoma"/>
                <a:cs typeface="Tahoma"/>
              </a:rPr>
              <a:t>Smoothing</a:t>
            </a:r>
            <a:endParaRPr sz="2800" dirty="0">
              <a:latin typeface="Tahoma"/>
              <a:cs typeface="Tahoma"/>
            </a:endParaRPr>
          </a:p>
        </p:txBody>
      </p:sp>
      <p:pic>
        <p:nvPicPr>
          <p:cNvPr id="8" name="object 8"/>
          <p:cNvPicPr/>
          <p:nvPr/>
        </p:nvPicPr>
        <p:blipFill>
          <a:blip r:embed="rId6" cstate="print"/>
          <a:stretch>
            <a:fillRect/>
          </a:stretch>
        </p:blipFill>
        <p:spPr>
          <a:xfrm>
            <a:off x="5497576" y="2365375"/>
            <a:ext cx="3111500" cy="3657600"/>
          </a:xfrm>
          <a:prstGeom prst="rect">
            <a:avLst/>
          </a:prstGeom>
        </p:spPr>
      </p:pic>
      <p:grpSp>
        <p:nvGrpSpPr>
          <p:cNvPr id="9" name="object 9"/>
          <p:cNvGrpSpPr/>
          <p:nvPr/>
        </p:nvGrpSpPr>
        <p:grpSpPr>
          <a:xfrm>
            <a:off x="628650" y="2365375"/>
            <a:ext cx="4326255" cy="3657600"/>
            <a:chOff x="628650" y="2365375"/>
            <a:chExt cx="4326255" cy="3657600"/>
          </a:xfrm>
        </p:grpSpPr>
        <p:pic>
          <p:nvPicPr>
            <p:cNvPr id="10" name="object 10"/>
            <p:cNvPicPr/>
            <p:nvPr/>
          </p:nvPicPr>
          <p:blipFill>
            <a:blip r:embed="rId7" cstate="print"/>
            <a:stretch>
              <a:fillRect/>
            </a:stretch>
          </p:blipFill>
          <p:spPr>
            <a:xfrm>
              <a:off x="628650" y="2365375"/>
              <a:ext cx="3111500" cy="3657600"/>
            </a:xfrm>
            <a:prstGeom prst="rect">
              <a:avLst/>
            </a:prstGeom>
          </p:spPr>
        </p:pic>
        <p:sp>
          <p:nvSpPr>
            <p:cNvPr id="11" name="object 11"/>
            <p:cNvSpPr/>
            <p:nvPr/>
          </p:nvSpPr>
          <p:spPr>
            <a:xfrm>
              <a:off x="4179951" y="3933825"/>
              <a:ext cx="770255" cy="333375"/>
            </a:xfrm>
            <a:custGeom>
              <a:avLst/>
              <a:gdLst/>
              <a:ahLst/>
              <a:cxnLst/>
              <a:rect l="l" t="t" r="r" b="b"/>
              <a:pathLst>
                <a:path w="770254" h="333375">
                  <a:moveTo>
                    <a:pt x="603250" y="0"/>
                  </a:moveTo>
                  <a:lnTo>
                    <a:pt x="603250" y="83312"/>
                  </a:lnTo>
                  <a:lnTo>
                    <a:pt x="0" y="83312"/>
                  </a:lnTo>
                  <a:lnTo>
                    <a:pt x="0" y="250062"/>
                  </a:lnTo>
                  <a:lnTo>
                    <a:pt x="603250" y="250062"/>
                  </a:lnTo>
                  <a:lnTo>
                    <a:pt x="603250" y="333375"/>
                  </a:lnTo>
                  <a:lnTo>
                    <a:pt x="769874" y="166624"/>
                  </a:lnTo>
                  <a:lnTo>
                    <a:pt x="603250" y="0"/>
                  </a:lnTo>
                  <a:close/>
                </a:path>
              </a:pathLst>
            </a:custGeom>
            <a:solidFill>
              <a:srgbClr val="0000EF"/>
            </a:solidFill>
          </p:spPr>
          <p:txBody>
            <a:bodyPr wrap="square" lIns="0" tIns="0" rIns="0" bIns="0" rtlCol="0"/>
            <a:lstStyle/>
            <a:p>
              <a:endParaRPr/>
            </a:p>
          </p:txBody>
        </p:sp>
        <p:sp>
          <p:nvSpPr>
            <p:cNvPr id="12" name="object 12"/>
            <p:cNvSpPr/>
            <p:nvPr/>
          </p:nvSpPr>
          <p:spPr>
            <a:xfrm>
              <a:off x="4179951" y="3933825"/>
              <a:ext cx="770255" cy="333375"/>
            </a:xfrm>
            <a:custGeom>
              <a:avLst/>
              <a:gdLst/>
              <a:ahLst/>
              <a:cxnLst/>
              <a:rect l="l" t="t" r="r" b="b"/>
              <a:pathLst>
                <a:path w="770254" h="333375">
                  <a:moveTo>
                    <a:pt x="0" y="83312"/>
                  </a:moveTo>
                  <a:lnTo>
                    <a:pt x="603250" y="83312"/>
                  </a:lnTo>
                  <a:lnTo>
                    <a:pt x="603250" y="0"/>
                  </a:lnTo>
                  <a:lnTo>
                    <a:pt x="769874" y="166624"/>
                  </a:lnTo>
                  <a:lnTo>
                    <a:pt x="603250" y="333375"/>
                  </a:lnTo>
                  <a:lnTo>
                    <a:pt x="603250" y="250062"/>
                  </a:lnTo>
                  <a:lnTo>
                    <a:pt x="0" y="250062"/>
                  </a:lnTo>
                  <a:lnTo>
                    <a:pt x="0" y="83312"/>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67611" y="425195"/>
            <a:ext cx="6237732" cy="902208"/>
          </a:xfrm>
          <a:prstGeom prst="rect">
            <a:avLst/>
          </a:prstGeom>
        </p:spPr>
      </p:pic>
      <p:grpSp>
        <p:nvGrpSpPr>
          <p:cNvPr id="4" name="object 4"/>
          <p:cNvGrpSpPr/>
          <p:nvPr/>
        </p:nvGrpSpPr>
        <p:grpSpPr>
          <a:xfrm>
            <a:off x="202692" y="1514855"/>
            <a:ext cx="2844165" cy="902335"/>
            <a:chOff x="202692" y="1514855"/>
            <a:chExt cx="2844165" cy="902335"/>
          </a:xfrm>
        </p:grpSpPr>
        <p:pic>
          <p:nvPicPr>
            <p:cNvPr id="5" name="object 5"/>
            <p:cNvPicPr/>
            <p:nvPr/>
          </p:nvPicPr>
          <p:blipFill>
            <a:blip r:embed="rId3" cstate="print"/>
            <a:stretch>
              <a:fillRect/>
            </a:stretch>
          </p:blipFill>
          <p:spPr>
            <a:xfrm>
              <a:off x="202692" y="1656587"/>
              <a:ext cx="733044" cy="682751"/>
            </a:xfrm>
            <a:prstGeom prst="rect">
              <a:avLst/>
            </a:prstGeom>
          </p:spPr>
        </p:pic>
        <p:pic>
          <p:nvPicPr>
            <p:cNvPr id="6" name="object 6"/>
            <p:cNvPicPr/>
            <p:nvPr/>
          </p:nvPicPr>
          <p:blipFill>
            <a:blip r:embed="rId4" cstate="print"/>
            <a:stretch>
              <a:fillRect/>
            </a:stretch>
          </p:blipFill>
          <p:spPr>
            <a:xfrm>
              <a:off x="483107" y="1514855"/>
              <a:ext cx="2563368" cy="902208"/>
            </a:xfrm>
            <a:prstGeom prst="rect">
              <a:avLst/>
            </a:prstGeom>
          </p:spPr>
        </p:pic>
      </p:grpSp>
      <p:sp>
        <p:nvSpPr>
          <p:cNvPr id="7" name="object 7"/>
          <p:cNvSpPr txBox="1"/>
          <p:nvPr/>
        </p:nvSpPr>
        <p:spPr>
          <a:xfrm>
            <a:off x="380491" y="1630426"/>
            <a:ext cx="2393315" cy="513715"/>
          </a:xfrm>
          <a:prstGeom prst="rect">
            <a:avLst/>
          </a:prstGeom>
        </p:spPr>
        <p:txBody>
          <a:bodyPr vert="horz" wrap="square" lIns="0" tIns="13335" rIns="0" bIns="0" rtlCol="0">
            <a:spAutoFit/>
          </a:bodyPr>
          <a:lstStyle/>
          <a:p>
            <a:pPr marL="354965" indent="-342265">
              <a:lnSpc>
                <a:spcPct val="100000"/>
              </a:lnSpc>
              <a:spcBef>
                <a:spcPts val="105"/>
              </a:spcBef>
              <a:buClr>
                <a:srgbClr val="9966FF"/>
              </a:buClr>
              <a:buSzPct val="79687"/>
              <a:buChar char="►"/>
              <a:tabLst>
                <a:tab pos="354965" algn="l"/>
              </a:tabLst>
            </a:pPr>
            <a:r>
              <a:rPr sz="3200" spc="-10" dirty="0">
                <a:latin typeface="Tahoma"/>
                <a:cs typeface="Tahoma"/>
              </a:rPr>
              <a:t>Sharpening</a:t>
            </a:r>
            <a:endParaRPr sz="3200">
              <a:latin typeface="Tahoma"/>
              <a:cs typeface="Tahoma"/>
            </a:endParaRPr>
          </a:p>
        </p:txBody>
      </p:sp>
      <p:pic>
        <p:nvPicPr>
          <p:cNvPr id="8" name="object 8"/>
          <p:cNvPicPr/>
          <p:nvPr/>
        </p:nvPicPr>
        <p:blipFill>
          <a:blip r:embed="rId5" cstate="print"/>
          <a:stretch>
            <a:fillRect/>
          </a:stretch>
        </p:blipFill>
        <p:spPr>
          <a:xfrm>
            <a:off x="614362" y="2468562"/>
            <a:ext cx="3111500" cy="3657600"/>
          </a:xfrm>
          <a:prstGeom prst="rect">
            <a:avLst/>
          </a:prstGeom>
        </p:spPr>
      </p:pic>
      <p:pic>
        <p:nvPicPr>
          <p:cNvPr id="9" name="object 9"/>
          <p:cNvPicPr/>
          <p:nvPr/>
        </p:nvPicPr>
        <p:blipFill>
          <a:blip r:embed="rId6" cstate="print"/>
          <a:stretch>
            <a:fillRect/>
          </a:stretch>
        </p:blipFill>
        <p:spPr>
          <a:xfrm>
            <a:off x="5462651" y="2468562"/>
            <a:ext cx="3111500" cy="3657600"/>
          </a:xfrm>
          <a:prstGeom prst="rect">
            <a:avLst/>
          </a:prstGeom>
        </p:spPr>
      </p:pic>
      <p:grpSp>
        <p:nvGrpSpPr>
          <p:cNvPr id="10" name="object 10"/>
          <p:cNvGrpSpPr/>
          <p:nvPr/>
        </p:nvGrpSpPr>
        <p:grpSpPr>
          <a:xfrm>
            <a:off x="4175188" y="3929062"/>
            <a:ext cx="779780" cy="342900"/>
            <a:chOff x="4175188" y="3929062"/>
            <a:chExt cx="779780" cy="342900"/>
          </a:xfrm>
        </p:grpSpPr>
        <p:sp>
          <p:nvSpPr>
            <p:cNvPr id="11" name="object 11"/>
            <p:cNvSpPr/>
            <p:nvPr/>
          </p:nvSpPr>
          <p:spPr>
            <a:xfrm>
              <a:off x="4179951" y="3933825"/>
              <a:ext cx="770255" cy="333375"/>
            </a:xfrm>
            <a:custGeom>
              <a:avLst/>
              <a:gdLst/>
              <a:ahLst/>
              <a:cxnLst/>
              <a:rect l="l" t="t" r="r" b="b"/>
              <a:pathLst>
                <a:path w="770254" h="333375">
                  <a:moveTo>
                    <a:pt x="603250" y="0"/>
                  </a:moveTo>
                  <a:lnTo>
                    <a:pt x="603250" y="83312"/>
                  </a:lnTo>
                  <a:lnTo>
                    <a:pt x="0" y="83312"/>
                  </a:lnTo>
                  <a:lnTo>
                    <a:pt x="0" y="250062"/>
                  </a:lnTo>
                  <a:lnTo>
                    <a:pt x="603250" y="250062"/>
                  </a:lnTo>
                  <a:lnTo>
                    <a:pt x="603250" y="333375"/>
                  </a:lnTo>
                  <a:lnTo>
                    <a:pt x="769874" y="166624"/>
                  </a:lnTo>
                  <a:lnTo>
                    <a:pt x="603250" y="0"/>
                  </a:lnTo>
                  <a:close/>
                </a:path>
              </a:pathLst>
            </a:custGeom>
            <a:solidFill>
              <a:srgbClr val="0000EF"/>
            </a:solidFill>
          </p:spPr>
          <p:txBody>
            <a:bodyPr wrap="square" lIns="0" tIns="0" rIns="0" bIns="0" rtlCol="0"/>
            <a:lstStyle/>
            <a:p>
              <a:endParaRPr/>
            </a:p>
          </p:txBody>
        </p:sp>
        <p:sp>
          <p:nvSpPr>
            <p:cNvPr id="12" name="object 12"/>
            <p:cNvSpPr/>
            <p:nvPr/>
          </p:nvSpPr>
          <p:spPr>
            <a:xfrm>
              <a:off x="4179951" y="3933825"/>
              <a:ext cx="770255" cy="333375"/>
            </a:xfrm>
            <a:custGeom>
              <a:avLst/>
              <a:gdLst/>
              <a:ahLst/>
              <a:cxnLst/>
              <a:rect l="l" t="t" r="r" b="b"/>
              <a:pathLst>
                <a:path w="770254" h="333375">
                  <a:moveTo>
                    <a:pt x="0" y="83312"/>
                  </a:moveTo>
                  <a:lnTo>
                    <a:pt x="603250" y="83312"/>
                  </a:lnTo>
                  <a:lnTo>
                    <a:pt x="603250" y="0"/>
                  </a:lnTo>
                  <a:lnTo>
                    <a:pt x="769874" y="166624"/>
                  </a:lnTo>
                  <a:lnTo>
                    <a:pt x="603250" y="333375"/>
                  </a:lnTo>
                  <a:lnTo>
                    <a:pt x="603250" y="250062"/>
                  </a:lnTo>
                  <a:lnTo>
                    <a:pt x="0" y="250062"/>
                  </a:lnTo>
                  <a:lnTo>
                    <a:pt x="0" y="83312"/>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54447" y="324594"/>
            <a:ext cx="3233932" cy="391685"/>
          </a:xfrm>
          <a:prstGeom prst="rect">
            <a:avLst/>
          </a:prstGeom>
        </p:spPr>
      </p:pic>
      <p:sp>
        <p:nvSpPr>
          <p:cNvPr id="3" name="object 3"/>
          <p:cNvSpPr txBox="1"/>
          <p:nvPr/>
        </p:nvSpPr>
        <p:spPr>
          <a:xfrm>
            <a:off x="444804" y="1030046"/>
            <a:ext cx="8286115" cy="4599305"/>
          </a:xfrm>
          <a:prstGeom prst="rect">
            <a:avLst/>
          </a:prstGeom>
        </p:spPr>
        <p:txBody>
          <a:bodyPr vert="horz" wrap="square" lIns="0" tIns="13335" rIns="0" bIns="0" rtlCol="0">
            <a:spAutoFit/>
          </a:bodyPr>
          <a:lstStyle/>
          <a:p>
            <a:pPr marL="12700" marR="5080" algn="just">
              <a:lnSpc>
                <a:spcPct val="100000"/>
              </a:lnSpc>
              <a:spcBef>
                <a:spcPts val="105"/>
              </a:spcBef>
            </a:pPr>
            <a:r>
              <a:rPr sz="2000" b="1" dirty="0">
                <a:latin typeface="Times New Roman"/>
                <a:cs typeface="Times New Roman"/>
              </a:rPr>
              <a:t>The</a:t>
            </a:r>
            <a:r>
              <a:rPr sz="2000" b="1" spc="315" dirty="0">
                <a:latin typeface="Times New Roman"/>
                <a:cs typeface="Times New Roman"/>
              </a:rPr>
              <a:t> </a:t>
            </a:r>
            <a:r>
              <a:rPr sz="2000" b="1" dirty="0">
                <a:solidFill>
                  <a:srgbClr val="FF0000"/>
                </a:solidFill>
                <a:latin typeface="Times New Roman"/>
                <a:cs typeface="Times New Roman"/>
              </a:rPr>
              <a:t>objective</a:t>
            </a:r>
            <a:r>
              <a:rPr sz="2000" b="1" spc="310" dirty="0">
                <a:solidFill>
                  <a:srgbClr val="FF0000"/>
                </a:solidFill>
                <a:latin typeface="Times New Roman"/>
                <a:cs typeface="Times New Roman"/>
              </a:rPr>
              <a:t> </a:t>
            </a:r>
            <a:r>
              <a:rPr sz="2000" b="1" dirty="0">
                <a:solidFill>
                  <a:srgbClr val="FF0000"/>
                </a:solidFill>
                <a:latin typeface="Times New Roman"/>
                <a:cs typeface="Times New Roman"/>
              </a:rPr>
              <a:t>of</a:t>
            </a:r>
            <a:r>
              <a:rPr sz="2000" b="1" spc="320" dirty="0">
                <a:solidFill>
                  <a:srgbClr val="FF0000"/>
                </a:solidFill>
                <a:latin typeface="Times New Roman"/>
                <a:cs typeface="Times New Roman"/>
              </a:rPr>
              <a:t> </a:t>
            </a:r>
            <a:r>
              <a:rPr sz="2000" b="1" dirty="0">
                <a:solidFill>
                  <a:srgbClr val="FF0000"/>
                </a:solidFill>
                <a:latin typeface="Times New Roman"/>
                <a:cs typeface="Times New Roman"/>
              </a:rPr>
              <a:t>sharpening</a:t>
            </a:r>
            <a:r>
              <a:rPr sz="2000" b="1" spc="325" dirty="0">
                <a:solidFill>
                  <a:srgbClr val="FF0000"/>
                </a:solidFill>
                <a:latin typeface="Times New Roman"/>
                <a:cs typeface="Times New Roman"/>
              </a:rPr>
              <a:t> </a:t>
            </a:r>
            <a:r>
              <a:rPr sz="2000" b="1" dirty="0">
                <a:latin typeface="Times New Roman"/>
                <a:cs typeface="Times New Roman"/>
              </a:rPr>
              <a:t>is</a:t>
            </a:r>
            <a:r>
              <a:rPr sz="2000" b="1" spc="305" dirty="0">
                <a:latin typeface="Times New Roman"/>
                <a:cs typeface="Times New Roman"/>
              </a:rPr>
              <a:t> </a:t>
            </a:r>
            <a:r>
              <a:rPr sz="2000" b="1" dirty="0">
                <a:latin typeface="Times New Roman"/>
                <a:cs typeface="Times New Roman"/>
              </a:rPr>
              <a:t>to</a:t>
            </a:r>
            <a:r>
              <a:rPr sz="2000" b="1" spc="315" dirty="0">
                <a:latin typeface="Times New Roman"/>
                <a:cs typeface="Times New Roman"/>
              </a:rPr>
              <a:t> </a:t>
            </a:r>
            <a:r>
              <a:rPr sz="2000" b="1" dirty="0">
                <a:solidFill>
                  <a:srgbClr val="006FC0"/>
                </a:solidFill>
                <a:latin typeface="Times New Roman"/>
                <a:cs typeface="Times New Roman"/>
              </a:rPr>
              <a:t>draw</a:t>
            </a:r>
            <a:r>
              <a:rPr sz="2000" b="1" spc="320" dirty="0">
                <a:solidFill>
                  <a:srgbClr val="006FC0"/>
                </a:solidFill>
                <a:latin typeface="Times New Roman"/>
                <a:cs typeface="Times New Roman"/>
              </a:rPr>
              <a:t> </a:t>
            </a:r>
            <a:r>
              <a:rPr sz="2000" b="1" dirty="0">
                <a:solidFill>
                  <a:srgbClr val="006FC0"/>
                </a:solidFill>
                <a:latin typeface="Times New Roman"/>
                <a:cs typeface="Times New Roman"/>
              </a:rPr>
              <a:t>attention</a:t>
            </a:r>
            <a:r>
              <a:rPr sz="2000" b="1" spc="305" dirty="0">
                <a:solidFill>
                  <a:srgbClr val="006FC0"/>
                </a:solidFill>
                <a:latin typeface="Times New Roman"/>
                <a:cs typeface="Times New Roman"/>
              </a:rPr>
              <a:t> </a:t>
            </a:r>
            <a:r>
              <a:rPr sz="2000" b="1" dirty="0">
                <a:latin typeface="Times New Roman"/>
                <a:cs typeface="Times New Roman"/>
              </a:rPr>
              <a:t>to</a:t>
            </a:r>
            <a:r>
              <a:rPr sz="2000" b="1" spc="310" dirty="0">
                <a:latin typeface="Times New Roman"/>
                <a:cs typeface="Times New Roman"/>
              </a:rPr>
              <a:t> </a:t>
            </a:r>
            <a:r>
              <a:rPr sz="2000" b="1" dirty="0">
                <a:latin typeface="Times New Roman"/>
                <a:cs typeface="Times New Roman"/>
              </a:rPr>
              <a:t>the</a:t>
            </a:r>
            <a:r>
              <a:rPr sz="2000" b="1" spc="315" dirty="0">
                <a:latin typeface="Times New Roman"/>
                <a:cs typeface="Times New Roman"/>
              </a:rPr>
              <a:t> </a:t>
            </a:r>
            <a:r>
              <a:rPr sz="2000" b="1" dirty="0">
                <a:solidFill>
                  <a:srgbClr val="6F2F9F"/>
                </a:solidFill>
                <a:latin typeface="Times New Roman"/>
                <a:cs typeface="Times New Roman"/>
              </a:rPr>
              <a:t>fine</a:t>
            </a:r>
            <a:r>
              <a:rPr sz="2000" b="1" spc="310" dirty="0">
                <a:solidFill>
                  <a:srgbClr val="6F2F9F"/>
                </a:solidFill>
                <a:latin typeface="Times New Roman"/>
                <a:cs typeface="Times New Roman"/>
              </a:rPr>
              <a:t> </a:t>
            </a:r>
            <a:r>
              <a:rPr sz="2000" b="1" dirty="0">
                <a:solidFill>
                  <a:srgbClr val="6F2F9F"/>
                </a:solidFill>
                <a:latin typeface="Times New Roman"/>
                <a:cs typeface="Times New Roman"/>
              </a:rPr>
              <a:t>details</a:t>
            </a:r>
            <a:r>
              <a:rPr sz="2000" b="1" spc="320" dirty="0">
                <a:solidFill>
                  <a:srgbClr val="6F2F9F"/>
                </a:solidFill>
                <a:latin typeface="Times New Roman"/>
                <a:cs typeface="Times New Roman"/>
              </a:rPr>
              <a:t> </a:t>
            </a:r>
            <a:r>
              <a:rPr sz="2000" b="1" dirty="0">
                <a:solidFill>
                  <a:srgbClr val="6F2F9F"/>
                </a:solidFill>
                <a:latin typeface="Times New Roman"/>
                <a:cs typeface="Times New Roman"/>
              </a:rPr>
              <a:t>of</a:t>
            </a:r>
            <a:r>
              <a:rPr sz="2000" b="1" spc="315" dirty="0">
                <a:solidFill>
                  <a:srgbClr val="6F2F9F"/>
                </a:solidFill>
                <a:latin typeface="Times New Roman"/>
                <a:cs typeface="Times New Roman"/>
              </a:rPr>
              <a:t> </a:t>
            </a:r>
            <a:r>
              <a:rPr sz="2000" b="1" spc="-25" dirty="0">
                <a:solidFill>
                  <a:srgbClr val="6F2F9F"/>
                </a:solidFill>
                <a:latin typeface="Times New Roman"/>
                <a:cs typeface="Times New Roman"/>
              </a:rPr>
              <a:t>an </a:t>
            </a:r>
            <a:r>
              <a:rPr sz="2000" b="1" dirty="0">
                <a:solidFill>
                  <a:srgbClr val="6F2F9F"/>
                </a:solidFill>
                <a:latin typeface="Times New Roman"/>
                <a:cs typeface="Times New Roman"/>
              </a:rPr>
              <a:t>image</a:t>
            </a:r>
            <a:r>
              <a:rPr sz="2000" b="1" dirty="0">
                <a:latin typeface="Times New Roman"/>
                <a:cs typeface="Times New Roman"/>
              </a:rPr>
              <a:t>.</a:t>
            </a:r>
            <a:r>
              <a:rPr sz="2000" b="1" spc="280" dirty="0">
                <a:latin typeface="Times New Roman"/>
                <a:cs typeface="Times New Roman"/>
              </a:rPr>
              <a:t> </a:t>
            </a:r>
            <a:r>
              <a:rPr sz="2000" b="1" dirty="0">
                <a:latin typeface="Times New Roman"/>
                <a:cs typeface="Times New Roman"/>
              </a:rPr>
              <a:t>This</a:t>
            </a:r>
            <a:r>
              <a:rPr sz="2000" b="1" spc="280" dirty="0">
                <a:latin typeface="Times New Roman"/>
                <a:cs typeface="Times New Roman"/>
              </a:rPr>
              <a:t> </a:t>
            </a:r>
            <a:r>
              <a:rPr sz="2000" b="1" dirty="0">
                <a:latin typeface="Times New Roman"/>
                <a:cs typeface="Times New Roman"/>
              </a:rPr>
              <a:t>is</a:t>
            </a:r>
            <a:r>
              <a:rPr sz="2000" b="1" spc="290" dirty="0">
                <a:latin typeface="Times New Roman"/>
                <a:cs typeface="Times New Roman"/>
              </a:rPr>
              <a:t> </a:t>
            </a:r>
            <a:r>
              <a:rPr sz="2000" b="1" dirty="0">
                <a:latin typeface="Times New Roman"/>
                <a:cs typeface="Times New Roman"/>
              </a:rPr>
              <a:t>also</a:t>
            </a:r>
            <a:r>
              <a:rPr sz="2000" b="1" spc="305" dirty="0">
                <a:latin typeface="Times New Roman"/>
                <a:cs typeface="Times New Roman"/>
              </a:rPr>
              <a:t> </a:t>
            </a:r>
            <a:r>
              <a:rPr sz="2000" b="1" dirty="0">
                <a:solidFill>
                  <a:srgbClr val="006FC0"/>
                </a:solidFill>
                <a:latin typeface="Times New Roman"/>
                <a:cs typeface="Times New Roman"/>
              </a:rPr>
              <a:t>related</a:t>
            </a:r>
            <a:r>
              <a:rPr sz="2000" b="1" spc="280" dirty="0">
                <a:solidFill>
                  <a:srgbClr val="006FC0"/>
                </a:solidFill>
                <a:latin typeface="Times New Roman"/>
                <a:cs typeface="Times New Roman"/>
              </a:rPr>
              <a:t> </a:t>
            </a:r>
            <a:r>
              <a:rPr sz="2000" b="1" dirty="0">
                <a:solidFill>
                  <a:srgbClr val="006FC0"/>
                </a:solidFill>
                <a:latin typeface="Times New Roman"/>
                <a:cs typeface="Times New Roman"/>
              </a:rPr>
              <a:t>to</a:t>
            </a:r>
            <a:r>
              <a:rPr sz="2000" b="1" spc="28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85" dirty="0">
                <a:solidFill>
                  <a:srgbClr val="006FC0"/>
                </a:solidFill>
                <a:latin typeface="Times New Roman"/>
                <a:cs typeface="Times New Roman"/>
              </a:rPr>
              <a:t> </a:t>
            </a:r>
            <a:r>
              <a:rPr sz="2000" b="1" dirty="0">
                <a:solidFill>
                  <a:srgbClr val="006FC0"/>
                </a:solidFill>
                <a:latin typeface="Times New Roman"/>
                <a:cs typeface="Times New Roman"/>
              </a:rPr>
              <a:t>situation</a:t>
            </a:r>
            <a:r>
              <a:rPr sz="2000" b="1" spc="295" dirty="0">
                <a:solidFill>
                  <a:srgbClr val="006FC0"/>
                </a:solidFill>
                <a:latin typeface="Times New Roman"/>
                <a:cs typeface="Times New Roman"/>
              </a:rPr>
              <a:t> </a:t>
            </a:r>
            <a:r>
              <a:rPr sz="2000" b="1" dirty="0">
                <a:latin typeface="Times New Roman"/>
                <a:cs typeface="Times New Roman"/>
              </a:rPr>
              <a:t>where</a:t>
            </a:r>
            <a:r>
              <a:rPr sz="2000" b="1" spc="280" dirty="0">
                <a:latin typeface="Times New Roman"/>
                <a:cs typeface="Times New Roman"/>
              </a:rPr>
              <a:t> </a:t>
            </a:r>
            <a:r>
              <a:rPr sz="2000" b="1" dirty="0">
                <a:latin typeface="Times New Roman"/>
                <a:cs typeface="Times New Roman"/>
              </a:rPr>
              <a:t>an</a:t>
            </a:r>
            <a:r>
              <a:rPr sz="2000" b="1" spc="285" dirty="0">
                <a:latin typeface="Times New Roman"/>
                <a:cs typeface="Times New Roman"/>
              </a:rPr>
              <a:t> </a:t>
            </a:r>
            <a:r>
              <a:rPr sz="2000" b="1" dirty="0">
                <a:latin typeface="Times New Roman"/>
                <a:cs typeface="Times New Roman"/>
              </a:rPr>
              <a:t>image</a:t>
            </a:r>
            <a:r>
              <a:rPr sz="2000" b="1" spc="275" dirty="0">
                <a:latin typeface="Times New Roman"/>
                <a:cs typeface="Times New Roman"/>
              </a:rPr>
              <a:t> </a:t>
            </a:r>
            <a:r>
              <a:rPr sz="2000" b="1" dirty="0">
                <a:latin typeface="Times New Roman"/>
                <a:cs typeface="Times New Roman"/>
              </a:rPr>
              <a:t>that</a:t>
            </a:r>
            <a:r>
              <a:rPr sz="2000" b="1" spc="300" dirty="0">
                <a:latin typeface="Times New Roman"/>
                <a:cs typeface="Times New Roman"/>
              </a:rPr>
              <a:t> </a:t>
            </a:r>
            <a:r>
              <a:rPr sz="2000" b="1" dirty="0">
                <a:latin typeface="Times New Roman"/>
                <a:cs typeface="Times New Roman"/>
              </a:rPr>
              <a:t>has</a:t>
            </a:r>
            <a:r>
              <a:rPr sz="2000" b="1" spc="285" dirty="0">
                <a:latin typeface="Times New Roman"/>
                <a:cs typeface="Times New Roman"/>
              </a:rPr>
              <a:t> </a:t>
            </a:r>
            <a:r>
              <a:rPr sz="2000" b="1" spc="-20" dirty="0">
                <a:latin typeface="Times New Roman"/>
                <a:cs typeface="Times New Roman"/>
              </a:rPr>
              <a:t>been </a:t>
            </a:r>
            <a:r>
              <a:rPr sz="2000" b="1" dirty="0">
                <a:latin typeface="Times New Roman"/>
                <a:cs typeface="Times New Roman"/>
              </a:rPr>
              <a:t>blurred</a:t>
            </a:r>
            <a:r>
              <a:rPr sz="2000" b="1" spc="-25" dirty="0">
                <a:latin typeface="Times New Roman"/>
                <a:cs typeface="Times New Roman"/>
              </a:rPr>
              <a:t> </a:t>
            </a:r>
            <a:r>
              <a:rPr sz="2000" b="1" dirty="0">
                <a:latin typeface="Times New Roman"/>
                <a:cs typeface="Times New Roman"/>
              </a:rPr>
              <a:t>and</a:t>
            </a:r>
            <a:r>
              <a:rPr sz="2000" b="1" spc="-15" dirty="0">
                <a:latin typeface="Times New Roman"/>
                <a:cs typeface="Times New Roman"/>
              </a:rPr>
              <a:t> </a:t>
            </a:r>
            <a:r>
              <a:rPr sz="2000" b="1" dirty="0">
                <a:latin typeface="Times New Roman"/>
                <a:cs typeface="Times New Roman"/>
              </a:rPr>
              <a:t>now</a:t>
            </a:r>
            <a:r>
              <a:rPr sz="2000" b="1" spc="-20" dirty="0">
                <a:latin typeface="Times New Roman"/>
                <a:cs typeface="Times New Roman"/>
              </a:rPr>
              <a:t> </a:t>
            </a:r>
            <a:r>
              <a:rPr sz="2000" b="1" dirty="0">
                <a:latin typeface="Times New Roman"/>
                <a:cs typeface="Times New Roman"/>
              </a:rPr>
              <a:t>needs</a:t>
            </a:r>
            <a:r>
              <a:rPr sz="2000" b="1" spc="-15" dirty="0">
                <a:latin typeface="Times New Roman"/>
                <a:cs typeface="Times New Roman"/>
              </a:rPr>
              <a:t> </a:t>
            </a:r>
            <a:r>
              <a:rPr sz="2000" b="1" dirty="0">
                <a:latin typeface="Times New Roman"/>
                <a:cs typeface="Times New Roman"/>
              </a:rPr>
              <a:t>to</a:t>
            </a:r>
            <a:r>
              <a:rPr sz="2000" b="1" spc="-20" dirty="0">
                <a:latin typeface="Times New Roman"/>
                <a:cs typeface="Times New Roman"/>
              </a:rPr>
              <a:t> </a:t>
            </a:r>
            <a:r>
              <a:rPr sz="2000" b="1" dirty="0">
                <a:latin typeface="Times New Roman"/>
                <a:cs typeface="Times New Roman"/>
              </a:rPr>
              <a:t>be </a:t>
            </a:r>
            <a:r>
              <a:rPr sz="2000" b="1" spc="-10" dirty="0">
                <a:latin typeface="Times New Roman"/>
                <a:cs typeface="Times New Roman"/>
              </a:rPr>
              <a:t>de-blurred.</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gn="just">
              <a:lnSpc>
                <a:spcPct val="100000"/>
              </a:lnSpc>
            </a:pPr>
            <a:r>
              <a:rPr sz="2000" b="1" dirty="0">
                <a:latin typeface="Times New Roman"/>
                <a:cs typeface="Times New Roman"/>
              </a:rPr>
              <a:t>In</a:t>
            </a:r>
            <a:r>
              <a:rPr sz="2000" b="1" spc="-25" dirty="0">
                <a:latin typeface="Times New Roman"/>
                <a:cs typeface="Times New Roman"/>
              </a:rPr>
              <a:t> </a:t>
            </a:r>
            <a:r>
              <a:rPr sz="2000" b="1" dirty="0">
                <a:latin typeface="Times New Roman"/>
                <a:cs typeface="Times New Roman"/>
              </a:rPr>
              <a:t>contrast</a:t>
            </a:r>
            <a:r>
              <a:rPr sz="2000" b="1" spc="-35" dirty="0">
                <a:latin typeface="Times New Roman"/>
                <a:cs typeface="Times New Roman"/>
              </a:rPr>
              <a:t> </a:t>
            </a:r>
            <a:r>
              <a:rPr sz="2000" b="1" dirty="0">
                <a:latin typeface="Times New Roman"/>
                <a:cs typeface="Times New Roman"/>
              </a:rPr>
              <a:t>to</a:t>
            </a:r>
            <a:r>
              <a:rPr sz="2000" b="1" spc="-20" dirty="0">
                <a:latin typeface="Times New Roman"/>
                <a:cs typeface="Times New Roman"/>
              </a:rPr>
              <a:t> </a:t>
            </a:r>
            <a:r>
              <a:rPr sz="2000" b="1" dirty="0">
                <a:latin typeface="Times New Roman"/>
                <a:cs typeface="Times New Roman"/>
              </a:rPr>
              <a:t>the</a:t>
            </a:r>
            <a:r>
              <a:rPr sz="2000" b="1" spc="-15" dirty="0">
                <a:latin typeface="Times New Roman"/>
                <a:cs typeface="Times New Roman"/>
              </a:rPr>
              <a:t> </a:t>
            </a:r>
            <a:r>
              <a:rPr sz="2000" b="1" dirty="0">
                <a:latin typeface="Times New Roman"/>
                <a:cs typeface="Times New Roman"/>
              </a:rPr>
              <a:t>process</a:t>
            </a:r>
            <a:r>
              <a:rPr sz="2000" b="1" spc="-35"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dirty="0">
                <a:latin typeface="Times New Roman"/>
                <a:cs typeface="Times New Roman"/>
              </a:rPr>
              <a:t>image</a:t>
            </a:r>
            <a:r>
              <a:rPr sz="2000" b="1" spc="-45" dirty="0">
                <a:latin typeface="Times New Roman"/>
                <a:cs typeface="Times New Roman"/>
              </a:rPr>
              <a:t> </a:t>
            </a:r>
            <a:r>
              <a:rPr sz="2000" b="1" spc="-50" dirty="0">
                <a:latin typeface="Times New Roman"/>
                <a:cs typeface="Times New Roman"/>
              </a:rPr>
              <a:t>:</a:t>
            </a:r>
            <a:endParaRPr sz="2000" dirty="0">
              <a:latin typeface="Times New Roman"/>
              <a:cs typeface="Times New Roman"/>
            </a:endParaRPr>
          </a:p>
          <a:p>
            <a:pPr marL="12700" marR="1956435">
              <a:lnSpc>
                <a:spcPct val="100000"/>
              </a:lnSpc>
            </a:pPr>
            <a:r>
              <a:rPr sz="2000" b="1" u="sng" dirty="0">
                <a:solidFill>
                  <a:srgbClr val="00AF50"/>
                </a:solidFill>
                <a:uFill>
                  <a:solidFill>
                    <a:srgbClr val="00AF50"/>
                  </a:solidFill>
                </a:uFill>
                <a:latin typeface="Times New Roman"/>
                <a:cs typeface="Times New Roman"/>
              </a:rPr>
              <a:t>Smoothing</a:t>
            </a:r>
            <a:r>
              <a:rPr sz="2000" b="1" spc="-35" dirty="0">
                <a:solidFill>
                  <a:srgbClr val="00AF50"/>
                </a:solidFill>
                <a:latin typeface="Times New Roman"/>
                <a:cs typeface="Times New Roman"/>
              </a:rPr>
              <a:t> </a:t>
            </a:r>
            <a:r>
              <a:rPr sz="2000" b="1" dirty="0">
                <a:latin typeface="Times New Roman"/>
                <a:cs typeface="Times New Roman"/>
              </a:rPr>
              <a:t>that</a:t>
            </a:r>
            <a:r>
              <a:rPr sz="2000" b="1" spc="-10" dirty="0">
                <a:latin typeface="Times New Roman"/>
                <a:cs typeface="Times New Roman"/>
              </a:rPr>
              <a:t> </a:t>
            </a:r>
            <a:r>
              <a:rPr sz="2000" b="1" dirty="0">
                <a:latin typeface="Times New Roman"/>
                <a:cs typeface="Times New Roman"/>
              </a:rPr>
              <a:t>normally</a:t>
            </a:r>
            <a:r>
              <a:rPr sz="2000" b="1" spc="-35" dirty="0">
                <a:latin typeface="Times New Roman"/>
                <a:cs typeface="Times New Roman"/>
              </a:rPr>
              <a:t> </a:t>
            </a:r>
            <a:r>
              <a:rPr sz="2000" b="1" dirty="0">
                <a:latin typeface="Times New Roman"/>
                <a:cs typeface="Times New Roman"/>
              </a:rPr>
              <a:t>uses</a:t>
            </a:r>
            <a:r>
              <a:rPr sz="2000" b="1" spc="-10" dirty="0">
                <a:latin typeface="Times New Roman"/>
                <a:cs typeface="Times New Roman"/>
              </a:rPr>
              <a:t> </a:t>
            </a:r>
            <a:r>
              <a:rPr sz="2000" b="1" dirty="0">
                <a:solidFill>
                  <a:srgbClr val="006FC0"/>
                </a:solidFill>
                <a:latin typeface="Times New Roman"/>
                <a:cs typeface="Times New Roman"/>
              </a:rPr>
              <a:t>pixel</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averaging</a:t>
            </a:r>
            <a:r>
              <a:rPr sz="2000" b="1" spc="-40" dirty="0">
                <a:solidFill>
                  <a:srgbClr val="006FC0"/>
                </a:solidFill>
                <a:latin typeface="Times New Roman"/>
                <a:cs typeface="Times New Roman"/>
              </a:rPr>
              <a:t> </a:t>
            </a:r>
            <a:r>
              <a:rPr sz="2000" b="1" spc="-10" dirty="0">
                <a:solidFill>
                  <a:srgbClr val="006FC0"/>
                </a:solidFill>
                <a:latin typeface="Times New Roman"/>
                <a:cs typeface="Times New Roman"/>
              </a:rPr>
              <a:t>techniques</a:t>
            </a:r>
            <a:r>
              <a:rPr sz="2000" b="1" spc="-10" dirty="0">
                <a:latin typeface="Times New Roman"/>
                <a:cs typeface="Times New Roman"/>
              </a:rPr>
              <a:t>, </a:t>
            </a:r>
            <a:r>
              <a:rPr sz="2000" b="1" u="sng" dirty="0">
                <a:solidFill>
                  <a:srgbClr val="00AF50"/>
                </a:solidFill>
                <a:uFill>
                  <a:solidFill>
                    <a:srgbClr val="00AF50"/>
                  </a:solidFill>
                </a:uFill>
                <a:latin typeface="Times New Roman"/>
                <a:cs typeface="Times New Roman"/>
              </a:rPr>
              <a:t>Sharpening</a:t>
            </a:r>
            <a:r>
              <a:rPr sz="2000" b="1" spc="-40" dirty="0">
                <a:solidFill>
                  <a:srgbClr val="00AF50"/>
                </a:solidFill>
                <a:latin typeface="Times New Roman"/>
                <a:cs typeface="Times New Roman"/>
              </a:rPr>
              <a:t> </a:t>
            </a:r>
            <a:r>
              <a:rPr sz="2000" b="1" dirty="0">
                <a:latin typeface="Times New Roman"/>
                <a:cs typeface="Times New Roman"/>
              </a:rPr>
              <a:t>can</a:t>
            </a:r>
            <a:r>
              <a:rPr sz="2000" b="1" spc="-10" dirty="0">
                <a:latin typeface="Times New Roman"/>
                <a:cs typeface="Times New Roman"/>
              </a:rPr>
              <a:t> </a:t>
            </a:r>
            <a:r>
              <a:rPr sz="2000" b="1" dirty="0">
                <a:latin typeface="Times New Roman"/>
                <a:cs typeface="Times New Roman"/>
              </a:rPr>
              <a:t>be conducted</a:t>
            </a:r>
            <a:r>
              <a:rPr sz="2000" b="1" spc="-20" dirty="0">
                <a:latin typeface="Times New Roman"/>
                <a:cs typeface="Times New Roman"/>
              </a:rPr>
              <a:t> </a:t>
            </a:r>
            <a:r>
              <a:rPr sz="2000" b="1" dirty="0">
                <a:latin typeface="Times New Roman"/>
                <a:cs typeface="Times New Roman"/>
              </a:rPr>
              <a:t>using</a:t>
            </a:r>
            <a:r>
              <a:rPr sz="2000" b="1" spc="-25" dirty="0">
                <a:latin typeface="Times New Roman"/>
                <a:cs typeface="Times New Roman"/>
              </a:rPr>
              <a:t> </a:t>
            </a:r>
            <a:r>
              <a:rPr sz="2000" b="1" dirty="0">
                <a:solidFill>
                  <a:srgbClr val="006FC0"/>
                </a:solidFill>
                <a:latin typeface="Times New Roman"/>
                <a:cs typeface="Times New Roman"/>
              </a:rPr>
              <a:t>spatial</a:t>
            </a:r>
            <a:r>
              <a:rPr sz="2000" b="1" spc="-25" dirty="0">
                <a:solidFill>
                  <a:srgbClr val="006FC0"/>
                </a:solidFill>
                <a:latin typeface="Times New Roman"/>
                <a:cs typeface="Times New Roman"/>
              </a:rPr>
              <a:t> </a:t>
            </a:r>
            <a:r>
              <a:rPr sz="2000" b="1" spc="-10" dirty="0">
                <a:solidFill>
                  <a:srgbClr val="006FC0"/>
                </a:solidFill>
                <a:latin typeface="Times New Roman"/>
                <a:cs typeface="Times New Roman"/>
              </a:rPr>
              <a:t>differentiation.</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nSpc>
                <a:spcPct val="100000"/>
              </a:lnSpc>
            </a:pPr>
            <a:r>
              <a:rPr sz="2000" b="1" dirty="0">
                <a:latin typeface="Times New Roman"/>
                <a:cs typeface="Times New Roman"/>
              </a:rPr>
              <a:t>The</a:t>
            </a:r>
            <a:r>
              <a:rPr sz="2000" b="1" spc="-40" dirty="0">
                <a:latin typeface="Times New Roman"/>
                <a:cs typeface="Times New Roman"/>
              </a:rPr>
              <a:t> </a:t>
            </a:r>
            <a:r>
              <a:rPr sz="2000" b="1" dirty="0">
                <a:solidFill>
                  <a:srgbClr val="FF0000"/>
                </a:solidFill>
                <a:latin typeface="Times New Roman"/>
                <a:cs typeface="Times New Roman"/>
              </a:rPr>
              <a:t>image</a:t>
            </a:r>
            <a:r>
              <a:rPr sz="2000" b="1" spc="-50" dirty="0">
                <a:solidFill>
                  <a:srgbClr val="FF0000"/>
                </a:solidFill>
                <a:latin typeface="Times New Roman"/>
                <a:cs typeface="Times New Roman"/>
              </a:rPr>
              <a:t> </a:t>
            </a:r>
            <a:r>
              <a:rPr sz="2000" b="1" dirty="0">
                <a:solidFill>
                  <a:srgbClr val="FF0000"/>
                </a:solidFill>
                <a:latin typeface="Times New Roman"/>
                <a:cs typeface="Times New Roman"/>
              </a:rPr>
              <a:t>differentiation</a:t>
            </a:r>
            <a:r>
              <a:rPr sz="2000" b="1" spc="-50" dirty="0">
                <a:solidFill>
                  <a:srgbClr val="FF0000"/>
                </a:solidFill>
                <a:latin typeface="Times New Roman"/>
                <a:cs typeface="Times New Roman"/>
              </a:rPr>
              <a:t> </a:t>
            </a:r>
            <a:r>
              <a:rPr sz="2000" b="1" spc="-10" dirty="0">
                <a:latin typeface="Times New Roman"/>
                <a:cs typeface="Times New Roman"/>
              </a:rPr>
              <a:t>actually:</a:t>
            </a:r>
            <a:endParaRPr sz="2000" dirty="0">
              <a:latin typeface="Times New Roman"/>
              <a:cs typeface="Times New Roman"/>
            </a:endParaRPr>
          </a:p>
          <a:p>
            <a:pPr marL="354965" indent="-342265">
              <a:lnSpc>
                <a:spcPct val="100000"/>
              </a:lnSpc>
              <a:buClr>
                <a:srgbClr val="FF0000"/>
              </a:buClr>
              <a:buFont typeface="Wingdings"/>
              <a:buChar char=""/>
              <a:tabLst>
                <a:tab pos="354965" algn="l"/>
              </a:tabLst>
            </a:pPr>
            <a:r>
              <a:rPr sz="2000" b="1" dirty="0">
                <a:latin typeface="Times New Roman"/>
                <a:cs typeface="Times New Roman"/>
              </a:rPr>
              <a:t>Enhances</a:t>
            </a:r>
            <a:r>
              <a:rPr sz="2000" b="1" spc="-20" dirty="0">
                <a:latin typeface="Times New Roman"/>
                <a:cs typeface="Times New Roman"/>
              </a:rPr>
              <a:t> </a:t>
            </a:r>
            <a:r>
              <a:rPr sz="2000" b="1" spc="-10" dirty="0">
                <a:latin typeface="Times New Roman"/>
                <a:cs typeface="Times New Roman"/>
              </a:rPr>
              <a:t>edges</a:t>
            </a:r>
            <a:endParaRPr sz="2000" dirty="0">
              <a:latin typeface="Times New Roman"/>
              <a:cs typeface="Times New Roman"/>
            </a:endParaRPr>
          </a:p>
          <a:p>
            <a:pPr marL="354965" indent="-342265">
              <a:lnSpc>
                <a:spcPct val="100000"/>
              </a:lnSpc>
              <a:spcBef>
                <a:spcPts val="5"/>
              </a:spcBef>
              <a:buClr>
                <a:srgbClr val="FF0000"/>
              </a:buClr>
              <a:buFont typeface="Wingdings"/>
              <a:buChar char=""/>
              <a:tabLst>
                <a:tab pos="354965" algn="l"/>
              </a:tabLst>
            </a:pPr>
            <a:r>
              <a:rPr sz="2000" b="1" spc="-10" dirty="0">
                <a:latin typeface="Times New Roman"/>
                <a:cs typeface="Times New Roman"/>
              </a:rPr>
              <a:t>Discontinuities</a:t>
            </a:r>
            <a:endParaRPr sz="2000" dirty="0">
              <a:latin typeface="Times New Roman"/>
              <a:cs typeface="Times New Roman"/>
            </a:endParaRPr>
          </a:p>
          <a:p>
            <a:pPr marL="354965" indent="-342265">
              <a:lnSpc>
                <a:spcPct val="100000"/>
              </a:lnSpc>
              <a:buClr>
                <a:srgbClr val="FF0000"/>
              </a:buClr>
              <a:buFont typeface="Wingdings"/>
              <a:buChar char=""/>
              <a:tabLst>
                <a:tab pos="354965" algn="l"/>
              </a:tabLst>
            </a:pPr>
            <a:r>
              <a:rPr sz="2000" b="1" dirty="0">
                <a:latin typeface="Times New Roman"/>
                <a:cs typeface="Times New Roman"/>
              </a:rPr>
              <a:t>Depresses</a:t>
            </a:r>
            <a:r>
              <a:rPr sz="2000" b="1" spc="-45" dirty="0">
                <a:latin typeface="Times New Roman"/>
                <a:cs typeface="Times New Roman"/>
              </a:rPr>
              <a:t> </a:t>
            </a:r>
            <a:r>
              <a:rPr sz="2000" b="1" dirty="0">
                <a:latin typeface="Times New Roman"/>
                <a:cs typeface="Times New Roman"/>
              </a:rPr>
              <a:t>the</a:t>
            </a:r>
            <a:r>
              <a:rPr sz="2000" b="1" spc="-30" dirty="0">
                <a:latin typeface="Times New Roman"/>
                <a:cs typeface="Times New Roman"/>
              </a:rPr>
              <a:t> </a:t>
            </a:r>
            <a:r>
              <a:rPr sz="2000" b="1" dirty="0">
                <a:latin typeface="Times New Roman"/>
                <a:cs typeface="Times New Roman"/>
              </a:rPr>
              <a:t>areas</a:t>
            </a:r>
            <a:r>
              <a:rPr sz="2000" b="1" spc="-30" dirty="0">
                <a:latin typeface="Times New Roman"/>
                <a:cs typeface="Times New Roman"/>
              </a:rPr>
              <a:t> </a:t>
            </a:r>
            <a:r>
              <a:rPr sz="2000" b="1" dirty="0">
                <a:latin typeface="Times New Roman"/>
                <a:cs typeface="Times New Roman"/>
              </a:rPr>
              <a:t>of</a:t>
            </a:r>
            <a:r>
              <a:rPr sz="2000" b="1" spc="-30" dirty="0">
                <a:latin typeface="Times New Roman"/>
                <a:cs typeface="Times New Roman"/>
              </a:rPr>
              <a:t> </a:t>
            </a:r>
            <a:r>
              <a:rPr sz="2000" b="1" dirty="0">
                <a:latin typeface="Times New Roman"/>
                <a:cs typeface="Times New Roman"/>
              </a:rPr>
              <a:t>slowly</a:t>
            </a:r>
            <a:r>
              <a:rPr sz="2000" b="1" spc="-15" dirty="0">
                <a:latin typeface="Times New Roman"/>
                <a:cs typeface="Times New Roman"/>
              </a:rPr>
              <a:t> </a:t>
            </a:r>
            <a:r>
              <a:rPr sz="2000" b="1" dirty="0">
                <a:latin typeface="Times New Roman"/>
                <a:cs typeface="Times New Roman"/>
              </a:rPr>
              <a:t>changing</a:t>
            </a:r>
            <a:r>
              <a:rPr sz="2000" b="1" spc="-45" dirty="0">
                <a:latin typeface="Times New Roman"/>
                <a:cs typeface="Times New Roman"/>
              </a:rPr>
              <a:t> </a:t>
            </a:r>
            <a:r>
              <a:rPr sz="2000" b="1" dirty="0">
                <a:latin typeface="Times New Roman"/>
                <a:cs typeface="Times New Roman"/>
              </a:rPr>
              <a:t>gray-level</a:t>
            </a:r>
            <a:r>
              <a:rPr sz="2000" b="1" spc="-50" dirty="0">
                <a:latin typeface="Times New Roman"/>
                <a:cs typeface="Times New Roman"/>
              </a:rPr>
              <a:t> </a:t>
            </a:r>
            <a:r>
              <a:rPr sz="2000" b="1" spc="-10" dirty="0">
                <a:latin typeface="Times New Roman"/>
                <a:cs typeface="Times New Roman"/>
              </a:rPr>
              <a:t>values.</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marR="329565" indent="59055">
              <a:lnSpc>
                <a:spcPct val="100000"/>
              </a:lnSpc>
            </a:pP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Sharpening</a:t>
            </a:r>
            <a:r>
              <a:rPr sz="2000" b="1" spc="-30" dirty="0">
                <a:latin typeface="Times New Roman"/>
                <a:cs typeface="Times New Roman"/>
              </a:rPr>
              <a:t> </a:t>
            </a:r>
            <a:r>
              <a:rPr sz="2000" b="1" dirty="0">
                <a:latin typeface="Times New Roman"/>
                <a:cs typeface="Times New Roman"/>
              </a:rPr>
              <a:t>filter</a:t>
            </a:r>
            <a:r>
              <a:rPr sz="2000" b="1" spc="-55" dirty="0">
                <a:latin typeface="Times New Roman"/>
                <a:cs typeface="Times New Roman"/>
              </a:rPr>
              <a:t> </a:t>
            </a:r>
            <a:r>
              <a:rPr sz="2000" b="1" dirty="0">
                <a:latin typeface="Times New Roman"/>
                <a:cs typeface="Times New Roman"/>
              </a:rPr>
              <a:t>indicates</a:t>
            </a:r>
            <a:r>
              <a:rPr sz="2000" b="1" spc="-35" dirty="0">
                <a:latin typeface="Times New Roman"/>
                <a:cs typeface="Times New Roman"/>
              </a:rPr>
              <a:t> </a:t>
            </a:r>
            <a:r>
              <a:rPr sz="2000" b="1" dirty="0">
                <a:latin typeface="Times New Roman"/>
                <a:cs typeface="Times New Roman"/>
              </a:rPr>
              <a:t>the</a:t>
            </a:r>
            <a:r>
              <a:rPr sz="2000" b="1" spc="-25" dirty="0">
                <a:latin typeface="Times New Roman"/>
                <a:cs typeface="Times New Roman"/>
              </a:rPr>
              <a:t> </a:t>
            </a:r>
            <a:r>
              <a:rPr sz="2000" b="1" dirty="0">
                <a:latin typeface="Times New Roman"/>
                <a:cs typeface="Times New Roman"/>
              </a:rPr>
              <a:t>filter</a:t>
            </a:r>
            <a:r>
              <a:rPr sz="2000" b="1" spc="-60" dirty="0">
                <a:latin typeface="Times New Roman"/>
                <a:cs typeface="Times New Roman"/>
              </a:rPr>
              <a:t> </a:t>
            </a:r>
            <a:r>
              <a:rPr sz="2000" b="1" dirty="0">
                <a:latin typeface="Times New Roman"/>
                <a:cs typeface="Times New Roman"/>
              </a:rPr>
              <a:t>should</a:t>
            </a:r>
            <a:r>
              <a:rPr sz="2000" b="1" spc="-30" dirty="0">
                <a:latin typeface="Times New Roman"/>
                <a:cs typeface="Times New Roman"/>
              </a:rPr>
              <a:t> </a:t>
            </a:r>
            <a:r>
              <a:rPr sz="2000" b="1" dirty="0">
                <a:latin typeface="Times New Roman"/>
                <a:cs typeface="Times New Roman"/>
              </a:rPr>
              <a:t>have</a:t>
            </a:r>
            <a:r>
              <a:rPr sz="2000" b="1" spc="-5" dirty="0">
                <a:latin typeface="Times New Roman"/>
                <a:cs typeface="Times New Roman"/>
              </a:rPr>
              <a:t> </a:t>
            </a:r>
            <a:r>
              <a:rPr sz="2000" b="1" dirty="0">
                <a:solidFill>
                  <a:srgbClr val="006FC0"/>
                </a:solidFill>
                <a:latin typeface="Times New Roman"/>
                <a:cs typeface="Times New Roman"/>
              </a:rPr>
              <a:t>positive</a:t>
            </a:r>
            <a:r>
              <a:rPr sz="2000" b="1" spc="-30" dirty="0">
                <a:solidFill>
                  <a:srgbClr val="006FC0"/>
                </a:solidFill>
                <a:latin typeface="Times New Roman"/>
                <a:cs typeface="Times New Roman"/>
              </a:rPr>
              <a:t> </a:t>
            </a:r>
            <a:r>
              <a:rPr sz="2000" b="1" spc="-10" dirty="0">
                <a:solidFill>
                  <a:srgbClr val="006FC0"/>
                </a:solidFill>
                <a:latin typeface="Times New Roman"/>
                <a:cs typeface="Times New Roman"/>
              </a:rPr>
              <a:t>coefficients </a:t>
            </a:r>
            <a:r>
              <a:rPr sz="2000" b="1" dirty="0">
                <a:solidFill>
                  <a:srgbClr val="006FC0"/>
                </a:solidFill>
                <a:latin typeface="Times New Roman"/>
                <a:cs typeface="Times New Roman"/>
              </a:rPr>
              <a:t>near</a:t>
            </a:r>
            <a:r>
              <a:rPr sz="2000" b="1" spc="-55" dirty="0">
                <a:solidFill>
                  <a:srgbClr val="006FC0"/>
                </a:solidFill>
                <a:latin typeface="Times New Roman"/>
                <a:cs typeface="Times New Roman"/>
              </a:rPr>
              <a:t> </a:t>
            </a:r>
            <a:r>
              <a:rPr sz="2000" b="1" dirty="0">
                <a:solidFill>
                  <a:srgbClr val="006FC0"/>
                </a:solidFill>
                <a:latin typeface="Times New Roman"/>
                <a:cs typeface="Times New Roman"/>
              </a:rPr>
              <a:t>its</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center</a:t>
            </a:r>
            <a:r>
              <a:rPr sz="2000" b="1" spc="-55" dirty="0">
                <a:solidFill>
                  <a:srgbClr val="006FC0"/>
                </a:solidFill>
                <a:latin typeface="Times New Roman"/>
                <a:cs typeface="Times New Roman"/>
              </a:rPr>
              <a:t> </a:t>
            </a:r>
            <a:r>
              <a:rPr sz="2000" b="1" dirty="0">
                <a:latin typeface="Times New Roman"/>
                <a:cs typeface="Times New Roman"/>
              </a:rPr>
              <a:t>and</a:t>
            </a:r>
            <a:r>
              <a:rPr sz="2000" b="1" spc="-10" dirty="0">
                <a:latin typeface="Times New Roman"/>
                <a:cs typeface="Times New Roman"/>
              </a:rPr>
              <a:t> </a:t>
            </a:r>
            <a:r>
              <a:rPr sz="2000" b="1" dirty="0">
                <a:solidFill>
                  <a:srgbClr val="006FC0"/>
                </a:solidFill>
                <a:latin typeface="Times New Roman"/>
                <a:cs typeface="Times New Roman"/>
              </a:rPr>
              <a:t>negative</a:t>
            </a:r>
            <a:r>
              <a:rPr sz="2000" b="1" spc="-35" dirty="0">
                <a:solidFill>
                  <a:srgbClr val="006FC0"/>
                </a:solidFill>
                <a:latin typeface="Times New Roman"/>
                <a:cs typeface="Times New Roman"/>
              </a:rPr>
              <a:t> </a:t>
            </a:r>
            <a:r>
              <a:rPr sz="2000" b="1" dirty="0">
                <a:solidFill>
                  <a:srgbClr val="006FC0"/>
                </a:solidFill>
                <a:latin typeface="Times New Roman"/>
                <a:cs typeface="Times New Roman"/>
              </a:rPr>
              <a:t>coefficients</a:t>
            </a:r>
            <a:r>
              <a:rPr sz="2000" b="1" spc="-35" dirty="0">
                <a:solidFill>
                  <a:srgbClr val="006FC0"/>
                </a:solidFill>
                <a:latin typeface="Times New Roman"/>
                <a:cs typeface="Times New Roman"/>
              </a:rPr>
              <a:t> </a:t>
            </a:r>
            <a:r>
              <a:rPr sz="2000" b="1" dirty="0">
                <a:solidFill>
                  <a:srgbClr val="006FC0"/>
                </a:solidFill>
                <a:latin typeface="Times New Roman"/>
                <a:cs typeface="Times New Roman"/>
              </a:rPr>
              <a:t>in</a:t>
            </a:r>
            <a:r>
              <a:rPr sz="2000" b="1" spc="-1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outer</a:t>
            </a:r>
            <a:r>
              <a:rPr sz="2000" b="1" spc="-55" dirty="0">
                <a:solidFill>
                  <a:srgbClr val="006FC0"/>
                </a:solidFill>
                <a:latin typeface="Times New Roman"/>
                <a:cs typeface="Times New Roman"/>
              </a:rPr>
              <a:t> </a:t>
            </a:r>
            <a:r>
              <a:rPr sz="2000" b="1" spc="-10" dirty="0">
                <a:solidFill>
                  <a:srgbClr val="006FC0"/>
                </a:solidFill>
                <a:latin typeface="Times New Roman"/>
                <a:cs typeface="Times New Roman"/>
              </a:rPr>
              <a:t>periphery</a:t>
            </a:r>
            <a:r>
              <a:rPr sz="2000" b="1" spc="-10" dirty="0">
                <a:latin typeface="Times New Roman"/>
                <a:cs typeface="Times New Roman"/>
              </a:rPr>
              <a:t>.</a:t>
            </a:r>
            <a:endParaRPr sz="2000" dirty="0">
              <a:latin typeface="Times New Roman"/>
              <a:cs typeface="Times New Roman"/>
            </a:endParaRPr>
          </a:p>
        </p:txBody>
      </p:sp>
      <p:grpSp>
        <p:nvGrpSpPr>
          <p:cNvPr id="4" name="object 4"/>
          <p:cNvGrpSpPr/>
          <p:nvPr/>
        </p:nvGrpSpPr>
        <p:grpSpPr>
          <a:xfrm>
            <a:off x="426719" y="795527"/>
            <a:ext cx="8211820" cy="91440"/>
            <a:chOff x="426719" y="795527"/>
            <a:chExt cx="8211820" cy="91440"/>
          </a:xfrm>
        </p:grpSpPr>
        <p:pic>
          <p:nvPicPr>
            <p:cNvPr id="5" name="object 5"/>
            <p:cNvPicPr/>
            <p:nvPr/>
          </p:nvPicPr>
          <p:blipFill>
            <a:blip r:embed="rId3" cstate="print"/>
            <a:stretch>
              <a:fillRect/>
            </a:stretch>
          </p:blipFill>
          <p:spPr>
            <a:xfrm>
              <a:off x="426719" y="795527"/>
              <a:ext cx="8211311" cy="91440"/>
            </a:xfrm>
            <a:prstGeom prst="rect">
              <a:avLst/>
            </a:prstGeom>
          </p:spPr>
        </p:pic>
        <p:sp>
          <p:nvSpPr>
            <p:cNvPr id="6" name="object 6"/>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C6411-B849-4F0E-B5F2-0C930335929E}"/>
              </a:ext>
            </a:extLst>
          </p:cNvPr>
          <p:cNvSpPr>
            <a:spLocks noGrp="1"/>
          </p:cNvSpPr>
          <p:nvPr>
            <p:ph type="title"/>
          </p:nvPr>
        </p:nvSpPr>
        <p:spPr>
          <a:xfrm>
            <a:off x="386892" y="326516"/>
            <a:ext cx="6471108" cy="2462213"/>
          </a:xfrm>
        </p:spPr>
        <p:txBody>
          <a:bodyPr/>
          <a:lstStyle/>
          <a:p>
            <a:r>
              <a:rPr lang="en-US" dirty="0"/>
              <a:t>Image Differentiation (First-order Derivatives)</a:t>
            </a:r>
            <a:br>
              <a:rPr lang="en-US" dirty="0"/>
            </a:br>
            <a:endParaRPr lang="en-US" dirty="0"/>
          </a:p>
        </p:txBody>
      </p:sp>
      <p:sp>
        <p:nvSpPr>
          <p:cNvPr id="3" name="Text Placeholder 2">
            <a:extLst>
              <a:ext uri="{FF2B5EF4-FFF2-40B4-BE49-F238E27FC236}">
                <a16:creationId xmlns:a16="http://schemas.microsoft.com/office/drawing/2014/main" id="{F011EED1-481C-4F8D-91F6-5309ED421E2C}"/>
              </a:ext>
            </a:extLst>
          </p:cNvPr>
          <p:cNvSpPr>
            <a:spLocks noGrp="1"/>
          </p:cNvSpPr>
          <p:nvPr>
            <p:ph type="body" idx="1"/>
          </p:nvPr>
        </p:nvSpPr>
        <p:spPr>
          <a:xfrm>
            <a:off x="501650" y="1905000"/>
            <a:ext cx="8140700" cy="4308872"/>
          </a:xfrm>
        </p:spPr>
        <p:txBody>
          <a:bodyPr/>
          <a:lstStyle/>
          <a:p>
            <a:r>
              <a:rPr lang="en-US" b="0" dirty="0"/>
              <a:t>Image differentiation is a fundamental operation in spatial domain filtering.</a:t>
            </a:r>
            <a:br>
              <a:rPr lang="en-US" b="0" dirty="0"/>
            </a:br>
            <a:r>
              <a:rPr lang="en-US" b="0" dirty="0"/>
              <a:t>It works by computing changes in intensity between </a:t>
            </a:r>
            <a:r>
              <a:rPr lang="en-US" b="0" dirty="0" err="1"/>
              <a:t>neighbouring</a:t>
            </a:r>
            <a:r>
              <a:rPr lang="en-US" b="0" dirty="0"/>
              <a:t> pixels</a:t>
            </a:r>
            <a:r>
              <a:rPr lang="en-US" dirty="0"/>
              <a:t>.</a:t>
            </a:r>
          </a:p>
          <a:p>
            <a:endParaRPr lang="en-US" dirty="0"/>
          </a:p>
          <a:p>
            <a:endParaRPr lang="en-US" dirty="0"/>
          </a:p>
          <a:p>
            <a:endParaRPr lang="en-US" dirty="0"/>
          </a:p>
          <a:p>
            <a:r>
              <a:rPr lang="en-US" b="0" dirty="0"/>
              <a:t>So, differentiation highlights:</a:t>
            </a:r>
          </a:p>
          <a:p>
            <a:r>
              <a:rPr lang="en-US" b="0" dirty="0"/>
              <a:t>✔ Object boundaries</a:t>
            </a:r>
            <a:br>
              <a:rPr lang="en-US" b="0" dirty="0"/>
            </a:br>
            <a:r>
              <a:rPr lang="en-US" b="0" dirty="0"/>
              <a:t>✔ Sharp transitions</a:t>
            </a:r>
            <a:br>
              <a:rPr lang="en-US" b="0" dirty="0"/>
            </a:br>
            <a:r>
              <a:rPr lang="en-US" b="0" dirty="0"/>
              <a:t>✔ Lines and corners</a:t>
            </a:r>
          </a:p>
          <a:p>
            <a:endParaRPr lang="en-US" b="0" dirty="0"/>
          </a:p>
          <a:p>
            <a:r>
              <a:rPr lang="en-US" dirty="0"/>
              <a:t>Discontinuities </a:t>
            </a:r>
            <a:r>
              <a:rPr lang="en-US" b="0" dirty="0"/>
              <a:t>are sudden jumps in intensity, even if they are not classical edges.</a:t>
            </a:r>
          </a:p>
          <a:p>
            <a:endParaRPr lang="en-US" dirty="0"/>
          </a:p>
          <a:p>
            <a:endParaRPr lang="en-US" dirty="0"/>
          </a:p>
        </p:txBody>
      </p:sp>
    </p:spTree>
    <p:extLst>
      <p:ext uri="{BB962C8B-B14F-4D97-AF65-F5344CB8AC3E}">
        <p14:creationId xmlns:p14="http://schemas.microsoft.com/office/powerpoint/2010/main" val="821458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363980" y="470916"/>
            <a:ext cx="6444996" cy="792479"/>
          </a:xfrm>
          <a:prstGeom prst="rect">
            <a:avLst/>
          </a:prstGeom>
        </p:spPr>
      </p:pic>
      <p:sp>
        <p:nvSpPr>
          <p:cNvPr id="5" name="object 5"/>
          <p:cNvSpPr txBox="1"/>
          <p:nvPr/>
        </p:nvSpPr>
        <p:spPr>
          <a:xfrm>
            <a:off x="737717" y="1631949"/>
            <a:ext cx="7693659" cy="695960"/>
          </a:xfrm>
          <a:prstGeom prst="rect">
            <a:avLst/>
          </a:prstGeom>
        </p:spPr>
        <p:txBody>
          <a:bodyPr vert="horz" wrap="square" lIns="0" tIns="12065" rIns="0" bIns="0" rtlCol="0">
            <a:spAutoFit/>
          </a:bodyPr>
          <a:lstStyle/>
          <a:p>
            <a:pPr marL="354965" marR="5080" indent="-342900">
              <a:lnSpc>
                <a:spcPct val="100000"/>
              </a:lnSpc>
              <a:spcBef>
                <a:spcPts val="95"/>
              </a:spcBef>
              <a:buClr>
                <a:srgbClr val="9966FF"/>
              </a:buClr>
              <a:buSzPct val="79545"/>
              <a:buChar char="►"/>
              <a:tabLst>
                <a:tab pos="354965" algn="l"/>
              </a:tabLst>
            </a:pPr>
            <a:r>
              <a:rPr sz="2200" dirty="0">
                <a:latin typeface="Tahoma"/>
                <a:cs typeface="Tahoma"/>
              </a:rPr>
              <a:t>The</a:t>
            </a:r>
            <a:r>
              <a:rPr sz="2200" spc="-50" dirty="0">
                <a:latin typeface="Tahoma"/>
                <a:cs typeface="Tahoma"/>
              </a:rPr>
              <a:t> </a:t>
            </a:r>
            <a:r>
              <a:rPr sz="2200" spc="-25" dirty="0">
                <a:latin typeface="Tahoma"/>
                <a:cs typeface="Tahoma"/>
              </a:rPr>
              <a:t>first-</a:t>
            </a:r>
            <a:r>
              <a:rPr sz="2200" dirty="0">
                <a:latin typeface="Tahoma"/>
                <a:cs typeface="Tahoma"/>
              </a:rPr>
              <a:t>order</a:t>
            </a:r>
            <a:r>
              <a:rPr sz="2200" spc="-45" dirty="0">
                <a:latin typeface="Tahoma"/>
                <a:cs typeface="Tahoma"/>
              </a:rPr>
              <a:t> </a:t>
            </a:r>
            <a:r>
              <a:rPr sz="2200" spc="-10" dirty="0">
                <a:latin typeface="Tahoma"/>
                <a:cs typeface="Tahoma"/>
              </a:rPr>
              <a:t>derivative</a:t>
            </a:r>
            <a:r>
              <a:rPr sz="2200" spc="-65" dirty="0">
                <a:latin typeface="Tahoma"/>
                <a:cs typeface="Tahoma"/>
              </a:rPr>
              <a:t> </a:t>
            </a:r>
            <a:r>
              <a:rPr sz="2200" dirty="0">
                <a:latin typeface="Tahoma"/>
                <a:cs typeface="Tahoma"/>
              </a:rPr>
              <a:t>of</a:t>
            </a:r>
            <a:r>
              <a:rPr sz="2200" spc="-40" dirty="0">
                <a:latin typeface="Tahoma"/>
                <a:cs typeface="Tahoma"/>
              </a:rPr>
              <a:t> </a:t>
            </a:r>
            <a:r>
              <a:rPr sz="2200" dirty="0">
                <a:latin typeface="Tahoma"/>
                <a:cs typeface="Tahoma"/>
              </a:rPr>
              <a:t>a</a:t>
            </a:r>
            <a:r>
              <a:rPr sz="2200" spc="-60" dirty="0">
                <a:latin typeface="Tahoma"/>
                <a:cs typeface="Tahoma"/>
              </a:rPr>
              <a:t> </a:t>
            </a:r>
            <a:r>
              <a:rPr sz="2200" spc="-25" dirty="0">
                <a:latin typeface="Tahoma"/>
                <a:cs typeface="Tahoma"/>
              </a:rPr>
              <a:t>one-</a:t>
            </a:r>
            <a:r>
              <a:rPr sz="2200" dirty="0">
                <a:latin typeface="Tahoma"/>
                <a:cs typeface="Tahoma"/>
              </a:rPr>
              <a:t>dimensional</a:t>
            </a:r>
            <a:r>
              <a:rPr sz="2200" spc="-20" dirty="0">
                <a:latin typeface="Tahoma"/>
                <a:cs typeface="Tahoma"/>
              </a:rPr>
              <a:t> </a:t>
            </a:r>
            <a:r>
              <a:rPr sz="2200" dirty="0">
                <a:latin typeface="Tahoma"/>
                <a:cs typeface="Tahoma"/>
              </a:rPr>
              <a:t>function</a:t>
            </a:r>
            <a:r>
              <a:rPr sz="2200" spc="-35" dirty="0">
                <a:latin typeface="Tahoma"/>
                <a:cs typeface="Tahoma"/>
              </a:rPr>
              <a:t> </a:t>
            </a:r>
            <a:r>
              <a:rPr sz="2200" spc="-20" dirty="0">
                <a:latin typeface="Tahoma"/>
                <a:cs typeface="Tahoma"/>
              </a:rPr>
              <a:t>f(x) </a:t>
            </a:r>
            <a:r>
              <a:rPr sz="2200" dirty="0">
                <a:latin typeface="Tahoma"/>
                <a:cs typeface="Tahoma"/>
              </a:rPr>
              <a:t>is</a:t>
            </a:r>
            <a:r>
              <a:rPr sz="2200" spc="-40" dirty="0">
                <a:latin typeface="Tahoma"/>
                <a:cs typeface="Tahoma"/>
              </a:rPr>
              <a:t> </a:t>
            </a:r>
            <a:r>
              <a:rPr sz="2200" dirty="0">
                <a:latin typeface="Tahoma"/>
                <a:cs typeface="Tahoma"/>
              </a:rPr>
              <a:t>the</a:t>
            </a:r>
            <a:r>
              <a:rPr sz="2200" spc="-20" dirty="0">
                <a:latin typeface="Tahoma"/>
                <a:cs typeface="Tahoma"/>
              </a:rPr>
              <a:t> </a:t>
            </a:r>
            <a:r>
              <a:rPr sz="2200" spc="-10" dirty="0">
                <a:latin typeface="Tahoma"/>
                <a:cs typeface="Tahoma"/>
              </a:rPr>
              <a:t>difference</a:t>
            </a:r>
            <a:endParaRPr sz="2200">
              <a:latin typeface="Tahoma"/>
              <a:cs typeface="Tahoma"/>
            </a:endParaRPr>
          </a:p>
        </p:txBody>
      </p:sp>
      <p:sp>
        <p:nvSpPr>
          <p:cNvPr id="6" name="object 6"/>
          <p:cNvSpPr txBox="1"/>
          <p:nvPr/>
        </p:nvSpPr>
        <p:spPr>
          <a:xfrm>
            <a:off x="737717" y="3979545"/>
            <a:ext cx="6811645" cy="360680"/>
          </a:xfrm>
          <a:prstGeom prst="rect">
            <a:avLst/>
          </a:prstGeom>
        </p:spPr>
        <p:txBody>
          <a:bodyPr vert="horz" wrap="square" lIns="0" tIns="12065" rIns="0" bIns="0" rtlCol="0">
            <a:spAutoFit/>
          </a:bodyPr>
          <a:lstStyle/>
          <a:p>
            <a:pPr marL="356235" indent="-343535">
              <a:lnSpc>
                <a:spcPct val="100000"/>
              </a:lnSpc>
              <a:spcBef>
                <a:spcPts val="95"/>
              </a:spcBef>
              <a:buClr>
                <a:srgbClr val="9966FF"/>
              </a:buClr>
              <a:buSzPct val="79545"/>
              <a:buChar char="►"/>
              <a:tabLst>
                <a:tab pos="356235" algn="l"/>
              </a:tabLst>
            </a:pPr>
            <a:r>
              <a:rPr sz="2200" dirty="0">
                <a:latin typeface="Tahoma"/>
                <a:cs typeface="Tahoma"/>
              </a:rPr>
              <a:t>The</a:t>
            </a:r>
            <a:r>
              <a:rPr sz="2200" spc="-30" dirty="0">
                <a:latin typeface="Tahoma"/>
                <a:cs typeface="Tahoma"/>
              </a:rPr>
              <a:t> </a:t>
            </a:r>
            <a:r>
              <a:rPr sz="2200" spc="-20" dirty="0">
                <a:latin typeface="Tahoma"/>
                <a:cs typeface="Tahoma"/>
              </a:rPr>
              <a:t>second-</a:t>
            </a:r>
            <a:r>
              <a:rPr sz="2200" dirty="0">
                <a:latin typeface="Tahoma"/>
                <a:cs typeface="Tahoma"/>
              </a:rPr>
              <a:t>order </a:t>
            </a:r>
            <a:r>
              <a:rPr sz="2200" spc="-10" dirty="0">
                <a:latin typeface="Tahoma"/>
                <a:cs typeface="Tahoma"/>
              </a:rPr>
              <a:t>derivative</a:t>
            </a:r>
            <a:r>
              <a:rPr sz="2200" spc="-25" dirty="0">
                <a:latin typeface="Tahoma"/>
                <a:cs typeface="Tahoma"/>
              </a:rPr>
              <a:t> </a:t>
            </a:r>
            <a:r>
              <a:rPr sz="2200" dirty="0">
                <a:latin typeface="Tahoma"/>
                <a:cs typeface="Tahoma"/>
              </a:rPr>
              <a:t>of</a:t>
            </a:r>
            <a:r>
              <a:rPr sz="2200" spc="-25" dirty="0">
                <a:latin typeface="Tahoma"/>
                <a:cs typeface="Tahoma"/>
              </a:rPr>
              <a:t> </a:t>
            </a:r>
            <a:r>
              <a:rPr sz="2200" dirty="0">
                <a:latin typeface="Tahoma"/>
                <a:cs typeface="Tahoma"/>
              </a:rPr>
              <a:t>f(x)</a:t>
            </a:r>
            <a:r>
              <a:rPr sz="2200" spc="-35" dirty="0">
                <a:latin typeface="Tahoma"/>
                <a:cs typeface="Tahoma"/>
              </a:rPr>
              <a:t> </a:t>
            </a:r>
            <a:r>
              <a:rPr sz="2200" dirty="0">
                <a:latin typeface="Tahoma"/>
                <a:cs typeface="Tahoma"/>
              </a:rPr>
              <a:t>as</a:t>
            </a:r>
            <a:r>
              <a:rPr sz="2200" spc="-40" dirty="0">
                <a:latin typeface="Tahoma"/>
                <a:cs typeface="Tahoma"/>
              </a:rPr>
              <a:t> </a:t>
            </a:r>
            <a:r>
              <a:rPr sz="2200" dirty="0">
                <a:latin typeface="Tahoma"/>
                <a:cs typeface="Tahoma"/>
              </a:rPr>
              <a:t>the</a:t>
            </a:r>
            <a:r>
              <a:rPr sz="2200" spc="-30" dirty="0">
                <a:latin typeface="Tahoma"/>
                <a:cs typeface="Tahoma"/>
              </a:rPr>
              <a:t> </a:t>
            </a:r>
            <a:r>
              <a:rPr sz="2200" spc="-10" dirty="0">
                <a:latin typeface="Tahoma"/>
                <a:cs typeface="Tahoma"/>
              </a:rPr>
              <a:t>difference</a:t>
            </a:r>
            <a:endParaRPr sz="2200">
              <a:latin typeface="Tahoma"/>
              <a:cs typeface="Tahoma"/>
            </a:endParaRPr>
          </a:p>
        </p:txBody>
      </p:sp>
      <p:sp>
        <p:nvSpPr>
          <p:cNvPr id="7" name="object 7"/>
          <p:cNvSpPr/>
          <p:nvPr/>
        </p:nvSpPr>
        <p:spPr>
          <a:xfrm>
            <a:off x="2292517" y="3030061"/>
            <a:ext cx="400685" cy="0"/>
          </a:xfrm>
          <a:custGeom>
            <a:avLst/>
            <a:gdLst/>
            <a:ahLst/>
            <a:cxnLst/>
            <a:rect l="l" t="t" r="r" b="b"/>
            <a:pathLst>
              <a:path w="400685">
                <a:moveTo>
                  <a:pt x="0" y="0"/>
                </a:moveTo>
                <a:lnTo>
                  <a:pt x="400472" y="0"/>
                </a:lnTo>
              </a:path>
            </a:pathLst>
          </a:custGeom>
          <a:ln w="18303">
            <a:solidFill>
              <a:srgbClr val="000000"/>
            </a:solidFill>
          </a:ln>
        </p:spPr>
        <p:txBody>
          <a:bodyPr wrap="square" lIns="0" tIns="0" rIns="0" bIns="0" rtlCol="0"/>
          <a:lstStyle/>
          <a:p>
            <a:endParaRPr/>
          </a:p>
        </p:txBody>
      </p:sp>
      <p:sp>
        <p:nvSpPr>
          <p:cNvPr id="8" name="object 8"/>
          <p:cNvSpPr txBox="1"/>
          <p:nvPr/>
        </p:nvSpPr>
        <p:spPr>
          <a:xfrm>
            <a:off x="2271601" y="2738295"/>
            <a:ext cx="3047365" cy="471805"/>
          </a:xfrm>
          <a:prstGeom prst="rect">
            <a:avLst/>
          </a:prstGeom>
        </p:spPr>
        <p:txBody>
          <a:bodyPr vert="horz" wrap="square" lIns="0" tIns="15875" rIns="0" bIns="0" rtlCol="0">
            <a:spAutoFit/>
          </a:bodyPr>
          <a:lstStyle/>
          <a:p>
            <a:pPr marL="38100">
              <a:lnSpc>
                <a:spcPct val="100000"/>
              </a:lnSpc>
              <a:spcBef>
                <a:spcPts val="125"/>
              </a:spcBef>
              <a:tabLst>
                <a:tab pos="520700" algn="l"/>
                <a:tab pos="880744" algn="l"/>
              </a:tabLst>
            </a:pPr>
            <a:r>
              <a:rPr sz="4350" spc="-37" baseline="35440" dirty="0">
                <a:latin typeface="Symbol"/>
                <a:cs typeface="Symbol"/>
              </a:rPr>
              <a:t></a:t>
            </a:r>
            <a:r>
              <a:rPr sz="4350" i="1" spc="-37" baseline="35440" dirty="0">
                <a:latin typeface="Times New Roman"/>
                <a:cs typeface="Times New Roman"/>
              </a:rPr>
              <a:t>f</a:t>
            </a:r>
            <a:r>
              <a:rPr sz="4350" i="1" baseline="35440" dirty="0">
                <a:latin typeface="Times New Roman"/>
                <a:cs typeface="Times New Roman"/>
              </a:rPr>
              <a:t>	</a:t>
            </a:r>
            <a:r>
              <a:rPr sz="2900" spc="-50" dirty="0">
                <a:latin typeface="Symbol"/>
                <a:cs typeface="Symbol"/>
              </a:rPr>
              <a:t></a:t>
            </a:r>
            <a:r>
              <a:rPr sz="2900" dirty="0">
                <a:latin typeface="Times New Roman"/>
                <a:cs typeface="Times New Roman"/>
              </a:rPr>
              <a:t>	</a:t>
            </a:r>
            <a:r>
              <a:rPr sz="2900" i="1" dirty="0">
                <a:latin typeface="Times New Roman"/>
                <a:cs typeface="Times New Roman"/>
              </a:rPr>
              <a:t>f</a:t>
            </a:r>
            <a:r>
              <a:rPr sz="2900" i="1" spc="-25" dirty="0">
                <a:latin typeface="Times New Roman"/>
                <a:cs typeface="Times New Roman"/>
              </a:rPr>
              <a:t> </a:t>
            </a:r>
            <a:r>
              <a:rPr sz="2900" spc="130" dirty="0">
                <a:latin typeface="Times New Roman"/>
                <a:cs typeface="Times New Roman"/>
              </a:rPr>
              <a:t>(</a:t>
            </a:r>
            <a:r>
              <a:rPr sz="2900" i="1" spc="130" dirty="0">
                <a:latin typeface="Times New Roman"/>
                <a:cs typeface="Times New Roman"/>
              </a:rPr>
              <a:t>x</a:t>
            </a:r>
            <a:r>
              <a:rPr sz="2900" i="1" spc="-204" dirty="0">
                <a:latin typeface="Times New Roman"/>
                <a:cs typeface="Times New Roman"/>
              </a:rPr>
              <a:t> </a:t>
            </a:r>
            <a:r>
              <a:rPr sz="2900" dirty="0">
                <a:latin typeface="Symbol"/>
                <a:cs typeface="Symbol"/>
              </a:rPr>
              <a:t></a:t>
            </a:r>
            <a:r>
              <a:rPr sz="2900" dirty="0">
                <a:latin typeface="Times New Roman"/>
                <a:cs typeface="Times New Roman"/>
              </a:rPr>
              <a:t>1)</a:t>
            </a:r>
            <a:r>
              <a:rPr sz="2900" spc="-229" dirty="0">
                <a:latin typeface="Times New Roman"/>
                <a:cs typeface="Times New Roman"/>
              </a:rPr>
              <a:t> </a:t>
            </a:r>
            <a:r>
              <a:rPr sz="2900" dirty="0">
                <a:latin typeface="Symbol"/>
                <a:cs typeface="Symbol"/>
              </a:rPr>
              <a:t></a:t>
            </a:r>
            <a:r>
              <a:rPr sz="2900" spc="330" dirty="0">
                <a:latin typeface="Times New Roman"/>
                <a:cs typeface="Times New Roman"/>
              </a:rPr>
              <a:t> </a:t>
            </a:r>
            <a:r>
              <a:rPr sz="2900" i="1" dirty="0">
                <a:latin typeface="Times New Roman"/>
                <a:cs typeface="Times New Roman"/>
              </a:rPr>
              <a:t>f</a:t>
            </a:r>
            <a:r>
              <a:rPr sz="2900" i="1" spc="-35" dirty="0">
                <a:latin typeface="Times New Roman"/>
                <a:cs typeface="Times New Roman"/>
              </a:rPr>
              <a:t> </a:t>
            </a:r>
            <a:r>
              <a:rPr sz="2900" spc="80" dirty="0">
                <a:latin typeface="Times New Roman"/>
                <a:cs typeface="Times New Roman"/>
              </a:rPr>
              <a:t>(</a:t>
            </a:r>
            <a:r>
              <a:rPr sz="2900" i="1" spc="80" dirty="0">
                <a:latin typeface="Times New Roman"/>
                <a:cs typeface="Times New Roman"/>
              </a:rPr>
              <a:t>x</a:t>
            </a:r>
            <a:r>
              <a:rPr sz="2900" spc="80" dirty="0">
                <a:latin typeface="Times New Roman"/>
                <a:cs typeface="Times New Roman"/>
              </a:rPr>
              <a:t>)</a:t>
            </a:r>
            <a:endParaRPr sz="2900">
              <a:latin typeface="Times New Roman"/>
              <a:cs typeface="Times New Roman"/>
            </a:endParaRPr>
          </a:p>
        </p:txBody>
      </p:sp>
      <p:sp>
        <p:nvSpPr>
          <p:cNvPr id="9" name="object 9"/>
          <p:cNvSpPr txBox="1"/>
          <p:nvPr/>
        </p:nvSpPr>
        <p:spPr>
          <a:xfrm>
            <a:off x="2305968" y="3028420"/>
            <a:ext cx="374015" cy="471805"/>
          </a:xfrm>
          <a:prstGeom prst="rect">
            <a:avLst/>
          </a:prstGeom>
        </p:spPr>
        <p:txBody>
          <a:bodyPr vert="horz" wrap="square" lIns="0" tIns="15875" rIns="0" bIns="0" rtlCol="0">
            <a:spAutoFit/>
          </a:bodyPr>
          <a:lstStyle/>
          <a:p>
            <a:pPr marL="12700">
              <a:lnSpc>
                <a:spcPct val="100000"/>
              </a:lnSpc>
              <a:spcBef>
                <a:spcPts val="125"/>
              </a:spcBef>
            </a:pPr>
            <a:r>
              <a:rPr sz="2900" spc="-25" dirty="0">
                <a:latin typeface="Symbol"/>
                <a:cs typeface="Symbol"/>
              </a:rPr>
              <a:t></a:t>
            </a:r>
            <a:r>
              <a:rPr sz="2900" i="1" spc="-25" dirty="0">
                <a:latin typeface="Times New Roman"/>
                <a:cs typeface="Times New Roman"/>
              </a:rPr>
              <a:t>x</a:t>
            </a:r>
            <a:endParaRPr sz="2900">
              <a:latin typeface="Times New Roman"/>
              <a:cs typeface="Times New Roman"/>
            </a:endParaRPr>
          </a:p>
        </p:txBody>
      </p:sp>
      <p:sp>
        <p:nvSpPr>
          <p:cNvPr id="10" name="object 10"/>
          <p:cNvSpPr/>
          <p:nvPr/>
        </p:nvSpPr>
        <p:spPr>
          <a:xfrm>
            <a:off x="1996760" y="5293917"/>
            <a:ext cx="582930" cy="0"/>
          </a:xfrm>
          <a:custGeom>
            <a:avLst/>
            <a:gdLst/>
            <a:ahLst/>
            <a:cxnLst/>
            <a:rect l="l" t="t" r="r" b="b"/>
            <a:pathLst>
              <a:path w="582930">
                <a:moveTo>
                  <a:pt x="0" y="0"/>
                </a:moveTo>
                <a:lnTo>
                  <a:pt x="582894" y="0"/>
                </a:lnTo>
              </a:path>
            </a:pathLst>
          </a:custGeom>
          <a:ln w="17198">
            <a:solidFill>
              <a:srgbClr val="000000"/>
            </a:solidFill>
          </a:ln>
        </p:spPr>
        <p:txBody>
          <a:bodyPr wrap="square" lIns="0" tIns="0" rIns="0" bIns="0" rtlCol="0"/>
          <a:lstStyle/>
          <a:p>
            <a:endParaRPr/>
          </a:p>
        </p:txBody>
      </p:sp>
      <p:sp>
        <p:nvSpPr>
          <p:cNvPr id="11" name="object 11"/>
          <p:cNvSpPr txBox="1"/>
          <p:nvPr/>
        </p:nvSpPr>
        <p:spPr>
          <a:xfrm>
            <a:off x="1974831" y="4799891"/>
            <a:ext cx="931544" cy="444500"/>
          </a:xfrm>
          <a:prstGeom prst="rect">
            <a:avLst/>
          </a:prstGeom>
        </p:spPr>
        <p:txBody>
          <a:bodyPr vert="horz" wrap="square" lIns="0" tIns="12065" rIns="0" bIns="0" rtlCol="0">
            <a:spAutoFit/>
          </a:bodyPr>
          <a:lstStyle/>
          <a:p>
            <a:pPr marL="38100">
              <a:lnSpc>
                <a:spcPct val="100000"/>
              </a:lnSpc>
              <a:spcBef>
                <a:spcPts val="95"/>
              </a:spcBef>
              <a:tabLst>
                <a:tab pos="697230" algn="l"/>
              </a:tabLst>
            </a:pPr>
            <a:r>
              <a:rPr sz="2750" spc="85" dirty="0">
                <a:latin typeface="Symbol"/>
                <a:cs typeface="Symbol"/>
              </a:rPr>
              <a:t></a:t>
            </a:r>
            <a:r>
              <a:rPr sz="2325" spc="127" baseline="44802" dirty="0">
                <a:latin typeface="Times New Roman"/>
                <a:cs typeface="Times New Roman"/>
              </a:rPr>
              <a:t>2</a:t>
            </a:r>
            <a:r>
              <a:rPr sz="2325" spc="359" baseline="44802" dirty="0">
                <a:latin typeface="Times New Roman"/>
                <a:cs typeface="Times New Roman"/>
              </a:rPr>
              <a:t> </a:t>
            </a:r>
            <a:r>
              <a:rPr sz="2750" i="1" spc="-60" dirty="0">
                <a:latin typeface="Times New Roman"/>
                <a:cs typeface="Times New Roman"/>
              </a:rPr>
              <a:t>f</a:t>
            </a:r>
            <a:r>
              <a:rPr sz="2750" i="1" dirty="0">
                <a:latin typeface="Times New Roman"/>
                <a:cs typeface="Times New Roman"/>
              </a:rPr>
              <a:t>	</a:t>
            </a:r>
            <a:r>
              <a:rPr sz="4125" spc="-75" baseline="-35353" dirty="0">
                <a:latin typeface="Symbol"/>
                <a:cs typeface="Symbol"/>
              </a:rPr>
              <a:t></a:t>
            </a:r>
            <a:endParaRPr sz="4125" baseline="-35353">
              <a:latin typeface="Symbol"/>
              <a:cs typeface="Symbol"/>
            </a:endParaRPr>
          </a:p>
        </p:txBody>
      </p:sp>
      <p:sp>
        <p:nvSpPr>
          <p:cNvPr id="12" name="object 12"/>
          <p:cNvSpPr txBox="1"/>
          <p:nvPr/>
        </p:nvSpPr>
        <p:spPr>
          <a:xfrm>
            <a:off x="2997251" y="5019647"/>
            <a:ext cx="3594100" cy="444500"/>
          </a:xfrm>
          <a:prstGeom prst="rect">
            <a:avLst/>
          </a:prstGeom>
        </p:spPr>
        <p:txBody>
          <a:bodyPr vert="horz" wrap="square" lIns="0" tIns="12065" rIns="0" bIns="0" rtlCol="0">
            <a:spAutoFit/>
          </a:bodyPr>
          <a:lstStyle/>
          <a:p>
            <a:pPr marL="12700">
              <a:lnSpc>
                <a:spcPct val="100000"/>
              </a:lnSpc>
              <a:spcBef>
                <a:spcPts val="95"/>
              </a:spcBef>
            </a:pPr>
            <a:r>
              <a:rPr sz="2750" i="1" dirty="0">
                <a:latin typeface="Times New Roman"/>
                <a:cs typeface="Times New Roman"/>
              </a:rPr>
              <a:t>f</a:t>
            </a:r>
            <a:r>
              <a:rPr sz="2750" i="1" spc="-40" dirty="0">
                <a:latin typeface="Times New Roman"/>
                <a:cs typeface="Times New Roman"/>
              </a:rPr>
              <a:t> </a:t>
            </a:r>
            <a:r>
              <a:rPr sz="2750" spc="100" dirty="0">
                <a:latin typeface="Times New Roman"/>
                <a:cs typeface="Times New Roman"/>
              </a:rPr>
              <a:t>(</a:t>
            </a:r>
            <a:r>
              <a:rPr sz="2750" i="1" spc="100" dirty="0">
                <a:latin typeface="Times New Roman"/>
                <a:cs typeface="Times New Roman"/>
              </a:rPr>
              <a:t>x</a:t>
            </a:r>
            <a:r>
              <a:rPr sz="2750" i="1" spc="-204" dirty="0">
                <a:latin typeface="Times New Roman"/>
                <a:cs typeface="Times New Roman"/>
              </a:rPr>
              <a:t> </a:t>
            </a:r>
            <a:r>
              <a:rPr sz="2750" spc="-10" dirty="0">
                <a:latin typeface="Symbol"/>
                <a:cs typeface="Symbol"/>
              </a:rPr>
              <a:t></a:t>
            </a:r>
            <a:r>
              <a:rPr sz="2750" spc="-10" dirty="0">
                <a:latin typeface="Times New Roman"/>
                <a:cs typeface="Times New Roman"/>
              </a:rPr>
              <a:t>1)</a:t>
            </a:r>
            <a:r>
              <a:rPr sz="2750" spc="-235" dirty="0">
                <a:latin typeface="Times New Roman"/>
                <a:cs typeface="Times New Roman"/>
              </a:rPr>
              <a:t> </a:t>
            </a:r>
            <a:r>
              <a:rPr sz="2750" dirty="0">
                <a:latin typeface="Symbol"/>
                <a:cs typeface="Symbol"/>
              </a:rPr>
              <a:t></a:t>
            </a:r>
            <a:r>
              <a:rPr sz="2750" spc="315" dirty="0">
                <a:latin typeface="Times New Roman"/>
                <a:cs typeface="Times New Roman"/>
              </a:rPr>
              <a:t> </a:t>
            </a:r>
            <a:r>
              <a:rPr sz="2750" i="1" dirty="0">
                <a:latin typeface="Times New Roman"/>
                <a:cs typeface="Times New Roman"/>
              </a:rPr>
              <a:t>f</a:t>
            </a:r>
            <a:r>
              <a:rPr sz="2750" i="1" spc="-40" dirty="0">
                <a:latin typeface="Times New Roman"/>
                <a:cs typeface="Times New Roman"/>
              </a:rPr>
              <a:t> </a:t>
            </a:r>
            <a:r>
              <a:rPr sz="2750" spc="100" dirty="0">
                <a:latin typeface="Times New Roman"/>
                <a:cs typeface="Times New Roman"/>
              </a:rPr>
              <a:t>(</a:t>
            </a:r>
            <a:r>
              <a:rPr sz="2750" i="1" spc="100" dirty="0">
                <a:latin typeface="Times New Roman"/>
                <a:cs typeface="Times New Roman"/>
              </a:rPr>
              <a:t>x</a:t>
            </a:r>
            <a:r>
              <a:rPr sz="2750" i="1" spc="-204" dirty="0">
                <a:latin typeface="Times New Roman"/>
                <a:cs typeface="Times New Roman"/>
              </a:rPr>
              <a:t> </a:t>
            </a:r>
            <a:r>
              <a:rPr sz="2750" spc="-30" dirty="0">
                <a:latin typeface="Symbol"/>
                <a:cs typeface="Symbol"/>
              </a:rPr>
              <a:t></a:t>
            </a:r>
            <a:r>
              <a:rPr sz="2750" spc="-30" dirty="0">
                <a:latin typeface="Times New Roman"/>
                <a:cs typeface="Times New Roman"/>
              </a:rPr>
              <a:t>1)</a:t>
            </a:r>
            <a:r>
              <a:rPr sz="2750" spc="-235" dirty="0">
                <a:latin typeface="Times New Roman"/>
                <a:cs typeface="Times New Roman"/>
              </a:rPr>
              <a:t> </a:t>
            </a:r>
            <a:r>
              <a:rPr sz="2750" dirty="0">
                <a:latin typeface="Symbol"/>
                <a:cs typeface="Symbol"/>
              </a:rPr>
              <a:t></a:t>
            </a:r>
            <a:r>
              <a:rPr sz="2750" spc="-254" dirty="0">
                <a:latin typeface="Times New Roman"/>
                <a:cs typeface="Times New Roman"/>
              </a:rPr>
              <a:t> </a:t>
            </a:r>
            <a:r>
              <a:rPr sz="2750" dirty="0">
                <a:latin typeface="Times New Roman"/>
                <a:cs typeface="Times New Roman"/>
              </a:rPr>
              <a:t>2</a:t>
            </a:r>
            <a:r>
              <a:rPr sz="2750" spc="-155" dirty="0">
                <a:latin typeface="Times New Roman"/>
                <a:cs typeface="Times New Roman"/>
              </a:rPr>
              <a:t> </a:t>
            </a:r>
            <a:r>
              <a:rPr sz="2750" i="1" dirty="0">
                <a:latin typeface="Times New Roman"/>
                <a:cs typeface="Times New Roman"/>
              </a:rPr>
              <a:t>f</a:t>
            </a:r>
            <a:r>
              <a:rPr sz="2750" i="1" spc="-35" dirty="0">
                <a:latin typeface="Times New Roman"/>
                <a:cs typeface="Times New Roman"/>
              </a:rPr>
              <a:t> </a:t>
            </a:r>
            <a:r>
              <a:rPr sz="2750" spc="60" dirty="0">
                <a:latin typeface="Times New Roman"/>
                <a:cs typeface="Times New Roman"/>
              </a:rPr>
              <a:t>(</a:t>
            </a:r>
            <a:r>
              <a:rPr sz="2750" i="1" spc="60" dirty="0">
                <a:latin typeface="Times New Roman"/>
                <a:cs typeface="Times New Roman"/>
              </a:rPr>
              <a:t>x</a:t>
            </a:r>
            <a:r>
              <a:rPr sz="2750" spc="60" dirty="0">
                <a:latin typeface="Times New Roman"/>
                <a:cs typeface="Times New Roman"/>
              </a:rPr>
              <a:t>)</a:t>
            </a:r>
            <a:endParaRPr sz="2750">
              <a:latin typeface="Times New Roman"/>
              <a:cs typeface="Times New Roman"/>
            </a:endParaRPr>
          </a:p>
        </p:txBody>
      </p:sp>
      <p:sp>
        <p:nvSpPr>
          <p:cNvPr id="13" name="object 13"/>
          <p:cNvSpPr txBox="1"/>
          <p:nvPr/>
        </p:nvSpPr>
        <p:spPr>
          <a:xfrm>
            <a:off x="2012801" y="5290894"/>
            <a:ext cx="520065" cy="444500"/>
          </a:xfrm>
          <a:prstGeom prst="rect">
            <a:avLst/>
          </a:prstGeom>
        </p:spPr>
        <p:txBody>
          <a:bodyPr vert="horz" wrap="square" lIns="0" tIns="12065" rIns="0" bIns="0" rtlCol="0">
            <a:spAutoFit/>
          </a:bodyPr>
          <a:lstStyle/>
          <a:p>
            <a:pPr marL="38100">
              <a:lnSpc>
                <a:spcPct val="100000"/>
              </a:lnSpc>
              <a:spcBef>
                <a:spcPts val="95"/>
              </a:spcBef>
            </a:pPr>
            <a:r>
              <a:rPr sz="2750" spc="-25" dirty="0">
                <a:latin typeface="Symbol"/>
                <a:cs typeface="Symbol"/>
              </a:rPr>
              <a:t></a:t>
            </a:r>
            <a:r>
              <a:rPr sz="2750" i="1" spc="-25" dirty="0">
                <a:latin typeface="Times New Roman"/>
                <a:cs typeface="Times New Roman"/>
              </a:rPr>
              <a:t>x</a:t>
            </a:r>
            <a:r>
              <a:rPr sz="2325" spc="-37" baseline="44802" dirty="0">
                <a:latin typeface="Times New Roman"/>
                <a:cs typeface="Times New Roman"/>
              </a:rPr>
              <a:t>2</a:t>
            </a:r>
            <a:endParaRPr sz="2325" baseline="44802">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C65539-D5C3-4E1F-9F24-A4ADBA7633C0}"/>
              </a:ext>
            </a:extLst>
          </p:cNvPr>
          <p:cNvPicPr>
            <a:picLocks noChangeAspect="1"/>
          </p:cNvPicPr>
          <p:nvPr/>
        </p:nvPicPr>
        <p:blipFill>
          <a:blip r:embed="rId2"/>
          <a:stretch>
            <a:fillRect/>
          </a:stretch>
        </p:blipFill>
        <p:spPr>
          <a:xfrm>
            <a:off x="1438114" y="1339742"/>
            <a:ext cx="6267772" cy="4178515"/>
          </a:xfrm>
          <a:prstGeom prst="rect">
            <a:avLst/>
          </a:prstGeom>
        </p:spPr>
      </p:pic>
    </p:spTree>
    <p:extLst>
      <p:ext uri="{BB962C8B-B14F-4D97-AF65-F5344CB8AC3E}">
        <p14:creationId xmlns:p14="http://schemas.microsoft.com/office/powerpoint/2010/main" val="1821323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DB2D08-5AD9-49C8-B137-E34BC1E5EB49}"/>
              </a:ext>
            </a:extLst>
          </p:cNvPr>
          <p:cNvPicPr>
            <a:picLocks noChangeAspect="1"/>
          </p:cNvPicPr>
          <p:nvPr/>
        </p:nvPicPr>
        <p:blipFill>
          <a:blip r:embed="rId2"/>
          <a:stretch>
            <a:fillRect/>
          </a:stretch>
        </p:blipFill>
        <p:spPr>
          <a:xfrm>
            <a:off x="990600" y="533400"/>
            <a:ext cx="7086600" cy="5943600"/>
          </a:xfrm>
          <a:prstGeom prst="rect">
            <a:avLst/>
          </a:prstGeom>
        </p:spPr>
      </p:pic>
    </p:spTree>
    <p:extLst>
      <p:ext uri="{BB962C8B-B14F-4D97-AF65-F5344CB8AC3E}">
        <p14:creationId xmlns:p14="http://schemas.microsoft.com/office/powerpoint/2010/main" val="1258640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0C9B42-B3A3-4047-B251-4CB825125A9E}"/>
              </a:ext>
            </a:extLst>
          </p:cNvPr>
          <p:cNvPicPr>
            <a:picLocks noChangeAspect="1"/>
          </p:cNvPicPr>
          <p:nvPr/>
        </p:nvPicPr>
        <p:blipFill>
          <a:blip r:embed="rId2"/>
          <a:stretch>
            <a:fillRect/>
          </a:stretch>
        </p:blipFill>
        <p:spPr>
          <a:xfrm>
            <a:off x="1530193" y="901570"/>
            <a:ext cx="6083613" cy="5054860"/>
          </a:xfrm>
          <a:prstGeom prst="rect">
            <a:avLst/>
          </a:prstGeom>
        </p:spPr>
      </p:pic>
    </p:spTree>
    <p:extLst>
      <p:ext uri="{BB962C8B-B14F-4D97-AF65-F5344CB8AC3E}">
        <p14:creationId xmlns:p14="http://schemas.microsoft.com/office/powerpoint/2010/main" val="3346854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42F8-65EC-4BBC-B12F-D05AF891B141}"/>
              </a:ext>
            </a:extLst>
          </p:cNvPr>
          <p:cNvSpPr>
            <a:spLocks noGrp="1"/>
          </p:cNvSpPr>
          <p:nvPr>
            <p:ph type="title"/>
          </p:nvPr>
        </p:nvSpPr>
        <p:spPr>
          <a:xfrm>
            <a:off x="386892" y="275145"/>
            <a:ext cx="5023308" cy="923330"/>
          </a:xfrm>
        </p:spPr>
        <p:txBody>
          <a:bodyPr/>
          <a:lstStyle/>
          <a:p>
            <a:r>
              <a:rPr lang="en-US" dirty="0">
                <a:solidFill>
                  <a:srgbClr val="242424"/>
                </a:solidFill>
                <a:latin typeface="sohne"/>
              </a:rPr>
              <a:t>Sharpening Filters</a:t>
            </a:r>
            <a:br>
              <a:rPr lang="en-US" dirty="0">
                <a:solidFill>
                  <a:srgbClr val="242424"/>
                </a:solidFill>
                <a:latin typeface="sohne"/>
              </a:rPr>
            </a:br>
            <a:endParaRPr lang="en-US" dirty="0"/>
          </a:p>
        </p:txBody>
      </p:sp>
      <p:sp>
        <p:nvSpPr>
          <p:cNvPr id="4" name="Rectangle 3">
            <a:extLst>
              <a:ext uri="{FF2B5EF4-FFF2-40B4-BE49-F238E27FC236}">
                <a16:creationId xmlns:a16="http://schemas.microsoft.com/office/drawing/2014/main" id="{7D3EA9D9-73E2-45AB-B27F-0580E46E883B}"/>
              </a:ext>
            </a:extLst>
          </p:cNvPr>
          <p:cNvSpPr/>
          <p:nvPr/>
        </p:nvSpPr>
        <p:spPr>
          <a:xfrm>
            <a:off x="356070" y="784580"/>
            <a:ext cx="7721130" cy="646331"/>
          </a:xfrm>
          <a:prstGeom prst="rect">
            <a:avLst/>
          </a:prstGeom>
        </p:spPr>
        <p:txBody>
          <a:bodyPr wrap="square">
            <a:spAutoFit/>
          </a:bodyPr>
          <a:lstStyle/>
          <a:p>
            <a:pPr algn="l"/>
            <a:r>
              <a:rPr lang="en-US" b="1" i="0" dirty="0">
                <a:solidFill>
                  <a:srgbClr val="242424"/>
                </a:solidFill>
                <a:effectLst/>
                <a:latin typeface="sohne"/>
              </a:rPr>
              <a:t>The Laplacian Filter</a:t>
            </a:r>
          </a:p>
          <a:p>
            <a:pPr algn="l">
              <a:buFont typeface="Arial" panose="020B0604020202020204" pitchFamily="34" charset="0"/>
              <a:buChar char="•"/>
            </a:pPr>
            <a:r>
              <a:rPr lang="en-US" b="0" i="0" dirty="0">
                <a:solidFill>
                  <a:srgbClr val="242424"/>
                </a:solidFill>
                <a:effectLst/>
                <a:latin typeface="source-serif-pro"/>
              </a:rPr>
              <a:t>The Laplacian filter has an isotropic structure.</a:t>
            </a:r>
          </a:p>
        </p:txBody>
      </p:sp>
      <p:pic>
        <p:nvPicPr>
          <p:cNvPr id="6" name="Picture 5">
            <a:extLst>
              <a:ext uri="{FF2B5EF4-FFF2-40B4-BE49-F238E27FC236}">
                <a16:creationId xmlns:a16="http://schemas.microsoft.com/office/drawing/2014/main" id="{34EB5870-63E6-468B-BA30-A8A833C65D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142" y="2466925"/>
            <a:ext cx="6121715" cy="1924149"/>
          </a:xfrm>
          <a:prstGeom prst="rect">
            <a:avLst/>
          </a:prstGeom>
        </p:spPr>
      </p:pic>
    </p:spTree>
    <p:extLst>
      <p:ext uri="{BB962C8B-B14F-4D97-AF65-F5344CB8AC3E}">
        <p14:creationId xmlns:p14="http://schemas.microsoft.com/office/powerpoint/2010/main" val="2303437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6">
            <a:extLst>
              <a:ext uri="{FF2B5EF4-FFF2-40B4-BE49-F238E27FC236}">
                <a16:creationId xmlns:a16="http://schemas.microsoft.com/office/drawing/2014/main" id="{09DC4BCB-073D-4D9F-8840-443EA2E935AD}"/>
              </a:ext>
            </a:extLst>
          </p:cNvPr>
          <p:cNvSpPr/>
          <p:nvPr/>
        </p:nvSpPr>
        <p:spPr>
          <a:xfrm>
            <a:off x="3462279" y="2957886"/>
            <a:ext cx="590550" cy="0"/>
          </a:xfrm>
          <a:custGeom>
            <a:avLst/>
            <a:gdLst/>
            <a:ahLst/>
            <a:cxnLst/>
            <a:rect l="l" t="t" r="r" b="b"/>
            <a:pathLst>
              <a:path w="590550">
                <a:moveTo>
                  <a:pt x="0" y="0"/>
                </a:moveTo>
                <a:lnTo>
                  <a:pt x="590210" y="0"/>
                </a:lnTo>
              </a:path>
            </a:pathLst>
          </a:custGeom>
          <a:ln w="17400">
            <a:solidFill>
              <a:srgbClr val="000000"/>
            </a:solidFill>
          </a:ln>
        </p:spPr>
        <p:txBody>
          <a:bodyPr wrap="square" lIns="0" tIns="0" rIns="0" bIns="0" rtlCol="0"/>
          <a:lstStyle/>
          <a:p>
            <a:endParaRPr/>
          </a:p>
        </p:txBody>
      </p:sp>
      <p:sp>
        <p:nvSpPr>
          <p:cNvPr id="4" name="object 7">
            <a:extLst>
              <a:ext uri="{FF2B5EF4-FFF2-40B4-BE49-F238E27FC236}">
                <a16:creationId xmlns:a16="http://schemas.microsoft.com/office/drawing/2014/main" id="{5AA4299F-64F2-4FE6-9185-B199C9078E7B}"/>
              </a:ext>
            </a:extLst>
          </p:cNvPr>
          <p:cNvSpPr/>
          <p:nvPr/>
        </p:nvSpPr>
        <p:spPr>
          <a:xfrm>
            <a:off x="4388214" y="2957886"/>
            <a:ext cx="589915" cy="0"/>
          </a:xfrm>
          <a:custGeom>
            <a:avLst/>
            <a:gdLst/>
            <a:ahLst/>
            <a:cxnLst/>
            <a:rect l="l" t="t" r="r" b="b"/>
            <a:pathLst>
              <a:path w="589914">
                <a:moveTo>
                  <a:pt x="0" y="0"/>
                </a:moveTo>
                <a:lnTo>
                  <a:pt x="589515" y="0"/>
                </a:lnTo>
              </a:path>
            </a:pathLst>
          </a:custGeom>
          <a:ln w="17400">
            <a:solidFill>
              <a:srgbClr val="000000"/>
            </a:solidFill>
          </a:ln>
        </p:spPr>
        <p:txBody>
          <a:bodyPr wrap="square" lIns="0" tIns="0" rIns="0" bIns="0" rtlCol="0"/>
          <a:lstStyle/>
          <a:p>
            <a:endParaRPr/>
          </a:p>
        </p:txBody>
      </p:sp>
      <p:sp>
        <p:nvSpPr>
          <p:cNvPr id="5" name="object 8">
            <a:extLst>
              <a:ext uri="{FF2B5EF4-FFF2-40B4-BE49-F238E27FC236}">
                <a16:creationId xmlns:a16="http://schemas.microsoft.com/office/drawing/2014/main" id="{8D611548-82A2-434E-9085-48CEBCD8168F}"/>
              </a:ext>
            </a:extLst>
          </p:cNvPr>
          <p:cNvSpPr txBox="1"/>
          <p:nvPr/>
        </p:nvSpPr>
        <p:spPr>
          <a:xfrm>
            <a:off x="3428444" y="2459594"/>
            <a:ext cx="1506855" cy="448309"/>
          </a:xfrm>
          <a:prstGeom prst="rect">
            <a:avLst/>
          </a:prstGeom>
        </p:spPr>
        <p:txBody>
          <a:bodyPr vert="horz" wrap="square" lIns="0" tIns="15240" rIns="0" bIns="0" rtlCol="0">
            <a:spAutoFit/>
          </a:bodyPr>
          <a:lstStyle/>
          <a:p>
            <a:pPr marL="50800">
              <a:lnSpc>
                <a:spcPct val="100000"/>
              </a:lnSpc>
              <a:spcBef>
                <a:spcPts val="120"/>
              </a:spcBef>
              <a:tabLst>
                <a:tab pos="975994" algn="l"/>
              </a:tabLst>
            </a:pPr>
            <a:r>
              <a:rPr sz="2750" spc="85" dirty="0">
                <a:latin typeface="Symbol"/>
                <a:cs typeface="Symbol"/>
              </a:rPr>
              <a:t></a:t>
            </a:r>
            <a:r>
              <a:rPr sz="2400" spc="127" baseline="43402" dirty="0">
                <a:latin typeface="Times New Roman"/>
                <a:cs typeface="Times New Roman"/>
              </a:rPr>
              <a:t>2</a:t>
            </a:r>
            <a:r>
              <a:rPr sz="2400" spc="367" baseline="43402" dirty="0">
                <a:latin typeface="Times New Roman"/>
                <a:cs typeface="Times New Roman"/>
              </a:rPr>
              <a:t> </a:t>
            </a:r>
            <a:r>
              <a:rPr sz="2750" i="1" spc="-50" dirty="0">
                <a:latin typeface="Times New Roman"/>
                <a:cs typeface="Times New Roman"/>
              </a:rPr>
              <a:t>f</a:t>
            </a:r>
            <a:r>
              <a:rPr sz="2750" i="1" dirty="0">
                <a:latin typeface="Times New Roman"/>
                <a:cs typeface="Times New Roman"/>
              </a:rPr>
              <a:t>	</a:t>
            </a:r>
            <a:r>
              <a:rPr sz="2750" spc="85" dirty="0">
                <a:latin typeface="Symbol"/>
                <a:cs typeface="Symbol"/>
              </a:rPr>
              <a:t></a:t>
            </a:r>
            <a:r>
              <a:rPr sz="2400" spc="127" baseline="43402" dirty="0">
                <a:latin typeface="Times New Roman"/>
                <a:cs typeface="Times New Roman"/>
              </a:rPr>
              <a:t>2</a:t>
            </a:r>
            <a:r>
              <a:rPr sz="2400" spc="367" baseline="43402" dirty="0">
                <a:latin typeface="Times New Roman"/>
                <a:cs typeface="Times New Roman"/>
              </a:rPr>
              <a:t> </a:t>
            </a:r>
            <a:r>
              <a:rPr sz="2750" i="1" spc="-50" dirty="0">
                <a:latin typeface="Times New Roman"/>
                <a:cs typeface="Times New Roman"/>
              </a:rPr>
              <a:t>f</a:t>
            </a:r>
            <a:endParaRPr sz="2750">
              <a:latin typeface="Times New Roman"/>
              <a:cs typeface="Times New Roman"/>
            </a:endParaRPr>
          </a:p>
        </p:txBody>
      </p:sp>
      <p:sp>
        <p:nvSpPr>
          <p:cNvPr id="6" name="object 9">
            <a:extLst>
              <a:ext uri="{FF2B5EF4-FFF2-40B4-BE49-F238E27FC236}">
                <a16:creationId xmlns:a16="http://schemas.microsoft.com/office/drawing/2014/main" id="{10C0DBAD-68EC-435C-AD9D-6D18FDFB3E72}"/>
              </a:ext>
            </a:extLst>
          </p:cNvPr>
          <p:cNvSpPr txBox="1"/>
          <p:nvPr/>
        </p:nvSpPr>
        <p:spPr>
          <a:xfrm>
            <a:off x="2433186" y="2523511"/>
            <a:ext cx="446405" cy="448309"/>
          </a:xfrm>
          <a:prstGeom prst="rect">
            <a:avLst/>
          </a:prstGeom>
        </p:spPr>
        <p:txBody>
          <a:bodyPr vert="horz" wrap="square" lIns="0" tIns="15240" rIns="0" bIns="0" rtlCol="0">
            <a:spAutoFit/>
          </a:bodyPr>
          <a:lstStyle/>
          <a:p>
            <a:pPr marL="38100">
              <a:lnSpc>
                <a:spcPct val="100000"/>
              </a:lnSpc>
              <a:spcBef>
                <a:spcPts val="120"/>
              </a:spcBef>
            </a:pPr>
            <a:r>
              <a:rPr sz="4125" spc="60" baseline="-25252" dirty="0">
                <a:latin typeface="Symbol"/>
                <a:cs typeface="Symbol"/>
              </a:rPr>
              <a:t></a:t>
            </a:r>
            <a:r>
              <a:rPr sz="1600" spc="40" dirty="0">
                <a:latin typeface="Times New Roman"/>
                <a:cs typeface="Times New Roman"/>
              </a:rPr>
              <a:t>2</a:t>
            </a:r>
            <a:endParaRPr sz="1600">
              <a:latin typeface="Times New Roman"/>
              <a:cs typeface="Times New Roman"/>
            </a:endParaRPr>
          </a:p>
        </p:txBody>
      </p:sp>
      <p:sp>
        <p:nvSpPr>
          <p:cNvPr id="7" name="object 10">
            <a:extLst>
              <a:ext uri="{FF2B5EF4-FFF2-40B4-BE49-F238E27FC236}">
                <a16:creationId xmlns:a16="http://schemas.microsoft.com/office/drawing/2014/main" id="{6A1FAA61-2FE3-4C46-A892-C2FE0DE30C01}"/>
              </a:ext>
            </a:extLst>
          </p:cNvPr>
          <p:cNvSpPr txBox="1"/>
          <p:nvPr/>
        </p:nvSpPr>
        <p:spPr>
          <a:xfrm>
            <a:off x="2884865" y="2680538"/>
            <a:ext cx="1118870" cy="448309"/>
          </a:xfrm>
          <a:prstGeom prst="rect">
            <a:avLst/>
          </a:prstGeom>
        </p:spPr>
        <p:txBody>
          <a:bodyPr vert="horz" wrap="square" lIns="0" tIns="15240" rIns="0" bIns="0" rtlCol="0">
            <a:spAutoFit/>
          </a:bodyPr>
          <a:lstStyle/>
          <a:p>
            <a:pPr marL="38100">
              <a:lnSpc>
                <a:spcPct val="100000"/>
              </a:lnSpc>
              <a:spcBef>
                <a:spcPts val="120"/>
              </a:spcBef>
              <a:tabLst>
                <a:tab pos="296545" algn="l"/>
                <a:tab pos="632460" algn="l"/>
              </a:tabLst>
            </a:pPr>
            <a:r>
              <a:rPr sz="2750" i="1" spc="-50" dirty="0">
                <a:latin typeface="Times New Roman"/>
                <a:cs typeface="Times New Roman"/>
              </a:rPr>
              <a:t>f</a:t>
            </a:r>
            <a:r>
              <a:rPr sz="2750" i="1" dirty="0">
                <a:latin typeface="Times New Roman"/>
                <a:cs typeface="Times New Roman"/>
              </a:rPr>
              <a:t>	</a:t>
            </a:r>
            <a:r>
              <a:rPr sz="2750" spc="-50" dirty="0">
                <a:latin typeface="Symbol"/>
                <a:cs typeface="Symbol"/>
              </a:rPr>
              <a:t></a:t>
            </a:r>
            <a:r>
              <a:rPr sz="2750" dirty="0">
                <a:latin typeface="Times New Roman"/>
                <a:cs typeface="Times New Roman"/>
              </a:rPr>
              <a:t>	</a:t>
            </a:r>
            <a:r>
              <a:rPr sz="4125" spc="-37" baseline="-43434" dirty="0">
                <a:latin typeface="Symbol"/>
                <a:cs typeface="Symbol"/>
              </a:rPr>
              <a:t></a:t>
            </a:r>
            <a:r>
              <a:rPr sz="4125" i="1" spc="-37" baseline="-43434" dirty="0">
                <a:latin typeface="Times New Roman"/>
                <a:cs typeface="Times New Roman"/>
              </a:rPr>
              <a:t>x</a:t>
            </a:r>
            <a:r>
              <a:rPr sz="2400" spc="-37" baseline="-31250" dirty="0">
                <a:latin typeface="Times New Roman"/>
                <a:cs typeface="Times New Roman"/>
              </a:rPr>
              <a:t>2</a:t>
            </a:r>
            <a:endParaRPr sz="2400" baseline="-31250">
              <a:latin typeface="Times New Roman"/>
              <a:cs typeface="Times New Roman"/>
            </a:endParaRPr>
          </a:p>
        </p:txBody>
      </p:sp>
      <p:sp>
        <p:nvSpPr>
          <p:cNvPr id="8" name="object 11">
            <a:extLst>
              <a:ext uri="{FF2B5EF4-FFF2-40B4-BE49-F238E27FC236}">
                <a16:creationId xmlns:a16="http://schemas.microsoft.com/office/drawing/2014/main" id="{57253EA0-655F-407B-A593-8EDD2994155A}"/>
              </a:ext>
            </a:extLst>
          </p:cNvPr>
          <p:cNvSpPr txBox="1"/>
          <p:nvPr/>
        </p:nvSpPr>
        <p:spPr>
          <a:xfrm>
            <a:off x="4085622" y="2955666"/>
            <a:ext cx="845819" cy="448309"/>
          </a:xfrm>
          <a:prstGeom prst="rect">
            <a:avLst/>
          </a:prstGeom>
        </p:spPr>
        <p:txBody>
          <a:bodyPr vert="horz" wrap="square" lIns="0" tIns="15240" rIns="0" bIns="0" rtlCol="0">
            <a:spAutoFit/>
          </a:bodyPr>
          <a:lstStyle/>
          <a:p>
            <a:pPr marL="38100">
              <a:lnSpc>
                <a:spcPct val="100000"/>
              </a:lnSpc>
              <a:spcBef>
                <a:spcPts val="120"/>
              </a:spcBef>
            </a:pPr>
            <a:r>
              <a:rPr sz="4125" baseline="43434" dirty="0">
                <a:latin typeface="Symbol"/>
                <a:cs typeface="Symbol"/>
              </a:rPr>
              <a:t></a:t>
            </a:r>
            <a:r>
              <a:rPr sz="4125" spc="427" baseline="43434" dirty="0">
                <a:latin typeface="Times New Roman"/>
                <a:cs typeface="Times New Roman"/>
              </a:rPr>
              <a:t> </a:t>
            </a:r>
            <a:r>
              <a:rPr sz="2750" spc="30" dirty="0">
                <a:latin typeface="Symbol"/>
                <a:cs typeface="Symbol"/>
              </a:rPr>
              <a:t></a:t>
            </a:r>
            <a:r>
              <a:rPr sz="2750" i="1" spc="30" dirty="0">
                <a:latin typeface="Times New Roman"/>
                <a:cs typeface="Times New Roman"/>
              </a:rPr>
              <a:t>y</a:t>
            </a:r>
            <a:r>
              <a:rPr sz="2400" spc="44" baseline="43402" dirty="0">
                <a:latin typeface="Times New Roman"/>
                <a:cs typeface="Times New Roman"/>
              </a:rPr>
              <a:t>2</a:t>
            </a:r>
            <a:endParaRPr sz="2400" baseline="43402" dirty="0">
              <a:latin typeface="Times New Roman"/>
              <a:cs typeface="Times New Roman"/>
            </a:endParaRPr>
          </a:p>
        </p:txBody>
      </p:sp>
      <p:sp>
        <p:nvSpPr>
          <p:cNvPr id="9" name="object 12">
            <a:extLst>
              <a:ext uri="{FF2B5EF4-FFF2-40B4-BE49-F238E27FC236}">
                <a16:creationId xmlns:a16="http://schemas.microsoft.com/office/drawing/2014/main" id="{5CF6C995-2E2D-4696-A53A-B9FD93E9024D}"/>
              </a:ext>
            </a:extLst>
          </p:cNvPr>
          <p:cNvSpPr/>
          <p:nvPr/>
        </p:nvSpPr>
        <p:spPr>
          <a:xfrm>
            <a:off x="1465381" y="3760008"/>
            <a:ext cx="492125" cy="0"/>
          </a:xfrm>
          <a:custGeom>
            <a:avLst/>
            <a:gdLst/>
            <a:ahLst/>
            <a:cxnLst/>
            <a:rect l="l" t="t" r="r" b="b"/>
            <a:pathLst>
              <a:path w="492125">
                <a:moveTo>
                  <a:pt x="0" y="0"/>
                </a:moveTo>
                <a:lnTo>
                  <a:pt x="492111" y="0"/>
                </a:lnTo>
              </a:path>
            </a:pathLst>
          </a:custGeom>
          <a:ln w="13936">
            <a:solidFill>
              <a:srgbClr val="000000"/>
            </a:solidFill>
          </a:ln>
        </p:spPr>
        <p:txBody>
          <a:bodyPr wrap="square" lIns="0" tIns="0" rIns="0" bIns="0" rtlCol="0"/>
          <a:lstStyle/>
          <a:p>
            <a:endParaRPr/>
          </a:p>
        </p:txBody>
      </p:sp>
      <p:sp>
        <p:nvSpPr>
          <p:cNvPr id="10" name="object 13">
            <a:extLst>
              <a:ext uri="{FF2B5EF4-FFF2-40B4-BE49-F238E27FC236}">
                <a16:creationId xmlns:a16="http://schemas.microsoft.com/office/drawing/2014/main" id="{3CFB668D-0FBB-4080-9558-4B05C857D0C0}"/>
              </a:ext>
            </a:extLst>
          </p:cNvPr>
          <p:cNvSpPr txBox="1"/>
          <p:nvPr/>
        </p:nvSpPr>
        <p:spPr>
          <a:xfrm>
            <a:off x="1440950" y="3341023"/>
            <a:ext cx="798830" cy="379095"/>
          </a:xfrm>
          <a:prstGeom prst="rect">
            <a:avLst/>
          </a:prstGeom>
        </p:spPr>
        <p:txBody>
          <a:bodyPr vert="horz" wrap="square" lIns="0" tIns="14604" rIns="0" bIns="0" rtlCol="0">
            <a:spAutoFit/>
          </a:bodyPr>
          <a:lstStyle/>
          <a:p>
            <a:pPr marL="38100">
              <a:lnSpc>
                <a:spcPct val="100000"/>
              </a:lnSpc>
              <a:spcBef>
                <a:spcPts val="114"/>
              </a:spcBef>
              <a:tabLst>
                <a:tab pos="594360" algn="l"/>
              </a:tabLst>
            </a:pPr>
            <a:r>
              <a:rPr sz="2300" spc="85" dirty="0">
                <a:latin typeface="Symbol"/>
                <a:cs typeface="Symbol"/>
              </a:rPr>
              <a:t></a:t>
            </a:r>
            <a:r>
              <a:rPr sz="1950" spc="127" baseline="44871" dirty="0">
                <a:latin typeface="Times New Roman"/>
                <a:cs typeface="Times New Roman"/>
              </a:rPr>
              <a:t>2</a:t>
            </a:r>
            <a:r>
              <a:rPr sz="1950" spc="315" baseline="44871" dirty="0">
                <a:latin typeface="Times New Roman"/>
                <a:cs typeface="Times New Roman"/>
              </a:rPr>
              <a:t> </a:t>
            </a:r>
            <a:r>
              <a:rPr sz="2300" i="1" spc="-50" dirty="0">
                <a:latin typeface="Times New Roman"/>
                <a:cs typeface="Times New Roman"/>
              </a:rPr>
              <a:t>f</a:t>
            </a:r>
            <a:r>
              <a:rPr sz="2300" i="1" dirty="0">
                <a:latin typeface="Times New Roman"/>
                <a:cs typeface="Times New Roman"/>
              </a:rPr>
              <a:t>	</a:t>
            </a:r>
            <a:r>
              <a:rPr sz="3450" spc="-75" baseline="-35024" dirty="0">
                <a:latin typeface="Symbol"/>
                <a:cs typeface="Symbol"/>
              </a:rPr>
              <a:t></a:t>
            </a:r>
            <a:endParaRPr sz="3450" baseline="-35024">
              <a:latin typeface="Symbol"/>
              <a:cs typeface="Symbol"/>
            </a:endParaRPr>
          </a:p>
        </p:txBody>
      </p:sp>
      <p:sp>
        <p:nvSpPr>
          <p:cNvPr id="11" name="object 14">
            <a:extLst>
              <a:ext uri="{FF2B5EF4-FFF2-40B4-BE49-F238E27FC236}">
                <a16:creationId xmlns:a16="http://schemas.microsoft.com/office/drawing/2014/main" id="{07E62323-3F7E-4388-A6F9-0BD2E1E5C225}"/>
              </a:ext>
            </a:extLst>
          </p:cNvPr>
          <p:cNvSpPr txBox="1"/>
          <p:nvPr/>
        </p:nvSpPr>
        <p:spPr>
          <a:xfrm>
            <a:off x="1473046" y="3755475"/>
            <a:ext cx="450850" cy="379095"/>
          </a:xfrm>
          <a:prstGeom prst="rect">
            <a:avLst/>
          </a:prstGeom>
        </p:spPr>
        <p:txBody>
          <a:bodyPr vert="horz" wrap="square" lIns="0" tIns="14604" rIns="0" bIns="0" rtlCol="0">
            <a:spAutoFit/>
          </a:bodyPr>
          <a:lstStyle/>
          <a:p>
            <a:pPr marL="38100">
              <a:lnSpc>
                <a:spcPct val="100000"/>
              </a:lnSpc>
              <a:spcBef>
                <a:spcPts val="114"/>
              </a:spcBef>
            </a:pPr>
            <a:r>
              <a:rPr sz="2300" spc="-25" dirty="0">
                <a:latin typeface="Symbol"/>
                <a:cs typeface="Symbol"/>
              </a:rPr>
              <a:t></a:t>
            </a:r>
            <a:r>
              <a:rPr sz="2300" i="1" spc="-25" dirty="0">
                <a:latin typeface="Times New Roman"/>
                <a:cs typeface="Times New Roman"/>
              </a:rPr>
              <a:t>x</a:t>
            </a:r>
            <a:r>
              <a:rPr sz="1950" spc="-37" baseline="44871" dirty="0">
                <a:latin typeface="Times New Roman"/>
                <a:cs typeface="Times New Roman"/>
              </a:rPr>
              <a:t>2</a:t>
            </a:r>
            <a:endParaRPr sz="1950" baseline="44871">
              <a:latin typeface="Times New Roman"/>
              <a:cs typeface="Times New Roman"/>
            </a:endParaRPr>
          </a:p>
        </p:txBody>
      </p:sp>
      <p:sp>
        <p:nvSpPr>
          <p:cNvPr id="12" name="object 15">
            <a:extLst>
              <a:ext uri="{FF2B5EF4-FFF2-40B4-BE49-F238E27FC236}">
                <a16:creationId xmlns:a16="http://schemas.microsoft.com/office/drawing/2014/main" id="{0C75EF01-8B69-4C89-82E9-5F5BB2F0F4E0}"/>
              </a:ext>
            </a:extLst>
          </p:cNvPr>
          <p:cNvSpPr/>
          <p:nvPr/>
        </p:nvSpPr>
        <p:spPr>
          <a:xfrm>
            <a:off x="1440176" y="4597770"/>
            <a:ext cx="494665" cy="0"/>
          </a:xfrm>
          <a:custGeom>
            <a:avLst/>
            <a:gdLst/>
            <a:ahLst/>
            <a:cxnLst/>
            <a:rect l="l" t="t" r="r" b="b"/>
            <a:pathLst>
              <a:path w="494664">
                <a:moveTo>
                  <a:pt x="0" y="0"/>
                </a:moveTo>
                <a:lnTo>
                  <a:pt x="494061" y="0"/>
                </a:lnTo>
              </a:path>
            </a:pathLst>
          </a:custGeom>
          <a:ln w="13989">
            <a:solidFill>
              <a:srgbClr val="000000"/>
            </a:solidFill>
          </a:ln>
        </p:spPr>
        <p:txBody>
          <a:bodyPr wrap="square" lIns="0" tIns="0" rIns="0" bIns="0" rtlCol="0"/>
          <a:lstStyle/>
          <a:p>
            <a:endParaRPr/>
          </a:p>
        </p:txBody>
      </p:sp>
      <p:sp>
        <p:nvSpPr>
          <p:cNvPr id="13" name="object 16">
            <a:extLst>
              <a:ext uri="{FF2B5EF4-FFF2-40B4-BE49-F238E27FC236}">
                <a16:creationId xmlns:a16="http://schemas.microsoft.com/office/drawing/2014/main" id="{75FE3B15-8A2C-42A9-B212-5E5C23001605}"/>
              </a:ext>
            </a:extLst>
          </p:cNvPr>
          <p:cNvSpPr txBox="1"/>
          <p:nvPr/>
        </p:nvSpPr>
        <p:spPr>
          <a:xfrm>
            <a:off x="1415800" y="4178394"/>
            <a:ext cx="801370" cy="379730"/>
          </a:xfrm>
          <a:prstGeom prst="rect">
            <a:avLst/>
          </a:prstGeom>
        </p:spPr>
        <p:txBody>
          <a:bodyPr vert="horz" wrap="square" lIns="0" tIns="15240" rIns="0" bIns="0" rtlCol="0">
            <a:spAutoFit/>
          </a:bodyPr>
          <a:lstStyle/>
          <a:p>
            <a:pPr marL="38100">
              <a:lnSpc>
                <a:spcPct val="100000"/>
              </a:lnSpc>
              <a:spcBef>
                <a:spcPts val="120"/>
              </a:spcBef>
              <a:tabLst>
                <a:tab pos="596900" algn="l"/>
              </a:tabLst>
            </a:pPr>
            <a:r>
              <a:rPr sz="2300" spc="75" dirty="0">
                <a:latin typeface="Symbol"/>
                <a:cs typeface="Symbol"/>
              </a:rPr>
              <a:t></a:t>
            </a:r>
            <a:r>
              <a:rPr sz="2025" spc="112" baseline="43209" dirty="0">
                <a:latin typeface="Times New Roman"/>
                <a:cs typeface="Times New Roman"/>
              </a:rPr>
              <a:t>2</a:t>
            </a:r>
            <a:r>
              <a:rPr sz="2025" spc="292" baseline="43209" dirty="0">
                <a:latin typeface="Times New Roman"/>
                <a:cs typeface="Times New Roman"/>
              </a:rPr>
              <a:t> </a:t>
            </a:r>
            <a:r>
              <a:rPr sz="2300" i="1" spc="-50" dirty="0">
                <a:latin typeface="Times New Roman"/>
                <a:cs typeface="Times New Roman"/>
              </a:rPr>
              <a:t>f</a:t>
            </a:r>
            <a:r>
              <a:rPr sz="2300" i="1" dirty="0">
                <a:latin typeface="Times New Roman"/>
                <a:cs typeface="Times New Roman"/>
              </a:rPr>
              <a:t>	</a:t>
            </a:r>
            <a:r>
              <a:rPr sz="3450" spc="-75" baseline="-35024" dirty="0">
                <a:latin typeface="Symbol"/>
                <a:cs typeface="Symbol"/>
              </a:rPr>
              <a:t></a:t>
            </a:r>
            <a:endParaRPr sz="3450" baseline="-35024">
              <a:latin typeface="Symbol"/>
              <a:cs typeface="Symbol"/>
            </a:endParaRPr>
          </a:p>
        </p:txBody>
      </p:sp>
      <p:sp>
        <p:nvSpPr>
          <p:cNvPr id="14" name="object 17">
            <a:extLst>
              <a:ext uri="{FF2B5EF4-FFF2-40B4-BE49-F238E27FC236}">
                <a16:creationId xmlns:a16="http://schemas.microsoft.com/office/drawing/2014/main" id="{5AAC6074-AC18-408D-BB42-4E74BD673AA2}"/>
              </a:ext>
            </a:extLst>
          </p:cNvPr>
          <p:cNvSpPr txBox="1"/>
          <p:nvPr/>
        </p:nvSpPr>
        <p:spPr>
          <a:xfrm>
            <a:off x="2286122" y="3526518"/>
            <a:ext cx="3886835" cy="1216660"/>
          </a:xfrm>
          <a:prstGeom prst="rect">
            <a:avLst/>
          </a:prstGeom>
        </p:spPr>
        <p:txBody>
          <a:bodyPr vert="horz" wrap="square" lIns="0" tIns="14604" rIns="0" bIns="0" rtlCol="0">
            <a:spAutoFit/>
          </a:bodyPr>
          <a:lstStyle/>
          <a:p>
            <a:pPr marL="34290">
              <a:lnSpc>
                <a:spcPct val="100000"/>
              </a:lnSpc>
              <a:spcBef>
                <a:spcPts val="114"/>
              </a:spcBef>
            </a:pPr>
            <a:r>
              <a:rPr sz="2300" i="1" dirty="0">
                <a:latin typeface="Times New Roman"/>
                <a:cs typeface="Times New Roman"/>
              </a:rPr>
              <a:t>f</a:t>
            </a:r>
            <a:r>
              <a:rPr sz="2300" i="1" spc="-30" dirty="0">
                <a:latin typeface="Times New Roman"/>
                <a:cs typeface="Times New Roman"/>
              </a:rPr>
              <a:t> </a:t>
            </a:r>
            <a:r>
              <a:rPr sz="2300" spc="90" dirty="0">
                <a:latin typeface="Times New Roman"/>
                <a:cs typeface="Times New Roman"/>
              </a:rPr>
              <a:t>(</a:t>
            </a:r>
            <a:r>
              <a:rPr sz="2300" i="1" spc="90" dirty="0">
                <a:latin typeface="Times New Roman"/>
                <a:cs typeface="Times New Roman"/>
              </a:rPr>
              <a:t>x</a:t>
            </a:r>
            <a:r>
              <a:rPr sz="2300" i="1" spc="-165" dirty="0">
                <a:latin typeface="Times New Roman"/>
                <a:cs typeface="Times New Roman"/>
              </a:rPr>
              <a:t> </a:t>
            </a:r>
            <a:r>
              <a:rPr sz="2300" dirty="0">
                <a:latin typeface="Symbol"/>
                <a:cs typeface="Symbol"/>
              </a:rPr>
              <a:t></a:t>
            </a:r>
            <a:r>
              <a:rPr sz="2300" dirty="0">
                <a:latin typeface="Times New Roman"/>
                <a:cs typeface="Times New Roman"/>
              </a:rPr>
              <a:t>1,</a:t>
            </a:r>
            <a:r>
              <a:rPr sz="2300" spc="-80" dirty="0">
                <a:latin typeface="Times New Roman"/>
                <a:cs typeface="Times New Roman"/>
              </a:rPr>
              <a:t> </a:t>
            </a:r>
            <a:r>
              <a:rPr sz="2300" i="1" spc="55" dirty="0">
                <a:latin typeface="Times New Roman"/>
                <a:cs typeface="Times New Roman"/>
              </a:rPr>
              <a:t>y</a:t>
            </a:r>
            <a:r>
              <a:rPr sz="2300" spc="55" dirty="0">
                <a:latin typeface="Times New Roman"/>
                <a:cs typeface="Times New Roman"/>
              </a:rPr>
              <a:t>)</a:t>
            </a:r>
            <a:r>
              <a:rPr sz="2300" spc="-200" dirty="0">
                <a:latin typeface="Times New Roman"/>
                <a:cs typeface="Times New Roman"/>
              </a:rPr>
              <a:t> </a:t>
            </a:r>
            <a:r>
              <a:rPr sz="2300" dirty="0">
                <a:latin typeface="Symbol"/>
                <a:cs typeface="Symbol"/>
              </a:rPr>
              <a:t></a:t>
            </a:r>
            <a:r>
              <a:rPr sz="2300" spc="270" dirty="0">
                <a:latin typeface="Times New Roman"/>
                <a:cs typeface="Times New Roman"/>
              </a:rPr>
              <a:t> </a:t>
            </a:r>
            <a:r>
              <a:rPr sz="2300" i="1" dirty="0">
                <a:latin typeface="Times New Roman"/>
                <a:cs typeface="Times New Roman"/>
              </a:rPr>
              <a:t>f</a:t>
            </a:r>
            <a:r>
              <a:rPr sz="2300" i="1" spc="-20" dirty="0">
                <a:latin typeface="Times New Roman"/>
                <a:cs typeface="Times New Roman"/>
              </a:rPr>
              <a:t> </a:t>
            </a:r>
            <a:r>
              <a:rPr sz="2300" spc="90" dirty="0">
                <a:latin typeface="Times New Roman"/>
                <a:cs typeface="Times New Roman"/>
              </a:rPr>
              <a:t>(</a:t>
            </a:r>
            <a:r>
              <a:rPr sz="2300" i="1" spc="90" dirty="0">
                <a:latin typeface="Times New Roman"/>
                <a:cs typeface="Times New Roman"/>
              </a:rPr>
              <a:t>x</a:t>
            </a:r>
            <a:r>
              <a:rPr sz="2300" i="1" spc="-165" dirty="0">
                <a:latin typeface="Times New Roman"/>
                <a:cs typeface="Times New Roman"/>
              </a:rPr>
              <a:t> </a:t>
            </a:r>
            <a:r>
              <a:rPr sz="2300" spc="-10" dirty="0">
                <a:latin typeface="Symbol"/>
                <a:cs typeface="Symbol"/>
              </a:rPr>
              <a:t></a:t>
            </a:r>
            <a:r>
              <a:rPr sz="2300" spc="-10" dirty="0">
                <a:latin typeface="Times New Roman"/>
                <a:cs typeface="Times New Roman"/>
              </a:rPr>
              <a:t>1,</a:t>
            </a:r>
            <a:r>
              <a:rPr sz="2300" spc="-85" dirty="0">
                <a:latin typeface="Times New Roman"/>
                <a:cs typeface="Times New Roman"/>
              </a:rPr>
              <a:t> </a:t>
            </a:r>
            <a:r>
              <a:rPr sz="2300" i="1" spc="55" dirty="0">
                <a:latin typeface="Times New Roman"/>
                <a:cs typeface="Times New Roman"/>
              </a:rPr>
              <a:t>y</a:t>
            </a:r>
            <a:r>
              <a:rPr sz="2300" spc="55" dirty="0">
                <a:latin typeface="Times New Roman"/>
                <a:cs typeface="Times New Roman"/>
              </a:rPr>
              <a:t>)</a:t>
            </a:r>
            <a:r>
              <a:rPr sz="2300" spc="-200" dirty="0">
                <a:latin typeface="Times New Roman"/>
                <a:cs typeface="Times New Roman"/>
              </a:rPr>
              <a:t> </a:t>
            </a:r>
            <a:r>
              <a:rPr sz="2300" dirty="0">
                <a:latin typeface="Symbol"/>
                <a:cs typeface="Symbol"/>
              </a:rPr>
              <a:t></a:t>
            </a:r>
            <a:r>
              <a:rPr sz="2300" spc="-210" dirty="0">
                <a:latin typeface="Times New Roman"/>
                <a:cs typeface="Times New Roman"/>
              </a:rPr>
              <a:t> </a:t>
            </a:r>
            <a:r>
              <a:rPr sz="2300" dirty="0">
                <a:latin typeface="Times New Roman"/>
                <a:cs typeface="Times New Roman"/>
              </a:rPr>
              <a:t>2</a:t>
            </a:r>
            <a:r>
              <a:rPr sz="2300" spc="-135" dirty="0">
                <a:latin typeface="Times New Roman"/>
                <a:cs typeface="Times New Roman"/>
              </a:rPr>
              <a:t> </a:t>
            </a:r>
            <a:r>
              <a:rPr sz="2300" i="1" dirty="0">
                <a:latin typeface="Times New Roman"/>
                <a:cs typeface="Times New Roman"/>
              </a:rPr>
              <a:t>f</a:t>
            </a:r>
            <a:r>
              <a:rPr sz="2300" i="1" spc="-30" dirty="0">
                <a:latin typeface="Times New Roman"/>
                <a:cs typeface="Times New Roman"/>
              </a:rPr>
              <a:t> </a:t>
            </a:r>
            <a:r>
              <a:rPr sz="2300" spc="65" dirty="0">
                <a:latin typeface="Times New Roman"/>
                <a:cs typeface="Times New Roman"/>
              </a:rPr>
              <a:t>(</a:t>
            </a:r>
            <a:r>
              <a:rPr sz="2300" i="1" spc="65" dirty="0">
                <a:latin typeface="Times New Roman"/>
                <a:cs typeface="Times New Roman"/>
              </a:rPr>
              <a:t>x</a:t>
            </a:r>
            <a:r>
              <a:rPr sz="2300" spc="65" dirty="0">
                <a:latin typeface="Times New Roman"/>
                <a:cs typeface="Times New Roman"/>
              </a:rPr>
              <a:t>,</a:t>
            </a:r>
            <a:r>
              <a:rPr sz="2300" spc="-80" dirty="0">
                <a:latin typeface="Times New Roman"/>
                <a:cs typeface="Times New Roman"/>
              </a:rPr>
              <a:t> </a:t>
            </a:r>
            <a:r>
              <a:rPr sz="2300" i="1" spc="30" dirty="0">
                <a:latin typeface="Times New Roman"/>
                <a:cs typeface="Times New Roman"/>
              </a:rPr>
              <a:t>y</a:t>
            </a:r>
            <a:r>
              <a:rPr sz="2300" spc="30" dirty="0">
                <a:latin typeface="Times New Roman"/>
                <a:cs typeface="Times New Roman"/>
              </a:rPr>
              <a:t>)</a:t>
            </a:r>
            <a:endParaRPr sz="2300" dirty="0">
              <a:latin typeface="Times New Roman"/>
              <a:cs typeface="Times New Roman"/>
            </a:endParaRPr>
          </a:p>
          <a:p>
            <a:pPr>
              <a:lnSpc>
                <a:spcPct val="100000"/>
              </a:lnSpc>
              <a:spcBef>
                <a:spcPts val="1190"/>
              </a:spcBef>
            </a:pPr>
            <a:endParaRPr sz="2300" dirty="0">
              <a:latin typeface="Times New Roman"/>
              <a:cs typeface="Times New Roman"/>
            </a:endParaRPr>
          </a:p>
          <a:p>
            <a:pPr marL="12700">
              <a:lnSpc>
                <a:spcPct val="100000"/>
              </a:lnSpc>
            </a:pPr>
            <a:r>
              <a:rPr sz="2300" i="1" dirty="0">
                <a:latin typeface="Times New Roman"/>
                <a:cs typeface="Times New Roman"/>
              </a:rPr>
              <a:t>f</a:t>
            </a:r>
            <a:r>
              <a:rPr sz="2300" i="1" spc="-15" dirty="0">
                <a:latin typeface="Times New Roman"/>
                <a:cs typeface="Times New Roman"/>
              </a:rPr>
              <a:t> </a:t>
            </a:r>
            <a:r>
              <a:rPr sz="2300" spc="65" dirty="0">
                <a:latin typeface="Times New Roman"/>
                <a:cs typeface="Times New Roman"/>
              </a:rPr>
              <a:t>(</a:t>
            </a:r>
            <a:r>
              <a:rPr sz="2300" i="1" spc="65" dirty="0">
                <a:latin typeface="Times New Roman"/>
                <a:cs typeface="Times New Roman"/>
              </a:rPr>
              <a:t>x</a:t>
            </a:r>
            <a:r>
              <a:rPr sz="2300" spc="65" dirty="0">
                <a:latin typeface="Times New Roman"/>
                <a:cs typeface="Times New Roman"/>
              </a:rPr>
              <a:t>,</a:t>
            </a:r>
            <a:r>
              <a:rPr sz="2300" spc="-65" dirty="0">
                <a:latin typeface="Times New Roman"/>
                <a:cs typeface="Times New Roman"/>
              </a:rPr>
              <a:t> </a:t>
            </a:r>
            <a:r>
              <a:rPr sz="2300" i="1" dirty="0">
                <a:latin typeface="Times New Roman"/>
                <a:cs typeface="Times New Roman"/>
              </a:rPr>
              <a:t>y</a:t>
            </a:r>
            <a:r>
              <a:rPr sz="2300" i="1" spc="-114" dirty="0">
                <a:latin typeface="Times New Roman"/>
                <a:cs typeface="Times New Roman"/>
              </a:rPr>
              <a:t> </a:t>
            </a:r>
            <a:r>
              <a:rPr sz="2300" dirty="0">
                <a:latin typeface="Symbol"/>
                <a:cs typeface="Symbol"/>
              </a:rPr>
              <a:t></a:t>
            </a:r>
            <a:r>
              <a:rPr sz="2300" dirty="0">
                <a:latin typeface="Times New Roman"/>
                <a:cs typeface="Times New Roman"/>
              </a:rPr>
              <a:t>1)</a:t>
            </a:r>
            <a:r>
              <a:rPr sz="2300" spc="-195" dirty="0">
                <a:latin typeface="Times New Roman"/>
                <a:cs typeface="Times New Roman"/>
              </a:rPr>
              <a:t> </a:t>
            </a:r>
            <a:r>
              <a:rPr sz="2300" dirty="0">
                <a:latin typeface="Symbol"/>
                <a:cs typeface="Symbol"/>
              </a:rPr>
              <a:t></a:t>
            </a:r>
            <a:r>
              <a:rPr sz="2300" spc="295" dirty="0">
                <a:latin typeface="Times New Roman"/>
                <a:cs typeface="Times New Roman"/>
              </a:rPr>
              <a:t> </a:t>
            </a:r>
            <a:r>
              <a:rPr sz="2300" i="1" dirty="0">
                <a:latin typeface="Times New Roman"/>
                <a:cs typeface="Times New Roman"/>
              </a:rPr>
              <a:t>f</a:t>
            </a:r>
            <a:r>
              <a:rPr sz="2300" i="1" spc="-5" dirty="0">
                <a:latin typeface="Times New Roman"/>
                <a:cs typeface="Times New Roman"/>
              </a:rPr>
              <a:t> </a:t>
            </a:r>
            <a:r>
              <a:rPr sz="2300" spc="65" dirty="0">
                <a:latin typeface="Times New Roman"/>
                <a:cs typeface="Times New Roman"/>
              </a:rPr>
              <a:t>(</a:t>
            </a:r>
            <a:r>
              <a:rPr sz="2300" i="1" spc="65" dirty="0">
                <a:latin typeface="Times New Roman"/>
                <a:cs typeface="Times New Roman"/>
              </a:rPr>
              <a:t>x</a:t>
            </a:r>
            <a:r>
              <a:rPr sz="2300" spc="65" dirty="0">
                <a:latin typeface="Times New Roman"/>
                <a:cs typeface="Times New Roman"/>
              </a:rPr>
              <a:t>,</a:t>
            </a:r>
            <a:r>
              <a:rPr sz="2300" spc="-75" dirty="0">
                <a:latin typeface="Times New Roman"/>
                <a:cs typeface="Times New Roman"/>
              </a:rPr>
              <a:t> </a:t>
            </a:r>
            <a:r>
              <a:rPr sz="2300" i="1" dirty="0">
                <a:latin typeface="Times New Roman"/>
                <a:cs typeface="Times New Roman"/>
              </a:rPr>
              <a:t>y</a:t>
            </a:r>
            <a:r>
              <a:rPr sz="2300" i="1" spc="-100" dirty="0">
                <a:latin typeface="Times New Roman"/>
                <a:cs typeface="Times New Roman"/>
              </a:rPr>
              <a:t> </a:t>
            </a:r>
            <a:r>
              <a:rPr sz="2300" spc="-10" dirty="0">
                <a:latin typeface="Symbol"/>
                <a:cs typeface="Symbol"/>
              </a:rPr>
              <a:t></a:t>
            </a:r>
            <a:r>
              <a:rPr sz="2300" spc="-10" dirty="0">
                <a:latin typeface="Times New Roman"/>
                <a:cs typeface="Times New Roman"/>
              </a:rPr>
              <a:t>1)</a:t>
            </a:r>
            <a:r>
              <a:rPr sz="2300" spc="-195" dirty="0">
                <a:latin typeface="Times New Roman"/>
                <a:cs typeface="Times New Roman"/>
              </a:rPr>
              <a:t> </a:t>
            </a:r>
            <a:r>
              <a:rPr sz="2300" dirty="0">
                <a:latin typeface="Symbol"/>
                <a:cs typeface="Symbol"/>
              </a:rPr>
              <a:t></a:t>
            </a:r>
            <a:r>
              <a:rPr sz="2300" spc="-195" dirty="0">
                <a:latin typeface="Times New Roman"/>
                <a:cs typeface="Times New Roman"/>
              </a:rPr>
              <a:t> </a:t>
            </a:r>
            <a:r>
              <a:rPr sz="2300" dirty="0">
                <a:latin typeface="Times New Roman"/>
                <a:cs typeface="Times New Roman"/>
              </a:rPr>
              <a:t>2</a:t>
            </a:r>
            <a:r>
              <a:rPr sz="2300" spc="-125" dirty="0">
                <a:latin typeface="Times New Roman"/>
                <a:cs typeface="Times New Roman"/>
              </a:rPr>
              <a:t> </a:t>
            </a:r>
            <a:r>
              <a:rPr sz="2300" i="1" dirty="0">
                <a:latin typeface="Times New Roman"/>
                <a:cs typeface="Times New Roman"/>
              </a:rPr>
              <a:t>f</a:t>
            </a:r>
            <a:r>
              <a:rPr sz="2300" i="1" spc="-5" dirty="0">
                <a:latin typeface="Times New Roman"/>
                <a:cs typeface="Times New Roman"/>
              </a:rPr>
              <a:t> </a:t>
            </a:r>
            <a:r>
              <a:rPr sz="2300" spc="65" dirty="0">
                <a:latin typeface="Times New Roman"/>
                <a:cs typeface="Times New Roman"/>
              </a:rPr>
              <a:t>(</a:t>
            </a:r>
            <a:r>
              <a:rPr sz="2300" i="1" spc="65" dirty="0">
                <a:latin typeface="Times New Roman"/>
                <a:cs typeface="Times New Roman"/>
              </a:rPr>
              <a:t>x</a:t>
            </a:r>
            <a:r>
              <a:rPr sz="2300" spc="65" dirty="0">
                <a:latin typeface="Times New Roman"/>
                <a:cs typeface="Times New Roman"/>
              </a:rPr>
              <a:t>,</a:t>
            </a:r>
            <a:r>
              <a:rPr sz="2300" spc="-75" dirty="0">
                <a:latin typeface="Times New Roman"/>
                <a:cs typeface="Times New Roman"/>
              </a:rPr>
              <a:t> </a:t>
            </a:r>
            <a:r>
              <a:rPr sz="2300" i="1" spc="35" dirty="0">
                <a:latin typeface="Times New Roman"/>
                <a:cs typeface="Times New Roman"/>
              </a:rPr>
              <a:t>y</a:t>
            </a:r>
            <a:r>
              <a:rPr sz="2300" spc="35" dirty="0">
                <a:latin typeface="Times New Roman"/>
                <a:cs typeface="Times New Roman"/>
              </a:rPr>
              <a:t>)</a:t>
            </a:r>
            <a:endParaRPr sz="2300" dirty="0">
              <a:latin typeface="Times New Roman"/>
              <a:cs typeface="Times New Roman"/>
            </a:endParaRPr>
          </a:p>
        </p:txBody>
      </p:sp>
      <p:sp>
        <p:nvSpPr>
          <p:cNvPr id="15" name="object 18">
            <a:extLst>
              <a:ext uri="{FF2B5EF4-FFF2-40B4-BE49-F238E27FC236}">
                <a16:creationId xmlns:a16="http://schemas.microsoft.com/office/drawing/2014/main" id="{0FE43240-CDBA-450F-890A-5E6532EBCEC6}"/>
              </a:ext>
            </a:extLst>
          </p:cNvPr>
          <p:cNvSpPr txBox="1"/>
          <p:nvPr/>
        </p:nvSpPr>
        <p:spPr>
          <a:xfrm>
            <a:off x="1445635" y="4593847"/>
            <a:ext cx="457200" cy="379730"/>
          </a:xfrm>
          <a:prstGeom prst="rect">
            <a:avLst/>
          </a:prstGeom>
        </p:spPr>
        <p:txBody>
          <a:bodyPr vert="horz" wrap="square" lIns="0" tIns="15240" rIns="0" bIns="0" rtlCol="0">
            <a:spAutoFit/>
          </a:bodyPr>
          <a:lstStyle/>
          <a:p>
            <a:pPr marL="38100">
              <a:lnSpc>
                <a:spcPct val="100000"/>
              </a:lnSpc>
              <a:spcBef>
                <a:spcPts val="120"/>
              </a:spcBef>
            </a:pPr>
            <a:r>
              <a:rPr sz="2300" spc="-25" dirty="0">
                <a:latin typeface="Symbol"/>
                <a:cs typeface="Symbol"/>
              </a:rPr>
              <a:t></a:t>
            </a:r>
            <a:r>
              <a:rPr sz="2300" i="1" spc="-25" dirty="0">
                <a:latin typeface="Times New Roman"/>
                <a:cs typeface="Times New Roman"/>
              </a:rPr>
              <a:t>y</a:t>
            </a:r>
            <a:r>
              <a:rPr sz="2025" spc="-37" baseline="43209" dirty="0">
                <a:latin typeface="Times New Roman"/>
                <a:cs typeface="Times New Roman"/>
              </a:rPr>
              <a:t>2</a:t>
            </a:r>
            <a:endParaRPr sz="2025" baseline="43209">
              <a:latin typeface="Times New Roman"/>
              <a:cs typeface="Times New Roman"/>
            </a:endParaRPr>
          </a:p>
        </p:txBody>
      </p:sp>
      <p:sp>
        <p:nvSpPr>
          <p:cNvPr id="16" name="object 19">
            <a:extLst>
              <a:ext uri="{FF2B5EF4-FFF2-40B4-BE49-F238E27FC236}">
                <a16:creationId xmlns:a16="http://schemas.microsoft.com/office/drawing/2014/main" id="{70927AB7-58C9-4E69-A57E-7EE94FF6716C}"/>
              </a:ext>
            </a:extLst>
          </p:cNvPr>
          <p:cNvSpPr txBox="1"/>
          <p:nvPr/>
        </p:nvSpPr>
        <p:spPr>
          <a:xfrm>
            <a:off x="1422668" y="4995651"/>
            <a:ext cx="7047230" cy="988694"/>
          </a:xfrm>
          <a:prstGeom prst="rect">
            <a:avLst/>
          </a:prstGeom>
        </p:spPr>
        <p:txBody>
          <a:bodyPr vert="horz" wrap="square" lIns="0" tIns="112395" rIns="0" bIns="0" rtlCol="0">
            <a:spAutoFit/>
          </a:bodyPr>
          <a:lstStyle/>
          <a:p>
            <a:pPr marL="38100">
              <a:lnSpc>
                <a:spcPct val="100000"/>
              </a:lnSpc>
              <a:spcBef>
                <a:spcPts val="885"/>
              </a:spcBef>
              <a:tabLst>
                <a:tab pos="686435" algn="l"/>
                <a:tab pos="997585" algn="l"/>
              </a:tabLst>
            </a:pPr>
            <a:r>
              <a:rPr sz="2500" spc="75" dirty="0">
                <a:latin typeface="Symbol"/>
                <a:cs typeface="Symbol"/>
              </a:rPr>
              <a:t></a:t>
            </a:r>
            <a:r>
              <a:rPr sz="2175" spc="112" baseline="44061" dirty="0">
                <a:latin typeface="Times New Roman"/>
                <a:cs typeface="Times New Roman"/>
              </a:rPr>
              <a:t>2</a:t>
            </a:r>
            <a:r>
              <a:rPr sz="2175" spc="322" baseline="44061" dirty="0">
                <a:latin typeface="Times New Roman"/>
                <a:cs typeface="Times New Roman"/>
              </a:rPr>
              <a:t> </a:t>
            </a:r>
            <a:r>
              <a:rPr sz="2500" i="1" spc="-50" dirty="0">
                <a:latin typeface="Times New Roman"/>
                <a:cs typeface="Times New Roman"/>
              </a:rPr>
              <a:t>f</a:t>
            </a:r>
            <a:r>
              <a:rPr sz="2500" i="1" dirty="0">
                <a:latin typeface="Times New Roman"/>
                <a:cs typeface="Times New Roman"/>
              </a:rPr>
              <a:t>	</a:t>
            </a:r>
            <a:r>
              <a:rPr sz="2500" spc="-50" dirty="0">
                <a:latin typeface="Symbol"/>
                <a:cs typeface="Symbol"/>
              </a:rPr>
              <a:t></a:t>
            </a:r>
            <a:r>
              <a:rPr sz="2500" dirty="0">
                <a:latin typeface="Times New Roman"/>
                <a:cs typeface="Times New Roman"/>
              </a:rPr>
              <a:t>	</a:t>
            </a:r>
            <a:r>
              <a:rPr sz="2500" i="1" dirty="0">
                <a:latin typeface="Times New Roman"/>
                <a:cs typeface="Times New Roman"/>
              </a:rPr>
              <a:t>f</a:t>
            </a:r>
            <a:r>
              <a:rPr sz="2500" i="1" spc="-25" dirty="0">
                <a:latin typeface="Times New Roman"/>
                <a:cs typeface="Times New Roman"/>
              </a:rPr>
              <a:t> </a:t>
            </a:r>
            <a:r>
              <a:rPr sz="2500" spc="105" dirty="0">
                <a:latin typeface="Times New Roman"/>
                <a:cs typeface="Times New Roman"/>
              </a:rPr>
              <a:t>(</a:t>
            </a:r>
            <a:r>
              <a:rPr sz="2500" i="1" spc="105" dirty="0">
                <a:latin typeface="Times New Roman"/>
                <a:cs typeface="Times New Roman"/>
              </a:rPr>
              <a:t>x</a:t>
            </a:r>
            <a:r>
              <a:rPr sz="2500" i="1" spc="-180" dirty="0">
                <a:latin typeface="Times New Roman"/>
                <a:cs typeface="Times New Roman"/>
              </a:rPr>
              <a:t> </a:t>
            </a:r>
            <a:r>
              <a:rPr sz="2500" dirty="0">
                <a:latin typeface="Symbol"/>
                <a:cs typeface="Symbol"/>
              </a:rPr>
              <a:t></a:t>
            </a:r>
            <a:r>
              <a:rPr sz="2500" dirty="0">
                <a:latin typeface="Times New Roman"/>
                <a:cs typeface="Times New Roman"/>
              </a:rPr>
              <a:t>1,</a:t>
            </a:r>
            <a:r>
              <a:rPr sz="2500" spc="-85" dirty="0">
                <a:latin typeface="Times New Roman"/>
                <a:cs typeface="Times New Roman"/>
              </a:rPr>
              <a:t> </a:t>
            </a:r>
            <a:r>
              <a:rPr sz="2500" i="1" spc="65" dirty="0">
                <a:latin typeface="Times New Roman"/>
                <a:cs typeface="Times New Roman"/>
              </a:rPr>
              <a:t>y</a:t>
            </a:r>
            <a:r>
              <a:rPr sz="2500" spc="65" dirty="0">
                <a:latin typeface="Times New Roman"/>
                <a:cs typeface="Times New Roman"/>
              </a:rPr>
              <a:t>)</a:t>
            </a:r>
            <a:r>
              <a:rPr sz="2500" spc="-220" dirty="0">
                <a:latin typeface="Times New Roman"/>
                <a:cs typeface="Times New Roman"/>
              </a:rPr>
              <a:t> </a:t>
            </a:r>
            <a:r>
              <a:rPr sz="2500" dirty="0">
                <a:latin typeface="Symbol"/>
                <a:cs typeface="Symbol"/>
              </a:rPr>
              <a:t></a:t>
            </a:r>
            <a:r>
              <a:rPr sz="2500" spc="310" dirty="0">
                <a:latin typeface="Times New Roman"/>
                <a:cs typeface="Times New Roman"/>
              </a:rPr>
              <a:t> </a:t>
            </a:r>
            <a:r>
              <a:rPr sz="2500" i="1" dirty="0">
                <a:latin typeface="Times New Roman"/>
                <a:cs typeface="Times New Roman"/>
              </a:rPr>
              <a:t>f</a:t>
            </a:r>
            <a:r>
              <a:rPr sz="2500" i="1" spc="-15" dirty="0">
                <a:latin typeface="Times New Roman"/>
                <a:cs typeface="Times New Roman"/>
              </a:rPr>
              <a:t> </a:t>
            </a:r>
            <a:r>
              <a:rPr sz="2500" spc="100" dirty="0">
                <a:latin typeface="Times New Roman"/>
                <a:cs typeface="Times New Roman"/>
              </a:rPr>
              <a:t>(</a:t>
            </a:r>
            <a:r>
              <a:rPr sz="2500" i="1" spc="100" dirty="0">
                <a:latin typeface="Times New Roman"/>
                <a:cs typeface="Times New Roman"/>
              </a:rPr>
              <a:t>x</a:t>
            </a:r>
            <a:r>
              <a:rPr sz="2500" i="1" spc="-180" dirty="0">
                <a:latin typeface="Times New Roman"/>
                <a:cs typeface="Times New Roman"/>
              </a:rPr>
              <a:t> </a:t>
            </a:r>
            <a:r>
              <a:rPr sz="2500" dirty="0">
                <a:latin typeface="Symbol"/>
                <a:cs typeface="Symbol"/>
              </a:rPr>
              <a:t></a:t>
            </a:r>
            <a:r>
              <a:rPr sz="2500" dirty="0">
                <a:latin typeface="Times New Roman"/>
                <a:cs typeface="Times New Roman"/>
              </a:rPr>
              <a:t>1,</a:t>
            </a:r>
            <a:r>
              <a:rPr sz="2500" spc="-85" dirty="0">
                <a:latin typeface="Times New Roman"/>
                <a:cs typeface="Times New Roman"/>
              </a:rPr>
              <a:t> </a:t>
            </a:r>
            <a:r>
              <a:rPr sz="2500" i="1" spc="65" dirty="0">
                <a:latin typeface="Times New Roman"/>
                <a:cs typeface="Times New Roman"/>
              </a:rPr>
              <a:t>y</a:t>
            </a:r>
            <a:r>
              <a:rPr sz="2500" spc="65" dirty="0">
                <a:latin typeface="Times New Roman"/>
                <a:cs typeface="Times New Roman"/>
              </a:rPr>
              <a:t>)</a:t>
            </a:r>
            <a:r>
              <a:rPr sz="2500" spc="-220" dirty="0">
                <a:latin typeface="Times New Roman"/>
                <a:cs typeface="Times New Roman"/>
              </a:rPr>
              <a:t> </a:t>
            </a:r>
            <a:r>
              <a:rPr sz="2500" dirty="0">
                <a:latin typeface="Symbol"/>
                <a:cs typeface="Symbol"/>
              </a:rPr>
              <a:t></a:t>
            </a:r>
            <a:r>
              <a:rPr sz="2500" spc="300" dirty="0">
                <a:latin typeface="Times New Roman"/>
                <a:cs typeface="Times New Roman"/>
              </a:rPr>
              <a:t> </a:t>
            </a:r>
            <a:r>
              <a:rPr sz="2500" i="1" dirty="0">
                <a:latin typeface="Times New Roman"/>
                <a:cs typeface="Times New Roman"/>
              </a:rPr>
              <a:t>f</a:t>
            </a:r>
            <a:r>
              <a:rPr sz="2500" i="1" spc="-15" dirty="0">
                <a:latin typeface="Times New Roman"/>
                <a:cs typeface="Times New Roman"/>
              </a:rPr>
              <a:t> </a:t>
            </a:r>
            <a:r>
              <a:rPr sz="2500" spc="75" dirty="0">
                <a:latin typeface="Times New Roman"/>
                <a:cs typeface="Times New Roman"/>
              </a:rPr>
              <a:t>(</a:t>
            </a:r>
            <a:r>
              <a:rPr sz="2500" i="1" spc="75" dirty="0">
                <a:latin typeface="Times New Roman"/>
                <a:cs typeface="Times New Roman"/>
              </a:rPr>
              <a:t>x</a:t>
            </a:r>
            <a:r>
              <a:rPr sz="2500" spc="75" dirty="0">
                <a:latin typeface="Times New Roman"/>
                <a:cs typeface="Times New Roman"/>
              </a:rPr>
              <a:t>,</a:t>
            </a:r>
            <a:r>
              <a:rPr sz="2500" spc="-85" dirty="0">
                <a:latin typeface="Times New Roman"/>
                <a:cs typeface="Times New Roman"/>
              </a:rPr>
              <a:t> </a:t>
            </a:r>
            <a:r>
              <a:rPr sz="2500" i="1" dirty="0">
                <a:latin typeface="Times New Roman"/>
                <a:cs typeface="Times New Roman"/>
              </a:rPr>
              <a:t>y</a:t>
            </a:r>
            <a:r>
              <a:rPr sz="2500" i="1" spc="-135" dirty="0">
                <a:latin typeface="Times New Roman"/>
                <a:cs typeface="Times New Roman"/>
              </a:rPr>
              <a:t> </a:t>
            </a:r>
            <a:r>
              <a:rPr sz="2500" dirty="0">
                <a:latin typeface="Symbol"/>
                <a:cs typeface="Symbol"/>
              </a:rPr>
              <a:t></a:t>
            </a:r>
            <a:r>
              <a:rPr sz="2500" dirty="0">
                <a:latin typeface="Times New Roman"/>
                <a:cs typeface="Times New Roman"/>
              </a:rPr>
              <a:t>1)</a:t>
            </a:r>
            <a:r>
              <a:rPr sz="2500" spc="-220" dirty="0">
                <a:latin typeface="Times New Roman"/>
                <a:cs typeface="Times New Roman"/>
              </a:rPr>
              <a:t> </a:t>
            </a:r>
            <a:r>
              <a:rPr sz="2500" dirty="0">
                <a:latin typeface="Symbol"/>
                <a:cs typeface="Symbol"/>
              </a:rPr>
              <a:t></a:t>
            </a:r>
            <a:r>
              <a:rPr sz="2500" spc="305" dirty="0">
                <a:latin typeface="Times New Roman"/>
                <a:cs typeface="Times New Roman"/>
              </a:rPr>
              <a:t> </a:t>
            </a:r>
            <a:r>
              <a:rPr sz="2500" i="1" dirty="0">
                <a:latin typeface="Times New Roman"/>
                <a:cs typeface="Times New Roman"/>
              </a:rPr>
              <a:t>f</a:t>
            </a:r>
            <a:r>
              <a:rPr sz="2500" i="1" spc="-10" dirty="0">
                <a:latin typeface="Times New Roman"/>
                <a:cs typeface="Times New Roman"/>
              </a:rPr>
              <a:t> </a:t>
            </a:r>
            <a:r>
              <a:rPr sz="2500" spc="75" dirty="0">
                <a:latin typeface="Times New Roman"/>
                <a:cs typeface="Times New Roman"/>
              </a:rPr>
              <a:t>(</a:t>
            </a:r>
            <a:r>
              <a:rPr sz="2500" i="1" spc="75" dirty="0">
                <a:latin typeface="Times New Roman"/>
                <a:cs typeface="Times New Roman"/>
              </a:rPr>
              <a:t>x</a:t>
            </a:r>
            <a:r>
              <a:rPr sz="2500" spc="75" dirty="0">
                <a:latin typeface="Times New Roman"/>
                <a:cs typeface="Times New Roman"/>
              </a:rPr>
              <a:t>,</a:t>
            </a:r>
            <a:r>
              <a:rPr sz="2500" spc="-95" dirty="0">
                <a:latin typeface="Times New Roman"/>
                <a:cs typeface="Times New Roman"/>
              </a:rPr>
              <a:t> </a:t>
            </a:r>
            <a:r>
              <a:rPr sz="2500" i="1" dirty="0">
                <a:latin typeface="Times New Roman"/>
                <a:cs typeface="Times New Roman"/>
              </a:rPr>
              <a:t>y</a:t>
            </a:r>
            <a:r>
              <a:rPr sz="2500" i="1" spc="-125" dirty="0">
                <a:latin typeface="Times New Roman"/>
                <a:cs typeface="Times New Roman"/>
              </a:rPr>
              <a:t> </a:t>
            </a:r>
            <a:r>
              <a:rPr sz="2500" spc="-25" dirty="0">
                <a:latin typeface="Symbol"/>
                <a:cs typeface="Symbol"/>
              </a:rPr>
              <a:t></a:t>
            </a:r>
            <a:r>
              <a:rPr sz="2500" spc="-25" dirty="0">
                <a:latin typeface="Times New Roman"/>
                <a:cs typeface="Times New Roman"/>
              </a:rPr>
              <a:t>1)</a:t>
            </a:r>
            <a:endParaRPr sz="2500">
              <a:latin typeface="Times New Roman"/>
              <a:cs typeface="Times New Roman"/>
            </a:endParaRPr>
          </a:p>
          <a:p>
            <a:pPr marL="999490">
              <a:lnSpc>
                <a:spcPct val="100000"/>
              </a:lnSpc>
              <a:spcBef>
                <a:spcPts val="790"/>
              </a:spcBef>
            </a:pPr>
            <a:r>
              <a:rPr sz="2500" dirty="0">
                <a:latin typeface="Times New Roman"/>
                <a:cs typeface="Times New Roman"/>
              </a:rPr>
              <a:t>-</a:t>
            </a:r>
            <a:r>
              <a:rPr sz="2500" spc="-254" dirty="0">
                <a:latin typeface="Times New Roman"/>
                <a:cs typeface="Times New Roman"/>
              </a:rPr>
              <a:t> </a:t>
            </a:r>
            <a:r>
              <a:rPr sz="2500" dirty="0">
                <a:latin typeface="Times New Roman"/>
                <a:cs typeface="Times New Roman"/>
              </a:rPr>
              <a:t>4</a:t>
            </a:r>
            <a:r>
              <a:rPr sz="2500" spc="-130" dirty="0">
                <a:latin typeface="Times New Roman"/>
                <a:cs typeface="Times New Roman"/>
              </a:rPr>
              <a:t> </a:t>
            </a:r>
            <a:r>
              <a:rPr sz="2500" i="1" dirty="0">
                <a:latin typeface="Times New Roman"/>
                <a:cs typeface="Times New Roman"/>
              </a:rPr>
              <a:t>f</a:t>
            </a:r>
            <a:r>
              <a:rPr sz="2500" i="1" spc="-10" dirty="0">
                <a:latin typeface="Times New Roman"/>
                <a:cs typeface="Times New Roman"/>
              </a:rPr>
              <a:t> </a:t>
            </a:r>
            <a:r>
              <a:rPr sz="2500" spc="75" dirty="0">
                <a:latin typeface="Times New Roman"/>
                <a:cs typeface="Times New Roman"/>
              </a:rPr>
              <a:t>(</a:t>
            </a:r>
            <a:r>
              <a:rPr sz="2500" i="1" spc="75" dirty="0">
                <a:latin typeface="Times New Roman"/>
                <a:cs typeface="Times New Roman"/>
              </a:rPr>
              <a:t>x</a:t>
            </a:r>
            <a:r>
              <a:rPr sz="2500" spc="75" dirty="0">
                <a:latin typeface="Times New Roman"/>
                <a:cs typeface="Times New Roman"/>
              </a:rPr>
              <a:t>,</a:t>
            </a:r>
            <a:r>
              <a:rPr sz="2500" spc="-80" dirty="0">
                <a:latin typeface="Times New Roman"/>
                <a:cs typeface="Times New Roman"/>
              </a:rPr>
              <a:t> </a:t>
            </a:r>
            <a:r>
              <a:rPr sz="2500" i="1" spc="40" dirty="0">
                <a:latin typeface="Times New Roman"/>
                <a:cs typeface="Times New Roman"/>
              </a:rPr>
              <a:t>y</a:t>
            </a:r>
            <a:r>
              <a:rPr sz="2500" spc="40" dirty="0">
                <a:latin typeface="Times New Roman"/>
                <a:cs typeface="Times New Roman"/>
              </a:rPr>
              <a:t>)</a:t>
            </a:r>
            <a:endParaRPr sz="2500">
              <a:latin typeface="Times New Roman"/>
              <a:cs typeface="Times New Roman"/>
            </a:endParaRPr>
          </a:p>
        </p:txBody>
      </p:sp>
      <p:sp>
        <p:nvSpPr>
          <p:cNvPr id="17" name="Rectangle 16">
            <a:extLst>
              <a:ext uri="{FF2B5EF4-FFF2-40B4-BE49-F238E27FC236}">
                <a16:creationId xmlns:a16="http://schemas.microsoft.com/office/drawing/2014/main" id="{4671FD2B-AD4E-4E68-9FDB-1CA3F3A47486}"/>
              </a:ext>
            </a:extLst>
          </p:cNvPr>
          <p:cNvSpPr/>
          <p:nvPr/>
        </p:nvSpPr>
        <p:spPr>
          <a:xfrm>
            <a:off x="623459" y="688989"/>
            <a:ext cx="2804985" cy="461665"/>
          </a:xfrm>
          <a:prstGeom prst="rect">
            <a:avLst/>
          </a:prstGeom>
        </p:spPr>
        <p:txBody>
          <a:bodyPr wrap="square">
            <a:spAutoFit/>
          </a:bodyPr>
          <a:lstStyle/>
          <a:p>
            <a:pPr algn="l"/>
            <a:r>
              <a:rPr lang="en-US" sz="2400" b="1" i="0" dirty="0">
                <a:solidFill>
                  <a:srgbClr val="242424"/>
                </a:solidFill>
                <a:effectLst/>
                <a:latin typeface="+mj-lt"/>
              </a:rPr>
              <a:t>The Laplacian Filter</a:t>
            </a:r>
          </a:p>
        </p:txBody>
      </p:sp>
    </p:spTree>
    <p:extLst>
      <p:ext uri="{BB962C8B-B14F-4D97-AF65-F5344CB8AC3E}">
        <p14:creationId xmlns:p14="http://schemas.microsoft.com/office/powerpoint/2010/main" val="1422133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269744" y="2001011"/>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1</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4</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3" name="object 3"/>
          <p:cNvGraphicFramePr>
            <a:graphicFrameLocks noGrp="1"/>
          </p:cNvGraphicFramePr>
          <p:nvPr/>
        </p:nvGraphicFramePr>
        <p:xfrm>
          <a:off x="6293865" y="1993264"/>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1800" b="1" spc="-10" dirty="0">
                          <a:latin typeface="Times New Roman"/>
                          <a:cs typeface="Times New Roman"/>
                        </a:rPr>
                        <a:t>-</a:t>
                      </a:r>
                      <a:r>
                        <a:rPr sz="1800" b="1" spc="-50" dirty="0">
                          <a:latin typeface="Times New Roman"/>
                          <a:cs typeface="Times New Roman"/>
                        </a:rPr>
                        <a:t>8</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4" name="object 4"/>
          <p:cNvGraphicFramePr>
            <a:graphicFrameLocks noGrp="1"/>
          </p:cNvGraphicFramePr>
          <p:nvPr/>
        </p:nvGraphicFramePr>
        <p:xfrm>
          <a:off x="677214" y="1983994"/>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4</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5"/>
                        </a:spcBef>
                      </a:pPr>
                      <a:r>
                        <a:rPr sz="1800" b="1" spc="-50" dirty="0">
                          <a:latin typeface="Times New Roman"/>
                          <a:cs typeface="Times New Roman"/>
                        </a:rPr>
                        <a:t>0</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4622800" y="1988185"/>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8</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392379" y="3295015"/>
            <a:ext cx="8114665" cy="3357879"/>
          </a:xfrm>
          <a:prstGeom prst="rect">
            <a:avLst/>
          </a:prstGeom>
        </p:spPr>
        <p:txBody>
          <a:bodyPr vert="horz" wrap="square" lIns="0" tIns="12700" rIns="0" bIns="0" rtlCol="0">
            <a:spAutoFit/>
          </a:bodyPr>
          <a:lstStyle/>
          <a:p>
            <a:pPr marR="318770" algn="ctr">
              <a:lnSpc>
                <a:spcPct val="100000"/>
              </a:lnSpc>
              <a:spcBef>
                <a:spcPts val="100"/>
              </a:spcBef>
              <a:tabLst>
                <a:tab pos="4177029" algn="l"/>
              </a:tabLst>
            </a:pPr>
            <a:r>
              <a:rPr sz="1800" b="1" dirty="0">
                <a:latin typeface="Times New Roman"/>
                <a:cs typeface="Times New Roman"/>
              </a:rPr>
              <a:t>Rotating</a:t>
            </a:r>
            <a:r>
              <a:rPr sz="1800" b="1" spc="-40" dirty="0">
                <a:latin typeface="Times New Roman"/>
                <a:cs typeface="Times New Roman"/>
              </a:rPr>
              <a:t> </a:t>
            </a:r>
            <a:r>
              <a:rPr sz="1800" b="1" dirty="0">
                <a:latin typeface="Times New Roman"/>
                <a:cs typeface="Times New Roman"/>
              </a:rPr>
              <a:t>by</a:t>
            </a:r>
            <a:r>
              <a:rPr sz="1800" b="1" spc="-30" dirty="0">
                <a:latin typeface="Times New Roman"/>
                <a:cs typeface="Times New Roman"/>
              </a:rPr>
              <a:t> </a:t>
            </a:r>
            <a:r>
              <a:rPr sz="1800" b="1" spc="-25" dirty="0">
                <a:latin typeface="Times New Roman"/>
                <a:cs typeface="Times New Roman"/>
              </a:rPr>
              <a:t>90</a:t>
            </a:r>
            <a:r>
              <a:rPr sz="1800" b="1" dirty="0">
                <a:latin typeface="Times New Roman"/>
                <a:cs typeface="Times New Roman"/>
              </a:rPr>
              <a:t>	Rotating by </a:t>
            </a:r>
            <a:r>
              <a:rPr sz="1800" b="1" spc="-25" dirty="0">
                <a:latin typeface="Times New Roman"/>
                <a:cs typeface="Times New Roman"/>
              </a:rPr>
              <a:t>45</a:t>
            </a:r>
            <a:endParaRPr sz="1800" dirty="0">
              <a:latin typeface="Times New Roman"/>
              <a:cs typeface="Times New Roman"/>
            </a:endParaRPr>
          </a:p>
          <a:p>
            <a:pPr>
              <a:lnSpc>
                <a:spcPct val="100000"/>
              </a:lnSpc>
              <a:spcBef>
                <a:spcPts val="400"/>
              </a:spcBef>
            </a:pPr>
            <a:r>
              <a:rPr lang="en-US" sz="1800" dirty="0">
                <a:latin typeface="Times New Roman"/>
                <a:cs typeface="Times New Roman"/>
              </a:rPr>
              <a:t>             </a:t>
            </a:r>
            <a:r>
              <a:rPr lang="en-US" dirty="0"/>
              <a:t>4-neighbor Laplacian:                            8-neighbor Laplacian:</a:t>
            </a:r>
            <a:endParaRPr sz="1800" dirty="0">
              <a:latin typeface="Times New Roman"/>
              <a:cs typeface="Times New Roman"/>
            </a:endParaRPr>
          </a:p>
          <a:p>
            <a:pPr marL="12700" algn="just">
              <a:lnSpc>
                <a:spcPct val="100000"/>
              </a:lnSpc>
            </a:pPr>
            <a:r>
              <a:rPr sz="2000" b="1" dirty="0">
                <a:latin typeface="Times New Roman"/>
                <a:cs typeface="Times New Roman"/>
              </a:rPr>
              <a:t>The</a:t>
            </a:r>
            <a:r>
              <a:rPr sz="2000" b="1" spc="-15" dirty="0">
                <a:latin typeface="Times New Roman"/>
                <a:cs typeface="Times New Roman"/>
              </a:rPr>
              <a:t> </a:t>
            </a:r>
            <a:r>
              <a:rPr sz="2000" b="1" dirty="0">
                <a:solidFill>
                  <a:srgbClr val="FF0000"/>
                </a:solidFill>
                <a:latin typeface="Times New Roman"/>
                <a:cs typeface="Times New Roman"/>
              </a:rPr>
              <a:t>sum</a:t>
            </a:r>
            <a:r>
              <a:rPr sz="2000" b="1" spc="-25" dirty="0">
                <a:solidFill>
                  <a:srgbClr val="FF0000"/>
                </a:solidFill>
                <a:latin typeface="Times New Roman"/>
                <a:cs typeface="Times New Roman"/>
              </a:rPr>
              <a:t> </a:t>
            </a:r>
            <a:r>
              <a:rPr sz="2000" b="1" dirty="0">
                <a:solidFill>
                  <a:srgbClr val="FF0000"/>
                </a:solidFill>
                <a:latin typeface="Times New Roman"/>
                <a:cs typeface="Times New Roman"/>
              </a:rPr>
              <a:t>of</a:t>
            </a:r>
            <a:r>
              <a:rPr sz="2000" b="1" spc="-30" dirty="0">
                <a:solidFill>
                  <a:srgbClr val="FF0000"/>
                </a:solidFill>
                <a:latin typeface="Times New Roman"/>
                <a:cs typeface="Times New Roman"/>
              </a:rPr>
              <a:t> </a:t>
            </a:r>
            <a:r>
              <a:rPr sz="2000" b="1" dirty="0">
                <a:solidFill>
                  <a:srgbClr val="FF0000"/>
                </a:solidFill>
                <a:latin typeface="Times New Roman"/>
                <a:cs typeface="Times New Roman"/>
              </a:rPr>
              <a:t>the</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coefficients</a:t>
            </a:r>
            <a:r>
              <a:rPr sz="2000" b="1" spc="-50" dirty="0">
                <a:solidFill>
                  <a:srgbClr val="FF0000"/>
                </a:solidFill>
                <a:latin typeface="Times New Roman"/>
                <a:cs typeface="Times New Roman"/>
              </a:rPr>
              <a:t> </a:t>
            </a:r>
            <a:r>
              <a:rPr sz="2000" b="1" dirty="0">
                <a:latin typeface="Times New Roman"/>
                <a:cs typeface="Times New Roman"/>
              </a:rPr>
              <a:t>in this</a:t>
            </a:r>
            <a:r>
              <a:rPr sz="2000" b="1" spc="-30" dirty="0">
                <a:latin typeface="Times New Roman"/>
                <a:cs typeface="Times New Roman"/>
              </a:rPr>
              <a:t> </a:t>
            </a:r>
            <a:r>
              <a:rPr sz="2000" b="1" dirty="0">
                <a:latin typeface="Times New Roman"/>
                <a:cs typeface="Times New Roman"/>
              </a:rPr>
              <a:t>kernel</a:t>
            </a:r>
            <a:r>
              <a:rPr sz="2000" b="1" spc="-35" dirty="0">
                <a:latin typeface="Times New Roman"/>
                <a:cs typeface="Times New Roman"/>
              </a:rPr>
              <a:t> </a:t>
            </a:r>
            <a:r>
              <a:rPr sz="2000" b="1" dirty="0">
                <a:latin typeface="Times New Roman"/>
                <a:cs typeface="Times New Roman"/>
              </a:rPr>
              <a:t>is</a:t>
            </a:r>
            <a:r>
              <a:rPr sz="2000" b="1" spc="-5" dirty="0">
                <a:latin typeface="Times New Roman"/>
                <a:cs typeface="Times New Roman"/>
              </a:rPr>
              <a:t> </a:t>
            </a:r>
            <a:r>
              <a:rPr sz="2000" b="1" dirty="0">
                <a:solidFill>
                  <a:srgbClr val="006FC0"/>
                </a:solidFill>
                <a:latin typeface="Times New Roman"/>
                <a:cs typeface="Times New Roman"/>
              </a:rPr>
              <a:t>zero</a:t>
            </a:r>
            <a:r>
              <a:rPr sz="2000" b="1" dirty="0">
                <a:latin typeface="Times New Roman"/>
                <a:cs typeface="Times New Roman"/>
              </a:rPr>
              <a:t>,</a:t>
            </a:r>
            <a:r>
              <a:rPr sz="2000" b="1" spc="-15" dirty="0">
                <a:latin typeface="Times New Roman"/>
                <a:cs typeface="Times New Roman"/>
              </a:rPr>
              <a:t> </a:t>
            </a:r>
            <a:r>
              <a:rPr sz="2000" b="1" dirty="0">
                <a:latin typeface="Times New Roman"/>
                <a:cs typeface="Times New Roman"/>
              </a:rPr>
              <a:t>this</a:t>
            </a:r>
            <a:r>
              <a:rPr sz="2000" b="1" spc="-30" dirty="0">
                <a:latin typeface="Times New Roman"/>
                <a:cs typeface="Times New Roman"/>
              </a:rPr>
              <a:t> </a:t>
            </a:r>
            <a:r>
              <a:rPr sz="2000" b="1" dirty="0">
                <a:latin typeface="Times New Roman"/>
                <a:cs typeface="Times New Roman"/>
              </a:rPr>
              <a:t>mean</a:t>
            </a:r>
            <a:r>
              <a:rPr sz="2000" b="1" spc="-25" dirty="0">
                <a:latin typeface="Times New Roman"/>
                <a:cs typeface="Times New Roman"/>
              </a:rPr>
              <a:t> </a:t>
            </a:r>
            <a:r>
              <a:rPr sz="2000" b="1" spc="-10" dirty="0">
                <a:latin typeface="Times New Roman"/>
                <a:cs typeface="Times New Roman"/>
              </a:rPr>
              <a:t>that:</a:t>
            </a:r>
            <a:endParaRPr sz="2000" dirty="0">
              <a:latin typeface="Times New Roman"/>
              <a:cs typeface="Times New Roman"/>
            </a:endParaRPr>
          </a:p>
          <a:p>
            <a:pPr marL="352425" marR="5080" indent="-339725" algn="just">
              <a:lnSpc>
                <a:spcPct val="100000"/>
              </a:lnSpc>
              <a:buFont typeface="Arial MT"/>
              <a:buChar char="•"/>
              <a:tabLst>
                <a:tab pos="355600" algn="l"/>
              </a:tabLst>
            </a:pPr>
            <a:r>
              <a:rPr sz="2000" b="1" dirty="0">
                <a:latin typeface="Times New Roman"/>
                <a:cs typeface="Times New Roman"/>
              </a:rPr>
              <a:t>when  the  kernel  is</a:t>
            </a:r>
            <a:r>
              <a:rPr sz="2000" b="1" spc="495" dirty="0">
                <a:latin typeface="Times New Roman"/>
                <a:cs typeface="Times New Roman"/>
              </a:rPr>
              <a:t> </a:t>
            </a:r>
            <a:r>
              <a:rPr sz="2000" b="1" dirty="0">
                <a:latin typeface="Times New Roman"/>
                <a:cs typeface="Times New Roman"/>
              </a:rPr>
              <a:t>over</a:t>
            </a:r>
            <a:r>
              <a:rPr sz="2000" b="1" spc="455" dirty="0">
                <a:latin typeface="Times New Roman"/>
                <a:cs typeface="Times New Roman"/>
              </a:rPr>
              <a:t> </a:t>
            </a:r>
            <a:r>
              <a:rPr sz="2000" b="1" dirty="0">
                <a:latin typeface="Times New Roman"/>
                <a:cs typeface="Times New Roman"/>
              </a:rPr>
              <a:t>an</a:t>
            </a:r>
            <a:r>
              <a:rPr sz="2000" b="1" spc="495" dirty="0">
                <a:latin typeface="Times New Roman"/>
                <a:cs typeface="Times New Roman"/>
              </a:rPr>
              <a:t> </a:t>
            </a:r>
            <a:r>
              <a:rPr sz="2000" b="1" dirty="0">
                <a:solidFill>
                  <a:srgbClr val="00AF50"/>
                </a:solidFill>
                <a:latin typeface="Times New Roman"/>
                <a:cs typeface="Times New Roman"/>
              </a:rPr>
              <a:t>area</a:t>
            </a:r>
            <a:r>
              <a:rPr sz="2000" b="1" spc="490" dirty="0">
                <a:solidFill>
                  <a:srgbClr val="00AF50"/>
                </a:solidFill>
                <a:latin typeface="Times New Roman"/>
                <a:cs typeface="Times New Roman"/>
              </a:rPr>
              <a:t> </a:t>
            </a:r>
            <a:r>
              <a:rPr sz="2000" b="1" dirty="0">
                <a:solidFill>
                  <a:srgbClr val="00AF50"/>
                </a:solidFill>
                <a:latin typeface="Times New Roman"/>
                <a:cs typeface="Times New Roman"/>
              </a:rPr>
              <a:t>of</a:t>
            </a:r>
            <a:r>
              <a:rPr sz="2000" b="1" spc="495" dirty="0">
                <a:solidFill>
                  <a:srgbClr val="00AF50"/>
                </a:solidFill>
                <a:latin typeface="Times New Roman"/>
                <a:cs typeface="Times New Roman"/>
              </a:rPr>
              <a:t> </a:t>
            </a:r>
            <a:r>
              <a:rPr sz="2000" b="1" dirty="0">
                <a:solidFill>
                  <a:srgbClr val="00AF50"/>
                </a:solidFill>
                <a:latin typeface="Times New Roman"/>
                <a:cs typeface="Times New Roman"/>
              </a:rPr>
              <a:t>constant</a:t>
            </a:r>
            <a:r>
              <a:rPr sz="2000" b="1" spc="490" dirty="0">
                <a:solidFill>
                  <a:srgbClr val="00AF50"/>
                </a:solidFill>
                <a:latin typeface="Times New Roman"/>
                <a:cs typeface="Times New Roman"/>
              </a:rPr>
              <a:t> </a:t>
            </a:r>
            <a:r>
              <a:rPr sz="2000" b="1" dirty="0">
                <a:latin typeface="Times New Roman"/>
                <a:cs typeface="Times New Roman"/>
              </a:rPr>
              <a:t>(background  area)</a:t>
            </a:r>
            <a:r>
              <a:rPr sz="2000" b="1" spc="495" dirty="0">
                <a:latin typeface="Times New Roman"/>
                <a:cs typeface="Times New Roman"/>
              </a:rPr>
              <a:t> </a:t>
            </a:r>
            <a:r>
              <a:rPr sz="2000" b="1" spc="-25" dirty="0">
                <a:latin typeface="Times New Roman"/>
                <a:cs typeface="Times New Roman"/>
              </a:rPr>
              <a:t>or 	</a:t>
            </a:r>
            <a:r>
              <a:rPr sz="2000" b="1" dirty="0">
                <a:solidFill>
                  <a:srgbClr val="00AF50"/>
                </a:solidFill>
                <a:latin typeface="Times New Roman"/>
                <a:cs typeface="Times New Roman"/>
              </a:rPr>
              <a:t>slowly</a:t>
            </a:r>
            <a:r>
              <a:rPr sz="2000" b="1" spc="20" dirty="0">
                <a:solidFill>
                  <a:srgbClr val="00AF50"/>
                </a:solidFill>
                <a:latin typeface="Times New Roman"/>
                <a:cs typeface="Times New Roman"/>
              </a:rPr>
              <a:t> </a:t>
            </a:r>
            <a:r>
              <a:rPr sz="2000" b="1" dirty="0">
                <a:solidFill>
                  <a:srgbClr val="00AF50"/>
                </a:solidFill>
                <a:latin typeface="Times New Roman"/>
                <a:cs typeface="Times New Roman"/>
              </a:rPr>
              <a:t>varying</a:t>
            </a:r>
            <a:r>
              <a:rPr sz="2000" b="1" spc="30" dirty="0">
                <a:solidFill>
                  <a:srgbClr val="00AF50"/>
                </a:solidFill>
                <a:latin typeface="Times New Roman"/>
                <a:cs typeface="Times New Roman"/>
              </a:rPr>
              <a:t> </a:t>
            </a:r>
            <a:r>
              <a:rPr sz="2000" b="1" dirty="0">
                <a:solidFill>
                  <a:srgbClr val="00AF50"/>
                </a:solidFill>
                <a:latin typeface="Times New Roman"/>
                <a:cs typeface="Times New Roman"/>
              </a:rPr>
              <a:t>gray</a:t>
            </a:r>
            <a:r>
              <a:rPr sz="2000" b="1" spc="45" dirty="0">
                <a:solidFill>
                  <a:srgbClr val="00AF50"/>
                </a:solidFill>
                <a:latin typeface="Times New Roman"/>
                <a:cs typeface="Times New Roman"/>
              </a:rPr>
              <a:t> </a:t>
            </a:r>
            <a:r>
              <a:rPr sz="2000" b="1" dirty="0">
                <a:solidFill>
                  <a:srgbClr val="00AF50"/>
                </a:solidFill>
                <a:latin typeface="Times New Roman"/>
                <a:cs typeface="Times New Roman"/>
              </a:rPr>
              <a:t>level</a:t>
            </a:r>
            <a:r>
              <a:rPr sz="2000" b="1" dirty="0">
                <a:latin typeface="Times New Roman"/>
                <a:cs typeface="Times New Roman"/>
              </a:rPr>
              <a:t>,</a:t>
            </a:r>
            <a:r>
              <a:rPr sz="2000" b="1" spc="30" dirty="0">
                <a:latin typeface="Times New Roman"/>
                <a:cs typeface="Times New Roman"/>
              </a:rPr>
              <a:t> </a:t>
            </a:r>
            <a:r>
              <a:rPr sz="2000" b="1" dirty="0">
                <a:latin typeface="Times New Roman"/>
                <a:cs typeface="Times New Roman"/>
              </a:rPr>
              <a:t>the</a:t>
            </a:r>
            <a:r>
              <a:rPr sz="2000" b="1" spc="40" dirty="0">
                <a:latin typeface="Times New Roman"/>
                <a:cs typeface="Times New Roman"/>
              </a:rPr>
              <a:t> </a:t>
            </a:r>
            <a:r>
              <a:rPr sz="2000" b="1" dirty="0">
                <a:solidFill>
                  <a:srgbClr val="006FC0"/>
                </a:solidFill>
                <a:latin typeface="Times New Roman"/>
                <a:cs typeface="Times New Roman"/>
              </a:rPr>
              <a:t>result</a:t>
            </a:r>
            <a:r>
              <a:rPr sz="2000" b="1" spc="30" dirty="0">
                <a:solidFill>
                  <a:srgbClr val="006FC0"/>
                </a:solidFill>
                <a:latin typeface="Times New Roman"/>
                <a:cs typeface="Times New Roman"/>
              </a:rPr>
              <a:t> </a:t>
            </a:r>
            <a:r>
              <a:rPr sz="2000" b="1" dirty="0">
                <a:solidFill>
                  <a:srgbClr val="006FC0"/>
                </a:solidFill>
                <a:latin typeface="Times New Roman"/>
                <a:cs typeface="Times New Roman"/>
              </a:rPr>
              <a:t>of</a:t>
            </a:r>
            <a:r>
              <a:rPr sz="2000" b="1" spc="40" dirty="0">
                <a:solidFill>
                  <a:srgbClr val="006FC0"/>
                </a:solidFill>
                <a:latin typeface="Times New Roman"/>
                <a:cs typeface="Times New Roman"/>
              </a:rPr>
              <a:t> </a:t>
            </a:r>
            <a:r>
              <a:rPr sz="2000" b="1" dirty="0">
                <a:solidFill>
                  <a:srgbClr val="006FC0"/>
                </a:solidFill>
                <a:latin typeface="Times New Roman"/>
                <a:cs typeface="Times New Roman"/>
              </a:rPr>
              <a:t>convolution</a:t>
            </a:r>
            <a:r>
              <a:rPr sz="2000" b="1" spc="45" dirty="0">
                <a:solidFill>
                  <a:srgbClr val="006FC0"/>
                </a:solidFill>
                <a:latin typeface="Times New Roman"/>
                <a:cs typeface="Times New Roman"/>
              </a:rPr>
              <a:t> </a:t>
            </a:r>
            <a:r>
              <a:rPr sz="2000" b="1" dirty="0">
                <a:latin typeface="Times New Roman"/>
                <a:cs typeface="Times New Roman"/>
              </a:rPr>
              <a:t>is</a:t>
            </a:r>
            <a:r>
              <a:rPr sz="2000" b="1" spc="35" dirty="0">
                <a:latin typeface="Times New Roman"/>
                <a:cs typeface="Times New Roman"/>
              </a:rPr>
              <a:t> </a:t>
            </a:r>
            <a:r>
              <a:rPr sz="2000" b="1" dirty="0">
                <a:solidFill>
                  <a:srgbClr val="FF0000"/>
                </a:solidFill>
                <a:latin typeface="Times New Roman"/>
                <a:cs typeface="Times New Roman"/>
              </a:rPr>
              <a:t>zero</a:t>
            </a:r>
            <a:r>
              <a:rPr sz="2000" b="1" spc="35" dirty="0">
                <a:solidFill>
                  <a:srgbClr val="FF0000"/>
                </a:solidFill>
                <a:latin typeface="Times New Roman"/>
                <a:cs typeface="Times New Roman"/>
              </a:rPr>
              <a:t> </a:t>
            </a:r>
            <a:r>
              <a:rPr sz="2000" b="1" dirty="0">
                <a:latin typeface="Times New Roman"/>
                <a:cs typeface="Times New Roman"/>
              </a:rPr>
              <a:t>or some</a:t>
            </a:r>
            <a:r>
              <a:rPr sz="2000" b="1" spc="35" dirty="0">
                <a:latin typeface="Times New Roman"/>
                <a:cs typeface="Times New Roman"/>
              </a:rPr>
              <a:t> </a:t>
            </a:r>
            <a:r>
              <a:rPr sz="2000" b="1" spc="-20" dirty="0">
                <a:solidFill>
                  <a:srgbClr val="FF0000"/>
                </a:solidFill>
                <a:latin typeface="Times New Roman"/>
                <a:cs typeface="Times New Roman"/>
              </a:rPr>
              <a:t>very 	</a:t>
            </a:r>
            <a:r>
              <a:rPr sz="2000" b="1" dirty="0">
                <a:solidFill>
                  <a:srgbClr val="FF0000"/>
                </a:solidFill>
                <a:latin typeface="Times New Roman"/>
                <a:cs typeface="Times New Roman"/>
              </a:rPr>
              <a:t>small</a:t>
            </a:r>
            <a:r>
              <a:rPr sz="2000" b="1" spc="-30" dirty="0">
                <a:solidFill>
                  <a:srgbClr val="FF0000"/>
                </a:solidFill>
                <a:latin typeface="Times New Roman"/>
                <a:cs typeface="Times New Roman"/>
              </a:rPr>
              <a:t> </a:t>
            </a:r>
            <a:r>
              <a:rPr sz="2000" b="1" spc="-10" dirty="0">
                <a:solidFill>
                  <a:srgbClr val="FF0000"/>
                </a:solidFill>
                <a:latin typeface="Times New Roman"/>
                <a:cs typeface="Times New Roman"/>
              </a:rPr>
              <a:t>number</a:t>
            </a:r>
            <a:r>
              <a:rPr sz="2000" b="1" spc="-10" dirty="0">
                <a:latin typeface="Times New Roman"/>
                <a:cs typeface="Times New Roman"/>
              </a:rPr>
              <a:t>.</a:t>
            </a:r>
            <a:endParaRPr sz="2000" dirty="0">
              <a:latin typeface="Times New Roman"/>
              <a:cs typeface="Times New Roman"/>
            </a:endParaRPr>
          </a:p>
          <a:p>
            <a:pPr marL="352425" marR="9525" indent="-339725" algn="just">
              <a:lnSpc>
                <a:spcPct val="100000"/>
              </a:lnSpc>
              <a:spcBef>
                <a:spcPts val="5"/>
              </a:spcBef>
              <a:buFont typeface="Arial MT"/>
              <a:buChar char="•"/>
              <a:tabLst>
                <a:tab pos="355600" algn="l"/>
              </a:tabLst>
            </a:pPr>
            <a:r>
              <a:rPr sz="2000" b="1" dirty="0">
                <a:latin typeface="Times New Roman"/>
                <a:cs typeface="Times New Roman"/>
              </a:rPr>
              <a:t>when</a:t>
            </a:r>
            <a:r>
              <a:rPr sz="2000" b="1" spc="135" dirty="0">
                <a:latin typeface="Times New Roman"/>
                <a:cs typeface="Times New Roman"/>
              </a:rPr>
              <a:t> </a:t>
            </a:r>
            <a:r>
              <a:rPr sz="2000" b="1" dirty="0">
                <a:solidFill>
                  <a:srgbClr val="00AF50"/>
                </a:solidFill>
                <a:latin typeface="Times New Roman"/>
                <a:cs typeface="Times New Roman"/>
              </a:rPr>
              <a:t>gray</a:t>
            </a:r>
            <a:r>
              <a:rPr sz="2000" b="1" spc="140" dirty="0">
                <a:solidFill>
                  <a:srgbClr val="00AF50"/>
                </a:solidFill>
                <a:latin typeface="Times New Roman"/>
                <a:cs typeface="Times New Roman"/>
              </a:rPr>
              <a:t> </a:t>
            </a:r>
            <a:r>
              <a:rPr sz="2000" b="1" dirty="0">
                <a:solidFill>
                  <a:srgbClr val="00AF50"/>
                </a:solidFill>
                <a:latin typeface="Times New Roman"/>
                <a:cs typeface="Times New Roman"/>
              </a:rPr>
              <a:t>level</a:t>
            </a:r>
            <a:r>
              <a:rPr sz="2000" b="1" spc="135" dirty="0">
                <a:solidFill>
                  <a:srgbClr val="00AF50"/>
                </a:solidFill>
                <a:latin typeface="Times New Roman"/>
                <a:cs typeface="Times New Roman"/>
              </a:rPr>
              <a:t> </a:t>
            </a:r>
            <a:r>
              <a:rPr sz="2000" b="1" dirty="0">
                <a:solidFill>
                  <a:srgbClr val="00AF50"/>
                </a:solidFill>
                <a:latin typeface="Times New Roman"/>
                <a:cs typeface="Times New Roman"/>
              </a:rPr>
              <a:t>is</a:t>
            </a:r>
            <a:r>
              <a:rPr sz="2000" b="1" spc="120" dirty="0">
                <a:solidFill>
                  <a:srgbClr val="00AF50"/>
                </a:solidFill>
                <a:latin typeface="Times New Roman"/>
                <a:cs typeface="Times New Roman"/>
              </a:rPr>
              <a:t> </a:t>
            </a:r>
            <a:r>
              <a:rPr sz="2000" b="1" dirty="0">
                <a:solidFill>
                  <a:srgbClr val="00AF50"/>
                </a:solidFill>
                <a:latin typeface="Times New Roman"/>
                <a:cs typeface="Times New Roman"/>
              </a:rPr>
              <a:t>varying</a:t>
            </a:r>
            <a:r>
              <a:rPr sz="2000" b="1" spc="135" dirty="0">
                <a:solidFill>
                  <a:srgbClr val="00AF50"/>
                </a:solidFill>
                <a:latin typeface="Times New Roman"/>
                <a:cs typeface="Times New Roman"/>
              </a:rPr>
              <a:t> </a:t>
            </a:r>
            <a:r>
              <a:rPr sz="2000" b="1" dirty="0">
                <a:solidFill>
                  <a:srgbClr val="00AF50"/>
                </a:solidFill>
                <a:latin typeface="Times New Roman"/>
                <a:cs typeface="Times New Roman"/>
              </a:rPr>
              <a:t>rapidly</a:t>
            </a:r>
            <a:r>
              <a:rPr sz="2000" b="1" spc="135" dirty="0">
                <a:solidFill>
                  <a:srgbClr val="00AF50"/>
                </a:solidFill>
                <a:latin typeface="Times New Roman"/>
                <a:cs typeface="Times New Roman"/>
              </a:rPr>
              <a:t> </a:t>
            </a:r>
            <a:r>
              <a:rPr sz="2000" b="1" dirty="0">
                <a:solidFill>
                  <a:srgbClr val="00AF50"/>
                </a:solidFill>
                <a:latin typeface="Times New Roman"/>
                <a:cs typeface="Times New Roman"/>
              </a:rPr>
              <a:t>within</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the</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neighborhood</a:t>
            </a:r>
            <a:r>
              <a:rPr sz="2000" b="1" dirty="0">
                <a:latin typeface="Times New Roman"/>
                <a:cs typeface="Times New Roman"/>
              </a:rPr>
              <a:t>,</a:t>
            </a:r>
            <a:r>
              <a:rPr sz="2000" b="1" spc="130" dirty="0">
                <a:latin typeface="Times New Roman"/>
                <a:cs typeface="Times New Roman"/>
              </a:rPr>
              <a:t> </a:t>
            </a:r>
            <a:r>
              <a:rPr sz="2000" b="1" dirty="0">
                <a:latin typeface="Times New Roman"/>
                <a:cs typeface="Times New Roman"/>
              </a:rPr>
              <a:t>the</a:t>
            </a:r>
            <a:r>
              <a:rPr sz="2000" b="1" spc="140" dirty="0">
                <a:latin typeface="Times New Roman"/>
                <a:cs typeface="Times New Roman"/>
              </a:rPr>
              <a:t> </a:t>
            </a:r>
            <a:r>
              <a:rPr sz="2000" b="1" spc="-10" dirty="0">
                <a:solidFill>
                  <a:srgbClr val="006FC0"/>
                </a:solidFill>
                <a:latin typeface="Times New Roman"/>
                <a:cs typeface="Times New Roman"/>
              </a:rPr>
              <a:t>result 	</a:t>
            </a:r>
            <a:r>
              <a:rPr sz="2000" b="1" dirty="0">
                <a:solidFill>
                  <a:srgbClr val="006FC0"/>
                </a:solidFill>
                <a:latin typeface="Times New Roman"/>
                <a:cs typeface="Times New Roman"/>
              </a:rPr>
              <a:t>of</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10" dirty="0">
                <a:solidFill>
                  <a:srgbClr val="006FC0"/>
                </a:solidFill>
                <a:latin typeface="Times New Roman"/>
                <a:cs typeface="Times New Roman"/>
              </a:rPr>
              <a:t> </a:t>
            </a:r>
            <a:r>
              <a:rPr sz="2000" b="1" dirty="0">
                <a:solidFill>
                  <a:srgbClr val="006FC0"/>
                </a:solidFill>
                <a:latin typeface="Times New Roman"/>
                <a:cs typeface="Times New Roman"/>
              </a:rPr>
              <a:t>convolution</a:t>
            </a:r>
            <a:r>
              <a:rPr sz="2000" b="1" spc="-35" dirty="0">
                <a:solidFill>
                  <a:srgbClr val="006FC0"/>
                </a:solidFill>
                <a:latin typeface="Times New Roman"/>
                <a:cs typeface="Times New Roman"/>
              </a:rPr>
              <a:t> </a:t>
            </a:r>
            <a:r>
              <a:rPr sz="2000" b="1" dirty="0">
                <a:latin typeface="Times New Roman"/>
                <a:cs typeface="Times New Roman"/>
              </a:rPr>
              <a:t>can</a:t>
            </a:r>
            <a:r>
              <a:rPr sz="2000" b="1" spc="-15" dirty="0">
                <a:latin typeface="Times New Roman"/>
                <a:cs typeface="Times New Roman"/>
              </a:rPr>
              <a:t> </a:t>
            </a:r>
            <a:r>
              <a:rPr sz="2000" b="1" dirty="0">
                <a:latin typeface="Times New Roman"/>
                <a:cs typeface="Times New Roman"/>
              </a:rPr>
              <a:t>be </a:t>
            </a:r>
            <a:r>
              <a:rPr sz="2000" b="1" dirty="0">
                <a:solidFill>
                  <a:srgbClr val="FF0000"/>
                </a:solidFill>
                <a:latin typeface="Times New Roman"/>
                <a:cs typeface="Times New Roman"/>
              </a:rPr>
              <a:t>large</a:t>
            </a:r>
            <a:r>
              <a:rPr sz="2000" b="1" spc="-15" dirty="0">
                <a:solidFill>
                  <a:srgbClr val="FF0000"/>
                </a:solidFill>
                <a:latin typeface="Times New Roman"/>
                <a:cs typeface="Times New Roman"/>
              </a:rPr>
              <a:t> </a:t>
            </a:r>
            <a:r>
              <a:rPr sz="2000" b="1" spc="-10" dirty="0">
                <a:solidFill>
                  <a:srgbClr val="FF0000"/>
                </a:solidFill>
                <a:latin typeface="Times New Roman"/>
                <a:cs typeface="Times New Roman"/>
              </a:rPr>
              <a:t>number</a:t>
            </a:r>
            <a:r>
              <a:rPr sz="2000" b="1" spc="-10" dirty="0">
                <a:latin typeface="Times New Roman"/>
                <a:cs typeface="Times New Roman"/>
              </a:rPr>
              <a:t>.</a:t>
            </a:r>
            <a:endParaRPr sz="2000" dirty="0">
              <a:latin typeface="Times New Roman"/>
              <a:cs typeface="Times New Roman"/>
            </a:endParaRPr>
          </a:p>
          <a:p>
            <a:pPr marL="12700" marR="8890" algn="just">
              <a:lnSpc>
                <a:spcPct val="100000"/>
              </a:lnSpc>
            </a:pPr>
            <a:r>
              <a:rPr sz="2000" b="1" dirty="0">
                <a:solidFill>
                  <a:srgbClr val="6F2F9F"/>
                </a:solidFill>
                <a:latin typeface="Times New Roman"/>
                <a:cs typeface="Times New Roman"/>
              </a:rPr>
              <a:t>This</a:t>
            </a:r>
            <a:r>
              <a:rPr sz="2000" b="1" spc="70" dirty="0">
                <a:solidFill>
                  <a:srgbClr val="6F2F9F"/>
                </a:solidFill>
                <a:latin typeface="Times New Roman"/>
                <a:cs typeface="Times New Roman"/>
              </a:rPr>
              <a:t> </a:t>
            </a:r>
            <a:r>
              <a:rPr sz="2000" b="1" dirty="0">
                <a:solidFill>
                  <a:srgbClr val="6F2F9F"/>
                </a:solidFill>
                <a:latin typeface="Times New Roman"/>
                <a:cs typeface="Times New Roman"/>
              </a:rPr>
              <a:t>number</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can</a:t>
            </a:r>
            <a:r>
              <a:rPr sz="2000" b="1" spc="65" dirty="0">
                <a:solidFill>
                  <a:srgbClr val="6F2F9F"/>
                </a:solidFill>
                <a:latin typeface="Times New Roman"/>
                <a:cs typeface="Times New Roman"/>
              </a:rPr>
              <a:t> </a:t>
            </a:r>
            <a:r>
              <a:rPr sz="2000" b="1" dirty="0">
                <a:solidFill>
                  <a:srgbClr val="6F2F9F"/>
                </a:solidFill>
                <a:latin typeface="Times New Roman"/>
                <a:cs typeface="Times New Roman"/>
              </a:rPr>
              <a:t>be</a:t>
            </a:r>
            <a:r>
              <a:rPr sz="2000" b="1" spc="65" dirty="0">
                <a:solidFill>
                  <a:srgbClr val="6F2F9F"/>
                </a:solidFill>
                <a:latin typeface="Times New Roman"/>
                <a:cs typeface="Times New Roman"/>
              </a:rPr>
              <a:t> </a:t>
            </a:r>
            <a:r>
              <a:rPr sz="2000" b="1" dirty="0">
                <a:solidFill>
                  <a:srgbClr val="6F2F9F"/>
                </a:solidFill>
                <a:latin typeface="Times New Roman"/>
                <a:cs typeface="Times New Roman"/>
              </a:rPr>
              <a:t>positive</a:t>
            </a:r>
            <a:r>
              <a:rPr sz="2000" b="1" spc="65" dirty="0">
                <a:solidFill>
                  <a:srgbClr val="6F2F9F"/>
                </a:solidFill>
                <a:latin typeface="Times New Roman"/>
                <a:cs typeface="Times New Roman"/>
              </a:rPr>
              <a:t> </a:t>
            </a:r>
            <a:r>
              <a:rPr sz="2000" b="1" dirty="0">
                <a:solidFill>
                  <a:srgbClr val="6F2F9F"/>
                </a:solidFill>
                <a:latin typeface="Times New Roman"/>
                <a:cs typeface="Times New Roman"/>
              </a:rPr>
              <a:t>or</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negative</a:t>
            </a:r>
            <a:r>
              <a:rPr sz="2000" b="1" dirty="0">
                <a:latin typeface="Times New Roman"/>
                <a:cs typeface="Times New Roman"/>
              </a:rPr>
              <a:t>,</a:t>
            </a:r>
            <a:r>
              <a:rPr sz="2000" b="1" spc="65" dirty="0">
                <a:latin typeface="Times New Roman"/>
                <a:cs typeface="Times New Roman"/>
              </a:rPr>
              <a:t> </a:t>
            </a:r>
            <a:r>
              <a:rPr sz="2000" b="1" dirty="0">
                <a:latin typeface="Times New Roman"/>
                <a:cs typeface="Times New Roman"/>
              </a:rPr>
              <a:t>because</a:t>
            </a:r>
            <a:r>
              <a:rPr sz="2000" b="1" spc="50" dirty="0">
                <a:latin typeface="Times New Roman"/>
                <a:cs typeface="Times New Roman"/>
              </a:rPr>
              <a:t> </a:t>
            </a:r>
            <a:r>
              <a:rPr sz="2000" b="1" dirty="0">
                <a:latin typeface="Times New Roman"/>
                <a:cs typeface="Times New Roman"/>
              </a:rPr>
              <a:t>the</a:t>
            </a:r>
            <a:r>
              <a:rPr sz="2000" b="1" spc="75" dirty="0">
                <a:latin typeface="Times New Roman"/>
                <a:cs typeface="Times New Roman"/>
              </a:rPr>
              <a:t> </a:t>
            </a:r>
            <a:r>
              <a:rPr sz="2000" b="1" dirty="0">
                <a:latin typeface="Times New Roman"/>
                <a:cs typeface="Times New Roman"/>
              </a:rPr>
              <a:t>kernel</a:t>
            </a:r>
            <a:r>
              <a:rPr sz="2000" b="1" spc="60" dirty="0">
                <a:latin typeface="Times New Roman"/>
                <a:cs typeface="Times New Roman"/>
              </a:rPr>
              <a:t> </a:t>
            </a:r>
            <a:r>
              <a:rPr sz="2000" b="1" dirty="0">
                <a:latin typeface="Times New Roman"/>
                <a:cs typeface="Times New Roman"/>
              </a:rPr>
              <a:t>contains</a:t>
            </a:r>
            <a:r>
              <a:rPr sz="2000" b="1" spc="70" dirty="0">
                <a:latin typeface="Times New Roman"/>
                <a:cs typeface="Times New Roman"/>
              </a:rPr>
              <a:t> </a:t>
            </a:r>
            <a:r>
              <a:rPr sz="2000" b="1" spc="-20" dirty="0">
                <a:latin typeface="Times New Roman"/>
                <a:cs typeface="Times New Roman"/>
              </a:rPr>
              <a:t>both </a:t>
            </a:r>
            <a:r>
              <a:rPr sz="2000" b="1" dirty="0">
                <a:latin typeface="Times New Roman"/>
                <a:cs typeface="Times New Roman"/>
              </a:rPr>
              <a:t>positive</a:t>
            </a:r>
            <a:r>
              <a:rPr sz="2000" b="1" spc="190" dirty="0">
                <a:latin typeface="Times New Roman"/>
                <a:cs typeface="Times New Roman"/>
              </a:rPr>
              <a:t> </a:t>
            </a:r>
            <a:r>
              <a:rPr sz="2000" b="1" dirty="0">
                <a:latin typeface="Times New Roman"/>
                <a:cs typeface="Times New Roman"/>
              </a:rPr>
              <a:t>and</a:t>
            </a:r>
            <a:r>
              <a:rPr sz="2000" b="1" spc="195" dirty="0">
                <a:latin typeface="Times New Roman"/>
                <a:cs typeface="Times New Roman"/>
              </a:rPr>
              <a:t> </a:t>
            </a:r>
            <a:r>
              <a:rPr sz="2000" b="1" dirty="0">
                <a:latin typeface="Times New Roman"/>
                <a:cs typeface="Times New Roman"/>
              </a:rPr>
              <a:t>negative</a:t>
            </a:r>
            <a:r>
              <a:rPr sz="2000" b="1" spc="200" dirty="0">
                <a:latin typeface="Times New Roman"/>
                <a:cs typeface="Times New Roman"/>
              </a:rPr>
              <a:t> </a:t>
            </a:r>
            <a:r>
              <a:rPr sz="2000" b="1" dirty="0">
                <a:latin typeface="Times New Roman"/>
                <a:cs typeface="Times New Roman"/>
              </a:rPr>
              <a:t>coefficients;</a:t>
            </a:r>
            <a:r>
              <a:rPr sz="2000" b="1" spc="220" dirty="0">
                <a:latin typeface="Times New Roman"/>
                <a:cs typeface="Times New Roman"/>
              </a:rPr>
              <a:t> </a:t>
            </a:r>
            <a:r>
              <a:rPr sz="2000" b="1" dirty="0">
                <a:latin typeface="Times New Roman"/>
                <a:cs typeface="Times New Roman"/>
              </a:rPr>
              <a:t>we</a:t>
            </a:r>
            <a:r>
              <a:rPr sz="2000" b="1" spc="200" dirty="0">
                <a:latin typeface="Times New Roman"/>
                <a:cs typeface="Times New Roman"/>
              </a:rPr>
              <a:t> </a:t>
            </a:r>
            <a:r>
              <a:rPr sz="2000" b="1" dirty="0">
                <a:latin typeface="Times New Roman"/>
                <a:cs typeface="Times New Roman"/>
              </a:rPr>
              <a:t>therefore</a:t>
            </a:r>
            <a:r>
              <a:rPr sz="2000" b="1" spc="204" dirty="0">
                <a:latin typeface="Times New Roman"/>
                <a:cs typeface="Times New Roman"/>
              </a:rPr>
              <a:t> </a:t>
            </a:r>
            <a:r>
              <a:rPr sz="2000" b="1" dirty="0">
                <a:latin typeface="Times New Roman"/>
                <a:cs typeface="Times New Roman"/>
              </a:rPr>
              <a:t>need</a:t>
            </a:r>
            <a:r>
              <a:rPr sz="2000" b="1" spc="190" dirty="0">
                <a:latin typeface="Times New Roman"/>
                <a:cs typeface="Times New Roman"/>
              </a:rPr>
              <a:t> </a:t>
            </a:r>
            <a:r>
              <a:rPr sz="2000" b="1" dirty="0">
                <a:latin typeface="Times New Roman"/>
                <a:cs typeface="Times New Roman"/>
              </a:rPr>
              <a:t>to</a:t>
            </a:r>
            <a:r>
              <a:rPr sz="2000" b="1" spc="225" dirty="0">
                <a:latin typeface="Times New Roman"/>
                <a:cs typeface="Times New Roman"/>
              </a:rPr>
              <a:t> </a:t>
            </a:r>
            <a:r>
              <a:rPr sz="2000" b="1" dirty="0">
                <a:latin typeface="Times New Roman"/>
                <a:cs typeface="Times New Roman"/>
              </a:rPr>
              <a:t>choose</a:t>
            </a:r>
            <a:r>
              <a:rPr sz="2000" b="1" spc="200" dirty="0">
                <a:latin typeface="Times New Roman"/>
                <a:cs typeface="Times New Roman"/>
              </a:rPr>
              <a:t> </a:t>
            </a:r>
            <a:r>
              <a:rPr sz="2000" b="1" dirty="0">
                <a:latin typeface="Times New Roman"/>
                <a:cs typeface="Times New Roman"/>
              </a:rPr>
              <a:t>an</a:t>
            </a:r>
            <a:r>
              <a:rPr sz="2000" b="1" spc="195" dirty="0">
                <a:latin typeface="Times New Roman"/>
                <a:cs typeface="Times New Roman"/>
              </a:rPr>
              <a:t> </a:t>
            </a:r>
            <a:r>
              <a:rPr sz="2000" b="1" spc="-10" dirty="0">
                <a:latin typeface="Times New Roman"/>
                <a:cs typeface="Times New Roman"/>
              </a:rPr>
              <a:t>output </a:t>
            </a:r>
            <a:r>
              <a:rPr sz="2000" b="1" dirty="0">
                <a:latin typeface="Times New Roman"/>
                <a:cs typeface="Times New Roman"/>
              </a:rPr>
              <a:t>image</a:t>
            </a:r>
            <a:r>
              <a:rPr sz="2000" b="1" spc="-25" dirty="0">
                <a:latin typeface="Times New Roman"/>
                <a:cs typeface="Times New Roman"/>
              </a:rPr>
              <a:t> </a:t>
            </a:r>
            <a:r>
              <a:rPr sz="2000" b="1" spc="-10" dirty="0">
                <a:latin typeface="Times New Roman"/>
                <a:cs typeface="Times New Roman"/>
              </a:rPr>
              <a:t>representation</a:t>
            </a:r>
            <a:r>
              <a:rPr sz="2000" b="1" spc="-25" dirty="0">
                <a:latin typeface="Times New Roman"/>
                <a:cs typeface="Times New Roman"/>
              </a:rPr>
              <a:t> </a:t>
            </a:r>
            <a:r>
              <a:rPr sz="2000" b="1" dirty="0">
                <a:latin typeface="Times New Roman"/>
                <a:cs typeface="Times New Roman"/>
              </a:rPr>
              <a:t>that</a:t>
            </a:r>
            <a:r>
              <a:rPr sz="2000" b="1" spc="-25" dirty="0">
                <a:latin typeface="Times New Roman"/>
                <a:cs typeface="Times New Roman"/>
              </a:rPr>
              <a:t> </a:t>
            </a:r>
            <a:r>
              <a:rPr sz="2000" b="1" dirty="0">
                <a:latin typeface="Times New Roman"/>
                <a:cs typeface="Times New Roman"/>
              </a:rPr>
              <a:t>supports</a:t>
            </a:r>
            <a:r>
              <a:rPr sz="2000" b="1" spc="-40" dirty="0">
                <a:latin typeface="Times New Roman"/>
                <a:cs typeface="Times New Roman"/>
              </a:rPr>
              <a:t> </a:t>
            </a:r>
            <a:r>
              <a:rPr sz="2000" b="1" dirty="0">
                <a:latin typeface="Times New Roman"/>
                <a:cs typeface="Times New Roman"/>
              </a:rPr>
              <a:t>negative</a:t>
            </a:r>
            <a:r>
              <a:rPr sz="2000" b="1" spc="-20" dirty="0">
                <a:latin typeface="Times New Roman"/>
                <a:cs typeface="Times New Roman"/>
              </a:rPr>
              <a:t> </a:t>
            </a:r>
            <a:r>
              <a:rPr sz="2000" b="1" spc="-10" dirty="0">
                <a:latin typeface="Times New Roman"/>
                <a:cs typeface="Times New Roman"/>
              </a:rPr>
              <a:t>number.</a:t>
            </a:r>
            <a:endParaRPr sz="2000" dirty="0">
              <a:latin typeface="Times New Roman"/>
              <a:cs typeface="Times New Roman"/>
            </a:endParaRPr>
          </a:p>
        </p:txBody>
      </p:sp>
      <p:sp>
        <p:nvSpPr>
          <p:cNvPr id="7" name="object 7"/>
          <p:cNvSpPr txBox="1">
            <a:spLocks noGrp="1"/>
          </p:cNvSpPr>
          <p:nvPr>
            <p:ph type="title"/>
          </p:nvPr>
        </p:nvSpPr>
        <p:spPr>
          <a:xfrm>
            <a:off x="539292" y="1076959"/>
            <a:ext cx="8110220" cy="635635"/>
          </a:xfrm>
          <a:prstGeom prst="rect">
            <a:avLst/>
          </a:prstGeom>
        </p:spPr>
        <p:txBody>
          <a:bodyPr vert="horz" wrap="square" lIns="0" tIns="13335" rIns="0" bIns="0" rtlCol="0">
            <a:spAutoFit/>
          </a:bodyPr>
          <a:lstStyle/>
          <a:p>
            <a:pPr marL="12700" marR="5080">
              <a:lnSpc>
                <a:spcPct val="100000"/>
              </a:lnSpc>
              <a:spcBef>
                <a:spcPts val="105"/>
              </a:spcBef>
              <a:tabLst>
                <a:tab pos="783590" algn="l"/>
                <a:tab pos="1551940" algn="l"/>
                <a:tab pos="2082164" algn="l"/>
                <a:tab pos="2698115" algn="l"/>
                <a:tab pos="3045460" algn="l"/>
                <a:tab pos="3774440" algn="l"/>
                <a:tab pos="4327525" algn="l"/>
                <a:tab pos="4699635" algn="l"/>
                <a:tab pos="5725160" algn="l"/>
                <a:tab pos="6565265" algn="l"/>
                <a:tab pos="6911340" algn="l"/>
                <a:tab pos="7386955" algn="l"/>
              </a:tabLst>
            </a:pPr>
            <a:r>
              <a:rPr u="none" spc="-10" dirty="0">
                <a:solidFill>
                  <a:srgbClr val="000000"/>
                </a:solidFill>
              </a:rPr>
              <a:t>These</a:t>
            </a:r>
            <a:r>
              <a:rPr u="none" dirty="0">
                <a:solidFill>
                  <a:srgbClr val="000000"/>
                </a:solidFill>
              </a:rPr>
              <a:t>	</a:t>
            </a:r>
            <a:r>
              <a:rPr u="none" spc="-10" dirty="0">
                <a:solidFill>
                  <a:srgbClr val="000000"/>
                </a:solidFill>
              </a:rPr>
              <a:t>filters</a:t>
            </a:r>
            <a:r>
              <a:rPr u="none" dirty="0">
                <a:solidFill>
                  <a:srgbClr val="000000"/>
                </a:solidFill>
              </a:rPr>
              <a:t>	</a:t>
            </a:r>
            <a:r>
              <a:rPr u="none" spc="-20" dirty="0">
                <a:solidFill>
                  <a:srgbClr val="000000"/>
                </a:solidFill>
              </a:rPr>
              <a:t>will</a:t>
            </a:r>
            <a:r>
              <a:rPr u="none" dirty="0">
                <a:solidFill>
                  <a:srgbClr val="000000"/>
                </a:solidFill>
              </a:rPr>
              <a:t>	</a:t>
            </a:r>
            <a:r>
              <a:rPr u="none" spc="-20" dirty="0"/>
              <a:t>tend</a:t>
            </a:r>
            <a:r>
              <a:rPr u="none" dirty="0"/>
              <a:t>	</a:t>
            </a:r>
            <a:r>
              <a:rPr u="none" spc="-25" dirty="0"/>
              <a:t>to</a:t>
            </a:r>
            <a:r>
              <a:rPr u="none" dirty="0"/>
              <a:t>	</a:t>
            </a:r>
            <a:r>
              <a:rPr u="none" spc="-10" dirty="0">
                <a:solidFill>
                  <a:srgbClr val="006FC0"/>
                </a:solidFill>
              </a:rPr>
              <a:t>bring</a:t>
            </a:r>
            <a:r>
              <a:rPr u="none" dirty="0">
                <a:solidFill>
                  <a:srgbClr val="006FC0"/>
                </a:solidFill>
              </a:rPr>
              <a:t>	</a:t>
            </a:r>
            <a:r>
              <a:rPr u="none" spc="-20" dirty="0">
                <a:solidFill>
                  <a:srgbClr val="006FC0"/>
                </a:solidFill>
              </a:rPr>
              <a:t>out</a:t>
            </a:r>
            <a:r>
              <a:rPr u="none" spc="-20" dirty="0">
                <a:solidFill>
                  <a:srgbClr val="000000"/>
                </a:solidFill>
              </a:rPr>
              <a:t>,</a:t>
            </a:r>
            <a:r>
              <a:rPr u="none" dirty="0">
                <a:solidFill>
                  <a:srgbClr val="000000"/>
                </a:solidFill>
              </a:rPr>
              <a:t>	</a:t>
            </a:r>
            <a:r>
              <a:rPr u="none" spc="-25" dirty="0">
                <a:solidFill>
                  <a:srgbClr val="000000"/>
                </a:solidFill>
              </a:rPr>
              <a:t>or</a:t>
            </a:r>
            <a:r>
              <a:rPr u="none" dirty="0">
                <a:solidFill>
                  <a:srgbClr val="000000"/>
                </a:solidFill>
              </a:rPr>
              <a:t>	</a:t>
            </a:r>
            <a:r>
              <a:rPr u="none" spc="-10" dirty="0">
                <a:solidFill>
                  <a:srgbClr val="006FC0"/>
                </a:solidFill>
              </a:rPr>
              <a:t>enhance</a:t>
            </a:r>
            <a:r>
              <a:rPr u="none" dirty="0">
                <a:solidFill>
                  <a:srgbClr val="006FC0"/>
                </a:solidFill>
              </a:rPr>
              <a:t>	</a:t>
            </a:r>
            <a:r>
              <a:rPr u="none" spc="-10" dirty="0">
                <a:solidFill>
                  <a:srgbClr val="006FC0"/>
                </a:solidFill>
              </a:rPr>
              <a:t>details</a:t>
            </a:r>
            <a:r>
              <a:rPr u="none" dirty="0">
                <a:solidFill>
                  <a:srgbClr val="006FC0"/>
                </a:solidFill>
              </a:rPr>
              <a:t>	</a:t>
            </a:r>
            <a:r>
              <a:rPr u="none" spc="-25" dirty="0">
                <a:solidFill>
                  <a:srgbClr val="000000"/>
                </a:solidFill>
              </a:rPr>
              <a:t>in</a:t>
            </a:r>
            <a:r>
              <a:rPr u="none" dirty="0">
                <a:solidFill>
                  <a:srgbClr val="000000"/>
                </a:solidFill>
              </a:rPr>
              <a:t>	</a:t>
            </a:r>
            <a:r>
              <a:rPr u="none" spc="-25" dirty="0">
                <a:solidFill>
                  <a:srgbClr val="000000"/>
                </a:solidFill>
              </a:rPr>
              <a:t>the</a:t>
            </a:r>
            <a:r>
              <a:rPr u="none" dirty="0">
                <a:solidFill>
                  <a:srgbClr val="000000"/>
                </a:solidFill>
              </a:rPr>
              <a:t>	</a:t>
            </a:r>
            <a:r>
              <a:rPr u="none" spc="-10" dirty="0">
                <a:solidFill>
                  <a:srgbClr val="000000"/>
                </a:solidFill>
              </a:rPr>
              <a:t>image. </a:t>
            </a:r>
            <a:r>
              <a:rPr u="none" dirty="0">
                <a:solidFill>
                  <a:srgbClr val="000000"/>
                </a:solidFill>
              </a:rPr>
              <a:t>Example</a:t>
            </a:r>
            <a:r>
              <a:rPr u="none" spc="-40" dirty="0">
                <a:solidFill>
                  <a:srgbClr val="000000"/>
                </a:solidFill>
              </a:rPr>
              <a:t> </a:t>
            </a:r>
            <a:r>
              <a:rPr u="none" dirty="0">
                <a:solidFill>
                  <a:srgbClr val="000000"/>
                </a:solidFill>
              </a:rPr>
              <a:t>of</a:t>
            </a:r>
            <a:r>
              <a:rPr u="none" spc="-15" dirty="0">
                <a:solidFill>
                  <a:srgbClr val="000000"/>
                </a:solidFill>
              </a:rPr>
              <a:t> </a:t>
            </a:r>
            <a:r>
              <a:rPr u="none" dirty="0">
                <a:solidFill>
                  <a:srgbClr val="000000"/>
                </a:solidFill>
              </a:rPr>
              <a:t>convolution</a:t>
            </a:r>
            <a:r>
              <a:rPr u="none" spc="-35" dirty="0">
                <a:solidFill>
                  <a:srgbClr val="000000"/>
                </a:solidFill>
              </a:rPr>
              <a:t> </a:t>
            </a:r>
            <a:r>
              <a:rPr u="none" dirty="0">
                <a:solidFill>
                  <a:srgbClr val="000000"/>
                </a:solidFill>
              </a:rPr>
              <a:t>masks</a:t>
            </a:r>
            <a:r>
              <a:rPr u="none" spc="-25" dirty="0">
                <a:solidFill>
                  <a:srgbClr val="000000"/>
                </a:solidFill>
              </a:rPr>
              <a:t> </a:t>
            </a:r>
            <a:r>
              <a:rPr u="none" dirty="0">
                <a:solidFill>
                  <a:srgbClr val="000000"/>
                </a:solidFill>
              </a:rPr>
              <a:t>for</a:t>
            </a:r>
            <a:r>
              <a:rPr u="none" spc="-45" dirty="0">
                <a:solidFill>
                  <a:srgbClr val="000000"/>
                </a:solidFill>
              </a:rPr>
              <a:t> </a:t>
            </a:r>
            <a:r>
              <a:rPr u="none" dirty="0">
                <a:solidFill>
                  <a:srgbClr val="000000"/>
                </a:solidFill>
              </a:rPr>
              <a:t>the</a:t>
            </a:r>
            <a:r>
              <a:rPr u="none" spc="-20" dirty="0">
                <a:solidFill>
                  <a:srgbClr val="000000"/>
                </a:solidFill>
              </a:rPr>
              <a:t> </a:t>
            </a:r>
            <a:r>
              <a:rPr u="none" dirty="0">
                <a:solidFill>
                  <a:srgbClr val="000000"/>
                </a:solidFill>
              </a:rPr>
              <a:t>Laplacian-type</a:t>
            </a:r>
            <a:r>
              <a:rPr u="none" spc="-40" dirty="0">
                <a:solidFill>
                  <a:srgbClr val="000000"/>
                </a:solidFill>
              </a:rPr>
              <a:t> </a:t>
            </a:r>
            <a:r>
              <a:rPr u="none" dirty="0">
                <a:solidFill>
                  <a:srgbClr val="000000"/>
                </a:solidFill>
              </a:rPr>
              <a:t>filters</a:t>
            </a:r>
            <a:r>
              <a:rPr u="none" spc="-30" dirty="0">
                <a:solidFill>
                  <a:srgbClr val="000000"/>
                </a:solidFill>
              </a:rPr>
              <a:t> </a:t>
            </a:r>
            <a:r>
              <a:rPr u="none" spc="-20" dirty="0">
                <a:solidFill>
                  <a:srgbClr val="000000"/>
                </a:solidFill>
              </a:rPr>
              <a:t>are:</a:t>
            </a:r>
          </a:p>
        </p:txBody>
      </p:sp>
      <p:pic>
        <p:nvPicPr>
          <p:cNvPr id="8" name="object 8"/>
          <p:cNvPicPr/>
          <p:nvPr/>
        </p:nvPicPr>
        <p:blipFill>
          <a:blip r:embed="rId2" cstate="print"/>
          <a:stretch>
            <a:fillRect/>
          </a:stretch>
        </p:blipFill>
        <p:spPr>
          <a:xfrm>
            <a:off x="3060192" y="324576"/>
            <a:ext cx="2825496" cy="390179"/>
          </a:xfrm>
          <a:prstGeom prst="rect">
            <a:avLst/>
          </a:prstGeom>
        </p:spPr>
      </p:pic>
      <p:grpSp>
        <p:nvGrpSpPr>
          <p:cNvPr id="9" name="object 9"/>
          <p:cNvGrpSpPr/>
          <p:nvPr/>
        </p:nvGrpSpPr>
        <p:grpSpPr>
          <a:xfrm>
            <a:off x="426719" y="795527"/>
            <a:ext cx="8211820" cy="91440"/>
            <a:chOff x="426719" y="795527"/>
            <a:chExt cx="8211820" cy="91440"/>
          </a:xfrm>
        </p:grpSpPr>
        <p:pic>
          <p:nvPicPr>
            <p:cNvPr id="10" name="object 10"/>
            <p:cNvPicPr/>
            <p:nvPr/>
          </p:nvPicPr>
          <p:blipFill>
            <a:blip r:embed="rId3" cstate="print"/>
            <a:stretch>
              <a:fillRect/>
            </a:stretch>
          </p:blipFill>
          <p:spPr>
            <a:xfrm>
              <a:off x="426719" y="795527"/>
              <a:ext cx="8211311" cy="91440"/>
            </a:xfrm>
            <a:prstGeom prst="rect">
              <a:avLst/>
            </a:prstGeom>
          </p:spPr>
        </p:pic>
        <p:sp>
          <p:nvSpPr>
            <p:cNvPr id="11" name="object 11"/>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289" y="644778"/>
            <a:ext cx="8340725" cy="635635"/>
          </a:xfrm>
          <a:prstGeom prst="rect">
            <a:avLst/>
          </a:prstGeom>
        </p:spPr>
        <p:txBody>
          <a:bodyPr vert="horz" wrap="square" lIns="0" tIns="13335" rIns="0" bIns="0" rtlCol="0">
            <a:spAutoFit/>
          </a:bodyPr>
          <a:lstStyle/>
          <a:p>
            <a:pPr marL="12700" marR="5080" indent="59055">
              <a:lnSpc>
                <a:spcPct val="100000"/>
              </a:lnSpc>
              <a:spcBef>
                <a:spcPts val="105"/>
              </a:spcBef>
              <a:tabLst>
                <a:tab pos="661670" algn="l"/>
                <a:tab pos="1374775" algn="l"/>
                <a:tab pos="2654935" algn="l"/>
                <a:tab pos="3030220" algn="l"/>
                <a:tab pos="4281805" algn="l"/>
                <a:tab pos="4977130" algn="l"/>
                <a:tab pos="5309235" algn="l"/>
                <a:tab pos="5687060" algn="l"/>
                <a:tab pos="6732905" algn="l"/>
                <a:tab pos="7237095" algn="l"/>
                <a:tab pos="8117205" algn="l"/>
              </a:tabLst>
            </a:pPr>
            <a:r>
              <a:rPr u="none" spc="-25" dirty="0">
                <a:solidFill>
                  <a:srgbClr val="000000"/>
                </a:solidFill>
              </a:rPr>
              <a:t>The</a:t>
            </a:r>
            <a:r>
              <a:rPr u="none" dirty="0">
                <a:solidFill>
                  <a:srgbClr val="000000"/>
                </a:solidFill>
              </a:rPr>
              <a:t>	</a:t>
            </a:r>
            <a:r>
              <a:rPr u="none" spc="-20" dirty="0"/>
              <a:t>main</a:t>
            </a:r>
            <a:r>
              <a:rPr u="none" dirty="0"/>
              <a:t>	</a:t>
            </a:r>
            <a:r>
              <a:rPr u="none" spc="-10" dirty="0"/>
              <a:t>advantage</a:t>
            </a:r>
            <a:r>
              <a:rPr u="none" dirty="0"/>
              <a:t>	</a:t>
            </a:r>
            <a:r>
              <a:rPr u="none" spc="-25" dirty="0">
                <a:solidFill>
                  <a:srgbClr val="000000"/>
                </a:solidFill>
              </a:rPr>
              <a:t>of</a:t>
            </a:r>
            <a:r>
              <a:rPr u="none" dirty="0">
                <a:solidFill>
                  <a:srgbClr val="000000"/>
                </a:solidFill>
              </a:rPr>
              <a:t>	</a:t>
            </a:r>
            <a:r>
              <a:rPr u="none" spc="-10" dirty="0">
                <a:solidFill>
                  <a:srgbClr val="000000"/>
                </a:solidFill>
              </a:rPr>
              <a:t>Laplacian</a:t>
            </a:r>
            <a:r>
              <a:rPr u="none" dirty="0">
                <a:solidFill>
                  <a:srgbClr val="000000"/>
                </a:solidFill>
              </a:rPr>
              <a:t>	</a:t>
            </a:r>
            <a:r>
              <a:rPr u="none" spc="-10" dirty="0">
                <a:solidFill>
                  <a:srgbClr val="000000"/>
                </a:solidFill>
              </a:rPr>
              <a:t>filter</a:t>
            </a:r>
            <a:r>
              <a:rPr u="none" dirty="0">
                <a:solidFill>
                  <a:srgbClr val="000000"/>
                </a:solidFill>
              </a:rPr>
              <a:t>	</a:t>
            </a:r>
            <a:r>
              <a:rPr u="none" spc="-25" dirty="0">
                <a:solidFill>
                  <a:srgbClr val="000000"/>
                </a:solidFill>
              </a:rPr>
              <a:t>is</a:t>
            </a:r>
            <a:r>
              <a:rPr u="none" dirty="0">
                <a:solidFill>
                  <a:srgbClr val="000000"/>
                </a:solidFill>
              </a:rPr>
              <a:t>	</a:t>
            </a:r>
            <a:r>
              <a:rPr u="none" spc="-25" dirty="0">
                <a:solidFill>
                  <a:srgbClr val="000000"/>
                </a:solidFill>
              </a:rPr>
              <a:t>to</a:t>
            </a:r>
            <a:r>
              <a:rPr u="none" dirty="0">
                <a:solidFill>
                  <a:srgbClr val="000000"/>
                </a:solidFill>
              </a:rPr>
              <a:t>	</a:t>
            </a:r>
            <a:r>
              <a:rPr u="none" spc="-10" dirty="0">
                <a:solidFill>
                  <a:srgbClr val="006FC0"/>
                </a:solidFill>
              </a:rPr>
              <a:t>increase</a:t>
            </a:r>
            <a:r>
              <a:rPr u="none" dirty="0">
                <a:solidFill>
                  <a:srgbClr val="006FC0"/>
                </a:solidFill>
              </a:rPr>
              <a:t>	</a:t>
            </a:r>
            <a:r>
              <a:rPr u="none" spc="-25" dirty="0">
                <a:solidFill>
                  <a:srgbClr val="006FC0"/>
                </a:solidFill>
              </a:rPr>
              <a:t>the</a:t>
            </a:r>
            <a:r>
              <a:rPr u="none" dirty="0">
                <a:solidFill>
                  <a:srgbClr val="006FC0"/>
                </a:solidFill>
              </a:rPr>
              <a:t>	</a:t>
            </a:r>
            <a:r>
              <a:rPr u="none" spc="-10" dirty="0">
                <a:solidFill>
                  <a:srgbClr val="006FC0"/>
                </a:solidFill>
              </a:rPr>
              <a:t>degree</a:t>
            </a:r>
            <a:r>
              <a:rPr u="none" dirty="0">
                <a:solidFill>
                  <a:srgbClr val="006FC0"/>
                </a:solidFill>
              </a:rPr>
              <a:t>	</a:t>
            </a:r>
            <a:r>
              <a:rPr u="none" spc="-25" dirty="0">
                <a:solidFill>
                  <a:srgbClr val="006FC0"/>
                </a:solidFill>
              </a:rPr>
              <a:t>of </a:t>
            </a:r>
            <a:r>
              <a:rPr u="none" dirty="0">
                <a:solidFill>
                  <a:srgbClr val="006FC0"/>
                </a:solidFill>
              </a:rPr>
              <a:t>sharpening</a:t>
            </a:r>
            <a:r>
              <a:rPr u="none" dirty="0">
                <a:solidFill>
                  <a:srgbClr val="000000"/>
                </a:solidFill>
              </a:rPr>
              <a:t>.</a:t>
            </a:r>
            <a:r>
              <a:rPr u="none" spc="-50" dirty="0">
                <a:solidFill>
                  <a:srgbClr val="000000"/>
                </a:solidFill>
              </a:rPr>
              <a:t> </a:t>
            </a:r>
            <a:r>
              <a:rPr u="none" dirty="0">
                <a:solidFill>
                  <a:srgbClr val="000000"/>
                </a:solidFill>
              </a:rPr>
              <a:t>It</a:t>
            </a:r>
            <a:r>
              <a:rPr u="none" spc="-10" dirty="0">
                <a:solidFill>
                  <a:srgbClr val="000000"/>
                </a:solidFill>
              </a:rPr>
              <a:t> </a:t>
            </a:r>
            <a:r>
              <a:rPr u="none" dirty="0">
                <a:solidFill>
                  <a:srgbClr val="00AF50"/>
                </a:solidFill>
              </a:rPr>
              <a:t>enhance</a:t>
            </a:r>
            <a:r>
              <a:rPr u="none" spc="-25" dirty="0">
                <a:solidFill>
                  <a:srgbClr val="00AF50"/>
                </a:solidFill>
              </a:rPr>
              <a:t> </a:t>
            </a:r>
            <a:r>
              <a:rPr u="none" dirty="0">
                <a:solidFill>
                  <a:srgbClr val="00AF50"/>
                </a:solidFill>
              </a:rPr>
              <a:t>details</a:t>
            </a:r>
            <a:r>
              <a:rPr u="none" spc="-35" dirty="0">
                <a:solidFill>
                  <a:srgbClr val="00AF50"/>
                </a:solidFill>
              </a:rPr>
              <a:t> </a:t>
            </a:r>
            <a:r>
              <a:rPr u="none" dirty="0">
                <a:solidFill>
                  <a:srgbClr val="00AF50"/>
                </a:solidFill>
              </a:rPr>
              <a:t>in</a:t>
            </a:r>
            <a:r>
              <a:rPr u="none" spc="-15" dirty="0">
                <a:solidFill>
                  <a:srgbClr val="00AF50"/>
                </a:solidFill>
              </a:rPr>
              <a:t> </a:t>
            </a:r>
            <a:r>
              <a:rPr u="none" dirty="0">
                <a:solidFill>
                  <a:srgbClr val="00AF50"/>
                </a:solidFill>
              </a:rPr>
              <a:t>all</a:t>
            </a:r>
            <a:r>
              <a:rPr u="none" spc="-20" dirty="0">
                <a:solidFill>
                  <a:srgbClr val="00AF50"/>
                </a:solidFill>
              </a:rPr>
              <a:t> </a:t>
            </a:r>
            <a:r>
              <a:rPr u="none" dirty="0">
                <a:solidFill>
                  <a:srgbClr val="00AF50"/>
                </a:solidFill>
              </a:rPr>
              <a:t>directions</a:t>
            </a:r>
            <a:r>
              <a:rPr u="none" spc="-45" dirty="0">
                <a:solidFill>
                  <a:srgbClr val="00AF50"/>
                </a:solidFill>
              </a:rPr>
              <a:t> </a:t>
            </a:r>
            <a:r>
              <a:rPr u="none" spc="-10" dirty="0">
                <a:solidFill>
                  <a:srgbClr val="00AF50"/>
                </a:solidFill>
              </a:rPr>
              <a:t>equally</a:t>
            </a:r>
            <a:r>
              <a:rPr u="none" spc="-10" dirty="0">
                <a:solidFill>
                  <a:srgbClr val="000000"/>
                </a:solidFill>
              </a:rPr>
              <a:t>.</a:t>
            </a:r>
          </a:p>
        </p:txBody>
      </p:sp>
      <p:grpSp>
        <p:nvGrpSpPr>
          <p:cNvPr id="3" name="object 3"/>
          <p:cNvGrpSpPr/>
          <p:nvPr/>
        </p:nvGrpSpPr>
        <p:grpSpPr>
          <a:xfrm>
            <a:off x="2995739" y="1428686"/>
            <a:ext cx="5795010" cy="2840990"/>
            <a:chOff x="2995739" y="1428686"/>
            <a:chExt cx="5795010" cy="2840990"/>
          </a:xfrm>
        </p:grpSpPr>
        <p:pic>
          <p:nvPicPr>
            <p:cNvPr id="4" name="object 4"/>
            <p:cNvPicPr/>
            <p:nvPr/>
          </p:nvPicPr>
          <p:blipFill>
            <a:blip r:embed="rId2" cstate="print"/>
            <a:stretch>
              <a:fillRect/>
            </a:stretch>
          </p:blipFill>
          <p:spPr>
            <a:xfrm>
              <a:off x="3005200" y="1438148"/>
              <a:ext cx="5775706" cy="2821685"/>
            </a:xfrm>
            <a:prstGeom prst="rect">
              <a:avLst/>
            </a:prstGeom>
          </p:spPr>
        </p:pic>
        <p:sp>
          <p:nvSpPr>
            <p:cNvPr id="5" name="object 5"/>
            <p:cNvSpPr/>
            <p:nvPr/>
          </p:nvSpPr>
          <p:spPr>
            <a:xfrm>
              <a:off x="3000501" y="1433449"/>
              <a:ext cx="5785485" cy="2831465"/>
            </a:xfrm>
            <a:custGeom>
              <a:avLst/>
              <a:gdLst/>
              <a:ahLst/>
              <a:cxnLst/>
              <a:rect l="l" t="t" r="r" b="b"/>
              <a:pathLst>
                <a:path w="5785484" h="2831465">
                  <a:moveTo>
                    <a:pt x="0" y="2831211"/>
                  </a:moveTo>
                  <a:lnTo>
                    <a:pt x="5785231" y="2831211"/>
                  </a:lnTo>
                  <a:lnTo>
                    <a:pt x="5785231" y="0"/>
                  </a:lnTo>
                  <a:lnTo>
                    <a:pt x="0" y="0"/>
                  </a:lnTo>
                  <a:lnTo>
                    <a:pt x="0" y="2831211"/>
                  </a:lnTo>
                  <a:close/>
                </a:path>
              </a:pathLst>
            </a:custGeom>
            <a:ln w="9525">
              <a:solidFill>
                <a:srgbClr val="000000"/>
              </a:solidFill>
            </a:ln>
          </p:spPr>
          <p:txBody>
            <a:bodyPr wrap="square" lIns="0" tIns="0" rIns="0" bIns="0" rtlCol="0"/>
            <a:lstStyle/>
            <a:p>
              <a:endParaRPr/>
            </a:p>
          </p:txBody>
        </p:sp>
      </p:grpSp>
      <p:grpSp>
        <p:nvGrpSpPr>
          <p:cNvPr id="6" name="object 6"/>
          <p:cNvGrpSpPr/>
          <p:nvPr/>
        </p:nvGrpSpPr>
        <p:grpSpPr>
          <a:xfrm>
            <a:off x="2995739" y="4382960"/>
            <a:ext cx="5819775" cy="2244090"/>
            <a:chOff x="2995739" y="4382960"/>
            <a:chExt cx="5819775" cy="2244090"/>
          </a:xfrm>
        </p:grpSpPr>
        <p:pic>
          <p:nvPicPr>
            <p:cNvPr id="7" name="object 7"/>
            <p:cNvPicPr/>
            <p:nvPr/>
          </p:nvPicPr>
          <p:blipFill>
            <a:blip r:embed="rId3" cstate="print"/>
            <a:stretch>
              <a:fillRect/>
            </a:stretch>
          </p:blipFill>
          <p:spPr>
            <a:xfrm>
              <a:off x="3062350" y="4464248"/>
              <a:ext cx="5648325" cy="2143925"/>
            </a:xfrm>
            <a:prstGeom prst="rect">
              <a:avLst/>
            </a:prstGeom>
          </p:spPr>
        </p:pic>
        <p:sp>
          <p:nvSpPr>
            <p:cNvPr id="8" name="object 8"/>
            <p:cNvSpPr/>
            <p:nvPr/>
          </p:nvSpPr>
          <p:spPr>
            <a:xfrm>
              <a:off x="3000501" y="4387722"/>
              <a:ext cx="5810250" cy="2234565"/>
            </a:xfrm>
            <a:custGeom>
              <a:avLst/>
              <a:gdLst/>
              <a:ahLst/>
              <a:cxnLst/>
              <a:rect l="l" t="t" r="r" b="b"/>
              <a:pathLst>
                <a:path w="5810250" h="2234565">
                  <a:moveTo>
                    <a:pt x="0" y="2234184"/>
                  </a:moveTo>
                  <a:lnTo>
                    <a:pt x="5810250" y="2234184"/>
                  </a:lnTo>
                  <a:lnTo>
                    <a:pt x="5810250" y="0"/>
                  </a:lnTo>
                  <a:lnTo>
                    <a:pt x="0" y="0"/>
                  </a:lnTo>
                  <a:lnTo>
                    <a:pt x="0" y="2234184"/>
                  </a:lnTo>
                  <a:close/>
                </a:path>
              </a:pathLst>
            </a:custGeom>
            <a:ln w="9525">
              <a:solidFill>
                <a:srgbClr val="000000"/>
              </a:solidFill>
            </a:ln>
          </p:spPr>
          <p:txBody>
            <a:bodyPr wrap="square" lIns="0" tIns="0" rIns="0" bIns="0" rtlCol="0"/>
            <a:lstStyle/>
            <a:p>
              <a:endParaRPr/>
            </a:p>
          </p:txBody>
        </p:sp>
      </p:grpSp>
      <p:sp>
        <p:nvSpPr>
          <p:cNvPr id="9" name="object 9"/>
          <p:cNvSpPr txBox="1"/>
          <p:nvPr/>
        </p:nvSpPr>
        <p:spPr>
          <a:xfrm>
            <a:off x="385978" y="3974083"/>
            <a:ext cx="2211070" cy="167195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Image</a:t>
            </a:r>
            <a:r>
              <a:rPr sz="1800" b="1" spc="-35" dirty="0">
                <a:latin typeface="Times New Roman"/>
                <a:cs typeface="Times New Roman"/>
              </a:rPr>
              <a:t> </a:t>
            </a:r>
            <a:r>
              <a:rPr sz="1800" b="1" dirty="0">
                <a:latin typeface="Times New Roman"/>
                <a:cs typeface="Times New Roman"/>
              </a:rPr>
              <a:t>sharpening</a:t>
            </a:r>
            <a:r>
              <a:rPr sz="1800" b="1" spc="-20" dirty="0">
                <a:latin typeface="Times New Roman"/>
                <a:cs typeface="Times New Roman"/>
              </a:rPr>
              <a:t> </a:t>
            </a:r>
            <a:r>
              <a:rPr sz="1800" b="1" spc="-25" dirty="0">
                <a:latin typeface="Times New Roman"/>
                <a:cs typeface="Times New Roman"/>
              </a:rPr>
              <a:t>and</a:t>
            </a:r>
            <a:endParaRPr sz="1800">
              <a:latin typeface="Times New Roman"/>
              <a:cs typeface="Times New Roman"/>
            </a:endParaRPr>
          </a:p>
          <a:p>
            <a:pPr marL="12700">
              <a:lnSpc>
                <a:spcPct val="100000"/>
              </a:lnSpc>
            </a:pPr>
            <a:r>
              <a:rPr sz="1800" b="1" dirty="0">
                <a:latin typeface="Times New Roman"/>
                <a:cs typeface="Times New Roman"/>
              </a:rPr>
              <a:t>histograms</a:t>
            </a:r>
            <a:r>
              <a:rPr sz="1800" b="1" spc="-15" dirty="0">
                <a:latin typeface="Times New Roman"/>
                <a:cs typeface="Times New Roman"/>
              </a:rPr>
              <a:t> </a:t>
            </a:r>
            <a:r>
              <a:rPr sz="1800" b="1" spc="-50" dirty="0">
                <a:latin typeface="Times New Roman"/>
                <a:cs typeface="Times New Roman"/>
              </a:rPr>
              <a:t>:</a:t>
            </a:r>
            <a:endParaRPr sz="1800">
              <a:latin typeface="Times New Roman"/>
              <a:cs typeface="Times New Roman"/>
            </a:endParaRPr>
          </a:p>
          <a:p>
            <a:pPr marL="12700" marR="462915">
              <a:lnSpc>
                <a:spcPct val="100000"/>
              </a:lnSpc>
            </a:pPr>
            <a:r>
              <a:rPr sz="1800" b="1" dirty="0">
                <a:latin typeface="Times New Roman"/>
                <a:cs typeface="Times New Roman"/>
              </a:rPr>
              <a:t>(a)</a:t>
            </a:r>
            <a:r>
              <a:rPr sz="1800" b="1" spc="-30" dirty="0">
                <a:latin typeface="Times New Roman"/>
                <a:cs typeface="Times New Roman"/>
              </a:rPr>
              <a:t> </a:t>
            </a:r>
            <a:r>
              <a:rPr sz="1800" b="1" dirty="0">
                <a:latin typeface="Times New Roman"/>
                <a:cs typeface="Times New Roman"/>
              </a:rPr>
              <a:t>original</a:t>
            </a:r>
            <a:r>
              <a:rPr sz="1800" b="1" spc="-20" dirty="0">
                <a:latin typeface="Times New Roman"/>
                <a:cs typeface="Times New Roman"/>
              </a:rPr>
              <a:t> </a:t>
            </a:r>
            <a:r>
              <a:rPr sz="1800" b="1" spc="-10" dirty="0">
                <a:latin typeface="Times New Roman"/>
                <a:cs typeface="Times New Roman"/>
              </a:rPr>
              <a:t>image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c</a:t>
            </a:r>
            <a:r>
              <a:rPr sz="1800" b="1" spc="-5" dirty="0">
                <a:latin typeface="Times New Roman"/>
                <a:cs typeface="Times New Roman"/>
              </a:rPr>
              <a:t> </a:t>
            </a:r>
            <a:r>
              <a:rPr sz="1800" b="1" dirty="0">
                <a:latin typeface="Times New Roman"/>
                <a:cs typeface="Times New Roman"/>
              </a:rPr>
              <a:t>)</a:t>
            </a:r>
            <a:r>
              <a:rPr sz="1800" b="1" spc="440" dirty="0">
                <a:latin typeface="Times New Roman"/>
                <a:cs typeface="Times New Roman"/>
              </a:rPr>
              <a:t> </a:t>
            </a:r>
            <a:r>
              <a:rPr sz="1800" b="1" spc="-10" dirty="0">
                <a:latin typeface="Times New Roman"/>
                <a:cs typeface="Times New Roman"/>
              </a:rPr>
              <a:t>histogram</a:t>
            </a:r>
            <a:endParaRPr sz="1800">
              <a:latin typeface="Times New Roman"/>
              <a:cs typeface="Times New Roman"/>
            </a:endParaRPr>
          </a:p>
          <a:p>
            <a:pPr marL="12700">
              <a:lnSpc>
                <a:spcPct val="100000"/>
              </a:lnSpc>
            </a:pPr>
            <a:r>
              <a:rPr sz="1800" b="1" dirty="0">
                <a:latin typeface="Times New Roman"/>
                <a:cs typeface="Times New Roman"/>
              </a:rPr>
              <a:t>(b)</a:t>
            </a:r>
            <a:r>
              <a:rPr sz="1800" b="1" spc="-10" dirty="0">
                <a:latin typeface="Times New Roman"/>
                <a:cs typeface="Times New Roman"/>
              </a:rPr>
              <a:t> </a:t>
            </a:r>
            <a:r>
              <a:rPr sz="1800" b="1" dirty="0">
                <a:latin typeface="Times New Roman"/>
                <a:cs typeface="Times New Roman"/>
              </a:rPr>
              <a:t>sharpened</a:t>
            </a:r>
            <a:r>
              <a:rPr sz="1800" b="1" spc="-5" dirty="0">
                <a:latin typeface="Times New Roman"/>
                <a:cs typeface="Times New Roman"/>
              </a:rPr>
              <a:t> </a:t>
            </a:r>
            <a:r>
              <a:rPr sz="1800" b="1" spc="-10" dirty="0">
                <a:latin typeface="Times New Roman"/>
                <a:cs typeface="Times New Roman"/>
              </a:rPr>
              <a:t>image</a:t>
            </a:r>
            <a:endParaRPr sz="1800">
              <a:latin typeface="Times New Roman"/>
              <a:cs typeface="Times New Roman"/>
            </a:endParaRPr>
          </a:p>
          <a:p>
            <a:pPr marL="12700">
              <a:lnSpc>
                <a:spcPct val="100000"/>
              </a:lnSpc>
            </a:pPr>
            <a:r>
              <a:rPr sz="1800" b="1" dirty="0">
                <a:latin typeface="Times New Roman"/>
                <a:cs typeface="Times New Roman"/>
              </a:rPr>
              <a:t>(d)</a:t>
            </a:r>
            <a:r>
              <a:rPr sz="1800" b="1" spc="-55" dirty="0">
                <a:latin typeface="Times New Roman"/>
                <a:cs typeface="Times New Roman"/>
              </a:rPr>
              <a:t> </a:t>
            </a:r>
            <a:r>
              <a:rPr sz="1800" b="1" dirty="0">
                <a:latin typeface="Times New Roman"/>
                <a:cs typeface="Times New Roman"/>
              </a:rPr>
              <a:t>histogram</a:t>
            </a:r>
            <a:r>
              <a:rPr sz="1800" b="1" spc="-55" dirty="0">
                <a:latin typeface="Times New Roman"/>
                <a:cs typeface="Times New Roman"/>
              </a:rPr>
              <a:t> </a:t>
            </a:r>
            <a:r>
              <a:rPr sz="1800" b="1" spc="-50" dirty="0">
                <a:latin typeface="Times New Roman"/>
                <a:cs typeface="Times New Roman"/>
              </a:rPr>
              <a:t>.</a:t>
            </a:r>
            <a:endParaRPr sz="1800">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4713" y="983995"/>
            <a:ext cx="8416290" cy="5117465"/>
          </a:xfrm>
          <a:prstGeom prst="rect">
            <a:avLst/>
          </a:prstGeom>
        </p:spPr>
        <p:txBody>
          <a:bodyPr vert="horz" wrap="square" lIns="0" tIns="13335" rIns="0" bIns="0" rtlCol="0">
            <a:spAutoFit/>
          </a:bodyPr>
          <a:lstStyle/>
          <a:p>
            <a:pPr marL="74295" marR="5080" algn="just">
              <a:lnSpc>
                <a:spcPct val="100000"/>
              </a:lnSpc>
              <a:spcBef>
                <a:spcPts val="105"/>
              </a:spcBef>
            </a:pPr>
            <a:r>
              <a:rPr sz="2000" b="1" dirty="0">
                <a:latin typeface="Times New Roman"/>
                <a:cs typeface="Times New Roman"/>
              </a:rPr>
              <a:t>Edge</a:t>
            </a:r>
            <a:r>
              <a:rPr sz="2000" b="1" spc="140" dirty="0">
                <a:latin typeface="Times New Roman"/>
                <a:cs typeface="Times New Roman"/>
              </a:rPr>
              <a:t> </a:t>
            </a:r>
            <a:r>
              <a:rPr sz="2000" b="1" dirty="0">
                <a:latin typeface="Times New Roman"/>
                <a:cs typeface="Times New Roman"/>
              </a:rPr>
              <a:t>detection</a:t>
            </a:r>
            <a:r>
              <a:rPr sz="2000" b="1" spc="135" dirty="0">
                <a:latin typeface="Times New Roman"/>
                <a:cs typeface="Times New Roman"/>
              </a:rPr>
              <a:t> </a:t>
            </a:r>
            <a:r>
              <a:rPr sz="2000" b="1" dirty="0">
                <a:latin typeface="Times New Roman"/>
                <a:cs typeface="Times New Roman"/>
              </a:rPr>
              <a:t>operators</a:t>
            </a:r>
            <a:r>
              <a:rPr sz="2000" b="1" spc="130" dirty="0">
                <a:latin typeface="Times New Roman"/>
                <a:cs typeface="Times New Roman"/>
              </a:rPr>
              <a:t> </a:t>
            </a:r>
            <a:r>
              <a:rPr sz="2000" b="1" dirty="0">
                <a:latin typeface="Times New Roman"/>
                <a:cs typeface="Times New Roman"/>
              </a:rPr>
              <a:t>are</a:t>
            </a:r>
            <a:r>
              <a:rPr sz="2000" b="1" spc="155" dirty="0">
                <a:latin typeface="Times New Roman"/>
                <a:cs typeface="Times New Roman"/>
              </a:rPr>
              <a:t> </a:t>
            </a:r>
            <a:r>
              <a:rPr sz="2000" b="1" dirty="0">
                <a:solidFill>
                  <a:srgbClr val="FF0000"/>
                </a:solidFill>
                <a:latin typeface="Times New Roman"/>
                <a:cs typeface="Times New Roman"/>
              </a:rPr>
              <a:t>based</a:t>
            </a:r>
            <a:r>
              <a:rPr sz="2000" b="1" spc="125" dirty="0">
                <a:solidFill>
                  <a:srgbClr val="FF0000"/>
                </a:solidFill>
                <a:latin typeface="Times New Roman"/>
                <a:cs typeface="Times New Roman"/>
              </a:rPr>
              <a:t> </a:t>
            </a:r>
            <a:r>
              <a:rPr sz="2000" b="1" dirty="0">
                <a:solidFill>
                  <a:srgbClr val="FF0000"/>
                </a:solidFill>
                <a:latin typeface="Times New Roman"/>
                <a:cs typeface="Times New Roman"/>
              </a:rPr>
              <a:t>on</a:t>
            </a:r>
            <a:r>
              <a:rPr sz="2000" b="1" spc="140" dirty="0">
                <a:solidFill>
                  <a:srgbClr val="FF0000"/>
                </a:solidFill>
                <a:latin typeface="Times New Roman"/>
                <a:cs typeface="Times New Roman"/>
              </a:rPr>
              <a:t> </a:t>
            </a:r>
            <a:r>
              <a:rPr sz="2000" b="1" dirty="0">
                <a:solidFill>
                  <a:srgbClr val="FF0000"/>
                </a:solidFill>
                <a:latin typeface="Times New Roman"/>
                <a:cs typeface="Times New Roman"/>
              </a:rPr>
              <a:t>the</a:t>
            </a:r>
            <a:r>
              <a:rPr sz="2000" b="1" spc="155" dirty="0">
                <a:solidFill>
                  <a:srgbClr val="FF0000"/>
                </a:solidFill>
                <a:latin typeface="Times New Roman"/>
                <a:cs typeface="Times New Roman"/>
              </a:rPr>
              <a:t> </a:t>
            </a:r>
            <a:r>
              <a:rPr sz="2000" b="1" dirty="0">
                <a:solidFill>
                  <a:srgbClr val="FF0000"/>
                </a:solidFill>
                <a:latin typeface="Times New Roman"/>
                <a:cs typeface="Times New Roman"/>
              </a:rPr>
              <a:t>idea</a:t>
            </a:r>
            <a:r>
              <a:rPr sz="2000" b="1" spc="150" dirty="0">
                <a:solidFill>
                  <a:srgbClr val="FF0000"/>
                </a:solidFill>
                <a:latin typeface="Times New Roman"/>
                <a:cs typeface="Times New Roman"/>
              </a:rPr>
              <a:t> </a:t>
            </a:r>
            <a:r>
              <a:rPr sz="2000" b="1" dirty="0">
                <a:latin typeface="Times New Roman"/>
                <a:cs typeface="Times New Roman"/>
              </a:rPr>
              <a:t>that</a:t>
            </a:r>
            <a:r>
              <a:rPr sz="2000" b="1" spc="140" dirty="0">
                <a:latin typeface="Times New Roman"/>
                <a:cs typeface="Times New Roman"/>
              </a:rPr>
              <a:t> </a:t>
            </a:r>
            <a:r>
              <a:rPr sz="2000" b="1" dirty="0">
                <a:solidFill>
                  <a:srgbClr val="006FC0"/>
                </a:solidFill>
                <a:latin typeface="Times New Roman"/>
                <a:cs typeface="Times New Roman"/>
              </a:rPr>
              <a:t>edge</a:t>
            </a:r>
            <a:r>
              <a:rPr sz="2000" b="1" spc="140" dirty="0">
                <a:solidFill>
                  <a:srgbClr val="006FC0"/>
                </a:solidFill>
                <a:latin typeface="Times New Roman"/>
                <a:cs typeface="Times New Roman"/>
              </a:rPr>
              <a:t> </a:t>
            </a:r>
            <a:r>
              <a:rPr sz="2000" b="1" dirty="0">
                <a:solidFill>
                  <a:srgbClr val="006FC0"/>
                </a:solidFill>
                <a:latin typeface="Times New Roman"/>
                <a:cs typeface="Times New Roman"/>
              </a:rPr>
              <a:t>information</a:t>
            </a:r>
            <a:r>
              <a:rPr sz="2000" b="1" spc="145" dirty="0">
                <a:solidFill>
                  <a:srgbClr val="006FC0"/>
                </a:solidFill>
                <a:latin typeface="Times New Roman"/>
                <a:cs typeface="Times New Roman"/>
              </a:rPr>
              <a:t> </a:t>
            </a:r>
            <a:r>
              <a:rPr sz="2000" b="1" dirty="0">
                <a:solidFill>
                  <a:srgbClr val="006FC0"/>
                </a:solidFill>
                <a:latin typeface="Times New Roman"/>
                <a:cs typeface="Times New Roman"/>
              </a:rPr>
              <a:t>in</a:t>
            </a:r>
            <a:r>
              <a:rPr sz="2000" b="1" spc="145" dirty="0">
                <a:solidFill>
                  <a:srgbClr val="006FC0"/>
                </a:solidFill>
                <a:latin typeface="Times New Roman"/>
                <a:cs typeface="Times New Roman"/>
              </a:rPr>
              <a:t> </a:t>
            </a:r>
            <a:r>
              <a:rPr sz="2000" b="1" spc="-25" dirty="0">
                <a:solidFill>
                  <a:srgbClr val="006FC0"/>
                </a:solidFill>
                <a:latin typeface="Times New Roman"/>
                <a:cs typeface="Times New Roman"/>
              </a:rPr>
              <a:t>an </a:t>
            </a:r>
            <a:r>
              <a:rPr sz="2000" b="1" dirty="0">
                <a:solidFill>
                  <a:srgbClr val="006FC0"/>
                </a:solidFill>
                <a:latin typeface="Times New Roman"/>
                <a:cs typeface="Times New Roman"/>
              </a:rPr>
              <a:t>image</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is</a:t>
            </a:r>
            <a:r>
              <a:rPr sz="2000" b="1" spc="210" dirty="0">
                <a:solidFill>
                  <a:srgbClr val="006FC0"/>
                </a:solidFill>
                <a:latin typeface="Times New Roman"/>
                <a:cs typeface="Times New Roman"/>
              </a:rPr>
              <a:t>  </a:t>
            </a:r>
            <a:r>
              <a:rPr sz="2000" b="1" dirty="0">
                <a:solidFill>
                  <a:srgbClr val="006FC0"/>
                </a:solidFill>
                <a:latin typeface="Times New Roman"/>
                <a:cs typeface="Times New Roman"/>
              </a:rPr>
              <a:t>found</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by</a:t>
            </a:r>
            <a:r>
              <a:rPr sz="2000" b="1" spc="220" dirty="0">
                <a:solidFill>
                  <a:srgbClr val="006FC0"/>
                </a:solidFill>
                <a:latin typeface="Times New Roman"/>
                <a:cs typeface="Times New Roman"/>
              </a:rPr>
              <a:t>  </a:t>
            </a:r>
            <a:r>
              <a:rPr sz="2000" b="1" dirty="0">
                <a:solidFill>
                  <a:srgbClr val="006FC0"/>
                </a:solidFill>
                <a:latin typeface="Times New Roman"/>
                <a:cs typeface="Times New Roman"/>
              </a:rPr>
              <a:t>looking</a:t>
            </a:r>
            <a:r>
              <a:rPr sz="2000" b="1" spc="220" dirty="0">
                <a:solidFill>
                  <a:srgbClr val="006FC0"/>
                </a:solidFill>
                <a:latin typeface="Times New Roman"/>
                <a:cs typeface="Times New Roman"/>
              </a:rPr>
              <a:t>  </a:t>
            </a:r>
            <a:r>
              <a:rPr sz="2000" b="1" dirty="0">
                <a:solidFill>
                  <a:srgbClr val="006FC0"/>
                </a:solidFill>
                <a:latin typeface="Times New Roman"/>
                <a:cs typeface="Times New Roman"/>
              </a:rPr>
              <a:t>at</a:t>
            </a:r>
            <a:r>
              <a:rPr sz="2000" b="1" spc="210" dirty="0">
                <a:solidFill>
                  <a:srgbClr val="006FC0"/>
                </a:solidFill>
                <a:latin typeface="Times New Roman"/>
                <a:cs typeface="Times New Roman"/>
              </a:rPr>
              <a:t>  </a:t>
            </a:r>
            <a:r>
              <a:rPr sz="2000" b="1" dirty="0">
                <a:solidFill>
                  <a:srgbClr val="006FC0"/>
                </a:solidFill>
                <a:latin typeface="Times New Roman"/>
                <a:cs typeface="Times New Roman"/>
              </a:rPr>
              <a:t>the</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relationship</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a</a:t>
            </a:r>
            <a:r>
              <a:rPr sz="2000" b="1" spc="210" dirty="0">
                <a:solidFill>
                  <a:srgbClr val="006FC0"/>
                </a:solidFill>
                <a:latin typeface="Times New Roman"/>
                <a:cs typeface="Times New Roman"/>
              </a:rPr>
              <a:t>  </a:t>
            </a:r>
            <a:r>
              <a:rPr sz="2000" b="1" dirty="0">
                <a:solidFill>
                  <a:srgbClr val="006FC0"/>
                </a:solidFill>
                <a:latin typeface="Times New Roman"/>
                <a:cs typeface="Times New Roman"/>
              </a:rPr>
              <a:t>pixel</a:t>
            </a:r>
            <a:r>
              <a:rPr sz="2000" b="1" spc="215" dirty="0">
                <a:solidFill>
                  <a:srgbClr val="006FC0"/>
                </a:solidFill>
                <a:latin typeface="Times New Roman"/>
                <a:cs typeface="Times New Roman"/>
              </a:rPr>
              <a:t>  </a:t>
            </a:r>
            <a:r>
              <a:rPr sz="2000" b="1" dirty="0">
                <a:solidFill>
                  <a:srgbClr val="006FC0"/>
                </a:solidFill>
                <a:latin typeface="Times New Roman"/>
                <a:cs typeface="Times New Roman"/>
              </a:rPr>
              <a:t>has</a:t>
            </a:r>
            <a:r>
              <a:rPr sz="2000" b="1" spc="210" dirty="0">
                <a:solidFill>
                  <a:srgbClr val="006FC0"/>
                </a:solidFill>
                <a:latin typeface="Times New Roman"/>
                <a:cs typeface="Times New Roman"/>
              </a:rPr>
              <a:t>  </a:t>
            </a:r>
            <a:r>
              <a:rPr sz="2000" b="1" dirty="0">
                <a:solidFill>
                  <a:srgbClr val="006FC0"/>
                </a:solidFill>
                <a:latin typeface="Times New Roman"/>
                <a:cs typeface="Times New Roman"/>
              </a:rPr>
              <a:t>with</a:t>
            </a:r>
            <a:r>
              <a:rPr sz="2000" b="1" spc="220" dirty="0">
                <a:solidFill>
                  <a:srgbClr val="006FC0"/>
                </a:solidFill>
                <a:latin typeface="Times New Roman"/>
                <a:cs typeface="Times New Roman"/>
              </a:rPr>
              <a:t>  </a:t>
            </a:r>
            <a:r>
              <a:rPr sz="2000" b="1" spc="-25" dirty="0">
                <a:solidFill>
                  <a:srgbClr val="006FC0"/>
                </a:solidFill>
                <a:latin typeface="Times New Roman"/>
                <a:cs typeface="Times New Roman"/>
              </a:rPr>
              <a:t>its </a:t>
            </a:r>
            <a:r>
              <a:rPr sz="2000" b="1" spc="-10" dirty="0">
                <a:solidFill>
                  <a:srgbClr val="006FC0"/>
                </a:solidFill>
                <a:latin typeface="Times New Roman"/>
                <a:cs typeface="Times New Roman"/>
              </a:rPr>
              <a:t>neighborhood</a:t>
            </a:r>
            <a:r>
              <a:rPr sz="2000" b="1" spc="-10" dirty="0">
                <a:latin typeface="Times New Roman"/>
                <a:cs typeface="Times New Roman"/>
              </a:rPr>
              <a:t>.</a:t>
            </a:r>
            <a:endParaRPr sz="2000">
              <a:latin typeface="Times New Roman"/>
              <a:cs typeface="Times New Roman"/>
            </a:endParaRPr>
          </a:p>
          <a:p>
            <a:pPr marL="414020" marR="7620" indent="-339725" algn="just">
              <a:lnSpc>
                <a:spcPct val="100000"/>
              </a:lnSpc>
              <a:buFont typeface="Arial MT"/>
              <a:buChar char="•"/>
              <a:tabLst>
                <a:tab pos="417195" algn="l"/>
              </a:tabLst>
            </a:pPr>
            <a:r>
              <a:rPr sz="2000" b="1" dirty="0">
                <a:solidFill>
                  <a:srgbClr val="00AF50"/>
                </a:solidFill>
                <a:latin typeface="Times New Roman"/>
                <a:cs typeface="Times New Roman"/>
              </a:rPr>
              <a:t>If</a:t>
            </a:r>
            <a:r>
              <a:rPr sz="2000" b="1" spc="30" dirty="0">
                <a:solidFill>
                  <a:srgbClr val="00AF50"/>
                </a:solidFill>
                <a:latin typeface="Times New Roman"/>
                <a:cs typeface="Times New Roman"/>
              </a:rPr>
              <a:t> </a:t>
            </a:r>
            <a:r>
              <a:rPr sz="2000" b="1" dirty="0">
                <a:solidFill>
                  <a:srgbClr val="00AF50"/>
                </a:solidFill>
                <a:latin typeface="Times New Roman"/>
                <a:cs typeface="Times New Roman"/>
              </a:rPr>
              <a:t>a</a:t>
            </a:r>
            <a:r>
              <a:rPr sz="2000" b="1" spc="45" dirty="0">
                <a:solidFill>
                  <a:srgbClr val="00AF50"/>
                </a:solidFill>
                <a:latin typeface="Times New Roman"/>
                <a:cs typeface="Times New Roman"/>
              </a:rPr>
              <a:t> </a:t>
            </a:r>
            <a:r>
              <a:rPr sz="2000" b="1" dirty="0">
                <a:solidFill>
                  <a:srgbClr val="00AF50"/>
                </a:solidFill>
                <a:latin typeface="Times New Roman"/>
                <a:cs typeface="Times New Roman"/>
              </a:rPr>
              <a:t>pixel’s</a:t>
            </a:r>
            <a:r>
              <a:rPr sz="2000" b="1" spc="40" dirty="0">
                <a:solidFill>
                  <a:srgbClr val="00AF50"/>
                </a:solidFill>
                <a:latin typeface="Times New Roman"/>
                <a:cs typeface="Times New Roman"/>
              </a:rPr>
              <a:t> </a:t>
            </a:r>
            <a:r>
              <a:rPr sz="2000" b="1" dirty="0">
                <a:solidFill>
                  <a:srgbClr val="00AF50"/>
                </a:solidFill>
                <a:latin typeface="Times New Roman"/>
                <a:cs typeface="Times New Roman"/>
              </a:rPr>
              <a:t>gray</a:t>
            </a:r>
            <a:r>
              <a:rPr sz="2000" b="1" spc="50" dirty="0">
                <a:solidFill>
                  <a:srgbClr val="00AF50"/>
                </a:solidFill>
                <a:latin typeface="Times New Roman"/>
                <a:cs typeface="Times New Roman"/>
              </a:rPr>
              <a:t> </a:t>
            </a:r>
            <a:r>
              <a:rPr sz="2000" b="1" dirty="0">
                <a:solidFill>
                  <a:srgbClr val="00AF50"/>
                </a:solidFill>
                <a:latin typeface="Times New Roman"/>
                <a:cs typeface="Times New Roman"/>
              </a:rPr>
              <a:t>level</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value</a:t>
            </a:r>
            <a:r>
              <a:rPr sz="2000" b="1" spc="20" dirty="0">
                <a:solidFill>
                  <a:srgbClr val="00AF50"/>
                </a:solidFill>
                <a:latin typeface="Times New Roman"/>
                <a:cs typeface="Times New Roman"/>
              </a:rPr>
              <a:t> </a:t>
            </a:r>
            <a:r>
              <a:rPr sz="2000" b="1" dirty="0">
                <a:solidFill>
                  <a:srgbClr val="00AF50"/>
                </a:solidFill>
                <a:latin typeface="Times New Roman"/>
                <a:cs typeface="Times New Roman"/>
              </a:rPr>
              <a:t>is</a:t>
            </a:r>
            <a:r>
              <a:rPr sz="2000" b="1" spc="35" dirty="0">
                <a:solidFill>
                  <a:srgbClr val="00AF50"/>
                </a:solidFill>
                <a:latin typeface="Times New Roman"/>
                <a:cs typeface="Times New Roman"/>
              </a:rPr>
              <a:t> </a:t>
            </a:r>
            <a:r>
              <a:rPr sz="2000" b="1" dirty="0">
                <a:solidFill>
                  <a:srgbClr val="00AF50"/>
                </a:solidFill>
                <a:latin typeface="Times New Roman"/>
                <a:cs typeface="Times New Roman"/>
              </a:rPr>
              <a:t>similar</a:t>
            </a:r>
            <a:r>
              <a:rPr sz="2000" b="1" spc="5" dirty="0">
                <a:solidFill>
                  <a:srgbClr val="00AF50"/>
                </a:solidFill>
                <a:latin typeface="Times New Roman"/>
                <a:cs typeface="Times New Roman"/>
              </a:rPr>
              <a:t> </a:t>
            </a:r>
            <a:r>
              <a:rPr sz="2000" b="1" dirty="0">
                <a:solidFill>
                  <a:srgbClr val="00AF50"/>
                </a:solidFill>
                <a:latin typeface="Times New Roman"/>
                <a:cs typeface="Times New Roman"/>
              </a:rPr>
              <a:t>to</a:t>
            </a:r>
            <a:r>
              <a:rPr sz="2000" b="1" spc="35" dirty="0">
                <a:solidFill>
                  <a:srgbClr val="00AF50"/>
                </a:solidFill>
                <a:latin typeface="Times New Roman"/>
                <a:cs typeface="Times New Roman"/>
              </a:rPr>
              <a:t> </a:t>
            </a:r>
            <a:r>
              <a:rPr sz="2000" b="1" dirty="0">
                <a:solidFill>
                  <a:srgbClr val="00AF50"/>
                </a:solidFill>
                <a:latin typeface="Times New Roman"/>
                <a:cs typeface="Times New Roman"/>
              </a:rPr>
              <a:t>those</a:t>
            </a:r>
            <a:r>
              <a:rPr sz="2000" b="1" spc="30" dirty="0">
                <a:solidFill>
                  <a:srgbClr val="00AF50"/>
                </a:solidFill>
                <a:latin typeface="Times New Roman"/>
                <a:cs typeface="Times New Roman"/>
              </a:rPr>
              <a:t> </a:t>
            </a:r>
            <a:r>
              <a:rPr sz="2000" b="1" dirty="0">
                <a:solidFill>
                  <a:srgbClr val="00AF50"/>
                </a:solidFill>
                <a:latin typeface="Times New Roman"/>
                <a:cs typeface="Times New Roman"/>
              </a:rPr>
              <a:t>around</a:t>
            </a:r>
            <a:r>
              <a:rPr sz="2000" b="1" spc="40" dirty="0">
                <a:solidFill>
                  <a:srgbClr val="00AF50"/>
                </a:solidFill>
                <a:latin typeface="Times New Roman"/>
                <a:cs typeface="Times New Roman"/>
              </a:rPr>
              <a:t> </a:t>
            </a:r>
            <a:r>
              <a:rPr sz="2000" b="1" dirty="0">
                <a:solidFill>
                  <a:srgbClr val="00AF50"/>
                </a:solidFill>
                <a:latin typeface="Times New Roman"/>
                <a:cs typeface="Times New Roman"/>
              </a:rPr>
              <a:t>it,</a:t>
            </a:r>
            <a:r>
              <a:rPr sz="2000" b="1" spc="35" dirty="0">
                <a:solidFill>
                  <a:srgbClr val="00AF50"/>
                </a:solidFill>
                <a:latin typeface="Times New Roman"/>
                <a:cs typeface="Times New Roman"/>
              </a:rPr>
              <a:t> </a:t>
            </a:r>
            <a:r>
              <a:rPr sz="2000" b="1" dirty="0">
                <a:solidFill>
                  <a:srgbClr val="00AF50"/>
                </a:solidFill>
                <a:latin typeface="Times New Roman"/>
                <a:cs typeface="Times New Roman"/>
              </a:rPr>
              <a:t>there</a:t>
            </a:r>
            <a:r>
              <a:rPr sz="2000" b="1" spc="40" dirty="0">
                <a:solidFill>
                  <a:srgbClr val="00AF50"/>
                </a:solidFill>
                <a:latin typeface="Times New Roman"/>
                <a:cs typeface="Times New Roman"/>
              </a:rPr>
              <a:t> </a:t>
            </a:r>
            <a:r>
              <a:rPr sz="2000" b="1" dirty="0">
                <a:solidFill>
                  <a:srgbClr val="00AF50"/>
                </a:solidFill>
                <a:latin typeface="Times New Roman"/>
                <a:cs typeface="Times New Roman"/>
              </a:rPr>
              <a:t>is</a:t>
            </a:r>
            <a:r>
              <a:rPr sz="2000" b="1" spc="35" dirty="0">
                <a:solidFill>
                  <a:srgbClr val="00AF50"/>
                </a:solidFill>
                <a:latin typeface="Times New Roman"/>
                <a:cs typeface="Times New Roman"/>
              </a:rPr>
              <a:t> </a:t>
            </a:r>
            <a:r>
              <a:rPr sz="2000" b="1" spc="-10" dirty="0">
                <a:solidFill>
                  <a:srgbClr val="00AF50"/>
                </a:solidFill>
                <a:latin typeface="Times New Roman"/>
                <a:cs typeface="Times New Roman"/>
              </a:rPr>
              <a:t>probably 	</a:t>
            </a:r>
            <a:r>
              <a:rPr sz="2000" b="1" dirty="0">
                <a:solidFill>
                  <a:srgbClr val="FF0000"/>
                </a:solidFill>
                <a:latin typeface="Times New Roman"/>
                <a:cs typeface="Times New Roman"/>
              </a:rPr>
              <a:t>not</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an</a:t>
            </a:r>
            <a:r>
              <a:rPr sz="2000" b="1" spc="-5" dirty="0">
                <a:solidFill>
                  <a:srgbClr val="FF0000"/>
                </a:solidFill>
                <a:latin typeface="Times New Roman"/>
                <a:cs typeface="Times New Roman"/>
              </a:rPr>
              <a:t> </a:t>
            </a:r>
            <a:r>
              <a:rPr sz="2000" b="1" dirty="0">
                <a:solidFill>
                  <a:srgbClr val="FF0000"/>
                </a:solidFill>
                <a:latin typeface="Times New Roman"/>
                <a:cs typeface="Times New Roman"/>
              </a:rPr>
              <a:t>edge</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at</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that</a:t>
            </a:r>
            <a:r>
              <a:rPr sz="2000" b="1" spc="-5" dirty="0">
                <a:solidFill>
                  <a:srgbClr val="FF0000"/>
                </a:solidFill>
                <a:latin typeface="Times New Roman"/>
                <a:cs typeface="Times New Roman"/>
              </a:rPr>
              <a:t> </a:t>
            </a:r>
            <a:r>
              <a:rPr sz="2000" b="1" spc="-10" dirty="0">
                <a:solidFill>
                  <a:srgbClr val="FF0000"/>
                </a:solidFill>
                <a:latin typeface="Times New Roman"/>
                <a:cs typeface="Times New Roman"/>
              </a:rPr>
              <a:t>point</a:t>
            </a:r>
            <a:r>
              <a:rPr sz="2000" b="1" spc="-10" dirty="0">
                <a:solidFill>
                  <a:srgbClr val="00AF50"/>
                </a:solidFill>
                <a:latin typeface="Times New Roman"/>
                <a:cs typeface="Times New Roman"/>
              </a:rPr>
              <a:t>.</a:t>
            </a:r>
            <a:endParaRPr sz="2000">
              <a:latin typeface="Times New Roman"/>
              <a:cs typeface="Times New Roman"/>
            </a:endParaRPr>
          </a:p>
          <a:p>
            <a:pPr marL="414020" indent="-339725" algn="just">
              <a:lnSpc>
                <a:spcPct val="100000"/>
              </a:lnSpc>
              <a:buFont typeface="Arial MT"/>
              <a:buChar char="•"/>
              <a:tabLst>
                <a:tab pos="414020" algn="l"/>
              </a:tabLst>
            </a:pPr>
            <a:r>
              <a:rPr sz="2000" b="1" dirty="0">
                <a:solidFill>
                  <a:srgbClr val="00AF50"/>
                </a:solidFill>
                <a:latin typeface="Times New Roman"/>
                <a:cs typeface="Times New Roman"/>
              </a:rPr>
              <a:t>If</a:t>
            </a:r>
            <a:r>
              <a:rPr sz="2000" b="1" spc="15" dirty="0">
                <a:solidFill>
                  <a:srgbClr val="00AF50"/>
                </a:solidFill>
                <a:latin typeface="Times New Roman"/>
                <a:cs typeface="Times New Roman"/>
              </a:rPr>
              <a:t> </a:t>
            </a:r>
            <a:r>
              <a:rPr sz="2000" b="1" dirty="0">
                <a:solidFill>
                  <a:srgbClr val="00AF50"/>
                </a:solidFill>
                <a:latin typeface="Times New Roman"/>
                <a:cs typeface="Times New Roman"/>
              </a:rPr>
              <a:t>a</a:t>
            </a:r>
            <a:r>
              <a:rPr sz="2000" b="1" spc="15" dirty="0">
                <a:solidFill>
                  <a:srgbClr val="00AF50"/>
                </a:solidFill>
                <a:latin typeface="Times New Roman"/>
                <a:cs typeface="Times New Roman"/>
              </a:rPr>
              <a:t> </a:t>
            </a:r>
            <a:r>
              <a:rPr sz="2000" b="1" dirty="0">
                <a:solidFill>
                  <a:srgbClr val="00AF50"/>
                </a:solidFill>
                <a:latin typeface="Times New Roman"/>
                <a:cs typeface="Times New Roman"/>
              </a:rPr>
              <a:t>pixel</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has</a:t>
            </a:r>
            <a:r>
              <a:rPr sz="2000" b="1" spc="5" dirty="0">
                <a:solidFill>
                  <a:srgbClr val="00AF50"/>
                </a:solidFill>
                <a:latin typeface="Times New Roman"/>
                <a:cs typeface="Times New Roman"/>
              </a:rPr>
              <a:t> </a:t>
            </a:r>
            <a:r>
              <a:rPr sz="2000" b="1" dirty="0">
                <a:solidFill>
                  <a:srgbClr val="00AF50"/>
                </a:solidFill>
                <a:latin typeface="Times New Roman"/>
                <a:cs typeface="Times New Roman"/>
              </a:rPr>
              <a:t>a</a:t>
            </a:r>
            <a:r>
              <a:rPr sz="2000" b="1" spc="30" dirty="0">
                <a:solidFill>
                  <a:srgbClr val="00AF50"/>
                </a:solidFill>
                <a:latin typeface="Times New Roman"/>
                <a:cs typeface="Times New Roman"/>
              </a:rPr>
              <a:t> </a:t>
            </a:r>
            <a:r>
              <a:rPr sz="2000" b="1" dirty="0">
                <a:solidFill>
                  <a:srgbClr val="00AF50"/>
                </a:solidFill>
                <a:latin typeface="Times New Roman"/>
                <a:cs typeface="Times New Roman"/>
              </a:rPr>
              <a:t>neighbor</a:t>
            </a:r>
            <a:r>
              <a:rPr sz="2000" b="1" spc="-20" dirty="0">
                <a:solidFill>
                  <a:srgbClr val="00AF50"/>
                </a:solidFill>
                <a:latin typeface="Times New Roman"/>
                <a:cs typeface="Times New Roman"/>
              </a:rPr>
              <a:t> </a:t>
            </a:r>
            <a:r>
              <a:rPr sz="2000" b="1" dirty="0">
                <a:solidFill>
                  <a:srgbClr val="00AF50"/>
                </a:solidFill>
                <a:latin typeface="Times New Roman"/>
                <a:cs typeface="Times New Roman"/>
              </a:rPr>
              <a:t>with</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widely</a:t>
            </a:r>
            <a:r>
              <a:rPr sz="2000" b="1" spc="15" dirty="0">
                <a:solidFill>
                  <a:srgbClr val="00AF50"/>
                </a:solidFill>
                <a:latin typeface="Times New Roman"/>
                <a:cs typeface="Times New Roman"/>
              </a:rPr>
              <a:t> </a:t>
            </a:r>
            <a:r>
              <a:rPr sz="2000" b="1" dirty="0">
                <a:solidFill>
                  <a:srgbClr val="00AF50"/>
                </a:solidFill>
                <a:latin typeface="Times New Roman"/>
                <a:cs typeface="Times New Roman"/>
              </a:rPr>
              <a:t>varying</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gray</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levels,</a:t>
            </a:r>
            <a:r>
              <a:rPr sz="2000" b="1" spc="25" dirty="0">
                <a:solidFill>
                  <a:srgbClr val="00AF50"/>
                </a:solidFill>
                <a:latin typeface="Times New Roman"/>
                <a:cs typeface="Times New Roman"/>
              </a:rPr>
              <a:t> </a:t>
            </a:r>
            <a:r>
              <a:rPr sz="2000" b="1" dirty="0">
                <a:solidFill>
                  <a:srgbClr val="00AF50"/>
                </a:solidFill>
                <a:latin typeface="Times New Roman"/>
                <a:cs typeface="Times New Roman"/>
              </a:rPr>
              <a:t>it</a:t>
            </a:r>
            <a:r>
              <a:rPr sz="2000" b="1" spc="15" dirty="0">
                <a:solidFill>
                  <a:srgbClr val="00AF50"/>
                </a:solidFill>
                <a:latin typeface="Times New Roman"/>
                <a:cs typeface="Times New Roman"/>
              </a:rPr>
              <a:t> </a:t>
            </a:r>
            <a:r>
              <a:rPr sz="2000" b="1" dirty="0">
                <a:solidFill>
                  <a:srgbClr val="00AF50"/>
                </a:solidFill>
                <a:latin typeface="Times New Roman"/>
                <a:cs typeface="Times New Roman"/>
              </a:rPr>
              <a:t>may</a:t>
            </a:r>
            <a:r>
              <a:rPr sz="2000" b="1" spc="30" dirty="0">
                <a:solidFill>
                  <a:srgbClr val="00AF50"/>
                </a:solidFill>
                <a:latin typeface="Times New Roman"/>
                <a:cs typeface="Times New Roman"/>
              </a:rPr>
              <a:t> </a:t>
            </a:r>
            <a:r>
              <a:rPr sz="2000" b="1" spc="-10" dirty="0">
                <a:solidFill>
                  <a:srgbClr val="00AF50"/>
                </a:solidFill>
                <a:latin typeface="Times New Roman"/>
                <a:cs typeface="Times New Roman"/>
              </a:rPr>
              <a:t>represent</a:t>
            </a:r>
            <a:endParaRPr sz="2000">
              <a:latin typeface="Times New Roman"/>
              <a:cs typeface="Times New Roman"/>
            </a:endParaRPr>
          </a:p>
          <a:p>
            <a:pPr marL="417195" algn="just">
              <a:lnSpc>
                <a:spcPct val="100000"/>
              </a:lnSpc>
              <a:spcBef>
                <a:spcPts val="5"/>
              </a:spcBef>
            </a:pPr>
            <a:r>
              <a:rPr sz="2000" b="1" dirty="0">
                <a:solidFill>
                  <a:srgbClr val="FF0000"/>
                </a:solidFill>
                <a:latin typeface="Times New Roman"/>
                <a:cs typeface="Times New Roman"/>
              </a:rPr>
              <a:t>an</a:t>
            </a:r>
            <a:r>
              <a:rPr sz="2000" b="1" spc="-10" dirty="0">
                <a:solidFill>
                  <a:srgbClr val="FF0000"/>
                </a:solidFill>
                <a:latin typeface="Times New Roman"/>
                <a:cs typeface="Times New Roman"/>
              </a:rPr>
              <a:t> </a:t>
            </a:r>
            <a:r>
              <a:rPr sz="2000" b="1" dirty="0">
                <a:solidFill>
                  <a:srgbClr val="FF0000"/>
                </a:solidFill>
                <a:latin typeface="Times New Roman"/>
                <a:cs typeface="Times New Roman"/>
              </a:rPr>
              <a:t>edge</a:t>
            </a:r>
            <a:r>
              <a:rPr sz="2000" b="1" spc="-25" dirty="0">
                <a:solidFill>
                  <a:srgbClr val="FF0000"/>
                </a:solidFill>
                <a:latin typeface="Times New Roman"/>
                <a:cs typeface="Times New Roman"/>
              </a:rPr>
              <a:t> </a:t>
            </a:r>
            <a:r>
              <a:rPr sz="2000" b="1" spc="-10" dirty="0">
                <a:solidFill>
                  <a:srgbClr val="FF0000"/>
                </a:solidFill>
                <a:latin typeface="Times New Roman"/>
                <a:cs typeface="Times New Roman"/>
              </a:rPr>
              <a:t>point</a:t>
            </a:r>
            <a:r>
              <a:rPr sz="2000" b="1" spc="-10" dirty="0">
                <a:solidFill>
                  <a:srgbClr val="00AF50"/>
                </a:solidFill>
                <a:latin typeface="Times New Roman"/>
                <a:cs typeface="Times New Roman"/>
              </a:rPr>
              <a:t>.</a:t>
            </a:r>
            <a:endParaRPr sz="2000">
              <a:latin typeface="Times New Roman"/>
              <a:cs typeface="Times New Roman"/>
            </a:endParaRPr>
          </a:p>
          <a:p>
            <a:pPr marL="74295" marR="6985" algn="just">
              <a:lnSpc>
                <a:spcPct val="100000"/>
              </a:lnSpc>
            </a:pPr>
            <a:r>
              <a:rPr sz="2000" b="1" dirty="0">
                <a:latin typeface="Times New Roman"/>
                <a:cs typeface="Times New Roman"/>
              </a:rPr>
              <a:t>In</a:t>
            </a:r>
            <a:r>
              <a:rPr sz="2000" b="1" spc="145" dirty="0">
                <a:latin typeface="Times New Roman"/>
                <a:cs typeface="Times New Roman"/>
              </a:rPr>
              <a:t> </a:t>
            </a:r>
            <a:r>
              <a:rPr sz="2000" b="1" dirty="0">
                <a:latin typeface="Times New Roman"/>
                <a:cs typeface="Times New Roman"/>
              </a:rPr>
              <a:t>other</a:t>
            </a:r>
            <a:r>
              <a:rPr sz="2000" b="1" spc="120" dirty="0">
                <a:latin typeface="Times New Roman"/>
                <a:cs typeface="Times New Roman"/>
              </a:rPr>
              <a:t> </a:t>
            </a:r>
            <a:r>
              <a:rPr sz="2000" b="1" dirty="0">
                <a:latin typeface="Times New Roman"/>
                <a:cs typeface="Times New Roman"/>
              </a:rPr>
              <a:t>words,</a:t>
            </a:r>
            <a:r>
              <a:rPr sz="2000" b="1" spc="145" dirty="0">
                <a:latin typeface="Times New Roman"/>
                <a:cs typeface="Times New Roman"/>
              </a:rPr>
              <a:t> </a:t>
            </a:r>
            <a:r>
              <a:rPr sz="2000" b="1" dirty="0">
                <a:latin typeface="Times New Roman"/>
                <a:cs typeface="Times New Roman"/>
              </a:rPr>
              <a:t>an</a:t>
            </a:r>
            <a:r>
              <a:rPr sz="2000" b="1" spc="160" dirty="0">
                <a:latin typeface="Times New Roman"/>
                <a:cs typeface="Times New Roman"/>
              </a:rPr>
              <a:t> </a:t>
            </a:r>
            <a:r>
              <a:rPr sz="2000" b="1" dirty="0">
                <a:solidFill>
                  <a:srgbClr val="006FC0"/>
                </a:solidFill>
                <a:latin typeface="Times New Roman"/>
                <a:cs typeface="Times New Roman"/>
              </a:rPr>
              <a:t>edge</a:t>
            </a:r>
            <a:r>
              <a:rPr sz="2000" b="1" spc="165" dirty="0">
                <a:solidFill>
                  <a:srgbClr val="006FC0"/>
                </a:solidFill>
                <a:latin typeface="Times New Roman"/>
                <a:cs typeface="Times New Roman"/>
              </a:rPr>
              <a:t> </a:t>
            </a:r>
            <a:r>
              <a:rPr sz="2000" b="1" dirty="0">
                <a:solidFill>
                  <a:srgbClr val="006FC0"/>
                </a:solidFill>
                <a:latin typeface="Times New Roman"/>
                <a:cs typeface="Times New Roman"/>
              </a:rPr>
              <a:t>is</a:t>
            </a:r>
            <a:r>
              <a:rPr sz="2000" b="1" spc="150" dirty="0">
                <a:solidFill>
                  <a:srgbClr val="006FC0"/>
                </a:solidFill>
                <a:latin typeface="Times New Roman"/>
                <a:cs typeface="Times New Roman"/>
              </a:rPr>
              <a:t> </a:t>
            </a:r>
            <a:r>
              <a:rPr sz="2000" b="1" dirty="0">
                <a:solidFill>
                  <a:srgbClr val="006FC0"/>
                </a:solidFill>
                <a:latin typeface="Times New Roman"/>
                <a:cs typeface="Times New Roman"/>
              </a:rPr>
              <a:t>defined</a:t>
            </a:r>
            <a:r>
              <a:rPr sz="2000" b="1" spc="160" dirty="0">
                <a:solidFill>
                  <a:srgbClr val="006FC0"/>
                </a:solidFill>
                <a:latin typeface="Times New Roman"/>
                <a:cs typeface="Times New Roman"/>
              </a:rPr>
              <a:t> </a:t>
            </a:r>
            <a:r>
              <a:rPr sz="2000" b="1" dirty="0">
                <a:solidFill>
                  <a:srgbClr val="00AF50"/>
                </a:solidFill>
                <a:latin typeface="Times New Roman"/>
                <a:cs typeface="Times New Roman"/>
              </a:rPr>
              <a:t>by</a:t>
            </a:r>
            <a:r>
              <a:rPr sz="2000" b="1" spc="150" dirty="0">
                <a:solidFill>
                  <a:srgbClr val="00AF50"/>
                </a:solidFill>
                <a:latin typeface="Times New Roman"/>
                <a:cs typeface="Times New Roman"/>
              </a:rPr>
              <a:t> </a:t>
            </a:r>
            <a:r>
              <a:rPr sz="2000" b="1" dirty="0">
                <a:solidFill>
                  <a:srgbClr val="00AF50"/>
                </a:solidFill>
                <a:latin typeface="Times New Roman"/>
                <a:cs typeface="Times New Roman"/>
              </a:rPr>
              <a:t>a</a:t>
            </a:r>
            <a:r>
              <a:rPr sz="2000" b="1" spc="155" dirty="0">
                <a:solidFill>
                  <a:srgbClr val="00AF50"/>
                </a:solidFill>
                <a:latin typeface="Times New Roman"/>
                <a:cs typeface="Times New Roman"/>
              </a:rPr>
              <a:t> </a:t>
            </a:r>
            <a:r>
              <a:rPr sz="2000" b="1" dirty="0">
                <a:solidFill>
                  <a:srgbClr val="00AF50"/>
                </a:solidFill>
                <a:latin typeface="Times New Roman"/>
                <a:cs typeface="Times New Roman"/>
              </a:rPr>
              <a:t>discontinuity</a:t>
            </a:r>
            <a:r>
              <a:rPr sz="2000" b="1" spc="155" dirty="0">
                <a:solidFill>
                  <a:srgbClr val="00AF50"/>
                </a:solidFill>
                <a:latin typeface="Times New Roman"/>
                <a:cs typeface="Times New Roman"/>
              </a:rPr>
              <a:t> </a:t>
            </a:r>
            <a:r>
              <a:rPr sz="2000" b="1" dirty="0">
                <a:solidFill>
                  <a:srgbClr val="00AF50"/>
                </a:solidFill>
                <a:latin typeface="Times New Roman"/>
                <a:cs typeface="Times New Roman"/>
              </a:rPr>
              <a:t>in</a:t>
            </a:r>
            <a:r>
              <a:rPr sz="2000" b="1" spc="160" dirty="0">
                <a:solidFill>
                  <a:srgbClr val="00AF50"/>
                </a:solidFill>
                <a:latin typeface="Times New Roman"/>
                <a:cs typeface="Times New Roman"/>
              </a:rPr>
              <a:t> </a:t>
            </a:r>
            <a:r>
              <a:rPr sz="2000" b="1" spc="-10" dirty="0">
                <a:solidFill>
                  <a:srgbClr val="00AF50"/>
                </a:solidFill>
                <a:latin typeface="Times New Roman"/>
                <a:cs typeface="Times New Roman"/>
              </a:rPr>
              <a:t>gray-</a:t>
            </a:r>
            <a:r>
              <a:rPr sz="2000" b="1" dirty="0">
                <a:solidFill>
                  <a:srgbClr val="00AF50"/>
                </a:solidFill>
                <a:latin typeface="Times New Roman"/>
                <a:cs typeface="Times New Roman"/>
              </a:rPr>
              <a:t>level</a:t>
            </a:r>
            <a:r>
              <a:rPr sz="2000" b="1" dirty="0">
                <a:latin typeface="Times New Roman"/>
                <a:cs typeface="Times New Roman"/>
              </a:rPr>
              <a:t>.</a:t>
            </a:r>
            <a:r>
              <a:rPr sz="2000" b="1" spc="155" dirty="0">
                <a:latin typeface="Times New Roman"/>
                <a:cs typeface="Times New Roman"/>
              </a:rPr>
              <a:t>  </a:t>
            </a:r>
            <a:r>
              <a:rPr sz="2000" b="1" spc="-10" dirty="0">
                <a:latin typeface="Times New Roman"/>
                <a:cs typeface="Times New Roman"/>
              </a:rPr>
              <a:t>Ideally, </a:t>
            </a:r>
            <a:r>
              <a:rPr sz="2000" b="1" dirty="0">
                <a:latin typeface="Times New Roman"/>
                <a:cs typeface="Times New Roman"/>
              </a:rPr>
              <a:t>an</a:t>
            </a:r>
            <a:r>
              <a:rPr sz="2000" b="1" spc="-20" dirty="0">
                <a:latin typeface="Times New Roman"/>
                <a:cs typeface="Times New Roman"/>
              </a:rPr>
              <a:t> </a:t>
            </a:r>
            <a:r>
              <a:rPr sz="2000" b="1" dirty="0">
                <a:latin typeface="Times New Roman"/>
                <a:cs typeface="Times New Roman"/>
              </a:rPr>
              <a:t>edge</a:t>
            </a:r>
            <a:r>
              <a:rPr sz="2000" b="1" spc="-20" dirty="0">
                <a:latin typeface="Times New Roman"/>
                <a:cs typeface="Times New Roman"/>
              </a:rPr>
              <a:t> </a:t>
            </a:r>
            <a:r>
              <a:rPr sz="2000" b="1" dirty="0">
                <a:latin typeface="Times New Roman"/>
                <a:cs typeface="Times New Roman"/>
              </a:rPr>
              <a:t>separates</a:t>
            </a:r>
            <a:r>
              <a:rPr sz="2000" b="1" spc="-25" dirty="0">
                <a:latin typeface="Times New Roman"/>
                <a:cs typeface="Times New Roman"/>
              </a:rPr>
              <a:t> </a:t>
            </a:r>
            <a:r>
              <a:rPr sz="2000" b="1" dirty="0">
                <a:latin typeface="Times New Roman"/>
                <a:cs typeface="Times New Roman"/>
              </a:rPr>
              <a:t>two</a:t>
            </a:r>
            <a:r>
              <a:rPr sz="2000" b="1" spc="-5" dirty="0">
                <a:latin typeface="Times New Roman"/>
                <a:cs typeface="Times New Roman"/>
              </a:rPr>
              <a:t> </a:t>
            </a:r>
            <a:r>
              <a:rPr sz="2000" b="1" dirty="0">
                <a:latin typeface="Times New Roman"/>
                <a:cs typeface="Times New Roman"/>
              </a:rPr>
              <a:t>distinct</a:t>
            </a:r>
            <a:r>
              <a:rPr sz="2000" b="1" spc="-40" dirty="0">
                <a:latin typeface="Times New Roman"/>
                <a:cs typeface="Times New Roman"/>
              </a:rPr>
              <a:t> </a:t>
            </a:r>
            <a:r>
              <a:rPr sz="2000" b="1" spc="-10" dirty="0">
                <a:latin typeface="Times New Roman"/>
                <a:cs typeface="Times New Roman"/>
              </a:rPr>
              <a:t>objects.</a:t>
            </a:r>
            <a:endParaRPr sz="2000">
              <a:latin typeface="Times New Roman"/>
              <a:cs typeface="Times New Roman"/>
            </a:endParaRPr>
          </a:p>
          <a:p>
            <a:pPr>
              <a:lnSpc>
                <a:spcPct val="100000"/>
              </a:lnSpc>
              <a:spcBef>
                <a:spcPts val="1775"/>
              </a:spcBef>
            </a:pPr>
            <a:endParaRPr sz="2000">
              <a:latin typeface="Times New Roman"/>
              <a:cs typeface="Times New Roman"/>
            </a:endParaRPr>
          </a:p>
          <a:p>
            <a:pPr marL="12700">
              <a:lnSpc>
                <a:spcPct val="100000"/>
              </a:lnSpc>
              <a:spcBef>
                <a:spcPts val="5"/>
              </a:spcBef>
            </a:pPr>
            <a:r>
              <a:rPr sz="2000" b="1" u="sng" spc="-10" dirty="0">
                <a:solidFill>
                  <a:srgbClr val="FF0000"/>
                </a:solidFill>
                <a:uFill>
                  <a:solidFill>
                    <a:srgbClr val="FF0000"/>
                  </a:solidFill>
                </a:uFill>
                <a:latin typeface="Times New Roman"/>
                <a:cs typeface="Times New Roman"/>
              </a:rPr>
              <a:t>Definitions:</a:t>
            </a:r>
            <a:endParaRPr sz="2000">
              <a:latin typeface="Times New Roman"/>
              <a:cs typeface="Times New Roman"/>
            </a:endParaRPr>
          </a:p>
          <a:p>
            <a:pPr marL="376555" marR="67945" indent="-364490">
              <a:lnSpc>
                <a:spcPct val="100000"/>
              </a:lnSpc>
              <a:buFont typeface="Arial MT"/>
              <a:buChar char="•"/>
              <a:tabLst>
                <a:tab pos="376555" algn="l"/>
              </a:tabLst>
            </a:pPr>
            <a:r>
              <a:rPr sz="2000" b="1" dirty="0">
                <a:solidFill>
                  <a:srgbClr val="FF0000"/>
                </a:solidFill>
                <a:latin typeface="Times New Roman"/>
                <a:cs typeface="Times New Roman"/>
              </a:rPr>
              <a:t>Edge</a:t>
            </a:r>
            <a:r>
              <a:rPr sz="2000" b="1" spc="210" dirty="0">
                <a:solidFill>
                  <a:srgbClr val="FF0000"/>
                </a:solidFill>
                <a:latin typeface="Times New Roman"/>
                <a:cs typeface="Times New Roman"/>
              </a:rPr>
              <a:t> </a:t>
            </a:r>
            <a:r>
              <a:rPr sz="2000" b="1" dirty="0">
                <a:latin typeface="Times New Roman"/>
                <a:cs typeface="Times New Roman"/>
              </a:rPr>
              <a:t>is</a:t>
            </a:r>
            <a:r>
              <a:rPr sz="2000" b="1" spc="200" dirty="0">
                <a:latin typeface="Times New Roman"/>
                <a:cs typeface="Times New Roman"/>
              </a:rPr>
              <a:t> </a:t>
            </a:r>
            <a:r>
              <a:rPr sz="2000" b="1" dirty="0">
                <a:latin typeface="Times New Roman"/>
                <a:cs typeface="Times New Roman"/>
              </a:rPr>
              <a:t>a</a:t>
            </a:r>
            <a:r>
              <a:rPr sz="2000" b="1" spc="220" dirty="0">
                <a:latin typeface="Times New Roman"/>
                <a:cs typeface="Times New Roman"/>
              </a:rPr>
              <a:t> </a:t>
            </a:r>
            <a:r>
              <a:rPr sz="2000" b="1" dirty="0">
                <a:latin typeface="Times New Roman"/>
                <a:cs typeface="Times New Roman"/>
              </a:rPr>
              <a:t>location</a:t>
            </a:r>
            <a:r>
              <a:rPr sz="2000" b="1" spc="204" dirty="0">
                <a:latin typeface="Times New Roman"/>
                <a:cs typeface="Times New Roman"/>
              </a:rPr>
              <a:t> </a:t>
            </a:r>
            <a:r>
              <a:rPr sz="2000" b="1" dirty="0">
                <a:latin typeface="Times New Roman"/>
                <a:cs typeface="Times New Roman"/>
              </a:rPr>
              <a:t>in</a:t>
            </a:r>
            <a:r>
              <a:rPr sz="2000" b="1" spc="210" dirty="0">
                <a:latin typeface="Times New Roman"/>
                <a:cs typeface="Times New Roman"/>
              </a:rPr>
              <a:t> </a:t>
            </a:r>
            <a:r>
              <a:rPr sz="2000" b="1" dirty="0">
                <a:latin typeface="Times New Roman"/>
                <a:cs typeface="Times New Roman"/>
              </a:rPr>
              <a:t>an</a:t>
            </a:r>
            <a:r>
              <a:rPr sz="2000" b="1" spc="220" dirty="0">
                <a:latin typeface="Times New Roman"/>
                <a:cs typeface="Times New Roman"/>
              </a:rPr>
              <a:t> </a:t>
            </a:r>
            <a:r>
              <a:rPr sz="2000" b="1" dirty="0">
                <a:latin typeface="Times New Roman"/>
                <a:cs typeface="Times New Roman"/>
              </a:rPr>
              <a:t>image</a:t>
            </a:r>
            <a:r>
              <a:rPr sz="2000" b="1" spc="215" dirty="0">
                <a:latin typeface="Times New Roman"/>
                <a:cs typeface="Times New Roman"/>
              </a:rPr>
              <a:t> </a:t>
            </a:r>
            <a:r>
              <a:rPr sz="2000" b="1" dirty="0">
                <a:latin typeface="Times New Roman"/>
                <a:cs typeface="Times New Roman"/>
              </a:rPr>
              <a:t>where</a:t>
            </a:r>
            <a:r>
              <a:rPr sz="2000" b="1" spc="210" dirty="0">
                <a:latin typeface="Times New Roman"/>
                <a:cs typeface="Times New Roman"/>
              </a:rPr>
              <a:t> </a:t>
            </a:r>
            <a:r>
              <a:rPr sz="2000" b="1" dirty="0">
                <a:latin typeface="Times New Roman"/>
                <a:cs typeface="Times New Roman"/>
              </a:rPr>
              <a:t>there</a:t>
            </a:r>
            <a:r>
              <a:rPr sz="2000" b="1" spc="215" dirty="0">
                <a:latin typeface="Times New Roman"/>
                <a:cs typeface="Times New Roman"/>
              </a:rPr>
              <a:t> </a:t>
            </a:r>
            <a:r>
              <a:rPr sz="2000" b="1" dirty="0">
                <a:latin typeface="Times New Roman"/>
                <a:cs typeface="Times New Roman"/>
              </a:rPr>
              <a:t>is</a:t>
            </a:r>
            <a:r>
              <a:rPr sz="2000" b="1" spc="210" dirty="0">
                <a:latin typeface="Times New Roman"/>
                <a:cs typeface="Times New Roman"/>
              </a:rPr>
              <a:t> </a:t>
            </a:r>
            <a:r>
              <a:rPr sz="2000" b="1" dirty="0">
                <a:latin typeface="Times New Roman"/>
                <a:cs typeface="Times New Roman"/>
              </a:rPr>
              <a:t>a</a:t>
            </a:r>
            <a:r>
              <a:rPr sz="2000" b="1" spc="210" dirty="0">
                <a:latin typeface="Times New Roman"/>
                <a:cs typeface="Times New Roman"/>
              </a:rPr>
              <a:t> </a:t>
            </a:r>
            <a:r>
              <a:rPr sz="2000" b="1" dirty="0">
                <a:latin typeface="Times New Roman"/>
                <a:cs typeface="Times New Roman"/>
              </a:rPr>
              <a:t>sudden</a:t>
            </a:r>
            <a:r>
              <a:rPr sz="2000" b="1" spc="210" dirty="0">
                <a:latin typeface="Times New Roman"/>
                <a:cs typeface="Times New Roman"/>
              </a:rPr>
              <a:t> </a:t>
            </a:r>
            <a:r>
              <a:rPr sz="2000" b="1" dirty="0">
                <a:latin typeface="Times New Roman"/>
                <a:cs typeface="Times New Roman"/>
              </a:rPr>
              <a:t>variation</a:t>
            </a:r>
            <a:r>
              <a:rPr sz="2000" b="1" spc="195" dirty="0">
                <a:latin typeface="Times New Roman"/>
                <a:cs typeface="Times New Roman"/>
              </a:rPr>
              <a:t> </a:t>
            </a:r>
            <a:r>
              <a:rPr sz="2000" b="1" dirty="0">
                <a:latin typeface="Times New Roman"/>
                <a:cs typeface="Times New Roman"/>
              </a:rPr>
              <a:t>in</a:t>
            </a:r>
            <a:r>
              <a:rPr sz="2000" b="1" spc="220" dirty="0">
                <a:latin typeface="Times New Roman"/>
                <a:cs typeface="Times New Roman"/>
              </a:rPr>
              <a:t> </a:t>
            </a:r>
            <a:r>
              <a:rPr sz="2000" b="1" spc="-25" dirty="0">
                <a:latin typeface="Times New Roman"/>
                <a:cs typeface="Times New Roman"/>
              </a:rPr>
              <a:t>the </a:t>
            </a:r>
            <a:r>
              <a:rPr sz="2000" b="1" dirty="0">
                <a:latin typeface="Times New Roman"/>
                <a:cs typeface="Times New Roman"/>
              </a:rPr>
              <a:t>gray</a:t>
            </a:r>
            <a:r>
              <a:rPr sz="2000" b="1" spc="-15" dirty="0">
                <a:latin typeface="Times New Roman"/>
                <a:cs typeface="Times New Roman"/>
              </a:rPr>
              <a:t> </a:t>
            </a:r>
            <a:r>
              <a:rPr sz="2000" b="1" dirty="0">
                <a:latin typeface="Times New Roman"/>
                <a:cs typeface="Times New Roman"/>
              </a:rPr>
              <a:t>level</a:t>
            </a:r>
            <a:r>
              <a:rPr sz="2000" b="1" spc="-20" dirty="0">
                <a:latin typeface="Times New Roman"/>
                <a:cs typeface="Times New Roman"/>
              </a:rPr>
              <a:t> </a:t>
            </a:r>
            <a:r>
              <a:rPr sz="2000" b="1" dirty="0">
                <a:latin typeface="Times New Roman"/>
                <a:cs typeface="Times New Roman"/>
              </a:rPr>
              <a:t>or</a:t>
            </a:r>
            <a:r>
              <a:rPr sz="2000" b="1" spc="-50" dirty="0">
                <a:latin typeface="Times New Roman"/>
                <a:cs typeface="Times New Roman"/>
              </a:rPr>
              <a:t> </a:t>
            </a:r>
            <a:r>
              <a:rPr sz="2000" b="1" dirty="0">
                <a:latin typeface="Times New Roman"/>
                <a:cs typeface="Times New Roman"/>
              </a:rPr>
              <a:t>color</a:t>
            </a:r>
            <a:r>
              <a:rPr sz="2000" b="1" spc="-55"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spc="-10" dirty="0">
                <a:latin typeface="Times New Roman"/>
                <a:cs typeface="Times New Roman"/>
              </a:rPr>
              <a:t>pixels.</a:t>
            </a:r>
            <a:endParaRPr sz="2000">
              <a:latin typeface="Times New Roman"/>
              <a:cs typeface="Times New Roman"/>
            </a:endParaRPr>
          </a:p>
          <a:p>
            <a:pPr marL="354965" indent="-342265">
              <a:lnSpc>
                <a:spcPct val="100000"/>
              </a:lnSpc>
              <a:buFont typeface="Arial MT"/>
              <a:buChar char="•"/>
              <a:tabLst>
                <a:tab pos="354965" algn="l"/>
                <a:tab pos="1054735" algn="l"/>
                <a:tab pos="1369060" algn="l"/>
                <a:tab pos="1644650" algn="l"/>
                <a:tab pos="2818130" algn="l"/>
                <a:tab pos="3176905" algn="l"/>
                <a:tab pos="3844290" algn="l"/>
                <a:tab pos="4669155" algn="l"/>
                <a:tab pos="5480050" algn="l"/>
                <a:tab pos="6753859" algn="l"/>
                <a:tab pos="7479665" algn="l"/>
              </a:tabLst>
            </a:pPr>
            <a:r>
              <a:rPr sz="2000" b="1" spc="-20" dirty="0">
                <a:solidFill>
                  <a:srgbClr val="FF0000"/>
                </a:solidFill>
                <a:latin typeface="Times New Roman"/>
                <a:cs typeface="Times New Roman"/>
              </a:rPr>
              <a:t>Edge</a:t>
            </a:r>
            <a:r>
              <a:rPr sz="2000" b="1" dirty="0">
                <a:solidFill>
                  <a:srgbClr val="FF0000"/>
                </a:solidFill>
                <a:latin typeface="Times New Roman"/>
                <a:cs typeface="Times New Roman"/>
              </a:rPr>
              <a:t>	</a:t>
            </a:r>
            <a:r>
              <a:rPr sz="2000" b="1" spc="-25" dirty="0">
                <a:latin typeface="Times New Roman"/>
                <a:cs typeface="Times New Roman"/>
              </a:rPr>
              <a:t>is</a:t>
            </a:r>
            <a:r>
              <a:rPr sz="2000" b="1" dirty="0">
                <a:latin typeface="Times New Roman"/>
                <a:cs typeface="Times New Roman"/>
              </a:rPr>
              <a:t>	</a:t>
            </a:r>
            <a:r>
              <a:rPr sz="2000" b="1" spc="-50" dirty="0">
                <a:latin typeface="Times New Roman"/>
                <a:cs typeface="Times New Roman"/>
              </a:rPr>
              <a:t>a</a:t>
            </a:r>
            <a:r>
              <a:rPr sz="2000" b="1" dirty="0">
                <a:latin typeface="Times New Roman"/>
                <a:cs typeface="Times New Roman"/>
              </a:rPr>
              <a:t>	</a:t>
            </a:r>
            <a:r>
              <a:rPr sz="2000" b="1" spc="-10" dirty="0">
                <a:latin typeface="Times New Roman"/>
                <a:cs typeface="Times New Roman"/>
              </a:rPr>
              <a:t>collection</a:t>
            </a:r>
            <a:r>
              <a:rPr sz="2000" b="1" dirty="0">
                <a:latin typeface="Times New Roman"/>
                <a:cs typeface="Times New Roman"/>
              </a:rPr>
              <a:t>	</a:t>
            </a:r>
            <a:r>
              <a:rPr sz="2000" b="1" spc="-25" dirty="0">
                <a:latin typeface="Times New Roman"/>
                <a:cs typeface="Times New Roman"/>
              </a:rPr>
              <a:t>of</a:t>
            </a:r>
            <a:r>
              <a:rPr sz="2000" b="1" dirty="0">
                <a:latin typeface="Times New Roman"/>
                <a:cs typeface="Times New Roman"/>
              </a:rPr>
              <a:t>	</a:t>
            </a:r>
            <a:r>
              <a:rPr sz="2000" b="1" spc="-10" dirty="0">
                <a:latin typeface="Times New Roman"/>
                <a:cs typeface="Times New Roman"/>
              </a:rPr>
              <a:t>pixel</a:t>
            </a:r>
            <a:r>
              <a:rPr sz="2000" b="1" dirty="0">
                <a:latin typeface="Times New Roman"/>
                <a:cs typeface="Times New Roman"/>
              </a:rPr>
              <a:t>	</a:t>
            </a:r>
            <a:r>
              <a:rPr sz="2000" b="1" spc="-10" dirty="0">
                <a:latin typeface="Times New Roman"/>
                <a:cs typeface="Times New Roman"/>
              </a:rPr>
              <a:t>values</a:t>
            </a:r>
            <a:r>
              <a:rPr sz="2000" b="1" dirty="0">
                <a:latin typeface="Times New Roman"/>
                <a:cs typeface="Times New Roman"/>
              </a:rPr>
              <a:t>	</a:t>
            </a:r>
            <a:r>
              <a:rPr sz="2000" b="1" spc="-10" dirty="0">
                <a:latin typeface="Times New Roman"/>
                <a:cs typeface="Times New Roman"/>
              </a:rPr>
              <a:t>whose</a:t>
            </a:r>
            <a:r>
              <a:rPr sz="2000" b="1" dirty="0">
                <a:latin typeface="Times New Roman"/>
                <a:cs typeface="Times New Roman"/>
              </a:rPr>
              <a:t>	</a:t>
            </a:r>
            <a:r>
              <a:rPr sz="2000" b="1" spc="-10" dirty="0">
                <a:latin typeface="Times New Roman"/>
                <a:cs typeface="Times New Roman"/>
              </a:rPr>
              <a:t>brightness</a:t>
            </a:r>
            <a:r>
              <a:rPr sz="2000" b="1" dirty="0">
                <a:latin typeface="Times New Roman"/>
                <a:cs typeface="Times New Roman"/>
              </a:rPr>
              <a:t>	</a:t>
            </a:r>
            <a:r>
              <a:rPr sz="2000" b="1" spc="-10" dirty="0">
                <a:latin typeface="Times New Roman"/>
                <a:cs typeface="Times New Roman"/>
              </a:rPr>
              <a:t>value</a:t>
            </a:r>
            <a:r>
              <a:rPr sz="2000" b="1" dirty="0">
                <a:latin typeface="Times New Roman"/>
                <a:cs typeface="Times New Roman"/>
              </a:rPr>
              <a:t>	</a:t>
            </a:r>
            <a:r>
              <a:rPr sz="2000" b="1" spc="-10" dirty="0">
                <a:latin typeface="Times New Roman"/>
                <a:cs typeface="Times New Roman"/>
              </a:rPr>
              <a:t>changes</a:t>
            </a:r>
            <a:endParaRPr sz="2000">
              <a:latin typeface="Times New Roman"/>
              <a:cs typeface="Times New Roman"/>
            </a:endParaRPr>
          </a:p>
          <a:p>
            <a:pPr marL="354965">
              <a:lnSpc>
                <a:spcPct val="100000"/>
              </a:lnSpc>
            </a:pPr>
            <a:r>
              <a:rPr sz="2000" b="1" spc="-10" dirty="0">
                <a:latin typeface="Times New Roman"/>
                <a:cs typeface="Times New Roman"/>
              </a:rPr>
              <a:t>abruptly.</a:t>
            </a:r>
            <a:endParaRPr sz="2000">
              <a:latin typeface="Times New Roman"/>
              <a:cs typeface="Times New Roman"/>
            </a:endParaRPr>
          </a:p>
          <a:p>
            <a:pPr marL="354965" indent="-342265">
              <a:lnSpc>
                <a:spcPct val="100000"/>
              </a:lnSpc>
              <a:buFont typeface="Arial MT"/>
              <a:buChar char="•"/>
              <a:tabLst>
                <a:tab pos="354965" algn="l"/>
              </a:tabLst>
            </a:pPr>
            <a:r>
              <a:rPr sz="2000" b="1" dirty="0">
                <a:solidFill>
                  <a:srgbClr val="FF0000"/>
                </a:solidFill>
                <a:latin typeface="Times New Roman"/>
                <a:cs typeface="Times New Roman"/>
              </a:rPr>
              <a:t>Edges</a:t>
            </a:r>
            <a:r>
              <a:rPr sz="2000" b="1" spc="-20" dirty="0">
                <a:solidFill>
                  <a:srgbClr val="FF0000"/>
                </a:solidFill>
                <a:latin typeface="Times New Roman"/>
                <a:cs typeface="Times New Roman"/>
              </a:rPr>
              <a:t> </a:t>
            </a:r>
            <a:r>
              <a:rPr sz="2000" b="1" dirty="0">
                <a:latin typeface="Times New Roman"/>
                <a:cs typeface="Times New Roman"/>
              </a:rPr>
              <a:t>represent</a:t>
            </a:r>
            <a:r>
              <a:rPr sz="2000" b="1" spc="-40" dirty="0">
                <a:latin typeface="Times New Roman"/>
                <a:cs typeface="Times New Roman"/>
              </a:rPr>
              <a:t> </a:t>
            </a:r>
            <a:r>
              <a:rPr sz="2000" b="1" dirty="0">
                <a:latin typeface="Times New Roman"/>
                <a:cs typeface="Times New Roman"/>
              </a:rPr>
              <a:t>borders</a:t>
            </a:r>
            <a:r>
              <a:rPr sz="2000" b="1" spc="-30" dirty="0">
                <a:latin typeface="Times New Roman"/>
                <a:cs typeface="Times New Roman"/>
              </a:rPr>
              <a:t> </a:t>
            </a:r>
            <a:r>
              <a:rPr sz="2000" b="1" dirty="0">
                <a:latin typeface="Times New Roman"/>
                <a:cs typeface="Times New Roman"/>
              </a:rPr>
              <a:t>between</a:t>
            </a:r>
            <a:r>
              <a:rPr sz="2000" b="1" spc="-25" dirty="0">
                <a:latin typeface="Times New Roman"/>
                <a:cs typeface="Times New Roman"/>
              </a:rPr>
              <a:t> </a:t>
            </a:r>
            <a:r>
              <a:rPr sz="2000" b="1" dirty="0">
                <a:latin typeface="Times New Roman"/>
                <a:cs typeface="Times New Roman"/>
              </a:rPr>
              <a:t>regions</a:t>
            </a:r>
            <a:r>
              <a:rPr sz="2000" b="1" spc="-25" dirty="0">
                <a:latin typeface="Times New Roman"/>
                <a:cs typeface="Times New Roman"/>
              </a:rPr>
              <a:t> </a:t>
            </a:r>
            <a:r>
              <a:rPr sz="2000" b="1" dirty="0">
                <a:latin typeface="Times New Roman"/>
                <a:cs typeface="Times New Roman"/>
              </a:rPr>
              <a:t>on</a:t>
            </a:r>
            <a:r>
              <a:rPr sz="2000" b="1" spc="-30" dirty="0">
                <a:latin typeface="Times New Roman"/>
                <a:cs typeface="Times New Roman"/>
              </a:rPr>
              <a:t> </a:t>
            </a:r>
            <a:r>
              <a:rPr sz="2000" b="1" dirty="0">
                <a:latin typeface="Times New Roman"/>
                <a:cs typeface="Times New Roman"/>
              </a:rPr>
              <a:t>an</a:t>
            </a:r>
            <a:r>
              <a:rPr sz="2000" b="1" spc="-20" dirty="0">
                <a:latin typeface="Times New Roman"/>
                <a:cs typeface="Times New Roman"/>
              </a:rPr>
              <a:t> </a:t>
            </a:r>
            <a:r>
              <a:rPr sz="2000" b="1" dirty="0">
                <a:latin typeface="Times New Roman"/>
                <a:cs typeface="Times New Roman"/>
              </a:rPr>
              <a:t>object</a:t>
            </a:r>
            <a:r>
              <a:rPr sz="2000" b="1" spc="-35" dirty="0">
                <a:latin typeface="Times New Roman"/>
                <a:cs typeface="Times New Roman"/>
              </a:rPr>
              <a:t> </a:t>
            </a:r>
            <a:r>
              <a:rPr sz="2000" b="1" dirty="0">
                <a:latin typeface="Times New Roman"/>
                <a:cs typeface="Times New Roman"/>
              </a:rPr>
              <a:t>or</a:t>
            </a:r>
            <a:r>
              <a:rPr sz="2000" b="1" spc="-60" dirty="0">
                <a:latin typeface="Times New Roman"/>
                <a:cs typeface="Times New Roman"/>
              </a:rPr>
              <a:t> </a:t>
            </a:r>
            <a:r>
              <a:rPr sz="2000" b="1" dirty="0">
                <a:latin typeface="Times New Roman"/>
                <a:cs typeface="Times New Roman"/>
              </a:rPr>
              <a:t>in</a:t>
            </a:r>
            <a:r>
              <a:rPr sz="2000" b="1" spc="-20" dirty="0">
                <a:latin typeface="Times New Roman"/>
                <a:cs typeface="Times New Roman"/>
              </a:rPr>
              <a:t> </a:t>
            </a:r>
            <a:r>
              <a:rPr sz="2000" b="1" dirty="0">
                <a:latin typeface="Times New Roman"/>
                <a:cs typeface="Times New Roman"/>
              </a:rPr>
              <a:t>a</a:t>
            </a:r>
            <a:r>
              <a:rPr sz="2000" b="1" spc="-10" dirty="0">
                <a:latin typeface="Times New Roman"/>
                <a:cs typeface="Times New Roman"/>
              </a:rPr>
              <a:t> scene.</a:t>
            </a:r>
            <a:endParaRPr sz="2000">
              <a:latin typeface="Times New Roman"/>
              <a:cs typeface="Times New Roman"/>
            </a:endParaRPr>
          </a:p>
        </p:txBody>
      </p:sp>
      <p:pic>
        <p:nvPicPr>
          <p:cNvPr id="3" name="object 3"/>
          <p:cNvPicPr/>
          <p:nvPr/>
        </p:nvPicPr>
        <p:blipFill>
          <a:blip r:embed="rId2" cstate="print"/>
          <a:stretch>
            <a:fillRect/>
          </a:stretch>
        </p:blipFill>
        <p:spPr>
          <a:xfrm>
            <a:off x="3144006" y="324594"/>
            <a:ext cx="2644145" cy="391685"/>
          </a:xfrm>
          <a:prstGeom prst="rect">
            <a:avLst/>
          </a:prstGeom>
        </p:spPr>
      </p:pic>
      <p:grpSp>
        <p:nvGrpSpPr>
          <p:cNvPr id="4" name="object 4"/>
          <p:cNvGrpSpPr/>
          <p:nvPr/>
        </p:nvGrpSpPr>
        <p:grpSpPr>
          <a:xfrm>
            <a:off x="426719" y="795527"/>
            <a:ext cx="8211820" cy="91440"/>
            <a:chOff x="426719" y="795527"/>
            <a:chExt cx="8211820" cy="91440"/>
          </a:xfrm>
        </p:grpSpPr>
        <p:pic>
          <p:nvPicPr>
            <p:cNvPr id="5" name="object 5"/>
            <p:cNvPicPr/>
            <p:nvPr/>
          </p:nvPicPr>
          <p:blipFill>
            <a:blip r:embed="rId3" cstate="print"/>
            <a:stretch>
              <a:fillRect/>
            </a:stretch>
          </p:blipFill>
          <p:spPr>
            <a:xfrm>
              <a:off x="426719" y="795527"/>
              <a:ext cx="8211311" cy="91440"/>
            </a:xfrm>
            <a:prstGeom prst="rect">
              <a:avLst/>
            </a:prstGeom>
          </p:spPr>
        </p:pic>
        <p:sp>
          <p:nvSpPr>
            <p:cNvPr id="6" name="object 6"/>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3046" y="118657"/>
            <a:ext cx="3462975" cy="461219"/>
          </a:xfrm>
          <a:prstGeom prst="rect">
            <a:avLst/>
          </a:prstGeom>
        </p:spPr>
        <p:txBody>
          <a:bodyPr vert="horz" wrap="square" lIns="0" tIns="33975" rIns="0" bIns="0" rtlCol="0">
            <a:spAutoFit/>
          </a:bodyPr>
          <a:lstStyle/>
          <a:p>
            <a:pPr marL="25168">
              <a:spcBef>
                <a:spcPts val="268"/>
              </a:spcBef>
            </a:pPr>
            <a:r>
              <a:rPr sz="2774" dirty="0">
                <a:solidFill>
                  <a:schemeClr val="tx1"/>
                </a:solidFill>
                <a:latin typeface="Tahoma"/>
                <a:cs typeface="Tahoma"/>
              </a:rPr>
              <a:t>What</a:t>
            </a:r>
            <a:r>
              <a:rPr sz="2774" spc="-69" dirty="0">
                <a:solidFill>
                  <a:schemeClr val="tx1"/>
                </a:solidFill>
                <a:latin typeface="Tahoma"/>
                <a:cs typeface="Tahoma"/>
              </a:rPr>
              <a:t> </a:t>
            </a:r>
            <a:r>
              <a:rPr sz="2774" spc="-119" dirty="0">
                <a:solidFill>
                  <a:schemeClr val="tx1"/>
                </a:solidFill>
                <a:latin typeface="Tahoma"/>
                <a:cs typeface="Tahoma"/>
              </a:rPr>
              <a:t>Causes</a:t>
            </a:r>
            <a:r>
              <a:rPr sz="2774" spc="-59" dirty="0">
                <a:solidFill>
                  <a:schemeClr val="tx1"/>
                </a:solidFill>
                <a:latin typeface="Tahoma"/>
                <a:cs typeface="Tahoma"/>
              </a:rPr>
              <a:t> </a:t>
            </a:r>
            <a:r>
              <a:rPr sz="2774" dirty="0">
                <a:solidFill>
                  <a:schemeClr val="tx1"/>
                </a:solidFill>
                <a:latin typeface="Tahoma"/>
                <a:cs typeface="Tahoma"/>
              </a:rPr>
              <a:t>an</a:t>
            </a:r>
            <a:r>
              <a:rPr sz="2774" spc="-59" dirty="0">
                <a:solidFill>
                  <a:schemeClr val="tx1"/>
                </a:solidFill>
                <a:latin typeface="Tahoma"/>
                <a:cs typeface="Tahoma"/>
              </a:rPr>
              <a:t> </a:t>
            </a:r>
            <a:r>
              <a:rPr sz="2774" spc="-40" dirty="0">
                <a:solidFill>
                  <a:schemeClr val="tx1"/>
                </a:solidFill>
                <a:latin typeface="Tahoma"/>
                <a:cs typeface="Tahoma"/>
              </a:rPr>
              <a:t>Edge?</a:t>
            </a:r>
            <a:endParaRPr sz="2774" dirty="0">
              <a:solidFill>
                <a:schemeClr val="tx1"/>
              </a:solidFill>
              <a:latin typeface="Tahoma"/>
              <a:cs typeface="Tahoma"/>
            </a:endParaRPr>
          </a:p>
        </p:txBody>
      </p:sp>
      <p:pic>
        <p:nvPicPr>
          <p:cNvPr id="3" name="object 3"/>
          <p:cNvPicPr/>
          <p:nvPr/>
        </p:nvPicPr>
        <p:blipFill>
          <a:blip r:embed="rId2" cstate="print"/>
          <a:stretch>
            <a:fillRect/>
          </a:stretch>
        </p:blipFill>
        <p:spPr>
          <a:xfrm>
            <a:off x="589561" y="1256138"/>
            <a:ext cx="7952236" cy="4687812"/>
          </a:xfrm>
          <a:prstGeom prst="rect">
            <a:avLst/>
          </a:prstGeom>
        </p:spPr>
      </p:pic>
      <p:sp>
        <p:nvSpPr>
          <p:cNvPr id="10" name="object 10"/>
          <p:cNvSpPr txBox="1">
            <a:spLocks noGrp="1"/>
          </p:cNvSpPr>
          <p:nvPr>
            <p:ph type="sldNum" sz="quarter" idx="7"/>
          </p:nvPr>
        </p:nvSpPr>
        <p:spPr>
          <a:xfrm>
            <a:off x="13054948" y="12638854"/>
            <a:ext cx="4167651" cy="177613"/>
          </a:xfrm>
          <a:prstGeom prst="rect">
            <a:avLst/>
          </a:prstGeom>
        </p:spPr>
        <p:txBody>
          <a:bodyPr vert="horz" wrap="square" lIns="0" tIns="0" rIns="0" bIns="0" rtlCol="0">
            <a:spAutoFit/>
          </a:bodyPr>
          <a:lstStyle/>
          <a:p>
            <a:pPr marL="75503">
              <a:lnSpc>
                <a:spcPts val="1338"/>
              </a:lnSpc>
            </a:pPr>
            <a:r>
              <a:rPr spc="-59" dirty="0"/>
              <a:t>10</a:t>
            </a:r>
            <a:r>
              <a:rPr spc="-109" dirty="0"/>
              <a:t> </a:t>
            </a:r>
            <a:r>
              <a:rPr spc="297" dirty="0"/>
              <a:t>/</a:t>
            </a:r>
            <a:r>
              <a:rPr spc="-109" dirty="0"/>
              <a:t> </a:t>
            </a:r>
            <a:r>
              <a:rPr spc="-69" dirty="0"/>
              <a:t>48</a:t>
            </a: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3047" y="118657"/>
            <a:ext cx="3501984" cy="461219"/>
          </a:xfrm>
          <a:prstGeom prst="rect">
            <a:avLst/>
          </a:prstGeom>
        </p:spPr>
        <p:txBody>
          <a:bodyPr vert="horz" wrap="square" lIns="0" tIns="33975" rIns="0" bIns="0" rtlCol="0">
            <a:spAutoFit/>
          </a:bodyPr>
          <a:lstStyle/>
          <a:p>
            <a:pPr marL="25168">
              <a:spcBef>
                <a:spcPts val="268"/>
              </a:spcBef>
            </a:pPr>
            <a:r>
              <a:rPr sz="2774" spc="-40" dirty="0">
                <a:solidFill>
                  <a:schemeClr val="tx1"/>
                </a:solidFill>
                <a:latin typeface="Tahoma"/>
                <a:cs typeface="Tahoma"/>
              </a:rPr>
              <a:t>Looking</a:t>
            </a:r>
            <a:r>
              <a:rPr sz="2774" spc="-129" dirty="0">
                <a:solidFill>
                  <a:schemeClr val="tx1"/>
                </a:solidFill>
                <a:latin typeface="Tahoma"/>
                <a:cs typeface="Tahoma"/>
              </a:rPr>
              <a:t> </a:t>
            </a:r>
            <a:r>
              <a:rPr sz="2774" dirty="0">
                <a:solidFill>
                  <a:schemeClr val="tx1"/>
                </a:solidFill>
                <a:latin typeface="Tahoma"/>
                <a:cs typeface="Tahoma"/>
              </a:rPr>
              <a:t>More</a:t>
            </a:r>
            <a:r>
              <a:rPr sz="2774" spc="-129" dirty="0">
                <a:solidFill>
                  <a:schemeClr val="tx1"/>
                </a:solidFill>
                <a:latin typeface="Tahoma"/>
                <a:cs typeface="Tahoma"/>
              </a:rPr>
              <a:t> </a:t>
            </a:r>
            <a:r>
              <a:rPr sz="2774" spc="-50" dirty="0">
                <a:solidFill>
                  <a:schemeClr val="tx1"/>
                </a:solidFill>
                <a:latin typeface="Tahoma"/>
                <a:cs typeface="Tahoma"/>
              </a:rPr>
              <a:t>Locally...</a:t>
            </a:r>
            <a:endParaRPr sz="2774" dirty="0">
              <a:solidFill>
                <a:schemeClr val="tx1"/>
              </a:solidFill>
              <a:latin typeface="Tahoma"/>
              <a:cs typeface="Tahoma"/>
            </a:endParaRPr>
          </a:p>
        </p:txBody>
      </p:sp>
      <p:pic>
        <p:nvPicPr>
          <p:cNvPr id="3" name="object 3"/>
          <p:cNvPicPr/>
          <p:nvPr/>
        </p:nvPicPr>
        <p:blipFill>
          <a:blip r:embed="rId2" cstate="print"/>
          <a:stretch>
            <a:fillRect/>
          </a:stretch>
        </p:blipFill>
        <p:spPr>
          <a:xfrm>
            <a:off x="756322" y="1271820"/>
            <a:ext cx="7559390" cy="4664304"/>
          </a:xfrm>
          <a:prstGeom prst="rect">
            <a:avLst/>
          </a:prstGeom>
        </p:spPr>
      </p:pic>
      <p:sp>
        <p:nvSpPr>
          <p:cNvPr id="10" name="object 10"/>
          <p:cNvSpPr txBox="1">
            <a:spLocks noGrp="1"/>
          </p:cNvSpPr>
          <p:nvPr>
            <p:ph type="sldNum" sz="quarter" idx="7"/>
          </p:nvPr>
        </p:nvSpPr>
        <p:spPr>
          <a:xfrm>
            <a:off x="13054948" y="12638854"/>
            <a:ext cx="4167651" cy="177613"/>
          </a:xfrm>
          <a:prstGeom prst="rect">
            <a:avLst/>
          </a:prstGeom>
        </p:spPr>
        <p:txBody>
          <a:bodyPr vert="horz" wrap="square" lIns="0" tIns="0" rIns="0" bIns="0" rtlCol="0">
            <a:spAutoFit/>
          </a:bodyPr>
          <a:lstStyle/>
          <a:p>
            <a:pPr marL="75503">
              <a:lnSpc>
                <a:spcPts val="1338"/>
              </a:lnSpc>
            </a:pPr>
            <a:r>
              <a:rPr spc="-59" dirty="0"/>
              <a:t>11</a:t>
            </a:r>
            <a:r>
              <a:rPr spc="-109" dirty="0"/>
              <a:t> </a:t>
            </a:r>
            <a:r>
              <a:rPr spc="297" dirty="0"/>
              <a:t>/</a:t>
            </a:r>
            <a:r>
              <a:rPr spc="-109" dirty="0"/>
              <a:t> </a:t>
            </a:r>
            <a:r>
              <a:rPr spc="-69" dirty="0"/>
              <a:t>48</a:t>
            </a: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892" y="897763"/>
            <a:ext cx="7976234" cy="635635"/>
          </a:xfrm>
          <a:prstGeom prst="rect">
            <a:avLst/>
          </a:prstGeom>
        </p:spPr>
        <p:txBody>
          <a:bodyPr vert="horz" wrap="square" lIns="0" tIns="13335" rIns="0" bIns="0" rtlCol="0">
            <a:spAutoFit/>
          </a:bodyPr>
          <a:lstStyle/>
          <a:p>
            <a:pPr marL="12700" marR="5080">
              <a:lnSpc>
                <a:spcPct val="100000"/>
              </a:lnSpc>
              <a:spcBef>
                <a:spcPts val="105"/>
              </a:spcBef>
            </a:pPr>
            <a:r>
              <a:rPr u="none" dirty="0">
                <a:solidFill>
                  <a:srgbClr val="000000"/>
                </a:solidFill>
              </a:rPr>
              <a:t>The</a:t>
            </a:r>
            <a:r>
              <a:rPr u="none" spc="-5" dirty="0">
                <a:solidFill>
                  <a:srgbClr val="000000"/>
                </a:solidFill>
              </a:rPr>
              <a:t> </a:t>
            </a:r>
            <a:r>
              <a:rPr u="none" dirty="0"/>
              <a:t>Sobel</a:t>
            </a:r>
            <a:r>
              <a:rPr u="none" spc="-30" dirty="0"/>
              <a:t> </a:t>
            </a:r>
            <a:r>
              <a:rPr u="none" dirty="0"/>
              <a:t>edge detection</a:t>
            </a:r>
            <a:r>
              <a:rPr u="none" spc="-45" dirty="0"/>
              <a:t> </a:t>
            </a:r>
            <a:r>
              <a:rPr u="none" dirty="0"/>
              <a:t>masks</a:t>
            </a:r>
            <a:r>
              <a:rPr u="none" spc="-10" dirty="0"/>
              <a:t> </a:t>
            </a:r>
            <a:r>
              <a:rPr u="none" dirty="0">
                <a:solidFill>
                  <a:srgbClr val="006FC0"/>
                </a:solidFill>
              </a:rPr>
              <a:t>look</a:t>
            </a:r>
            <a:r>
              <a:rPr u="none" spc="-30" dirty="0">
                <a:solidFill>
                  <a:srgbClr val="006FC0"/>
                </a:solidFill>
              </a:rPr>
              <a:t> </a:t>
            </a:r>
            <a:r>
              <a:rPr u="none" dirty="0">
                <a:solidFill>
                  <a:srgbClr val="006FC0"/>
                </a:solidFill>
              </a:rPr>
              <a:t>for</a:t>
            </a:r>
            <a:r>
              <a:rPr u="none" spc="-50" dirty="0">
                <a:solidFill>
                  <a:srgbClr val="006FC0"/>
                </a:solidFill>
              </a:rPr>
              <a:t> </a:t>
            </a:r>
            <a:r>
              <a:rPr u="none" dirty="0">
                <a:solidFill>
                  <a:srgbClr val="006FC0"/>
                </a:solidFill>
              </a:rPr>
              <a:t>edges</a:t>
            </a:r>
            <a:r>
              <a:rPr u="none" spc="-15" dirty="0">
                <a:solidFill>
                  <a:srgbClr val="006FC0"/>
                </a:solidFill>
              </a:rPr>
              <a:t> </a:t>
            </a:r>
            <a:r>
              <a:rPr u="none" dirty="0">
                <a:solidFill>
                  <a:srgbClr val="006FC0"/>
                </a:solidFill>
              </a:rPr>
              <a:t>in</a:t>
            </a:r>
            <a:r>
              <a:rPr u="none" spc="-15" dirty="0">
                <a:solidFill>
                  <a:srgbClr val="006FC0"/>
                </a:solidFill>
              </a:rPr>
              <a:t> </a:t>
            </a:r>
            <a:r>
              <a:rPr u="none" dirty="0">
                <a:solidFill>
                  <a:srgbClr val="006FC0"/>
                </a:solidFill>
              </a:rPr>
              <a:t>both</a:t>
            </a:r>
            <a:r>
              <a:rPr u="none" spc="-15" dirty="0">
                <a:solidFill>
                  <a:srgbClr val="006FC0"/>
                </a:solidFill>
              </a:rPr>
              <a:t> </a:t>
            </a:r>
            <a:r>
              <a:rPr u="none" dirty="0">
                <a:solidFill>
                  <a:srgbClr val="006FC0"/>
                </a:solidFill>
              </a:rPr>
              <a:t>the</a:t>
            </a:r>
            <a:r>
              <a:rPr u="none" spc="-25" dirty="0">
                <a:solidFill>
                  <a:srgbClr val="006FC0"/>
                </a:solidFill>
              </a:rPr>
              <a:t> </a:t>
            </a:r>
            <a:r>
              <a:rPr u="none" dirty="0">
                <a:solidFill>
                  <a:srgbClr val="006FC0"/>
                </a:solidFill>
              </a:rPr>
              <a:t>horizontal</a:t>
            </a:r>
            <a:r>
              <a:rPr u="none" spc="-35" dirty="0">
                <a:solidFill>
                  <a:srgbClr val="006FC0"/>
                </a:solidFill>
              </a:rPr>
              <a:t> </a:t>
            </a:r>
            <a:r>
              <a:rPr u="none" spc="-25" dirty="0">
                <a:solidFill>
                  <a:srgbClr val="006FC0"/>
                </a:solidFill>
              </a:rPr>
              <a:t>and </a:t>
            </a:r>
            <a:r>
              <a:rPr u="none" dirty="0">
                <a:solidFill>
                  <a:srgbClr val="006FC0"/>
                </a:solidFill>
              </a:rPr>
              <a:t>vertical</a:t>
            </a:r>
            <a:r>
              <a:rPr u="none" spc="-45" dirty="0">
                <a:solidFill>
                  <a:srgbClr val="006FC0"/>
                </a:solidFill>
              </a:rPr>
              <a:t> </a:t>
            </a:r>
            <a:r>
              <a:rPr u="none" dirty="0">
                <a:solidFill>
                  <a:srgbClr val="006FC0"/>
                </a:solidFill>
              </a:rPr>
              <a:t>directions</a:t>
            </a:r>
            <a:r>
              <a:rPr u="none" spc="-30" dirty="0">
                <a:solidFill>
                  <a:srgbClr val="006FC0"/>
                </a:solidFill>
              </a:rPr>
              <a:t> </a:t>
            </a:r>
            <a:r>
              <a:rPr u="none" dirty="0">
                <a:solidFill>
                  <a:srgbClr val="000000"/>
                </a:solidFill>
              </a:rPr>
              <a:t>and</a:t>
            </a:r>
            <a:r>
              <a:rPr u="none" spc="-25" dirty="0">
                <a:solidFill>
                  <a:srgbClr val="000000"/>
                </a:solidFill>
              </a:rPr>
              <a:t> </a:t>
            </a:r>
            <a:r>
              <a:rPr u="none" dirty="0">
                <a:solidFill>
                  <a:srgbClr val="000000"/>
                </a:solidFill>
              </a:rPr>
              <a:t>then</a:t>
            </a:r>
            <a:r>
              <a:rPr u="none" spc="-10" dirty="0">
                <a:solidFill>
                  <a:srgbClr val="000000"/>
                </a:solidFill>
              </a:rPr>
              <a:t> </a:t>
            </a:r>
            <a:r>
              <a:rPr u="none" dirty="0">
                <a:solidFill>
                  <a:srgbClr val="006FC0"/>
                </a:solidFill>
              </a:rPr>
              <a:t>combine</a:t>
            </a:r>
            <a:r>
              <a:rPr u="none" spc="-40" dirty="0">
                <a:solidFill>
                  <a:srgbClr val="006FC0"/>
                </a:solidFill>
              </a:rPr>
              <a:t> </a:t>
            </a:r>
            <a:r>
              <a:rPr u="none" dirty="0">
                <a:solidFill>
                  <a:srgbClr val="006FC0"/>
                </a:solidFill>
              </a:rPr>
              <a:t>this</a:t>
            </a:r>
            <a:r>
              <a:rPr u="none" spc="-35" dirty="0">
                <a:solidFill>
                  <a:srgbClr val="006FC0"/>
                </a:solidFill>
              </a:rPr>
              <a:t> </a:t>
            </a:r>
            <a:r>
              <a:rPr u="none" dirty="0">
                <a:solidFill>
                  <a:srgbClr val="006FC0"/>
                </a:solidFill>
              </a:rPr>
              <a:t>information</a:t>
            </a:r>
            <a:r>
              <a:rPr u="none" spc="-45" dirty="0">
                <a:solidFill>
                  <a:srgbClr val="006FC0"/>
                </a:solidFill>
              </a:rPr>
              <a:t> </a:t>
            </a:r>
            <a:r>
              <a:rPr u="none" dirty="0">
                <a:solidFill>
                  <a:srgbClr val="006FC0"/>
                </a:solidFill>
              </a:rPr>
              <a:t>into</a:t>
            </a:r>
            <a:r>
              <a:rPr u="none" spc="-20" dirty="0">
                <a:solidFill>
                  <a:srgbClr val="006FC0"/>
                </a:solidFill>
              </a:rPr>
              <a:t> </a:t>
            </a:r>
            <a:r>
              <a:rPr u="none" dirty="0">
                <a:solidFill>
                  <a:srgbClr val="006FC0"/>
                </a:solidFill>
              </a:rPr>
              <a:t>a</a:t>
            </a:r>
            <a:r>
              <a:rPr u="none" spc="-5" dirty="0">
                <a:solidFill>
                  <a:srgbClr val="006FC0"/>
                </a:solidFill>
              </a:rPr>
              <a:t> </a:t>
            </a:r>
            <a:r>
              <a:rPr u="none" dirty="0">
                <a:solidFill>
                  <a:srgbClr val="006FC0"/>
                </a:solidFill>
              </a:rPr>
              <a:t>single</a:t>
            </a:r>
            <a:r>
              <a:rPr u="none" spc="-35" dirty="0">
                <a:solidFill>
                  <a:srgbClr val="006FC0"/>
                </a:solidFill>
              </a:rPr>
              <a:t> </a:t>
            </a:r>
            <a:r>
              <a:rPr u="none" spc="-10" dirty="0">
                <a:solidFill>
                  <a:srgbClr val="006FC0"/>
                </a:solidFill>
              </a:rPr>
              <a:t>metric</a:t>
            </a:r>
            <a:r>
              <a:rPr u="none" spc="-10" dirty="0">
                <a:solidFill>
                  <a:srgbClr val="000000"/>
                </a:solidFill>
              </a:rPr>
              <a:t>.</a:t>
            </a:r>
          </a:p>
        </p:txBody>
      </p:sp>
      <p:sp>
        <p:nvSpPr>
          <p:cNvPr id="3" name="object 3"/>
          <p:cNvSpPr txBox="1"/>
          <p:nvPr/>
        </p:nvSpPr>
        <p:spPr>
          <a:xfrm>
            <a:off x="386892" y="1507363"/>
            <a:ext cx="2801620"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Times New Roman"/>
                <a:cs typeface="Times New Roman"/>
              </a:rPr>
              <a:t>The</a:t>
            </a:r>
            <a:r>
              <a:rPr sz="2000" b="1" spc="-20" dirty="0">
                <a:latin typeface="Times New Roman"/>
                <a:cs typeface="Times New Roman"/>
              </a:rPr>
              <a:t> </a:t>
            </a:r>
            <a:r>
              <a:rPr sz="2000" b="1" dirty="0">
                <a:latin typeface="Times New Roman"/>
                <a:cs typeface="Times New Roman"/>
              </a:rPr>
              <a:t>masks</a:t>
            </a:r>
            <a:r>
              <a:rPr sz="2000" b="1" spc="-40" dirty="0">
                <a:latin typeface="Times New Roman"/>
                <a:cs typeface="Times New Roman"/>
              </a:rPr>
              <a:t> </a:t>
            </a:r>
            <a:r>
              <a:rPr sz="2000" b="1" dirty="0">
                <a:latin typeface="Times New Roman"/>
                <a:cs typeface="Times New Roman"/>
              </a:rPr>
              <a:t>are</a:t>
            </a:r>
            <a:r>
              <a:rPr sz="2000" b="1" spc="-20" dirty="0">
                <a:latin typeface="Times New Roman"/>
                <a:cs typeface="Times New Roman"/>
              </a:rPr>
              <a:t> </a:t>
            </a:r>
            <a:r>
              <a:rPr sz="2000" b="1" dirty="0">
                <a:latin typeface="Times New Roman"/>
                <a:cs typeface="Times New Roman"/>
              </a:rPr>
              <a:t>as</a:t>
            </a:r>
            <a:r>
              <a:rPr sz="2000" b="1" spc="-10" dirty="0">
                <a:latin typeface="Times New Roman"/>
                <a:cs typeface="Times New Roman"/>
              </a:rPr>
              <a:t> follows:</a:t>
            </a:r>
            <a:endParaRPr sz="2000">
              <a:latin typeface="Times New Roman"/>
              <a:cs typeface="Times New Roman"/>
            </a:endParaRPr>
          </a:p>
        </p:txBody>
      </p:sp>
      <p:graphicFrame>
        <p:nvGraphicFramePr>
          <p:cNvPr id="4" name="object 4"/>
          <p:cNvGraphicFramePr>
            <a:graphicFrameLocks noGrp="1"/>
          </p:cNvGraphicFramePr>
          <p:nvPr/>
        </p:nvGraphicFramePr>
        <p:xfrm>
          <a:off x="3944873" y="1654175"/>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5749035" y="1658747"/>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1</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4140200" y="2828035"/>
            <a:ext cx="107315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Row</a:t>
            </a:r>
            <a:r>
              <a:rPr sz="1800" b="1" spc="-45" dirty="0">
                <a:latin typeface="Times New Roman"/>
                <a:cs typeface="Times New Roman"/>
              </a:rPr>
              <a:t> </a:t>
            </a:r>
            <a:r>
              <a:rPr sz="1800" b="1" spc="-20" dirty="0">
                <a:latin typeface="Times New Roman"/>
                <a:cs typeface="Times New Roman"/>
              </a:rPr>
              <a:t>Mask</a:t>
            </a:r>
            <a:endParaRPr sz="1800" dirty="0">
              <a:latin typeface="Times New Roman"/>
              <a:cs typeface="Times New Roman"/>
            </a:endParaRPr>
          </a:p>
        </p:txBody>
      </p:sp>
      <p:sp>
        <p:nvSpPr>
          <p:cNvPr id="7" name="object 7"/>
          <p:cNvSpPr txBox="1"/>
          <p:nvPr/>
        </p:nvSpPr>
        <p:spPr>
          <a:xfrm>
            <a:off x="5760846" y="2871342"/>
            <a:ext cx="141795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Column </a:t>
            </a:r>
            <a:r>
              <a:rPr sz="1800" b="1" spc="-20" dirty="0">
                <a:latin typeface="Times New Roman"/>
                <a:cs typeface="Times New Roman"/>
              </a:rPr>
              <a:t>Mask</a:t>
            </a:r>
            <a:endParaRPr sz="1800">
              <a:latin typeface="Times New Roman"/>
              <a:cs typeface="Times New Roman"/>
            </a:endParaRPr>
          </a:p>
        </p:txBody>
      </p:sp>
      <p:sp>
        <p:nvSpPr>
          <p:cNvPr id="8" name="object 8"/>
          <p:cNvSpPr txBox="1">
            <a:spLocks noGrp="1"/>
          </p:cNvSpPr>
          <p:nvPr>
            <p:ph type="body" idx="1"/>
          </p:nvPr>
        </p:nvSpPr>
        <p:spPr>
          <a:prstGeom prst="rect">
            <a:avLst/>
          </a:prstGeom>
        </p:spPr>
        <p:txBody>
          <a:bodyPr vert="horz" wrap="square" lIns="0" tIns="13335" rIns="0" bIns="0" rtlCol="0">
            <a:spAutoFit/>
          </a:bodyPr>
          <a:lstStyle/>
          <a:p>
            <a:pPr marL="12700" marR="6985">
              <a:lnSpc>
                <a:spcPct val="100000"/>
              </a:lnSpc>
              <a:spcBef>
                <a:spcPts val="105"/>
              </a:spcBef>
            </a:pPr>
            <a:r>
              <a:rPr dirty="0"/>
              <a:t>These</a:t>
            </a:r>
            <a:r>
              <a:rPr spc="70" dirty="0"/>
              <a:t> </a:t>
            </a:r>
            <a:r>
              <a:rPr dirty="0"/>
              <a:t>masks</a:t>
            </a:r>
            <a:r>
              <a:rPr spc="55" dirty="0"/>
              <a:t> </a:t>
            </a:r>
            <a:r>
              <a:rPr dirty="0"/>
              <a:t>are</a:t>
            </a:r>
            <a:r>
              <a:rPr spc="75" dirty="0"/>
              <a:t> </a:t>
            </a:r>
            <a:r>
              <a:rPr dirty="0"/>
              <a:t>each</a:t>
            </a:r>
            <a:r>
              <a:rPr spc="70" dirty="0"/>
              <a:t> </a:t>
            </a:r>
            <a:r>
              <a:rPr dirty="0"/>
              <a:t>convolved</a:t>
            </a:r>
            <a:r>
              <a:rPr spc="85" dirty="0"/>
              <a:t> </a:t>
            </a:r>
            <a:r>
              <a:rPr dirty="0"/>
              <a:t>with</a:t>
            </a:r>
            <a:r>
              <a:rPr spc="70" dirty="0"/>
              <a:t> </a:t>
            </a:r>
            <a:r>
              <a:rPr dirty="0"/>
              <a:t>the</a:t>
            </a:r>
            <a:r>
              <a:rPr spc="65" dirty="0"/>
              <a:t> </a:t>
            </a:r>
            <a:r>
              <a:rPr dirty="0"/>
              <a:t>image.</a:t>
            </a:r>
            <a:r>
              <a:rPr spc="80" dirty="0"/>
              <a:t> </a:t>
            </a:r>
            <a:r>
              <a:rPr dirty="0"/>
              <a:t>At</a:t>
            </a:r>
            <a:r>
              <a:rPr spc="70" dirty="0"/>
              <a:t> </a:t>
            </a:r>
            <a:r>
              <a:rPr dirty="0"/>
              <a:t>each</a:t>
            </a:r>
            <a:r>
              <a:rPr spc="80" dirty="0"/>
              <a:t> </a:t>
            </a:r>
            <a:r>
              <a:rPr dirty="0"/>
              <a:t>pixel</a:t>
            </a:r>
            <a:r>
              <a:rPr spc="65" dirty="0"/>
              <a:t> </a:t>
            </a:r>
            <a:r>
              <a:rPr dirty="0"/>
              <a:t>location</a:t>
            </a:r>
            <a:r>
              <a:rPr spc="80" dirty="0"/>
              <a:t> </a:t>
            </a:r>
            <a:r>
              <a:rPr spc="-25" dirty="0"/>
              <a:t>we </a:t>
            </a:r>
            <a:r>
              <a:rPr dirty="0"/>
              <a:t>now</a:t>
            </a:r>
            <a:r>
              <a:rPr spc="-10" dirty="0"/>
              <a:t> </a:t>
            </a:r>
            <a:r>
              <a:rPr dirty="0"/>
              <a:t>have</a:t>
            </a:r>
            <a:r>
              <a:rPr spc="-15" dirty="0"/>
              <a:t> </a:t>
            </a:r>
            <a:r>
              <a:rPr dirty="0"/>
              <a:t>two</a:t>
            </a:r>
            <a:r>
              <a:rPr spc="-5" dirty="0"/>
              <a:t> </a:t>
            </a:r>
            <a:r>
              <a:rPr spc="-10" dirty="0"/>
              <a:t>numbers:</a:t>
            </a:r>
          </a:p>
          <a:p>
            <a:pPr marL="354965" indent="-342265">
              <a:lnSpc>
                <a:spcPct val="100000"/>
              </a:lnSpc>
              <a:buClr>
                <a:srgbClr val="C00000"/>
              </a:buClr>
              <a:buFont typeface="Wingdings"/>
              <a:buChar char=""/>
              <a:tabLst>
                <a:tab pos="354965" algn="l"/>
              </a:tabLst>
            </a:pPr>
            <a:r>
              <a:rPr dirty="0">
                <a:solidFill>
                  <a:srgbClr val="FF0000"/>
                </a:solidFill>
              </a:rPr>
              <a:t>S1</a:t>
            </a:r>
            <a:r>
              <a:rPr dirty="0"/>
              <a:t>,</a:t>
            </a:r>
            <a:r>
              <a:rPr spc="-40" dirty="0"/>
              <a:t> </a:t>
            </a:r>
            <a:r>
              <a:rPr dirty="0"/>
              <a:t>corresponding</a:t>
            </a:r>
            <a:r>
              <a:rPr spc="-55" dirty="0"/>
              <a:t> </a:t>
            </a:r>
            <a:r>
              <a:rPr dirty="0"/>
              <a:t>to</a:t>
            </a:r>
            <a:r>
              <a:rPr spc="-35" dirty="0"/>
              <a:t> </a:t>
            </a:r>
            <a:r>
              <a:rPr dirty="0"/>
              <a:t>the</a:t>
            </a:r>
            <a:r>
              <a:rPr spc="-20" dirty="0"/>
              <a:t> </a:t>
            </a:r>
            <a:r>
              <a:rPr dirty="0">
                <a:solidFill>
                  <a:srgbClr val="006FC0"/>
                </a:solidFill>
              </a:rPr>
              <a:t>result</a:t>
            </a:r>
            <a:r>
              <a:rPr spc="-40" dirty="0">
                <a:solidFill>
                  <a:srgbClr val="006FC0"/>
                </a:solidFill>
              </a:rPr>
              <a:t> </a:t>
            </a:r>
            <a:r>
              <a:rPr dirty="0">
                <a:solidFill>
                  <a:srgbClr val="006FC0"/>
                </a:solidFill>
              </a:rPr>
              <a:t>form</a:t>
            </a:r>
            <a:r>
              <a:rPr spc="-40" dirty="0">
                <a:solidFill>
                  <a:srgbClr val="006FC0"/>
                </a:solidFill>
              </a:rPr>
              <a:t> </a:t>
            </a:r>
            <a:r>
              <a:rPr dirty="0"/>
              <a:t>the</a:t>
            </a:r>
            <a:r>
              <a:rPr spc="-35" dirty="0"/>
              <a:t> </a:t>
            </a:r>
            <a:r>
              <a:rPr dirty="0">
                <a:solidFill>
                  <a:srgbClr val="FF0000"/>
                </a:solidFill>
              </a:rPr>
              <a:t>row</a:t>
            </a:r>
            <a:r>
              <a:rPr spc="-20" dirty="0">
                <a:solidFill>
                  <a:srgbClr val="FF0000"/>
                </a:solidFill>
              </a:rPr>
              <a:t> </a:t>
            </a:r>
            <a:r>
              <a:rPr spc="-10" dirty="0">
                <a:solidFill>
                  <a:srgbClr val="FF0000"/>
                </a:solidFill>
              </a:rPr>
              <a:t>mask</a:t>
            </a:r>
            <a:r>
              <a:rPr spc="-10" dirty="0"/>
              <a:t>.</a:t>
            </a:r>
          </a:p>
          <a:p>
            <a:pPr marL="354965" indent="-342265">
              <a:lnSpc>
                <a:spcPct val="100000"/>
              </a:lnSpc>
              <a:buClr>
                <a:srgbClr val="C00000"/>
              </a:buClr>
              <a:buFont typeface="Wingdings"/>
              <a:buChar char=""/>
              <a:tabLst>
                <a:tab pos="354965" algn="l"/>
              </a:tabLst>
            </a:pPr>
            <a:r>
              <a:rPr dirty="0">
                <a:solidFill>
                  <a:srgbClr val="FF0000"/>
                </a:solidFill>
              </a:rPr>
              <a:t>S2</a:t>
            </a:r>
            <a:r>
              <a:rPr dirty="0"/>
              <a:t>,</a:t>
            </a:r>
            <a:r>
              <a:rPr spc="-35" dirty="0"/>
              <a:t> </a:t>
            </a:r>
            <a:r>
              <a:rPr dirty="0"/>
              <a:t>corresponding</a:t>
            </a:r>
            <a:r>
              <a:rPr spc="-50" dirty="0"/>
              <a:t> </a:t>
            </a:r>
            <a:r>
              <a:rPr dirty="0"/>
              <a:t>to</a:t>
            </a:r>
            <a:r>
              <a:rPr spc="-30" dirty="0"/>
              <a:t> </a:t>
            </a:r>
            <a:r>
              <a:rPr dirty="0"/>
              <a:t>the</a:t>
            </a:r>
            <a:r>
              <a:rPr spc="-20" dirty="0"/>
              <a:t> </a:t>
            </a:r>
            <a:r>
              <a:rPr dirty="0">
                <a:solidFill>
                  <a:srgbClr val="006FC0"/>
                </a:solidFill>
              </a:rPr>
              <a:t>result</a:t>
            </a:r>
            <a:r>
              <a:rPr spc="-35" dirty="0">
                <a:solidFill>
                  <a:srgbClr val="006FC0"/>
                </a:solidFill>
              </a:rPr>
              <a:t> </a:t>
            </a:r>
            <a:r>
              <a:rPr dirty="0">
                <a:solidFill>
                  <a:srgbClr val="006FC0"/>
                </a:solidFill>
              </a:rPr>
              <a:t>from</a:t>
            </a:r>
            <a:r>
              <a:rPr spc="-30" dirty="0">
                <a:solidFill>
                  <a:srgbClr val="006FC0"/>
                </a:solidFill>
              </a:rPr>
              <a:t> </a:t>
            </a:r>
            <a:r>
              <a:rPr dirty="0"/>
              <a:t>the</a:t>
            </a:r>
            <a:r>
              <a:rPr spc="-35" dirty="0"/>
              <a:t> </a:t>
            </a:r>
            <a:r>
              <a:rPr dirty="0">
                <a:solidFill>
                  <a:srgbClr val="FF0000"/>
                </a:solidFill>
              </a:rPr>
              <a:t>column</a:t>
            </a:r>
            <a:r>
              <a:rPr spc="-30" dirty="0">
                <a:solidFill>
                  <a:srgbClr val="FF0000"/>
                </a:solidFill>
              </a:rPr>
              <a:t> </a:t>
            </a:r>
            <a:r>
              <a:rPr spc="-10" dirty="0">
                <a:solidFill>
                  <a:srgbClr val="FF0000"/>
                </a:solidFill>
              </a:rPr>
              <a:t>mask</a:t>
            </a:r>
            <a:r>
              <a:rPr spc="-10" dirty="0"/>
              <a:t>.</a:t>
            </a:r>
          </a:p>
          <a:p>
            <a:pPr marL="12700" marR="5080">
              <a:lnSpc>
                <a:spcPct val="100000"/>
              </a:lnSpc>
            </a:pPr>
            <a:r>
              <a:rPr dirty="0"/>
              <a:t>We</a:t>
            </a:r>
            <a:r>
              <a:rPr spc="-15" dirty="0"/>
              <a:t> </a:t>
            </a:r>
            <a:r>
              <a:rPr dirty="0"/>
              <a:t>use</a:t>
            </a:r>
            <a:r>
              <a:rPr spc="-25" dirty="0"/>
              <a:t> </a:t>
            </a:r>
            <a:r>
              <a:rPr dirty="0"/>
              <a:t>this</a:t>
            </a:r>
            <a:r>
              <a:rPr spc="-5" dirty="0"/>
              <a:t> </a:t>
            </a:r>
            <a:r>
              <a:rPr dirty="0"/>
              <a:t>numbers</a:t>
            </a:r>
            <a:r>
              <a:rPr spc="-10" dirty="0"/>
              <a:t> </a:t>
            </a:r>
            <a:r>
              <a:rPr dirty="0"/>
              <a:t>to</a:t>
            </a:r>
            <a:r>
              <a:rPr spc="-5" dirty="0"/>
              <a:t> </a:t>
            </a:r>
            <a:r>
              <a:rPr dirty="0"/>
              <a:t>compute two</a:t>
            </a:r>
            <a:r>
              <a:rPr spc="-20" dirty="0"/>
              <a:t> </a:t>
            </a:r>
            <a:r>
              <a:rPr dirty="0"/>
              <a:t>matrices,</a:t>
            </a:r>
            <a:r>
              <a:rPr spc="-5" dirty="0"/>
              <a:t> </a:t>
            </a:r>
            <a:r>
              <a:rPr dirty="0"/>
              <a:t>the</a:t>
            </a:r>
            <a:r>
              <a:rPr spc="-5" dirty="0"/>
              <a:t> </a:t>
            </a:r>
            <a:r>
              <a:rPr dirty="0"/>
              <a:t>edge</a:t>
            </a:r>
            <a:r>
              <a:rPr spc="-5" dirty="0"/>
              <a:t> </a:t>
            </a:r>
            <a:r>
              <a:rPr dirty="0"/>
              <a:t>magnitude</a:t>
            </a:r>
            <a:r>
              <a:rPr spc="-10" dirty="0"/>
              <a:t> </a:t>
            </a:r>
            <a:r>
              <a:rPr dirty="0"/>
              <a:t>and</a:t>
            </a:r>
            <a:r>
              <a:rPr spc="-10" dirty="0"/>
              <a:t> </a:t>
            </a:r>
            <a:r>
              <a:rPr spc="-25" dirty="0"/>
              <a:t>the </a:t>
            </a:r>
            <a:r>
              <a:rPr dirty="0"/>
              <a:t>edge</a:t>
            </a:r>
            <a:r>
              <a:rPr spc="-25" dirty="0"/>
              <a:t> </a:t>
            </a:r>
            <a:r>
              <a:rPr dirty="0"/>
              <a:t>direction,</a:t>
            </a:r>
            <a:r>
              <a:rPr spc="-50" dirty="0"/>
              <a:t> </a:t>
            </a:r>
            <a:r>
              <a:rPr dirty="0"/>
              <a:t>which</a:t>
            </a:r>
            <a:r>
              <a:rPr spc="-20" dirty="0"/>
              <a:t> </a:t>
            </a:r>
            <a:r>
              <a:rPr dirty="0"/>
              <a:t>are</a:t>
            </a:r>
            <a:r>
              <a:rPr spc="-30" dirty="0"/>
              <a:t> </a:t>
            </a:r>
            <a:r>
              <a:rPr dirty="0"/>
              <a:t>defined</a:t>
            </a:r>
            <a:r>
              <a:rPr spc="-35" dirty="0"/>
              <a:t> </a:t>
            </a:r>
            <a:r>
              <a:rPr dirty="0"/>
              <a:t>as</a:t>
            </a:r>
            <a:r>
              <a:rPr spc="-35" dirty="0"/>
              <a:t> </a:t>
            </a:r>
            <a:r>
              <a:rPr spc="-10" dirty="0"/>
              <a:t>follows:</a:t>
            </a:r>
          </a:p>
        </p:txBody>
      </p:sp>
      <p:sp>
        <p:nvSpPr>
          <p:cNvPr id="9" name="object 9"/>
          <p:cNvSpPr/>
          <p:nvPr/>
        </p:nvSpPr>
        <p:spPr>
          <a:xfrm>
            <a:off x="5569584" y="5584571"/>
            <a:ext cx="889635" cy="510540"/>
          </a:xfrm>
          <a:custGeom>
            <a:avLst/>
            <a:gdLst/>
            <a:ahLst/>
            <a:cxnLst/>
            <a:rect l="l" t="t" r="r" b="b"/>
            <a:pathLst>
              <a:path w="889635" h="510539">
                <a:moveTo>
                  <a:pt x="889126" y="0"/>
                </a:moveTo>
                <a:lnTo>
                  <a:pt x="168275" y="0"/>
                </a:lnTo>
                <a:lnTo>
                  <a:pt x="168275" y="253"/>
                </a:lnTo>
                <a:lnTo>
                  <a:pt x="141224" y="253"/>
                </a:lnTo>
                <a:lnTo>
                  <a:pt x="94741" y="469607"/>
                </a:lnTo>
                <a:lnTo>
                  <a:pt x="38735" y="365912"/>
                </a:lnTo>
                <a:lnTo>
                  <a:pt x="0" y="386346"/>
                </a:lnTo>
                <a:lnTo>
                  <a:pt x="4317" y="394271"/>
                </a:lnTo>
                <a:lnTo>
                  <a:pt x="24764" y="383552"/>
                </a:lnTo>
                <a:lnTo>
                  <a:pt x="93599" y="510133"/>
                </a:lnTo>
                <a:lnTo>
                  <a:pt x="104012" y="510133"/>
                </a:lnTo>
                <a:lnTo>
                  <a:pt x="153669" y="15087"/>
                </a:lnTo>
                <a:lnTo>
                  <a:pt x="889126" y="15214"/>
                </a:lnTo>
                <a:lnTo>
                  <a:pt x="889126" y="0"/>
                </a:lnTo>
                <a:close/>
              </a:path>
            </a:pathLst>
          </a:custGeom>
          <a:solidFill>
            <a:srgbClr val="000000"/>
          </a:solidFill>
        </p:spPr>
        <p:txBody>
          <a:bodyPr wrap="square" lIns="0" tIns="0" rIns="0" bIns="0" rtlCol="0"/>
          <a:lstStyle/>
          <a:p>
            <a:endParaRPr/>
          </a:p>
        </p:txBody>
      </p:sp>
      <p:sp>
        <p:nvSpPr>
          <p:cNvPr id="10" name="object 10"/>
          <p:cNvSpPr txBox="1"/>
          <p:nvPr/>
        </p:nvSpPr>
        <p:spPr>
          <a:xfrm>
            <a:off x="6336029" y="5806236"/>
            <a:ext cx="125730"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Cambria Math"/>
                <a:cs typeface="Cambria Math"/>
              </a:rPr>
              <a:t>𝟐</a:t>
            </a:r>
            <a:endParaRPr sz="1300">
              <a:latin typeface="Cambria Math"/>
              <a:cs typeface="Cambria Math"/>
            </a:endParaRPr>
          </a:p>
        </p:txBody>
      </p:sp>
      <p:sp>
        <p:nvSpPr>
          <p:cNvPr id="11" name="object 11"/>
          <p:cNvSpPr txBox="1"/>
          <p:nvPr/>
        </p:nvSpPr>
        <p:spPr>
          <a:xfrm>
            <a:off x="3300095" y="5638800"/>
            <a:ext cx="3187065" cy="299720"/>
          </a:xfrm>
          <a:prstGeom prst="rect">
            <a:avLst/>
          </a:prstGeom>
        </p:spPr>
        <p:txBody>
          <a:bodyPr vert="horz" wrap="square" lIns="0" tIns="12700" rIns="0" bIns="0" rtlCol="0">
            <a:spAutoFit/>
          </a:bodyPr>
          <a:lstStyle/>
          <a:p>
            <a:pPr marL="38100">
              <a:lnSpc>
                <a:spcPct val="100000"/>
              </a:lnSpc>
              <a:spcBef>
                <a:spcPts val="100"/>
              </a:spcBef>
              <a:tabLst>
                <a:tab pos="2438400" algn="l"/>
              </a:tabLst>
            </a:pPr>
            <a:r>
              <a:rPr sz="1800" dirty="0">
                <a:latin typeface="Cambria Math"/>
                <a:cs typeface="Cambria Math"/>
              </a:rPr>
              <a:t>𝑬𝒅𝒈𝒆</a:t>
            </a:r>
            <a:r>
              <a:rPr sz="1800" spc="-35" dirty="0">
                <a:latin typeface="Cambria Math"/>
                <a:cs typeface="Cambria Math"/>
              </a:rPr>
              <a:t> </a:t>
            </a:r>
            <a:r>
              <a:rPr sz="1800" dirty="0">
                <a:latin typeface="Cambria Math"/>
                <a:cs typeface="Cambria Math"/>
              </a:rPr>
              <a:t>𝑴𝒂𝒈𝒏𝒊𝒕𝒖𝒅𝒆</a:t>
            </a:r>
            <a:r>
              <a:rPr sz="1800" spc="60" dirty="0">
                <a:latin typeface="Cambria Math"/>
                <a:cs typeface="Cambria Math"/>
              </a:rPr>
              <a:t> </a:t>
            </a:r>
            <a:r>
              <a:rPr sz="1800" spc="-50" dirty="0">
                <a:latin typeface="Cambria Math"/>
                <a:cs typeface="Cambria Math"/>
              </a:rPr>
              <a:t>=</a:t>
            </a:r>
            <a:r>
              <a:rPr sz="1800" dirty="0">
                <a:latin typeface="Cambria Math"/>
                <a:cs typeface="Cambria Math"/>
              </a:rPr>
              <a:t>	𝒔</a:t>
            </a:r>
            <a:r>
              <a:rPr sz="1950" baseline="27777" dirty="0">
                <a:latin typeface="Cambria Math"/>
                <a:cs typeface="Cambria Math"/>
              </a:rPr>
              <a:t>𝟐</a:t>
            </a:r>
            <a:r>
              <a:rPr sz="1950" spc="240" baseline="27777" dirty="0">
                <a:latin typeface="Cambria Math"/>
                <a:cs typeface="Cambria Math"/>
              </a:rPr>
              <a:t> </a:t>
            </a:r>
            <a:r>
              <a:rPr sz="1800" dirty="0">
                <a:latin typeface="Cambria Math"/>
                <a:cs typeface="Cambria Math"/>
              </a:rPr>
              <a:t>+</a:t>
            </a:r>
            <a:r>
              <a:rPr sz="1800" spc="5" dirty="0">
                <a:latin typeface="Cambria Math"/>
                <a:cs typeface="Cambria Math"/>
              </a:rPr>
              <a:t> </a:t>
            </a:r>
            <a:r>
              <a:rPr sz="1800" spc="-25" dirty="0">
                <a:latin typeface="Cambria Math"/>
                <a:cs typeface="Cambria Math"/>
              </a:rPr>
              <a:t>𝒔</a:t>
            </a:r>
            <a:r>
              <a:rPr sz="1950" spc="-37" baseline="27777" dirty="0">
                <a:latin typeface="Cambria Math"/>
                <a:cs typeface="Cambria Math"/>
              </a:rPr>
              <a:t>𝟐</a:t>
            </a:r>
            <a:endParaRPr sz="1950" baseline="27777">
              <a:latin typeface="Cambria Math"/>
              <a:cs typeface="Cambria Math"/>
            </a:endParaRPr>
          </a:p>
        </p:txBody>
      </p:sp>
      <p:sp>
        <p:nvSpPr>
          <p:cNvPr id="12" name="object 12"/>
          <p:cNvSpPr txBox="1"/>
          <p:nvPr/>
        </p:nvSpPr>
        <p:spPr>
          <a:xfrm>
            <a:off x="3322320" y="5806236"/>
            <a:ext cx="2998470" cy="835660"/>
          </a:xfrm>
          <a:prstGeom prst="rect">
            <a:avLst/>
          </a:prstGeom>
        </p:spPr>
        <p:txBody>
          <a:bodyPr vert="horz" wrap="square" lIns="0" tIns="15240" rIns="0" bIns="0" rtlCol="0">
            <a:spAutoFit/>
          </a:bodyPr>
          <a:lstStyle/>
          <a:p>
            <a:pPr marR="358775" algn="r">
              <a:lnSpc>
                <a:spcPct val="100000"/>
              </a:lnSpc>
              <a:spcBef>
                <a:spcPts val="120"/>
              </a:spcBef>
            </a:pPr>
            <a:r>
              <a:rPr sz="1300" spc="-50" dirty="0">
                <a:latin typeface="Cambria Math"/>
                <a:cs typeface="Cambria Math"/>
              </a:rPr>
              <a:t>𝟏</a:t>
            </a:r>
            <a:endParaRPr sz="1300" dirty="0">
              <a:latin typeface="Cambria Math"/>
              <a:cs typeface="Cambria Math"/>
            </a:endParaRPr>
          </a:p>
          <a:p>
            <a:pPr marL="38100">
              <a:lnSpc>
                <a:spcPts val="1680"/>
              </a:lnSpc>
              <a:spcBef>
                <a:spcPts val="1440"/>
              </a:spcBef>
            </a:pPr>
            <a:r>
              <a:rPr sz="1800" dirty="0">
                <a:latin typeface="Cambria Math"/>
                <a:cs typeface="Cambria Math"/>
              </a:rPr>
              <a:t>𝑬𝒅𝒈𝒆</a:t>
            </a:r>
            <a:r>
              <a:rPr sz="1800" spc="-20" dirty="0">
                <a:latin typeface="Cambria Math"/>
                <a:cs typeface="Cambria Math"/>
              </a:rPr>
              <a:t> </a:t>
            </a:r>
            <a:r>
              <a:rPr sz="1800" dirty="0">
                <a:latin typeface="Cambria Math"/>
                <a:cs typeface="Cambria Math"/>
              </a:rPr>
              <a:t>𝑫𝒊𝒓𝒆𝒄𝒕𝒊𝒐𝒏</a:t>
            </a:r>
            <a:r>
              <a:rPr sz="1800" spc="75" dirty="0">
                <a:latin typeface="Cambria Math"/>
                <a:cs typeface="Cambria Math"/>
              </a:rPr>
              <a:t> </a:t>
            </a:r>
            <a:r>
              <a:rPr sz="1800" dirty="0">
                <a:latin typeface="Cambria Math"/>
                <a:cs typeface="Cambria Math"/>
              </a:rPr>
              <a:t>=</a:t>
            </a:r>
            <a:r>
              <a:rPr sz="1800" spc="475" dirty="0">
                <a:latin typeface="Cambria Math"/>
                <a:cs typeface="Cambria Math"/>
              </a:rPr>
              <a:t> </a:t>
            </a:r>
            <a:r>
              <a:rPr sz="1800" dirty="0">
                <a:latin typeface="Cambria Math"/>
                <a:cs typeface="Cambria Math"/>
              </a:rPr>
              <a:t>𝒕𝒂𝒏</a:t>
            </a:r>
            <a:r>
              <a:rPr sz="1950" baseline="27777" dirty="0">
                <a:latin typeface="Cambria Math"/>
                <a:cs typeface="Cambria Math"/>
              </a:rPr>
              <a:t>−𝟏</a:t>
            </a:r>
            <a:r>
              <a:rPr sz="1950" spc="89" baseline="27777" dirty="0">
                <a:latin typeface="Cambria Math"/>
                <a:cs typeface="Cambria Math"/>
              </a:rPr>
              <a:t> </a:t>
            </a:r>
            <a:r>
              <a:rPr sz="2700" spc="-37" baseline="41666" dirty="0">
                <a:latin typeface="Cambria Math"/>
                <a:cs typeface="Cambria Math"/>
              </a:rPr>
              <a:t>𝒔</a:t>
            </a:r>
            <a:r>
              <a:rPr sz="1950" spc="-37" baseline="42735" dirty="0">
                <a:latin typeface="Cambria Math"/>
                <a:cs typeface="Cambria Math"/>
              </a:rPr>
              <a:t>𝟐</a:t>
            </a:r>
            <a:endParaRPr sz="1950" baseline="42735" dirty="0">
              <a:latin typeface="Cambria Math"/>
              <a:cs typeface="Cambria Math"/>
            </a:endParaRPr>
          </a:p>
          <a:p>
            <a:pPr marR="30480" algn="r">
              <a:lnSpc>
                <a:spcPts val="1680"/>
              </a:lnSpc>
            </a:pPr>
            <a:r>
              <a:rPr sz="1800" spc="-25" dirty="0">
                <a:latin typeface="Cambria Math"/>
                <a:cs typeface="Cambria Math"/>
              </a:rPr>
              <a:t>𝒔</a:t>
            </a:r>
            <a:r>
              <a:rPr sz="1950" spc="-37" baseline="-14957" dirty="0">
                <a:latin typeface="Cambria Math"/>
                <a:cs typeface="Cambria Math"/>
              </a:rPr>
              <a:t>𝟏</a:t>
            </a:r>
            <a:endParaRPr sz="1950" baseline="-14957" dirty="0">
              <a:latin typeface="Cambria Math"/>
              <a:cs typeface="Cambria Math"/>
            </a:endParaRPr>
          </a:p>
        </p:txBody>
      </p:sp>
      <p:sp>
        <p:nvSpPr>
          <p:cNvPr id="13" name="object 13"/>
          <p:cNvSpPr/>
          <p:nvPr/>
        </p:nvSpPr>
        <p:spPr>
          <a:xfrm>
            <a:off x="6066409" y="6356477"/>
            <a:ext cx="224154" cy="15240"/>
          </a:xfrm>
          <a:custGeom>
            <a:avLst/>
            <a:gdLst/>
            <a:ahLst/>
            <a:cxnLst/>
            <a:rect l="l" t="t" r="r" b="b"/>
            <a:pathLst>
              <a:path w="224154" h="15239">
                <a:moveTo>
                  <a:pt x="224027" y="0"/>
                </a:moveTo>
                <a:lnTo>
                  <a:pt x="0" y="0"/>
                </a:lnTo>
                <a:lnTo>
                  <a:pt x="0" y="15240"/>
                </a:lnTo>
                <a:lnTo>
                  <a:pt x="224027" y="15240"/>
                </a:lnTo>
                <a:lnTo>
                  <a:pt x="224027" y="0"/>
                </a:lnTo>
                <a:close/>
              </a:path>
            </a:pathLst>
          </a:custGeom>
          <a:solidFill>
            <a:srgbClr val="000000"/>
          </a:solidFill>
        </p:spPr>
        <p:txBody>
          <a:bodyPr wrap="square" lIns="0" tIns="0" rIns="0" bIns="0" rtlCol="0"/>
          <a:lstStyle/>
          <a:p>
            <a:endParaRPr/>
          </a:p>
        </p:txBody>
      </p:sp>
      <p:pic>
        <p:nvPicPr>
          <p:cNvPr id="14" name="object 14"/>
          <p:cNvPicPr/>
          <p:nvPr/>
        </p:nvPicPr>
        <p:blipFill>
          <a:blip r:embed="rId2" cstate="print"/>
          <a:stretch>
            <a:fillRect/>
          </a:stretch>
        </p:blipFill>
        <p:spPr>
          <a:xfrm>
            <a:off x="3057144" y="273205"/>
            <a:ext cx="2830067" cy="390179"/>
          </a:xfrm>
          <a:prstGeom prst="rect">
            <a:avLst/>
          </a:prstGeom>
        </p:spPr>
      </p:pic>
      <p:grpSp>
        <p:nvGrpSpPr>
          <p:cNvPr id="15" name="object 15"/>
          <p:cNvGrpSpPr/>
          <p:nvPr/>
        </p:nvGrpSpPr>
        <p:grpSpPr>
          <a:xfrm>
            <a:off x="426719" y="795527"/>
            <a:ext cx="8211820" cy="91440"/>
            <a:chOff x="426719" y="795527"/>
            <a:chExt cx="8211820" cy="91440"/>
          </a:xfrm>
        </p:grpSpPr>
        <p:pic>
          <p:nvPicPr>
            <p:cNvPr id="16" name="object 16"/>
            <p:cNvPicPr/>
            <p:nvPr/>
          </p:nvPicPr>
          <p:blipFill>
            <a:blip r:embed="rId3" cstate="print"/>
            <a:stretch>
              <a:fillRect/>
            </a:stretch>
          </p:blipFill>
          <p:spPr>
            <a:xfrm>
              <a:off x="426719" y="795527"/>
              <a:ext cx="8211311" cy="91440"/>
            </a:xfrm>
            <a:prstGeom prst="rect">
              <a:avLst/>
            </a:prstGeom>
          </p:spPr>
        </p:pic>
        <p:sp>
          <p:nvSpPr>
            <p:cNvPr id="17" name="object 17"/>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7D199C-7A9B-4519-B93E-6476554EC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954" y="1539778"/>
            <a:ext cx="6636091" cy="3778444"/>
          </a:xfrm>
          <a:prstGeom prst="rect">
            <a:avLst/>
          </a:prstGeom>
        </p:spPr>
      </p:pic>
    </p:spTree>
    <p:extLst>
      <p:ext uri="{BB962C8B-B14F-4D97-AF65-F5344CB8AC3E}">
        <p14:creationId xmlns:p14="http://schemas.microsoft.com/office/powerpoint/2010/main" val="1302020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52596F-37A6-429E-BEBF-3ADF9D30DC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2531" y="1558829"/>
            <a:ext cx="6578938" cy="3740342"/>
          </a:xfrm>
          <a:prstGeom prst="rect">
            <a:avLst/>
          </a:prstGeom>
        </p:spPr>
      </p:pic>
    </p:spTree>
    <p:extLst>
      <p:ext uri="{BB962C8B-B14F-4D97-AF65-F5344CB8AC3E}">
        <p14:creationId xmlns:p14="http://schemas.microsoft.com/office/powerpoint/2010/main" val="3061671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648" y="218058"/>
            <a:ext cx="1071880" cy="330835"/>
          </a:xfrm>
          <a:prstGeom prst="rect">
            <a:avLst/>
          </a:prstGeom>
        </p:spPr>
        <p:txBody>
          <a:bodyPr vert="horz" wrap="square" lIns="0" tIns="12700" rIns="0" bIns="0" rtlCol="0">
            <a:spAutoFit/>
          </a:bodyPr>
          <a:lstStyle/>
          <a:p>
            <a:pPr marL="12700">
              <a:lnSpc>
                <a:spcPct val="100000"/>
              </a:lnSpc>
              <a:spcBef>
                <a:spcPts val="100"/>
              </a:spcBef>
            </a:pPr>
            <a:r>
              <a:rPr spc="-10" dirty="0"/>
              <a:t>Example:</a:t>
            </a:r>
          </a:p>
        </p:txBody>
      </p:sp>
      <p:sp>
        <p:nvSpPr>
          <p:cNvPr id="3" name="object 3"/>
          <p:cNvSpPr txBox="1"/>
          <p:nvPr/>
        </p:nvSpPr>
        <p:spPr>
          <a:xfrm>
            <a:off x="339648" y="524383"/>
            <a:ext cx="8102600" cy="57404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Times New Roman"/>
                <a:cs typeface="Times New Roman"/>
              </a:rPr>
              <a:t>Compute</a:t>
            </a:r>
            <a:r>
              <a:rPr sz="1800" b="1" spc="-15" dirty="0">
                <a:latin typeface="Times New Roman"/>
                <a:cs typeface="Times New Roman"/>
              </a:rPr>
              <a:t> </a:t>
            </a:r>
            <a:r>
              <a:rPr sz="1800" b="1" dirty="0">
                <a:latin typeface="Times New Roman"/>
                <a:cs typeface="Times New Roman"/>
              </a:rPr>
              <a:t>the</a:t>
            </a:r>
            <a:r>
              <a:rPr sz="1800" b="1" spc="-15" dirty="0">
                <a:latin typeface="Times New Roman"/>
                <a:cs typeface="Times New Roman"/>
              </a:rPr>
              <a:t> </a:t>
            </a:r>
            <a:r>
              <a:rPr sz="1800" b="1" dirty="0">
                <a:latin typeface="Times New Roman"/>
                <a:cs typeface="Times New Roman"/>
              </a:rPr>
              <a:t>convolution</a:t>
            </a:r>
            <a:r>
              <a:rPr sz="1800" b="1" spc="-25" dirty="0">
                <a:latin typeface="Times New Roman"/>
                <a:cs typeface="Times New Roman"/>
              </a:rPr>
              <a:t> </a:t>
            </a:r>
            <a:r>
              <a:rPr sz="1800" b="1" dirty="0">
                <a:latin typeface="Times New Roman"/>
                <a:cs typeface="Times New Roman"/>
              </a:rPr>
              <a:t>of</a:t>
            </a:r>
            <a:r>
              <a:rPr sz="1800" b="1" spc="-15" dirty="0">
                <a:latin typeface="Times New Roman"/>
                <a:cs typeface="Times New Roman"/>
              </a:rPr>
              <a:t> </a:t>
            </a:r>
            <a:r>
              <a:rPr sz="1800" b="1" dirty="0">
                <a:latin typeface="Times New Roman"/>
                <a:cs typeface="Times New Roman"/>
              </a:rPr>
              <a:t>the</a:t>
            </a:r>
            <a:r>
              <a:rPr sz="1800" b="1" spc="-15" dirty="0">
                <a:latin typeface="Times New Roman"/>
                <a:cs typeface="Times New Roman"/>
              </a:rPr>
              <a:t> </a:t>
            </a:r>
            <a:r>
              <a:rPr sz="1800" b="1" dirty="0">
                <a:latin typeface="Times New Roman"/>
                <a:cs typeface="Times New Roman"/>
              </a:rPr>
              <a:t>Sobel</a:t>
            </a:r>
            <a:r>
              <a:rPr sz="1800" b="1" spc="-15" dirty="0">
                <a:latin typeface="Times New Roman"/>
                <a:cs typeface="Times New Roman"/>
              </a:rPr>
              <a:t> </a:t>
            </a:r>
            <a:r>
              <a:rPr sz="1800" b="1" dirty="0">
                <a:latin typeface="Times New Roman"/>
                <a:cs typeface="Times New Roman"/>
              </a:rPr>
              <a:t>operators</a:t>
            </a:r>
            <a:r>
              <a:rPr sz="1800" b="1" spc="-20" dirty="0">
                <a:latin typeface="Times New Roman"/>
                <a:cs typeface="Times New Roman"/>
              </a:rPr>
              <a:t> </a:t>
            </a:r>
            <a:r>
              <a:rPr sz="1800" b="1" dirty="0">
                <a:latin typeface="Times New Roman"/>
                <a:cs typeface="Times New Roman"/>
              </a:rPr>
              <a:t>s1</a:t>
            </a:r>
            <a:r>
              <a:rPr sz="1800" b="1" spc="-10" dirty="0">
                <a:latin typeface="Times New Roman"/>
                <a:cs typeface="Times New Roman"/>
              </a:rPr>
              <a:t> </a:t>
            </a:r>
            <a:r>
              <a:rPr sz="1800" b="1" dirty="0">
                <a:latin typeface="Times New Roman"/>
                <a:cs typeface="Times New Roman"/>
              </a:rPr>
              <a:t>and</a:t>
            </a:r>
            <a:r>
              <a:rPr sz="1800" b="1" spc="-30" dirty="0">
                <a:latin typeface="Times New Roman"/>
                <a:cs typeface="Times New Roman"/>
              </a:rPr>
              <a:t> </a:t>
            </a:r>
            <a:r>
              <a:rPr sz="1800" b="1" dirty="0">
                <a:latin typeface="Times New Roman"/>
                <a:cs typeface="Times New Roman"/>
              </a:rPr>
              <a:t>s2</a:t>
            </a:r>
            <a:r>
              <a:rPr sz="1800" b="1" spc="-10" dirty="0">
                <a:latin typeface="Times New Roman"/>
                <a:cs typeface="Times New Roman"/>
              </a:rPr>
              <a:t> </a:t>
            </a:r>
            <a:r>
              <a:rPr sz="1800" b="1" dirty="0">
                <a:latin typeface="Times New Roman"/>
                <a:cs typeface="Times New Roman"/>
              </a:rPr>
              <a:t>with</a:t>
            </a:r>
            <a:r>
              <a:rPr sz="1800" b="1" spc="-40" dirty="0">
                <a:latin typeface="Times New Roman"/>
                <a:cs typeface="Times New Roman"/>
              </a:rPr>
              <a:t> </a:t>
            </a:r>
            <a:r>
              <a:rPr sz="1800" b="1" dirty="0">
                <a:latin typeface="Times New Roman"/>
                <a:cs typeface="Times New Roman"/>
              </a:rPr>
              <a:t>the</a:t>
            </a:r>
            <a:r>
              <a:rPr sz="1800" b="1" spc="-20" dirty="0">
                <a:latin typeface="Times New Roman"/>
                <a:cs typeface="Times New Roman"/>
              </a:rPr>
              <a:t> </a:t>
            </a:r>
            <a:r>
              <a:rPr sz="1800" b="1" dirty="0">
                <a:latin typeface="Times New Roman"/>
                <a:cs typeface="Times New Roman"/>
              </a:rPr>
              <a:t>image</a:t>
            </a:r>
            <a:r>
              <a:rPr sz="1800" b="1" spc="-15" dirty="0">
                <a:latin typeface="Times New Roman"/>
                <a:cs typeface="Times New Roman"/>
              </a:rPr>
              <a:t> </a:t>
            </a:r>
            <a:r>
              <a:rPr sz="1800" b="1" dirty="0">
                <a:latin typeface="Times New Roman"/>
                <a:cs typeface="Times New Roman"/>
              </a:rPr>
              <a:t>and</a:t>
            </a:r>
            <a:r>
              <a:rPr sz="1800" b="1" spc="-20" dirty="0">
                <a:latin typeface="Times New Roman"/>
                <a:cs typeface="Times New Roman"/>
              </a:rPr>
              <a:t> show </a:t>
            </a:r>
            <a:r>
              <a:rPr sz="1800" b="1" dirty="0">
                <a:latin typeface="Times New Roman"/>
                <a:cs typeface="Times New Roman"/>
              </a:rPr>
              <a:t>the</a:t>
            </a:r>
            <a:r>
              <a:rPr sz="1800" b="1" spc="-25" dirty="0">
                <a:latin typeface="Times New Roman"/>
                <a:cs typeface="Times New Roman"/>
              </a:rPr>
              <a:t> </a:t>
            </a:r>
            <a:r>
              <a:rPr sz="1800" b="1" dirty="0">
                <a:latin typeface="Times New Roman"/>
                <a:cs typeface="Times New Roman"/>
              </a:rPr>
              <a:t>edge</a:t>
            </a:r>
            <a:r>
              <a:rPr sz="1800" b="1" spc="-20" dirty="0">
                <a:latin typeface="Times New Roman"/>
                <a:cs typeface="Times New Roman"/>
              </a:rPr>
              <a:t> </a:t>
            </a:r>
            <a:r>
              <a:rPr sz="1800" b="1" dirty="0">
                <a:latin typeface="Times New Roman"/>
                <a:cs typeface="Times New Roman"/>
              </a:rPr>
              <a:t>magnitude</a:t>
            </a:r>
            <a:r>
              <a:rPr sz="1800" b="1" spc="-15" dirty="0">
                <a:latin typeface="Times New Roman"/>
                <a:cs typeface="Times New Roman"/>
              </a:rPr>
              <a:t> </a:t>
            </a:r>
            <a:r>
              <a:rPr sz="1800" b="1" spc="-10" dirty="0">
                <a:latin typeface="Times New Roman"/>
                <a:cs typeface="Times New Roman"/>
              </a:rPr>
              <a:t>image:</a:t>
            </a:r>
            <a:endParaRPr sz="1800">
              <a:latin typeface="Times New Roman"/>
              <a:cs typeface="Times New Roman"/>
            </a:endParaRPr>
          </a:p>
        </p:txBody>
      </p:sp>
      <p:graphicFrame>
        <p:nvGraphicFramePr>
          <p:cNvPr id="4" name="object 4"/>
          <p:cNvGraphicFramePr>
            <a:graphicFrameLocks noGrp="1"/>
          </p:cNvGraphicFramePr>
          <p:nvPr/>
        </p:nvGraphicFramePr>
        <p:xfrm>
          <a:off x="2295905" y="2404236"/>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2336926" y="3915155"/>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305"/>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0</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9"/>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50" dirty="0">
                          <a:latin typeface="Times New Roman"/>
                          <a:cs typeface="Times New Roman"/>
                        </a:rPr>
                        <a:t>0</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50" dirty="0">
                          <a:latin typeface="Times New Roman"/>
                          <a:cs typeface="Times New Roman"/>
                        </a:rPr>
                        <a:t>1</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2348229" y="2808477"/>
            <a:ext cx="5932170" cy="2620010"/>
          </a:xfrm>
          <a:prstGeom prst="rect">
            <a:avLst/>
          </a:prstGeom>
        </p:spPr>
        <p:txBody>
          <a:bodyPr vert="horz" wrap="square" lIns="0" tIns="12065" rIns="0" bIns="0" rtlCol="0">
            <a:spAutoFit/>
          </a:bodyPr>
          <a:lstStyle/>
          <a:p>
            <a:pPr marL="1659255">
              <a:lnSpc>
                <a:spcPct val="100000"/>
              </a:lnSpc>
              <a:spcBef>
                <a:spcPts val="95"/>
              </a:spcBef>
            </a:pPr>
            <a:r>
              <a:rPr sz="1600" b="1" dirty="0">
                <a:latin typeface="Times New Roman"/>
                <a:cs typeface="Times New Roman"/>
              </a:rPr>
              <a:t>=</a:t>
            </a:r>
            <a:r>
              <a:rPr sz="1600" b="1" spc="-20" dirty="0">
                <a:latin typeface="Times New Roman"/>
                <a:cs typeface="Times New Roman"/>
              </a:rPr>
              <a:t> </a:t>
            </a:r>
            <a:r>
              <a:rPr sz="1600" b="1" spc="-10" dirty="0">
                <a:latin typeface="Times New Roman"/>
                <a:cs typeface="Times New Roman"/>
              </a:rPr>
              <a:t>(3*-</a:t>
            </a:r>
            <a:r>
              <a:rPr sz="1600" b="1" dirty="0">
                <a:latin typeface="Times New Roman"/>
                <a:cs typeface="Times New Roman"/>
              </a:rPr>
              <a:t>1 )</a:t>
            </a:r>
            <a:r>
              <a:rPr sz="1600" b="1" spc="-15" dirty="0">
                <a:latin typeface="Times New Roman"/>
                <a:cs typeface="Times New Roman"/>
              </a:rPr>
              <a:t> </a:t>
            </a:r>
            <a:r>
              <a:rPr sz="1600" b="1" dirty="0">
                <a:latin typeface="Times New Roman"/>
                <a:cs typeface="Times New Roman"/>
              </a:rPr>
              <a:t>+</a:t>
            </a:r>
            <a:r>
              <a:rPr sz="1600" b="1" spc="-5" dirty="0">
                <a:latin typeface="Times New Roman"/>
                <a:cs typeface="Times New Roman"/>
              </a:rPr>
              <a:t> </a:t>
            </a:r>
            <a:r>
              <a:rPr sz="1600" b="1" dirty="0">
                <a:latin typeface="Times New Roman"/>
                <a:cs typeface="Times New Roman"/>
              </a:rPr>
              <a:t>(</a:t>
            </a:r>
            <a:r>
              <a:rPr sz="1600" b="1" spc="-5" dirty="0">
                <a:latin typeface="Times New Roman"/>
                <a:cs typeface="Times New Roman"/>
              </a:rPr>
              <a:t> </a:t>
            </a:r>
            <a:r>
              <a:rPr sz="1600" b="1" spc="-10" dirty="0">
                <a:latin typeface="Times New Roman"/>
                <a:cs typeface="Times New Roman"/>
              </a:rPr>
              <a:t>5*-</a:t>
            </a:r>
            <a:r>
              <a:rPr sz="1600" b="1" dirty="0">
                <a:latin typeface="Times New Roman"/>
                <a:cs typeface="Times New Roman"/>
              </a:rPr>
              <a:t>2)</a:t>
            </a:r>
            <a:r>
              <a:rPr sz="1600" b="1" spc="-10"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dirty="0">
                <a:latin typeface="Times New Roman"/>
                <a:cs typeface="Times New Roman"/>
              </a:rPr>
              <a:t>(</a:t>
            </a:r>
            <a:r>
              <a:rPr sz="1600" b="1" spc="-10" dirty="0">
                <a:latin typeface="Times New Roman"/>
                <a:cs typeface="Times New Roman"/>
              </a:rPr>
              <a:t> 7*-</a:t>
            </a:r>
            <a:r>
              <a:rPr sz="1600" b="1" dirty="0">
                <a:latin typeface="Times New Roman"/>
                <a:cs typeface="Times New Roman"/>
              </a:rPr>
              <a:t>1)</a:t>
            </a:r>
            <a:r>
              <a:rPr sz="1600" b="1" spc="-10" dirty="0">
                <a:latin typeface="Times New Roman"/>
                <a:cs typeface="Times New Roman"/>
              </a:rPr>
              <a:t> </a:t>
            </a:r>
            <a:r>
              <a:rPr sz="1600" b="1" dirty="0">
                <a:latin typeface="Times New Roman"/>
                <a:cs typeface="Times New Roman"/>
              </a:rPr>
              <a:t>+</a:t>
            </a:r>
            <a:r>
              <a:rPr sz="1600" b="1" spc="-10" dirty="0">
                <a:latin typeface="Times New Roman"/>
                <a:cs typeface="Times New Roman"/>
              </a:rPr>
              <a:t> </a:t>
            </a:r>
            <a:r>
              <a:rPr sz="1600" b="1" dirty="0">
                <a:latin typeface="Times New Roman"/>
                <a:cs typeface="Times New Roman"/>
              </a:rPr>
              <a:t>(2*0)</a:t>
            </a:r>
            <a:r>
              <a:rPr sz="1600" b="1" spc="-10"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(4*0)</a:t>
            </a:r>
            <a:r>
              <a:rPr sz="1600" b="1" spc="-10"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spc="-10" dirty="0">
                <a:latin typeface="Times New Roman"/>
                <a:cs typeface="Times New Roman"/>
              </a:rPr>
              <a:t>(3*0)</a:t>
            </a:r>
            <a:endParaRPr sz="1600">
              <a:latin typeface="Times New Roman"/>
              <a:cs typeface="Times New Roman"/>
            </a:endParaRPr>
          </a:p>
          <a:p>
            <a:pPr marL="1659255">
              <a:lnSpc>
                <a:spcPct val="100000"/>
              </a:lnSpc>
            </a:pP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dirty="0">
                <a:latin typeface="Times New Roman"/>
                <a:cs typeface="Times New Roman"/>
              </a:rPr>
              <a:t>1*1)</a:t>
            </a:r>
            <a:r>
              <a:rPr sz="1600" b="1" spc="-15"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(8*2)</a:t>
            </a:r>
            <a:r>
              <a:rPr sz="1600" b="1" spc="-15"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a:t>
            </a:r>
            <a:r>
              <a:rPr sz="1600" b="1" spc="-10" dirty="0">
                <a:latin typeface="Times New Roman"/>
                <a:cs typeface="Times New Roman"/>
              </a:rPr>
              <a:t> </a:t>
            </a:r>
            <a:r>
              <a:rPr sz="1600" b="1" dirty="0">
                <a:latin typeface="Times New Roman"/>
                <a:cs typeface="Times New Roman"/>
              </a:rPr>
              <a:t>6*1)</a:t>
            </a:r>
            <a:r>
              <a:rPr sz="1600" b="1" spc="-15"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spc="-25" dirty="0">
                <a:latin typeface="Times New Roman"/>
                <a:cs typeface="Times New Roman"/>
              </a:rPr>
              <a:t>-</a:t>
            </a:r>
            <a:r>
              <a:rPr sz="1600" b="1" dirty="0">
                <a:latin typeface="Times New Roman"/>
                <a:cs typeface="Times New Roman"/>
              </a:rPr>
              <a:t>20+23=</a:t>
            </a:r>
            <a:r>
              <a:rPr sz="1600" b="1" spc="-20" dirty="0">
                <a:latin typeface="Times New Roman"/>
                <a:cs typeface="Times New Roman"/>
              </a:rPr>
              <a:t> </a:t>
            </a:r>
            <a:r>
              <a:rPr sz="1600" b="1" spc="-50" dirty="0">
                <a:solidFill>
                  <a:srgbClr val="FF0000"/>
                </a:solidFill>
                <a:latin typeface="Times New Roman"/>
                <a:cs typeface="Times New Roman"/>
              </a:rPr>
              <a:t>3</a:t>
            </a:r>
            <a:endParaRPr sz="1600">
              <a:latin typeface="Times New Roman"/>
              <a:cs typeface="Times New Roman"/>
            </a:endParaRPr>
          </a:p>
          <a:p>
            <a:pPr>
              <a:lnSpc>
                <a:spcPct val="100000"/>
              </a:lnSpc>
              <a:spcBef>
                <a:spcPts val="385"/>
              </a:spcBef>
            </a:pPr>
            <a:endParaRPr sz="1600">
              <a:latin typeface="Times New Roman"/>
              <a:cs typeface="Times New Roman"/>
            </a:endParaRPr>
          </a:p>
          <a:p>
            <a:pPr marR="4565650" algn="ctr">
              <a:lnSpc>
                <a:spcPct val="100000"/>
              </a:lnSpc>
            </a:pPr>
            <a:r>
              <a:rPr sz="1800" b="1" dirty="0">
                <a:latin typeface="Times New Roman"/>
                <a:cs typeface="Times New Roman"/>
              </a:rPr>
              <a:t>Row</a:t>
            </a:r>
            <a:r>
              <a:rPr sz="1800" b="1" spc="-45" dirty="0">
                <a:latin typeface="Times New Roman"/>
                <a:cs typeface="Times New Roman"/>
              </a:rPr>
              <a:t> </a:t>
            </a:r>
            <a:r>
              <a:rPr sz="1800" b="1" spc="-20" dirty="0">
                <a:latin typeface="Times New Roman"/>
                <a:cs typeface="Times New Roman"/>
              </a:rPr>
              <a:t>Mask</a:t>
            </a:r>
            <a:endParaRPr sz="1800">
              <a:latin typeface="Times New Roman"/>
              <a:cs typeface="Times New Roman"/>
            </a:endParaRPr>
          </a:p>
          <a:p>
            <a:pPr>
              <a:lnSpc>
                <a:spcPct val="100000"/>
              </a:lnSpc>
              <a:spcBef>
                <a:spcPts val="480"/>
              </a:spcBef>
            </a:pPr>
            <a:endParaRPr sz="1800">
              <a:latin typeface="Times New Roman"/>
              <a:cs typeface="Times New Roman"/>
            </a:endParaRPr>
          </a:p>
          <a:p>
            <a:pPr marL="1724025">
              <a:lnSpc>
                <a:spcPct val="100000"/>
              </a:lnSpc>
            </a:pPr>
            <a:r>
              <a:rPr sz="1600" b="1" dirty="0">
                <a:latin typeface="Times New Roman"/>
                <a:cs typeface="Times New Roman"/>
              </a:rPr>
              <a:t>=</a:t>
            </a:r>
            <a:r>
              <a:rPr sz="1600" b="1" spc="-20" dirty="0">
                <a:latin typeface="Times New Roman"/>
                <a:cs typeface="Times New Roman"/>
              </a:rPr>
              <a:t> </a:t>
            </a:r>
            <a:r>
              <a:rPr sz="1600" b="1" spc="-10" dirty="0">
                <a:latin typeface="Times New Roman"/>
                <a:cs typeface="Times New Roman"/>
              </a:rPr>
              <a:t>(3*-</a:t>
            </a:r>
            <a:r>
              <a:rPr sz="1600" b="1" dirty="0">
                <a:latin typeface="Times New Roman"/>
                <a:cs typeface="Times New Roman"/>
              </a:rPr>
              <a:t>1 )</a:t>
            </a:r>
            <a:r>
              <a:rPr sz="1600" b="1" spc="-15" dirty="0">
                <a:latin typeface="Times New Roman"/>
                <a:cs typeface="Times New Roman"/>
              </a:rPr>
              <a:t> </a:t>
            </a:r>
            <a:r>
              <a:rPr sz="1600" b="1" dirty="0">
                <a:latin typeface="Times New Roman"/>
                <a:cs typeface="Times New Roman"/>
              </a:rPr>
              <a:t>+</a:t>
            </a:r>
            <a:r>
              <a:rPr sz="1600" b="1" spc="-5" dirty="0">
                <a:latin typeface="Times New Roman"/>
                <a:cs typeface="Times New Roman"/>
              </a:rPr>
              <a:t> </a:t>
            </a:r>
            <a:r>
              <a:rPr sz="1600" b="1" dirty="0">
                <a:latin typeface="Times New Roman"/>
                <a:cs typeface="Times New Roman"/>
              </a:rPr>
              <a:t>(</a:t>
            </a:r>
            <a:r>
              <a:rPr sz="1600" b="1" spc="-10" dirty="0">
                <a:latin typeface="Times New Roman"/>
                <a:cs typeface="Times New Roman"/>
              </a:rPr>
              <a:t> </a:t>
            </a:r>
            <a:r>
              <a:rPr sz="1600" b="1" dirty="0">
                <a:latin typeface="Times New Roman"/>
                <a:cs typeface="Times New Roman"/>
              </a:rPr>
              <a:t>5*0)</a:t>
            </a:r>
            <a:r>
              <a:rPr sz="1600" b="1" spc="-20"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a:t>
            </a:r>
            <a:r>
              <a:rPr sz="1600" b="1" spc="5" dirty="0">
                <a:latin typeface="Times New Roman"/>
                <a:cs typeface="Times New Roman"/>
              </a:rPr>
              <a:t> </a:t>
            </a:r>
            <a:r>
              <a:rPr sz="1600" b="1" dirty="0">
                <a:latin typeface="Times New Roman"/>
                <a:cs typeface="Times New Roman"/>
              </a:rPr>
              <a:t>7*1)</a:t>
            </a:r>
            <a:r>
              <a:rPr sz="1600" b="1" spc="-25"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spc="-10" dirty="0">
                <a:latin typeface="Times New Roman"/>
                <a:cs typeface="Times New Roman"/>
              </a:rPr>
              <a:t>(2*-</a:t>
            </a:r>
            <a:r>
              <a:rPr sz="1600" b="1" dirty="0">
                <a:latin typeface="Times New Roman"/>
                <a:cs typeface="Times New Roman"/>
              </a:rPr>
              <a:t>2) +</a:t>
            </a:r>
            <a:r>
              <a:rPr sz="1600" b="1" spc="-15" dirty="0">
                <a:latin typeface="Times New Roman"/>
                <a:cs typeface="Times New Roman"/>
              </a:rPr>
              <a:t> </a:t>
            </a:r>
            <a:r>
              <a:rPr sz="1600" b="1" dirty="0">
                <a:latin typeface="Times New Roman"/>
                <a:cs typeface="Times New Roman"/>
              </a:rPr>
              <a:t>(4*0)</a:t>
            </a:r>
            <a:r>
              <a:rPr sz="1600" b="1" spc="-15"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spc="-10" dirty="0">
                <a:latin typeface="Times New Roman"/>
                <a:cs typeface="Times New Roman"/>
              </a:rPr>
              <a:t>(3*2)</a:t>
            </a:r>
            <a:endParaRPr sz="1600">
              <a:latin typeface="Times New Roman"/>
              <a:cs typeface="Times New Roman"/>
            </a:endParaRPr>
          </a:p>
          <a:p>
            <a:pPr marL="1724025">
              <a:lnSpc>
                <a:spcPct val="100000"/>
              </a:lnSpc>
            </a:pPr>
            <a:r>
              <a:rPr sz="1600" b="1" dirty="0">
                <a:latin typeface="Times New Roman"/>
                <a:cs typeface="Times New Roman"/>
              </a:rPr>
              <a:t>+</a:t>
            </a:r>
            <a:r>
              <a:rPr sz="1600" b="1" spc="-20"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spc="-10" dirty="0">
                <a:latin typeface="Times New Roman"/>
                <a:cs typeface="Times New Roman"/>
              </a:rPr>
              <a:t>1*-</a:t>
            </a:r>
            <a:r>
              <a:rPr sz="1600" b="1" dirty="0">
                <a:latin typeface="Times New Roman"/>
                <a:cs typeface="Times New Roman"/>
              </a:rPr>
              <a:t>1)</a:t>
            </a:r>
            <a:r>
              <a:rPr sz="1600" b="1" spc="-20" dirty="0">
                <a:latin typeface="Times New Roman"/>
                <a:cs typeface="Times New Roman"/>
              </a:rPr>
              <a:t> </a:t>
            </a:r>
            <a:r>
              <a:rPr sz="1600" b="1" dirty="0">
                <a:latin typeface="Times New Roman"/>
                <a:cs typeface="Times New Roman"/>
              </a:rPr>
              <a:t>+</a:t>
            </a:r>
            <a:r>
              <a:rPr sz="1600" b="1" spc="-5" dirty="0">
                <a:latin typeface="Times New Roman"/>
                <a:cs typeface="Times New Roman"/>
              </a:rPr>
              <a:t> </a:t>
            </a:r>
            <a:r>
              <a:rPr sz="1600" b="1" dirty="0">
                <a:latin typeface="Times New Roman"/>
                <a:cs typeface="Times New Roman"/>
              </a:rPr>
              <a:t>(8*0)</a:t>
            </a:r>
            <a:r>
              <a:rPr sz="1600" b="1" spc="-20" dirty="0">
                <a:latin typeface="Times New Roman"/>
                <a:cs typeface="Times New Roman"/>
              </a:rPr>
              <a:t> </a:t>
            </a:r>
            <a:r>
              <a:rPr sz="1600" b="1" dirty="0">
                <a:latin typeface="Times New Roman"/>
                <a:cs typeface="Times New Roman"/>
              </a:rPr>
              <a:t>+</a:t>
            </a:r>
            <a:r>
              <a:rPr sz="1600" b="1" spc="-15" dirty="0">
                <a:latin typeface="Times New Roman"/>
                <a:cs typeface="Times New Roman"/>
              </a:rPr>
              <a:t> </a:t>
            </a:r>
            <a:r>
              <a:rPr sz="1600" b="1" dirty="0">
                <a:latin typeface="Times New Roman"/>
                <a:cs typeface="Times New Roman"/>
              </a:rPr>
              <a:t>(</a:t>
            </a:r>
            <a:r>
              <a:rPr sz="1600" b="1" spc="-10" dirty="0">
                <a:latin typeface="Times New Roman"/>
                <a:cs typeface="Times New Roman"/>
              </a:rPr>
              <a:t> </a:t>
            </a:r>
            <a:r>
              <a:rPr sz="1600" b="1" dirty="0">
                <a:latin typeface="Times New Roman"/>
                <a:cs typeface="Times New Roman"/>
              </a:rPr>
              <a:t>6*1)</a:t>
            </a:r>
            <a:r>
              <a:rPr sz="1600" b="1" spc="-25" dirty="0">
                <a:latin typeface="Times New Roman"/>
                <a:cs typeface="Times New Roman"/>
              </a:rPr>
              <a:t> </a:t>
            </a:r>
            <a:r>
              <a:rPr sz="1600" b="1" dirty="0">
                <a:latin typeface="Times New Roman"/>
                <a:cs typeface="Times New Roman"/>
              </a:rPr>
              <a:t>=</a:t>
            </a:r>
            <a:r>
              <a:rPr sz="1600" b="1" spc="-10" dirty="0">
                <a:latin typeface="Times New Roman"/>
                <a:cs typeface="Times New Roman"/>
              </a:rPr>
              <a:t> </a:t>
            </a:r>
            <a:r>
              <a:rPr sz="1600" b="1" spc="-25" dirty="0">
                <a:solidFill>
                  <a:srgbClr val="FF0000"/>
                </a:solidFill>
                <a:latin typeface="Times New Roman"/>
                <a:cs typeface="Times New Roman"/>
              </a:rPr>
              <a:t>11</a:t>
            </a:r>
            <a:endParaRPr sz="1600">
              <a:latin typeface="Times New Roman"/>
              <a:cs typeface="Times New Roman"/>
            </a:endParaRPr>
          </a:p>
          <a:p>
            <a:pPr>
              <a:lnSpc>
                <a:spcPct val="100000"/>
              </a:lnSpc>
              <a:spcBef>
                <a:spcPts val="1814"/>
              </a:spcBef>
            </a:pPr>
            <a:endParaRPr sz="1600">
              <a:latin typeface="Times New Roman"/>
              <a:cs typeface="Times New Roman"/>
            </a:endParaRPr>
          </a:p>
          <a:p>
            <a:pPr marR="4507865" algn="ctr">
              <a:lnSpc>
                <a:spcPct val="100000"/>
              </a:lnSpc>
            </a:pPr>
            <a:r>
              <a:rPr sz="1800" b="1" dirty="0">
                <a:latin typeface="Times New Roman"/>
                <a:cs typeface="Times New Roman"/>
              </a:rPr>
              <a:t>Column</a:t>
            </a:r>
            <a:r>
              <a:rPr sz="1800" b="1" spc="-35" dirty="0">
                <a:latin typeface="Times New Roman"/>
                <a:cs typeface="Times New Roman"/>
              </a:rPr>
              <a:t> </a:t>
            </a:r>
            <a:r>
              <a:rPr sz="1800" b="1" spc="-20" dirty="0">
                <a:latin typeface="Times New Roman"/>
                <a:cs typeface="Times New Roman"/>
              </a:rPr>
              <a:t>Mask</a:t>
            </a:r>
            <a:endParaRPr sz="1800">
              <a:latin typeface="Times New Roman"/>
              <a:cs typeface="Times New Roman"/>
            </a:endParaRPr>
          </a:p>
        </p:txBody>
      </p:sp>
      <p:sp>
        <p:nvSpPr>
          <p:cNvPr id="7" name="object 7"/>
          <p:cNvSpPr txBox="1"/>
          <p:nvPr/>
        </p:nvSpPr>
        <p:spPr>
          <a:xfrm>
            <a:off x="388111" y="1869186"/>
            <a:ext cx="1003935" cy="330835"/>
          </a:xfrm>
          <a:prstGeom prst="rect">
            <a:avLst/>
          </a:prstGeom>
        </p:spPr>
        <p:txBody>
          <a:bodyPr vert="horz" wrap="square" lIns="0" tIns="13335" rIns="0" bIns="0" rtlCol="0">
            <a:spAutoFit/>
          </a:bodyPr>
          <a:lstStyle/>
          <a:p>
            <a:pPr marL="12700">
              <a:lnSpc>
                <a:spcPct val="100000"/>
              </a:lnSpc>
              <a:spcBef>
                <a:spcPts val="105"/>
              </a:spcBef>
            </a:pPr>
            <a:r>
              <a:rPr sz="2000" b="1" u="sng" dirty="0">
                <a:solidFill>
                  <a:srgbClr val="FF0000"/>
                </a:solidFill>
                <a:uFill>
                  <a:solidFill>
                    <a:srgbClr val="FF0000"/>
                  </a:solidFill>
                </a:uFill>
                <a:latin typeface="Times New Roman"/>
                <a:cs typeface="Times New Roman"/>
              </a:rPr>
              <a:t>Answer</a:t>
            </a:r>
            <a:r>
              <a:rPr sz="2000" b="1" u="sng" spc="-75" dirty="0">
                <a:solidFill>
                  <a:srgbClr val="FF0000"/>
                </a:solidFill>
                <a:uFill>
                  <a:solidFill>
                    <a:srgbClr val="FF0000"/>
                  </a:solidFill>
                </a:uFill>
                <a:latin typeface="Times New Roman"/>
                <a:cs typeface="Times New Roman"/>
              </a:rPr>
              <a:t> </a:t>
            </a:r>
            <a:r>
              <a:rPr sz="2000" b="1" u="sng" spc="-50" dirty="0">
                <a:solidFill>
                  <a:srgbClr val="FF0000"/>
                </a:solidFill>
                <a:uFill>
                  <a:solidFill>
                    <a:srgbClr val="FF0000"/>
                  </a:solidFill>
                </a:uFill>
                <a:latin typeface="Times New Roman"/>
                <a:cs typeface="Times New Roman"/>
              </a:rPr>
              <a:t>:</a:t>
            </a:r>
            <a:endParaRPr sz="2000">
              <a:latin typeface="Times New Roman"/>
              <a:cs typeface="Times New Roman"/>
            </a:endParaRPr>
          </a:p>
        </p:txBody>
      </p:sp>
      <p:sp>
        <p:nvSpPr>
          <p:cNvPr id="8" name="object 8"/>
          <p:cNvSpPr/>
          <p:nvPr/>
        </p:nvSpPr>
        <p:spPr>
          <a:xfrm>
            <a:off x="2305811" y="5675604"/>
            <a:ext cx="789305" cy="452120"/>
          </a:xfrm>
          <a:custGeom>
            <a:avLst/>
            <a:gdLst/>
            <a:ahLst/>
            <a:cxnLst/>
            <a:rect l="l" t="t" r="r" b="b"/>
            <a:pathLst>
              <a:path w="789305" h="452120">
                <a:moveTo>
                  <a:pt x="156082" y="0"/>
                </a:moveTo>
                <a:lnTo>
                  <a:pt x="125094" y="0"/>
                </a:lnTo>
                <a:lnTo>
                  <a:pt x="83946" y="416178"/>
                </a:lnTo>
                <a:lnTo>
                  <a:pt x="34289" y="324230"/>
                </a:lnTo>
                <a:lnTo>
                  <a:pt x="0" y="342341"/>
                </a:lnTo>
                <a:lnTo>
                  <a:pt x="3810" y="349364"/>
                </a:lnTo>
                <a:lnTo>
                  <a:pt x="21970" y="339864"/>
                </a:lnTo>
                <a:lnTo>
                  <a:pt x="82931" y="452094"/>
                </a:lnTo>
                <a:lnTo>
                  <a:pt x="92201" y="452094"/>
                </a:lnTo>
                <a:lnTo>
                  <a:pt x="136270" y="13169"/>
                </a:lnTo>
                <a:lnTo>
                  <a:pt x="148844" y="13169"/>
                </a:lnTo>
                <a:lnTo>
                  <a:pt x="148844" y="14439"/>
                </a:lnTo>
                <a:lnTo>
                  <a:pt x="788924" y="14439"/>
                </a:lnTo>
                <a:lnTo>
                  <a:pt x="788924" y="723"/>
                </a:lnTo>
                <a:lnTo>
                  <a:pt x="156082" y="723"/>
                </a:lnTo>
                <a:lnTo>
                  <a:pt x="156082" y="0"/>
                </a:lnTo>
                <a:close/>
              </a:path>
            </a:pathLst>
          </a:custGeom>
          <a:solidFill>
            <a:srgbClr val="000000"/>
          </a:solidFill>
        </p:spPr>
        <p:txBody>
          <a:bodyPr wrap="square" lIns="0" tIns="0" rIns="0" bIns="0" rtlCol="0"/>
          <a:lstStyle/>
          <a:p>
            <a:endParaRPr/>
          </a:p>
        </p:txBody>
      </p:sp>
      <p:sp>
        <p:nvSpPr>
          <p:cNvPr id="9" name="object 9"/>
          <p:cNvSpPr txBox="1"/>
          <p:nvPr/>
        </p:nvSpPr>
        <p:spPr>
          <a:xfrm>
            <a:off x="267411" y="5760821"/>
            <a:ext cx="2871470" cy="313055"/>
          </a:xfrm>
          <a:prstGeom prst="rect">
            <a:avLst/>
          </a:prstGeom>
        </p:spPr>
        <p:txBody>
          <a:bodyPr vert="horz" wrap="square" lIns="0" tIns="12065" rIns="0" bIns="0" rtlCol="0">
            <a:spAutoFit/>
          </a:bodyPr>
          <a:lstStyle/>
          <a:p>
            <a:pPr marL="50800">
              <a:lnSpc>
                <a:spcPts val="1400"/>
              </a:lnSpc>
              <a:spcBef>
                <a:spcPts val="95"/>
              </a:spcBef>
              <a:tabLst>
                <a:tab pos="2187575" algn="l"/>
              </a:tabLst>
            </a:pPr>
            <a:r>
              <a:rPr sz="1600" dirty="0">
                <a:latin typeface="Cambria Math"/>
                <a:cs typeface="Cambria Math"/>
              </a:rPr>
              <a:t>𝑬𝒅𝒈𝒆</a:t>
            </a:r>
            <a:r>
              <a:rPr sz="1600" spc="-40" dirty="0">
                <a:latin typeface="Cambria Math"/>
                <a:cs typeface="Cambria Math"/>
              </a:rPr>
              <a:t> </a:t>
            </a:r>
            <a:r>
              <a:rPr sz="1600" dirty="0">
                <a:latin typeface="Cambria Math"/>
                <a:cs typeface="Cambria Math"/>
              </a:rPr>
              <a:t>𝑴𝒂𝒈𝒏𝒊𝒕𝒖𝒅𝒆</a:t>
            </a:r>
            <a:r>
              <a:rPr sz="1600" spc="40" dirty="0">
                <a:latin typeface="Cambria Math"/>
                <a:cs typeface="Cambria Math"/>
              </a:rPr>
              <a:t> </a:t>
            </a:r>
            <a:r>
              <a:rPr sz="1600" spc="-50" dirty="0">
                <a:latin typeface="Cambria Math"/>
                <a:cs typeface="Cambria Math"/>
              </a:rPr>
              <a:t>=</a:t>
            </a:r>
            <a:r>
              <a:rPr sz="1600" dirty="0">
                <a:latin typeface="Cambria Math"/>
                <a:cs typeface="Cambria Math"/>
              </a:rPr>
              <a:t>	𝒔</a:t>
            </a:r>
            <a:r>
              <a:rPr sz="1725" baseline="28985" dirty="0">
                <a:latin typeface="Cambria Math"/>
                <a:cs typeface="Cambria Math"/>
              </a:rPr>
              <a:t>𝟐</a:t>
            </a:r>
            <a:r>
              <a:rPr sz="1725" spc="254" baseline="28985" dirty="0">
                <a:latin typeface="Cambria Math"/>
                <a:cs typeface="Cambria Math"/>
              </a:rPr>
              <a:t> </a:t>
            </a:r>
            <a:r>
              <a:rPr sz="1600" dirty="0">
                <a:latin typeface="Cambria Math"/>
                <a:cs typeface="Cambria Math"/>
              </a:rPr>
              <a:t>+</a:t>
            </a:r>
            <a:r>
              <a:rPr sz="1600" spc="-5" dirty="0">
                <a:latin typeface="Cambria Math"/>
                <a:cs typeface="Cambria Math"/>
              </a:rPr>
              <a:t> </a:t>
            </a:r>
            <a:r>
              <a:rPr sz="1600" spc="-25" dirty="0">
                <a:latin typeface="Cambria Math"/>
                <a:cs typeface="Cambria Math"/>
              </a:rPr>
              <a:t>𝒔</a:t>
            </a:r>
            <a:r>
              <a:rPr sz="1725" spc="-37" baseline="28985" dirty="0">
                <a:latin typeface="Cambria Math"/>
                <a:cs typeface="Cambria Math"/>
              </a:rPr>
              <a:t>𝟐</a:t>
            </a:r>
            <a:endParaRPr sz="1725" baseline="28985">
              <a:latin typeface="Cambria Math"/>
              <a:cs typeface="Cambria Math"/>
            </a:endParaRPr>
          </a:p>
          <a:p>
            <a:pPr marR="43180" algn="r">
              <a:lnSpc>
                <a:spcPts val="860"/>
              </a:lnSpc>
              <a:tabLst>
                <a:tab pos="441325" algn="l"/>
              </a:tabLst>
            </a:pPr>
            <a:r>
              <a:rPr sz="1150" spc="-50" dirty="0">
                <a:latin typeface="Cambria Math"/>
                <a:cs typeface="Cambria Math"/>
              </a:rPr>
              <a:t>𝟏</a:t>
            </a:r>
            <a:r>
              <a:rPr sz="1150" dirty="0">
                <a:latin typeface="Cambria Math"/>
                <a:cs typeface="Cambria Math"/>
              </a:rPr>
              <a:t>	</a:t>
            </a:r>
            <a:r>
              <a:rPr sz="1150" spc="-50" dirty="0">
                <a:latin typeface="Cambria Math"/>
                <a:cs typeface="Cambria Math"/>
              </a:rPr>
              <a:t>𝟐</a:t>
            </a:r>
            <a:endParaRPr sz="1150">
              <a:latin typeface="Cambria Math"/>
              <a:cs typeface="Cambria Math"/>
            </a:endParaRPr>
          </a:p>
        </p:txBody>
      </p:sp>
      <p:sp>
        <p:nvSpPr>
          <p:cNvPr id="10" name="object 10"/>
          <p:cNvSpPr txBox="1"/>
          <p:nvPr/>
        </p:nvSpPr>
        <p:spPr>
          <a:xfrm>
            <a:off x="2819145" y="6118352"/>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Cambria Math"/>
                <a:cs typeface="Cambria Math"/>
              </a:rPr>
              <a:t>𝒔</a:t>
            </a:r>
            <a:r>
              <a:rPr sz="1725" spc="-37" baseline="-14492" dirty="0">
                <a:latin typeface="Cambria Math"/>
                <a:cs typeface="Cambria Math"/>
              </a:rPr>
              <a:t>𝟐</a:t>
            </a:r>
            <a:endParaRPr sz="1725" baseline="-14492">
              <a:latin typeface="Cambria Math"/>
              <a:cs typeface="Cambria Math"/>
            </a:endParaRPr>
          </a:p>
        </p:txBody>
      </p:sp>
      <p:sp>
        <p:nvSpPr>
          <p:cNvPr id="11" name="object 11"/>
          <p:cNvSpPr txBox="1"/>
          <p:nvPr/>
        </p:nvSpPr>
        <p:spPr>
          <a:xfrm>
            <a:off x="402945" y="6272580"/>
            <a:ext cx="2725420" cy="404495"/>
          </a:xfrm>
          <a:prstGeom prst="rect">
            <a:avLst/>
          </a:prstGeom>
        </p:spPr>
        <p:txBody>
          <a:bodyPr vert="horz" wrap="square" lIns="0" tIns="12065" rIns="0" bIns="0" rtlCol="0">
            <a:spAutoFit/>
          </a:bodyPr>
          <a:lstStyle/>
          <a:p>
            <a:pPr marR="30480" algn="r">
              <a:lnSpc>
                <a:spcPts val="1495"/>
              </a:lnSpc>
              <a:spcBef>
                <a:spcPts val="95"/>
              </a:spcBef>
              <a:tabLst>
                <a:tab pos="2648585" algn="l"/>
              </a:tabLst>
            </a:pPr>
            <a:r>
              <a:rPr sz="1600" dirty="0">
                <a:latin typeface="Cambria Math"/>
                <a:cs typeface="Cambria Math"/>
              </a:rPr>
              <a:t>𝑬𝒅𝒈𝒆 𝑫𝒊𝒓𝒆𝒄𝒕𝒊𝒐𝒏</a:t>
            </a:r>
            <a:r>
              <a:rPr sz="1600" spc="90" dirty="0">
                <a:latin typeface="Cambria Math"/>
                <a:cs typeface="Cambria Math"/>
              </a:rPr>
              <a:t> </a:t>
            </a:r>
            <a:r>
              <a:rPr sz="1600" dirty="0">
                <a:latin typeface="Cambria Math"/>
                <a:cs typeface="Cambria Math"/>
              </a:rPr>
              <a:t>=</a:t>
            </a:r>
            <a:r>
              <a:rPr sz="1600" spc="455" dirty="0">
                <a:latin typeface="Cambria Math"/>
                <a:cs typeface="Cambria Math"/>
              </a:rPr>
              <a:t> </a:t>
            </a:r>
            <a:r>
              <a:rPr sz="1600" dirty="0">
                <a:latin typeface="Cambria Math"/>
                <a:cs typeface="Cambria Math"/>
              </a:rPr>
              <a:t>𝒕𝒂𝒏</a:t>
            </a:r>
            <a:r>
              <a:rPr sz="1725" baseline="28985" dirty="0">
                <a:latin typeface="Cambria Math"/>
                <a:cs typeface="Cambria Math"/>
              </a:rPr>
              <a:t>−𝟏</a:t>
            </a:r>
            <a:r>
              <a:rPr sz="1725" spc="104" baseline="28985" dirty="0">
                <a:latin typeface="Cambria Math"/>
                <a:cs typeface="Cambria Math"/>
              </a:rPr>
              <a:t> </a:t>
            </a:r>
            <a:r>
              <a:rPr sz="1725" u="heavy" baseline="28985" dirty="0">
                <a:uFill>
                  <a:solidFill>
                    <a:srgbClr val="000000"/>
                  </a:solidFill>
                </a:uFill>
                <a:latin typeface="Times New Roman"/>
                <a:cs typeface="Times New Roman"/>
              </a:rPr>
              <a:t>	</a:t>
            </a:r>
            <a:endParaRPr sz="1725" baseline="28985">
              <a:latin typeface="Times New Roman"/>
              <a:cs typeface="Times New Roman"/>
            </a:endParaRPr>
          </a:p>
          <a:p>
            <a:pPr marR="72390" algn="r">
              <a:lnSpc>
                <a:spcPts val="1495"/>
              </a:lnSpc>
            </a:pPr>
            <a:r>
              <a:rPr sz="1600" spc="-25" dirty="0">
                <a:latin typeface="Cambria Math"/>
                <a:cs typeface="Cambria Math"/>
              </a:rPr>
              <a:t>𝒔</a:t>
            </a:r>
            <a:r>
              <a:rPr sz="1725" spc="-37" baseline="-14492" dirty="0">
                <a:latin typeface="Cambria Math"/>
                <a:cs typeface="Cambria Math"/>
              </a:rPr>
              <a:t>𝟏</a:t>
            </a:r>
            <a:endParaRPr sz="1725" baseline="-14492">
              <a:latin typeface="Cambria Math"/>
              <a:cs typeface="Cambria Math"/>
            </a:endParaRPr>
          </a:p>
        </p:txBody>
      </p:sp>
      <p:graphicFrame>
        <p:nvGraphicFramePr>
          <p:cNvPr id="12" name="object 12"/>
          <p:cNvGraphicFramePr>
            <a:graphicFrameLocks noGrp="1"/>
          </p:cNvGraphicFramePr>
          <p:nvPr/>
        </p:nvGraphicFramePr>
        <p:xfrm>
          <a:off x="3642105" y="974344"/>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5</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7</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4</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8</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6</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3" name="object 13"/>
          <p:cNvGraphicFramePr>
            <a:graphicFrameLocks noGrp="1"/>
          </p:cNvGraphicFramePr>
          <p:nvPr/>
        </p:nvGraphicFramePr>
        <p:xfrm>
          <a:off x="454025" y="2376932"/>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50" dirty="0">
                          <a:latin typeface="Times New Roman"/>
                          <a:cs typeface="Times New Roman"/>
                        </a:rPr>
                        <a:t>3</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5</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7</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4</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3</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8</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6</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454025" y="3982846"/>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5"/>
                        </a:spcBef>
                      </a:pPr>
                      <a:r>
                        <a:rPr sz="1800" b="1" spc="-50" dirty="0">
                          <a:latin typeface="Times New Roman"/>
                          <a:cs typeface="Times New Roman"/>
                        </a:rPr>
                        <a:t>3</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5</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7</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4</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3</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9"/>
                        </a:spcBef>
                      </a:pPr>
                      <a:r>
                        <a:rPr sz="1800" b="1" spc="-50" dirty="0">
                          <a:latin typeface="Times New Roman"/>
                          <a:cs typeface="Times New Roman"/>
                        </a:rPr>
                        <a:t>1</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50" dirty="0">
                          <a:latin typeface="Times New Roman"/>
                          <a:cs typeface="Times New Roman"/>
                        </a:rPr>
                        <a:t>8</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1800" b="1" spc="-50" dirty="0">
                          <a:latin typeface="Times New Roman"/>
                          <a:cs typeface="Times New Roman"/>
                        </a:rPr>
                        <a:t>6</a:t>
                      </a:r>
                      <a:endParaRPr sz="1800">
                        <a:latin typeface="Times New Roman"/>
                        <a:cs typeface="Times New Roman"/>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5" name="object 15"/>
          <p:cNvSpPr/>
          <p:nvPr/>
        </p:nvSpPr>
        <p:spPr>
          <a:xfrm>
            <a:off x="3824859" y="5681738"/>
            <a:ext cx="952500" cy="252095"/>
          </a:xfrm>
          <a:custGeom>
            <a:avLst/>
            <a:gdLst/>
            <a:ahLst/>
            <a:cxnLst/>
            <a:rect l="l" t="t" r="r" b="b"/>
            <a:pathLst>
              <a:path w="952500" h="252095">
                <a:moveTo>
                  <a:pt x="154558" y="0"/>
                </a:moveTo>
                <a:lnTo>
                  <a:pt x="126873" y="0"/>
                </a:lnTo>
                <a:lnTo>
                  <a:pt x="66801" y="225158"/>
                </a:lnTo>
                <a:lnTo>
                  <a:pt x="32512" y="148755"/>
                </a:lnTo>
                <a:lnTo>
                  <a:pt x="0" y="163601"/>
                </a:lnTo>
                <a:lnTo>
                  <a:pt x="3175" y="171018"/>
                </a:lnTo>
                <a:lnTo>
                  <a:pt x="19812" y="163601"/>
                </a:lnTo>
                <a:lnTo>
                  <a:pt x="60832" y="251688"/>
                </a:lnTo>
                <a:lnTo>
                  <a:pt x="70357" y="251688"/>
                </a:lnTo>
                <a:lnTo>
                  <a:pt x="134746" y="13169"/>
                </a:lnTo>
                <a:lnTo>
                  <a:pt x="147446" y="13169"/>
                </a:lnTo>
                <a:lnTo>
                  <a:pt x="147446" y="13919"/>
                </a:lnTo>
                <a:lnTo>
                  <a:pt x="952118" y="13919"/>
                </a:lnTo>
                <a:lnTo>
                  <a:pt x="952118" y="203"/>
                </a:lnTo>
                <a:lnTo>
                  <a:pt x="154558" y="203"/>
                </a:lnTo>
                <a:lnTo>
                  <a:pt x="154558" y="0"/>
                </a:lnTo>
                <a:close/>
              </a:path>
            </a:pathLst>
          </a:custGeom>
          <a:solidFill>
            <a:srgbClr val="000000"/>
          </a:solidFill>
        </p:spPr>
        <p:txBody>
          <a:bodyPr wrap="square" lIns="0" tIns="0" rIns="0" bIns="0" rtlCol="0"/>
          <a:lstStyle/>
          <a:p>
            <a:endParaRPr/>
          </a:p>
        </p:txBody>
      </p:sp>
      <p:sp>
        <p:nvSpPr>
          <p:cNvPr id="16" name="object 16"/>
          <p:cNvSpPr txBox="1"/>
          <p:nvPr/>
        </p:nvSpPr>
        <p:spPr>
          <a:xfrm>
            <a:off x="3617976" y="5684011"/>
            <a:ext cx="1202055" cy="269240"/>
          </a:xfrm>
          <a:prstGeom prst="rect">
            <a:avLst/>
          </a:prstGeom>
        </p:spPr>
        <p:txBody>
          <a:bodyPr vert="horz" wrap="square" lIns="0" tIns="12065" rIns="0" bIns="0" rtlCol="0">
            <a:spAutoFit/>
          </a:bodyPr>
          <a:lstStyle/>
          <a:p>
            <a:pPr marL="38100">
              <a:lnSpc>
                <a:spcPct val="100000"/>
              </a:lnSpc>
              <a:spcBef>
                <a:spcPts val="95"/>
              </a:spcBef>
              <a:tabLst>
                <a:tab pos="354965" algn="l"/>
              </a:tabLst>
            </a:pPr>
            <a:r>
              <a:rPr sz="1600" b="1" spc="-50" dirty="0">
                <a:latin typeface="Times New Roman"/>
                <a:cs typeface="Times New Roman"/>
              </a:rPr>
              <a:t>=</a:t>
            </a:r>
            <a:r>
              <a:rPr sz="1600" b="1" dirty="0">
                <a:latin typeface="Times New Roman"/>
                <a:cs typeface="Times New Roman"/>
              </a:rPr>
              <a:t>	</a:t>
            </a:r>
            <a:r>
              <a:rPr sz="1600" dirty="0">
                <a:latin typeface="Cambria Math"/>
                <a:cs typeface="Cambria Math"/>
              </a:rPr>
              <a:t>𝟑</a:t>
            </a:r>
            <a:r>
              <a:rPr sz="1725" baseline="24154" dirty="0">
                <a:latin typeface="Cambria Math"/>
                <a:cs typeface="Cambria Math"/>
              </a:rPr>
              <a:t>𝟐</a:t>
            </a:r>
            <a:r>
              <a:rPr sz="1725" spc="247" baseline="24154" dirty="0">
                <a:latin typeface="Cambria Math"/>
                <a:cs typeface="Cambria Math"/>
              </a:rPr>
              <a:t> </a:t>
            </a:r>
            <a:r>
              <a:rPr sz="1600" dirty="0">
                <a:latin typeface="Cambria Math"/>
                <a:cs typeface="Cambria Math"/>
              </a:rPr>
              <a:t>+</a:t>
            </a:r>
            <a:r>
              <a:rPr sz="1600" spc="15" dirty="0">
                <a:latin typeface="Cambria Math"/>
                <a:cs typeface="Cambria Math"/>
              </a:rPr>
              <a:t> </a:t>
            </a:r>
            <a:r>
              <a:rPr sz="1600" spc="-25" dirty="0">
                <a:latin typeface="Cambria Math"/>
                <a:cs typeface="Cambria Math"/>
              </a:rPr>
              <a:t>𝟏𝟏</a:t>
            </a:r>
            <a:r>
              <a:rPr sz="1725" spc="-37" baseline="24154" dirty="0">
                <a:latin typeface="Cambria Math"/>
                <a:cs typeface="Cambria Math"/>
              </a:rPr>
              <a:t>𝟐</a:t>
            </a:r>
            <a:endParaRPr sz="1725" baseline="24154">
              <a:latin typeface="Cambria Math"/>
              <a:cs typeface="Cambria Math"/>
            </a:endParaRPr>
          </a:p>
        </p:txBody>
      </p:sp>
      <p:sp>
        <p:nvSpPr>
          <p:cNvPr id="17" name="object 17"/>
          <p:cNvSpPr/>
          <p:nvPr/>
        </p:nvSpPr>
        <p:spPr>
          <a:xfrm>
            <a:off x="5326888" y="5744616"/>
            <a:ext cx="861060" cy="195580"/>
          </a:xfrm>
          <a:custGeom>
            <a:avLst/>
            <a:gdLst/>
            <a:ahLst/>
            <a:cxnLst/>
            <a:rect l="l" t="t" r="r" b="b"/>
            <a:pathLst>
              <a:path w="861060" h="195579">
                <a:moveTo>
                  <a:pt x="141477" y="0"/>
                </a:moveTo>
                <a:lnTo>
                  <a:pt x="116332" y="0"/>
                </a:lnTo>
                <a:lnTo>
                  <a:pt x="67437" y="168935"/>
                </a:lnTo>
                <a:lnTo>
                  <a:pt x="32385" y="92138"/>
                </a:lnTo>
                <a:lnTo>
                  <a:pt x="0" y="106984"/>
                </a:lnTo>
                <a:lnTo>
                  <a:pt x="3048" y="114414"/>
                </a:lnTo>
                <a:lnTo>
                  <a:pt x="19812" y="106984"/>
                </a:lnTo>
                <a:lnTo>
                  <a:pt x="60706" y="195072"/>
                </a:lnTo>
                <a:lnTo>
                  <a:pt x="70358" y="195072"/>
                </a:lnTo>
                <a:lnTo>
                  <a:pt x="123571" y="13157"/>
                </a:lnTo>
                <a:lnTo>
                  <a:pt x="129159" y="13157"/>
                </a:lnTo>
                <a:lnTo>
                  <a:pt x="129159" y="14439"/>
                </a:lnTo>
                <a:lnTo>
                  <a:pt x="860678" y="14439"/>
                </a:lnTo>
                <a:lnTo>
                  <a:pt x="860678" y="723"/>
                </a:lnTo>
                <a:lnTo>
                  <a:pt x="141477" y="723"/>
                </a:lnTo>
                <a:lnTo>
                  <a:pt x="141477" y="0"/>
                </a:lnTo>
                <a:close/>
              </a:path>
            </a:pathLst>
          </a:custGeom>
          <a:solidFill>
            <a:srgbClr val="000000"/>
          </a:solidFill>
        </p:spPr>
        <p:txBody>
          <a:bodyPr wrap="square" lIns="0" tIns="0" rIns="0" bIns="0" rtlCol="0"/>
          <a:lstStyle/>
          <a:p>
            <a:endParaRPr/>
          </a:p>
        </p:txBody>
      </p:sp>
      <p:sp>
        <p:nvSpPr>
          <p:cNvPr id="18" name="object 18"/>
          <p:cNvSpPr txBox="1"/>
          <p:nvPr/>
        </p:nvSpPr>
        <p:spPr>
          <a:xfrm>
            <a:off x="5145404" y="5707786"/>
            <a:ext cx="1056005" cy="269240"/>
          </a:xfrm>
          <a:prstGeom prst="rect">
            <a:avLst/>
          </a:prstGeom>
        </p:spPr>
        <p:txBody>
          <a:bodyPr vert="horz" wrap="square" lIns="0" tIns="12065" rIns="0" bIns="0" rtlCol="0">
            <a:spAutoFit/>
          </a:bodyPr>
          <a:lstStyle/>
          <a:p>
            <a:pPr marL="12700">
              <a:lnSpc>
                <a:spcPct val="100000"/>
              </a:lnSpc>
              <a:spcBef>
                <a:spcPts val="95"/>
              </a:spcBef>
              <a:tabLst>
                <a:tab pos="311150" algn="l"/>
              </a:tabLst>
            </a:pPr>
            <a:r>
              <a:rPr sz="1600" b="1" spc="-50" dirty="0">
                <a:latin typeface="Times New Roman"/>
                <a:cs typeface="Times New Roman"/>
              </a:rPr>
              <a:t>=</a:t>
            </a:r>
            <a:r>
              <a:rPr sz="1600" b="1" dirty="0">
                <a:latin typeface="Times New Roman"/>
                <a:cs typeface="Times New Roman"/>
              </a:rPr>
              <a:t>	</a:t>
            </a:r>
            <a:r>
              <a:rPr sz="1600" dirty="0">
                <a:latin typeface="Cambria Math"/>
                <a:cs typeface="Cambria Math"/>
              </a:rPr>
              <a:t>𝟗</a:t>
            </a:r>
            <a:r>
              <a:rPr sz="1600" spc="5" dirty="0">
                <a:latin typeface="Cambria Math"/>
                <a:cs typeface="Cambria Math"/>
              </a:rPr>
              <a:t> </a:t>
            </a:r>
            <a:r>
              <a:rPr sz="1600" dirty="0">
                <a:latin typeface="Cambria Math"/>
                <a:cs typeface="Cambria Math"/>
              </a:rPr>
              <a:t>+</a:t>
            </a:r>
            <a:r>
              <a:rPr sz="1600" spc="-10" dirty="0">
                <a:latin typeface="Cambria Math"/>
                <a:cs typeface="Cambria Math"/>
              </a:rPr>
              <a:t> </a:t>
            </a:r>
            <a:r>
              <a:rPr sz="1600" spc="-25" dirty="0">
                <a:latin typeface="Cambria Math"/>
                <a:cs typeface="Cambria Math"/>
              </a:rPr>
              <a:t>𝟏𝟐𝟏</a:t>
            </a:r>
            <a:endParaRPr sz="1600">
              <a:latin typeface="Cambria Math"/>
              <a:cs typeface="Cambria Math"/>
            </a:endParaRPr>
          </a:p>
        </p:txBody>
      </p:sp>
      <p:sp>
        <p:nvSpPr>
          <p:cNvPr id="19" name="object 19"/>
          <p:cNvSpPr/>
          <p:nvPr/>
        </p:nvSpPr>
        <p:spPr>
          <a:xfrm>
            <a:off x="6676770" y="5730100"/>
            <a:ext cx="496570" cy="195580"/>
          </a:xfrm>
          <a:custGeom>
            <a:avLst/>
            <a:gdLst/>
            <a:ahLst/>
            <a:cxnLst/>
            <a:rect l="l" t="t" r="r" b="b"/>
            <a:pathLst>
              <a:path w="496570" h="195579">
                <a:moveTo>
                  <a:pt x="141477" y="0"/>
                </a:moveTo>
                <a:lnTo>
                  <a:pt x="116331" y="0"/>
                </a:lnTo>
                <a:lnTo>
                  <a:pt x="67436" y="168948"/>
                </a:lnTo>
                <a:lnTo>
                  <a:pt x="32511" y="92138"/>
                </a:lnTo>
                <a:lnTo>
                  <a:pt x="0" y="106984"/>
                </a:lnTo>
                <a:lnTo>
                  <a:pt x="3048" y="114414"/>
                </a:lnTo>
                <a:lnTo>
                  <a:pt x="19811" y="106984"/>
                </a:lnTo>
                <a:lnTo>
                  <a:pt x="60705" y="195072"/>
                </a:lnTo>
                <a:lnTo>
                  <a:pt x="70357" y="195072"/>
                </a:lnTo>
                <a:lnTo>
                  <a:pt x="123571" y="13169"/>
                </a:lnTo>
                <a:lnTo>
                  <a:pt x="129158" y="13169"/>
                </a:lnTo>
                <a:lnTo>
                  <a:pt x="129158" y="14452"/>
                </a:lnTo>
                <a:lnTo>
                  <a:pt x="496443" y="14452"/>
                </a:lnTo>
                <a:lnTo>
                  <a:pt x="496443" y="736"/>
                </a:lnTo>
                <a:lnTo>
                  <a:pt x="141477" y="736"/>
                </a:lnTo>
                <a:lnTo>
                  <a:pt x="141477" y="0"/>
                </a:lnTo>
                <a:close/>
              </a:path>
            </a:pathLst>
          </a:custGeom>
          <a:solidFill>
            <a:srgbClr val="000000"/>
          </a:solidFill>
        </p:spPr>
        <p:txBody>
          <a:bodyPr wrap="square" lIns="0" tIns="0" rIns="0" bIns="0" rtlCol="0"/>
          <a:lstStyle/>
          <a:p>
            <a:endParaRPr/>
          </a:p>
        </p:txBody>
      </p:sp>
      <p:sp>
        <p:nvSpPr>
          <p:cNvPr id="20" name="object 20"/>
          <p:cNvSpPr txBox="1"/>
          <p:nvPr/>
        </p:nvSpPr>
        <p:spPr>
          <a:xfrm>
            <a:off x="6495669" y="5701080"/>
            <a:ext cx="1386205" cy="269240"/>
          </a:xfrm>
          <a:prstGeom prst="rect">
            <a:avLst/>
          </a:prstGeom>
        </p:spPr>
        <p:txBody>
          <a:bodyPr vert="horz" wrap="square" lIns="0" tIns="12065" rIns="0" bIns="0" rtlCol="0">
            <a:spAutoFit/>
          </a:bodyPr>
          <a:lstStyle/>
          <a:p>
            <a:pPr marL="12700">
              <a:lnSpc>
                <a:spcPct val="100000"/>
              </a:lnSpc>
              <a:spcBef>
                <a:spcPts val="95"/>
              </a:spcBef>
              <a:tabLst>
                <a:tab pos="311150" algn="l"/>
                <a:tab pos="861694" algn="l"/>
              </a:tabLst>
            </a:pPr>
            <a:r>
              <a:rPr sz="2400" b="1" spc="-75" baseline="1736" dirty="0">
                <a:latin typeface="Times New Roman"/>
                <a:cs typeface="Times New Roman"/>
              </a:rPr>
              <a:t>=</a:t>
            </a:r>
            <a:r>
              <a:rPr sz="2400" b="1" baseline="1736" dirty="0">
                <a:latin typeface="Times New Roman"/>
                <a:cs typeface="Times New Roman"/>
              </a:rPr>
              <a:t>	</a:t>
            </a:r>
            <a:r>
              <a:rPr sz="2400" spc="-37" baseline="1736" dirty="0">
                <a:latin typeface="Cambria Math"/>
                <a:cs typeface="Cambria Math"/>
              </a:rPr>
              <a:t>𝟏𝟑𝟎</a:t>
            </a:r>
            <a:r>
              <a:rPr sz="2400" baseline="1736" dirty="0">
                <a:latin typeface="Cambria Math"/>
                <a:cs typeface="Cambria Math"/>
              </a:rPr>
              <a:t>	</a:t>
            </a:r>
            <a:r>
              <a:rPr sz="1600" b="1" dirty="0">
                <a:latin typeface="Times New Roman"/>
                <a:cs typeface="Times New Roman"/>
              </a:rPr>
              <a:t>=</a:t>
            </a:r>
            <a:r>
              <a:rPr sz="1600" b="1" spc="-15" dirty="0">
                <a:latin typeface="Times New Roman"/>
                <a:cs typeface="Times New Roman"/>
              </a:rPr>
              <a:t> </a:t>
            </a:r>
            <a:r>
              <a:rPr sz="1600" b="1" spc="-20" dirty="0">
                <a:solidFill>
                  <a:srgbClr val="FF0000"/>
                </a:solidFill>
                <a:latin typeface="Times New Roman"/>
                <a:cs typeface="Times New Roman"/>
              </a:rPr>
              <a:t>11.4</a:t>
            </a:r>
            <a:endParaRPr sz="1600">
              <a:latin typeface="Times New Roman"/>
              <a:cs typeface="Times New Roman"/>
            </a:endParaRPr>
          </a:p>
        </p:txBody>
      </p:sp>
      <p:graphicFrame>
        <p:nvGraphicFramePr>
          <p:cNvPr id="21" name="object 21"/>
          <p:cNvGraphicFramePr>
            <a:graphicFrameLocks noGrp="1"/>
          </p:cNvGraphicFramePr>
          <p:nvPr/>
        </p:nvGraphicFramePr>
        <p:xfrm>
          <a:off x="5798439" y="961644"/>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5</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7</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540" algn="ctr">
                        <a:lnSpc>
                          <a:spcPct val="100000"/>
                        </a:lnSpc>
                        <a:spcBef>
                          <a:spcPts val="300"/>
                        </a:spcBef>
                      </a:pPr>
                      <a:r>
                        <a:rPr sz="1800" b="1" spc="-25" dirty="0">
                          <a:solidFill>
                            <a:srgbClr val="FF0000"/>
                          </a:solidFill>
                          <a:latin typeface="Times New Roman"/>
                          <a:cs typeface="Times New Roman"/>
                        </a:rPr>
                        <a:t>11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b="1" spc="-50" dirty="0">
                          <a:latin typeface="Times New Roman"/>
                          <a:cs typeface="Times New Roman"/>
                        </a:rPr>
                        <a:t>3</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8</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6</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22" name="object 22"/>
          <p:cNvGrpSpPr/>
          <p:nvPr/>
        </p:nvGrpSpPr>
        <p:grpSpPr>
          <a:xfrm>
            <a:off x="5250941" y="1400047"/>
            <a:ext cx="457834" cy="241935"/>
            <a:chOff x="5250941" y="1400047"/>
            <a:chExt cx="457834" cy="241935"/>
          </a:xfrm>
        </p:grpSpPr>
        <p:sp>
          <p:nvSpPr>
            <p:cNvPr id="23" name="object 23"/>
            <p:cNvSpPr/>
            <p:nvPr/>
          </p:nvSpPr>
          <p:spPr>
            <a:xfrm>
              <a:off x="5263641" y="1412747"/>
              <a:ext cx="432434" cy="216535"/>
            </a:xfrm>
            <a:custGeom>
              <a:avLst/>
              <a:gdLst/>
              <a:ahLst/>
              <a:cxnLst/>
              <a:rect l="l" t="t" r="r" b="b"/>
              <a:pathLst>
                <a:path w="432435" h="216535">
                  <a:moveTo>
                    <a:pt x="323977" y="0"/>
                  </a:moveTo>
                  <a:lnTo>
                    <a:pt x="323977" y="53975"/>
                  </a:lnTo>
                  <a:lnTo>
                    <a:pt x="0" y="53975"/>
                  </a:lnTo>
                  <a:lnTo>
                    <a:pt x="0" y="162051"/>
                  </a:lnTo>
                  <a:lnTo>
                    <a:pt x="323977" y="162051"/>
                  </a:lnTo>
                  <a:lnTo>
                    <a:pt x="323977" y="216026"/>
                  </a:lnTo>
                  <a:lnTo>
                    <a:pt x="432054" y="108076"/>
                  </a:lnTo>
                  <a:lnTo>
                    <a:pt x="323977" y="0"/>
                  </a:lnTo>
                  <a:close/>
                </a:path>
              </a:pathLst>
            </a:custGeom>
            <a:solidFill>
              <a:srgbClr val="C0504D"/>
            </a:solidFill>
          </p:spPr>
          <p:txBody>
            <a:bodyPr wrap="square" lIns="0" tIns="0" rIns="0" bIns="0" rtlCol="0"/>
            <a:lstStyle/>
            <a:p>
              <a:endParaRPr/>
            </a:p>
          </p:txBody>
        </p:sp>
        <p:sp>
          <p:nvSpPr>
            <p:cNvPr id="24" name="object 24"/>
            <p:cNvSpPr/>
            <p:nvPr/>
          </p:nvSpPr>
          <p:spPr>
            <a:xfrm>
              <a:off x="5263641" y="1412747"/>
              <a:ext cx="432434" cy="216535"/>
            </a:xfrm>
            <a:custGeom>
              <a:avLst/>
              <a:gdLst/>
              <a:ahLst/>
              <a:cxnLst/>
              <a:rect l="l" t="t" r="r" b="b"/>
              <a:pathLst>
                <a:path w="432435" h="216535">
                  <a:moveTo>
                    <a:pt x="0" y="53975"/>
                  </a:moveTo>
                  <a:lnTo>
                    <a:pt x="323977" y="53975"/>
                  </a:lnTo>
                  <a:lnTo>
                    <a:pt x="323977" y="0"/>
                  </a:lnTo>
                  <a:lnTo>
                    <a:pt x="432054" y="108076"/>
                  </a:lnTo>
                  <a:lnTo>
                    <a:pt x="323977" y="216026"/>
                  </a:lnTo>
                  <a:lnTo>
                    <a:pt x="323977" y="162051"/>
                  </a:lnTo>
                  <a:lnTo>
                    <a:pt x="0" y="162051"/>
                  </a:lnTo>
                  <a:lnTo>
                    <a:pt x="0" y="53975"/>
                  </a:lnTo>
                  <a:close/>
                </a:path>
              </a:pathLst>
            </a:custGeom>
            <a:ln w="25400">
              <a:solidFill>
                <a:srgbClr val="8B3836"/>
              </a:solidFill>
            </a:ln>
          </p:spPr>
          <p:txBody>
            <a:bodyPr wrap="square" lIns="0" tIns="0" rIns="0" bIns="0" rtlCol="0"/>
            <a:lstStyle/>
            <a:p>
              <a:endParaRPr/>
            </a:p>
          </p:txBody>
        </p:sp>
      </p:grpSp>
      <p:sp>
        <p:nvSpPr>
          <p:cNvPr id="25" name="object 25"/>
          <p:cNvSpPr txBox="1"/>
          <p:nvPr/>
        </p:nvSpPr>
        <p:spPr>
          <a:xfrm>
            <a:off x="3675379" y="6208877"/>
            <a:ext cx="647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100" dirty="0">
                <a:latin typeface="Cambria Math"/>
                <a:cs typeface="Cambria Math"/>
              </a:rPr>
              <a:t> </a:t>
            </a:r>
            <a:r>
              <a:rPr sz="1800" spc="-25" dirty="0">
                <a:latin typeface="Cambria Math"/>
                <a:cs typeface="Cambria Math"/>
              </a:rPr>
              <a:t>𝒕𝒂𝒏</a:t>
            </a:r>
            <a:endParaRPr sz="1800">
              <a:latin typeface="Cambria Math"/>
              <a:cs typeface="Cambria Math"/>
            </a:endParaRPr>
          </a:p>
        </p:txBody>
      </p:sp>
      <p:sp>
        <p:nvSpPr>
          <p:cNvPr id="26" name="object 26"/>
          <p:cNvSpPr txBox="1"/>
          <p:nvPr/>
        </p:nvSpPr>
        <p:spPr>
          <a:xfrm>
            <a:off x="4271771" y="6035141"/>
            <a:ext cx="617220" cy="299720"/>
          </a:xfrm>
          <a:prstGeom prst="rect">
            <a:avLst/>
          </a:prstGeom>
        </p:spPr>
        <p:txBody>
          <a:bodyPr vert="horz" wrap="square" lIns="0" tIns="12700" rIns="0" bIns="0" rtlCol="0">
            <a:spAutoFit/>
          </a:bodyPr>
          <a:lstStyle/>
          <a:p>
            <a:pPr marL="38100">
              <a:lnSpc>
                <a:spcPct val="100000"/>
              </a:lnSpc>
              <a:spcBef>
                <a:spcPts val="100"/>
              </a:spcBef>
            </a:pPr>
            <a:r>
              <a:rPr sz="1950" baseline="-29914" dirty="0">
                <a:latin typeface="Cambria Math"/>
                <a:cs typeface="Cambria Math"/>
              </a:rPr>
              <a:t>−𝟏</a:t>
            </a:r>
            <a:r>
              <a:rPr sz="1950" spc="67" baseline="-29914" dirty="0">
                <a:latin typeface="Cambria Math"/>
                <a:cs typeface="Cambria Math"/>
              </a:rPr>
              <a:t> </a:t>
            </a:r>
            <a:r>
              <a:rPr sz="1800" spc="-25" dirty="0">
                <a:latin typeface="Cambria Math"/>
                <a:cs typeface="Cambria Math"/>
              </a:rPr>
              <a:t>𝟏𝟏</a:t>
            </a:r>
            <a:endParaRPr sz="1800">
              <a:latin typeface="Cambria Math"/>
              <a:cs typeface="Cambria Math"/>
            </a:endParaRPr>
          </a:p>
        </p:txBody>
      </p:sp>
      <p:sp>
        <p:nvSpPr>
          <p:cNvPr id="27" name="object 27"/>
          <p:cNvSpPr txBox="1"/>
          <p:nvPr/>
        </p:nvSpPr>
        <p:spPr>
          <a:xfrm>
            <a:off x="4630928" y="6361277"/>
            <a:ext cx="16256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mbria Math"/>
                <a:cs typeface="Cambria Math"/>
              </a:rPr>
              <a:t>𝟑</a:t>
            </a:r>
            <a:endParaRPr sz="1800">
              <a:latin typeface="Cambria Math"/>
              <a:cs typeface="Cambria Math"/>
            </a:endParaRPr>
          </a:p>
        </p:txBody>
      </p:sp>
      <p:sp>
        <p:nvSpPr>
          <p:cNvPr id="28" name="object 28"/>
          <p:cNvSpPr/>
          <p:nvPr/>
        </p:nvSpPr>
        <p:spPr>
          <a:xfrm>
            <a:off x="4575809" y="6375653"/>
            <a:ext cx="273050" cy="15240"/>
          </a:xfrm>
          <a:custGeom>
            <a:avLst/>
            <a:gdLst/>
            <a:ahLst/>
            <a:cxnLst/>
            <a:rect l="l" t="t" r="r" b="b"/>
            <a:pathLst>
              <a:path w="273050" h="15239">
                <a:moveTo>
                  <a:pt x="272796" y="0"/>
                </a:moveTo>
                <a:lnTo>
                  <a:pt x="0" y="0"/>
                </a:lnTo>
                <a:lnTo>
                  <a:pt x="0" y="15240"/>
                </a:lnTo>
                <a:lnTo>
                  <a:pt x="272796" y="15240"/>
                </a:lnTo>
                <a:lnTo>
                  <a:pt x="272796" y="0"/>
                </a:lnTo>
                <a:close/>
              </a:path>
            </a:pathLst>
          </a:custGeom>
          <a:solidFill>
            <a:srgbClr val="000000"/>
          </a:solidFill>
        </p:spPr>
        <p:txBody>
          <a:bodyPr wrap="square" lIns="0" tIns="0" rIns="0" bIns="0" rtlCol="0"/>
          <a:lstStyle/>
          <a:p>
            <a:endParaRPr/>
          </a:p>
        </p:txBody>
      </p:sp>
      <p:sp>
        <p:nvSpPr>
          <p:cNvPr id="29" name="object 29"/>
          <p:cNvSpPr txBox="1"/>
          <p:nvPr/>
        </p:nvSpPr>
        <p:spPr>
          <a:xfrm>
            <a:off x="5138039" y="6091834"/>
            <a:ext cx="1476375" cy="299720"/>
          </a:xfrm>
          <a:prstGeom prst="rect">
            <a:avLst/>
          </a:prstGeom>
        </p:spPr>
        <p:txBody>
          <a:bodyPr vert="horz" wrap="square" lIns="0" tIns="12700" rIns="0" bIns="0" rtlCol="0">
            <a:spAutoFit/>
          </a:bodyPr>
          <a:lstStyle/>
          <a:p>
            <a:pPr marL="38100">
              <a:lnSpc>
                <a:spcPct val="100000"/>
              </a:lnSpc>
              <a:spcBef>
                <a:spcPts val="100"/>
              </a:spcBef>
            </a:pPr>
            <a:r>
              <a:rPr sz="1800" dirty="0">
                <a:latin typeface="Cambria Math"/>
                <a:cs typeface="Cambria Math"/>
              </a:rPr>
              <a:t>=</a:t>
            </a:r>
            <a:r>
              <a:rPr sz="1800" spc="110" dirty="0">
                <a:latin typeface="Cambria Math"/>
                <a:cs typeface="Cambria Math"/>
              </a:rPr>
              <a:t> </a:t>
            </a:r>
            <a:r>
              <a:rPr sz="1800" dirty="0">
                <a:latin typeface="Cambria Math"/>
                <a:cs typeface="Cambria Math"/>
              </a:rPr>
              <a:t>𝒕𝒂𝒏</a:t>
            </a:r>
            <a:r>
              <a:rPr sz="1950" baseline="27777" dirty="0">
                <a:latin typeface="Cambria Math"/>
                <a:cs typeface="Cambria Math"/>
              </a:rPr>
              <a:t>−𝟏</a:t>
            </a:r>
            <a:r>
              <a:rPr sz="1800" dirty="0">
                <a:latin typeface="Cambria Math"/>
                <a:cs typeface="Cambria Math"/>
              </a:rPr>
              <a:t>(𝟑.</a:t>
            </a:r>
            <a:r>
              <a:rPr sz="1800" spc="-95" dirty="0">
                <a:latin typeface="Cambria Math"/>
                <a:cs typeface="Cambria Math"/>
              </a:rPr>
              <a:t> </a:t>
            </a:r>
            <a:r>
              <a:rPr sz="1800" spc="-25" dirty="0">
                <a:latin typeface="Cambria Math"/>
                <a:cs typeface="Cambria Math"/>
              </a:rPr>
              <a:t>𝟔)</a:t>
            </a:r>
            <a:endParaRPr sz="1800">
              <a:latin typeface="Cambria Math"/>
              <a:cs typeface="Cambria Math"/>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B07F-D56F-4F80-AF4E-E735C7A7CD96}"/>
              </a:ext>
            </a:extLst>
          </p:cNvPr>
          <p:cNvSpPr>
            <a:spLocks noGrp="1"/>
          </p:cNvSpPr>
          <p:nvPr>
            <p:ph type="title"/>
          </p:nvPr>
        </p:nvSpPr>
        <p:spPr>
          <a:xfrm>
            <a:off x="386892" y="326516"/>
            <a:ext cx="7537908" cy="307777"/>
          </a:xfrm>
        </p:spPr>
        <p:txBody>
          <a:bodyPr/>
          <a:lstStyle/>
          <a:p>
            <a:r>
              <a:rPr lang="en-US" dirty="0"/>
              <a:t>Prewitt Operator – Spatial Domain Filtering</a:t>
            </a:r>
          </a:p>
        </p:txBody>
      </p:sp>
      <p:sp>
        <p:nvSpPr>
          <p:cNvPr id="3" name="Text Placeholder 2">
            <a:extLst>
              <a:ext uri="{FF2B5EF4-FFF2-40B4-BE49-F238E27FC236}">
                <a16:creationId xmlns:a16="http://schemas.microsoft.com/office/drawing/2014/main" id="{837A9CB3-DBB8-4464-8BB1-BA025897A6B4}"/>
              </a:ext>
            </a:extLst>
          </p:cNvPr>
          <p:cNvSpPr>
            <a:spLocks noGrp="1"/>
          </p:cNvSpPr>
          <p:nvPr>
            <p:ph type="body" idx="1"/>
          </p:nvPr>
        </p:nvSpPr>
        <p:spPr>
          <a:xfrm>
            <a:off x="386892" y="990600"/>
            <a:ext cx="8140700" cy="3077766"/>
          </a:xfrm>
        </p:spPr>
        <p:txBody>
          <a:bodyPr/>
          <a:lstStyle/>
          <a:p>
            <a:r>
              <a:rPr lang="en-US" b="0" dirty="0"/>
              <a:t>The Prewitt operator is similar to the Sobel operator but uses uniform weights (no 2 in the center row/column).</a:t>
            </a:r>
            <a:br>
              <a:rPr lang="en-US" b="0" dirty="0"/>
            </a:br>
            <a:r>
              <a:rPr lang="en-US" b="0" dirty="0"/>
              <a:t>It computes the gradient in the x and y directions.</a:t>
            </a:r>
          </a:p>
          <a:p>
            <a:endParaRPr lang="en-US" dirty="0"/>
          </a:p>
          <a:p>
            <a:r>
              <a:rPr lang="en-US" dirty="0"/>
              <a:t>Prewitt Mask in X-direction (</a:t>
            </a:r>
            <a:r>
              <a:rPr lang="en-US" dirty="0" err="1"/>
              <a:t>Gx</a:t>
            </a:r>
            <a:r>
              <a:rPr lang="en-US" dirty="0"/>
              <a:t>)     Prewitt Mask in Y-direction (</a:t>
            </a:r>
            <a:r>
              <a:rPr lang="en-US" dirty="0" err="1"/>
              <a:t>Gy</a:t>
            </a:r>
            <a:r>
              <a:rPr lang="en-US" dirty="0"/>
              <a:t>)</a:t>
            </a:r>
          </a:p>
          <a:p>
            <a:r>
              <a:rPr lang="en-US" b="0" dirty="0"/>
              <a:t>Detects horizontal edges:                     </a:t>
            </a:r>
            <a:r>
              <a:rPr lang="en-US" dirty="0"/>
              <a:t>Detects vertical edges:  </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011B9CF3-D453-4F37-9B64-8B31B9832A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60" y="2891124"/>
            <a:ext cx="2261212" cy="1533549"/>
          </a:xfrm>
          <a:prstGeom prst="rect">
            <a:avLst/>
          </a:prstGeom>
        </p:spPr>
      </p:pic>
      <p:pic>
        <p:nvPicPr>
          <p:cNvPr id="7" name="Picture 6">
            <a:extLst>
              <a:ext uri="{FF2B5EF4-FFF2-40B4-BE49-F238E27FC236}">
                <a16:creationId xmlns:a16="http://schemas.microsoft.com/office/drawing/2014/main" id="{ECAC4695-E15C-4268-8DEB-377735819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6247" y="2827771"/>
            <a:ext cx="2864341" cy="1660254"/>
          </a:xfrm>
          <a:prstGeom prst="rect">
            <a:avLst/>
          </a:prstGeom>
        </p:spPr>
      </p:pic>
      <p:sp>
        <p:nvSpPr>
          <p:cNvPr id="16" name="Rectangle 15">
            <a:extLst>
              <a:ext uri="{FF2B5EF4-FFF2-40B4-BE49-F238E27FC236}">
                <a16:creationId xmlns:a16="http://schemas.microsoft.com/office/drawing/2014/main" id="{730E69CC-6300-466B-95B2-B6BDF8883A7B}"/>
              </a:ext>
            </a:extLst>
          </p:cNvPr>
          <p:cNvSpPr/>
          <p:nvPr/>
        </p:nvSpPr>
        <p:spPr>
          <a:xfrm>
            <a:off x="595860" y="4546833"/>
            <a:ext cx="8140700" cy="1200329"/>
          </a:xfrm>
          <a:prstGeom prst="rect">
            <a:avLst/>
          </a:prstGeom>
        </p:spPr>
        <p:txBody>
          <a:bodyPr wrap="square">
            <a:spAutoFit/>
          </a:bodyPr>
          <a:lstStyle/>
          <a:p>
            <a:pPr marL="12700" marR="6985">
              <a:lnSpc>
                <a:spcPct val="100000"/>
              </a:lnSpc>
              <a:spcBef>
                <a:spcPts val="105"/>
              </a:spcBef>
            </a:pPr>
            <a:r>
              <a:rPr lang="en-US" dirty="0"/>
              <a:t>These</a:t>
            </a:r>
            <a:r>
              <a:rPr lang="en-US" spc="70" dirty="0"/>
              <a:t> </a:t>
            </a:r>
            <a:r>
              <a:rPr lang="en-US" dirty="0"/>
              <a:t>masks</a:t>
            </a:r>
            <a:r>
              <a:rPr lang="en-US" spc="55" dirty="0"/>
              <a:t> </a:t>
            </a:r>
            <a:r>
              <a:rPr lang="en-US" dirty="0"/>
              <a:t>are</a:t>
            </a:r>
            <a:r>
              <a:rPr lang="en-US" spc="75" dirty="0"/>
              <a:t> </a:t>
            </a:r>
            <a:r>
              <a:rPr lang="en-US" dirty="0"/>
              <a:t>each</a:t>
            </a:r>
            <a:r>
              <a:rPr lang="en-US" spc="70" dirty="0"/>
              <a:t> </a:t>
            </a:r>
            <a:r>
              <a:rPr lang="en-US" dirty="0"/>
              <a:t>convolved</a:t>
            </a:r>
            <a:r>
              <a:rPr lang="en-US" spc="85" dirty="0"/>
              <a:t> </a:t>
            </a:r>
            <a:r>
              <a:rPr lang="en-US" dirty="0"/>
              <a:t>with</a:t>
            </a:r>
            <a:r>
              <a:rPr lang="en-US" spc="70" dirty="0"/>
              <a:t> </a:t>
            </a:r>
            <a:r>
              <a:rPr lang="en-US" dirty="0"/>
              <a:t>the</a:t>
            </a:r>
            <a:r>
              <a:rPr lang="en-US" spc="65" dirty="0"/>
              <a:t> </a:t>
            </a:r>
            <a:r>
              <a:rPr lang="en-US" dirty="0"/>
              <a:t>image.</a:t>
            </a:r>
            <a:r>
              <a:rPr lang="en-US" spc="80" dirty="0"/>
              <a:t> </a:t>
            </a:r>
            <a:r>
              <a:rPr lang="en-US" dirty="0"/>
              <a:t>At</a:t>
            </a:r>
            <a:r>
              <a:rPr lang="en-US" spc="70" dirty="0"/>
              <a:t> </a:t>
            </a:r>
            <a:r>
              <a:rPr lang="en-US" dirty="0"/>
              <a:t>each</a:t>
            </a:r>
            <a:r>
              <a:rPr lang="en-US" spc="80" dirty="0"/>
              <a:t> </a:t>
            </a:r>
            <a:r>
              <a:rPr lang="en-US" dirty="0"/>
              <a:t>pixel</a:t>
            </a:r>
            <a:r>
              <a:rPr lang="en-US" spc="65" dirty="0"/>
              <a:t> </a:t>
            </a:r>
            <a:r>
              <a:rPr lang="en-US" dirty="0"/>
              <a:t>location</a:t>
            </a:r>
            <a:r>
              <a:rPr lang="en-US" spc="80" dirty="0"/>
              <a:t> </a:t>
            </a:r>
            <a:r>
              <a:rPr lang="en-US" spc="-25" dirty="0"/>
              <a:t>we </a:t>
            </a:r>
            <a:r>
              <a:rPr lang="en-US" dirty="0"/>
              <a:t>now</a:t>
            </a:r>
            <a:r>
              <a:rPr lang="en-US" spc="-10" dirty="0"/>
              <a:t> </a:t>
            </a:r>
            <a:r>
              <a:rPr lang="en-US" dirty="0"/>
              <a:t>have</a:t>
            </a:r>
            <a:r>
              <a:rPr lang="en-US" spc="-15" dirty="0"/>
              <a:t> </a:t>
            </a:r>
            <a:r>
              <a:rPr lang="en-US" dirty="0"/>
              <a:t>two</a:t>
            </a:r>
            <a:r>
              <a:rPr lang="en-US" spc="-5" dirty="0"/>
              <a:t> </a:t>
            </a:r>
            <a:r>
              <a:rPr lang="en-US" spc="-10" dirty="0"/>
              <a:t>numbers:</a:t>
            </a:r>
          </a:p>
          <a:p>
            <a:pPr marL="354965" indent="-342265">
              <a:lnSpc>
                <a:spcPct val="100000"/>
              </a:lnSpc>
              <a:buClr>
                <a:srgbClr val="C00000"/>
              </a:buClr>
              <a:buFont typeface="Wingdings"/>
              <a:buChar char=""/>
              <a:tabLst>
                <a:tab pos="354965" algn="l"/>
              </a:tabLst>
            </a:pPr>
            <a:r>
              <a:rPr lang="en-US" dirty="0">
                <a:solidFill>
                  <a:srgbClr val="FF0000"/>
                </a:solidFill>
              </a:rPr>
              <a:t>P1</a:t>
            </a:r>
            <a:r>
              <a:rPr lang="en-US" dirty="0"/>
              <a:t>,</a:t>
            </a:r>
            <a:r>
              <a:rPr lang="en-US" spc="-40" dirty="0"/>
              <a:t> </a:t>
            </a:r>
            <a:r>
              <a:rPr lang="en-US" dirty="0"/>
              <a:t>corresponding</a:t>
            </a:r>
            <a:r>
              <a:rPr lang="en-US" spc="-55" dirty="0"/>
              <a:t> </a:t>
            </a:r>
            <a:r>
              <a:rPr lang="en-US" dirty="0"/>
              <a:t>to</a:t>
            </a:r>
            <a:r>
              <a:rPr lang="en-US" spc="-35" dirty="0"/>
              <a:t> </a:t>
            </a:r>
            <a:r>
              <a:rPr lang="en-US" dirty="0"/>
              <a:t>the</a:t>
            </a:r>
            <a:r>
              <a:rPr lang="en-US" spc="-20" dirty="0"/>
              <a:t> </a:t>
            </a:r>
            <a:r>
              <a:rPr lang="en-US" dirty="0">
                <a:solidFill>
                  <a:srgbClr val="006FC0"/>
                </a:solidFill>
              </a:rPr>
              <a:t>result</a:t>
            </a:r>
            <a:r>
              <a:rPr lang="en-US" spc="-40" dirty="0">
                <a:solidFill>
                  <a:srgbClr val="006FC0"/>
                </a:solidFill>
              </a:rPr>
              <a:t> </a:t>
            </a:r>
            <a:r>
              <a:rPr lang="en-US" dirty="0">
                <a:solidFill>
                  <a:srgbClr val="006FC0"/>
                </a:solidFill>
              </a:rPr>
              <a:t>form</a:t>
            </a:r>
            <a:r>
              <a:rPr lang="en-US" spc="-40" dirty="0">
                <a:solidFill>
                  <a:srgbClr val="006FC0"/>
                </a:solidFill>
              </a:rPr>
              <a:t> </a:t>
            </a:r>
            <a:r>
              <a:rPr lang="en-US" dirty="0"/>
              <a:t>the</a:t>
            </a:r>
            <a:r>
              <a:rPr lang="en-US" spc="-35" dirty="0"/>
              <a:t> </a:t>
            </a:r>
            <a:r>
              <a:rPr lang="en-US" dirty="0">
                <a:solidFill>
                  <a:srgbClr val="FF0000"/>
                </a:solidFill>
              </a:rPr>
              <a:t>row</a:t>
            </a:r>
            <a:r>
              <a:rPr lang="en-US" spc="-20" dirty="0">
                <a:solidFill>
                  <a:srgbClr val="FF0000"/>
                </a:solidFill>
              </a:rPr>
              <a:t> </a:t>
            </a:r>
            <a:r>
              <a:rPr lang="en-US" spc="-10" dirty="0">
                <a:solidFill>
                  <a:srgbClr val="FF0000"/>
                </a:solidFill>
              </a:rPr>
              <a:t>mask</a:t>
            </a:r>
            <a:r>
              <a:rPr lang="en-US" spc="-10" dirty="0"/>
              <a:t>.</a:t>
            </a:r>
          </a:p>
          <a:p>
            <a:pPr marL="354965" indent="-342265">
              <a:lnSpc>
                <a:spcPct val="100000"/>
              </a:lnSpc>
              <a:buClr>
                <a:srgbClr val="C00000"/>
              </a:buClr>
              <a:buFont typeface="Wingdings"/>
              <a:buChar char=""/>
              <a:tabLst>
                <a:tab pos="354965" algn="l"/>
              </a:tabLst>
            </a:pPr>
            <a:r>
              <a:rPr lang="en-US" dirty="0">
                <a:solidFill>
                  <a:srgbClr val="FF0000"/>
                </a:solidFill>
              </a:rPr>
              <a:t>P2</a:t>
            </a:r>
            <a:r>
              <a:rPr lang="en-US" dirty="0"/>
              <a:t>,</a:t>
            </a:r>
            <a:r>
              <a:rPr lang="en-US" spc="-35" dirty="0"/>
              <a:t> </a:t>
            </a:r>
            <a:r>
              <a:rPr lang="en-US" dirty="0"/>
              <a:t>corresponding</a:t>
            </a:r>
            <a:r>
              <a:rPr lang="en-US" spc="-50" dirty="0"/>
              <a:t> </a:t>
            </a:r>
            <a:r>
              <a:rPr lang="en-US" dirty="0"/>
              <a:t>to</a:t>
            </a:r>
            <a:r>
              <a:rPr lang="en-US" spc="-30" dirty="0"/>
              <a:t> </a:t>
            </a:r>
            <a:r>
              <a:rPr lang="en-US" dirty="0"/>
              <a:t>the</a:t>
            </a:r>
            <a:r>
              <a:rPr lang="en-US" spc="-20" dirty="0"/>
              <a:t> </a:t>
            </a:r>
            <a:r>
              <a:rPr lang="en-US" dirty="0">
                <a:solidFill>
                  <a:srgbClr val="006FC0"/>
                </a:solidFill>
              </a:rPr>
              <a:t>result</a:t>
            </a:r>
            <a:r>
              <a:rPr lang="en-US" spc="-35" dirty="0">
                <a:solidFill>
                  <a:srgbClr val="006FC0"/>
                </a:solidFill>
              </a:rPr>
              <a:t> </a:t>
            </a:r>
            <a:r>
              <a:rPr lang="en-US" dirty="0">
                <a:solidFill>
                  <a:srgbClr val="006FC0"/>
                </a:solidFill>
              </a:rPr>
              <a:t>from</a:t>
            </a:r>
            <a:r>
              <a:rPr lang="en-US" spc="-30" dirty="0">
                <a:solidFill>
                  <a:srgbClr val="006FC0"/>
                </a:solidFill>
              </a:rPr>
              <a:t> </a:t>
            </a:r>
            <a:r>
              <a:rPr lang="en-US" dirty="0"/>
              <a:t>the</a:t>
            </a:r>
            <a:r>
              <a:rPr lang="en-US" spc="-35" dirty="0"/>
              <a:t> </a:t>
            </a:r>
            <a:r>
              <a:rPr lang="en-US" dirty="0">
                <a:solidFill>
                  <a:srgbClr val="FF0000"/>
                </a:solidFill>
              </a:rPr>
              <a:t>column</a:t>
            </a:r>
            <a:r>
              <a:rPr lang="en-US" spc="-30" dirty="0">
                <a:solidFill>
                  <a:srgbClr val="FF0000"/>
                </a:solidFill>
              </a:rPr>
              <a:t> </a:t>
            </a:r>
            <a:r>
              <a:rPr lang="en-US" spc="-10" dirty="0">
                <a:solidFill>
                  <a:srgbClr val="FF0000"/>
                </a:solidFill>
              </a:rPr>
              <a:t>mask</a:t>
            </a:r>
            <a:r>
              <a:rPr lang="en-US" spc="-10" dirty="0"/>
              <a:t>.</a:t>
            </a:r>
          </a:p>
        </p:txBody>
      </p:sp>
    </p:spTree>
    <p:extLst>
      <p:ext uri="{BB962C8B-B14F-4D97-AF65-F5344CB8AC3E}">
        <p14:creationId xmlns:p14="http://schemas.microsoft.com/office/powerpoint/2010/main" val="4199439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FDEE-DB0F-4139-BB53-2C7F09F6CA8C}"/>
              </a:ext>
            </a:extLst>
          </p:cNvPr>
          <p:cNvSpPr>
            <a:spLocks noGrp="1"/>
          </p:cNvSpPr>
          <p:nvPr>
            <p:ph type="title"/>
          </p:nvPr>
        </p:nvSpPr>
        <p:spPr>
          <a:xfrm>
            <a:off x="386892" y="326516"/>
            <a:ext cx="6242508" cy="307777"/>
          </a:xfrm>
        </p:spPr>
        <p:txBody>
          <a:bodyPr/>
          <a:lstStyle/>
          <a:p>
            <a:r>
              <a:rPr lang="en-US" dirty="0"/>
              <a:t>Prewitt Operator – Spatial Domain Filtering</a:t>
            </a:r>
          </a:p>
        </p:txBody>
      </p:sp>
      <p:sp>
        <p:nvSpPr>
          <p:cNvPr id="3" name="Text Placeholder 2">
            <a:extLst>
              <a:ext uri="{FF2B5EF4-FFF2-40B4-BE49-F238E27FC236}">
                <a16:creationId xmlns:a16="http://schemas.microsoft.com/office/drawing/2014/main" id="{3439D20C-853E-489C-A9D4-3669A13DA6E1}"/>
              </a:ext>
            </a:extLst>
          </p:cNvPr>
          <p:cNvSpPr>
            <a:spLocks noGrp="1"/>
          </p:cNvSpPr>
          <p:nvPr>
            <p:ph type="body" idx="1"/>
          </p:nvPr>
        </p:nvSpPr>
        <p:spPr>
          <a:xfrm>
            <a:off x="609600" y="2499220"/>
            <a:ext cx="8140700" cy="923330"/>
          </a:xfrm>
        </p:spPr>
        <p:txBody>
          <a:bodyPr/>
          <a:lstStyle/>
          <a:p>
            <a:r>
              <a:rPr lang="en-US" dirty="0"/>
              <a:t>We</a:t>
            </a:r>
            <a:r>
              <a:rPr lang="en-US" spc="-15" dirty="0"/>
              <a:t> </a:t>
            </a:r>
            <a:r>
              <a:rPr lang="en-US" dirty="0"/>
              <a:t>use</a:t>
            </a:r>
            <a:r>
              <a:rPr lang="en-US" spc="-25" dirty="0"/>
              <a:t> </a:t>
            </a:r>
            <a:r>
              <a:rPr lang="en-US" dirty="0"/>
              <a:t>this</a:t>
            </a:r>
            <a:r>
              <a:rPr lang="en-US" spc="-5" dirty="0"/>
              <a:t> </a:t>
            </a:r>
            <a:r>
              <a:rPr lang="en-US" dirty="0"/>
              <a:t>numbers</a:t>
            </a:r>
            <a:r>
              <a:rPr lang="en-US" spc="-10" dirty="0"/>
              <a:t> </a:t>
            </a:r>
            <a:r>
              <a:rPr lang="en-US" dirty="0"/>
              <a:t>to</a:t>
            </a:r>
            <a:r>
              <a:rPr lang="en-US" spc="-5" dirty="0"/>
              <a:t> </a:t>
            </a:r>
            <a:r>
              <a:rPr lang="en-US" dirty="0"/>
              <a:t>compute two</a:t>
            </a:r>
            <a:r>
              <a:rPr lang="en-US" spc="-20" dirty="0"/>
              <a:t> </a:t>
            </a:r>
            <a:r>
              <a:rPr lang="en-US" dirty="0"/>
              <a:t>matrices,</a:t>
            </a:r>
            <a:r>
              <a:rPr lang="en-US" spc="-5" dirty="0"/>
              <a:t> </a:t>
            </a:r>
            <a:r>
              <a:rPr lang="en-US" dirty="0"/>
              <a:t>the</a:t>
            </a:r>
            <a:r>
              <a:rPr lang="en-US" spc="-5" dirty="0"/>
              <a:t> </a:t>
            </a:r>
            <a:r>
              <a:rPr lang="en-US" dirty="0"/>
              <a:t>edge</a:t>
            </a:r>
            <a:r>
              <a:rPr lang="en-US" spc="-5" dirty="0"/>
              <a:t> </a:t>
            </a:r>
            <a:r>
              <a:rPr lang="en-US" dirty="0"/>
              <a:t>magnitude</a:t>
            </a:r>
            <a:r>
              <a:rPr lang="en-US" spc="-10" dirty="0"/>
              <a:t> </a:t>
            </a:r>
            <a:r>
              <a:rPr lang="en-US" dirty="0"/>
              <a:t>and</a:t>
            </a:r>
            <a:r>
              <a:rPr lang="en-US" spc="-10" dirty="0"/>
              <a:t> </a:t>
            </a:r>
            <a:r>
              <a:rPr lang="en-US" spc="-25" dirty="0"/>
              <a:t>the </a:t>
            </a:r>
            <a:r>
              <a:rPr lang="en-US" dirty="0"/>
              <a:t>edge</a:t>
            </a:r>
            <a:r>
              <a:rPr lang="en-US" spc="-25" dirty="0"/>
              <a:t> </a:t>
            </a:r>
            <a:r>
              <a:rPr lang="en-US" dirty="0"/>
              <a:t>direction,</a:t>
            </a:r>
            <a:r>
              <a:rPr lang="en-US" spc="-50" dirty="0"/>
              <a:t> </a:t>
            </a:r>
            <a:r>
              <a:rPr lang="en-US" dirty="0"/>
              <a:t>which</a:t>
            </a:r>
            <a:r>
              <a:rPr lang="en-US" spc="-20" dirty="0"/>
              <a:t> </a:t>
            </a:r>
            <a:r>
              <a:rPr lang="en-US" dirty="0"/>
              <a:t>are</a:t>
            </a:r>
            <a:r>
              <a:rPr lang="en-US" spc="-30" dirty="0"/>
              <a:t> </a:t>
            </a:r>
            <a:r>
              <a:rPr lang="en-US" dirty="0"/>
              <a:t>defined</a:t>
            </a:r>
            <a:r>
              <a:rPr lang="en-US" spc="-35" dirty="0"/>
              <a:t> </a:t>
            </a:r>
            <a:r>
              <a:rPr lang="en-US" dirty="0"/>
              <a:t>as</a:t>
            </a:r>
            <a:r>
              <a:rPr lang="en-US" spc="-35" dirty="0"/>
              <a:t> </a:t>
            </a:r>
            <a:r>
              <a:rPr lang="en-US" spc="-10" dirty="0"/>
              <a:t>follows:</a:t>
            </a:r>
          </a:p>
          <a:p>
            <a:endParaRPr lang="en-US" dirty="0"/>
          </a:p>
        </p:txBody>
      </p:sp>
      <p:sp>
        <p:nvSpPr>
          <p:cNvPr id="4" name="object 9">
            <a:extLst>
              <a:ext uri="{FF2B5EF4-FFF2-40B4-BE49-F238E27FC236}">
                <a16:creationId xmlns:a16="http://schemas.microsoft.com/office/drawing/2014/main" id="{46DCCE26-6D21-41BD-BA6A-AD8D9E2F929C}"/>
              </a:ext>
            </a:extLst>
          </p:cNvPr>
          <p:cNvSpPr/>
          <p:nvPr/>
        </p:nvSpPr>
        <p:spPr>
          <a:xfrm>
            <a:off x="4990464" y="3969335"/>
            <a:ext cx="889635" cy="510540"/>
          </a:xfrm>
          <a:custGeom>
            <a:avLst/>
            <a:gdLst/>
            <a:ahLst/>
            <a:cxnLst/>
            <a:rect l="l" t="t" r="r" b="b"/>
            <a:pathLst>
              <a:path w="889635" h="510539">
                <a:moveTo>
                  <a:pt x="889126" y="0"/>
                </a:moveTo>
                <a:lnTo>
                  <a:pt x="168275" y="0"/>
                </a:lnTo>
                <a:lnTo>
                  <a:pt x="168275" y="253"/>
                </a:lnTo>
                <a:lnTo>
                  <a:pt x="141224" y="253"/>
                </a:lnTo>
                <a:lnTo>
                  <a:pt x="94741" y="469607"/>
                </a:lnTo>
                <a:lnTo>
                  <a:pt x="38735" y="365912"/>
                </a:lnTo>
                <a:lnTo>
                  <a:pt x="0" y="386346"/>
                </a:lnTo>
                <a:lnTo>
                  <a:pt x="4317" y="394271"/>
                </a:lnTo>
                <a:lnTo>
                  <a:pt x="24764" y="383552"/>
                </a:lnTo>
                <a:lnTo>
                  <a:pt x="93599" y="510133"/>
                </a:lnTo>
                <a:lnTo>
                  <a:pt x="104012" y="510133"/>
                </a:lnTo>
                <a:lnTo>
                  <a:pt x="153669" y="15087"/>
                </a:lnTo>
                <a:lnTo>
                  <a:pt x="889126" y="15214"/>
                </a:lnTo>
                <a:lnTo>
                  <a:pt x="889126" y="0"/>
                </a:lnTo>
                <a:close/>
              </a:path>
            </a:pathLst>
          </a:custGeom>
          <a:solidFill>
            <a:srgbClr val="000000"/>
          </a:solidFill>
        </p:spPr>
        <p:txBody>
          <a:bodyPr wrap="square" lIns="0" tIns="0" rIns="0" bIns="0" rtlCol="0"/>
          <a:lstStyle/>
          <a:p>
            <a:endParaRPr/>
          </a:p>
        </p:txBody>
      </p:sp>
      <p:sp>
        <p:nvSpPr>
          <p:cNvPr id="5" name="object 10">
            <a:extLst>
              <a:ext uri="{FF2B5EF4-FFF2-40B4-BE49-F238E27FC236}">
                <a16:creationId xmlns:a16="http://schemas.microsoft.com/office/drawing/2014/main" id="{71D459D9-6314-4C28-8860-75972049CB20}"/>
              </a:ext>
            </a:extLst>
          </p:cNvPr>
          <p:cNvSpPr txBox="1"/>
          <p:nvPr/>
        </p:nvSpPr>
        <p:spPr>
          <a:xfrm>
            <a:off x="5756909" y="4191000"/>
            <a:ext cx="125730"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Cambria Math"/>
                <a:cs typeface="Cambria Math"/>
              </a:rPr>
              <a:t>𝟐</a:t>
            </a:r>
            <a:endParaRPr sz="1300">
              <a:latin typeface="Cambria Math"/>
              <a:cs typeface="Cambria Math"/>
            </a:endParaRPr>
          </a:p>
        </p:txBody>
      </p:sp>
      <p:sp>
        <p:nvSpPr>
          <p:cNvPr id="6" name="object 11">
            <a:extLst>
              <a:ext uri="{FF2B5EF4-FFF2-40B4-BE49-F238E27FC236}">
                <a16:creationId xmlns:a16="http://schemas.microsoft.com/office/drawing/2014/main" id="{E428CABC-52B5-47DF-9D08-5C19306A9D57}"/>
              </a:ext>
            </a:extLst>
          </p:cNvPr>
          <p:cNvSpPr txBox="1"/>
          <p:nvPr/>
        </p:nvSpPr>
        <p:spPr>
          <a:xfrm>
            <a:off x="2720975" y="4067556"/>
            <a:ext cx="3187065" cy="299720"/>
          </a:xfrm>
          <a:prstGeom prst="rect">
            <a:avLst/>
          </a:prstGeom>
        </p:spPr>
        <p:txBody>
          <a:bodyPr vert="horz" wrap="square" lIns="0" tIns="12700" rIns="0" bIns="0" rtlCol="0">
            <a:spAutoFit/>
          </a:bodyPr>
          <a:lstStyle/>
          <a:p>
            <a:pPr marL="38100">
              <a:lnSpc>
                <a:spcPct val="100000"/>
              </a:lnSpc>
              <a:spcBef>
                <a:spcPts val="100"/>
              </a:spcBef>
              <a:tabLst>
                <a:tab pos="2438400" algn="l"/>
              </a:tabLst>
            </a:pPr>
            <a:r>
              <a:rPr sz="1800" dirty="0">
                <a:latin typeface="Cambria Math"/>
                <a:cs typeface="Cambria Math"/>
              </a:rPr>
              <a:t>𝑬𝒅𝒈𝒆</a:t>
            </a:r>
            <a:r>
              <a:rPr sz="1800" spc="-35" dirty="0">
                <a:latin typeface="Cambria Math"/>
                <a:cs typeface="Cambria Math"/>
              </a:rPr>
              <a:t> </a:t>
            </a:r>
            <a:r>
              <a:rPr sz="1800" dirty="0">
                <a:latin typeface="Cambria Math"/>
                <a:cs typeface="Cambria Math"/>
              </a:rPr>
              <a:t>𝑴𝒂𝒈𝒏𝒊𝒕𝒖𝒅𝒆</a:t>
            </a:r>
            <a:r>
              <a:rPr sz="1800" spc="60" dirty="0">
                <a:latin typeface="Cambria Math"/>
                <a:cs typeface="Cambria Math"/>
              </a:rPr>
              <a:t> </a:t>
            </a:r>
            <a:r>
              <a:rPr sz="1800" spc="-50" dirty="0">
                <a:latin typeface="Cambria Math"/>
                <a:cs typeface="Cambria Math"/>
              </a:rPr>
              <a:t>=</a:t>
            </a:r>
            <a:r>
              <a:rPr sz="1800" dirty="0">
                <a:latin typeface="Cambria Math"/>
                <a:cs typeface="Cambria Math"/>
              </a:rPr>
              <a:t>	</a:t>
            </a:r>
            <a:r>
              <a:rPr lang="en-US" sz="1800" b="1" dirty="0">
                <a:latin typeface="Cambria Math"/>
                <a:cs typeface="Cambria Math"/>
              </a:rPr>
              <a:t>P</a:t>
            </a:r>
            <a:r>
              <a:rPr sz="1950" baseline="27777" dirty="0">
                <a:latin typeface="Cambria Math"/>
                <a:cs typeface="Cambria Math"/>
              </a:rPr>
              <a:t>𝟐</a:t>
            </a:r>
            <a:r>
              <a:rPr sz="1950" spc="240" baseline="27777" dirty="0">
                <a:latin typeface="Cambria Math"/>
                <a:cs typeface="Cambria Math"/>
              </a:rPr>
              <a:t> </a:t>
            </a:r>
            <a:r>
              <a:rPr sz="1800" dirty="0">
                <a:latin typeface="Cambria Math"/>
                <a:cs typeface="Cambria Math"/>
              </a:rPr>
              <a:t>+</a:t>
            </a:r>
            <a:r>
              <a:rPr sz="1800" spc="5" dirty="0">
                <a:latin typeface="Cambria Math"/>
                <a:cs typeface="Cambria Math"/>
              </a:rPr>
              <a:t> </a:t>
            </a:r>
            <a:r>
              <a:rPr lang="en-US" sz="1800" b="1" spc="5" dirty="0">
                <a:latin typeface="Cambria Math"/>
                <a:cs typeface="Cambria Math"/>
              </a:rPr>
              <a:t>P</a:t>
            </a:r>
            <a:r>
              <a:rPr sz="1950" spc="-37" baseline="27777" dirty="0">
                <a:latin typeface="Cambria Math"/>
                <a:cs typeface="Cambria Math"/>
              </a:rPr>
              <a:t>𝟐</a:t>
            </a:r>
            <a:endParaRPr sz="1950" baseline="27777" dirty="0">
              <a:latin typeface="Cambria Math"/>
              <a:cs typeface="Cambria Math"/>
            </a:endParaRPr>
          </a:p>
        </p:txBody>
      </p:sp>
      <p:sp>
        <p:nvSpPr>
          <p:cNvPr id="7" name="object 12">
            <a:extLst>
              <a:ext uri="{FF2B5EF4-FFF2-40B4-BE49-F238E27FC236}">
                <a16:creationId xmlns:a16="http://schemas.microsoft.com/office/drawing/2014/main" id="{441ECBFE-176C-4854-811D-CF3318AB9BD4}"/>
              </a:ext>
            </a:extLst>
          </p:cNvPr>
          <p:cNvSpPr txBox="1"/>
          <p:nvPr/>
        </p:nvSpPr>
        <p:spPr>
          <a:xfrm>
            <a:off x="2743200" y="4191000"/>
            <a:ext cx="2998470" cy="835660"/>
          </a:xfrm>
          <a:prstGeom prst="rect">
            <a:avLst/>
          </a:prstGeom>
        </p:spPr>
        <p:txBody>
          <a:bodyPr vert="horz" wrap="square" lIns="0" tIns="15240" rIns="0" bIns="0" rtlCol="0">
            <a:spAutoFit/>
          </a:bodyPr>
          <a:lstStyle/>
          <a:p>
            <a:pPr marR="358775" algn="r">
              <a:lnSpc>
                <a:spcPct val="100000"/>
              </a:lnSpc>
              <a:spcBef>
                <a:spcPts val="120"/>
              </a:spcBef>
            </a:pPr>
            <a:r>
              <a:rPr sz="1300" spc="-50" dirty="0">
                <a:latin typeface="Cambria Math"/>
                <a:cs typeface="Cambria Math"/>
              </a:rPr>
              <a:t>𝟏</a:t>
            </a:r>
            <a:endParaRPr sz="1300" dirty="0">
              <a:latin typeface="Cambria Math"/>
              <a:cs typeface="Cambria Math"/>
            </a:endParaRPr>
          </a:p>
          <a:p>
            <a:pPr marL="38100">
              <a:lnSpc>
                <a:spcPts val="1680"/>
              </a:lnSpc>
              <a:spcBef>
                <a:spcPts val="1440"/>
              </a:spcBef>
            </a:pPr>
            <a:r>
              <a:rPr sz="1800" dirty="0">
                <a:latin typeface="Cambria Math"/>
                <a:cs typeface="Cambria Math"/>
              </a:rPr>
              <a:t>𝑬𝒅𝒈𝒆</a:t>
            </a:r>
            <a:r>
              <a:rPr sz="1800" spc="-20" dirty="0">
                <a:latin typeface="Cambria Math"/>
                <a:cs typeface="Cambria Math"/>
              </a:rPr>
              <a:t> </a:t>
            </a:r>
            <a:r>
              <a:rPr sz="1800" dirty="0">
                <a:latin typeface="Cambria Math"/>
                <a:cs typeface="Cambria Math"/>
              </a:rPr>
              <a:t>𝑫𝒊𝒓𝒆𝒄𝒕𝒊𝒐𝒏</a:t>
            </a:r>
            <a:r>
              <a:rPr sz="1800" spc="75" dirty="0">
                <a:latin typeface="Cambria Math"/>
                <a:cs typeface="Cambria Math"/>
              </a:rPr>
              <a:t> </a:t>
            </a:r>
            <a:r>
              <a:rPr sz="1800" dirty="0">
                <a:latin typeface="Cambria Math"/>
                <a:cs typeface="Cambria Math"/>
              </a:rPr>
              <a:t>=</a:t>
            </a:r>
            <a:r>
              <a:rPr sz="1800" spc="475" dirty="0">
                <a:latin typeface="Cambria Math"/>
                <a:cs typeface="Cambria Math"/>
              </a:rPr>
              <a:t> </a:t>
            </a:r>
            <a:r>
              <a:rPr sz="1800" dirty="0">
                <a:latin typeface="Cambria Math"/>
                <a:cs typeface="Cambria Math"/>
              </a:rPr>
              <a:t>𝒕𝒂𝒏</a:t>
            </a:r>
            <a:r>
              <a:rPr sz="1950" baseline="27777" dirty="0">
                <a:latin typeface="Cambria Math"/>
                <a:cs typeface="Cambria Math"/>
              </a:rPr>
              <a:t>−𝟏</a:t>
            </a:r>
            <a:r>
              <a:rPr sz="1950" spc="89" baseline="27777" dirty="0">
                <a:latin typeface="Cambria Math"/>
                <a:cs typeface="Cambria Math"/>
              </a:rPr>
              <a:t> </a:t>
            </a:r>
            <a:r>
              <a:rPr lang="en-US" sz="1950" b="1" spc="89" baseline="27777" dirty="0">
                <a:latin typeface="Cambria Math"/>
                <a:cs typeface="Cambria Math"/>
              </a:rPr>
              <a:t>P</a:t>
            </a:r>
            <a:r>
              <a:rPr sz="1950" spc="-37" baseline="42735" dirty="0">
                <a:latin typeface="Cambria Math"/>
                <a:cs typeface="Cambria Math"/>
              </a:rPr>
              <a:t>𝟐</a:t>
            </a:r>
            <a:endParaRPr sz="1950" baseline="42735" dirty="0">
              <a:latin typeface="Cambria Math"/>
              <a:cs typeface="Cambria Math"/>
            </a:endParaRPr>
          </a:p>
          <a:p>
            <a:pPr marR="30480" algn="r">
              <a:lnSpc>
                <a:spcPts val="1680"/>
              </a:lnSpc>
            </a:pPr>
            <a:r>
              <a:rPr lang="en-US" sz="1950" b="1" spc="-37" baseline="-14957" dirty="0">
                <a:latin typeface="Cambria Math"/>
                <a:cs typeface="Cambria Math"/>
              </a:rPr>
              <a:t>P</a:t>
            </a:r>
            <a:r>
              <a:rPr sz="1950" spc="-37" baseline="-14957" dirty="0">
                <a:latin typeface="Cambria Math"/>
                <a:cs typeface="Cambria Math"/>
              </a:rPr>
              <a:t>𝟏</a:t>
            </a:r>
            <a:endParaRPr sz="1950" baseline="-14957" dirty="0">
              <a:latin typeface="Cambria Math"/>
              <a:cs typeface="Cambria Math"/>
            </a:endParaRPr>
          </a:p>
        </p:txBody>
      </p:sp>
      <p:sp>
        <p:nvSpPr>
          <p:cNvPr id="8" name="object 13">
            <a:extLst>
              <a:ext uri="{FF2B5EF4-FFF2-40B4-BE49-F238E27FC236}">
                <a16:creationId xmlns:a16="http://schemas.microsoft.com/office/drawing/2014/main" id="{904B8DDD-3E6E-4A64-BA9D-C0EE3D895ABD}"/>
              </a:ext>
            </a:extLst>
          </p:cNvPr>
          <p:cNvSpPr/>
          <p:nvPr/>
        </p:nvSpPr>
        <p:spPr>
          <a:xfrm>
            <a:off x="5487289" y="4741241"/>
            <a:ext cx="224154" cy="15240"/>
          </a:xfrm>
          <a:custGeom>
            <a:avLst/>
            <a:gdLst/>
            <a:ahLst/>
            <a:cxnLst/>
            <a:rect l="l" t="t" r="r" b="b"/>
            <a:pathLst>
              <a:path w="224154" h="15239">
                <a:moveTo>
                  <a:pt x="224027" y="0"/>
                </a:moveTo>
                <a:lnTo>
                  <a:pt x="0" y="0"/>
                </a:lnTo>
                <a:lnTo>
                  <a:pt x="0" y="15240"/>
                </a:lnTo>
                <a:lnTo>
                  <a:pt x="224027" y="15240"/>
                </a:lnTo>
                <a:lnTo>
                  <a:pt x="224027"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046080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E1298-C479-4908-BE20-BF824C7AA3C9}"/>
              </a:ext>
            </a:extLst>
          </p:cNvPr>
          <p:cNvSpPr>
            <a:spLocks noGrp="1"/>
          </p:cNvSpPr>
          <p:nvPr>
            <p:ph type="title"/>
          </p:nvPr>
        </p:nvSpPr>
        <p:spPr>
          <a:xfrm>
            <a:off x="386892" y="326516"/>
            <a:ext cx="6242508" cy="1846659"/>
          </a:xfrm>
        </p:spPr>
        <p:txBody>
          <a:bodyPr/>
          <a:lstStyle/>
          <a:p>
            <a:r>
              <a:rPr lang="en-US" dirty="0"/>
              <a:t>Roberts Operator – Spatial Domain Filtering</a:t>
            </a:r>
          </a:p>
        </p:txBody>
      </p:sp>
      <p:sp>
        <p:nvSpPr>
          <p:cNvPr id="3" name="Text Placeholder 2">
            <a:extLst>
              <a:ext uri="{FF2B5EF4-FFF2-40B4-BE49-F238E27FC236}">
                <a16:creationId xmlns:a16="http://schemas.microsoft.com/office/drawing/2014/main" id="{09387DFE-E914-4A16-B257-4AA144B8ACAB}"/>
              </a:ext>
            </a:extLst>
          </p:cNvPr>
          <p:cNvSpPr>
            <a:spLocks noGrp="1"/>
          </p:cNvSpPr>
          <p:nvPr>
            <p:ph type="body" idx="1"/>
          </p:nvPr>
        </p:nvSpPr>
        <p:spPr>
          <a:xfrm>
            <a:off x="416858" y="1371600"/>
            <a:ext cx="8140700" cy="615553"/>
          </a:xfrm>
        </p:spPr>
        <p:txBody>
          <a:bodyPr/>
          <a:lstStyle/>
          <a:p>
            <a:r>
              <a:rPr lang="en-US" b="0" dirty="0"/>
              <a:t>The Roberts Cross operator is one of the earliest edge-detection operators.</a:t>
            </a:r>
            <a:br>
              <a:rPr lang="en-US" b="0" dirty="0"/>
            </a:br>
            <a:r>
              <a:rPr lang="en-US" b="0" dirty="0"/>
              <a:t>It uses 2×2 kernels to approximate the gradient in diagonal directions.</a:t>
            </a:r>
          </a:p>
        </p:txBody>
      </p:sp>
      <p:sp>
        <p:nvSpPr>
          <p:cNvPr id="4" name="Rectangle 3">
            <a:extLst>
              <a:ext uri="{FF2B5EF4-FFF2-40B4-BE49-F238E27FC236}">
                <a16:creationId xmlns:a16="http://schemas.microsoft.com/office/drawing/2014/main" id="{38BA765D-C083-463D-83DA-D49B12B733B0}"/>
              </a:ext>
            </a:extLst>
          </p:cNvPr>
          <p:cNvSpPr/>
          <p:nvPr/>
        </p:nvSpPr>
        <p:spPr>
          <a:xfrm>
            <a:off x="735478" y="1993146"/>
            <a:ext cx="7265521" cy="923330"/>
          </a:xfrm>
          <a:prstGeom prst="rect">
            <a:avLst/>
          </a:prstGeom>
        </p:spPr>
        <p:txBody>
          <a:bodyPr wrap="square">
            <a:spAutoFit/>
          </a:bodyPr>
          <a:lstStyle/>
          <a:p>
            <a:endParaRPr lang="en-US" dirty="0"/>
          </a:p>
          <a:p>
            <a:r>
              <a:rPr lang="en-US" dirty="0"/>
              <a:t>Roberts Mask in X-direction (</a:t>
            </a:r>
            <a:r>
              <a:rPr lang="en-US" dirty="0" err="1"/>
              <a:t>Gx</a:t>
            </a:r>
            <a:r>
              <a:rPr lang="en-US" dirty="0"/>
              <a:t>)     Roberts Mask in Y-direction (</a:t>
            </a:r>
            <a:r>
              <a:rPr lang="en-US" dirty="0" err="1"/>
              <a:t>Gy</a:t>
            </a:r>
            <a:r>
              <a:rPr lang="en-US" dirty="0"/>
              <a:t>)</a:t>
            </a:r>
          </a:p>
          <a:p>
            <a:r>
              <a:rPr lang="en-US" b="0" dirty="0"/>
              <a:t>Detects Diagonal edges:                     </a:t>
            </a:r>
            <a:r>
              <a:rPr lang="en-US" dirty="0"/>
              <a:t>Detects opposite  </a:t>
            </a:r>
            <a:r>
              <a:rPr lang="en-US" dirty="0" err="1"/>
              <a:t>Diagnonal</a:t>
            </a:r>
            <a:r>
              <a:rPr lang="en-US" dirty="0"/>
              <a:t>  </a:t>
            </a:r>
          </a:p>
        </p:txBody>
      </p:sp>
      <p:pic>
        <p:nvPicPr>
          <p:cNvPr id="6" name="Picture 5">
            <a:extLst>
              <a:ext uri="{FF2B5EF4-FFF2-40B4-BE49-F238E27FC236}">
                <a16:creationId xmlns:a16="http://schemas.microsoft.com/office/drawing/2014/main" id="{50113DF7-7A77-47FA-A920-20037915B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987084"/>
            <a:ext cx="1828800" cy="1650681"/>
          </a:xfrm>
          <a:prstGeom prst="rect">
            <a:avLst/>
          </a:prstGeom>
        </p:spPr>
      </p:pic>
      <p:pic>
        <p:nvPicPr>
          <p:cNvPr id="8" name="Picture 7">
            <a:extLst>
              <a:ext uri="{FF2B5EF4-FFF2-40B4-BE49-F238E27FC236}">
                <a16:creationId xmlns:a16="http://schemas.microsoft.com/office/drawing/2014/main" id="{204619AC-5E65-4373-91F3-3E2211B44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3261803"/>
            <a:ext cx="1905000" cy="1462597"/>
          </a:xfrm>
          <a:prstGeom prst="rect">
            <a:avLst/>
          </a:prstGeom>
        </p:spPr>
      </p:pic>
      <p:sp>
        <p:nvSpPr>
          <p:cNvPr id="9" name="Rectangle 8">
            <a:extLst>
              <a:ext uri="{FF2B5EF4-FFF2-40B4-BE49-F238E27FC236}">
                <a16:creationId xmlns:a16="http://schemas.microsoft.com/office/drawing/2014/main" id="{B9EC20CA-68ED-4E80-999A-4BDDE449BC00}"/>
              </a:ext>
            </a:extLst>
          </p:cNvPr>
          <p:cNvSpPr/>
          <p:nvPr/>
        </p:nvSpPr>
        <p:spPr>
          <a:xfrm>
            <a:off x="760308" y="4761216"/>
            <a:ext cx="7799819" cy="1200329"/>
          </a:xfrm>
          <a:prstGeom prst="rect">
            <a:avLst/>
          </a:prstGeom>
        </p:spPr>
        <p:txBody>
          <a:bodyPr wrap="square">
            <a:spAutoFit/>
          </a:bodyPr>
          <a:lstStyle/>
          <a:p>
            <a:pPr marL="12700" marR="6985">
              <a:lnSpc>
                <a:spcPct val="100000"/>
              </a:lnSpc>
              <a:spcBef>
                <a:spcPts val="105"/>
              </a:spcBef>
            </a:pPr>
            <a:r>
              <a:rPr lang="en-US" dirty="0"/>
              <a:t>These</a:t>
            </a:r>
            <a:r>
              <a:rPr lang="en-US" spc="70" dirty="0"/>
              <a:t> </a:t>
            </a:r>
            <a:r>
              <a:rPr lang="en-US" dirty="0"/>
              <a:t>masks</a:t>
            </a:r>
            <a:r>
              <a:rPr lang="en-US" spc="55" dirty="0"/>
              <a:t> </a:t>
            </a:r>
            <a:r>
              <a:rPr lang="en-US" dirty="0"/>
              <a:t>are</a:t>
            </a:r>
            <a:r>
              <a:rPr lang="en-US" spc="75" dirty="0"/>
              <a:t> </a:t>
            </a:r>
            <a:r>
              <a:rPr lang="en-US" dirty="0"/>
              <a:t>each</a:t>
            </a:r>
            <a:r>
              <a:rPr lang="en-US" spc="70" dirty="0"/>
              <a:t> </a:t>
            </a:r>
            <a:r>
              <a:rPr lang="en-US" dirty="0"/>
              <a:t>convolved</a:t>
            </a:r>
            <a:r>
              <a:rPr lang="en-US" spc="85" dirty="0"/>
              <a:t> </a:t>
            </a:r>
            <a:r>
              <a:rPr lang="en-US" dirty="0"/>
              <a:t>with</a:t>
            </a:r>
            <a:r>
              <a:rPr lang="en-US" spc="70" dirty="0"/>
              <a:t> </a:t>
            </a:r>
            <a:r>
              <a:rPr lang="en-US" dirty="0"/>
              <a:t>the</a:t>
            </a:r>
            <a:r>
              <a:rPr lang="en-US" spc="65" dirty="0"/>
              <a:t> </a:t>
            </a:r>
            <a:r>
              <a:rPr lang="en-US" dirty="0"/>
              <a:t>image.</a:t>
            </a:r>
            <a:r>
              <a:rPr lang="en-US" spc="80" dirty="0"/>
              <a:t> </a:t>
            </a:r>
            <a:r>
              <a:rPr lang="en-US" dirty="0"/>
              <a:t>At</a:t>
            </a:r>
            <a:r>
              <a:rPr lang="en-US" spc="70" dirty="0"/>
              <a:t> </a:t>
            </a:r>
            <a:r>
              <a:rPr lang="en-US" dirty="0"/>
              <a:t>each</a:t>
            </a:r>
            <a:r>
              <a:rPr lang="en-US" spc="80" dirty="0"/>
              <a:t> </a:t>
            </a:r>
            <a:r>
              <a:rPr lang="en-US" dirty="0"/>
              <a:t>pixel</a:t>
            </a:r>
            <a:r>
              <a:rPr lang="en-US" spc="65" dirty="0"/>
              <a:t> </a:t>
            </a:r>
            <a:r>
              <a:rPr lang="en-US" dirty="0"/>
              <a:t>location</a:t>
            </a:r>
            <a:r>
              <a:rPr lang="en-US" spc="80" dirty="0"/>
              <a:t> </a:t>
            </a:r>
            <a:r>
              <a:rPr lang="en-US" spc="-25" dirty="0"/>
              <a:t>we </a:t>
            </a:r>
            <a:r>
              <a:rPr lang="en-US" dirty="0"/>
              <a:t>now</a:t>
            </a:r>
            <a:r>
              <a:rPr lang="en-US" spc="-10" dirty="0"/>
              <a:t> </a:t>
            </a:r>
            <a:r>
              <a:rPr lang="en-US" dirty="0"/>
              <a:t>have</a:t>
            </a:r>
            <a:r>
              <a:rPr lang="en-US" spc="-15" dirty="0"/>
              <a:t> </a:t>
            </a:r>
            <a:r>
              <a:rPr lang="en-US" dirty="0"/>
              <a:t>two</a:t>
            </a:r>
            <a:r>
              <a:rPr lang="en-US" spc="-5" dirty="0"/>
              <a:t> </a:t>
            </a:r>
            <a:r>
              <a:rPr lang="en-US" spc="-10" dirty="0"/>
              <a:t>numbers:</a:t>
            </a:r>
          </a:p>
          <a:p>
            <a:pPr marL="354965" indent="-342265">
              <a:lnSpc>
                <a:spcPct val="100000"/>
              </a:lnSpc>
              <a:buClr>
                <a:srgbClr val="C00000"/>
              </a:buClr>
              <a:buFont typeface="Wingdings"/>
              <a:buChar char=""/>
              <a:tabLst>
                <a:tab pos="354965" algn="l"/>
              </a:tabLst>
            </a:pPr>
            <a:r>
              <a:rPr lang="en-US" dirty="0">
                <a:solidFill>
                  <a:srgbClr val="FF0000"/>
                </a:solidFill>
              </a:rPr>
              <a:t>R1</a:t>
            </a:r>
            <a:r>
              <a:rPr lang="en-US" dirty="0"/>
              <a:t>,</a:t>
            </a:r>
            <a:r>
              <a:rPr lang="en-US" spc="-40" dirty="0"/>
              <a:t> </a:t>
            </a:r>
            <a:r>
              <a:rPr lang="en-US" dirty="0"/>
              <a:t>corresponding</a:t>
            </a:r>
            <a:r>
              <a:rPr lang="en-US" spc="-55" dirty="0"/>
              <a:t> </a:t>
            </a:r>
            <a:r>
              <a:rPr lang="en-US" dirty="0"/>
              <a:t>to</a:t>
            </a:r>
            <a:r>
              <a:rPr lang="en-US" spc="-35" dirty="0"/>
              <a:t> </a:t>
            </a:r>
            <a:r>
              <a:rPr lang="en-US" dirty="0"/>
              <a:t>the</a:t>
            </a:r>
            <a:r>
              <a:rPr lang="en-US" spc="-20" dirty="0"/>
              <a:t> </a:t>
            </a:r>
            <a:r>
              <a:rPr lang="en-US" dirty="0">
                <a:solidFill>
                  <a:srgbClr val="006FC0"/>
                </a:solidFill>
              </a:rPr>
              <a:t>result</a:t>
            </a:r>
            <a:r>
              <a:rPr lang="en-US" spc="-40" dirty="0">
                <a:solidFill>
                  <a:srgbClr val="006FC0"/>
                </a:solidFill>
              </a:rPr>
              <a:t> </a:t>
            </a:r>
            <a:r>
              <a:rPr lang="en-US" dirty="0">
                <a:solidFill>
                  <a:srgbClr val="006FC0"/>
                </a:solidFill>
              </a:rPr>
              <a:t>form</a:t>
            </a:r>
            <a:r>
              <a:rPr lang="en-US" spc="-40" dirty="0">
                <a:solidFill>
                  <a:srgbClr val="006FC0"/>
                </a:solidFill>
              </a:rPr>
              <a:t> </a:t>
            </a:r>
            <a:r>
              <a:rPr lang="en-US" dirty="0"/>
              <a:t>the</a:t>
            </a:r>
            <a:r>
              <a:rPr lang="en-US" spc="-35" dirty="0"/>
              <a:t> </a:t>
            </a:r>
            <a:r>
              <a:rPr lang="en-US" dirty="0">
                <a:solidFill>
                  <a:srgbClr val="FF0000"/>
                </a:solidFill>
              </a:rPr>
              <a:t>row</a:t>
            </a:r>
            <a:r>
              <a:rPr lang="en-US" spc="-20" dirty="0">
                <a:solidFill>
                  <a:srgbClr val="FF0000"/>
                </a:solidFill>
              </a:rPr>
              <a:t> </a:t>
            </a:r>
            <a:r>
              <a:rPr lang="en-US" spc="-10" dirty="0">
                <a:solidFill>
                  <a:srgbClr val="FF0000"/>
                </a:solidFill>
              </a:rPr>
              <a:t>mask</a:t>
            </a:r>
            <a:r>
              <a:rPr lang="en-US" spc="-10" dirty="0"/>
              <a:t>.</a:t>
            </a:r>
          </a:p>
          <a:p>
            <a:pPr marL="354965" indent="-342265">
              <a:lnSpc>
                <a:spcPct val="100000"/>
              </a:lnSpc>
              <a:buClr>
                <a:srgbClr val="C00000"/>
              </a:buClr>
              <a:buFont typeface="Wingdings"/>
              <a:buChar char=""/>
              <a:tabLst>
                <a:tab pos="354965" algn="l"/>
              </a:tabLst>
            </a:pPr>
            <a:r>
              <a:rPr lang="en-US" dirty="0">
                <a:solidFill>
                  <a:srgbClr val="FF0000"/>
                </a:solidFill>
              </a:rPr>
              <a:t>R2</a:t>
            </a:r>
            <a:r>
              <a:rPr lang="en-US" dirty="0"/>
              <a:t>,</a:t>
            </a:r>
            <a:r>
              <a:rPr lang="en-US" spc="-35" dirty="0"/>
              <a:t> </a:t>
            </a:r>
            <a:r>
              <a:rPr lang="en-US" dirty="0"/>
              <a:t>corresponding</a:t>
            </a:r>
            <a:r>
              <a:rPr lang="en-US" spc="-50" dirty="0"/>
              <a:t> </a:t>
            </a:r>
            <a:r>
              <a:rPr lang="en-US" dirty="0"/>
              <a:t>to</a:t>
            </a:r>
            <a:r>
              <a:rPr lang="en-US" spc="-30" dirty="0"/>
              <a:t> </a:t>
            </a:r>
            <a:r>
              <a:rPr lang="en-US" dirty="0"/>
              <a:t>the</a:t>
            </a:r>
            <a:r>
              <a:rPr lang="en-US" spc="-20" dirty="0"/>
              <a:t> </a:t>
            </a:r>
            <a:r>
              <a:rPr lang="en-US" dirty="0">
                <a:solidFill>
                  <a:srgbClr val="006FC0"/>
                </a:solidFill>
              </a:rPr>
              <a:t>result</a:t>
            </a:r>
            <a:r>
              <a:rPr lang="en-US" spc="-35" dirty="0">
                <a:solidFill>
                  <a:srgbClr val="006FC0"/>
                </a:solidFill>
              </a:rPr>
              <a:t> </a:t>
            </a:r>
            <a:r>
              <a:rPr lang="en-US" dirty="0">
                <a:solidFill>
                  <a:srgbClr val="006FC0"/>
                </a:solidFill>
              </a:rPr>
              <a:t>from</a:t>
            </a:r>
            <a:r>
              <a:rPr lang="en-US" spc="-30" dirty="0">
                <a:solidFill>
                  <a:srgbClr val="006FC0"/>
                </a:solidFill>
              </a:rPr>
              <a:t> </a:t>
            </a:r>
            <a:r>
              <a:rPr lang="en-US" dirty="0"/>
              <a:t>the</a:t>
            </a:r>
            <a:r>
              <a:rPr lang="en-US" spc="-35" dirty="0"/>
              <a:t> </a:t>
            </a:r>
            <a:r>
              <a:rPr lang="en-US" dirty="0">
                <a:solidFill>
                  <a:srgbClr val="FF0000"/>
                </a:solidFill>
              </a:rPr>
              <a:t>column</a:t>
            </a:r>
            <a:r>
              <a:rPr lang="en-US" spc="-30" dirty="0">
                <a:solidFill>
                  <a:srgbClr val="FF0000"/>
                </a:solidFill>
              </a:rPr>
              <a:t> </a:t>
            </a:r>
            <a:r>
              <a:rPr lang="en-US" spc="-10" dirty="0">
                <a:solidFill>
                  <a:srgbClr val="FF0000"/>
                </a:solidFill>
              </a:rPr>
              <a:t>mask</a:t>
            </a:r>
            <a:r>
              <a:rPr lang="en-US" spc="-10" dirty="0"/>
              <a:t>.</a:t>
            </a:r>
          </a:p>
        </p:txBody>
      </p:sp>
    </p:spTree>
    <p:extLst>
      <p:ext uri="{BB962C8B-B14F-4D97-AF65-F5344CB8AC3E}">
        <p14:creationId xmlns:p14="http://schemas.microsoft.com/office/powerpoint/2010/main" val="3530799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60E9C8-9C80-49E1-BEC4-3F6CD7EA63E9}"/>
              </a:ext>
            </a:extLst>
          </p:cNvPr>
          <p:cNvSpPr txBox="1">
            <a:spLocks/>
          </p:cNvSpPr>
          <p:nvPr/>
        </p:nvSpPr>
        <p:spPr>
          <a:xfrm>
            <a:off x="386892" y="326516"/>
            <a:ext cx="6242508" cy="307777"/>
          </a:xfrm>
          <a:prstGeom prst="rect">
            <a:avLst/>
          </a:prstGeom>
        </p:spPr>
        <p:txBody>
          <a:bodyPr wrap="square" lIns="0" tIns="0" rIns="0" bIns="0">
            <a:spAutoFit/>
          </a:bodyPr>
          <a:lstStyle>
            <a:lvl1pPr>
              <a:defRPr sz="2000" b="1" i="0" u="sng">
                <a:solidFill>
                  <a:srgbClr val="FF0000"/>
                </a:solidFill>
                <a:latin typeface="Times New Roman"/>
                <a:ea typeface="+mj-ea"/>
                <a:cs typeface="Times New Roman"/>
              </a:defRPr>
            </a:lvl1pPr>
          </a:lstStyle>
          <a:p>
            <a:r>
              <a:rPr lang="en-US" dirty="0"/>
              <a:t>Roberts Operator – Spatial Domain Filtering</a:t>
            </a:r>
          </a:p>
        </p:txBody>
      </p:sp>
      <p:sp>
        <p:nvSpPr>
          <p:cNvPr id="5" name="Text Placeholder 2">
            <a:extLst>
              <a:ext uri="{FF2B5EF4-FFF2-40B4-BE49-F238E27FC236}">
                <a16:creationId xmlns:a16="http://schemas.microsoft.com/office/drawing/2014/main" id="{1041448C-B2DC-486A-A37D-BC6689C42606}"/>
              </a:ext>
            </a:extLst>
          </p:cNvPr>
          <p:cNvSpPr txBox="1">
            <a:spLocks/>
          </p:cNvSpPr>
          <p:nvPr/>
        </p:nvSpPr>
        <p:spPr>
          <a:xfrm>
            <a:off x="609600" y="2499220"/>
            <a:ext cx="8140700" cy="923330"/>
          </a:xfrm>
          <a:prstGeom prst="rect">
            <a:avLst/>
          </a:prstGeom>
        </p:spPr>
        <p:txBody>
          <a:bodyPr wrap="square" lIns="0" tIns="0" rIns="0" bIns="0">
            <a:spAutoFit/>
          </a:bodyPr>
          <a:lstStyle>
            <a:lvl1pPr marL="0">
              <a:defRPr sz="2000" b="1"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a:t>We</a:t>
            </a:r>
            <a:r>
              <a:rPr lang="en-US" spc="-15"/>
              <a:t> </a:t>
            </a:r>
            <a:r>
              <a:rPr lang="en-US"/>
              <a:t>use</a:t>
            </a:r>
            <a:r>
              <a:rPr lang="en-US" spc="-25"/>
              <a:t> </a:t>
            </a:r>
            <a:r>
              <a:rPr lang="en-US"/>
              <a:t>this</a:t>
            </a:r>
            <a:r>
              <a:rPr lang="en-US" spc="-5"/>
              <a:t> </a:t>
            </a:r>
            <a:r>
              <a:rPr lang="en-US"/>
              <a:t>numbers</a:t>
            </a:r>
            <a:r>
              <a:rPr lang="en-US" spc="-10"/>
              <a:t> </a:t>
            </a:r>
            <a:r>
              <a:rPr lang="en-US"/>
              <a:t>to</a:t>
            </a:r>
            <a:r>
              <a:rPr lang="en-US" spc="-5"/>
              <a:t> </a:t>
            </a:r>
            <a:r>
              <a:rPr lang="en-US"/>
              <a:t>compute two</a:t>
            </a:r>
            <a:r>
              <a:rPr lang="en-US" spc="-20"/>
              <a:t> </a:t>
            </a:r>
            <a:r>
              <a:rPr lang="en-US"/>
              <a:t>matrices,</a:t>
            </a:r>
            <a:r>
              <a:rPr lang="en-US" spc="-5"/>
              <a:t> </a:t>
            </a:r>
            <a:r>
              <a:rPr lang="en-US"/>
              <a:t>the</a:t>
            </a:r>
            <a:r>
              <a:rPr lang="en-US" spc="-5"/>
              <a:t> </a:t>
            </a:r>
            <a:r>
              <a:rPr lang="en-US"/>
              <a:t>edge</a:t>
            </a:r>
            <a:r>
              <a:rPr lang="en-US" spc="-5"/>
              <a:t> </a:t>
            </a:r>
            <a:r>
              <a:rPr lang="en-US"/>
              <a:t>magnitude</a:t>
            </a:r>
            <a:r>
              <a:rPr lang="en-US" spc="-10"/>
              <a:t> </a:t>
            </a:r>
            <a:r>
              <a:rPr lang="en-US"/>
              <a:t>and</a:t>
            </a:r>
            <a:r>
              <a:rPr lang="en-US" spc="-10"/>
              <a:t> </a:t>
            </a:r>
            <a:r>
              <a:rPr lang="en-US" spc="-25"/>
              <a:t>the </a:t>
            </a:r>
            <a:r>
              <a:rPr lang="en-US"/>
              <a:t>edge</a:t>
            </a:r>
            <a:r>
              <a:rPr lang="en-US" spc="-25"/>
              <a:t> </a:t>
            </a:r>
            <a:r>
              <a:rPr lang="en-US"/>
              <a:t>direction,</a:t>
            </a:r>
            <a:r>
              <a:rPr lang="en-US" spc="-50"/>
              <a:t> </a:t>
            </a:r>
            <a:r>
              <a:rPr lang="en-US"/>
              <a:t>which</a:t>
            </a:r>
            <a:r>
              <a:rPr lang="en-US" spc="-20"/>
              <a:t> </a:t>
            </a:r>
            <a:r>
              <a:rPr lang="en-US"/>
              <a:t>are</a:t>
            </a:r>
            <a:r>
              <a:rPr lang="en-US" spc="-30"/>
              <a:t> </a:t>
            </a:r>
            <a:r>
              <a:rPr lang="en-US"/>
              <a:t>defined</a:t>
            </a:r>
            <a:r>
              <a:rPr lang="en-US" spc="-35"/>
              <a:t> </a:t>
            </a:r>
            <a:r>
              <a:rPr lang="en-US"/>
              <a:t>as</a:t>
            </a:r>
            <a:r>
              <a:rPr lang="en-US" spc="-35"/>
              <a:t> </a:t>
            </a:r>
            <a:r>
              <a:rPr lang="en-US" spc="-10"/>
              <a:t>follows:</a:t>
            </a:r>
          </a:p>
          <a:p>
            <a:endParaRPr lang="en-US" dirty="0"/>
          </a:p>
        </p:txBody>
      </p:sp>
      <p:sp>
        <p:nvSpPr>
          <p:cNvPr id="6" name="object 9">
            <a:extLst>
              <a:ext uri="{FF2B5EF4-FFF2-40B4-BE49-F238E27FC236}">
                <a16:creationId xmlns:a16="http://schemas.microsoft.com/office/drawing/2014/main" id="{B457040A-3CEB-47BD-B252-E835430AC827}"/>
              </a:ext>
            </a:extLst>
          </p:cNvPr>
          <p:cNvSpPr/>
          <p:nvPr/>
        </p:nvSpPr>
        <p:spPr>
          <a:xfrm>
            <a:off x="4990464" y="3969335"/>
            <a:ext cx="889635" cy="510540"/>
          </a:xfrm>
          <a:custGeom>
            <a:avLst/>
            <a:gdLst/>
            <a:ahLst/>
            <a:cxnLst/>
            <a:rect l="l" t="t" r="r" b="b"/>
            <a:pathLst>
              <a:path w="889635" h="510539">
                <a:moveTo>
                  <a:pt x="889126" y="0"/>
                </a:moveTo>
                <a:lnTo>
                  <a:pt x="168275" y="0"/>
                </a:lnTo>
                <a:lnTo>
                  <a:pt x="168275" y="253"/>
                </a:lnTo>
                <a:lnTo>
                  <a:pt x="141224" y="253"/>
                </a:lnTo>
                <a:lnTo>
                  <a:pt x="94741" y="469607"/>
                </a:lnTo>
                <a:lnTo>
                  <a:pt x="38735" y="365912"/>
                </a:lnTo>
                <a:lnTo>
                  <a:pt x="0" y="386346"/>
                </a:lnTo>
                <a:lnTo>
                  <a:pt x="4317" y="394271"/>
                </a:lnTo>
                <a:lnTo>
                  <a:pt x="24764" y="383552"/>
                </a:lnTo>
                <a:lnTo>
                  <a:pt x="93599" y="510133"/>
                </a:lnTo>
                <a:lnTo>
                  <a:pt x="104012" y="510133"/>
                </a:lnTo>
                <a:lnTo>
                  <a:pt x="153669" y="15087"/>
                </a:lnTo>
                <a:lnTo>
                  <a:pt x="889126" y="15214"/>
                </a:lnTo>
                <a:lnTo>
                  <a:pt x="889126" y="0"/>
                </a:lnTo>
                <a:close/>
              </a:path>
            </a:pathLst>
          </a:custGeom>
          <a:solidFill>
            <a:srgbClr val="000000"/>
          </a:solidFill>
        </p:spPr>
        <p:txBody>
          <a:bodyPr wrap="square" lIns="0" tIns="0" rIns="0" bIns="0" rtlCol="0"/>
          <a:lstStyle/>
          <a:p>
            <a:endParaRPr/>
          </a:p>
        </p:txBody>
      </p:sp>
      <p:sp>
        <p:nvSpPr>
          <p:cNvPr id="7" name="object 10">
            <a:extLst>
              <a:ext uri="{FF2B5EF4-FFF2-40B4-BE49-F238E27FC236}">
                <a16:creationId xmlns:a16="http://schemas.microsoft.com/office/drawing/2014/main" id="{E6CABBAE-09E3-4467-9A31-E70FD5143D26}"/>
              </a:ext>
            </a:extLst>
          </p:cNvPr>
          <p:cNvSpPr txBox="1"/>
          <p:nvPr/>
        </p:nvSpPr>
        <p:spPr>
          <a:xfrm>
            <a:off x="5756909" y="4191000"/>
            <a:ext cx="125730"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Cambria Math"/>
                <a:cs typeface="Cambria Math"/>
              </a:rPr>
              <a:t>𝟐</a:t>
            </a:r>
            <a:endParaRPr sz="1300">
              <a:latin typeface="Cambria Math"/>
              <a:cs typeface="Cambria Math"/>
            </a:endParaRPr>
          </a:p>
        </p:txBody>
      </p:sp>
      <p:sp>
        <p:nvSpPr>
          <p:cNvPr id="8" name="object 11">
            <a:extLst>
              <a:ext uri="{FF2B5EF4-FFF2-40B4-BE49-F238E27FC236}">
                <a16:creationId xmlns:a16="http://schemas.microsoft.com/office/drawing/2014/main" id="{69634787-8EF8-41B7-919A-5B450840C41D}"/>
              </a:ext>
            </a:extLst>
          </p:cNvPr>
          <p:cNvSpPr txBox="1"/>
          <p:nvPr/>
        </p:nvSpPr>
        <p:spPr>
          <a:xfrm>
            <a:off x="2720975" y="3969336"/>
            <a:ext cx="3375025" cy="289823"/>
          </a:xfrm>
          <a:prstGeom prst="rect">
            <a:avLst/>
          </a:prstGeom>
        </p:spPr>
        <p:txBody>
          <a:bodyPr vert="horz" wrap="square" lIns="0" tIns="12700" rIns="0" bIns="0" rtlCol="0">
            <a:spAutoFit/>
          </a:bodyPr>
          <a:lstStyle/>
          <a:p>
            <a:pPr marL="38100">
              <a:lnSpc>
                <a:spcPct val="100000"/>
              </a:lnSpc>
              <a:spcBef>
                <a:spcPts val="100"/>
              </a:spcBef>
              <a:tabLst>
                <a:tab pos="2438400" algn="l"/>
              </a:tabLst>
            </a:pPr>
            <a:r>
              <a:rPr sz="1800" dirty="0">
                <a:latin typeface="Cambria Math"/>
                <a:cs typeface="Cambria Math"/>
              </a:rPr>
              <a:t>𝑬𝒅𝒈𝒆</a:t>
            </a:r>
            <a:r>
              <a:rPr sz="1800" spc="-35" dirty="0">
                <a:latin typeface="Cambria Math"/>
                <a:cs typeface="Cambria Math"/>
              </a:rPr>
              <a:t> </a:t>
            </a:r>
            <a:r>
              <a:rPr sz="1800" dirty="0">
                <a:latin typeface="Cambria Math"/>
                <a:cs typeface="Cambria Math"/>
              </a:rPr>
              <a:t>𝑴𝒂𝒈𝒏𝒊𝒕𝒖𝒅𝒆</a:t>
            </a:r>
            <a:r>
              <a:rPr sz="1800" spc="60" dirty="0">
                <a:latin typeface="Cambria Math"/>
                <a:cs typeface="Cambria Math"/>
              </a:rPr>
              <a:t> </a:t>
            </a:r>
            <a:r>
              <a:rPr sz="1800" spc="-50" dirty="0">
                <a:latin typeface="Cambria Math"/>
                <a:cs typeface="Cambria Math"/>
              </a:rPr>
              <a:t>=</a:t>
            </a:r>
            <a:r>
              <a:rPr sz="1800" dirty="0">
                <a:latin typeface="Cambria Math"/>
                <a:cs typeface="Cambria Math"/>
              </a:rPr>
              <a:t>	</a:t>
            </a:r>
            <a:r>
              <a:rPr lang="en-US" b="1" dirty="0">
                <a:latin typeface="Cambria Math"/>
                <a:cs typeface="Cambria Math"/>
              </a:rPr>
              <a:t>R</a:t>
            </a:r>
            <a:r>
              <a:rPr sz="1950" baseline="27777" dirty="0">
                <a:latin typeface="Cambria Math"/>
                <a:cs typeface="Cambria Math"/>
              </a:rPr>
              <a:t>𝟐</a:t>
            </a:r>
            <a:r>
              <a:rPr sz="1950" spc="240" baseline="27777" dirty="0">
                <a:latin typeface="Cambria Math"/>
                <a:cs typeface="Cambria Math"/>
              </a:rPr>
              <a:t> </a:t>
            </a:r>
            <a:r>
              <a:rPr sz="1800" dirty="0">
                <a:latin typeface="Cambria Math"/>
                <a:cs typeface="Cambria Math"/>
              </a:rPr>
              <a:t>+</a:t>
            </a:r>
            <a:r>
              <a:rPr sz="1800" spc="5" dirty="0">
                <a:latin typeface="Cambria Math"/>
                <a:cs typeface="Cambria Math"/>
              </a:rPr>
              <a:t> </a:t>
            </a:r>
            <a:r>
              <a:rPr lang="en-US" b="1" spc="5" dirty="0">
                <a:latin typeface="Cambria Math"/>
                <a:cs typeface="Cambria Math"/>
              </a:rPr>
              <a:t>R</a:t>
            </a:r>
            <a:r>
              <a:rPr sz="1950" spc="-37" baseline="27777" dirty="0">
                <a:latin typeface="Cambria Math"/>
                <a:cs typeface="Cambria Math"/>
              </a:rPr>
              <a:t>𝟐</a:t>
            </a:r>
            <a:endParaRPr sz="1950" baseline="27777" dirty="0">
              <a:latin typeface="Cambria Math"/>
              <a:cs typeface="Cambria Math"/>
            </a:endParaRPr>
          </a:p>
        </p:txBody>
      </p:sp>
      <p:sp>
        <p:nvSpPr>
          <p:cNvPr id="9" name="object 12">
            <a:extLst>
              <a:ext uri="{FF2B5EF4-FFF2-40B4-BE49-F238E27FC236}">
                <a16:creationId xmlns:a16="http://schemas.microsoft.com/office/drawing/2014/main" id="{7101907D-22FB-4B22-9B91-23F6883D8663}"/>
              </a:ext>
            </a:extLst>
          </p:cNvPr>
          <p:cNvSpPr txBox="1"/>
          <p:nvPr/>
        </p:nvSpPr>
        <p:spPr>
          <a:xfrm>
            <a:off x="2743200" y="4191000"/>
            <a:ext cx="3011170" cy="835660"/>
          </a:xfrm>
          <a:prstGeom prst="rect">
            <a:avLst/>
          </a:prstGeom>
        </p:spPr>
        <p:txBody>
          <a:bodyPr vert="horz" wrap="square" lIns="0" tIns="15240" rIns="0" bIns="0" rtlCol="0">
            <a:spAutoFit/>
          </a:bodyPr>
          <a:lstStyle/>
          <a:p>
            <a:pPr marR="358775" algn="r">
              <a:lnSpc>
                <a:spcPct val="100000"/>
              </a:lnSpc>
              <a:spcBef>
                <a:spcPts val="120"/>
              </a:spcBef>
            </a:pPr>
            <a:r>
              <a:rPr sz="1300" spc="-50" dirty="0">
                <a:latin typeface="Cambria Math"/>
                <a:cs typeface="Cambria Math"/>
              </a:rPr>
              <a:t>𝟏</a:t>
            </a:r>
            <a:endParaRPr sz="1300" dirty="0">
              <a:latin typeface="Cambria Math"/>
              <a:cs typeface="Cambria Math"/>
            </a:endParaRPr>
          </a:p>
          <a:p>
            <a:pPr marL="38100">
              <a:lnSpc>
                <a:spcPts val="1680"/>
              </a:lnSpc>
              <a:spcBef>
                <a:spcPts val="1440"/>
              </a:spcBef>
            </a:pPr>
            <a:r>
              <a:rPr sz="1800" dirty="0">
                <a:latin typeface="Cambria Math"/>
                <a:cs typeface="Cambria Math"/>
              </a:rPr>
              <a:t>𝑬𝒅𝒈𝒆</a:t>
            </a:r>
            <a:r>
              <a:rPr sz="1800" spc="-20" dirty="0">
                <a:latin typeface="Cambria Math"/>
                <a:cs typeface="Cambria Math"/>
              </a:rPr>
              <a:t> </a:t>
            </a:r>
            <a:r>
              <a:rPr sz="1800" dirty="0">
                <a:latin typeface="Cambria Math"/>
                <a:cs typeface="Cambria Math"/>
              </a:rPr>
              <a:t>𝑫𝒊𝒓𝒆𝒄𝒕𝒊𝒐𝒏</a:t>
            </a:r>
            <a:r>
              <a:rPr sz="1800" spc="75" dirty="0">
                <a:latin typeface="Cambria Math"/>
                <a:cs typeface="Cambria Math"/>
              </a:rPr>
              <a:t> </a:t>
            </a:r>
            <a:r>
              <a:rPr sz="1800" dirty="0">
                <a:latin typeface="Cambria Math"/>
                <a:cs typeface="Cambria Math"/>
              </a:rPr>
              <a:t>=</a:t>
            </a:r>
            <a:r>
              <a:rPr sz="1800" spc="475" dirty="0">
                <a:latin typeface="Cambria Math"/>
                <a:cs typeface="Cambria Math"/>
              </a:rPr>
              <a:t> </a:t>
            </a:r>
            <a:r>
              <a:rPr sz="1800" dirty="0">
                <a:latin typeface="Cambria Math"/>
                <a:cs typeface="Cambria Math"/>
              </a:rPr>
              <a:t>𝒕𝒂𝒏</a:t>
            </a:r>
            <a:r>
              <a:rPr sz="1950" baseline="27777" dirty="0">
                <a:latin typeface="Cambria Math"/>
                <a:cs typeface="Cambria Math"/>
              </a:rPr>
              <a:t>−𝟏</a:t>
            </a:r>
            <a:r>
              <a:rPr sz="1950" spc="89" baseline="27777" dirty="0">
                <a:latin typeface="Cambria Math"/>
                <a:cs typeface="Cambria Math"/>
              </a:rPr>
              <a:t> </a:t>
            </a:r>
            <a:r>
              <a:rPr lang="en-US" sz="1950" b="1" spc="89" baseline="27777" dirty="0">
                <a:latin typeface="Cambria Math"/>
                <a:cs typeface="Cambria Math"/>
              </a:rPr>
              <a:t>R</a:t>
            </a:r>
            <a:r>
              <a:rPr sz="1950" spc="-37" baseline="42735" dirty="0">
                <a:latin typeface="Cambria Math"/>
                <a:cs typeface="Cambria Math"/>
              </a:rPr>
              <a:t>𝟐</a:t>
            </a:r>
            <a:endParaRPr sz="1950" baseline="42735" dirty="0">
              <a:latin typeface="Cambria Math"/>
              <a:cs typeface="Cambria Math"/>
            </a:endParaRPr>
          </a:p>
          <a:p>
            <a:pPr marR="30480" algn="r">
              <a:lnSpc>
                <a:spcPts val="1680"/>
              </a:lnSpc>
            </a:pPr>
            <a:r>
              <a:rPr lang="en-US" sz="1950" b="1" spc="-37" baseline="-14957" dirty="0">
                <a:latin typeface="Cambria Math"/>
                <a:cs typeface="Cambria Math"/>
              </a:rPr>
              <a:t>R</a:t>
            </a:r>
            <a:r>
              <a:rPr sz="1950" spc="-37" baseline="-14957" dirty="0">
                <a:latin typeface="Cambria Math"/>
                <a:cs typeface="Cambria Math"/>
              </a:rPr>
              <a:t>𝟏</a:t>
            </a:r>
            <a:endParaRPr sz="1950" baseline="-14957" dirty="0">
              <a:latin typeface="Cambria Math"/>
              <a:cs typeface="Cambria Math"/>
            </a:endParaRPr>
          </a:p>
        </p:txBody>
      </p:sp>
      <p:sp>
        <p:nvSpPr>
          <p:cNvPr id="10" name="object 13">
            <a:extLst>
              <a:ext uri="{FF2B5EF4-FFF2-40B4-BE49-F238E27FC236}">
                <a16:creationId xmlns:a16="http://schemas.microsoft.com/office/drawing/2014/main" id="{AA2E6DCD-CEE5-47CC-89E7-EDBA946A6E8B}"/>
              </a:ext>
            </a:extLst>
          </p:cNvPr>
          <p:cNvSpPr/>
          <p:nvPr/>
        </p:nvSpPr>
        <p:spPr>
          <a:xfrm>
            <a:off x="5487289" y="4741241"/>
            <a:ext cx="224154" cy="15240"/>
          </a:xfrm>
          <a:custGeom>
            <a:avLst/>
            <a:gdLst/>
            <a:ahLst/>
            <a:cxnLst/>
            <a:rect l="l" t="t" r="r" b="b"/>
            <a:pathLst>
              <a:path w="224154" h="15239">
                <a:moveTo>
                  <a:pt x="224027" y="0"/>
                </a:moveTo>
                <a:lnTo>
                  <a:pt x="0" y="0"/>
                </a:lnTo>
                <a:lnTo>
                  <a:pt x="0" y="15240"/>
                </a:lnTo>
                <a:lnTo>
                  <a:pt x="224027" y="15240"/>
                </a:lnTo>
                <a:lnTo>
                  <a:pt x="224027"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8491319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C02F-FC61-4C4C-99E6-419A68BC1864}"/>
              </a:ext>
            </a:extLst>
          </p:cNvPr>
          <p:cNvSpPr>
            <a:spLocks noGrp="1"/>
          </p:cNvSpPr>
          <p:nvPr>
            <p:ph type="title"/>
          </p:nvPr>
        </p:nvSpPr>
        <p:spPr>
          <a:xfrm>
            <a:off x="386892" y="326516"/>
            <a:ext cx="7766508" cy="615553"/>
          </a:xfrm>
        </p:spPr>
        <p:txBody>
          <a:bodyPr/>
          <a:lstStyle/>
          <a:p>
            <a:r>
              <a:rPr lang="en-US" dirty="0"/>
              <a:t>Canny Edge Detection</a:t>
            </a:r>
            <a:br>
              <a:rPr lang="en-US" dirty="0"/>
            </a:br>
            <a:r>
              <a:rPr lang="en-US" b="0" u="none" dirty="0">
                <a:solidFill>
                  <a:schemeClr val="tx1"/>
                </a:solidFill>
              </a:rPr>
              <a:t>Five steps of canny edge detection</a:t>
            </a:r>
          </a:p>
        </p:txBody>
      </p:sp>
      <p:sp>
        <p:nvSpPr>
          <p:cNvPr id="3" name="Text Placeholder 2">
            <a:extLst>
              <a:ext uri="{FF2B5EF4-FFF2-40B4-BE49-F238E27FC236}">
                <a16:creationId xmlns:a16="http://schemas.microsoft.com/office/drawing/2014/main" id="{07DA400E-8EAD-48A6-A5E4-0B6F1F93D17F}"/>
              </a:ext>
            </a:extLst>
          </p:cNvPr>
          <p:cNvSpPr>
            <a:spLocks noGrp="1"/>
          </p:cNvSpPr>
          <p:nvPr>
            <p:ph type="body" idx="1"/>
          </p:nvPr>
        </p:nvSpPr>
        <p:spPr>
          <a:xfrm>
            <a:off x="653224" y="1095956"/>
            <a:ext cx="8140700" cy="1538883"/>
          </a:xfrm>
        </p:spPr>
        <p:txBody>
          <a:bodyPr/>
          <a:lstStyle/>
          <a:p>
            <a:pPr marL="457200" indent="-457200">
              <a:buAutoNum type="arabicPeriod"/>
            </a:pPr>
            <a:r>
              <a:rPr lang="en-US" dirty="0"/>
              <a:t>Noise Reduction (Gaussian Smoothing)</a:t>
            </a:r>
          </a:p>
          <a:p>
            <a:pPr marL="457200" indent="-457200">
              <a:buAutoNum type="arabicPeriod"/>
            </a:pPr>
            <a:r>
              <a:rPr lang="en-US" dirty="0"/>
              <a:t>Gradient Calculation (Intensity Changes)</a:t>
            </a:r>
          </a:p>
          <a:p>
            <a:pPr marL="457200" indent="-457200">
              <a:buAutoNum type="arabicPeriod"/>
            </a:pPr>
            <a:r>
              <a:rPr lang="en-US" dirty="0"/>
              <a:t>Non-Maximum Suppression (Thinning Edges)</a:t>
            </a:r>
          </a:p>
          <a:p>
            <a:pPr marL="457200" indent="-457200">
              <a:buAutoNum type="arabicPeriod"/>
            </a:pPr>
            <a:r>
              <a:rPr lang="en-US" dirty="0"/>
              <a:t>Double Thresholding</a:t>
            </a:r>
          </a:p>
          <a:p>
            <a:pPr marL="457200" indent="-457200">
              <a:buAutoNum type="arabicPeriod"/>
            </a:pPr>
            <a:r>
              <a:rPr lang="en-US" dirty="0"/>
              <a:t>Edge Tracking by Hysteresis</a:t>
            </a:r>
          </a:p>
        </p:txBody>
      </p:sp>
      <p:pic>
        <p:nvPicPr>
          <p:cNvPr id="5" name="Picture 4">
            <a:extLst>
              <a:ext uri="{FF2B5EF4-FFF2-40B4-BE49-F238E27FC236}">
                <a16:creationId xmlns:a16="http://schemas.microsoft.com/office/drawing/2014/main" id="{E14BB753-85E4-4463-BFB3-91871DE32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333" y="3008935"/>
            <a:ext cx="6144482" cy="2753109"/>
          </a:xfrm>
          <a:prstGeom prst="rect">
            <a:avLst/>
          </a:prstGeom>
        </p:spPr>
      </p:pic>
    </p:spTree>
    <p:extLst>
      <p:ext uri="{BB962C8B-B14F-4D97-AF65-F5344CB8AC3E}">
        <p14:creationId xmlns:p14="http://schemas.microsoft.com/office/powerpoint/2010/main" val="5447260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A46A4-A54F-43B9-B4C0-19EC132C7C88}"/>
              </a:ext>
            </a:extLst>
          </p:cNvPr>
          <p:cNvSpPr>
            <a:spLocks noGrp="1"/>
          </p:cNvSpPr>
          <p:nvPr>
            <p:ph type="title"/>
          </p:nvPr>
        </p:nvSpPr>
        <p:spPr>
          <a:xfrm>
            <a:off x="386892" y="326516"/>
            <a:ext cx="3194508" cy="307777"/>
          </a:xfrm>
        </p:spPr>
        <p:txBody>
          <a:bodyPr/>
          <a:lstStyle/>
          <a:p>
            <a:r>
              <a:rPr lang="en-US" dirty="0"/>
              <a:t>1.Noise Reduction</a:t>
            </a:r>
          </a:p>
        </p:txBody>
      </p:sp>
      <p:sp>
        <p:nvSpPr>
          <p:cNvPr id="3" name="Text Placeholder 2">
            <a:extLst>
              <a:ext uri="{FF2B5EF4-FFF2-40B4-BE49-F238E27FC236}">
                <a16:creationId xmlns:a16="http://schemas.microsoft.com/office/drawing/2014/main" id="{E6AE033C-BA96-4A12-A434-A4159F4BF53D}"/>
              </a:ext>
            </a:extLst>
          </p:cNvPr>
          <p:cNvSpPr>
            <a:spLocks noGrp="1"/>
          </p:cNvSpPr>
          <p:nvPr>
            <p:ph type="body" idx="1"/>
          </p:nvPr>
        </p:nvSpPr>
        <p:spPr>
          <a:xfrm>
            <a:off x="304800" y="914400"/>
            <a:ext cx="8140700" cy="923330"/>
          </a:xfrm>
        </p:spPr>
        <p:txBody>
          <a:bodyPr/>
          <a:lstStyle/>
          <a:p>
            <a:r>
              <a:rPr lang="en-US" b="0" dirty="0"/>
              <a:t>Since edge detection is susceptible to noise in image ,first steps is remove noise from image using gaussian filter.</a:t>
            </a:r>
          </a:p>
          <a:p>
            <a:endParaRPr lang="en-US" dirty="0"/>
          </a:p>
        </p:txBody>
      </p:sp>
      <p:sp>
        <p:nvSpPr>
          <p:cNvPr id="4" name="Title 1">
            <a:extLst>
              <a:ext uri="{FF2B5EF4-FFF2-40B4-BE49-F238E27FC236}">
                <a16:creationId xmlns:a16="http://schemas.microsoft.com/office/drawing/2014/main" id="{180FE0BF-A174-4892-AFFE-080F885BE086}"/>
              </a:ext>
            </a:extLst>
          </p:cNvPr>
          <p:cNvSpPr txBox="1">
            <a:spLocks/>
          </p:cNvSpPr>
          <p:nvPr/>
        </p:nvSpPr>
        <p:spPr>
          <a:xfrm>
            <a:off x="386892" y="1683841"/>
            <a:ext cx="5556708" cy="307777"/>
          </a:xfrm>
          <a:prstGeom prst="rect">
            <a:avLst/>
          </a:prstGeom>
        </p:spPr>
        <p:txBody>
          <a:bodyPr wrap="square" lIns="0" tIns="0" rIns="0" bIns="0">
            <a:spAutoFit/>
          </a:bodyPr>
          <a:lstStyle>
            <a:lvl1pPr>
              <a:defRPr sz="2000" b="1" i="0" u="sng">
                <a:solidFill>
                  <a:srgbClr val="FF0000"/>
                </a:solidFill>
                <a:latin typeface="Times New Roman"/>
                <a:ea typeface="+mj-ea"/>
                <a:cs typeface="Times New Roman"/>
              </a:defRPr>
            </a:lvl1pPr>
          </a:lstStyle>
          <a:p>
            <a:r>
              <a:rPr lang="en-US" dirty="0"/>
              <a:t>2. Compute Image Gradient (Intensity Change)</a:t>
            </a:r>
          </a:p>
        </p:txBody>
      </p:sp>
      <p:sp>
        <p:nvSpPr>
          <p:cNvPr id="6" name="Rectangle 5">
            <a:extLst>
              <a:ext uri="{FF2B5EF4-FFF2-40B4-BE49-F238E27FC236}">
                <a16:creationId xmlns:a16="http://schemas.microsoft.com/office/drawing/2014/main" id="{7400CC7C-4B58-43DA-B810-0A8D661F5C45}"/>
              </a:ext>
            </a:extLst>
          </p:cNvPr>
          <p:cNvSpPr/>
          <p:nvPr/>
        </p:nvSpPr>
        <p:spPr>
          <a:xfrm>
            <a:off x="387895" y="2050873"/>
            <a:ext cx="4147289" cy="369332"/>
          </a:xfrm>
          <a:prstGeom prst="rect">
            <a:avLst/>
          </a:prstGeom>
        </p:spPr>
        <p:txBody>
          <a:bodyPr wrap="none">
            <a:spAutoFit/>
          </a:bodyPr>
          <a:lstStyle/>
          <a:p>
            <a:r>
              <a:rPr lang="en-US" dirty="0"/>
              <a:t>Use </a:t>
            </a:r>
            <a:r>
              <a:rPr lang="en-US" b="1" dirty="0"/>
              <a:t>Sobel filters</a:t>
            </a:r>
            <a:r>
              <a:rPr lang="en-US" dirty="0"/>
              <a:t> in x and y directions:</a:t>
            </a:r>
          </a:p>
        </p:txBody>
      </p:sp>
      <p:sp>
        <p:nvSpPr>
          <p:cNvPr id="7" name="object 8">
            <a:extLst>
              <a:ext uri="{FF2B5EF4-FFF2-40B4-BE49-F238E27FC236}">
                <a16:creationId xmlns:a16="http://schemas.microsoft.com/office/drawing/2014/main" id="{3149211D-D642-4E8D-A3E0-A091E4011902}"/>
              </a:ext>
            </a:extLst>
          </p:cNvPr>
          <p:cNvSpPr/>
          <p:nvPr/>
        </p:nvSpPr>
        <p:spPr>
          <a:xfrm>
            <a:off x="4857800" y="4516079"/>
            <a:ext cx="789305" cy="452120"/>
          </a:xfrm>
          <a:custGeom>
            <a:avLst/>
            <a:gdLst/>
            <a:ahLst/>
            <a:cxnLst/>
            <a:rect l="l" t="t" r="r" b="b"/>
            <a:pathLst>
              <a:path w="789305" h="452120">
                <a:moveTo>
                  <a:pt x="156082" y="0"/>
                </a:moveTo>
                <a:lnTo>
                  <a:pt x="125094" y="0"/>
                </a:lnTo>
                <a:lnTo>
                  <a:pt x="83946" y="416178"/>
                </a:lnTo>
                <a:lnTo>
                  <a:pt x="34289" y="324230"/>
                </a:lnTo>
                <a:lnTo>
                  <a:pt x="0" y="342341"/>
                </a:lnTo>
                <a:lnTo>
                  <a:pt x="3810" y="349364"/>
                </a:lnTo>
                <a:lnTo>
                  <a:pt x="21970" y="339864"/>
                </a:lnTo>
                <a:lnTo>
                  <a:pt x="82931" y="452094"/>
                </a:lnTo>
                <a:lnTo>
                  <a:pt x="92201" y="452094"/>
                </a:lnTo>
                <a:lnTo>
                  <a:pt x="136270" y="13169"/>
                </a:lnTo>
                <a:lnTo>
                  <a:pt x="148844" y="13169"/>
                </a:lnTo>
                <a:lnTo>
                  <a:pt x="148844" y="14439"/>
                </a:lnTo>
                <a:lnTo>
                  <a:pt x="788924" y="14439"/>
                </a:lnTo>
                <a:lnTo>
                  <a:pt x="788924" y="723"/>
                </a:lnTo>
                <a:lnTo>
                  <a:pt x="156082" y="723"/>
                </a:lnTo>
                <a:lnTo>
                  <a:pt x="156082" y="0"/>
                </a:lnTo>
                <a:close/>
              </a:path>
            </a:pathLst>
          </a:custGeom>
          <a:solidFill>
            <a:srgbClr val="000000"/>
          </a:solidFill>
        </p:spPr>
        <p:txBody>
          <a:bodyPr wrap="square" lIns="0" tIns="0" rIns="0" bIns="0" rtlCol="0"/>
          <a:lstStyle/>
          <a:p>
            <a:endParaRPr/>
          </a:p>
        </p:txBody>
      </p:sp>
      <p:sp>
        <p:nvSpPr>
          <p:cNvPr id="8" name="object 9">
            <a:extLst>
              <a:ext uri="{FF2B5EF4-FFF2-40B4-BE49-F238E27FC236}">
                <a16:creationId xmlns:a16="http://schemas.microsoft.com/office/drawing/2014/main" id="{CF703A77-F176-4E6A-8C03-6091E0C9D2E2}"/>
              </a:ext>
            </a:extLst>
          </p:cNvPr>
          <p:cNvSpPr txBox="1"/>
          <p:nvPr/>
        </p:nvSpPr>
        <p:spPr>
          <a:xfrm>
            <a:off x="2819400" y="4601296"/>
            <a:ext cx="2871470" cy="313055"/>
          </a:xfrm>
          <a:prstGeom prst="rect">
            <a:avLst/>
          </a:prstGeom>
        </p:spPr>
        <p:txBody>
          <a:bodyPr vert="horz" wrap="square" lIns="0" tIns="12065" rIns="0" bIns="0" rtlCol="0">
            <a:spAutoFit/>
          </a:bodyPr>
          <a:lstStyle/>
          <a:p>
            <a:pPr marL="50800">
              <a:lnSpc>
                <a:spcPts val="1400"/>
              </a:lnSpc>
              <a:spcBef>
                <a:spcPts val="95"/>
              </a:spcBef>
              <a:tabLst>
                <a:tab pos="2187575" algn="l"/>
              </a:tabLst>
            </a:pPr>
            <a:r>
              <a:rPr sz="1600" dirty="0">
                <a:latin typeface="Cambria Math"/>
                <a:cs typeface="Cambria Math"/>
              </a:rPr>
              <a:t>𝑬𝒅𝒈𝒆</a:t>
            </a:r>
            <a:r>
              <a:rPr sz="1600" spc="-40" dirty="0">
                <a:latin typeface="Cambria Math"/>
                <a:cs typeface="Cambria Math"/>
              </a:rPr>
              <a:t> </a:t>
            </a:r>
            <a:r>
              <a:rPr sz="1600" dirty="0">
                <a:latin typeface="Cambria Math"/>
                <a:cs typeface="Cambria Math"/>
              </a:rPr>
              <a:t>𝑴𝒂𝒈𝒏𝒊𝒕𝒖𝒅𝒆</a:t>
            </a:r>
            <a:r>
              <a:rPr sz="1600" spc="40" dirty="0">
                <a:latin typeface="Cambria Math"/>
                <a:cs typeface="Cambria Math"/>
              </a:rPr>
              <a:t> </a:t>
            </a:r>
            <a:r>
              <a:rPr sz="1600" spc="-50" dirty="0">
                <a:latin typeface="Cambria Math"/>
                <a:cs typeface="Cambria Math"/>
              </a:rPr>
              <a:t>=</a:t>
            </a:r>
            <a:r>
              <a:rPr sz="1600" dirty="0">
                <a:latin typeface="Cambria Math"/>
                <a:cs typeface="Cambria Math"/>
              </a:rPr>
              <a:t>	𝒔</a:t>
            </a:r>
            <a:r>
              <a:rPr sz="1725" baseline="28985" dirty="0">
                <a:latin typeface="Cambria Math"/>
                <a:cs typeface="Cambria Math"/>
              </a:rPr>
              <a:t>𝟐</a:t>
            </a:r>
            <a:r>
              <a:rPr sz="1725" spc="254" baseline="28985" dirty="0">
                <a:latin typeface="Cambria Math"/>
                <a:cs typeface="Cambria Math"/>
              </a:rPr>
              <a:t> </a:t>
            </a:r>
            <a:r>
              <a:rPr sz="1600" dirty="0">
                <a:latin typeface="Cambria Math"/>
                <a:cs typeface="Cambria Math"/>
              </a:rPr>
              <a:t>+</a:t>
            </a:r>
            <a:r>
              <a:rPr sz="1600" spc="-5" dirty="0">
                <a:latin typeface="Cambria Math"/>
                <a:cs typeface="Cambria Math"/>
              </a:rPr>
              <a:t> </a:t>
            </a:r>
            <a:r>
              <a:rPr sz="1600" spc="-25" dirty="0">
                <a:latin typeface="Cambria Math"/>
                <a:cs typeface="Cambria Math"/>
              </a:rPr>
              <a:t>𝒔</a:t>
            </a:r>
            <a:r>
              <a:rPr sz="1725" spc="-37" baseline="28985" dirty="0">
                <a:latin typeface="Cambria Math"/>
                <a:cs typeface="Cambria Math"/>
              </a:rPr>
              <a:t>𝟐</a:t>
            </a:r>
            <a:endParaRPr sz="1725" baseline="28985">
              <a:latin typeface="Cambria Math"/>
              <a:cs typeface="Cambria Math"/>
            </a:endParaRPr>
          </a:p>
          <a:p>
            <a:pPr marR="43180" algn="r">
              <a:lnSpc>
                <a:spcPts val="860"/>
              </a:lnSpc>
              <a:tabLst>
                <a:tab pos="441325" algn="l"/>
              </a:tabLst>
            </a:pPr>
            <a:r>
              <a:rPr sz="1150" spc="-50" dirty="0">
                <a:latin typeface="Cambria Math"/>
                <a:cs typeface="Cambria Math"/>
              </a:rPr>
              <a:t>𝟏</a:t>
            </a:r>
            <a:r>
              <a:rPr sz="1150" dirty="0">
                <a:latin typeface="Cambria Math"/>
                <a:cs typeface="Cambria Math"/>
              </a:rPr>
              <a:t>	</a:t>
            </a:r>
            <a:r>
              <a:rPr sz="1150" spc="-50" dirty="0">
                <a:latin typeface="Cambria Math"/>
                <a:cs typeface="Cambria Math"/>
              </a:rPr>
              <a:t>𝟐</a:t>
            </a:r>
            <a:endParaRPr sz="1150">
              <a:latin typeface="Cambria Math"/>
              <a:cs typeface="Cambria Math"/>
            </a:endParaRPr>
          </a:p>
        </p:txBody>
      </p:sp>
      <p:sp>
        <p:nvSpPr>
          <p:cNvPr id="9" name="object 10">
            <a:extLst>
              <a:ext uri="{FF2B5EF4-FFF2-40B4-BE49-F238E27FC236}">
                <a16:creationId xmlns:a16="http://schemas.microsoft.com/office/drawing/2014/main" id="{F2238553-72B9-43AB-8644-BFB053F1D2D7}"/>
              </a:ext>
            </a:extLst>
          </p:cNvPr>
          <p:cNvSpPr txBox="1"/>
          <p:nvPr/>
        </p:nvSpPr>
        <p:spPr>
          <a:xfrm>
            <a:off x="5371134" y="4958827"/>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Cambria Math"/>
                <a:cs typeface="Cambria Math"/>
              </a:rPr>
              <a:t>𝒔</a:t>
            </a:r>
            <a:r>
              <a:rPr sz="1725" spc="-37" baseline="-14492" dirty="0">
                <a:latin typeface="Cambria Math"/>
                <a:cs typeface="Cambria Math"/>
              </a:rPr>
              <a:t>𝟐</a:t>
            </a:r>
            <a:endParaRPr sz="1725" baseline="-14492">
              <a:latin typeface="Cambria Math"/>
              <a:cs typeface="Cambria Math"/>
            </a:endParaRPr>
          </a:p>
        </p:txBody>
      </p:sp>
      <p:sp>
        <p:nvSpPr>
          <p:cNvPr id="10" name="object 11">
            <a:extLst>
              <a:ext uri="{FF2B5EF4-FFF2-40B4-BE49-F238E27FC236}">
                <a16:creationId xmlns:a16="http://schemas.microsoft.com/office/drawing/2014/main" id="{A2AB457B-F39A-4CE3-A1C5-84FBFAE834BA}"/>
              </a:ext>
            </a:extLst>
          </p:cNvPr>
          <p:cNvSpPr txBox="1"/>
          <p:nvPr/>
        </p:nvSpPr>
        <p:spPr>
          <a:xfrm>
            <a:off x="2954934" y="5113055"/>
            <a:ext cx="2725420" cy="404495"/>
          </a:xfrm>
          <a:prstGeom prst="rect">
            <a:avLst/>
          </a:prstGeom>
        </p:spPr>
        <p:txBody>
          <a:bodyPr vert="horz" wrap="square" lIns="0" tIns="12065" rIns="0" bIns="0" rtlCol="0">
            <a:spAutoFit/>
          </a:bodyPr>
          <a:lstStyle/>
          <a:p>
            <a:pPr marR="30480" algn="r">
              <a:lnSpc>
                <a:spcPts val="1495"/>
              </a:lnSpc>
              <a:spcBef>
                <a:spcPts val="95"/>
              </a:spcBef>
              <a:tabLst>
                <a:tab pos="2648585" algn="l"/>
              </a:tabLst>
            </a:pPr>
            <a:r>
              <a:rPr sz="1600" dirty="0">
                <a:latin typeface="Cambria Math"/>
                <a:cs typeface="Cambria Math"/>
              </a:rPr>
              <a:t>𝑬𝒅𝒈𝒆 𝑫𝒊𝒓𝒆𝒄𝒕𝒊𝒐𝒏</a:t>
            </a:r>
            <a:r>
              <a:rPr sz="1600" spc="90" dirty="0">
                <a:latin typeface="Cambria Math"/>
                <a:cs typeface="Cambria Math"/>
              </a:rPr>
              <a:t> </a:t>
            </a:r>
            <a:r>
              <a:rPr sz="1600" dirty="0">
                <a:latin typeface="Cambria Math"/>
                <a:cs typeface="Cambria Math"/>
              </a:rPr>
              <a:t>=</a:t>
            </a:r>
            <a:r>
              <a:rPr sz="1600" spc="455" dirty="0">
                <a:latin typeface="Cambria Math"/>
                <a:cs typeface="Cambria Math"/>
              </a:rPr>
              <a:t> </a:t>
            </a:r>
            <a:r>
              <a:rPr sz="1600" dirty="0">
                <a:latin typeface="Cambria Math"/>
                <a:cs typeface="Cambria Math"/>
              </a:rPr>
              <a:t>𝒕𝒂𝒏</a:t>
            </a:r>
            <a:r>
              <a:rPr sz="1725" baseline="28985" dirty="0">
                <a:latin typeface="Cambria Math"/>
                <a:cs typeface="Cambria Math"/>
              </a:rPr>
              <a:t>−𝟏</a:t>
            </a:r>
            <a:r>
              <a:rPr sz="1725" spc="104" baseline="28985" dirty="0">
                <a:latin typeface="Cambria Math"/>
                <a:cs typeface="Cambria Math"/>
              </a:rPr>
              <a:t> </a:t>
            </a:r>
            <a:r>
              <a:rPr sz="1725" u="heavy" baseline="28985" dirty="0">
                <a:uFill>
                  <a:solidFill>
                    <a:srgbClr val="000000"/>
                  </a:solidFill>
                </a:uFill>
                <a:latin typeface="Times New Roman"/>
                <a:cs typeface="Times New Roman"/>
              </a:rPr>
              <a:t>	</a:t>
            </a:r>
            <a:endParaRPr sz="1725" baseline="28985">
              <a:latin typeface="Times New Roman"/>
              <a:cs typeface="Times New Roman"/>
            </a:endParaRPr>
          </a:p>
          <a:p>
            <a:pPr marR="72390" algn="r">
              <a:lnSpc>
                <a:spcPts val="1495"/>
              </a:lnSpc>
            </a:pPr>
            <a:r>
              <a:rPr sz="1600" spc="-25" dirty="0">
                <a:latin typeface="Cambria Math"/>
                <a:cs typeface="Cambria Math"/>
              </a:rPr>
              <a:t>𝒔</a:t>
            </a:r>
            <a:r>
              <a:rPr sz="1725" spc="-37" baseline="-14492" dirty="0">
                <a:latin typeface="Cambria Math"/>
                <a:cs typeface="Cambria Math"/>
              </a:rPr>
              <a:t>𝟏</a:t>
            </a:r>
            <a:endParaRPr sz="1725" baseline="-14492">
              <a:latin typeface="Cambria Math"/>
              <a:cs typeface="Cambria Math"/>
            </a:endParaRPr>
          </a:p>
        </p:txBody>
      </p:sp>
      <p:sp>
        <p:nvSpPr>
          <p:cNvPr id="11" name="Rectangle 10">
            <a:extLst>
              <a:ext uri="{FF2B5EF4-FFF2-40B4-BE49-F238E27FC236}">
                <a16:creationId xmlns:a16="http://schemas.microsoft.com/office/drawing/2014/main" id="{14FD456A-1D8B-4116-AE77-9522AF9A4C75}"/>
              </a:ext>
            </a:extLst>
          </p:cNvPr>
          <p:cNvSpPr/>
          <p:nvPr/>
        </p:nvSpPr>
        <p:spPr>
          <a:xfrm>
            <a:off x="475601" y="5715000"/>
            <a:ext cx="4572000" cy="923330"/>
          </a:xfrm>
          <a:prstGeom prst="rect">
            <a:avLst/>
          </a:prstGeom>
        </p:spPr>
        <p:txBody>
          <a:bodyPr>
            <a:spAutoFit/>
          </a:bodyPr>
          <a:lstStyle/>
          <a:p>
            <a:r>
              <a:rPr lang="en-US" dirty="0"/>
              <a:t>Purpose:</a:t>
            </a:r>
            <a:br>
              <a:rPr lang="en-US" dirty="0"/>
            </a:br>
            <a:r>
              <a:rPr lang="en-US" dirty="0"/>
              <a:t>Find regions with rapid intensity changes → edges.</a:t>
            </a:r>
          </a:p>
        </p:txBody>
      </p:sp>
      <p:graphicFrame>
        <p:nvGraphicFramePr>
          <p:cNvPr id="12" name="object 4">
            <a:extLst>
              <a:ext uri="{FF2B5EF4-FFF2-40B4-BE49-F238E27FC236}">
                <a16:creationId xmlns:a16="http://schemas.microsoft.com/office/drawing/2014/main" id="{1113E18D-304D-470D-9EA6-797DBBFCFB4C}"/>
              </a:ext>
            </a:extLst>
          </p:cNvPr>
          <p:cNvGraphicFramePr>
            <a:graphicFrameLocks noGrp="1"/>
          </p:cNvGraphicFramePr>
          <p:nvPr>
            <p:extLst>
              <p:ext uri="{D42A27DB-BD31-4B8C-83A1-F6EECF244321}">
                <p14:modId xmlns:p14="http://schemas.microsoft.com/office/powerpoint/2010/main" val="3200630441"/>
              </p:ext>
            </p:extLst>
          </p:nvPr>
        </p:nvGraphicFramePr>
        <p:xfrm>
          <a:off x="2819400" y="2540855"/>
          <a:ext cx="1512570" cy="1111250"/>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5"/>
                        </a:spcBef>
                      </a:pPr>
                      <a:r>
                        <a:rPr sz="1800" b="1" spc="-50" dirty="0">
                          <a:latin typeface="Times New Roman"/>
                          <a:cs typeface="Times New Roman"/>
                        </a:rPr>
                        <a:t>1</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2</a:t>
                      </a:r>
                      <a:endParaRPr sz="18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b="1" spc="-50" dirty="0">
                          <a:latin typeface="Times New Roman"/>
                          <a:cs typeface="Times New Roman"/>
                        </a:rPr>
                        <a:t>1</a:t>
                      </a:r>
                      <a:endParaRPr sz="18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3" name="object 5">
            <a:extLst>
              <a:ext uri="{FF2B5EF4-FFF2-40B4-BE49-F238E27FC236}">
                <a16:creationId xmlns:a16="http://schemas.microsoft.com/office/drawing/2014/main" id="{4341E1BE-C083-41AE-82F3-ED250938554F}"/>
              </a:ext>
            </a:extLst>
          </p:cNvPr>
          <p:cNvGraphicFramePr>
            <a:graphicFrameLocks noGrp="1"/>
          </p:cNvGraphicFramePr>
          <p:nvPr>
            <p:extLst>
              <p:ext uri="{D42A27DB-BD31-4B8C-83A1-F6EECF244321}">
                <p14:modId xmlns:p14="http://schemas.microsoft.com/office/powerpoint/2010/main" val="1149492171"/>
              </p:ext>
            </p:extLst>
          </p:nvPr>
        </p:nvGraphicFramePr>
        <p:xfrm>
          <a:off x="5650095" y="2569851"/>
          <a:ext cx="1512570" cy="1110615"/>
        </p:xfrm>
        <a:graphic>
          <a:graphicData uri="http://schemas.openxmlformats.org/drawingml/2006/table">
            <a:tbl>
              <a:tblPr firstRow="1" bandRow="1">
                <a:tableStyleId>{2D5ABB26-0587-4C30-8999-92F81FD0307C}</a:tableStyleId>
              </a:tblPr>
              <a:tblGrid>
                <a:gridCol w="50419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2</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300"/>
                        </a:spcBef>
                      </a:pPr>
                      <a:r>
                        <a:rPr sz="1800" b="1" spc="-10" dirty="0">
                          <a:latin typeface="Times New Roman"/>
                          <a:cs typeface="Times New Roman"/>
                        </a:rPr>
                        <a:t>-</a:t>
                      </a:r>
                      <a:r>
                        <a:rPr sz="1800" b="1" spc="-50" dirty="0">
                          <a:latin typeface="Times New Roman"/>
                          <a:cs typeface="Times New Roman"/>
                        </a:rPr>
                        <a:t>1</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0</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800" b="1" spc="-50" dirty="0">
                          <a:latin typeface="Times New Roman"/>
                          <a:cs typeface="Times New Roman"/>
                        </a:rPr>
                        <a:t>1</a:t>
                      </a:r>
                      <a:endParaRPr sz="1800" dirty="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4" name="TextBox 13">
            <a:extLst>
              <a:ext uri="{FF2B5EF4-FFF2-40B4-BE49-F238E27FC236}">
                <a16:creationId xmlns:a16="http://schemas.microsoft.com/office/drawing/2014/main" id="{1177C499-5D5C-4840-B8B5-0163C61DE43A}"/>
              </a:ext>
            </a:extLst>
          </p:cNvPr>
          <p:cNvSpPr txBox="1"/>
          <p:nvPr/>
        </p:nvSpPr>
        <p:spPr>
          <a:xfrm>
            <a:off x="1702642" y="2824927"/>
            <a:ext cx="990735" cy="369332"/>
          </a:xfrm>
          <a:prstGeom prst="rect">
            <a:avLst/>
          </a:prstGeom>
          <a:noFill/>
        </p:spPr>
        <p:txBody>
          <a:bodyPr wrap="square" rtlCol="0">
            <a:spAutoFit/>
          </a:bodyPr>
          <a:lstStyle/>
          <a:p>
            <a:r>
              <a:rPr lang="en-US" dirty="0" err="1"/>
              <a:t>G</a:t>
            </a:r>
            <a:r>
              <a:rPr lang="en-US" sz="1000" dirty="0" err="1"/>
              <a:t>y</a:t>
            </a:r>
            <a:r>
              <a:rPr lang="en-US" sz="1000" dirty="0"/>
              <a:t> </a:t>
            </a:r>
            <a:r>
              <a:rPr lang="en-US" dirty="0"/>
              <a:t>=</a:t>
            </a:r>
          </a:p>
        </p:txBody>
      </p:sp>
      <p:sp>
        <p:nvSpPr>
          <p:cNvPr id="15" name="TextBox 14">
            <a:extLst>
              <a:ext uri="{FF2B5EF4-FFF2-40B4-BE49-F238E27FC236}">
                <a16:creationId xmlns:a16="http://schemas.microsoft.com/office/drawing/2014/main" id="{6000A9F8-90B8-479E-84D3-816DD9C5A9A4}"/>
              </a:ext>
            </a:extLst>
          </p:cNvPr>
          <p:cNvSpPr txBox="1"/>
          <p:nvPr/>
        </p:nvSpPr>
        <p:spPr>
          <a:xfrm>
            <a:off x="4875766" y="2827231"/>
            <a:ext cx="990735" cy="369332"/>
          </a:xfrm>
          <a:prstGeom prst="rect">
            <a:avLst/>
          </a:prstGeom>
          <a:noFill/>
        </p:spPr>
        <p:txBody>
          <a:bodyPr wrap="square" rtlCol="0">
            <a:spAutoFit/>
          </a:bodyPr>
          <a:lstStyle/>
          <a:p>
            <a:r>
              <a:rPr lang="en-US" dirty="0" err="1"/>
              <a:t>G</a:t>
            </a:r>
            <a:r>
              <a:rPr lang="en-US" sz="1000" dirty="0" err="1"/>
              <a:t>x</a:t>
            </a:r>
            <a:r>
              <a:rPr lang="en-US" sz="1000" dirty="0"/>
              <a:t> </a:t>
            </a:r>
            <a:r>
              <a:rPr lang="en-US" dirty="0"/>
              <a:t>=</a:t>
            </a:r>
          </a:p>
        </p:txBody>
      </p:sp>
    </p:spTree>
    <p:extLst>
      <p:ext uri="{BB962C8B-B14F-4D97-AF65-F5344CB8AC3E}">
        <p14:creationId xmlns:p14="http://schemas.microsoft.com/office/powerpoint/2010/main" val="9149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4240-D1E0-47FA-9668-31F982E1B616}"/>
              </a:ext>
            </a:extLst>
          </p:cNvPr>
          <p:cNvSpPr>
            <a:spLocks noGrp="1"/>
          </p:cNvSpPr>
          <p:nvPr>
            <p:ph type="title"/>
          </p:nvPr>
        </p:nvSpPr>
        <p:spPr>
          <a:xfrm>
            <a:off x="386892" y="326517"/>
            <a:ext cx="7080708" cy="664084"/>
          </a:xfrm>
        </p:spPr>
        <p:txBody>
          <a:bodyPr/>
          <a:lstStyle/>
          <a:p>
            <a:r>
              <a:rPr lang="en-US" dirty="0"/>
              <a:t>Non-Maximum Suppression (NMS)</a:t>
            </a:r>
          </a:p>
        </p:txBody>
      </p:sp>
      <p:sp>
        <p:nvSpPr>
          <p:cNvPr id="3" name="Text Placeholder 2">
            <a:extLst>
              <a:ext uri="{FF2B5EF4-FFF2-40B4-BE49-F238E27FC236}">
                <a16:creationId xmlns:a16="http://schemas.microsoft.com/office/drawing/2014/main" id="{C7AB103A-06B0-4BFB-B4E4-6C98D96D33FB}"/>
              </a:ext>
            </a:extLst>
          </p:cNvPr>
          <p:cNvSpPr>
            <a:spLocks noGrp="1"/>
          </p:cNvSpPr>
          <p:nvPr>
            <p:ph type="body" idx="1"/>
          </p:nvPr>
        </p:nvSpPr>
        <p:spPr>
          <a:xfrm>
            <a:off x="386892" y="990600"/>
            <a:ext cx="8140700" cy="3323987"/>
          </a:xfrm>
        </p:spPr>
        <p:txBody>
          <a:bodyPr/>
          <a:lstStyle/>
          <a:p>
            <a:pPr marL="342900" indent="-342900" algn="just">
              <a:buFont typeface="Wingdings" panose="05000000000000000000" pitchFamily="2" charset="2"/>
              <a:buChar char="§"/>
            </a:pPr>
            <a:r>
              <a:rPr lang="en-US" sz="2400" b="0" dirty="0"/>
              <a:t>Non-maximum suppression in the Canny edge detection algorithm works by </a:t>
            </a:r>
            <a:r>
              <a:rPr lang="en-US" sz="2400" b="0" dirty="0">
                <a:solidFill>
                  <a:srgbClr val="FF0000"/>
                </a:solidFill>
              </a:rPr>
              <a:t>examining each pixel's gradient magnitude and orientation and comparing it with the neighboring pixels along the gradient direction.</a:t>
            </a:r>
            <a:r>
              <a:rPr lang="en-US" sz="2400" b="0" dirty="0"/>
              <a:t> If the </a:t>
            </a:r>
            <a:r>
              <a:rPr lang="en-US" sz="2400" b="0" dirty="0">
                <a:solidFill>
                  <a:srgbClr val="FF0000"/>
                </a:solidFill>
              </a:rPr>
              <a:t>central pixel's gradient magnitude is the largest among its neighbors, it means that this pixel is likely part of an edge, and we keep it</a:t>
            </a:r>
            <a:r>
              <a:rPr lang="en-US" sz="2400" b="0" dirty="0"/>
              <a:t>. If not, we suppress it by setting its intensity to zero and removing it from consideration as an edge pixel.</a:t>
            </a:r>
          </a:p>
          <a:p>
            <a:pPr marL="342900" indent="-342900" algn="just">
              <a:buFont typeface="Wingdings" panose="05000000000000000000" pitchFamily="2" charset="2"/>
              <a:buChar char="§"/>
            </a:pPr>
            <a:endParaRPr lang="en-US" sz="2400" dirty="0"/>
          </a:p>
        </p:txBody>
      </p:sp>
      <p:pic>
        <p:nvPicPr>
          <p:cNvPr id="7" name="Picture 6">
            <a:extLst>
              <a:ext uri="{FF2B5EF4-FFF2-40B4-BE49-F238E27FC236}">
                <a16:creationId xmlns:a16="http://schemas.microsoft.com/office/drawing/2014/main" id="{56DD8419-EC16-4B6C-8513-F32D3BCDF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4114800"/>
            <a:ext cx="5410200" cy="1938992"/>
          </a:xfrm>
          <a:prstGeom prst="rect">
            <a:avLst/>
          </a:prstGeom>
        </p:spPr>
      </p:pic>
    </p:spTree>
    <p:extLst>
      <p:ext uri="{BB962C8B-B14F-4D97-AF65-F5344CB8AC3E}">
        <p14:creationId xmlns:p14="http://schemas.microsoft.com/office/powerpoint/2010/main" val="1022289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C5E5-DEDA-4AC7-8C03-E30FB59594AE}"/>
              </a:ext>
            </a:extLst>
          </p:cNvPr>
          <p:cNvSpPr>
            <a:spLocks noGrp="1"/>
          </p:cNvSpPr>
          <p:nvPr>
            <p:ph type="title"/>
          </p:nvPr>
        </p:nvSpPr>
        <p:spPr>
          <a:xfrm>
            <a:off x="386892" y="326516"/>
            <a:ext cx="7614108" cy="1107996"/>
          </a:xfrm>
        </p:spPr>
        <p:txBody>
          <a:bodyPr/>
          <a:lstStyle/>
          <a:p>
            <a:pPr marL="342900" lvl="2" indent="-342900"/>
            <a:r>
              <a:rPr lang="en-US" sz="2400" b="1" dirty="0"/>
              <a:t>Double thresholding</a:t>
            </a:r>
            <a:br>
              <a:rPr lang="en-US" sz="2400" dirty="0"/>
            </a:br>
            <a:br>
              <a:rPr lang="en-US" sz="2400" b="1" dirty="0">
                <a:solidFill>
                  <a:srgbClr val="FF0000"/>
                </a:solidFill>
                <a:latin typeface="system-ui"/>
              </a:rPr>
            </a:br>
            <a:r>
              <a:rPr lang="en-US" sz="2400" b="1" dirty="0">
                <a:solidFill>
                  <a:srgbClr val="FF0000"/>
                </a:solidFill>
                <a:latin typeface="system-ui"/>
              </a:rPr>
              <a:t>S</a:t>
            </a:r>
            <a:r>
              <a:rPr lang="en-US" sz="2400" b="1" i="0" dirty="0">
                <a:solidFill>
                  <a:srgbClr val="FF0000"/>
                </a:solidFill>
                <a:effectLst/>
                <a:latin typeface="system-ui"/>
              </a:rPr>
              <a:t>trong edges, weak edges, and non-edges</a:t>
            </a:r>
            <a:endParaRPr lang="en-US" b="1" dirty="0">
              <a:solidFill>
                <a:srgbClr val="FF0000"/>
              </a:solidFill>
            </a:endParaRPr>
          </a:p>
        </p:txBody>
      </p:sp>
      <p:sp>
        <p:nvSpPr>
          <p:cNvPr id="3" name="Text Placeholder 2">
            <a:extLst>
              <a:ext uri="{FF2B5EF4-FFF2-40B4-BE49-F238E27FC236}">
                <a16:creationId xmlns:a16="http://schemas.microsoft.com/office/drawing/2014/main" id="{D9EFE6F7-E9F9-400F-BF9A-8478E79FBA25}"/>
              </a:ext>
            </a:extLst>
          </p:cNvPr>
          <p:cNvSpPr>
            <a:spLocks noGrp="1"/>
          </p:cNvSpPr>
          <p:nvPr>
            <p:ph type="body" idx="1"/>
          </p:nvPr>
        </p:nvSpPr>
        <p:spPr>
          <a:xfrm>
            <a:off x="609600" y="1469615"/>
            <a:ext cx="8140700" cy="3693319"/>
          </a:xfrm>
        </p:spPr>
        <p:txBody>
          <a:bodyPr/>
          <a:lstStyle/>
          <a:p>
            <a:r>
              <a:rPr lang="en-US" b="0" dirty="0"/>
              <a:t>A high threshold and a low threshold are used for this purpose.</a:t>
            </a:r>
          </a:p>
          <a:p>
            <a:r>
              <a:rPr lang="en-US" dirty="0">
                <a:solidFill>
                  <a:srgbClr val="FF0000"/>
                </a:solidFill>
              </a:rPr>
              <a:t>Strong edges</a:t>
            </a:r>
          </a:p>
          <a:p>
            <a:r>
              <a:rPr lang="en-US" b="0" dirty="0"/>
              <a:t>Pixels with gradient magnitudes above the high threshold are considered strong edges, indicating significant intensity changes.</a:t>
            </a:r>
          </a:p>
          <a:p>
            <a:r>
              <a:rPr lang="en-US" dirty="0">
                <a:solidFill>
                  <a:srgbClr val="FF0000"/>
                </a:solidFill>
              </a:rPr>
              <a:t>weak edges</a:t>
            </a:r>
          </a:p>
          <a:p>
            <a:r>
              <a:rPr lang="en-US" b="0" dirty="0"/>
              <a:t>Pixels with gradient magnitudes between low threshold and high threshold are classified as weak edges. These weak edges may represent real edges or noise, and they need further verification.</a:t>
            </a:r>
          </a:p>
          <a:p>
            <a:r>
              <a:rPr lang="en-US" dirty="0">
                <a:solidFill>
                  <a:srgbClr val="FF0000"/>
                </a:solidFill>
              </a:rPr>
              <a:t>non-edges</a:t>
            </a:r>
          </a:p>
          <a:p>
            <a:r>
              <a:rPr lang="en-US" b="0" dirty="0"/>
              <a:t>Pixels with gradient magnitudes below the low threshold are considered non-edges and are discarded.</a:t>
            </a:r>
          </a:p>
          <a:p>
            <a:endParaRPr lang="en-US" dirty="0"/>
          </a:p>
        </p:txBody>
      </p:sp>
      <p:pic>
        <p:nvPicPr>
          <p:cNvPr id="5" name="Picture 4">
            <a:extLst>
              <a:ext uri="{FF2B5EF4-FFF2-40B4-BE49-F238E27FC236}">
                <a16:creationId xmlns:a16="http://schemas.microsoft.com/office/drawing/2014/main" id="{5E9C548D-88CF-4F6B-BF3C-1974F0909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4943871"/>
            <a:ext cx="5540721" cy="1587613"/>
          </a:xfrm>
          <a:prstGeom prst="rect">
            <a:avLst/>
          </a:prstGeom>
        </p:spPr>
      </p:pic>
    </p:spTree>
    <p:extLst>
      <p:ext uri="{BB962C8B-B14F-4D97-AF65-F5344CB8AC3E}">
        <p14:creationId xmlns:p14="http://schemas.microsoft.com/office/powerpoint/2010/main" val="33170309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EDA8-23C9-438F-A162-FA4A1B59AC4F}"/>
              </a:ext>
            </a:extLst>
          </p:cNvPr>
          <p:cNvSpPr>
            <a:spLocks noGrp="1"/>
          </p:cNvSpPr>
          <p:nvPr>
            <p:ph type="title"/>
          </p:nvPr>
        </p:nvSpPr>
        <p:spPr>
          <a:xfrm>
            <a:off x="386892" y="326517"/>
            <a:ext cx="8071308" cy="677108"/>
          </a:xfrm>
        </p:spPr>
        <p:txBody>
          <a:bodyPr/>
          <a:lstStyle/>
          <a:p>
            <a:r>
              <a:rPr lang="en-US" sz="2400" dirty="0"/>
              <a:t>Edge tracking by hysteresis</a:t>
            </a:r>
            <a:br>
              <a:rPr lang="en-US" dirty="0"/>
            </a:br>
            <a:endParaRPr lang="en-US" dirty="0"/>
          </a:p>
        </p:txBody>
      </p:sp>
      <p:sp>
        <p:nvSpPr>
          <p:cNvPr id="3" name="Text Placeholder 2">
            <a:extLst>
              <a:ext uri="{FF2B5EF4-FFF2-40B4-BE49-F238E27FC236}">
                <a16:creationId xmlns:a16="http://schemas.microsoft.com/office/drawing/2014/main" id="{DCC4E8F3-D8AD-4503-946E-7FA6A337F033}"/>
              </a:ext>
            </a:extLst>
          </p:cNvPr>
          <p:cNvSpPr>
            <a:spLocks noGrp="1"/>
          </p:cNvSpPr>
          <p:nvPr>
            <p:ph type="body" idx="1"/>
          </p:nvPr>
        </p:nvSpPr>
        <p:spPr>
          <a:xfrm>
            <a:off x="317500" y="990600"/>
            <a:ext cx="8140700" cy="4062651"/>
          </a:xfrm>
        </p:spPr>
        <p:txBody>
          <a:bodyPr/>
          <a:lstStyle/>
          <a:p>
            <a:r>
              <a:rPr lang="en-US" sz="2400" b="0" dirty="0"/>
              <a:t>The last step of the Canny edge detection algorithm is edge tracking </a:t>
            </a:r>
            <a:r>
              <a:rPr lang="en-US" sz="2400" b="0" dirty="0">
                <a:solidFill>
                  <a:srgbClr val="FF0000"/>
                </a:solidFill>
              </a:rPr>
              <a:t>by hysteresis</a:t>
            </a:r>
            <a:r>
              <a:rPr lang="en-US" sz="2400" b="0" dirty="0"/>
              <a:t>.</a:t>
            </a:r>
          </a:p>
          <a:p>
            <a:pPr algn="just"/>
            <a:r>
              <a:rPr lang="en-US" sz="2400" dirty="0"/>
              <a:t>Hysteresis</a:t>
            </a:r>
            <a:r>
              <a:rPr lang="en-US" sz="2400" b="0" dirty="0"/>
              <a:t> means </a:t>
            </a:r>
            <a:r>
              <a:rPr lang="en-US" sz="2400" b="0" dirty="0">
                <a:solidFill>
                  <a:srgbClr val="FF0000"/>
                </a:solidFill>
              </a:rPr>
              <a:t>'remembering the past</a:t>
            </a:r>
            <a:r>
              <a:rPr lang="en-US" sz="2400" b="0" dirty="0"/>
              <a:t>' to make our edges more accurate and reliable. This </a:t>
            </a:r>
            <a:r>
              <a:rPr lang="en-US" sz="2400" b="0" dirty="0">
                <a:solidFill>
                  <a:srgbClr val="FF0000"/>
                </a:solidFill>
              </a:rPr>
              <a:t>step aims to link weak edges that are likely part of real edges to the strong edges</a:t>
            </a:r>
            <a:r>
              <a:rPr lang="en-US" sz="2400" b="0" dirty="0"/>
              <a:t>. Starting from each strong edge pixel, the algorithm traces the edge by considering its neighboring weak edge pixels that are connected. If a weak edge pixel is connected to a strong edge pixel, it is also considered part of the edge and retained. This process continues until no more weak edges are connected. This ensures that the edges are continuous and well-defined.</a:t>
            </a:r>
            <a:endParaRPr lang="en-US" sz="2400" dirty="0"/>
          </a:p>
        </p:txBody>
      </p:sp>
    </p:spTree>
    <p:extLst>
      <p:ext uri="{BB962C8B-B14F-4D97-AF65-F5344CB8AC3E}">
        <p14:creationId xmlns:p14="http://schemas.microsoft.com/office/powerpoint/2010/main" val="2835854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044AE4-522B-42BE-9F43-8D9BAF271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609600"/>
            <a:ext cx="8001000" cy="5486400"/>
          </a:xfrm>
          <a:prstGeom prst="rect">
            <a:avLst/>
          </a:prstGeom>
        </p:spPr>
      </p:pic>
    </p:spTree>
    <p:extLst>
      <p:ext uri="{BB962C8B-B14F-4D97-AF65-F5344CB8AC3E}">
        <p14:creationId xmlns:p14="http://schemas.microsoft.com/office/powerpoint/2010/main" val="29722208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400" y="917194"/>
            <a:ext cx="8352790" cy="635635"/>
          </a:xfrm>
          <a:prstGeom prst="rect">
            <a:avLst/>
          </a:prstGeom>
        </p:spPr>
        <p:txBody>
          <a:bodyPr vert="horz" wrap="square" lIns="0" tIns="13335" rIns="0" bIns="0" rtlCol="0">
            <a:spAutoFit/>
          </a:bodyPr>
          <a:lstStyle/>
          <a:p>
            <a:pPr marL="12700" marR="5080">
              <a:lnSpc>
                <a:spcPct val="100000"/>
              </a:lnSpc>
              <a:spcBef>
                <a:spcPts val="105"/>
              </a:spcBef>
            </a:pPr>
            <a:r>
              <a:rPr u="none" dirty="0">
                <a:solidFill>
                  <a:srgbClr val="000000"/>
                </a:solidFill>
              </a:rPr>
              <a:t>In</a:t>
            </a:r>
            <a:r>
              <a:rPr u="none" spc="75" dirty="0">
                <a:solidFill>
                  <a:srgbClr val="000000"/>
                </a:solidFill>
              </a:rPr>
              <a:t> </a:t>
            </a:r>
            <a:r>
              <a:rPr u="none" dirty="0">
                <a:solidFill>
                  <a:srgbClr val="000000"/>
                </a:solidFill>
              </a:rPr>
              <a:t>real</a:t>
            </a:r>
            <a:r>
              <a:rPr u="none" spc="45" dirty="0">
                <a:solidFill>
                  <a:srgbClr val="000000"/>
                </a:solidFill>
              </a:rPr>
              <a:t> </a:t>
            </a:r>
            <a:r>
              <a:rPr u="none" dirty="0">
                <a:solidFill>
                  <a:srgbClr val="000000"/>
                </a:solidFill>
              </a:rPr>
              <a:t>applications,</a:t>
            </a:r>
            <a:r>
              <a:rPr u="none" spc="60" dirty="0">
                <a:solidFill>
                  <a:srgbClr val="000000"/>
                </a:solidFill>
              </a:rPr>
              <a:t> </a:t>
            </a:r>
            <a:r>
              <a:rPr u="none" dirty="0"/>
              <a:t>it</a:t>
            </a:r>
            <a:r>
              <a:rPr u="none" spc="65" dirty="0"/>
              <a:t> </a:t>
            </a:r>
            <a:r>
              <a:rPr u="none" dirty="0"/>
              <a:t>is</a:t>
            </a:r>
            <a:r>
              <a:rPr u="none" spc="60" dirty="0"/>
              <a:t> </a:t>
            </a:r>
            <a:r>
              <a:rPr u="none" dirty="0"/>
              <a:t>hard</a:t>
            </a:r>
            <a:r>
              <a:rPr u="none" spc="60" dirty="0"/>
              <a:t> </a:t>
            </a:r>
            <a:r>
              <a:rPr u="none" dirty="0"/>
              <a:t>to</a:t>
            </a:r>
            <a:r>
              <a:rPr u="none" spc="65" dirty="0"/>
              <a:t> </a:t>
            </a:r>
            <a:r>
              <a:rPr u="none" dirty="0"/>
              <a:t>know</a:t>
            </a:r>
            <a:r>
              <a:rPr u="none" spc="70" dirty="0"/>
              <a:t> </a:t>
            </a:r>
            <a:r>
              <a:rPr u="none" dirty="0"/>
              <a:t>what</a:t>
            </a:r>
            <a:r>
              <a:rPr u="none" spc="55" dirty="0"/>
              <a:t> </a:t>
            </a:r>
            <a:r>
              <a:rPr u="none" dirty="0"/>
              <a:t>kind</a:t>
            </a:r>
            <a:r>
              <a:rPr u="none" spc="50" dirty="0"/>
              <a:t> </a:t>
            </a:r>
            <a:r>
              <a:rPr u="none" dirty="0"/>
              <a:t>of</a:t>
            </a:r>
            <a:r>
              <a:rPr u="none" spc="65" dirty="0"/>
              <a:t> </a:t>
            </a:r>
            <a:r>
              <a:rPr u="none" dirty="0"/>
              <a:t>noise</a:t>
            </a:r>
            <a:r>
              <a:rPr u="none" spc="60" dirty="0"/>
              <a:t> </a:t>
            </a:r>
            <a:r>
              <a:rPr u="none" dirty="0"/>
              <a:t>has</a:t>
            </a:r>
            <a:r>
              <a:rPr u="none" spc="55" dirty="0"/>
              <a:t> </a:t>
            </a:r>
            <a:r>
              <a:rPr u="none" dirty="0"/>
              <a:t>been</a:t>
            </a:r>
            <a:r>
              <a:rPr u="none" spc="65" dirty="0"/>
              <a:t> </a:t>
            </a:r>
            <a:r>
              <a:rPr u="none" dirty="0"/>
              <a:t>added</a:t>
            </a:r>
            <a:r>
              <a:rPr u="none" spc="55" dirty="0"/>
              <a:t> </a:t>
            </a:r>
            <a:r>
              <a:rPr u="none" spc="-25" dirty="0"/>
              <a:t>to </a:t>
            </a:r>
            <a:r>
              <a:rPr u="none" dirty="0"/>
              <a:t>an </a:t>
            </a:r>
            <a:r>
              <a:rPr u="none" spc="-10" dirty="0"/>
              <a:t>image</a:t>
            </a:r>
            <a:r>
              <a:rPr u="none" spc="-10" dirty="0">
                <a:solidFill>
                  <a:srgbClr val="000000"/>
                </a:solidFill>
              </a:rPr>
              <a:t>.</a:t>
            </a:r>
          </a:p>
        </p:txBody>
      </p:sp>
      <p:sp>
        <p:nvSpPr>
          <p:cNvPr id="3" name="object 3"/>
          <p:cNvSpPr txBox="1"/>
          <p:nvPr/>
        </p:nvSpPr>
        <p:spPr>
          <a:xfrm>
            <a:off x="386892" y="1526794"/>
            <a:ext cx="8373109" cy="5042535"/>
          </a:xfrm>
          <a:prstGeom prst="rect">
            <a:avLst/>
          </a:prstGeom>
        </p:spPr>
        <p:txBody>
          <a:bodyPr vert="horz" wrap="square" lIns="0" tIns="13335" rIns="0" bIns="0" rtlCol="0">
            <a:spAutoFit/>
          </a:bodyPr>
          <a:lstStyle/>
          <a:p>
            <a:pPr marL="371475" marR="5715" indent="-339725" algn="just">
              <a:lnSpc>
                <a:spcPct val="100000"/>
              </a:lnSpc>
              <a:spcBef>
                <a:spcPts val="105"/>
              </a:spcBef>
              <a:buFont typeface="Arial MT"/>
              <a:buChar char="•"/>
              <a:tabLst>
                <a:tab pos="375285" algn="l"/>
              </a:tabLst>
            </a:pPr>
            <a:r>
              <a:rPr sz="2000" b="1" dirty="0">
                <a:latin typeface="Times New Roman"/>
                <a:cs typeface="Times New Roman"/>
              </a:rPr>
              <a:t>Therefore,</a:t>
            </a:r>
            <a:r>
              <a:rPr sz="2000" b="1" spc="409" dirty="0">
                <a:latin typeface="Times New Roman"/>
                <a:cs typeface="Times New Roman"/>
              </a:rPr>
              <a:t> </a:t>
            </a:r>
            <a:r>
              <a:rPr sz="2000" b="1" dirty="0">
                <a:solidFill>
                  <a:srgbClr val="006FC0"/>
                </a:solidFill>
                <a:latin typeface="Times New Roman"/>
                <a:cs typeface="Times New Roman"/>
              </a:rPr>
              <a:t>it</a:t>
            </a:r>
            <a:r>
              <a:rPr sz="2000" b="1" spc="409" dirty="0">
                <a:solidFill>
                  <a:srgbClr val="006FC0"/>
                </a:solidFill>
                <a:latin typeface="Times New Roman"/>
                <a:cs typeface="Times New Roman"/>
              </a:rPr>
              <a:t> </a:t>
            </a:r>
            <a:r>
              <a:rPr sz="2000" b="1" dirty="0">
                <a:solidFill>
                  <a:srgbClr val="006FC0"/>
                </a:solidFill>
                <a:latin typeface="Times New Roman"/>
                <a:cs typeface="Times New Roman"/>
              </a:rPr>
              <a:t>is</a:t>
            </a:r>
            <a:r>
              <a:rPr sz="2000" b="1" spc="409" dirty="0">
                <a:solidFill>
                  <a:srgbClr val="006FC0"/>
                </a:solidFill>
                <a:latin typeface="Times New Roman"/>
                <a:cs typeface="Times New Roman"/>
              </a:rPr>
              <a:t> </a:t>
            </a:r>
            <a:r>
              <a:rPr sz="2000" b="1" dirty="0">
                <a:solidFill>
                  <a:srgbClr val="006FC0"/>
                </a:solidFill>
                <a:latin typeface="Times New Roman"/>
                <a:cs typeface="Times New Roman"/>
              </a:rPr>
              <a:t>difficult</a:t>
            </a:r>
            <a:r>
              <a:rPr sz="2000" b="1" spc="405" dirty="0">
                <a:solidFill>
                  <a:srgbClr val="006FC0"/>
                </a:solidFill>
                <a:latin typeface="Times New Roman"/>
                <a:cs typeface="Times New Roman"/>
              </a:rPr>
              <a:t> </a:t>
            </a:r>
            <a:r>
              <a:rPr sz="2000" b="1" dirty="0">
                <a:solidFill>
                  <a:srgbClr val="006FC0"/>
                </a:solidFill>
                <a:latin typeface="Times New Roman"/>
                <a:cs typeface="Times New Roman"/>
              </a:rPr>
              <a:t>to</a:t>
            </a:r>
            <a:r>
              <a:rPr sz="2000" b="1" spc="405" dirty="0">
                <a:solidFill>
                  <a:srgbClr val="006FC0"/>
                </a:solidFill>
                <a:latin typeface="Times New Roman"/>
                <a:cs typeface="Times New Roman"/>
              </a:rPr>
              <a:t> </a:t>
            </a:r>
            <a:r>
              <a:rPr sz="2000" b="1" dirty="0">
                <a:solidFill>
                  <a:srgbClr val="006FC0"/>
                </a:solidFill>
                <a:latin typeface="Times New Roman"/>
                <a:cs typeface="Times New Roman"/>
              </a:rPr>
              <a:t>find</a:t>
            </a:r>
            <a:r>
              <a:rPr sz="2000" b="1" spc="405" dirty="0">
                <a:solidFill>
                  <a:srgbClr val="006FC0"/>
                </a:solidFill>
                <a:latin typeface="Times New Roman"/>
                <a:cs typeface="Times New Roman"/>
              </a:rPr>
              <a:t> </a:t>
            </a:r>
            <a:r>
              <a:rPr sz="2000" b="1" dirty="0">
                <a:solidFill>
                  <a:srgbClr val="006FC0"/>
                </a:solidFill>
                <a:latin typeface="Times New Roman"/>
                <a:cs typeface="Times New Roman"/>
              </a:rPr>
              <a:t>a</a:t>
            </a:r>
            <a:r>
              <a:rPr sz="2000" b="1" spc="420" dirty="0">
                <a:solidFill>
                  <a:srgbClr val="006FC0"/>
                </a:solidFill>
                <a:latin typeface="Times New Roman"/>
                <a:cs typeface="Times New Roman"/>
              </a:rPr>
              <a:t> </a:t>
            </a:r>
            <a:r>
              <a:rPr sz="2000" b="1" dirty="0">
                <a:solidFill>
                  <a:srgbClr val="006FC0"/>
                </a:solidFill>
                <a:latin typeface="Times New Roman"/>
                <a:cs typeface="Times New Roman"/>
              </a:rPr>
              <a:t>unique</a:t>
            </a:r>
            <a:r>
              <a:rPr sz="2000" b="1" spc="409" dirty="0">
                <a:solidFill>
                  <a:srgbClr val="006FC0"/>
                </a:solidFill>
                <a:latin typeface="Times New Roman"/>
                <a:cs typeface="Times New Roman"/>
              </a:rPr>
              <a:t> </a:t>
            </a:r>
            <a:r>
              <a:rPr sz="2000" b="1" dirty="0">
                <a:solidFill>
                  <a:srgbClr val="006FC0"/>
                </a:solidFill>
                <a:latin typeface="Times New Roman"/>
                <a:cs typeface="Times New Roman"/>
              </a:rPr>
              <a:t>filter</a:t>
            </a:r>
            <a:r>
              <a:rPr sz="2000" b="1" spc="370" dirty="0">
                <a:solidFill>
                  <a:srgbClr val="006FC0"/>
                </a:solidFill>
                <a:latin typeface="Times New Roman"/>
                <a:cs typeface="Times New Roman"/>
              </a:rPr>
              <a:t> </a:t>
            </a:r>
            <a:r>
              <a:rPr sz="2000" b="1" dirty="0">
                <a:solidFill>
                  <a:srgbClr val="006FC0"/>
                </a:solidFill>
                <a:latin typeface="Times New Roman"/>
                <a:cs typeface="Times New Roman"/>
              </a:rPr>
              <a:t>that</a:t>
            </a:r>
            <a:r>
              <a:rPr sz="2000" b="1" spc="409" dirty="0">
                <a:solidFill>
                  <a:srgbClr val="006FC0"/>
                </a:solidFill>
                <a:latin typeface="Times New Roman"/>
                <a:cs typeface="Times New Roman"/>
              </a:rPr>
              <a:t> </a:t>
            </a:r>
            <a:r>
              <a:rPr sz="2000" b="1" dirty="0">
                <a:solidFill>
                  <a:srgbClr val="006FC0"/>
                </a:solidFill>
                <a:latin typeface="Times New Roman"/>
                <a:cs typeface="Times New Roman"/>
              </a:rPr>
              <a:t>can</a:t>
            </a:r>
            <a:r>
              <a:rPr sz="2000" b="1" spc="409" dirty="0">
                <a:solidFill>
                  <a:srgbClr val="006FC0"/>
                </a:solidFill>
                <a:latin typeface="Times New Roman"/>
                <a:cs typeface="Times New Roman"/>
              </a:rPr>
              <a:t> </a:t>
            </a:r>
            <a:r>
              <a:rPr sz="2000" b="1" spc="-10" dirty="0">
                <a:solidFill>
                  <a:srgbClr val="006FC0"/>
                </a:solidFill>
                <a:latin typeface="Times New Roman"/>
                <a:cs typeface="Times New Roman"/>
              </a:rPr>
              <a:t>appropriately 	</a:t>
            </a:r>
            <a:r>
              <a:rPr sz="2000" b="1" dirty="0">
                <a:solidFill>
                  <a:srgbClr val="006FC0"/>
                </a:solidFill>
                <a:latin typeface="Times New Roman"/>
                <a:cs typeface="Times New Roman"/>
              </a:rPr>
              <a:t>enhance</a:t>
            </a:r>
            <a:r>
              <a:rPr sz="2000" b="1" spc="-25" dirty="0">
                <a:solidFill>
                  <a:srgbClr val="006FC0"/>
                </a:solidFill>
                <a:latin typeface="Times New Roman"/>
                <a:cs typeface="Times New Roman"/>
              </a:rPr>
              <a:t> </a:t>
            </a:r>
            <a:r>
              <a:rPr sz="2000" b="1" dirty="0">
                <a:solidFill>
                  <a:srgbClr val="006FC0"/>
                </a:solidFill>
                <a:latin typeface="Times New Roman"/>
                <a:cs typeface="Times New Roman"/>
              </a:rPr>
              <a:t>this</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noisy</a:t>
            </a:r>
            <a:r>
              <a:rPr sz="2000" b="1" spc="-25" dirty="0">
                <a:solidFill>
                  <a:srgbClr val="006FC0"/>
                </a:solidFill>
                <a:latin typeface="Times New Roman"/>
                <a:cs typeface="Times New Roman"/>
              </a:rPr>
              <a:t> </a:t>
            </a:r>
            <a:r>
              <a:rPr sz="2000" b="1" spc="-10" dirty="0">
                <a:solidFill>
                  <a:srgbClr val="006FC0"/>
                </a:solidFill>
                <a:latin typeface="Times New Roman"/>
                <a:cs typeface="Times New Roman"/>
              </a:rPr>
              <a:t>image</a:t>
            </a:r>
            <a:r>
              <a:rPr sz="2000" b="1" spc="-10" dirty="0">
                <a:latin typeface="Times New Roman"/>
                <a:cs typeface="Times New Roman"/>
              </a:rPr>
              <a:t>.</a:t>
            </a:r>
            <a:endParaRPr sz="2000">
              <a:latin typeface="Times New Roman"/>
              <a:cs typeface="Times New Roman"/>
            </a:endParaRPr>
          </a:p>
          <a:p>
            <a:pPr marL="31750" marR="5080" algn="just">
              <a:lnSpc>
                <a:spcPct val="100000"/>
              </a:lnSpc>
            </a:pPr>
            <a:r>
              <a:rPr sz="2000" b="1" dirty="0">
                <a:latin typeface="Times New Roman"/>
                <a:cs typeface="Times New Roman"/>
              </a:rPr>
              <a:t>However,</a:t>
            </a:r>
            <a:r>
              <a:rPr sz="2000" b="1" spc="125" dirty="0">
                <a:latin typeface="Times New Roman"/>
                <a:cs typeface="Times New Roman"/>
              </a:rPr>
              <a:t> </a:t>
            </a:r>
            <a:r>
              <a:rPr sz="2000" b="1" dirty="0">
                <a:solidFill>
                  <a:srgbClr val="00AF50"/>
                </a:solidFill>
                <a:latin typeface="Times New Roman"/>
                <a:cs typeface="Times New Roman"/>
              </a:rPr>
              <a:t>it</a:t>
            </a:r>
            <a:r>
              <a:rPr sz="2000" b="1" spc="145" dirty="0">
                <a:solidFill>
                  <a:srgbClr val="00AF50"/>
                </a:solidFill>
                <a:latin typeface="Times New Roman"/>
                <a:cs typeface="Times New Roman"/>
              </a:rPr>
              <a:t> </a:t>
            </a:r>
            <a:r>
              <a:rPr sz="2000" b="1" dirty="0">
                <a:solidFill>
                  <a:srgbClr val="00AF50"/>
                </a:solidFill>
                <a:latin typeface="Times New Roman"/>
                <a:cs typeface="Times New Roman"/>
              </a:rPr>
              <a:t>is</a:t>
            </a:r>
            <a:r>
              <a:rPr sz="2000" b="1" spc="125" dirty="0">
                <a:solidFill>
                  <a:srgbClr val="00AF50"/>
                </a:solidFill>
                <a:latin typeface="Times New Roman"/>
                <a:cs typeface="Times New Roman"/>
              </a:rPr>
              <a:t> </a:t>
            </a:r>
            <a:r>
              <a:rPr sz="2000" b="1" dirty="0">
                <a:solidFill>
                  <a:srgbClr val="00AF50"/>
                </a:solidFill>
                <a:latin typeface="Times New Roman"/>
                <a:cs typeface="Times New Roman"/>
              </a:rPr>
              <a:t>possible</a:t>
            </a:r>
            <a:r>
              <a:rPr sz="2000" b="1" spc="125" dirty="0">
                <a:solidFill>
                  <a:srgbClr val="00AF50"/>
                </a:solidFill>
                <a:latin typeface="Times New Roman"/>
                <a:cs typeface="Times New Roman"/>
              </a:rPr>
              <a:t> </a:t>
            </a:r>
            <a:r>
              <a:rPr sz="2000" b="1" dirty="0">
                <a:solidFill>
                  <a:srgbClr val="6F2F9F"/>
                </a:solidFill>
                <a:latin typeface="Times New Roman"/>
                <a:cs typeface="Times New Roman"/>
              </a:rPr>
              <a:t>if</a:t>
            </a:r>
            <a:r>
              <a:rPr sz="2000" b="1" spc="135" dirty="0">
                <a:solidFill>
                  <a:srgbClr val="6F2F9F"/>
                </a:solidFill>
                <a:latin typeface="Times New Roman"/>
                <a:cs typeface="Times New Roman"/>
              </a:rPr>
              <a:t> </a:t>
            </a:r>
            <a:r>
              <a:rPr sz="2000" b="1" dirty="0">
                <a:solidFill>
                  <a:srgbClr val="6F2F9F"/>
                </a:solidFill>
                <a:latin typeface="Times New Roman"/>
                <a:cs typeface="Times New Roman"/>
              </a:rPr>
              <a:t>several</a:t>
            </a:r>
            <a:r>
              <a:rPr sz="2000" b="1" spc="135" dirty="0">
                <a:solidFill>
                  <a:srgbClr val="6F2F9F"/>
                </a:solidFill>
                <a:latin typeface="Times New Roman"/>
                <a:cs typeface="Times New Roman"/>
              </a:rPr>
              <a:t> </a:t>
            </a:r>
            <a:r>
              <a:rPr sz="2000" b="1" spc="-10" dirty="0">
                <a:solidFill>
                  <a:srgbClr val="6F2F9F"/>
                </a:solidFill>
                <a:latin typeface="Times New Roman"/>
                <a:cs typeface="Times New Roman"/>
              </a:rPr>
              <a:t>de-</a:t>
            </a:r>
            <a:r>
              <a:rPr sz="2000" b="1" dirty="0">
                <a:solidFill>
                  <a:srgbClr val="6F2F9F"/>
                </a:solidFill>
                <a:latin typeface="Times New Roman"/>
                <a:cs typeface="Times New Roman"/>
              </a:rPr>
              <a:t>blurring</a:t>
            </a:r>
            <a:r>
              <a:rPr sz="2000" b="1" spc="125" dirty="0">
                <a:solidFill>
                  <a:srgbClr val="6F2F9F"/>
                </a:solidFill>
                <a:latin typeface="Times New Roman"/>
                <a:cs typeface="Times New Roman"/>
              </a:rPr>
              <a:t> </a:t>
            </a:r>
            <a:r>
              <a:rPr sz="2000" b="1" dirty="0">
                <a:solidFill>
                  <a:srgbClr val="6F2F9F"/>
                </a:solidFill>
                <a:latin typeface="Times New Roman"/>
                <a:cs typeface="Times New Roman"/>
              </a:rPr>
              <a:t>methods</a:t>
            </a:r>
            <a:r>
              <a:rPr sz="2000" b="1" spc="140" dirty="0">
                <a:solidFill>
                  <a:srgbClr val="6F2F9F"/>
                </a:solidFill>
                <a:latin typeface="Times New Roman"/>
                <a:cs typeface="Times New Roman"/>
              </a:rPr>
              <a:t> </a:t>
            </a:r>
            <a:r>
              <a:rPr sz="2000" b="1" dirty="0">
                <a:solidFill>
                  <a:srgbClr val="6F2F9F"/>
                </a:solidFill>
                <a:latin typeface="Times New Roman"/>
                <a:cs typeface="Times New Roman"/>
              </a:rPr>
              <a:t>can</a:t>
            </a:r>
            <a:r>
              <a:rPr sz="2000" b="1" spc="135" dirty="0">
                <a:solidFill>
                  <a:srgbClr val="6F2F9F"/>
                </a:solidFill>
                <a:latin typeface="Times New Roman"/>
                <a:cs typeface="Times New Roman"/>
              </a:rPr>
              <a:t> </a:t>
            </a:r>
            <a:r>
              <a:rPr sz="2000" b="1" dirty="0">
                <a:solidFill>
                  <a:srgbClr val="6F2F9F"/>
                </a:solidFill>
                <a:latin typeface="Times New Roman"/>
                <a:cs typeface="Times New Roman"/>
              </a:rPr>
              <a:t>be</a:t>
            </a:r>
            <a:r>
              <a:rPr sz="2000" b="1" spc="135" dirty="0">
                <a:solidFill>
                  <a:srgbClr val="6F2F9F"/>
                </a:solidFill>
                <a:latin typeface="Times New Roman"/>
                <a:cs typeface="Times New Roman"/>
              </a:rPr>
              <a:t> </a:t>
            </a:r>
            <a:r>
              <a:rPr sz="2000" b="1" dirty="0">
                <a:solidFill>
                  <a:srgbClr val="6F2F9F"/>
                </a:solidFill>
                <a:latin typeface="Times New Roman"/>
                <a:cs typeface="Times New Roman"/>
              </a:rPr>
              <a:t>combined</a:t>
            </a:r>
            <a:r>
              <a:rPr sz="2000" b="1" spc="135" dirty="0">
                <a:solidFill>
                  <a:srgbClr val="6F2F9F"/>
                </a:solidFill>
                <a:latin typeface="Times New Roman"/>
                <a:cs typeface="Times New Roman"/>
              </a:rPr>
              <a:t> </a:t>
            </a:r>
            <a:r>
              <a:rPr sz="2000" b="1" dirty="0">
                <a:latin typeface="Times New Roman"/>
                <a:cs typeface="Times New Roman"/>
              </a:rPr>
              <a:t>in</a:t>
            </a:r>
            <a:r>
              <a:rPr sz="2000" b="1" spc="130" dirty="0">
                <a:latin typeface="Times New Roman"/>
                <a:cs typeface="Times New Roman"/>
              </a:rPr>
              <a:t> </a:t>
            </a:r>
            <a:r>
              <a:rPr sz="2000" b="1" spc="-50" dirty="0">
                <a:latin typeface="Times New Roman"/>
                <a:cs typeface="Times New Roman"/>
              </a:rPr>
              <a:t>a </a:t>
            </a:r>
            <a:r>
              <a:rPr sz="2000" b="1" dirty="0">
                <a:latin typeface="Times New Roman"/>
                <a:cs typeface="Times New Roman"/>
              </a:rPr>
              <a:t>framework</a:t>
            </a:r>
            <a:r>
              <a:rPr sz="2000" b="1" spc="280" dirty="0">
                <a:latin typeface="Times New Roman"/>
                <a:cs typeface="Times New Roman"/>
              </a:rPr>
              <a:t> </a:t>
            </a:r>
            <a:r>
              <a:rPr sz="2000" b="1" dirty="0">
                <a:latin typeface="Times New Roman"/>
                <a:cs typeface="Times New Roman"/>
              </a:rPr>
              <a:t>in</a:t>
            </a:r>
            <a:r>
              <a:rPr sz="2000" b="1" spc="265" dirty="0">
                <a:latin typeface="Times New Roman"/>
                <a:cs typeface="Times New Roman"/>
              </a:rPr>
              <a:t> </a:t>
            </a:r>
            <a:r>
              <a:rPr sz="2000" b="1" dirty="0">
                <a:latin typeface="Times New Roman"/>
                <a:cs typeface="Times New Roman"/>
              </a:rPr>
              <a:t>order</a:t>
            </a:r>
            <a:r>
              <a:rPr sz="2000" b="1" spc="235" dirty="0">
                <a:latin typeface="Times New Roman"/>
                <a:cs typeface="Times New Roman"/>
              </a:rPr>
              <a:t> </a:t>
            </a:r>
            <a:r>
              <a:rPr sz="2000" b="1" dirty="0">
                <a:solidFill>
                  <a:srgbClr val="6F2F9F"/>
                </a:solidFill>
                <a:latin typeface="Times New Roman"/>
                <a:cs typeface="Times New Roman"/>
              </a:rPr>
              <a:t>to</a:t>
            </a:r>
            <a:r>
              <a:rPr sz="2000" b="1" spc="270" dirty="0">
                <a:solidFill>
                  <a:srgbClr val="6F2F9F"/>
                </a:solidFill>
                <a:latin typeface="Times New Roman"/>
                <a:cs typeface="Times New Roman"/>
              </a:rPr>
              <a:t> </a:t>
            </a:r>
            <a:r>
              <a:rPr sz="2000" b="1" dirty="0">
                <a:solidFill>
                  <a:srgbClr val="6F2F9F"/>
                </a:solidFill>
                <a:latin typeface="Times New Roman"/>
                <a:cs typeface="Times New Roman"/>
              </a:rPr>
              <a:t>pursue</a:t>
            </a:r>
            <a:r>
              <a:rPr sz="2000" b="1" spc="280" dirty="0">
                <a:solidFill>
                  <a:srgbClr val="6F2F9F"/>
                </a:solidFill>
                <a:latin typeface="Times New Roman"/>
                <a:cs typeface="Times New Roman"/>
              </a:rPr>
              <a:t> </a:t>
            </a:r>
            <a:r>
              <a:rPr sz="2000" b="1" dirty="0">
                <a:solidFill>
                  <a:srgbClr val="6F2F9F"/>
                </a:solidFill>
                <a:latin typeface="Times New Roman"/>
                <a:cs typeface="Times New Roman"/>
              </a:rPr>
              <a:t>a</a:t>
            </a:r>
            <a:r>
              <a:rPr sz="2000" b="1" spc="270" dirty="0">
                <a:solidFill>
                  <a:srgbClr val="6F2F9F"/>
                </a:solidFill>
                <a:latin typeface="Times New Roman"/>
                <a:cs typeface="Times New Roman"/>
              </a:rPr>
              <a:t> </a:t>
            </a:r>
            <a:r>
              <a:rPr sz="2000" b="1" dirty="0">
                <a:solidFill>
                  <a:srgbClr val="6F2F9F"/>
                </a:solidFill>
                <a:latin typeface="Times New Roman"/>
                <a:cs typeface="Times New Roman"/>
              </a:rPr>
              <a:t>maximum</a:t>
            </a:r>
            <a:r>
              <a:rPr sz="2000" b="1" spc="265" dirty="0">
                <a:solidFill>
                  <a:srgbClr val="6F2F9F"/>
                </a:solidFill>
                <a:latin typeface="Times New Roman"/>
                <a:cs typeface="Times New Roman"/>
              </a:rPr>
              <a:t> </a:t>
            </a:r>
            <a:r>
              <a:rPr sz="2000" b="1" dirty="0">
                <a:solidFill>
                  <a:srgbClr val="6F2F9F"/>
                </a:solidFill>
                <a:latin typeface="Times New Roman"/>
                <a:cs typeface="Times New Roman"/>
              </a:rPr>
              <a:t>demising</a:t>
            </a:r>
            <a:r>
              <a:rPr sz="2000" b="1" spc="270" dirty="0">
                <a:solidFill>
                  <a:srgbClr val="6F2F9F"/>
                </a:solidFill>
                <a:latin typeface="Times New Roman"/>
                <a:cs typeface="Times New Roman"/>
              </a:rPr>
              <a:t> </a:t>
            </a:r>
            <a:r>
              <a:rPr sz="2000" b="1" dirty="0">
                <a:solidFill>
                  <a:srgbClr val="6F2F9F"/>
                </a:solidFill>
                <a:latin typeface="Times New Roman"/>
                <a:cs typeface="Times New Roman"/>
              </a:rPr>
              <a:t>outcome</a:t>
            </a:r>
            <a:r>
              <a:rPr sz="2000" b="1" dirty="0">
                <a:latin typeface="Times New Roman"/>
                <a:cs typeface="Times New Roman"/>
              </a:rPr>
              <a:t>.</a:t>
            </a:r>
            <a:r>
              <a:rPr sz="2000" b="1" spc="270" dirty="0">
                <a:latin typeface="Times New Roman"/>
                <a:cs typeface="Times New Roman"/>
              </a:rPr>
              <a:t> </a:t>
            </a:r>
            <a:r>
              <a:rPr sz="2000" b="1" dirty="0">
                <a:latin typeface="Times New Roman"/>
                <a:cs typeface="Times New Roman"/>
              </a:rPr>
              <a:t>We</a:t>
            </a:r>
            <a:r>
              <a:rPr sz="2000" b="1" spc="260" dirty="0">
                <a:latin typeface="Times New Roman"/>
                <a:cs typeface="Times New Roman"/>
              </a:rPr>
              <a:t> </a:t>
            </a:r>
            <a:r>
              <a:rPr sz="2000" b="1" spc="-10" dirty="0">
                <a:latin typeface="Times New Roman"/>
                <a:cs typeface="Times New Roman"/>
              </a:rPr>
              <a:t>explain </a:t>
            </a:r>
            <a:r>
              <a:rPr sz="2000" b="1" dirty="0">
                <a:latin typeface="Times New Roman"/>
                <a:cs typeface="Times New Roman"/>
              </a:rPr>
              <a:t>one</a:t>
            </a:r>
            <a:r>
              <a:rPr sz="2000" b="1" spc="-10"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dirty="0">
                <a:latin typeface="Times New Roman"/>
                <a:cs typeface="Times New Roman"/>
              </a:rPr>
              <a:t>combinatorial</a:t>
            </a:r>
            <a:r>
              <a:rPr sz="2000" b="1" spc="-40" dirty="0">
                <a:latin typeface="Times New Roman"/>
                <a:cs typeface="Times New Roman"/>
              </a:rPr>
              <a:t> </a:t>
            </a:r>
            <a:r>
              <a:rPr sz="2000" b="1" dirty="0">
                <a:latin typeface="Times New Roman"/>
                <a:cs typeface="Times New Roman"/>
              </a:rPr>
              <a:t>techniques</a:t>
            </a:r>
            <a:r>
              <a:rPr sz="2000" b="1" spc="-30" dirty="0">
                <a:latin typeface="Times New Roman"/>
                <a:cs typeface="Times New Roman"/>
              </a:rPr>
              <a:t> </a:t>
            </a:r>
            <a:r>
              <a:rPr sz="2000" b="1" dirty="0">
                <a:latin typeface="Times New Roman"/>
                <a:cs typeface="Times New Roman"/>
              </a:rPr>
              <a:t>using</a:t>
            </a:r>
            <a:r>
              <a:rPr sz="2000" b="1" spc="-15" dirty="0">
                <a:latin typeface="Times New Roman"/>
                <a:cs typeface="Times New Roman"/>
              </a:rPr>
              <a:t> </a:t>
            </a:r>
            <a:r>
              <a:rPr sz="2000" b="1" dirty="0">
                <a:latin typeface="Times New Roman"/>
                <a:cs typeface="Times New Roman"/>
              </a:rPr>
              <a:t>an</a:t>
            </a:r>
            <a:r>
              <a:rPr sz="2000" b="1" spc="-10" dirty="0">
                <a:latin typeface="Times New Roman"/>
                <a:cs typeface="Times New Roman"/>
              </a:rPr>
              <a:t> </a:t>
            </a:r>
            <a:r>
              <a:rPr sz="2000" b="1" dirty="0">
                <a:latin typeface="Times New Roman"/>
                <a:cs typeface="Times New Roman"/>
              </a:rPr>
              <a:t>X-ray</a:t>
            </a:r>
            <a:r>
              <a:rPr sz="2000" b="1" spc="-35" dirty="0">
                <a:latin typeface="Times New Roman"/>
                <a:cs typeface="Times New Roman"/>
              </a:rPr>
              <a:t> </a:t>
            </a:r>
            <a:r>
              <a:rPr sz="2000" b="1" spc="-10" dirty="0">
                <a:latin typeface="Times New Roman"/>
                <a:cs typeface="Times New Roman"/>
              </a:rPr>
              <a:t>example.</a:t>
            </a:r>
            <a:endParaRPr sz="2000">
              <a:latin typeface="Times New Roman"/>
              <a:cs typeface="Times New Roman"/>
            </a:endParaRPr>
          </a:p>
          <a:p>
            <a:pPr marL="12700" marR="2973705" algn="just">
              <a:lnSpc>
                <a:spcPct val="100000"/>
              </a:lnSpc>
              <a:spcBef>
                <a:spcPts val="1570"/>
              </a:spcBef>
            </a:pPr>
            <a:r>
              <a:rPr sz="1800" b="1" dirty="0">
                <a:latin typeface="Times New Roman"/>
                <a:cs typeface="Times New Roman"/>
              </a:rPr>
              <a:t>Figure</a:t>
            </a:r>
            <a:r>
              <a:rPr sz="1800" b="1" spc="165" dirty="0">
                <a:latin typeface="Times New Roman"/>
                <a:cs typeface="Times New Roman"/>
              </a:rPr>
              <a:t> </a:t>
            </a:r>
            <a:r>
              <a:rPr sz="1800" b="1" dirty="0">
                <a:latin typeface="Times New Roman"/>
                <a:cs typeface="Times New Roman"/>
              </a:rPr>
              <a:t>(a)</a:t>
            </a:r>
            <a:r>
              <a:rPr sz="1800" b="1" spc="160" dirty="0">
                <a:latin typeface="Times New Roman"/>
                <a:cs typeface="Times New Roman"/>
              </a:rPr>
              <a:t> </a:t>
            </a:r>
            <a:r>
              <a:rPr sz="1800" b="1" dirty="0">
                <a:latin typeface="Times New Roman"/>
                <a:cs typeface="Times New Roman"/>
              </a:rPr>
              <a:t>illustrates</a:t>
            </a:r>
            <a:r>
              <a:rPr sz="1800" b="1" spc="170" dirty="0">
                <a:latin typeface="Times New Roman"/>
                <a:cs typeface="Times New Roman"/>
              </a:rPr>
              <a:t> </a:t>
            </a:r>
            <a:r>
              <a:rPr sz="1800" b="1" dirty="0">
                <a:latin typeface="Times New Roman"/>
                <a:cs typeface="Times New Roman"/>
              </a:rPr>
              <a:t>a</a:t>
            </a:r>
            <a:r>
              <a:rPr sz="1800" b="1" spc="165" dirty="0">
                <a:latin typeface="Times New Roman"/>
                <a:cs typeface="Times New Roman"/>
              </a:rPr>
              <a:t> </a:t>
            </a:r>
            <a:r>
              <a:rPr sz="1800" b="1" dirty="0">
                <a:latin typeface="Times New Roman"/>
                <a:cs typeface="Times New Roman"/>
              </a:rPr>
              <a:t>male</a:t>
            </a:r>
            <a:r>
              <a:rPr sz="1800" b="1" spc="170" dirty="0">
                <a:latin typeface="Times New Roman"/>
                <a:cs typeface="Times New Roman"/>
              </a:rPr>
              <a:t> </a:t>
            </a:r>
            <a:r>
              <a:rPr sz="1800" b="1" dirty="0">
                <a:latin typeface="Times New Roman"/>
                <a:cs typeface="Times New Roman"/>
              </a:rPr>
              <a:t>chest’s</a:t>
            </a:r>
            <a:r>
              <a:rPr sz="1800" b="1" spc="165" dirty="0">
                <a:latin typeface="Times New Roman"/>
                <a:cs typeface="Times New Roman"/>
              </a:rPr>
              <a:t> </a:t>
            </a:r>
            <a:r>
              <a:rPr sz="1800" b="1" spc="-10" dirty="0">
                <a:latin typeface="Times New Roman"/>
                <a:cs typeface="Times New Roman"/>
              </a:rPr>
              <a:t>X-</a:t>
            </a:r>
            <a:r>
              <a:rPr sz="1800" b="1" dirty="0">
                <a:latin typeface="Times New Roman"/>
                <a:cs typeface="Times New Roman"/>
              </a:rPr>
              <a:t>ray</a:t>
            </a:r>
            <a:r>
              <a:rPr sz="1800" b="1" spc="175" dirty="0">
                <a:latin typeface="Times New Roman"/>
                <a:cs typeface="Times New Roman"/>
              </a:rPr>
              <a:t> </a:t>
            </a:r>
            <a:r>
              <a:rPr sz="1800" b="1" dirty="0">
                <a:latin typeface="Times New Roman"/>
                <a:cs typeface="Times New Roman"/>
              </a:rPr>
              <a:t>image.</a:t>
            </a:r>
            <a:r>
              <a:rPr sz="1800" b="1" spc="170" dirty="0">
                <a:latin typeface="Times New Roman"/>
                <a:cs typeface="Times New Roman"/>
              </a:rPr>
              <a:t> </a:t>
            </a:r>
            <a:r>
              <a:rPr sz="1800" b="1" spc="-25" dirty="0">
                <a:latin typeface="Times New Roman"/>
                <a:cs typeface="Times New Roman"/>
              </a:rPr>
              <a:t>The </a:t>
            </a:r>
            <a:r>
              <a:rPr sz="1800" b="1" dirty="0">
                <a:latin typeface="Times New Roman"/>
                <a:cs typeface="Times New Roman"/>
              </a:rPr>
              <a:t>purpose</a:t>
            </a:r>
            <a:r>
              <a:rPr sz="1800" b="1" spc="130" dirty="0">
                <a:latin typeface="Times New Roman"/>
                <a:cs typeface="Times New Roman"/>
              </a:rPr>
              <a:t> </a:t>
            </a:r>
            <a:r>
              <a:rPr sz="1800" b="1" dirty="0">
                <a:latin typeface="Times New Roman"/>
                <a:cs typeface="Times New Roman"/>
              </a:rPr>
              <a:t>of</a:t>
            </a:r>
            <a:r>
              <a:rPr sz="1800" b="1" spc="135" dirty="0">
                <a:latin typeface="Times New Roman"/>
                <a:cs typeface="Times New Roman"/>
              </a:rPr>
              <a:t> </a:t>
            </a:r>
            <a:r>
              <a:rPr sz="1800" b="1" dirty="0">
                <a:latin typeface="Times New Roman"/>
                <a:cs typeface="Times New Roman"/>
              </a:rPr>
              <a:t>the</a:t>
            </a:r>
            <a:r>
              <a:rPr sz="1800" b="1" spc="120" dirty="0">
                <a:latin typeface="Times New Roman"/>
                <a:cs typeface="Times New Roman"/>
              </a:rPr>
              <a:t> </a:t>
            </a:r>
            <a:r>
              <a:rPr sz="1800" b="1" dirty="0">
                <a:latin typeface="Times New Roman"/>
                <a:cs typeface="Times New Roman"/>
              </a:rPr>
              <a:t>process</a:t>
            </a:r>
            <a:r>
              <a:rPr sz="1800" b="1" spc="125" dirty="0">
                <a:latin typeface="Times New Roman"/>
                <a:cs typeface="Times New Roman"/>
              </a:rPr>
              <a:t> </a:t>
            </a:r>
            <a:r>
              <a:rPr sz="1800" b="1" dirty="0">
                <a:latin typeface="Times New Roman"/>
                <a:cs typeface="Times New Roman"/>
              </a:rPr>
              <a:t>is</a:t>
            </a:r>
            <a:r>
              <a:rPr sz="1800" b="1" spc="120" dirty="0">
                <a:latin typeface="Times New Roman"/>
                <a:cs typeface="Times New Roman"/>
              </a:rPr>
              <a:t> </a:t>
            </a:r>
            <a:r>
              <a:rPr sz="1800" b="1" dirty="0">
                <a:latin typeface="Times New Roman"/>
                <a:cs typeface="Times New Roman"/>
              </a:rPr>
              <a:t>to</a:t>
            </a:r>
            <a:r>
              <a:rPr sz="1800" b="1" spc="120" dirty="0">
                <a:latin typeface="Times New Roman"/>
                <a:cs typeface="Times New Roman"/>
              </a:rPr>
              <a:t> </a:t>
            </a:r>
            <a:r>
              <a:rPr sz="1800" b="1" dirty="0">
                <a:latin typeface="Times New Roman"/>
                <a:cs typeface="Times New Roman"/>
              </a:rPr>
              <a:t>highlight</a:t>
            </a:r>
            <a:r>
              <a:rPr sz="1800" b="1" spc="145" dirty="0">
                <a:latin typeface="Times New Roman"/>
                <a:cs typeface="Times New Roman"/>
              </a:rPr>
              <a:t> </a:t>
            </a:r>
            <a:r>
              <a:rPr sz="1800" b="1" dirty="0">
                <a:latin typeface="Times New Roman"/>
                <a:cs typeface="Times New Roman"/>
              </a:rPr>
              <a:t>the</a:t>
            </a:r>
            <a:r>
              <a:rPr sz="1800" b="1" spc="120" dirty="0">
                <a:latin typeface="Times New Roman"/>
                <a:cs typeface="Times New Roman"/>
              </a:rPr>
              <a:t> </a:t>
            </a:r>
            <a:r>
              <a:rPr sz="1800" b="1" dirty="0">
                <a:latin typeface="Times New Roman"/>
                <a:cs typeface="Times New Roman"/>
              </a:rPr>
              <a:t>middle</a:t>
            </a:r>
            <a:r>
              <a:rPr sz="1800" b="1" spc="130" dirty="0">
                <a:latin typeface="Times New Roman"/>
                <a:cs typeface="Times New Roman"/>
              </a:rPr>
              <a:t> </a:t>
            </a:r>
            <a:r>
              <a:rPr sz="1800" b="1" spc="-10" dirty="0">
                <a:latin typeface="Times New Roman"/>
                <a:cs typeface="Times New Roman"/>
              </a:rPr>
              <a:t>cross </a:t>
            </a:r>
            <a:r>
              <a:rPr sz="1800" b="1" dirty="0">
                <a:latin typeface="Times New Roman"/>
                <a:cs typeface="Times New Roman"/>
              </a:rPr>
              <a:t>section</a:t>
            </a:r>
            <a:r>
              <a:rPr sz="1800" b="1" spc="320" dirty="0">
                <a:latin typeface="Times New Roman"/>
                <a:cs typeface="Times New Roman"/>
              </a:rPr>
              <a:t>  </a:t>
            </a:r>
            <a:r>
              <a:rPr sz="1800" b="1" dirty="0">
                <a:latin typeface="Times New Roman"/>
                <a:cs typeface="Times New Roman"/>
              </a:rPr>
              <a:t>of</a:t>
            </a:r>
            <a:r>
              <a:rPr sz="1800" b="1" spc="315" dirty="0">
                <a:latin typeface="Times New Roman"/>
                <a:cs typeface="Times New Roman"/>
              </a:rPr>
              <a:t>  </a:t>
            </a:r>
            <a:r>
              <a:rPr sz="1800" b="1" dirty="0">
                <a:latin typeface="Times New Roman"/>
                <a:cs typeface="Times New Roman"/>
              </a:rPr>
              <a:t>the</a:t>
            </a:r>
            <a:r>
              <a:rPr sz="1800" b="1" spc="320" dirty="0">
                <a:latin typeface="Times New Roman"/>
                <a:cs typeface="Times New Roman"/>
              </a:rPr>
              <a:t>  </a:t>
            </a:r>
            <a:r>
              <a:rPr sz="1800" b="1" dirty="0">
                <a:latin typeface="Times New Roman"/>
                <a:cs typeface="Times New Roman"/>
              </a:rPr>
              <a:t>image</a:t>
            </a:r>
            <a:r>
              <a:rPr sz="1800" b="1" spc="315" dirty="0">
                <a:latin typeface="Times New Roman"/>
                <a:cs typeface="Times New Roman"/>
              </a:rPr>
              <a:t>  </a:t>
            </a:r>
            <a:r>
              <a:rPr sz="1800" b="1" dirty="0">
                <a:latin typeface="Times New Roman"/>
                <a:cs typeface="Times New Roman"/>
              </a:rPr>
              <a:t>using</a:t>
            </a:r>
            <a:r>
              <a:rPr sz="1800" b="1" spc="320" dirty="0">
                <a:latin typeface="Times New Roman"/>
                <a:cs typeface="Times New Roman"/>
              </a:rPr>
              <a:t>  </a:t>
            </a:r>
            <a:r>
              <a:rPr sz="1800" b="1" dirty="0">
                <a:latin typeface="Times New Roman"/>
                <a:cs typeface="Times New Roman"/>
              </a:rPr>
              <a:t>the</a:t>
            </a:r>
            <a:r>
              <a:rPr sz="1800" b="1" spc="315" dirty="0">
                <a:latin typeface="Times New Roman"/>
                <a:cs typeface="Times New Roman"/>
              </a:rPr>
              <a:t>  </a:t>
            </a:r>
            <a:r>
              <a:rPr sz="1800" b="1" dirty="0">
                <a:latin typeface="Times New Roman"/>
                <a:cs typeface="Times New Roman"/>
              </a:rPr>
              <a:t>combination</a:t>
            </a:r>
            <a:r>
              <a:rPr sz="1800" b="1" spc="325" dirty="0">
                <a:latin typeface="Times New Roman"/>
                <a:cs typeface="Times New Roman"/>
              </a:rPr>
              <a:t>  </a:t>
            </a:r>
            <a:r>
              <a:rPr sz="1800" b="1" spc="-25" dirty="0">
                <a:latin typeface="Times New Roman"/>
                <a:cs typeface="Times New Roman"/>
              </a:rPr>
              <a:t>of </a:t>
            </a:r>
            <a:r>
              <a:rPr sz="1800" b="1" dirty="0">
                <a:latin typeface="Times New Roman"/>
                <a:cs typeface="Times New Roman"/>
              </a:rPr>
              <a:t>sharpening</a:t>
            </a:r>
            <a:r>
              <a:rPr sz="1800" b="1" spc="-15" dirty="0">
                <a:latin typeface="Times New Roman"/>
                <a:cs typeface="Times New Roman"/>
              </a:rPr>
              <a:t> </a:t>
            </a:r>
            <a:r>
              <a:rPr sz="1800" b="1" dirty="0">
                <a:latin typeface="Times New Roman"/>
                <a:cs typeface="Times New Roman"/>
              </a:rPr>
              <a:t>and</a:t>
            </a:r>
            <a:r>
              <a:rPr sz="1800" b="1" spc="-20" dirty="0">
                <a:latin typeface="Times New Roman"/>
                <a:cs typeface="Times New Roman"/>
              </a:rPr>
              <a:t> </a:t>
            </a:r>
            <a:r>
              <a:rPr sz="1800" b="1" dirty="0">
                <a:latin typeface="Times New Roman"/>
                <a:cs typeface="Times New Roman"/>
              </a:rPr>
              <a:t>edge</a:t>
            </a:r>
            <a:r>
              <a:rPr sz="1800" b="1" spc="-5" dirty="0">
                <a:latin typeface="Times New Roman"/>
                <a:cs typeface="Times New Roman"/>
              </a:rPr>
              <a:t> </a:t>
            </a:r>
            <a:r>
              <a:rPr sz="1800" b="1" spc="-10" dirty="0">
                <a:latin typeface="Times New Roman"/>
                <a:cs typeface="Times New Roman"/>
              </a:rPr>
              <a:t>detection.</a:t>
            </a:r>
            <a:endParaRPr sz="1800">
              <a:latin typeface="Times New Roman"/>
              <a:cs typeface="Times New Roman"/>
            </a:endParaRPr>
          </a:p>
          <a:p>
            <a:pPr marL="12700" marR="2973070" algn="just">
              <a:lnSpc>
                <a:spcPct val="100000"/>
              </a:lnSpc>
              <a:spcBef>
                <a:spcPts val="5"/>
              </a:spcBef>
            </a:pPr>
            <a:r>
              <a:rPr sz="1800" b="1" dirty="0">
                <a:solidFill>
                  <a:srgbClr val="FF0000"/>
                </a:solidFill>
                <a:latin typeface="Times New Roman"/>
                <a:cs typeface="Times New Roman"/>
              </a:rPr>
              <a:t>Figure</a:t>
            </a:r>
            <a:r>
              <a:rPr sz="1800" b="1" spc="455" dirty="0">
                <a:solidFill>
                  <a:srgbClr val="FF0000"/>
                </a:solidFill>
                <a:latin typeface="Times New Roman"/>
                <a:cs typeface="Times New Roman"/>
              </a:rPr>
              <a:t> </a:t>
            </a:r>
            <a:r>
              <a:rPr sz="1800" b="1" dirty="0">
                <a:solidFill>
                  <a:srgbClr val="FF0000"/>
                </a:solidFill>
                <a:latin typeface="Times New Roman"/>
                <a:cs typeface="Times New Roman"/>
              </a:rPr>
              <a:t>(b)</a:t>
            </a:r>
            <a:r>
              <a:rPr sz="1800" b="1" spc="455" dirty="0">
                <a:solidFill>
                  <a:srgbClr val="FF0000"/>
                </a:solidFill>
                <a:latin typeface="Times New Roman"/>
                <a:cs typeface="Times New Roman"/>
              </a:rPr>
              <a:t> </a:t>
            </a:r>
            <a:r>
              <a:rPr sz="1800" b="1" dirty="0">
                <a:latin typeface="Times New Roman"/>
                <a:cs typeface="Times New Roman"/>
              </a:rPr>
              <a:t>shows</a:t>
            </a:r>
            <a:r>
              <a:rPr sz="1800" b="1" spc="445" dirty="0">
                <a:latin typeface="Times New Roman"/>
                <a:cs typeface="Times New Roman"/>
              </a:rPr>
              <a:t> </a:t>
            </a:r>
            <a:r>
              <a:rPr sz="1800" b="1" dirty="0">
                <a:latin typeface="Times New Roman"/>
                <a:cs typeface="Times New Roman"/>
              </a:rPr>
              <a:t>the</a:t>
            </a:r>
            <a:r>
              <a:rPr sz="1800" b="1" spc="445" dirty="0">
                <a:latin typeface="Times New Roman"/>
                <a:cs typeface="Times New Roman"/>
              </a:rPr>
              <a:t> </a:t>
            </a:r>
            <a:r>
              <a:rPr sz="1800" b="1" dirty="0">
                <a:latin typeface="Times New Roman"/>
                <a:cs typeface="Times New Roman"/>
              </a:rPr>
              <a:t>result</a:t>
            </a:r>
            <a:r>
              <a:rPr sz="1800" b="1" spc="434" dirty="0">
                <a:latin typeface="Times New Roman"/>
                <a:cs typeface="Times New Roman"/>
              </a:rPr>
              <a:t> </a:t>
            </a:r>
            <a:r>
              <a:rPr sz="1800" b="1" dirty="0">
                <a:latin typeface="Times New Roman"/>
                <a:cs typeface="Times New Roman"/>
              </a:rPr>
              <a:t>of</a:t>
            </a:r>
            <a:r>
              <a:rPr sz="1800" b="1" spc="459" dirty="0">
                <a:latin typeface="Times New Roman"/>
                <a:cs typeface="Times New Roman"/>
              </a:rPr>
              <a:t> </a:t>
            </a:r>
            <a:r>
              <a:rPr sz="1800" b="1" dirty="0">
                <a:latin typeface="Times New Roman"/>
                <a:cs typeface="Times New Roman"/>
              </a:rPr>
              <a:t>applying</a:t>
            </a:r>
            <a:r>
              <a:rPr sz="1800" b="1" spc="459" dirty="0">
                <a:latin typeface="Times New Roman"/>
                <a:cs typeface="Times New Roman"/>
              </a:rPr>
              <a:t> </a:t>
            </a:r>
            <a:r>
              <a:rPr sz="1800" b="1" dirty="0">
                <a:latin typeface="Times New Roman"/>
                <a:cs typeface="Times New Roman"/>
              </a:rPr>
              <a:t>the</a:t>
            </a:r>
            <a:r>
              <a:rPr sz="1800" b="1" spc="465" dirty="0">
                <a:latin typeface="Times New Roman"/>
                <a:cs typeface="Times New Roman"/>
              </a:rPr>
              <a:t> </a:t>
            </a:r>
            <a:r>
              <a:rPr sz="1800" b="1" spc="-10" dirty="0">
                <a:latin typeface="Times New Roman"/>
                <a:cs typeface="Times New Roman"/>
              </a:rPr>
              <a:t>median filter.</a:t>
            </a:r>
            <a:endParaRPr sz="1800">
              <a:latin typeface="Times New Roman"/>
              <a:cs typeface="Times New Roman"/>
            </a:endParaRPr>
          </a:p>
          <a:p>
            <a:pPr marL="12700" marR="2973070" algn="just">
              <a:lnSpc>
                <a:spcPct val="100000"/>
              </a:lnSpc>
            </a:pPr>
            <a:r>
              <a:rPr sz="1800" b="1" dirty="0">
                <a:solidFill>
                  <a:srgbClr val="FF0000"/>
                </a:solidFill>
                <a:latin typeface="Times New Roman"/>
                <a:cs typeface="Times New Roman"/>
              </a:rPr>
              <a:t>Figure</a:t>
            </a:r>
            <a:r>
              <a:rPr sz="1800" b="1" spc="-25" dirty="0">
                <a:solidFill>
                  <a:srgbClr val="FF0000"/>
                </a:solidFill>
                <a:latin typeface="Times New Roman"/>
                <a:cs typeface="Times New Roman"/>
              </a:rPr>
              <a:t> </a:t>
            </a:r>
            <a:r>
              <a:rPr sz="1800" b="1" dirty="0">
                <a:solidFill>
                  <a:srgbClr val="FF0000"/>
                </a:solidFill>
                <a:latin typeface="Times New Roman"/>
                <a:cs typeface="Times New Roman"/>
              </a:rPr>
              <a:t>(c</a:t>
            </a:r>
            <a:r>
              <a:rPr sz="1800" b="1" dirty="0">
                <a:latin typeface="Times New Roman"/>
                <a:cs typeface="Times New Roman"/>
              </a:rPr>
              <a:t>)</a:t>
            </a:r>
            <a:r>
              <a:rPr sz="1800" b="1" spc="-25" dirty="0">
                <a:latin typeface="Times New Roman"/>
                <a:cs typeface="Times New Roman"/>
              </a:rPr>
              <a:t> </a:t>
            </a:r>
            <a:r>
              <a:rPr sz="1800" b="1" dirty="0">
                <a:latin typeface="Times New Roman"/>
                <a:cs typeface="Times New Roman"/>
              </a:rPr>
              <a:t>is</a:t>
            </a:r>
            <a:r>
              <a:rPr sz="1800" b="1" spc="-30" dirty="0">
                <a:latin typeface="Times New Roman"/>
                <a:cs typeface="Times New Roman"/>
              </a:rPr>
              <a:t> </a:t>
            </a:r>
            <a:r>
              <a:rPr sz="1800" b="1" dirty="0">
                <a:latin typeface="Times New Roman"/>
                <a:cs typeface="Times New Roman"/>
              </a:rPr>
              <a:t>the</a:t>
            </a:r>
            <a:r>
              <a:rPr sz="1800" b="1" spc="-10" dirty="0">
                <a:latin typeface="Times New Roman"/>
                <a:cs typeface="Times New Roman"/>
              </a:rPr>
              <a:t> </a:t>
            </a:r>
            <a:r>
              <a:rPr sz="1800" b="1" dirty="0">
                <a:latin typeface="Times New Roman"/>
                <a:cs typeface="Times New Roman"/>
              </a:rPr>
              <a:t>outcome</a:t>
            </a:r>
            <a:r>
              <a:rPr sz="1800" b="1" spc="-20" dirty="0">
                <a:latin typeface="Times New Roman"/>
                <a:cs typeface="Times New Roman"/>
              </a:rPr>
              <a:t> </a:t>
            </a:r>
            <a:r>
              <a:rPr sz="1800" b="1" dirty="0">
                <a:latin typeface="Times New Roman"/>
                <a:cs typeface="Times New Roman"/>
              </a:rPr>
              <a:t>of</a:t>
            </a:r>
            <a:r>
              <a:rPr sz="1800" b="1" spc="-10" dirty="0">
                <a:latin typeface="Times New Roman"/>
                <a:cs typeface="Times New Roman"/>
              </a:rPr>
              <a:t> </a:t>
            </a:r>
            <a:r>
              <a:rPr sz="1800" b="1" dirty="0">
                <a:latin typeface="Times New Roman"/>
                <a:cs typeface="Times New Roman"/>
              </a:rPr>
              <a:t>using</a:t>
            </a:r>
            <a:r>
              <a:rPr sz="1800" b="1" spc="-10" dirty="0">
                <a:latin typeface="Times New Roman"/>
                <a:cs typeface="Times New Roman"/>
              </a:rPr>
              <a:t> </a:t>
            </a:r>
            <a:r>
              <a:rPr sz="1800" b="1" dirty="0">
                <a:latin typeface="Times New Roman"/>
                <a:cs typeface="Times New Roman"/>
              </a:rPr>
              <a:t>Sobel</a:t>
            </a:r>
            <a:r>
              <a:rPr sz="1800" b="1" spc="-20" dirty="0">
                <a:latin typeface="Times New Roman"/>
                <a:cs typeface="Times New Roman"/>
              </a:rPr>
              <a:t> </a:t>
            </a:r>
            <a:r>
              <a:rPr sz="1800" b="1" dirty="0">
                <a:latin typeface="Times New Roman"/>
                <a:cs typeface="Times New Roman"/>
              </a:rPr>
              <a:t>edge</a:t>
            </a:r>
            <a:r>
              <a:rPr sz="1800" b="1" spc="-25" dirty="0">
                <a:latin typeface="Times New Roman"/>
                <a:cs typeface="Times New Roman"/>
              </a:rPr>
              <a:t> </a:t>
            </a:r>
            <a:r>
              <a:rPr sz="1800" b="1" spc="-10" dirty="0">
                <a:latin typeface="Times New Roman"/>
                <a:cs typeface="Times New Roman"/>
              </a:rPr>
              <a:t>detection. </a:t>
            </a:r>
            <a:r>
              <a:rPr sz="1800" b="1" dirty="0">
                <a:solidFill>
                  <a:srgbClr val="FF0000"/>
                </a:solidFill>
                <a:latin typeface="Times New Roman"/>
                <a:cs typeface="Times New Roman"/>
              </a:rPr>
              <a:t>Figure</a:t>
            </a:r>
            <a:r>
              <a:rPr sz="1800" b="1" spc="280" dirty="0">
                <a:solidFill>
                  <a:srgbClr val="FF0000"/>
                </a:solidFill>
                <a:latin typeface="Times New Roman"/>
                <a:cs typeface="Times New Roman"/>
              </a:rPr>
              <a:t>  </a:t>
            </a:r>
            <a:r>
              <a:rPr sz="1800" b="1" dirty="0">
                <a:solidFill>
                  <a:srgbClr val="FF0000"/>
                </a:solidFill>
                <a:latin typeface="Times New Roman"/>
                <a:cs typeface="Times New Roman"/>
              </a:rPr>
              <a:t>(d)</a:t>
            </a:r>
            <a:r>
              <a:rPr sz="1800" b="1" spc="265" dirty="0">
                <a:solidFill>
                  <a:srgbClr val="FF0000"/>
                </a:solidFill>
                <a:latin typeface="Times New Roman"/>
                <a:cs typeface="Times New Roman"/>
              </a:rPr>
              <a:t>  </a:t>
            </a:r>
            <a:r>
              <a:rPr sz="1800" b="1" dirty="0">
                <a:latin typeface="Times New Roman"/>
                <a:cs typeface="Times New Roman"/>
              </a:rPr>
              <a:t>demonstrates</a:t>
            </a:r>
            <a:r>
              <a:rPr sz="1800" b="1" spc="280" dirty="0">
                <a:latin typeface="Times New Roman"/>
                <a:cs typeface="Times New Roman"/>
              </a:rPr>
              <a:t>  </a:t>
            </a:r>
            <a:r>
              <a:rPr sz="1800" b="1" dirty="0">
                <a:latin typeface="Times New Roman"/>
                <a:cs typeface="Times New Roman"/>
              </a:rPr>
              <a:t>the</a:t>
            </a:r>
            <a:r>
              <a:rPr sz="1800" b="1" spc="280" dirty="0">
                <a:latin typeface="Times New Roman"/>
                <a:cs typeface="Times New Roman"/>
              </a:rPr>
              <a:t>  </a:t>
            </a:r>
            <a:r>
              <a:rPr sz="1800" b="1" dirty="0">
                <a:latin typeface="Times New Roman"/>
                <a:cs typeface="Times New Roman"/>
              </a:rPr>
              <a:t>combination</a:t>
            </a:r>
            <a:r>
              <a:rPr sz="1800" b="1" spc="270" dirty="0">
                <a:latin typeface="Times New Roman"/>
                <a:cs typeface="Times New Roman"/>
              </a:rPr>
              <a:t>  </a:t>
            </a:r>
            <a:r>
              <a:rPr sz="1800" b="1" dirty="0">
                <a:latin typeface="Times New Roman"/>
                <a:cs typeface="Times New Roman"/>
              </a:rPr>
              <a:t>of</a:t>
            </a:r>
            <a:r>
              <a:rPr sz="1800" b="1" spc="270" dirty="0">
                <a:latin typeface="Times New Roman"/>
                <a:cs typeface="Times New Roman"/>
              </a:rPr>
              <a:t>  </a:t>
            </a:r>
            <a:r>
              <a:rPr sz="1800" b="1" spc="-25" dirty="0">
                <a:latin typeface="Times New Roman"/>
                <a:cs typeface="Times New Roman"/>
              </a:rPr>
              <a:t>the </a:t>
            </a:r>
            <a:r>
              <a:rPr sz="1800" b="1" dirty="0">
                <a:latin typeface="Times New Roman"/>
                <a:cs typeface="Times New Roman"/>
              </a:rPr>
              <a:t>Laplacian</a:t>
            </a:r>
            <a:r>
              <a:rPr sz="1800" b="1" spc="-30" dirty="0">
                <a:latin typeface="Times New Roman"/>
                <a:cs typeface="Times New Roman"/>
              </a:rPr>
              <a:t> </a:t>
            </a:r>
            <a:r>
              <a:rPr sz="1800" b="1" dirty="0">
                <a:latin typeface="Times New Roman"/>
                <a:cs typeface="Times New Roman"/>
              </a:rPr>
              <a:t>and</a:t>
            </a:r>
            <a:r>
              <a:rPr sz="1800" b="1" spc="-20" dirty="0">
                <a:latin typeface="Times New Roman"/>
                <a:cs typeface="Times New Roman"/>
              </a:rPr>
              <a:t> </a:t>
            </a:r>
            <a:r>
              <a:rPr sz="1800" b="1" dirty="0">
                <a:latin typeface="Times New Roman"/>
                <a:cs typeface="Times New Roman"/>
              </a:rPr>
              <a:t>Sobel</a:t>
            </a:r>
            <a:r>
              <a:rPr sz="1800" b="1" spc="-5" dirty="0">
                <a:latin typeface="Times New Roman"/>
                <a:cs typeface="Times New Roman"/>
              </a:rPr>
              <a:t> </a:t>
            </a:r>
            <a:r>
              <a:rPr sz="1800" b="1" spc="-10" dirty="0">
                <a:latin typeface="Times New Roman"/>
                <a:cs typeface="Times New Roman"/>
              </a:rPr>
              <a:t>process.</a:t>
            </a:r>
            <a:endParaRPr sz="1800">
              <a:latin typeface="Times New Roman"/>
              <a:cs typeface="Times New Roman"/>
            </a:endParaRPr>
          </a:p>
          <a:p>
            <a:pPr marL="12700" marR="2972435" algn="just">
              <a:lnSpc>
                <a:spcPct val="100000"/>
              </a:lnSpc>
            </a:pPr>
            <a:r>
              <a:rPr sz="1800" b="1" dirty="0">
                <a:solidFill>
                  <a:srgbClr val="FF0000"/>
                </a:solidFill>
                <a:latin typeface="Times New Roman"/>
                <a:cs typeface="Times New Roman"/>
              </a:rPr>
              <a:t>Figure</a:t>
            </a:r>
            <a:r>
              <a:rPr sz="1800" b="1" spc="190" dirty="0">
                <a:solidFill>
                  <a:srgbClr val="FF0000"/>
                </a:solidFill>
                <a:latin typeface="Times New Roman"/>
                <a:cs typeface="Times New Roman"/>
              </a:rPr>
              <a:t> </a:t>
            </a:r>
            <a:r>
              <a:rPr sz="1800" b="1" dirty="0">
                <a:solidFill>
                  <a:srgbClr val="FF0000"/>
                </a:solidFill>
                <a:latin typeface="Times New Roman"/>
                <a:cs typeface="Times New Roman"/>
              </a:rPr>
              <a:t>(d)</a:t>
            </a:r>
            <a:r>
              <a:rPr sz="1800" b="1" spc="190" dirty="0">
                <a:solidFill>
                  <a:srgbClr val="FF0000"/>
                </a:solidFill>
                <a:latin typeface="Times New Roman"/>
                <a:cs typeface="Times New Roman"/>
              </a:rPr>
              <a:t> </a:t>
            </a:r>
            <a:r>
              <a:rPr sz="1800" b="1" dirty="0">
                <a:latin typeface="Times New Roman"/>
                <a:cs typeface="Times New Roman"/>
              </a:rPr>
              <a:t>shows</a:t>
            </a:r>
            <a:r>
              <a:rPr sz="1800" b="1" spc="185" dirty="0">
                <a:latin typeface="Times New Roman"/>
                <a:cs typeface="Times New Roman"/>
              </a:rPr>
              <a:t> </a:t>
            </a:r>
            <a:r>
              <a:rPr sz="1800" b="1" dirty="0">
                <a:latin typeface="Times New Roman"/>
                <a:cs typeface="Times New Roman"/>
              </a:rPr>
              <a:t>the</a:t>
            </a:r>
            <a:r>
              <a:rPr sz="1800" b="1" spc="190" dirty="0">
                <a:latin typeface="Times New Roman"/>
                <a:cs typeface="Times New Roman"/>
              </a:rPr>
              <a:t> </a:t>
            </a:r>
            <a:r>
              <a:rPr sz="1800" b="1" dirty="0">
                <a:latin typeface="Times New Roman"/>
                <a:cs typeface="Times New Roman"/>
              </a:rPr>
              <a:t>edge</a:t>
            </a:r>
            <a:r>
              <a:rPr sz="1800" b="1" spc="200" dirty="0">
                <a:latin typeface="Times New Roman"/>
                <a:cs typeface="Times New Roman"/>
              </a:rPr>
              <a:t> </a:t>
            </a:r>
            <a:r>
              <a:rPr sz="1800" b="1" dirty="0">
                <a:latin typeface="Times New Roman"/>
                <a:cs typeface="Times New Roman"/>
              </a:rPr>
              <a:t>details</a:t>
            </a:r>
            <a:r>
              <a:rPr sz="1800" b="1" spc="190" dirty="0">
                <a:latin typeface="Times New Roman"/>
                <a:cs typeface="Times New Roman"/>
              </a:rPr>
              <a:t> </a:t>
            </a:r>
            <a:r>
              <a:rPr sz="1800" b="1" dirty="0">
                <a:latin typeface="Times New Roman"/>
                <a:cs typeface="Times New Roman"/>
              </a:rPr>
              <a:t>in</a:t>
            </a:r>
            <a:r>
              <a:rPr sz="1800" b="1" spc="190" dirty="0">
                <a:latin typeface="Times New Roman"/>
                <a:cs typeface="Times New Roman"/>
              </a:rPr>
              <a:t> </a:t>
            </a:r>
            <a:r>
              <a:rPr sz="1800" b="1" dirty="0">
                <a:latin typeface="Times New Roman"/>
                <a:cs typeface="Times New Roman"/>
              </a:rPr>
              <a:t>the</a:t>
            </a:r>
            <a:r>
              <a:rPr sz="1800" b="1" spc="195" dirty="0">
                <a:latin typeface="Times New Roman"/>
                <a:cs typeface="Times New Roman"/>
              </a:rPr>
              <a:t> </a:t>
            </a:r>
            <a:r>
              <a:rPr sz="1800" b="1" dirty="0">
                <a:latin typeface="Times New Roman"/>
                <a:cs typeface="Times New Roman"/>
              </a:rPr>
              <a:t>graph,</a:t>
            </a:r>
            <a:r>
              <a:rPr sz="1800" b="1" spc="190" dirty="0">
                <a:latin typeface="Times New Roman"/>
                <a:cs typeface="Times New Roman"/>
              </a:rPr>
              <a:t> </a:t>
            </a:r>
            <a:r>
              <a:rPr sz="1800" b="1" spc="-10" dirty="0">
                <a:latin typeface="Times New Roman"/>
                <a:cs typeface="Times New Roman"/>
              </a:rPr>
              <a:t>which </a:t>
            </a:r>
            <a:r>
              <a:rPr sz="1800" b="1" dirty="0">
                <a:latin typeface="Times New Roman"/>
                <a:cs typeface="Times New Roman"/>
              </a:rPr>
              <a:t>highlights</a:t>
            </a:r>
            <a:r>
              <a:rPr sz="1800" b="1" spc="165" dirty="0">
                <a:latin typeface="Times New Roman"/>
                <a:cs typeface="Times New Roman"/>
              </a:rPr>
              <a:t> </a:t>
            </a:r>
            <a:r>
              <a:rPr sz="1800" b="1" dirty="0">
                <a:latin typeface="Times New Roman"/>
                <a:cs typeface="Times New Roman"/>
              </a:rPr>
              <a:t>the</a:t>
            </a:r>
            <a:r>
              <a:rPr sz="1800" b="1" spc="185" dirty="0">
                <a:latin typeface="Times New Roman"/>
                <a:cs typeface="Times New Roman"/>
              </a:rPr>
              <a:t> </a:t>
            </a:r>
            <a:r>
              <a:rPr sz="1800" b="1" dirty="0">
                <a:latin typeface="Times New Roman"/>
                <a:cs typeface="Times New Roman"/>
              </a:rPr>
              <a:t>structure</a:t>
            </a:r>
            <a:r>
              <a:rPr sz="1800" b="1" spc="180" dirty="0">
                <a:latin typeface="Times New Roman"/>
                <a:cs typeface="Times New Roman"/>
              </a:rPr>
              <a:t> </a:t>
            </a:r>
            <a:r>
              <a:rPr sz="1800" b="1" dirty="0">
                <a:latin typeface="Times New Roman"/>
                <a:cs typeface="Times New Roman"/>
              </a:rPr>
              <a:t>of</a:t>
            </a:r>
            <a:r>
              <a:rPr sz="1800" b="1" spc="170" dirty="0">
                <a:latin typeface="Times New Roman"/>
                <a:cs typeface="Times New Roman"/>
              </a:rPr>
              <a:t> </a:t>
            </a:r>
            <a:r>
              <a:rPr sz="1800" b="1" dirty="0">
                <a:latin typeface="Times New Roman"/>
                <a:cs typeface="Times New Roman"/>
              </a:rPr>
              <a:t>the</a:t>
            </a:r>
            <a:r>
              <a:rPr sz="1800" b="1" spc="160" dirty="0">
                <a:latin typeface="Times New Roman"/>
                <a:cs typeface="Times New Roman"/>
              </a:rPr>
              <a:t> </a:t>
            </a:r>
            <a:r>
              <a:rPr sz="1800" b="1" dirty="0">
                <a:latin typeface="Times New Roman"/>
                <a:cs typeface="Times New Roman"/>
              </a:rPr>
              <a:t>central</a:t>
            </a:r>
            <a:r>
              <a:rPr sz="1800" b="1" spc="175" dirty="0">
                <a:latin typeface="Times New Roman"/>
                <a:cs typeface="Times New Roman"/>
              </a:rPr>
              <a:t> </a:t>
            </a:r>
            <a:r>
              <a:rPr sz="1800" b="1" dirty="0">
                <a:latin typeface="Times New Roman"/>
                <a:cs typeface="Times New Roman"/>
              </a:rPr>
              <a:t>cross</a:t>
            </a:r>
            <a:r>
              <a:rPr sz="1800" b="1" spc="170" dirty="0">
                <a:latin typeface="Times New Roman"/>
                <a:cs typeface="Times New Roman"/>
              </a:rPr>
              <a:t> </a:t>
            </a:r>
            <a:r>
              <a:rPr sz="1800" b="1" dirty="0">
                <a:latin typeface="Times New Roman"/>
                <a:cs typeface="Times New Roman"/>
              </a:rPr>
              <a:t>section</a:t>
            </a:r>
            <a:r>
              <a:rPr sz="1800" b="1" spc="175" dirty="0">
                <a:latin typeface="Times New Roman"/>
                <a:cs typeface="Times New Roman"/>
              </a:rPr>
              <a:t> </a:t>
            </a:r>
            <a:r>
              <a:rPr sz="1800" b="1" spc="-25" dirty="0">
                <a:latin typeface="Times New Roman"/>
                <a:cs typeface="Times New Roman"/>
              </a:rPr>
              <a:t>of </a:t>
            </a:r>
            <a:r>
              <a:rPr sz="1800" b="1" dirty="0">
                <a:latin typeface="Times New Roman"/>
                <a:cs typeface="Times New Roman"/>
              </a:rPr>
              <a:t>the</a:t>
            </a:r>
            <a:r>
              <a:rPr sz="1800" b="1" spc="-35" dirty="0">
                <a:latin typeface="Times New Roman"/>
                <a:cs typeface="Times New Roman"/>
              </a:rPr>
              <a:t> </a:t>
            </a:r>
            <a:r>
              <a:rPr sz="1800" b="1" spc="-10" dirty="0">
                <a:latin typeface="Times New Roman"/>
                <a:cs typeface="Times New Roman"/>
              </a:rPr>
              <a:t>image.</a:t>
            </a:r>
            <a:endParaRPr sz="1800">
              <a:latin typeface="Times New Roman"/>
              <a:cs typeface="Times New Roman"/>
            </a:endParaRPr>
          </a:p>
        </p:txBody>
      </p:sp>
      <p:pic>
        <p:nvPicPr>
          <p:cNvPr id="4" name="object 4"/>
          <p:cNvPicPr/>
          <p:nvPr/>
        </p:nvPicPr>
        <p:blipFill>
          <a:blip r:embed="rId2" cstate="print"/>
          <a:stretch>
            <a:fillRect/>
          </a:stretch>
        </p:blipFill>
        <p:spPr>
          <a:xfrm>
            <a:off x="6084189" y="3284944"/>
            <a:ext cx="2904236" cy="3336925"/>
          </a:xfrm>
          <a:prstGeom prst="rect">
            <a:avLst/>
          </a:prstGeom>
        </p:spPr>
      </p:pic>
      <p:pic>
        <p:nvPicPr>
          <p:cNvPr id="5" name="object 5"/>
          <p:cNvPicPr/>
          <p:nvPr/>
        </p:nvPicPr>
        <p:blipFill>
          <a:blip r:embed="rId3" cstate="print"/>
          <a:stretch>
            <a:fillRect/>
          </a:stretch>
        </p:blipFill>
        <p:spPr>
          <a:xfrm>
            <a:off x="941830" y="324594"/>
            <a:ext cx="7053072" cy="391685"/>
          </a:xfrm>
          <a:prstGeom prst="rect">
            <a:avLst/>
          </a:prstGeom>
        </p:spPr>
      </p:pic>
      <p:grpSp>
        <p:nvGrpSpPr>
          <p:cNvPr id="6" name="object 6"/>
          <p:cNvGrpSpPr/>
          <p:nvPr/>
        </p:nvGrpSpPr>
        <p:grpSpPr>
          <a:xfrm>
            <a:off x="426719" y="795527"/>
            <a:ext cx="8211820" cy="91440"/>
            <a:chOff x="426719" y="795527"/>
            <a:chExt cx="8211820" cy="91440"/>
          </a:xfrm>
        </p:grpSpPr>
        <p:pic>
          <p:nvPicPr>
            <p:cNvPr id="7" name="object 7"/>
            <p:cNvPicPr/>
            <p:nvPr/>
          </p:nvPicPr>
          <p:blipFill>
            <a:blip r:embed="rId4" cstate="print"/>
            <a:stretch>
              <a:fillRect/>
            </a:stretch>
          </p:blipFill>
          <p:spPr>
            <a:xfrm>
              <a:off x="426719" y="795527"/>
              <a:ext cx="8211311" cy="91440"/>
            </a:xfrm>
            <a:prstGeom prst="rect">
              <a:avLst/>
            </a:prstGeom>
          </p:spPr>
        </p:pic>
        <p:sp>
          <p:nvSpPr>
            <p:cNvPr id="8" name="object 8"/>
            <p:cNvSpPr/>
            <p:nvPr/>
          </p:nvSpPr>
          <p:spPr>
            <a:xfrm>
              <a:off x="460374" y="821054"/>
              <a:ext cx="8144509" cy="0"/>
            </a:xfrm>
            <a:custGeom>
              <a:avLst/>
              <a:gdLst/>
              <a:ahLst/>
              <a:cxnLst/>
              <a:rect l="l" t="t" r="r" b="b"/>
              <a:pathLst>
                <a:path w="8144509">
                  <a:moveTo>
                    <a:pt x="0" y="0"/>
                  </a:moveTo>
                  <a:lnTo>
                    <a:pt x="8144129" y="0"/>
                  </a:lnTo>
                </a:path>
              </a:pathLst>
            </a:custGeom>
            <a:ln w="25400">
              <a:solidFill>
                <a:srgbClr val="4F81BC"/>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561</TotalTime>
  <Words>4583</Words>
  <Application>Microsoft Office PowerPoint</Application>
  <PresentationFormat>On-screen Show (4:3)</PresentationFormat>
  <Paragraphs>924</Paragraphs>
  <Slides>55</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55</vt:i4>
      </vt:variant>
    </vt:vector>
  </HeadingPairs>
  <TitlesOfParts>
    <vt:vector size="70" baseType="lpstr">
      <vt:lpstr>Arial</vt:lpstr>
      <vt:lpstr>Arial MT</vt:lpstr>
      <vt:lpstr>Calibri</vt:lpstr>
      <vt:lpstr>Cambria</vt:lpstr>
      <vt:lpstr>Cambria Math</vt:lpstr>
      <vt:lpstr>Georgia</vt:lpstr>
      <vt:lpstr>sohne</vt:lpstr>
      <vt:lpstr>source-serif-pro</vt:lpstr>
      <vt:lpstr>Symbol</vt:lpstr>
      <vt:lpstr>system-ui</vt:lpstr>
      <vt:lpstr>Tahoma</vt:lpstr>
      <vt:lpstr>Times New Roman</vt:lpstr>
      <vt:lpstr>Verdana</vt:lpstr>
      <vt:lpstr>Wingdings</vt:lpstr>
      <vt:lpstr>Office Theme</vt:lpstr>
      <vt:lpstr>Image Enhancement</vt:lpstr>
      <vt:lpstr>Content</vt:lpstr>
      <vt:lpstr>PowerPoint Presentation</vt:lpstr>
      <vt:lpstr>PowerPoint Presentation</vt:lpstr>
      <vt:lpstr>PowerPoint Presentation</vt:lpstr>
      <vt:lpstr>PowerPoint Presentation</vt:lpstr>
      <vt:lpstr>Observe that the center coefficient of the kernel, w(0, 0), aligns  with the pixel at location (x, y).</vt:lpstr>
      <vt:lpstr>PowerPoint Presentation</vt:lpstr>
      <vt:lpstr>PowerPoint Presentation</vt:lpstr>
      <vt:lpstr>PowerPoint Presentation</vt:lpstr>
      <vt:lpstr>PowerPoint Presentation</vt:lpstr>
      <vt:lpstr>PowerPoint Presentation</vt:lpstr>
      <vt:lpstr>The average filtering is also called mean filtering. Where the output pixel value is the mean of its neighborhood. Thus, the filtering mask is as follows (3*3 as an example).</vt:lpstr>
      <vt:lpstr>Answer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Image Differentiation (First-order Derivatives) </vt:lpstr>
      <vt:lpstr>PowerPoint Presentation</vt:lpstr>
      <vt:lpstr>PowerPoint Presentation</vt:lpstr>
      <vt:lpstr>PowerPoint Presentation</vt:lpstr>
      <vt:lpstr>PowerPoint Presentation</vt:lpstr>
      <vt:lpstr>Sharpening Filters </vt:lpstr>
      <vt:lpstr>PowerPoint Presentation</vt:lpstr>
      <vt:lpstr>These filters will tend to bring out, or enhance details in the image. Example of convolution masks for the Laplacian-type filters are:</vt:lpstr>
      <vt:lpstr>The main advantage of Laplacian filter is to increase the degree of sharpening. It enhance details in all directions equally.</vt:lpstr>
      <vt:lpstr>PowerPoint Presentation</vt:lpstr>
      <vt:lpstr>PowerPoint Presentation</vt:lpstr>
      <vt:lpstr>PowerPoint Presentation</vt:lpstr>
      <vt:lpstr>The Sobel edge detection masks look for edges in both the horizontal and vertical directions and then combine this information into a single metric.</vt:lpstr>
      <vt:lpstr>PowerPoint Presentation</vt:lpstr>
      <vt:lpstr>PowerPoint Presentation</vt:lpstr>
      <vt:lpstr>Example:</vt:lpstr>
      <vt:lpstr>Prewitt Operator – Spatial Domain Filtering</vt:lpstr>
      <vt:lpstr>Prewitt Operator – Spatial Domain Filtering</vt:lpstr>
      <vt:lpstr>Roberts Operator – Spatial Domain Filtering</vt:lpstr>
      <vt:lpstr>PowerPoint Presentation</vt:lpstr>
      <vt:lpstr>Canny Edge Detection Five steps of canny edge detection</vt:lpstr>
      <vt:lpstr>1.Noise Reduction</vt:lpstr>
      <vt:lpstr>Non-Maximum Suppression (NMS)</vt:lpstr>
      <vt:lpstr>Double thresholding  Strong edges, weak edges, and non-edges</vt:lpstr>
      <vt:lpstr>Edge tracking by hysteresis </vt:lpstr>
      <vt:lpstr>PowerPoint Presentation</vt:lpstr>
      <vt:lpstr>In real applications, it is hard to know what kind of noise has been added to an image.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Graphics</dc:title>
  <dc:creator>Maher</dc:creator>
  <cp:lastModifiedBy>anwar khan</cp:lastModifiedBy>
  <cp:revision>103</cp:revision>
  <dcterms:created xsi:type="dcterms:W3CDTF">2025-10-28T06:17:49Z</dcterms:created>
  <dcterms:modified xsi:type="dcterms:W3CDTF">2025-12-09T06:02:51Z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2022-04-13T00:00:00Z</vt:filetime>
  </property>
  <property fmtid="{D5CDD505-2E9C-101B-9397-08002B2CF9AE}" pid="3" name="Creator">
    <vt:lpwstr>Microsoft® PowerPoint® 2010</vt:lpwstr>
  </property>
  <property fmtid="{D5CDD505-2E9C-101B-9397-08002B2CF9AE}" pid="4" name="LastSaved">
    <vt:filetime>2025-10-28T00:00:00Z</vt:filetime>
  </property>
  <property fmtid="{D5CDD505-2E9C-101B-9397-08002B2CF9AE}" pid="5" name="Producer">
    <vt:lpwstr>Microsoft® PowerPoint® 2010</vt:lpwstr>
  </property>
</Properties>
</file>