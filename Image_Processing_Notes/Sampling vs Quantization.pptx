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84" r:id="rId6"/>
    <p:sldId id="285" r:id="rId7"/>
    <p:sldId id="286" r:id="rId8"/>
    <p:sldId id="287" r:id="rId9"/>
    <p:sldId id="281" r:id="rId10"/>
    <p:sldId id="282" r:id="rId11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424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F0F0-11C3-4BB4-B4AD-F08EC9A160E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25EC09-1119-43FD-8E85-70EEDEE6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60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25EC09-1119-43FD-8E85-70EEDEE6B5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25EC09-1119-43FD-8E85-70EEDEE6B5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8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25533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02932" y="2505886"/>
            <a:ext cx="4079875" cy="363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July</a:t>
            </a:r>
            <a:r>
              <a:rPr spc="30" dirty="0"/>
              <a:t> </a:t>
            </a:r>
            <a:r>
              <a:rPr dirty="0"/>
              <a:t>3,</a:t>
            </a:r>
            <a:r>
              <a:rPr spc="30" dirty="0"/>
              <a:t> </a:t>
            </a:r>
            <a:r>
              <a:rPr spc="-20" dirty="0"/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July</a:t>
            </a:r>
            <a:r>
              <a:rPr spc="30" dirty="0"/>
              <a:t> </a:t>
            </a:r>
            <a:r>
              <a:rPr dirty="0"/>
              <a:t>3,</a:t>
            </a:r>
            <a:r>
              <a:rPr spc="30" dirty="0"/>
              <a:t> </a:t>
            </a:r>
            <a:r>
              <a:rPr spc="-20" dirty="0"/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July</a:t>
            </a:r>
            <a:r>
              <a:rPr spc="30" dirty="0"/>
              <a:t> </a:t>
            </a:r>
            <a:r>
              <a:rPr dirty="0"/>
              <a:t>3,</a:t>
            </a:r>
            <a:r>
              <a:rPr spc="30" dirty="0"/>
              <a:t> </a:t>
            </a:r>
            <a:r>
              <a:rPr spc="-20" dirty="0"/>
              <a:t>2018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5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535976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071952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July</a:t>
            </a:r>
            <a:r>
              <a:rPr spc="30" dirty="0"/>
              <a:t> </a:t>
            </a:r>
            <a:r>
              <a:rPr dirty="0"/>
              <a:t>3,</a:t>
            </a:r>
            <a:r>
              <a:rPr spc="30" dirty="0"/>
              <a:t> </a:t>
            </a:r>
            <a:r>
              <a:rPr spc="-20" dirty="0"/>
              <a:t>2018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87743" y="558024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July</a:t>
            </a:r>
            <a:r>
              <a:rPr spc="30" dirty="0"/>
              <a:t> </a:t>
            </a:r>
            <a:r>
              <a:rPr dirty="0"/>
              <a:t>3,</a:t>
            </a:r>
            <a:r>
              <a:rPr spc="30" dirty="0"/>
              <a:t> </a:t>
            </a:r>
            <a:r>
              <a:rPr spc="-20" dirty="0"/>
              <a:t>2018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55333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1361" y="1356257"/>
            <a:ext cx="2326004" cy="1459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97008" y="3351784"/>
            <a:ext cx="47975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July</a:t>
            </a:r>
            <a:r>
              <a:rPr spc="30" dirty="0"/>
              <a:t> </a:t>
            </a:r>
            <a:r>
              <a:rPr dirty="0"/>
              <a:t>3,</a:t>
            </a:r>
            <a:r>
              <a:rPr spc="30" dirty="0"/>
              <a:t> </a:t>
            </a:r>
            <a:r>
              <a:rPr spc="-20" dirty="0"/>
              <a:t>2018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3207" y="3351784"/>
            <a:ext cx="151003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55" y="3351784"/>
            <a:ext cx="25463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‹#›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10" Type="http://schemas.openxmlformats.org/officeDocument/2006/relationships/image" Target="../media/image23.emf"/><Relationship Id="rId4" Type="http://schemas.openxmlformats.org/officeDocument/2006/relationships/image" Target="../media/image17.emf"/><Relationship Id="rId9" Type="http://schemas.openxmlformats.org/officeDocument/2006/relationships/image" Target="../media/image2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60445" y="3248732"/>
            <a:ext cx="203200" cy="55880"/>
            <a:chOff x="3260445" y="3248732"/>
            <a:chExt cx="203200" cy="55880"/>
          </a:xfrm>
        </p:grpSpPr>
        <p:sp>
          <p:nvSpPr>
            <p:cNvPr id="6" name="object 6"/>
            <p:cNvSpPr/>
            <p:nvPr/>
          </p:nvSpPr>
          <p:spPr>
            <a:xfrm>
              <a:off x="332361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26044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3531425" y="3247467"/>
            <a:ext cx="203200" cy="58419"/>
            <a:chOff x="3531425" y="3247467"/>
            <a:chExt cx="203200" cy="58419"/>
          </a:xfrm>
        </p:grpSpPr>
        <p:sp>
          <p:nvSpPr>
            <p:cNvPr id="9" name="object 9"/>
            <p:cNvSpPr/>
            <p:nvPr/>
          </p:nvSpPr>
          <p:spPr>
            <a:xfrm>
              <a:off x="3620326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31425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07626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802393" y="3247467"/>
            <a:ext cx="203200" cy="58419"/>
            <a:chOff x="3802393" y="3247467"/>
            <a:chExt cx="203200" cy="58419"/>
          </a:xfrm>
        </p:grpSpPr>
        <p:sp>
          <p:nvSpPr>
            <p:cNvPr id="13" name="object 13"/>
            <p:cNvSpPr/>
            <p:nvPr/>
          </p:nvSpPr>
          <p:spPr>
            <a:xfrm>
              <a:off x="3878593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02393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78593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8" name="object 18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/>
          <p:nvPr/>
        </p:nvSpPr>
        <p:spPr>
          <a:xfrm>
            <a:off x="87743" y="431253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6" y="82384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87743" y="475661"/>
            <a:ext cx="4483735" cy="701040"/>
            <a:chOff x="87743" y="475661"/>
            <a:chExt cx="4483735" cy="70104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074877"/>
              <a:ext cx="101600" cy="1016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062177"/>
              <a:ext cx="4381765" cy="11430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310" y="481812"/>
              <a:ext cx="50800" cy="59306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87743" y="475661"/>
              <a:ext cx="4432935" cy="650240"/>
            </a:xfrm>
            <a:custGeom>
              <a:avLst/>
              <a:gdLst/>
              <a:ahLst/>
              <a:cxnLst/>
              <a:rect l="l" t="t" r="r" b="b"/>
              <a:pathLst>
                <a:path w="4432935" h="650240">
                  <a:moveTo>
                    <a:pt x="4432566" y="0"/>
                  </a:moveTo>
                  <a:lnTo>
                    <a:pt x="0" y="0"/>
                  </a:lnTo>
                  <a:lnTo>
                    <a:pt x="0" y="599215"/>
                  </a:lnTo>
                  <a:lnTo>
                    <a:pt x="4008" y="618940"/>
                  </a:lnTo>
                  <a:lnTo>
                    <a:pt x="14922" y="635093"/>
                  </a:lnTo>
                  <a:lnTo>
                    <a:pt x="31075" y="646007"/>
                  </a:lnTo>
                  <a:lnTo>
                    <a:pt x="50800" y="650016"/>
                  </a:lnTo>
                  <a:lnTo>
                    <a:pt x="4381765" y="650016"/>
                  </a:lnTo>
                  <a:lnTo>
                    <a:pt x="4401490" y="646007"/>
                  </a:lnTo>
                  <a:lnTo>
                    <a:pt x="4417643" y="635093"/>
                  </a:lnTo>
                  <a:lnTo>
                    <a:pt x="4428558" y="618940"/>
                  </a:lnTo>
                  <a:lnTo>
                    <a:pt x="4432566" y="59921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10" y="519898"/>
              <a:ext cx="0" cy="574040"/>
            </a:xfrm>
            <a:custGeom>
              <a:avLst/>
              <a:gdLst/>
              <a:ahLst/>
              <a:cxnLst/>
              <a:rect l="l" t="t" r="r" b="b"/>
              <a:pathLst>
                <a:path h="574040">
                  <a:moveTo>
                    <a:pt x="0" y="57402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10" y="5071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0310" y="4944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0310" y="4817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249286" y="479004"/>
            <a:ext cx="2109470" cy="41101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lang="en-US" sz="1100" dirty="0"/>
              <a:t>Computer Vision </a:t>
            </a:r>
            <a:br>
              <a:rPr lang="en-US" sz="1100" dirty="0"/>
            </a:br>
            <a:r>
              <a:rPr lang="en-US" sz="1100" dirty="0"/>
              <a:t>(basic concept)</a:t>
            </a:r>
            <a:endParaRPr sz="1100" dirty="0"/>
          </a:p>
        </p:txBody>
      </p:sp>
      <p:sp>
        <p:nvSpPr>
          <p:cNvPr id="32" name="object 32"/>
          <p:cNvSpPr txBox="1">
            <a:spLocks noGrp="1"/>
          </p:cNvSpPr>
          <p:nvPr>
            <p:ph type="body" idx="1"/>
          </p:nvPr>
        </p:nvSpPr>
        <p:spPr>
          <a:xfrm>
            <a:off x="1141361" y="1356257"/>
            <a:ext cx="2326004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pc="-20" dirty="0"/>
              <a:t>Anwar khan cs-dept</a:t>
            </a:r>
            <a:endParaRPr spc="-20" dirty="0"/>
          </a:p>
        </p:txBody>
      </p:sp>
      <p:grpSp>
        <p:nvGrpSpPr>
          <p:cNvPr id="33" name="object 3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4" name="object 3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991400"/>
            <a:ext cx="160096" cy="1600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9743" y="99073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Tahoma"/>
                <a:cs typeface="Tahoma"/>
              </a:rPr>
              <a:t>1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582" y="1215186"/>
            <a:ext cx="65265" cy="6526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95173" y="963281"/>
            <a:ext cx="2820670" cy="34054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80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Image</a:t>
            </a: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Sampling</a:t>
            </a:r>
            <a:r>
              <a:rPr sz="1100" spc="-35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and</a:t>
            </a:r>
            <a:r>
              <a:rPr sz="1100" spc="-25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3333B2"/>
                </a:solidFill>
                <a:latin typeface="Tahoma"/>
                <a:cs typeface="Tahoma"/>
                <a:hlinkClick r:id="rId4" action="ppaction://hlinksldjump"/>
              </a:rPr>
              <a:t>Quantization</a:t>
            </a:r>
            <a:endParaRPr sz="1100" dirty="0">
              <a:latin typeface="Tahoma"/>
              <a:cs typeface="Tahoma"/>
            </a:endParaRPr>
          </a:p>
          <a:p>
            <a:pPr marL="151130" marR="5080">
              <a:lnSpc>
                <a:spcPct val="102600"/>
              </a:lnSpc>
            </a:pPr>
            <a:r>
              <a:rPr sz="1100" dirty="0">
                <a:latin typeface="Tahoma"/>
                <a:cs typeface="Tahoma"/>
                <a:hlinkClick r:id="rId4" action="ppaction://hlinksldjump"/>
              </a:rPr>
              <a:t>Basic</a:t>
            </a:r>
            <a:r>
              <a:rPr sz="1100" spc="-30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4" action="ppaction://hlinksldjump"/>
              </a:rPr>
              <a:t>Concepts</a:t>
            </a:r>
            <a:r>
              <a:rPr sz="1100" spc="-25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4" action="ppaction://hlinksldjump"/>
              </a:rPr>
              <a:t>in</a:t>
            </a:r>
            <a:r>
              <a:rPr sz="1100" spc="-25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0" dirty="0">
                <a:latin typeface="Tahoma"/>
                <a:cs typeface="Tahoma"/>
                <a:hlinkClick r:id="rId4" action="ppaction://hlinksldjump"/>
              </a:rPr>
              <a:t>Sampling </a:t>
            </a:r>
            <a:r>
              <a:rPr sz="1100" spc="-35" dirty="0">
                <a:latin typeface="Tahoma"/>
                <a:cs typeface="Tahoma"/>
                <a:hlinkClick r:id="rId4" action="ppaction://hlinksldjump"/>
              </a:rPr>
              <a:t>and</a:t>
            </a:r>
            <a:r>
              <a:rPr sz="1100" spc="-30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4" action="ppaction://hlinksldjump"/>
              </a:rPr>
              <a:t>Quantization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Rizoan</a:t>
            </a:r>
            <a:r>
              <a:rPr spc="50" dirty="0"/>
              <a:t> </a:t>
            </a:r>
            <a:r>
              <a:rPr dirty="0"/>
              <a:t>Toufiq</a:t>
            </a:r>
            <a:r>
              <a:rPr spc="290" dirty="0"/>
              <a:t> </a:t>
            </a:r>
            <a:r>
              <a:rPr dirty="0"/>
              <a:t>(Assistant</a:t>
            </a:r>
            <a:r>
              <a:rPr spc="50" dirty="0"/>
              <a:t> </a:t>
            </a:r>
            <a:r>
              <a:rPr spc="-10" dirty="0"/>
              <a:t>Prof.,CSE,RUET)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July</a:t>
            </a:r>
            <a:r>
              <a:rPr spc="30" dirty="0"/>
              <a:t> </a:t>
            </a:r>
            <a:r>
              <a:rPr dirty="0"/>
              <a:t>3,</a:t>
            </a:r>
            <a:r>
              <a:rPr spc="30" dirty="0"/>
              <a:t> </a:t>
            </a:r>
            <a:r>
              <a:rPr spc="-20" dirty="0"/>
              <a:t>2018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spc="-10" dirty="0"/>
              <a:t>2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Image</a:t>
            </a:r>
            <a:r>
              <a:rPr spc="-25" dirty="0"/>
              <a:t> </a:t>
            </a:r>
            <a:r>
              <a:rPr spc="-35" dirty="0"/>
              <a:t>Sampling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-40" dirty="0"/>
              <a:t> </a:t>
            </a:r>
            <a:r>
              <a:rPr spc="-10" dirty="0"/>
              <a:t>Quantization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558024"/>
            <a:ext cx="4483735" cy="2541905"/>
            <a:chOff x="87743" y="558024"/>
            <a:chExt cx="4483735" cy="2541905"/>
          </a:xfrm>
        </p:grpSpPr>
        <p:sp>
          <p:nvSpPr>
            <p:cNvPr id="4" name="object 4"/>
            <p:cNvSpPr/>
            <p:nvPr/>
          </p:nvSpPr>
          <p:spPr>
            <a:xfrm>
              <a:off x="87743" y="558024"/>
              <a:ext cx="4432935" cy="198755"/>
            </a:xfrm>
            <a:custGeom>
              <a:avLst/>
              <a:gdLst/>
              <a:ahLst/>
              <a:cxnLst/>
              <a:rect l="l" t="t" r="r" b="b"/>
              <a:pathLst>
                <a:path w="4432935" h="198754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4432566" y="198367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3" y="743737"/>
              <a:ext cx="4432566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99797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985274"/>
              <a:ext cx="4381765" cy="11430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310" y="602259"/>
              <a:ext cx="50800" cy="239571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787984"/>
              <a:ext cx="4432935" cy="2261235"/>
            </a:xfrm>
            <a:custGeom>
              <a:avLst/>
              <a:gdLst/>
              <a:ahLst/>
              <a:cxnLst/>
              <a:rect l="l" t="t" r="r" b="b"/>
              <a:pathLst>
                <a:path w="4432935" h="2261235">
                  <a:moveTo>
                    <a:pt x="4432566" y="0"/>
                  </a:moveTo>
                  <a:lnTo>
                    <a:pt x="0" y="0"/>
                  </a:lnTo>
                  <a:lnTo>
                    <a:pt x="0" y="2209990"/>
                  </a:lnTo>
                  <a:lnTo>
                    <a:pt x="4008" y="2229715"/>
                  </a:lnTo>
                  <a:lnTo>
                    <a:pt x="14922" y="2245868"/>
                  </a:lnTo>
                  <a:lnTo>
                    <a:pt x="31075" y="2256782"/>
                  </a:lnTo>
                  <a:lnTo>
                    <a:pt x="50800" y="2260790"/>
                  </a:lnTo>
                  <a:lnTo>
                    <a:pt x="4381765" y="2260790"/>
                  </a:lnTo>
                  <a:lnTo>
                    <a:pt x="4401490" y="2256782"/>
                  </a:lnTo>
                  <a:lnTo>
                    <a:pt x="4417643" y="2245868"/>
                  </a:lnTo>
                  <a:lnTo>
                    <a:pt x="4428558" y="2229715"/>
                  </a:lnTo>
                  <a:lnTo>
                    <a:pt x="4432566" y="2209990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10" y="640322"/>
              <a:ext cx="0" cy="2376805"/>
            </a:xfrm>
            <a:custGeom>
              <a:avLst/>
              <a:gdLst/>
              <a:ahLst/>
              <a:cxnLst/>
              <a:rect l="l" t="t" r="r" b="b"/>
              <a:pathLst>
                <a:path h="2376805">
                  <a:moveTo>
                    <a:pt x="0" y="237670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10" y="6276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10" y="6149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10" y="60222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089" y="841743"/>
              <a:ext cx="65265" cy="6526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0864" y="1183373"/>
              <a:ext cx="52590" cy="5259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0864" y="1335214"/>
              <a:ext cx="52590" cy="5259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5844" y="494220"/>
            <a:ext cx="4356100" cy="93471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Basic</a:t>
            </a:r>
            <a:r>
              <a:rPr sz="120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Tahoma"/>
                <a:cs typeface="Tahoma"/>
              </a:rPr>
              <a:t>Concepts</a:t>
            </a:r>
            <a:endParaRPr sz="1200">
              <a:latin typeface="Tahoma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440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create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Arial"/>
                <a:cs typeface="Arial"/>
              </a:rPr>
              <a:t>digital</a:t>
            </a:r>
            <a:r>
              <a:rPr sz="1100" b="1" spc="4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image</a:t>
            </a:r>
            <a:r>
              <a:rPr sz="1100" spc="-30" dirty="0">
                <a:latin typeface="Tahoma"/>
                <a:cs typeface="Tahoma"/>
              </a:rPr>
              <a:t>, </a:t>
            </a:r>
            <a:r>
              <a:rPr sz="1100" spc="-80" dirty="0">
                <a:latin typeface="Tahoma"/>
                <a:cs typeface="Tahoma"/>
              </a:rPr>
              <a:t>we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convert </a:t>
            </a: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continuous </a:t>
            </a:r>
            <a:r>
              <a:rPr sz="1100" spc="-70" dirty="0">
                <a:latin typeface="Tahoma"/>
                <a:cs typeface="Tahoma"/>
              </a:rPr>
              <a:t>sensed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digital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form.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involves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processes:</a:t>
            </a:r>
            <a:endParaRPr sz="1100">
              <a:latin typeface="Tahoma"/>
              <a:cs typeface="Tahoma"/>
            </a:endParaRPr>
          </a:p>
          <a:p>
            <a:pPr marL="566420" marR="3128010">
              <a:lnSpc>
                <a:spcPct val="100000"/>
              </a:lnSpc>
              <a:spcBef>
                <a:spcPts val="150"/>
              </a:spcBef>
            </a:pPr>
            <a:r>
              <a:rPr sz="1000" spc="-10" dirty="0">
                <a:latin typeface="Tahoma"/>
                <a:cs typeface="Tahoma"/>
              </a:rPr>
              <a:t>Sampling </a:t>
            </a:r>
            <a:r>
              <a:rPr sz="1000" spc="-30" dirty="0">
                <a:latin typeface="Tahoma"/>
                <a:cs typeface="Tahoma"/>
              </a:rPr>
              <a:t>quantization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35" y="456426"/>
            <a:ext cx="965480" cy="1081825"/>
          </a:xfrm>
          <a:prstGeom prst="rect">
            <a:avLst/>
          </a:prstGeom>
        </p:spPr>
        <p:txBody>
          <a:bodyPr vert="horz" wrap="square" lIns="0" tIns="4562" rIns="0" bIns="0" rtlCol="0">
            <a:spAutoFit/>
          </a:bodyPr>
          <a:lstStyle/>
          <a:p>
            <a:pPr marL="4802">
              <a:spcBef>
                <a:spcPts val="36"/>
              </a:spcBef>
            </a:pPr>
            <a:r>
              <a:rPr spc="59" dirty="0"/>
              <a:t>Image</a:t>
            </a:r>
            <a:r>
              <a:rPr spc="45" dirty="0"/>
              <a:t> </a:t>
            </a:r>
            <a:r>
              <a:rPr spc="64" dirty="0"/>
              <a:t>Sampling</a:t>
            </a:r>
            <a:r>
              <a:rPr spc="40" dirty="0"/>
              <a:t> </a:t>
            </a:r>
            <a:r>
              <a:rPr spc="62" dirty="0"/>
              <a:t>and</a:t>
            </a:r>
            <a:r>
              <a:rPr spc="30" dirty="0"/>
              <a:t> </a:t>
            </a:r>
            <a:r>
              <a:rPr spc="51" dirty="0"/>
              <a:t>Quantization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001" y="578281"/>
            <a:ext cx="2288002" cy="1378898"/>
          </a:xfrm>
          <a:prstGeom prst="rect">
            <a:avLst/>
          </a:prstGeom>
        </p:spPr>
        <p:txBody>
          <a:bodyPr vert="horz" wrap="square" lIns="0" tIns="47302" rIns="0" bIns="0" rtlCol="0">
            <a:spAutoFit/>
          </a:bodyPr>
          <a:lstStyle/>
          <a:p>
            <a:pPr marL="9604">
              <a:spcBef>
                <a:spcPts val="372"/>
              </a:spcBef>
            </a:pPr>
            <a:r>
              <a:rPr sz="1200" b="1" spc="51" dirty="0">
                <a:solidFill>
                  <a:srgbClr val="252525"/>
                </a:solidFill>
                <a:latin typeface="Cambria"/>
                <a:cs typeface="Cambria"/>
              </a:rPr>
              <a:t>Sampling:</a:t>
            </a:r>
            <a:endParaRPr sz="1200" dirty="0">
              <a:latin typeface="Cambria"/>
              <a:cs typeface="Cambria"/>
            </a:endParaRPr>
          </a:p>
          <a:p>
            <a:pPr marL="9604">
              <a:spcBef>
                <a:spcPts val="299"/>
              </a:spcBef>
            </a:pPr>
            <a:r>
              <a:rPr sz="1000" spc="30" dirty="0">
                <a:latin typeface="Cambria"/>
                <a:cs typeface="Cambria"/>
              </a:rPr>
              <a:t>Digitization</a:t>
            </a:r>
            <a:r>
              <a:rPr sz="1000" spc="42" dirty="0">
                <a:latin typeface="Cambria"/>
                <a:cs typeface="Cambria"/>
              </a:rPr>
              <a:t> </a:t>
            </a:r>
            <a:r>
              <a:rPr sz="1000" spc="4" dirty="0">
                <a:latin typeface="Cambria"/>
                <a:cs typeface="Cambria"/>
              </a:rPr>
              <a:t>of</a:t>
            </a:r>
            <a:r>
              <a:rPr sz="1000" spc="43" dirty="0">
                <a:latin typeface="Cambria"/>
                <a:cs typeface="Cambria"/>
              </a:rPr>
              <a:t> </a:t>
            </a:r>
            <a:r>
              <a:rPr sz="1000" spc="28" dirty="0">
                <a:latin typeface="Cambria"/>
                <a:cs typeface="Cambria"/>
              </a:rPr>
              <a:t>the</a:t>
            </a:r>
            <a:r>
              <a:rPr sz="1000" spc="49" dirty="0">
                <a:latin typeface="Cambria"/>
                <a:cs typeface="Cambria"/>
              </a:rPr>
              <a:t> </a:t>
            </a:r>
            <a:r>
              <a:rPr sz="1000" spc="30" dirty="0">
                <a:latin typeface="Cambria"/>
                <a:cs typeface="Cambria"/>
              </a:rPr>
              <a:t>spatial</a:t>
            </a:r>
            <a:r>
              <a:rPr sz="1000" spc="57" dirty="0">
                <a:latin typeface="Cambria"/>
                <a:cs typeface="Cambria"/>
              </a:rPr>
              <a:t> </a:t>
            </a:r>
            <a:r>
              <a:rPr sz="1000" spc="4" dirty="0">
                <a:latin typeface="Cambria"/>
                <a:cs typeface="Cambria"/>
              </a:rPr>
              <a:t>coordinates</a:t>
            </a:r>
            <a:r>
              <a:rPr sz="1000" spc="49" dirty="0">
                <a:latin typeface="Cambria"/>
                <a:cs typeface="Cambria"/>
              </a:rPr>
              <a:t> </a:t>
            </a:r>
            <a:r>
              <a:rPr sz="1000" spc="-4" dirty="0">
                <a:latin typeface="Cambria"/>
                <a:cs typeface="Cambria"/>
              </a:rPr>
              <a:t>(</a:t>
            </a:r>
            <a:r>
              <a:rPr sz="1000" i="1" spc="-4" dirty="0">
                <a:latin typeface="Cambria"/>
                <a:cs typeface="Cambria"/>
              </a:rPr>
              <a:t>x</a:t>
            </a:r>
            <a:r>
              <a:rPr sz="1000" spc="-4" dirty="0">
                <a:latin typeface="Cambria"/>
                <a:cs typeface="Cambria"/>
              </a:rPr>
              <a:t>,</a:t>
            </a:r>
            <a:r>
              <a:rPr sz="1000" i="1" spc="-4" dirty="0">
                <a:latin typeface="Cambria"/>
                <a:cs typeface="Cambria"/>
              </a:rPr>
              <a:t>y</a:t>
            </a:r>
            <a:r>
              <a:rPr sz="1000" spc="-4" dirty="0">
                <a:latin typeface="Cambria"/>
                <a:cs typeface="Cambria"/>
              </a:rPr>
              <a:t>)</a:t>
            </a:r>
            <a:endParaRPr sz="1000" dirty="0">
              <a:latin typeface="Cambria"/>
              <a:cs typeface="Cambria"/>
            </a:endParaRPr>
          </a:p>
          <a:p>
            <a:pPr marL="9604">
              <a:spcBef>
                <a:spcPts val="297"/>
              </a:spcBef>
            </a:pPr>
            <a:r>
              <a:rPr sz="1000" b="1" spc="40" dirty="0">
                <a:latin typeface="Cambria"/>
                <a:cs typeface="Cambria"/>
              </a:rPr>
              <a:t>Quantization:</a:t>
            </a:r>
            <a:endParaRPr sz="1000" dirty="0">
              <a:latin typeface="Cambria"/>
              <a:cs typeface="Cambria"/>
            </a:endParaRPr>
          </a:p>
          <a:p>
            <a:pPr marL="9604">
              <a:spcBef>
                <a:spcPts val="338"/>
              </a:spcBef>
            </a:pPr>
            <a:r>
              <a:rPr sz="800" spc="32" dirty="0">
                <a:latin typeface="Cambria"/>
                <a:cs typeface="Cambria"/>
              </a:rPr>
              <a:t>Digitizing</a:t>
            </a:r>
            <a:r>
              <a:rPr sz="800" spc="34" dirty="0">
                <a:latin typeface="Cambria"/>
                <a:cs typeface="Cambria"/>
              </a:rPr>
              <a:t> </a:t>
            </a:r>
            <a:r>
              <a:rPr sz="800" spc="28" dirty="0">
                <a:latin typeface="Cambria"/>
                <a:cs typeface="Cambria"/>
              </a:rPr>
              <a:t>the</a:t>
            </a:r>
            <a:r>
              <a:rPr sz="800" spc="49" dirty="0">
                <a:latin typeface="Cambria"/>
                <a:cs typeface="Cambria"/>
              </a:rPr>
              <a:t> </a:t>
            </a:r>
            <a:r>
              <a:rPr sz="800" spc="26" dirty="0">
                <a:latin typeface="Cambria"/>
                <a:cs typeface="Cambria"/>
              </a:rPr>
              <a:t>amplitude</a:t>
            </a:r>
            <a:r>
              <a:rPr sz="800" spc="55" dirty="0">
                <a:latin typeface="Cambria"/>
                <a:cs typeface="Cambria"/>
              </a:rPr>
              <a:t> </a:t>
            </a:r>
            <a:r>
              <a:rPr sz="800" spc="28" dirty="0">
                <a:latin typeface="Cambria"/>
                <a:cs typeface="Cambria"/>
              </a:rPr>
              <a:t>values</a:t>
            </a:r>
            <a:r>
              <a:rPr sz="800" spc="45" dirty="0">
                <a:latin typeface="Cambria"/>
                <a:cs typeface="Cambria"/>
              </a:rPr>
              <a:t> </a:t>
            </a:r>
            <a:r>
              <a:rPr sz="800" spc="19" dirty="0">
                <a:latin typeface="Cambria"/>
                <a:cs typeface="Cambria"/>
              </a:rPr>
              <a:t>(gray-level</a:t>
            </a:r>
            <a:r>
              <a:rPr sz="800" spc="36" dirty="0">
                <a:latin typeface="Cambria"/>
                <a:cs typeface="Cambria"/>
              </a:rPr>
              <a:t> </a:t>
            </a:r>
            <a:r>
              <a:rPr sz="800" spc="23" dirty="0">
                <a:latin typeface="Cambria"/>
                <a:cs typeface="Cambria"/>
              </a:rPr>
              <a:t>quantization</a:t>
            </a:r>
            <a:endParaRPr sz="800" dirty="0">
              <a:latin typeface="Cambria"/>
              <a:cs typeface="Cambria"/>
            </a:endParaRPr>
          </a:p>
          <a:p>
            <a:pPr marL="78270" indent="-68667">
              <a:spcBef>
                <a:spcPts val="301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78270" algn="l"/>
              </a:tabLst>
            </a:pPr>
            <a:r>
              <a:rPr sz="800" b="1" dirty="0">
                <a:latin typeface="Cambria"/>
                <a:cs typeface="Cambria"/>
              </a:rPr>
              <a:t>8</a:t>
            </a:r>
            <a:r>
              <a:rPr sz="800" b="1" spc="49" dirty="0">
                <a:latin typeface="Cambria"/>
                <a:cs typeface="Cambria"/>
              </a:rPr>
              <a:t> </a:t>
            </a:r>
            <a:r>
              <a:rPr sz="800" b="1" spc="30" dirty="0">
                <a:latin typeface="Cambria"/>
                <a:cs typeface="Cambria"/>
              </a:rPr>
              <a:t>bit:</a:t>
            </a:r>
            <a:r>
              <a:rPr sz="800" b="1" spc="45" dirty="0">
                <a:latin typeface="Cambria"/>
                <a:cs typeface="Cambria"/>
              </a:rPr>
              <a:t> </a:t>
            </a:r>
            <a:r>
              <a:rPr sz="800" dirty="0">
                <a:latin typeface="Cambria"/>
                <a:cs typeface="Cambria"/>
              </a:rPr>
              <a:t>2</a:t>
            </a:r>
            <a:r>
              <a:rPr sz="800" baseline="20833" dirty="0">
                <a:latin typeface="Cambria"/>
                <a:cs typeface="Cambria"/>
              </a:rPr>
              <a:t>8</a:t>
            </a:r>
            <a:r>
              <a:rPr sz="800" spc="28" baseline="20833" dirty="0">
                <a:latin typeface="Cambria"/>
                <a:cs typeface="Cambria"/>
              </a:rPr>
              <a:t> </a:t>
            </a:r>
            <a:r>
              <a:rPr sz="800" spc="34" dirty="0">
                <a:latin typeface="Cambria"/>
                <a:cs typeface="Cambria"/>
              </a:rPr>
              <a:t>=</a:t>
            </a:r>
            <a:r>
              <a:rPr sz="800" spc="21" dirty="0">
                <a:latin typeface="Cambria"/>
                <a:cs typeface="Cambria"/>
              </a:rPr>
              <a:t> </a:t>
            </a:r>
            <a:r>
              <a:rPr sz="800" dirty="0">
                <a:latin typeface="Cambria"/>
                <a:cs typeface="Cambria"/>
              </a:rPr>
              <a:t>256</a:t>
            </a:r>
            <a:r>
              <a:rPr sz="800" spc="34" dirty="0">
                <a:latin typeface="Cambria"/>
                <a:cs typeface="Cambria"/>
              </a:rPr>
              <a:t> </a:t>
            </a:r>
            <a:r>
              <a:rPr sz="800" spc="28" dirty="0">
                <a:latin typeface="Cambria"/>
                <a:cs typeface="Cambria"/>
              </a:rPr>
              <a:t>gray</a:t>
            </a:r>
            <a:r>
              <a:rPr sz="800" spc="21" dirty="0">
                <a:latin typeface="Cambria"/>
                <a:cs typeface="Cambria"/>
              </a:rPr>
              <a:t> levels</a:t>
            </a:r>
            <a:r>
              <a:rPr sz="800" spc="25" dirty="0">
                <a:latin typeface="Cambria"/>
                <a:cs typeface="Cambria"/>
              </a:rPr>
              <a:t> </a:t>
            </a:r>
            <a:r>
              <a:rPr sz="800" dirty="0">
                <a:latin typeface="Cambria"/>
                <a:cs typeface="Cambria"/>
              </a:rPr>
              <a:t>(0:</a:t>
            </a:r>
            <a:r>
              <a:rPr sz="800" spc="28" dirty="0">
                <a:latin typeface="Cambria"/>
                <a:cs typeface="Cambria"/>
              </a:rPr>
              <a:t> </a:t>
            </a:r>
            <a:r>
              <a:rPr sz="800" spc="30" dirty="0">
                <a:latin typeface="Cambria"/>
                <a:cs typeface="Cambria"/>
              </a:rPr>
              <a:t>black,</a:t>
            </a:r>
            <a:r>
              <a:rPr sz="800" spc="28" dirty="0">
                <a:latin typeface="Cambria"/>
                <a:cs typeface="Cambria"/>
              </a:rPr>
              <a:t> </a:t>
            </a:r>
            <a:r>
              <a:rPr sz="800" dirty="0">
                <a:latin typeface="Cambria"/>
                <a:cs typeface="Cambria"/>
              </a:rPr>
              <a:t>255:</a:t>
            </a:r>
            <a:r>
              <a:rPr sz="800" spc="25" dirty="0">
                <a:latin typeface="Cambria"/>
                <a:cs typeface="Cambria"/>
              </a:rPr>
              <a:t> </a:t>
            </a:r>
            <a:r>
              <a:rPr sz="800" spc="-4" dirty="0">
                <a:latin typeface="Cambria"/>
                <a:cs typeface="Cambria"/>
              </a:rPr>
              <a:t>white)</a:t>
            </a:r>
            <a:endParaRPr sz="800" dirty="0">
              <a:latin typeface="Cambria"/>
              <a:cs typeface="Cambria"/>
            </a:endParaRPr>
          </a:p>
          <a:p>
            <a:pPr marL="78270" indent="-68667">
              <a:spcBef>
                <a:spcPts val="299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78270" algn="l"/>
              </a:tabLst>
            </a:pPr>
            <a:r>
              <a:rPr sz="800" b="1" spc="57" dirty="0">
                <a:latin typeface="Cambria"/>
                <a:cs typeface="Cambria"/>
              </a:rPr>
              <a:t>Binary</a:t>
            </a:r>
            <a:r>
              <a:rPr sz="800" b="1" spc="38" dirty="0">
                <a:latin typeface="Cambria"/>
                <a:cs typeface="Cambria"/>
              </a:rPr>
              <a:t> </a:t>
            </a:r>
            <a:r>
              <a:rPr sz="800" b="1" dirty="0">
                <a:latin typeface="Cambria"/>
                <a:cs typeface="Cambria"/>
              </a:rPr>
              <a:t>(1</a:t>
            </a:r>
            <a:r>
              <a:rPr sz="800" b="1" spc="49" dirty="0">
                <a:latin typeface="Cambria"/>
                <a:cs typeface="Cambria"/>
              </a:rPr>
              <a:t> </a:t>
            </a:r>
            <a:r>
              <a:rPr sz="800" b="1" spc="21" dirty="0">
                <a:latin typeface="Cambria"/>
                <a:cs typeface="Cambria"/>
              </a:rPr>
              <a:t>bit):</a:t>
            </a:r>
            <a:r>
              <a:rPr sz="800" b="1" spc="49" dirty="0">
                <a:latin typeface="Cambria"/>
                <a:cs typeface="Cambria"/>
              </a:rPr>
              <a:t> </a:t>
            </a:r>
            <a:r>
              <a:rPr sz="800" dirty="0">
                <a:latin typeface="Cambria"/>
                <a:cs typeface="Cambria"/>
              </a:rPr>
              <a:t>2</a:t>
            </a:r>
            <a:r>
              <a:rPr sz="800" spc="43" dirty="0">
                <a:latin typeface="Cambria"/>
                <a:cs typeface="Cambria"/>
              </a:rPr>
              <a:t> </a:t>
            </a:r>
            <a:r>
              <a:rPr sz="800" spc="28" dirty="0">
                <a:latin typeface="Cambria"/>
                <a:cs typeface="Cambria"/>
              </a:rPr>
              <a:t>gray</a:t>
            </a:r>
            <a:r>
              <a:rPr sz="800" spc="38" dirty="0">
                <a:latin typeface="Cambria"/>
                <a:cs typeface="Cambria"/>
              </a:rPr>
              <a:t> </a:t>
            </a:r>
            <a:r>
              <a:rPr sz="800" spc="21" dirty="0">
                <a:latin typeface="Cambria"/>
                <a:cs typeface="Cambria"/>
              </a:rPr>
              <a:t>levels</a:t>
            </a:r>
            <a:r>
              <a:rPr sz="800" spc="38" dirty="0">
                <a:latin typeface="Cambria"/>
                <a:cs typeface="Cambria"/>
              </a:rPr>
              <a:t> </a:t>
            </a:r>
            <a:r>
              <a:rPr sz="800" dirty="0">
                <a:latin typeface="Cambria"/>
                <a:cs typeface="Cambria"/>
              </a:rPr>
              <a:t>(0:</a:t>
            </a:r>
            <a:r>
              <a:rPr sz="800" spc="42" dirty="0">
                <a:latin typeface="Cambria"/>
                <a:cs typeface="Cambria"/>
              </a:rPr>
              <a:t> </a:t>
            </a:r>
            <a:r>
              <a:rPr sz="800" spc="30" dirty="0">
                <a:latin typeface="Cambria"/>
                <a:cs typeface="Cambria"/>
              </a:rPr>
              <a:t>black,</a:t>
            </a:r>
            <a:r>
              <a:rPr sz="800" spc="34" dirty="0">
                <a:latin typeface="Cambria"/>
                <a:cs typeface="Cambria"/>
              </a:rPr>
              <a:t> </a:t>
            </a:r>
            <a:r>
              <a:rPr sz="800" dirty="0">
                <a:latin typeface="Cambria"/>
                <a:cs typeface="Cambria"/>
              </a:rPr>
              <a:t>1:</a:t>
            </a:r>
            <a:r>
              <a:rPr sz="800" spc="47" dirty="0">
                <a:latin typeface="Cambria"/>
                <a:cs typeface="Cambria"/>
              </a:rPr>
              <a:t> </a:t>
            </a:r>
            <a:r>
              <a:rPr sz="800" spc="-4" dirty="0">
                <a:latin typeface="Cambria"/>
                <a:cs typeface="Cambria"/>
              </a:rPr>
              <a:t>white)</a:t>
            </a:r>
            <a:endParaRPr sz="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866" y="1996784"/>
            <a:ext cx="2335784" cy="1143718"/>
          </a:xfrm>
          <a:prstGeom prst="rect">
            <a:avLst/>
          </a:prstGeom>
        </p:spPr>
        <p:txBody>
          <a:bodyPr vert="horz" wrap="square" lIns="0" tIns="47061" rIns="0" bIns="0" rtlCol="0">
            <a:spAutoFit/>
          </a:bodyPr>
          <a:lstStyle/>
          <a:p>
            <a:pPr marL="4802">
              <a:spcBef>
                <a:spcPts val="371"/>
              </a:spcBef>
            </a:pPr>
            <a:r>
              <a:rPr sz="1050" b="1" spc="62" dirty="0">
                <a:latin typeface="Cambria"/>
                <a:cs typeface="Cambria"/>
              </a:rPr>
              <a:t>Commonly</a:t>
            </a:r>
            <a:r>
              <a:rPr sz="1050" b="1" spc="49" dirty="0">
                <a:latin typeface="Cambria"/>
                <a:cs typeface="Cambria"/>
              </a:rPr>
              <a:t> </a:t>
            </a:r>
            <a:r>
              <a:rPr sz="1050" b="1" spc="45" dirty="0">
                <a:latin typeface="Cambria"/>
                <a:cs typeface="Cambria"/>
              </a:rPr>
              <a:t>used</a:t>
            </a:r>
            <a:r>
              <a:rPr sz="1050" b="1" spc="57" dirty="0">
                <a:latin typeface="Cambria"/>
                <a:cs typeface="Cambria"/>
              </a:rPr>
              <a:t> </a:t>
            </a:r>
            <a:r>
              <a:rPr sz="1050" b="1" spc="49" dirty="0">
                <a:latin typeface="Cambria"/>
                <a:cs typeface="Cambria"/>
              </a:rPr>
              <a:t>number</a:t>
            </a:r>
            <a:r>
              <a:rPr sz="1050" b="1" spc="59" dirty="0">
                <a:latin typeface="Cambria"/>
                <a:cs typeface="Cambria"/>
              </a:rPr>
              <a:t> </a:t>
            </a:r>
            <a:r>
              <a:rPr sz="1050" b="1" spc="40" dirty="0">
                <a:latin typeface="Cambria"/>
                <a:cs typeface="Cambria"/>
              </a:rPr>
              <a:t>of</a:t>
            </a:r>
            <a:r>
              <a:rPr sz="1050" b="1" spc="57" dirty="0">
                <a:latin typeface="Cambria"/>
                <a:cs typeface="Cambria"/>
              </a:rPr>
              <a:t> </a:t>
            </a:r>
            <a:r>
              <a:rPr sz="1050" b="1" spc="43" dirty="0">
                <a:latin typeface="Cambria"/>
                <a:cs typeface="Cambria"/>
              </a:rPr>
              <a:t>samples</a:t>
            </a:r>
            <a:r>
              <a:rPr sz="1050" b="1" spc="47" dirty="0">
                <a:latin typeface="Cambria"/>
                <a:cs typeface="Cambria"/>
              </a:rPr>
              <a:t> </a:t>
            </a:r>
            <a:r>
              <a:rPr sz="1050" b="1" spc="40" dirty="0">
                <a:latin typeface="Cambria"/>
                <a:cs typeface="Cambria"/>
              </a:rPr>
              <a:t>resolution</a:t>
            </a:r>
            <a:endParaRPr sz="1050" dirty="0">
              <a:latin typeface="Cambria"/>
              <a:cs typeface="Cambria"/>
            </a:endParaRPr>
          </a:p>
          <a:p>
            <a:pPr marL="4802">
              <a:spcBef>
                <a:spcPts val="297"/>
              </a:spcBef>
            </a:pPr>
            <a:r>
              <a:rPr sz="1050" b="1" spc="51" dirty="0">
                <a:latin typeface="Cambria"/>
                <a:cs typeface="Cambria"/>
              </a:rPr>
              <a:t>Digital</a:t>
            </a:r>
            <a:r>
              <a:rPr sz="1050" b="1" spc="45" dirty="0">
                <a:latin typeface="Cambria"/>
                <a:cs typeface="Cambria"/>
              </a:rPr>
              <a:t> </a:t>
            </a:r>
            <a:r>
              <a:rPr sz="1050" b="1" spc="36" dirty="0">
                <a:latin typeface="Cambria"/>
                <a:cs typeface="Cambria"/>
              </a:rPr>
              <a:t>still</a:t>
            </a:r>
            <a:r>
              <a:rPr sz="1050" b="1" spc="43" dirty="0">
                <a:latin typeface="Cambria"/>
                <a:cs typeface="Cambria"/>
              </a:rPr>
              <a:t> </a:t>
            </a:r>
            <a:r>
              <a:rPr sz="1050" b="1" spc="36" dirty="0">
                <a:latin typeface="Cambria"/>
                <a:cs typeface="Cambria"/>
              </a:rPr>
              <a:t>cameras:</a:t>
            </a:r>
            <a:endParaRPr sz="1050" dirty="0">
              <a:latin typeface="Cambria"/>
              <a:cs typeface="Cambria"/>
            </a:endParaRPr>
          </a:p>
          <a:p>
            <a:pPr marL="73469" indent="-68667">
              <a:spcBef>
                <a:spcPts val="306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73469" algn="l"/>
              </a:tabLst>
            </a:pPr>
            <a:r>
              <a:rPr sz="681" dirty="0">
                <a:latin typeface="Cambria"/>
                <a:cs typeface="Cambria"/>
              </a:rPr>
              <a:t>640x680,</a:t>
            </a:r>
            <a:r>
              <a:rPr sz="681" spc="87" dirty="0">
                <a:latin typeface="Cambria"/>
                <a:cs typeface="Cambria"/>
              </a:rPr>
              <a:t> </a:t>
            </a:r>
            <a:r>
              <a:rPr sz="681" dirty="0">
                <a:latin typeface="Cambria"/>
                <a:cs typeface="Cambria"/>
              </a:rPr>
              <a:t>1024,</a:t>
            </a:r>
            <a:r>
              <a:rPr sz="681" spc="93" dirty="0">
                <a:latin typeface="Cambria"/>
                <a:cs typeface="Cambria"/>
              </a:rPr>
              <a:t> </a:t>
            </a:r>
            <a:r>
              <a:rPr sz="681" dirty="0">
                <a:latin typeface="Cambria"/>
                <a:cs typeface="Cambria"/>
              </a:rPr>
              <a:t>1024,</a:t>
            </a:r>
            <a:r>
              <a:rPr sz="681" spc="89" dirty="0">
                <a:latin typeface="Cambria"/>
                <a:cs typeface="Cambria"/>
              </a:rPr>
              <a:t> </a:t>
            </a:r>
            <a:r>
              <a:rPr sz="681" spc="25" dirty="0">
                <a:latin typeface="Cambria"/>
                <a:cs typeface="Cambria"/>
              </a:rPr>
              <a:t>up</a:t>
            </a:r>
            <a:r>
              <a:rPr sz="681" spc="91" dirty="0">
                <a:latin typeface="Cambria"/>
                <a:cs typeface="Cambria"/>
              </a:rPr>
              <a:t> </a:t>
            </a:r>
            <a:r>
              <a:rPr sz="681" dirty="0">
                <a:latin typeface="Cambria"/>
                <a:cs typeface="Cambria"/>
              </a:rPr>
              <a:t>to</a:t>
            </a:r>
            <a:r>
              <a:rPr sz="681" spc="85" dirty="0">
                <a:latin typeface="Cambria"/>
                <a:cs typeface="Cambria"/>
              </a:rPr>
              <a:t> </a:t>
            </a:r>
            <a:r>
              <a:rPr sz="681" spc="-4" dirty="0">
                <a:latin typeface="Cambria"/>
                <a:cs typeface="Cambria"/>
              </a:rPr>
              <a:t>4064x2704</a:t>
            </a:r>
            <a:endParaRPr sz="681" dirty="0">
              <a:latin typeface="Cambria"/>
              <a:cs typeface="Cambria"/>
            </a:endParaRPr>
          </a:p>
          <a:p>
            <a:pPr marL="4802">
              <a:spcBef>
                <a:spcPts val="295"/>
              </a:spcBef>
            </a:pPr>
            <a:r>
              <a:rPr sz="681" b="1" spc="51" dirty="0">
                <a:latin typeface="Cambria"/>
                <a:cs typeface="Cambria"/>
              </a:rPr>
              <a:t>Digital</a:t>
            </a:r>
            <a:r>
              <a:rPr sz="681" b="1" spc="42" dirty="0">
                <a:latin typeface="Cambria"/>
                <a:cs typeface="Cambria"/>
              </a:rPr>
              <a:t> </a:t>
            </a:r>
            <a:r>
              <a:rPr sz="681" b="1" spc="40" dirty="0">
                <a:latin typeface="Cambria"/>
                <a:cs typeface="Cambria"/>
              </a:rPr>
              <a:t>video</a:t>
            </a:r>
            <a:r>
              <a:rPr sz="681" b="1" spc="53" dirty="0">
                <a:latin typeface="Cambria"/>
                <a:cs typeface="Cambria"/>
              </a:rPr>
              <a:t> </a:t>
            </a:r>
            <a:r>
              <a:rPr sz="681" b="1" spc="36" dirty="0">
                <a:latin typeface="Cambria"/>
                <a:cs typeface="Cambria"/>
              </a:rPr>
              <a:t>cameras:</a:t>
            </a:r>
            <a:endParaRPr sz="681" dirty="0">
              <a:latin typeface="Cambria"/>
              <a:cs typeface="Cambria"/>
            </a:endParaRPr>
          </a:p>
          <a:p>
            <a:pPr marL="73469" indent="-68667">
              <a:spcBef>
                <a:spcPts val="302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73469" algn="l"/>
              </a:tabLst>
            </a:pPr>
            <a:r>
              <a:rPr sz="681" dirty="0">
                <a:latin typeface="Cambria"/>
                <a:cs typeface="Cambria"/>
              </a:rPr>
              <a:t>640x480</a:t>
            </a:r>
            <a:r>
              <a:rPr sz="681" spc="62" dirty="0">
                <a:latin typeface="Cambria"/>
                <a:cs typeface="Cambria"/>
              </a:rPr>
              <a:t> </a:t>
            </a:r>
            <a:r>
              <a:rPr sz="681" spc="40" dirty="0">
                <a:latin typeface="Cambria"/>
                <a:cs typeface="Cambria"/>
              </a:rPr>
              <a:t>at</a:t>
            </a:r>
            <a:r>
              <a:rPr sz="681" spc="57" dirty="0">
                <a:latin typeface="Cambria"/>
                <a:cs typeface="Cambria"/>
              </a:rPr>
              <a:t> </a:t>
            </a:r>
            <a:r>
              <a:rPr sz="681" dirty="0">
                <a:latin typeface="Cambria"/>
                <a:cs typeface="Cambria"/>
              </a:rPr>
              <a:t>30</a:t>
            </a:r>
            <a:r>
              <a:rPr sz="681" spc="62" dirty="0">
                <a:latin typeface="Cambria"/>
                <a:cs typeface="Cambria"/>
              </a:rPr>
              <a:t> </a:t>
            </a:r>
            <a:r>
              <a:rPr sz="681" spc="-4" dirty="0">
                <a:latin typeface="Cambria"/>
                <a:cs typeface="Cambria"/>
              </a:rPr>
              <a:t>frames/second</a:t>
            </a:r>
            <a:endParaRPr sz="681" dirty="0">
              <a:latin typeface="Cambria"/>
              <a:cs typeface="Cambria"/>
            </a:endParaRPr>
          </a:p>
          <a:p>
            <a:pPr marL="73469" indent="-68667">
              <a:spcBef>
                <a:spcPts val="301"/>
              </a:spcBef>
              <a:buClr>
                <a:srgbClr val="6E6E74"/>
              </a:buClr>
              <a:buSzPct val="80555"/>
              <a:buFont typeface="Arial MT"/>
              <a:buChar char="•"/>
              <a:tabLst>
                <a:tab pos="73469" algn="l"/>
              </a:tabLst>
            </a:pPr>
            <a:r>
              <a:rPr sz="681" dirty="0">
                <a:latin typeface="Cambria"/>
                <a:cs typeface="Cambria"/>
              </a:rPr>
              <a:t>1920x1080</a:t>
            </a:r>
            <a:r>
              <a:rPr sz="681" spc="74" dirty="0">
                <a:latin typeface="Cambria"/>
                <a:cs typeface="Cambria"/>
              </a:rPr>
              <a:t> </a:t>
            </a:r>
            <a:r>
              <a:rPr sz="681" spc="40" dirty="0">
                <a:latin typeface="Cambria"/>
                <a:cs typeface="Cambria"/>
              </a:rPr>
              <a:t>at</a:t>
            </a:r>
            <a:r>
              <a:rPr sz="681" spc="76" dirty="0">
                <a:latin typeface="Cambria"/>
                <a:cs typeface="Cambria"/>
              </a:rPr>
              <a:t> </a:t>
            </a:r>
            <a:r>
              <a:rPr sz="681" dirty="0">
                <a:latin typeface="Cambria"/>
                <a:cs typeface="Cambria"/>
              </a:rPr>
              <a:t>60</a:t>
            </a:r>
            <a:r>
              <a:rPr sz="681" spc="76" dirty="0">
                <a:latin typeface="Cambria"/>
                <a:cs typeface="Cambria"/>
              </a:rPr>
              <a:t> </a:t>
            </a:r>
            <a:r>
              <a:rPr sz="681" dirty="0">
                <a:latin typeface="Cambria"/>
                <a:cs typeface="Cambria"/>
              </a:rPr>
              <a:t>frame/second</a:t>
            </a:r>
            <a:r>
              <a:rPr sz="681" spc="66" dirty="0">
                <a:latin typeface="Cambria"/>
                <a:cs typeface="Cambria"/>
              </a:rPr>
              <a:t> </a:t>
            </a:r>
            <a:r>
              <a:rPr sz="681" spc="36" dirty="0">
                <a:latin typeface="Cambria"/>
                <a:cs typeface="Cambria"/>
              </a:rPr>
              <a:t>(HDTV)</a:t>
            </a:r>
            <a:endParaRPr sz="681" dirty="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667264" y="815975"/>
            <a:ext cx="1771386" cy="1752599"/>
            <a:chOff x="7053922" y="1679431"/>
            <a:chExt cx="4010025" cy="367093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53922" y="1679431"/>
              <a:ext cx="4009476" cy="348788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918320" y="4986655"/>
              <a:ext cx="106680" cy="363855"/>
            </a:xfrm>
            <a:custGeom>
              <a:avLst/>
              <a:gdLst/>
              <a:ahLst/>
              <a:cxnLst/>
              <a:rect l="l" t="t" r="r" b="b"/>
              <a:pathLst>
                <a:path w="106679" h="363854">
                  <a:moveTo>
                    <a:pt x="64420" y="290158"/>
                  </a:moveTo>
                  <a:lnTo>
                    <a:pt x="31876" y="297434"/>
                  </a:lnTo>
                  <a:lnTo>
                    <a:pt x="85725" y="363474"/>
                  </a:lnTo>
                  <a:lnTo>
                    <a:pt x="100894" y="302514"/>
                  </a:lnTo>
                  <a:lnTo>
                    <a:pt x="67182" y="302514"/>
                  </a:lnTo>
                  <a:lnTo>
                    <a:pt x="64420" y="290158"/>
                  </a:lnTo>
                  <a:close/>
                </a:path>
                <a:path w="106679" h="363854">
                  <a:moveTo>
                    <a:pt x="73803" y="288061"/>
                  </a:moveTo>
                  <a:lnTo>
                    <a:pt x="64420" y="290158"/>
                  </a:lnTo>
                  <a:lnTo>
                    <a:pt x="67182" y="302514"/>
                  </a:lnTo>
                  <a:lnTo>
                    <a:pt x="76580" y="300482"/>
                  </a:lnTo>
                  <a:lnTo>
                    <a:pt x="73803" y="288061"/>
                  </a:lnTo>
                  <a:close/>
                </a:path>
                <a:path w="106679" h="363854">
                  <a:moveTo>
                    <a:pt x="106299" y="280797"/>
                  </a:moveTo>
                  <a:lnTo>
                    <a:pt x="73803" y="288061"/>
                  </a:lnTo>
                  <a:lnTo>
                    <a:pt x="76580" y="300482"/>
                  </a:lnTo>
                  <a:lnTo>
                    <a:pt x="67182" y="302514"/>
                  </a:lnTo>
                  <a:lnTo>
                    <a:pt x="100894" y="302514"/>
                  </a:lnTo>
                  <a:lnTo>
                    <a:pt x="106299" y="280797"/>
                  </a:lnTo>
                  <a:close/>
                </a:path>
                <a:path w="106679" h="363854">
                  <a:moveTo>
                    <a:pt x="9398" y="0"/>
                  </a:moveTo>
                  <a:lnTo>
                    <a:pt x="0" y="2032"/>
                  </a:lnTo>
                  <a:lnTo>
                    <a:pt x="64420" y="290158"/>
                  </a:lnTo>
                  <a:lnTo>
                    <a:pt x="73803" y="288061"/>
                  </a:lnTo>
                  <a:lnTo>
                    <a:pt x="9398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352103" y="2634850"/>
            <a:ext cx="401463" cy="86281"/>
          </a:xfrm>
          <a:prstGeom prst="rect">
            <a:avLst/>
          </a:prstGeom>
        </p:spPr>
        <p:txBody>
          <a:bodyPr vert="horz" wrap="square" lIns="0" tIns="4802" rIns="0" bIns="0" rtlCol="0">
            <a:spAutoFit/>
          </a:bodyPr>
          <a:lstStyle/>
          <a:p>
            <a:pPr marL="4802">
              <a:spcBef>
                <a:spcPts val="38"/>
              </a:spcBef>
            </a:pPr>
            <a:r>
              <a:rPr sz="529" dirty="0">
                <a:latin typeface="Cambria"/>
                <a:cs typeface="Cambria"/>
              </a:rPr>
              <a:t>8</a:t>
            </a:r>
            <a:r>
              <a:rPr sz="529" spc="26" dirty="0">
                <a:latin typeface="Cambria"/>
                <a:cs typeface="Cambria"/>
              </a:rPr>
              <a:t> </a:t>
            </a:r>
            <a:r>
              <a:rPr sz="529" spc="21" dirty="0">
                <a:latin typeface="Cambria"/>
                <a:cs typeface="Cambria"/>
              </a:rPr>
              <a:t>gray</a:t>
            </a:r>
            <a:r>
              <a:rPr sz="529" spc="25" dirty="0">
                <a:latin typeface="Cambria"/>
                <a:cs typeface="Cambria"/>
              </a:rPr>
              <a:t> </a:t>
            </a:r>
            <a:r>
              <a:rPr sz="529" spc="-4" dirty="0">
                <a:latin typeface="Cambria"/>
                <a:cs typeface="Cambria"/>
              </a:rPr>
              <a:t>levels</a:t>
            </a:r>
            <a:endParaRPr sz="529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4299155" y="3351784"/>
            <a:ext cx="254635" cy="94757"/>
          </a:xfrm>
          <a:prstGeom prst="rect">
            <a:avLst/>
          </a:prstGeom>
        </p:spPr>
        <p:txBody>
          <a:bodyPr vert="horz" wrap="square" lIns="0" tIns="2401" rIns="0" bIns="0" rtlCol="0">
            <a:spAutoFit/>
          </a:bodyPr>
          <a:lstStyle/>
          <a:p>
            <a:pPr marL="14406">
              <a:spcBef>
                <a:spcPts val="19"/>
              </a:spcBef>
            </a:pPr>
            <a:fld id="{81D60167-4931-47E6-BA6A-407CBD079E47}" type="slidenum">
              <a:rPr spc="-9" dirty="0"/>
              <a:pPr marL="14406">
                <a:spcBef>
                  <a:spcPts val="19"/>
                </a:spcBef>
              </a:pPr>
              <a:t>4</a:t>
            </a:fld>
            <a:endParaRPr spc="-9" dirty="0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4471BE7D-1FA5-4747-BA31-8B929CD37930}"/>
              </a:ext>
            </a:extLst>
          </p:cNvPr>
          <p:cNvSpPr txBox="1">
            <a:spLocks/>
          </p:cNvSpPr>
          <p:nvPr/>
        </p:nvSpPr>
        <p:spPr>
          <a:xfrm>
            <a:off x="321368" y="35071"/>
            <a:ext cx="3371850" cy="2276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en-US" spc="155" dirty="0">
                <a:solidFill>
                  <a:schemeClr val="tx1"/>
                </a:solidFill>
              </a:rPr>
              <a:t>Image</a:t>
            </a:r>
            <a:r>
              <a:rPr lang="en-US" spc="120" dirty="0">
                <a:solidFill>
                  <a:schemeClr val="tx1"/>
                </a:solidFill>
              </a:rPr>
              <a:t> </a:t>
            </a:r>
            <a:r>
              <a:rPr lang="en-US" spc="170" dirty="0">
                <a:solidFill>
                  <a:schemeClr val="tx1"/>
                </a:solidFill>
              </a:rPr>
              <a:t>Sampling</a:t>
            </a:r>
            <a:r>
              <a:rPr lang="en-US" spc="105" dirty="0">
                <a:solidFill>
                  <a:schemeClr val="tx1"/>
                </a:solidFill>
              </a:rPr>
              <a:t> </a:t>
            </a:r>
            <a:r>
              <a:rPr lang="en-US" spc="165" dirty="0">
                <a:solidFill>
                  <a:schemeClr val="tx1"/>
                </a:solidFill>
              </a:rPr>
              <a:t>and</a:t>
            </a:r>
            <a:r>
              <a:rPr lang="en-US" spc="80" dirty="0">
                <a:solidFill>
                  <a:schemeClr val="tx1"/>
                </a:solidFill>
              </a:rPr>
              <a:t> </a:t>
            </a:r>
            <a:r>
              <a:rPr lang="en-US" spc="135" dirty="0">
                <a:solidFill>
                  <a:schemeClr val="tx1"/>
                </a:solidFill>
              </a:rPr>
              <a:t>Quantization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D969-8C71-4052-92D3-FC37A7AD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59878"/>
            <a:ext cx="2553335" cy="215444"/>
          </a:xfrm>
        </p:spPr>
        <p:txBody>
          <a:bodyPr/>
          <a:lstStyle/>
          <a:p>
            <a:r>
              <a:rPr lang="en-US" dirty="0"/>
              <a:t>Sampling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79923-DA2C-4262-97E7-E37DC381B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0" y="1069033"/>
            <a:ext cx="4572000" cy="21542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CAB6C6-1165-405F-B893-8942860B22A4}"/>
              </a:ext>
            </a:extLst>
          </p:cNvPr>
          <p:cNvSpPr/>
          <p:nvPr/>
        </p:nvSpPr>
        <p:spPr>
          <a:xfrm>
            <a:off x="109094" y="167600"/>
            <a:ext cx="4253355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endParaRPr lang="en-US" sz="1400" b="0" i="0" u="none" strike="noStrike" baseline="0" dirty="0">
              <a:latin typeface="Century Schoolbook" panose="02040604050505020304" pitchFamily="18" charset="0"/>
            </a:endParaRPr>
          </a:p>
          <a:p>
            <a:r>
              <a:rPr lang="en-US" sz="1000" b="1" i="0" u="none" strike="noStrike" baseline="0" dirty="0">
                <a:solidFill>
                  <a:srgbClr val="252525"/>
                </a:solidFill>
                <a:latin typeface="Century Schoolbook" panose="02040604050505020304" pitchFamily="18" charset="0"/>
              </a:rPr>
              <a:t>Reducing the spatial resolution (down sampling)</a:t>
            </a:r>
            <a:endParaRPr lang="en-US" sz="1000" b="0" i="0" u="none" strike="noStrike" baseline="0" dirty="0">
              <a:solidFill>
                <a:srgbClr val="252525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182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10393-AA66-41EF-A333-D7207851D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59878"/>
            <a:ext cx="2553335" cy="215444"/>
          </a:xfrm>
        </p:spPr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8BC59-81E4-470B-A7F2-324E38D63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60A15-923A-47A6-8E77-C68BE513B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2" y="739774"/>
            <a:ext cx="4253776" cy="266109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43C678-21C7-4F99-8D31-2206104D79D0}"/>
              </a:ext>
            </a:extLst>
          </p:cNvPr>
          <p:cNvSpPr/>
          <p:nvPr/>
        </p:nvSpPr>
        <p:spPr>
          <a:xfrm>
            <a:off x="95300" y="0"/>
            <a:ext cx="396235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endParaRPr lang="en-US" sz="1000" b="0" i="0" u="none" strike="noStrike" baseline="0" dirty="0">
              <a:latin typeface="Century Schoolbook" panose="02040604050505020304" pitchFamily="18" charset="0"/>
            </a:endParaRPr>
          </a:p>
          <a:p>
            <a:r>
              <a:rPr lang="en-US" sz="1000" b="1" i="0" u="none" strike="noStrike" baseline="0" dirty="0">
                <a:solidFill>
                  <a:srgbClr val="252525"/>
                </a:solidFill>
                <a:latin typeface="Century Schoolbook" panose="02040604050505020304" pitchFamily="18" charset="0"/>
              </a:rPr>
              <a:t>Resampling the down sampled images to original form (up sampling)</a:t>
            </a:r>
            <a:endParaRPr lang="en-US" sz="1000" b="0" i="0" u="none" strike="noStrike" baseline="0" dirty="0">
              <a:solidFill>
                <a:srgbClr val="252525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452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C1EB1-8B60-4AF9-B3BB-67BD39D3C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10" y="-26276"/>
            <a:ext cx="3428950" cy="369332"/>
          </a:xfrm>
        </p:spPr>
        <p:txBody>
          <a:bodyPr/>
          <a:lstStyle/>
          <a:p>
            <a:br>
              <a:rPr lang="en-US" sz="1200" dirty="0">
                <a:latin typeface="+mj-lt"/>
              </a:rPr>
            </a:br>
            <a:r>
              <a:rPr lang="en-US" sz="1200" b="1" dirty="0">
                <a:latin typeface="+mj-lt"/>
              </a:rPr>
              <a:t>Effect of Sampling and Quantization</a:t>
            </a:r>
            <a:endParaRPr lang="en-US" sz="1200" dirty="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713886-A1A7-45D2-94D0-9EF7D304A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00" y="511175"/>
            <a:ext cx="1066750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FD95AB-B878-45FB-B3D9-D03766D29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252" y="508175"/>
            <a:ext cx="1066750" cy="1143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3C910C-B244-4319-8D3E-534E1C260C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7500" y="508765"/>
            <a:ext cx="1066750" cy="1143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96D941-AE07-4D2B-B909-9A093FE6B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333" y="508765"/>
            <a:ext cx="887467" cy="11454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934E9C-8F04-49F4-912C-88392B4AC529}"/>
              </a:ext>
            </a:extLst>
          </p:cNvPr>
          <p:cNvSpPr/>
          <p:nvPr/>
        </p:nvSpPr>
        <p:spPr>
          <a:xfrm>
            <a:off x="100909" y="1500487"/>
            <a:ext cx="117549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000" b="1" i="0" u="none" strike="noStrike" baseline="0" dirty="0">
                <a:latin typeface="Times New Roman" panose="02020603050405020304" pitchFamily="18" charset="0"/>
              </a:rPr>
              <a:t>250 x 210 samples</a:t>
            </a:r>
            <a:endParaRPr lang="en-US" sz="1000" b="0" i="0" u="none" strike="noStrike" baseline="0" dirty="0">
              <a:latin typeface="Times New Roman" panose="02020603050405020304" pitchFamily="18" charset="0"/>
            </a:endParaRPr>
          </a:p>
          <a:p>
            <a:r>
              <a:rPr lang="en-US" sz="1000" b="1" i="0" u="none" strike="noStrike" baseline="0" dirty="0">
                <a:latin typeface="Times New Roman" panose="02020603050405020304" pitchFamily="18" charset="0"/>
              </a:rPr>
              <a:t>256graylevels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D0E176-391B-42AC-B285-6D4E6AA01DC9}"/>
              </a:ext>
            </a:extLst>
          </p:cNvPr>
          <p:cNvSpPr/>
          <p:nvPr/>
        </p:nvSpPr>
        <p:spPr>
          <a:xfrm>
            <a:off x="1152525" y="1453376"/>
            <a:ext cx="120189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000" b="1" i="0" u="none" strike="noStrike" baseline="0" dirty="0">
                <a:latin typeface="Times New Roman" panose="02020603050405020304" pitchFamily="18" charset="0"/>
              </a:rPr>
              <a:t>125 x 105 samples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7C1840-A26D-47CF-B7A3-5CF55AC2569D}"/>
              </a:ext>
            </a:extLst>
          </p:cNvPr>
          <p:cNvSpPr/>
          <p:nvPr/>
        </p:nvSpPr>
        <p:spPr>
          <a:xfrm>
            <a:off x="2457500" y="1500487"/>
            <a:ext cx="10667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000" b="1" i="0" u="none" strike="noStrike" baseline="0" dirty="0">
                <a:latin typeface="Times New Roman" panose="02020603050405020304" pitchFamily="18" charset="0"/>
              </a:rPr>
              <a:t>50 x 42 samples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FDD645-FF4B-4DEF-9A67-5B15ECF2C29B}"/>
              </a:ext>
            </a:extLst>
          </p:cNvPr>
          <p:cNvSpPr/>
          <p:nvPr/>
        </p:nvSpPr>
        <p:spPr>
          <a:xfrm>
            <a:off x="3561693" y="1514931"/>
            <a:ext cx="106675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000" b="1" i="0" u="none" strike="noStrike" baseline="0" dirty="0">
                <a:latin typeface="Times New Roman" panose="02020603050405020304" pitchFamily="18" charset="0"/>
              </a:rPr>
              <a:t>25 x 21 samples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E4BA2C3-6979-4158-858B-0AE70D10F5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53" y="2104944"/>
            <a:ext cx="1010654" cy="9669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C99205-D0A0-4301-860F-6A3BF9D01B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63767" y="2103740"/>
            <a:ext cx="990650" cy="9669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0AF004-79DA-4CFA-908C-35B919EA8A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3675" y="2085263"/>
            <a:ext cx="914400" cy="9669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17D2AEF-9926-43E6-9F90-9AA1F0BBBD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65676" y="2085263"/>
            <a:ext cx="949124" cy="96697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B0F28DF-0FFE-4DBF-B824-E023786140C8}"/>
              </a:ext>
            </a:extLst>
          </p:cNvPr>
          <p:cNvSpPr/>
          <p:nvPr/>
        </p:nvSpPr>
        <p:spPr>
          <a:xfrm>
            <a:off x="151396" y="2939920"/>
            <a:ext cx="101065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00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000" b="1" i="0" u="none" strike="noStrike" baseline="0" dirty="0">
                <a:latin typeface="Times New Roman" panose="02020603050405020304" pitchFamily="18" charset="0"/>
              </a:rPr>
              <a:t>16graylevels</a:t>
            </a:r>
            <a:endParaRPr lang="en-US" sz="10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24A274-0BFE-49E8-B913-1868E9C71435}"/>
              </a:ext>
            </a:extLst>
          </p:cNvPr>
          <p:cNvSpPr/>
          <p:nvPr/>
        </p:nvSpPr>
        <p:spPr>
          <a:xfrm>
            <a:off x="1402952" y="2909143"/>
            <a:ext cx="82589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000" b="1" i="0" u="none" strike="noStrike" baseline="0" dirty="0">
                <a:latin typeface="Times New Roman" panose="02020603050405020304" pitchFamily="18" charset="0"/>
              </a:rPr>
              <a:t>8graylevels</a:t>
            </a:r>
            <a:endParaRPr lang="en-US" sz="1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385240-AA0F-4765-9204-9324A99530A6}"/>
              </a:ext>
            </a:extLst>
          </p:cNvPr>
          <p:cNvSpPr/>
          <p:nvPr/>
        </p:nvSpPr>
        <p:spPr>
          <a:xfrm>
            <a:off x="2582260" y="2924531"/>
            <a:ext cx="914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000" b="1" i="0" u="none" strike="noStrike" baseline="0" dirty="0">
                <a:latin typeface="Times New Roman" panose="02020603050405020304" pitchFamily="18" charset="0"/>
              </a:rPr>
              <a:t>4graylevels</a:t>
            </a:r>
            <a:endParaRPr lang="en-US" sz="1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E09E52-4DEE-40D1-98F6-38BB249F8F41}"/>
              </a:ext>
            </a:extLst>
          </p:cNvPr>
          <p:cNvSpPr/>
          <p:nvPr/>
        </p:nvSpPr>
        <p:spPr>
          <a:xfrm>
            <a:off x="3649060" y="2909143"/>
            <a:ext cx="914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n-US" sz="1000" b="1" i="0" u="none" strike="noStrike" baseline="0" dirty="0">
                <a:latin typeface="Times New Roman" panose="02020603050405020304" pitchFamily="18" charset="0"/>
              </a:rPr>
              <a:t>Binary image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69814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98CE-66A6-4C06-94E5-2F29B4C4C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" y="-32287"/>
            <a:ext cx="3962350" cy="461665"/>
          </a:xfrm>
        </p:spPr>
        <p:txBody>
          <a:bodyPr/>
          <a:lstStyle/>
          <a:p>
            <a:br>
              <a:rPr lang="en-US" sz="1000" dirty="0"/>
            </a:br>
            <a:r>
              <a:rPr lang="en-US" sz="1000" b="1" dirty="0"/>
              <a:t>Effects of Quantization </a:t>
            </a:r>
            <a:br>
              <a:rPr lang="en-US" sz="1000" dirty="0"/>
            </a:b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468BE-4C9E-4BC4-8663-00F3763A9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8" y="1075541"/>
            <a:ext cx="1981150" cy="21336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3D3FED-5DCF-416B-B1FE-3F378D3E0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181" y="1055944"/>
            <a:ext cx="1896603" cy="20953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10753CE-C4B6-4AE0-B4CA-DFA29CD5EE12}"/>
              </a:ext>
            </a:extLst>
          </p:cNvPr>
          <p:cNvSpPr/>
          <p:nvPr/>
        </p:nvSpPr>
        <p:spPr>
          <a:xfrm>
            <a:off x="195732" y="644766"/>
            <a:ext cx="14924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1000" b="0" i="0" u="none" strike="noStrike" baseline="0" dirty="0">
                <a:latin typeface="Century Schoolbook" panose="02040604050505020304" pitchFamily="18" charset="0"/>
              </a:rPr>
              <a:t>256-level</a:t>
            </a:r>
            <a:endParaRPr lang="en-US" sz="1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689218-8C52-4E62-8BB0-BB66E1474716}"/>
              </a:ext>
            </a:extLst>
          </p:cNvPr>
          <p:cNvSpPr/>
          <p:nvPr/>
        </p:nvSpPr>
        <p:spPr>
          <a:xfrm>
            <a:off x="0" y="0"/>
            <a:ext cx="441436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endParaRPr lang="en-US" sz="1200" b="0" i="0" u="none" strike="noStrike" baseline="0" dirty="0">
              <a:latin typeface="Century Schoolbook" panose="02040604050505020304" pitchFamily="18" charset="0"/>
            </a:endParaRPr>
          </a:p>
          <a:p>
            <a:r>
              <a:rPr lang="en-US" sz="1000" b="1" i="0" u="none" strike="noStrike" baseline="0" dirty="0">
                <a:solidFill>
                  <a:srgbClr val="252525"/>
                </a:solidFill>
                <a:latin typeface="Century Schoolbook" panose="02040604050505020304" pitchFamily="18" charset="0"/>
              </a:rPr>
              <a:t>Effects of varying the number of intensity levels in a digital image (intensity resolution)</a:t>
            </a:r>
            <a:endParaRPr lang="en-US" sz="1000" b="0" i="0" u="none" strike="noStrike" baseline="0" dirty="0">
              <a:solidFill>
                <a:srgbClr val="252525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17FECD-B772-42B9-A1D8-7A8EB2428749}"/>
              </a:ext>
            </a:extLst>
          </p:cNvPr>
          <p:cNvSpPr/>
          <p:nvPr/>
        </p:nvSpPr>
        <p:spPr>
          <a:xfrm>
            <a:off x="1390650" y="658602"/>
            <a:ext cx="4932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1000" b="0" i="0" u="none" strike="noStrike" baseline="0" dirty="0">
                <a:latin typeface="Century Schoolbook" panose="02040604050505020304" pitchFamily="18" charset="0"/>
              </a:rPr>
              <a:t>128</a:t>
            </a:r>
            <a:endParaRPr lang="en-US" sz="1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A7AD0F-66FB-4751-BB73-60AF7D50B831}"/>
              </a:ext>
            </a:extLst>
          </p:cNvPr>
          <p:cNvSpPr/>
          <p:nvPr/>
        </p:nvSpPr>
        <p:spPr>
          <a:xfrm>
            <a:off x="1563791" y="2949575"/>
            <a:ext cx="43645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1000" b="0" i="0" u="none" strike="noStrike" baseline="0" dirty="0">
                <a:latin typeface="Century Schoolbook" panose="02040604050505020304" pitchFamily="18" charset="0"/>
              </a:rPr>
              <a:t>32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DC47BB-56D3-4A48-9C77-8E671291B5D1}"/>
              </a:ext>
            </a:extLst>
          </p:cNvPr>
          <p:cNvSpPr/>
          <p:nvPr/>
        </p:nvSpPr>
        <p:spPr>
          <a:xfrm>
            <a:off x="484766" y="2970615"/>
            <a:ext cx="372484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4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1000" b="0" i="0" u="none" strike="noStrike" baseline="0" dirty="0">
                <a:latin typeface="Century Schoolbook" panose="02040604050505020304" pitchFamily="18" charset="0"/>
              </a:rPr>
              <a:t>64</a:t>
            </a:r>
            <a:endParaRPr lang="en-US" sz="1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1B12BC-262E-4D75-AEFF-FDD8F10872E0}"/>
              </a:ext>
            </a:extLst>
          </p:cNvPr>
          <p:cNvSpPr/>
          <p:nvPr/>
        </p:nvSpPr>
        <p:spPr>
          <a:xfrm>
            <a:off x="3734698" y="2916943"/>
            <a:ext cx="449975" cy="519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1000" dirty="0">
                <a:latin typeface="Century Schoolbook" panose="02040604050505020304" pitchFamily="18" charset="0"/>
              </a:rPr>
              <a:t>2</a:t>
            </a:r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3BA48-F000-4E8A-B7B8-E27F8CD8CA1F}"/>
              </a:ext>
            </a:extLst>
          </p:cNvPr>
          <p:cNvSpPr/>
          <p:nvPr/>
        </p:nvSpPr>
        <p:spPr>
          <a:xfrm>
            <a:off x="2682621" y="2891549"/>
            <a:ext cx="449975" cy="519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1000" b="0" i="0" u="none" strike="noStrike" baseline="0" dirty="0">
                <a:latin typeface="Century Schoolbook" panose="02040604050505020304" pitchFamily="18" charset="0"/>
              </a:rPr>
              <a:t>4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777EBE-8A17-47F3-98B6-1E5C6AE598ED}"/>
              </a:ext>
            </a:extLst>
          </p:cNvPr>
          <p:cNvSpPr/>
          <p:nvPr/>
        </p:nvSpPr>
        <p:spPr>
          <a:xfrm>
            <a:off x="2501181" y="567565"/>
            <a:ext cx="449975" cy="519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1000" dirty="0">
                <a:latin typeface="Century Schoolbook" panose="02040604050505020304" pitchFamily="18" charset="0"/>
              </a:rPr>
              <a:t>16</a:t>
            </a:r>
            <a:endParaRPr lang="en-US" sz="1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3DCBEB-8B67-4FD0-91A3-303B86C764F6}"/>
              </a:ext>
            </a:extLst>
          </p:cNvPr>
          <p:cNvSpPr/>
          <p:nvPr/>
        </p:nvSpPr>
        <p:spPr>
          <a:xfrm>
            <a:off x="3584826" y="567564"/>
            <a:ext cx="449975" cy="519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r>
              <a:rPr lang="en-US" sz="1000" dirty="0">
                <a:latin typeface="Century Schoolbook" panose="02040604050505020304" pitchFamily="18" charset="0"/>
              </a:rPr>
              <a:t>8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56440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Referred </a:t>
            </a:r>
            <a:r>
              <a:rPr spc="-20" dirty="0"/>
              <a:t>Books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3964" y="522216"/>
            <a:ext cx="106680" cy="144780"/>
            <a:chOff x="173964" y="522216"/>
            <a:chExt cx="106680" cy="144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524756"/>
              <a:ext cx="101219" cy="1391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6504" y="524756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9156" y="543735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1809" y="56271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89156" y="594344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591179"/>
              <a:ext cx="31635" cy="442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33440" y="644953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2419" y="524756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72249" y="497310"/>
            <a:ext cx="2092325" cy="1348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900" spc="-30" dirty="0">
                <a:solidFill>
                  <a:srgbClr val="3333B2"/>
                </a:solidFill>
                <a:latin typeface="Arial MT"/>
                <a:cs typeface="Arial MT"/>
              </a:rPr>
              <a:t>Rafael</a:t>
            </a: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C.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45" dirty="0">
                <a:solidFill>
                  <a:srgbClr val="3333B2"/>
                </a:solidFill>
                <a:latin typeface="Arial MT"/>
                <a:cs typeface="Arial MT"/>
              </a:rPr>
              <a:t>Gonzalez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and </a:t>
            </a:r>
            <a:r>
              <a:rPr sz="900" spc="-20" dirty="0">
                <a:solidFill>
                  <a:srgbClr val="3333B2"/>
                </a:solidFill>
                <a:latin typeface="Arial MT"/>
                <a:cs typeface="Arial MT"/>
              </a:rPr>
              <a:t>Richard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E.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 MT"/>
                <a:cs typeface="Arial MT"/>
              </a:rPr>
              <a:t>Woods </a:t>
            </a:r>
            <a:r>
              <a:rPr sz="900" dirty="0">
                <a:latin typeface="Arial MT"/>
                <a:cs typeface="Arial MT"/>
              </a:rPr>
              <a:t>Digital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Image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Processing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900" i="1" dirty="0">
                <a:solidFill>
                  <a:srgbClr val="7A7ACD"/>
                </a:solidFill>
                <a:latin typeface="Arial"/>
                <a:cs typeface="Arial"/>
              </a:rPr>
              <a:t>Third</a:t>
            </a:r>
            <a:r>
              <a:rPr sz="900" i="1" spc="114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7A7ACD"/>
                </a:solidFill>
                <a:latin typeface="Arial"/>
                <a:cs typeface="Arial"/>
              </a:rPr>
              <a:t>Edition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William</a:t>
            </a:r>
            <a:r>
              <a:rPr sz="900" spc="7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K.</a:t>
            </a:r>
            <a:r>
              <a:rPr sz="900" spc="7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Pratt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900" dirty="0">
                <a:latin typeface="Arial MT"/>
                <a:cs typeface="Arial MT"/>
              </a:rPr>
              <a:t>Digital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Image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Processing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900" i="1" dirty="0">
                <a:solidFill>
                  <a:srgbClr val="7A7ACD"/>
                </a:solidFill>
                <a:latin typeface="Arial"/>
                <a:cs typeface="Arial"/>
              </a:rPr>
              <a:t>Third</a:t>
            </a:r>
            <a:r>
              <a:rPr sz="900" i="1" spc="114" dirty="0">
                <a:solidFill>
                  <a:srgbClr val="7A7ACD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7A7ACD"/>
                </a:solidFill>
                <a:latin typeface="Arial"/>
                <a:cs typeface="Arial"/>
              </a:rPr>
              <a:t>Edition</a:t>
            </a:r>
            <a:endParaRPr sz="900">
              <a:latin typeface="Arial"/>
              <a:cs typeface="Arial"/>
            </a:endParaRPr>
          </a:p>
          <a:p>
            <a:pPr marL="12700" marR="857885">
              <a:lnSpc>
                <a:spcPct val="114999"/>
              </a:lnSpc>
              <a:spcBef>
                <a:spcPts val="240"/>
              </a:spcBef>
            </a:pP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Kenneth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3333B2"/>
                </a:solidFill>
                <a:latin typeface="Arial MT"/>
                <a:cs typeface="Arial MT"/>
              </a:rPr>
              <a:t>R.</a:t>
            </a:r>
            <a:r>
              <a:rPr sz="900" spc="-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 MT"/>
                <a:cs typeface="Arial MT"/>
              </a:rPr>
              <a:t>Castleman </a:t>
            </a:r>
            <a:r>
              <a:rPr sz="900" dirty="0">
                <a:latin typeface="Arial MT"/>
                <a:cs typeface="Arial MT"/>
              </a:rPr>
              <a:t>Digital</a:t>
            </a:r>
            <a:r>
              <a:rPr sz="900" spc="40" dirty="0">
                <a:latin typeface="Arial MT"/>
                <a:cs typeface="Arial MT"/>
              </a:rPr>
              <a:t> </a:t>
            </a:r>
            <a:r>
              <a:rPr sz="900" spc="-30" dirty="0">
                <a:latin typeface="Arial MT"/>
                <a:cs typeface="Arial MT"/>
              </a:rPr>
              <a:t>Image</a:t>
            </a:r>
            <a:r>
              <a:rPr sz="900" spc="4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Processing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3964" y="1025847"/>
            <a:ext cx="106680" cy="144780"/>
            <a:chOff x="173964" y="1025847"/>
            <a:chExt cx="106680" cy="14478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6504" y="1028387"/>
              <a:ext cx="101219" cy="13917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76504" y="102838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9156" y="104736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01809" y="106634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9156" y="109797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3440" y="1094811"/>
              <a:ext cx="31635" cy="4428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3440" y="114858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2419" y="102838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173964" y="1529491"/>
            <a:ext cx="106680" cy="144780"/>
            <a:chOff x="173964" y="1529491"/>
            <a:chExt cx="106680" cy="14478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504" y="1532031"/>
              <a:ext cx="101219" cy="13917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76504" y="1532031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9156" y="1551010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01809" y="1569988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89156" y="1601619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3440" y="1598454"/>
              <a:ext cx="31635" cy="4428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33440" y="1652228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2419" y="153203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4709" y="1955954"/>
            <a:ext cx="2598586" cy="1228558"/>
          </a:xfrm>
          <a:prstGeom prst="rect">
            <a:avLst/>
          </a:prstGeom>
        </p:spPr>
      </p:pic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July</a:t>
            </a:r>
            <a:r>
              <a:rPr spc="30" dirty="0"/>
              <a:t> </a:t>
            </a:r>
            <a:r>
              <a:rPr dirty="0"/>
              <a:t>3,</a:t>
            </a:r>
            <a:r>
              <a:rPr spc="30" dirty="0"/>
              <a:t> </a:t>
            </a:r>
            <a:r>
              <a:rPr spc="-20" dirty="0"/>
              <a:t>2018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8569" y="1218538"/>
            <a:ext cx="109156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45" dirty="0">
                <a:solidFill>
                  <a:srgbClr val="000000"/>
                </a:solidFill>
              </a:rPr>
              <a:t>The</a:t>
            </a:r>
            <a:r>
              <a:rPr sz="2450" spc="-145" dirty="0">
                <a:solidFill>
                  <a:srgbClr val="000000"/>
                </a:solidFill>
              </a:rPr>
              <a:t> </a:t>
            </a:r>
            <a:r>
              <a:rPr sz="2450" spc="-75" dirty="0">
                <a:solidFill>
                  <a:srgbClr val="000000"/>
                </a:solidFill>
              </a:rPr>
              <a:t>End</a:t>
            </a:r>
            <a:endParaRPr sz="245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297</Words>
  <Application>Microsoft Office PowerPoint</Application>
  <PresentationFormat>Custom</PresentationFormat>
  <Paragraphs>87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Arial MT</vt:lpstr>
      <vt:lpstr>Calibri</vt:lpstr>
      <vt:lpstr>Cambria</vt:lpstr>
      <vt:lpstr>Century Schoolbook</vt:lpstr>
      <vt:lpstr>Tahoma</vt:lpstr>
      <vt:lpstr>Times New Roman</vt:lpstr>
      <vt:lpstr>Office Theme</vt:lpstr>
      <vt:lpstr>Computer Vision  (basic concept)</vt:lpstr>
      <vt:lpstr>Overview</vt:lpstr>
      <vt:lpstr>Image Sampling and Quantization</vt:lpstr>
      <vt:lpstr>Image Sampling and Quantization</vt:lpstr>
      <vt:lpstr>Sampling</vt:lpstr>
      <vt:lpstr>Sampling</vt:lpstr>
      <vt:lpstr> Effect of Sampling and Quantization</vt:lpstr>
      <vt:lpstr> Effects of Quantization  </vt:lpstr>
      <vt:lpstr>Referred Books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 Fundamentals - (Basic Concept)</dc:title>
  <dc:creator>Rizoan Toufiq</dc:creator>
  <cp:lastModifiedBy>anwar khan</cp:lastModifiedBy>
  <cp:revision>21</cp:revision>
  <dcterms:created xsi:type="dcterms:W3CDTF">2025-10-12T04:24:26Z</dcterms:created>
  <dcterms:modified xsi:type="dcterms:W3CDTF">2025-10-23T05:16:49Z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2018-07-03T00:00:00Z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2025-10-12T00:00:00Z</vt:filetime>
  </property>
  <property fmtid="{D5CDD505-2E9C-101B-9397-08002B2CF9AE}" pid="5" name="PTEX.Fullbanner">
    <vt:lpwstr>This is MiKTeX-pdfTeX 2.9.6642 (1.40.19)</vt:lpwstr>
  </property>
  <property fmtid="{D5CDD505-2E9C-101B-9397-08002B2CF9AE}" pid="6" name="Producer">
    <vt:lpwstr>pdfTeX-1.40.19</vt:lpwstr>
  </property>
</Properties>
</file>