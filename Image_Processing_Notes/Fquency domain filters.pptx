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90" r:id="rId6"/>
    <p:sldId id="291" r:id="rId7"/>
    <p:sldId id="292" r:id="rId8"/>
    <p:sldId id="267" r:id="rId9"/>
    <p:sldId id="268" r:id="rId10"/>
    <p:sldId id="293" r:id="rId11"/>
    <p:sldId id="272" r:id="rId12"/>
    <p:sldId id="294" r:id="rId13"/>
    <p:sldId id="276" r:id="rId14"/>
    <p:sldId id="279" r:id="rId15"/>
    <p:sldId id="307" r:id="rId16"/>
    <p:sldId id="308" r:id="rId17"/>
    <p:sldId id="284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14" autoAdjust="0"/>
  </p:normalViewPr>
  <p:slideViewPr>
    <p:cSldViewPr>
      <p:cViewPr varScale="1">
        <p:scale>
          <a:sx n="52" d="100"/>
          <a:sy n="52" d="100"/>
        </p:scale>
        <p:origin x="155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36495" y="2725166"/>
            <a:ext cx="6124575" cy="478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Wolberg:</a:t>
            </a:r>
            <a:r>
              <a:rPr spc="-3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Course</a:t>
            </a:r>
            <a:r>
              <a:rPr spc="-10" dirty="0"/>
              <a:t> Notes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Wolberg:</a:t>
            </a:r>
            <a:r>
              <a:rPr spc="-3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Course</a:t>
            </a:r>
            <a:r>
              <a:rPr spc="-10" dirty="0"/>
              <a:t> Notes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Wolberg:</a:t>
            </a:r>
            <a:r>
              <a:rPr spc="-3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Course</a:t>
            </a:r>
            <a:r>
              <a:rPr spc="-10" dirty="0"/>
              <a:t> Notes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Wolberg:</a:t>
            </a:r>
            <a:r>
              <a:rPr spc="-3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Course</a:t>
            </a:r>
            <a:r>
              <a:rPr spc="-10" dirty="0"/>
              <a:t> Notes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Wolberg:</a:t>
            </a:r>
            <a:r>
              <a:rPr spc="-3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Course</a:t>
            </a:r>
            <a:r>
              <a:rPr spc="-10" dirty="0"/>
              <a:t> Notes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59" y="2231135"/>
            <a:ext cx="6789420" cy="41910"/>
          </a:xfrm>
          <a:custGeom>
            <a:avLst/>
            <a:gdLst/>
            <a:ahLst/>
            <a:cxnLst/>
            <a:rect l="l" t="t" r="r" b="b"/>
            <a:pathLst>
              <a:path w="6789420" h="41910">
                <a:moveTo>
                  <a:pt x="6789419" y="41910"/>
                </a:moveTo>
                <a:lnTo>
                  <a:pt x="6789419" y="0"/>
                </a:lnTo>
                <a:lnTo>
                  <a:pt x="0" y="0"/>
                </a:lnTo>
                <a:lnTo>
                  <a:pt x="0" y="41910"/>
                </a:lnTo>
                <a:lnTo>
                  <a:pt x="6789419" y="419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00453" y="1179068"/>
            <a:ext cx="6857492" cy="962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47773" y="2273298"/>
            <a:ext cx="6376670" cy="179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59405" y="6374394"/>
            <a:ext cx="2491104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Wolberg:</a:t>
            </a:r>
            <a:r>
              <a:rPr spc="-3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Course</a:t>
            </a:r>
            <a:r>
              <a:rPr spc="-10" dirty="0"/>
              <a:t> Notes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98533" y="6363771"/>
            <a:ext cx="180975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dirty="0"/>
              <a:t>Filtering</a:t>
            </a:r>
            <a:r>
              <a:rPr sz="2950" spc="-10" dirty="0"/>
              <a:t> </a:t>
            </a:r>
            <a:r>
              <a:rPr sz="2950" dirty="0"/>
              <a:t>in</a:t>
            </a:r>
            <a:r>
              <a:rPr sz="2950" spc="-5" dirty="0"/>
              <a:t> </a:t>
            </a:r>
            <a:r>
              <a:rPr sz="2950" dirty="0"/>
              <a:t>the</a:t>
            </a:r>
            <a:r>
              <a:rPr sz="2950" spc="-10" dirty="0"/>
              <a:t> </a:t>
            </a:r>
            <a:r>
              <a:rPr sz="2950" dirty="0"/>
              <a:t>Frequency</a:t>
            </a:r>
            <a:r>
              <a:rPr sz="2950" spc="-5" dirty="0"/>
              <a:t> </a:t>
            </a:r>
            <a:r>
              <a:rPr sz="2950" spc="-10" dirty="0"/>
              <a:t>Domain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191524" y="3698397"/>
            <a:ext cx="3927475" cy="1407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20400"/>
              </a:lnSpc>
              <a:spcBef>
                <a:spcPts val="95"/>
              </a:spcBef>
            </a:pPr>
            <a:r>
              <a:rPr lang="en-US" sz="2550" dirty="0">
                <a:latin typeface="Arial MT"/>
                <a:cs typeface="Arial MT"/>
              </a:rPr>
              <a:t>Mr. ANWAR KHAN</a:t>
            </a:r>
          </a:p>
          <a:p>
            <a:pPr marL="12700" marR="5080" indent="-1270" algn="ctr">
              <a:lnSpc>
                <a:spcPct val="120400"/>
              </a:lnSpc>
              <a:spcBef>
                <a:spcPts val="95"/>
              </a:spcBef>
            </a:pPr>
            <a:r>
              <a:rPr sz="2550" dirty="0">
                <a:latin typeface="Arial MT"/>
                <a:cs typeface="Arial MT"/>
              </a:rPr>
              <a:t>Dept.</a:t>
            </a:r>
            <a:r>
              <a:rPr sz="2550" spc="-1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of Computer</a:t>
            </a:r>
            <a:r>
              <a:rPr sz="2550" spc="1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Science</a:t>
            </a:r>
            <a:endParaRPr lang="en-US" sz="2550" spc="-10" dirty="0">
              <a:latin typeface="Arial MT"/>
              <a:cs typeface="Arial MT"/>
            </a:endParaRPr>
          </a:p>
          <a:p>
            <a:pPr marL="12700" marR="5080" indent="-1270" algn="ctr">
              <a:lnSpc>
                <a:spcPct val="120400"/>
              </a:lnSpc>
              <a:spcBef>
                <a:spcPts val="95"/>
              </a:spcBef>
            </a:pPr>
            <a:r>
              <a:rPr lang="en-US" sz="2550" spc="-10" dirty="0">
                <a:latin typeface="Arial MT"/>
                <a:cs typeface="Arial MT"/>
              </a:rPr>
              <a:t>University of Lahore</a:t>
            </a:r>
            <a:endParaRPr sz="25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548" rIns="0" bIns="0" rtlCol="0">
            <a:spAutoFit/>
          </a:bodyPr>
          <a:lstStyle/>
          <a:p>
            <a:pPr marL="23850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760473" y="2261499"/>
            <a:ext cx="6307455" cy="2234586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665"/>
              </a:spcBef>
              <a:buChar char="•"/>
              <a:tabLst>
                <a:tab pos="168910" algn="l"/>
              </a:tabLst>
            </a:pPr>
            <a:r>
              <a:rPr sz="2300" dirty="0">
                <a:latin typeface="Arial MT"/>
                <a:cs typeface="Arial MT"/>
              </a:rPr>
              <a:t>This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lecture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reviews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frequency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domain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filtering.</a:t>
            </a:r>
            <a:endParaRPr sz="2300" dirty="0">
              <a:latin typeface="Arial MT"/>
              <a:cs typeface="Arial MT"/>
            </a:endParaRPr>
          </a:p>
          <a:p>
            <a:pPr marL="483870" lvl="1" indent="-156845">
              <a:lnSpc>
                <a:spcPct val="100000"/>
              </a:lnSpc>
              <a:spcBef>
                <a:spcPts val="509"/>
              </a:spcBef>
              <a:buChar char="-"/>
              <a:tabLst>
                <a:tab pos="483870" algn="l"/>
              </a:tabLst>
            </a:pPr>
            <a:r>
              <a:rPr sz="2150" dirty="0">
                <a:latin typeface="Arial MT"/>
                <a:cs typeface="Arial MT"/>
              </a:rPr>
              <a:t>Frequency</a:t>
            </a:r>
            <a:r>
              <a:rPr sz="2150" spc="-14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bands</a:t>
            </a:r>
            <a:endParaRPr sz="2150" dirty="0">
              <a:latin typeface="Arial MT"/>
              <a:cs typeface="Arial MT"/>
            </a:endParaRPr>
          </a:p>
          <a:p>
            <a:pPr marL="483870" lvl="1" indent="-156845">
              <a:lnSpc>
                <a:spcPct val="100000"/>
              </a:lnSpc>
              <a:spcBef>
                <a:spcPts val="509"/>
              </a:spcBef>
              <a:buChar char="-"/>
              <a:tabLst>
                <a:tab pos="483870" algn="l"/>
              </a:tabLst>
            </a:pPr>
            <a:r>
              <a:rPr sz="2150" dirty="0">
                <a:latin typeface="Arial MT"/>
                <a:cs typeface="Arial MT"/>
              </a:rPr>
              <a:t>Lowpass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filter</a:t>
            </a:r>
            <a:endParaRPr sz="2150" dirty="0">
              <a:latin typeface="Arial MT"/>
              <a:cs typeface="Arial MT"/>
            </a:endParaRPr>
          </a:p>
          <a:p>
            <a:pPr marL="798195" lvl="2" indent="-156845">
              <a:lnSpc>
                <a:spcPct val="100000"/>
              </a:lnSpc>
              <a:spcBef>
                <a:spcPts val="409"/>
              </a:spcBef>
              <a:buClr>
                <a:srgbClr val="969696"/>
              </a:buClr>
              <a:buChar char="•"/>
              <a:tabLst>
                <a:tab pos="798195" algn="l"/>
              </a:tabLst>
            </a:pPr>
            <a:r>
              <a:rPr sz="1650" dirty="0">
                <a:latin typeface="Arial MT"/>
                <a:cs typeface="Arial MT"/>
              </a:rPr>
              <a:t>Ideal, Butterworth,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Gaussian</a:t>
            </a:r>
            <a:endParaRPr sz="1650" dirty="0">
              <a:latin typeface="Arial MT"/>
              <a:cs typeface="Arial MT"/>
            </a:endParaRPr>
          </a:p>
          <a:p>
            <a:pPr marL="483870" lvl="1" indent="-156845">
              <a:lnSpc>
                <a:spcPct val="100000"/>
              </a:lnSpc>
              <a:spcBef>
                <a:spcPts val="495"/>
              </a:spcBef>
              <a:buChar char="-"/>
              <a:tabLst>
                <a:tab pos="483870" algn="l"/>
              </a:tabLst>
            </a:pPr>
            <a:r>
              <a:rPr sz="2150" dirty="0">
                <a:latin typeface="Arial MT"/>
                <a:cs typeface="Arial MT"/>
              </a:rPr>
              <a:t>Highpass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filter</a:t>
            </a:r>
            <a:endParaRPr sz="2150" dirty="0">
              <a:latin typeface="Arial MT"/>
              <a:cs typeface="Arial MT"/>
            </a:endParaRPr>
          </a:p>
          <a:p>
            <a:pPr marL="798195" lvl="2" indent="-156845">
              <a:lnSpc>
                <a:spcPct val="100000"/>
              </a:lnSpc>
              <a:spcBef>
                <a:spcPts val="409"/>
              </a:spcBef>
              <a:buClr>
                <a:srgbClr val="969696"/>
              </a:buClr>
              <a:buChar char="•"/>
              <a:tabLst>
                <a:tab pos="798195" algn="l"/>
              </a:tabLst>
            </a:pPr>
            <a:r>
              <a:rPr sz="1650" dirty="0">
                <a:latin typeface="Arial MT"/>
                <a:cs typeface="Arial MT"/>
              </a:rPr>
              <a:t>Ideal, Butterworth,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Gaussian</a:t>
            </a:r>
            <a:endParaRPr sz="16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250" y="2597676"/>
            <a:ext cx="6802817" cy="34282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795" rIns="0" bIns="0" rtlCol="0">
            <a:spAutoFit/>
          </a:bodyPr>
          <a:lstStyle/>
          <a:p>
            <a:pPr marL="2276475">
              <a:lnSpc>
                <a:spcPct val="100000"/>
              </a:lnSpc>
              <a:spcBef>
                <a:spcPts val="120"/>
              </a:spcBef>
            </a:pPr>
            <a:r>
              <a:rPr sz="2950" dirty="0"/>
              <a:t>Basic</a:t>
            </a:r>
            <a:r>
              <a:rPr sz="2950" spc="-20" dirty="0"/>
              <a:t> </a:t>
            </a:r>
            <a:r>
              <a:rPr sz="2950" spc="-10" dirty="0"/>
              <a:t>Steps</a:t>
            </a:r>
            <a:endParaRPr sz="29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457200"/>
            <a:ext cx="6857492" cy="962151"/>
          </a:xfrm>
          <a:prstGeom prst="rect">
            <a:avLst/>
          </a:prstGeom>
        </p:spPr>
        <p:txBody>
          <a:bodyPr vert="horz" wrap="square" lIns="0" tIns="272795" rIns="0" bIns="0" rtlCol="0">
            <a:spAutoFit/>
          </a:bodyPr>
          <a:lstStyle/>
          <a:p>
            <a:pPr marL="2737485">
              <a:lnSpc>
                <a:spcPct val="100000"/>
              </a:lnSpc>
              <a:spcBef>
                <a:spcPts val="120"/>
              </a:spcBef>
            </a:pPr>
            <a:r>
              <a:rPr sz="2950" spc="-10" dirty="0"/>
              <a:t>Basics</a:t>
            </a:r>
            <a:endParaRPr sz="295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78892" y="1752600"/>
            <a:ext cx="8593708" cy="54623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algn="ctr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Arial MT"/>
                <a:cs typeface="Arial MT"/>
              </a:rPr>
              <a:t>Steps</a:t>
            </a:r>
            <a:r>
              <a:rPr lang="en-US" sz="2000" spc="21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for</a:t>
            </a:r>
            <a:r>
              <a:rPr lang="en-US" sz="2000" spc="220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filtering</a:t>
            </a:r>
            <a:r>
              <a:rPr lang="en-US" sz="2000" spc="21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in</a:t>
            </a:r>
            <a:r>
              <a:rPr lang="en-US" sz="2000" spc="204" dirty="0">
                <a:latin typeface="Arial MT"/>
                <a:cs typeface="Arial MT"/>
              </a:rPr>
              <a:t> </a:t>
            </a:r>
            <a:r>
              <a:rPr lang="en-US" sz="2000" spc="65" dirty="0">
                <a:latin typeface="Arial MT"/>
                <a:cs typeface="Arial MT"/>
              </a:rPr>
              <a:t>the</a:t>
            </a:r>
            <a:r>
              <a:rPr lang="en-US" sz="2000" spc="204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frequency</a:t>
            </a:r>
            <a:r>
              <a:rPr lang="en-US" sz="2000" spc="210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Arial MT"/>
                <a:cs typeface="Arial MT"/>
              </a:rPr>
              <a:t>domain</a:t>
            </a:r>
            <a:endParaRPr lang="en-US"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5"/>
              </a:spcBef>
              <a:tabLst>
                <a:tab pos="964565" algn="l"/>
                <a:tab pos="5603875" algn="l"/>
              </a:tabLst>
            </a:pPr>
            <a:r>
              <a:rPr lang="en-US" sz="2000" spc="65" dirty="0">
                <a:latin typeface="Arial MT"/>
                <a:cs typeface="Arial MT"/>
              </a:rPr>
              <a:t>Input:</a:t>
            </a:r>
            <a:r>
              <a:rPr lang="en-US" sz="2000" dirty="0">
                <a:latin typeface="Arial MT"/>
                <a:cs typeface="Arial MT"/>
              </a:rPr>
              <a:t>	</a:t>
            </a:r>
            <a:r>
              <a:rPr lang="en-US" sz="2000" i="1" spc="55" dirty="0">
                <a:latin typeface="Georgia"/>
                <a:cs typeface="Georgia"/>
              </a:rPr>
              <a:t>M</a:t>
            </a:r>
            <a:r>
              <a:rPr lang="en-US" sz="2000" i="1" spc="175" dirty="0">
                <a:latin typeface="Georgia"/>
                <a:cs typeface="Georgia"/>
              </a:rPr>
              <a:t> </a:t>
            </a:r>
            <a:r>
              <a:rPr lang="en-US" sz="2000" spc="-25" dirty="0">
                <a:latin typeface="Lucida Sans Unicode"/>
                <a:cs typeface="Lucida Sans Unicode"/>
              </a:rPr>
              <a:t>×</a:t>
            </a:r>
            <a:r>
              <a:rPr lang="en-US" sz="2000" spc="-200" dirty="0">
                <a:latin typeface="Lucida Sans Unicode"/>
                <a:cs typeface="Lucida Sans Unicode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N</a:t>
            </a:r>
            <a:r>
              <a:rPr lang="en-US" sz="2000" i="1" spc="495" dirty="0">
                <a:latin typeface="Georgia"/>
                <a:cs typeface="Georgia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image</a:t>
            </a:r>
            <a:r>
              <a:rPr lang="en-US" sz="2000" spc="190" dirty="0">
                <a:latin typeface="Arial MT"/>
                <a:cs typeface="Arial MT"/>
              </a:rPr>
              <a:t> </a:t>
            </a:r>
            <a:r>
              <a:rPr lang="en-US" sz="2000" i="1" spc="170" dirty="0">
                <a:latin typeface="Georgia"/>
                <a:cs typeface="Georgia"/>
              </a:rPr>
              <a:t>f</a:t>
            </a:r>
            <a:r>
              <a:rPr lang="en-US" sz="2000" spc="170" dirty="0">
                <a:latin typeface="Times New Roman"/>
                <a:cs typeface="Times New Roman"/>
              </a:rPr>
              <a:t>(</a:t>
            </a:r>
            <a:r>
              <a:rPr lang="en-US" sz="2000" i="1" spc="170" dirty="0">
                <a:latin typeface="Georgia"/>
                <a:cs typeface="Georgia"/>
              </a:rPr>
              <a:t>x,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spc="-25" dirty="0">
                <a:latin typeface="Georgia"/>
                <a:cs typeface="Georgia"/>
              </a:rPr>
              <a:t>y</a:t>
            </a:r>
            <a:r>
              <a:rPr lang="en-US" sz="2000" spc="-25" dirty="0">
                <a:latin typeface="Times New Roman"/>
                <a:cs typeface="Times New Roman"/>
              </a:rPr>
              <a:t>)</a:t>
            </a:r>
            <a:r>
              <a:rPr lang="en-US" sz="2000" dirty="0">
                <a:latin typeface="Times New Roman"/>
                <a:cs typeface="Times New Roman"/>
              </a:rPr>
              <a:t>	</a:t>
            </a:r>
            <a:r>
              <a:rPr lang="en-US" sz="2000" spc="90" dirty="0">
                <a:latin typeface="Arial MT"/>
                <a:cs typeface="Arial MT"/>
              </a:rPr>
              <a:t>Output:</a:t>
            </a:r>
            <a:r>
              <a:rPr lang="en-US" sz="2000" spc="455" dirty="0">
                <a:latin typeface="Arial MT"/>
                <a:cs typeface="Arial MT"/>
              </a:rPr>
              <a:t> </a:t>
            </a:r>
            <a:r>
              <a:rPr lang="en-US" sz="2000" i="1" spc="55" dirty="0">
                <a:latin typeface="Georgia"/>
                <a:cs typeface="Georgia"/>
              </a:rPr>
              <a:t>M</a:t>
            </a:r>
            <a:r>
              <a:rPr lang="en-US" sz="2000" i="1" spc="190" dirty="0">
                <a:latin typeface="Georgia"/>
                <a:cs typeface="Georgia"/>
              </a:rPr>
              <a:t> </a:t>
            </a:r>
            <a:r>
              <a:rPr lang="en-US" sz="2000" spc="-25" dirty="0">
                <a:latin typeface="Lucida Sans Unicode"/>
                <a:cs typeface="Lucida Sans Unicode"/>
              </a:rPr>
              <a:t>×</a:t>
            </a:r>
            <a:r>
              <a:rPr lang="en-US" sz="2000" spc="-200" dirty="0">
                <a:latin typeface="Lucida Sans Unicode"/>
                <a:cs typeface="Lucida Sans Unicode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N</a:t>
            </a:r>
            <a:r>
              <a:rPr lang="en-US" sz="2000" i="1" spc="495" dirty="0">
                <a:latin typeface="Georgia"/>
                <a:cs typeface="Georgia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image</a:t>
            </a:r>
            <a:r>
              <a:rPr lang="en-US" sz="2000" spc="195" dirty="0">
                <a:latin typeface="Arial MT"/>
                <a:cs typeface="Arial MT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g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i="1" dirty="0">
                <a:latin typeface="Georgia"/>
                <a:cs typeface="Georgia"/>
              </a:rPr>
              <a:t>x,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spc="-25" dirty="0">
                <a:latin typeface="Georgia"/>
                <a:cs typeface="Georgia"/>
              </a:rPr>
              <a:t>y</a:t>
            </a:r>
            <a:r>
              <a:rPr lang="en-US" sz="2000" spc="-25" dirty="0">
                <a:latin typeface="Times New Roman"/>
                <a:cs typeface="Times New Roman"/>
              </a:rPr>
              <a:t>)</a:t>
            </a:r>
            <a:endParaRPr lang="en-US" sz="2000" dirty="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1450"/>
              </a:spcBef>
            </a:pPr>
            <a:r>
              <a:rPr lang="en-US" sz="2000" dirty="0">
                <a:latin typeface="Arial MT"/>
                <a:cs typeface="Arial MT"/>
              </a:rPr>
              <a:t>Padded</a:t>
            </a:r>
            <a:r>
              <a:rPr lang="en-US" sz="2000" spc="7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images:</a:t>
            </a:r>
            <a:r>
              <a:rPr lang="en-US" sz="2000" spc="390" dirty="0">
                <a:latin typeface="Arial MT"/>
                <a:cs typeface="Arial MT"/>
              </a:rPr>
              <a:t> </a:t>
            </a:r>
            <a:r>
              <a:rPr lang="en-US" sz="2000" i="1" spc="50" dirty="0">
                <a:latin typeface="Georgia"/>
                <a:cs typeface="Georgia"/>
              </a:rPr>
              <a:t>P</a:t>
            </a:r>
            <a:r>
              <a:rPr lang="en-US" sz="2000" i="1" spc="220" dirty="0">
                <a:latin typeface="Georgia"/>
                <a:cs typeface="Georgia"/>
              </a:rPr>
              <a:t> </a:t>
            </a:r>
            <a:r>
              <a:rPr lang="en-US" sz="2000" spc="-25" dirty="0">
                <a:latin typeface="Lucida Sans Unicode"/>
                <a:cs typeface="Lucida Sans Unicode"/>
              </a:rPr>
              <a:t>×</a:t>
            </a:r>
            <a:r>
              <a:rPr lang="en-US" sz="2000" spc="-210" dirty="0">
                <a:latin typeface="Lucida Sans Unicode"/>
                <a:cs typeface="Lucida Sans Unicode"/>
              </a:rPr>
              <a:t> </a:t>
            </a:r>
            <a:r>
              <a:rPr lang="en-US" sz="2000" i="1" spc="105" dirty="0">
                <a:latin typeface="Georgia"/>
                <a:cs typeface="Georgia"/>
              </a:rPr>
              <a:t>Q</a:t>
            </a:r>
            <a:r>
              <a:rPr lang="en-US" sz="2000" i="1" spc="235" dirty="0">
                <a:latin typeface="Georgia"/>
                <a:cs typeface="Georgia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images</a:t>
            </a:r>
            <a:r>
              <a:rPr lang="en-US" sz="2000" spc="150" dirty="0">
                <a:latin typeface="Arial MT"/>
                <a:cs typeface="Arial MT"/>
              </a:rPr>
              <a:t> </a:t>
            </a:r>
            <a:r>
              <a:rPr lang="en-US" sz="2000" i="1" spc="185" dirty="0" err="1">
                <a:latin typeface="Georgia"/>
                <a:cs typeface="Georgia"/>
              </a:rPr>
              <a:t>f</a:t>
            </a:r>
            <a:r>
              <a:rPr lang="en-US" sz="2000" i="1" spc="277" baseline="-11904" dirty="0" err="1">
                <a:latin typeface="Georgia"/>
                <a:cs typeface="Georgia"/>
              </a:rPr>
              <a:t>P</a:t>
            </a:r>
            <a:r>
              <a:rPr lang="en-US" sz="2000" i="1" spc="-150" baseline="-11904" dirty="0">
                <a:latin typeface="Georgia"/>
                <a:cs typeface="Georgia"/>
              </a:rPr>
              <a:t> </a:t>
            </a:r>
            <a:r>
              <a:rPr lang="en-US" sz="2000" spc="50" dirty="0">
                <a:latin typeface="Times New Roman"/>
                <a:cs typeface="Times New Roman"/>
              </a:rPr>
              <a:t>(</a:t>
            </a:r>
            <a:r>
              <a:rPr lang="en-US" sz="2000" i="1" spc="50" dirty="0">
                <a:latin typeface="Georgia"/>
                <a:cs typeface="Georgia"/>
              </a:rPr>
              <a:t>x,</a:t>
            </a:r>
            <a:r>
              <a:rPr lang="en-US" sz="2000" i="1" spc="-150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y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and</a:t>
            </a:r>
            <a:r>
              <a:rPr lang="en-US" sz="2000" spc="145" dirty="0">
                <a:latin typeface="Arial MT"/>
                <a:cs typeface="Arial MT"/>
              </a:rPr>
              <a:t> </a:t>
            </a:r>
            <a:r>
              <a:rPr lang="en-US" sz="2000" i="1" spc="-85" dirty="0" err="1">
                <a:latin typeface="Georgia"/>
                <a:cs typeface="Georgia"/>
              </a:rPr>
              <a:t>g</a:t>
            </a:r>
            <a:r>
              <a:rPr lang="en-US" sz="2000" i="1" spc="-127" baseline="-11904" dirty="0" err="1">
                <a:latin typeface="Georgia"/>
                <a:cs typeface="Georgia"/>
              </a:rPr>
              <a:t>P</a:t>
            </a:r>
            <a:r>
              <a:rPr lang="en-US" sz="2000" i="1" spc="-157" baseline="-11904" dirty="0">
                <a:latin typeface="Georgia"/>
                <a:cs typeface="Georgia"/>
              </a:rPr>
              <a:t> </a:t>
            </a:r>
            <a:r>
              <a:rPr lang="en-US" sz="2000" spc="55" dirty="0">
                <a:latin typeface="Times New Roman"/>
                <a:cs typeface="Times New Roman"/>
              </a:rPr>
              <a:t>(</a:t>
            </a:r>
            <a:r>
              <a:rPr lang="en-US" sz="2000" i="1" spc="55" dirty="0">
                <a:latin typeface="Georgia"/>
                <a:cs typeface="Georgia"/>
              </a:rPr>
              <a:t>x,</a:t>
            </a:r>
            <a:r>
              <a:rPr lang="en-US" sz="2000" i="1" spc="-16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y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10" dirty="0">
                <a:latin typeface="Times New Roman"/>
                <a:cs typeface="Times New Roman"/>
              </a:rPr>
              <a:t> </a:t>
            </a:r>
            <a:r>
              <a:rPr lang="en-US" sz="2000" spc="114" dirty="0">
                <a:latin typeface="Arial MT"/>
                <a:cs typeface="Arial MT"/>
              </a:rPr>
              <a:t>(</a:t>
            </a:r>
            <a:r>
              <a:rPr lang="en-US" sz="2000" i="1" spc="114" dirty="0">
                <a:latin typeface="Georgia"/>
                <a:cs typeface="Georgia"/>
              </a:rPr>
              <a:t>P</a:t>
            </a:r>
            <a:r>
              <a:rPr lang="en-US" sz="2000" i="1" spc="320" dirty="0">
                <a:latin typeface="Georgia"/>
                <a:cs typeface="Georgia"/>
              </a:rPr>
              <a:t> </a:t>
            </a:r>
            <a:r>
              <a:rPr lang="en-US" sz="2000" spc="345" dirty="0">
                <a:latin typeface="Times New Roman"/>
                <a:cs typeface="Times New Roman"/>
              </a:rPr>
              <a:t>=</a:t>
            </a:r>
            <a:r>
              <a:rPr lang="en-US" sz="2000" spc="35" dirty="0">
                <a:latin typeface="Times New Roman"/>
                <a:cs typeface="Times New Roman"/>
              </a:rPr>
              <a:t> </a:t>
            </a:r>
            <a:r>
              <a:rPr lang="en-US" sz="2000" spc="-15" dirty="0">
                <a:latin typeface="Times New Roman"/>
                <a:cs typeface="Times New Roman"/>
              </a:rPr>
              <a:t>2</a:t>
            </a:r>
            <a:r>
              <a:rPr lang="en-US" sz="2000" i="1" spc="-15" dirty="0">
                <a:latin typeface="Georgia"/>
                <a:cs typeface="Georgia"/>
              </a:rPr>
              <a:t>M</a:t>
            </a:r>
            <a:r>
              <a:rPr lang="en-US" sz="2000" i="1" spc="-295" dirty="0">
                <a:latin typeface="Georgia"/>
                <a:cs typeface="Georgia"/>
              </a:rPr>
              <a:t> </a:t>
            </a:r>
            <a:r>
              <a:rPr lang="en-US" sz="2000" spc="55" dirty="0">
                <a:latin typeface="Arial MT"/>
                <a:cs typeface="Arial MT"/>
              </a:rPr>
              <a:t>,</a:t>
            </a:r>
            <a:r>
              <a:rPr lang="en-US" sz="2000" spc="155" dirty="0">
                <a:latin typeface="Arial MT"/>
                <a:cs typeface="Arial MT"/>
              </a:rPr>
              <a:t> </a:t>
            </a:r>
            <a:r>
              <a:rPr lang="en-US" sz="2000" i="1" spc="105" dirty="0">
                <a:latin typeface="Georgia"/>
                <a:cs typeface="Georgia"/>
              </a:rPr>
              <a:t>Q</a:t>
            </a:r>
            <a:r>
              <a:rPr lang="en-US" sz="2000" i="1" spc="40" dirty="0">
                <a:latin typeface="Georgia"/>
                <a:cs typeface="Georgia"/>
              </a:rPr>
              <a:t> </a:t>
            </a:r>
            <a:r>
              <a:rPr lang="en-US" sz="2000" spc="345" dirty="0">
                <a:latin typeface="Times New Roman"/>
                <a:cs typeface="Times New Roman"/>
              </a:rPr>
              <a:t>=</a:t>
            </a:r>
            <a:r>
              <a:rPr lang="en-US" sz="2000" spc="3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2</a:t>
            </a:r>
            <a:r>
              <a:rPr lang="en-US" sz="2000" i="1" spc="-25" dirty="0">
                <a:latin typeface="Georgia"/>
                <a:cs typeface="Georgia"/>
              </a:rPr>
              <a:t>N</a:t>
            </a:r>
            <a:r>
              <a:rPr lang="en-US" sz="2000" i="1" spc="-290" dirty="0">
                <a:latin typeface="Georgia"/>
                <a:cs typeface="Georgia"/>
              </a:rPr>
              <a:t> </a:t>
            </a:r>
            <a:r>
              <a:rPr lang="en-US" sz="2000" spc="145" dirty="0">
                <a:latin typeface="Arial MT"/>
                <a:cs typeface="Arial MT"/>
              </a:rPr>
              <a:t>)</a:t>
            </a:r>
            <a:endParaRPr lang="en-US" sz="2000" dirty="0">
              <a:latin typeface="Arial MT"/>
              <a:cs typeface="Arial MT"/>
            </a:endParaRPr>
          </a:p>
          <a:p>
            <a:pPr marL="492125" indent="-441325">
              <a:lnSpc>
                <a:spcPct val="100000"/>
              </a:lnSpc>
              <a:spcBef>
                <a:spcPts val="2030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dirty="0">
                <a:latin typeface="Arial MT"/>
                <a:cs typeface="Arial MT"/>
              </a:rPr>
              <a:t>Zero</a:t>
            </a:r>
            <a:r>
              <a:rPr lang="en-US" sz="2000" spc="19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pad</a:t>
            </a:r>
            <a:r>
              <a:rPr lang="en-US" sz="2000" spc="190" dirty="0">
                <a:latin typeface="Arial MT"/>
                <a:cs typeface="Arial MT"/>
              </a:rPr>
              <a:t> </a:t>
            </a:r>
            <a:r>
              <a:rPr lang="en-US" sz="2000" i="1" spc="170" dirty="0">
                <a:latin typeface="Georgia"/>
                <a:cs typeface="Georgia"/>
              </a:rPr>
              <a:t>f</a:t>
            </a:r>
            <a:r>
              <a:rPr lang="en-US" sz="2000" spc="170" dirty="0">
                <a:latin typeface="Times New Roman"/>
                <a:cs typeface="Times New Roman"/>
              </a:rPr>
              <a:t>(</a:t>
            </a:r>
            <a:r>
              <a:rPr lang="en-US" sz="2000" i="1" spc="170" dirty="0">
                <a:latin typeface="Georgia"/>
                <a:cs typeface="Georgia"/>
              </a:rPr>
              <a:t>x,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y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50" dirty="0">
                <a:latin typeface="Times New Roman"/>
                <a:cs typeface="Times New Roman"/>
              </a:rPr>
              <a:t> </a:t>
            </a:r>
            <a:r>
              <a:rPr lang="en-US" sz="2000" spc="150" dirty="0">
                <a:latin typeface="Lucida Sans Unicode"/>
                <a:cs typeface="Lucida Sans Unicode"/>
              </a:rPr>
              <a:t>⇒</a:t>
            </a:r>
            <a:r>
              <a:rPr lang="en-US" sz="2000" spc="95" dirty="0">
                <a:latin typeface="Lucida Sans Unicode"/>
                <a:cs typeface="Lucida Sans Unicode"/>
              </a:rPr>
              <a:t> </a:t>
            </a:r>
            <a:r>
              <a:rPr lang="en-US" sz="2000" i="1" spc="190" dirty="0" err="1">
                <a:latin typeface="Georgia"/>
                <a:cs typeface="Georgia"/>
              </a:rPr>
              <a:t>f</a:t>
            </a:r>
            <a:r>
              <a:rPr lang="en-US" sz="2000" i="1" spc="284" baseline="-11904" dirty="0" err="1">
                <a:latin typeface="Georgia"/>
                <a:cs typeface="Georgia"/>
              </a:rPr>
              <a:t>P</a:t>
            </a:r>
            <a:r>
              <a:rPr lang="en-US" sz="2000" i="1" spc="-157" baseline="-11904" dirty="0">
                <a:latin typeface="Georgia"/>
                <a:cs typeface="Georgia"/>
              </a:rPr>
              <a:t> </a:t>
            </a:r>
            <a:r>
              <a:rPr lang="en-US" sz="2000" spc="55" dirty="0">
                <a:latin typeface="Times New Roman"/>
                <a:cs typeface="Times New Roman"/>
              </a:rPr>
              <a:t>(</a:t>
            </a:r>
            <a:r>
              <a:rPr lang="en-US" sz="2000" i="1" spc="55" dirty="0">
                <a:latin typeface="Georgia"/>
                <a:cs typeface="Georgia"/>
              </a:rPr>
              <a:t>x,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spc="-35" dirty="0">
                <a:latin typeface="Georgia"/>
                <a:cs typeface="Georgia"/>
              </a:rPr>
              <a:t>y</a:t>
            </a:r>
            <a:r>
              <a:rPr lang="en-US" sz="2000" spc="-35" dirty="0">
                <a:latin typeface="Times New Roman"/>
                <a:cs typeface="Times New Roman"/>
              </a:rPr>
              <a:t>)</a:t>
            </a:r>
            <a:endParaRPr lang="en-US" sz="2000" dirty="0">
              <a:latin typeface="Times New Roman"/>
              <a:cs typeface="Times New Roman"/>
            </a:endParaRPr>
          </a:p>
          <a:p>
            <a:pPr marL="492125" indent="-441325">
              <a:lnSpc>
                <a:spcPct val="100000"/>
              </a:lnSpc>
              <a:spcBef>
                <a:spcPts val="1220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spc="100" dirty="0">
                <a:latin typeface="Arial MT"/>
                <a:cs typeface="Arial MT"/>
              </a:rPr>
              <a:t>Multiply</a:t>
            </a:r>
            <a:r>
              <a:rPr lang="en-US" sz="2000" spc="135" dirty="0">
                <a:latin typeface="Arial MT"/>
                <a:cs typeface="Arial MT"/>
              </a:rPr>
              <a:t> </a:t>
            </a:r>
            <a:r>
              <a:rPr lang="en-US" sz="2000" i="1" spc="185" dirty="0" err="1">
                <a:latin typeface="Georgia"/>
                <a:cs typeface="Georgia"/>
              </a:rPr>
              <a:t>f</a:t>
            </a:r>
            <a:r>
              <a:rPr lang="en-US" sz="2000" i="1" spc="277" baseline="-11904" dirty="0" err="1">
                <a:latin typeface="Georgia"/>
                <a:cs typeface="Georgia"/>
              </a:rPr>
              <a:t>P</a:t>
            </a:r>
            <a:r>
              <a:rPr lang="en-US" sz="2000" i="1" spc="-150" baseline="-11904" dirty="0">
                <a:latin typeface="Georgia"/>
                <a:cs typeface="Georgia"/>
              </a:rPr>
              <a:t> </a:t>
            </a:r>
            <a:r>
              <a:rPr lang="en-US" sz="2000" spc="55" dirty="0">
                <a:latin typeface="Times New Roman"/>
                <a:cs typeface="Times New Roman"/>
              </a:rPr>
              <a:t>(</a:t>
            </a:r>
            <a:r>
              <a:rPr lang="en-US" sz="2000" i="1" spc="55" dirty="0">
                <a:latin typeface="Georgia"/>
                <a:cs typeface="Georgia"/>
              </a:rPr>
              <a:t>x,</a:t>
            </a:r>
            <a:r>
              <a:rPr lang="en-US" sz="2000" i="1" spc="-16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y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Arial MT"/>
                <a:cs typeface="Arial MT"/>
              </a:rPr>
              <a:t>by</a:t>
            </a:r>
            <a:r>
              <a:rPr lang="en-US" sz="2000" spc="160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(</a:t>
            </a:r>
            <a:r>
              <a:rPr lang="en-US" sz="2000" spc="-10" dirty="0">
                <a:latin typeface="Lucida Sans Unicode"/>
                <a:cs typeface="Lucida Sans Unicode"/>
              </a:rPr>
              <a:t>−</a:t>
            </a:r>
            <a:r>
              <a:rPr lang="en-US" sz="2000" spc="-10" dirty="0">
                <a:latin typeface="Times New Roman"/>
                <a:cs typeface="Times New Roman"/>
              </a:rPr>
              <a:t>1)</a:t>
            </a:r>
            <a:r>
              <a:rPr lang="en-US" sz="2000" spc="-15" baseline="39682" dirty="0">
                <a:latin typeface="Georgia"/>
                <a:cs typeface="Georgia"/>
              </a:rPr>
              <a:t>(</a:t>
            </a:r>
            <a:r>
              <a:rPr lang="en-US" sz="2000" i="1" spc="-15" baseline="39682" dirty="0" err="1">
                <a:latin typeface="Georgia"/>
                <a:cs typeface="Georgia"/>
              </a:rPr>
              <a:t>x</a:t>
            </a:r>
            <a:r>
              <a:rPr lang="en-US" sz="2000" spc="-15" baseline="39682" dirty="0" err="1">
                <a:latin typeface="Georgia"/>
                <a:cs typeface="Georgia"/>
              </a:rPr>
              <a:t>+</a:t>
            </a:r>
            <a:r>
              <a:rPr lang="en-US" sz="2000" i="1" spc="-15" baseline="39682" dirty="0" err="1">
                <a:latin typeface="Georgia"/>
                <a:cs typeface="Georgia"/>
              </a:rPr>
              <a:t>y</a:t>
            </a:r>
            <a:r>
              <a:rPr lang="en-US" sz="2000" spc="-15" baseline="39682" dirty="0">
                <a:latin typeface="Georgia"/>
                <a:cs typeface="Georgia"/>
              </a:rPr>
              <a:t>)</a:t>
            </a:r>
            <a:endParaRPr lang="en-US" sz="2000" baseline="39682" dirty="0">
              <a:latin typeface="Georgia"/>
              <a:cs typeface="Georgia"/>
            </a:endParaRPr>
          </a:p>
          <a:p>
            <a:pPr marL="492125" indent="-441325">
              <a:lnSpc>
                <a:spcPct val="100000"/>
              </a:lnSpc>
              <a:spcBef>
                <a:spcPts val="1035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dirty="0">
                <a:latin typeface="Arial MT"/>
                <a:cs typeface="Arial MT"/>
              </a:rPr>
              <a:t>Compute</a:t>
            </a:r>
            <a:r>
              <a:rPr lang="en-US" sz="2000" spc="215" dirty="0">
                <a:latin typeface="Arial MT"/>
                <a:cs typeface="Arial MT"/>
              </a:rPr>
              <a:t> </a:t>
            </a:r>
            <a:r>
              <a:rPr lang="en-US" sz="2000" i="1" spc="85" dirty="0">
                <a:latin typeface="Georgia"/>
                <a:cs typeface="Georgia"/>
              </a:rPr>
              <a:t>F</a:t>
            </a:r>
            <a:r>
              <a:rPr lang="en-US" sz="2000" i="1" spc="-200" dirty="0">
                <a:latin typeface="Georgia"/>
                <a:cs typeface="Georgia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i="1" dirty="0">
                <a:latin typeface="Georgia"/>
                <a:cs typeface="Georgia"/>
              </a:rPr>
              <a:t>u,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v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dirty="0">
                <a:latin typeface="Arial MT"/>
                <a:cs typeface="Arial MT"/>
              </a:rPr>
              <a:t>,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spc="114" dirty="0">
                <a:latin typeface="Arial MT"/>
                <a:cs typeface="Arial MT"/>
              </a:rPr>
              <a:t>that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is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the</a:t>
            </a:r>
            <a:r>
              <a:rPr lang="en-US" sz="2000" spc="220" dirty="0">
                <a:latin typeface="Arial MT"/>
                <a:cs typeface="Arial MT"/>
              </a:rPr>
              <a:t> </a:t>
            </a:r>
            <a:r>
              <a:rPr lang="en-US" sz="2000" spc="130" dirty="0">
                <a:latin typeface="Arial MT"/>
                <a:cs typeface="Arial MT"/>
              </a:rPr>
              <a:t>FT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spc="55" dirty="0">
                <a:latin typeface="Arial MT"/>
                <a:cs typeface="Arial MT"/>
              </a:rPr>
              <a:t>of</a:t>
            </a:r>
            <a:r>
              <a:rPr lang="en-US" sz="2000" spc="229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the</a:t>
            </a:r>
            <a:r>
              <a:rPr lang="en-US" sz="2000" spc="22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result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in</a:t>
            </a:r>
            <a:r>
              <a:rPr lang="en-US" sz="2000" spc="229" dirty="0">
                <a:latin typeface="Arial MT"/>
                <a:cs typeface="Arial MT"/>
              </a:rPr>
              <a:t> </a:t>
            </a:r>
            <a:r>
              <a:rPr lang="en-US" sz="2000" spc="100" dirty="0">
                <a:latin typeface="Arial MT"/>
                <a:cs typeface="Arial MT"/>
              </a:rPr>
              <a:t>(2)</a:t>
            </a:r>
            <a:endParaRPr lang="en-US" sz="2000" dirty="0">
              <a:latin typeface="Arial MT"/>
              <a:cs typeface="Arial MT"/>
            </a:endParaRPr>
          </a:p>
          <a:p>
            <a:pPr marL="492125" indent="-441325">
              <a:lnSpc>
                <a:spcPct val="100000"/>
              </a:lnSpc>
              <a:spcBef>
                <a:spcPts val="1019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spc="100" dirty="0">
                <a:latin typeface="Arial MT"/>
                <a:cs typeface="Arial MT"/>
              </a:rPr>
              <a:t>Multiply</a:t>
            </a:r>
            <a:r>
              <a:rPr lang="en-US" sz="2000" spc="204" dirty="0">
                <a:latin typeface="Arial MT"/>
                <a:cs typeface="Arial MT"/>
              </a:rPr>
              <a:t> </a:t>
            </a:r>
            <a:r>
              <a:rPr lang="en-US" sz="2000" i="1" spc="85" dirty="0">
                <a:latin typeface="Georgia"/>
                <a:cs typeface="Georgia"/>
              </a:rPr>
              <a:t>F</a:t>
            </a:r>
            <a:r>
              <a:rPr lang="en-US" sz="2000" i="1" spc="-220" dirty="0">
                <a:latin typeface="Georgia"/>
                <a:cs typeface="Georgia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i="1" dirty="0">
                <a:latin typeface="Georgia"/>
                <a:cs typeface="Georgia"/>
              </a:rPr>
              <a:t>u,</a:t>
            </a:r>
            <a:r>
              <a:rPr lang="en-US" sz="2000" i="1" spc="-13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v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Arial MT"/>
                <a:cs typeface="Arial MT"/>
              </a:rPr>
              <a:t>by</a:t>
            </a:r>
            <a:r>
              <a:rPr lang="en-US" sz="2000" spc="215" dirty="0">
                <a:latin typeface="Arial MT"/>
                <a:cs typeface="Arial MT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H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i="1" dirty="0">
                <a:latin typeface="Georgia"/>
                <a:cs typeface="Georgia"/>
              </a:rPr>
              <a:t>u,</a:t>
            </a:r>
            <a:r>
              <a:rPr lang="en-US" sz="2000" i="1" spc="-13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v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Arial MT"/>
                <a:cs typeface="Arial MT"/>
              </a:rPr>
              <a:t>(array</a:t>
            </a:r>
            <a:r>
              <a:rPr lang="en-US" sz="2000" spc="215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multiplication)</a:t>
            </a:r>
            <a:endParaRPr lang="en-US" sz="2000" dirty="0">
              <a:latin typeface="Arial MT"/>
              <a:cs typeface="Arial MT"/>
            </a:endParaRPr>
          </a:p>
          <a:p>
            <a:pPr marL="492125" indent="-441325">
              <a:lnSpc>
                <a:spcPct val="100000"/>
              </a:lnSpc>
              <a:spcBef>
                <a:spcPts val="1030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dirty="0">
                <a:latin typeface="Arial MT"/>
                <a:cs typeface="Arial MT"/>
              </a:rPr>
              <a:t>Compute</a:t>
            </a:r>
            <a:r>
              <a:rPr lang="en-US" sz="2000" spc="245" dirty="0">
                <a:latin typeface="Arial MT"/>
                <a:cs typeface="Arial MT"/>
              </a:rPr>
              <a:t> </a:t>
            </a:r>
            <a:r>
              <a:rPr lang="en-US" sz="2000" spc="65" dirty="0">
                <a:latin typeface="Arial MT"/>
                <a:cs typeface="Arial MT"/>
              </a:rPr>
              <a:t>the</a:t>
            </a:r>
            <a:r>
              <a:rPr lang="en-US" sz="2000" spc="254" dirty="0">
                <a:latin typeface="Arial MT"/>
                <a:cs typeface="Arial MT"/>
              </a:rPr>
              <a:t> </a:t>
            </a:r>
            <a:r>
              <a:rPr lang="en-US" sz="2000" spc="120" dirty="0">
                <a:latin typeface="Arial MT"/>
                <a:cs typeface="Arial MT"/>
              </a:rPr>
              <a:t>IFT</a:t>
            </a:r>
            <a:r>
              <a:rPr lang="en-US" sz="2000" spc="245" dirty="0">
                <a:latin typeface="Arial MT"/>
                <a:cs typeface="Arial MT"/>
              </a:rPr>
              <a:t> </a:t>
            </a:r>
            <a:r>
              <a:rPr lang="en-US" sz="2000" spc="55" dirty="0">
                <a:latin typeface="Arial MT"/>
                <a:cs typeface="Arial MT"/>
              </a:rPr>
              <a:t>of</a:t>
            </a:r>
            <a:r>
              <a:rPr lang="en-US" sz="2000" spc="260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the</a:t>
            </a:r>
            <a:r>
              <a:rPr lang="en-US" sz="2000" spc="254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result</a:t>
            </a:r>
            <a:r>
              <a:rPr lang="en-US" sz="2000" spc="25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in</a:t>
            </a:r>
            <a:r>
              <a:rPr lang="en-US" sz="2000" spc="260" dirty="0">
                <a:latin typeface="Arial MT"/>
                <a:cs typeface="Arial MT"/>
              </a:rPr>
              <a:t> </a:t>
            </a:r>
            <a:r>
              <a:rPr lang="en-US" sz="2000" spc="100" dirty="0">
                <a:latin typeface="Arial MT"/>
                <a:cs typeface="Arial MT"/>
              </a:rPr>
              <a:t>(4)</a:t>
            </a:r>
            <a:endParaRPr lang="en-US" sz="2000" dirty="0">
              <a:latin typeface="Arial MT"/>
              <a:cs typeface="Arial MT"/>
            </a:endParaRPr>
          </a:p>
          <a:p>
            <a:pPr marL="492125" indent="-441325">
              <a:lnSpc>
                <a:spcPct val="100000"/>
              </a:lnSpc>
              <a:spcBef>
                <a:spcPts val="1035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spc="55" dirty="0">
                <a:latin typeface="Arial MT"/>
                <a:cs typeface="Arial MT"/>
              </a:rPr>
              <a:t>Obtain</a:t>
            </a:r>
            <a:r>
              <a:rPr lang="en-US" sz="2000" spc="220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the</a:t>
            </a:r>
            <a:r>
              <a:rPr lang="en-US" sz="2000" spc="21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real</a:t>
            </a:r>
            <a:r>
              <a:rPr lang="en-US" sz="2000" spc="229" dirty="0">
                <a:latin typeface="Arial MT"/>
                <a:cs typeface="Arial MT"/>
              </a:rPr>
              <a:t> </a:t>
            </a:r>
            <a:r>
              <a:rPr lang="en-US" sz="2000" spc="50" dirty="0">
                <a:latin typeface="Arial MT"/>
                <a:cs typeface="Arial MT"/>
              </a:rPr>
              <a:t>part</a:t>
            </a:r>
            <a:r>
              <a:rPr lang="en-US" sz="2000" spc="225" dirty="0">
                <a:latin typeface="Arial MT"/>
                <a:cs typeface="Arial MT"/>
              </a:rPr>
              <a:t> </a:t>
            </a:r>
            <a:r>
              <a:rPr lang="en-US" sz="2000" spc="55" dirty="0">
                <a:latin typeface="Arial MT"/>
                <a:cs typeface="Arial MT"/>
              </a:rPr>
              <a:t>of</a:t>
            </a:r>
            <a:r>
              <a:rPr lang="en-US" sz="2000" spc="220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the</a:t>
            </a:r>
            <a:r>
              <a:rPr lang="en-US" sz="2000" spc="21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result</a:t>
            </a:r>
            <a:r>
              <a:rPr lang="en-US" sz="2000" spc="204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in</a:t>
            </a:r>
            <a:r>
              <a:rPr lang="en-US" sz="2000" spc="220" dirty="0">
                <a:latin typeface="Arial MT"/>
                <a:cs typeface="Arial MT"/>
              </a:rPr>
              <a:t> </a:t>
            </a:r>
            <a:r>
              <a:rPr lang="en-US" sz="2000" spc="100" dirty="0">
                <a:latin typeface="Arial MT"/>
                <a:cs typeface="Arial MT"/>
              </a:rPr>
              <a:t>(5)</a:t>
            </a:r>
            <a:endParaRPr lang="en-US" sz="2000" dirty="0">
              <a:latin typeface="Arial MT"/>
              <a:cs typeface="Arial MT"/>
            </a:endParaRPr>
          </a:p>
          <a:p>
            <a:pPr marL="492125" indent="-441325">
              <a:lnSpc>
                <a:spcPct val="100000"/>
              </a:lnSpc>
              <a:spcBef>
                <a:spcPts val="1210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spc="100" dirty="0">
                <a:latin typeface="Arial MT"/>
                <a:cs typeface="Arial MT"/>
              </a:rPr>
              <a:t>Multiply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spc="60" dirty="0">
                <a:latin typeface="Arial MT"/>
                <a:cs typeface="Arial MT"/>
              </a:rPr>
              <a:t>the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result</a:t>
            </a:r>
            <a:r>
              <a:rPr lang="en-US" sz="2000" spc="22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in</a:t>
            </a:r>
            <a:r>
              <a:rPr lang="en-US" sz="2000" spc="240" dirty="0">
                <a:latin typeface="Arial MT"/>
                <a:cs typeface="Arial MT"/>
              </a:rPr>
              <a:t> </a:t>
            </a:r>
            <a:r>
              <a:rPr lang="en-US" sz="2000" spc="125" dirty="0">
                <a:latin typeface="Arial MT"/>
                <a:cs typeface="Arial MT"/>
              </a:rPr>
              <a:t>(6)</a:t>
            </a:r>
            <a:r>
              <a:rPr lang="en-US" sz="2000" spc="24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by</a:t>
            </a:r>
            <a:r>
              <a:rPr lang="en-US" sz="2000" spc="23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Lucida Sans Unicode"/>
                <a:cs typeface="Lucida Sans Unicode"/>
              </a:rPr>
              <a:t>−</a:t>
            </a:r>
            <a:r>
              <a:rPr lang="en-US" sz="2000" dirty="0">
                <a:latin typeface="Times New Roman"/>
                <a:cs typeface="Times New Roman"/>
              </a:rPr>
              <a:t>1)</a:t>
            </a:r>
            <a:r>
              <a:rPr lang="en-US" sz="2000" baseline="39682" dirty="0">
                <a:latin typeface="Georgia"/>
                <a:cs typeface="Georgia"/>
              </a:rPr>
              <a:t>(</a:t>
            </a:r>
            <a:r>
              <a:rPr lang="en-US" sz="2000" i="1" baseline="39682" dirty="0" err="1">
                <a:latin typeface="Georgia"/>
                <a:cs typeface="Georgia"/>
              </a:rPr>
              <a:t>x</a:t>
            </a:r>
            <a:r>
              <a:rPr lang="en-US" sz="2000" baseline="39682" dirty="0" err="1">
                <a:latin typeface="Georgia"/>
                <a:cs typeface="Georgia"/>
              </a:rPr>
              <a:t>+</a:t>
            </a:r>
            <a:r>
              <a:rPr lang="en-US" sz="2000" i="1" baseline="39682" dirty="0" err="1">
                <a:latin typeface="Georgia"/>
                <a:cs typeface="Georgia"/>
              </a:rPr>
              <a:t>y</a:t>
            </a:r>
            <a:r>
              <a:rPr lang="en-US" sz="2000" baseline="39682" dirty="0">
                <a:latin typeface="Georgia"/>
                <a:cs typeface="Georgia"/>
              </a:rPr>
              <a:t>)</a:t>
            </a:r>
            <a:r>
              <a:rPr lang="en-US" sz="2000" spc="142" baseline="39682" dirty="0">
                <a:latin typeface="Georgia"/>
                <a:cs typeface="Georgia"/>
              </a:rPr>
              <a:t>  </a:t>
            </a:r>
            <a:r>
              <a:rPr lang="en-US" sz="2000" spc="150" dirty="0">
                <a:latin typeface="Lucida Sans Unicode"/>
                <a:cs typeface="Lucida Sans Unicode"/>
              </a:rPr>
              <a:t>⇒</a:t>
            </a:r>
            <a:r>
              <a:rPr lang="en-US" sz="2000" spc="145" dirty="0">
                <a:latin typeface="Lucida Sans Unicode"/>
                <a:cs typeface="Lucida Sans Unicode"/>
              </a:rPr>
              <a:t> </a:t>
            </a:r>
            <a:r>
              <a:rPr lang="en-US" sz="2000" i="1" spc="-85" dirty="0" err="1">
                <a:latin typeface="Georgia"/>
                <a:cs typeface="Georgia"/>
              </a:rPr>
              <a:t>g</a:t>
            </a:r>
            <a:r>
              <a:rPr lang="en-US" sz="2000" i="1" spc="-127" baseline="-11904" dirty="0" err="1">
                <a:latin typeface="Georgia"/>
                <a:cs typeface="Georgia"/>
              </a:rPr>
              <a:t>P</a:t>
            </a:r>
            <a:r>
              <a:rPr lang="en-US" sz="2000" i="1" spc="-120" baseline="-11904" dirty="0">
                <a:latin typeface="Georgia"/>
                <a:cs typeface="Georgia"/>
              </a:rPr>
              <a:t> </a:t>
            </a:r>
            <a:r>
              <a:rPr lang="en-US" sz="2000" spc="55" dirty="0">
                <a:latin typeface="Times New Roman"/>
                <a:cs typeface="Times New Roman"/>
              </a:rPr>
              <a:t>(</a:t>
            </a:r>
            <a:r>
              <a:rPr lang="en-US" sz="2000" i="1" spc="55" dirty="0">
                <a:latin typeface="Georgia"/>
                <a:cs typeface="Georgia"/>
              </a:rPr>
              <a:t>x,</a:t>
            </a:r>
            <a:r>
              <a:rPr lang="en-US" sz="2000" i="1" spc="-140" dirty="0">
                <a:latin typeface="Georgia"/>
                <a:cs typeface="Georgia"/>
              </a:rPr>
              <a:t> </a:t>
            </a:r>
            <a:r>
              <a:rPr lang="en-US" sz="2000" i="1" spc="-25" dirty="0">
                <a:latin typeface="Georgia"/>
                <a:cs typeface="Georgia"/>
              </a:rPr>
              <a:t>y</a:t>
            </a:r>
            <a:r>
              <a:rPr lang="en-US" sz="2000" spc="-25" dirty="0">
                <a:latin typeface="Times New Roman"/>
                <a:cs typeface="Times New Roman"/>
              </a:rPr>
              <a:t>)</a:t>
            </a:r>
            <a:endParaRPr lang="en-US" sz="2000" dirty="0">
              <a:latin typeface="Times New Roman"/>
              <a:cs typeface="Times New Roman"/>
            </a:endParaRPr>
          </a:p>
          <a:p>
            <a:pPr marL="492125" indent="-441325">
              <a:lnSpc>
                <a:spcPct val="100000"/>
              </a:lnSpc>
              <a:spcBef>
                <a:spcPts val="1030"/>
              </a:spcBef>
              <a:buClr>
                <a:srgbClr val="5F6CC4"/>
              </a:buClr>
              <a:buAutoNum type="arabicParenBoth"/>
              <a:tabLst>
                <a:tab pos="492125" algn="l"/>
              </a:tabLst>
            </a:pPr>
            <a:r>
              <a:rPr lang="en-US" sz="2000" dirty="0">
                <a:latin typeface="Arial MT"/>
                <a:cs typeface="Arial MT"/>
              </a:rPr>
              <a:t>Crop</a:t>
            </a:r>
            <a:r>
              <a:rPr lang="en-US" sz="2000" spc="190" dirty="0">
                <a:latin typeface="Arial MT"/>
                <a:cs typeface="Arial MT"/>
              </a:rPr>
              <a:t> </a:t>
            </a:r>
            <a:r>
              <a:rPr lang="en-US" sz="2000" i="1" spc="-85" dirty="0" err="1">
                <a:latin typeface="Georgia"/>
                <a:cs typeface="Georgia"/>
              </a:rPr>
              <a:t>g</a:t>
            </a:r>
            <a:r>
              <a:rPr lang="en-US" sz="2000" i="1" spc="-127" baseline="-11904" dirty="0" err="1">
                <a:latin typeface="Georgia"/>
                <a:cs typeface="Georgia"/>
              </a:rPr>
              <a:t>P</a:t>
            </a:r>
            <a:r>
              <a:rPr lang="en-US" sz="2000" i="1" spc="-142" baseline="-11904" dirty="0">
                <a:latin typeface="Georgia"/>
                <a:cs typeface="Georgia"/>
              </a:rPr>
              <a:t> </a:t>
            </a:r>
            <a:r>
              <a:rPr lang="en-US" sz="2000" spc="50" dirty="0">
                <a:latin typeface="Times New Roman"/>
                <a:cs typeface="Times New Roman"/>
              </a:rPr>
              <a:t>(</a:t>
            </a:r>
            <a:r>
              <a:rPr lang="en-US" sz="2000" i="1" spc="50" dirty="0">
                <a:latin typeface="Georgia"/>
                <a:cs typeface="Georgia"/>
              </a:rPr>
              <a:t>x,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y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spc="250" dirty="0">
                <a:latin typeface="Times New Roman"/>
                <a:cs typeface="Times New Roman"/>
              </a:rPr>
              <a:t> </a:t>
            </a:r>
            <a:r>
              <a:rPr lang="en-US" sz="2000" spc="150" dirty="0">
                <a:latin typeface="Lucida Sans Unicode"/>
                <a:cs typeface="Lucida Sans Unicode"/>
              </a:rPr>
              <a:t>⇒</a:t>
            </a:r>
            <a:r>
              <a:rPr lang="en-US" sz="2000" spc="110" dirty="0">
                <a:latin typeface="Lucida Sans Unicode"/>
                <a:cs typeface="Lucida Sans Unicode"/>
              </a:rPr>
              <a:t> </a:t>
            </a:r>
            <a:r>
              <a:rPr lang="en-US" sz="2000" i="1" dirty="0">
                <a:latin typeface="Georgia"/>
                <a:cs typeface="Georgia"/>
              </a:rPr>
              <a:t>g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i="1" dirty="0">
                <a:latin typeface="Georgia"/>
                <a:cs typeface="Georgia"/>
              </a:rPr>
              <a:t>x,</a:t>
            </a:r>
            <a:r>
              <a:rPr lang="en-US" sz="2000" i="1" spc="-145" dirty="0">
                <a:latin typeface="Georgia"/>
                <a:cs typeface="Georgia"/>
              </a:rPr>
              <a:t> </a:t>
            </a:r>
            <a:r>
              <a:rPr lang="en-US" sz="2000" i="1" spc="-25" dirty="0">
                <a:latin typeface="Georgia"/>
                <a:cs typeface="Georgia"/>
              </a:rPr>
              <a:t>y)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31" y="118872"/>
            <a:ext cx="9658754" cy="73718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3381" y="348305"/>
            <a:ext cx="8084419" cy="4591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2800" dirty="0"/>
              <a:t>The</a:t>
            </a:r>
            <a:r>
              <a:rPr sz="2800" spc="-132" dirty="0"/>
              <a:t> </a:t>
            </a:r>
            <a:r>
              <a:rPr sz="2800" spc="-22" dirty="0"/>
              <a:t>Discrete</a:t>
            </a:r>
            <a:r>
              <a:rPr sz="2800" spc="-132" dirty="0"/>
              <a:t> </a:t>
            </a:r>
            <a:r>
              <a:rPr sz="2800" spc="-22" dirty="0"/>
              <a:t>Fourier</a:t>
            </a:r>
            <a:r>
              <a:rPr sz="2800" spc="-121" dirty="0"/>
              <a:t> </a:t>
            </a:r>
            <a:r>
              <a:rPr sz="2800" spc="-77" dirty="0"/>
              <a:t>Transform</a:t>
            </a:r>
            <a:r>
              <a:rPr sz="2800" spc="-132" dirty="0"/>
              <a:t> </a:t>
            </a:r>
            <a:r>
              <a:rPr sz="2800" spc="-22" dirty="0"/>
              <a:t>(DFT)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764048" y="2208276"/>
            <a:ext cx="4819650" cy="1394741"/>
          </a:xfrm>
          <a:prstGeom prst="rect">
            <a:avLst/>
          </a:prstGeom>
        </p:spPr>
        <p:txBody>
          <a:bodyPr vert="horz" wrap="square" lIns="0" tIns="72644" rIns="0" bIns="0" rtlCol="0">
            <a:spAutoFit/>
          </a:bodyPr>
          <a:lstStyle/>
          <a:p>
            <a:pPr marL="27940">
              <a:spcBef>
                <a:spcPts val="572"/>
              </a:spcBef>
              <a:tabLst>
                <a:tab pos="592328" algn="l"/>
              </a:tabLst>
            </a:pPr>
            <a:r>
              <a:rPr sz="2200" spc="-55" dirty="0">
                <a:solidFill>
                  <a:srgbClr val="D34817"/>
                </a:solidFill>
                <a:latin typeface="Times New Roman"/>
                <a:cs typeface="Times New Roman"/>
              </a:rPr>
              <a:t>1.</a:t>
            </a:r>
            <a:r>
              <a:rPr sz="2200" dirty="0">
                <a:solidFill>
                  <a:srgbClr val="D34817"/>
                </a:solidFill>
                <a:latin typeface="Times New Roman"/>
                <a:cs typeface="Times New Roman"/>
              </a:rPr>
              <a:t>	</a:t>
            </a:r>
            <a:r>
              <a:rPr sz="2640" spc="-187" dirty="0">
                <a:latin typeface="Times New Roman"/>
                <a:cs typeface="Times New Roman"/>
              </a:rPr>
              <a:t>Given</a:t>
            </a:r>
            <a:r>
              <a:rPr sz="2640" spc="-22" dirty="0">
                <a:latin typeface="Times New Roman"/>
                <a:cs typeface="Times New Roman"/>
              </a:rPr>
              <a:t> </a:t>
            </a:r>
            <a:r>
              <a:rPr sz="2640" spc="-187" dirty="0">
                <a:latin typeface="Times New Roman"/>
                <a:cs typeface="Times New Roman"/>
              </a:rPr>
              <a:t>an</a:t>
            </a:r>
            <a:r>
              <a:rPr sz="2640" spc="-22" dirty="0">
                <a:latin typeface="Times New Roman"/>
                <a:cs typeface="Times New Roman"/>
              </a:rPr>
              <a:t> </a:t>
            </a:r>
            <a:r>
              <a:rPr sz="2640" spc="-198" dirty="0">
                <a:latin typeface="Times New Roman"/>
                <a:cs typeface="Times New Roman"/>
              </a:rPr>
              <a:t>image</a:t>
            </a:r>
            <a:r>
              <a:rPr sz="2640" spc="-22" dirty="0">
                <a:latin typeface="Times New Roman"/>
                <a:cs typeface="Times New Roman"/>
              </a:rPr>
              <a:t> </a:t>
            </a:r>
            <a:r>
              <a:rPr sz="2640" spc="-110" dirty="0">
                <a:latin typeface="Times New Roman"/>
                <a:cs typeface="Times New Roman"/>
              </a:rPr>
              <a:t>f(x,y)</a:t>
            </a:r>
            <a:r>
              <a:rPr sz="2640" spc="-22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or</a:t>
            </a:r>
            <a:r>
              <a:rPr sz="2640" spc="-11" dirty="0">
                <a:latin typeface="Times New Roman"/>
                <a:cs typeface="Times New Roman"/>
              </a:rPr>
              <a:t> </a:t>
            </a:r>
            <a:r>
              <a:rPr sz="2640" spc="-187" dirty="0">
                <a:latin typeface="Times New Roman"/>
                <a:cs typeface="Times New Roman"/>
              </a:rPr>
              <a:t>size</a:t>
            </a:r>
            <a:r>
              <a:rPr sz="2640" spc="-22" dirty="0">
                <a:latin typeface="Times New Roman"/>
                <a:cs typeface="Times New Roman"/>
              </a:rPr>
              <a:t> </a:t>
            </a:r>
            <a:r>
              <a:rPr sz="2640" spc="-99" dirty="0">
                <a:latin typeface="Times New Roman"/>
                <a:cs typeface="Times New Roman"/>
              </a:rPr>
              <a:t>MxN</a:t>
            </a:r>
            <a:endParaRPr sz="2640" dirty="0">
              <a:latin typeface="Times New Roman"/>
              <a:cs typeface="Times New Roman"/>
            </a:endParaRPr>
          </a:p>
          <a:p>
            <a:pPr marL="1033780">
              <a:spcBef>
                <a:spcPts val="352"/>
              </a:spcBef>
            </a:pPr>
            <a:r>
              <a:rPr sz="2640" i="1" dirty="0">
                <a:latin typeface="Times New Roman"/>
                <a:cs typeface="Times New Roman"/>
              </a:rPr>
              <a:t>x</a:t>
            </a:r>
            <a:r>
              <a:rPr sz="2640" i="1" spc="-55" dirty="0">
                <a:latin typeface="Times New Roman"/>
                <a:cs typeface="Times New Roman"/>
              </a:rPr>
              <a:t> </a:t>
            </a:r>
            <a:r>
              <a:rPr sz="2640" spc="264" dirty="0">
                <a:latin typeface="Times New Roman"/>
                <a:cs typeface="Times New Roman"/>
              </a:rPr>
              <a:t>=</a:t>
            </a:r>
            <a:r>
              <a:rPr sz="2640" spc="-55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0,</a:t>
            </a:r>
            <a:r>
              <a:rPr sz="2640" spc="-165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1,</a:t>
            </a:r>
            <a:r>
              <a:rPr sz="2640" spc="-154" dirty="0">
                <a:latin typeface="Times New Roman"/>
                <a:cs typeface="Times New Roman"/>
              </a:rPr>
              <a:t> </a:t>
            </a:r>
            <a:r>
              <a:rPr sz="2640" spc="-66" dirty="0">
                <a:latin typeface="Times New Roman"/>
                <a:cs typeface="Times New Roman"/>
              </a:rPr>
              <a:t>2…M-</a:t>
            </a:r>
            <a:r>
              <a:rPr sz="2640" spc="-110" dirty="0">
                <a:latin typeface="Times New Roman"/>
                <a:cs typeface="Times New Roman"/>
              </a:rPr>
              <a:t>1</a:t>
            </a:r>
            <a:endParaRPr sz="2640" dirty="0">
              <a:latin typeface="Times New Roman"/>
              <a:cs typeface="Times New Roman"/>
            </a:endParaRPr>
          </a:p>
          <a:p>
            <a:pPr marL="1033780">
              <a:spcBef>
                <a:spcPts val="352"/>
              </a:spcBef>
            </a:pPr>
            <a:r>
              <a:rPr sz="2640" i="1" dirty="0">
                <a:latin typeface="Times New Roman"/>
                <a:cs typeface="Times New Roman"/>
              </a:rPr>
              <a:t>y</a:t>
            </a:r>
            <a:r>
              <a:rPr sz="2640" i="1" spc="-11" dirty="0">
                <a:latin typeface="Times New Roman"/>
                <a:cs typeface="Times New Roman"/>
              </a:rPr>
              <a:t> </a:t>
            </a:r>
            <a:r>
              <a:rPr sz="2640" spc="264" dirty="0">
                <a:latin typeface="Times New Roman"/>
                <a:cs typeface="Times New Roman"/>
              </a:rPr>
              <a:t>=</a:t>
            </a:r>
            <a:r>
              <a:rPr sz="2640" spc="-11" dirty="0">
                <a:latin typeface="Times New Roman"/>
                <a:cs typeface="Times New Roman"/>
              </a:rPr>
              <a:t> </a:t>
            </a:r>
            <a:r>
              <a:rPr sz="2640" spc="-44" dirty="0">
                <a:latin typeface="Times New Roman"/>
                <a:cs typeface="Times New Roman"/>
              </a:rPr>
              <a:t>0,1,2…N-</a:t>
            </a:r>
            <a:r>
              <a:rPr sz="2640" spc="-110" dirty="0">
                <a:latin typeface="Times New Roman"/>
                <a:cs typeface="Times New Roman"/>
              </a:rPr>
              <a:t>1</a:t>
            </a:r>
            <a:endParaRPr sz="264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379" y="3552643"/>
            <a:ext cx="6028055" cy="434478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  <a:tabLst>
                <a:tab pos="667766" algn="l"/>
              </a:tabLst>
            </a:pPr>
            <a:r>
              <a:rPr sz="2200" spc="-55" dirty="0">
                <a:solidFill>
                  <a:srgbClr val="D34817"/>
                </a:solidFill>
                <a:latin typeface="Times New Roman"/>
                <a:cs typeface="Times New Roman"/>
              </a:rPr>
              <a:t>2.</a:t>
            </a:r>
            <a:r>
              <a:rPr sz="2200" dirty="0">
                <a:solidFill>
                  <a:srgbClr val="D34817"/>
                </a:solidFill>
                <a:latin typeface="Times New Roman"/>
                <a:cs typeface="Times New Roman"/>
              </a:rPr>
              <a:t>	</a:t>
            </a:r>
            <a:r>
              <a:rPr sz="2640" i="1" spc="-297" dirty="0">
                <a:latin typeface="Times New Roman"/>
                <a:cs typeface="Times New Roman"/>
              </a:rPr>
              <a:t>Discrete</a:t>
            </a:r>
            <a:r>
              <a:rPr sz="2640" i="1" spc="-44" dirty="0">
                <a:latin typeface="Times New Roman"/>
                <a:cs typeface="Times New Roman"/>
              </a:rPr>
              <a:t> </a:t>
            </a:r>
            <a:r>
              <a:rPr sz="2640" i="1" spc="-330" dirty="0">
                <a:latin typeface="Times New Roman"/>
                <a:cs typeface="Times New Roman"/>
              </a:rPr>
              <a:t>Fourier</a:t>
            </a:r>
            <a:r>
              <a:rPr sz="2640" i="1" spc="-55" dirty="0">
                <a:latin typeface="Times New Roman"/>
                <a:cs typeface="Times New Roman"/>
              </a:rPr>
              <a:t> </a:t>
            </a:r>
            <a:r>
              <a:rPr sz="2640" i="1" spc="-330" dirty="0">
                <a:latin typeface="Times New Roman"/>
                <a:cs typeface="Times New Roman"/>
              </a:rPr>
              <a:t>Transform</a:t>
            </a:r>
            <a:r>
              <a:rPr sz="2640" i="1" spc="-44" dirty="0">
                <a:latin typeface="Times New Roman"/>
                <a:cs typeface="Times New Roman"/>
              </a:rPr>
              <a:t> </a:t>
            </a:r>
            <a:r>
              <a:rPr sz="2640" spc="-154" dirty="0">
                <a:latin typeface="Times New Roman"/>
                <a:cs typeface="Times New Roman"/>
              </a:rPr>
              <a:t>of</a:t>
            </a:r>
            <a:r>
              <a:rPr sz="2640" spc="-55" dirty="0">
                <a:latin typeface="Times New Roman"/>
                <a:cs typeface="Times New Roman"/>
              </a:rPr>
              <a:t> </a:t>
            </a:r>
            <a:r>
              <a:rPr sz="2640" i="1" dirty="0">
                <a:latin typeface="Times New Roman"/>
                <a:cs typeface="Times New Roman"/>
              </a:rPr>
              <a:t>f(x,</a:t>
            </a:r>
            <a:r>
              <a:rPr sz="2640" i="1" spc="33" dirty="0">
                <a:latin typeface="Times New Roman"/>
                <a:cs typeface="Times New Roman"/>
              </a:rPr>
              <a:t> </a:t>
            </a:r>
            <a:r>
              <a:rPr sz="2640" i="1" dirty="0">
                <a:latin typeface="Times New Roman"/>
                <a:cs typeface="Times New Roman"/>
              </a:rPr>
              <a:t>y)</a:t>
            </a:r>
            <a:r>
              <a:rPr sz="2640" i="1" spc="-44" dirty="0">
                <a:latin typeface="Times New Roman"/>
                <a:cs typeface="Times New Roman"/>
              </a:rPr>
              <a:t> </a:t>
            </a:r>
            <a:r>
              <a:rPr sz="2640" spc="-187" dirty="0">
                <a:latin typeface="Times New Roman"/>
                <a:cs typeface="Times New Roman"/>
              </a:rPr>
              <a:t>is</a:t>
            </a:r>
            <a:r>
              <a:rPr sz="2640" spc="-44" dirty="0">
                <a:latin typeface="Times New Roman"/>
                <a:cs typeface="Times New Roman"/>
              </a:rPr>
              <a:t> </a:t>
            </a:r>
            <a:r>
              <a:rPr sz="2640" spc="-187" dirty="0">
                <a:latin typeface="Times New Roman"/>
                <a:cs typeface="Times New Roman"/>
              </a:rPr>
              <a:t>given</a:t>
            </a:r>
            <a:r>
              <a:rPr sz="2640" spc="-33" dirty="0">
                <a:latin typeface="Times New Roman"/>
                <a:cs typeface="Times New Roman"/>
              </a:rPr>
              <a:t> </a:t>
            </a:r>
            <a:r>
              <a:rPr sz="2640" spc="-55" dirty="0">
                <a:latin typeface="Times New Roman"/>
                <a:cs typeface="Times New Roman"/>
              </a:rPr>
              <a:t>by</a:t>
            </a:r>
            <a:endParaRPr sz="264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7800" y="5214056"/>
            <a:ext cx="1810512" cy="1187631"/>
          </a:xfrm>
          <a:prstGeom prst="rect">
            <a:avLst/>
          </a:prstGeom>
        </p:spPr>
        <p:txBody>
          <a:bodyPr vert="horz" wrap="square" lIns="0" tIns="93597" rIns="0" bIns="0" rtlCol="0">
            <a:spAutoFit/>
          </a:bodyPr>
          <a:lstStyle/>
          <a:p>
            <a:pPr marL="27940">
              <a:spcBef>
                <a:spcPts val="735"/>
              </a:spcBef>
            </a:pPr>
            <a:r>
              <a:rPr sz="2090" i="1" dirty="0">
                <a:latin typeface="Times New Roman"/>
                <a:cs typeface="Times New Roman"/>
              </a:rPr>
              <a:t>u</a:t>
            </a:r>
            <a:r>
              <a:rPr sz="2090" i="1" spc="-44" dirty="0">
                <a:latin typeface="Times New Roman"/>
                <a:cs typeface="Times New Roman"/>
              </a:rPr>
              <a:t> </a:t>
            </a:r>
            <a:r>
              <a:rPr sz="2090" spc="198" dirty="0">
                <a:latin typeface="Times New Roman"/>
                <a:cs typeface="Times New Roman"/>
              </a:rPr>
              <a:t>=</a:t>
            </a:r>
            <a:r>
              <a:rPr sz="2090" spc="-44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0,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1,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spc="-55" dirty="0">
                <a:latin typeface="Times New Roman"/>
                <a:cs typeface="Times New Roman"/>
              </a:rPr>
              <a:t>2…M-</a:t>
            </a:r>
            <a:r>
              <a:rPr sz="2090" spc="-110" dirty="0">
                <a:latin typeface="Times New Roman"/>
                <a:cs typeface="Times New Roman"/>
              </a:rPr>
              <a:t>1</a:t>
            </a:r>
            <a:endParaRPr sz="2090" dirty="0">
              <a:latin typeface="Times New Roman"/>
              <a:cs typeface="Times New Roman"/>
            </a:endParaRPr>
          </a:p>
          <a:p>
            <a:pPr marL="27940">
              <a:spcBef>
                <a:spcPts val="515"/>
              </a:spcBef>
            </a:pPr>
            <a:r>
              <a:rPr sz="2090" i="1" dirty="0">
                <a:latin typeface="Times New Roman"/>
                <a:cs typeface="Times New Roman"/>
              </a:rPr>
              <a:t>v</a:t>
            </a:r>
            <a:r>
              <a:rPr sz="2090" i="1" spc="-44" dirty="0">
                <a:latin typeface="Times New Roman"/>
                <a:cs typeface="Times New Roman"/>
              </a:rPr>
              <a:t> </a:t>
            </a:r>
            <a:r>
              <a:rPr sz="2090" spc="198" dirty="0">
                <a:latin typeface="Times New Roman"/>
                <a:cs typeface="Times New Roman"/>
              </a:rPr>
              <a:t>=</a:t>
            </a:r>
            <a:r>
              <a:rPr sz="2090" spc="-44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0,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1,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spc="-55" dirty="0">
                <a:latin typeface="Times New Roman"/>
                <a:cs typeface="Times New Roman"/>
              </a:rPr>
              <a:t>2…N-</a:t>
            </a:r>
            <a:r>
              <a:rPr sz="2090" spc="-110" dirty="0">
                <a:latin typeface="Times New Roman"/>
                <a:cs typeface="Times New Roman"/>
              </a:rPr>
              <a:t>1</a:t>
            </a:r>
            <a:endParaRPr sz="2090" dirty="0">
              <a:latin typeface="Times New Roman"/>
              <a:cs typeface="Times New Roman"/>
            </a:endParaRPr>
          </a:p>
          <a:p>
            <a:pPr marL="27940">
              <a:spcBef>
                <a:spcPts val="460"/>
              </a:spcBef>
            </a:pPr>
            <a:r>
              <a:rPr sz="2090" dirty="0">
                <a:latin typeface="Times New Roman"/>
                <a:cs typeface="Times New Roman"/>
              </a:rPr>
              <a:t>j=</a:t>
            </a:r>
            <a:r>
              <a:rPr sz="2090" spc="154" dirty="0">
                <a:latin typeface="Times New Roman"/>
                <a:cs typeface="Times New Roman"/>
              </a:rPr>
              <a:t> </a:t>
            </a:r>
            <a:r>
              <a:rPr sz="2090" spc="-66" dirty="0">
                <a:latin typeface="Times New Roman"/>
                <a:cs typeface="Times New Roman"/>
              </a:rPr>
              <a:t>sqrt(-</a:t>
            </a:r>
            <a:r>
              <a:rPr sz="2090" spc="-55" dirty="0">
                <a:latin typeface="Times New Roman"/>
                <a:cs typeface="Times New Roman"/>
              </a:rPr>
              <a:t>1)</a:t>
            </a:r>
            <a:endParaRPr sz="2090" dirty="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90601" y="1127733"/>
            <a:ext cx="2643124" cy="2323211"/>
            <a:chOff x="3092334" y="423949"/>
            <a:chExt cx="1201420" cy="10560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334" y="423949"/>
              <a:ext cx="1201189" cy="10557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20296" y="439107"/>
              <a:ext cx="1146810" cy="1000760"/>
            </a:xfrm>
            <a:custGeom>
              <a:avLst/>
              <a:gdLst/>
              <a:ahLst/>
              <a:cxnLst/>
              <a:rect l="l" t="t" r="r" b="b"/>
              <a:pathLst>
                <a:path w="1146810" h="1000760">
                  <a:moveTo>
                    <a:pt x="1146336" y="0"/>
                  </a:moveTo>
                  <a:lnTo>
                    <a:pt x="0" y="0"/>
                  </a:lnTo>
                  <a:lnTo>
                    <a:pt x="0" y="1000183"/>
                  </a:lnTo>
                  <a:lnTo>
                    <a:pt x="1146336" y="1000183"/>
                  </a:lnTo>
                  <a:lnTo>
                    <a:pt x="1146336" y="0"/>
                  </a:lnTo>
                  <a:close/>
                </a:path>
              </a:pathLst>
            </a:custGeom>
            <a:solidFill>
              <a:srgbClr val="418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20296" y="439106"/>
              <a:ext cx="1146810" cy="1000760"/>
            </a:xfrm>
            <a:custGeom>
              <a:avLst/>
              <a:gdLst/>
              <a:ahLst/>
              <a:cxnLst/>
              <a:rect l="l" t="t" r="r" b="b"/>
              <a:pathLst>
                <a:path w="1146810" h="1000760">
                  <a:moveTo>
                    <a:pt x="0" y="0"/>
                  </a:moveTo>
                  <a:lnTo>
                    <a:pt x="1146337" y="0"/>
                  </a:lnTo>
                  <a:lnTo>
                    <a:pt x="1146337" y="1000183"/>
                  </a:lnTo>
                  <a:lnTo>
                    <a:pt x="0" y="1000183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BF4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25192" y="3303089"/>
            <a:ext cx="224917" cy="332912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1980" spc="-110" dirty="0">
                <a:latin typeface="Times New Roman"/>
                <a:cs typeface="Times New Roman"/>
              </a:rPr>
              <a:t>N</a:t>
            </a:r>
            <a:endParaRPr sz="198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59234" y="1906203"/>
            <a:ext cx="250061" cy="332912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1980" spc="-143" dirty="0">
                <a:latin typeface="Times New Roman"/>
                <a:cs typeface="Times New Roman"/>
              </a:rPr>
              <a:t>M</a:t>
            </a:r>
            <a:endParaRPr sz="198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10026" y="844904"/>
            <a:ext cx="500124" cy="24827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1430" spc="-22" dirty="0">
                <a:latin typeface="Times New Roman"/>
                <a:cs typeface="Times New Roman"/>
              </a:rPr>
              <a:t>Origin</a:t>
            </a:r>
            <a:endParaRPr sz="143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9143" y="105157"/>
            <a:ext cx="10086340" cy="7571740"/>
            <a:chOff x="-4156" y="-4156"/>
            <a:chExt cx="4584700" cy="34417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4803" y="378229"/>
              <a:ext cx="1417319" cy="1496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31344" y="438943"/>
              <a:ext cx="1305560" cy="1270"/>
            </a:xfrm>
            <a:custGeom>
              <a:avLst/>
              <a:gdLst/>
              <a:ahLst/>
              <a:cxnLst/>
              <a:rect l="l" t="t" r="r" b="b"/>
              <a:pathLst>
                <a:path w="1305560" h="1270">
                  <a:moveTo>
                    <a:pt x="0" y="0"/>
                  </a:moveTo>
                  <a:lnTo>
                    <a:pt x="1305022" y="786"/>
                  </a:lnTo>
                </a:path>
              </a:pathLst>
            </a:custGeom>
            <a:ln w="6350">
              <a:solidFill>
                <a:srgbClr val="DD5E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91000" y="410230"/>
              <a:ext cx="58419" cy="59055"/>
            </a:xfrm>
            <a:custGeom>
              <a:avLst/>
              <a:gdLst/>
              <a:ahLst/>
              <a:cxnLst/>
              <a:rect l="l" t="t" r="r" b="b"/>
              <a:pathLst>
                <a:path w="58420" h="59054">
                  <a:moveTo>
                    <a:pt x="7453" y="0"/>
                  </a:moveTo>
                  <a:lnTo>
                    <a:pt x="3563" y="1021"/>
                  </a:lnTo>
                  <a:lnTo>
                    <a:pt x="26" y="7077"/>
                  </a:lnTo>
                  <a:lnTo>
                    <a:pt x="1047" y="10966"/>
                  </a:lnTo>
                  <a:lnTo>
                    <a:pt x="32737" y="29507"/>
                  </a:lnTo>
                  <a:lnTo>
                    <a:pt x="1024" y="47980"/>
                  </a:lnTo>
                  <a:lnTo>
                    <a:pt x="0" y="51868"/>
                  </a:lnTo>
                  <a:lnTo>
                    <a:pt x="3530" y="57928"/>
                  </a:lnTo>
                  <a:lnTo>
                    <a:pt x="7418" y="58954"/>
                  </a:lnTo>
                  <a:lnTo>
                    <a:pt x="57967" y="29507"/>
                  </a:lnTo>
                  <a:lnTo>
                    <a:pt x="7453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6614" y="436418"/>
              <a:ext cx="149629" cy="12718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20231" y="450056"/>
              <a:ext cx="0" cy="1158240"/>
            </a:xfrm>
            <a:custGeom>
              <a:avLst/>
              <a:gdLst/>
              <a:ahLst/>
              <a:cxnLst/>
              <a:rect l="l" t="t" r="r" b="b"/>
              <a:pathLst>
                <a:path h="1158240">
                  <a:moveTo>
                    <a:pt x="0" y="0"/>
                  </a:moveTo>
                  <a:lnTo>
                    <a:pt x="0" y="1158179"/>
                  </a:lnTo>
                </a:path>
              </a:pathLst>
            </a:custGeom>
            <a:ln w="6350">
              <a:solidFill>
                <a:srgbClr val="DD5E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0754" y="1562883"/>
              <a:ext cx="59055" cy="58419"/>
            </a:xfrm>
            <a:custGeom>
              <a:avLst/>
              <a:gdLst/>
              <a:ahLst/>
              <a:cxnLst/>
              <a:rect l="l" t="t" r="r" b="b"/>
              <a:pathLst>
                <a:path w="59055" h="58419">
                  <a:moveTo>
                    <a:pt x="7081" y="0"/>
                  </a:moveTo>
                  <a:lnTo>
                    <a:pt x="1023" y="3534"/>
                  </a:lnTo>
                  <a:lnTo>
                    <a:pt x="0" y="7421"/>
                  </a:lnTo>
                  <a:lnTo>
                    <a:pt x="29476" y="57955"/>
                  </a:lnTo>
                  <a:lnTo>
                    <a:pt x="44179" y="32749"/>
                  </a:lnTo>
                  <a:lnTo>
                    <a:pt x="29476" y="32749"/>
                  </a:lnTo>
                  <a:lnTo>
                    <a:pt x="10970" y="1023"/>
                  </a:lnTo>
                  <a:lnTo>
                    <a:pt x="7081" y="0"/>
                  </a:lnTo>
                  <a:close/>
                </a:path>
                <a:path w="59055" h="58419">
                  <a:moveTo>
                    <a:pt x="51871" y="0"/>
                  </a:moveTo>
                  <a:lnTo>
                    <a:pt x="47983" y="1023"/>
                  </a:lnTo>
                  <a:lnTo>
                    <a:pt x="29476" y="32749"/>
                  </a:lnTo>
                  <a:lnTo>
                    <a:pt x="44179" y="32749"/>
                  </a:lnTo>
                  <a:lnTo>
                    <a:pt x="58953" y="7421"/>
                  </a:lnTo>
                  <a:lnTo>
                    <a:pt x="57929" y="3534"/>
                  </a:lnTo>
                  <a:lnTo>
                    <a:pt x="51871" y="0"/>
                  </a:lnTo>
                  <a:close/>
                </a:path>
              </a:pathLst>
            </a:custGeom>
            <a:solidFill>
              <a:srgbClr val="DD5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78" y="2078"/>
              <a:ext cx="4572000" cy="3429000"/>
            </a:xfrm>
            <a:custGeom>
              <a:avLst/>
              <a:gdLst/>
              <a:ahLst/>
              <a:cxnLst/>
              <a:rect l="l" t="t" r="r" b="b"/>
              <a:pathLst>
                <a:path w="4572000" h="3429000">
                  <a:moveTo>
                    <a:pt x="0" y="0"/>
                  </a:moveTo>
                  <a:lnTo>
                    <a:pt x="4571999" y="0"/>
                  </a:lnTo>
                  <a:lnTo>
                    <a:pt x="4571999" y="3428999"/>
                  </a:lnTo>
                  <a:lnTo>
                    <a:pt x="0" y="3428999"/>
                  </a:lnTo>
                  <a:lnTo>
                    <a:pt x="0" y="0"/>
                  </a:lnTo>
                  <a:close/>
                </a:path>
              </a:pathLst>
            </a:custGeom>
            <a:ln w="12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00"/>
            <a:ext cx="9923852" cy="7162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6523" y="495740"/>
            <a:ext cx="6408308" cy="6376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3960" dirty="0"/>
              <a:t>The</a:t>
            </a:r>
            <a:r>
              <a:rPr sz="3960" spc="-88" dirty="0"/>
              <a:t> </a:t>
            </a:r>
            <a:r>
              <a:rPr sz="3960" spc="-22" dirty="0"/>
              <a:t>Inverse</a:t>
            </a:r>
            <a:r>
              <a:rPr sz="3960" spc="-77" dirty="0"/>
              <a:t> </a:t>
            </a:r>
            <a:r>
              <a:rPr sz="3960" spc="-55" dirty="0"/>
              <a:t>DFT</a:t>
            </a:r>
            <a:endParaRPr sz="3960" dirty="0"/>
          </a:p>
        </p:txBody>
      </p:sp>
      <p:sp>
        <p:nvSpPr>
          <p:cNvPr id="4" name="object 4"/>
          <p:cNvSpPr txBox="1"/>
          <p:nvPr/>
        </p:nvSpPr>
        <p:spPr>
          <a:xfrm>
            <a:off x="436522" y="1295400"/>
            <a:ext cx="8936077" cy="1976951"/>
          </a:xfrm>
          <a:prstGeom prst="rect">
            <a:avLst/>
          </a:prstGeom>
        </p:spPr>
        <p:txBody>
          <a:bodyPr vert="horz" wrap="square" lIns="0" tIns="44704" rIns="0" bIns="0" rtlCol="0">
            <a:spAutoFit/>
          </a:bodyPr>
          <a:lstStyle/>
          <a:p>
            <a:pPr marL="27940" marR="11176" indent="-19558">
              <a:lnSpc>
                <a:spcPts val="3410"/>
              </a:lnSpc>
              <a:spcBef>
                <a:spcPts val="352"/>
              </a:spcBef>
              <a:buClr>
                <a:srgbClr val="D34817"/>
              </a:buClr>
              <a:buSzPct val="65384"/>
              <a:buFont typeface="Segoe UI Symbol"/>
              <a:buChar char="⚫"/>
              <a:tabLst>
                <a:tab pos="236091" algn="l"/>
              </a:tabLst>
            </a:pPr>
            <a:r>
              <a:rPr sz="2860" spc="-165" dirty="0">
                <a:latin typeface="Times New Roman"/>
                <a:cs typeface="Times New Roman"/>
              </a:rPr>
              <a:t>	The</a:t>
            </a:r>
            <a:r>
              <a:rPr sz="2860" spc="-33" dirty="0">
                <a:latin typeface="Times New Roman"/>
                <a:cs typeface="Times New Roman"/>
              </a:rPr>
              <a:t> </a:t>
            </a:r>
            <a:r>
              <a:rPr sz="2860" spc="-231" dirty="0">
                <a:latin typeface="Times New Roman"/>
                <a:cs typeface="Times New Roman"/>
              </a:rPr>
              <a:t>key</a:t>
            </a:r>
            <a:r>
              <a:rPr sz="2860" spc="-33" dirty="0">
                <a:latin typeface="Times New Roman"/>
                <a:cs typeface="Times New Roman"/>
              </a:rPr>
              <a:t> </a:t>
            </a:r>
            <a:r>
              <a:rPr sz="2860" spc="-121" dirty="0">
                <a:latin typeface="Times New Roman"/>
                <a:cs typeface="Times New Roman"/>
              </a:rPr>
              <a:t>feature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of</a:t>
            </a:r>
            <a:r>
              <a:rPr sz="2860" spc="-33" dirty="0">
                <a:latin typeface="Times New Roman"/>
                <a:cs typeface="Times New Roman"/>
              </a:rPr>
              <a:t> </a:t>
            </a:r>
            <a:r>
              <a:rPr sz="2860" spc="-242" dirty="0">
                <a:latin typeface="Times New Roman"/>
                <a:cs typeface="Times New Roman"/>
              </a:rPr>
              <a:t>a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32" dirty="0">
                <a:latin typeface="Times New Roman"/>
                <a:cs typeface="Times New Roman"/>
              </a:rPr>
              <a:t>Fourier</a:t>
            </a:r>
            <a:r>
              <a:rPr sz="2860" spc="-396" dirty="0">
                <a:latin typeface="Times New Roman"/>
                <a:cs typeface="Times New Roman"/>
              </a:rPr>
              <a:t> </a:t>
            </a:r>
            <a:r>
              <a:rPr sz="2860" spc="-154" dirty="0">
                <a:latin typeface="Times New Roman"/>
                <a:cs typeface="Times New Roman"/>
              </a:rPr>
              <a:t>Transform</a:t>
            </a:r>
            <a:r>
              <a:rPr sz="2860" spc="-33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is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10" dirty="0">
                <a:latin typeface="Times New Roman"/>
                <a:cs typeface="Times New Roman"/>
              </a:rPr>
              <a:t>that</a:t>
            </a:r>
            <a:r>
              <a:rPr sz="2860" spc="-33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it’s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10" dirty="0">
                <a:latin typeface="Times New Roman"/>
                <a:cs typeface="Times New Roman"/>
              </a:rPr>
              <a:t>completely </a:t>
            </a:r>
            <a:r>
              <a:rPr sz="2860" spc="-22" dirty="0">
                <a:latin typeface="Times New Roman"/>
                <a:cs typeface="Times New Roman"/>
              </a:rPr>
              <a:t>reversible</a:t>
            </a:r>
            <a:endParaRPr sz="2860" dirty="0">
              <a:latin typeface="Times New Roman"/>
              <a:cs typeface="Times New Roman"/>
            </a:endParaRPr>
          </a:p>
          <a:p>
            <a:pPr>
              <a:spcBef>
                <a:spcPts val="1419"/>
              </a:spcBef>
              <a:buClr>
                <a:srgbClr val="D34817"/>
              </a:buClr>
              <a:buFont typeface="Segoe UI Symbol"/>
              <a:buChar char="⚫"/>
            </a:pPr>
            <a:endParaRPr sz="2860" dirty="0">
              <a:latin typeface="Times New Roman"/>
              <a:cs typeface="Times New Roman"/>
            </a:endParaRPr>
          </a:p>
          <a:p>
            <a:pPr marL="236091" indent="-227711">
              <a:buClr>
                <a:srgbClr val="D34817"/>
              </a:buClr>
              <a:buSzPct val="65384"/>
              <a:buFont typeface="Segoe UI Symbol"/>
              <a:buChar char="⚫"/>
              <a:tabLst>
                <a:tab pos="236091" algn="l"/>
              </a:tabLst>
            </a:pPr>
            <a:r>
              <a:rPr sz="2860" spc="-165" dirty="0">
                <a:latin typeface="Times New Roman"/>
                <a:cs typeface="Times New Roman"/>
              </a:rPr>
              <a:t>The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65" dirty="0">
                <a:latin typeface="Times New Roman"/>
                <a:cs typeface="Times New Roman"/>
              </a:rPr>
              <a:t>inverse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220" dirty="0">
                <a:latin typeface="Times New Roman"/>
                <a:cs typeface="Times New Roman"/>
              </a:rPr>
              <a:t>DFT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is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given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55" dirty="0">
                <a:latin typeface="Times New Roman"/>
                <a:cs typeface="Times New Roman"/>
              </a:rPr>
              <a:t>by:</a:t>
            </a:r>
            <a:endParaRPr sz="286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5649" y="5103045"/>
            <a:ext cx="1795145" cy="848692"/>
          </a:xfrm>
          <a:prstGeom prst="rect">
            <a:avLst/>
          </a:prstGeom>
        </p:spPr>
        <p:txBody>
          <a:bodyPr vert="horz" wrap="square" lIns="0" tIns="114552" rIns="0" bIns="0" rtlCol="0">
            <a:spAutoFit/>
          </a:bodyPr>
          <a:lstStyle/>
          <a:p>
            <a:pPr marL="27940">
              <a:spcBef>
                <a:spcPts val="900"/>
              </a:spcBef>
            </a:pPr>
            <a:r>
              <a:rPr sz="2090" i="1" dirty="0">
                <a:latin typeface="Times New Roman"/>
                <a:cs typeface="Times New Roman"/>
              </a:rPr>
              <a:t>x</a:t>
            </a:r>
            <a:r>
              <a:rPr sz="2090" i="1" spc="-44" dirty="0">
                <a:latin typeface="Times New Roman"/>
                <a:cs typeface="Times New Roman"/>
              </a:rPr>
              <a:t> </a:t>
            </a:r>
            <a:r>
              <a:rPr sz="2090" spc="198" dirty="0">
                <a:latin typeface="Times New Roman"/>
                <a:cs typeface="Times New Roman"/>
              </a:rPr>
              <a:t>=</a:t>
            </a:r>
            <a:r>
              <a:rPr sz="2090" spc="-44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0,</a:t>
            </a:r>
            <a:r>
              <a:rPr sz="2090" spc="-143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1,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spc="-55" dirty="0">
                <a:latin typeface="Times New Roman"/>
                <a:cs typeface="Times New Roman"/>
              </a:rPr>
              <a:t>2…M-</a:t>
            </a:r>
            <a:r>
              <a:rPr sz="2090" spc="-110" dirty="0">
                <a:latin typeface="Times New Roman"/>
                <a:cs typeface="Times New Roman"/>
              </a:rPr>
              <a:t>1</a:t>
            </a:r>
            <a:endParaRPr sz="2090" dirty="0">
              <a:latin typeface="Times New Roman"/>
              <a:cs typeface="Times New Roman"/>
            </a:endParaRPr>
          </a:p>
          <a:p>
            <a:pPr marL="27940">
              <a:spcBef>
                <a:spcPts val="682"/>
              </a:spcBef>
            </a:pPr>
            <a:r>
              <a:rPr sz="2090" i="1" dirty="0">
                <a:latin typeface="Times New Roman"/>
                <a:cs typeface="Times New Roman"/>
              </a:rPr>
              <a:t>y</a:t>
            </a:r>
            <a:r>
              <a:rPr sz="2090" i="1" spc="-44" dirty="0">
                <a:latin typeface="Times New Roman"/>
                <a:cs typeface="Times New Roman"/>
              </a:rPr>
              <a:t> </a:t>
            </a:r>
            <a:r>
              <a:rPr sz="2090" spc="198" dirty="0">
                <a:latin typeface="Times New Roman"/>
                <a:cs typeface="Times New Roman"/>
              </a:rPr>
              <a:t>=</a:t>
            </a:r>
            <a:r>
              <a:rPr sz="2090" spc="-44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0,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dirty="0">
                <a:latin typeface="Times New Roman"/>
                <a:cs typeface="Times New Roman"/>
              </a:rPr>
              <a:t>1,</a:t>
            </a:r>
            <a:r>
              <a:rPr sz="2090" spc="-132" dirty="0">
                <a:latin typeface="Times New Roman"/>
                <a:cs typeface="Times New Roman"/>
              </a:rPr>
              <a:t> </a:t>
            </a:r>
            <a:r>
              <a:rPr sz="2090" spc="-55" dirty="0">
                <a:latin typeface="Times New Roman"/>
                <a:cs typeface="Times New Roman"/>
              </a:rPr>
              <a:t>2…N-</a:t>
            </a:r>
            <a:r>
              <a:rPr sz="2090" spc="-110" dirty="0">
                <a:latin typeface="Times New Roman"/>
                <a:cs typeface="Times New Roman"/>
              </a:rPr>
              <a:t>1</a:t>
            </a:r>
            <a:endParaRPr sz="209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" y="118872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4572000" h="3429000">
                <a:moveTo>
                  <a:pt x="0" y="0"/>
                </a:moveTo>
                <a:lnTo>
                  <a:pt x="4571999" y="0"/>
                </a:lnTo>
                <a:lnTo>
                  <a:pt x="4571999" y="3428999"/>
                </a:lnTo>
                <a:lnTo>
                  <a:pt x="0" y="3428999"/>
                </a:lnTo>
                <a:lnTo>
                  <a:pt x="0" y="0"/>
                </a:lnTo>
                <a:close/>
              </a:path>
            </a:pathLst>
          </a:custGeom>
          <a:ln w="12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2227" y="360668"/>
            <a:ext cx="3442208" cy="6376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3960" dirty="0">
                <a:solidFill>
                  <a:srgbClr val="696464"/>
                </a:solidFill>
                <a:latin typeface="Franklin Gothic Medium"/>
                <a:cs typeface="Franklin Gothic Medium"/>
              </a:rPr>
              <a:t>The</a:t>
            </a:r>
            <a:r>
              <a:rPr sz="3960" spc="-88" dirty="0">
                <a:solidFill>
                  <a:srgbClr val="696464"/>
                </a:solidFill>
                <a:latin typeface="Franklin Gothic Medium"/>
                <a:cs typeface="Franklin Gothic Medium"/>
              </a:rPr>
              <a:t> </a:t>
            </a:r>
            <a:r>
              <a:rPr sz="3960" spc="-22" dirty="0">
                <a:solidFill>
                  <a:srgbClr val="696464"/>
                </a:solidFill>
                <a:latin typeface="Franklin Gothic Medium"/>
                <a:cs typeface="Franklin Gothic Medium"/>
              </a:rPr>
              <a:t>Inverse</a:t>
            </a:r>
            <a:r>
              <a:rPr sz="3960" spc="-77" dirty="0">
                <a:solidFill>
                  <a:srgbClr val="696464"/>
                </a:solidFill>
                <a:latin typeface="Franklin Gothic Medium"/>
                <a:cs typeface="Franklin Gothic Medium"/>
              </a:rPr>
              <a:t> </a:t>
            </a:r>
            <a:r>
              <a:rPr sz="3960" spc="-55" dirty="0">
                <a:solidFill>
                  <a:srgbClr val="696464"/>
                </a:solidFill>
                <a:latin typeface="Franklin Gothic Medium"/>
                <a:cs typeface="Franklin Gothic Medium"/>
              </a:rPr>
              <a:t>DFT</a:t>
            </a:r>
            <a:endParaRPr sz="3960" dirty="0">
              <a:latin typeface="Franklin Gothic Medium"/>
              <a:cs typeface="Franklin Gothic Mediu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400" y="360668"/>
            <a:ext cx="9829800" cy="7411732"/>
            <a:chOff x="-4156" y="-4156"/>
            <a:chExt cx="4584700" cy="3441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4" y="930245"/>
              <a:ext cx="2740211" cy="4693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4710" y="2048420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4" h="41910">
                  <a:moveTo>
                    <a:pt x="95478" y="27381"/>
                  </a:moveTo>
                  <a:lnTo>
                    <a:pt x="0" y="27381"/>
                  </a:lnTo>
                  <a:lnTo>
                    <a:pt x="0" y="41338"/>
                  </a:lnTo>
                  <a:lnTo>
                    <a:pt x="95478" y="41338"/>
                  </a:lnTo>
                  <a:lnTo>
                    <a:pt x="95478" y="27381"/>
                  </a:lnTo>
                  <a:close/>
                </a:path>
                <a:path w="95884" h="41910">
                  <a:moveTo>
                    <a:pt x="95478" y="0"/>
                  </a:moveTo>
                  <a:lnTo>
                    <a:pt x="0" y="0"/>
                  </a:lnTo>
                  <a:lnTo>
                    <a:pt x="0" y="13957"/>
                  </a:lnTo>
                  <a:lnTo>
                    <a:pt x="95478" y="13957"/>
                  </a:lnTo>
                  <a:lnTo>
                    <a:pt x="954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728" y="1826652"/>
              <a:ext cx="2524085" cy="489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3956" y="1974862"/>
              <a:ext cx="427355" cy="187325"/>
            </a:xfrm>
            <a:custGeom>
              <a:avLst/>
              <a:gdLst/>
              <a:ahLst/>
              <a:cxnLst/>
              <a:rect l="l" t="t" r="r" b="b"/>
              <a:pathLst>
                <a:path w="427355" h="187325">
                  <a:moveTo>
                    <a:pt x="55778" y="0"/>
                  </a:moveTo>
                  <a:lnTo>
                    <a:pt x="23774" y="24790"/>
                  </a:lnTo>
                  <a:lnTo>
                    <a:pt x="3860" y="63754"/>
                  </a:lnTo>
                  <a:lnTo>
                    <a:pt x="0" y="93522"/>
                  </a:lnTo>
                  <a:lnTo>
                    <a:pt x="482" y="104076"/>
                  </a:lnTo>
                  <a:lnTo>
                    <a:pt x="12230" y="144183"/>
                  </a:lnTo>
                  <a:lnTo>
                    <a:pt x="41783" y="178562"/>
                  </a:lnTo>
                  <a:lnTo>
                    <a:pt x="55778" y="186855"/>
                  </a:lnTo>
                  <a:lnTo>
                    <a:pt x="55778" y="183095"/>
                  </a:lnTo>
                  <a:lnTo>
                    <a:pt x="48933" y="178396"/>
                  </a:lnTo>
                  <a:lnTo>
                    <a:pt x="43395" y="173456"/>
                  </a:lnTo>
                  <a:lnTo>
                    <a:pt x="24422" y="139090"/>
                  </a:lnTo>
                  <a:lnTo>
                    <a:pt x="19507" y="101180"/>
                  </a:lnTo>
                  <a:lnTo>
                    <a:pt x="19304" y="90652"/>
                  </a:lnTo>
                  <a:lnTo>
                    <a:pt x="19545" y="80835"/>
                  </a:lnTo>
                  <a:lnTo>
                    <a:pt x="28244" y="35953"/>
                  </a:lnTo>
                  <a:lnTo>
                    <a:pt x="55778" y="3746"/>
                  </a:lnTo>
                  <a:lnTo>
                    <a:pt x="55778" y="0"/>
                  </a:lnTo>
                  <a:close/>
                </a:path>
                <a:path w="427355" h="187325">
                  <a:moveTo>
                    <a:pt x="211315" y="137502"/>
                  </a:moveTo>
                  <a:lnTo>
                    <a:pt x="209562" y="132461"/>
                  </a:lnTo>
                  <a:lnTo>
                    <a:pt x="202514" y="124853"/>
                  </a:lnTo>
                  <a:lnTo>
                    <a:pt x="198488" y="122948"/>
                  </a:lnTo>
                  <a:lnTo>
                    <a:pt x="190284" y="122948"/>
                  </a:lnTo>
                  <a:lnTo>
                    <a:pt x="187159" y="124104"/>
                  </a:lnTo>
                  <a:lnTo>
                    <a:pt x="182029" y="128727"/>
                  </a:lnTo>
                  <a:lnTo>
                    <a:pt x="180746" y="131495"/>
                  </a:lnTo>
                  <a:lnTo>
                    <a:pt x="180746" y="138087"/>
                  </a:lnTo>
                  <a:lnTo>
                    <a:pt x="181749" y="140728"/>
                  </a:lnTo>
                  <a:lnTo>
                    <a:pt x="185788" y="144551"/>
                  </a:lnTo>
                  <a:lnTo>
                    <a:pt x="188493" y="145503"/>
                  </a:lnTo>
                  <a:lnTo>
                    <a:pt x="193294" y="145503"/>
                  </a:lnTo>
                  <a:lnTo>
                    <a:pt x="194614" y="145211"/>
                  </a:lnTo>
                  <a:lnTo>
                    <a:pt x="198437" y="143306"/>
                  </a:lnTo>
                  <a:lnTo>
                    <a:pt x="200101" y="142646"/>
                  </a:lnTo>
                  <a:lnTo>
                    <a:pt x="201358" y="142646"/>
                  </a:lnTo>
                  <a:lnTo>
                    <a:pt x="201841" y="142951"/>
                  </a:lnTo>
                  <a:lnTo>
                    <a:pt x="202958" y="144399"/>
                  </a:lnTo>
                  <a:lnTo>
                    <a:pt x="203276" y="145465"/>
                  </a:lnTo>
                  <a:lnTo>
                    <a:pt x="203276" y="152031"/>
                  </a:lnTo>
                  <a:lnTo>
                    <a:pt x="201307" y="157048"/>
                  </a:lnTo>
                  <a:lnTo>
                    <a:pt x="193459" y="166522"/>
                  </a:lnTo>
                  <a:lnTo>
                    <a:pt x="187909" y="170027"/>
                  </a:lnTo>
                  <a:lnTo>
                    <a:pt x="180746" y="172275"/>
                  </a:lnTo>
                  <a:lnTo>
                    <a:pt x="180746" y="176644"/>
                  </a:lnTo>
                  <a:lnTo>
                    <a:pt x="211315" y="150609"/>
                  </a:lnTo>
                  <a:lnTo>
                    <a:pt x="211315" y="137502"/>
                  </a:lnTo>
                  <a:close/>
                </a:path>
                <a:path w="427355" h="187325">
                  <a:moveTo>
                    <a:pt x="426935" y="93319"/>
                  </a:moveTo>
                  <a:lnTo>
                    <a:pt x="419049" y="52184"/>
                  </a:lnTo>
                  <a:lnTo>
                    <a:pt x="396722" y="17767"/>
                  </a:lnTo>
                  <a:lnTo>
                    <a:pt x="371157" y="0"/>
                  </a:lnTo>
                  <a:lnTo>
                    <a:pt x="371157" y="3746"/>
                  </a:lnTo>
                  <a:lnTo>
                    <a:pt x="378066" y="8445"/>
                  </a:lnTo>
                  <a:lnTo>
                    <a:pt x="383616" y="13385"/>
                  </a:lnTo>
                  <a:lnTo>
                    <a:pt x="402577" y="47650"/>
                  </a:lnTo>
                  <a:lnTo>
                    <a:pt x="407416" y="85598"/>
                  </a:lnTo>
                  <a:lnTo>
                    <a:pt x="407619" y="96088"/>
                  </a:lnTo>
                  <a:lnTo>
                    <a:pt x="407377" y="105918"/>
                  </a:lnTo>
                  <a:lnTo>
                    <a:pt x="398767" y="150863"/>
                  </a:lnTo>
                  <a:lnTo>
                    <a:pt x="371157" y="183095"/>
                  </a:lnTo>
                  <a:lnTo>
                    <a:pt x="371157" y="186855"/>
                  </a:lnTo>
                  <a:lnTo>
                    <a:pt x="403212" y="162052"/>
                  </a:lnTo>
                  <a:lnTo>
                    <a:pt x="423075" y="123101"/>
                  </a:lnTo>
                  <a:lnTo>
                    <a:pt x="425970" y="108546"/>
                  </a:lnTo>
                  <a:lnTo>
                    <a:pt x="426935" y="93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362" y="2026398"/>
              <a:ext cx="107807" cy="135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219" y="2026398"/>
              <a:ext cx="96008" cy="934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51" y="1974313"/>
              <a:ext cx="133015" cy="1879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0410" y="52206"/>
              <a:ext cx="1131589" cy="337679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78" y="2078"/>
              <a:ext cx="4572000" cy="3429000"/>
            </a:xfrm>
            <a:custGeom>
              <a:avLst/>
              <a:gdLst/>
              <a:ahLst/>
              <a:cxnLst/>
              <a:rect l="l" t="t" r="r" b="b"/>
              <a:pathLst>
                <a:path w="4572000" h="3429000">
                  <a:moveTo>
                    <a:pt x="0" y="0"/>
                  </a:moveTo>
                  <a:lnTo>
                    <a:pt x="4571999" y="0"/>
                  </a:lnTo>
                  <a:lnTo>
                    <a:pt x="4571999" y="3428999"/>
                  </a:lnTo>
                  <a:lnTo>
                    <a:pt x="0" y="3428999"/>
                  </a:lnTo>
                  <a:lnTo>
                    <a:pt x="0" y="0"/>
                  </a:lnTo>
                  <a:close/>
                </a:path>
              </a:pathLst>
            </a:custGeom>
            <a:ln w="12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94" rIns="0" bIns="0" rtlCol="0">
            <a:spAutoFit/>
          </a:bodyPr>
          <a:lstStyle/>
          <a:p>
            <a:pPr marL="1717039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 </a:t>
            </a:r>
            <a:r>
              <a:rPr spc="-10" dirty="0"/>
              <a:t>Bands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7854" y="2333498"/>
            <a:ext cx="8461654" cy="3042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275" marR="673100" indent="-156210">
              <a:lnSpc>
                <a:spcPct val="101499"/>
              </a:lnSpc>
              <a:spcBef>
                <a:spcPts val="95"/>
              </a:spcBef>
              <a:buChar char="•"/>
              <a:tabLst>
                <a:tab pos="169545" algn="l"/>
              </a:tabLst>
            </a:pPr>
            <a:r>
              <a:rPr sz="1950" b="1" dirty="0">
                <a:latin typeface="Arial MT"/>
                <a:cs typeface="Arial MT"/>
              </a:rPr>
              <a:t>Low</a:t>
            </a:r>
            <a:r>
              <a:rPr sz="1950" b="1" spc="80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frequencies</a:t>
            </a:r>
            <a:r>
              <a:rPr sz="1950" dirty="0">
                <a:latin typeface="Arial MT"/>
                <a:cs typeface="Arial MT"/>
              </a:rPr>
              <a:t>: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general</a:t>
            </a:r>
            <a:r>
              <a:rPr sz="1950" spc="8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graylevel</a:t>
            </a:r>
            <a:r>
              <a:rPr sz="1950" spc="8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appearance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over</a:t>
            </a:r>
            <a:r>
              <a:rPr sz="1950" spc="8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smooth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areas: 	</a:t>
            </a:r>
            <a:r>
              <a:rPr sz="1950" dirty="0">
                <a:latin typeface="Arial MT"/>
                <a:cs typeface="Arial MT"/>
              </a:rPr>
              <a:t>slowly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varying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grayscales.</a:t>
            </a:r>
            <a:endParaRPr sz="1950" dirty="0">
              <a:latin typeface="Arial MT"/>
              <a:cs typeface="Arial MT"/>
            </a:endParaRPr>
          </a:p>
          <a:p>
            <a:pPr marL="168910" indent="-156210">
              <a:lnSpc>
                <a:spcPct val="100000"/>
              </a:lnSpc>
              <a:spcBef>
                <a:spcPts val="509"/>
              </a:spcBef>
              <a:buChar char="•"/>
              <a:tabLst>
                <a:tab pos="168910" algn="l"/>
              </a:tabLst>
            </a:pPr>
            <a:r>
              <a:rPr sz="1950" b="1" dirty="0">
                <a:latin typeface="Arial MT"/>
                <a:cs typeface="Arial MT"/>
              </a:rPr>
              <a:t>High</a:t>
            </a:r>
            <a:r>
              <a:rPr sz="1950" b="1" spc="60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frequencies</a:t>
            </a:r>
            <a:r>
              <a:rPr sz="1950" dirty="0">
                <a:latin typeface="Arial MT"/>
                <a:cs typeface="Arial MT"/>
              </a:rPr>
              <a:t>: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responsible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for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detail,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such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as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edges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noise.</a:t>
            </a:r>
            <a:endParaRPr sz="1950" dirty="0">
              <a:latin typeface="Arial MT"/>
              <a:cs typeface="Arial MT"/>
            </a:endParaRPr>
          </a:p>
          <a:p>
            <a:pPr marL="169545" marR="186690" indent="-157480">
              <a:lnSpc>
                <a:spcPct val="101499"/>
              </a:lnSpc>
              <a:spcBef>
                <a:spcPts val="475"/>
              </a:spcBef>
              <a:buChar char="•"/>
              <a:tabLst>
                <a:tab pos="169545" algn="l"/>
                <a:tab pos="238760" algn="l"/>
              </a:tabLst>
            </a:pPr>
            <a:r>
              <a:rPr sz="1950" dirty="0">
                <a:latin typeface="Arial MT"/>
                <a:cs typeface="Arial MT"/>
              </a:rPr>
              <a:t>	A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filter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that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attenuates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high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frequencies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while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“passing”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low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frequencies </a:t>
            </a:r>
            <a:r>
              <a:rPr sz="1950" dirty="0">
                <a:latin typeface="Arial MT"/>
                <a:cs typeface="Arial MT"/>
              </a:rPr>
              <a:t>is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b="1" i="1" dirty="0">
                <a:latin typeface="Arial"/>
                <a:cs typeface="Arial"/>
              </a:rPr>
              <a:t>lowpass</a:t>
            </a:r>
            <a:r>
              <a:rPr sz="1950" b="1" i="1" spc="50" dirty="0">
                <a:latin typeface="Arial"/>
                <a:cs typeface="Arial"/>
              </a:rPr>
              <a:t> </a:t>
            </a:r>
            <a:r>
              <a:rPr sz="1950" b="1" i="1" spc="-10" dirty="0">
                <a:latin typeface="Arial"/>
                <a:cs typeface="Arial"/>
              </a:rPr>
              <a:t>filter</a:t>
            </a:r>
            <a:r>
              <a:rPr sz="1950" spc="-10" dirty="0">
                <a:latin typeface="Arial MT"/>
                <a:cs typeface="Arial MT"/>
              </a:rPr>
              <a:t>.</a:t>
            </a:r>
            <a:endParaRPr sz="1950" dirty="0">
              <a:latin typeface="Arial MT"/>
              <a:cs typeface="Arial MT"/>
            </a:endParaRPr>
          </a:p>
          <a:p>
            <a:pPr marL="168275" marR="5080" indent="-156210">
              <a:lnSpc>
                <a:spcPct val="101499"/>
              </a:lnSpc>
              <a:spcBef>
                <a:spcPts val="480"/>
              </a:spcBef>
              <a:buChar char="•"/>
              <a:tabLst>
                <a:tab pos="169545" algn="l"/>
              </a:tabLst>
            </a:pPr>
            <a:r>
              <a:rPr sz="1950" dirty="0">
                <a:latin typeface="Arial MT"/>
                <a:cs typeface="Arial MT"/>
              </a:rPr>
              <a:t>A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filter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that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attenuates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low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frequencies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while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“passing”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high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frequencies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is 	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b="1" i="1" dirty="0">
                <a:latin typeface="Arial"/>
                <a:cs typeface="Arial"/>
              </a:rPr>
              <a:t>highpass</a:t>
            </a:r>
            <a:r>
              <a:rPr sz="1950" b="1" i="1" spc="55" dirty="0">
                <a:latin typeface="Arial"/>
                <a:cs typeface="Arial"/>
              </a:rPr>
              <a:t> </a:t>
            </a:r>
            <a:r>
              <a:rPr sz="1950" b="1" i="1" spc="-10" dirty="0">
                <a:latin typeface="Arial"/>
                <a:cs typeface="Arial"/>
              </a:rPr>
              <a:t>filter</a:t>
            </a:r>
            <a:r>
              <a:rPr sz="1950" spc="-10" dirty="0">
                <a:latin typeface="Arial MT"/>
                <a:cs typeface="Arial MT"/>
              </a:rPr>
              <a:t>.</a:t>
            </a:r>
            <a:endParaRPr sz="1950" dirty="0">
              <a:latin typeface="Arial MT"/>
              <a:cs typeface="Arial MT"/>
            </a:endParaRPr>
          </a:p>
          <a:p>
            <a:pPr marL="168910" indent="-156210">
              <a:lnSpc>
                <a:spcPct val="100000"/>
              </a:lnSpc>
              <a:spcBef>
                <a:spcPts val="509"/>
              </a:spcBef>
              <a:buChar char="•"/>
              <a:tabLst>
                <a:tab pos="168910" algn="l"/>
              </a:tabLst>
            </a:pPr>
            <a:r>
              <a:rPr sz="1950" dirty="0">
                <a:latin typeface="Arial MT"/>
                <a:cs typeface="Arial MT"/>
              </a:rPr>
              <a:t>Lowpass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filters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blur</a:t>
            </a:r>
            <a:r>
              <a:rPr sz="1950" b="1" spc="60" dirty="0">
                <a:latin typeface="Arial MT"/>
                <a:cs typeface="Arial MT"/>
              </a:rPr>
              <a:t> </a:t>
            </a:r>
            <a:r>
              <a:rPr sz="1950" b="1" spc="-10" dirty="0">
                <a:latin typeface="Arial MT"/>
                <a:cs typeface="Arial MT"/>
              </a:rPr>
              <a:t>images</a:t>
            </a:r>
            <a:r>
              <a:rPr sz="1950" spc="-10" dirty="0">
                <a:latin typeface="Arial MT"/>
                <a:cs typeface="Arial MT"/>
              </a:rPr>
              <a:t>.</a:t>
            </a:r>
            <a:endParaRPr sz="1950" dirty="0">
              <a:latin typeface="Arial MT"/>
              <a:cs typeface="Arial MT"/>
            </a:endParaRPr>
          </a:p>
          <a:p>
            <a:pPr marL="168910" indent="-156210">
              <a:lnSpc>
                <a:spcPct val="100000"/>
              </a:lnSpc>
              <a:spcBef>
                <a:spcPts val="509"/>
              </a:spcBef>
              <a:buChar char="•"/>
              <a:tabLst>
                <a:tab pos="168910" algn="l"/>
              </a:tabLst>
            </a:pPr>
            <a:r>
              <a:rPr sz="1950" dirty="0">
                <a:latin typeface="Arial MT"/>
                <a:cs typeface="Arial MT"/>
              </a:rPr>
              <a:t>Highpass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filters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highlight</a:t>
            </a:r>
            <a:r>
              <a:rPr sz="1950" b="1" spc="80" dirty="0">
                <a:latin typeface="Arial MT"/>
                <a:cs typeface="Arial MT"/>
              </a:rPr>
              <a:t> </a:t>
            </a:r>
            <a:r>
              <a:rPr sz="1950" b="1" spc="-10" dirty="0">
                <a:latin typeface="Arial MT"/>
                <a:cs typeface="Arial MT"/>
              </a:rPr>
              <a:t>edges</a:t>
            </a:r>
            <a:r>
              <a:rPr sz="1950" spc="-10" dirty="0">
                <a:latin typeface="Arial MT"/>
                <a:cs typeface="Arial MT"/>
              </a:rPr>
              <a:t>.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795" rIns="0" bIns="0" rtlCol="0">
            <a:spAutoFit/>
          </a:bodyPr>
          <a:lstStyle/>
          <a:p>
            <a:pPr marL="745490">
              <a:lnSpc>
                <a:spcPct val="100000"/>
              </a:lnSpc>
              <a:spcBef>
                <a:spcPts val="120"/>
              </a:spcBef>
            </a:pPr>
            <a:r>
              <a:rPr sz="2950" dirty="0"/>
              <a:t>Lowpass</a:t>
            </a:r>
            <a:r>
              <a:rPr sz="2950" spc="-20" dirty="0"/>
              <a:t> </a:t>
            </a:r>
            <a:r>
              <a:rPr sz="2950" dirty="0"/>
              <a:t>and</a:t>
            </a:r>
            <a:r>
              <a:rPr sz="2950" spc="-15" dirty="0"/>
              <a:t> </a:t>
            </a:r>
            <a:r>
              <a:rPr sz="2950" dirty="0"/>
              <a:t>Highpass</a:t>
            </a:r>
            <a:r>
              <a:rPr sz="2950" spc="-15" dirty="0"/>
              <a:t> </a:t>
            </a:r>
            <a:r>
              <a:rPr sz="2950" spc="-10" dirty="0"/>
              <a:t>Filters</a:t>
            </a:r>
            <a:endParaRPr sz="2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1683" y="2374670"/>
            <a:ext cx="4188392" cy="39436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9960" y="3148837"/>
            <a:ext cx="155067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Tahoma"/>
                <a:cs typeface="Tahoma"/>
              </a:rPr>
              <a:t>Lowpass</a:t>
            </a:r>
            <a:r>
              <a:rPr sz="1950" spc="70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filter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162048" y="4217920"/>
            <a:ext cx="160845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latin typeface="Tahoma"/>
                <a:cs typeface="Tahoma"/>
              </a:rPr>
              <a:t>Highpass</a:t>
            </a:r>
            <a:r>
              <a:rPr sz="1950" spc="70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filter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84037"/>
            <a:ext cx="6784645" cy="6376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3960" dirty="0"/>
              <a:t>1.</a:t>
            </a:r>
            <a:r>
              <a:rPr sz="3960" spc="22" dirty="0"/>
              <a:t> </a:t>
            </a:r>
            <a:r>
              <a:rPr sz="3960" spc="-88" dirty="0"/>
              <a:t>Low-</a:t>
            </a:r>
            <a:r>
              <a:rPr sz="3960" dirty="0"/>
              <a:t>pass</a:t>
            </a:r>
            <a:r>
              <a:rPr sz="3960" spc="22" dirty="0"/>
              <a:t> </a:t>
            </a:r>
            <a:r>
              <a:rPr sz="3960" spc="-22" dirty="0"/>
              <a:t>Filters</a:t>
            </a:r>
            <a:endParaRPr sz="396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2400" y="1267669"/>
            <a:ext cx="9375644" cy="1971758"/>
          </a:xfrm>
          <a:prstGeom prst="rect">
            <a:avLst/>
          </a:prstGeom>
        </p:spPr>
        <p:txBody>
          <a:bodyPr vert="horz" wrap="square" lIns="0" tIns="108966" rIns="0" bIns="0" rtlCol="0">
            <a:spAutoFit/>
          </a:bodyPr>
          <a:lstStyle/>
          <a:p>
            <a:pPr marL="328295" marR="813054" indent="-301752">
              <a:lnSpc>
                <a:spcPct val="79900"/>
              </a:lnSpc>
              <a:spcBef>
                <a:spcPts val="858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333883" algn="l"/>
              </a:tabLst>
            </a:pPr>
            <a:r>
              <a:rPr sz="2400" spc="-132" dirty="0">
                <a:latin typeface="+mj-lt"/>
              </a:rPr>
              <a:t>Attenuates</a:t>
            </a:r>
            <a:r>
              <a:rPr sz="2400" spc="22" dirty="0">
                <a:latin typeface="+mj-lt"/>
              </a:rPr>
              <a:t> </a:t>
            </a:r>
            <a:r>
              <a:rPr sz="2400" spc="-198" dirty="0">
                <a:latin typeface="+mj-lt"/>
              </a:rPr>
              <a:t>high</a:t>
            </a:r>
            <a:r>
              <a:rPr sz="2400" spc="33" dirty="0">
                <a:latin typeface="+mj-lt"/>
              </a:rPr>
              <a:t> </a:t>
            </a:r>
            <a:r>
              <a:rPr sz="2400" spc="-143" dirty="0">
                <a:latin typeface="+mj-lt"/>
              </a:rPr>
              <a:t>frequencies</a:t>
            </a:r>
            <a:r>
              <a:rPr sz="2400" spc="22" dirty="0">
                <a:latin typeface="+mj-lt"/>
              </a:rPr>
              <a:t> </a:t>
            </a:r>
            <a:r>
              <a:rPr sz="2400" spc="-176" dirty="0">
                <a:latin typeface="+mj-lt"/>
              </a:rPr>
              <a:t>and</a:t>
            </a:r>
            <a:r>
              <a:rPr sz="2400" spc="33" dirty="0">
                <a:latin typeface="+mj-lt"/>
              </a:rPr>
              <a:t> </a:t>
            </a:r>
            <a:r>
              <a:rPr sz="2400" spc="-132" dirty="0">
                <a:latin typeface="+mj-lt"/>
              </a:rPr>
              <a:t>retains</a:t>
            </a:r>
            <a:r>
              <a:rPr sz="2400" spc="33" dirty="0">
                <a:latin typeface="+mj-lt"/>
              </a:rPr>
              <a:t> </a:t>
            </a:r>
            <a:r>
              <a:rPr sz="2400" spc="-176" dirty="0">
                <a:latin typeface="+mj-lt"/>
              </a:rPr>
              <a:t>low</a:t>
            </a:r>
            <a:r>
              <a:rPr sz="2400" spc="22" dirty="0">
                <a:latin typeface="+mj-lt"/>
              </a:rPr>
              <a:t> </a:t>
            </a:r>
            <a:r>
              <a:rPr sz="2400" spc="-121" dirty="0">
                <a:latin typeface="+mj-lt"/>
              </a:rPr>
              <a:t>frequencies </a:t>
            </a:r>
            <a:r>
              <a:rPr sz="2400" spc="-22" dirty="0">
                <a:latin typeface="+mj-lt"/>
              </a:rPr>
              <a:t>unchanged.</a:t>
            </a:r>
          </a:p>
          <a:p>
            <a:pPr marL="831215" lvl="1" indent="-301752">
              <a:spcBef>
                <a:spcPts val="22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831215" algn="l"/>
              </a:tabLst>
            </a:pPr>
            <a:r>
              <a:rPr sz="2400" spc="-198" dirty="0">
                <a:latin typeface="+mj-lt"/>
                <a:cs typeface="Times New Roman"/>
              </a:rPr>
              <a:t>high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43" dirty="0">
                <a:latin typeface="+mj-lt"/>
                <a:cs typeface="Times New Roman"/>
              </a:rPr>
              <a:t>frequencies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10" dirty="0">
                <a:latin typeface="+mj-lt"/>
                <a:cs typeface="Times New Roman"/>
              </a:rPr>
              <a:t>correspond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to </a:t>
            </a:r>
            <a:r>
              <a:rPr sz="2400" spc="-154" dirty="0">
                <a:latin typeface="+mj-lt"/>
                <a:cs typeface="Times New Roman"/>
              </a:rPr>
              <a:t>sharp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21" dirty="0">
                <a:latin typeface="+mj-lt"/>
                <a:cs typeface="Times New Roman"/>
              </a:rPr>
              <a:t>intensity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22" dirty="0">
                <a:latin typeface="+mj-lt"/>
                <a:cs typeface="Times New Roman"/>
              </a:rPr>
              <a:t>changes</a:t>
            </a:r>
            <a:endParaRPr sz="2400" dirty="0">
              <a:latin typeface="+mj-lt"/>
              <a:cs typeface="Times New Roman"/>
            </a:endParaRPr>
          </a:p>
          <a:p>
            <a:pPr lvl="1">
              <a:spcBef>
                <a:spcPts val="803"/>
              </a:spcBef>
              <a:buClr>
                <a:srgbClr val="D34817"/>
              </a:buClr>
              <a:buFont typeface="Segoe UI Symbol"/>
              <a:buChar char="⚫"/>
            </a:pPr>
            <a:endParaRPr sz="2640" dirty="0">
              <a:latin typeface="Times New Roman"/>
              <a:cs typeface="Times New Roman"/>
            </a:endParaRPr>
          </a:p>
          <a:p>
            <a:pPr marL="328295" marR="751586" indent="-301752">
              <a:lnSpc>
                <a:spcPct val="799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333883" algn="l"/>
              </a:tabLst>
            </a:pPr>
            <a:r>
              <a:rPr sz="2400" spc="-154" dirty="0">
                <a:latin typeface="+mj-lt"/>
              </a:rPr>
              <a:t>The</a:t>
            </a:r>
            <a:r>
              <a:rPr sz="2400" spc="-33" dirty="0">
                <a:latin typeface="+mj-lt"/>
              </a:rPr>
              <a:t> </a:t>
            </a:r>
            <a:r>
              <a:rPr sz="2400" spc="-110" dirty="0">
                <a:latin typeface="+mj-lt"/>
              </a:rPr>
              <a:t>result</a:t>
            </a:r>
            <a:r>
              <a:rPr sz="2400" spc="-22" dirty="0">
                <a:latin typeface="+mj-lt"/>
              </a:rPr>
              <a:t> </a:t>
            </a:r>
            <a:r>
              <a:rPr sz="2400" spc="-143" dirty="0">
                <a:latin typeface="+mj-lt"/>
              </a:rPr>
              <a:t>in</a:t>
            </a:r>
            <a:r>
              <a:rPr sz="2400" spc="-33" dirty="0">
                <a:latin typeface="+mj-lt"/>
              </a:rPr>
              <a:t> </a:t>
            </a:r>
            <a:r>
              <a:rPr sz="2400" spc="-88" dirty="0">
                <a:latin typeface="+mj-lt"/>
              </a:rPr>
              <a:t>the</a:t>
            </a:r>
            <a:r>
              <a:rPr sz="2400" spc="-22" dirty="0">
                <a:latin typeface="+mj-lt"/>
              </a:rPr>
              <a:t> </a:t>
            </a:r>
            <a:r>
              <a:rPr sz="2400" spc="-154" dirty="0">
                <a:latin typeface="+mj-lt"/>
              </a:rPr>
              <a:t>spatial</a:t>
            </a:r>
            <a:r>
              <a:rPr sz="2400" spc="-33" dirty="0">
                <a:latin typeface="+mj-lt"/>
              </a:rPr>
              <a:t> </a:t>
            </a:r>
            <a:r>
              <a:rPr sz="2400" spc="-176" dirty="0">
                <a:latin typeface="+mj-lt"/>
              </a:rPr>
              <a:t>domain</a:t>
            </a:r>
            <a:r>
              <a:rPr sz="2400" spc="-22" dirty="0">
                <a:latin typeface="+mj-lt"/>
              </a:rPr>
              <a:t> </a:t>
            </a:r>
            <a:r>
              <a:rPr sz="2400" spc="-187" dirty="0">
                <a:latin typeface="+mj-lt"/>
              </a:rPr>
              <a:t>is</a:t>
            </a:r>
            <a:r>
              <a:rPr sz="2400" spc="-33" dirty="0">
                <a:latin typeface="+mj-lt"/>
              </a:rPr>
              <a:t> </a:t>
            </a:r>
            <a:r>
              <a:rPr sz="2400" spc="-143" dirty="0">
                <a:latin typeface="+mj-lt"/>
              </a:rPr>
              <a:t>equivalent</a:t>
            </a:r>
            <a:r>
              <a:rPr sz="2400" spc="-22" dirty="0">
                <a:latin typeface="+mj-lt"/>
              </a:rPr>
              <a:t> </a:t>
            </a:r>
            <a:r>
              <a:rPr sz="2400" dirty="0">
                <a:latin typeface="+mj-lt"/>
              </a:rPr>
              <a:t>to</a:t>
            </a:r>
            <a:r>
              <a:rPr sz="2400" spc="-33" dirty="0">
                <a:latin typeface="+mj-lt"/>
              </a:rPr>
              <a:t> </a:t>
            </a:r>
            <a:r>
              <a:rPr sz="2400" spc="-110" dirty="0">
                <a:latin typeface="+mj-lt"/>
              </a:rPr>
              <a:t>that</a:t>
            </a:r>
            <a:r>
              <a:rPr sz="2400" spc="-22" dirty="0">
                <a:latin typeface="+mj-lt"/>
              </a:rPr>
              <a:t> </a:t>
            </a:r>
            <a:r>
              <a:rPr sz="2400" spc="-154" dirty="0">
                <a:latin typeface="+mj-lt"/>
              </a:rPr>
              <a:t>of</a:t>
            </a:r>
            <a:r>
              <a:rPr sz="2400" spc="-33" dirty="0">
                <a:latin typeface="+mj-lt"/>
              </a:rPr>
              <a:t> </a:t>
            </a:r>
            <a:r>
              <a:rPr sz="2400" spc="-110" dirty="0">
                <a:latin typeface="+mj-lt"/>
              </a:rPr>
              <a:t>a </a:t>
            </a:r>
            <a:r>
              <a:rPr sz="2400" spc="-143" dirty="0">
                <a:latin typeface="+mj-lt"/>
              </a:rPr>
              <a:t>smoothing</a:t>
            </a:r>
            <a:r>
              <a:rPr sz="2400" spc="-55" dirty="0">
                <a:latin typeface="+mj-lt"/>
              </a:rPr>
              <a:t> </a:t>
            </a:r>
            <a:r>
              <a:rPr sz="2400" spc="-22" dirty="0">
                <a:latin typeface="+mj-lt"/>
              </a:rPr>
              <a:t>filter</a:t>
            </a:r>
          </a:p>
          <a:p>
            <a:pPr marL="831215" marR="11176" lvl="1" indent="-301752">
              <a:lnSpc>
                <a:spcPct val="79900"/>
              </a:lnSpc>
              <a:spcBef>
                <a:spcPts val="660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836803" algn="l"/>
              </a:tabLst>
            </a:pPr>
            <a:r>
              <a:rPr sz="2400" spc="-143" dirty="0">
                <a:latin typeface="+mj-lt"/>
                <a:cs typeface="Times New Roman"/>
              </a:rPr>
              <a:t>fine-</a:t>
            </a:r>
            <a:r>
              <a:rPr sz="2400" spc="-154" dirty="0">
                <a:latin typeface="+mj-lt"/>
                <a:cs typeface="Times New Roman"/>
              </a:rPr>
              <a:t>scale</a:t>
            </a:r>
            <a:r>
              <a:rPr sz="2400" spc="-22" dirty="0">
                <a:latin typeface="+mj-lt"/>
                <a:cs typeface="Times New Roman"/>
              </a:rPr>
              <a:t> </a:t>
            </a:r>
            <a:r>
              <a:rPr sz="2400" spc="-132" dirty="0">
                <a:latin typeface="+mj-lt"/>
                <a:cs typeface="Times New Roman"/>
              </a:rPr>
              <a:t>details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76" dirty="0">
                <a:latin typeface="+mj-lt"/>
                <a:cs typeface="Times New Roman"/>
              </a:rPr>
              <a:t>and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54" dirty="0">
                <a:latin typeface="+mj-lt"/>
                <a:cs typeface="Times New Roman"/>
              </a:rPr>
              <a:t>noise</a:t>
            </a:r>
            <a:r>
              <a:rPr sz="2400" spc="-22" dirty="0">
                <a:latin typeface="+mj-lt"/>
                <a:cs typeface="Times New Roman"/>
              </a:rPr>
              <a:t> </a:t>
            </a:r>
            <a:r>
              <a:rPr sz="2400" spc="-143" dirty="0">
                <a:latin typeface="+mj-lt"/>
                <a:cs typeface="Times New Roman"/>
              </a:rPr>
              <a:t>in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88" dirty="0">
                <a:latin typeface="+mj-lt"/>
                <a:cs typeface="Times New Roman"/>
              </a:rPr>
              <a:t>the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54" dirty="0">
                <a:latin typeface="+mj-lt"/>
                <a:cs typeface="Times New Roman"/>
              </a:rPr>
              <a:t>spatial</a:t>
            </a:r>
            <a:r>
              <a:rPr sz="2400" spc="-22" dirty="0">
                <a:latin typeface="+mj-lt"/>
                <a:cs typeface="Times New Roman"/>
              </a:rPr>
              <a:t> </a:t>
            </a:r>
            <a:r>
              <a:rPr sz="2400" spc="-176" dirty="0">
                <a:latin typeface="+mj-lt"/>
                <a:cs typeface="Times New Roman"/>
              </a:rPr>
              <a:t>domain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98" dirty="0">
                <a:latin typeface="+mj-lt"/>
                <a:cs typeface="Times New Roman"/>
              </a:rPr>
              <a:t>image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55" dirty="0">
                <a:latin typeface="+mj-lt"/>
                <a:cs typeface="Times New Roman"/>
              </a:rPr>
              <a:t>are </a:t>
            </a:r>
            <a:r>
              <a:rPr sz="2400" spc="-22" dirty="0">
                <a:latin typeface="+mj-lt"/>
                <a:cs typeface="Times New Roman"/>
              </a:rPr>
              <a:t>filtered</a:t>
            </a:r>
            <a:endParaRPr sz="2400" dirty="0">
              <a:latin typeface="+mj-lt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9143" y="105157"/>
            <a:ext cx="10086340" cy="7571740"/>
            <a:chOff x="-4156" y="-4156"/>
            <a:chExt cx="4584700" cy="3441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886" y="2085084"/>
              <a:ext cx="1140350" cy="11429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5835" y="2085084"/>
              <a:ext cx="1140349" cy="11429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0937" y="2572789"/>
              <a:ext cx="191192" cy="1911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6595" y="2583623"/>
              <a:ext cx="141114" cy="1411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2868" y="2069869"/>
              <a:ext cx="1118061" cy="11970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38337" y="2085084"/>
              <a:ext cx="1064895" cy="1143000"/>
            </a:xfrm>
            <a:custGeom>
              <a:avLst/>
              <a:gdLst/>
              <a:ahLst/>
              <a:cxnLst/>
              <a:rect l="l" t="t" r="r" b="b"/>
              <a:pathLst>
                <a:path w="1064895" h="1143000">
                  <a:moveTo>
                    <a:pt x="1064283" y="0"/>
                  </a:moveTo>
                  <a:lnTo>
                    <a:pt x="0" y="0"/>
                  </a:lnTo>
                  <a:lnTo>
                    <a:pt x="0" y="1142949"/>
                  </a:lnTo>
                  <a:lnTo>
                    <a:pt x="1064283" y="1142949"/>
                  </a:lnTo>
                  <a:lnTo>
                    <a:pt x="10642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38338" y="2085084"/>
              <a:ext cx="1064895" cy="1143000"/>
            </a:xfrm>
            <a:custGeom>
              <a:avLst/>
              <a:gdLst/>
              <a:ahLst/>
              <a:cxnLst/>
              <a:rect l="l" t="t" r="r" b="b"/>
              <a:pathLst>
                <a:path w="1064895" h="1143000">
                  <a:moveTo>
                    <a:pt x="0" y="0"/>
                  </a:moveTo>
                  <a:lnTo>
                    <a:pt x="1064283" y="0"/>
                  </a:lnTo>
                  <a:lnTo>
                    <a:pt x="1064283" y="1142949"/>
                  </a:lnTo>
                  <a:lnTo>
                    <a:pt x="0" y="1142949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0692" y="2494848"/>
              <a:ext cx="175764" cy="2298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78" y="2078"/>
              <a:ext cx="4572000" cy="3429000"/>
            </a:xfrm>
            <a:custGeom>
              <a:avLst/>
              <a:gdLst/>
              <a:ahLst/>
              <a:cxnLst/>
              <a:rect l="l" t="t" r="r" b="b"/>
              <a:pathLst>
                <a:path w="4572000" h="3429000">
                  <a:moveTo>
                    <a:pt x="0" y="0"/>
                  </a:moveTo>
                  <a:lnTo>
                    <a:pt x="4571999" y="0"/>
                  </a:lnTo>
                  <a:lnTo>
                    <a:pt x="4571999" y="3428999"/>
                  </a:lnTo>
                  <a:lnTo>
                    <a:pt x="0" y="3428999"/>
                  </a:lnTo>
                  <a:lnTo>
                    <a:pt x="0" y="0"/>
                  </a:lnTo>
                  <a:close/>
                </a:path>
              </a:pathLst>
            </a:custGeom>
            <a:ln w="12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713" y="3079450"/>
            <a:ext cx="6481938" cy="27246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795" rIns="0" bIns="0" rtlCol="0">
            <a:spAutoFit/>
          </a:bodyPr>
          <a:lstStyle/>
          <a:p>
            <a:pPr marL="1405255">
              <a:lnSpc>
                <a:spcPct val="100000"/>
              </a:lnSpc>
              <a:spcBef>
                <a:spcPts val="120"/>
              </a:spcBef>
            </a:pPr>
            <a:r>
              <a:rPr sz="2950" dirty="0"/>
              <a:t>Ideal</a:t>
            </a:r>
            <a:r>
              <a:rPr sz="2950" spc="-10" dirty="0"/>
              <a:t> </a:t>
            </a:r>
            <a:r>
              <a:rPr sz="2950" dirty="0"/>
              <a:t>Lowpass</a:t>
            </a:r>
            <a:r>
              <a:rPr sz="2950" spc="-10" dirty="0"/>
              <a:t> Filter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6234176" y="5050028"/>
            <a:ext cx="13690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latin typeface="Arial MT"/>
                <a:cs typeface="Arial MT"/>
              </a:rPr>
              <a:t>cutoff</a:t>
            </a:r>
            <a:r>
              <a:rPr sz="1450" spc="6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frequency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95693" y="4955285"/>
            <a:ext cx="62865" cy="125730"/>
          </a:xfrm>
          <a:custGeom>
            <a:avLst/>
            <a:gdLst/>
            <a:ahLst/>
            <a:cxnLst/>
            <a:rect l="l" t="t" r="r" b="b"/>
            <a:pathLst>
              <a:path w="62865" h="125729">
                <a:moveTo>
                  <a:pt x="62483" y="63246"/>
                </a:moveTo>
                <a:lnTo>
                  <a:pt x="31241" y="0"/>
                </a:lnTo>
                <a:lnTo>
                  <a:pt x="0" y="63246"/>
                </a:lnTo>
                <a:lnTo>
                  <a:pt x="25908" y="63246"/>
                </a:lnTo>
                <a:lnTo>
                  <a:pt x="25908" y="52577"/>
                </a:lnTo>
                <a:lnTo>
                  <a:pt x="36575" y="52577"/>
                </a:lnTo>
                <a:lnTo>
                  <a:pt x="36575" y="63246"/>
                </a:lnTo>
                <a:lnTo>
                  <a:pt x="62483" y="63246"/>
                </a:lnTo>
                <a:close/>
              </a:path>
              <a:path w="62865" h="125729">
                <a:moveTo>
                  <a:pt x="36575" y="63246"/>
                </a:moveTo>
                <a:lnTo>
                  <a:pt x="36575" y="52577"/>
                </a:lnTo>
                <a:lnTo>
                  <a:pt x="25908" y="52577"/>
                </a:lnTo>
                <a:lnTo>
                  <a:pt x="25908" y="63246"/>
                </a:lnTo>
                <a:lnTo>
                  <a:pt x="36575" y="63246"/>
                </a:lnTo>
                <a:close/>
              </a:path>
              <a:path w="62865" h="125729">
                <a:moveTo>
                  <a:pt x="36575" y="125729"/>
                </a:moveTo>
                <a:lnTo>
                  <a:pt x="36575" y="63246"/>
                </a:lnTo>
                <a:lnTo>
                  <a:pt x="25908" y="63246"/>
                </a:lnTo>
                <a:lnTo>
                  <a:pt x="25908" y="125729"/>
                </a:lnTo>
                <a:lnTo>
                  <a:pt x="36575" y="1257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5" y="186458"/>
            <a:ext cx="9923852" cy="73718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14334" y="502290"/>
            <a:ext cx="4380992" cy="6376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3960" spc="-22" dirty="0">
                <a:solidFill>
                  <a:srgbClr val="696464"/>
                </a:solidFill>
                <a:latin typeface="Franklin Gothic Medium"/>
                <a:cs typeface="Franklin Gothic Medium"/>
              </a:rPr>
              <a:t>Ideal</a:t>
            </a:r>
            <a:r>
              <a:rPr sz="3960" spc="-176" dirty="0">
                <a:solidFill>
                  <a:srgbClr val="696464"/>
                </a:solidFill>
                <a:latin typeface="Franklin Gothic Medium"/>
                <a:cs typeface="Franklin Gothic Medium"/>
              </a:rPr>
              <a:t> </a:t>
            </a:r>
            <a:r>
              <a:rPr sz="3960" spc="-44" dirty="0">
                <a:solidFill>
                  <a:srgbClr val="696464"/>
                </a:solidFill>
                <a:latin typeface="Franklin Gothic Medium"/>
                <a:cs typeface="Franklin Gothic Medium"/>
              </a:rPr>
              <a:t>Low</a:t>
            </a:r>
            <a:r>
              <a:rPr sz="3960" spc="-165" dirty="0">
                <a:solidFill>
                  <a:srgbClr val="696464"/>
                </a:solidFill>
                <a:latin typeface="Franklin Gothic Medium"/>
                <a:cs typeface="Franklin Gothic Medium"/>
              </a:rPr>
              <a:t> </a:t>
            </a:r>
            <a:r>
              <a:rPr sz="3960" dirty="0">
                <a:solidFill>
                  <a:srgbClr val="696464"/>
                </a:solidFill>
                <a:latin typeface="Franklin Gothic Medium"/>
                <a:cs typeface="Franklin Gothic Medium"/>
              </a:rPr>
              <a:t>Pass</a:t>
            </a:r>
            <a:r>
              <a:rPr sz="3960" spc="-165" dirty="0">
                <a:solidFill>
                  <a:srgbClr val="696464"/>
                </a:solidFill>
                <a:latin typeface="Franklin Gothic Medium"/>
                <a:cs typeface="Franklin Gothic Medium"/>
              </a:rPr>
              <a:t> </a:t>
            </a:r>
            <a:r>
              <a:rPr sz="3960" spc="-22" dirty="0">
                <a:solidFill>
                  <a:srgbClr val="696464"/>
                </a:solidFill>
                <a:latin typeface="Franklin Gothic Medium"/>
                <a:cs typeface="Franklin Gothic Medium"/>
              </a:rPr>
              <a:t>Filter</a:t>
            </a:r>
            <a:endParaRPr sz="396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70" y="1521821"/>
            <a:ext cx="9183234" cy="481157"/>
          </a:xfrm>
          <a:prstGeom prst="rect">
            <a:avLst/>
          </a:prstGeom>
        </p:spPr>
        <p:txBody>
          <a:bodyPr vert="horz" wrap="square" lIns="0" tIns="44704" rIns="0" bIns="0" rtlCol="0">
            <a:spAutoFit/>
          </a:bodyPr>
          <a:lstStyle/>
          <a:p>
            <a:pPr marL="27940" marR="11176">
              <a:lnSpc>
                <a:spcPts val="3410"/>
              </a:lnSpc>
              <a:spcBef>
                <a:spcPts val="352"/>
              </a:spcBef>
            </a:pPr>
            <a:r>
              <a:rPr sz="2860" spc="-16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86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10" dirty="0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32" dirty="0">
                <a:solidFill>
                  <a:srgbClr val="000000"/>
                </a:solidFill>
                <a:latin typeface="Times New Roman"/>
                <a:cs typeface="Times New Roman"/>
              </a:rPr>
              <a:t>function</a:t>
            </a:r>
            <a:r>
              <a:rPr sz="286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21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88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65" dirty="0">
                <a:solidFill>
                  <a:srgbClr val="000000"/>
                </a:solidFill>
                <a:latin typeface="Times New Roman"/>
                <a:cs typeface="Times New Roman"/>
              </a:rPr>
              <a:t>ideal</a:t>
            </a:r>
            <a:r>
              <a:rPr sz="286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76" dirty="0">
                <a:solidFill>
                  <a:srgbClr val="000000"/>
                </a:solidFill>
                <a:latin typeface="Times New Roman"/>
                <a:cs typeface="Times New Roman"/>
              </a:rPr>
              <a:t>low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209" dirty="0">
                <a:solidFill>
                  <a:srgbClr val="000000"/>
                </a:solidFill>
                <a:latin typeface="Times New Roman"/>
                <a:cs typeface="Times New Roman"/>
              </a:rPr>
              <a:t>pass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10" dirty="0">
                <a:solidFill>
                  <a:srgbClr val="000000"/>
                </a:solidFill>
                <a:latin typeface="Times New Roman"/>
                <a:cs typeface="Times New Roman"/>
              </a:rPr>
              <a:t>filter</a:t>
            </a:r>
            <a:r>
              <a:rPr sz="286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98" dirty="0">
                <a:solidFill>
                  <a:srgbClr val="000000"/>
                </a:solidFill>
                <a:latin typeface="Times New Roman"/>
                <a:cs typeface="Times New Roman"/>
              </a:rPr>
              <a:t>can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43" dirty="0">
                <a:solidFill>
                  <a:srgbClr val="000000"/>
                </a:solidFill>
                <a:latin typeface="Times New Roman"/>
                <a:cs typeface="Times New Roman"/>
              </a:rPr>
              <a:t>be</a:t>
            </a:r>
            <a:r>
              <a:rPr sz="286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60" spc="-132" dirty="0">
                <a:solidFill>
                  <a:srgbClr val="000000"/>
                </a:solidFill>
                <a:latin typeface="Times New Roman"/>
                <a:cs typeface="Times New Roman"/>
              </a:rPr>
              <a:t>given </a:t>
            </a:r>
            <a:r>
              <a:rPr sz="2860" spc="-55" dirty="0">
                <a:solidFill>
                  <a:srgbClr val="000000"/>
                </a:solidFill>
                <a:latin typeface="Times New Roman"/>
                <a:cs typeface="Times New Roman"/>
              </a:rPr>
              <a:t>as:</a:t>
            </a:r>
            <a:endParaRPr sz="286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9143" y="105157"/>
            <a:ext cx="10086340" cy="7571740"/>
            <a:chOff x="-4156" y="-4156"/>
            <a:chExt cx="4584700" cy="34417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68" y="1984591"/>
              <a:ext cx="4013688" cy="12501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78" y="2078"/>
              <a:ext cx="4572000" cy="3429000"/>
            </a:xfrm>
            <a:custGeom>
              <a:avLst/>
              <a:gdLst/>
              <a:ahLst/>
              <a:cxnLst/>
              <a:rect l="l" t="t" r="r" b="b"/>
              <a:pathLst>
                <a:path w="4572000" h="3429000">
                  <a:moveTo>
                    <a:pt x="0" y="0"/>
                  </a:moveTo>
                  <a:lnTo>
                    <a:pt x="4571999" y="0"/>
                  </a:lnTo>
                  <a:lnTo>
                    <a:pt x="4571999" y="3428999"/>
                  </a:lnTo>
                  <a:lnTo>
                    <a:pt x="0" y="3428999"/>
                  </a:lnTo>
                  <a:lnTo>
                    <a:pt x="0" y="0"/>
                  </a:lnTo>
                  <a:close/>
                </a:path>
              </a:pathLst>
            </a:custGeom>
            <a:ln w="12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340" y="3385123"/>
            <a:ext cx="6908967" cy="29278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795" rIns="0" bIns="0" rtlCol="0">
            <a:spAutoFit/>
          </a:bodyPr>
          <a:lstStyle/>
          <a:p>
            <a:pPr marL="443230">
              <a:lnSpc>
                <a:spcPct val="100000"/>
              </a:lnSpc>
              <a:spcBef>
                <a:spcPts val="120"/>
              </a:spcBef>
            </a:pPr>
            <a:r>
              <a:rPr sz="2950" dirty="0"/>
              <a:t>Butterworth</a:t>
            </a:r>
            <a:r>
              <a:rPr sz="2950" spc="-15" dirty="0"/>
              <a:t> </a:t>
            </a:r>
            <a:r>
              <a:rPr sz="2950" dirty="0"/>
              <a:t>Lowpass</a:t>
            </a:r>
            <a:r>
              <a:rPr sz="2950" spc="-15" dirty="0"/>
              <a:t> </a:t>
            </a:r>
            <a:r>
              <a:rPr sz="2950" dirty="0"/>
              <a:t>Filter</a:t>
            </a:r>
            <a:r>
              <a:rPr sz="2950" spc="-10" dirty="0"/>
              <a:t> (BLPF)</a:t>
            </a:r>
            <a:endParaRPr sz="2950"/>
          </a:p>
        </p:txBody>
      </p:sp>
      <p:sp>
        <p:nvSpPr>
          <p:cNvPr id="4" name="object 4"/>
          <p:cNvSpPr/>
          <p:nvPr/>
        </p:nvSpPr>
        <p:spPr>
          <a:xfrm>
            <a:off x="4320540" y="2692907"/>
            <a:ext cx="2096770" cy="0"/>
          </a:xfrm>
          <a:custGeom>
            <a:avLst/>
            <a:gdLst/>
            <a:ahLst/>
            <a:cxnLst/>
            <a:rect l="l" t="t" r="r" b="b"/>
            <a:pathLst>
              <a:path w="2096770">
                <a:moveTo>
                  <a:pt x="0" y="0"/>
                </a:moveTo>
                <a:lnTo>
                  <a:pt x="2096262" y="0"/>
                </a:lnTo>
              </a:path>
            </a:pathLst>
          </a:custGeom>
          <a:ln w="11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82364" y="2467606"/>
            <a:ext cx="107188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i="1" dirty="0">
                <a:latin typeface="Times New Roman"/>
                <a:cs typeface="Times New Roman"/>
              </a:rPr>
              <a:t>H</a:t>
            </a:r>
            <a:r>
              <a:rPr sz="2200" i="1" spc="-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u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28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6135" y="2882892"/>
            <a:ext cx="1085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0241" y="2693923"/>
            <a:ext cx="213106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225" dirty="0">
                <a:latin typeface="Times New Roman"/>
                <a:cs typeface="Times New Roman"/>
              </a:rPr>
              <a:t> </a:t>
            </a:r>
            <a:r>
              <a:rPr sz="2200" spc="50" dirty="0">
                <a:latin typeface="Times New Roman"/>
                <a:cs typeface="Times New Roman"/>
              </a:rPr>
              <a:t>[</a:t>
            </a:r>
            <a:r>
              <a:rPr sz="2200" i="1" spc="50" dirty="0">
                <a:latin typeface="Times New Roman"/>
                <a:cs typeface="Times New Roman"/>
              </a:rPr>
              <a:t>D</a:t>
            </a:r>
            <a:r>
              <a:rPr sz="2200" spc="50" dirty="0">
                <a:latin typeface="Times New Roman"/>
                <a:cs typeface="Times New Roman"/>
              </a:rPr>
              <a:t>(</a:t>
            </a:r>
            <a:r>
              <a:rPr sz="2200" i="1" spc="50" dirty="0">
                <a:latin typeface="Times New Roman"/>
                <a:cs typeface="Times New Roman"/>
              </a:rPr>
              <a:t>u</a:t>
            </a:r>
            <a:r>
              <a:rPr sz="2200" spc="50" dirty="0">
                <a:latin typeface="Times New Roman"/>
                <a:cs typeface="Times New Roman"/>
              </a:rPr>
              <a:t>,</a:t>
            </a:r>
            <a:r>
              <a:rPr sz="2200" spc="-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D</a:t>
            </a:r>
            <a:r>
              <a:rPr sz="2200" i="1" spc="47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Times New Roman"/>
                <a:cs typeface="Times New Roman"/>
              </a:rPr>
              <a:t>]</a:t>
            </a:r>
            <a:r>
              <a:rPr sz="1950" spc="44" baseline="42735" dirty="0">
                <a:latin typeface="Times New Roman"/>
                <a:cs typeface="Times New Roman"/>
              </a:rPr>
              <a:t>2</a:t>
            </a:r>
            <a:r>
              <a:rPr sz="1950" i="1" spc="44" baseline="42735" dirty="0">
                <a:latin typeface="Times New Roman"/>
                <a:cs typeface="Times New Roman"/>
              </a:rPr>
              <a:t>n</a:t>
            </a:r>
            <a:endParaRPr sz="1950" baseline="42735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4703" y="2289307"/>
            <a:ext cx="16764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3766" y="2648965"/>
            <a:ext cx="12217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i="1" dirty="0">
                <a:latin typeface="Arial"/>
                <a:cs typeface="Arial"/>
              </a:rPr>
              <a:t>n</a:t>
            </a:r>
            <a:r>
              <a:rPr sz="1450" i="1" spc="30" dirty="0">
                <a:latin typeface="Arial"/>
                <a:cs typeface="Arial"/>
              </a:rPr>
              <a:t> </a:t>
            </a:r>
            <a:r>
              <a:rPr sz="1450" dirty="0">
                <a:latin typeface="Arial MT"/>
                <a:cs typeface="Arial MT"/>
              </a:rPr>
              <a:t>is</a:t>
            </a:r>
            <a:r>
              <a:rPr sz="1450" spc="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filter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order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12229" y="2786633"/>
            <a:ext cx="314960" cy="63500"/>
          </a:xfrm>
          <a:custGeom>
            <a:avLst/>
            <a:gdLst/>
            <a:ahLst/>
            <a:cxnLst/>
            <a:rect l="l" t="t" r="r" b="b"/>
            <a:pathLst>
              <a:path w="314959" h="63500">
                <a:moveTo>
                  <a:pt x="63246" y="26670"/>
                </a:moveTo>
                <a:lnTo>
                  <a:pt x="63246" y="0"/>
                </a:lnTo>
                <a:lnTo>
                  <a:pt x="0" y="31242"/>
                </a:lnTo>
                <a:lnTo>
                  <a:pt x="52577" y="57847"/>
                </a:lnTo>
                <a:lnTo>
                  <a:pt x="52577" y="26670"/>
                </a:lnTo>
                <a:lnTo>
                  <a:pt x="63246" y="26670"/>
                </a:lnTo>
                <a:close/>
              </a:path>
              <a:path w="314959" h="63500">
                <a:moveTo>
                  <a:pt x="314705" y="36576"/>
                </a:moveTo>
                <a:lnTo>
                  <a:pt x="314705" y="26670"/>
                </a:lnTo>
                <a:lnTo>
                  <a:pt x="52577" y="26670"/>
                </a:lnTo>
                <a:lnTo>
                  <a:pt x="52577" y="36576"/>
                </a:lnTo>
                <a:lnTo>
                  <a:pt x="314705" y="36576"/>
                </a:lnTo>
                <a:close/>
              </a:path>
              <a:path w="314959" h="63500">
                <a:moveTo>
                  <a:pt x="63246" y="63246"/>
                </a:moveTo>
                <a:lnTo>
                  <a:pt x="63246" y="36576"/>
                </a:lnTo>
                <a:lnTo>
                  <a:pt x="52577" y="36576"/>
                </a:lnTo>
                <a:lnTo>
                  <a:pt x="52577" y="57847"/>
                </a:lnTo>
                <a:lnTo>
                  <a:pt x="63246" y="63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1956" y="3442004"/>
            <a:ext cx="6793265" cy="28713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795" rIns="0" bIns="0" rtlCol="0">
            <a:spAutoFit/>
          </a:bodyPr>
          <a:lstStyle/>
          <a:p>
            <a:pPr marL="400685">
              <a:lnSpc>
                <a:spcPct val="100000"/>
              </a:lnSpc>
              <a:spcBef>
                <a:spcPts val="120"/>
              </a:spcBef>
            </a:pPr>
            <a:r>
              <a:rPr sz="2950" dirty="0"/>
              <a:t>Gaussian</a:t>
            </a:r>
            <a:r>
              <a:rPr sz="2950" spc="-15" dirty="0"/>
              <a:t> </a:t>
            </a:r>
            <a:r>
              <a:rPr sz="2950" dirty="0"/>
              <a:t>Lowpass</a:t>
            </a:r>
            <a:r>
              <a:rPr sz="2950" spc="-15" dirty="0"/>
              <a:t> </a:t>
            </a:r>
            <a:r>
              <a:rPr sz="2950" dirty="0"/>
              <a:t>Filter</a:t>
            </a:r>
            <a:r>
              <a:rPr sz="2950" spc="-10" dirty="0"/>
              <a:t> (GLPF)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5824220" y="2588196"/>
            <a:ext cx="9080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50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6694" y="2714690"/>
            <a:ext cx="9080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0779" y="2588196"/>
            <a:ext cx="9080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50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4841" y="2616926"/>
            <a:ext cx="11309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Symbol"/>
                <a:cs typeface="Symbol"/>
              </a:rPr>
              <a:t></a:t>
            </a:r>
            <a:r>
              <a:rPr sz="1400" spc="-18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400" i="1" spc="12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(</a:t>
            </a:r>
            <a:r>
              <a:rPr sz="1400" i="1" dirty="0">
                <a:latin typeface="Times New Roman"/>
                <a:cs typeface="Times New Roman"/>
              </a:rPr>
              <a:t>u</a:t>
            </a:r>
            <a:r>
              <a:rPr sz="1400" i="1" spc="-215" dirty="0">
                <a:latin typeface="Times New Roman"/>
                <a:cs typeface="Times New Roman"/>
              </a:rPr>
              <a:t> </a:t>
            </a:r>
            <a:r>
              <a:rPr sz="1400" spc="55" dirty="0">
                <a:latin typeface="Times New Roman"/>
                <a:cs typeface="Times New Roman"/>
              </a:rPr>
              <a:t>,</a:t>
            </a:r>
            <a:r>
              <a:rPr sz="1400" i="1" spc="55" dirty="0">
                <a:latin typeface="Times New Roman"/>
                <a:cs typeface="Times New Roman"/>
              </a:rPr>
              <a:t>v</a:t>
            </a:r>
            <a:r>
              <a:rPr sz="1400" spc="55" dirty="0">
                <a:latin typeface="Times New Roman"/>
                <a:cs typeface="Times New Roman"/>
              </a:rPr>
              <a:t>)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sz="1400" spc="-200" dirty="0">
                <a:latin typeface="Times New Roman"/>
                <a:cs typeface="Times New Roman"/>
              </a:rPr>
              <a:t> </a:t>
            </a:r>
            <a:r>
              <a:rPr sz="1400" i="1" spc="-50" dirty="0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3416" y="2631594"/>
            <a:ext cx="1392555" cy="400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i="1" dirty="0">
                <a:latin typeface="Times New Roman"/>
                <a:cs typeface="Times New Roman"/>
              </a:rPr>
              <a:t>H</a:t>
            </a:r>
            <a:r>
              <a:rPr sz="2450" i="1" spc="-27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</a:t>
            </a:r>
            <a:r>
              <a:rPr sz="2450" i="1" dirty="0">
                <a:latin typeface="Times New Roman"/>
                <a:cs typeface="Times New Roman"/>
              </a:rPr>
              <a:t>u</a:t>
            </a:r>
            <a:r>
              <a:rPr sz="2450" dirty="0">
                <a:latin typeface="Times New Roman"/>
                <a:cs typeface="Times New Roman"/>
              </a:rPr>
              <a:t>,</a:t>
            </a:r>
            <a:r>
              <a:rPr sz="2450" spc="-335" dirty="0">
                <a:latin typeface="Times New Roman"/>
                <a:cs typeface="Times New Roman"/>
              </a:rPr>
              <a:t> </a:t>
            </a:r>
            <a:r>
              <a:rPr sz="2450" i="1" dirty="0">
                <a:latin typeface="Times New Roman"/>
                <a:cs typeface="Times New Roman"/>
              </a:rPr>
              <a:t>v</a:t>
            </a:r>
            <a:r>
              <a:rPr sz="2450" dirty="0">
                <a:latin typeface="Times New Roman"/>
                <a:cs typeface="Times New Roman"/>
              </a:rPr>
              <a:t>)</a:t>
            </a:r>
            <a:r>
              <a:rPr sz="2450" spc="6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i="1" spc="-50" dirty="0">
                <a:latin typeface="Times New Roman"/>
                <a:cs typeface="Times New Roman"/>
              </a:rPr>
              <a:t>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7073" y="2597911"/>
            <a:ext cx="166751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-325" dirty="0">
                <a:latin typeface="Arial MT"/>
                <a:cs typeface="Arial MT"/>
              </a:rPr>
              <a:t>σ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spc="-204" dirty="0">
                <a:latin typeface="Arial MT"/>
                <a:cs typeface="Arial MT"/>
              </a:rPr>
              <a:t>=</a:t>
            </a:r>
            <a:r>
              <a:rPr sz="1450" spc="30" dirty="0">
                <a:latin typeface="Arial MT"/>
                <a:cs typeface="Arial MT"/>
              </a:rPr>
              <a:t> </a:t>
            </a:r>
            <a:r>
              <a:rPr sz="1450" i="1" dirty="0">
                <a:latin typeface="Arial"/>
                <a:cs typeface="Arial"/>
              </a:rPr>
              <a:t>D</a:t>
            </a:r>
            <a:r>
              <a:rPr sz="1425" i="1" baseline="-20467" dirty="0">
                <a:latin typeface="Arial"/>
                <a:cs typeface="Arial"/>
              </a:rPr>
              <a:t>0</a:t>
            </a:r>
            <a:r>
              <a:rPr sz="1425" i="1" spc="247" baseline="-20467" dirty="0">
                <a:latin typeface="Arial"/>
                <a:cs typeface="Arial"/>
              </a:rPr>
              <a:t> </a:t>
            </a:r>
            <a:r>
              <a:rPr sz="1450" dirty="0">
                <a:latin typeface="Arial MT"/>
                <a:cs typeface="Arial MT"/>
              </a:rPr>
              <a:t>=</a:t>
            </a:r>
            <a:r>
              <a:rPr sz="1450" spc="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cutoff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freq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72555" y="2724150"/>
            <a:ext cx="314325" cy="62865"/>
          </a:xfrm>
          <a:custGeom>
            <a:avLst/>
            <a:gdLst/>
            <a:ahLst/>
            <a:cxnLst/>
            <a:rect l="l" t="t" r="r" b="b"/>
            <a:pathLst>
              <a:path w="314325" h="62864">
                <a:moveTo>
                  <a:pt x="62484" y="25907"/>
                </a:moveTo>
                <a:lnTo>
                  <a:pt x="62484" y="0"/>
                </a:lnTo>
                <a:lnTo>
                  <a:pt x="0" y="31241"/>
                </a:lnTo>
                <a:lnTo>
                  <a:pt x="52578" y="57530"/>
                </a:lnTo>
                <a:lnTo>
                  <a:pt x="52578" y="25907"/>
                </a:lnTo>
                <a:lnTo>
                  <a:pt x="62484" y="25907"/>
                </a:lnTo>
                <a:close/>
              </a:path>
              <a:path w="314325" h="62864">
                <a:moveTo>
                  <a:pt x="313944" y="36575"/>
                </a:moveTo>
                <a:lnTo>
                  <a:pt x="313944" y="25907"/>
                </a:lnTo>
                <a:lnTo>
                  <a:pt x="52578" y="25907"/>
                </a:lnTo>
                <a:lnTo>
                  <a:pt x="52578" y="36575"/>
                </a:lnTo>
                <a:lnTo>
                  <a:pt x="313944" y="36575"/>
                </a:lnTo>
                <a:close/>
              </a:path>
              <a:path w="314325" h="62864">
                <a:moveTo>
                  <a:pt x="62484" y="62483"/>
                </a:moveTo>
                <a:lnTo>
                  <a:pt x="62484" y="36575"/>
                </a:lnTo>
                <a:lnTo>
                  <a:pt x="52578" y="36575"/>
                </a:lnTo>
                <a:lnTo>
                  <a:pt x="52578" y="57530"/>
                </a:lnTo>
                <a:lnTo>
                  <a:pt x="62484" y="62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0876" y="368500"/>
            <a:ext cx="6828724" cy="6376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z="3960" dirty="0"/>
              <a:t>1.</a:t>
            </a:r>
            <a:r>
              <a:rPr sz="3960" spc="33" dirty="0"/>
              <a:t> </a:t>
            </a:r>
            <a:r>
              <a:rPr sz="3960" spc="-66" dirty="0"/>
              <a:t>High-</a:t>
            </a:r>
            <a:r>
              <a:rPr sz="3960" dirty="0"/>
              <a:t>pass</a:t>
            </a:r>
            <a:r>
              <a:rPr sz="3960" spc="33" dirty="0"/>
              <a:t> </a:t>
            </a:r>
            <a:r>
              <a:rPr sz="3960" spc="-22" dirty="0"/>
              <a:t>Filters</a:t>
            </a:r>
            <a:endParaRPr sz="396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1000" y="1059919"/>
            <a:ext cx="9296400" cy="1920077"/>
          </a:xfrm>
          <a:prstGeom prst="rect">
            <a:avLst/>
          </a:prstGeom>
        </p:spPr>
        <p:txBody>
          <a:bodyPr vert="horz" wrap="square" lIns="0" tIns="108966" rIns="0" bIns="0" rtlCol="0">
            <a:spAutoFit/>
          </a:bodyPr>
          <a:lstStyle/>
          <a:p>
            <a:pPr marL="328295" marR="813054" indent="-301752">
              <a:lnSpc>
                <a:spcPct val="79900"/>
              </a:lnSpc>
              <a:spcBef>
                <a:spcPts val="858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333883" algn="l"/>
              </a:tabLst>
            </a:pPr>
            <a:r>
              <a:rPr sz="2400" spc="-132" dirty="0">
                <a:latin typeface="+mj-lt"/>
              </a:rPr>
              <a:t>Attenuates</a:t>
            </a:r>
            <a:r>
              <a:rPr sz="2400" spc="22" dirty="0">
                <a:latin typeface="+mj-lt"/>
              </a:rPr>
              <a:t> </a:t>
            </a:r>
            <a:r>
              <a:rPr sz="2400" spc="-198" dirty="0">
                <a:latin typeface="+mj-lt"/>
              </a:rPr>
              <a:t>high</a:t>
            </a:r>
            <a:r>
              <a:rPr sz="2400" spc="33" dirty="0">
                <a:latin typeface="+mj-lt"/>
              </a:rPr>
              <a:t> </a:t>
            </a:r>
            <a:r>
              <a:rPr sz="2400" spc="-143" dirty="0">
                <a:latin typeface="+mj-lt"/>
              </a:rPr>
              <a:t>frequencies</a:t>
            </a:r>
            <a:r>
              <a:rPr sz="2400" spc="22" dirty="0">
                <a:latin typeface="+mj-lt"/>
              </a:rPr>
              <a:t> </a:t>
            </a:r>
            <a:r>
              <a:rPr sz="2400" spc="-176" dirty="0">
                <a:latin typeface="+mj-lt"/>
              </a:rPr>
              <a:t>and</a:t>
            </a:r>
            <a:r>
              <a:rPr sz="2400" spc="33" dirty="0">
                <a:latin typeface="+mj-lt"/>
              </a:rPr>
              <a:t> </a:t>
            </a:r>
            <a:r>
              <a:rPr sz="2400" spc="-132" dirty="0">
                <a:latin typeface="+mj-lt"/>
              </a:rPr>
              <a:t>retains</a:t>
            </a:r>
            <a:r>
              <a:rPr sz="2400" spc="33" dirty="0">
                <a:latin typeface="+mj-lt"/>
              </a:rPr>
              <a:t> </a:t>
            </a:r>
            <a:r>
              <a:rPr sz="2400" spc="-176" dirty="0">
                <a:latin typeface="+mj-lt"/>
              </a:rPr>
              <a:t>low</a:t>
            </a:r>
            <a:r>
              <a:rPr sz="2400" spc="22" dirty="0">
                <a:latin typeface="+mj-lt"/>
              </a:rPr>
              <a:t> </a:t>
            </a:r>
            <a:r>
              <a:rPr sz="2400" spc="-121" dirty="0">
                <a:latin typeface="+mj-lt"/>
              </a:rPr>
              <a:t>frequencies </a:t>
            </a:r>
            <a:r>
              <a:rPr sz="2400" spc="-22" dirty="0">
                <a:latin typeface="+mj-lt"/>
              </a:rPr>
              <a:t>unchanged.</a:t>
            </a:r>
          </a:p>
          <a:p>
            <a:pPr marL="831215" lvl="1" indent="-301752">
              <a:spcBef>
                <a:spcPts val="22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831215" algn="l"/>
              </a:tabLst>
            </a:pPr>
            <a:r>
              <a:rPr sz="2400" spc="-198" dirty="0">
                <a:latin typeface="+mj-lt"/>
                <a:cs typeface="Times New Roman"/>
              </a:rPr>
              <a:t>high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43" dirty="0">
                <a:latin typeface="+mj-lt"/>
                <a:cs typeface="Times New Roman"/>
              </a:rPr>
              <a:t>frequencies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10" dirty="0">
                <a:latin typeface="+mj-lt"/>
                <a:cs typeface="Times New Roman"/>
              </a:rPr>
              <a:t>correspond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to </a:t>
            </a:r>
            <a:r>
              <a:rPr sz="2400" spc="-154" dirty="0">
                <a:latin typeface="+mj-lt"/>
                <a:cs typeface="Times New Roman"/>
              </a:rPr>
              <a:t>sharp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21" dirty="0">
                <a:latin typeface="+mj-lt"/>
                <a:cs typeface="Times New Roman"/>
              </a:rPr>
              <a:t>intensity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22" dirty="0">
                <a:latin typeface="+mj-lt"/>
                <a:cs typeface="Times New Roman"/>
              </a:rPr>
              <a:t>changes</a:t>
            </a:r>
            <a:endParaRPr sz="2400" dirty="0">
              <a:latin typeface="+mj-lt"/>
              <a:cs typeface="Times New Roman"/>
            </a:endParaRPr>
          </a:p>
          <a:p>
            <a:pPr lvl="1">
              <a:spcBef>
                <a:spcPts val="803"/>
              </a:spcBef>
              <a:buClr>
                <a:srgbClr val="D34817"/>
              </a:buClr>
              <a:buFont typeface="Segoe UI Symbol"/>
              <a:buChar char="⚫"/>
            </a:pPr>
            <a:endParaRPr sz="2400" dirty="0">
              <a:latin typeface="+mj-lt"/>
              <a:cs typeface="Times New Roman"/>
            </a:endParaRPr>
          </a:p>
          <a:p>
            <a:pPr marL="328295" marR="751586" indent="-301752">
              <a:lnSpc>
                <a:spcPct val="799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333883" algn="l"/>
              </a:tabLst>
            </a:pPr>
            <a:r>
              <a:rPr sz="2400" spc="-154" dirty="0">
                <a:latin typeface="+mj-lt"/>
              </a:rPr>
              <a:t>The</a:t>
            </a:r>
            <a:r>
              <a:rPr sz="2400" spc="-33" dirty="0">
                <a:latin typeface="+mj-lt"/>
              </a:rPr>
              <a:t> </a:t>
            </a:r>
            <a:r>
              <a:rPr sz="2400" spc="-110" dirty="0">
                <a:latin typeface="+mj-lt"/>
              </a:rPr>
              <a:t>result</a:t>
            </a:r>
            <a:r>
              <a:rPr sz="2400" spc="-22" dirty="0">
                <a:latin typeface="+mj-lt"/>
              </a:rPr>
              <a:t> </a:t>
            </a:r>
            <a:r>
              <a:rPr sz="2400" spc="-143" dirty="0">
                <a:latin typeface="+mj-lt"/>
              </a:rPr>
              <a:t>in</a:t>
            </a:r>
            <a:r>
              <a:rPr sz="2400" spc="-33" dirty="0">
                <a:latin typeface="+mj-lt"/>
              </a:rPr>
              <a:t> </a:t>
            </a:r>
            <a:r>
              <a:rPr sz="2400" spc="-88" dirty="0">
                <a:latin typeface="+mj-lt"/>
              </a:rPr>
              <a:t>the</a:t>
            </a:r>
            <a:r>
              <a:rPr sz="2400" spc="-22" dirty="0">
                <a:latin typeface="+mj-lt"/>
              </a:rPr>
              <a:t> </a:t>
            </a:r>
            <a:r>
              <a:rPr sz="2400" spc="-154" dirty="0">
                <a:latin typeface="+mj-lt"/>
              </a:rPr>
              <a:t>spatial</a:t>
            </a:r>
            <a:r>
              <a:rPr sz="2400" spc="-33" dirty="0">
                <a:latin typeface="+mj-lt"/>
              </a:rPr>
              <a:t> </a:t>
            </a:r>
            <a:r>
              <a:rPr sz="2400" spc="-176" dirty="0">
                <a:latin typeface="+mj-lt"/>
              </a:rPr>
              <a:t>domain</a:t>
            </a:r>
            <a:r>
              <a:rPr sz="2400" spc="-22" dirty="0">
                <a:latin typeface="+mj-lt"/>
              </a:rPr>
              <a:t> </a:t>
            </a:r>
            <a:r>
              <a:rPr sz="2400" spc="-187" dirty="0">
                <a:latin typeface="+mj-lt"/>
              </a:rPr>
              <a:t>is</a:t>
            </a:r>
            <a:r>
              <a:rPr sz="2400" spc="-33" dirty="0">
                <a:latin typeface="+mj-lt"/>
              </a:rPr>
              <a:t> </a:t>
            </a:r>
            <a:r>
              <a:rPr sz="2400" spc="-143" dirty="0">
                <a:latin typeface="+mj-lt"/>
              </a:rPr>
              <a:t>equivalent</a:t>
            </a:r>
            <a:r>
              <a:rPr sz="2400" spc="-22" dirty="0">
                <a:latin typeface="+mj-lt"/>
              </a:rPr>
              <a:t> </a:t>
            </a:r>
            <a:r>
              <a:rPr sz="2400" dirty="0">
                <a:latin typeface="+mj-lt"/>
              </a:rPr>
              <a:t>to</a:t>
            </a:r>
            <a:r>
              <a:rPr sz="2400" spc="-33" dirty="0">
                <a:latin typeface="+mj-lt"/>
              </a:rPr>
              <a:t> </a:t>
            </a:r>
            <a:r>
              <a:rPr sz="2400" spc="-110" dirty="0">
                <a:latin typeface="+mj-lt"/>
              </a:rPr>
              <a:t>that</a:t>
            </a:r>
            <a:r>
              <a:rPr sz="2400" spc="-22" dirty="0">
                <a:latin typeface="+mj-lt"/>
              </a:rPr>
              <a:t> </a:t>
            </a:r>
            <a:r>
              <a:rPr sz="2400" spc="-154" dirty="0">
                <a:latin typeface="+mj-lt"/>
              </a:rPr>
              <a:t>of</a:t>
            </a:r>
            <a:r>
              <a:rPr sz="2400" spc="-33" dirty="0">
                <a:latin typeface="+mj-lt"/>
              </a:rPr>
              <a:t> </a:t>
            </a:r>
            <a:r>
              <a:rPr sz="2400" spc="-110" dirty="0">
                <a:latin typeface="+mj-lt"/>
              </a:rPr>
              <a:t>a </a:t>
            </a:r>
            <a:r>
              <a:rPr sz="2400" spc="-143" dirty="0">
                <a:latin typeface="+mj-lt"/>
              </a:rPr>
              <a:t>smoothing</a:t>
            </a:r>
            <a:r>
              <a:rPr sz="2400" spc="-55" dirty="0">
                <a:latin typeface="+mj-lt"/>
              </a:rPr>
              <a:t> </a:t>
            </a:r>
            <a:r>
              <a:rPr sz="2400" spc="-22" dirty="0">
                <a:latin typeface="+mj-lt"/>
              </a:rPr>
              <a:t>filter</a:t>
            </a:r>
          </a:p>
          <a:p>
            <a:pPr marL="831215" marR="11176" lvl="1" indent="-301752">
              <a:lnSpc>
                <a:spcPct val="79900"/>
              </a:lnSpc>
              <a:spcBef>
                <a:spcPts val="660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836803" algn="l"/>
              </a:tabLst>
            </a:pPr>
            <a:r>
              <a:rPr sz="2400" spc="-143" dirty="0">
                <a:latin typeface="+mj-lt"/>
                <a:cs typeface="Times New Roman"/>
              </a:rPr>
              <a:t>fine-</a:t>
            </a:r>
            <a:r>
              <a:rPr sz="2400" spc="-154" dirty="0">
                <a:latin typeface="+mj-lt"/>
                <a:cs typeface="Times New Roman"/>
              </a:rPr>
              <a:t>scale</a:t>
            </a:r>
            <a:r>
              <a:rPr sz="2400" spc="-22" dirty="0">
                <a:latin typeface="+mj-lt"/>
                <a:cs typeface="Times New Roman"/>
              </a:rPr>
              <a:t> </a:t>
            </a:r>
            <a:r>
              <a:rPr sz="2400" spc="-132" dirty="0">
                <a:latin typeface="+mj-lt"/>
                <a:cs typeface="Times New Roman"/>
              </a:rPr>
              <a:t>details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76" dirty="0">
                <a:latin typeface="+mj-lt"/>
                <a:cs typeface="Times New Roman"/>
              </a:rPr>
              <a:t>and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54" dirty="0">
                <a:latin typeface="+mj-lt"/>
                <a:cs typeface="Times New Roman"/>
              </a:rPr>
              <a:t>noise</a:t>
            </a:r>
            <a:r>
              <a:rPr sz="2400" spc="-22" dirty="0">
                <a:latin typeface="+mj-lt"/>
                <a:cs typeface="Times New Roman"/>
              </a:rPr>
              <a:t> </a:t>
            </a:r>
            <a:r>
              <a:rPr sz="2400" spc="-143" dirty="0">
                <a:latin typeface="+mj-lt"/>
                <a:cs typeface="Times New Roman"/>
              </a:rPr>
              <a:t>in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88" dirty="0">
                <a:latin typeface="+mj-lt"/>
                <a:cs typeface="Times New Roman"/>
              </a:rPr>
              <a:t>the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54" dirty="0">
                <a:latin typeface="+mj-lt"/>
                <a:cs typeface="Times New Roman"/>
              </a:rPr>
              <a:t>spatial</a:t>
            </a:r>
            <a:r>
              <a:rPr sz="2400" spc="-22" dirty="0">
                <a:latin typeface="+mj-lt"/>
                <a:cs typeface="Times New Roman"/>
              </a:rPr>
              <a:t> </a:t>
            </a:r>
            <a:r>
              <a:rPr sz="2400" spc="-176" dirty="0">
                <a:latin typeface="+mj-lt"/>
                <a:cs typeface="Times New Roman"/>
              </a:rPr>
              <a:t>domain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198" dirty="0">
                <a:latin typeface="+mj-lt"/>
                <a:cs typeface="Times New Roman"/>
              </a:rPr>
              <a:t>image</a:t>
            </a:r>
            <a:r>
              <a:rPr sz="2400" spc="-11" dirty="0">
                <a:latin typeface="+mj-lt"/>
                <a:cs typeface="Times New Roman"/>
              </a:rPr>
              <a:t> </a:t>
            </a:r>
            <a:r>
              <a:rPr sz="2400" spc="-55" dirty="0">
                <a:latin typeface="+mj-lt"/>
                <a:cs typeface="Times New Roman"/>
              </a:rPr>
              <a:t>are </a:t>
            </a:r>
            <a:r>
              <a:rPr sz="2400" spc="-22" dirty="0">
                <a:latin typeface="+mj-lt"/>
                <a:cs typeface="Times New Roman"/>
              </a:rPr>
              <a:t>filtered</a:t>
            </a:r>
            <a:endParaRPr sz="2400" dirty="0">
              <a:latin typeface="+mj-lt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9143" y="105157"/>
            <a:ext cx="10086340" cy="7571740"/>
            <a:chOff x="-4156" y="-4156"/>
            <a:chExt cx="4584700" cy="3441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742" y="2085084"/>
              <a:ext cx="1140349" cy="11429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1844" y="2085084"/>
              <a:ext cx="1140349" cy="11429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9043" y="2572789"/>
              <a:ext cx="191192" cy="1911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2603" y="2583623"/>
              <a:ext cx="141114" cy="1411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78" y="2078"/>
              <a:ext cx="4572000" cy="3429000"/>
            </a:xfrm>
            <a:custGeom>
              <a:avLst/>
              <a:gdLst/>
              <a:ahLst/>
              <a:cxnLst/>
              <a:rect l="l" t="t" r="r" b="b"/>
              <a:pathLst>
                <a:path w="4572000" h="3429000">
                  <a:moveTo>
                    <a:pt x="0" y="0"/>
                  </a:moveTo>
                  <a:lnTo>
                    <a:pt x="4571999" y="0"/>
                  </a:lnTo>
                  <a:lnTo>
                    <a:pt x="4571999" y="3428999"/>
                  </a:lnTo>
                  <a:lnTo>
                    <a:pt x="0" y="3428999"/>
                  </a:lnTo>
                  <a:lnTo>
                    <a:pt x="0" y="0"/>
                  </a:lnTo>
                  <a:close/>
                </a:path>
              </a:pathLst>
            </a:custGeom>
            <a:ln w="12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1447800"/>
            <a:ext cx="3952111" cy="497572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7940">
              <a:spcBef>
                <a:spcPts val="220"/>
              </a:spcBef>
            </a:pPr>
            <a:r>
              <a:rPr spc="-77" dirty="0"/>
              <a:t>High-</a:t>
            </a:r>
            <a:r>
              <a:rPr dirty="0"/>
              <a:t>pass</a:t>
            </a:r>
            <a:r>
              <a:rPr spc="66" dirty="0"/>
              <a:t> </a:t>
            </a:r>
            <a:r>
              <a:rPr spc="-22" dirty="0"/>
              <a:t>Filters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2450935"/>
            <a:ext cx="8365234" cy="2870529"/>
          </a:xfrm>
          <a:prstGeom prst="rect">
            <a:avLst/>
          </a:prstGeom>
        </p:spPr>
        <p:txBody>
          <a:bodyPr vert="horz" wrap="square" lIns="0" tIns="44704" rIns="0" bIns="0" rtlCol="0">
            <a:spAutoFit/>
          </a:bodyPr>
          <a:lstStyle/>
          <a:p>
            <a:pPr marL="325501" marR="189992" indent="-297561">
              <a:lnSpc>
                <a:spcPts val="3410"/>
              </a:lnSpc>
              <a:spcBef>
                <a:spcPts val="352"/>
              </a:spcBef>
              <a:buClr>
                <a:srgbClr val="D34817"/>
              </a:buClr>
              <a:buSzPct val="84615"/>
              <a:buFont typeface="Arial MT"/>
              <a:buChar char="•"/>
              <a:tabLst>
                <a:tab pos="335280" algn="l"/>
              </a:tabLst>
            </a:pPr>
            <a:r>
              <a:rPr sz="2860" spc="-385" dirty="0">
                <a:latin typeface="Times New Roman"/>
                <a:cs typeface="Times New Roman"/>
              </a:rPr>
              <a:t>A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highpass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10" dirty="0">
                <a:latin typeface="Times New Roman"/>
                <a:cs typeface="Times New Roman"/>
              </a:rPr>
              <a:t>filter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76" dirty="0">
                <a:latin typeface="Times New Roman"/>
                <a:cs typeface="Times New Roman"/>
              </a:rPr>
              <a:t>yields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65" dirty="0">
                <a:latin typeface="Times New Roman"/>
                <a:cs typeface="Times New Roman"/>
              </a:rPr>
              <a:t>edge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43" dirty="0">
                <a:latin typeface="Times New Roman"/>
                <a:cs typeface="Times New Roman"/>
              </a:rPr>
              <a:t>enhancement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44" dirty="0">
                <a:latin typeface="Times New Roman"/>
                <a:cs typeface="Times New Roman"/>
              </a:rPr>
              <a:t>or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65" dirty="0">
                <a:latin typeface="Times New Roman"/>
                <a:cs typeface="Times New Roman"/>
              </a:rPr>
              <a:t>edge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66" dirty="0">
                <a:latin typeface="Times New Roman"/>
                <a:cs typeface="Times New Roman"/>
              </a:rPr>
              <a:t>detection 	</a:t>
            </a:r>
            <a:r>
              <a:rPr sz="2860" spc="-143" dirty="0">
                <a:latin typeface="Times New Roman"/>
                <a:cs typeface="Times New Roman"/>
              </a:rPr>
              <a:t>in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88" dirty="0">
                <a:latin typeface="Times New Roman"/>
                <a:cs typeface="Times New Roman"/>
              </a:rPr>
              <a:t>the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76" dirty="0">
                <a:latin typeface="Times New Roman"/>
                <a:cs typeface="Times New Roman"/>
              </a:rPr>
              <a:t>spatial</a:t>
            </a:r>
            <a:r>
              <a:rPr sz="2860" spc="-22" dirty="0">
                <a:latin typeface="Times New Roman"/>
                <a:cs typeface="Times New Roman"/>
              </a:rPr>
              <a:t> domain</a:t>
            </a:r>
            <a:endParaRPr sz="2860">
              <a:latin typeface="Times New Roman"/>
              <a:cs typeface="Times New Roman"/>
            </a:endParaRPr>
          </a:p>
          <a:p>
            <a:pPr>
              <a:spcBef>
                <a:spcPts val="1551"/>
              </a:spcBef>
              <a:buClr>
                <a:srgbClr val="D34817"/>
              </a:buClr>
              <a:buFont typeface="Arial MT"/>
              <a:buChar char="•"/>
            </a:pPr>
            <a:endParaRPr sz="2860">
              <a:latin typeface="Times New Roman"/>
              <a:cs typeface="Times New Roman"/>
            </a:endParaRPr>
          </a:p>
          <a:p>
            <a:pPr marL="325501" marR="11176" indent="-297561">
              <a:lnSpc>
                <a:spcPts val="3410"/>
              </a:lnSpc>
              <a:buClr>
                <a:srgbClr val="D34817"/>
              </a:buClr>
              <a:buSzPct val="84615"/>
              <a:buFont typeface="Arial MT"/>
              <a:buChar char="•"/>
              <a:tabLst>
                <a:tab pos="335280" algn="l"/>
              </a:tabLst>
            </a:pPr>
            <a:r>
              <a:rPr sz="2860" spc="-220" dirty="0">
                <a:latin typeface="Times New Roman"/>
                <a:cs typeface="Times New Roman"/>
              </a:rPr>
              <a:t>Edges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32" dirty="0">
                <a:latin typeface="Times New Roman"/>
                <a:cs typeface="Times New Roman"/>
              </a:rPr>
              <a:t>contain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76" dirty="0">
                <a:latin typeface="Times New Roman"/>
                <a:cs typeface="Times New Roman"/>
              </a:rPr>
              <a:t>mostly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209" dirty="0">
                <a:latin typeface="Times New Roman"/>
                <a:cs typeface="Times New Roman"/>
              </a:rPr>
              <a:t>high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43" dirty="0">
                <a:latin typeface="Times New Roman"/>
                <a:cs typeface="Times New Roman"/>
              </a:rPr>
              <a:t>frequencies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165" dirty="0">
                <a:latin typeface="Times New Roman"/>
                <a:cs typeface="Times New Roman"/>
              </a:rPr>
              <a:t>while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88" dirty="0">
                <a:latin typeface="Times New Roman"/>
                <a:cs typeface="Times New Roman"/>
              </a:rPr>
              <a:t>other</a:t>
            </a:r>
            <a:r>
              <a:rPr sz="2860" dirty="0">
                <a:latin typeface="Times New Roman"/>
                <a:cs typeface="Times New Roman"/>
              </a:rPr>
              <a:t> </a:t>
            </a:r>
            <a:r>
              <a:rPr sz="2860" spc="-176" dirty="0">
                <a:latin typeface="Times New Roman"/>
                <a:cs typeface="Times New Roman"/>
              </a:rPr>
              <a:t>areas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55" dirty="0">
                <a:latin typeface="Times New Roman"/>
                <a:cs typeface="Times New Roman"/>
              </a:rPr>
              <a:t>of 	</a:t>
            </a:r>
            <a:r>
              <a:rPr sz="2860" spc="-88" dirty="0">
                <a:latin typeface="Times New Roman"/>
                <a:cs typeface="Times New Roman"/>
              </a:rPr>
              <a:t>the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98" dirty="0">
                <a:latin typeface="Times New Roman"/>
                <a:cs typeface="Times New Roman"/>
              </a:rPr>
              <a:t>image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32" dirty="0">
                <a:latin typeface="Times New Roman"/>
                <a:cs typeface="Times New Roman"/>
              </a:rPr>
              <a:t>are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77" dirty="0">
                <a:latin typeface="Times New Roman"/>
                <a:cs typeface="Times New Roman"/>
              </a:rPr>
              <a:t>rather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43" dirty="0">
                <a:latin typeface="Times New Roman"/>
                <a:cs typeface="Times New Roman"/>
              </a:rPr>
              <a:t>constant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209" dirty="0">
                <a:latin typeface="Times New Roman"/>
                <a:cs typeface="Times New Roman"/>
              </a:rPr>
              <a:t>gray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76" dirty="0">
                <a:latin typeface="Times New Roman"/>
                <a:cs typeface="Times New Roman"/>
              </a:rPr>
              <a:t>level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55" dirty="0">
                <a:latin typeface="Times New Roman"/>
                <a:cs typeface="Times New Roman"/>
              </a:rPr>
              <a:t>(i.e.</a:t>
            </a:r>
            <a:r>
              <a:rPr sz="2860" spc="-132" dirty="0">
                <a:latin typeface="Times New Roman"/>
                <a:cs typeface="Times New Roman"/>
              </a:rPr>
              <a:t> </a:t>
            </a:r>
            <a:r>
              <a:rPr sz="2860" spc="-176" dirty="0">
                <a:latin typeface="Times New Roman"/>
                <a:cs typeface="Times New Roman"/>
              </a:rPr>
              <a:t>low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121" dirty="0">
                <a:latin typeface="Times New Roman"/>
                <a:cs typeface="Times New Roman"/>
              </a:rPr>
              <a:t>frequencies) 	</a:t>
            </a:r>
            <a:r>
              <a:rPr sz="2860" spc="-176" dirty="0">
                <a:latin typeface="Times New Roman"/>
                <a:cs typeface="Times New Roman"/>
              </a:rPr>
              <a:t>which</a:t>
            </a:r>
            <a:r>
              <a:rPr sz="2860" spc="-22" dirty="0">
                <a:latin typeface="Times New Roman"/>
                <a:cs typeface="Times New Roman"/>
              </a:rPr>
              <a:t> </a:t>
            </a:r>
            <a:r>
              <a:rPr sz="2860" spc="-132" dirty="0">
                <a:latin typeface="Times New Roman"/>
                <a:cs typeface="Times New Roman"/>
              </a:rPr>
              <a:t>are</a:t>
            </a:r>
            <a:r>
              <a:rPr sz="2860" spc="-11" dirty="0">
                <a:latin typeface="Times New Roman"/>
                <a:cs typeface="Times New Roman"/>
              </a:rPr>
              <a:t> </a:t>
            </a:r>
            <a:r>
              <a:rPr sz="2860" spc="-22" dirty="0">
                <a:latin typeface="Times New Roman"/>
                <a:cs typeface="Times New Roman"/>
              </a:rPr>
              <a:t>suppressed.</a:t>
            </a:r>
            <a:endParaRPr sz="286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" y="118872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4572000" h="3429000">
                <a:moveTo>
                  <a:pt x="0" y="0"/>
                </a:moveTo>
                <a:lnTo>
                  <a:pt x="4571999" y="0"/>
                </a:lnTo>
                <a:lnTo>
                  <a:pt x="4571999" y="3428999"/>
                </a:lnTo>
                <a:lnTo>
                  <a:pt x="0" y="3428999"/>
                </a:lnTo>
                <a:lnTo>
                  <a:pt x="0" y="0"/>
                </a:lnTo>
                <a:close/>
              </a:path>
            </a:pathLst>
          </a:custGeom>
          <a:ln w="12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740" y="2378202"/>
            <a:ext cx="3727703" cy="40233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072" rIns="0" bIns="0" rtlCol="0">
            <a:spAutoFit/>
          </a:bodyPr>
          <a:lstStyle/>
          <a:p>
            <a:pPr marL="1205230">
              <a:lnSpc>
                <a:spcPct val="100000"/>
              </a:lnSpc>
              <a:spcBef>
                <a:spcPts val="105"/>
              </a:spcBef>
            </a:pPr>
            <a:r>
              <a:rPr dirty="0"/>
              <a:t>Highpass Filters: 1-</a:t>
            </a:r>
            <a:r>
              <a:rPr spc="-25" dirty="0"/>
              <a:t>H</a:t>
            </a:r>
            <a:r>
              <a:rPr sz="3000" spc="-37" baseline="-20833" dirty="0"/>
              <a:t>LP</a:t>
            </a:r>
            <a:endParaRPr sz="3000" baseline="-20833"/>
          </a:p>
        </p:txBody>
      </p:sp>
      <p:sp>
        <p:nvSpPr>
          <p:cNvPr id="4" name="object 4"/>
          <p:cNvSpPr txBox="1"/>
          <p:nvPr/>
        </p:nvSpPr>
        <p:spPr>
          <a:xfrm>
            <a:off x="1489198" y="3526032"/>
            <a:ext cx="34651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latin typeface="Tahoma"/>
                <a:cs typeface="Tahoma"/>
              </a:rPr>
              <a:t>Butterworth</a:t>
            </a:r>
            <a:r>
              <a:rPr sz="1950" b="1" spc="120" dirty="0">
                <a:latin typeface="Tahoma"/>
                <a:cs typeface="Tahoma"/>
              </a:rPr>
              <a:t> </a:t>
            </a:r>
            <a:r>
              <a:rPr sz="1950" b="1" dirty="0">
                <a:latin typeface="Tahoma"/>
                <a:cs typeface="Tahoma"/>
              </a:rPr>
              <a:t>highpass</a:t>
            </a:r>
            <a:r>
              <a:rPr sz="1950" b="1" spc="110" dirty="0">
                <a:latin typeface="Tahoma"/>
                <a:cs typeface="Tahoma"/>
              </a:rPr>
              <a:t> </a:t>
            </a:r>
            <a:r>
              <a:rPr sz="1950" b="1" spc="-10" dirty="0">
                <a:latin typeface="Tahoma"/>
                <a:cs typeface="Tahoma"/>
              </a:rPr>
              <a:t>filter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2159" y="4923545"/>
            <a:ext cx="305625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latin typeface="Tahoma"/>
                <a:cs typeface="Tahoma"/>
              </a:rPr>
              <a:t>Gaussian</a:t>
            </a:r>
            <a:r>
              <a:rPr sz="1950" b="1" spc="95" dirty="0">
                <a:latin typeface="Tahoma"/>
                <a:cs typeface="Tahoma"/>
              </a:rPr>
              <a:t> </a:t>
            </a:r>
            <a:r>
              <a:rPr sz="1950" b="1" dirty="0">
                <a:latin typeface="Tahoma"/>
                <a:cs typeface="Tahoma"/>
              </a:rPr>
              <a:t>highpass</a:t>
            </a:r>
            <a:r>
              <a:rPr sz="1950" b="1" spc="100" dirty="0">
                <a:latin typeface="Tahoma"/>
                <a:cs typeface="Tahoma"/>
              </a:rPr>
              <a:t> </a:t>
            </a:r>
            <a:r>
              <a:rPr sz="1950" b="1" spc="-10" dirty="0">
                <a:latin typeface="Tahoma"/>
                <a:cs typeface="Tahoma"/>
              </a:rPr>
              <a:t>filter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5135" y="2930426"/>
            <a:ext cx="14541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latin typeface="Symbol"/>
                <a:cs typeface="Symbol"/>
              </a:rPr>
              <a:t>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5135" y="2722400"/>
            <a:ext cx="14541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-50" dirty="0">
                <a:latin typeface="Symbol"/>
                <a:cs typeface="Symbol"/>
              </a:rPr>
              <a:t>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0104" y="2866234"/>
            <a:ext cx="9652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9735" y="3074445"/>
            <a:ext cx="1774189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50" baseline="-14619" dirty="0">
                <a:latin typeface="Symbol"/>
                <a:cs typeface="Symbol"/>
              </a:rPr>
              <a:t></a:t>
            </a: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D(u,</a:t>
            </a:r>
            <a:r>
              <a:rPr sz="1900" spc="-2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v)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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D</a:t>
            </a:r>
            <a:r>
              <a:rPr sz="1650" spc="-37" baseline="-25252" dirty="0">
                <a:latin typeface="Times New Roman"/>
                <a:cs typeface="Times New Roman"/>
              </a:rPr>
              <a:t>0</a:t>
            </a:r>
            <a:endParaRPr sz="1650" baseline="-25252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0473" y="2258273"/>
            <a:ext cx="2566670" cy="7639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950" b="1" dirty="0">
                <a:latin typeface="Tahoma"/>
                <a:cs typeface="Tahoma"/>
              </a:rPr>
              <a:t>Ideal</a:t>
            </a:r>
            <a:r>
              <a:rPr sz="1950" b="1" spc="65" dirty="0">
                <a:latin typeface="Tahoma"/>
                <a:cs typeface="Tahoma"/>
              </a:rPr>
              <a:t> </a:t>
            </a:r>
            <a:r>
              <a:rPr sz="1950" b="1" dirty="0">
                <a:latin typeface="Tahoma"/>
                <a:cs typeface="Tahoma"/>
              </a:rPr>
              <a:t>highpass</a:t>
            </a:r>
            <a:r>
              <a:rPr sz="1950" b="1" spc="80" dirty="0">
                <a:latin typeface="Tahoma"/>
                <a:cs typeface="Tahoma"/>
              </a:rPr>
              <a:t> </a:t>
            </a:r>
            <a:r>
              <a:rPr sz="1950" b="1" spc="-10" dirty="0">
                <a:latin typeface="Tahoma"/>
                <a:cs typeface="Tahoma"/>
              </a:rPr>
              <a:t>filter</a:t>
            </a:r>
            <a:endParaRPr sz="1950">
              <a:latin typeface="Tahoma"/>
              <a:cs typeface="Tahoma"/>
            </a:endParaRPr>
          </a:p>
          <a:p>
            <a:pPr marL="854710">
              <a:lnSpc>
                <a:spcPct val="100000"/>
              </a:lnSpc>
              <a:spcBef>
                <a:spcPts val="575"/>
              </a:spcBef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3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D(u,</a:t>
            </a:r>
            <a:r>
              <a:rPr sz="1900" spc="-2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v)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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0288" y="2888537"/>
            <a:ext cx="91376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i="1" dirty="0">
                <a:latin typeface="Times New Roman"/>
                <a:cs typeface="Times New Roman"/>
              </a:rPr>
              <a:t>H</a:t>
            </a:r>
            <a:r>
              <a:rPr sz="1900" i="1" spc="-1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u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2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v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98876" y="4374641"/>
            <a:ext cx="85090" cy="262890"/>
          </a:xfrm>
          <a:custGeom>
            <a:avLst/>
            <a:gdLst/>
            <a:ahLst/>
            <a:cxnLst/>
            <a:rect l="l" t="t" r="r" b="b"/>
            <a:pathLst>
              <a:path w="85089" h="262889">
                <a:moveTo>
                  <a:pt x="84581" y="0"/>
                </a:moveTo>
                <a:lnTo>
                  <a:pt x="0" y="262890"/>
                </a:lnTo>
              </a:path>
            </a:pathLst>
          </a:custGeom>
          <a:ln w="5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03170" y="4290821"/>
            <a:ext cx="1791970" cy="0"/>
          </a:xfrm>
          <a:custGeom>
            <a:avLst/>
            <a:gdLst/>
            <a:ahLst/>
            <a:cxnLst/>
            <a:rect l="l" t="t" r="r" b="b"/>
            <a:pathLst>
              <a:path w="1791970">
                <a:moveTo>
                  <a:pt x="0" y="0"/>
                </a:moveTo>
                <a:lnTo>
                  <a:pt x="179146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86787" y="4074072"/>
            <a:ext cx="30607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4125" spc="-37" baseline="-21212" dirty="0">
                <a:latin typeface="Symbol"/>
                <a:cs typeface="Symbol"/>
              </a:rPr>
              <a:t></a:t>
            </a:r>
            <a:r>
              <a:rPr sz="1150" spc="-25" dirty="0">
                <a:latin typeface="Times New Roman"/>
                <a:cs typeface="Times New Roman"/>
              </a:rPr>
              <a:t>2</a:t>
            </a:r>
            <a:r>
              <a:rPr sz="1150" i="1" spc="-25" dirty="0">
                <a:latin typeface="Times New Roman"/>
                <a:cs typeface="Times New Roman"/>
              </a:rPr>
              <a:t>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489207" y="4086076"/>
            <a:ext cx="963930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i="1" dirty="0">
                <a:latin typeface="Times New Roman"/>
                <a:cs typeface="Times New Roman"/>
              </a:rPr>
              <a:t>H</a:t>
            </a:r>
            <a:r>
              <a:rPr sz="2000" i="1" spc="-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1880" y="4472737"/>
            <a:ext cx="10033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5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21793" y="3923770"/>
            <a:ext cx="154305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9776" y="4207422"/>
            <a:ext cx="155321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29944" algn="l"/>
              </a:tabLst>
            </a:pPr>
            <a:r>
              <a:rPr sz="2000" spc="80" dirty="0">
                <a:latin typeface="Times New Roman"/>
                <a:cs typeface="Times New Roman"/>
              </a:rPr>
              <a:t>1</a:t>
            </a:r>
            <a:r>
              <a:rPr sz="2000" spc="80" dirty="0">
                <a:latin typeface="Symbol"/>
                <a:cs typeface="Symbol"/>
              </a:rPr>
              <a:t>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Symbol"/>
                <a:cs typeface="Symbol"/>
              </a:rPr>
              <a:t></a:t>
            </a:r>
            <a:r>
              <a:rPr sz="2000" spc="-2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i="1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v</a:t>
            </a:r>
            <a:r>
              <a:rPr sz="2000" spc="-2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2756" y="5445695"/>
            <a:ext cx="8445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50" dirty="0"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98952" y="5331396"/>
            <a:ext cx="83439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62000" algn="l"/>
              </a:tabLst>
            </a:pPr>
            <a:r>
              <a:rPr sz="900" spc="-50" dirty="0">
                <a:latin typeface="Times New Roman"/>
                <a:cs typeface="Times New Roman"/>
              </a:rPr>
              <a:t>2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5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0445" y="5357685"/>
            <a:ext cx="1001394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Symbol"/>
                <a:cs typeface="Symbol"/>
              </a:rPr>
              <a:t></a:t>
            </a:r>
            <a:r>
              <a:rPr sz="1300" spc="-180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D</a:t>
            </a:r>
            <a:r>
              <a:rPr sz="1300" i="1" spc="10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(</a:t>
            </a:r>
            <a:r>
              <a:rPr sz="1300" i="1" dirty="0">
                <a:latin typeface="Times New Roman"/>
                <a:cs typeface="Times New Roman"/>
              </a:rPr>
              <a:t>u</a:t>
            </a:r>
            <a:r>
              <a:rPr sz="1300" i="1" spc="-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i="1" dirty="0">
                <a:latin typeface="Times New Roman"/>
                <a:cs typeface="Times New Roman"/>
              </a:rPr>
              <a:t>v</a:t>
            </a:r>
            <a:r>
              <a:rPr sz="1300" dirty="0">
                <a:latin typeface="Times New Roman"/>
                <a:cs typeface="Times New Roman"/>
              </a:rPr>
              <a:t>)</a:t>
            </a:r>
            <a:r>
              <a:rPr sz="1300" spc="-1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/</a:t>
            </a:r>
            <a:r>
              <a:rPr sz="1300" spc="-1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2</a:t>
            </a:r>
            <a:r>
              <a:rPr sz="1300" spc="-190" dirty="0">
                <a:latin typeface="Times New Roman"/>
                <a:cs typeface="Times New Roman"/>
              </a:rPr>
              <a:t> </a:t>
            </a:r>
            <a:r>
              <a:rPr sz="1300" i="1" spc="-5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2912" y="5370829"/>
            <a:ext cx="1570355" cy="3632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i="1" dirty="0">
                <a:latin typeface="Times New Roman"/>
                <a:cs typeface="Times New Roman"/>
              </a:rPr>
              <a:t>H</a:t>
            </a:r>
            <a:r>
              <a:rPr sz="2200" i="1" spc="-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u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30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275" dirty="0">
                <a:latin typeface="Times New Roman"/>
                <a:cs typeface="Times New Roman"/>
              </a:rPr>
              <a:t> </a:t>
            </a:r>
            <a:r>
              <a:rPr sz="2200" spc="85" dirty="0">
                <a:latin typeface="Times New Roman"/>
                <a:cs typeface="Times New Roman"/>
              </a:rPr>
              <a:t>1</a:t>
            </a:r>
            <a:r>
              <a:rPr sz="2200" spc="85" dirty="0">
                <a:latin typeface="Symbol"/>
                <a:cs typeface="Symbol"/>
              </a:rPr>
              <a:t></a:t>
            </a:r>
            <a:r>
              <a:rPr sz="2200" spc="-195" dirty="0">
                <a:latin typeface="Times New Roman"/>
                <a:cs typeface="Times New Roman"/>
              </a:rPr>
              <a:t> </a:t>
            </a:r>
            <a:r>
              <a:rPr sz="2200" i="1" spc="-50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761</Words>
  <Application>Microsoft Office PowerPoint</Application>
  <PresentationFormat>Custom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 MT</vt:lpstr>
      <vt:lpstr>Calibri</vt:lpstr>
      <vt:lpstr>Franklin Gothic Medium</vt:lpstr>
      <vt:lpstr>Georgia</vt:lpstr>
      <vt:lpstr>Lucida Sans Unicode</vt:lpstr>
      <vt:lpstr>Segoe UI Symbol</vt:lpstr>
      <vt:lpstr>Symbol</vt:lpstr>
      <vt:lpstr>Tahoma</vt:lpstr>
      <vt:lpstr>Times New Roman</vt:lpstr>
      <vt:lpstr>Office Theme</vt:lpstr>
      <vt:lpstr>Filtering in the Frequency Domain</vt:lpstr>
      <vt:lpstr>Objectives</vt:lpstr>
      <vt:lpstr>Basic Steps</vt:lpstr>
      <vt:lpstr>Basics</vt:lpstr>
      <vt:lpstr>The Discrete Fourier Transform (DFT)</vt:lpstr>
      <vt:lpstr>The Inverse DFT</vt:lpstr>
      <vt:lpstr>PowerPoint Presentation</vt:lpstr>
      <vt:lpstr>Frequency Bands</vt:lpstr>
      <vt:lpstr>Lowpass and Highpass Filters</vt:lpstr>
      <vt:lpstr>1. Low-pass Filters</vt:lpstr>
      <vt:lpstr>Ideal Lowpass Filter</vt:lpstr>
      <vt:lpstr>The transfer function for the ideal low pass filter can be given as:</vt:lpstr>
      <vt:lpstr>Butterworth Lowpass Filter (BLPF)</vt:lpstr>
      <vt:lpstr>Gaussian Lowpass Filter (GLPF)</vt:lpstr>
      <vt:lpstr>1. High-pass Filters</vt:lpstr>
      <vt:lpstr>High-pass Filters</vt:lpstr>
      <vt:lpstr>Highpass Filters: 1-HLP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Filtering in the Frequency Domain</dc:title>
  <cp:lastModifiedBy>anwar khan</cp:lastModifiedBy>
  <cp:revision>37</cp:revision>
  <dcterms:created xsi:type="dcterms:W3CDTF">2025-12-10T16:49:11Z</dcterms:created>
  <dcterms:modified xsi:type="dcterms:W3CDTF">2025-12-18T07:57:23Z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2025-12-10T00:00:00Z</vt:filetime>
  </property>
  <property fmtid="{D5CDD505-2E9C-101B-9397-08002B2CF9AE}" pid="5" name="Producer">
    <vt:lpwstr>Acrobat Distiller 9.5.5 (Windows)</vt:lpwstr>
  </property>
</Properties>
</file>