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84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333" r:id="rId10"/>
    <p:sldId id="334" r:id="rId11"/>
    <p:sldId id="338" r:id="rId12"/>
    <p:sldId id="265" r:id="rId13"/>
    <p:sldId id="267" r:id="rId14"/>
    <p:sldId id="268" r:id="rId15"/>
    <p:sldId id="335" r:id="rId16"/>
    <p:sldId id="269" r:id="rId17"/>
    <p:sldId id="336" r:id="rId18"/>
    <p:sldId id="337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339" r:id="rId27"/>
    <p:sldId id="340" r:id="rId28"/>
    <p:sldId id="341" r:id="rId29"/>
    <p:sldId id="342" r:id="rId30"/>
    <p:sldId id="344" r:id="rId31"/>
    <p:sldId id="343" r:id="rId32"/>
    <p:sldId id="277" r:id="rId33"/>
    <p:sldId id="345" r:id="rId34"/>
    <p:sldId id="348" r:id="rId35"/>
    <p:sldId id="278" r:id="rId36"/>
    <p:sldId id="279" r:id="rId37"/>
    <p:sldId id="280" r:id="rId38"/>
    <p:sldId id="281" r:id="rId39"/>
    <p:sldId id="282" r:id="rId40"/>
    <p:sldId id="283" r:id="rId4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43793-ADFD-4BC4-9AB4-D250F633548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217CE-915E-404E-8F08-9EC9D12FA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0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217CE-915E-404E-8F08-9EC9D12FA8E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28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92" y="326516"/>
            <a:ext cx="100266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6892" y="3381502"/>
            <a:ext cx="8140700" cy="1855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17.png"/><Relationship Id="rId4" Type="http://schemas.openxmlformats.org/officeDocument/2006/relationships/image" Target="../media/image33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g"/><Relationship Id="rId5" Type="http://schemas.openxmlformats.org/officeDocument/2006/relationships/image" Target="../media/image46.jp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892" y="326516"/>
            <a:ext cx="7004508" cy="612039"/>
          </a:xfrm>
          <a:prstGeom prst="rect">
            <a:avLst/>
          </a:prstGeom>
        </p:spPr>
        <p:txBody>
          <a:bodyPr vert="horz" wrap="square" lIns="0" tIns="118440" rIns="0" bIns="0" rtlCol="0">
            <a:spAutoFit/>
          </a:bodyPr>
          <a:lstStyle/>
          <a:p>
            <a:pPr marL="2323465">
              <a:lnSpc>
                <a:spcPct val="100000"/>
              </a:lnSpc>
              <a:spcBef>
                <a:spcPts val="105"/>
              </a:spcBef>
            </a:pPr>
            <a:r>
              <a:rPr lang="en-US" sz="3200" dirty="0"/>
              <a:t>Image Enhancement</a:t>
            </a:r>
            <a:endParaRPr sz="3200" dirty="0"/>
          </a:p>
        </p:txBody>
      </p:sp>
      <p:sp>
        <p:nvSpPr>
          <p:cNvPr id="3" name="object 3"/>
          <p:cNvSpPr/>
          <p:nvPr/>
        </p:nvSpPr>
        <p:spPr>
          <a:xfrm>
            <a:off x="533400" y="9144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76200">
            <a:solidFill>
              <a:srgbClr val="D247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02473" y="1043685"/>
            <a:ext cx="1080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1800" spc="-20" dirty="0">
                <a:latin typeface="Verdana"/>
                <a:cs typeface="Verdana"/>
              </a:rPr>
              <a:t>than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1043685"/>
            <a:ext cx="6849745" cy="519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85750" marR="5080" indent="-273685">
              <a:lnSpc>
                <a:spcPct val="80000"/>
              </a:lnSpc>
              <a:spcBef>
                <a:spcPts val="530"/>
              </a:spcBef>
              <a:buClr>
                <a:srgbClr val="D24717"/>
              </a:buClr>
              <a:buSzPct val="83333"/>
              <a:buFont typeface="Wingdings"/>
              <a:buChar char=""/>
              <a:tabLst>
                <a:tab pos="285750" algn="l"/>
                <a:tab pos="1316990" algn="l"/>
                <a:tab pos="1765300" algn="l"/>
                <a:tab pos="2632710" algn="l"/>
                <a:tab pos="3027680" algn="l"/>
                <a:tab pos="3824604" algn="l"/>
                <a:tab pos="4361180" algn="l"/>
                <a:tab pos="5179695" algn="l"/>
                <a:tab pos="5940425" algn="l"/>
              </a:tabLst>
            </a:pPr>
            <a:r>
              <a:rPr sz="1800" spc="-10" dirty="0">
                <a:latin typeface="Verdana"/>
                <a:cs typeface="Verdana"/>
              </a:rPr>
              <a:t>Process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an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image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0" dirty="0">
                <a:latin typeface="Verdana"/>
                <a:cs typeface="Verdana"/>
              </a:rPr>
              <a:t>make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result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0" dirty="0">
                <a:latin typeface="Verdana"/>
                <a:cs typeface="Verdana"/>
              </a:rPr>
              <a:t>more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suitable </a:t>
            </a:r>
            <a:r>
              <a:rPr sz="1800" dirty="0">
                <a:latin typeface="Verdana"/>
                <a:cs typeface="Verdana"/>
              </a:rPr>
              <a:t>original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image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9B2C1F"/>
                </a:solidFill>
                <a:latin typeface="Verdana"/>
                <a:cs typeface="Verdana"/>
              </a:rPr>
              <a:t>specific</a:t>
            </a:r>
            <a:r>
              <a:rPr sz="1800" spc="-5" dirty="0">
                <a:solidFill>
                  <a:srgbClr val="9B2C1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9B2C1F"/>
                </a:solidFill>
                <a:latin typeface="Verdana"/>
                <a:cs typeface="Verdana"/>
              </a:rPr>
              <a:t>application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1854453"/>
            <a:ext cx="7867015" cy="200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3333"/>
              <a:buFont typeface="Wingdings"/>
              <a:buChar char=""/>
              <a:tabLst>
                <a:tab pos="285115" algn="l"/>
              </a:tabLst>
            </a:pP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reasons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doing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include: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Clr>
                <a:srgbClr val="D24717"/>
              </a:buClr>
              <a:buFont typeface="Wingdings"/>
              <a:buChar char=""/>
            </a:pPr>
            <a:endParaRPr sz="1800" dirty="0">
              <a:latin typeface="Verdana"/>
              <a:cs typeface="Verdana"/>
            </a:endParaRPr>
          </a:p>
          <a:p>
            <a:pPr marL="742315" lvl="1" indent="-272415">
              <a:lnSpc>
                <a:spcPct val="100000"/>
              </a:lnSpc>
              <a:buClr>
                <a:srgbClr val="D24717"/>
              </a:buClr>
              <a:buSzPct val="84375"/>
              <a:buFont typeface="Wingdings"/>
              <a:buChar char=""/>
              <a:tabLst>
                <a:tab pos="742315" algn="l"/>
              </a:tabLst>
            </a:pPr>
            <a:r>
              <a:rPr sz="1600" dirty="0">
                <a:latin typeface="Verdana"/>
                <a:cs typeface="Verdana"/>
              </a:rPr>
              <a:t>Highlighting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interesting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details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image</a:t>
            </a:r>
            <a:endParaRPr sz="1600" dirty="0">
              <a:latin typeface="Verdana"/>
              <a:cs typeface="Verdana"/>
            </a:endParaRPr>
          </a:p>
          <a:p>
            <a:pPr marL="742315" lvl="1" indent="-272415">
              <a:lnSpc>
                <a:spcPct val="100000"/>
              </a:lnSpc>
              <a:spcBef>
                <a:spcPts val="215"/>
              </a:spcBef>
              <a:buClr>
                <a:srgbClr val="D24717"/>
              </a:buClr>
              <a:buSzPct val="84375"/>
              <a:buFont typeface="Wingdings"/>
              <a:buChar char=""/>
              <a:tabLst>
                <a:tab pos="742315" algn="l"/>
              </a:tabLst>
            </a:pPr>
            <a:r>
              <a:rPr sz="1600" dirty="0">
                <a:latin typeface="Verdana"/>
                <a:cs typeface="Verdana"/>
              </a:rPr>
              <a:t>Removing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noise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from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images</a:t>
            </a:r>
            <a:endParaRPr sz="1600" dirty="0">
              <a:latin typeface="Verdana"/>
              <a:cs typeface="Verdana"/>
            </a:endParaRPr>
          </a:p>
          <a:p>
            <a:pPr marL="742315" lvl="1" indent="-272415">
              <a:lnSpc>
                <a:spcPct val="100000"/>
              </a:lnSpc>
              <a:spcBef>
                <a:spcPts val="215"/>
              </a:spcBef>
              <a:buClr>
                <a:srgbClr val="D24717"/>
              </a:buClr>
              <a:buSzPct val="84375"/>
              <a:buFont typeface="Wingdings"/>
              <a:buChar char=""/>
              <a:tabLst>
                <a:tab pos="742315" algn="l"/>
              </a:tabLst>
            </a:pPr>
            <a:r>
              <a:rPr sz="1600" dirty="0">
                <a:latin typeface="Verdana"/>
                <a:cs typeface="Verdana"/>
              </a:rPr>
              <a:t>Making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images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visually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more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appealing</a:t>
            </a:r>
            <a:endParaRPr sz="1600" dirty="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5"/>
              </a:spcBef>
              <a:buClr>
                <a:srgbClr val="D24717"/>
              </a:buClr>
              <a:buFont typeface="Wingdings"/>
              <a:buChar char=""/>
            </a:pPr>
            <a:endParaRPr sz="1600" dirty="0">
              <a:latin typeface="Verdana"/>
              <a:cs typeface="Verdana"/>
            </a:endParaRPr>
          </a:p>
          <a:p>
            <a:pPr marL="285115" indent="-272415">
              <a:lnSpc>
                <a:spcPct val="100000"/>
              </a:lnSpc>
              <a:spcBef>
                <a:spcPts val="5"/>
              </a:spcBef>
              <a:buClr>
                <a:srgbClr val="D24717"/>
              </a:buClr>
              <a:buSzPct val="83333"/>
              <a:buFont typeface="Wingdings"/>
              <a:buChar char=""/>
              <a:tabLst>
                <a:tab pos="285115" algn="l"/>
              </a:tabLst>
            </a:pPr>
            <a:r>
              <a:rPr sz="1800" i="1" dirty="0">
                <a:latin typeface="Verdana"/>
                <a:cs typeface="Verdana"/>
              </a:rPr>
              <a:t>Image</a:t>
            </a:r>
            <a:r>
              <a:rPr sz="1800" i="1" spc="-6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enhancement</a:t>
            </a:r>
            <a:r>
              <a:rPr sz="1800" i="1" spc="-5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is</a:t>
            </a:r>
            <a:r>
              <a:rPr sz="1800" i="1" spc="-5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subjective</a:t>
            </a:r>
            <a:r>
              <a:rPr sz="1800" i="1" spc="-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(problem</a:t>
            </a:r>
            <a:r>
              <a:rPr sz="1800" i="1" spc="-4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/application</a:t>
            </a:r>
            <a:r>
              <a:rPr sz="1800" i="1" spc="-4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oriented)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9455" y="4114800"/>
            <a:ext cx="6713944" cy="23488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36342" y="1234566"/>
            <a:ext cx="1075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0" dirty="0">
                <a:solidFill>
                  <a:srgbClr val="974707"/>
                </a:solidFill>
                <a:uFill>
                  <a:solidFill>
                    <a:srgbClr val="974707"/>
                  </a:solidFill>
                </a:uFill>
              </a:rPr>
              <a:t>Content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371957" y="1601800"/>
            <a:ext cx="384365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2905" algn="l"/>
              </a:tabLst>
            </a:pP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1.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	Fundamental</a:t>
            </a:r>
            <a:r>
              <a:rPr sz="20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0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spatial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filtering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481" y="1906905"/>
            <a:ext cx="4752975" cy="398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16827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Spatial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Domain</a:t>
            </a:r>
            <a:endParaRPr sz="2000" dirty="0">
              <a:latin typeface="Times New Roman"/>
              <a:cs typeface="Times New Roman"/>
            </a:endParaRPr>
          </a:p>
          <a:p>
            <a:pPr marL="368300" indent="-168275">
              <a:lnSpc>
                <a:spcPct val="100000"/>
              </a:lnSpc>
              <a:buFont typeface="Arial MT"/>
              <a:buChar char="•"/>
              <a:tabLst>
                <a:tab pos="36830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Frequency</a:t>
            </a:r>
            <a:r>
              <a:rPr sz="20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Domain</a:t>
            </a:r>
            <a:endParaRPr sz="2000" dirty="0">
              <a:latin typeface="Times New Roman"/>
              <a:cs typeface="Times New Roman"/>
            </a:endParaRPr>
          </a:p>
          <a:p>
            <a:pPr marL="331470" indent="-318770">
              <a:lnSpc>
                <a:spcPct val="100000"/>
              </a:lnSpc>
              <a:buAutoNum type="arabicPeriod" startAt="2"/>
              <a:tabLst>
                <a:tab pos="331470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Linear</a:t>
            </a:r>
            <a:r>
              <a:rPr sz="20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Filters</a:t>
            </a:r>
            <a:endParaRPr sz="2000" dirty="0">
              <a:latin typeface="Times New Roman"/>
              <a:cs typeface="Times New Roman"/>
            </a:endParaRPr>
          </a:p>
          <a:p>
            <a:pPr marL="331470" indent="-318770">
              <a:lnSpc>
                <a:spcPct val="100000"/>
              </a:lnSpc>
              <a:buAutoNum type="arabicPeriod" startAt="2"/>
              <a:tabLst>
                <a:tab pos="331470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Smoothing</a:t>
            </a:r>
            <a:r>
              <a:rPr sz="20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Filters</a:t>
            </a:r>
            <a:endParaRPr sz="2000" dirty="0">
              <a:latin typeface="Times New Roman"/>
              <a:cs typeface="Times New Roman"/>
            </a:endParaRPr>
          </a:p>
          <a:p>
            <a:pPr marL="422275" lvl="1" indent="-236220">
              <a:lnSpc>
                <a:spcPct val="100000"/>
              </a:lnSpc>
              <a:buFont typeface="Arial MT"/>
              <a:buChar char="•"/>
              <a:tabLst>
                <a:tab pos="422275" algn="l"/>
              </a:tabLst>
            </a:pP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Average</a:t>
            </a:r>
            <a:r>
              <a:rPr sz="20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endParaRPr sz="2000" dirty="0">
              <a:latin typeface="Times New Roman"/>
              <a:cs typeface="Times New Roman"/>
            </a:endParaRPr>
          </a:p>
          <a:p>
            <a:pPr marL="372745" lvl="1" indent="-186690">
              <a:lnSpc>
                <a:spcPct val="100000"/>
              </a:lnSpc>
              <a:buFont typeface="Arial MT"/>
              <a:buChar char="•"/>
              <a:tabLst>
                <a:tab pos="37274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Gaussian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Filtering</a:t>
            </a:r>
            <a:endParaRPr sz="2000" dirty="0">
              <a:latin typeface="Times New Roman"/>
              <a:cs typeface="Times New Roman"/>
            </a:endParaRPr>
          </a:p>
          <a:p>
            <a:pPr marL="331470" indent="-318770">
              <a:lnSpc>
                <a:spcPct val="100000"/>
              </a:lnSpc>
              <a:buAutoNum type="arabicPeriod" startAt="2"/>
              <a:tabLst>
                <a:tab pos="331470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Nonlinear</a:t>
            </a:r>
            <a:r>
              <a:rPr sz="20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Filter</a:t>
            </a:r>
            <a:endParaRPr sz="2000" dirty="0">
              <a:latin typeface="Times New Roman"/>
              <a:cs typeface="Times New Roman"/>
            </a:endParaRPr>
          </a:p>
          <a:p>
            <a:pPr marL="372745" lvl="1" indent="-186690">
              <a:lnSpc>
                <a:spcPct val="100000"/>
              </a:lnSpc>
              <a:buFont typeface="Arial MT"/>
              <a:buChar char="•"/>
              <a:tabLst>
                <a:tab pos="37274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Median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endParaRPr sz="2000" dirty="0">
              <a:latin typeface="Times New Roman"/>
              <a:cs typeface="Times New Roman"/>
            </a:endParaRPr>
          </a:p>
          <a:p>
            <a:pPr marL="331470" indent="-318770">
              <a:lnSpc>
                <a:spcPct val="100000"/>
              </a:lnSpc>
              <a:buAutoNum type="arabicPeriod" startAt="2"/>
              <a:tabLst>
                <a:tab pos="331470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Sharpening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Filters</a:t>
            </a:r>
            <a:endParaRPr sz="2000" dirty="0">
              <a:latin typeface="Times New Roman"/>
              <a:cs typeface="Times New Roman"/>
            </a:endParaRPr>
          </a:p>
          <a:p>
            <a:pPr marL="372745" lvl="1" indent="-18669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7274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Laplacian</a:t>
            </a:r>
            <a:r>
              <a:rPr sz="20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endParaRPr sz="2000" dirty="0">
              <a:latin typeface="Times New Roman"/>
              <a:cs typeface="Times New Roman"/>
            </a:endParaRPr>
          </a:p>
          <a:p>
            <a:pPr marL="331470" indent="-318770">
              <a:lnSpc>
                <a:spcPct val="100000"/>
              </a:lnSpc>
              <a:buAutoNum type="arabicPeriod" startAt="2"/>
              <a:tabLst>
                <a:tab pos="331470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Edge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Detection</a:t>
            </a:r>
            <a:endParaRPr sz="2000" dirty="0">
              <a:latin typeface="Times New Roman"/>
              <a:cs typeface="Times New Roman"/>
            </a:endParaRPr>
          </a:p>
          <a:p>
            <a:pPr marL="372745" lvl="1" indent="-186690">
              <a:lnSpc>
                <a:spcPct val="100000"/>
              </a:lnSpc>
              <a:buFont typeface="Arial MT"/>
              <a:buChar char="•"/>
              <a:tabLst>
                <a:tab pos="37274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Sobel</a:t>
            </a: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Operators</a:t>
            </a:r>
            <a:endParaRPr sz="2000" dirty="0">
              <a:latin typeface="Times New Roman"/>
              <a:cs typeface="Times New Roman"/>
            </a:endParaRPr>
          </a:p>
          <a:p>
            <a:pPr marL="331470" indent="-318770">
              <a:lnSpc>
                <a:spcPct val="100000"/>
              </a:lnSpc>
              <a:buAutoNum type="arabicPeriod" startAt="2"/>
              <a:tabLst>
                <a:tab pos="331470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Combining</a:t>
            </a:r>
            <a:r>
              <a:rPr sz="20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image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enhancement</a:t>
            </a:r>
            <a:r>
              <a:rPr sz="20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methods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33045" y="1331150"/>
            <a:ext cx="2251710" cy="1694180"/>
            <a:chOff x="6333045" y="1331150"/>
            <a:chExt cx="2251710" cy="16941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7280" y="1392938"/>
              <a:ext cx="2137213" cy="15849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37808" y="1335913"/>
              <a:ext cx="2242185" cy="1684655"/>
            </a:xfrm>
            <a:custGeom>
              <a:avLst/>
              <a:gdLst/>
              <a:ahLst/>
              <a:cxnLst/>
              <a:rect l="l" t="t" r="r" b="b"/>
              <a:pathLst>
                <a:path w="2242184" h="1684655">
                  <a:moveTo>
                    <a:pt x="0" y="1684655"/>
                  </a:moveTo>
                  <a:lnTo>
                    <a:pt x="2241804" y="1684655"/>
                  </a:lnTo>
                  <a:lnTo>
                    <a:pt x="2241804" y="0"/>
                  </a:lnTo>
                  <a:lnTo>
                    <a:pt x="0" y="0"/>
                  </a:lnTo>
                  <a:lnTo>
                    <a:pt x="0" y="168465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6342634" y="3715892"/>
            <a:ext cx="2232660" cy="1649730"/>
          </a:xfrm>
          <a:custGeom>
            <a:avLst/>
            <a:gdLst/>
            <a:ahLst/>
            <a:cxnLst/>
            <a:rect l="l" t="t" r="r" b="b"/>
            <a:pathLst>
              <a:path w="2232659" h="1649729">
                <a:moveTo>
                  <a:pt x="0" y="1649349"/>
                </a:moveTo>
                <a:lnTo>
                  <a:pt x="2232279" y="1649349"/>
                </a:lnTo>
                <a:lnTo>
                  <a:pt x="2232279" y="0"/>
                </a:lnTo>
                <a:lnTo>
                  <a:pt x="0" y="0"/>
                </a:lnTo>
                <a:lnTo>
                  <a:pt x="0" y="164934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22516" y="4237735"/>
            <a:ext cx="340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h </a:t>
            </a:r>
            <a:r>
              <a:rPr sz="1800" b="1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81366" y="3831589"/>
            <a:ext cx="67310" cy="1162050"/>
          </a:xfrm>
          <a:custGeom>
            <a:avLst/>
            <a:gdLst/>
            <a:ahLst/>
            <a:cxnLst/>
            <a:rect l="l" t="t" r="r" b="b"/>
            <a:pathLst>
              <a:path w="67309" h="1162050">
                <a:moveTo>
                  <a:pt x="67183" y="0"/>
                </a:moveTo>
                <a:lnTo>
                  <a:pt x="0" y="0"/>
                </a:lnTo>
                <a:lnTo>
                  <a:pt x="0" y="10160"/>
                </a:lnTo>
                <a:lnTo>
                  <a:pt x="43815" y="10160"/>
                </a:lnTo>
                <a:lnTo>
                  <a:pt x="43815" y="1151890"/>
                </a:lnTo>
                <a:lnTo>
                  <a:pt x="0" y="1151890"/>
                </a:lnTo>
                <a:lnTo>
                  <a:pt x="0" y="1162050"/>
                </a:lnTo>
                <a:lnTo>
                  <a:pt x="67183" y="1162050"/>
                </a:lnTo>
                <a:lnTo>
                  <a:pt x="67183" y="1151890"/>
                </a:lnTo>
                <a:lnTo>
                  <a:pt x="67183" y="10160"/>
                </a:lnTo>
                <a:lnTo>
                  <a:pt x="67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70954" y="4983479"/>
            <a:ext cx="67310" cy="10160"/>
          </a:xfrm>
          <a:custGeom>
            <a:avLst/>
            <a:gdLst/>
            <a:ahLst/>
            <a:cxnLst/>
            <a:rect l="l" t="t" r="r" b="b"/>
            <a:pathLst>
              <a:path w="67309" h="10160">
                <a:moveTo>
                  <a:pt x="0" y="10160"/>
                </a:moveTo>
                <a:lnTo>
                  <a:pt x="67182" y="10160"/>
                </a:lnTo>
                <a:lnTo>
                  <a:pt x="6718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70954" y="3715892"/>
          <a:ext cx="974723" cy="1349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2730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L="111760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111760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51435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1270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L="111760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60960" marR="3175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1270" marR="3175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1270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60960" marR="3175">
                        <a:lnSpc>
                          <a:spcPts val="1495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marR="3175">
                        <a:lnSpc>
                          <a:spcPts val="1495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95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6870954" y="3831590"/>
            <a:ext cx="67310" cy="10160"/>
          </a:xfrm>
          <a:custGeom>
            <a:avLst/>
            <a:gdLst/>
            <a:ahLst/>
            <a:cxnLst/>
            <a:rect l="l" t="t" r="r" b="b"/>
            <a:pathLst>
              <a:path w="67309" h="10160">
                <a:moveTo>
                  <a:pt x="0" y="10160"/>
                </a:moveTo>
                <a:lnTo>
                  <a:pt x="67182" y="10160"/>
                </a:lnTo>
                <a:lnTo>
                  <a:pt x="67182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93381" y="3969003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5" h="15239">
                <a:moveTo>
                  <a:pt x="100583" y="0"/>
                </a:moveTo>
                <a:lnTo>
                  <a:pt x="0" y="0"/>
                </a:lnTo>
                <a:lnTo>
                  <a:pt x="0" y="15240"/>
                </a:lnTo>
                <a:lnTo>
                  <a:pt x="100583" y="15240"/>
                </a:lnTo>
                <a:lnTo>
                  <a:pt x="100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85050" y="3969003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5" h="15239">
                <a:moveTo>
                  <a:pt x="100583" y="0"/>
                </a:moveTo>
                <a:lnTo>
                  <a:pt x="0" y="0"/>
                </a:lnTo>
                <a:lnTo>
                  <a:pt x="0" y="15240"/>
                </a:lnTo>
                <a:lnTo>
                  <a:pt x="100583" y="15240"/>
                </a:lnTo>
                <a:lnTo>
                  <a:pt x="100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93381" y="4404867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5" h="15239">
                <a:moveTo>
                  <a:pt x="100583" y="0"/>
                </a:moveTo>
                <a:lnTo>
                  <a:pt x="0" y="0"/>
                </a:lnTo>
                <a:lnTo>
                  <a:pt x="0" y="15239"/>
                </a:lnTo>
                <a:lnTo>
                  <a:pt x="100583" y="15239"/>
                </a:lnTo>
                <a:lnTo>
                  <a:pt x="100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385050" y="4404867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5" h="15239">
                <a:moveTo>
                  <a:pt x="100583" y="0"/>
                </a:moveTo>
                <a:lnTo>
                  <a:pt x="0" y="0"/>
                </a:lnTo>
                <a:lnTo>
                  <a:pt x="0" y="15239"/>
                </a:lnTo>
                <a:lnTo>
                  <a:pt x="100583" y="15239"/>
                </a:lnTo>
                <a:lnTo>
                  <a:pt x="100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43090" y="4840732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5" h="15239">
                <a:moveTo>
                  <a:pt x="100583" y="0"/>
                </a:moveTo>
                <a:lnTo>
                  <a:pt x="0" y="0"/>
                </a:lnTo>
                <a:lnTo>
                  <a:pt x="0" y="15239"/>
                </a:lnTo>
                <a:lnTo>
                  <a:pt x="100583" y="15239"/>
                </a:lnTo>
                <a:lnTo>
                  <a:pt x="100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34757" y="4840732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5" h="15239">
                <a:moveTo>
                  <a:pt x="100583" y="0"/>
                </a:moveTo>
                <a:lnTo>
                  <a:pt x="0" y="0"/>
                </a:lnTo>
                <a:lnTo>
                  <a:pt x="0" y="15239"/>
                </a:lnTo>
                <a:lnTo>
                  <a:pt x="100583" y="15239"/>
                </a:lnTo>
                <a:lnTo>
                  <a:pt x="100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5B5622-C50E-45FE-BB9B-8C716DBA885C}"/>
              </a:ext>
            </a:extLst>
          </p:cNvPr>
          <p:cNvSpPr txBox="1"/>
          <p:nvPr/>
        </p:nvSpPr>
        <p:spPr>
          <a:xfrm>
            <a:off x="375382" y="388668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n-lt"/>
              </a:rPr>
              <a:t>Filtering</a:t>
            </a:r>
            <a:r>
              <a:rPr lang="en-US" b="1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5185" y="324594"/>
            <a:ext cx="5529074" cy="3916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4804" y="912317"/>
            <a:ext cx="8371205" cy="5818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Filtering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fundamental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operation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processing.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for:</a:t>
            </a:r>
            <a:endParaRPr sz="20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buClr>
                <a:srgbClr val="C00000"/>
              </a:buClr>
              <a:buAutoNum type="arabicPlain"/>
              <a:tabLst>
                <a:tab pos="285750" algn="l"/>
              </a:tabLst>
            </a:pPr>
            <a:r>
              <a:rPr sz="2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image</a:t>
            </a:r>
            <a:r>
              <a:rPr sz="2000" b="1" i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enhancement</a:t>
            </a:r>
            <a:endParaRPr sz="20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buClr>
                <a:srgbClr val="C00000"/>
              </a:buClr>
              <a:buFont typeface="Times New Roman"/>
              <a:buAutoNum type="arabicPlain"/>
              <a:tabLst>
                <a:tab pos="285750" algn="l"/>
              </a:tabLst>
            </a:pPr>
            <a:r>
              <a:rPr sz="2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Noise</a:t>
            </a:r>
            <a:r>
              <a:rPr sz="2000" b="1" i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reduction</a:t>
            </a:r>
            <a:endParaRPr sz="20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buClr>
                <a:srgbClr val="C00000"/>
              </a:buClr>
              <a:buFont typeface="Times New Roman"/>
              <a:buAutoNum type="arabicPlain"/>
              <a:tabLst>
                <a:tab pos="285750" algn="l"/>
              </a:tabLst>
            </a:pPr>
            <a:r>
              <a:rPr sz="2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Edge</a:t>
            </a:r>
            <a:r>
              <a:rPr sz="2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detection</a:t>
            </a:r>
            <a:r>
              <a:rPr sz="2000" b="1" spc="-10" dirty="0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349885" indent="-337185">
              <a:lnSpc>
                <a:spcPct val="100000"/>
              </a:lnSpc>
              <a:buClr>
                <a:srgbClr val="C00000"/>
              </a:buClr>
              <a:buFont typeface="Times New Roman"/>
              <a:buAutoNum type="arabicPlain"/>
              <a:tabLst>
                <a:tab pos="349885" algn="l"/>
              </a:tabLst>
            </a:pPr>
            <a:r>
              <a:rPr sz="20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Sharpening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AutoNum type="arabicPlain"/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concept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of filtering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been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applied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the:</a:t>
            </a:r>
            <a:endParaRPr sz="2000">
              <a:latin typeface="Times New Roman"/>
              <a:cs typeface="Times New Roman"/>
            </a:endParaRPr>
          </a:p>
          <a:p>
            <a:pPr marL="12700" marR="777875" algn="just">
              <a:lnSpc>
                <a:spcPct val="100000"/>
              </a:lnSpc>
            </a:pP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Frequency</a:t>
            </a:r>
            <a:r>
              <a:rPr sz="2000" b="1" u="sng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domain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where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rejects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some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frequency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components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while </a:t>
            </a:r>
            <a:r>
              <a:rPr sz="2000" b="1" dirty="0">
                <a:latin typeface="Times New Roman"/>
                <a:cs typeface="Times New Roman"/>
              </a:rPr>
              <a:t>accepting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others.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Spatial</a:t>
            </a:r>
            <a:r>
              <a:rPr sz="2000" b="1" u="sng" spc="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domain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Spatial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filtering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modifies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replacing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pixel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with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function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values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pixel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its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neighbors </a:t>
            </a:r>
            <a:r>
              <a:rPr sz="2000" b="1" dirty="0">
                <a:latin typeface="Times New Roman"/>
                <a:cs typeface="Times New Roman"/>
              </a:rPr>
              <a:t>(filtering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pixel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neighborhood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operation).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5600" marR="5715" lvl="1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  <a:tab pos="419100" algn="l"/>
                <a:tab pos="1751330" algn="l"/>
                <a:tab pos="2378075" algn="l"/>
                <a:tab pos="3228340" algn="l"/>
                <a:tab pos="4234815" algn="l"/>
                <a:tab pos="5524500" algn="l"/>
                <a:tab pos="6446520" algn="l"/>
                <a:tab pos="7447915" algn="l"/>
              </a:tabLst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Commonly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0" dirty="0">
                <a:latin typeface="Times New Roman"/>
                <a:cs typeface="Times New Roman"/>
              </a:rPr>
              <a:t>used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spatial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filtering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techniques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include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median,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average,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Gaussian</a:t>
            </a:r>
            <a:r>
              <a:rPr sz="2000" b="1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filtering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The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filtering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sometimes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called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mask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kernel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buClr>
                <a:srgbClr val="C00000"/>
              </a:buClr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They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broadly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classified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into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two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categories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468630" lvl="2" indent="-281305">
              <a:lnSpc>
                <a:spcPct val="100000"/>
              </a:lnSpc>
              <a:buClr>
                <a:srgbClr val="C00000"/>
              </a:buClr>
              <a:buAutoNum type="arabicPeriod"/>
              <a:tabLst>
                <a:tab pos="46863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Linear</a:t>
            </a:r>
            <a:r>
              <a:rPr sz="20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filtering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468630" lvl="2" indent="-281305">
              <a:lnSpc>
                <a:spcPct val="100000"/>
              </a:lnSpc>
              <a:buClr>
                <a:srgbClr val="C00000"/>
              </a:buClr>
              <a:buAutoNum type="arabicPeriod"/>
              <a:tabLst>
                <a:tab pos="46863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Nonlinear</a:t>
            </a:r>
            <a:r>
              <a:rPr sz="2000" b="1" spc="-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filtering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(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Order-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statistic</a:t>
            </a:r>
            <a:r>
              <a:rPr sz="20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filters)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429" y="1052321"/>
            <a:ext cx="533590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represented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form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2D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matrix</a:t>
            </a:r>
            <a:r>
              <a:rPr sz="2000" b="1" spc="340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where</a:t>
            </a:r>
            <a:r>
              <a:rPr sz="2000" b="1" spc="34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34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element</a:t>
            </a:r>
            <a:r>
              <a:rPr sz="2000" b="1" spc="3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4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3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matrix </a:t>
            </a:r>
            <a:r>
              <a:rPr sz="2000" b="1" dirty="0">
                <a:latin typeface="Times New Roman"/>
                <a:cs typeface="Times New Roman"/>
              </a:rPr>
              <a:t>represents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pixel</a:t>
            </a:r>
            <a:r>
              <a:rPr sz="2000" b="1" spc="-5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intensity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8429" y="1966976"/>
            <a:ext cx="32829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97865" algn="l"/>
                <a:tab pos="1408430" algn="l"/>
                <a:tab pos="1824355" algn="l"/>
                <a:tab pos="2341245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This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state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2D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matrices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0094" y="1966976"/>
            <a:ext cx="1874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5955" algn="l"/>
                <a:tab pos="1521460" algn="l"/>
              </a:tabLst>
            </a:pP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that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depict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763" y="2271776"/>
            <a:ext cx="5403215" cy="3919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01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intensity</a:t>
            </a:r>
            <a:r>
              <a:rPr sz="2000" b="1" spc="254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distribution</a:t>
            </a:r>
            <a:r>
              <a:rPr sz="2000" b="1" spc="254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000" b="1" spc="25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an</a:t>
            </a:r>
            <a:r>
              <a:rPr sz="2000" b="1" spc="254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image</a:t>
            </a:r>
            <a:r>
              <a:rPr sz="2000" b="1" spc="26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000" b="1" spc="245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called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Spatial</a:t>
            </a:r>
            <a:r>
              <a:rPr sz="2000" b="1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Domain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represented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shown below.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000">
              <a:latin typeface="Times New Roman"/>
              <a:cs typeface="Times New Roman"/>
            </a:endParaRPr>
          </a:p>
          <a:p>
            <a:pPr marL="295910" marR="76835" indent="-283845" algn="just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0" dirty="0"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RGB</a:t>
            </a:r>
            <a:r>
              <a:rPr sz="2000" b="1" spc="45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image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4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spatial</a:t>
            </a:r>
            <a:r>
              <a:rPr sz="2000" b="1" spc="4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domain</a:t>
            </a:r>
            <a:r>
              <a:rPr sz="2000" b="1" spc="45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is 	</a:t>
            </a:r>
            <a:r>
              <a:rPr sz="2000" b="1" dirty="0">
                <a:latin typeface="Times New Roman"/>
                <a:cs typeface="Times New Roman"/>
              </a:rPr>
              <a:t>represented</a:t>
            </a:r>
            <a:r>
              <a:rPr sz="2000" b="1" spc="4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4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47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3D</a:t>
            </a:r>
            <a:r>
              <a:rPr sz="2000" b="1" spc="4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vector</a:t>
            </a:r>
            <a:r>
              <a:rPr sz="2000" b="1" spc="4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484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2D</a:t>
            </a:r>
            <a:r>
              <a:rPr sz="2000" b="1" spc="48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matrices</a:t>
            </a:r>
            <a:r>
              <a:rPr sz="2000" b="1" spc="-10" dirty="0">
                <a:latin typeface="Times New Roman"/>
                <a:cs typeface="Times New Roman"/>
              </a:rPr>
              <a:t>. 	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2D</a:t>
            </a:r>
            <a:r>
              <a:rPr sz="2000" b="1" spc="2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matrix</a:t>
            </a:r>
            <a:r>
              <a:rPr sz="2000" b="1" spc="229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contains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intensities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a 	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single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color</a:t>
            </a:r>
            <a:r>
              <a:rPr sz="20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shown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below.</a:t>
            </a:r>
            <a:endParaRPr sz="2000">
              <a:latin typeface="Times New Roman"/>
              <a:cs typeface="Times New Roman"/>
            </a:endParaRPr>
          </a:p>
          <a:p>
            <a:pPr marL="295910" marR="75565" indent="-283845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33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pixel</a:t>
            </a:r>
            <a:r>
              <a:rPr sz="2000" b="1" spc="3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intensity</a:t>
            </a:r>
            <a:r>
              <a:rPr sz="2000" b="1" spc="34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32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represented</a:t>
            </a:r>
            <a:r>
              <a:rPr sz="2000" b="1" spc="3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as</a:t>
            </a:r>
            <a:r>
              <a:rPr sz="2000" b="1" spc="3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I(x,</a:t>
            </a:r>
            <a:r>
              <a:rPr sz="2000" b="1" spc="3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y) 	</a:t>
            </a:r>
            <a:r>
              <a:rPr sz="2000" b="1" dirty="0">
                <a:latin typeface="Times New Roman"/>
                <a:cs typeface="Times New Roman"/>
              </a:rPr>
              <a:t>where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x, y</a:t>
            </a:r>
            <a:r>
              <a:rPr sz="20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co-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ordinate</a:t>
            </a:r>
            <a:r>
              <a:rPr sz="20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pixel</a:t>
            </a:r>
            <a:r>
              <a:rPr sz="2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2D</a:t>
            </a:r>
            <a:r>
              <a:rPr sz="2000" b="1" spc="4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matrix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r>
              <a:rPr sz="2000" b="1" spc="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4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operations</a:t>
            </a:r>
            <a:r>
              <a:rPr sz="2000" b="1" spc="4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4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carried 	</a:t>
            </a:r>
            <a:r>
              <a:rPr sz="2000" b="1" dirty="0">
                <a:latin typeface="Times New Roman"/>
                <a:cs typeface="Times New Roman"/>
              </a:rPr>
              <a:t>out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5076" y="1198582"/>
            <a:ext cx="2829753" cy="218283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930582" y="3851478"/>
            <a:ext cx="3040380" cy="2414270"/>
            <a:chOff x="5930582" y="3851478"/>
            <a:chExt cx="3040380" cy="24142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3529" y="3935641"/>
              <a:ext cx="2892661" cy="22662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35345" y="3856240"/>
              <a:ext cx="3030855" cy="2404745"/>
            </a:xfrm>
            <a:custGeom>
              <a:avLst/>
              <a:gdLst/>
              <a:ahLst/>
              <a:cxnLst/>
              <a:rect l="l" t="t" r="r" b="b"/>
              <a:pathLst>
                <a:path w="3030854" h="2404745">
                  <a:moveTo>
                    <a:pt x="0" y="2404744"/>
                  </a:moveTo>
                  <a:lnTo>
                    <a:pt x="3030854" y="2404744"/>
                  </a:lnTo>
                  <a:lnTo>
                    <a:pt x="3030854" y="0"/>
                  </a:lnTo>
                  <a:lnTo>
                    <a:pt x="0" y="0"/>
                  </a:lnTo>
                  <a:lnTo>
                    <a:pt x="0" y="24047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4197" y="324576"/>
            <a:ext cx="2695958" cy="39017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9946" y="4265269"/>
            <a:ext cx="4446032" cy="200788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6892" y="933450"/>
            <a:ext cx="8363584" cy="4935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016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3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frequency-</a:t>
            </a:r>
            <a:r>
              <a:rPr sz="2000" b="1" dirty="0">
                <a:latin typeface="Times New Roman"/>
                <a:cs typeface="Times New Roman"/>
              </a:rPr>
              <a:t>domain</a:t>
            </a:r>
            <a:r>
              <a:rPr sz="2000" b="1" spc="3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methods</a:t>
            </a:r>
            <a:r>
              <a:rPr sz="2000" b="1" spc="3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3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based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3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6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Fourier</a:t>
            </a:r>
            <a:r>
              <a:rPr sz="2000" b="1" spc="3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Transform</a:t>
            </a:r>
            <a:r>
              <a:rPr sz="2000" b="1" spc="3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000" b="1" spc="37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an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image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889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Roughly,</a:t>
            </a:r>
            <a:r>
              <a:rPr sz="2000" b="1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term</a:t>
            </a:r>
            <a:r>
              <a:rPr sz="2000" b="1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frequency</a:t>
            </a:r>
            <a:r>
              <a:rPr sz="2000" b="1" spc="2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25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25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tells</a:t>
            </a:r>
            <a:r>
              <a:rPr sz="2000" b="1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about</a:t>
            </a:r>
            <a:r>
              <a:rPr sz="2000" b="1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rate</a:t>
            </a:r>
            <a:r>
              <a:rPr sz="20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000" b="1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pixel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values.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tie</a:t>
            </a:r>
            <a:r>
              <a:rPr sz="2000" b="1" spc="4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between</a:t>
            </a:r>
            <a:r>
              <a:rPr sz="2000" b="1" spc="4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spatial-</a:t>
            </a:r>
            <a:r>
              <a:rPr sz="2000" b="1" spc="4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434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frequency-</a:t>
            </a:r>
            <a:r>
              <a:rPr sz="2000" b="1" dirty="0">
                <a:latin typeface="Times New Roman"/>
                <a:cs typeface="Times New Roman"/>
              </a:rPr>
              <a:t>domain</a:t>
            </a:r>
            <a:r>
              <a:rPr sz="2000" b="1" spc="43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processing</a:t>
            </a:r>
            <a:r>
              <a:rPr sz="2000" b="1" spc="4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4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Fourier transform.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C00000"/>
              </a:buClr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Fourier</a:t>
            </a:r>
            <a:r>
              <a:rPr sz="20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transform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spatial</a:t>
            </a:r>
            <a:endParaRPr sz="2000">
              <a:latin typeface="Times New Roman"/>
              <a:cs typeface="Times New Roman"/>
            </a:endParaRPr>
          </a:p>
          <a:p>
            <a:pPr marL="355600" marR="8255" indent="-342900">
              <a:lnSpc>
                <a:spcPct val="100000"/>
              </a:lnSpc>
              <a:buClr>
                <a:srgbClr val="C0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frequency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domain;</a:t>
            </a:r>
            <a:r>
              <a:rPr sz="2000" b="1" spc="3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3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return</a:t>
            </a:r>
            <a:r>
              <a:rPr sz="2000" b="1" spc="3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3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spatial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domain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inverse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Fourier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transform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483362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8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figure</a:t>
            </a:r>
            <a:r>
              <a:rPr sz="2000" b="1" spc="17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below</a:t>
            </a:r>
            <a:r>
              <a:rPr sz="2000" b="1" spc="18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depicts</a:t>
            </a:r>
            <a:r>
              <a:rPr sz="2000" b="1" spc="180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latin typeface="Times New Roman"/>
                <a:cs typeface="Times New Roman"/>
              </a:rPr>
              <a:t>conversion</a:t>
            </a:r>
            <a:r>
              <a:rPr sz="2000" b="1" spc="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90" dirty="0">
                <a:latin typeface="Times New Roman"/>
                <a:cs typeface="Times New Roman"/>
              </a:rPr>
              <a:t>  </a:t>
            </a:r>
            <a:r>
              <a:rPr sz="2000" b="1" spc="-20" dirty="0">
                <a:latin typeface="Times New Roman"/>
                <a:cs typeface="Times New Roman"/>
              </a:rPr>
              <a:t>from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00" dirty="0"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spatial</a:t>
            </a:r>
            <a:r>
              <a:rPr sz="2000" b="1" spc="204" dirty="0">
                <a:solidFill>
                  <a:srgbClr val="006FC0"/>
                </a:solidFill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domain</a:t>
            </a:r>
            <a:r>
              <a:rPr sz="2000" b="1" spc="195" dirty="0">
                <a:solidFill>
                  <a:srgbClr val="006FC0"/>
                </a:solidFill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204" dirty="0">
                <a:latin typeface="Times New Roman"/>
                <a:cs typeface="Times New Roman"/>
              </a:rPr>
              <a:t>  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frequency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domain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Fourier Transformation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1109" y="324594"/>
            <a:ext cx="3331466" cy="39168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855" y="902588"/>
            <a:ext cx="8501380" cy="5737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53035">
              <a:lnSpc>
                <a:spcPct val="100000"/>
              </a:lnSpc>
              <a:spcBef>
                <a:spcPts val="105"/>
              </a:spcBef>
              <a:tabLst>
                <a:tab pos="1917700" algn="l"/>
                <a:tab pos="3707129" algn="l"/>
                <a:tab pos="3964940" algn="l"/>
                <a:tab pos="7051675" algn="l"/>
                <a:tab pos="8068309" algn="l"/>
              </a:tabLst>
            </a:pP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4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linear</a:t>
            </a:r>
            <a:r>
              <a:rPr sz="2000" b="1" spc="4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spatial</a:t>
            </a:r>
            <a:r>
              <a:rPr sz="2000" b="1" dirty="0">
                <a:latin typeface="Times New Roman"/>
                <a:cs typeface="Times New Roman"/>
              </a:rPr>
              <a:t>	filter</a:t>
            </a:r>
            <a:r>
              <a:rPr sz="2000" b="1" spc="4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performs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5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sum-of-</a:t>
            </a:r>
            <a:r>
              <a:rPr sz="2000" b="1" dirty="0">
                <a:latin typeface="Times New Roman"/>
                <a:cs typeface="Times New Roman"/>
              </a:rPr>
              <a:t>products</a:t>
            </a:r>
            <a:r>
              <a:rPr sz="2000" b="1" spc="459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operation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between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an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kernel,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000" b="1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5600" marR="153670" indent="-343535">
              <a:lnSpc>
                <a:spcPct val="100000"/>
              </a:lnSpc>
              <a:buClr>
                <a:srgbClr val="FF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array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whose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size</a:t>
            </a:r>
            <a:r>
              <a:rPr sz="2000" b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defines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neighborhood</a:t>
            </a:r>
            <a:r>
              <a:rPr sz="2000" b="1" spc="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000" b="1" spc="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operation</a:t>
            </a:r>
            <a:r>
              <a:rPr sz="2000" b="1" spc="-10" dirty="0">
                <a:latin typeface="Times New Roman"/>
                <a:cs typeface="Times New Roman"/>
              </a:rPr>
              <a:t>,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whose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coefficients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determine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nature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5600" marR="151130" indent="-343535">
              <a:lnSpc>
                <a:spcPct val="100000"/>
              </a:lnSpc>
              <a:buFont typeface="Wingdings"/>
              <a:buChar char=""/>
              <a:tabLst>
                <a:tab pos="355600" algn="l"/>
                <a:tab pos="419734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latin typeface="Times New Roman"/>
                <a:cs typeface="Times New Roman"/>
              </a:rPr>
              <a:t>Other</a:t>
            </a:r>
            <a:r>
              <a:rPr sz="2000" b="1" spc="1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terms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used</a:t>
            </a:r>
            <a:r>
              <a:rPr sz="2000" b="1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refer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spatial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mask,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template,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window.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term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simply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kernel.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equation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below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illustrates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mechanics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linear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spatial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filtering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a </a:t>
            </a:r>
            <a:r>
              <a:rPr sz="2000" b="1" dirty="0">
                <a:latin typeface="Times New Roman"/>
                <a:cs typeface="Times New Roman"/>
              </a:rPr>
              <a:t>kernel.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point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(x,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y)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response,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g(x,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y),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filter,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latin typeface="Times New Roman"/>
                <a:cs typeface="Times New Roman"/>
              </a:rPr>
              <a:t>sum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products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coefficients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pixels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encompassed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kernel:</a:t>
            </a:r>
            <a:endParaRPr sz="2000">
              <a:latin typeface="Times New Roman"/>
              <a:cs typeface="Times New Roman"/>
            </a:endParaRPr>
          </a:p>
          <a:p>
            <a:pPr marR="1140460" algn="r">
              <a:lnSpc>
                <a:spcPct val="100000"/>
              </a:lnSpc>
              <a:spcBef>
                <a:spcPts val="1060"/>
              </a:spcBef>
              <a:tabLst>
                <a:tab pos="2837815" algn="l"/>
              </a:tabLst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g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(x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, y )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 −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− 1)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(</a:t>
            </a:r>
            <a:r>
              <a:rPr sz="2000" b="1" dirty="0">
                <a:latin typeface="Times New Roman"/>
                <a:cs typeface="Times New Roman"/>
              </a:rPr>
              <a:t>	x-1,</a:t>
            </a:r>
            <a:r>
              <a:rPr sz="2000" b="1" spc="4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y−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1)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 </a:t>
            </a:r>
            <a:r>
              <a:rPr sz="2000" b="1" dirty="0">
                <a:latin typeface="Times New Roman"/>
                <a:cs typeface="Times New Roman"/>
              </a:rPr>
              <a:t>( −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0)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</a:t>
            </a:r>
            <a:r>
              <a:rPr sz="20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 − 1,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 )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  <a:p>
            <a:pPr marR="1126490" algn="r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…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(0,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0)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(x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) +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… +</a:t>
            </a:r>
            <a:r>
              <a:rPr sz="2000" b="1" spc="484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000" b="1" dirty="0">
                <a:latin typeface="Times New Roman"/>
                <a:cs typeface="Times New Roman"/>
              </a:rPr>
              <a:t>(1,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+1,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 </a:t>
            </a:r>
            <a:r>
              <a:rPr sz="2000" b="1" spc="-25" dirty="0">
                <a:latin typeface="Times New Roman"/>
                <a:cs typeface="Times New Roman"/>
              </a:rPr>
              <a:t>1)</a:t>
            </a:r>
            <a:endParaRPr sz="2000">
              <a:latin typeface="Times New Roman"/>
              <a:cs typeface="Times New Roman"/>
            </a:endParaRPr>
          </a:p>
          <a:p>
            <a:pPr marL="106045" marR="217170">
              <a:lnSpc>
                <a:spcPct val="100000"/>
              </a:lnSpc>
              <a:spcBef>
                <a:spcPts val="1685"/>
              </a:spcBef>
            </a:pP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coordinates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varied,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center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moves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pixel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pixel,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generating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process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1354" y="324589"/>
            <a:ext cx="2406401" cy="30939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350" y="667893"/>
            <a:ext cx="394462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solidFill>
                  <a:srgbClr val="000000"/>
                </a:solidFill>
              </a:rPr>
              <a:t>Observe</a:t>
            </a:r>
            <a:r>
              <a:rPr u="none" spc="37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that</a:t>
            </a:r>
            <a:r>
              <a:rPr u="none" spc="37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39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center</a:t>
            </a:r>
            <a:r>
              <a:rPr u="none" spc="360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coefficient </a:t>
            </a:r>
            <a:r>
              <a:rPr u="none" dirty="0">
                <a:solidFill>
                  <a:srgbClr val="000000"/>
                </a:solidFill>
              </a:rPr>
              <a:t>of</a:t>
            </a:r>
            <a:r>
              <a:rPr u="none" spc="49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49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kernel,</a:t>
            </a:r>
            <a:r>
              <a:rPr u="none" spc="484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w(0,</a:t>
            </a:r>
            <a:r>
              <a:rPr u="none" spc="484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0),</a:t>
            </a:r>
            <a:r>
              <a:rPr u="none" spc="484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aligns  </a:t>
            </a:r>
            <a:r>
              <a:rPr u="none" spc="-20" dirty="0">
                <a:solidFill>
                  <a:srgbClr val="000000"/>
                </a:solidFill>
              </a:rPr>
              <a:t>with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pixel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at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location</a:t>
            </a:r>
            <a:r>
              <a:rPr u="none" spc="-3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(x,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spc="-25" dirty="0">
                <a:solidFill>
                  <a:srgbClr val="000000"/>
                </a:solidFill>
              </a:rPr>
              <a:t>y).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4350" y="2497074"/>
            <a:ext cx="3945254" cy="21679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10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means</a:t>
            </a:r>
            <a:r>
              <a:rPr sz="2000" b="1" spc="10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10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our</a:t>
            </a:r>
            <a:r>
              <a:rPr sz="2000" b="1" spc="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focus</a:t>
            </a:r>
            <a:r>
              <a:rPr sz="2000" b="1" spc="11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00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on </a:t>
            </a:r>
            <a:r>
              <a:rPr sz="2000" b="1" dirty="0">
                <a:latin typeface="Times New Roman"/>
                <a:cs typeface="Times New Roman"/>
              </a:rPr>
              <a:t>kernels</a:t>
            </a:r>
            <a:r>
              <a:rPr sz="2000" b="1" spc="229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35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odd</a:t>
            </a:r>
            <a:r>
              <a:rPr sz="2000" b="1" spc="229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size</a:t>
            </a:r>
            <a:r>
              <a:rPr sz="2000" b="1" spc="235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40" dirty="0">
                <a:latin typeface="Times New Roman"/>
                <a:cs typeface="Times New Roman"/>
              </a:rPr>
              <a:t>   </a:t>
            </a:r>
            <a:r>
              <a:rPr sz="2000" b="1" spc="-20" dirty="0">
                <a:latin typeface="Times New Roman"/>
                <a:cs typeface="Times New Roman"/>
              </a:rPr>
              <a:t>both </a:t>
            </a:r>
            <a:r>
              <a:rPr sz="2000" b="1" dirty="0">
                <a:latin typeface="Times New Roman"/>
                <a:cs typeface="Times New Roman"/>
              </a:rPr>
              <a:t>coordinate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directions.</a:t>
            </a:r>
            <a:endParaRPr sz="2000" dirty="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buClr>
                <a:srgbClr val="FF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475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general,</a:t>
            </a:r>
            <a:r>
              <a:rPr sz="2000" b="1" spc="475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linear</a:t>
            </a:r>
            <a:r>
              <a:rPr sz="2000" b="1" spc="465" dirty="0">
                <a:latin typeface="Times New Roman"/>
                <a:cs typeface="Times New Roman"/>
              </a:rPr>
              <a:t>   </a:t>
            </a:r>
            <a:r>
              <a:rPr sz="2000" b="1" spc="-10" dirty="0">
                <a:latin typeface="Times New Roman"/>
                <a:cs typeface="Times New Roman"/>
              </a:rPr>
              <a:t>spatial </a:t>
            </a:r>
            <a:r>
              <a:rPr sz="2000" b="1" dirty="0">
                <a:latin typeface="Times New Roman"/>
                <a:cs typeface="Times New Roman"/>
              </a:rPr>
              <a:t>filtering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size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MxN </a:t>
            </a:r>
            <a:r>
              <a:rPr sz="2000" b="1" dirty="0">
                <a:latin typeface="Times New Roman"/>
                <a:cs typeface="Times New Roman"/>
              </a:rPr>
              <a:t>with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size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mxn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given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expression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619" y="5664911"/>
            <a:ext cx="8206740" cy="66684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434"/>
              </a:spcBef>
            </a:pPr>
            <a:r>
              <a:rPr sz="2000" b="1" dirty="0">
                <a:latin typeface="Times New Roman"/>
                <a:cs typeface="Times New Roman"/>
              </a:rPr>
              <a:t>where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 are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varied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center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(origin)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visits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every </a:t>
            </a:r>
            <a:r>
              <a:rPr sz="2000" b="1" dirty="0">
                <a:latin typeface="Times New Roman"/>
                <a:cs typeface="Times New Roman"/>
              </a:rPr>
              <a:t>pixel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 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once.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65078" y="791654"/>
            <a:ext cx="4385945" cy="4519295"/>
            <a:chOff x="4565078" y="791654"/>
            <a:chExt cx="4385945" cy="451929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0754" y="969074"/>
              <a:ext cx="4240333" cy="41957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69840" y="796416"/>
              <a:ext cx="4376420" cy="4509770"/>
            </a:xfrm>
            <a:custGeom>
              <a:avLst/>
              <a:gdLst/>
              <a:ahLst/>
              <a:cxnLst/>
              <a:rect l="l" t="t" r="r" b="b"/>
              <a:pathLst>
                <a:path w="4376420" h="4509770">
                  <a:moveTo>
                    <a:pt x="0" y="4509516"/>
                  </a:moveTo>
                  <a:lnTo>
                    <a:pt x="4376166" y="4509516"/>
                  </a:lnTo>
                  <a:lnTo>
                    <a:pt x="4376166" y="0"/>
                  </a:lnTo>
                  <a:lnTo>
                    <a:pt x="0" y="0"/>
                  </a:lnTo>
                  <a:lnTo>
                    <a:pt x="0" y="45095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6892" y="656031"/>
            <a:ext cx="3815079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Correlation</a:t>
            </a:r>
            <a:r>
              <a:rPr sz="2000" b="1" spc="3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consists</a:t>
            </a:r>
            <a:r>
              <a:rPr sz="2000" b="1" spc="3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moving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center</a:t>
            </a:r>
            <a:r>
              <a:rPr sz="2000" b="1" spc="3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3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over</a:t>
            </a:r>
            <a:r>
              <a:rPr sz="2000" b="1" spc="3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 </a:t>
            </a:r>
            <a:r>
              <a:rPr sz="2000" b="1" dirty="0">
                <a:latin typeface="Times New Roman"/>
                <a:cs typeface="Times New Roman"/>
              </a:rPr>
              <a:t>image,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computing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sum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-10" dirty="0">
                <a:latin typeface="Times New Roman"/>
                <a:cs typeface="Times New Roman"/>
              </a:rPr>
              <a:t> location.</a:t>
            </a:r>
            <a:endParaRPr sz="20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buClr>
                <a:srgbClr val="C00000"/>
              </a:buClr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used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correlation</a:t>
            </a:r>
            <a:r>
              <a:rPr sz="2000" b="1" spc="4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4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check</a:t>
            </a:r>
            <a:endParaRPr sz="200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similarity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between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two</a:t>
            </a:r>
            <a:r>
              <a:rPr sz="2000" b="1" spc="-20" dirty="0">
                <a:latin typeface="Times New Roman"/>
                <a:cs typeface="Times New Roman"/>
              </a:rPr>
              <a:t> image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9280" y="2750108"/>
            <a:ext cx="1388110" cy="63881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104775" algn="r">
              <a:lnSpc>
                <a:spcPct val="100000"/>
              </a:lnSpc>
              <a:spcBef>
                <a:spcPts val="575"/>
              </a:spcBef>
            </a:pPr>
            <a:r>
              <a:rPr sz="1300" spc="-50" dirty="0">
                <a:latin typeface="Cambria Math"/>
                <a:cs typeface="Cambria Math"/>
              </a:rPr>
              <a:t>𝒂</a:t>
            </a:r>
            <a:endParaRPr sz="13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800" spc="-10" dirty="0">
                <a:latin typeface="Cambria Math"/>
                <a:cs typeface="Cambria Math"/>
              </a:rPr>
              <a:t>𝒈(𝒙,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𝒚)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10" dirty="0">
                <a:latin typeface="Cambria Math"/>
                <a:cs typeface="Cambria Math"/>
              </a:rPr>
              <a:t> </a:t>
            </a:r>
            <a:r>
              <a:rPr sz="1800" spc="1055" dirty="0">
                <a:latin typeface="Cambria Math"/>
                <a:cs typeface="Cambria Math"/>
              </a:rPr>
              <a:t>∑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17419" y="3158870"/>
            <a:ext cx="445134" cy="212090"/>
          </a:xfrm>
          <a:custGeom>
            <a:avLst/>
            <a:gdLst/>
            <a:ahLst/>
            <a:cxnLst/>
            <a:rect l="l" t="t" r="r" b="b"/>
            <a:pathLst>
              <a:path w="445135" h="212089">
                <a:moveTo>
                  <a:pt x="377317" y="0"/>
                </a:moveTo>
                <a:lnTo>
                  <a:pt x="374269" y="8636"/>
                </a:lnTo>
                <a:lnTo>
                  <a:pt x="386554" y="13946"/>
                </a:lnTo>
                <a:lnTo>
                  <a:pt x="397113" y="21304"/>
                </a:lnTo>
                <a:lnTo>
                  <a:pt x="418504" y="55449"/>
                </a:lnTo>
                <a:lnTo>
                  <a:pt x="425576" y="104901"/>
                </a:lnTo>
                <a:lnTo>
                  <a:pt x="424791" y="123571"/>
                </a:lnTo>
                <a:lnTo>
                  <a:pt x="413004" y="169290"/>
                </a:lnTo>
                <a:lnTo>
                  <a:pt x="386697" y="197865"/>
                </a:lnTo>
                <a:lnTo>
                  <a:pt x="374650" y="203200"/>
                </a:lnTo>
                <a:lnTo>
                  <a:pt x="377317" y="211836"/>
                </a:lnTo>
                <a:lnTo>
                  <a:pt x="417786" y="187707"/>
                </a:lnTo>
                <a:lnTo>
                  <a:pt x="440515" y="143335"/>
                </a:lnTo>
                <a:lnTo>
                  <a:pt x="444881" y="105917"/>
                </a:lnTo>
                <a:lnTo>
                  <a:pt x="443802" y="86830"/>
                </a:lnTo>
                <a:lnTo>
                  <a:pt x="427355" y="37211"/>
                </a:lnTo>
                <a:lnTo>
                  <a:pt x="392672" y="5546"/>
                </a:lnTo>
                <a:lnTo>
                  <a:pt x="377317" y="0"/>
                </a:lnTo>
                <a:close/>
              </a:path>
              <a:path w="445135" h="212089">
                <a:moveTo>
                  <a:pt x="67563" y="0"/>
                </a:moveTo>
                <a:lnTo>
                  <a:pt x="27166" y="24163"/>
                </a:lnTo>
                <a:lnTo>
                  <a:pt x="4381" y="68611"/>
                </a:lnTo>
                <a:lnTo>
                  <a:pt x="57" y="104901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4" y="104901"/>
                </a:lnTo>
                <a:lnTo>
                  <a:pt x="20089" y="86830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08961" y="2750108"/>
            <a:ext cx="2515235" cy="63881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575"/>
              </a:spcBef>
            </a:pPr>
            <a:r>
              <a:rPr sz="1300" spc="-50" dirty="0">
                <a:latin typeface="Cambria Math"/>
                <a:cs typeface="Cambria Math"/>
              </a:rPr>
              <a:t>𝒃</a:t>
            </a:r>
            <a:endParaRPr sz="13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800" spc="1105" dirty="0">
                <a:latin typeface="Cambria Math"/>
                <a:cs typeface="Cambria Math"/>
              </a:rPr>
              <a:t>∑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𝒘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𝒔,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𝒕</a:t>
            </a:r>
            <a:r>
              <a:rPr sz="1800" spc="3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𝒇(𝒙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𝒔,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𝒚 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𝒕)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6230" y="3440683"/>
            <a:ext cx="9080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Cambria Math"/>
                <a:cs typeface="Cambria Math"/>
              </a:rPr>
              <a:t>𝒔=−𝒂</a:t>
            </a:r>
            <a:r>
              <a:rPr sz="1300" spc="-55" dirty="0">
                <a:latin typeface="Cambria Math"/>
                <a:cs typeface="Cambria Math"/>
              </a:rPr>
              <a:t> </a:t>
            </a:r>
            <a:r>
              <a:rPr sz="1300" spc="-20" dirty="0">
                <a:latin typeface="Cambria Math"/>
                <a:cs typeface="Cambria Math"/>
              </a:rPr>
              <a:t>𝒕=−𝒃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589" y="4173727"/>
            <a:ext cx="4517390" cy="2162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0" marR="55880" indent="-342900" algn="just">
              <a:lnSpc>
                <a:spcPct val="100099"/>
              </a:lnSpc>
              <a:spcBef>
                <a:spcPts val="100"/>
              </a:spcBef>
              <a:buClr>
                <a:srgbClr val="C00000"/>
              </a:buClr>
              <a:buFont typeface="Wingdings"/>
              <a:buChar char=""/>
              <a:tabLst>
                <a:tab pos="406400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mechanics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spatial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convolution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49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65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same,</a:t>
            </a:r>
            <a:r>
              <a:rPr sz="2000" b="1" spc="165" dirty="0"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except</a:t>
            </a:r>
            <a:r>
              <a:rPr sz="2000" b="1" spc="4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000" b="1" spc="4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correlation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kernel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rotated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 Math"/>
                <a:cs typeface="Cambria Math"/>
              </a:rPr>
              <a:t>𝟏𝟖𝟎</a:t>
            </a:r>
            <a:r>
              <a:rPr sz="3000" b="1" spc="-15" baseline="20833" dirty="0">
                <a:solidFill>
                  <a:srgbClr val="FF0000"/>
                </a:solidFill>
                <a:latin typeface="Times New Roman"/>
                <a:cs typeface="Times New Roman"/>
              </a:rPr>
              <a:t>◦</a:t>
            </a:r>
            <a:r>
              <a:rPr sz="2000" b="1" spc="-10" dirty="0">
                <a:latin typeface="Times New Roman"/>
                <a:cs typeface="Times New Roman"/>
              </a:rPr>
              <a:t>. </a:t>
            </a:r>
            <a:r>
              <a:rPr sz="2000" b="1" dirty="0">
                <a:latin typeface="Times New Roman"/>
                <a:cs typeface="Times New Roman"/>
              </a:rPr>
              <a:t>Thus,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when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 values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are </a:t>
            </a:r>
            <a:r>
              <a:rPr sz="2000" b="1" dirty="0">
                <a:latin typeface="Times New Roman"/>
                <a:cs typeface="Times New Roman"/>
              </a:rPr>
              <a:t>symmetric</a:t>
            </a:r>
            <a:r>
              <a:rPr sz="2000" b="1" spc="355" dirty="0">
                <a:latin typeface="Times New Roman"/>
                <a:cs typeface="Times New Roman"/>
              </a:rPr>
              <a:t>    </a:t>
            </a:r>
            <a:r>
              <a:rPr sz="2000" b="1" dirty="0">
                <a:latin typeface="Times New Roman"/>
                <a:cs typeface="Times New Roman"/>
              </a:rPr>
              <a:t>about</a:t>
            </a:r>
            <a:r>
              <a:rPr sz="2000" b="1" spc="355" dirty="0">
                <a:latin typeface="Times New Roman"/>
                <a:cs typeface="Times New Roman"/>
              </a:rPr>
              <a:t>    </a:t>
            </a:r>
            <a:r>
              <a:rPr sz="2000" b="1" dirty="0">
                <a:latin typeface="Times New Roman"/>
                <a:cs typeface="Times New Roman"/>
              </a:rPr>
              <a:t>its</a:t>
            </a:r>
            <a:r>
              <a:rPr sz="2000" b="1" spc="360" dirty="0">
                <a:latin typeface="Times New Roman"/>
                <a:cs typeface="Times New Roman"/>
              </a:rPr>
              <a:t>    </a:t>
            </a:r>
            <a:r>
              <a:rPr sz="2000" b="1" spc="-25" dirty="0">
                <a:latin typeface="Times New Roman"/>
                <a:cs typeface="Times New Roman"/>
              </a:rPr>
              <a:t>center, </a:t>
            </a:r>
            <a:r>
              <a:rPr sz="2000" b="1" dirty="0">
                <a:latin typeface="Times New Roman"/>
                <a:cs typeface="Times New Roman"/>
              </a:rPr>
              <a:t>correlation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convolution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yield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latin typeface="Times New Roman"/>
                <a:cs typeface="Times New Roman"/>
              </a:rPr>
              <a:t>same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result.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09527" y="246570"/>
            <a:ext cx="3619500" cy="6348095"/>
            <a:chOff x="5109527" y="246570"/>
            <a:chExt cx="3619500" cy="634809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6911" y="308711"/>
              <a:ext cx="3206495" cy="300204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18100" y="251333"/>
              <a:ext cx="3606165" cy="3182620"/>
            </a:xfrm>
            <a:custGeom>
              <a:avLst/>
              <a:gdLst/>
              <a:ahLst/>
              <a:cxnLst/>
              <a:rect l="l" t="t" r="r" b="b"/>
              <a:pathLst>
                <a:path w="3606165" h="3182620">
                  <a:moveTo>
                    <a:pt x="0" y="3182366"/>
                  </a:moveTo>
                  <a:lnTo>
                    <a:pt x="3606165" y="3182366"/>
                  </a:lnTo>
                  <a:lnTo>
                    <a:pt x="3606165" y="0"/>
                  </a:lnTo>
                  <a:lnTo>
                    <a:pt x="0" y="0"/>
                  </a:lnTo>
                  <a:lnTo>
                    <a:pt x="0" y="318236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41038" y="3519992"/>
              <a:ext cx="3222097" cy="29724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14290" y="3482276"/>
              <a:ext cx="3609975" cy="3107690"/>
            </a:xfrm>
            <a:custGeom>
              <a:avLst/>
              <a:gdLst/>
              <a:ahLst/>
              <a:cxnLst/>
              <a:rect l="l" t="t" r="r" b="b"/>
              <a:pathLst>
                <a:path w="3609975" h="3107690">
                  <a:moveTo>
                    <a:pt x="0" y="3107182"/>
                  </a:moveTo>
                  <a:lnTo>
                    <a:pt x="3609975" y="3107182"/>
                  </a:lnTo>
                  <a:lnTo>
                    <a:pt x="3609975" y="0"/>
                  </a:lnTo>
                  <a:lnTo>
                    <a:pt x="0" y="0"/>
                  </a:lnTo>
                  <a:lnTo>
                    <a:pt x="0" y="310718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object 8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029" y="2310148"/>
            <a:ext cx="91580" cy="91580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761792" y="2184940"/>
            <a:ext cx="3583078" cy="751444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0141" marR="8056">
              <a:spcBef>
                <a:spcPts val="151"/>
              </a:spcBef>
            </a:pPr>
            <a:r>
              <a:rPr sz="1586" dirty="0">
                <a:latin typeface="Times New Roman"/>
                <a:cs typeface="Times New Roman"/>
              </a:rPr>
              <a:t>Convolution</a:t>
            </a:r>
            <a:r>
              <a:rPr sz="1586" spc="285" dirty="0">
                <a:latin typeface="Times New Roman"/>
                <a:cs typeface="Times New Roman"/>
              </a:rPr>
              <a:t> </a:t>
            </a:r>
            <a:r>
              <a:rPr sz="1586" dirty="0">
                <a:latin typeface="Times New Roman"/>
                <a:cs typeface="Times New Roman"/>
              </a:rPr>
              <a:t>is</a:t>
            </a:r>
            <a:r>
              <a:rPr sz="1586" spc="293" dirty="0">
                <a:latin typeface="Times New Roman"/>
                <a:cs typeface="Times New Roman"/>
              </a:rPr>
              <a:t> </a:t>
            </a:r>
            <a:r>
              <a:rPr sz="1586" dirty="0">
                <a:latin typeface="Times New Roman"/>
                <a:cs typeface="Times New Roman"/>
              </a:rPr>
              <a:t>very</a:t>
            </a:r>
            <a:r>
              <a:rPr sz="1586" spc="293" dirty="0">
                <a:latin typeface="Times New Roman"/>
                <a:cs typeface="Times New Roman"/>
              </a:rPr>
              <a:t> </a:t>
            </a:r>
            <a:r>
              <a:rPr sz="1586" dirty="0">
                <a:latin typeface="Times New Roman"/>
                <a:cs typeface="Times New Roman"/>
              </a:rPr>
              <a:t>similar</a:t>
            </a:r>
            <a:r>
              <a:rPr sz="1586" spc="293" dirty="0">
                <a:latin typeface="Times New Roman"/>
                <a:cs typeface="Times New Roman"/>
              </a:rPr>
              <a:t> </a:t>
            </a:r>
            <a:r>
              <a:rPr sz="1586" spc="40" dirty="0">
                <a:latin typeface="Times New Roman"/>
                <a:cs typeface="Times New Roman"/>
              </a:rPr>
              <a:t>to</a:t>
            </a:r>
            <a:r>
              <a:rPr sz="1586" spc="793" dirty="0">
                <a:latin typeface="Times New Roman"/>
                <a:cs typeface="Times New Roman"/>
              </a:rPr>
              <a:t> </a:t>
            </a:r>
            <a:r>
              <a:rPr sz="1586" dirty="0">
                <a:latin typeface="Times New Roman"/>
                <a:cs typeface="Times New Roman"/>
              </a:rPr>
              <a:t>correlation,</a:t>
            </a:r>
            <a:r>
              <a:rPr sz="1586" spc="278" dirty="0">
                <a:latin typeface="Times New Roman"/>
                <a:cs typeface="Times New Roman"/>
              </a:rPr>
              <a:t> </a:t>
            </a:r>
            <a:r>
              <a:rPr sz="1586" dirty="0">
                <a:latin typeface="Times New Roman"/>
                <a:cs typeface="Times New Roman"/>
              </a:rPr>
              <a:t>the</a:t>
            </a:r>
            <a:r>
              <a:rPr sz="1586" spc="285" dirty="0">
                <a:latin typeface="Times New Roman"/>
                <a:cs typeface="Times New Roman"/>
              </a:rPr>
              <a:t> </a:t>
            </a:r>
            <a:r>
              <a:rPr sz="1586" dirty="0">
                <a:latin typeface="Times New Roman"/>
                <a:cs typeface="Times New Roman"/>
              </a:rPr>
              <a:t>only</a:t>
            </a:r>
            <a:r>
              <a:rPr sz="1586" spc="278" dirty="0">
                <a:latin typeface="Times New Roman"/>
                <a:cs typeface="Times New Roman"/>
              </a:rPr>
              <a:t> </a:t>
            </a:r>
            <a:r>
              <a:rPr sz="1586" dirty="0">
                <a:latin typeface="Times New Roman"/>
                <a:cs typeface="Times New Roman"/>
              </a:rPr>
              <a:t>difference</a:t>
            </a:r>
            <a:r>
              <a:rPr sz="1586" spc="285" dirty="0">
                <a:latin typeface="Times New Roman"/>
                <a:cs typeface="Times New Roman"/>
              </a:rPr>
              <a:t> </a:t>
            </a:r>
            <a:r>
              <a:rPr sz="1586" dirty="0">
                <a:latin typeface="Times New Roman"/>
                <a:cs typeface="Times New Roman"/>
              </a:rPr>
              <a:t>is</a:t>
            </a:r>
            <a:r>
              <a:rPr sz="1586" spc="278" dirty="0">
                <a:latin typeface="Times New Roman"/>
                <a:cs typeface="Times New Roman"/>
              </a:rPr>
              <a:t> </a:t>
            </a:r>
            <a:r>
              <a:rPr sz="1586" spc="-16" dirty="0">
                <a:solidFill>
                  <a:srgbClr val="EC008C"/>
                </a:solidFill>
                <a:latin typeface="Times New Roman"/>
                <a:cs typeface="Times New Roman"/>
              </a:rPr>
              <a:t>flipped kernel</a:t>
            </a:r>
            <a:r>
              <a:rPr sz="1586" spc="-16" dirty="0">
                <a:latin typeface="Times New Roman"/>
                <a:cs typeface="Times New Roman"/>
              </a:rPr>
              <a:t>.</a:t>
            </a:r>
            <a:endParaRPr sz="1586">
              <a:latin typeface="Times New Roman"/>
              <a:cs typeface="Times New Roman"/>
            </a:endParaRPr>
          </a:p>
        </p:txBody>
      </p:sp>
      <p:pic>
        <p:nvPicPr>
          <p:cNvPr id="97" name="object 9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7700" y="1955406"/>
            <a:ext cx="3371598" cy="3262837"/>
          </a:xfrm>
          <a:prstGeom prst="rect">
            <a:avLst/>
          </a:prstGeom>
        </p:spPr>
      </p:pic>
      <p:sp>
        <p:nvSpPr>
          <p:cNvPr id="104" name="object 104"/>
          <p:cNvSpPr txBox="1">
            <a:spLocks noGrp="1"/>
          </p:cNvSpPr>
          <p:nvPr>
            <p:ph type="sldNum" sz="quarter" idx="7"/>
          </p:nvPr>
        </p:nvSpPr>
        <p:spPr>
          <a:xfrm>
            <a:off x="10441078" y="11826777"/>
            <a:ext cx="3335344" cy="309540"/>
          </a:xfrm>
          <a:prstGeom prst="rect">
            <a:avLst/>
          </a:prstGeom>
        </p:spPr>
        <p:txBody>
          <a:bodyPr vert="horz" wrap="square" lIns="0" tIns="32226" rIns="0" bIns="0" rtlCol="0">
            <a:spAutoFit/>
          </a:bodyPr>
          <a:lstStyle/>
          <a:p>
            <a:pPr marL="60423">
              <a:spcBef>
                <a:spcPts val="254"/>
              </a:spcBef>
            </a:pPr>
            <a:r>
              <a:rPr spc="87" dirty="0"/>
              <a:t>36</a:t>
            </a:r>
            <a:r>
              <a:rPr spc="181" dirty="0"/>
              <a:t> </a:t>
            </a:r>
            <a:r>
              <a:rPr spc="151" dirty="0"/>
              <a:t>/</a:t>
            </a:r>
            <a:r>
              <a:rPr spc="190" dirty="0"/>
              <a:t> </a:t>
            </a:r>
            <a:r>
              <a:rPr spc="-40" dirty="0"/>
              <a:t>68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033486E-C55C-4B66-B775-1B4BE5338D3E}"/>
              </a:ext>
            </a:extLst>
          </p:cNvPr>
          <p:cNvSpPr txBox="1"/>
          <p:nvPr/>
        </p:nvSpPr>
        <p:spPr>
          <a:xfrm>
            <a:off x="533400" y="609600"/>
            <a:ext cx="7884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Convolution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object 9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880" y="3250852"/>
            <a:ext cx="2914801" cy="1783684"/>
          </a:xfrm>
          <a:prstGeom prst="rect">
            <a:avLst/>
          </a:prstGeom>
        </p:spPr>
      </p:pic>
      <p:sp>
        <p:nvSpPr>
          <p:cNvPr id="99" name="object 99"/>
          <p:cNvSpPr txBox="1"/>
          <p:nvPr/>
        </p:nvSpPr>
        <p:spPr>
          <a:xfrm>
            <a:off x="5460921" y="3716883"/>
            <a:ext cx="2580058" cy="263362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60423">
              <a:spcBef>
                <a:spcPts val="151"/>
              </a:spcBef>
            </a:pPr>
            <a:r>
              <a:rPr sz="1586" i="1" spc="278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586" i="1" spc="21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586" dirty="0">
                <a:solidFill>
                  <a:srgbClr val="0000FF"/>
                </a:solidFill>
                <a:latin typeface="Cambria"/>
                <a:cs typeface="Cambria"/>
              </a:rPr>
              <a:t>∗</a:t>
            </a:r>
            <a:r>
              <a:rPr sz="1586" spc="16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1586" i="1" spc="317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586" i="1" spc="21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586" spc="324" dirty="0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sz="1586" spc="5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86" i="1" spc="143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665" spc="214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586" i="1" spc="143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665" spc="214" baseline="-11904" dirty="0">
                <a:solidFill>
                  <a:srgbClr val="0000FF"/>
                </a:solidFill>
                <a:latin typeface="Georgia"/>
                <a:cs typeface="Georgia"/>
              </a:rPr>
              <a:t>9</a:t>
            </a:r>
            <a:r>
              <a:rPr sz="1665" spc="262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586" spc="324" dirty="0">
                <a:solidFill>
                  <a:srgbClr val="0000FF"/>
                </a:solidFill>
                <a:latin typeface="Times New Roman"/>
                <a:cs typeface="Times New Roman"/>
              </a:rPr>
              <a:t>+</a:t>
            </a:r>
            <a:r>
              <a:rPr sz="1586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86" i="1" spc="103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665" spc="154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586" i="1" spc="103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665" spc="154" baseline="-11904" dirty="0">
                <a:solidFill>
                  <a:srgbClr val="0000FF"/>
                </a:solidFill>
                <a:latin typeface="Georgia"/>
                <a:cs typeface="Georgia"/>
              </a:rPr>
              <a:t>8</a:t>
            </a:r>
            <a:r>
              <a:rPr sz="1665" spc="273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586" spc="324" dirty="0">
                <a:solidFill>
                  <a:srgbClr val="0000FF"/>
                </a:solidFill>
                <a:latin typeface="Times New Roman"/>
                <a:cs typeface="Times New Roman"/>
              </a:rPr>
              <a:t>+</a:t>
            </a:r>
            <a:r>
              <a:rPr sz="1586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86" i="1" spc="103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665" spc="154" baseline="-11904" dirty="0">
                <a:solidFill>
                  <a:srgbClr val="0000FF"/>
                </a:solidFill>
                <a:latin typeface="Georgia"/>
                <a:cs typeface="Georgia"/>
              </a:rPr>
              <a:t>3</a:t>
            </a:r>
            <a:r>
              <a:rPr sz="1586" i="1" spc="103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665" spc="154" baseline="-11904" dirty="0">
                <a:solidFill>
                  <a:srgbClr val="0000FF"/>
                </a:solidFill>
                <a:latin typeface="Georgia"/>
                <a:cs typeface="Georgia"/>
              </a:rPr>
              <a:t>7</a:t>
            </a:r>
            <a:endParaRPr sz="1665" baseline="-11904">
              <a:latin typeface="Georgia"/>
              <a:cs typeface="Georg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101907" y="3957670"/>
            <a:ext cx="1939575" cy="632536"/>
          </a:xfrm>
          <a:prstGeom prst="rect">
            <a:avLst/>
          </a:prstGeom>
        </p:spPr>
        <p:txBody>
          <a:bodyPr vert="horz" wrap="square" lIns="0" tIns="79557" rIns="0" bIns="0" rtlCol="0">
            <a:spAutoFit/>
          </a:bodyPr>
          <a:lstStyle/>
          <a:p>
            <a:pPr marL="60423">
              <a:spcBef>
                <a:spcPts val="626"/>
              </a:spcBef>
            </a:pPr>
            <a:r>
              <a:rPr sz="1586" spc="151" dirty="0">
                <a:solidFill>
                  <a:srgbClr val="0000FF"/>
                </a:solidFill>
                <a:latin typeface="Times New Roman"/>
                <a:cs typeface="Times New Roman"/>
              </a:rPr>
              <a:t>+</a:t>
            </a:r>
            <a:r>
              <a:rPr sz="1586" i="1" spc="151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665" spc="225" baseline="-11904" dirty="0">
                <a:solidFill>
                  <a:srgbClr val="0000FF"/>
                </a:solidFill>
                <a:latin typeface="Georgia"/>
                <a:cs typeface="Georgia"/>
              </a:rPr>
              <a:t>4</a:t>
            </a:r>
            <a:r>
              <a:rPr sz="1586" i="1" spc="151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665" spc="225" baseline="-11904" dirty="0">
                <a:solidFill>
                  <a:srgbClr val="0000FF"/>
                </a:solidFill>
                <a:latin typeface="Georgia"/>
                <a:cs typeface="Georgia"/>
              </a:rPr>
              <a:t>6</a:t>
            </a:r>
            <a:r>
              <a:rPr sz="1665" spc="262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586" spc="324" dirty="0">
                <a:solidFill>
                  <a:srgbClr val="0000FF"/>
                </a:solidFill>
                <a:latin typeface="Times New Roman"/>
                <a:cs typeface="Times New Roman"/>
              </a:rPr>
              <a:t>+</a:t>
            </a:r>
            <a:r>
              <a:rPr sz="1586" spc="-4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86" i="1" spc="127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665" spc="190" baseline="-11904" dirty="0">
                <a:solidFill>
                  <a:srgbClr val="0000FF"/>
                </a:solidFill>
                <a:latin typeface="Georgia"/>
                <a:cs typeface="Georgia"/>
              </a:rPr>
              <a:t>5</a:t>
            </a:r>
            <a:r>
              <a:rPr sz="1586" i="1" spc="127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665" spc="190" baseline="-11904" dirty="0">
                <a:solidFill>
                  <a:srgbClr val="0000FF"/>
                </a:solidFill>
                <a:latin typeface="Georgia"/>
                <a:cs typeface="Georgia"/>
              </a:rPr>
              <a:t>5</a:t>
            </a:r>
            <a:r>
              <a:rPr sz="1665" spc="262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586" spc="324" dirty="0">
                <a:solidFill>
                  <a:srgbClr val="0000FF"/>
                </a:solidFill>
                <a:latin typeface="Times New Roman"/>
                <a:cs typeface="Times New Roman"/>
              </a:rPr>
              <a:t>+</a:t>
            </a:r>
            <a:r>
              <a:rPr sz="1586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86" i="1" spc="71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665" spc="106" baseline="-11904" dirty="0">
                <a:solidFill>
                  <a:srgbClr val="0000FF"/>
                </a:solidFill>
                <a:latin typeface="Georgia"/>
                <a:cs typeface="Georgia"/>
              </a:rPr>
              <a:t>6</a:t>
            </a:r>
            <a:r>
              <a:rPr sz="1586" i="1" spc="71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665" spc="106" baseline="-11904" dirty="0">
                <a:solidFill>
                  <a:srgbClr val="0000FF"/>
                </a:solidFill>
                <a:latin typeface="Georgia"/>
                <a:cs typeface="Georgia"/>
              </a:rPr>
              <a:t>4</a:t>
            </a:r>
            <a:endParaRPr sz="1665" baseline="-11904">
              <a:latin typeface="Georgia"/>
              <a:cs typeface="Georgia"/>
            </a:endParaRPr>
          </a:p>
          <a:p>
            <a:pPr marL="60423">
              <a:spcBef>
                <a:spcPts val="468"/>
              </a:spcBef>
            </a:pPr>
            <a:r>
              <a:rPr sz="1586" spc="167" dirty="0">
                <a:solidFill>
                  <a:srgbClr val="0000FF"/>
                </a:solidFill>
                <a:latin typeface="Times New Roman"/>
                <a:cs typeface="Times New Roman"/>
              </a:rPr>
              <a:t>+</a:t>
            </a:r>
            <a:r>
              <a:rPr sz="1586" i="1" spc="167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665" spc="249" baseline="-11904" dirty="0">
                <a:solidFill>
                  <a:srgbClr val="0000FF"/>
                </a:solidFill>
                <a:latin typeface="Georgia"/>
                <a:cs typeface="Georgia"/>
              </a:rPr>
              <a:t>7</a:t>
            </a:r>
            <a:r>
              <a:rPr sz="1586" i="1" spc="167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665" spc="249" baseline="-11904" dirty="0">
                <a:solidFill>
                  <a:srgbClr val="0000FF"/>
                </a:solidFill>
                <a:latin typeface="Georgia"/>
                <a:cs typeface="Georgia"/>
              </a:rPr>
              <a:t>3</a:t>
            </a:r>
            <a:r>
              <a:rPr sz="1665" spc="273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586" spc="324" dirty="0">
                <a:solidFill>
                  <a:srgbClr val="0000FF"/>
                </a:solidFill>
                <a:latin typeface="Times New Roman"/>
                <a:cs typeface="Times New Roman"/>
              </a:rPr>
              <a:t>+</a:t>
            </a:r>
            <a:r>
              <a:rPr sz="1586" spc="-3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86" i="1" spc="103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665" spc="154" baseline="-11904" dirty="0">
                <a:solidFill>
                  <a:srgbClr val="0000FF"/>
                </a:solidFill>
                <a:latin typeface="Georgia"/>
                <a:cs typeface="Georgia"/>
              </a:rPr>
              <a:t>8</a:t>
            </a:r>
            <a:r>
              <a:rPr sz="1586" i="1" spc="103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665" spc="154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665" spc="273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586" spc="324" dirty="0">
                <a:solidFill>
                  <a:srgbClr val="0000FF"/>
                </a:solidFill>
                <a:latin typeface="Times New Roman"/>
                <a:cs typeface="Times New Roman"/>
              </a:rPr>
              <a:t>+</a:t>
            </a:r>
            <a:r>
              <a:rPr sz="1586" spc="-3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86" i="1" spc="111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665" spc="165" baseline="-11904" dirty="0">
                <a:solidFill>
                  <a:srgbClr val="0000FF"/>
                </a:solidFill>
                <a:latin typeface="Georgia"/>
                <a:cs typeface="Georgia"/>
              </a:rPr>
              <a:t>9</a:t>
            </a:r>
            <a:r>
              <a:rPr sz="1586" i="1" spc="111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665" spc="165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endParaRPr sz="1665" baseline="-11904">
              <a:latin typeface="Georgia"/>
              <a:cs typeface="Georg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8477636" y="4019884"/>
            <a:ext cx="297079" cy="263362"/>
          </a:xfrm>
          <a:prstGeom prst="rect">
            <a:avLst/>
          </a:prstGeom>
        </p:spPr>
        <p:txBody>
          <a:bodyPr vert="horz" wrap="square" lIns="0" tIns="19134" rIns="0" bIns="0" rtlCol="0">
            <a:spAutoFit/>
          </a:bodyPr>
          <a:lstStyle/>
          <a:p>
            <a:pPr marL="20141">
              <a:spcBef>
                <a:spcPts val="151"/>
              </a:spcBef>
            </a:pPr>
            <a:r>
              <a:rPr sz="1586" spc="-40" dirty="0">
                <a:solidFill>
                  <a:srgbClr val="0000FF"/>
                </a:solidFill>
                <a:latin typeface="Times New Roman"/>
                <a:cs typeface="Times New Roman"/>
              </a:rPr>
              <a:t>(7)</a:t>
            </a:r>
            <a:endParaRPr sz="1586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ftr" sz="quarter" idx="5"/>
          </p:nvPr>
        </p:nvSpPr>
        <p:spPr>
          <a:xfrm>
            <a:off x="4930509" y="11826777"/>
            <a:ext cx="4640479" cy="863537"/>
          </a:xfrm>
          <a:prstGeom prst="rect">
            <a:avLst/>
          </a:prstGeom>
        </p:spPr>
        <p:txBody>
          <a:bodyPr vert="horz" wrap="square" lIns="0" tIns="32226" rIns="0" bIns="0" rtlCol="0">
            <a:spAutoFit/>
          </a:bodyPr>
          <a:lstStyle/>
          <a:p>
            <a:pPr marL="20141">
              <a:spcBef>
                <a:spcPts val="254"/>
              </a:spcBef>
            </a:pPr>
            <a:r>
              <a:rPr spc="127" dirty="0"/>
              <a:t>Dr.</a:t>
            </a:r>
            <a:r>
              <a:rPr spc="333" dirty="0"/>
              <a:t> </a:t>
            </a:r>
            <a:r>
              <a:rPr spc="127" dirty="0"/>
              <a:t>Rizwan</a:t>
            </a:r>
            <a:r>
              <a:rPr spc="206" dirty="0"/>
              <a:t> </a:t>
            </a:r>
            <a:r>
              <a:rPr spc="151" dirty="0"/>
              <a:t>Ahmed</a:t>
            </a:r>
            <a:r>
              <a:rPr spc="214" dirty="0"/>
              <a:t> </a:t>
            </a:r>
            <a:r>
              <a:rPr spc="135" dirty="0"/>
              <a:t>Khan,</a:t>
            </a:r>
            <a:r>
              <a:rPr spc="206" dirty="0"/>
              <a:t> </a:t>
            </a:r>
            <a:r>
              <a:rPr spc="103" dirty="0"/>
              <a:t>https://sites.google.com/site/drkhanrizwan17/</a:t>
            </a:r>
          </a:p>
        </p:txBody>
      </p:sp>
      <p:sp>
        <p:nvSpPr>
          <p:cNvPr id="108" name="object 108"/>
          <p:cNvSpPr txBox="1"/>
          <p:nvPr/>
        </p:nvSpPr>
        <p:spPr>
          <a:xfrm>
            <a:off x="8418340" y="5818001"/>
            <a:ext cx="477341" cy="154562"/>
          </a:xfrm>
          <a:prstGeom prst="rect">
            <a:avLst/>
          </a:prstGeom>
        </p:spPr>
        <p:txBody>
          <a:bodyPr vert="horz" wrap="square" lIns="0" tIns="32226" rIns="0" bIns="0" rtlCol="0">
            <a:spAutoFit/>
          </a:bodyPr>
          <a:lstStyle/>
          <a:p>
            <a:pPr marL="20141">
              <a:spcBef>
                <a:spcPts val="254"/>
              </a:spcBef>
            </a:pPr>
            <a:r>
              <a:rPr sz="793" spc="111" dirty="0">
                <a:solidFill>
                  <a:srgbClr val="FFFFFF"/>
                </a:solidFill>
                <a:latin typeface="Georgia"/>
                <a:cs typeface="Georgia"/>
              </a:rPr>
              <a:t>37</a:t>
            </a:r>
            <a:r>
              <a:rPr sz="793" spc="1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793" spc="151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793" spc="1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793" spc="-40" dirty="0">
                <a:solidFill>
                  <a:srgbClr val="FFFFFF"/>
                </a:solidFill>
                <a:latin typeface="Georgia"/>
                <a:cs typeface="Georgia"/>
              </a:rPr>
              <a:t>68</a:t>
            </a:r>
            <a:endParaRPr sz="793">
              <a:latin typeface="Georgia"/>
              <a:cs typeface="Georg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CF430B-EC33-4BE3-86B8-74655D80F5B2}"/>
              </a:ext>
            </a:extLst>
          </p:cNvPr>
          <p:cNvSpPr txBox="1"/>
          <p:nvPr/>
        </p:nvSpPr>
        <p:spPr>
          <a:xfrm>
            <a:off x="533400" y="609600"/>
            <a:ext cx="7884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Convolution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iro.medium.com/v2/resize:fit:1050/1*FllkU0HqHL7jYqk-2-U8Gg.png">
            <a:extLst>
              <a:ext uri="{FF2B5EF4-FFF2-40B4-BE49-F238E27FC236}">
                <a16:creationId xmlns:a16="http://schemas.microsoft.com/office/drawing/2014/main" id="{76E6D7D4-9700-420F-AE78-7F4FDB4E6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99306"/>
            <a:ext cx="7924800" cy="525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2596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855" y="830071"/>
            <a:ext cx="835596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89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Smoothing</a:t>
            </a:r>
            <a:r>
              <a:rPr sz="2000" b="1" spc="3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(also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called</a:t>
            </a:r>
            <a:r>
              <a:rPr sz="2000" b="1" spc="3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averaging)</a:t>
            </a:r>
            <a:r>
              <a:rPr sz="2000" b="1" spc="3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spatial</a:t>
            </a:r>
            <a:r>
              <a:rPr sz="2000" b="1" spc="3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filters</a:t>
            </a:r>
            <a:r>
              <a:rPr sz="2000" b="1" spc="3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34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used</a:t>
            </a:r>
            <a:r>
              <a:rPr sz="2000" b="1" spc="3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000" b="1" spc="3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reduce</a:t>
            </a:r>
            <a:r>
              <a:rPr sz="2000" b="1" spc="3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sharp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transitions</a:t>
            </a:r>
            <a:r>
              <a:rPr sz="20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intensity.</a:t>
            </a:r>
            <a:endParaRPr sz="2000" dirty="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Because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random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noise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typically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consists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sharp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transitions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intensity,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 </a:t>
            </a:r>
            <a:r>
              <a:rPr sz="2000" b="1" dirty="0">
                <a:latin typeface="Times New Roman"/>
                <a:cs typeface="Times New Roman"/>
              </a:rPr>
              <a:t>obvious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application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smoothing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noise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reduction.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6431280" algn="l"/>
              </a:tabLst>
            </a:pPr>
            <a:r>
              <a:rPr sz="2000" b="1" dirty="0">
                <a:latin typeface="Times New Roman"/>
                <a:cs typeface="Times New Roman"/>
              </a:rPr>
              <a:t>Smoothing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prior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resampling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reduce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aliasing,</a:t>
            </a:r>
            <a:r>
              <a:rPr sz="2000" b="1" dirty="0">
                <a:latin typeface="Times New Roman"/>
                <a:cs typeface="Times New Roman"/>
              </a:rPr>
              <a:t>	is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also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common application.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commonly</a:t>
            </a:r>
            <a:r>
              <a:rPr sz="20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used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smoothing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filters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are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Averaging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Gaussian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filters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performed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0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convolution</a:t>
            </a:r>
            <a:r>
              <a:rPr sz="20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operation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6719" y="295638"/>
            <a:ext cx="8211820" cy="520065"/>
            <a:chOff x="426719" y="295638"/>
            <a:chExt cx="8211820" cy="520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19" y="722502"/>
              <a:ext cx="8211311" cy="927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0374" y="748538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1505" y="295638"/>
              <a:ext cx="3098294" cy="3916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151" y="920622"/>
            <a:ext cx="811784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average</a:t>
            </a:r>
            <a:r>
              <a:rPr u="none" spc="-4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filtering</a:t>
            </a:r>
            <a:r>
              <a:rPr u="none" spc="-4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is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also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called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mean filtering</a:t>
            </a:r>
            <a:r>
              <a:rPr u="none" dirty="0">
                <a:solidFill>
                  <a:srgbClr val="000000"/>
                </a:solidFill>
              </a:rPr>
              <a:t>.</a:t>
            </a:r>
            <a:r>
              <a:rPr u="none" spc="-7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Where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-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output</a:t>
            </a:r>
            <a:r>
              <a:rPr u="none" spc="-35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pixel </a:t>
            </a:r>
            <a:r>
              <a:rPr u="none" dirty="0">
                <a:solidFill>
                  <a:srgbClr val="000000"/>
                </a:solidFill>
              </a:rPr>
              <a:t>value</a:t>
            </a:r>
            <a:r>
              <a:rPr u="none" spc="-3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is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-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mean of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its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neighborhood.</a:t>
            </a:r>
            <a:r>
              <a:rPr u="none" spc="-8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Thus,</a:t>
            </a:r>
            <a:r>
              <a:rPr u="none" spc="-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-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filtering</a:t>
            </a:r>
            <a:r>
              <a:rPr u="none" spc="-3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mask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is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as </a:t>
            </a:r>
            <a:r>
              <a:rPr u="none" spc="-10" dirty="0">
                <a:solidFill>
                  <a:srgbClr val="000000"/>
                </a:solidFill>
              </a:rPr>
              <a:t>follows </a:t>
            </a:r>
            <a:r>
              <a:rPr u="none" dirty="0">
                <a:solidFill>
                  <a:srgbClr val="000000"/>
                </a:solidFill>
              </a:rPr>
              <a:t>(3*3</a:t>
            </a:r>
            <a:r>
              <a:rPr u="none" spc="-3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as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an </a:t>
            </a:r>
            <a:r>
              <a:rPr u="none" spc="-10" dirty="0">
                <a:solidFill>
                  <a:srgbClr val="000000"/>
                </a:solidFill>
              </a:rPr>
              <a:t>example).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2766" y="2318112"/>
            <a:ext cx="2079604" cy="803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0842" y="3627246"/>
            <a:ext cx="7984490" cy="183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practice,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size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mask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controls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degree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smoothing</a:t>
            </a:r>
            <a:r>
              <a:rPr sz="20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sz="20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loss</a:t>
            </a:r>
            <a:endParaRPr sz="20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000" b="1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details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0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Used average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-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0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smooth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sub</a:t>
            </a:r>
            <a:r>
              <a:rPr sz="20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image</a:t>
            </a:r>
            <a:r>
              <a:rPr sz="20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as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shown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1150" y="2465323"/>
            <a:ext cx="340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h </a:t>
            </a:r>
            <a:r>
              <a:rPr sz="1800" b="1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10634" y="2059939"/>
            <a:ext cx="67310" cy="1160780"/>
          </a:xfrm>
          <a:custGeom>
            <a:avLst/>
            <a:gdLst/>
            <a:ahLst/>
            <a:cxnLst/>
            <a:rect l="l" t="t" r="r" b="b"/>
            <a:pathLst>
              <a:path w="67310" h="1160780">
                <a:moveTo>
                  <a:pt x="67183" y="0"/>
                </a:moveTo>
                <a:lnTo>
                  <a:pt x="0" y="0"/>
                </a:lnTo>
                <a:lnTo>
                  <a:pt x="0" y="8890"/>
                </a:lnTo>
                <a:lnTo>
                  <a:pt x="43688" y="8890"/>
                </a:lnTo>
                <a:lnTo>
                  <a:pt x="43688" y="1151890"/>
                </a:lnTo>
                <a:lnTo>
                  <a:pt x="0" y="1151890"/>
                </a:lnTo>
                <a:lnTo>
                  <a:pt x="0" y="1160780"/>
                </a:lnTo>
                <a:lnTo>
                  <a:pt x="67183" y="1160780"/>
                </a:lnTo>
                <a:lnTo>
                  <a:pt x="67183" y="1151890"/>
                </a:lnTo>
                <a:lnTo>
                  <a:pt x="67183" y="8890"/>
                </a:lnTo>
                <a:lnTo>
                  <a:pt x="67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00221" y="3211829"/>
            <a:ext cx="67310" cy="8890"/>
          </a:xfrm>
          <a:custGeom>
            <a:avLst/>
            <a:gdLst/>
            <a:ahLst/>
            <a:cxnLst/>
            <a:rect l="l" t="t" r="r" b="b"/>
            <a:pathLst>
              <a:path w="67310" h="8889">
                <a:moveTo>
                  <a:pt x="0" y="8889"/>
                </a:moveTo>
                <a:lnTo>
                  <a:pt x="67182" y="8889"/>
                </a:lnTo>
                <a:lnTo>
                  <a:pt x="67182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00221" y="2006252"/>
          <a:ext cx="974723" cy="12871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111125">
                        <a:lnSpc>
                          <a:spcPts val="1285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285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85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L="111125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111125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50800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635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L="111125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60960" marR="3175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635" marR="3175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52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  <a:p>
                      <a:pPr marL="635">
                        <a:lnSpc>
                          <a:spcPts val="1520"/>
                        </a:lnSpc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60960" marR="3175">
                        <a:lnSpc>
                          <a:spcPts val="1495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marR="3175">
                        <a:lnSpc>
                          <a:spcPts val="1495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495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latin typeface="Cambria Math"/>
                          <a:cs typeface="Cambria Math"/>
                        </a:rPr>
                        <a:t>𝟗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T="1524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300221" y="2059939"/>
            <a:ext cx="67310" cy="8890"/>
          </a:xfrm>
          <a:custGeom>
            <a:avLst/>
            <a:gdLst/>
            <a:ahLst/>
            <a:cxnLst/>
            <a:rect l="l" t="t" r="r" b="b"/>
            <a:pathLst>
              <a:path w="67310" h="8889">
                <a:moveTo>
                  <a:pt x="0" y="8889"/>
                </a:moveTo>
                <a:lnTo>
                  <a:pt x="67182" y="8889"/>
                </a:lnTo>
                <a:lnTo>
                  <a:pt x="67182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2522" y="2197100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4" h="15239">
                <a:moveTo>
                  <a:pt x="100584" y="0"/>
                </a:moveTo>
                <a:lnTo>
                  <a:pt x="0" y="0"/>
                </a:lnTo>
                <a:lnTo>
                  <a:pt x="0" y="15239"/>
                </a:lnTo>
                <a:lnTo>
                  <a:pt x="100584" y="15239"/>
                </a:lnTo>
                <a:lnTo>
                  <a:pt x="1005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14190" y="2197100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4" h="15239">
                <a:moveTo>
                  <a:pt x="100584" y="0"/>
                </a:moveTo>
                <a:lnTo>
                  <a:pt x="0" y="0"/>
                </a:lnTo>
                <a:lnTo>
                  <a:pt x="0" y="15239"/>
                </a:lnTo>
                <a:lnTo>
                  <a:pt x="100584" y="15239"/>
                </a:lnTo>
                <a:lnTo>
                  <a:pt x="1005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2522" y="2632964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4" h="15239">
                <a:moveTo>
                  <a:pt x="100584" y="0"/>
                </a:moveTo>
                <a:lnTo>
                  <a:pt x="0" y="0"/>
                </a:lnTo>
                <a:lnTo>
                  <a:pt x="0" y="15239"/>
                </a:lnTo>
                <a:lnTo>
                  <a:pt x="100584" y="15239"/>
                </a:lnTo>
                <a:lnTo>
                  <a:pt x="1005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14190" y="2632964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4" h="15239">
                <a:moveTo>
                  <a:pt x="100584" y="0"/>
                </a:moveTo>
                <a:lnTo>
                  <a:pt x="0" y="0"/>
                </a:lnTo>
                <a:lnTo>
                  <a:pt x="0" y="15239"/>
                </a:lnTo>
                <a:lnTo>
                  <a:pt x="100584" y="15239"/>
                </a:lnTo>
                <a:lnTo>
                  <a:pt x="1005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72230" y="3068827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4" h="15239">
                <a:moveTo>
                  <a:pt x="100584" y="0"/>
                </a:moveTo>
                <a:lnTo>
                  <a:pt x="0" y="0"/>
                </a:lnTo>
                <a:lnTo>
                  <a:pt x="0" y="15239"/>
                </a:lnTo>
                <a:lnTo>
                  <a:pt x="100584" y="15239"/>
                </a:lnTo>
                <a:lnTo>
                  <a:pt x="1005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63898" y="3068827"/>
            <a:ext cx="100965" cy="15240"/>
          </a:xfrm>
          <a:custGeom>
            <a:avLst/>
            <a:gdLst/>
            <a:ahLst/>
            <a:cxnLst/>
            <a:rect l="l" t="t" r="r" b="b"/>
            <a:pathLst>
              <a:path w="100964" h="15239">
                <a:moveTo>
                  <a:pt x="100584" y="0"/>
                </a:moveTo>
                <a:lnTo>
                  <a:pt x="0" y="0"/>
                </a:lnTo>
                <a:lnTo>
                  <a:pt x="0" y="15239"/>
                </a:lnTo>
                <a:lnTo>
                  <a:pt x="100584" y="15239"/>
                </a:lnTo>
                <a:lnTo>
                  <a:pt x="1005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569836" y="5144770"/>
          <a:ext cx="2195192" cy="1366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8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426719" y="295638"/>
            <a:ext cx="8211820" cy="520065"/>
            <a:chOff x="426719" y="295638"/>
            <a:chExt cx="8211820" cy="52006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722502"/>
              <a:ext cx="8211311" cy="927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0374" y="748538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2213" y="295638"/>
              <a:ext cx="2508506" cy="3916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35657" y="2083307"/>
            <a:ext cx="1404620" cy="1393825"/>
            <a:chOff x="1835657" y="2083307"/>
            <a:chExt cx="1404620" cy="1393825"/>
          </a:xfrm>
        </p:grpSpPr>
        <p:sp>
          <p:nvSpPr>
            <p:cNvPr id="3" name="object 3"/>
            <p:cNvSpPr/>
            <p:nvPr/>
          </p:nvSpPr>
          <p:spPr>
            <a:xfrm>
              <a:off x="1835658" y="2095982"/>
              <a:ext cx="1404620" cy="342265"/>
            </a:xfrm>
            <a:custGeom>
              <a:avLst/>
              <a:gdLst/>
              <a:ahLst/>
              <a:cxnLst/>
              <a:rect l="l" t="t" r="r" b="b"/>
              <a:pathLst>
                <a:path w="1404620" h="342264">
                  <a:moveTo>
                    <a:pt x="470725" y="0"/>
                  </a:moveTo>
                  <a:lnTo>
                    <a:pt x="0" y="0"/>
                  </a:lnTo>
                  <a:lnTo>
                    <a:pt x="0" y="342036"/>
                  </a:lnTo>
                  <a:lnTo>
                    <a:pt x="470725" y="342036"/>
                  </a:lnTo>
                  <a:lnTo>
                    <a:pt x="470725" y="0"/>
                  </a:lnTo>
                  <a:close/>
                </a:path>
                <a:path w="1404620" h="342264">
                  <a:moveTo>
                    <a:pt x="1404556" y="0"/>
                  </a:moveTo>
                  <a:lnTo>
                    <a:pt x="956360" y="0"/>
                  </a:lnTo>
                  <a:lnTo>
                    <a:pt x="470789" y="0"/>
                  </a:lnTo>
                  <a:lnTo>
                    <a:pt x="470789" y="342036"/>
                  </a:lnTo>
                  <a:lnTo>
                    <a:pt x="956310" y="342036"/>
                  </a:lnTo>
                  <a:lnTo>
                    <a:pt x="1404556" y="342036"/>
                  </a:lnTo>
                  <a:lnTo>
                    <a:pt x="140455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06446" y="2437993"/>
              <a:ext cx="485775" cy="342265"/>
            </a:xfrm>
            <a:custGeom>
              <a:avLst/>
              <a:gdLst/>
              <a:ahLst/>
              <a:cxnLst/>
              <a:rect l="l" t="t" r="r" b="b"/>
              <a:pathLst>
                <a:path w="485775" h="342264">
                  <a:moveTo>
                    <a:pt x="485571" y="0"/>
                  </a:moveTo>
                  <a:lnTo>
                    <a:pt x="0" y="0"/>
                  </a:lnTo>
                  <a:lnTo>
                    <a:pt x="0" y="342036"/>
                  </a:lnTo>
                  <a:lnTo>
                    <a:pt x="485571" y="342036"/>
                  </a:lnTo>
                  <a:lnTo>
                    <a:pt x="485571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06447" y="2437993"/>
              <a:ext cx="934085" cy="684530"/>
            </a:xfrm>
            <a:custGeom>
              <a:avLst/>
              <a:gdLst/>
              <a:ahLst/>
              <a:cxnLst/>
              <a:rect l="l" t="t" r="r" b="b"/>
              <a:pathLst>
                <a:path w="934085" h="684530">
                  <a:moveTo>
                    <a:pt x="933767" y="0"/>
                  </a:moveTo>
                  <a:lnTo>
                    <a:pt x="485521" y="0"/>
                  </a:lnTo>
                  <a:lnTo>
                    <a:pt x="485521" y="342011"/>
                  </a:lnTo>
                  <a:lnTo>
                    <a:pt x="0" y="342011"/>
                  </a:lnTo>
                  <a:lnTo>
                    <a:pt x="0" y="684047"/>
                  </a:lnTo>
                  <a:lnTo>
                    <a:pt x="485521" y="684047"/>
                  </a:lnTo>
                  <a:lnTo>
                    <a:pt x="933767" y="684047"/>
                  </a:lnTo>
                  <a:lnTo>
                    <a:pt x="933767" y="342036"/>
                  </a:lnTo>
                  <a:lnTo>
                    <a:pt x="9337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06446" y="2089657"/>
              <a:ext cx="485775" cy="1381125"/>
            </a:xfrm>
            <a:custGeom>
              <a:avLst/>
              <a:gdLst/>
              <a:ahLst/>
              <a:cxnLst/>
              <a:rect l="l" t="t" r="r" b="b"/>
              <a:pathLst>
                <a:path w="485775" h="1381125">
                  <a:moveTo>
                    <a:pt x="0" y="0"/>
                  </a:moveTo>
                  <a:lnTo>
                    <a:pt x="0" y="1380743"/>
                  </a:lnTo>
                </a:path>
                <a:path w="485775" h="1381125">
                  <a:moveTo>
                    <a:pt x="485520" y="0"/>
                  </a:moveTo>
                  <a:lnTo>
                    <a:pt x="485520" y="138074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829307" y="2089657"/>
          <a:ext cx="2195192" cy="1366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8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Answer</a:t>
            </a:r>
            <a:r>
              <a:rPr spc="-80" dirty="0"/>
              <a:t> </a:t>
            </a:r>
            <a:r>
              <a:rPr spc="-50" dirty="0"/>
              <a:t>:</a:t>
            </a:r>
          </a:p>
        </p:txBody>
      </p:sp>
      <p:sp>
        <p:nvSpPr>
          <p:cNvPr id="9" name="object 9"/>
          <p:cNvSpPr/>
          <p:nvPr/>
        </p:nvSpPr>
        <p:spPr>
          <a:xfrm>
            <a:off x="831189" y="807973"/>
            <a:ext cx="504190" cy="1125220"/>
          </a:xfrm>
          <a:custGeom>
            <a:avLst/>
            <a:gdLst/>
            <a:ahLst/>
            <a:cxnLst/>
            <a:rect l="l" t="t" r="r" b="b"/>
            <a:pathLst>
              <a:path w="504190" h="1125220">
                <a:moveTo>
                  <a:pt x="0" y="0"/>
                </a:moveTo>
                <a:lnTo>
                  <a:pt x="0" y="1125220"/>
                </a:lnTo>
              </a:path>
              <a:path w="504190" h="1125220">
                <a:moveTo>
                  <a:pt x="504088" y="0"/>
                </a:moveTo>
                <a:lnTo>
                  <a:pt x="504088" y="11252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20776" y="807973"/>
          <a:ext cx="1511934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37616" y="790574"/>
            <a:ext cx="2866390" cy="2345690"/>
          </a:xfrm>
          <a:custGeom>
            <a:avLst/>
            <a:gdLst/>
            <a:ahLst/>
            <a:cxnLst/>
            <a:rect l="l" t="t" r="r" b="b"/>
            <a:pathLst>
              <a:path w="2866390" h="2345690">
                <a:moveTo>
                  <a:pt x="1498168" y="2345563"/>
                </a:moveTo>
                <a:lnTo>
                  <a:pt x="1495856" y="2339086"/>
                </a:lnTo>
                <a:lnTo>
                  <a:pt x="1461211" y="2241931"/>
                </a:lnTo>
                <a:lnTo>
                  <a:pt x="1458798" y="2235327"/>
                </a:lnTo>
                <a:lnTo>
                  <a:pt x="1451559" y="2231898"/>
                </a:lnTo>
                <a:lnTo>
                  <a:pt x="1444955" y="2234311"/>
                </a:lnTo>
                <a:lnTo>
                  <a:pt x="1438351" y="2236597"/>
                </a:lnTo>
                <a:lnTo>
                  <a:pt x="1434922" y="2243836"/>
                </a:lnTo>
                <a:lnTo>
                  <a:pt x="1437335" y="2250440"/>
                </a:lnTo>
                <a:lnTo>
                  <a:pt x="1451229" y="2289505"/>
                </a:lnTo>
                <a:lnTo>
                  <a:pt x="16370" y="1079627"/>
                </a:lnTo>
                <a:lnTo>
                  <a:pt x="0" y="1099058"/>
                </a:lnTo>
                <a:lnTo>
                  <a:pt x="1434744" y="2308745"/>
                </a:lnTo>
                <a:lnTo>
                  <a:pt x="1394155" y="2301621"/>
                </a:lnTo>
                <a:lnTo>
                  <a:pt x="1387170" y="2300478"/>
                </a:lnTo>
                <a:lnTo>
                  <a:pt x="1380693" y="2305050"/>
                </a:lnTo>
                <a:lnTo>
                  <a:pt x="1379423" y="2312035"/>
                </a:lnTo>
                <a:lnTo>
                  <a:pt x="1378280" y="2318893"/>
                </a:lnTo>
                <a:lnTo>
                  <a:pt x="1382852" y="2325497"/>
                </a:lnTo>
                <a:lnTo>
                  <a:pt x="1498168" y="2345563"/>
                </a:lnTo>
                <a:close/>
              </a:path>
              <a:path w="2866390" h="2345690">
                <a:moveTo>
                  <a:pt x="1498168" y="1305433"/>
                </a:moveTo>
                <a:lnTo>
                  <a:pt x="1495806" y="1298829"/>
                </a:lnTo>
                <a:lnTo>
                  <a:pt x="1461211" y="1201801"/>
                </a:lnTo>
                <a:lnTo>
                  <a:pt x="1458798" y="1195197"/>
                </a:lnTo>
                <a:lnTo>
                  <a:pt x="1451559" y="1191768"/>
                </a:lnTo>
                <a:lnTo>
                  <a:pt x="1444955" y="1194054"/>
                </a:lnTo>
                <a:lnTo>
                  <a:pt x="1438351" y="1196467"/>
                </a:lnTo>
                <a:lnTo>
                  <a:pt x="1434922" y="1203706"/>
                </a:lnTo>
                <a:lnTo>
                  <a:pt x="1437335" y="1210310"/>
                </a:lnTo>
                <a:lnTo>
                  <a:pt x="1451229" y="1249375"/>
                </a:lnTo>
                <a:lnTo>
                  <a:pt x="16370" y="39497"/>
                </a:lnTo>
                <a:lnTo>
                  <a:pt x="0" y="58928"/>
                </a:lnTo>
                <a:lnTo>
                  <a:pt x="1434833" y="1268577"/>
                </a:lnTo>
                <a:lnTo>
                  <a:pt x="1394155" y="1261491"/>
                </a:lnTo>
                <a:lnTo>
                  <a:pt x="1387170" y="1260348"/>
                </a:lnTo>
                <a:lnTo>
                  <a:pt x="1380693" y="1264920"/>
                </a:lnTo>
                <a:lnTo>
                  <a:pt x="1379423" y="1271905"/>
                </a:lnTo>
                <a:lnTo>
                  <a:pt x="1378280" y="1278763"/>
                </a:lnTo>
                <a:lnTo>
                  <a:pt x="1382852" y="1285367"/>
                </a:lnTo>
                <a:lnTo>
                  <a:pt x="1498168" y="1305433"/>
                </a:lnTo>
                <a:close/>
              </a:path>
              <a:path w="2866390" h="2345690">
                <a:moveTo>
                  <a:pt x="2866212" y="1305433"/>
                </a:moveTo>
                <a:lnTo>
                  <a:pt x="2863837" y="1297305"/>
                </a:lnTo>
                <a:lnTo>
                  <a:pt x="2835579" y="1200277"/>
                </a:lnTo>
                <a:lnTo>
                  <a:pt x="2833446" y="1193165"/>
                </a:lnTo>
                <a:lnTo>
                  <a:pt x="2826334" y="1189228"/>
                </a:lnTo>
                <a:lnTo>
                  <a:pt x="2819603" y="1191260"/>
                </a:lnTo>
                <a:lnTo>
                  <a:pt x="2812872" y="1193165"/>
                </a:lnTo>
                <a:lnTo>
                  <a:pt x="2809062" y="1200277"/>
                </a:lnTo>
                <a:lnTo>
                  <a:pt x="2811094" y="1207008"/>
                </a:lnTo>
                <a:lnTo>
                  <a:pt x="2822625" y="1246632"/>
                </a:lnTo>
                <a:lnTo>
                  <a:pt x="1506804" y="0"/>
                </a:lnTo>
                <a:lnTo>
                  <a:pt x="1489405" y="18415"/>
                </a:lnTo>
                <a:lnTo>
                  <a:pt x="2805239" y="1265059"/>
                </a:lnTo>
                <a:lnTo>
                  <a:pt x="2758135" y="1253998"/>
                </a:lnTo>
                <a:lnTo>
                  <a:pt x="2751277" y="1258189"/>
                </a:lnTo>
                <a:lnTo>
                  <a:pt x="2749740" y="1265059"/>
                </a:lnTo>
                <a:lnTo>
                  <a:pt x="2748102" y="1271905"/>
                </a:lnTo>
                <a:lnTo>
                  <a:pt x="2752496" y="1278890"/>
                </a:lnTo>
                <a:lnTo>
                  <a:pt x="2752979" y="1278890"/>
                </a:lnTo>
                <a:lnTo>
                  <a:pt x="2866212" y="1305433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95656" y="768095"/>
            <a:ext cx="3124200" cy="2543810"/>
            <a:chOff x="295656" y="768095"/>
            <a:chExt cx="3124200" cy="25438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4603" y="768095"/>
              <a:ext cx="1575816" cy="15041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6" y="807719"/>
              <a:ext cx="1696212" cy="14645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656" y="1847087"/>
              <a:ext cx="1696212" cy="14645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4603" y="1847087"/>
              <a:ext cx="1635251" cy="146456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827275" y="1870456"/>
              <a:ext cx="1437640" cy="1266190"/>
            </a:xfrm>
            <a:custGeom>
              <a:avLst/>
              <a:gdLst/>
              <a:ahLst/>
              <a:cxnLst/>
              <a:rect l="l" t="t" r="r" b="b"/>
              <a:pathLst>
                <a:path w="1437639" h="1266189">
                  <a:moveTo>
                    <a:pt x="1327531" y="1218311"/>
                  </a:moveTo>
                  <a:lnTo>
                    <a:pt x="1320800" y="1222756"/>
                  </a:lnTo>
                  <a:lnTo>
                    <a:pt x="1319530" y="1229741"/>
                  </a:lnTo>
                  <a:lnTo>
                    <a:pt x="1318133" y="1236599"/>
                  </a:lnTo>
                  <a:lnTo>
                    <a:pt x="1322705" y="1243203"/>
                  </a:lnTo>
                  <a:lnTo>
                    <a:pt x="1437513" y="1265682"/>
                  </a:lnTo>
                  <a:lnTo>
                    <a:pt x="1435142" y="1258570"/>
                  </a:lnTo>
                  <a:lnTo>
                    <a:pt x="1410208" y="1258570"/>
                  </a:lnTo>
                  <a:lnTo>
                    <a:pt x="1375006" y="1227628"/>
                  </a:lnTo>
                  <a:lnTo>
                    <a:pt x="1327531" y="1218311"/>
                  </a:lnTo>
                  <a:close/>
                </a:path>
                <a:path w="1437639" h="1266189">
                  <a:moveTo>
                    <a:pt x="1375006" y="1227628"/>
                  </a:moveTo>
                  <a:lnTo>
                    <a:pt x="1410208" y="1258570"/>
                  </a:lnTo>
                  <a:lnTo>
                    <a:pt x="1415013" y="1253109"/>
                  </a:lnTo>
                  <a:lnTo>
                    <a:pt x="1406525" y="1253109"/>
                  </a:lnTo>
                  <a:lnTo>
                    <a:pt x="1399621" y="1232429"/>
                  </a:lnTo>
                  <a:lnTo>
                    <a:pt x="1375006" y="1227628"/>
                  </a:lnTo>
                  <a:close/>
                </a:path>
                <a:path w="1437639" h="1266189">
                  <a:moveTo>
                    <a:pt x="1393317" y="1151128"/>
                  </a:moveTo>
                  <a:lnTo>
                    <a:pt x="1386713" y="1153287"/>
                  </a:lnTo>
                  <a:lnTo>
                    <a:pt x="1379982" y="1155573"/>
                  </a:lnTo>
                  <a:lnTo>
                    <a:pt x="1376426" y="1162685"/>
                  </a:lnTo>
                  <a:lnTo>
                    <a:pt x="1378585" y="1169416"/>
                  </a:lnTo>
                  <a:lnTo>
                    <a:pt x="1391612" y="1208440"/>
                  </a:lnTo>
                  <a:lnTo>
                    <a:pt x="1426972" y="1239520"/>
                  </a:lnTo>
                  <a:lnTo>
                    <a:pt x="1410208" y="1258570"/>
                  </a:lnTo>
                  <a:lnTo>
                    <a:pt x="1435142" y="1258570"/>
                  </a:lnTo>
                  <a:lnTo>
                    <a:pt x="1402715" y="1161288"/>
                  </a:lnTo>
                  <a:lnTo>
                    <a:pt x="1400556" y="1154684"/>
                  </a:lnTo>
                  <a:lnTo>
                    <a:pt x="1393317" y="1151128"/>
                  </a:lnTo>
                  <a:close/>
                </a:path>
                <a:path w="1437639" h="1266189">
                  <a:moveTo>
                    <a:pt x="1399621" y="1232429"/>
                  </a:moveTo>
                  <a:lnTo>
                    <a:pt x="1406525" y="1253109"/>
                  </a:lnTo>
                  <a:lnTo>
                    <a:pt x="1421003" y="1236599"/>
                  </a:lnTo>
                  <a:lnTo>
                    <a:pt x="1399621" y="1232429"/>
                  </a:lnTo>
                  <a:close/>
                </a:path>
                <a:path w="1437639" h="1266189">
                  <a:moveTo>
                    <a:pt x="1391612" y="1208440"/>
                  </a:moveTo>
                  <a:lnTo>
                    <a:pt x="1399621" y="1232429"/>
                  </a:lnTo>
                  <a:lnTo>
                    <a:pt x="1421003" y="1236599"/>
                  </a:lnTo>
                  <a:lnTo>
                    <a:pt x="1406525" y="1253109"/>
                  </a:lnTo>
                  <a:lnTo>
                    <a:pt x="1415013" y="1253109"/>
                  </a:lnTo>
                  <a:lnTo>
                    <a:pt x="1426972" y="1239520"/>
                  </a:lnTo>
                  <a:lnTo>
                    <a:pt x="1391612" y="1208440"/>
                  </a:lnTo>
                  <a:close/>
                </a:path>
                <a:path w="1437639" h="1266189">
                  <a:moveTo>
                    <a:pt x="16763" y="0"/>
                  </a:moveTo>
                  <a:lnTo>
                    <a:pt x="0" y="19050"/>
                  </a:lnTo>
                  <a:lnTo>
                    <a:pt x="1375006" y="1227628"/>
                  </a:lnTo>
                  <a:lnTo>
                    <a:pt x="1399621" y="1232429"/>
                  </a:lnTo>
                  <a:lnTo>
                    <a:pt x="1391612" y="1208440"/>
                  </a:lnTo>
                  <a:lnTo>
                    <a:pt x="167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51150" y="491997"/>
            <a:ext cx="5116830" cy="132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(6*1/9)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+(8*1/9)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+(9*1/9)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+(7*1/9)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+(15*1/9)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+(6*1/9)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+(3*1/9)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+(7*1/9)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+(5*1/9)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=7.33</a:t>
            </a:r>
            <a:endParaRPr sz="1800">
              <a:latin typeface="Times New Roman"/>
              <a:cs typeface="Times New Roman"/>
            </a:endParaRPr>
          </a:p>
          <a:p>
            <a:pPr marL="505459" marR="1499870" indent="1278255">
              <a:lnSpc>
                <a:spcPct val="133900"/>
              </a:lnSpc>
              <a:spcBef>
                <a:spcPts val="15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1800" b="1" dirty="0">
                <a:latin typeface="Times New Roman"/>
                <a:cs typeface="Times New Roman"/>
              </a:rPr>
              <a:t>(6+8+9+7+15+6+3+7+5)/9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=7.33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748276" y="2089657"/>
          <a:ext cx="2482849" cy="1366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7.33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426721" y="3553967"/>
            <a:ext cx="8067040" cy="105410"/>
            <a:chOff x="426721" y="3553967"/>
            <a:chExt cx="8067040" cy="10541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721" y="3553967"/>
              <a:ext cx="8066528" cy="10515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60375" y="3584193"/>
              <a:ext cx="8000365" cy="0"/>
            </a:xfrm>
            <a:custGeom>
              <a:avLst/>
              <a:gdLst/>
              <a:ahLst/>
              <a:cxnLst/>
              <a:rect l="l" t="t" r="r" b="b"/>
              <a:pathLst>
                <a:path w="8000365">
                  <a:moveTo>
                    <a:pt x="0" y="0"/>
                  </a:moveTo>
                  <a:lnTo>
                    <a:pt x="8000110" y="0"/>
                  </a:lnTo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509901" y="5223636"/>
            <a:ext cx="1339850" cy="1393825"/>
            <a:chOff x="2509901" y="5223636"/>
            <a:chExt cx="1339850" cy="1393825"/>
          </a:xfrm>
        </p:grpSpPr>
        <p:sp>
          <p:nvSpPr>
            <p:cNvPr id="24" name="object 24"/>
            <p:cNvSpPr/>
            <p:nvPr/>
          </p:nvSpPr>
          <p:spPr>
            <a:xfrm>
              <a:off x="2509901" y="5236311"/>
              <a:ext cx="934085" cy="342265"/>
            </a:xfrm>
            <a:custGeom>
              <a:avLst/>
              <a:gdLst/>
              <a:ahLst/>
              <a:cxnLst/>
              <a:rect l="l" t="t" r="r" b="b"/>
              <a:pathLst>
                <a:path w="934085" h="342264">
                  <a:moveTo>
                    <a:pt x="933767" y="0"/>
                  </a:moveTo>
                  <a:lnTo>
                    <a:pt x="485571" y="0"/>
                  </a:lnTo>
                  <a:lnTo>
                    <a:pt x="0" y="0"/>
                  </a:lnTo>
                  <a:lnTo>
                    <a:pt x="0" y="342036"/>
                  </a:lnTo>
                  <a:lnTo>
                    <a:pt x="485521" y="342036"/>
                  </a:lnTo>
                  <a:lnTo>
                    <a:pt x="933767" y="342036"/>
                  </a:lnTo>
                  <a:lnTo>
                    <a:pt x="9337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95422" y="5578322"/>
              <a:ext cx="448309" cy="342265"/>
            </a:xfrm>
            <a:custGeom>
              <a:avLst/>
              <a:gdLst/>
              <a:ahLst/>
              <a:cxnLst/>
              <a:rect l="l" t="t" r="r" b="b"/>
              <a:pathLst>
                <a:path w="448310" h="342264">
                  <a:moveTo>
                    <a:pt x="448246" y="0"/>
                  </a:moveTo>
                  <a:lnTo>
                    <a:pt x="0" y="0"/>
                  </a:lnTo>
                  <a:lnTo>
                    <a:pt x="0" y="342036"/>
                  </a:lnTo>
                  <a:lnTo>
                    <a:pt x="448246" y="342036"/>
                  </a:lnTo>
                  <a:lnTo>
                    <a:pt x="448246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95422" y="5920358"/>
              <a:ext cx="854710" cy="342265"/>
            </a:xfrm>
            <a:custGeom>
              <a:avLst/>
              <a:gdLst/>
              <a:ahLst/>
              <a:cxnLst/>
              <a:rect l="l" t="t" r="r" b="b"/>
              <a:pathLst>
                <a:path w="854710" h="342264">
                  <a:moveTo>
                    <a:pt x="448246" y="0"/>
                  </a:moveTo>
                  <a:lnTo>
                    <a:pt x="0" y="0"/>
                  </a:lnTo>
                  <a:lnTo>
                    <a:pt x="0" y="342036"/>
                  </a:lnTo>
                  <a:lnTo>
                    <a:pt x="448246" y="342036"/>
                  </a:lnTo>
                  <a:lnTo>
                    <a:pt x="448246" y="0"/>
                  </a:lnTo>
                  <a:close/>
                </a:path>
                <a:path w="854710" h="342264">
                  <a:moveTo>
                    <a:pt x="854151" y="0"/>
                  </a:moveTo>
                  <a:lnTo>
                    <a:pt x="448310" y="0"/>
                  </a:lnTo>
                  <a:lnTo>
                    <a:pt x="448310" y="342036"/>
                  </a:lnTo>
                  <a:lnTo>
                    <a:pt x="854151" y="342036"/>
                  </a:lnTo>
                  <a:lnTo>
                    <a:pt x="85415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95422" y="5229986"/>
              <a:ext cx="448309" cy="1381125"/>
            </a:xfrm>
            <a:custGeom>
              <a:avLst/>
              <a:gdLst/>
              <a:ahLst/>
              <a:cxnLst/>
              <a:rect l="l" t="t" r="r" b="b"/>
              <a:pathLst>
                <a:path w="448310" h="1381125">
                  <a:moveTo>
                    <a:pt x="0" y="0"/>
                  </a:moveTo>
                  <a:lnTo>
                    <a:pt x="0" y="1380794"/>
                  </a:lnTo>
                </a:path>
                <a:path w="448310" h="1381125">
                  <a:moveTo>
                    <a:pt x="448310" y="0"/>
                  </a:moveTo>
                  <a:lnTo>
                    <a:pt x="448310" y="138079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2039239" y="5229986"/>
            <a:ext cx="0" cy="1381125"/>
          </a:xfrm>
          <a:custGeom>
            <a:avLst/>
            <a:gdLst/>
            <a:ahLst/>
            <a:cxnLst/>
            <a:rect l="l" t="t" r="r" b="b"/>
            <a:pathLst>
              <a:path h="1381125">
                <a:moveTo>
                  <a:pt x="0" y="0"/>
                </a:moveTo>
                <a:lnTo>
                  <a:pt x="0" y="138079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026539" y="5229986"/>
          <a:ext cx="2199004" cy="1366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1484630" y="3962780"/>
            <a:ext cx="0" cy="1125220"/>
          </a:xfrm>
          <a:custGeom>
            <a:avLst/>
            <a:gdLst/>
            <a:ahLst/>
            <a:cxnLst/>
            <a:rect l="l" t="t" r="r" b="b"/>
            <a:pathLst>
              <a:path h="1125220">
                <a:moveTo>
                  <a:pt x="0" y="0"/>
                </a:moveTo>
                <a:lnTo>
                  <a:pt x="0" y="11252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88692" y="3962780"/>
            <a:ext cx="0" cy="1125220"/>
          </a:xfrm>
          <a:custGeom>
            <a:avLst/>
            <a:gdLst/>
            <a:ahLst/>
            <a:cxnLst/>
            <a:rect l="l" t="t" r="r" b="b"/>
            <a:pathLst>
              <a:path h="1125220">
                <a:moveTo>
                  <a:pt x="0" y="0"/>
                </a:moveTo>
                <a:lnTo>
                  <a:pt x="0" y="11252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974191" y="3962780"/>
          <a:ext cx="151257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1/9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2483230" y="3950970"/>
            <a:ext cx="1377315" cy="1305560"/>
          </a:xfrm>
          <a:custGeom>
            <a:avLst/>
            <a:gdLst/>
            <a:ahLst/>
            <a:cxnLst/>
            <a:rect l="l" t="t" r="r" b="b"/>
            <a:pathLst>
              <a:path w="1377314" h="1305560">
                <a:moveTo>
                  <a:pt x="1268857" y="1253870"/>
                </a:moveTo>
                <a:lnTo>
                  <a:pt x="1261998" y="1258188"/>
                </a:lnTo>
                <a:lnTo>
                  <a:pt x="1260474" y="1264919"/>
                </a:lnTo>
                <a:lnTo>
                  <a:pt x="1258823" y="1271777"/>
                </a:lnTo>
                <a:lnTo>
                  <a:pt x="1263092" y="1278762"/>
                </a:lnTo>
                <a:lnTo>
                  <a:pt x="1263542" y="1278762"/>
                </a:lnTo>
                <a:lnTo>
                  <a:pt x="1376933" y="1305305"/>
                </a:lnTo>
                <a:lnTo>
                  <a:pt x="1374594" y="1297304"/>
                </a:lnTo>
                <a:lnTo>
                  <a:pt x="1350009" y="1297304"/>
                </a:lnTo>
                <a:lnTo>
                  <a:pt x="1315824" y="1264919"/>
                </a:lnTo>
                <a:lnTo>
                  <a:pt x="1268857" y="1253870"/>
                </a:lnTo>
                <a:close/>
              </a:path>
              <a:path w="1377314" h="1305560">
                <a:moveTo>
                  <a:pt x="1315924" y="1264919"/>
                </a:moveTo>
                <a:lnTo>
                  <a:pt x="1321844" y="1270622"/>
                </a:lnTo>
                <a:lnTo>
                  <a:pt x="1350009" y="1297304"/>
                </a:lnTo>
                <a:lnTo>
                  <a:pt x="1355372" y="1291589"/>
                </a:lnTo>
                <a:lnTo>
                  <a:pt x="1346454" y="1291589"/>
                </a:lnTo>
                <a:lnTo>
                  <a:pt x="1340324" y="1270622"/>
                </a:lnTo>
                <a:lnTo>
                  <a:pt x="1315924" y="1264919"/>
                </a:lnTo>
                <a:close/>
              </a:path>
              <a:path w="1377314" h="1305560">
                <a:moveTo>
                  <a:pt x="1337056" y="1189227"/>
                </a:moveTo>
                <a:lnTo>
                  <a:pt x="1330324" y="1191132"/>
                </a:lnTo>
                <a:lnTo>
                  <a:pt x="1323594" y="1193164"/>
                </a:lnTo>
                <a:lnTo>
                  <a:pt x="1319783" y="1200149"/>
                </a:lnTo>
                <a:lnTo>
                  <a:pt x="1321689" y="1206880"/>
                </a:lnTo>
                <a:lnTo>
                  <a:pt x="1333241" y="1246395"/>
                </a:lnTo>
                <a:lnTo>
                  <a:pt x="1367408" y="1278762"/>
                </a:lnTo>
                <a:lnTo>
                  <a:pt x="1350009" y="1297304"/>
                </a:lnTo>
                <a:lnTo>
                  <a:pt x="1374594" y="1297304"/>
                </a:lnTo>
                <a:lnTo>
                  <a:pt x="1346184" y="1200149"/>
                </a:lnTo>
                <a:lnTo>
                  <a:pt x="1344203" y="1193164"/>
                </a:lnTo>
                <a:lnTo>
                  <a:pt x="1344168" y="1193037"/>
                </a:lnTo>
                <a:lnTo>
                  <a:pt x="1337056" y="1189227"/>
                </a:lnTo>
                <a:close/>
              </a:path>
              <a:path w="1377314" h="1305560">
                <a:moveTo>
                  <a:pt x="1340324" y="1270622"/>
                </a:moveTo>
                <a:lnTo>
                  <a:pt x="1346454" y="1291589"/>
                </a:lnTo>
                <a:lnTo>
                  <a:pt x="1361567" y="1275587"/>
                </a:lnTo>
                <a:lnTo>
                  <a:pt x="1340324" y="1270622"/>
                </a:lnTo>
                <a:close/>
              </a:path>
              <a:path w="1377314" h="1305560">
                <a:moveTo>
                  <a:pt x="1333241" y="1246395"/>
                </a:moveTo>
                <a:lnTo>
                  <a:pt x="1340324" y="1270622"/>
                </a:lnTo>
                <a:lnTo>
                  <a:pt x="1361567" y="1275587"/>
                </a:lnTo>
                <a:lnTo>
                  <a:pt x="1346454" y="1291589"/>
                </a:lnTo>
                <a:lnTo>
                  <a:pt x="1355372" y="1291589"/>
                </a:lnTo>
                <a:lnTo>
                  <a:pt x="1367408" y="1278762"/>
                </a:lnTo>
                <a:lnTo>
                  <a:pt x="1333241" y="1246395"/>
                </a:lnTo>
                <a:close/>
              </a:path>
              <a:path w="1377314" h="1305560">
                <a:moveTo>
                  <a:pt x="17525" y="0"/>
                </a:moveTo>
                <a:lnTo>
                  <a:pt x="0" y="18414"/>
                </a:lnTo>
                <a:lnTo>
                  <a:pt x="1308718" y="1258188"/>
                </a:lnTo>
                <a:lnTo>
                  <a:pt x="1315924" y="1264919"/>
                </a:lnTo>
                <a:lnTo>
                  <a:pt x="1340324" y="1270622"/>
                </a:lnTo>
                <a:lnTo>
                  <a:pt x="1333241" y="1246395"/>
                </a:lnTo>
                <a:lnTo>
                  <a:pt x="17525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978408" y="3928871"/>
            <a:ext cx="3037840" cy="2490470"/>
            <a:chOff x="978408" y="3928871"/>
            <a:chExt cx="3037840" cy="2490470"/>
          </a:xfrm>
        </p:grpSpPr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39924" y="3928871"/>
              <a:ext cx="1575815" cy="15026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8408" y="3994403"/>
              <a:ext cx="1697736" cy="146456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21689" y="4017771"/>
              <a:ext cx="1498600" cy="1266190"/>
            </a:xfrm>
            <a:custGeom>
              <a:avLst/>
              <a:gdLst/>
              <a:ahLst/>
              <a:cxnLst/>
              <a:rect l="l" t="t" r="r" b="b"/>
              <a:pathLst>
                <a:path w="1498600" h="1266189">
                  <a:moveTo>
                    <a:pt x="1387246" y="1220723"/>
                  </a:moveTo>
                  <a:lnTo>
                    <a:pt x="1380642" y="1225422"/>
                  </a:lnTo>
                  <a:lnTo>
                    <a:pt x="1379499" y="1232280"/>
                  </a:lnTo>
                  <a:lnTo>
                    <a:pt x="1378229" y="1239265"/>
                  </a:lnTo>
                  <a:lnTo>
                    <a:pt x="1382801" y="1245869"/>
                  </a:lnTo>
                  <a:lnTo>
                    <a:pt x="1389786" y="1247012"/>
                  </a:lnTo>
                  <a:lnTo>
                    <a:pt x="1498117" y="1265936"/>
                  </a:lnTo>
                  <a:lnTo>
                    <a:pt x="1495762" y="1259331"/>
                  </a:lnTo>
                  <a:lnTo>
                    <a:pt x="1470685" y="1259331"/>
                  </a:lnTo>
                  <a:lnTo>
                    <a:pt x="1434794" y="1229073"/>
                  </a:lnTo>
                  <a:lnTo>
                    <a:pt x="1394104" y="1221993"/>
                  </a:lnTo>
                  <a:lnTo>
                    <a:pt x="1387246" y="1220723"/>
                  </a:lnTo>
                  <a:close/>
                </a:path>
                <a:path w="1498600" h="1266189">
                  <a:moveTo>
                    <a:pt x="1434794" y="1229073"/>
                  </a:moveTo>
                  <a:lnTo>
                    <a:pt x="1470685" y="1259331"/>
                  </a:lnTo>
                  <a:lnTo>
                    <a:pt x="1475289" y="1253870"/>
                  </a:lnTo>
                  <a:lnTo>
                    <a:pt x="1466875" y="1253870"/>
                  </a:lnTo>
                  <a:lnTo>
                    <a:pt x="1459576" y="1233384"/>
                  </a:lnTo>
                  <a:lnTo>
                    <a:pt x="1434794" y="1229073"/>
                  </a:lnTo>
                  <a:close/>
                </a:path>
                <a:path w="1498600" h="1266189">
                  <a:moveTo>
                    <a:pt x="1451635" y="1152270"/>
                  </a:moveTo>
                  <a:lnTo>
                    <a:pt x="1445031" y="1154557"/>
                  </a:lnTo>
                  <a:lnTo>
                    <a:pt x="1438427" y="1156970"/>
                  </a:lnTo>
                  <a:lnTo>
                    <a:pt x="1434871" y="1164208"/>
                  </a:lnTo>
                  <a:lnTo>
                    <a:pt x="1437284" y="1170813"/>
                  </a:lnTo>
                  <a:lnTo>
                    <a:pt x="1451092" y="1209570"/>
                  </a:lnTo>
                  <a:lnTo>
                    <a:pt x="1487068" y="1239900"/>
                  </a:lnTo>
                  <a:lnTo>
                    <a:pt x="1470685" y="1259331"/>
                  </a:lnTo>
                  <a:lnTo>
                    <a:pt x="1495762" y="1259331"/>
                  </a:lnTo>
                  <a:lnTo>
                    <a:pt x="1461160" y="1162303"/>
                  </a:lnTo>
                  <a:lnTo>
                    <a:pt x="1458874" y="1155700"/>
                  </a:lnTo>
                  <a:lnTo>
                    <a:pt x="1451635" y="1152270"/>
                  </a:lnTo>
                  <a:close/>
                </a:path>
                <a:path w="1498600" h="1266189">
                  <a:moveTo>
                    <a:pt x="1459576" y="1233384"/>
                  </a:moveTo>
                  <a:lnTo>
                    <a:pt x="1466875" y="1253870"/>
                  </a:lnTo>
                  <a:lnTo>
                    <a:pt x="1480972" y="1237106"/>
                  </a:lnTo>
                  <a:lnTo>
                    <a:pt x="1459576" y="1233384"/>
                  </a:lnTo>
                  <a:close/>
                </a:path>
                <a:path w="1498600" h="1266189">
                  <a:moveTo>
                    <a:pt x="1451092" y="1209570"/>
                  </a:moveTo>
                  <a:lnTo>
                    <a:pt x="1459576" y="1233384"/>
                  </a:lnTo>
                  <a:lnTo>
                    <a:pt x="1480972" y="1237106"/>
                  </a:lnTo>
                  <a:lnTo>
                    <a:pt x="1466875" y="1253870"/>
                  </a:lnTo>
                  <a:lnTo>
                    <a:pt x="1475289" y="1253870"/>
                  </a:lnTo>
                  <a:lnTo>
                    <a:pt x="1487068" y="1239900"/>
                  </a:lnTo>
                  <a:lnTo>
                    <a:pt x="1451092" y="1209570"/>
                  </a:lnTo>
                  <a:close/>
                </a:path>
                <a:path w="1498600" h="1266189">
                  <a:moveTo>
                    <a:pt x="16370" y="0"/>
                  </a:moveTo>
                  <a:lnTo>
                    <a:pt x="0" y="19430"/>
                  </a:lnTo>
                  <a:lnTo>
                    <a:pt x="1434794" y="1229073"/>
                  </a:lnTo>
                  <a:lnTo>
                    <a:pt x="1459576" y="1233384"/>
                  </a:lnTo>
                  <a:lnTo>
                    <a:pt x="1451092" y="1209570"/>
                  </a:lnTo>
                  <a:lnTo>
                    <a:pt x="1637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9932" y="5052059"/>
              <a:ext cx="1665732" cy="136702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21981" y="5075173"/>
              <a:ext cx="1467485" cy="1168400"/>
            </a:xfrm>
            <a:custGeom>
              <a:avLst/>
              <a:gdLst/>
              <a:ahLst/>
              <a:cxnLst/>
              <a:rect l="l" t="t" r="r" b="b"/>
              <a:pathLst>
                <a:path w="1467485" h="1168400">
                  <a:moveTo>
                    <a:pt x="1355204" y="1126236"/>
                  </a:moveTo>
                  <a:lnTo>
                    <a:pt x="1348727" y="1131062"/>
                  </a:lnTo>
                  <a:lnTo>
                    <a:pt x="1347711" y="1138008"/>
                  </a:lnTo>
                  <a:lnTo>
                    <a:pt x="1346822" y="1144943"/>
                  </a:lnTo>
                  <a:lnTo>
                    <a:pt x="1351648" y="1151382"/>
                  </a:lnTo>
                  <a:lnTo>
                    <a:pt x="1467345" y="1168019"/>
                  </a:lnTo>
                  <a:lnTo>
                    <a:pt x="1465121" y="1162304"/>
                  </a:lnTo>
                  <a:lnTo>
                    <a:pt x="1439786" y="1162304"/>
                  </a:lnTo>
                  <a:lnTo>
                    <a:pt x="1402978" y="1133099"/>
                  </a:lnTo>
                  <a:lnTo>
                    <a:pt x="1355204" y="1126236"/>
                  </a:lnTo>
                  <a:close/>
                </a:path>
                <a:path w="1467485" h="1168400">
                  <a:moveTo>
                    <a:pt x="1402978" y="1133099"/>
                  </a:moveTo>
                  <a:lnTo>
                    <a:pt x="1439786" y="1162304"/>
                  </a:lnTo>
                  <a:lnTo>
                    <a:pt x="1444009" y="1156970"/>
                  </a:lnTo>
                  <a:lnTo>
                    <a:pt x="1435849" y="1156970"/>
                  </a:lnTo>
                  <a:lnTo>
                    <a:pt x="1427917" y="1136682"/>
                  </a:lnTo>
                  <a:lnTo>
                    <a:pt x="1402978" y="1133099"/>
                  </a:lnTo>
                  <a:close/>
                </a:path>
                <a:path w="1467485" h="1168400">
                  <a:moveTo>
                    <a:pt x="1417561" y="1055789"/>
                  </a:moveTo>
                  <a:lnTo>
                    <a:pt x="1404480" y="1060881"/>
                  </a:lnTo>
                  <a:lnTo>
                    <a:pt x="1401178" y="1068247"/>
                  </a:lnTo>
                  <a:lnTo>
                    <a:pt x="1403718" y="1074788"/>
                  </a:lnTo>
                  <a:lnTo>
                    <a:pt x="1418746" y="1113224"/>
                  </a:lnTo>
                  <a:lnTo>
                    <a:pt x="1455534" y="1142415"/>
                  </a:lnTo>
                  <a:lnTo>
                    <a:pt x="1439786" y="1162304"/>
                  </a:lnTo>
                  <a:lnTo>
                    <a:pt x="1465121" y="1162304"/>
                  </a:lnTo>
                  <a:lnTo>
                    <a:pt x="1424927" y="1059014"/>
                  </a:lnTo>
                  <a:lnTo>
                    <a:pt x="1417561" y="1055789"/>
                  </a:lnTo>
                  <a:close/>
                </a:path>
                <a:path w="1467485" h="1168400">
                  <a:moveTo>
                    <a:pt x="1427917" y="1136682"/>
                  </a:moveTo>
                  <a:lnTo>
                    <a:pt x="1435849" y="1156970"/>
                  </a:lnTo>
                  <a:lnTo>
                    <a:pt x="1449438" y="1139774"/>
                  </a:lnTo>
                  <a:lnTo>
                    <a:pt x="1427917" y="1136682"/>
                  </a:lnTo>
                  <a:close/>
                </a:path>
                <a:path w="1467485" h="1168400">
                  <a:moveTo>
                    <a:pt x="1418746" y="1113224"/>
                  </a:moveTo>
                  <a:lnTo>
                    <a:pt x="1427917" y="1136682"/>
                  </a:lnTo>
                  <a:lnTo>
                    <a:pt x="1449438" y="1139774"/>
                  </a:lnTo>
                  <a:lnTo>
                    <a:pt x="1435849" y="1156970"/>
                  </a:lnTo>
                  <a:lnTo>
                    <a:pt x="1444009" y="1156970"/>
                  </a:lnTo>
                  <a:lnTo>
                    <a:pt x="1455534" y="1142415"/>
                  </a:lnTo>
                  <a:lnTo>
                    <a:pt x="1418746" y="1113224"/>
                  </a:lnTo>
                  <a:close/>
                </a:path>
                <a:path w="1467485" h="1168400">
                  <a:moveTo>
                    <a:pt x="15786" y="0"/>
                  </a:moveTo>
                  <a:lnTo>
                    <a:pt x="0" y="19938"/>
                  </a:lnTo>
                  <a:lnTo>
                    <a:pt x="1402978" y="1133099"/>
                  </a:lnTo>
                  <a:lnTo>
                    <a:pt x="1427917" y="1136682"/>
                  </a:lnTo>
                  <a:lnTo>
                    <a:pt x="1418746" y="1113224"/>
                  </a:lnTo>
                  <a:lnTo>
                    <a:pt x="1578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38400" y="5053583"/>
              <a:ext cx="1498091" cy="136550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480818" y="5075681"/>
              <a:ext cx="1299210" cy="1167765"/>
            </a:xfrm>
            <a:custGeom>
              <a:avLst/>
              <a:gdLst/>
              <a:ahLst/>
              <a:cxnLst/>
              <a:rect l="l" t="t" r="r" b="b"/>
              <a:pathLst>
                <a:path w="1299210" h="1167764">
                  <a:moveTo>
                    <a:pt x="1189608" y="1119022"/>
                  </a:moveTo>
                  <a:lnTo>
                    <a:pt x="1183005" y="1123442"/>
                  </a:lnTo>
                  <a:lnTo>
                    <a:pt x="1181481" y="1130312"/>
                  </a:lnTo>
                  <a:lnTo>
                    <a:pt x="1180083" y="1137183"/>
                  </a:lnTo>
                  <a:lnTo>
                    <a:pt x="1184529" y="1143901"/>
                  </a:lnTo>
                  <a:lnTo>
                    <a:pt x="1299083" y="1167511"/>
                  </a:lnTo>
                  <a:lnTo>
                    <a:pt x="1296711" y="1160132"/>
                  </a:lnTo>
                  <a:lnTo>
                    <a:pt x="1271905" y="1160132"/>
                  </a:lnTo>
                  <a:lnTo>
                    <a:pt x="1236926" y="1128747"/>
                  </a:lnTo>
                  <a:lnTo>
                    <a:pt x="1189608" y="1119022"/>
                  </a:lnTo>
                  <a:close/>
                </a:path>
                <a:path w="1299210" h="1167764">
                  <a:moveTo>
                    <a:pt x="1236926" y="1128747"/>
                  </a:moveTo>
                  <a:lnTo>
                    <a:pt x="1271905" y="1160132"/>
                  </a:lnTo>
                  <a:lnTo>
                    <a:pt x="1276914" y="1154569"/>
                  </a:lnTo>
                  <a:lnTo>
                    <a:pt x="1268348" y="1154569"/>
                  </a:lnTo>
                  <a:lnTo>
                    <a:pt x="1261672" y="1133849"/>
                  </a:lnTo>
                  <a:lnTo>
                    <a:pt x="1236926" y="1128747"/>
                  </a:lnTo>
                  <a:close/>
                </a:path>
                <a:path w="1299210" h="1167764">
                  <a:moveTo>
                    <a:pt x="1256157" y="1052461"/>
                  </a:moveTo>
                  <a:lnTo>
                    <a:pt x="1242821" y="1056767"/>
                  </a:lnTo>
                  <a:lnTo>
                    <a:pt x="1239139" y="1063917"/>
                  </a:lnTo>
                  <a:lnTo>
                    <a:pt x="1253937" y="1109843"/>
                  </a:lnTo>
                  <a:lnTo>
                    <a:pt x="1288922" y="1141234"/>
                  </a:lnTo>
                  <a:lnTo>
                    <a:pt x="1271905" y="1160132"/>
                  </a:lnTo>
                  <a:lnTo>
                    <a:pt x="1296711" y="1160132"/>
                  </a:lnTo>
                  <a:lnTo>
                    <a:pt x="1263269" y="1056132"/>
                  </a:lnTo>
                  <a:lnTo>
                    <a:pt x="1256157" y="1052461"/>
                  </a:lnTo>
                  <a:close/>
                </a:path>
                <a:path w="1299210" h="1167764">
                  <a:moveTo>
                    <a:pt x="1261672" y="1133849"/>
                  </a:moveTo>
                  <a:lnTo>
                    <a:pt x="1268348" y="1154569"/>
                  </a:lnTo>
                  <a:lnTo>
                    <a:pt x="1282954" y="1138237"/>
                  </a:lnTo>
                  <a:lnTo>
                    <a:pt x="1261672" y="1133849"/>
                  </a:lnTo>
                  <a:close/>
                </a:path>
                <a:path w="1299210" h="1167764">
                  <a:moveTo>
                    <a:pt x="1253937" y="1109843"/>
                  </a:moveTo>
                  <a:lnTo>
                    <a:pt x="1261672" y="1133849"/>
                  </a:lnTo>
                  <a:lnTo>
                    <a:pt x="1282954" y="1138237"/>
                  </a:lnTo>
                  <a:lnTo>
                    <a:pt x="1268348" y="1154569"/>
                  </a:lnTo>
                  <a:lnTo>
                    <a:pt x="1276914" y="1154569"/>
                  </a:lnTo>
                  <a:lnTo>
                    <a:pt x="1288922" y="1141234"/>
                  </a:lnTo>
                  <a:lnTo>
                    <a:pt x="1253937" y="1109843"/>
                  </a:lnTo>
                  <a:close/>
                </a:path>
                <a:path w="1299210" h="1167764">
                  <a:moveTo>
                    <a:pt x="17018" y="0"/>
                  </a:moveTo>
                  <a:lnTo>
                    <a:pt x="0" y="18923"/>
                  </a:lnTo>
                  <a:lnTo>
                    <a:pt x="1236926" y="1128747"/>
                  </a:lnTo>
                  <a:lnTo>
                    <a:pt x="1261672" y="1133849"/>
                  </a:lnTo>
                  <a:lnTo>
                    <a:pt x="1253937" y="1109843"/>
                  </a:lnTo>
                  <a:lnTo>
                    <a:pt x="1701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054476" y="3662298"/>
            <a:ext cx="5345430" cy="125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(8*1/9)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+(9*1/9)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+(10*1/9)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+(15*1/9)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+(6*1/9)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+(14*1/9)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+(7*1/9)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+(5*1/9)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+(9*1/9)</a:t>
            </a:r>
            <a:r>
              <a:rPr sz="1800" b="1" spc="-10" dirty="0">
                <a:latin typeface="Times New Roman"/>
                <a:cs typeface="Times New Roman"/>
              </a:rPr>
              <a:t> =9.22</a:t>
            </a:r>
            <a:endParaRPr sz="1800">
              <a:latin typeface="Times New Roman"/>
              <a:cs typeface="Times New Roman"/>
            </a:endParaRPr>
          </a:p>
          <a:p>
            <a:pPr marL="592455" marR="1412875" indent="1191260">
              <a:lnSpc>
                <a:spcPct val="121300"/>
              </a:lnSpc>
              <a:spcBef>
                <a:spcPts val="8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1800" b="1" dirty="0">
                <a:latin typeface="Times New Roman"/>
                <a:cs typeface="Times New Roman"/>
              </a:rPr>
              <a:t>(8+9+10+15+6+14+7+5+9)/9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=9.22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4821173" y="5229986"/>
          <a:ext cx="2478404" cy="1366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7.33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9.22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3C76F9-BA9A-4C8B-95F8-482754538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00200"/>
            <a:ext cx="7010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982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4" y="799338"/>
            <a:ext cx="8341359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/>
              <a:t>A </a:t>
            </a:r>
            <a:r>
              <a:rPr lang="en-US" sz="2000" b="1" dirty="0"/>
              <a:t>Gaussian filter</a:t>
            </a:r>
            <a:r>
              <a:rPr lang="en-US" sz="2000" dirty="0"/>
              <a:t> is a </a:t>
            </a:r>
            <a:r>
              <a:rPr lang="en-US" sz="2000" b="1" dirty="0"/>
              <a:t>weighted average filter</a:t>
            </a:r>
            <a:r>
              <a:rPr lang="en-US" sz="2000" dirty="0"/>
              <a:t>, where nearby pixels have </a:t>
            </a:r>
            <a:r>
              <a:rPr lang="en-US" sz="2000" b="1" dirty="0"/>
              <a:t>more influence</a:t>
            </a:r>
            <a:r>
              <a:rPr lang="en-US" sz="2000" dirty="0"/>
              <a:t> than distant ones.</a:t>
            </a:r>
            <a:br>
              <a:rPr lang="en-US" sz="2000" dirty="0"/>
            </a:b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636" y="2527708"/>
            <a:ext cx="275729" cy="2910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4955" y="3456206"/>
            <a:ext cx="275729" cy="2910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6341" y="2509774"/>
            <a:ext cx="8312784" cy="18729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585335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Where:</a:t>
            </a:r>
            <a:r>
              <a:rPr sz="2000" b="1" spc="315" dirty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30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1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variance</a:t>
            </a:r>
            <a:r>
              <a:rPr sz="2000" b="1" spc="310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and </a:t>
            </a:r>
            <a:r>
              <a:rPr sz="2000" b="1" dirty="0">
                <a:latin typeface="Times New Roman"/>
                <a:cs typeface="Times New Roman"/>
              </a:rPr>
              <a:t>controls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degree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smoothing.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4580890" algn="just">
              <a:lnSpc>
                <a:spcPct val="100000"/>
              </a:lnSpc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1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larger</a:t>
            </a:r>
            <a:r>
              <a:rPr sz="2000" b="1" spc="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value</a:t>
            </a:r>
            <a:r>
              <a:rPr sz="2000" b="1" spc="459" dirty="0">
                <a:solidFill>
                  <a:srgbClr val="006FC0"/>
                </a:solidFill>
                <a:latin typeface="Times New Roman"/>
                <a:cs typeface="Times New Roman"/>
              </a:rPr>
              <a:t>    </a:t>
            </a:r>
            <a:r>
              <a:rPr sz="2000" b="1" dirty="0">
                <a:latin typeface="Times New Roman"/>
                <a:cs typeface="Times New Roman"/>
              </a:rPr>
              <a:t>is,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larger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degree</a:t>
            </a:r>
            <a:r>
              <a:rPr sz="2000" b="1" spc="295" dirty="0">
                <a:solidFill>
                  <a:srgbClr val="00AF50"/>
                </a:solidFill>
                <a:latin typeface="Times New Roman"/>
                <a:cs typeface="Times New Roman"/>
              </a:rPr>
              <a:t>   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smoothing</a:t>
            </a:r>
            <a:r>
              <a:rPr sz="2000" b="1" spc="300" dirty="0">
                <a:solidFill>
                  <a:srgbClr val="00AF50"/>
                </a:solidFill>
                <a:latin typeface="Times New Roman"/>
                <a:cs typeface="Times New Roman"/>
              </a:rPr>
              <a:t>   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can</a:t>
            </a:r>
            <a:r>
              <a:rPr sz="2000" b="1" spc="300" dirty="0">
                <a:solidFill>
                  <a:srgbClr val="00AF50"/>
                </a:solidFill>
                <a:latin typeface="Times New Roman"/>
                <a:cs typeface="Times New Roman"/>
              </a:rPr>
              <a:t>    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be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achieved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0516" y="1275969"/>
            <a:ext cx="4171746" cy="29451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29615" y="4282516"/>
            <a:ext cx="4820507" cy="45257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6719" y="295638"/>
            <a:ext cx="8211820" cy="520065"/>
            <a:chOff x="426719" y="295638"/>
            <a:chExt cx="8211820" cy="52006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719" y="722502"/>
              <a:ext cx="8211311" cy="927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0374" y="748538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9019" y="295638"/>
              <a:ext cx="3224788" cy="391685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EEFDF7C-B96E-4732-B858-9E8970C9D2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4339" y="1586832"/>
            <a:ext cx="2360861" cy="5969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B18B22-CDAD-450C-B11C-10A1381B3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47800"/>
            <a:ext cx="7696200" cy="32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00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BD118F-765A-433D-A4F7-1D37DC940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24000"/>
            <a:ext cx="625168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34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336" y="1076959"/>
            <a:ext cx="802005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5"/>
              </a:spcBef>
              <a:tabLst>
                <a:tab pos="597535" algn="l"/>
                <a:tab pos="2466340" algn="l"/>
                <a:tab pos="3260725" algn="l"/>
                <a:tab pos="3769995" algn="l"/>
                <a:tab pos="4705985" algn="l"/>
                <a:tab pos="5989320" algn="l"/>
                <a:tab pos="6847205" algn="l"/>
                <a:tab pos="765683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order-</a:t>
            </a:r>
            <a:r>
              <a:rPr sz="2000" b="1" spc="-10" dirty="0">
                <a:latin typeface="Times New Roman"/>
                <a:cs typeface="Times New Roman"/>
              </a:rPr>
              <a:t>statistical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filters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are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usually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non-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linear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filters</a:t>
            </a:r>
            <a:r>
              <a:rPr sz="2000" b="1" spc="-10" dirty="0">
                <a:latin typeface="Times New Roman"/>
                <a:cs typeface="Times New Roman"/>
              </a:rPr>
              <a:t>,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which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0" dirty="0">
                <a:latin typeface="Times New Roman"/>
                <a:cs typeface="Times New Roman"/>
              </a:rPr>
              <a:t>are </a:t>
            </a:r>
            <a:r>
              <a:rPr sz="2000" b="1" dirty="0">
                <a:latin typeface="Times New Roman"/>
                <a:cs typeface="Times New Roman"/>
              </a:rPr>
              <a:t>hardly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represented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convolution.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given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pixel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represented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some </a:t>
            </a:r>
            <a:r>
              <a:rPr sz="2000" b="1" dirty="0">
                <a:latin typeface="Times New Roman"/>
                <a:cs typeface="Times New Roman"/>
              </a:rPr>
              <a:t>statistic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within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its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support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neighborhood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original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image,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such </a:t>
            </a:r>
            <a:r>
              <a:rPr sz="2000" b="1" spc="-25" dirty="0">
                <a:latin typeface="Times New Roman"/>
                <a:cs typeface="Times New Roman"/>
              </a:rPr>
              <a:t>as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median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filter.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Wingdings"/>
              <a:buChar char=""/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There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are</a:t>
            </a: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some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other</a:t>
            </a:r>
            <a:r>
              <a:rPr sz="2000" b="1" spc="-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filters</a:t>
            </a:r>
            <a:r>
              <a:rPr sz="20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as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well such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as</a:t>
            </a: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max/min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filter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C00000"/>
              </a:buClr>
              <a:buFont typeface="Wingdings"/>
              <a:buChar char=""/>
              <a:tabLst>
                <a:tab pos="355600" algn="l"/>
                <a:tab pos="915035" algn="l"/>
                <a:tab pos="1853564" algn="l"/>
                <a:tab pos="2518410" algn="l"/>
                <a:tab pos="3370579" algn="l"/>
                <a:tab pos="4388485" algn="l"/>
                <a:tab pos="4862830" algn="l"/>
                <a:tab pos="5575935" algn="l"/>
                <a:tab pos="5922010" algn="l"/>
                <a:tab pos="6396355" algn="l"/>
                <a:tab pos="7052945" algn="l"/>
                <a:tab pos="7667625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median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filter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simply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replaces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value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pixel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0" dirty="0">
                <a:latin typeface="Times New Roman"/>
                <a:cs typeface="Times New Roman"/>
              </a:rPr>
              <a:t>with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the</a:t>
            </a:r>
            <a:endParaRPr sz="20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median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within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neighborhood.</a:t>
            </a:r>
            <a:endParaRPr sz="2000" dirty="0">
              <a:latin typeface="Times New Roman"/>
              <a:cs typeface="Times New Roman"/>
            </a:endParaRPr>
          </a:p>
          <a:p>
            <a:pPr marL="355600" marR="7620" indent="-343535">
              <a:lnSpc>
                <a:spcPct val="100000"/>
              </a:lnSpc>
              <a:buClr>
                <a:srgbClr val="C00000"/>
              </a:buClr>
              <a:buFont typeface="Wingdings"/>
              <a:buChar char=""/>
              <a:tabLst>
                <a:tab pos="355600" algn="l"/>
                <a:tab pos="984885" algn="l"/>
                <a:tab pos="2146300" algn="l"/>
                <a:tab pos="2882900" algn="l"/>
                <a:tab pos="3969385" algn="l"/>
                <a:tab pos="4512310" algn="l"/>
                <a:tab pos="5295900" algn="l"/>
                <a:tab pos="5711825" algn="l"/>
                <a:tab pos="6254115" algn="l"/>
                <a:tab pos="6981825" algn="l"/>
                <a:tab pos="766572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max/min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filter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replaces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value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pixel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0" dirty="0">
                <a:latin typeface="Times New Roman"/>
                <a:cs typeface="Times New Roman"/>
              </a:rPr>
              <a:t>with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latin typeface="Times New Roman"/>
                <a:cs typeface="Times New Roman"/>
              </a:rPr>
              <a:t>maximum/minimum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within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neighborhood.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571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Those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filters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normally</a:t>
            </a:r>
            <a:r>
              <a:rPr sz="2000" b="1" spc="204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non-linear</a:t>
            </a:r>
            <a:r>
              <a:rPr sz="2000" b="1" spc="1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cannot</a:t>
            </a:r>
            <a:r>
              <a:rPr sz="2000" b="1" spc="229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be</a:t>
            </a:r>
            <a:r>
              <a:rPr sz="2000" b="1" spc="2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easily</a:t>
            </a:r>
            <a:r>
              <a:rPr sz="2000" b="1" spc="2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implemented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frequency</a:t>
            </a:r>
            <a:r>
              <a:rPr sz="20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domain.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7144" y="324589"/>
            <a:ext cx="2820924" cy="30939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846836"/>
            <a:ext cx="8297545" cy="2666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Clr>
                <a:srgbClr val="C00000"/>
              </a:buClr>
              <a:buFont typeface="Wingdings"/>
              <a:buChar char=""/>
              <a:tabLst>
                <a:tab pos="298450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However,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common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are: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(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)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neighborhood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(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2)</a:t>
            </a:r>
            <a:r>
              <a:rPr sz="2000" b="1" spc="3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operation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neighborhood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include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pixel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itself.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5600" marR="1033780" indent="-343535">
              <a:lnSpc>
                <a:spcPct val="100000"/>
              </a:lnSpc>
              <a:buClr>
                <a:srgbClr val="C0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Typically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neighborhood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rectangular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size,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for </a:t>
            </a:r>
            <a:r>
              <a:rPr sz="2000" b="1" dirty="0">
                <a:latin typeface="Times New Roman"/>
                <a:cs typeface="Times New Roman"/>
              </a:rPr>
              <a:t>example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3x3,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5x5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… 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smaller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itself.</a:t>
            </a:r>
            <a:endParaRPr sz="2000">
              <a:latin typeface="Times New Roman"/>
              <a:cs typeface="Times New Roman"/>
            </a:endParaRPr>
          </a:p>
          <a:p>
            <a:pPr marL="40005" marR="5080">
              <a:lnSpc>
                <a:spcPct val="100000"/>
              </a:lnSpc>
              <a:spcBef>
                <a:spcPts val="1585"/>
              </a:spcBef>
            </a:pPr>
            <a:r>
              <a:rPr sz="2000" b="1" dirty="0">
                <a:latin typeface="Times New Roman"/>
                <a:cs typeface="Times New Roman"/>
              </a:rPr>
              <a:t>Figure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below</a:t>
            </a:r>
            <a:r>
              <a:rPr sz="2000" b="1" spc="3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shows</a:t>
            </a:r>
            <a:r>
              <a:rPr sz="2000" b="1" spc="3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filtered</a:t>
            </a:r>
            <a:r>
              <a:rPr sz="2000" b="1" spc="3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3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40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median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</a:t>
            </a:r>
            <a:r>
              <a:rPr sz="2000" b="1" spc="3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4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different </a:t>
            </a:r>
            <a:r>
              <a:rPr sz="2000" b="1" dirty="0">
                <a:latin typeface="Times New Roman"/>
                <a:cs typeface="Times New Roman"/>
              </a:rPr>
              <a:t>mask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sizes.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6729" y="3877652"/>
            <a:ext cx="6454152" cy="27594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4" y="990345"/>
            <a:ext cx="8341359" cy="453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4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median</a:t>
            </a:r>
            <a:r>
              <a:rPr sz="2000" b="1" spc="4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4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4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459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non-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linear</a:t>
            </a:r>
            <a:r>
              <a:rPr sz="2000" b="1" spc="40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filter</a:t>
            </a:r>
            <a:r>
              <a:rPr sz="2000" b="1" spc="40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(order</a:t>
            </a:r>
            <a:r>
              <a:rPr sz="2000" b="1" spc="4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filter).</a:t>
            </a:r>
            <a:r>
              <a:rPr sz="2000" b="1" spc="4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These</a:t>
            </a:r>
            <a:r>
              <a:rPr sz="2000" b="1" spc="4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filters</a:t>
            </a:r>
            <a:r>
              <a:rPr sz="2000" b="1" spc="4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are </a:t>
            </a:r>
            <a:r>
              <a:rPr sz="2000" b="1" dirty="0">
                <a:latin typeface="Times New Roman"/>
                <a:cs typeface="Times New Roman"/>
              </a:rPr>
              <a:t>based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specific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type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statistics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called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order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statistics.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643255" marR="5080" indent="-342900" algn="just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"/>
              <a:tabLst>
                <a:tab pos="643255" algn="l"/>
              </a:tabLst>
            </a:pPr>
            <a:r>
              <a:rPr sz="2000" b="1" dirty="0">
                <a:latin typeface="Times New Roman"/>
                <a:cs typeface="Times New Roman"/>
              </a:rPr>
              <a:t>Typically,</a:t>
            </a:r>
            <a:r>
              <a:rPr sz="2000" b="1" spc="3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these</a:t>
            </a:r>
            <a:r>
              <a:rPr sz="2000" b="1" spc="3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filters</a:t>
            </a:r>
            <a:r>
              <a:rPr sz="2000" b="1" spc="3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operate</a:t>
            </a:r>
            <a:r>
              <a:rPr sz="2000" b="1" spc="3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3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small</a:t>
            </a:r>
            <a:r>
              <a:rPr sz="2000" b="1" spc="3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sub</a:t>
            </a:r>
            <a:r>
              <a:rPr sz="2000" b="1" spc="3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image,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“Window”,</a:t>
            </a:r>
            <a:r>
              <a:rPr sz="2000" b="1" spc="37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</a:t>
            </a:r>
            <a:r>
              <a:rPr sz="2000" b="1" dirty="0">
                <a:latin typeface="Times New Roman"/>
                <a:cs typeface="Times New Roman"/>
              </a:rPr>
              <a:t>replace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center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pixel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(similar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convolution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process).</a:t>
            </a:r>
            <a:endParaRPr sz="2000">
              <a:latin typeface="Times New Roman"/>
              <a:cs typeface="Times New Roman"/>
            </a:endParaRPr>
          </a:p>
          <a:p>
            <a:pPr marL="643255" marR="5080" indent="-342900" algn="just">
              <a:lnSpc>
                <a:spcPct val="100000"/>
              </a:lnSpc>
              <a:buClr>
                <a:srgbClr val="FF0000"/>
              </a:buClr>
              <a:buFont typeface="Wingdings"/>
              <a:buChar char=""/>
              <a:tabLst>
                <a:tab pos="64325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Order</a:t>
            </a:r>
            <a:r>
              <a:rPr sz="2000" b="1" spc="11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statistics</a:t>
            </a:r>
            <a:r>
              <a:rPr sz="2000" b="1" spc="14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35" dirty="0"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technique</a:t>
            </a:r>
            <a:r>
              <a:rPr sz="2000" b="1" spc="125" dirty="0">
                <a:solidFill>
                  <a:srgbClr val="00AF5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000" b="1" spc="130" dirty="0">
                <a:solidFill>
                  <a:srgbClr val="00AF5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arranges</a:t>
            </a:r>
            <a:r>
              <a:rPr sz="2000" b="1" spc="125" dirty="0">
                <a:solidFill>
                  <a:srgbClr val="00AF5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000" b="1" spc="125" dirty="0">
                <a:solidFill>
                  <a:srgbClr val="00AF5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entire</a:t>
            </a:r>
            <a:r>
              <a:rPr sz="2000" b="1" spc="130" dirty="0">
                <a:solidFill>
                  <a:srgbClr val="00AF5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pixel</a:t>
            </a:r>
            <a:r>
              <a:rPr sz="2000" b="1" spc="135" dirty="0">
                <a:solidFill>
                  <a:srgbClr val="00AF50"/>
                </a:solidFill>
                <a:latin typeface="Times New Roman"/>
                <a:cs typeface="Times New Roman"/>
              </a:rPr>
              <a:t>  </a:t>
            </a:r>
            <a:r>
              <a:rPr sz="20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in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sequential</a:t>
            </a:r>
            <a:r>
              <a:rPr sz="2000" b="1" spc="28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order,</a:t>
            </a:r>
            <a:r>
              <a:rPr sz="2000" b="1" spc="2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given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2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NxN</a:t>
            </a:r>
            <a:r>
              <a:rPr sz="2000" b="1" spc="2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window</a:t>
            </a:r>
            <a:r>
              <a:rPr sz="2000" b="1" spc="2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(W)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pixel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values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be </a:t>
            </a:r>
            <a:r>
              <a:rPr sz="2000" b="1" dirty="0">
                <a:latin typeface="Times New Roman"/>
                <a:cs typeface="Times New Roman"/>
              </a:rPr>
              <a:t>ordered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smallest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largest.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000">
              <a:latin typeface="Times New Roman"/>
              <a:cs typeface="Times New Roman"/>
            </a:endParaRPr>
          </a:p>
          <a:p>
            <a:pPr marR="482600" algn="ctr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I1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≤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I2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≤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I3...…………………&lt;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95"/>
              </a:spcBef>
            </a:pP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Where: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I1,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I2,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I3...……,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12700" marR="556387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intensity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subset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pixels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spc="-10" dirty="0">
                <a:latin typeface="Times New Roman"/>
                <a:cs typeface="Times New Roman"/>
              </a:rPr>
              <a:t>image.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1865" y="4281004"/>
            <a:ext cx="5101323" cy="2229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4696" y="324589"/>
            <a:ext cx="2307339" cy="30939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229982" y="1178178"/>
          <a:ext cx="151257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02437" y="500633"/>
            <a:ext cx="8270875" cy="5628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sz="2000" b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 marL="28257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Given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following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3X3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neighborhood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612775" indent="-281305">
              <a:lnSpc>
                <a:spcPct val="100000"/>
              </a:lnSpc>
              <a:spcBef>
                <a:spcPts val="1200"/>
              </a:spcBef>
              <a:buClr>
                <a:srgbClr val="FF0000"/>
              </a:buClr>
              <a:buAutoNum type="arabicPeriod"/>
              <a:tabLst>
                <a:tab pos="61277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Sort</a:t>
            </a:r>
            <a:r>
              <a:rPr sz="20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value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size (3,3,4,4,5,5,5,6,7)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612775" indent="-281305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61277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Select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middle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value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5.</a:t>
            </a:r>
            <a:endParaRPr sz="2000">
              <a:latin typeface="Times New Roman"/>
              <a:cs typeface="Times New Roman"/>
            </a:endParaRPr>
          </a:p>
          <a:p>
            <a:pPr marL="673100" indent="-34163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673100" algn="l"/>
              </a:tabLst>
            </a:pP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placed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in center</a:t>
            </a:r>
            <a:r>
              <a:rPr sz="20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location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5"/>
              </a:spcBef>
            </a:pPr>
            <a:endParaRPr sz="20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buClr>
                <a:srgbClr val="FF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median</a:t>
            </a:r>
            <a:r>
              <a:rPr sz="2000" b="1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filter</a:t>
            </a:r>
            <a:r>
              <a:rPr sz="2000" b="1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neighborhood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any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size,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but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3X3,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5X5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</a:t>
            </a:r>
            <a:r>
              <a:rPr sz="2000" b="1" dirty="0">
                <a:latin typeface="Times New Roman"/>
                <a:cs typeface="Times New Roman"/>
              </a:rPr>
              <a:t>7X7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typical.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Note  that  the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output</a:t>
            </a:r>
            <a:r>
              <a:rPr sz="20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image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must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written  to</a:t>
            </a:r>
            <a:r>
              <a:rPr sz="2000" b="1" spc="4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separate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image  </a:t>
            </a:r>
            <a:r>
              <a:rPr sz="2000" b="1" spc="-25" dirty="0">
                <a:latin typeface="Times New Roman"/>
                <a:cs typeface="Times New Roman"/>
              </a:rPr>
              <a:t>(a </a:t>
            </a:r>
            <a:r>
              <a:rPr sz="2000" b="1" dirty="0">
                <a:latin typeface="Times New Roman"/>
                <a:cs typeface="Times New Roman"/>
              </a:rPr>
              <a:t>buffer);</a:t>
            </a:r>
            <a:r>
              <a:rPr sz="2000" b="1" spc="18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so</a:t>
            </a:r>
            <a:r>
              <a:rPr sz="2000" b="1" spc="19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1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results</a:t>
            </a:r>
            <a:r>
              <a:rPr sz="2000" b="1" spc="1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1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1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corrupted</a:t>
            </a:r>
            <a:r>
              <a:rPr sz="2000" b="1" spc="1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1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1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process</a:t>
            </a:r>
            <a:r>
              <a:rPr sz="2000" b="1" spc="195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is </a:t>
            </a:r>
            <a:r>
              <a:rPr sz="2000" b="1" dirty="0">
                <a:latin typeface="Times New Roman"/>
                <a:cs typeface="Times New Roman"/>
              </a:rPr>
              <a:t>performed.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(The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median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filtering operation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performed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 </a:t>
            </a:r>
            <a:r>
              <a:rPr sz="2000" b="1" dirty="0">
                <a:latin typeface="Times New Roman"/>
                <a:cs typeface="Times New Roman"/>
              </a:rPr>
              <a:t>applying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sliding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window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concepts,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similar</a:t>
            </a:r>
            <a:r>
              <a:rPr sz="2000" b="1" spc="1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what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done</a:t>
            </a:r>
            <a:r>
              <a:rPr sz="2000" b="1" spc="35" dirty="0">
                <a:latin typeface="Times New Roman"/>
                <a:cs typeface="Times New Roman"/>
              </a:rPr>
              <a:t>  </a:t>
            </a:r>
            <a:r>
              <a:rPr sz="2000" b="1" spc="-20" dirty="0">
                <a:latin typeface="Times New Roman"/>
                <a:cs typeface="Times New Roman"/>
              </a:rPr>
              <a:t>with </a:t>
            </a:r>
            <a:r>
              <a:rPr sz="2000" b="1" spc="-10" dirty="0">
                <a:latin typeface="Times New Roman"/>
                <a:cs typeface="Times New Roman"/>
              </a:rPr>
              <a:t>convolution).</a:t>
            </a:r>
            <a:endParaRPr sz="20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buClr>
                <a:srgbClr val="FF0000"/>
              </a:buClr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window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overlaid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upper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left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corner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image,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latin typeface="Times New Roman"/>
                <a:cs typeface="Times New Roman"/>
              </a:rPr>
              <a:t>median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determined.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put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into</a:t>
            </a:r>
            <a:r>
              <a:rPr sz="2000" b="1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(buffer) </a:t>
            </a:r>
            <a:r>
              <a:rPr sz="2000" b="1" dirty="0">
                <a:latin typeface="Times New Roman"/>
                <a:cs typeface="Times New Roman"/>
              </a:rPr>
              <a:t>corresponding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center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location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window.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window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then </a:t>
            </a:r>
            <a:r>
              <a:rPr sz="2000" b="1" dirty="0">
                <a:latin typeface="Times New Roman"/>
                <a:cs typeface="Times New Roman"/>
              </a:rPr>
              <a:t>slide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pixel</a:t>
            </a:r>
            <a:r>
              <a:rPr sz="2000" b="1" spc="-25" dirty="0">
                <a:latin typeface="Times New Roman"/>
                <a:cs typeface="Times New Roman"/>
              </a:rPr>
              <a:t> over,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repeated.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49847" y="1221866"/>
          <a:ext cx="2518406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93409" y="2972180"/>
          <a:ext cx="2518406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3455" y="406145"/>
            <a:ext cx="8317230" cy="5955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 algn="just">
              <a:lnSpc>
                <a:spcPct val="100000"/>
              </a:lnSpc>
              <a:spcBef>
                <a:spcPts val="105"/>
              </a:spcBef>
            </a:pPr>
            <a:r>
              <a:rPr sz="20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000" b="1" u="sng" spc="-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2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1:</a:t>
            </a:r>
            <a:endParaRPr sz="2000">
              <a:latin typeface="Times New Roman"/>
              <a:cs typeface="Times New Roman"/>
            </a:endParaRPr>
          </a:p>
          <a:p>
            <a:pPr marL="13335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median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remove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salt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pepper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noise,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sub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I(r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c).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First</a:t>
            </a:r>
            <a:r>
              <a:rPr sz="2000" b="1" u="sng" spc="-2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pixel:</a:t>
            </a:r>
            <a:endParaRPr sz="2000">
              <a:latin typeface="Times New Roman"/>
              <a:cs typeface="Times New Roman"/>
            </a:endParaRPr>
          </a:p>
          <a:p>
            <a:pPr marL="469265" indent="-456565" algn="just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Rearrange</a:t>
            </a:r>
            <a:r>
              <a:rPr sz="2000" b="1" spc="459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3x3</a:t>
            </a:r>
            <a:r>
              <a:rPr sz="2000" b="1" spc="459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neighbor</a:t>
            </a:r>
            <a:r>
              <a:rPr sz="2000" b="1" spc="44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pixels</a:t>
            </a:r>
            <a:r>
              <a:rPr sz="2000" b="1" spc="459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ascending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such</a:t>
            </a:r>
            <a:r>
              <a:rPr sz="2000" b="1" spc="-25" dirty="0">
                <a:latin typeface="Times New Roman"/>
                <a:cs typeface="Times New Roman"/>
              </a:rPr>
              <a:t> as:</a:t>
            </a:r>
            <a:endParaRPr sz="2000">
              <a:latin typeface="Times New Roman"/>
              <a:cs typeface="Times New Roman"/>
            </a:endParaRPr>
          </a:p>
          <a:p>
            <a:pPr marL="1091565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2,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5,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16,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19,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20</a:t>
            </a:r>
            <a:r>
              <a:rPr sz="2000" b="1" dirty="0">
                <a:latin typeface="Times New Roman"/>
                <a:cs typeface="Times New Roman"/>
              </a:rPr>
              <a:t>,  21,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25,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43,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51</a:t>
            </a:r>
            <a:endParaRPr sz="2000">
              <a:latin typeface="Times New Roman"/>
              <a:cs typeface="Times New Roman"/>
            </a:endParaRPr>
          </a:p>
          <a:p>
            <a:pPr marL="320675" marR="2931160" indent="-308610" algn="just">
              <a:lnSpc>
                <a:spcPct val="100000"/>
              </a:lnSpc>
              <a:buClr>
                <a:srgbClr val="006FC0"/>
              </a:buClr>
              <a:buAutoNum type="arabicPeriod" startAt="2"/>
              <a:tabLst>
                <a:tab pos="376555" algn="l"/>
              </a:tabLst>
            </a:pP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40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000" b="1" spc="3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median</a:t>
            </a:r>
            <a:r>
              <a:rPr sz="2000" b="1" spc="4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3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40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4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median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000" b="1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20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put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  in  buffer</a:t>
            </a:r>
            <a:r>
              <a:rPr sz="2000" b="1" spc="4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  in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position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(1,1)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006FC0"/>
              </a:buClr>
              <a:buFont typeface="Times New Roman"/>
              <a:buAutoNum type="arabicPeriod" startAt="2"/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Second</a:t>
            </a:r>
            <a:r>
              <a:rPr sz="2000" b="1" u="sng" spc="-1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pixel:</a:t>
            </a:r>
            <a:endParaRPr sz="2000">
              <a:latin typeface="Times New Roman"/>
              <a:cs typeface="Times New Roman"/>
            </a:endParaRPr>
          </a:p>
          <a:p>
            <a:pPr marL="469265" lvl="1" indent="-456565" algn="just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Rearrange</a:t>
            </a:r>
            <a:r>
              <a:rPr sz="2000" b="1" spc="459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3x3</a:t>
            </a:r>
            <a:r>
              <a:rPr sz="2000" b="1" spc="459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neighbor</a:t>
            </a:r>
            <a:r>
              <a:rPr sz="2000" b="1" spc="44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pixels</a:t>
            </a:r>
            <a:r>
              <a:rPr sz="2000" b="1" spc="459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ascending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such</a:t>
            </a:r>
            <a:r>
              <a:rPr sz="2000" b="1" spc="-25" dirty="0">
                <a:latin typeface="Times New Roman"/>
                <a:cs typeface="Times New Roman"/>
              </a:rPr>
              <a:t> as:</a:t>
            </a:r>
            <a:endParaRPr sz="2000">
              <a:latin typeface="Times New Roman"/>
              <a:cs typeface="Times New Roman"/>
            </a:endParaRPr>
          </a:p>
          <a:p>
            <a:pPr marL="1091565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2, 15,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16,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18,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19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20,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23,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25,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51</a:t>
            </a:r>
            <a:endParaRPr sz="2000">
              <a:latin typeface="Times New Roman"/>
              <a:cs typeface="Times New Roman"/>
            </a:endParaRPr>
          </a:p>
          <a:p>
            <a:pPr marL="320675" marR="2931160" lvl="1" indent="-308610" algn="just">
              <a:lnSpc>
                <a:spcPct val="100000"/>
              </a:lnSpc>
              <a:buClr>
                <a:srgbClr val="006FC0"/>
              </a:buClr>
              <a:buAutoNum type="arabicPeriod" startAt="2"/>
              <a:tabLst>
                <a:tab pos="376555" algn="l"/>
              </a:tabLst>
            </a:pP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40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000" b="1" spc="3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median</a:t>
            </a:r>
            <a:r>
              <a:rPr sz="2000" b="1" spc="4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3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40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4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median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000" b="1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19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put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  in  buffer</a:t>
            </a:r>
            <a:r>
              <a:rPr sz="2000" b="1" spc="4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  in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position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(1,1)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21857" y="4677664"/>
          <a:ext cx="2518406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49847" y="1221866"/>
          <a:ext cx="2518406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8803" y="2972180"/>
          <a:ext cx="2522217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30200" y="440816"/>
            <a:ext cx="7999730" cy="5965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000" b="1" u="sng" spc="-2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2: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min.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remove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salt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pepper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noise,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sub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I(r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, </a:t>
            </a:r>
            <a:r>
              <a:rPr sz="2000" b="1" spc="-25" dirty="0">
                <a:latin typeface="Times New Roman"/>
                <a:cs typeface="Times New Roman"/>
              </a:rPr>
              <a:t>c).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000">
              <a:latin typeface="Times New Roman"/>
              <a:cs typeface="Times New Roman"/>
            </a:endParaRPr>
          </a:p>
          <a:p>
            <a:pPr marL="155575" algn="just">
              <a:lnSpc>
                <a:spcPct val="100000"/>
              </a:lnSpc>
              <a:spcBef>
                <a:spcPts val="5"/>
              </a:spcBef>
            </a:pPr>
            <a:r>
              <a:rPr sz="20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First</a:t>
            </a:r>
            <a:r>
              <a:rPr sz="2000" b="1" u="sng" spc="-2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pixel:</a:t>
            </a:r>
            <a:endParaRPr sz="2000">
              <a:latin typeface="Times New Roman"/>
              <a:cs typeface="Times New Roman"/>
            </a:endParaRPr>
          </a:p>
          <a:p>
            <a:pPr marL="612140" indent="-456565" algn="just">
              <a:lnSpc>
                <a:spcPct val="100000"/>
              </a:lnSpc>
              <a:buAutoNum type="arabicPeriod"/>
              <a:tabLst>
                <a:tab pos="61214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Rearrange</a:t>
            </a:r>
            <a:r>
              <a:rPr sz="2000" b="1" spc="459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3x3</a:t>
            </a:r>
            <a:r>
              <a:rPr sz="2000" b="1" spc="459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neighbor</a:t>
            </a:r>
            <a:r>
              <a:rPr sz="2000" b="1" spc="44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pixels</a:t>
            </a:r>
            <a:r>
              <a:rPr sz="2000" b="1" spc="459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612775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ascending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such</a:t>
            </a:r>
            <a:r>
              <a:rPr sz="2000" b="1" spc="-25" dirty="0">
                <a:latin typeface="Times New Roman"/>
                <a:cs typeface="Times New Roman"/>
              </a:rPr>
              <a:t> as:</a:t>
            </a:r>
            <a:endParaRPr sz="2000">
              <a:latin typeface="Times New Roman"/>
              <a:cs typeface="Times New Roman"/>
            </a:endParaRPr>
          </a:p>
          <a:p>
            <a:pPr marL="1234440" algn="just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r>
              <a:rPr sz="2000" b="1" dirty="0">
                <a:latin typeface="Times New Roman"/>
                <a:cs typeface="Times New Roman"/>
              </a:rPr>
              <a:t>, 13,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16,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19,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20,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21,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25,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25,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43,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51</a:t>
            </a:r>
            <a:endParaRPr sz="2000">
              <a:latin typeface="Times New Roman"/>
              <a:cs typeface="Times New Roman"/>
            </a:endParaRPr>
          </a:p>
          <a:p>
            <a:pPr marL="471805" marR="2470150" indent="-316230" algn="just">
              <a:lnSpc>
                <a:spcPct val="100000"/>
              </a:lnSpc>
              <a:buClr>
                <a:srgbClr val="006FC0"/>
              </a:buClr>
              <a:buAutoNum type="arabicPeriod" startAt="2"/>
              <a:tabLst>
                <a:tab pos="520065" algn="l"/>
              </a:tabLst>
            </a:pP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47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000" b="1" spc="4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min.</a:t>
            </a:r>
            <a:r>
              <a:rPr sz="2000" b="1" spc="459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4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4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45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minimum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0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r>
              <a:rPr sz="20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5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put</a:t>
            </a:r>
            <a:r>
              <a:rPr sz="2000" b="1" spc="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buffer</a:t>
            </a:r>
            <a:r>
              <a:rPr sz="2000" b="1" spc="4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55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the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position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(1,1)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Clr>
                <a:srgbClr val="006FC0"/>
              </a:buClr>
              <a:buFont typeface="Times New Roman"/>
              <a:buAutoNum type="arabicPeriod" startAt="2"/>
            </a:pPr>
            <a:endParaRPr sz="200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</a:pPr>
            <a:r>
              <a:rPr sz="20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Second</a:t>
            </a:r>
            <a:r>
              <a:rPr sz="2000" b="1" u="sng" spc="-1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pixel:</a:t>
            </a:r>
            <a:endParaRPr sz="2000">
              <a:latin typeface="Times New Roman"/>
              <a:cs typeface="Times New Roman"/>
            </a:endParaRPr>
          </a:p>
          <a:p>
            <a:pPr marL="656590" marR="2426970" lvl="1" indent="-457200">
              <a:lnSpc>
                <a:spcPct val="100000"/>
              </a:lnSpc>
              <a:buAutoNum type="arabicPeriod"/>
              <a:tabLst>
                <a:tab pos="656590" algn="l"/>
                <a:tab pos="2060575" algn="l"/>
                <a:tab pos="2644140" algn="l"/>
                <a:tab pos="3272154" algn="l"/>
                <a:tab pos="4486910" algn="l"/>
                <a:tab pos="5352415" algn="l"/>
              </a:tabLst>
            </a:pP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Rearrange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3x3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neighbor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pixels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in </a:t>
            </a:r>
            <a:r>
              <a:rPr sz="2000" b="1" dirty="0">
                <a:latin typeface="Times New Roman"/>
                <a:cs typeface="Times New Roman"/>
              </a:rPr>
              <a:t>ascending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such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  <a:p>
            <a:pPr marL="1278255">
              <a:lnSpc>
                <a:spcPct val="100000"/>
              </a:lnSpc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13</a:t>
            </a:r>
            <a:r>
              <a:rPr sz="2000" b="1" spc="-10" dirty="0">
                <a:latin typeface="Times New Roman"/>
                <a:cs typeface="Times New Roman"/>
              </a:rPr>
              <a:t>,15,16,19,20,22,23,25,51</a:t>
            </a:r>
            <a:endParaRPr sz="2000">
              <a:latin typeface="Times New Roman"/>
              <a:cs typeface="Times New Roman"/>
            </a:endParaRPr>
          </a:p>
          <a:p>
            <a:pPr marL="514350" marR="2426335" lvl="1" indent="-315595" algn="just">
              <a:lnSpc>
                <a:spcPct val="100000"/>
              </a:lnSpc>
              <a:buClr>
                <a:srgbClr val="006FC0"/>
              </a:buClr>
              <a:buAutoNum type="arabicPeriod" startAt="2"/>
              <a:tabLst>
                <a:tab pos="563245" algn="l"/>
              </a:tabLst>
            </a:pP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47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000" b="1" spc="4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min.</a:t>
            </a:r>
            <a:r>
              <a:rPr sz="2000" b="1" spc="459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43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4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45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59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minimum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000" b="1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13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put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  in  buffer</a:t>
            </a:r>
            <a:r>
              <a:rPr sz="2000" b="1" spc="4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  </a:t>
            </a:r>
            <a:r>
              <a:rPr sz="2000" b="1" spc="-25" dirty="0">
                <a:latin typeface="Times New Roman"/>
                <a:cs typeface="Times New Roman"/>
              </a:rPr>
              <a:t>the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position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(1,1)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192773" y="4677664"/>
          <a:ext cx="2522217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49847" y="1221866"/>
          <a:ext cx="2518406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8803" y="2972180"/>
          <a:ext cx="2522217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3455" y="406145"/>
            <a:ext cx="8042909" cy="6000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 algn="just">
              <a:lnSpc>
                <a:spcPct val="100000"/>
              </a:lnSpc>
              <a:spcBef>
                <a:spcPts val="105"/>
              </a:spcBef>
            </a:pPr>
            <a:r>
              <a:rPr sz="20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000" b="1" u="sng" spc="-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2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3:</a:t>
            </a:r>
            <a:endParaRPr sz="2000">
              <a:latin typeface="Times New Roman"/>
              <a:cs typeface="Times New Roman"/>
            </a:endParaRPr>
          </a:p>
          <a:p>
            <a:pPr marL="13335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max.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remove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salt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pepper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noise,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sub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I(r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c).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First</a:t>
            </a:r>
            <a:r>
              <a:rPr sz="2000" b="1" u="sng" spc="-2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pixel:</a:t>
            </a:r>
            <a:endParaRPr sz="2000">
              <a:latin typeface="Times New Roman"/>
              <a:cs typeface="Times New Roman"/>
            </a:endParaRPr>
          </a:p>
          <a:p>
            <a:pPr marL="469265" indent="-456565" algn="just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Rearrange</a:t>
            </a:r>
            <a:r>
              <a:rPr sz="2000" b="1" spc="459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3x3</a:t>
            </a:r>
            <a:r>
              <a:rPr sz="2000" b="1" spc="459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neighbor</a:t>
            </a:r>
            <a:r>
              <a:rPr sz="2000" b="1" spc="44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pixels</a:t>
            </a:r>
            <a:r>
              <a:rPr sz="2000" b="1" spc="459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ascending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such</a:t>
            </a:r>
            <a:r>
              <a:rPr sz="2000" b="1" spc="-25" dirty="0">
                <a:latin typeface="Times New Roman"/>
                <a:cs typeface="Times New Roman"/>
              </a:rPr>
              <a:t> as:</a:t>
            </a:r>
            <a:endParaRPr sz="2000">
              <a:latin typeface="Times New Roman"/>
              <a:cs typeface="Times New Roman"/>
            </a:endParaRPr>
          </a:p>
          <a:p>
            <a:pPr marL="1091565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5,13,16,19,20,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21,25,25,43,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51</a:t>
            </a:r>
            <a:endParaRPr sz="2000">
              <a:latin typeface="Times New Roman"/>
              <a:cs typeface="Times New Roman"/>
            </a:endParaRPr>
          </a:p>
          <a:p>
            <a:pPr marL="317500" marR="2656840" indent="-305435" algn="just">
              <a:lnSpc>
                <a:spcPct val="100000"/>
              </a:lnSpc>
              <a:buClr>
                <a:srgbClr val="006FC0"/>
              </a:buClr>
              <a:buAutoNum type="arabicPeriod" startAt="2"/>
              <a:tabLst>
                <a:tab pos="376555" algn="l"/>
              </a:tabLst>
            </a:pP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000" b="1" spc="3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max.</a:t>
            </a:r>
            <a:r>
              <a:rPr sz="2000" b="1" spc="3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3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maximum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000" b="1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51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put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  in  buffer</a:t>
            </a:r>
            <a:r>
              <a:rPr sz="2000" b="1" spc="4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  in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position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(1,1)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  <a:buClr>
                <a:srgbClr val="006FC0"/>
              </a:buClr>
              <a:buFont typeface="Times New Roman"/>
              <a:buAutoNum type="arabicPeriod" startAt="2"/>
            </a:pPr>
            <a:endParaRPr sz="200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  <a:spcBef>
                <a:spcPts val="5"/>
              </a:spcBef>
            </a:pPr>
            <a:r>
              <a:rPr sz="20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Second</a:t>
            </a:r>
            <a:r>
              <a:rPr sz="2000" b="1" u="sng" spc="-1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pixel:</a:t>
            </a:r>
            <a:endParaRPr sz="2000">
              <a:latin typeface="Times New Roman"/>
              <a:cs typeface="Times New Roman"/>
            </a:endParaRPr>
          </a:p>
          <a:p>
            <a:pPr marL="513080" marR="2614295" lvl="1" indent="-457200">
              <a:lnSpc>
                <a:spcPct val="100000"/>
              </a:lnSpc>
              <a:buAutoNum type="arabicPeriod"/>
              <a:tabLst>
                <a:tab pos="513080" algn="l"/>
                <a:tab pos="1917064" algn="l"/>
                <a:tab pos="2500630" algn="l"/>
                <a:tab pos="3128645" algn="l"/>
                <a:tab pos="4343400" algn="l"/>
                <a:tab pos="5209540" algn="l"/>
              </a:tabLst>
            </a:pP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Rearrange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3x3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neighbor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pixels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in </a:t>
            </a:r>
            <a:r>
              <a:rPr sz="2000" b="1" dirty="0">
                <a:latin typeface="Times New Roman"/>
                <a:cs typeface="Times New Roman"/>
              </a:rPr>
              <a:t>ascending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such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  <a:p>
            <a:pPr marL="1134745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13,15,16,19,20,22,23,25,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51</a:t>
            </a:r>
            <a:endParaRPr sz="2000">
              <a:latin typeface="Times New Roman"/>
              <a:cs typeface="Times New Roman"/>
            </a:endParaRPr>
          </a:p>
          <a:p>
            <a:pPr marL="360680" marR="2613025" lvl="1" indent="-304800" algn="just">
              <a:lnSpc>
                <a:spcPct val="100000"/>
              </a:lnSpc>
              <a:buClr>
                <a:srgbClr val="006FC0"/>
              </a:buClr>
              <a:buAutoNum type="arabicPeriod" startAt="2"/>
              <a:tabLst>
                <a:tab pos="420370" algn="l"/>
              </a:tabLst>
            </a:pP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000" b="1" spc="3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max.</a:t>
            </a:r>
            <a:r>
              <a:rPr sz="2000" b="1" spc="3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3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maximum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000" b="1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51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put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  in  buffer</a:t>
            </a:r>
            <a:r>
              <a:rPr sz="2000" b="1" spc="4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  </a:t>
            </a:r>
            <a:r>
              <a:rPr sz="2000" b="1" spc="-25" dirty="0">
                <a:latin typeface="Times New Roman"/>
                <a:cs typeface="Times New Roman"/>
              </a:rPr>
              <a:t>the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position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(1,1)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192773" y="4677664"/>
          <a:ext cx="2522217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7611" y="373824"/>
            <a:ext cx="6237732" cy="9022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25552" y="1530096"/>
            <a:ext cx="4018915" cy="792480"/>
            <a:chOff x="225552" y="1530096"/>
            <a:chExt cx="4018915" cy="79248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52" y="1653540"/>
              <a:ext cx="644651" cy="6019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588" y="1530096"/>
              <a:ext cx="3730752" cy="7924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80491" y="1631949"/>
            <a:ext cx="36264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9966FF"/>
              </a:buClr>
              <a:buSzPct val="80357"/>
              <a:buChar char="►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Blurring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/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Smoothing</a:t>
            </a:r>
            <a:endParaRPr sz="28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97576" y="2365375"/>
            <a:ext cx="3111500" cy="365760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28650" y="2365375"/>
            <a:ext cx="4326255" cy="3657600"/>
            <a:chOff x="628650" y="2365375"/>
            <a:chExt cx="4326255" cy="365760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650" y="2365375"/>
              <a:ext cx="3111500" cy="36576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79951" y="3933825"/>
              <a:ext cx="770255" cy="333375"/>
            </a:xfrm>
            <a:custGeom>
              <a:avLst/>
              <a:gdLst/>
              <a:ahLst/>
              <a:cxnLst/>
              <a:rect l="l" t="t" r="r" b="b"/>
              <a:pathLst>
                <a:path w="770254" h="333375">
                  <a:moveTo>
                    <a:pt x="603250" y="0"/>
                  </a:moveTo>
                  <a:lnTo>
                    <a:pt x="603250" y="83312"/>
                  </a:lnTo>
                  <a:lnTo>
                    <a:pt x="0" y="83312"/>
                  </a:lnTo>
                  <a:lnTo>
                    <a:pt x="0" y="250062"/>
                  </a:lnTo>
                  <a:lnTo>
                    <a:pt x="603250" y="250062"/>
                  </a:lnTo>
                  <a:lnTo>
                    <a:pt x="603250" y="333375"/>
                  </a:lnTo>
                  <a:lnTo>
                    <a:pt x="769874" y="166624"/>
                  </a:lnTo>
                  <a:lnTo>
                    <a:pt x="603250" y="0"/>
                  </a:lnTo>
                  <a:close/>
                </a:path>
              </a:pathLst>
            </a:custGeom>
            <a:solidFill>
              <a:srgbClr val="0000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9951" y="3933825"/>
              <a:ext cx="770255" cy="333375"/>
            </a:xfrm>
            <a:custGeom>
              <a:avLst/>
              <a:gdLst/>
              <a:ahLst/>
              <a:cxnLst/>
              <a:rect l="l" t="t" r="r" b="b"/>
              <a:pathLst>
                <a:path w="770254" h="333375">
                  <a:moveTo>
                    <a:pt x="0" y="83312"/>
                  </a:moveTo>
                  <a:lnTo>
                    <a:pt x="603250" y="83312"/>
                  </a:lnTo>
                  <a:lnTo>
                    <a:pt x="603250" y="0"/>
                  </a:lnTo>
                  <a:lnTo>
                    <a:pt x="769874" y="166624"/>
                  </a:lnTo>
                  <a:lnTo>
                    <a:pt x="603250" y="333375"/>
                  </a:lnTo>
                  <a:lnTo>
                    <a:pt x="603250" y="250062"/>
                  </a:lnTo>
                  <a:lnTo>
                    <a:pt x="0" y="250062"/>
                  </a:lnTo>
                  <a:lnTo>
                    <a:pt x="0" y="833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611" y="425195"/>
            <a:ext cx="6237732" cy="9022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02692" y="1514855"/>
            <a:ext cx="2844165" cy="902335"/>
            <a:chOff x="202692" y="1514855"/>
            <a:chExt cx="2844165" cy="9023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692" y="1656587"/>
              <a:ext cx="733044" cy="6827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107" y="1514855"/>
              <a:ext cx="2563368" cy="90220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80491" y="1630426"/>
            <a:ext cx="23933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9966FF"/>
              </a:buClr>
              <a:buSzPct val="79687"/>
              <a:buChar char="►"/>
              <a:tabLst>
                <a:tab pos="354965" algn="l"/>
              </a:tabLst>
            </a:pPr>
            <a:r>
              <a:rPr sz="3200" spc="-10" dirty="0">
                <a:latin typeface="Tahoma"/>
                <a:cs typeface="Tahoma"/>
              </a:rPr>
              <a:t>Sharpening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4362" y="2468562"/>
            <a:ext cx="3111500" cy="3657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62651" y="2468562"/>
            <a:ext cx="3111500" cy="36576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175188" y="3929062"/>
            <a:ext cx="779780" cy="342900"/>
            <a:chOff x="4175188" y="3929062"/>
            <a:chExt cx="779780" cy="342900"/>
          </a:xfrm>
        </p:grpSpPr>
        <p:sp>
          <p:nvSpPr>
            <p:cNvPr id="11" name="object 11"/>
            <p:cNvSpPr/>
            <p:nvPr/>
          </p:nvSpPr>
          <p:spPr>
            <a:xfrm>
              <a:off x="4179951" y="3933825"/>
              <a:ext cx="770255" cy="333375"/>
            </a:xfrm>
            <a:custGeom>
              <a:avLst/>
              <a:gdLst/>
              <a:ahLst/>
              <a:cxnLst/>
              <a:rect l="l" t="t" r="r" b="b"/>
              <a:pathLst>
                <a:path w="770254" h="333375">
                  <a:moveTo>
                    <a:pt x="603250" y="0"/>
                  </a:moveTo>
                  <a:lnTo>
                    <a:pt x="603250" y="83312"/>
                  </a:lnTo>
                  <a:lnTo>
                    <a:pt x="0" y="83312"/>
                  </a:lnTo>
                  <a:lnTo>
                    <a:pt x="0" y="250062"/>
                  </a:lnTo>
                  <a:lnTo>
                    <a:pt x="603250" y="250062"/>
                  </a:lnTo>
                  <a:lnTo>
                    <a:pt x="603250" y="333375"/>
                  </a:lnTo>
                  <a:lnTo>
                    <a:pt x="769874" y="166624"/>
                  </a:lnTo>
                  <a:lnTo>
                    <a:pt x="603250" y="0"/>
                  </a:lnTo>
                  <a:close/>
                </a:path>
              </a:pathLst>
            </a:custGeom>
            <a:solidFill>
              <a:srgbClr val="0000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9951" y="3933825"/>
              <a:ext cx="770255" cy="333375"/>
            </a:xfrm>
            <a:custGeom>
              <a:avLst/>
              <a:gdLst/>
              <a:ahLst/>
              <a:cxnLst/>
              <a:rect l="l" t="t" r="r" b="b"/>
              <a:pathLst>
                <a:path w="770254" h="333375">
                  <a:moveTo>
                    <a:pt x="0" y="83312"/>
                  </a:moveTo>
                  <a:lnTo>
                    <a:pt x="603250" y="83312"/>
                  </a:lnTo>
                  <a:lnTo>
                    <a:pt x="603250" y="0"/>
                  </a:lnTo>
                  <a:lnTo>
                    <a:pt x="769874" y="166624"/>
                  </a:lnTo>
                  <a:lnTo>
                    <a:pt x="603250" y="333375"/>
                  </a:lnTo>
                  <a:lnTo>
                    <a:pt x="603250" y="250062"/>
                  </a:lnTo>
                  <a:lnTo>
                    <a:pt x="0" y="250062"/>
                  </a:lnTo>
                  <a:lnTo>
                    <a:pt x="0" y="833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980" y="470916"/>
            <a:ext cx="6444996" cy="7924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7717" y="1631949"/>
            <a:ext cx="769365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9966FF"/>
              </a:buClr>
              <a:buSzPct val="79545"/>
              <a:buChar char="►"/>
              <a:tabLst>
                <a:tab pos="354965" algn="l"/>
              </a:tabLst>
            </a:pPr>
            <a:r>
              <a:rPr sz="2200" dirty="0">
                <a:latin typeface="Tahoma"/>
                <a:cs typeface="Tahoma"/>
              </a:rPr>
              <a:t>The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first-</a:t>
            </a:r>
            <a:r>
              <a:rPr sz="2200" dirty="0">
                <a:latin typeface="Tahoma"/>
                <a:cs typeface="Tahoma"/>
              </a:rPr>
              <a:t>order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derivative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of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one-</a:t>
            </a:r>
            <a:r>
              <a:rPr sz="2200" dirty="0">
                <a:latin typeface="Tahoma"/>
                <a:cs typeface="Tahoma"/>
              </a:rPr>
              <a:t>dimensional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function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f(x) </a:t>
            </a:r>
            <a:r>
              <a:rPr sz="2200" dirty="0">
                <a:latin typeface="Tahoma"/>
                <a:cs typeface="Tahoma"/>
              </a:rPr>
              <a:t>is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the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difference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7717" y="3979545"/>
            <a:ext cx="68116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95"/>
              </a:spcBef>
              <a:buClr>
                <a:srgbClr val="9966FF"/>
              </a:buClr>
              <a:buSzPct val="79545"/>
              <a:buChar char="►"/>
              <a:tabLst>
                <a:tab pos="356235" algn="l"/>
              </a:tabLst>
            </a:pPr>
            <a:r>
              <a:rPr sz="2200" dirty="0">
                <a:latin typeface="Tahoma"/>
                <a:cs typeface="Tahoma"/>
              </a:rPr>
              <a:t>The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second-</a:t>
            </a:r>
            <a:r>
              <a:rPr sz="2200" dirty="0">
                <a:latin typeface="Tahoma"/>
                <a:cs typeface="Tahoma"/>
              </a:rPr>
              <a:t>order </a:t>
            </a:r>
            <a:r>
              <a:rPr sz="2200" spc="-10" dirty="0">
                <a:latin typeface="Tahoma"/>
                <a:cs typeface="Tahoma"/>
              </a:rPr>
              <a:t>derivative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of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f(x)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as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the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difference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92517" y="3030061"/>
            <a:ext cx="400685" cy="0"/>
          </a:xfrm>
          <a:custGeom>
            <a:avLst/>
            <a:gdLst/>
            <a:ahLst/>
            <a:cxnLst/>
            <a:rect l="l" t="t" r="r" b="b"/>
            <a:pathLst>
              <a:path w="400685">
                <a:moveTo>
                  <a:pt x="0" y="0"/>
                </a:moveTo>
                <a:lnTo>
                  <a:pt x="400472" y="0"/>
                </a:lnTo>
              </a:path>
            </a:pathLst>
          </a:custGeom>
          <a:ln w="183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71601" y="2738295"/>
            <a:ext cx="3047365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20700" algn="l"/>
                <a:tab pos="880744" algn="l"/>
              </a:tabLst>
            </a:pPr>
            <a:r>
              <a:rPr sz="4350" spc="-37" baseline="35440" dirty="0">
                <a:latin typeface="Symbol"/>
                <a:cs typeface="Symbol"/>
              </a:rPr>
              <a:t></a:t>
            </a:r>
            <a:r>
              <a:rPr sz="4350" i="1" spc="-37" baseline="35440" dirty="0">
                <a:latin typeface="Times New Roman"/>
                <a:cs typeface="Times New Roman"/>
              </a:rPr>
              <a:t>f</a:t>
            </a:r>
            <a:r>
              <a:rPr sz="4350" i="1" baseline="35440" dirty="0">
                <a:latin typeface="Times New Roman"/>
                <a:cs typeface="Times New Roman"/>
              </a:rPr>
              <a:t>	</a:t>
            </a:r>
            <a:r>
              <a:rPr sz="2900" spc="-50" dirty="0">
                <a:latin typeface="Symbol"/>
                <a:cs typeface="Symbol"/>
              </a:rPr>
              <a:t>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i="1" dirty="0">
                <a:latin typeface="Times New Roman"/>
                <a:cs typeface="Times New Roman"/>
              </a:rPr>
              <a:t>f</a:t>
            </a:r>
            <a:r>
              <a:rPr sz="2900" i="1" spc="-25" dirty="0">
                <a:latin typeface="Times New Roman"/>
                <a:cs typeface="Times New Roman"/>
              </a:rPr>
              <a:t> </a:t>
            </a:r>
            <a:r>
              <a:rPr sz="2900" spc="130" dirty="0">
                <a:latin typeface="Times New Roman"/>
                <a:cs typeface="Times New Roman"/>
              </a:rPr>
              <a:t>(</a:t>
            </a:r>
            <a:r>
              <a:rPr sz="2900" i="1" spc="130" dirty="0">
                <a:latin typeface="Times New Roman"/>
                <a:cs typeface="Times New Roman"/>
              </a:rPr>
              <a:t>x</a:t>
            </a:r>
            <a:r>
              <a:rPr sz="2900" i="1" spc="-204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Symbol"/>
                <a:cs typeface="Symbol"/>
              </a:rPr>
              <a:t></a:t>
            </a:r>
            <a:r>
              <a:rPr sz="2900" dirty="0">
                <a:latin typeface="Times New Roman"/>
                <a:cs typeface="Times New Roman"/>
              </a:rPr>
              <a:t>1)</a:t>
            </a:r>
            <a:r>
              <a:rPr sz="2900" spc="-229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Symbol"/>
                <a:cs typeface="Symbol"/>
              </a:rPr>
              <a:t></a:t>
            </a:r>
            <a:r>
              <a:rPr sz="2900" spc="33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Times New Roman"/>
                <a:cs typeface="Times New Roman"/>
              </a:rPr>
              <a:t>f</a:t>
            </a:r>
            <a:r>
              <a:rPr sz="2900" i="1" spc="-35" dirty="0">
                <a:latin typeface="Times New Roman"/>
                <a:cs typeface="Times New Roman"/>
              </a:rPr>
              <a:t> </a:t>
            </a:r>
            <a:r>
              <a:rPr sz="2900" spc="80" dirty="0">
                <a:latin typeface="Times New Roman"/>
                <a:cs typeface="Times New Roman"/>
              </a:rPr>
              <a:t>(</a:t>
            </a:r>
            <a:r>
              <a:rPr sz="2900" i="1" spc="80" dirty="0">
                <a:latin typeface="Times New Roman"/>
                <a:cs typeface="Times New Roman"/>
              </a:rPr>
              <a:t>x</a:t>
            </a:r>
            <a:r>
              <a:rPr sz="2900" spc="80" dirty="0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5968" y="3028420"/>
            <a:ext cx="374015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spc="-25" dirty="0">
                <a:latin typeface="Symbol"/>
                <a:cs typeface="Symbol"/>
              </a:rPr>
              <a:t></a:t>
            </a:r>
            <a:r>
              <a:rPr sz="2900" i="1" spc="-25" dirty="0">
                <a:latin typeface="Times New Roman"/>
                <a:cs typeface="Times New Roman"/>
              </a:rPr>
              <a:t>x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96760" y="5293917"/>
            <a:ext cx="582930" cy="0"/>
          </a:xfrm>
          <a:custGeom>
            <a:avLst/>
            <a:gdLst/>
            <a:ahLst/>
            <a:cxnLst/>
            <a:rect l="l" t="t" r="r" b="b"/>
            <a:pathLst>
              <a:path w="582930">
                <a:moveTo>
                  <a:pt x="0" y="0"/>
                </a:moveTo>
                <a:lnTo>
                  <a:pt x="582894" y="0"/>
                </a:lnTo>
              </a:path>
            </a:pathLst>
          </a:custGeom>
          <a:ln w="17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74831" y="4799891"/>
            <a:ext cx="931544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97230" algn="l"/>
              </a:tabLst>
            </a:pPr>
            <a:r>
              <a:rPr sz="2750" spc="85" dirty="0">
                <a:latin typeface="Symbol"/>
                <a:cs typeface="Symbol"/>
              </a:rPr>
              <a:t></a:t>
            </a:r>
            <a:r>
              <a:rPr sz="2325" spc="127" baseline="44802" dirty="0">
                <a:latin typeface="Times New Roman"/>
                <a:cs typeface="Times New Roman"/>
              </a:rPr>
              <a:t>2</a:t>
            </a:r>
            <a:r>
              <a:rPr sz="2325" spc="359" baseline="44802" dirty="0">
                <a:latin typeface="Times New Roman"/>
                <a:cs typeface="Times New Roman"/>
              </a:rPr>
              <a:t> </a:t>
            </a:r>
            <a:r>
              <a:rPr sz="2750" i="1" spc="-60" dirty="0">
                <a:latin typeface="Times New Roman"/>
                <a:cs typeface="Times New Roman"/>
              </a:rPr>
              <a:t>f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4125" spc="-75" baseline="-35353" dirty="0">
                <a:latin typeface="Symbol"/>
                <a:cs typeface="Symbol"/>
              </a:rPr>
              <a:t></a:t>
            </a:r>
            <a:endParaRPr sz="4125" baseline="-35353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97251" y="5019647"/>
            <a:ext cx="359410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i="1" dirty="0">
                <a:latin typeface="Times New Roman"/>
                <a:cs typeface="Times New Roman"/>
              </a:rPr>
              <a:t>f</a:t>
            </a:r>
            <a:r>
              <a:rPr sz="2750" i="1" spc="-40" dirty="0">
                <a:latin typeface="Times New Roman"/>
                <a:cs typeface="Times New Roman"/>
              </a:rPr>
              <a:t> </a:t>
            </a:r>
            <a:r>
              <a:rPr sz="2750" spc="100" dirty="0">
                <a:latin typeface="Times New Roman"/>
                <a:cs typeface="Times New Roman"/>
              </a:rPr>
              <a:t>(</a:t>
            </a:r>
            <a:r>
              <a:rPr sz="2750" i="1" spc="100" dirty="0">
                <a:latin typeface="Times New Roman"/>
                <a:cs typeface="Times New Roman"/>
              </a:rPr>
              <a:t>x</a:t>
            </a:r>
            <a:r>
              <a:rPr sz="2750" i="1" spc="-204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Symbol"/>
                <a:cs typeface="Symbol"/>
              </a:rPr>
              <a:t></a:t>
            </a:r>
            <a:r>
              <a:rPr sz="2750" spc="-10" dirty="0">
                <a:latin typeface="Times New Roman"/>
                <a:cs typeface="Times New Roman"/>
              </a:rPr>
              <a:t>1)</a:t>
            </a:r>
            <a:r>
              <a:rPr sz="2750" spc="-2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315" dirty="0">
                <a:latin typeface="Times New Roman"/>
                <a:cs typeface="Times New Roman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f</a:t>
            </a:r>
            <a:r>
              <a:rPr sz="2750" i="1" spc="-40" dirty="0">
                <a:latin typeface="Times New Roman"/>
                <a:cs typeface="Times New Roman"/>
              </a:rPr>
              <a:t> </a:t>
            </a:r>
            <a:r>
              <a:rPr sz="2750" spc="100" dirty="0">
                <a:latin typeface="Times New Roman"/>
                <a:cs typeface="Times New Roman"/>
              </a:rPr>
              <a:t>(</a:t>
            </a:r>
            <a:r>
              <a:rPr sz="2750" i="1" spc="100" dirty="0">
                <a:latin typeface="Times New Roman"/>
                <a:cs typeface="Times New Roman"/>
              </a:rPr>
              <a:t>x</a:t>
            </a:r>
            <a:r>
              <a:rPr sz="2750" i="1" spc="-204" dirty="0">
                <a:latin typeface="Times New Roman"/>
                <a:cs typeface="Times New Roman"/>
              </a:rPr>
              <a:t> </a:t>
            </a:r>
            <a:r>
              <a:rPr sz="2750" spc="-30" dirty="0">
                <a:latin typeface="Symbol"/>
                <a:cs typeface="Symbol"/>
              </a:rPr>
              <a:t></a:t>
            </a:r>
            <a:r>
              <a:rPr sz="2750" spc="-30" dirty="0">
                <a:latin typeface="Times New Roman"/>
                <a:cs typeface="Times New Roman"/>
              </a:rPr>
              <a:t>1)</a:t>
            </a:r>
            <a:r>
              <a:rPr sz="2750" spc="-2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-254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2</a:t>
            </a:r>
            <a:r>
              <a:rPr sz="2750" spc="-155" dirty="0">
                <a:latin typeface="Times New Roman"/>
                <a:cs typeface="Times New Roman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f</a:t>
            </a:r>
            <a:r>
              <a:rPr sz="2750" i="1" spc="-35" dirty="0">
                <a:latin typeface="Times New Roman"/>
                <a:cs typeface="Times New Roman"/>
              </a:rPr>
              <a:t> </a:t>
            </a:r>
            <a:r>
              <a:rPr sz="2750" spc="60" dirty="0">
                <a:latin typeface="Times New Roman"/>
                <a:cs typeface="Times New Roman"/>
              </a:rPr>
              <a:t>(</a:t>
            </a:r>
            <a:r>
              <a:rPr sz="2750" i="1" spc="60" dirty="0">
                <a:latin typeface="Times New Roman"/>
                <a:cs typeface="Times New Roman"/>
              </a:rPr>
              <a:t>x</a:t>
            </a:r>
            <a:r>
              <a:rPr sz="2750" spc="60" dirty="0">
                <a:latin typeface="Times New Roman"/>
                <a:cs typeface="Times New Roman"/>
              </a:rPr>
              <a:t>)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2801" y="5290894"/>
            <a:ext cx="52006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750" spc="-25" dirty="0">
                <a:latin typeface="Symbol"/>
                <a:cs typeface="Symbol"/>
              </a:rPr>
              <a:t></a:t>
            </a:r>
            <a:r>
              <a:rPr sz="2750" i="1" spc="-25" dirty="0">
                <a:latin typeface="Times New Roman"/>
                <a:cs typeface="Times New Roman"/>
              </a:rPr>
              <a:t>x</a:t>
            </a:r>
            <a:r>
              <a:rPr sz="2325" spc="-37" baseline="44802" dirty="0">
                <a:latin typeface="Times New Roman"/>
                <a:cs typeface="Times New Roman"/>
              </a:rPr>
              <a:t>2</a:t>
            </a:r>
            <a:endParaRPr sz="2325" baseline="44802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C65539-D5C3-4E1F-9F24-A4ADBA763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14" y="1339742"/>
            <a:ext cx="6267772" cy="41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323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DB2D08-5AD9-49C8-B137-E34BC1E5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533400"/>
            <a:ext cx="7086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40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0C9B42-B3A3-4047-B251-4CB825125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93" y="901570"/>
            <a:ext cx="6083613" cy="505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54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4447" y="324594"/>
            <a:ext cx="3233932" cy="3916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4804" y="1030046"/>
            <a:ext cx="828611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1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objective</a:t>
            </a:r>
            <a:r>
              <a:rPr sz="2000" b="1" spc="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3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sharpening</a:t>
            </a:r>
            <a:r>
              <a:rPr sz="2000" b="1" spc="3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3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31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draw</a:t>
            </a:r>
            <a:r>
              <a:rPr sz="2000" b="1" spc="3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attention</a:t>
            </a:r>
            <a:r>
              <a:rPr sz="2000" b="1" spc="3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3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1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fine</a:t>
            </a:r>
            <a:r>
              <a:rPr sz="2000" b="1" spc="3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details</a:t>
            </a:r>
            <a:r>
              <a:rPr sz="2000" b="1" spc="3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sz="2000" b="1" spc="3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an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image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also</a:t>
            </a:r>
            <a:r>
              <a:rPr sz="2000" b="1" spc="30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related</a:t>
            </a:r>
            <a:r>
              <a:rPr sz="2000" b="1" spc="2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000" b="1" spc="2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2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situation</a:t>
            </a:r>
            <a:r>
              <a:rPr sz="2000" b="1" spc="2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where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2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3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has</a:t>
            </a:r>
            <a:r>
              <a:rPr sz="2000" b="1" spc="28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been </a:t>
            </a:r>
            <a:r>
              <a:rPr sz="2000" b="1" dirty="0">
                <a:latin typeface="Times New Roman"/>
                <a:cs typeface="Times New Roman"/>
              </a:rPr>
              <a:t>blurred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now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needs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 </a:t>
            </a:r>
            <a:r>
              <a:rPr sz="2000" b="1" spc="-10" dirty="0">
                <a:latin typeface="Times New Roman"/>
                <a:cs typeface="Times New Roman"/>
              </a:rPr>
              <a:t>de-blurred.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contrast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 marR="1956435">
              <a:lnSpc>
                <a:spcPct val="100000"/>
              </a:lnSpc>
            </a:pPr>
            <a:r>
              <a:rPr sz="20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Smoothing</a:t>
            </a:r>
            <a:r>
              <a:rPr sz="20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normally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pixel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averaging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techniques</a:t>
            </a:r>
            <a:r>
              <a:rPr sz="2000" b="1" spc="-10" dirty="0">
                <a:latin typeface="Times New Roman"/>
                <a:cs typeface="Times New Roman"/>
              </a:rPr>
              <a:t>, </a:t>
            </a:r>
            <a:r>
              <a:rPr sz="20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Sharpening</a:t>
            </a:r>
            <a:r>
              <a:rPr sz="20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 conducted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spatial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differentiation.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image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differentiation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actually: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FF0000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Enhances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edges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Discontinuities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FF0000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Depresses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areas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slowly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changing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gray-level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values.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329565" indent="590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Sharpening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indicates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filter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should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have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positive</a:t>
            </a:r>
            <a:r>
              <a:rPr sz="20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coefficients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near</a:t>
            </a:r>
            <a:r>
              <a:rPr sz="20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its</a:t>
            </a: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center</a:t>
            </a:r>
            <a:r>
              <a:rPr sz="20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negative</a:t>
            </a:r>
            <a:r>
              <a:rPr sz="20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coefficients</a:t>
            </a:r>
            <a:r>
              <a:rPr sz="20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0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outer</a:t>
            </a:r>
            <a:r>
              <a:rPr sz="20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periphery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42F8-65EC-4BBC-B12F-D05AF891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92" y="275145"/>
            <a:ext cx="5023308" cy="923330"/>
          </a:xfrm>
        </p:spPr>
        <p:txBody>
          <a:bodyPr/>
          <a:lstStyle/>
          <a:p>
            <a:r>
              <a:rPr lang="en-US" dirty="0">
                <a:solidFill>
                  <a:srgbClr val="242424"/>
                </a:solidFill>
                <a:latin typeface="sohne"/>
              </a:rPr>
              <a:t>Sharpening Filters</a:t>
            </a:r>
            <a:br>
              <a:rPr lang="en-US" dirty="0">
                <a:solidFill>
                  <a:srgbClr val="242424"/>
                </a:solidFill>
                <a:latin typeface="sohne"/>
              </a:rPr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3EA9D9-73E2-45AB-B27F-0580E46E883B}"/>
              </a:ext>
            </a:extLst>
          </p:cNvPr>
          <p:cNvSpPr/>
          <p:nvPr/>
        </p:nvSpPr>
        <p:spPr>
          <a:xfrm>
            <a:off x="356070" y="784580"/>
            <a:ext cx="77211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The Laplacian Filter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Laplacian filter has an isotropic structure.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EB5870-63E6-468B-BA30-A8A833C65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142" y="2466925"/>
            <a:ext cx="6121715" cy="192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37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09DC4BCB-073D-4D9F-8840-443EA2E935AD}"/>
              </a:ext>
            </a:extLst>
          </p:cNvPr>
          <p:cNvSpPr/>
          <p:nvPr/>
        </p:nvSpPr>
        <p:spPr>
          <a:xfrm>
            <a:off x="3462279" y="2957886"/>
            <a:ext cx="590550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210" y="0"/>
                </a:lnTo>
              </a:path>
            </a:pathLst>
          </a:custGeom>
          <a:ln w="17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5AA4299F-64F2-4FE6-9185-B199C9078E7B}"/>
              </a:ext>
            </a:extLst>
          </p:cNvPr>
          <p:cNvSpPr/>
          <p:nvPr/>
        </p:nvSpPr>
        <p:spPr>
          <a:xfrm>
            <a:off x="4388214" y="2957886"/>
            <a:ext cx="589915" cy="0"/>
          </a:xfrm>
          <a:custGeom>
            <a:avLst/>
            <a:gdLst/>
            <a:ahLst/>
            <a:cxnLst/>
            <a:rect l="l" t="t" r="r" b="b"/>
            <a:pathLst>
              <a:path w="589914">
                <a:moveTo>
                  <a:pt x="0" y="0"/>
                </a:moveTo>
                <a:lnTo>
                  <a:pt x="589515" y="0"/>
                </a:lnTo>
              </a:path>
            </a:pathLst>
          </a:custGeom>
          <a:ln w="17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D611548-82A2-434E-9085-48CEBCD8168F}"/>
              </a:ext>
            </a:extLst>
          </p:cNvPr>
          <p:cNvSpPr txBox="1"/>
          <p:nvPr/>
        </p:nvSpPr>
        <p:spPr>
          <a:xfrm>
            <a:off x="3428444" y="2459594"/>
            <a:ext cx="150685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975994" algn="l"/>
              </a:tabLst>
            </a:pPr>
            <a:r>
              <a:rPr sz="2750" spc="85" dirty="0">
                <a:latin typeface="Symbol"/>
                <a:cs typeface="Symbol"/>
              </a:rPr>
              <a:t></a:t>
            </a:r>
            <a:r>
              <a:rPr sz="2400" spc="127" baseline="43402" dirty="0">
                <a:latin typeface="Times New Roman"/>
                <a:cs typeface="Times New Roman"/>
              </a:rPr>
              <a:t>2</a:t>
            </a:r>
            <a:r>
              <a:rPr sz="2400" spc="367" baseline="43402" dirty="0">
                <a:latin typeface="Times New Roman"/>
                <a:cs typeface="Times New Roman"/>
              </a:rPr>
              <a:t> </a:t>
            </a:r>
            <a:r>
              <a:rPr sz="2750" i="1" spc="-50" dirty="0">
                <a:latin typeface="Times New Roman"/>
                <a:cs typeface="Times New Roman"/>
              </a:rPr>
              <a:t>f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2750" spc="85" dirty="0">
                <a:latin typeface="Symbol"/>
                <a:cs typeface="Symbol"/>
              </a:rPr>
              <a:t></a:t>
            </a:r>
            <a:r>
              <a:rPr sz="2400" spc="127" baseline="43402" dirty="0">
                <a:latin typeface="Times New Roman"/>
                <a:cs typeface="Times New Roman"/>
              </a:rPr>
              <a:t>2</a:t>
            </a:r>
            <a:r>
              <a:rPr sz="2400" spc="367" baseline="43402" dirty="0">
                <a:latin typeface="Times New Roman"/>
                <a:cs typeface="Times New Roman"/>
              </a:rPr>
              <a:t> </a:t>
            </a:r>
            <a:r>
              <a:rPr sz="2750" i="1" spc="-50" dirty="0">
                <a:latin typeface="Times New Roman"/>
                <a:cs typeface="Times New Roman"/>
              </a:rPr>
              <a:t>f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10C0DBAD-68EC-435C-AD9D-6D18FDFB3E72}"/>
              </a:ext>
            </a:extLst>
          </p:cNvPr>
          <p:cNvSpPr txBox="1"/>
          <p:nvPr/>
        </p:nvSpPr>
        <p:spPr>
          <a:xfrm>
            <a:off x="2433186" y="2523511"/>
            <a:ext cx="44640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25" spc="60" baseline="-25252" dirty="0">
                <a:latin typeface="Symbol"/>
                <a:cs typeface="Symbol"/>
              </a:rPr>
              <a:t></a:t>
            </a:r>
            <a:r>
              <a:rPr sz="1600" spc="40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6A1FAA61-2FE3-4C46-A892-C2FE0DE30C01}"/>
              </a:ext>
            </a:extLst>
          </p:cNvPr>
          <p:cNvSpPr txBox="1"/>
          <p:nvPr/>
        </p:nvSpPr>
        <p:spPr>
          <a:xfrm>
            <a:off x="2884865" y="2680538"/>
            <a:ext cx="1118870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296545" algn="l"/>
                <a:tab pos="632460" algn="l"/>
              </a:tabLst>
            </a:pPr>
            <a:r>
              <a:rPr sz="2750" i="1" spc="-50" dirty="0">
                <a:latin typeface="Times New Roman"/>
                <a:cs typeface="Times New Roman"/>
              </a:rPr>
              <a:t>f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2750" spc="-50" dirty="0">
                <a:latin typeface="Symbol"/>
                <a:cs typeface="Symbol"/>
              </a:rPr>
              <a:t>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4125" spc="-37" baseline="-43434" dirty="0">
                <a:latin typeface="Symbol"/>
                <a:cs typeface="Symbol"/>
              </a:rPr>
              <a:t></a:t>
            </a:r>
            <a:r>
              <a:rPr sz="4125" i="1" spc="-37" baseline="-43434" dirty="0">
                <a:latin typeface="Times New Roman"/>
                <a:cs typeface="Times New Roman"/>
              </a:rPr>
              <a:t>x</a:t>
            </a:r>
            <a:r>
              <a:rPr sz="2400" spc="-37" baseline="-31250" dirty="0">
                <a:latin typeface="Times New Roman"/>
                <a:cs typeface="Times New Roman"/>
              </a:rPr>
              <a:t>2</a:t>
            </a:r>
            <a:endParaRPr sz="2400" baseline="-31250">
              <a:latin typeface="Times New Roman"/>
              <a:cs typeface="Times New Roman"/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57253EA0-655F-407B-A593-8EDD2994155A}"/>
              </a:ext>
            </a:extLst>
          </p:cNvPr>
          <p:cNvSpPr txBox="1"/>
          <p:nvPr/>
        </p:nvSpPr>
        <p:spPr>
          <a:xfrm>
            <a:off x="4085622" y="2955666"/>
            <a:ext cx="845819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125" baseline="43434" dirty="0">
                <a:latin typeface="Symbol"/>
                <a:cs typeface="Symbol"/>
              </a:rPr>
              <a:t></a:t>
            </a:r>
            <a:r>
              <a:rPr sz="4125" spc="427" baseline="43434" dirty="0">
                <a:latin typeface="Times New Roman"/>
                <a:cs typeface="Times New Roman"/>
              </a:rPr>
              <a:t> </a:t>
            </a:r>
            <a:r>
              <a:rPr sz="2750" spc="30" dirty="0">
                <a:latin typeface="Symbol"/>
                <a:cs typeface="Symbol"/>
              </a:rPr>
              <a:t></a:t>
            </a:r>
            <a:r>
              <a:rPr sz="2750" i="1" spc="30" dirty="0">
                <a:latin typeface="Times New Roman"/>
                <a:cs typeface="Times New Roman"/>
              </a:rPr>
              <a:t>y</a:t>
            </a:r>
            <a:r>
              <a:rPr sz="2400" spc="44" baseline="43402" dirty="0">
                <a:latin typeface="Times New Roman"/>
                <a:cs typeface="Times New Roman"/>
              </a:rPr>
              <a:t>2</a:t>
            </a:r>
            <a:endParaRPr sz="2400" baseline="43402" dirty="0">
              <a:latin typeface="Times New Roman"/>
              <a:cs typeface="Times New Roman"/>
            </a:endParaRP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5CF6C995-2E2D-4696-A53A-B9FD93E9024D}"/>
              </a:ext>
            </a:extLst>
          </p:cNvPr>
          <p:cNvSpPr/>
          <p:nvPr/>
        </p:nvSpPr>
        <p:spPr>
          <a:xfrm>
            <a:off x="1465381" y="3760008"/>
            <a:ext cx="492125" cy="0"/>
          </a:xfrm>
          <a:custGeom>
            <a:avLst/>
            <a:gdLst/>
            <a:ahLst/>
            <a:cxnLst/>
            <a:rect l="l" t="t" r="r" b="b"/>
            <a:pathLst>
              <a:path w="492125">
                <a:moveTo>
                  <a:pt x="0" y="0"/>
                </a:moveTo>
                <a:lnTo>
                  <a:pt x="492111" y="0"/>
                </a:lnTo>
              </a:path>
            </a:pathLst>
          </a:custGeom>
          <a:ln w="139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3CFB668D-0FBB-4080-9558-4B05C857D0C0}"/>
              </a:ext>
            </a:extLst>
          </p:cNvPr>
          <p:cNvSpPr txBox="1"/>
          <p:nvPr/>
        </p:nvSpPr>
        <p:spPr>
          <a:xfrm>
            <a:off x="1440950" y="3341023"/>
            <a:ext cx="79883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594360" algn="l"/>
              </a:tabLst>
            </a:pPr>
            <a:r>
              <a:rPr sz="2300" spc="85" dirty="0">
                <a:latin typeface="Symbol"/>
                <a:cs typeface="Symbol"/>
              </a:rPr>
              <a:t></a:t>
            </a:r>
            <a:r>
              <a:rPr sz="1950" spc="127" baseline="44871" dirty="0">
                <a:latin typeface="Times New Roman"/>
                <a:cs typeface="Times New Roman"/>
              </a:rPr>
              <a:t>2</a:t>
            </a:r>
            <a:r>
              <a:rPr sz="1950" spc="315" baseline="44871" dirty="0">
                <a:latin typeface="Times New Roman"/>
                <a:cs typeface="Times New Roman"/>
              </a:rPr>
              <a:t> </a:t>
            </a:r>
            <a:r>
              <a:rPr sz="2300" i="1" spc="-50" dirty="0">
                <a:latin typeface="Times New Roman"/>
                <a:cs typeface="Times New Roman"/>
              </a:rPr>
              <a:t>f</a:t>
            </a:r>
            <a:r>
              <a:rPr sz="2300" i="1" dirty="0">
                <a:latin typeface="Times New Roman"/>
                <a:cs typeface="Times New Roman"/>
              </a:rPr>
              <a:t>	</a:t>
            </a:r>
            <a:r>
              <a:rPr sz="3450" spc="-75" baseline="-35024" dirty="0">
                <a:latin typeface="Symbol"/>
                <a:cs typeface="Symbol"/>
              </a:rPr>
              <a:t></a:t>
            </a:r>
            <a:endParaRPr sz="3450" baseline="-35024">
              <a:latin typeface="Symbol"/>
              <a:cs typeface="Symbol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07E62323-3F7E-4388-A6F9-0BD2E1E5C225}"/>
              </a:ext>
            </a:extLst>
          </p:cNvPr>
          <p:cNvSpPr txBox="1"/>
          <p:nvPr/>
        </p:nvSpPr>
        <p:spPr>
          <a:xfrm>
            <a:off x="1473046" y="3755475"/>
            <a:ext cx="45085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300" spc="-25" dirty="0">
                <a:latin typeface="Symbol"/>
                <a:cs typeface="Symbol"/>
              </a:rPr>
              <a:t></a:t>
            </a:r>
            <a:r>
              <a:rPr sz="2300" i="1" spc="-25" dirty="0">
                <a:latin typeface="Times New Roman"/>
                <a:cs typeface="Times New Roman"/>
              </a:rPr>
              <a:t>x</a:t>
            </a:r>
            <a:r>
              <a:rPr sz="1950" spc="-37" baseline="44871" dirty="0">
                <a:latin typeface="Times New Roman"/>
                <a:cs typeface="Times New Roman"/>
              </a:rPr>
              <a:t>2</a:t>
            </a:r>
            <a:endParaRPr sz="1950" baseline="44871">
              <a:latin typeface="Times New Roman"/>
              <a:cs typeface="Times New Roman"/>
            </a:endParaRP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0C75EF01-8B69-4C89-82E9-5F5BB2F0F4E0}"/>
              </a:ext>
            </a:extLst>
          </p:cNvPr>
          <p:cNvSpPr/>
          <p:nvPr/>
        </p:nvSpPr>
        <p:spPr>
          <a:xfrm>
            <a:off x="1440176" y="4597770"/>
            <a:ext cx="494665" cy="0"/>
          </a:xfrm>
          <a:custGeom>
            <a:avLst/>
            <a:gdLst/>
            <a:ahLst/>
            <a:cxnLst/>
            <a:rect l="l" t="t" r="r" b="b"/>
            <a:pathLst>
              <a:path w="494664">
                <a:moveTo>
                  <a:pt x="0" y="0"/>
                </a:moveTo>
                <a:lnTo>
                  <a:pt x="494061" y="0"/>
                </a:lnTo>
              </a:path>
            </a:pathLst>
          </a:custGeom>
          <a:ln w="13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75FE3B15-8A2C-42A9-B212-5E5C23001605}"/>
              </a:ext>
            </a:extLst>
          </p:cNvPr>
          <p:cNvSpPr txBox="1"/>
          <p:nvPr/>
        </p:nvSpPr>
        <p:spPr>
          <a:xfrm>
            <a:off x="1415800" y="4178394"/>
            <a:ext cx="801370" cy="379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596900" algn="l"/>
              </a:tabLst>
            </a:pPr>
            <a:r>
              <a:rPr sz="2300" spc="75" dirty="0">
                <a:latin typeface="Symbol"/>
                <a:cs typeface="Symbol"/>
              </a:rPr>
              <a:t></a:t>
            </a:r>
            <a:r>
              <a:rPr sz="2025" spc="112" baseline="43209" dirty="0">
                <a:latin typeface="Times New Roman"/>
                <a:cs typeface="Times New Roman"/>
              </a:rPr>
              <a:t>2</a:t>
            </a:r>
            <a:r>
              <a:rPr sz="2025" spc="292" baseline="43209" dirty="0">
                <a:latin typeface="Times New Roman"/>
                <a:cs typeface="Times New Roman"/>
              </a:rPr>
              <a:t> </a:t>
            </a:r>
            <a:r>
              <a:rPr sz="2300" i="1" spc="-50" dirty="0">
                <a:latin typeface="Times New Roman"/>
                <a:cs typeface="Times New Roman"/>
              </a:rPr>
              <a:t>f</a:t>
            </a:r>
            <a:r>
              <a:rPr sz="2300" i="1" dirty="0">
                <a:latin typeface="Times New Roman"/>
                <a:cs typeface="Times New Roman"/>
              </a:rPr>
              <a:t>	</a:t>
            </a:r>
            <a:r>
              <a:rPr sz="3450" spc="-75" baseline="-35024" dirty="0">
                <a:latin typeface="Symbol"/>
                <a:cs typeface="Symbol"/>
              </a:rPr>
              <a:t></a:t>
            </a:r>
            <a:endParaRPr sz="3450" baseline="-35024">
              <a:latin typeface="Symbol"/>
              <a:cs typeface="Symbol"/>
            </a:endParaRPr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5AAC6074-AC18-408D-BB42-4E74BD673AA2}"/>
              </a:ext>
            </a:extLst>
          </p:cNvPr>
          <p:cNvSpPr txBox="1"/>
          <p:nvPr/>
        </p:nvSpPr>
        <p:spPr>
          <a:xfrm>
            <a:off x="2286122" y="3526518"/>
            <a:ext cx="3886835" cy="12166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14"/>
              </a:spcBef>
            </a:pPr>
            <a:r>
              <a:rPr sz="2300" i="1" dirty="0">
                <a:latin typeface="Times New Roman"/>
                <a:cs typeface="Times New Roman"/>
              </a:rPr>
              <a:t>f</a:t>
            </a:r>
            <a:r>
              <a:rPr sz="2300" i="1" spc="-30" dirty="0">
                <a:latin typeface="Times New Roman"/>
                <a:cs typeface="Times New Roman"/>
              </a:rPr>
              <a:t> </a:t>
            </a:r>
            <a:r>
              <a:rPr sz="2300" spc="90" dirty="0">
                <a:latin typeface="Times New Roman"/>
                <a:cs typeface="Times New Roman"/>
              </a:rPr>
              <a:t>(</a:t>
            </a:r>
            <a:r>
              <a:rPr sz="2300" i="1" spc="90" dirty="0">
                <a:latin typeface="Times New Roman"/>
                <a:cs typeface="Times New Roman"/>
              </a:rPr>
              <a:t>x</a:t>
            </a:r>
            <a:r>
              <a:rPr sz="2300" i="1" spc="-1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</a:t>
            </a:r>
            <a:r>
              <a:rPr sz="2300" dirty="0">
                <a:latin typeface="Times New Roman"/>
                <a:cs typeface="Times New Roman"/>
              </a:rPr>
              <a:t>1,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i="1" spc="55" dirty="0">
                <a:latin typeface="Times New Roman"/>
                <a:cs typeface="Times New Roman"/>
              </a:rPr>
              <a:t>y</a:t>
            </a:r>
            <a:r>
              <a:rPr sz="2300" spc="55" dirty="0">
                <a:latin typeface="Times New Roman"/>
                <a:cs typeface="Times New Roman"/>
              </a:rPr>
              <a:t>)</a:t>
            </a:r>
            <a:r>
              <a:rPr sz="2300" spc="-2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</a:t>
            </a:r>
            <a:r>
              <a:rPr sz="2300" spc="27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f</a:t>
            </a:r>
            <a:r>
              <a:rPr sz="2300" i="1" spc="-20" dirty="0">
                <a:latin typeface="Times New Roman"/>
                <a:cs typeface="Times New Roman"/>
              </a:rPr>
              <a:t> </a:t>
            </a:r>
            <a:r>
              <a:rPr sz="2300" spc="90" dirty="0">
                <a:latin typeface="Times New Roman"/>
                <a:cs typeface="Times New Roman"/>
              </a:rPr>
              <a:t>(</a:t>
            </a:r>
            <a:r>
              <a:rPr sz="2300" i="1" spc="90" dirty="0">
                <a:latin typeface="Times New Roman"/>
                <a:cs typeface="Times New Roman"/>
              </a:rPr>
              <a:t>x</a:t>
            </a:r>
            <a:r>
              <a:rPr sz="2300" i="1" spc="-16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Symbol"/>
                <a:cs typeface="Symbol"/>
              </a:rPr>
              <a:t></a:t>
            </a:r>
            <a:r>
              <a:rPr sz="2300" spc="-10" dirty="0">
                <a:latin typeface="Times New Roman"/>
                <a:cs typeface="Times New Roman"/>
              </a:rPr>
              <a:t>1,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i="1" spc="55" dirty="0">
                <a:latin typeface="Times New Roman"/>
                <a:cs typeface="Times New Roman"/>
              </a:rPr>
              <a:t>y</a:t>
            </a:r>
            <a:r>
              <a:rPr sz="2300" spc="55" dirty="0">
                <a:latin typeface="Times New Roman"/>
                <a:cs typeface="Times New Roman"/>
              </a:rPr>
              <a:t>)</a:t>
            </a:r>
            <a:r>
              <a:rPr sz="2300" spc="-2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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2</a:t>
            </a:r>
            <a:r>
              <a:rPr sz="2300" spc="-13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f</a:t>
            </a:r>
            <a:r>
              <a:rPr sz="2300" i="1" spc="-30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(</a:t>
            </a:r>
            <a:r>
              <a:rPr sz="2300" i="1" spc="65" dirty="0">
                <a:latin typeface="Times New Roman"/>
                <a:cs typeface="Times New Roman"/>
              </a:rPr>
              <a:t>x</a:t>
            </a:r>
            <a:r>
              <a:rPr sz="2300" spc="65" dirty="0">
                <a:latin typeface="Times New Roman"/>
                <a:cs typeface="Times New Roman"/>
              </a:rPr>
              <a:t>,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i="1" spc="30" dirty="0">
                <a:latin typeface="Times New Roman"/>
                <a:cs typeface="Times New Roman"/>
              </a:rPr>
              <a:t>y</a:t>
            </a:r>
            <a:r>
              <a:rPr sz="2300" spc="30" dirty="0">
                <a:latin typeface="Times New Roman"/>
                <a:cs typeface="Times New Roman"/>
              </a:rPr>
              <a:t>)</a:t>
            </a:r>
            <a:endParaRPr sz="2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00" i="1" dirty="0">
                <a:latin typeface="Times New Roman"/>
                <a:cs typeface="Times New Roman"/>
              </a:rPr>
              <a:t>f</a:t>
            </a:r>
            <a:r>
              <a:rPr sz="2300" i="1" spc="-15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(</a:t>
            </a:r>
            <a:r>
              <a:rPr sz="2300" i="1" spc="65" dirty="0">
                <a:latin typeface="Times New Roman"/>
                <a:cs typeface="Times New Roman"/>
              </a:rPr>
              <a:t>x</a:t>
            </a:r>
            <a:r>
              <a:rPr sz="2300" spc="65" dirty="0">
                <a:latin typeface="Times New Roman"/>
                <a:cs typeface="Times New Roman"/>
              </a:rPr>
              <a:t>,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y</a:t>
            </a:r>
            <a:r>
              <a:rPr sz="2300" i="1" spc="-114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</a:t>
            </a:r>
            <a:r>
              <a:rPr sz="2300" dirty="0">
                <a:latin typeface="Times New Roman"/>
                <a:cs typeface="Times New Roman"/>
              </a:rPr>
              <a:t>1)</a:t>
            </a:r>
            <a:r>
              <a:rPr sz="2300" spc="-1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</a:t>
            </a:r>
            <a:r>
              <a:rPr sz="2300" spc="29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f</a:t>
            </a:r>
            <a:r>
              <a:rPr sz="2300" i="1" spc="-5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(</a:t>
            </a:r>
            <a:r>
              <a:rPr sz="2300" i="1" spc="65" dirty="0">
                <a:latin typeface="Times New Roman"/>
                <a:cs typeface="Times New Roman"/>
              </a:rPr>
              <a:t>x</a:t>
            </a:r>
            <a:r>
              <a:rPr sz="2300" spc="65" dirty="0">
                <a:latin typeface="Times New Roman"/>
                <a:cs typeface="Times New Roman"/>
              </a:rPr>
              <a:t>,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y</a:t>
            </a:r>
            <a:r>
              <a:rPr sz="2300" i="1" spc="-10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Symbol"/>
                <a:cs typeface="Symbol"/>
              </a:rPr>
              <a:t></a:t>
            </a:r>
            <a:r>
              <a:rPr sz="2300" spc="-10" dirty="0">
                <a:latin typeface="Times New Roman"/>
                <a:cs typeface="Times New Roman"/>
              </a:rPr>
              <a:t>1)</a:t>
            </a:r>
            <a:r>
              <a:rPr sz="2300" spc="-1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</a:t>
            </a:r>
            <a:r>
              <a:rPr sz="2300" spc="-1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2</a:t>
            </a:r>
            <a:r>
              <a:rPr sz="2300" spc="-12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f</a:t>
            </a:r>
            <a:r>
              <a:rPr sz="2300" i="1" spc="-5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(</a:t>
            </a:r>
            <a:r>
              <a:rPr sz="2300" i="1" spc="65" dirty="0">
                <a:latin typeface="Times New Roman"/>
                <a:cs typeface="Times New Roman"/>
              </a:rPr>
              <a:t>x</a:t>
            </a:r>
            <a:r>
              <a:rPr sz="2300" spc="65" dirty="0">
                <a:latin typeface="Times New Roman"/>
                <a:cs typeface="Times New Roman"/>
              </a:rPr>
              <a:t>,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i="1" spc="35" dirty="0">
                <a:latin typeface="Times New Roman"/>
                <a:cs typeface="Times New Roman"/>
              </a:rPr>
              <a:t>y</a:t>
            </a:r>
            <a:r>
              <a:rPr sz="2300" spc="35" dirty="0">
                <a:latin typeface="Times New Roman"/>
                <a:cs typeface="Times New Roman"/>
              </a:rPr>
              <a:t>)</a:t>
            </a:r>
            <a:endParaRPr sz="2300" dirty="0">
              <a:latin typeface="Times New Roman"/>
              <a:cs typeface="Times New Roman"/>
            </a:endParaRPr>
          </a:p>
        </p:txBody>
      </p:sp>
      <p:sp>
        <p:nvSpPr>
          <p:cNvPr id="15" name="object 18">
            <a:extLst>
              <a:ext uri="{FF2B5EF4-FFF2-40B4-BE49-F238E27FC236}">
                <a16:creationId xmlns:a16="http://schemas.microsoft.com/office/drawing/2014/main" id="{0FE43240-CDBA-450F-890A-5E6532EBCEC6}"/>
              </a:ext>
            </a:extLst>
          </p:cNvPr>
          <p:cNvSpPr txBox="1"/>
          <p:nvPr/>
        </p:nvSpPr>
        <p:spPr>
          <a:xfrm>
            <a:off x="1445635" y="4593847"/>
            <a:ext cx="457200" cy="379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00" spc="-25" dirty="0">
                <a:latin typeface="Symbol"/>
                <a:cs typeface="Symbol"/>
              </a:rPr>
              <a:t></a:t>
            </a:r>
            <a:r>
              <a:rPr sz="2300" i="1" spc="-25" dirty="0">
                <a:latin typeface="Times New Roman"/>
                <a:cs typeface="Times New Roman"/>
              </a:rPr>
              <a:t>y</a:t>
            </a:r>
            <a:r>
              <a:rPr sz="2025" spc="-37" baseline="43209" dirty="0">
                <a:latin typeface="Times New Roman"/>
                <a:cs typeface="Times New Roman"/>
              </a:rPr>
              <a:t>2</a:t>
            </a:r>
            <a:endParaRPr sz="2025" baseline="43209">
              <a:latin typeface="Times New Roman"/>
              <a:cs typeface="Times New Roman"/>
            </a:endParaRPr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70927AB7-58C9-4E69-A57E-7EE94FF6716C}"/>
              </a:ext>
            </a:extLst>
          </p:cNvPr>
          <p:cNvSpPr txBox="1"/>
          <p:nvPr/>
        </p:nvSpPr>
        <p:spPr>
          <a:xfrm>
            <a:off x="1422668" y="4995651"/>
            <a:ext cx="7047230" cy="98869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85"/>
              </a:spcBef>
              <a:tabLst>
                <a:tab pos="686435" algn="l"/>
                <a:tab pos="997585" algn="l"/>
              </a:tabLst>
            </a:pPr>
            <a:r>
              <a:rPr sz="2500" spc="75" dirty="0">
                <a:latin typeface="Symbol"/>
                <a:cs typeface="Symbol"/>
              </a:rPr>
              <a:t></a:t>
            </a:r>
            <a:r>
              <a:rPr sz="2175" spc="112" baseline="44061" dirty="0">
                <a:latin typeface="Times New Roman"/>
                <a:cs typeface="Times New Roman"/>
              </a:rPr>
              <a:t>2</a:t>
            </a:r>
            <a:r>
              <a:rPr sz="2175" spc="322" baseline="44061" dirty="0">
                <a:latin typeface="Times New Roman"/>
                <a:cs typeface="Times New Roman"/>
              </a:rPr>
              <a:t> </a:t>
            </a:r>
            <a:r>
              <a:rPr sz="2500" i="1" spc="-50" dirty="0">
                <a:latin typeface="Times New Roman"/>
                <a:cs typeface="Times New Roman"/>
              </a:rPr>
              <a:t>f</a:t>
            </a:r>
            <a:r>
              <a:rPr sz="2500" i="1" dirty="0">
                <a:latin typeface="Times New Roman"/>
                <a:cs typeface="Times New Roman"/>
              </a:rPr>
              <a:t>	</a:t>
            </a:r>
            <a:r>
              <a:rPr sz="2500" spc="-50" dirty="0">
                <a:latin typeface="Symbol"/>
                <a:cs typeface="Symbol"/>
              </a:rPr>
              <a:t>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i="1" dirty="0">
                <a:latin typeface="Times New Roman"/>
                <a:cs typeface="Times New Roman"/>
              </a:rPr>
              <a:t>f</a:t>
            </a:r>
            <a:r>
              <a:rPr sz="2500" i="1" spc="-25" dirty="0">
                <a:latin typeface="Times New Roman"/>
                <a:cs typeface="Times New Roman"/>
              </a:rPr>
              <a:t> </a:t>
            </a:r>
            <a:r>
              <a:rPr sz="2500" spc="105" dirty="0">
                <a:latin typeface="Times New Roman"/>
                <a:cs typeface="Times New Roman"/>
              </a:rPr>
              <a:t>(</a:t>
            </a:r>
            <a:r>
              <a:rPr sz="2500" i="1" spc="105" dirty="0">
                <a:latin typeface="Times New Roman"/>
                <a:cs typeface="Times New Roman"/>
              </a:rPr>
              <a:t>x</a:t>
            </a:r>
            <a:r>
              <a:rPr sz="2500" i="1" spc="-1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dirty="0">
                <a:latin typeface="Times New Roman"/>
                <a:cs typeface="Times New Roman"/>
              </a:rPr>
              <a:t>1,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y</a:t>
            </a:r>
            <a:r>
              <a:rPr sz="2500" spc="65" dirty="0">
                <a:latin typeface="Times New Roman"/>
                <a:cs typeface="Times New Roman"/>
              </a:rPr>
              <a:t>)</a:t>
            </a:r>
            <a:r>
              <a:rPr sz="2500" spc="-2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31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f</a:t>
            </a:r>
            <a:r>
              <a:rPr sz="2500" i="1" spc="-15" dirty="0">
                <a:latin typeface="Times New Roman"/>
                <a:cs typeface="Times New Roman"/>
              </a:rPr>
              <a:t> </a:t>
            </a:r>
            <a:r>
              <a:rPr sz="2500" spc="100" dirty="0">
                <a:latin typeface="Times New Roman"/>
                <a:cs typeface="Times New Roman"/>
              </a:rPr>
              <a:t>(</a:t>
            </a:r>
            <a:r>
              <a:rPr sz="2500" i="1" spc="100" dirty="0">
                <a:latin typeface="Times New Roman"/>
                <a:cs typeface="Times New Roman"/>
              </a:rPr>
              <a:t>x</a:t>
            </a:r>
            <a:r>
              <a:rPr sz="2500" i="1" spc="-1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dirty="0">
                <a:latin typeface="Times New Roman"/>
                <a:cs typeface="Times New Roman"/>
              </a:rPr>
              <a:t>1,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y</a:t>
            </a:r>
            <a:r>
              <a:rPr sz="2500" spc="65" dirty="0">
                <a:latin typeface="Times New Roman"/>
                <a:cs typeface="Times New Roman"/>
              </a:rPr>
              <a:t>)</a:t>
            </a:r>
            <a:r>
              <a:rPr sz="2500" spc="-2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30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f</a:t>
            </a:r>
            <a:r>
              <a:rPr sz="2500" i="1" spc="-15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Times New Roman"/>
                <a:cs typeface="Times New Roman"/>
              </a:rPr>
              <a:t>(</a:t>
            </a:r>
            <a:r>
              <a:rPr sz="2500" i="1" spc="75" dirty="0">
                <a:latin typeface="Times New Roman"/>
                <a:cs typeface="Times New Roman"/>
              </a:rPr>
              <a:t>x</a:t>
            </a:r>
            <a:r>
              <a:rPr sz="2500" spc="75" dirty="0">
                <a:latin typeface="Times New Roman"/>
                <a:cs typeface="Times New Roman"/>
              </a:rPr>
              <a:t>,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y</a:t>
            </a:r>
            <a:r>
              <a:rPr sz="2500" i="1" spc="-1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dirty="0">
                <a:latin typeface="Times New Roman"/>
                <a:cs typeface="Times New Roman"/>
              </a:rPr>
              <a:t>1)</a:t>
            </a:r>
            <a:r>
              <a:rPr sz="2500" spc="-2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30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f</a:t>
            </a:r>
            <a:r>
              <a:rPr sz="2500" i="1" spc="-10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Times New Roman"/>
                <a:cs typeface="Times New Roman"/>
              </a:rPr>
              <a:t>(</a:t>
            </a:r>
            <a:r>
              <a:rPr sz="2500" i="1" spc="75" dirty="0">
                <a:latin typeface="Times New Roman"/>
                <a:cs typeface="Times New Roman"/>
              </a:rPr>
              <a:t>x</a:t>
            </a:r>
            <a:r>
              <a:rPr sz="2500" spc="75" dirty="0">
                <a:latin typeface="Times New Roman"/>
                <a:cs typeface="Times New Roman"/>
              </a:rPr>
              <a:t>,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y</a:t>
            </a:r>
            <a:r>
              <a:rPr sz="2500" i="1" spc="-12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Symbol"/>
                <a:cs typeface="Symbol"/>
              </a:rPr>
              <a:t></a:t>
            </a:r>
            <a:r>
              <a:rPr sz="2500" spc="-25" dirty="0">
                <a:latin typeface="Times New Roman"/>
                <a:cs typeface="Times New Roman"/>
              </a:rPr>
              <a:t>1)</a:t>
            </a:r>
            <a:endParaRPr sz="2500">
              <a:latin typeface="Times New Roman"/>
              <a:cs typeface="Times New Roman"/>
            </a:endParaRPr>
          </a:p>
          <a:p>
            <a:pPr marL="999490">
              <a:lnSpc>
                <a:spcPct val="100000"/>
              </a:lnSpc>
              <a:spcBef>
                <a:spcPts val="790"/>
              </a:spcBef>
            </a:pPr>
            <a:r>
              <a:rPr sz="2500" dirty="0">
                <a:latin typeface="Times New Roman"/>
                <a:cs typeface="Times New Roman"/>
              </a:rPr>
              <a:t>-</a:t>
            </a:r>
            <a:r>
              <a:rPr sz="2500" spc="-25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4</a:t>
            </a:r>
            <a:r>
              <a:rPr sz="2500" spc="-13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f</a:t>
            </a:r>
            <a:r>
              <a:rPr sz="2500" i="1" spc="-10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Times New Roman"/>
                <a:cs typeface="Times New Roman"/>
              </a:rPr>
              <a:t>(</a:t>
            </a:r>
            <a:r>
              <a:rPr sz="2500" i="1" spc="75" dirty="0">
                <a:latin typeface="Times New Roman"/>
                <a:cs typeface="Times New Roman"/>
              </a:rPr>
              <a:t>x</a:t>
            </a:r>
            <a:r>
              <a:rPr sz="2500" spc="75" dirty="0">
                <a:latin typeface="Times New Roman"/>
                <a:cs typeface="Times New Roman"/>
              </a:rPr>
              <a:t>,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i="1" spc="40" dirty="0">
                <a:latin typeface="Times New Roman"/>
                <a:cs typeface="Times New Roman"/>
              </a:rPr>
              <a:t>y</a:t>
            </a:r>
            <a:r>
              <a:rPr sz="2500" spc="40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71FD2B-AD4E-4E68-9FDB-1CA3F3A47486}"/>
              </a:ext>
            </a:extLst>
          </p:cNvPr>
          <p:cNvSpPr/>
          <p:nvPr/>
        </p:nvSpPr>
        <p:spPr>
          <a:xfrm>
            <a:off x="623459" y="688989"/>
            <a:ext cx="28049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242424"/>
                </a:solidFill>
                <a:effectLst/>
                <a:latin typeface="+mj-lt"/>
              </a:rPr>
              <a:t>The Laplacian Filter</a:t>
            </a:r>
          </a:p>
        </p:txBody>
      </p:sp>
    </p:spTree>
    <p:extLst>
      <p:ext uri="{BB962C8B-B14F-4D97-AF65-F5344CB8AC3E}">
        <p14:creationId xmlns:p14="http://schemas.microsoft.com/office/powerpoint/2010/main" val="1422133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69744" y="2001011"/>
          <a:ext cx="151257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93865" y="1993264"/>
          <a:ext cx="151257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7214" y="1983994"/>
          <a:ext cx="151257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622800" y="1988185"/>
          <a:ext cx="151257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92379" y="3295015"/>
            <a:ext cx="8114665" cy="3357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18770" algn="ctr">
              <a:lnSpc>
                <a:spcPct val="100000"/>
              </a:lnSpc>
              <a:spcBef>
                <a:spcPts val="100"/>
              </a:spcBef>
              <a:tabLst>
                <a:tab pos="4177029" algn="l"/>
              </a:tabLst>
            </a:pPr>
            <a:r>
              <a:rPr sz="1800" b="1" dirty="0">
                <a:latin typeface="Times New Roman"/>
                <a:cs typeface="Times New Roman"/>
              </a:rPr>
              <a:t>Rotating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by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90</a:t>
            </a:r>
            <a:r>
              <a:rPr sz="1800" b="1" dirty="0">
                <a:latin typeface="Times New Roman"/>
                <a:cs typeface="Times New Roman"/>
              </a:rPr>
              <a:t>	Rotating by </a:t>
            </a:r>
            <a:r>
              <a:rPr sz="1800" b="1" spc="-25" dirty="0">
                <a:latin typeface="Times New Roman"/>
                <a:cs typeface="Times New Roman"/>
              </a:rPr>
              <a:t>45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>
                <a:latin typeface="Times New Roman"/>
                <a:cs typeface="Times New Roman"/>
              </a:rPr>
              <a:t>             </a:t>
            </a:r>
            <a:r>
              <a:rPr lang="en-US" dirty="0"/>
              <a:t>4-neighbor Laplacian:                            8-neighbor Laplacian:</a:t>
            </a:r>
            <a:endParaRPr sz="18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sum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coefficients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 this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zero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mean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that:</a:t>
            </a:r>
            <a:endParaRPr sz="2000" dirty="0">
              <a:latin typeface="Times New Roman"/>
              <a:cs typeface="Times New Roman"/>
            </a:endParaRPr>
          </a:p>
          <a:p>
            <a:pPr marL="352425" marR="5080" indent="-339725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when  the  kernel  is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over</a:t>
            </a:r>
            <a:r>
              <a:rPr sz="2000" b="1" spc="4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area</a:t>
            </a:r>
            <a:r>
              <a:rPr sz="2000" b="1" spc="4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000" b="1" spc="4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constant</a:t>
            </a:r>
            <a:r>
              <a:rPr sz="2000" b="1" spc="4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(background  area)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or 	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slowly</a:t>
            </a:r>
            <a:r>
              <a:rPr sz="20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varying</a:t>
            </a:r>
            <a:r>
              <a:rPr sz="2000" b="1" spc="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gray</a:t>
            </a:r>
            <a:r>
              <a:rPr sz="2000" b="1" spc="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level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result</a:t>
            </a:r>
            <a:r>
              <a:rPr sz="2000" b="1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000" b="1" spc="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convolution</a:t>
            </a:r>
            <a:r>
              <a:rPr sz="2000" b="1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zero</a:t>
            </a:r>
            <a:r>
              <a:rPr sz="20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 some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very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small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number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352425" marR="9525" indent="-339725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when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gray</a:t>
            </a:r>
            <a:r>
              <a:rPr sz="2000" b="1" spc="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level</a:t>
            </a:r>
            <a:r>
              <a:rPr sz="2000" b="1" spc="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000" b="1" spc="1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varying</a:t>
            </a:r>
            <a:r>
              <a:rPr sz="2000" b="1" spc="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rapidly</a:t>
            </a:r>
            <a:r>
              <a:rPr sz="2000" b="1" spc="1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within</a:t>
            </a:r>
            <a:r>
              <a:rPr sz="2000" b="1" spc="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000" b="1" spc="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neighborhood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result 	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convolution</a:t>
            </a:r>
            <a:r>
              <a:rPr sz="20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number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12700" marR="8890" algn="just">
              <a:lnSpc>
                <a:spcPct val="100000"/>
              </a:lnSpc>
            </a:pP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This</a:t>
            </a:r>
            <a:r>
              <a:rPr sz="2000" b="1" spc="7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number</a:t>
            </a:r>
            <a:r>
              <a:rPr sz="2000" b="1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can</a:t>
            </a:r>
            <a:r>
              <a:rPr sz="2000" b="1" spc="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be</a:t>
            </a:r>
            <a:r>
              <a:rPr sz="2000" b="1" spc="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positive</a:t>
            </a:r>
            <a:r>
              <a:rPr sz="2000" b="1" spc="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or</a:t>
            </a:r>
            <a:r>
              <a:rPr sz="2000" b="1" spc="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negative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because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kernel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contains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both </a:t>
            </a:r>
            <a:r>
              <a:rPr sz="2000" b="1" dirty="0">
                <a:latin typeface="Times New Roman"/>
                <a:cs typeface="Times New Roman"/>
              </a:rPr>
              <a:t>positive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negative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coefficients;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therefore</a:t>
            </a:r>
            <a:r>
              <a:rPr sz="2000" b="1" spc="20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need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choose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output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representation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supports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negative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number.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9292" y="1076959"/>
            <a:ext cx="811022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783590" algn="l"/>
                <a:tab pos="1551940" algn="l"/>
                <a:tab pos="2082164" algn="l"/>
                <a:tab pos="2698115" algn="l"/>
                <a:tab pos="3045460" algn="l"/>
                <a:tab pos="3774440" algn="l"/>
                <a:tab pos="4327525" algn="l"/>
                <a:tab pos="4699635" algn="l"/>
                <a:tab pos="5725160" algn="l"/>
                <a:tab pos="6565265" algn="l"/>
                <a:tab pos="6911340" algn="l"/>
                <a:tab pos="7386955" algn="l"/>
              </a:tabLst>
            </a:pPr>
            <a:r>
              <a:rPr u="none" spc="-10" dirty="0">
                <a:solidFill>
                  <a:srgbClr val="000000"/>
                </a:solidFill>
              </a:rPr>
              <a:t>These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10" dirty="0">
                <a:solidFill>
                  <a:srgbClr val="000000"/>
                </a:solidFill>
              </a:rPr>
              <a:t>filters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20" dirty="0">
                <a:solidFill>
                  <a:srgbClr val="000000"/>
                </a:solidFill>
              </a:rPr>
              <a:t>will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20" dirty="0"/>
              <a:t>tend</a:t>
            </a:r>
            <a:r>
              <a:rPr u="none" dirty="0"/>
              <a:t>	</a:t>
            </a:r>
            <a:r>
              <a:rPr u="none" spc="-25" dirty="0"/>
              <a:t>to</a:t>
            </a:r>
            <a:r>
              <a:rPr u="none" dirty="0"/>
              <a:t>	</a:t>
            </a:r>
            <a:r>
              <a:rPr u="none" spc="-10" dirty="0">
                <a:solidFill>
                  <a:srgbClr val="006FC0"/>
                </a:solidFill>
              </a:rPr>
              <a:t>bring</a:t>
            </a:r>
            <a:r>
              <a:rPr u="none" dirty="0">
                <a:solidFill>
                  <a:srgbClr val="006FC0"/>
                </a:solidFill>
              </a:rPr>
              <a:t>	</a:t>
            </a:r>
            <a:r>
              <a:rPr u="none" spc="-20" dirty="0">
                <a:solidFill>
                  <a:srgbClr val="006FC0"/>
                </a:solidFill>
              </a:rPr>
              <a:t>out</a:t>
            </a:r>
            <a:r>
              <a:rPr u="none" spc="-20" dirty="0">
                <a:solidFill>
                  <a:srgbClr val="000000"/>
                </a:solidFill>
              </a:rPr>
              <a:t>,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25" dirty="0">
                <a:solidFill>
                  <a:srgbClr val="000000"/>
                </a:solidFill>
              </a:rPr>
              <a:t>or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10" dirty="0">
                <a:solidFill>
                  <a:srgbClr val="006FC0"/>
                </a:solidFill>
              </a:rPr>
              <a:t>enhance</a:t>
            </a:r>
            <a:r>
              <a:rPr u="none" dirty="0">
                <a:solidFill>
                  <a:srgbClr val="006FC0"/>
                </a:solidFill>
              </a:rPr>
              <a:t>	</a:t>
            </a:r>
            <a:r>
              <a:rPr u="none" spc="-10" dirty="0">
                <a:solidFill>
                  <a:srgbClr val="006FC0"/>
                </a:solidFill>
              </a:rPr>
              <a:t>details</a:t>
            </a:r>
            <a:r>
              <a:rPr u="none" dirty="0">
                <a:solidFill>
                  <a:srgbClr val="006FC0"/>
                </a:solidFill>
              </a:rPr>
              <a:t>	</a:t>
            </a:r>
            <a:r>
              <a:rPr u="none" spc="-25" dirty="0">
                <a:solidFill>
                  <a:srgbClr val="000000"/>
                </a:solidFill>
              </a:rPr>
              <a:t>in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25" dirty="0">
                <a:solidFill>
                  <a:srgbClr val="000000"/>
                </a:solidFill>
              </a:rPr>
              <a:t>the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10" dirty="0">
                <a:solidFill>
                  <a:srgbClr val="000000"/>
                </a:solidFill>
              </a:rPr>
              <a:t>image. </a:t>
            </a:r>
            <a:r>
              <a:rPr u="none" dirty="0">
                <a:solidFill>
                  <a:srgbClr val="000000"/>
                </a:solidFill>
              </a:rPr>
              <a:t>Example</a:t>
            </a:r>
            <a:r>
              <a:rPr u="none" spc="-4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of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convolution</a:t>
            </a:r>
            <a:r>
              <a:rPr u="none" spc="-3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masks</a:t>
            </a:r>
            <a:r>
              <a:rPr u="none" spc="-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for</a:t>
            </a:r>
            <a:r>
              <a:rPr u="none" spc="-4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Laplacian-type</a:t>
            </a:r>
            <a:r>
              <a:rPr u="none" spc="-4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filters</a:t>
            </a:r>
            <a:r>
              <a:rPr u="none" spc="-30" dirty="0">
                <a:solidFill>
                  <a:srgbClr val="000000"/>
                </a:solidFill>
              </a:rPr>
              <a:t> </a:t>
            </a:r>
            <a:r>
              <a:rPr u="none" spc="-20" dirty="0">
                <a:solidFill>
                  <a:srgbClr val="000000"/>
                </a:solidFill>
              </a:rPr>
              <a:t>are: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0192" y="324576"/>
            <a:ext cx="2825496" cy="39017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289" y="644778"/>
            <a:ext cx="83407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105"/>
              </a:spcBef>
              <a:tabLst>
                <a:tab pos="661670" algn="l"/>
                <a:tab pos="1374775" algn="l"/>
                <a:tab pos="2654935" algn="l"/>
                <a:tab pos="3030220" algn="l"/>
                <a:tab pos="4281805" algn="l"/>
                <a:tab pos="4977130" algn="l"/>
                <a:tab pos="5309235" algn="l"/>
                <a:tab pos="5687060" algn="l"/>
                <a:tab pos="6732905" algn="l"/>
                <a:tab pos="7237095" algn="l"/>
                <a:tab pos="8117205" algn="l"/>
              </a:tabLst>
            </a:pPr>
            <a:r>
              <a:rPr u="none" spc="-25" dirty="0">
                <a:solidFill>
                  <a:srgbClr val="000000"/>
                </a:solidFill>
              </a:rPr>
              <a:t>The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20" dirty="0"/>
              <a:t>main</a:t>
            </a:r>
            <a:r>
              <a:rPr u="none" dirty="0"/>
              <a:t>	</a:t>
            </a:r>
            <a:r>
              <a:rPr u="none" spc="-10" dirty="0"/>
              <a:t>advantage</a:t>
            </a:r>
            <a:r>
              <a:rPr u="none" dirty="0"/>
              <a:t>	</a:t>
            </a:r>
            <a:r>
              <a:rPr u="none" spc="-25" dirty="0">
                <a:solidFill>
                  <a:srgbClr val="000000"/>
                </a:solidFill>
              </a:rPr>
              <a:t>of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10" dirty="0">
                <a:solidFill>
                  <a:srgbClr val="000000"/>
                </a:solidFill>
              </a:rPr>
              <a:t>Laplacian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10" dirty="0">
                <a:solidFill>
                  <a:srgbClr val="000000"/>
                </a:solidFill>
              </a:rPr>
              <a:t>filter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25" dirty="0">
                <a:solidFill>
                  <a:srgbClr val="000000"/>
                </a:solidFill>
              </a:rPr>
              <a:t>is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25" dirty="0">
                <a:solidFill>
                  <a:srgbClr val="000000"/>
                </a:solidFill>
              </a:rPr>
              <a:t>to</a:t>
            </a:r>
            <a:r>
              <a:rPr u="none" dirty="0">
                <a:solidFill>
                  <a:srgbClr val="000000"/>
                </a:solidFill>
              </a:rPr>
              <a:t>	</a:t>
            </a:r>
            <a:r>
              <a:rPr u="none" spc="-10" dirty="0">
                <a:solidFill>
                  <a:srgbClr val="006FC0"/>
                </a:solidFill>
              </a:rPr>
              <a:t>increase</a:t>
            </a:r>
            <a:r>
              <a:rPr u="none" dirty="0">
                <a:solidFill>
                  <a:srgbClr val="006FC0"/>
                </a:solidFill>
              </a:rPr>
              <a:t>	</a:t>
            </a:r>
            <a:r>
              <a:rPr u="none" spc="-25" dirty="0">
                <a:solidFill>
                  <a:srgbClr val="006FC0"/>
                </a:solidFill>
              </a:rPr>
              <a:t>the</a:t>
            </a:r>
            <a:r>
              <a:rPr u="none" dirty="0">
                <a:solidFill>
                  <a:srgbClr val="006FC0"/>
                </a:solidFill>
              </a:rPr>
              <a:t>	</a:t>
            </a:r>
            <a:r>
              <a:rPr u="none" spc="-10" dirty="0">
                <a:solidFill>
                  <a:srgbClr val="006FC0"/>
                </a:solidFill>
              </a:rPr>
              <a:t>degree</a:t>
            </a:r>
            <a:r>
              <a:rPr u="none" dirty="0">
                <a:solidFill>
                  <a:srgbClr val="006FC0"/>
                </a:solidFill>
              </a:rPr>
              <a:t>	</a:t>
            </a:r>
            <a:r>
              <a:rPr u="none" spc="-25" dirty="0">
                <a:solidFill>
                  <a:srgbClr val="006FC0"/>
                </a:solidFill>
              </a:rPr>
              <a:t>of </a:t>
            </a:r>
            <a:r>
              <a:rPr u="none" dirty="0">
                <a:solidFill>
                  <a:srgbClr val="006FC0"/>
                </a:solidFill>
              </a:rPr>
              <a:t>sharpening</a:t>
            </a:r>
            <a:r>
              <a:rPr u="none" dirty="0">
                <a:solidFill>
                  <a:srgbClr val="000000"/>
                </a:solidFill>
              </a:rPr>
              <a:t>.</a:t>
            </a:r>
            <a:r>
              <a:rPr u="none" spc="-5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It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AF50"/>
                </a:solidFill>
              </a:rPr>
              <a:t>enhance</a:t>
            </a:r>
            <a:r>
              <a:rPr u="none" spc="-25" dirty="0">
                <a:solidFill>
                  <a:srgbClr val="00AF50"/>
                </a:solidFill>
              </a:rPr>
              <a:t> </a:t>
            </a:r>
            <a:r>
              <a:rPr u="none" dirty="0">
                <a:solidFill>
                  <a:srgbClr val="00AF50"/>
                </a:solidFill>
              </a:rPr>
              <a:t>details</a:t>
            </a:r>
            <a:r>
              <a:rPr u="none" spc="-35" dirty="0">
                <a:solidFill>
                  <a:srgbClr val="00AF50"/>
                </a:solidFill>
              </a:rPr>
              <a:t> </a:t>
            </a:r>
            <a:r>
              <a:rPr u="none" dirty="0">
                <a:solidFill>
                  <a:srgbClr val="00AF50"/>
                </a:solidFill>
              </a:rPr>
              <a:t>in</a:t>
            </a:r>
            <a:r>
              <a:rPr u="none" spc="-15" dirty="0">
                <a:solidFill>
                  <a:srgbClr val="00AF50"/>
                </a:solidFill>
              </a:rPr>
              <a:t> </a:t>
            </a:r>
            <a:r>
              <a:rPr u="none" dirty="0">
                <a:solidFill>
                  <a:srgbClr val="00AF50"/>
                </a:solidFill>
              </a:rPr>
              <a:t>all</a:t>
            </a:r>
            <a:r>
              <a:rPr u="none" spc="-20" dirty="0">
                <a:solidFill>
                  <a:srgbClr val="00AF50"/>
                </a:solidFill>
              </a:rPr>
              <a:t> </a:t>
            </a:r>
            <a:r>
              <a:rPr u="none" dirty="0">
                <a:solidFill>
                  <a:srgbClr val="00AF50"/>
                </a:solidFill>
              </a:rPr>
              <a:t>directions</a:t>
            </a:r>
            <a:r>
              <a:rPr u="none" spc="-45" dirty="0">
                <a:solidFill>
                  <a:srgbClr val="00AF50"/>
                </a:solidFill>
              </a:rPr>
              <a:t> </a:t>
            </a:r>
            <a:r>
              <a:rPr u="none" spc="-10" dirty="0">
                <a:solidFill>
                  <a:srgbClr val="00AF50"/>
                </a:solidFill>
              </a:rPr>
              <a:t>equally</a:t>
            </a:r>
            <a:r>
              <a:rPr u="none" spc="-10" dirty="0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5739" y="1428686"/>
            <a:ext cx="5795010" cy="2840990"/>
            <a:chOff x="2995739" y="1428686"/>
            <a:chExt cx="5795010" cy="28409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5200" y="1438148"/>
              <a:ext cx="5775706" cy="28216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00501" y="1433449"/>
              <a:ext cx="5785485" cy="2831465"/>
            </a:xfrm>
            <a:custGeom>
              <a:avLst/>
              <a:gdLst/>
              <a:ahLst/>
              <a:cxnLst/>
              <a:rect l="l" t="t" r="r" b="b"/>
              <a:pathLst>
                <a:path w="5785484" h="2831465">
                  <a:moveTo>
                    <a:pt x="0" y="2831211"/>
                  </a:moveTo>
                  <a:lnTo>
                    <a:pt x="5785231" y="2831211"/>
                  </a:lnTo>
                  <a:lnTo>
                    <a:pt x="5785231" y="0"/>
                  </a:lnTo>
                  <a:lnTo>
                    <a:pt x="0" y="0"/>
                  </a:lnTo>
                  <a:lnTo>
                    <a:pt x="0" y="283121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95739" y="4382960"/>
            <a:ext cx="5819775" cy="2244090"/>
            <a:chOff x="2995739" y="4382960"/>
            <a:chExt cx="5819775" cy="22440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2350" y="4464248"/>
              <a:ext cx="5648325" cy="21439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00501" y="4387722"/>
              <a:ext cx="5810250" cy="2234565"/>
            </a:xfrm>
            <a:custGeom>
              <a:avLst/>
              <a:gdLst/>
              <a:ahLst/>
              <a:cxnLst/>
              <a:rect l="l" t="t" r="r" b="b"/>
              <a:pathLst>
                <a:path w="5810250" h="2234565">
                  <a:moveTo>
                    <a:pt x="0" y="2234184"/>
                  </a:moveTo>
                  <a:lnTo>
                    <a:pt x="5810250" y="2234184"/>
                  </a:lnTo>
                  <a:lnTo>
                    <a:pt x="5810250" y="0"/>
                  </a:lnTo>
                  <a:lnTo>
                    <a:pt x="0" y="0"/>
                  </a:lnTo>
                  <a:lnTo>
                    <a:pt x="0" y="22341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5978" y="3974083"/>
            <a:ext cx="221107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Image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sharpening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histograms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2700" marR="462915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(a)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original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image 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)</a:t>
            </a:r>
            <a:r>
              <a:rPr sz="1800" b="1" spc="4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histogram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(b)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sharpened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(d)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histogram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4713" y="983995"/>
            <a:ext cx="8416290" cy="511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295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Edge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detection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operators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based</a:t>
            </a:r>
            <a:r>
              <a:rPr sz="2000" b="1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000" b="1" spc="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idea</a:t>
            </a:r>
            <a:r>
              <a:rPr sz="2000" b="1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edge</a:t>
            </a:r>
            <a:r>
              <a:rPr sz="2000" b="1" spc="1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information</a:t>
            </a:r>
            <a:r>
              <a:rPr sz="2000" b="1" spc="1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000" b="1" spc="1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an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image</a:t>
            </a:r>
            <a:r>
              <a:rPr sz="2000" b="1" spc="215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000" b="1" spc="21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found</a:t>
            </a:r>
            <a:r>
              <a:rPr sz="2000" b="1" spc="215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by</a:t>
            </a:r>
            <a:r>
              <a:rPr sz="2000" b="1" spc="22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looking</a:t>
            </a:r>
            <a:r>
              <a:rPr sz="2000" b="1" spc="22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at</a:t>
            </a:r>
            <a:r>
              <a:rPr sz="2000" b="1" spc="21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000" b="1" spc="215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relationship</a:t>
            </a:r>
            <a:r>
              <a:rPr sz="2000" b="1" spc="215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000" b="1" spc="21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pixel</a:t>
            </a:r>
            <a:r>
              <a:rPr sz="2000" b="1" spc="215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has</a:t>
            </a:r>
            <a:r>
              <a:rPr sz="2000" b="1" spc="21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with</a:t>
            </a:r>
            <a:r>
              <a:rPr sz="2000" b="1" spc="220" dirty="0">
                <a:solidFill>
                  <a:srgbClr val="006FC0"/>
                </a:solidFill>
                <a:latin typeface="Times New Roman"/>
                <a:cs typeface="Times New Roman"/>
              </a:rPr>
              <a:t>  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its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neighborhood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414020" marR="7620" indent="-339725" algn="just">
              <a:lnSpc>
                <a:spcPct val="100000"/>
              </a:lnSpc>
              <a:buFont typeface="Arial MT"/>
              <a:buChar char="•"/>
              <a:tabLst>
                <a:tab pos="417195" algn="l"/>
              </a:tabLst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000" b="1" spc="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pixel’s</a:t>
            </a:r>
            <a:r>
              <a:rPr sz="2000" b="1" spc="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gray</a:t>
            </a:r>
            <a:r>
              <a:rPr sz="2000" b="1" spc="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level</a:t>
            </a:r>
            <a:r>
              <a:rPr sz="2000" b="1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value</a:t>
            </a:r>
            <a:r>
              <a:rPr sz="20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000" b="1" spc="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similar</a:t>
            </a:r>
            <a:r>
              <a:rPr sz="20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000" b="1" spc="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those</a:t>
            </a:r>
            <a:r>
              <a:rPr sz="2000" b="1" spc="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around</a:t>
            </a:r>
            <a:r>
              <a:rPr sz="2000" b="1" spc="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it,</a:t>
            </a:r>
            <a:r>
              <a:rPr sz="2000" b="1" spc="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there</a:t>
            </a:r>
            <a:r>
              <a:rPr sz="2000" b="1" spc="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000" b="1" spc="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probably 	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edge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point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414020" indent="-339725" algn="just">
              <a:lnSpc>
                <a:spcPct val="100000"/>
              </a:lnSpc>
              <a:buFont typeface="Arial MT"/>
              <a:buChar char="•"/>
              <a:tabLst>
                <a:tab pos="414020" algn="l"/>
              </a:tabLst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If</a:t>
            </a:r>
            <a:r>
              <a:rPr sz="20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pixel</a:t>
            </a:r>
            <a:r>
              <a:rPr sz="2000" b="1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has</a:t>
            </a:r>
            <a:r>
              <a:rPr sz="20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neighbor</a:t>
            </a:r>
            <a:r>
              <a:rPr sz="20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with</a:t>
            </a:r>
            <a:r>
              <a:rPr sz="2000" b="1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widely</a:t>
            </a:r>
            <a:r>
              <a:rPr sz="20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varying</a:t>
            </a:r>
            <a:r>
              <a:rPr sz="2000" b="1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gray</a:t>
            </a:r>
            <a:r>
              <a:rPr sz="2000" b="1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levels,</a:t>
            </a:r>
            <a:r>
              <a:rPr sz="2000" b="1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it</a:t>
            </a:r>
            <a:r>
              <a:rPr sz="20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may</a:t>
            </a:r>
            <a:r>
              <a:rPr sz="2000" b="1" spc="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represent</a:t>
            </a:r>
            <a:endParaRPr sz="2000">
              <a:latin typeface="Times New Roman"/>
              <a:cs typeface="Times New Roman"/>
            </a:endParaRPr>
          </a:p>
          <a:p>
            <a:pPr marL="417195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edge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point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4295" marR="6985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other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words,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edge</a:t>
            </a:r>
            <a:r>
              <a:rPr sz="2000" b="1" spc="1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000" b="1" spc="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defined</a:t>
            </a:r>
            <a:r>
              <a:rPr sz="2000" b="1" spc="1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by</a:t>
            </a:r>
            <a:r>
              <a:rPr sz="2000" b="1" spc="1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sz="2000" b="1" spc="1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discontinuity</a:t>
            </a:r>
            <a:r>
              <a:rPr sz="2000" b="1" spc="1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in</a:t>
            </a:r>
            <a:r>
              <a:rPr sz="2000" b="1" spc="1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gray-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level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r>
              <a:rPr sz="2000" b="1" spc="15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Ideally,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edge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separates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two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distinct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objects.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Definitions:</a:t>
            </a:r>
            <a:endParaRPr sz="2000">
              <a:latin typeface="Times New Roman"/>
              <a:cs typeface="Times New Roman"/>
            </a:endParaRPr>
          </a:p>
          <a:p>
            <a:pPr marL="376555" marR="67945" indent="-364490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Edge</a:t>
            </a:r>
            <a:r>
              <a:rPr sz="2000" b="1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location</a:t>
            </a:r>
            <a:r>
              <a:rPr sz="2000" b="1" spc="20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where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there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sudden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variation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latin typeface="Times New Roman"/>
                <a:cs typeface="Times New Roman"/>
              </a:rPr>
              <a:t>gray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level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color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pixels.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1054735" algn="l"/>
                <a:tab pos="1369060" algn="l"/>
                <a:tab pos="1644650" algn="l"/>
                <a:tab pos="2818130" algn="l"/>
                <a:tab pos="3176905" algn="l"/>
                <a:tab pos="3844290" algn="l"/>
                <a:tab pos="4669155" algn="l"/>
                <a:tab pos="5480050" algn="l"/>
                <a:tab pos="6753859" algn="l"/>
                <a:tab pos="7479665" algn="l"/>
              </a:tabLst>
            </a:pP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Edge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is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5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collection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pixel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values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whose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brightness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value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changes</a:t>
            </a:r>
            <a:endParaRPr sz="20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abruptly.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Edges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represent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borders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between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regions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object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" dirty="0">
                <a:latin typeface="Times New Roman"/>
                <a:cs typeface="Times New Roman"/>
              </a:rPr>
              <a:t> scene.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4006" y="324594"/>
            <a:ext cx="2644145" cy="39168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892" y="897763"/>
            <a:ext cx="7976234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-5" dirty="0">
                <a:solidFill>
                  <a:srgbClr val="000000"/>
                </a:solidFill>
              </a:rPr>
              <a:t> </a:t>
            </a:r>
            <a:r>
              <a:rPr u="none" dirty="0"/>
              <a:t>Sobel</a:t>
            </a:r>
            <a:r>
              <a:rPr u="none" spc="-30" dirty="0"/>
              <a:t> </a:t>
            </a:r>
            <a:r>
              <a:rPr u="none" dirty="0"/>
              <a:t>edge detection</a:t>
            </a:r>
            <a:r>
              <a:rPr u="none" spc="-45" dirty="0"/>
              <a:t> </a:t>
            </a:r>
            <a:r>
              <a:rPr u="none" dirty="0"/>
              <a:t>masks</a:t>
            </a:r>
            <a:r>
              <a:rPr u="none" spc="-10" dirty="0"/>
              <a:t> </a:t>
            </a:r>
            <a:r>
              <a:rPr u="none" dirty="0">
                <a:solidFill>
                  <a:srgbClr val="006FC0"/>
                </a:solidFill>
              </a:rPr>
              <a:t>look</a:t>
            </a:r>
            <a:r>
              <a:rPr u="none" spc="-30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for</a:t>
            </a:r>
            <a:r>
              <a:rPr u="none" spc="-50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edges</a:t>
            </a:r>
            <a:r>
              <a:rPr u="none" spc="-15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in</a:t>
            </a:r>
            <a:r>
              <a:rPr u="none" spc="-15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both</a:t>
            </a:r>
            <a:r>
              <a:rPr u="none" spc="-15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the</a:t>
            </a:r>
            <a:r>
              <a:rPr u="none" spc="-25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horizontal</a:t>
            </a:r>
            <a:r>
              <a:rPr u="none" spc="-35" dirty="0">
                <a:solidFill>
                  <a:srgbClr val="006FC0"/>
                </a:solidFill>
              </a:rPr>
              <a:t> </a:t>
            </a:r>
            <a:r>
              <a:rPr u="none" spc="-25" dirty="0">
                <a:solidFill>
                  <a:srgbClr val="006FC0"/>
                </a:solidFill>
              </a:rPr>
              <a:t>and </a:t>
            </a:r>
            <a:r>
              <a:rPr u="none" dirty="0">
                <a:solidFill>
                  <a:srgbClr val="006FC0"/>
                </a:solidFill>
              </a:rPr>
              <a:t>vertical</a:t>
            </a:r>
            <a:r>
              <a:rPr u="none" spc="-45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directions</a:t>
            </a:r>
            <a:r>
              <a:rPr u="none" spc="-30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and</a:t>
            </a:r>
            <a:r>
              <a:rPr u="none" spc="-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then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combine</a:t>
            </a:r>
            <a:r>
              <a:rPr u="none" spc="-40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this</a:t>
            </a:r>
            <a:r>
              <a:rPr u="none" spc="-35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information</a:t>
            </a:r>
            <a:r>
              <a:rPr u="none" spc="-45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into</a:t>
            </a:r>
            <a:r>
              <a:rPr u="none" spc="-20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a</a:t>
            </a:r>
            <a:r>
              <a:rPr u="none" spc="-5" dirty="0">
                <a:solidFill>
                  <a:srgbClr val="006FC0"/>
                </a:solidFill>
              </a:rPr>
              <a:t> </a:t>
            </a:r>
            <a:r>
              <a:rPr u="none" dirty="0">
                <a:solidFill>
                  <a:srgbClr val="006FC0"/>
                </a:solidFill>
              </a:rPr>
              <a:t>single</a:t>
            </a:r>
            <a:r>
              <a:rPr u="none" spc="-35" dirty="0">
                <a:solidFill>
                  <a:srgbClr val="006FC0"/>
                </a:solidFill>
              </a:rPr>
              <a:t> </a:t>
            </a:r>
            <a:r>
              <a:rPr u="none" spc="-10" dirty="0">
                <a:solidFill>
                  <a:srgbClr val="006FC0"/>
                </a:solidFill>
              </a:rPr>
              <a:t>metric</a:t>
            </a:r>
            <a:r>
              <a:rPr u="none" spc="-1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892" y="1507363"/>
            <a:ext cx="28016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masks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-10" dirty="0">
                <a:latin typeface="Times New Roman"/>
                <a:cs typeface="Times New Roman"/>
              </a:rPr>
              <a:t> follows: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44873" y="1654175"/>
          <a:ext cx="151257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49035" y="1658747"/>
          <a:ext cx="151257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140200" y="2828035"/>
            <a:ext cx="1073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Row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Mask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0846" y="2871342"/>
            <a:ext cx="141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Column </a:t>
            </a:r>
            <a:r>
              <a:rPr sz="1800" b="1" spc="-20" dirty="0">
                <a:latin typeface="Times New Roman"/>
                <a:cs typeface="Times New Roman"/>
              </a:rPr>
              <a:t>Mask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>
              <a:lnSpc>
                <a:spcPct val="100000"/>
              </a:lnSpc>
              <a:spcBef>
                <a:spcPts val="105"/>
              </a:spcBef>
            </a:pPr>
            <a:r>
              <a:rPr dirty="0"/>
              <a:t>These</a:t>
            </a:r>
            <a:r>
              <a:rPr spc="70" dirty="0"/>
              <a:t> </a:t>
            </a:r>
            <a:r>
              <a:rPr dirty="0"/>
              <a:t>masks</a:t>
            </a:r>
            <a:r>
              <a:rPr spc="55" dirty="0"/>
              <a:t> </a:t>
            </a:r>
            <a:r>
              <a:rPr dirty="0"/>
              <a:t>are</a:t>
            </a:r>
            <a:r>
              <a:rPr spc="75" dirty="0"/>
              <a:t> </a:t>
            </a:r>
            <a:r>
              <a:rPr dirty="0"/>
              <a:t>each</a:t>
            </a:r>
            <a:r>
              <a:rPr spc="70" dirty="0"/>
              <a:t> </a:t>
            </a:r>
            <a:r>
              <a:rPr dirty="0"/>
              <a:t>convolved</a:t>
            </a:r>
            <a:r>
              <a:rPr spc="85" dirty="0"/>
              <a:t> </a:t>
            </a:r>
            <a:r>
              <a:rPr dirty="0"/>
              <a:t>with</a:t>
            </a:r>
            <a:r>
              <a:rPr spc="70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image.</a:t>
            </a:r>
            <a:r>
              <a:rPr spc="80" dirty="0"/>
              <a:t> </a:t>
            </a:r>
            <a:r>
              <a:rPr dirty="0"/>
              <a:t>At</a:t>
            </a:r>
            <a:r>
              <a:rPr spc="70" dirty="0"/>
              <a:t> </a:t>
            </a:r>
            <a:r>
              <a:rPr dirty="0"/>
              <a:t>each</a:t>
            </a:r>
            <a:r>
              <a:rPr spc="80" dirty="0"/>
              <a:t> </a:t>
            </a:r>
            <a:r>
              <a:rPr dirty="0"/>
              <a:t>pixel</a:t>
            </a:r>
            <a:r>
              <a:rPr spc="65" dirty="0"/>
              <a:t> </a:t>
            </a:r>
            <a:r>
              <a:rPr dirty="0"/>
              <a:t>location</a:t>
            </a:r>
            <a:r>
              <a:rPr spc="80" dirty="0"/>
              <a:t> </a:t>
            </a:r>
            <a:r>
              <a:rPr spc="-25" dirty="0"/>
              <a:t>we </a:t>
            </a:r>
            <a:r>
              <a:rPr dirty="0"/>
              <a:t>now</a:t>
            </a:r>
            <a:r>
              <a:rPr spc="-10" dirty="0"/>
              <a:t> </a:t>
            </a:r>
            <a:r>
              <a:rPr dirty="0"/>
              <a:t>have</a:t>
            </a:r>
            <a:r>
              <a:rPr spc="-15" dirty="0"/>
              <a:t> </a:t>
            </a:r>
            <a:r>
              <a:rPr dirty="0"/>
              <a:t>two</a:t>
            </a:r>
            <a:r>
              <a:rPr spc="-5" dirty="0"/>
              <a:t> </a:t>
            </a:r>
            <a:r>
              <a:rPr spc="-10" dirty="0"/>
              <a:t>numbers:</a:t>
            </a:r>
          </a:p>
          <a:p>
            <a:pPr marL="354965" indent="-342265">
              <a:lnSpc>
                <a:spcPct val="100000"/>
              </a:lnSpc>
              <a:buClr>
                <a:srgbClr val="C00000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>
                <a:solidFill>
                  <a:srgbClr val="FF0000"/>
                </a:solidFill>
              </a:rPr>
              <a:t>S1</a:t>
            </a:r>
            <a:r>
              <a:rPr dirty="0"/>
              <a:t>,</a:t>
            </a:r>
            <a:r>
              <a:rPr spc="-40" dirty="0"/>
              <a:t> </a:t>
            </a:r>
            <a:r>
              <a:rPr dirty="0"/>
              <a:t>corresponding</a:t>
            </a:r>
            <a:r>
              <a:rPr spc="-5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>
                <a:solidFill>
                  <a:srgbClr val="006FC0"/>
                </a:solidFill>
              </a:rPr>
              <a:t>result</a:t>
            </a:r>
            <a:r>
              <a:rPr spc="-4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form</a:t>
            </a:r>
            <a:r>
              <a:rPr spc="-40" dirty="0">
                <a:solidFill>
                  <a:srgbClr val="006FC0"/>
                </a:solidFill>
              </a:rPr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>
                <a:solidFill>
                  <a:srgbClr val="FF0000"/>
                </a:solidFill>
              </a:rPr>
              <a:t>row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mask</a:t>
            </a:r>
            <a:r>
              <a:rPr spc="-10" dirty="0"/>
              <a:t>.</a:t>
            </a:r>
          </a:p>
          <a:p>
            <a:pPr marL="354965" indent="-342265">
              <a:lnSpc>
                <a:spcPct val="100000"/>
              </a:lnSpc>
              <a:buClr>
                <a:srgbClr val="C00000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>
                <a:solidFill>
                  <a:srgbClr val="FF0000"/>
                </a:solidFill>
              </a:rPr>
              <a:t>S2</a:t>
            </a:r>
            <a:r>
              <a:rPr dirty="0"/>
              <a:t>,</a:t>
            </a:r>
            <a:r>
              <a:rPr spc="-35" dirty="0"/>
              <a:t> </a:t>
            </a:r>
            <a:r>
              <a:rPr dirty="0"/>
              <a:t>corresponding</a:t>
            </a:r>
            <a:r>
              <a:rPr spc="-5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>
                <a:solidFill>
                  <a:srgbClr val="006FC0"/>
                </a:solidFill>
              </a:rPr>
              <a:t>result</a:t>
            </a:r>
            <a:r>
              <a:rPr spc="-35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from</a:t>
            </a:r>
            <a:r>
              <a:rPr spc="-30" dirty="0">
                <a:solidFill>
                  <a:srgbClr val="006FC0"/>
                </a:solidFill>
              </a:rPr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>
                <a:solidFill>
                  <a:srgbClr val="FF0000"/>
                </a:solidFill>
              </a:rPr>
              <a:t>column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mask</a:t>
            </a:r>
            <a:r>
              <a:rPr spc="-10" dirty="0"/>
              <a:t>.</a:t>
            </a:r>
          </a:p>
          <a:p>
            <a:pPr marL="12700" marR="5080">
              <a:lnSpc>
                <a:spcPct val="100000"/>
              </a:lnSpc>
            </a:pPr>
            <a:r>
              <a:rPr dirty="0"/>
              <a:t>We</a:t>
            </a:r>
            <a:r>
              <a:rPr spc="-15" dirty="0"/>
              <a:t> </a:t>
            </a:r>
            <a:r>
              <a:rPr dirty="0"/>
              <a:t>use</a:t>
            </a:r>
            <a:r>
              <a:rPr spc="-25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dirty="0"/>
              <a:t>numbers</a:t>
            </a:r>
            <a:r>
              <a:rPr spc="-10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compute two</a:t>
            </a:r>
            <a:r>
              <a:rPr spc="-20" dirty="0"/>
              <a:t> </a:t>
            </a:r>
            <a:r>
              <a:rPr dirty="0"/>
              <a:t>matrices,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edge</a:t>
            </a:r>
            <a:r>
              <a:rPr spc="-5" dirty="0"/>
              <a:t> </a:t>
            </a:r>
            <a:r>
              <a:rPr dirty="0"/>
              <a:t>magnitude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spc="-25" dirty="0"/>
              <a:t>the </a:t>
            </a:r>
            <a:r>
              <a:rPr dirty="0"/>
              <a:t>edge</a:t>
            </a:r>
            <a:r>
              <a:rPr spc="-25" dirty="0"/>
              <a:t> </a:t>
            </a:r>
            <a:r>
              <a:rPr dirty="0"/>
              <a:t>direction,</a:t>
            </a:r>
            <a:r>
              <a:rPr spc="-50" dirty="0"/>
              <a:t> </a:t>
            </a:r>
            <a:r>
              <a:rPr dirty="0"/>
              <a:t>which</a:t>
            </a:r>
            <a:r>
              <a:rPr spc="-20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defined</a:t>
            </a:r>
            <a:r>
              <a:rPr spc="-35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spc="-10" dirty="0"/>
              <a:t>follows:</a:t>
            </a:r>
          </a:p>
        </p:txBody>
      </p:sp>
      <p:sp>
        <p:nvSpPr>
          <p:cNvPr id="9" name="object 9"/>
          <p:cNvSpPr/>
          <p:nvPr/>
        </p:nvSpPr>
        <p:spPr>
          <a:xfrm>
            <a:off x="5569584" y="5584571"/>
            <a:ext cx="889635" cy="510540"/>
          </a:xfrm>
          <a:custGeom>
            <a:avLst/>
            <a:gdLst/>
            <a:ahLst/>
            <a:cxnLst/>
            <a:rect l="l" t="t" r="r" b="b"/>
            <a:pathLst>
              <a:path w="889635" h="510539">
                <a:moveTo>
                  <a:pt x="889126" y="0"/>
                </a:moveTo>
                <a:lnTo>
                  <a:pt x="168275" y="0"/>
                </a:lnTo>
                <a:lnTo>
                  <a:pt x="168275" y="253"/>
                </a:lnTo>
                <a:lnTo>
                  <a:pt x="141224" y="253"/>
                </a:lnTo>
                <a:lnTo>
                  <a:pt x="94741" y="469607"/>
                </a:lnTo>
                <a:lnTo>
                  <a:pt x="38735" y="365912"/>
                </a:lnTo>
                <a:lnTo>
                  <a:pt x="0" y="386346"/>
                </a:lnTo>
                <a:lnTo>
                  <a:pt x="4317" y="394271"/>
                </a:lnTo>
                <a:lnTo>
                  <a:pt x="24764" y="383552"/>
                </a:lnTo>
                <a:lnTo>
                  <a:pt x="93599" y="510133"/>
                </a:lnTo>
                <a:lnTo>
                  <a:pt x="104012" y="510133"/>
                </a:lnTo>
                <a:lnTo>
                  <a:pt x="153669" y="15087"/>
                </a:lnTo>
                <a:lnTo>
                  <a:pt x="889126" y="15214"/>
                </a:lnTo>
                <a:lnTo>
                  <a:pt x="8891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36029" y="5806236"/>
            <a:ext cx="1257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𝟐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0095" y="5682792"/>
            <a:ext cx="3187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438400" algn="l"/>
              </a:tabLst>
            </a:pPr>
            <a:r>
              <a:rPr sz="1800" dirty="0">
                <a:latin typeface="Cambria Math"/>
                <a:cs typeface="Cambria Math"/>
              </a:rPr>
              <a:t>𝑬𝒅𝒈𝒆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𝑴𝒂𝒈𝒏𝒊𝒕𝒖𝒅𝒆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r>
              <a:rPr sz="1800" dirty="0">
                <a:latin typeface="Cambria Math"/>
                <a:cs typeface="Cambria Math"/>
              </a:rPr>
              <a:t>	𝒔</a:t>
            </a:r>
            <a:r>
              <a:rPr sz="1950" baseline="27777" dirty="0">
                <a:latin typeface="Cambria Math"/>
                <a:cs typeface="Cambria Math"/>
              </a:rPr>
              <a:t>𝟐</a:t>
            </a:r>
            <a:r>
              <a:rPr sz="1950" spc="240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𝒔</a:t>
            </a:r>
            <a:r>
              <a:rPr sz="1950" spc="-37" baseline="27777" dirty="0">
                <a:latin typeface="Cambria Math"/>
                <a:cs typeface="Cambria Math"/>
              </a:rPr>
              <a:t>𝟐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22320" y="5806236"/>
            <a:ext cx="2998470" cy="8356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58775" algn="r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𝟏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ts val="1680"/>
              </a:lnSpc>
              <a:spcBef>
                <a:spcPts val="1440"/>
              </a:spcBef>
            </a:pPr>
            <a:r>
              <a:rPr sz="1800" dirty="0">
                <a:latin typeface="Cambria Math"/>
                <a:cs typeface="Cambria Math"/>
              </a:rPr>
              <a:t>𝑬𝒅𝒈𝒆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𝑫𝒊𝒓𝒆𝒄𝒕𝒊𝒐𝒏</a:t>
            </a:r>
            <a:r>
              <a:rPr sz="1800" spc="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4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𝒕𝒂𝒏</a:t>
            </a:r>
            <a:r>
              <a:rPr sz="1950" baseline="27777" dirty="0">
                <a:latin typeface="Cambria Math"/>
                <a:cs typeface="Cambria Math"/>
              </a:rPr>
              <a:t>−𝟏</a:t>
            </a:r>
            <a:r>
              <a:rPr sz="1950" spc="89" baseline="27777" dirty="0">
                <a:latin typeface="Cambria Math"/>
                <a:cs typeface="Cambria Math"/>
              </a:rPr>
              <a:t> </a:t>
            </a:r>
            <a:r>
              <a:rPr sz="2700" spc="-37" baseline="41666" dirty="0">
                <a:latin typeface="Cambria Math"/>
                <a:cs typeface="Cambria Math"/>
              </a:rPr>
              <a:t>𝒔</a:t>
            </a:r>
            <a:r>
              <a:rPr sz="1950" spc="-37" baseline="42735" dirty="0">
                <a:latin typeface="Cambria Math"/>
                <a:cs typeface="Cambria Math"/>
              </a:rPr>
              <a:t>𝟐</a:t>
            </a:r>
            <a:endParaRPr sz="1950" baseline="42735">
              <a:latin typeface="Cambria Math"/>
              <a:cs typeface="Cambria Math"/>
            </a:endParaRPr>
          </a:p>
          <a:p>
            <a:pPr marR="30480" algn="r">
              <a:lnSpc>
                <a:spcPts val="1680"/>
              </a:lnSpc>
            </a:pPr>
            <a:r>
              <a:rPr sz="1800" spc="-25" dirty="0">
                <a:latin typeface="Cambria Math"/>
                <a:cs typeface="Cambria Math"/>
              </a:rPr>
              <a:t>𝒔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66409" y="6356477"/>
            <a:ext cx="224154" cy="15240"/>
          </a:xfrm>
          <a:custGeom>
            <a:avLst/>
            <a:gdLst/>
            <a:ahLst/>
            <a:cxnLst/>
            <a:rect l="l" t="t" r="r" b="b"/>
            <a:pathLst>
              <a:path w="224154" h="15239">
                <a:moveTo>
                  <a:pt x="224027" y="0"/>
                </a:moveTo>
                <a:lnTo>
                  <a:pt x="0" y="0"/>
                </a:lnTo>
                <a:lnTo>
                  <a:pt x="0" y="15240"/>
                </a:lnTo>
                <a:lnTo>
                  <a:pt x="224027" y="15240"/>
                </a:lnTo>
                <a:lnTo>
                  <a:pt x="224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7144" y="273205"/>
            <a:ext cx="2830067" cy="39017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648" y="218058"/>
            <a:ext cx="10718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648" y="524383"/>
            <a:ext cx="810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Compute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convolution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Sobel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operators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s1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s2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with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image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show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edge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magnitude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image: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95905" y="2404236"/>
          <a:ext cx="151257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36926" y="3915155"/>
          <a:ext cx="151257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348229" y="2808477"/>
            <a:ext cx="5932170" cy="2620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925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(3*-</a:t>
            </a:r>
            <a:r>
              <a:rPr sz="1600" b="1" dirty="0">
                <a:latin typeface="Times New Roman"/>
                <a:cs typeface="Times New Roman"/>
              </a:rPr>
              <a:t>1 )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5*-</a:t>
            </a:r>
            <a:r>
              <a:rPr sz="1600" b="1" dirty="0">
                <a:latin typeface="Times New Roman"/>
                <a:cs typeface="Times New Roman"/>
              </a:rPr>
              <a:t>2)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</a:t>
            </a:r>
            <a:r>
              <a:rPr sz="1600" b="1" spc="-10" dirty="0">
                <a:latin typeface="Times New Roman"/>
                <a:cs typeface="Times New Roman"/>
              </a:rPr>
              <a:t> 7*-</a:t>
            </a:r>
            <a:r>
              <a:rPr sz="1600" b="1" dirty="0">
                <a:latin typeface="Times New Roman"/>
                <a:cs typeface="Times New Roman"/>
              </a:rPr>
              <a:t>1)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(2*0)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(4*0)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(3*0)</a:t>
            </a:r>
            <a:endParaRPr sz="1600">
              <a:latin typeface="Times New Roman"/>
              <a:cs typeface="Times New Roman"/>
            </a:endParaRPr>
          </a:p>
          <a:p>
            <a:pPr marL="1659255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1*1)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(8*2)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6*1)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-</a:t>
            </a:r>
            <a:r>
              <a:rPr sz="1600" b="1" dirty="0">
                <a:latin typeface="Times New Roman"/>
                <a:cs typeface="Times New Roman"/>
              </a:rPr>
              <a:t>20+23=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600">
              <a:latin typeface="Times New Roman"/>
              <a:cs typeface="Times New Roman"/>
            </a:endParaRPr>
          </a:p>
          <a:p>
            <a:pPr marR="4565650" algn="ctr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Row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Mask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800">
              <a:latin typeface="Times New Roman"/>
              <a:cs typeface="Times New Roman"/>
            </a:endParaRPr>
          </a:p>
          <a:p>
            <a:pPr marL="1724025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(3*-</a:t>
            </a:r>
            <a:r>
              <a:rPr sz="1600" b="1" dirty="0">
                <a:latin typeface="Times New Roman"/>
                <a:cs typeface="Times New Roman"/>
              </a:rPr>
              <a:t>1 )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5*0)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7*1)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(2*-</a:t>
            </a:r>
            <a:r>
              <a:rPr sz="1600" b="1" dirty="0">
                <a:latin typeface="Times New Roman"/>
                <a:cs typeface="Times New Roman"/>
              </a:rPr>
              <a:t>2) +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(4*0)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(3*2)</a:t>
            </a:r>
            <a:endParaRPr sz="1600">
              <a:latin typeface="Times New Roman"/>
              <a:cs typeface="Times New Roman"/>
            </a:endParaRPr>
          </a:p>
          <a:p>
            <a:pPr marL="1724025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1*-</a:t>
            </a:r>
            <a:r>
              <a:rPr sz="1600" b="1" dirty="0">
                <a:latin typeface="Times New Roman"/>
                <a:cs typeface="Times New Roman"/>
              </a:rPr>
              <a:t>1)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(8*0)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6*1)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11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14"/>
              </a:spcBef>
            </a:pPr>
            <a:endParaRPr sz="1600">
              <a:latin typeface="Times New Roman"/>
              <a:cs typeface="Times New Roman"/>
            </a:endParaRPr>
          </a:p>
          <a:p>
            <a:pPr marR="4507865" algn="ctr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Column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Mask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111" y="1869186"/>
            <a:ext cx="1003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Answer</a:t>
            </a:r>
            <a:r>
              <a:rPr sz="2000" b="1" u="sng" spc="-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5811" y="5675604"/>
            <a:ext cx="789305" cy="452120"/>
          </a:xfrm>
          <a:custGeom>
            <a:avLst/>
            <a:gdLst/>
            <a:ahLst/>
            <a:cxnLst/>
            <a:rect l="l" t="t" r="r" b="b"/>
            <a:pathLst>
              <a:path w="789305" h="452120">
                <a:moveTo>
                  <a:pt x="156082" y="0"/>
                </a:moveTo>
                <a:lnTo>
                  <a:pt x="125094" y="0"/>
                </a:lnTo>
                <a:lnTo>
                  <a:pt x="83946" y="416178"/>
                </a:lnTo>
                <a:lnTo>
                  <a:pt x="34289" y="324230"/>
                </a:lnTo>
                <a:lnTo>
                  <a:pt x="0" y="342341"/>
                </a:lnTo>
                <a:lnTo>
                  <a:pt x="3810" y="349364"/>
                </a:lnTo>
                <a:lnTo>
                  <a:pt x="21970" y="339864"/>
                </a:lnTo>
                <a:lnTo>
                  <a:pt x="82931" y="452094"/>
                </a:lnTo>
                <a:lnTo>
                  <a:pt x="92201" y="452094"/>
                </a:lnTo>
                <a:lnTo>
                  <a:pt x="136270" y="13169"/>
                </a:lnTo>
                <a:lnTo>
                  <a:pt x="148844" y="13169"/>
                </a:lnTo>
                <a:lnTo>
                  <a:pt x="148844" y="14439"/>
                </a:lnTo>
                <a:lnTo>
                  <a:pt x="788924" y="14439"/>
                </a:lnTo>
                <a:lnTo>
                  <a:pt x="788924" y="723"/>
                </a:lnTo>
                <a:lnTo>
                  <a:pt x="156082" y="723"/>
                </a:lnTo>
                <a:lnTo>
                  <a:pt x="1560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7411" y="5760821"/>
            <a:ext cx="2871470" cy="313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400"/>
              </a:lnSpc>
              <a:spcBef>
                <a:spcPts val="95"/>
              </a:spcBef>
              <a:tabLst>
                <a:tab pos="2187575" algn="l"/>
              </a:tabLst>
            </a:pPr>
            <a:r>
              <a:rPr sz="1600" dirty="0">
                <a:latin typeface="Cambria Math"/>
                <a:cs typeface="Cambria Math"/>
              </a:rPr>
              <a:t>𝑬𝒅𝒈𝒆</a:t>
            </a:r>
            <a:r>
              <a:rPr sz="1600" spc="-4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𝑴𝒂𝒈𝒏𝒊𝒕𝒖𝒅𝒆</a:t>
            </a:r>
            <a:r>
              <a:rPr sz="1600" spc="4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=</a:t>
            </a:r>
            <a:r>
              <a:rPr sz="1600" dirty="0">
                <a:latin typeface="Cambria Math"/>
                <a:cs typeface="Cambria Math"/>
              </a:rPr>
              <a:t>	𝒔</a:t>
            </a:r>
            <a:r>
              <a:rPr sz="1725" baseline="28985" dirty="0">
                <a:latin typeface="Cambria Math"/>
                <a:cs typeface="Cambria Math"/>
              </a:rPr>
              <a:t>𝟐</a:t>
            </a:r>
            <a:r>
              <a:rPr sz="1725" spc="254" baseline="289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𝒔</a:t>
            </a:r>
            <a:r>
              <a:rPr sz="1725" spc="-37" baseline="28985" dirty="0">
                <a:latin typeface="Cambria Math"/>
                <a:cs typeface="Cambria Math"/>
              </a:rPr>
              <a:t>𝟐</a:t>
            </a:r>
            <a:endParaRPr sz="1725" baseline="28985">
              <a:latin typeface="Cambria Math"/>
              <a:cs typeface="Cambria Math"/>
            </a:endParaRPr>
          </a:p>
          <a:p>
            <a:pPr marR="43180" algn="r">
              <a:lnSpc>
                <a:spcPts val="860"/>
              </a:lnSpc>
              <a:tabLst>
                <a:tab pos="441325" algn="l"/>
              </a:tabLst>
            </a:pPr>
            <a:r>
              <a:rPr sz="1150" spc="-50" dirty="0">
                <a:latin typeface="Cambria Math"/>
                <a:cs typeface="Cambria Math"/>
              </a:rPr>
              <a:t>𝟏</a:t>
            </a:r>
            <a:r>
              <a:rPr sz="1150" dirty="0">
                <a:latin typeface="Cambria Math"/>
                <a:cs typeface="Cambria Math"/>
              </a:rPr>
              <a:t>	</a:t>
            </a:r>
            <a:r>
              <a:rPr sz="1150" spc="-50" dirty="0">
                <a:latin typeface="Cambria Math"/>
                <a:cs typeface="Cambria Math"/>
              </a:rPr>
              <a:t>𝟐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9145" y="6118352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𝒔</a:t>
            </a:r>
            <a:r>
              <a:rPr sz="1725" spc="-37" baseline="-14492" dirty="0">
                <a:latin typeface="Cambria Math"/>
                <a:cs typeface="Cambria Math"/>
              </a:rPr>
              <a:t>𝟐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45" y="6272580"/>
            <a:ext cx="2725420" cy="404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0480" algn="r">
              <a:lnSpc>
                <a:spcPts val="1495"/>
              </a:lnSpc>
              <a:spcBef>
                <a:spcPts val="95"/>
              </a:spcBef>
              <a:tabLst>
                <a:tab pos="2648585" algn="l"/>
              </a:tabLst>
            </a:pPr>
            <a:r>
              <a:rPr sz="1600" dirty="0">
                <a:latin typeface="Cambria Math"/>
                <a:cs typeface="Cambria Math"/>
              </a:rPr>
              <a:t>𝑬𝒅𝒈𝒆 𝑫𝒊𝒓𝒆𝒄𝒕𝒊𝒐𝒏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4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𝒕𝒂𝒏</a:t>
            </a:r>
            <a:r>
              <a:rPr sz="1725" baseline="28985" dirty="0">
                <a:latin typeface="Cambria Math"/>
                <a:cs typeface="Cambria Math"/>
              </a:rPr>
              <a:t>−𝟏</a:t>
            </a:r>
            <a:r>
              <a:rPr sz="1725" spc="104" baseline="28985" dirty="0">
                <a:latin typeface="Cambria Math"/>
                <a:cs typeface="Cambria Math"/>
              </a:rPr>
              <a:t> </a:t>
            </a:r>
            <a:r>
              <a:rPr sz="1725" u="heavy" baseline="289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725" baseline="28985">
              <a:latin typeface="Times New Roman"/>
              <a:cs typeface="Times New Roman"/>
            </a:endParaRPr>
          </a:p>
          <a:p>
            <a:pPr marR="72390" algn="r">
              <a:lnSpc>
                <a:spcPts val="1495"/>
              </a:lnSpc>
            </a:pPr>
            <a:r>
              <a:rPr sz="1600" spc="-25" dirty="0">
                <a:latin typeface="Cambria Math"/>
                <a:cs typeface="Cambria Math"/>
              </a:rPr>
              <a:t>𝒔</a:t>
            </a:r>
            <a:r>
              <a:rPr sz="1725" spc="-37" baseline="-14492" dirty="0">
                <a:latin typeface="Cambria Math"/>
                <a:cs typeface="Cambria Math"/>
              </a:rPr>
              <a:t>𝟏</a:t>
            </a:r>
            <a:endParaRPr sz="1725" baseline="-14492">
              <a:latin typeface="Cambria Math"/>
              <a:cs typeface="Cambria Math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642105" y="974344"/>
          <a:ext cx="151257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54025" y="2376932"/>
          <a:ext cx="151257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54025" y="3982846"/>
          <a:ext cx="151257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3824859" y="5681738"/>
            <a:ext cx="952500" cy="252095"/>
          </a:xfrm>
          <a:custGeom>
            <a:avLst/>
            <a:gdLst/>
            <a:ahLst/>
            <a:cxnLst/>
            <a:rect l="l" t="t" r="r" b="b"/>
            <a:pathLst>
              <a:path w="952500" h="252095">
                <a:moveTo>
                  <a:pt x="154558" y="0"/>
                </a:moveTo>
                <a:lnTo>
                  <a:pt x="126873" y="0"/>
                </a:lnTo>
                <a:lnTo>
                  <a:pt x="66801" y="225158"/>
                </a:lnTo>
                <a:lnTo>
                  <a:pt x="32512" y="148755"/>
                </a:lnTo>
                <a:lnTo>
                  <a:pt x="0" y="163601"/>
                </a:lnTo>
                <a:lnTo>
                  <a:pt x="3175" y="171018"/>
                </a:lnTo>
                <a:lnTo>
                  <a:pt x="19812" y="163601"/>
                </a:lnTo>
                <a:lnTo>
                  <a:pt x="60832" y="251688"/>
                </a:lnTo>
                <a:lnTo>
                  <a:pt x="70357" y="251688"/>
                </a:lnTo>
                <a:lnTo>
                  <a:pt x="134746" y="13169"/>
                </a:lnTo>
                <a:lnTo>
                  <a:pt x="147446" y="13169"/>
                </a:lnTo>
                <a:lnTo>
                  <a:pt x="147446" y="13919"/>
                </a:lnTo>
                <a:lnTo>
                  <a:pt x="952118" y="13919"/>
                </a:lnTo>
                <a:lnTo>
                  <a:pt x="952118" y="203"/>
                </a:lnTo>
                <a:lnTo>
                  <a:pt x="154558" y="203"/>
                </a:lnTo>
                <a:lnTo>
                  <a:pt x="1545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17976" y="5684011"/>
            <a:ext cx="12020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600" b="1" spc="-50" dirty="0">
                <a:latin typeface="Times New Roman"/>
                <a:cs typeface="Times New Roman"/>
              </a:rPr>
              <a:t>=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dirty="0">
                <a:latin typeface="Cambria Math"/>
                <a:cs typeface="Cambria Math"/>
              </a:rPr>
              <a:t>𝟑</a:t>
            </a:r>
            <a:r>
              <a:rPr sz="1725" baseline="24154" dirty="0">
                <a:latin typeface="Cambria Math"/>
                <a:cs typeface="Cambria Math"/>
              </a:rPr>
              <a:t>𝟐</a:t>
            </a:r>
            <a:r>
              <a:rPr sz="1725" spc="247" baseline="24154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15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𝟏𝟏</a:t>
            </a:r>
            <a:r>
              <a:rPr sz="1725" spc="-37" baseline="24154" dirty="0">
                <a:latin typeface="Cambria Math"/>
                <a:cs typeface="Cambria Math"/>
              </a:rPr>
              <a:t>𝟐</a:t>
            </a:r>
            <a:endParaRPr sz="1725" baseline="24154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26888" y="5744616"/>
            <a:ext cx="861060" cy="195580"/>
          </a:xfrm>
          <a:custGeom>
            <a:avLst/>
            <a:gdLst/>
            <a:ahLst/>
            <a:cxnLst/>
            <a:rect l="l" t="t" r="r" b="b"/>
            <a:pathLst>
              <a:path w="861060" h="195579">
                <a:moveTo>
                  <a:pt x="141477" y="0"/>
                </a:moveTo>
                <a:lnTo>
                  <a:pt x="116332" y="0"/>
                </a:lnTo>
                <a:lnTo>
                  <a:pt x="67437" y="168935"/>
                </a:lnTo>
                <a:lnTo>
                  <a:pt x="32385" y="92138"/>
                </a:lnTo>
                <a:lnTo>
                  <a:pt x="0" y="106984"/>
                </a:lnTo>
                <a:lnTo>
                  <a:pt x="3048" y="114414"/>
                </a:lnTo>
                <a:lnTo>
                  <a:pt x="19812" y="106984"/>
                </a:lnTo>
                <a:lnTo>
                  <a:pt x="60706" y="195072"/>
                </a:lnTo>
                <a:lnTo>
                  <a:pt x="70358" y="195072"/>
                </a:lnTo>
                <a:lnTo>
                  <a:pt x="123571" y="13157"/>
                </a:lnTo>
                <a:lnTo>
                  <a:pt x="129159" y="13157"/>
                </a:lnTo>
                <a:lnTo>
                  <a:pt x="129159" y="14439"/>
                </a:lnTo>
                <a:lnTo>
                  <a:pt x="860678" y="14439"/>
                </a:lnTo>
                <a:lnTo>
                  <a:pt x="860678" y="723"/>
                </a:lnTo>
                <a:lnTo>
                  <a:pt x="141477" y="723"/>
                </a:lnTo>
                <a:lnTo>
                  <a:pt x="1414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145404" y="5707786"/>
            <a:ext cx="10560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150" algn="l"/>
              </a:tabLst>
            </a:pPr>
            <a:r>
              <a:rPr sz="1600" b="1" spc="-50" dirty="0">
                <a:latin typeface="Times New Roman"/>
                <a:cs typeface="Times New Roman"/>
              </a:rPr>
              <a:t>=</a:t>
            </a:r>
            <a:r>
              <a:rPr sz="1600" b="1" dirty="0">
                <a:latin typeface="Times New Roman"/>
                <a:cs typeface="Times New Roman"/>
              </a:rPr>
              <a:t>	</a:t>
            </a:r>
            <a:r>
              <a:rPr sz="1600" dirty="0">
                <a:latin typeface="Cambria Math"/>
                <a:cs typeface="Cambria Math"/>
              </a:rPr>
              <a:t>𝟗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𝟏𝟐𝟏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76770" y="5730100"/>
            <a:ext cx="496570" cy="195580"/>
          </a:xfrm>
          <a:custGeom>
            <a:avLst/>
            <a:gdLst/>
            <a:ahLst/>
            <a:cxnLst/>
            <a:rect l="l" t="t" r="r" b="b"/>
            <a:pathLst>
              <a:path w="496570" h="195579">
                <a:moveTo>
                  <a:pt x="141477" y="0"/>
                </a:moveTo>
                <a:lnTo>
                  <a:pt x="116331" y="0"/>
                </a:lnTo>
                <a:lnTo>
                  <a:pt x="67436" y="168948"/>
                </a:lnTo>
                <a:lnTo>
                  <a:pt x="32511" y="92138"/>
                </a:lnTo>
                <a:lnTo>
                  <a:pt x="0" y="106984"/>
                </a:lnTo>
                <a:lnTo>
                  <a:pt x="3048" y="114414"/>
                </a:lnTo>
                <a:lnTo>
                  <a:pt x="19811" y="106984"/>
                </a:lnTo>
                <a:lnTo>
                  <a:pt x="60705" y="195072"/>
                </a:lnTo>
                <a:lnTo>
                  <a:pt x="70357" y="195072"/>
                </a:lnTo>
                <a:lnTo>
                  <a:pt x="123571" y="13169"/>
                </a:lnTo>
                <a:lnTo>
                  <a:pt x="129158" y="13169"/>
                </a:lnTo>
                <a:lnTo>
                  <a:pt x="129158" y="14452"/>
                </a:lnTo>
                <a:lnTo>
                  <a:pt x="496443" y="14452"/>
                </a:lnTo>
                <a:lnTo>
                  <a:pt x="496443" y="736"/>
                </a:lnTo>
                <a:lnTo>
                  <a:pt x="141477" y="736"/>
                </a:lnTo>
                <a:lnTo>
                  <a:pt x="1414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95669" y="5701080"/>
            <a:ext cx="13862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150" algn="l"/>
                <a:tab pos="861694" algn="l"/>
              </a:tabLst>
            </a:pPr>
            <a:r>
              <a:rPr sz="2400" b="1" spc="-75" baseline="1736" dirty="0">
                <a:latin typeface="Times New Roman"/>
                <a:cs typeface="Times New Roman"/>
              </a:rPr>
              <a:t>=</a:t>
            </a:r>
            <a:r>
              <a:rPr sz="2400" b="1" baseline="1736" dirty="0">
                <a:latin typeface="Times New Roman"/>
                <a:cs typeface="Times New Roman"/>
              </a:rPr>
              <a:t>	</a:t>
            </a:r>
            <a:r>
              <a:rPr sz="2400" spc="-37" baseline="1736" dirty="0">
                <a:latin typeface="Cambria Math"/>
                <a:cs typeface="Cambria Math"/>
              </a:rPr>
              <a:t>𝟏𝟑𝟎</a:t>
            </a:r>
            <a:r>
              <a:rPr sz="2400" baseline="1736" dirty="0">
                <a:latin typeface="Cambria Math"/>
                <a:cs typeface="Cambria Math"/>
              </a:rPr>
              <a:t>	</a:t>
            </a: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11.4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798439" y="961644"/>
          <a:ext cx="151257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5250941" y="1400047"/>
            <a:ext cx="457834" cy="241935"/>
            <a:chOff x="5250941" y="1400047"/>
            <a:chExt cx="457834" cy="241935"/>
          </a:xfrm>
        </p:grpSpPr>
        <p:sp>
          <p:nvSpPr>
            <p:cNvPr id="23" name="object 23"/>
            <p:cNvSpPr/>
            <p:nvPr/>
          </p:nvSpPr>
          <p:spPr>
            <a:xfrm>
              <a:off x="5263641" y="1412747"/>
              <a:ext cx="432434" cy="216535"/>
            </a:xfrm>
            <a:custGeom>
              <a:avLst/>
              <a:gdLst/>
              <a:ahLst/>
              <a:cxnLst/>
              <a:rect l="l" t="t" r="r" b="b"/>
              <a:pathLst>
                <a:path w="432435" h="216535">
                  <a:moveTo>
                    <a:pt x="323977" y="0"/>
                  </a:moveTo>
                  <a:lnTo>
                    <a:pt x="323977" y="53975"/>
                  </a:lnTo>
                  <a:lnTo>
                    <a:pt x="0" y="53975"/>
                  </a:lnTo>
                  <a:lnTo>
                    <a:pt x="0" y="162051"/>
                  </a:lnTo>
                  <a:lnTo>
                    <a:pt x="323977" y="162051"/>
                  </a:lnTo>
                  <a:lnTo>
                    <a:pt x="323977" y="216026"/>
                  </a:lnTo>
                  <a:lnTo>
                    <a:pt x="432054" y="108076"/>
                  </a:lnTo>
                  <a:lnTo>
                    <a:pt x="32397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63641" y="1412747"/>
              <a:ext cx="432434" cy="216535"/>
            </a:xfrm>
            <a:custGeom>
              <a:avLst/>
              <a:gdLst/>
              <a:ahLst/>
              <a:cxnLst/>
              <a:rect l="l" t="t" r="r" b="b"/>
              <a:pathLst>
                <a:path w="432435" h="216535">
                  <a:moveTo>
                    <a:pt x="0" y="53975"/>
                  </a:moveTo>
                  <a:lnTo>
                    <a:pt x="323977" y="53975"/>
                  </a:lnTo>
                  <a:lnTo>
                    <a:pt x="323977" y="0"/>
                  </a:lnTo>
                  <a:lnTo>
                    <a:pt x="432054" y="108076"/>
                  </a:lnTo>
                  <a:lnTo>
                    <a:pt x="323977" y="216026"/>
                  </a:lnTo>
                  <a:lnTo>
                    <a:pt x="323977" y="162051"/>
                  </a:lnTo>
                  <a:lnTo>
                    <a:pt x="0" y="162051"/>
                  </a:lnTo>
                  <a:lnTo>
                    <a:pt x="0" y="53975"/>
                  </a:lnTo>
                  <a:close/>
                </a:path>
              </a:pathLst>
            </a:custGeom>
            <a:ln w="25400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75379" y="6208877"/>
            <a:ext cx="647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𝒕𝒂𝒏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71771" y="6035141"/>
            <a:ext cx="617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50" baseline="-29914" dirty="0">
                <a:latin typeface="Cambria Math"/>
                <a:cs typeface="Cambria Math"/>
              </a:rPr>
              <a:t>−𝟏</a:t>
            </a:r>
            <a:r>
              <a:rPr sz="1950" spc="67" baseline="-29914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𝟏𝟏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30928" y="6361277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75809" y="6375653"/>
            <a:ext cx="273050" cy="15240"/>
          </a:xfrm>
          <a:custGeom>
            <a:avLst/>
            <a:gdLst/>
            <a:ahLst/>
            <a:cxnLst/>
            <a:rect l="l" t="t" r="r" b="b"/>
            <a:pathLst>
              <a:path w="273050" h="15239">
                <a:moveTo>
                  <a:pt x="272796" y="0"/>
                </a:moveTo>
                <a:lnTo>
                  <a:pt x="0" y="0"/>
                </a:lnTo>
                <a:lnTo>
                  <a:pt x="0" y="15240"/>
                </a:lnTo>
                <a:lnTo>
                  <a:pt x="272796" y="15240"/>
                </a:lnTo>
                <a:lnTo>
                  <a:pt x="2727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138039" y="6091834"/>
            <a:ext cx="147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𝒕𝒂𝒏</a:t>
            </a:r>
            <a:r>
              <a:rPr sz="1950" baseline="27777" dirty="0">
                <a:latin typeface="Cambria Math"/>
                <a:cs typeface="Cambria Math"/>
              </a:rPr>
              <a:t>−𝟏</a:t>
            </a:r>
            <a:r>
              <a:rPr sz="1800" dirty="0">
                <a:latin typeface="Cambria Math"/>
                <a:cs typeface="Cambria Math"/>
              </a:rPr>
              <a:t>(𝟑.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𝟔)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400" y="917194"/>
            <a:ext cx="83527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solidFill>
                  <a:srgbClr val="000000"/>
                </a:solidFill>
              </a:rPr>
              <a:t>In</a:t>
            </a:r>
            <a:r>
              <a:rPr u="none" spc="7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real</a:t>
            </a:r>
            <a:r>
              <a:rPr u="none" spc="4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applications,</a:t>
            </a:r>
            <a:r>
              <a:rPr u="none" spc="60" dirty="0">
                <a:solidFill>
                  <a:srgbClr val="000000"/>
                </a:solidFill>
              </a:rPr>
              <a:t> </a:t>
            </a:r>
            <a:r>
              <a:rPr u="none" dirty="0"/>
              <a:t>it</a:t>
            </a:r>
            <a:r>
              <a:rPr u="none" spc="65" dirty="0"/>
              <a:t> </a:t>
            </a:r>
            <a:r>
              <a:rPr u="none" dirty="0"/>
              <a:t>is</a:t>
            </a:r>
            <a:r>
              <a:rPr u="none" spc="60" dirty="0"/>
              <a:t> </a:t>
            </a:r>
            <a:r>
              <a:rPr u="none" dirty="0"/>
              <a:t>hard</a:t>
            </a:r>
            <a:r>
              <a:rPr u="none" spc="60" dirty="0"/>
              <a:t> </a:t>
            </a:r>
            <a:r>
              <a:rPr u="none" dirty="0"/>
              <a:t>to</a:t>
            </a:r>
            <a:r>
              <a:rPr u="none" spc="65" dirty="0"/>
              <a:t> </a:t>
            </a:r>
            <a:r>
              <a:rPr u="none" dirty="0"/>
              <a:t>know</a:t>
            </a:r>
            <a:r>
              <a:rPr u="none" spc="70" dirty="0"/>
              <a:t> </a:t>
            </a:r>
            <a:r>
              <a:rPr u="none" dirty="0"/>
              <a:t>what</a:t>
            </a:r>
            <a:r>
              <a:rPr u="none" spc="55" dirty="0"/>
              <a:t> </a:t>
            </a:r>
            <a:r>
              <a:rPr u="none" dirty="0"/>
              <a:t>kind</a:t>
            </a:r>
            <a:r>
              <a:rPr u="none" spc="50" dirty="0"/>
              <a:t> </a:t>
            </a:r>
            <a:r>
              <a:rPr u="none" dirty="0"/>
              <a:t>of</a:t>
            </a:r>
            <a:r>
              <a:rPr u="none" spc="65" dirty="0"/>
              <a:t> </a:t>
            </a:r>
            <a:r>
              <a:rPr u="none" dirty="0"/>
              <a:t>noise</a:t>
            </a:r>
            <a:r>
              <a:rPr u="none" spc="60" dirty="0"/>
              <a:t> </a:t>
            </a:r>
            <a:r>
              <a:rPr u="none" dirty="0"/>
              <a:t>has</a:t>
            </a:r>
            <a:r>
              <a:rPr u="none" spc="55" dirty="0"/>
              <a:t> </a:t>
            </a:r>
            <a:r>
              <a:rPr u="none" dirty="0"/>
              <a:t>been</a:t>
            </a:r>
            <a:r>
              <a:rPr u="none" spc="65" dirty="0"/>
              <a:t> </a:t>
            </a:r>
            <a:r>
              <a:rPr u="none" dirty="0"/>
              <a:t>added</a:t>
            </a:r>
            <a:r>
              <a:rPr u="none" spc="55" dirty="0"/>
              <a:t> </a:t>
            </a:r>
            <a:r>
              <a:rPr u="none" spc="-25" dirty="0"/>
              <a:t>to </a:t>
            </a:r>
            <a:r>
              <a:rPr u="none" dirty="0"/>
              <a:t>an </a:t>
            </a:r>
            <a:r>
              <a:rPr u="none" spc="-10" dirty="0"/>
              <a:t>image</a:t>
            </a:r>
            <a:r>
              <a:rPr u="none" spc="-1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892" y="1526794"/>
            <a:ext cx="8373109" cy="5042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1475" marR="5715" indent="-3397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75285" algn="l"/>
              </a:tabLst>
            </a:pPr>
            <a:r>
              <a:rPr sz="2000" b="1" dirty="0">
                <a:latin typeface="Times New Roman"/>
                <a:cs typeface="Times New Roman"/>
              </a:rPr>
              <a:t>Therefore,</a:t>
            </a:r>
            <a:r>
              <a:rPr sz="2000" b="1" spc="409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it</a:t>
            </a:r>
            <a:r>
              <a:rPr sz="2000" b="1" spc="409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2000" b="1" spc="409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difficult</a:t>
            </a:r>
            <a:r>
              <a:rPr sz="2000" b="1" spc="4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000" b="1" spc="4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find</a:t>
            </a:r>
            <a:r>
              <a:rPr sz="2000" b="1" spc="4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000" b="1" spc="4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unique</a:t>
            </a:r>
            <a:r>
              <a:rPr sz="2000" b="1" spc="409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filter</a:t>
            </a:r>
            <a:r>
              <a:rPr sz="2000" b="1" spc="3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that</a:t>
            </a:r>
            <a:r>
              <a:rPr sz="2000" b="1" spc="409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can</a:t>
            </a:r>
            <a:r>
              <a:rPr sz="2000" b="1" spc="409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appropriately 	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enhance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this</a:t>
            </a: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noisy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image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1750" marR="508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However,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it</a:t>
            </a:r>
            <a:r>
              <a:rPr sz="2000" b="1" spc="1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2000" b="1" spc="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possible</a:t>
            </a:r>
            <a:r>
              <a:rPr sz="2000" b="1" spc="1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if</a:t>
            </a:r>
            <a:r>
              <a:rPr sz="2000" b="1" spc="1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several</a:t>
            </a:r>
            <a:r>
              <a:rPr sz="2000" b="1" spc="1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de-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blurring</a:t>
            </a:r>
            <a:r>
              <a:rPr sz="2000" b="1" spc="1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methods</a:t>
            </a:r>
            <a:r>
              <a:rPr sz="2000" b="1" spc="1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can</a:t>
            </a:r>
            <a:r>
              <a:rPr sz="2000" b="1" spc="1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be</a:t>
            </a:r>
            <a:r>
              <a:rPr sz="2000" b="1" spc="1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combined</a:t>
            </a:r>
            <a:r>
              <a:rPr sz="2000" b="1" spc="1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a </a:t>
            </a:r>
            <a:r>
              <a:rPr sz="2000" b="1" dirty="0">
                <a:latin typeface="Times New Roman"/>
                <a:cs typeface="Times New Roman"/>
              </a:rPr>
              <a:t>framework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order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to</a:t>
            </a:r>
            <a:r>
              <a:rPr sz="2000" b="1" spc="27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pursue</a:t>
            </a:r>
            <a:r>
              <a:rPr sz="2000" b="1" spc="28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</a:t>
            </a:r>
            <a:r>
              <a:rPr sz="2000" b="1" spc="27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maximum</a:t>
            </a:r>
            <a:r>
              <a:rPr sz="2000" b="1" spc="2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demising</a:t>
            </a:r>
            <a:r>
              <a:rPr sz="2000" b="1" spc="27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outcome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r>
              <a:rPr sz="2000" b="1" spc="2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2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explain </a:t>
            </a:r>
            <a:r>
              <a:rPr sz="2000" b="1" dirty="0">
                <a:latin typeface="Times New Roman"/>
                <a:cs typeface="Times New Roman"/>
              </a:rPr>
              <a:t>one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combinatorial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techniques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X-ray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example.</a:t>
            </a:r>
            <a:endParaRPr sz="2000">
              <a:latin typeface="Times New Roman"/>
              <a:cs typeface="Times New Roman"/>
            </a:endParaRPr>
          </a:p>
          <a:p>
            <a:pPr marL="12700" marR="2973705" algn="just">
              <a:lnSpc>
                <a:spcPct val="100000"/>
              </a:lnSpc>
              <a:spcBef>
                <a:spcPts val="1570"/>
              </a:spcBef>
            </a:pPr>
            <a:r>
              <a:rPr sz="1800" b="1" dirty="0">
                <a:latin typeface="Times New Roman"/>
                <a:cs typeface="Times New Roman"/>
              </a:rPr>
              <a:t>Figure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(a)</a:t>
            </a:r>
            <a:r>
              <a:rPr sz="1800" b="1" spc="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illustrates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male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chest’s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X-</a:t>
            </a:r>
            <a:r>
              <a:rPr sz="1800" b="1" dirty="0">
                <a:latin typeface="Times New Roman"/>
                <a:cs typeface="Times New Roman"/>
              </a:rPr>
              <a:t>ray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image.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The </a:t>
            </a:r>
            <a:r>
              <a:rPr sz="1800" b="1" dirty="0">
                <a:latin typeface="Times New Roman"/>
                <a:cs typeface="Times New Roman"/>
              </a:rPr>
              <a:t>purpose</a:t>
            </a:r>
            <a:r>
              <a:rPr sz="1800" b="1" spc="1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1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process</a:t>
            </a:r>
            <a:r>
              <a:rPr sz="1800" b="1" spc="1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highlight</a:t>
            </a:r>
            <a:r>
              <a:rPr sz="1800" b="1" spc="1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middle</a:t>
            </a:r>
            <a:r>
              <a:rPr sz="1800" b="1" spc="1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cross </a:t>
            </a:r>
            <a:r>
              <a:rPr sz="1800" b="1" dirty="0">
                <a:latin typeface="Times New Roman"/>
                <a:cs typeface="Times New Roman"/>
              </a:rPr>
              <a:t>section</a:t>
            </a:r>
            <a:r>
              <a:rPr sz="1800" b="1" spc="320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315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320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image</a:t>
            </a:r>
            <a:r>
              <a:rPr sz="1800" b="1" spc="315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using</a:t>
            </a:r>
            <a:r>
              <a:rPr sz="1800" b="1" spc="320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315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combination</a:t>
            </a:r>
            <a:r>
              <a:rPr sz="1800" b="1" spc="325" dirty="0">
                <a:latin typeface="Times New Roman"/>
                <a:cs typeface="Times New Roman"/>
              </a:rPr>
              <a:t>  </a:t>
            </a:r>
            <a:r>
              <a:rPr sz="1800" b="1" spc="-25" dirty="0">
                <a:latin typeface="Times New Roman"/>
                <a:cs typeface="Times New Roman"/>
              </a:rPr>
              <a:t>of </a:t>
            </a:r>
            <a:r>
              <a:rPr sz="1800" b="1" dirty="0">
                <a:latin typeface="Times New Roman"/>
                <a:cs typeface="Times New Roman"/>
              </a:rPr>
              <a:t>sharpening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edge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detection.</a:t>
            </a:r>
            <a:endParaRPr sz="1800">
              <a:latin typeface="Times New Roman"/>
              <a:cs typeface="Times New Roman"/>
            </a:endParaRPr>
          </a:p>
          <a:p>
            <a:pPr marL="12700" marR="2973070" algn="just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Figure</a:t>
            </a:r>
            <a:r>
              <a:rPr sz="1800" b="1" spc="4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(b)</a:t>
            </a:r>
            <a:r>
              <a:rPr sz="1800" b="1" spc="4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shows</a:t>
            </a:r>
            <a:r>
              <a:rPr sz="1800" b="1" spc="4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4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result</a:t>
            </a:r>
            <a:r>
              <a:rPr sz="1800" b="1" spc="43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459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applying</a:t>
            </a:r>
            <a:r>
              <a:rPr sz="1800" b="1" spc="459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4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median filter.</a:t>
            </a:r>
            <a:endParaRPr sz="1800">
              <a:latin typeface="Times New Roman"/>
              <a:cs typeface="Times New Roman"/>
            </a:endParaRPr>
          </a:p>
          <a:p>
            <a:pPr marL="12700" marR="2973070" algn="just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Figure</a:t>
            </a: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(c</a:t>
            </a:r>
            <a:r>
              <a:rPr sz="1800" b="1" dirty="0">
                <a:latin typeface="Times New Roman"/>
                <a:cs typeface="Times New Roman"/>
              </a:rPr>
              <a:t>)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outcome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using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Sobel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edge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detection.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Figure</a:t>
            </a:r>
            <a:r>
              <a:rPr sz="1800" b="1" spc="28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(d)</a:t>
            </a:r>
            <a:r>
              <a:rPr sz="1800" b="1" spc="26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demonstrates</a:t>
            </a:r>
            <a:r>
              <a:rPr sz="1800" b="1" spc="280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280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combination</a:t>
            </a:r>
            <a:r>
              <a:rPr sz="1800" b="1" spc="270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270" dirty="0">
                <a:latin typeface="Times New Roman"/>
                <a:cs typeface="Times New Roman"/>
              </a:rPr>
              <a:t>  </a:t>
            </a:r>
            <a:r>
              <a:rPr sz="1800" b="1" spc="-25" dirty="0">
                <a:latin typeface="Times New Roman"/>
                <a:cs typeface="Times New Roman"/>
              </a:rPr>
              <a:t>the </a:t>
            </a:r>
            <a:r>
              <a:rPr sz="1800" b="1" dirty="0">
                <a:latin typeface="Times New Roman"/>
                <a:cs typeface="Times New Roman"/>
              </a:rPr>
              <a:t>Laplacian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Sobel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process.</a:t>
            </a:r>
            <a:endParaRPr sz="1800">
              <a:latin typeface="Times New Roman"/>
              <a:cs typeface="Times New Roman"/>
            </a:endParaRPr>
          </a:p>
          <a:p>
            <a:pPr marL="12700" marR="2972435" algn="just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Figure</a:t>
            </a:r>
            <a:r>
              <a:rPr sz="1800" b="1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(d)</a:t>
            </a:r>
            <a:r>
              <a:rPr sz="1800" b="1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shows</a:t>
            </a:r>
            <a:r>
              <a:rPr sz="1800" b="1" spc="1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edge</a:t>
            </a:r>
            <a:r>
              <a:rPr sz="1800" b="1" spc="2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details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1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graph,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which </a:t>
            </a:r>
            <a:r>
              <a:rPr sz="1800" b="1" dirty="0">
                <a:latin typeface="Times New Roman"/>
                <a:cs typeface="Times New Roman"/>
              </a:rPr>
              <a:t>highlights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1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structure</a:t>
            </a:r>
            <a:r>
              <a:rPr sz="1800" b="1" spc="1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central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cross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section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of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4189" y="3284944"/>
            <a:ext cx="2904236" cy="33369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830" y="324594"/>
            <a:ext cx="7053072" cy="39168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26719" y="795527"/>
            <a:ext cx="8211820" cy="91440"/>
            <a:chOff x="426719" y="795527"/>
            <a:chExt cx="8211820" cy="9144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719" y="795527"/>
              <a:ext cx="8211311" cy="9144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0374" y="821054"/>
              <a:ext cx="8144509" cy="0"/>
            </a:xfrm>
            <a:custGeom>
              <a:avLst/>
              <a:gdLst/>
              <a:ahLst/>
              <a:cxnLst/>
              <a:rect l="l" t="t" r="r" b="b"/>
              <a:pathLst>
                <a:path w="8144509">
                  <a:moveTo>
                    <a:pt x="0" y="0"/>
                  </a:moveTo>
                  <a:lnTo>
                    <a:pt x="8144129" y="0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</TotalTime>
  <Words>3769</Words>
  <Application>Microsoft Office PowerPoint</Application>
  <PresentationFormat>On-screen Show (4:3)</PresentationFormat>
  <Paragraphs>830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Arial</vt:lpstr>
      <vt:lpstr>Arial MT</vt:lpstr>
      <vt:lpstr>Calibri</vt:lpstr>
      <vt:lpstr>Cambria</vt:lpstr>
      <vt:lpstr>Cambria Math</vt:lpstr>
      <vt:lpstr>Georgia</vt:lpstr>
      <vt:lpstr>sohne</vt:lpstr>
      <vt:lpstr>source-serif-pro</vt:lpstr>
      <vt:lpstr>Symbol</vt:lpstr>
      <vt:lpstr>Tahoma</vt:lpstr>
      <vt:lpstr>Times New Roman</vt:lpstr>
      <vt:lpstr>Verdana</vt:lpstr>
      <vt:lpstr>Wingdings</vt:lpstr>
      <vt:lpstr>Office Theme</vt:lpstr>
      <vt:lpstr>Image Enhancement</vt:lpstr>
      <vt:lpstr>Content</vt:lpstr>
      <vt:lpstr>PowerPoint Presentation</vt:lpstr>
      <vt:lpstr>PowerPoint Presentation</vt:lpstr>
      <vt:lpstr>PowerPoint Presentation</vt:lpstr>
      <vt:lpstr>PowerPoint Presentation</vt:lpstr>
      <vt:lpstr>Observe that the center coefficient of the kernel, w(0, 0), aligns  with the pixel at location (x, y).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average filtering is also called mean filtering. Where the output pixel value is the mean of its neighborhood. Thus, the filtering mask is as follows (3*3 as an example).</vt:lpstr>
      <vt:lpstr>Answer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Sharpening Filters </vt:lpstr>
      <vt:lpstr>PowerPoint Presentation</vt:lpstr>
      <vt:lpstr>These filters will tend to bring out, or enhance details in the image. Example of convolution masks for the Laplacian-type filters are:</vt:lpstr>
      <vt:lpstr>The main advantage of Laplacian filter is to increase the degree of sharpening. It enhance details in all directions equally.</vt:lpstr>
      <vt:lpstr>PowerPoint Presentation</vt:lpstr>
      <vt:lpstr>The Sobel edge detection masks look for edges in both the horizontal and vertical directions and then combine this information into a single metric.</vt:lpstr>
      <vt:lpstr>Example:</vt:lpstr>
      <vt:lpstr>In real applications, it is hard to know what kind of noise has been added to an image.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</dc:title>
  <dc:creator>Maher</dc:creator>
  <cp:lastModifiedBy>anwar khan</cp:lastModifiedBy>
  <cp:revision>34</cp:revision>
  <dcterms:created xsi:type="dcterms:W3CDTF">2025-10-28T06:17:49Z</dcterms:created>
  <dcterms:modified xsi:type="dcterms:W3CDTF">2025-11-13T07:32:05Z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2025-10-28T00:00:00Z</vt:filetime>
  </property>
  <property fmtid="{D5CDD505-2E9C-101B-9397-08002B2CF9AE}" pid="5" name="Producer">
    <vt:lpwstr>Microsoft® PowerPoint® 2010</vt:lpwstr>
  </property>
</Properties>
</file>